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S55 — 여기까지는 잘 동작했다
**Slide ID:**
S55
**Working Title:**
여기까지는 잘 동작했다
**ACT / Section:**
ACT 4 / 4A  WORKING HARNESS CALLBACK
**Allocated Time:**
4 minutes
**Mode Split:**
Lecture 3분 + Reflection 1분
**Primary Message:**
STATE-04-PERF는 bounded task에서 검증된 성공이다. 뒤에 나올 stale 사례는 별도의 개념 사례다.
**Opening Question:**
“잘 동작하는 System도 계속 맞는 상태로 남아 있을까?”
**Speaker Flow:**
1. (0:00–1:30) STATE-04-PERF를 bounded success로 회수한다.
2. (1:30–3:00) 같은 입력·환경에서의 검증을 작게 보여준다.
3. (3:00–4:00) 잠시 성찰하고 다음 장에서 다른 Conceptual frame으로 넘어간다.
**Evidence / Source:**
STATE-00 → STATE-04-PERF  ·  bounded image_statistics evidence
**Claim Boundary:**
STATE-04-PERF의 기록된 task, 코드 경로, 입력, runtime, host 및 검증 조건에 한정한다. 이 결과는 실제 stale Harness나 Product failure를 뜻하지 않는다.
**Beginner Explanation:**
먼저 잘 동작했던 현재 시스템을 기준점으로 둔다.
**Advanced Insight:**
성공한 Product State와 뒤의 Conceptual Case를 별도 Evidence frame으로 읽는다.
**C++ Vision Bridge:**
없음.
**Demo Operation:**
추가 실행 없음. 기존 ACT 3에서 승인된 STATE-04-PERF 결과를 짧게 회수한다. 수치는 현재 범위와 함께 보이고 일반 성과로 확대하지 않는다.
**Audience Interaction:**
1분 Reflection: “성공한 현재 상태도 Project 변화 뒤 다시 확인해야 할까?” 개인 생각만 하고 응답을 요구하지 않는다.
**Transition:**
Project가 정당한 이유로 바뀌면 작업 Workflow도 함께 바뀔까?
**Time Management:**
Lecture 3분 + Reflection 1분. 기존 ACT 3 설명을 다시 길게 열지 않는다.
**Fallback:**
READY — 이 Slide의 정적 vector diagram과 production/preview/act4/S55.png. Live run은 하지 않는다.
**Validation Status:**
로컬 렌더링과 source alignment 검토 대상. Windows PowerPoint, target-PC fonts, room projection, ACT 4 80분 rehearsal은 미검증.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S56 — 개념 사례: Project와 Workflow는 현재 맞다
**Slide ID:**
S56
**Working Title:**
개념 사례: Project와 Workflow는 현재 맞다
**ACT / Section:**
ACT 4 / 4B  CONCEPTUAL STALE HARNESS / DEMO-04A
**Allocated Time:**
2 minutes
**Mode Split:**
Demo 2분 (VISUAL)
**Primary Message:**
개념 사례의 시작에서는 Project의 기준 절차와 재사용 Workflow가 모두 맞다.
**Opening Question:**
“지금 맞는 Project Workflow는 계속 맞을까?”
**Speaker Flow:**
1. (0:00–0:30) 이 장면이 구성된 교육 사례임을 먼저 밝힌다.
2. (0:30–1:30) Project source와 reusable workflow가 같은 OLD TEST ENTRY를 가리키는 상태를 보여준다.
3. (1:30–2:00) 아직 오류가 없고 정상적으로 정렬된 시작점임을 강조한다.
**Evidence / Source:**
DEMO-04A  ·  constructed starting condition  ·  no Trial
**Claim Boundary:**
CONCEPTUAL CASE. `ai-dev-training-demo`의 기록, Trial 또는 Product State가 아니다.
**Beginner Explanation:**
처음에는 현재 지침과 재사용 절차가 서로 맞아 있다.
**Advanced Insight:**
당시에 올바른 절차도 Project 변화 이후 stale해질 수 있다.
**C++ Vision Bridge:**
선택적 맥락: 실제 Project에서도 build/test structure가 바뀔 수 있다. 별도 C++ 사례로 확장하지 않는다.
**Demo Operation:**
VISUAL only. 실제 Runner, shell command, terminal capture, 결과 badge는 사용하지 않는다. 점선 CONCEPTUAL label을 전체 장면에 유지한다.
**Audience Interaction:**
Project source와 reusable workflow가 같은 test entry를 가리키는지 함께 본다. 답변 요구 없음.
**Transition:**
Project가 바뀌었는데 재사용 Workflow가 그대로라면 어떻게 될까?
**Time Management:**
VISUAL Demo 2분. 첫 장면은 정상 상태로 두고 Project 변경을 앞당겨 보여주지 않는다.
**Fallback:**
READY — 이 PPT의 conceptual vector diagram과 production/preview/act4/S56.png. 별도 실행 캡처는 사용하지 않는다.
**Validation Status:**
Conceptual label 및 dashed frame을 유지한다. 로컬 렌더 검토 후 Windows/target-room 조건은 미검증으로 둔다.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S57 — Project는 바뀌고 Workflow는 남았다
**Slide ID:**
S57
**Working Title:**
Project는 바뀌고 Workflow는 남았다
**ACT / Section:**
ACT 4 / 4B  CONCEPTUAL STALE HARNESS / DEMO-04A
**Allocated Time:**
4 minutes
**Mode Split:**
Demo 2분 (VISUAL) + Case 2분
**Primary Message:**
Project 기준 절차는 정당한 변경에 맞게 갱신됐지만, 재사용 Workflow는 이전 절차를 계속 가리킨다. 이를 Agent의 지능 문제로 바로 결론 내릴 수 없다.
**Opening Question:**
“다음 Task에서 old workflow를 따르면 누가 틀린 걸까?”
**Speaker Flow:**
1. (0:00–1:00) Project가 정당한 이유로 변했지만 세부 사유는 미정이라고 말한다.
2. (1:00–2:30) Project source만 NEW TEST ENTRY로 이동시킨다.
3. (2:30–4:00) Workflow가 OLD TEST ENTRY에 남은 차이를 관찰한다.
**Evidence / Source:**
DEMO-04A  ·  conceptual Project evolution  ·  no actual migration
**Claim Boundary:**
가상 사례. 실제 Repository migration, Runner 변경 이력 또는 Codex failure가 아니다. 변경의 구체적 사유는 미확정이다.
**Beginner Explanation:**
Agent가 따르는 지침이 Project의 현재 절차와 맞는지 살핀다.
**Advanced Insight:**
Project source의 변화와 stale artifact의 위치를 분리해 본다.
**C++ Vision Bridge:**
없음.
**Demo Operation:**
VISUAL only. `OLD TEST ENTRY → NEW TEST ENTRY`는 추상적 label이다. 구체적인 command나 layout은 만들지 않는다.
**Audience Interaction:**
무엇이 바뀌었고 무엇이 남았는지 잠시 비교한다. Agent 탓이나 특정 실패를 가정하지 않는다.
**Transition:**
다음 Task가 예전 Workflow를 사용하면 어떤 결과가 생길까?
**Time Management:**
Demo 2분은 도식 공개에, Case 2분은 stale 간극을 해석하는 데 쓴다.
**Fallback:**
READY — 이 PPT의 conceptual vector diagram과 production/preview/act4/S57.png. 가짜 terminal capture는 사용하지 않는다.
**Validation Status:**
Conceptual label·선택하지 않은 Project-change reason 경계를 확인한다. 실제 Trial은 없다.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S58 — Task 해결과 System 문제는 다르다
**Slide ID:**
S58
**Working Title:**
Task 해결과 System 문제는 다르다
**ACT / Section:**
ACT 4 / 4B  CONCEPTUAL STALE HARNESS / DEMO-04A
**Allocated Time:**
3 minutes
**Mode Split:**
Case 3분
**Primary Message:**
오래된 절차는 command 실패 또는 잘못된 검증 범위를 낳을 수 있다. Prompt 보정은 현재 Task를 풀 수도 있지만 reusable workflow는 stale한 채 남을 수 있다.
**Opening Question:**
“Prompt를 더 자세히 쓰면 이번 Task는 해결될까?”
**Speaker Flow:**
1. (0:00–1:00) 오래된 절차에서 생길 수 있는 두 가능성을 말한다.
2. (1:00–2:00) Prompt patch가 현재 Task를 풀 수 있음을 별도 칸에 둔다.
3. (2:00–3:00) reusable workflow가 바뀌지 않았음을 남긴다.
**Evidence / Source:**
DEMO-04A  ·  conceptual consequence  ·  no execution result
**Claim Boundary:**
가상 가능성만 제시한다. 구체적인 실패, 실행 결과, PASS/FAIL 또는 실제 Demo 이력은 없다.
**Beginner Explanation:**
이번 답을 고치는 것과 다음 작업의 절차까지 바꾸는 것은 다르다.
**Advanced Insight:**
Task-level workaround와 durable system correction을 구분한다.
**C++ Vision Bridge:**
없음.
**Demo Operation:**
추가 실행 없음. 두 가지 가능한 결과를 modal language로 설명하고 실제 출력처럼 표현하지 않는다.
**Audience Interaction:**
“이번 Task가 풀려도 다음 Task의 지침은 달라졌나?”를 생각하게 한다.
**Transition:**
그럼 Prompt, global rule, stale Workflow 중 어느 Layer를 살펴볼까?
**Time Management:**
Case 3분. 특정 오류 유형이나 결과에 한정하지 않는다.
**Fallback:**
READY — 이 PPT의 conceptual comparison diagram과 production/preview/act4/S58.png.
**Validation Status:**
가능성 표현과 결과 미확정 상태를 확인한다. 실행 증거는 주장하지 않는다.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S59 — 원인에 맞는 Layer를 고르기
**Slide ID:**
S59
**Working Title:**
원인에 맞는 Layer를 고르기
**ACT / Section:**
ACT 4 / 4C  FIX THE RIGHT LAYER
**Allocated Time:**
2 minutes
**Mode Split:**
Demo 2분 (CAPTURED)
**Primary Message:**
Prompt patch는 현재 Task만 풀 수 있고 global rule은 중복·충돌을 만들 수 있다. Workflow가 원인으로 확인된 사례라면 그 source를 고친다.
**Opening Question:**
“어디를 고치면 현재 Task와 다음 Task가 함께 달라질까?”
**Speaker Flow:**
1. (0:00–0:30) 세 선택지를 한 번에 보여준다.
2. (0:30–1:15) 각 선택이 바꾸는 범위를 비교한다.
3. (1:15–2:00) 이 사례가 Workflow 원인을 설정했을 때에만 C가 맞다고 제한한다.
**Evidence / Source:**
DEMO-11  ·  conceptual layer-selection synthesis
**Claim Boundary:**
가상 사례 안의 선택 논리다. C는 workflow 원인이 확인된 경우에 맞으며 일반적인 정답이나 Product modification이 아니다.
**Beginner Explanation:**
Prompt에 한 줄 더하기 전에 반복되는 원인이 있는 곳을 찾는다.
**Advanced Insight:**
원인이 뒷받침하는 좁은 layer를 선택하고 중복 지침 가능성을 따진다.
**C++ Vision Bridge:**
Context, workflow, toolchain 또는 test environment 중 원인이 있는 layer를 살핀다는 정도의 pattern transfer만 가능하다.
**Demo Operation:**
CAPTURED conceptual visual. 세 선택지의 범위만 비교한다. 실제 수정 diff나 Product state는 보여주지 않는다.
**Audience Interaction:**
A/B/C의 효과 범위를 소리 없이 비교하게 한다. 원인이 정해졌다고 일반화하지 않는다.
**Transition:**
보이는 실패 지점과 실제 원인 Layer는 항상 같을까?
**Time Management:**
CAPTURED 2분. Visual matrix만 설명하고 새 Product 근거를 추가하지 않는다.
**Fallback:**
READY — 이 PPT의 정적 layer comparison과 production/preview/act4/S59.png.
**Validation Status:**
Conceptual frame과 조건부 결론을 확인한다.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S60 — 실패 지점과 원인 Layer 구분하기
**Slide ID:**
S60
**Working Title:**
실패 지점과 원인 Layer 구분하기
**ACT / Section:**
ACT 4 / 4C  FIX THE RIGHT LAYER
**Allocated Time:**
2 minutes
**Mode Split:**
Lecture 1분 + Demo 1분 (CAPTURED)
**Primary Message:**
증상은 Prompt나 실행 지점에 보일 수 있지만 원인은 Context, Workflow, Environment, Tool/Permission, Product code 등 다른 층에 있을 수 있다.
**Opening Question:**
“실패가 보인 Layer와 원인이 있는 Layer는 항상 같을까?”
**Speaker Flow:**
1. (0:00–0:45) 증상과 원인이 다른 위치일 수 있음을 소개한다.
2. (0:45–1:30) 가능한 layer를 같은 무게로 보여준다.
3. (1:30–2:00) 단일 인과 결론을 내리지 않고 관찰로 넘어간다.
**Evidence / Source:**
DEMO-11  ·  conceptual cause/layer synthesis
**Claim Boundary:**
교육용 debugging heuristic이다. 고정 진단표나 단일 원인 mapping이 아니며, 가상 사례의 원인은 조사로 확인해야 한다.
**Beginner Explanation:**
실패 메시지만 보고 Prompt나 Agent를 탓하지 않는다.
**Advanced Insight:**
Observation, cause hypothesis, system change, rerun, evaluation을 구분한다.
**C++ Vision Bridge:**
Build, environment, permission, project code를 후보로 분리하는 pattern만 제공한다.
**Demo Operation:**
CAPTURED conceptual diagram. 중심 symptom에서 여러 possible cause layer로 점선을 둔다. 단일 인과 화살표를 그리지 않는다.
**Audience Interaction:**
증상이 보여도 원인이 아직 미확정일 수 있음을 함께 확인한다.
**Transition:**
S61에서 이 사례의 가정과 확인할 가설을 분리한다.
**Time Management:**
Lecture 1분은 관점을 설명하고 CAPTURED visual 1분은 후보 layer만 보여준다.
**Fallback:**
READY — 이 PPT의 static cause-layer diagram과 production/preview/act4/S60.png.
**Validation Status:**
다중 후보·비인과 연결 표기가 의도대로 보이는지 확인한다.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S61 — 먼저 관찰하고, 그다음 가설을 세운다
**Slide ID:**
S61
**Working Title:**
먼저 관찰하고, 그다음 가설을 세운다
**ACT / Section:**
ACT 4 / 4C  CAUSE / CHANGE
**Allocated Time:**
2 minutes
**Mode Split:**
Case 2분
**Primary Message:**
실행된 절차, 현재 Project 문서, 재사용 Workflow, 실패가 나타난 위치를 먼저 살핀다. 관찰한 사실과 원인 판단은 별개다.
**Opening Question:**
“원인을 추측하기 전에 무엇부터 확인해야 할까?”
**Speaker Flow:**
1. (0:00–0:45) `SCENARIO ASSUMPTIONS` 영역을 보여준다.
2. (0:45–1:30) `INFERENCE TO CHECK`에 stale workflow 가설을 둔다.
3. (1:30–2:00) 확정 전에 확인이 필요하다고 정리한다.
**Evidence / Source:**
DEMO-04A  ·  scenario assumptions and inference
**Claim Boundary:**
화면의 “scenario assumption”도 실제 Trial 관찰이 아니다. stale Workflow는 점검할 가설이지 확정 사실이 아니다.
**Beginner Explanation:**
원인을 정하기 전 현재 지침과 따라간 절차를 맞춰 본다.
**Advanced Insight:**
증거와 cause hypothesis의 확신 수준을 분리한다.
**C++ Vision Bridge:**
없음.
**Demo Operation:**
추가 실행 없음. 왼쪽은 사례가 가정하는 정보, 오른쪽은 검증할 가설로 표시한다.
**Audience Interaction:**
두 칸을 읽고 어떤 문장이 가정이며 어떤 문장이 추론인지 구분해 본다. 답변 제출은 요구하지 않는다.
**Transition:**
Workflow 원인이 확인됐다면 어느 범위까지 바꿔야 할까?
**Time Management:**
Case 2분. 가상 전제와 실제 Evidence를 구별한다.
**Fallback:**
READY — 이 PPT의 two-column conceptual diagram과 production/preview/act4/S61.png.
**Validation Status:**
`OBSERVED`라고 오인할 표현이 없고 conceptual boundary가 살아 있는지 확인한다.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S62 — Cause가 지지하는 최소 변경
**Slide ID:**
S62
**Working Title:**
Cause가 지지하는 최소 변경
**ACT / Section:**
ACT 4 / 4C  CAUSE / CHANGE
**Allocated Time:**
2 minutes
**Mode Split:**
Lecture 1분 + Case 1분
**Primary Message:**
이 사례에서 stale Workflow가 원인으로 확인됐다고 가정하면 우선 그 Workflow를 갱신한다. 중복된 오래된 지침은 원인일 때만 제거한다.
**Opening Question:**
“얼마나 바꿔야 할까?”
**Speaker Flow:**
1. (0:00–1:00) 원인 layer와 조치 layer의 관계를 설명한다.
2. (1:00–2:00) workflow 갱신과 조건부 obsolete instruction 정리를 보여준다.
**Evidence / Source:**
DEMO-04A  ·  conceptual cause-to-change path
**Claim Boundary:**
가상 사례의 조건부 대응이다. 실제 Product 변경이나 Trial 결과가 아니며, “최소”는 무조건 적게 바꾸라는 뜻이 아니다.
**Beginner Explanation:**
새 규칙을 더하기 전에 실제 원인이 있는 곳을 고친다.
**Advanced Insight:**
Cause가 지지하는 가장 작은 durable change를 정한다.
**C++ Vision Bridge:**
없음.
**Demo Operation:**
추가 실행 없음. `if cause confirmed` 조건을 화면에 유지한다.
**Audience Interaction:**
조건이 바뀌면 수정 대상도 바뀔 수 있음을 잠시 생각하게 한다.
**Transition:**
변경 뒤 같은 Task를 다시 통과하면 Harness는 충분히 검증된 걸까?
**Time Management:**
Lecture 1분은 원칙, Case 1분은 가상 workflow 변화에 쓴다.
**Fallback:**
READY — 이 PPT의 static cause-to-change diagram과 production/preview/act4/S62.png.
**Validation Status:**
조건부 premise, 최소 변경 범위, actual-change 오인이 없는지 검토한다.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S63 — 같은 Task의 재실행만으로 충분할까?
**Slide ID:**
S63
**Working Title:**
같은 Task의 재실행만으로 충분할까?
**ACT / Section:**
ACT 4 / 4D  EVALUATION &amp; REGRESSION
**Allocated Time:**
4 minutes
**Mode Split:**
Lecture 1분 + Case 3분
**Primary Message:**
같은 Task의 재실행은 필요하지만 그것만으로 변경이 인접 작업에 영향을 주지 않는지는 알 수 없다.
**Opening Question:**
“Failure가 사라졌으면 Harness fix가 끝난 걸까?”
**Speaker Flow:**
1. (0:00–1:00) 같은 Task rerun이 답하는 범위를 말한다.
2. (1:00–2:30) 인접하거나 무관한 작업에서 생길 위험을 제시한다.
3. (2:30–4:00) EVAL 설계로 전환한다.
**Evidence / Source:**
DEMO-04A  ·  designed rerun and system evaluation path
**Claim Boundary:**
이 재실행과 확장 검증은 conceptual design이다. 실행 결과, pass count, regression success를 보여주지 않는다.
**Beginner Explanation:**
이번 작업이 다시 되는지와 다른 작업도 안전한지는 별도 질문이다.
**Advanced Insight:**
Task recovery는 필요 조건일 수 있어도 Harness-level validation을 대신하지 않는다.
**C++ Vision Bridge:**
같은 build/test 시나리오 재실행은 필요하지만 전체 회귀 위험을 모두 해소하지 않는다.
**Demo Operation:**
추가 실행 없음. `FIX TASK`와 `EVALUATE SYSTEM` 두 질문을 별도 카드로 보여준다.
**Audience Interaction:**
두 확인 질문의 범위가 다른 점을 비교한다.
**Transition:**
변경이 닿는 다른 작업 표면은 어떤 대표 Task로 볼까?
**Time Management:**
Lecture 1분 + Case 3분. 구체적인 pass/fail을 만들지 않는다.
**Fallback:**
READY — 이 PPT의 paired evaluation diagram과 production/preview/act4/S63.png.
**Validation Status:**
Task recovery와 system validation이 서로 다른 영역으로 읽히는지 검토한다.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S64 — 대표 작업으로 변경 범위를 확인하기
**Slide ID:**
S64
**Working Title:**
대표 작업으로 변경 범위를 확인하기
**ACT / Section:**
ACT 4 / 4D  EVALUATION &amp; REGRESSION
**Allocated Time:**
5 minutes
**Mode Split:**
Demo 5분 (VISUAL / CAPTURED conceptual matrix)
**Primary Message:**
EVAL-01/02의 prior observed evidence와 EVAL-03/04의 설계 사례를 분리해 보여준다. 어느 것도 Conceptual stale-workflow 변경의 결과는 아니다.
**Opening Question:**
“무엇을 대표 Task로 고를까?”
**Speaker Flow:**
1. (0:00–1:00) Evaluation을 task 수가 아니라 coverage 관점에서 연다.
2. (1:00–2:00) EVAL-01/02의 기존 Product evidence references를 separate solid frame으로 보여준다.
3. (2:00–4:00) 네-row conceptual set을 읽고 EVAL-03/04가 designed/no outcome임을 밝힌다.
4. (4:00–5:00) 새 실행이나 result가 없음을 재강조한다.
**Evidence / Source:**
DEMO-10  ·  EVAL-01/02 prior Product references; EVAL-03/04 designed
**Claim Boundary:**
EVAL-01/02는 별도 Product task chain의 기존 참고 Evidence다. EVAL-03/04는 설계 사례이며 결과가 없다. 이번 stale-Workflow 변경 뒤의 PASS/FAIL 또는 새 Trial은 없다.
**Beginner Explanation:**
대표 작업은 다른 사용 방식을 확인하도록 골라야 한다.
**Advanced Insight:**
변경이 닿는 흔한 표면, 알려진 회귀 위험, 비교 대상이 없을 수 있는 task를 나눠 본다.
**C++ Vision Bridge:**
Contextual only: 대표 작업 선택은 Vision build, benchmark, docs 같은 surface에 적용할 수 있지만 별도 C++ case는 만들지 않는다.
**Demo Operation:**
5분 static matrix. 상단 solid frame은 이전 관찰 Product references만 표시한다. 하단 dashed matrix는 conceptual evaluation set이며 결과를 넣지 않는다.
**Audience Interaction:**
각 EVAL이 어떤 변경 표면을 확인하기 위해 설계됐는지 눈으로 따라간다. 질문 답 제출이나 실행은 없다.
**Transition:**
실패마다 규칙을 하나씩 더하면 평가 범위가 커지기만 할까?
**Time Management:**
Demo 5분은 static matrix 설명에 사용한다. 네 EVAL을 실제로 실행하지 않는다.
**Fallback:**
READY — 이 PPT의 separate evidence frames와 production/preview/act4/S64.png. 실행 캡처는 필요하지 않다.
**Validation Status:**
두 Evidence frame의 혼동, 미실행 outcome, PASS/FAIL badge 부재를 확인한다.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S65 — Harness도 특정 실패에 맞춰 과적합될 수 있다
**Slide ID:**
S65
**Working Title:**
Harness도 특정 실패에 맞춰 과적합될 수 있다
**ACT / Section:**
ACT 4 / 4D  EVALUATION &amp; REGRESSION
**Allocated Time:**
4 minutes
**Mode Split:**
Lecture 4분
**Primary Message:**
실패마다 전역 규칙을 덧붙이면 Harness가 비대해지거나 충돌하고 특정 Task에만 좁게 맞춰질 수 있다. 원인을 확인하고 대표 작업을 평가하며 불필요한 규칙은 정리한다.
**Opening Question:**
“한 번 실패했다고 규칙을 계속 추가하면 어떻게 될까?”
**Speaker Flow:**
1. (0:00–1:00) 매 실패마다 global rule을 넣는 흐름을 보여준다.
2. (1:00–2:30) bloat, conflict, narrow optimization 위험을 설명한다.
3. (2:30–4:00) 원인·대표 Evaluation·규칙 정리 흐름을 강조한다.
**Evidence / Source:**
DEMO-04A  ·  conceptual regression / maintenance model
**Claim Boundary:**
“Overfit”은 교육용 비유다. ML 통계적 overfitting과 같은 현상이라고 주장하지 않는다.
**Beginner Explanation:**
규칙 수를 늘리기보다 반복 원인을 살핀다.
**Advanced Insight:**
대표 task에서의 효과와 유지 비용을 같이 평가하고 obsolete rule을 제거한다.
**C++ Vision Bridge:**
없음.
**Demo Operation:**
없음. 반복 실패→규칙 누적 도식은 teaching model이며 실제 history가 아니다.
**Audience Interaction:**
누적 규칙이 낳을 수 있는 bloat, conflict, narrow fit을 같이 본다.
**Transition:**
관찰·원인·변경·평가가 연결될 때 이를 어떤 Engineering 관점으로 볼까?
**Time Management:**
Lecture 4분. 통계적 ML overfitting과 동일시하거나 보편 법칙으로 말하지 않는다.
**Fallback:**
READY — 이 PPT의 static teaching diagram과 production/preview/act4/S65.png.
**Validation Status:**
비유 라벨과 conceptual boundary가 보이는지 확인한다.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S66 — Feedback을 System Change와 Evaluation으로 잇기
**Slide ID:**
S66
**Working Title:**
Feedback을 System Change와 Evaluation으로 잇기
**ACT / Section:**
ACT 4 / 4E  LOOP MENTAL MODEL
**Allocated Time:**
11 minutes
**Mode Split:**
Lecture 9분 + Demo 2분 (VISUAL)
**Primary Message:**
실행 결과와 반복되는 마찰을 관찰하고 원인과 재발 가능성을 판단한 뒤 적절한 System을 바꾸고 결과를 다시 평가할 때 Feedback은 System Improvement로 이어진다.
**Opening Question:**
“Feedback이 언제 Engineering이 되는가?”
**Speaker Flow:**
1. (0:00–2:00) R1 Execution에서 시작해 R2 Observation을 연결한다.
2. (2:00–5:00) R3 Cause는 관찰이 아니라 가설/판단임을 설명한다.
3. (5:00–7:00) R4 System Change의 대상은 원인 layer라고 짚는다.
4. (7:00–9:00) R5 Re-evaluation으로 현재 시스템을 평가한다.
5. (9:00–11:00) 완성 모델을 hold하고 자동 반복이 아님을 정리한다.
**Evidence / Source:**
DEC-0023  ·  course operational model  ·  no product loop
**Claim Boundary:**
이 교육의 operational model이다. 자동 학습, Agent self-learning, 무한 반복, observed Product loop를 뜻하지 않는다.
**Beginner Explanation:**
같은 수정을 되풀이하는 대신 다음 작업에도 영향을 주는 System을 살핀다.
**Advanced Insight:**
자동화와 별개로 cause, recurrence, change layer, evaluation을 설계한다.
**C++ Vision Bridge:**
없음.
**Demo Operation:**
VISUAL 2분. 정적 five-stage diagram을 사용하고 R1–R5를 발표자 highlight로 단계별 공개한다. Animation은 필수가 아니다.
**Audience Interaction:**
“Feedback은 어느 순간 System change가 되는가?”를 생각하게 하고, 응답 제출은 요구하지 않는다.
**Transition:**
표기를 바꾸어 실제 교육 제작 기록에서의 별도 Loop를 살펴본다.
**Time Management:**
Lecture 9분, 마지막 VISUAL Demo 2분. R1–R5는 approximate reveal cue이며 전체가 항상 표시되는 정적 도식으로 진행 가능.
**Fallback:**
READY — 이 PPT의 editable five-stage model과 production/preview/act4/S66.png. 정적 강조로 대체 가능.
**Validation Status:**
Teaching model frame과 Meta evidence의 분리, 5단계 가독성을 검토한다.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S67 — 실제 제작 기록: TRIAL-006
**Slide ID:**
S67
**Working Title:**
실제 제작 기록: TRIAL-006
**ACT / Section:**
ACT 4 / 4F  OBSERVED META LOOP / DEMO-04B
**Allocated Time:**
2 minutes
**Mode Split:**
Demo 2분 (CAPTURED)
**Primary Message:**
TRIAL-006은 Codex CLI에서 수행한 실제 성능 조사다. Global Skills와 시작 경고가 함께 관찰되어 Prompt-only attribution은 PARTIAL이다.
**Opening Question:**
“이번에는 실제 제작 과정에서 무슨 일이 있었나?”
**Speaker Flow:**
1. (0:00–0:30) dashed Conceptual frame를 닫고 double-line OBSERVED META frame으로 전환한다.
2. (0:30–1:15) TRIAL-006과 global influences를 보여준다.
3. (1:15–2:00) attribution이 PARTIAL임을 두드러지게 하고 상세는 다음 장에 남긴다.
**Evidence / Source:**
TRIAL-006  ·  DEC-0016  ·  TRIAL-007/008
**Claim Boundary:**
OBSERVED_META: 교육자료 제작·Trial 평가 기록이다. Demo Product change나 DEMO-04A 원인/수정 사례가 아니다. Codex CLI evidence를 현재 Desktop으로 일반화하지 않는다.
**Beginner Explanation:**
결과가 있다는 사실과 그 원인을 안다는 것은 다르다.
**Advanced Insight:**
ambient global environment가 있는 실행에서 attribution boundary를 기록한다.
**C++ Vision Bridge:**
없음.
**Demo Operation:**
CAPTURED static summary from trial/decision records; product screenshot이나 live run이 아니다. Double-line frame에서 `TRIAL-006 → global influence → PARTIAL → DEC-0016 → TRIAL-007/008`을 읽는다.
**Audience Interaction:**
이 시점에 Evidence grammar가 바뀌었음을 보고 Conceptual case와 구별한다.
**Transition:**
이 결과를 Task Prompt만의 효과라고 말할 수 있을까?
**Time Management:**
CAPTURED 2분. 실제 기록의 정적 요약을 사용하고 새 제품 실행은 하지 않는다.
**Fallback:**
READY — 이 PPT의 static timeline and label. Trial/Decision 근거는 plan/DEMO_MATRIX.md와 plan/DECISIONS.md에 한정.
**Validation Status:**
Observed Meta double frame, Timeline label, Conceptual Case와 다른 diagram structure를 확인한다.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S68 — 결과의 타당성과 원인 귀속은 별개다
**Slide ID:**
S68
**Working Title:**
결과의 타당성과 원인 귀속은 별개다
**ACT / Section:**
ACT 4 / 4F  OBSERVED META LOOP / DEMO-04B
**Allocated Time:**
4 minutes
**Mode Split:**
Demo 4분 (CAPTURED)
**Primary Message:**
resize_nearest 측정은 기록된 코드·입력·runtime·host 범위에서 유효하지만, global Harness 영향 때문에 전체 workflow를 Prompt 하나의 효과로 분리할 수 없다.
**Opening Question:**
“측정 결과가 유효해도 원인을 Prompt 하나로 좁힐 수 있을까?”
**Speaker Flow:**
1. (0:00–1:00) Result validity와 Causal attribution을 다른 질문으로 둔다.
2. (1:00–2:00) 작은 supporting metric과 bounded input/runtime/host를 확인한다.
3. (2:00–3:15) Global Skill influence와 PARTIAL attribution을 설명한다.
4. (3:15–4:00) Hook/MCP 경고를 effect/result로 과장하지 않고 끝낸다.
**Evidence / Source:**
TRIAL-006  ·  7 one-call samples  ·  disposable worktree
**Claim Boundary:**
144.2 → 33.5 ms/call median은 기록된 synthetic 640×480 grayscale input (max 4095) → 960×720, CPython 3.9.6, macOS 26.6.2 arm64에 한정한다. Prompt-only attribution은 PARTIAL. 4.30×/76.8% hero metric은 사용하지 않는다.
**Beginner Explanation:**
숫자가 있어도 무엇이 결과를 만들었는지 자동으로 알 수는 없다.
**Advanced Insight:**
Result validity와 causal attribution의 확신 수준을 따로 보고한다.
**C++ Vision Bridge:**
필요하면 같은 원리를 C++ benchmark의 입력, compiler, host, toolchain 범위로 transfer하되 새 사례로 확장하지 않는다.
**Demo Operation:**
CAPTURED trial summary. Input/output SHA-256 guards matched; seven one-call samples. `performance-goal` global Skill influenced evaluator/ledger/threshold, but is not proven the direct cause of the metric. Hook warnings do not prove hook effect; MCP startup error does not evidence task result.
**Audience Interaction:**
왼쪽은 확인된 result validity, 오른쪽은 남은 attribution uncertainty를 비교한다.
**Transition:**
이 한계가 후속 Trial의 평가 방식에 어떤 변경을 만들었을까?
**Time Management:**
CAPTURED Demo 4분. 성능 숫자를 성과 발표처럼 연출하거나 일반화하지 않는다.
**Fallback:**
READY — 이 PPT의 static evidence card. 수치와 조건은 TRIAL-006 기록을 요약한 것이며 screenshot이 아니다.
**Validation Status:**
Metric의 시각적 dominance, scope, PARTIAL attribution, hook/MCP boundary를 검토한다.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S69 — 평가와 보고 규칙을 Evidence에 맞추다
**Slide ID:**
S69
**Working Title:**
평가와 보고 규칙을 Evidence에 맞추다
**ACT / Section:**
ACT 4 / 4F  OBSERVED META LOOP / DEMO-04B
**Allocated Time:**
3 minutes
**Mode Split:**
Lecture 1분 + Demo 2분 (CAPTURED)
**Primary Message:**
DEC-0016은 TRIAL-006을 PARTIAL로 보존하고 clean isolation을 진행 조건으로 요구하지 않으며, 후속 CLI Trial에서 관찰된 global influence를 기록하도록 했다.
**Opening Question:**
“Prompt 효과를 분리할 수 없다면 다음 Trial은 어떻게 기록해야 할까?”
**Speaker Flow:**
1. (0:00–1:00) TRIAL-006 evidence에서 PARTIAL 판단으로 간다.
2. (1:00–2:15) DEC-0016이 후속 record에서 관찰된 global influence를 적도록 바꾼 점을 보여준다.
3. (2:15–3:00) code/Skill change가 아니며 clean isolation 조건도 아니라고 닫는다.
**Evidence / Source:**
TRIAL-006  →  DEC-0016  ·  evaluation / reporting policy
**Claim Boundary:**
실제 Training Production evaluation/reporting governance 변화다. Product code 또는 Demo Skill을 수정하지 않았고 clean isolation을 구축했다고 말하지 않는다.
**Beginner Explanation:**
환경 조건과 수행 도구가 다르면 결과 설명도 그 경계를 밝혀야 한다.
**Advanced Insight:**
미통제 조건을 숨기지 않고 Trial 결과의 사용 범위를 제한한다.
**C++ Vision Bridge:**
없음.
**Demo Operation:**
CAPTURED decision summary. Before/after policy만 보여주고 product repository diff를 가장하지 않는다.
**Audience Interaction:**
무엇이 바뀌었는지와 무엇이 바뀌지 않았는지 비교한다.
**Transition:**
이 기준은 TRIAL-007/008에 어떻게 적용됐을까?
**Time Management:**
Lecture 1분 + CAPTURED 2분. Trial/reporting boundary에만 머문다.
**Fallback:**
READY — 이 PPT의 static timeline and policy summary, source DEC-0016.
**Validation Status:**
Meta frame이 유지되고 change 대상이 evaluation/reporting policy로 보이는지 확인한다.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S70 — 후속 기록은 개선됐지만 완전하지 않았다
**Slide ID:**
S70
**Working Title:**
후속 기록은 개선됐지만 완전하지 않았다
**ACT / Section:**
ACT 4 / 4F  OBSERVED META LOOP / DEMO-04B
**Allocated Time:**
3 minutes
**Mode Split:**
Lecture 1분 + Case 2분
**Primary Message:**
TRIAL-007은 global influence를 기록했지만 MCP report와 stderr가 불일치한다. TRIAL-008은 repository Skill 호출과 global influence를 별도로 기록했다. 품질 향상은 측정되지 않았다.
**Opening Question:**
“새로운 기록 규칙이 모든 불확실성을 해결했을까?”
**Speaker Flow:**
1. (0:00–1:00) TRIAL-007의 기록과 불일치를 보여준다.
2. (1:00–2:00) TRIAL-008의 명시적 Skill discovery/invocation 기록을 구분한다.
3. (2:00–3:00) 결과 품질 향상은 측정되지 않았다고 밝힌다.
**Evidence / Source:**
TRIAL-007 / TRIAL-008  ·  DEC-0016
**Claim Boundary:**
적용은 부분적이다. 완전한 environment inventory, 완벽한 report, 측정된 Trial-quality improvement를 주장하지 않는다. TRIAL-007의 stderr에는 Nimble AuthRequired가 있으나 MCP task result는 없다.
**Beginner Explanation:**
개선된 기록도 빠진 점과 불일치가 있는지 다시 본다.
**Advanced Insight:**
보고, stderr, global influence inventory를 서로 대조하고 claim boundary를 유지한다.
**C++ Vision Bridge:**
없음.
**Demo Operation:**
Trial records를 두 static cards로 비교한다. TRIAL-007의 report/stderr discrepancy는 보이게 유지한다. TRIAL-008을 current Desktop behavior로 제시하지 않는다.
**Audience Interaction:**
후속 기록이 무엇을 명확히 했고 무엇을 남겼는지 비교한다.
**Transition:**
S71에서 실제로 바뀐 System과 미확정 사항을 한 번에 회수한다.
**Time Management:**
Lecture 1분 + Case 2분. 불일치와 unknown을 숨기지 않는다.
**Fallback:**
READY — 이 PPT의 two-card static summary. Trial records are summarized, not presented as terminal screenshots.
**Validation Status:**
TRIAL-007 discrepancy, no MCP task result, TRIAL-008 CLI scope, no measured improvement를 검토한다.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S71 — 실제 Meta Loop에서 바뀐 것
**Slide ID:**
S71
**Working Title:**
실제 Meta Loop에서 바뀐 것
**ACT / Section:**
ACT 4 / 4F  OBSERVED META LOOP
**Allocated Time:**
3 minutes
**Mode Split:**
Lecture 1분 + Case 2분
**Primary Message:**
TRIAL-006의 ambient influence 및 PARTIAL attribution은 DEC-0016의 Trial evaluation/reporting 변경으로 이어졌고 TRIAL-007/008에서 기록 경계가 부분적으로 적용됐다. Product code가 바뀐 것은 아니다.
**Opening Question:**
“무엇이 바뀌었고, 무엇은 아직 모르는가?”
**Speaker Flow:**
1. (0:00–1:00) timeline을 다섯 단계로 회수한다.
2. (1:00–2:00) Training Production evaluation/reporting이 바뀐 점을 말한다.
3. (2:00–3:00) attribution, environment inventory, quality effects가 미확정임을 남기고 C++ transfer로 넘긴다.
**Evidence / Source:**
TRIAL-006  →  DEC-0016  →  TRIAL-007/008
**Claim Boundary:**
후속 report에는 불일치가 남고 quality effect는 미측정이다. DEMO-04A conceptual stale workflow와 합치지 않는다.
**Beginner Explanation:**
실제로 바뀐 것과 아직 모르는 점을 구분한다.
**Advanced Insight:**
Loop의 system change는 평가·보고 거버넌스일 수 있으나 outcome은 재평가해야 한다.
**C++ Vision Bridge:**
없음.
**Demo Operation:**
추가 실행 없음. Timeline recap을 사용하고 S67–70의 세부를 재강의하지 않는다.
**Audience Interaction:**
Changed/Unknown 두 칸을 비교하며 Meta case를 정리한다.
**Transition:**
이 원리를 C++ Vision Project에 옮기면 무엇을 확인할까?
**Time Management:**
Lecture 1분 + Case 2분. preceding slides를 다시 풀어 설명하지 않는다.
**Fallback:**
READY — 이 PPT의 static Observed Meta timeline과 production/preview/act4/S71.png.
**Validation Status:**
Double-line Observed Meta frame, concise recap, open uncertainties가 유지되는지 확인한다.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S72 — Project와 환경이 바뀌면 검증도 다시 본다
**Slide ID:**
S72
**Working Title:**
Project와 환경이 바뀌면 검증도 다시 본다
**ACT / Section:**
ACT 4 / 4G  C++ VISION TRANSFER  /  4H DISCUSSION &amp; TRANSITION
**Allocated Time:**
20 minutes
**Mode Split:**
Case 7분 + Reflection 2분 + Q&amp;A 7분 + Transition 4분
**Primary Message:**
Project나 환경이 바뀌면 기존 performance 가정과 verification 절차가 여전히 맞는지 다시 확인한다. 반복되는 마찰은 관찰하고 원인을 찾아 관련 layer를 바꾼 뒤 benchmark와 regression으로 확인한다.
**Opening Question:**
“같은 문제가 두 번째로 생기면 다시 Prompt를 고칠까, System을 살펴볼까?”
**Speaker Flow:**
1. (0:00–7:00) Case: toolchain/GPU/build·benchmark 조건 변화 시 verification 가정을 다시 확인하는 패턴을 설명한다.
2. (7:00–9:00) Reflection: 같은 마찰이 반복될 때 다시 확인할 system layer를 개인적으로 생각한다.
3. (9:00–16:00) Q&amp;A: 질문을 받고, 질문이 없으면 fallback question을 쓴다.
4. (16:00–20:00) Transition: cutoff cue 후 ACT 5의 전체 problem-driven story recap을 예고한다.
**Evidence / Source:**
BEAT-059 / TRANS-012  ·  teaching transfer, not observed C++ incident
**Claim Boundary:**
COURSE MODEL / C++ VISION TRANSFER. Toolchain, CUDA/GPU architecture, build/benchmark configuration은 hypothetical teaching context이며 실제 Demo history가 아니다. 구체적인 Windows/shell/IDE/hardware setup을 주장하지 않는다.
**Beginner Explanation:**
같은 문제가 반복되면 Prompt 외에도 Project와 workflow를 살핀다.
**Advanced Insight:**
Project/environment 변화가 verification assumptions에 미치는 영향을 평가한다.
**C++ Vision Bridge:**
Primary bridge. 변화한 조건에서 기존 tuning 가정과 benchmark/regression 조건을 다시 확인하는 engineering pattern만 전한다.
**Demo Operation:**
정적 slide와 speaker-led highlighting. 별도 product/demo 실행 및 animation 의존 없음.
**Audience Interaction:**
0–7분 Case, 7–9분 개인 Reflection, 9–16분 Q&amp;A, 16–20분 ACT5 Transition. 질문이 없으면 “이 사례에서 다시 확인할 가정 하나는 무엇인가?”를 fallback prompt로 사용한다.
**Transition:**
“이제 기능이 아니라, 처음의 문제에서 Loop까지 이어진 Story를 다시 연결해 보겠습니다.” ACT 5 S73으로 넘긴다.
**Time Management:**
S72 총 20분. 0–7 Case, 7–9 Reflection, 9–16 Q&amp;A, 16–20 Transition. 16분에 Q&amp;A를 마감하고 transition으로 이동한다. 실제 20분 rehearsal은 미수행.
**Fallback:**
READY — 정적 C++ Vision transfer visual과 in-deck timeline. live project 예시나 실행은 요구하지 않는다.
**Validation Status:**
20분 운영 cue는 문서화했으나 실제 rehearsal, Windows PowerPoint, target PC fonts, room readability는 UNVERIFIED.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" y="6428232"/>
            <a:ext cx="10954512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49224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4A  WORKING HARNESS CALLBACK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S55  ·  4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여기까지는 잘 동작했다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 동작하는 System도 계속 맞는 상태로 남아 있을까?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154680" cy="292608"/>
          </a:xfrm>
          <a:prstGeom prst="roundRect">
            <a:avLst>
              <a:gd name="adj" fmla="val 18750"/>
            </a:avLst>
          </a:prstGeom>
          <a:solidFill>
            <a:srgbClr val="E7F2EC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29718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·  STATE-04-PERF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21590">
            <a:solidFill>
              <a:srgbClr val="176B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STATE-00 → STATE-04-PERF  ·  bounded image_statistics evidence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59536" y="214884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32688" y="2276856"/>
            <a:ext cx="1453896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STATE-00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2482596" y="2505456"/>
            <a:ext cx="123444" cy="0"/>
          </a:xfrm>
          <a:prstGeom prst="line">
            <a:avLst/>
          </a:prstGeom>
          <a:noFill/>
          <a:ln w="2159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624328" y="214884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697480" y="2276856"/>
            <a:ext cx="1453896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STATE-00-FIXED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4247388" y="2505456"/>
            <a:ext cx="123444" cy="0"/>
          </a:xfrm>
          <a:prstGeom prst="line">
            <a:avLst/>
          </a:prstGeom>
          <a:noFill/>
          <a:ln w="2159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389120" y="214884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62272" y="2276856"/>
            <a:ext cx="1453896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STATE-01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6012180" y="2505456"/>
            <a:ext cx="123444" cy="0"/>
          </a:xfrm>
          <a:prstGeom prst="line">
            <a:avLst/>
          </a:prstGeom>
          <a:noFill/>
          <a:ln w="2159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153912" y="214884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27064" y="2276856"/>
            <a:ext cx="1453896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STATE-02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7776972" y="2505456"/>
            <a:ext cx="123444" cy="0"/>
          </a:xfrm>
          <a:prstGeom prst="line">
            <a:avLst/>
          </a:prstGeom>
          <a:noFill/>
          <a:ln w="2159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918704" y="214884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991856" y="2276856"/>
            <a:ext cx="1453896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STATE-03</a:t>
            </a:r>
            <a:endParaRPr lang="en-US" sz="1550" dirty="0"/>
          </a:p>
        </p:txBody>
      </p:sp>
      <p:sp>
        <p:nvSpPr>
          <p:cNvPr id="24" name="Shape 22"/>
          <p:cNvSpPr/>
          <p:nvPr/>
        </p:nvSpPr>
        <p:spPr>
          <a:xfrm>
            <a:off x="9541764" y="2505456"/>
            <a:ext cx="123444" cy="0"/>
          </a:xfrm>
          <a:prstGeom prst="line">
            <a:avLst/>
          </a:prstGeom>
          <a:noFill/>
          <a:ln w="2159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683496" y="214884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E7F2EC"/>
          </a:solidFill>
          <a:ln w="22860">
            <a:solidFill>
              <a:srgbClr val="176B4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56648" y="2276856"/>
            <a:ext cx="1453896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STATE-04-PERF</a:t>
            </a:r>
            <a:endParaRPr lang="en-US" sz="1550" dirty="0"/>
          </a:p>
        </p:txBody>
      </p:sp>
      <p:sp>
        <p:nvSpPr>
          <p:cNvPr id="27" name="Text 25"/>
          <p:cNvSpPr txBox="1"/>
          <p:nvPr/>
        </p:nvSpPr>
        <p:spPr>
          <a:xfrm>
            <a:off x="960120" y="3182112"/>
            <a:ext cx="4800600" cy="338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WORKING HARNESS SUCCESS</a:t>
            </a:r>
            <a:endParaRPr lang="en-US" sz="2300" dirty="0"/>
          </a:p>
        </p:txBody>
      </p:sp>
      <p:sp>
        <p:nvSpPr>
          <p:cNvPr id="28" name="Text 26"/>
          <p:cNvSpPr txBox="1"/>
          <p:nvPr/>
        </p:nvSpPr>
        <p:spPr>
          <a:xfrm>
            <a:off x="960120" y="3611880"/>
            <a:ext cx="56235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bounded task에서 코드 경로와 검증 조건을 확인했다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6903720" y="3127248"/>
            <a:ext cx="4251960" cy="1280160"/>
          </a:xfrm>
          <a:prstGeom prst="roundRect">
            <a:avLst>
              <a:gd name="adj" fmla="val 4286"/>
            </a:avLst>
          </a:prstGeom>
          <a:solidFill>
            <a:srgbClr val="E7F2EC"/>
          </a:solidFill>
          <a:ln w="15240">
            <a:solidFill>
              <a:srgbClr val="176B4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150608" y="3310128"/>
            <a:ext cx="374904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STATE-04-PERF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7150608" y="3639312"/>
            <a:ext cx="3749040" cy="5852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Focused 1/1 · Full suite 11/11</a:t>
            </a:r>
            <a:endParaRPr lang="en-US" sz="17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 smoke · benchmark guard verified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960120" y="4434840"/>
            <a:ext cx="10195560" cy="0"/>
          </a:xfrm>
          <a:prstGeom prst="line">
            <a:avLst/>
          </a:prstGeom>
          <a:noFill/>
          <a:ln w="12700">
            <a:solidFill>
              <a:srgbClr val="C7D0DA"/>
            </a:solidFill>
            <a:prstDash val="solid"/>
            <a:tailEnd type="none"/>
          </a:ln>
        </p:spPr>
      </p:sp>
      <p:sp>
        <p:nvSpPr>
          <p:cNvPr id="33" name="Text 31"/>
          <p:cNvSpPr txBox="1"/>
          <p:nvPr/>
        </p:nvSpPr>
        <p:spPr>
          <a:xfrm>
            <a:off x="960120" y="4690872"/>
            <a:ext cx="98755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기록된 synthetic input · CPython 3.9.6 · macOS 26.6.2 arm64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960120" y="5138928"/>
            <a:ext cx="100584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성공을 실패로 다시 쓰지 않는다. 다음 장부터는 별도의 가상 사례다.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4B  CONCEPTUAL STALE HARNESS / DEMO-04A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S56  ·  2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 사례: Project와 Workflow는 현재 맞다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맞는 Project Workflow는 계속 맞을까?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063240" cy="292608"/>
          </a:xfrm>
          <a:prstGeom prst="roundRect">
            <a:avLst>
              <a:gd name="adj" fmla="val 18750"/>
            </a:avLst>
          </a:prstGeom>
          <a:solidFill>
            <a:srgbClr val="F5F0E3"/>
          </a:solidFill>
          <a:ln w="17780">
            <a:solidFill>
              <a:srgbClr val="80540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28803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CASE  ·  NOT A TRIAL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9050">
            <a:solidFill>
              <a:srgbClr val="80540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DEMO-04A  ·  constructed starting condition  ·  no Trial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921240" y="1673352"/>
            <a:ext cx="13258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1901952"/>
            <a:ext cx="996696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상태  /  아직 Project 변경 전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987552" y="2542032"/>
            <a:ext cx="411480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52144" y="2679192"/>
            <a:ext cx="378561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SOURCE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1152144" y="3163824"/>
            <a:ext cx="3785616" cy="6766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기준 절차</a:t>
            </a:r>
            <a:endParaRPr lang="en-US" sz="2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OLD TEST ENTRY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903720" y="2542032"/>
            <a:ext cx="411480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68312" y="2679192"/>
            <a:ext cx="378561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REUSABLE WORKFLOW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7068312" y="3163824"/>
            <a:ext cx="3785616" cy="6766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재사용 절차</a:t>
            </a:r>
            <a:endParaRPr lang="en-US" sz="2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OLD TEST ENTRY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257800" y="3236976"/>
            <a:ext cx="1463040" cy="0"/>
          </a:xfrm>
          <a:prstGeom prst="line">
            <a:avLst/>
          </a:prstGeom>
          <a:noFill/>
          <a:ln w="25400">
            <a:solidFill>
              <a:srgbClr val="176B4D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3977640" y="4343400"/>
            <a:ext cx="411480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두 기준은 일치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1965960" y="4983480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가상으로 구성한 시작점 · 실제 실행이나 Trial 결과 아님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4B  CONCEPTUAL STALE HARNESS / DEMO-04A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S57  ·  4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Project는 바뀌고 Workflow는 남았다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Task에서 old workflow를 따르면 누가 틀린 걸까?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063240" cy="292608"/>
          </a:xfrm>
          <a:prstGeom prst="roundRect">
            <a:avLst>
              <a:gd name="adj" fmla="val 18750"/>
            </a:avLst>
          </a:prstGeom>
          <a:solidFill>
            <a:srgbClr val="F5F0E3"/>
          </a:solidFill>
          <a:ln w="17780">
            <a:solidFill>
              <a:srgbClr val="80540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28803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CASE  ·  NOT A TRIAL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9050">
            <a:solidFill>
              <a:srgbClr val="80540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DEMO-04A  ·  conceptual Project evolution  ·  no actual migration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921240" y="1673352"/>
            <a:ext cx="13258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1901952"/>
            <a:ext cx="42976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EVOLVES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2185416"/>
            <a:ext cx="59436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정당한 Project 변경 · 구체적 사유 미정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87552" y="2743200"/>
            <a:ext cx="411480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3970">
            <a:solidFill>
              <a:srgbClr val="0B617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52144" y="2880360"/>
            <a:ext cx="378561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SOURCE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1152144" y="3383280"/>
            <a:ext cx="3785616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 TEST ENTRY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903720" y="2743200"/>
            <a:ext cx="411480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3970">
            <a:solidFill>
              <a:srgbClr val="805400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7068312" y="2880360"/>
            <a:ext cx="378561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REUSABLE WORKFLOW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7068312" y="3383280"/>
            <a:ext cx="3785616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OLD TEST ENTRY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5285232" y="3447288"/>
            <a:ext cx="1389888" cy="0"/>
          </a:xfrm>
          <a:prstGeom prst="line">
            <a:avLst/>
          </a:prstGeom>
          <a:noFill/>
          <a:ln w="25400">
            <a:solidFill>
              <a:srgbClr val="805400"/>
            </a:solidFill>
            <a:prstDash val="dash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1051560" y="4443984"/>
            <a:ext cx="3931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 updated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995160" y="4443984"/>
            <a:ext cx="3931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remains unchanged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920240" y="5084064"/>
            <a:ext cx="850392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간극은 사례의 가정이며, 실제 migration history가 아니다.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4B  CONCEPTUAL STALE HARNESS / DEMO-04A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S58  ·  3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해결과 System 문제는 다르다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Prompt를 더 자세히 쓰면 이번 Task는 해결될까?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063240" cy="292608"/>
          </a:xfrm>
          <a:prstGeom prst="roundRect">
            <a:avLst>
              <a:gd name="adj" fmla="val 18750"/>
            </a:avLst>
          </a:prstGeom>
          <a:solidFill>
            <a:srgbClr val="F5F0E3"/>
          </a:solidFill>
          <a:ln w="17780">
            <a:solidFill>
              <a:srgbClr val="80540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28803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CASE  ·  NOT A TRIAL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9050">
            <a:solidFill>
              <a:srgbClr val="80540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DEMO-04A  ·  conceptual consequence  ·  no execution result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921240" y="1673352"/>
            <a:ext cx="13258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60120" y="1965960"/>
            <a:ext cx="480060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3970">
            <a:solidFill>
              <a:srgbClr val="8054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24712" y="2103120"/>
            <a:ext cx="447141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오래된 절차가 쓰이면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124712" y="2468880"/>
            <a:ext cx="4471416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8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가능성 1: command가 맞지 않을 수 있음</a:t>
            </a:r>
            <a:endParaRPr lang="en-US" sz="168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8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가능성 2: 검증 범위가 달라질 수 있음</a:t>
            </a:r>
            <a:endParaRPr lang="en-US" sz="168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176272"/>
            <a:ext cx="41148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POSSIBILITY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60120" y="3401568"/>
            <a:ext cx="480060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24712" y="3538728"/>
            <a:ext cx="447141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CURRENT TASK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1124712" y="3968496"/>
            <a:ext cx="4471416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 patch may unblock this task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446520" y="3401568"/>
            <a:ext cx="480060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3970">
            <a:solidFill>
              <a:srgbClr val="805400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6611112" y="3538728"/>
            <a:ext cx="447141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REUSABLE WORKFLOW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6611112" y="3968496"/>
            <a:ext cx="4471416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Still points to OLD TEST ENTRY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965960" y="5001768"/>
            <a:ext cx="841248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recovery ≠ reusable system correction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4C  FIX THE RIGHT LAYER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S59  ·  2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원인에 맞는 Layer를 고르기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어디를 고치면 현재 Task와 다음 Task가 함께 달라질까?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337560" cy="292608"/>
          </a:xfrm>
          <a:prstGeom prst="roundRect">
            <a:avLst>
              <a:gd name="adj" fmla="val 18750"/>
            </a:avLst>
          </a:prstGeom>
          <a:solidFill>
            <a:srgbClr val="F5F0E3"/>
          </a:solidFill>
          <a:ln w="17780">
            <a:solidFill>
              <a:srgbClr val="80540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154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CASE  +  TEACHING MODEL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9050">
            <a:solidFill>
              <a:srgbClr val="80540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DEMO-11  ·  conceptual layer-selection synthesis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921240" y="1673352"/>
            <a:ext cx="13258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96112" y="2148840"/>
            <a:ext cx="3127248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4605">
            <a:solidFill>
              <a:srgbClr val="C7D0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2221992"/>
            <a:ext cx="290779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LAYER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2459736"/>
            <a:ext cx="2889504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 ·  Prompt patch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1014984" y="2916936"/>
            <a:ext cx="2889504" cy="1472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Task를 풀 수 있음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Stale workflow는 남음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89120" y="2148840"/>
            <a:ext cx="3127248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4605">
            <a:solidFill>
              <a:srgbClr val="C7D0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98848" y="2221992"/>
            <a:ext cx="290779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GLOBAL LAYER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507992" y="2459736"/>
            <a:ext cx="2889504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 ·  Global rule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4507992" y="2916936"/>
            <a:ext cx="2889504" cy="1472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지침 또는 충돌을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더할 수 있음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882128" y="2148840"/>
            <a:ext cx="3127248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22860">
            <a:solidFill>
              <a:srgbClr val="0B617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991856" y="2221992"/>
            <a:ext cx="290779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CAUSE-MATCHED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8001000" y="2459736"/>
            <a:ext cx="2889504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  ·  Source workflow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8001000" y="2916936"/>
            <a:ext cx="2889504" cy="1472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원인이 확인된 경우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절차를 갱신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029200"/>
            <a:ext cx="1005840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사례에서 Workflow가 원인으로 확인된 경우에 한해 C가 맞다.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4C  FIX THE RIGHT LAYER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S60  ·  2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지점과 원인 Layer 구분하기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실패가 보인 Layer와 원인이 있는 Layer는 항상 같을까?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337560" cy="292608"/>
          </a:xfrm>
          <a:prstGeom prst="roundRect">
            <a:avLst>
              <a:gd name="adj" fmla="val 18750"/>
            </a:avLst>
          </a:prstGeom>
          <a:solidFill>
            <a:srgbClr val="F5F0E3"/>
          </a:solidFill>
          <a:ln w="17780">
            <a:solidFill>
              <a:srgbClr val="80540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154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CASE  +  TEACHING MODEL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9050">
            <a:solidFill>
              <a:srgbClr val="80540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DEMO-11  ·  conceptual cause/layer synthesis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921240" y="1673352"/>
            <a:ext cx="13258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1938528"/>
            <a:ext cx="41148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증상은 여기서 보일 수 있다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005840" y="2468880"/>
            <a:ext cx="356616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70432" y="2697480"/>
            <a:ext cx="3236976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/ PROMPT SYMPTOM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669280" y="1965960"/>
            <a:ext cx="22402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760720" y="2139696"/>
            <a:ext cx="2057400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Context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4681728" y="2852928"/>
            <a:ext cx="914400" cy="-576072"/>
          </a:xfrm>
          <a:prstGeom prst="line">
            <a:avLst/>
          </a:prstGeom>
          <a:noFill/>
          <a:ln w="13970">
            <a:solidFill>
              <a:srgbClr val="805400"/>
            </a:solidFill>
            <a:prstDash val="dash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8366760" y="1965960"/>
            <a:ext cx="22402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58200" y="2139696"/>
            <a:ext cx="2057400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Reusable Workflow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4681728" y="2852928"/>
            <a:ext cx="3611880" cy="-576072"/>
          </a:xfrm>
          <a:prstGeom prst="line">
            <a:avLst/>
          </a:prstGeom>
          <a:noFill/>
          <a:ln w="13970">
            <a:solidFill>
              <a:srgbClr val="805400"/>
            </a:solidFill>
            <a:prstDash val="dash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5669280" y="3154680"/>
            <a:ext cx="22402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760720" y="3328416"/>
            <a:ext cx="2057400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Environment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4681728" y="2852928"/>
            <a:ext cx="914400" cy="612648"/>
          </a:xfrm>
          <a:prstGeom prst="line">
            <a:avLst/>
          </a:prstGeom>
          <a:noFill/>
          <a:ln w="13970">
            <a:solidFill>
              <a:srgbClr val="805400"/>
            </a:solidFill>
            <a:prstDash val="dash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8366760" y="3154680"/>
            <a:ext cx="22402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58200" y="3328416"/>
            <a:ext cx="2057400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 / Permission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4681728" y="2852928"/>
            <a:ext cx="3611880" cy="612648"/>
          </a:xfrm>
          <a:prstGeom prst="line">
            <a:avLst/>
          </a:prstGeom>
          <a:noFill/>
          <a:ln w="13970">
            <a:solidFill>
              <a:srgbClr val="805400"/>
            </a:solidFill>
            <a:prstDash val="dash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7040880" y="4434840"/>
            <a:ext cx="22402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32320" y="4608576"/>
            <a:ext cx="2057400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 code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4681728" y="2852928"/>
            <a:ext cx="2286000" cy="1892808"/>
          </a:xfrm>
          <a:prstGeom prst="line">
            <a:avLst/>
          </a:prstGeom>
          <a:noFill/>
          <a:ln w="13970">
            <a:solidFill>
              <a:srgbClr val="805400"/>
            </a:solidFill>
            <a:prstDash val="dash"/>
            <a:tailEnd type="none"/>
          </a:ln>
        </p:spPr>
      </p:sp>
      <p:sp>
        <p:nvSpPr>
          <p:cNvPr id="29" name="Text 27"/>
          <p:cNvSpPr txBox="1"/>
          <p:nvPr/>
        </p:nvSpPr>
        <p:spPr>
          <a:xfrm>
            <a:off x="5074920" y="5257800"/>
            <a:ext cx="56692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possible causes to investigate  ·  no single cause assumed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4C  CAUSE / CHANGE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S61  ·  2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관찰하고, 그다음 가설을 세운다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원인을 추측하기 전에 무엇부터 확인해야 할까?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063240" cy="292608"/>
          </a:xfrm>
          <a:prstGeom prst="roundRect">
            <a:avLst>
              <a:gd name="adj" fmla="val 18750"/>
            </a:avLst>
          </a:prstGeom>
          <a:solidFill>
            <a:srgbClr val="F5F0E3"/>
          </a:solidFill>
          <a:ln w="17780">
            <a:solidFill>
              <a:srgbClr val="80540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28803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CASE  ·  NOT A TRIAL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9050">
            <a:solidFill>
              <a:srgbClr val="80540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DEMO-04A  ·  scenario assumptions and inference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921240" y="1673352"/>
            <a:ext cx="13258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41832" y="2084832"/>
            <a:ext cx="4773168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3970">
            <a:solidFill>
              <a:srgbClr val="8054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06424" y="2221992"/>
            <a:ext cx="4443984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SCENARIO ASSUMPTIONS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106424" y="2660904"/>
            <a:ext cx="4443984" cy="18196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사례에서 old procedure가 호출됨</a:t>
            </a:r>
            <a:endParaRPr lang="en-US" sz="17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Project source에는 새 절차가 있음</a:t>
            </a:r>
            <a:endParaRPr lang="en-US" sz="1700" dirty="0"/>
          </a:p>
          <a:p>
            <a:pPr algn="l" indent="0" marL="0">
              <a:lnSpc>
                <a:spcPct val="100000"/>
              </a:lnSpc>
              <a:buNone/>
            </a:pPr>
            <a:endParaRPr lang="en-US" sz="17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구성된 사례의 전제</a:t>
            </a:r>
            <a:endParaRPr lang="en-US" sz="17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Trial 관찰 아님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46520" y="2084832"/>
            <a:ext cx="4773168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3970">
            <a:solidFill>
              <a:srgbClr val="0B617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11112" y="2221992"/>
            <a:ext cx="4443984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INFERENCE TO CHECK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611112" y="2660904"/>
            <a:ext cx="4443984" cy="18196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“Reusable Workflow가 stale할 수 있다”</a:t>
            </a:r>
            <a:endParaRPr lang="en-US" sz="1700" dirty="0"/>
          </a:p>
          <a:p>
            <a:pPr algn="l" indent="0" marL="0">
              <a:lnSpc>
                <a:spcPct val="100000"/>
              </a:lnSpc>
              <a:buNone/>
            </a:pPr>
            <a:endParaRPr lang="en-US" sz="17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가설</a:t>
            </a:r>
            <a:endParaRPr lang="en-US" sz="17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확인 전에는 확정하지 않음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852160" y="3337560"/>
            <a:ext cx="457200" cy="0"/>
          </a:xfrm>
          <a:prstGeom prst="line">
            <a:avLst/>
          </a:prstGeom>
          <a:noFill/>
          <a:ln w="17780">
            <a:solidFill>
              <a:srgbClr val="C7D0DA"/>
            </a:solidFill>
            <a:prstDash val="dash"/>
            <a:tailEnd type="none"/>
          </a:ln>
        </p:spPr>
      </p:sp>
      <p:sp>
        <p:nvSpPr>
          <p:cNvPr id="18" name="Text 16"/>
          <p:cNvSpPr txBox="1"/>
          <p:nvPr/>
        </p:nvSpPr>
        <p:spPr>
          <a:xfrm>
            <a:off x="1920240" y="5074920"/>
            <a:ext cx="8412480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Assumption  ≠  Observation  ≠  Cause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4C  CAUSE / CHANGE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S62  ·  2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Cause가 지지하는 최소 변경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바꿔야 할까?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337560" cy="292608"/>
          </a:xfrm>
          <a:prstGeom prst="roundRect">
            <a:avLst>
              <a:gd name="adj" fmla="val 18750"/>
            </a:avLst>
          </a:prstGeom>
          <a:solidFill>
            <a:srgbClr val="F5F0E3"/>
          </a:solidFill>
          <a:ln w="17780">
            <a:solidFill>
              <a:srgbClr val="80540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154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CASE  +  TEACHING MODEL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9050">
            <a:solidFill>
              <a:srgbClr val="80540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DEMO-04A  ·  conceptual cause-to-change path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921240" y="1673352"/>
            <a:ext cx="13258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14400" y="2267712"/>
            <a:ext cx="2743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4605">
            <a:solidFill>
              <a:srgbClr val="8054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24128" y="2340864"/>
            <a:ext cx="252374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IF CONFIRMED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033272" y="2578608"/>
            <a:ext cx="2505456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CAUSE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1033272" y="3035808"/>
            <a:ext cx="2505456" cy="10607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원인이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확인됐다고 가정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822192" y="3236976"/>
            <a:ext cx="859536" cy="0"/>
          </a:xfrm>
          <a:prstGeom prst="line">
            <a:avLst/>
          </a:prstGeom>
          <a:noFill/>
          <a:ln w="25400">
            <a:solidFill>
              <a:srgbClr val="0B6172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864608" y="2267712"/>
            <a:ext cx="2743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4605">
            <a:solidFill>
              <a:srgbClr val="0B617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974336" y="2340864"/>
            <a:ext cx="252374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DURABLE LAYER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983480" y="2578608"/>
            <a:ext cx="2505456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CHANGE</a:t>
            </a:r>
            <a:endParaRPr lang="en-US" sz="2100" dirty="0"/>
          </a:p>
        </p:txBody>
      </p:sp>
      <p:sp>
        <p:nvSpPr>
          <p:cNvPr id="19" name="Text 17"/>
          <p:cNvSpPr txBox="1"/>
          <p:nvPr/>
        </p:nvSpPr>
        <p:spPr>
          <a:xfrm>
            <a:off x="4983480" y="3035808"/>
            <a:ext cx="2505456" cy="10607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workflow의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entry 갱신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772400" y="3236976"/>
            <a:ext cx="804672" cy="0"/>
          </a:xfrm>
          <a:prstGeom prst="line">
            <a:avLst/>
          </a:prstGeom>
          <a:noFill/>
          <a:ln w="25400">
            <a:solidFill>
              <a:srgbClr val="0B6172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8759952" y="2267712"/>
            <a:ext cx="2487168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4605">
            <a:solidFill>
              <a:srgbClr val="C7D0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869680" y="2340864"/>
            <a:ext cx="226771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CONDITIONAL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878824" y="2578608"/>
            <a:ext cx="2249424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CLEAN UP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8878824" y="3035808"/>
            <a:ext cx="2249424" cy="10607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지침은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원인일 때만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143000" y="4864608"/>
            <a:ext cx="987552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“최소” = 원인과 변경 범위가 맞는 durable change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4D  EVALUATION &amp; REGRESSION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S63  ·  4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Task의 재실행만으로 충분할까?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Failure가 사라졌으면 Harness fix가 끝난 걸까?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337560" cy="292608"/>
          </a:xfrm>
          <a:prstGeom prst="roundRect">
            <a:avLst>
              <a:gd name="adj" fmla="val 18750"/>
            </a:avLst>
          </a:prstGeom>
          <a:solidFill>
            <a:srgbClr val="F5F0E3"/>
          </a:solidFill>
          <a:ln w="17780">
            <a:solidFill>
              <a:srgbClr val="80540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154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CASE  +  TEACHING MODEL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9050">
            <a:solidFill>
              <a:srgbClr val="80540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DEMO-04A  ·  designed rerun and system evaluation path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921240" y="1673352"/>
            <a:ext cx="13258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60120" y="1956816"/>
            <a:ext cx="47091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3970">
            <a:solidFill>
              <a:srgbClr val="0B617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24712" y="2093976"/>
            <a:ext cx="437997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FIX TASK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124712" y="2596896"/>
            <a:ext cx="4379976" cy="8138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Task를 다시 실행</a:t>
            </a:r>
            <a:endParaRPr lang="en-US" sz="1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문제의 recovery를 확인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6446520" y="1956816"/>
            <a:ext cx="47091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3970">
            <a:solidFill>
              <a:srgbClr val="334B6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11112" y="2093976"/>
            <a:ext cx="437997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EVALUATE SYSTEM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611112" y="2596896"/>
            <a:ext cx="4379976" cy="8138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작업과 인접 surface</a:t>
            </a:r>
            <a:endParaRPr lang="en-US" sz="1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작업의 회귀 위험을 살핌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3822192"/>
            <a:ext cx="4343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NECESSARY CHECK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6629400" y="3822192"/>
            <a:ext cx="4343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ADDITIONAL COVERAGE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733288" y="2724912"/>
            <a:ext cx="576072" cy="0"/>
          </a:xfrm>
          <a:prstGeom prst="line">
            <a:avLst/>
          </a:prstGeom>
          <a:noFill/>
          <a:ln w="1905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828800" y="4407408"/>
            <a:ext cx="8503920" cy="768096"/>
          </a:xfrm>
          <a:prstGeom prst="roundRect">
            <a:avLst>
              <a:gd name="adj" fmla="val 7143"/>
            </a:avLst>
          </a:prstGeom>
          <a:solidFill>
            <a:srgbClr val="F5F0E3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011680" y="4645152"/>
            <a:ext cx="813816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Task의 재실행만으로 Harness 검증 완료라고 할 수 없다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4D  EVALUATION &amp; REGRESSION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S64  ·  5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작업으로 변경 범위를 확인하기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대표 Task로 고를까?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4069080" cy="292608"/>
          </a:xfrm>
          <a:prstGeom prst="roundRect">
            <a:avLst>
              <a:gd name="adj" fmla="val 18750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886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EVALUATION SET  ·  EVIDENCE FRAMES SEPARATE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DEMO-10  ·  EVAL-01/02 prior Product references; EVAL-03/04 designed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96112" y="1874520"/>
            <a:ext cx="10378440" cy="1005840"/>
          </a:xfrm>
          <a:prstGeom prst="rect">
            <a:avLst>
              <a:gd name="adj" fmla="val 5455"/>
            </a:avLst>
          </a:prstGeom>
          <a:solidFill>
            <a:srgbClr val="FFFFFF"/>
          </a:solidFill>
          <a:ln w="19050">
            <a:solidFill>
              <a:srgbClr val="176B4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78992" y="1965960"/>
            <a:ext cx="99669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PRIOR OBSERVED PRODUCT REFERENCES  ·  separate task chains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078992" y="2267712"/>
            <a:ext cx="47548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EVAL-01 Bug fix  /  TRIAL-002 · STATE-00-FIXED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6080760" y="2267712"/>
            <a:ext cx="48463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EVAL-02 Performance  /  STATE-04-PERF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896112" y="3127248"/>
            <a:ext cx="10378440" cy="2679192"/>
          </a:xfrm>
          <a:prstGeom prst="rect">
            <a:avLst>
              <a:gd name="adj" fmla="val 2048"/>
            </a:avLst>
          </a:prstGeom>
          <a:solidFill>
            <a:srgbClr val="F4F6F8">
              <a:alpha val="0"/>
            </a:srgbClr>
          </a:solidFill>
          <a:ln w="18415">
            <a:solidFill>
              <a:srgbClr val="805400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1078992" y="3246120"/>
            <a:ext cx="996696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EVALUATION SET  ·  no post-change outcomes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602736"/>
            <a:ext cx="132588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EVAL-01</a:t>
            </a: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2560320" y="3602736"/>
            <a:ext cx="32004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Bug fix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989320" y="3602736"/>
            <a:ext cx="48006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prior evidence reference only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1078992" y="4037076"/>
            <a:ext cx="9939528" cy="0"/>
          </a:xfrm>
          <a:prstGeom prst="line">
            <a:avLst/>
          </a:prstGeom>
          <a:noFill/>
          <a:ln w="9525">
            <a:solidFill>
              <a:srgbClr val="D8DEE5"/>
            </a:solidFill>
            <a:prstDash val="solid"/>
            <a:tailEnd type="none"/>
          </a:ln>
        </p:spPr>
      </p:sp>
      <p:sp>
        <p:nvSpPr>
          <p:cNvPr id="19" name="Text 17"/>
          <p:cNvSpPr txBox="1"/>
          <p:nvPr/>
        </p:nvSpPr>
        <p:spPr>
          <a:xfrm>
            <a:off x="1097280" y="4078224"/>
            <a:ext cx="132588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EVAL-02</a:t>
            </a:r>
            <a:endParaRPr lang="en-US" sz="1550" dirty="0"/>
          </a:p>
        </p:txBody>
      </p:sp>
      <p:sp>
        <p:nvSpPr>
          <p:cNvPr id="20" name="Text 18"/>
          <p:cNvSpPr txBox="1"/>
          <p:nvPr/>
        </p:nvSpPr>
        <p:spPr>
          <a:xfrm>
            <a:off x="2560320" y="4078224"/>
            <a:ext cx="32004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Performance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989320" y="4078224"/>
            <a:ext cx="48006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prior evidence reference only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1078992" y="4512564"/>
            <a:ext cx="9939528" cy="0"/>
          </a:xfrm>
          <a:prstGeom prst="line">
            <a:avLst/>
          </a:prstGeom>
          <a:noFill/>
          <a:ln w="9525">
            <a:solidFill>
              <a:srgbClr val="D8DEE5"/>
            </a:solidFill>
            <a:prstDash val="solid"/>
            <a:tailEnd type="none"/>
          </a:ln>
        </p:spPr>
      </p:sp>
      <p:sp>
        <p:nvSpPr>
          <p:cNvPr id="23" name="Text 21"/>
          <p:cNvSpPr txBox="1"/>
          <p:nvPr/>
        </p:nvSpPr>
        <p:spPr>
          <a:xfrm>
            <a:off x="1097280" y="4553712"/>
            <a:ext cx="132588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EVAL-03</a:t>
            </a:r>
            <a:endParaRPr lang="en-US" sz="1550" dirty="0"/>
          </a:p>
        </p:txBody>
      </p:sp>
      <p:sp>
        <p:nvSpPr>
          <p:cNvPr id="24" name="Text 22"/>
          <p:cNvSpPr txBox="1"/>
          <p:nvPr/>
        </p:nvSpPr>
        <p:spPr>
          <a:xfrm>
            <a:off x="2560320" y="4553712"/>
            <a:ext cx="32004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Documentation-only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5989320" y="4553712"/>
            <a:ext cx="48006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designed · no Trial outcome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1078992" y="4988052"/>
            <a:ext cx="9939528" cy="0"/>
          </a:xfrm>
          <a:prstGeom prst="line">
            <a:avLst/>
          </a:prstGeom>
          <a:noFill/>
          <a:ln w="9525">
            <a:solidFill>
              <a:srgbClr val="D8DEE5"/>
            </a:solidFill>
            <a:prstDash val="solid"/>
            <a:tailEnd type="none"/>
          </a:ln>
        </p:spPr>
      </p:sp>
      <p:sp>
        <p:nvSpPr>
          <p:cNvPr id="27" name="Text 25"/>
          <p:cNvSpPr txBox="1"/>
          <p:nvPr/>
        </p:nvSpPr>
        <p:spPr>
          <a:xfrm>
            <a:off x="1097280" y="5029200"/>
            <a:ext cx="132588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EVAL-04</a:t>
            </a:r>
            <a:endParaRPr lang="en-US" sz="1550" dirty="0"/>
          </a:p>
        </p:txBody>
      </p:sp>
      <p:sp>
        <p:nvSpPr>
          <p:cNvPr id="28" name="Text 26"/>
          <p:cNvSpPr txBox="1"/>
          <p:nvPr/>
        </p:nvSpPr>
        <p:spPr>
          <a:xfrm>
            <a:off x="2560320" y="5029200"/>
            <a:ext cx="32004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Small refactor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5989320" y="5029200"/>
            <a:ext cx="48006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designed · no Trial outcome</a:t>
            </a:r>
            <a:endParaRPr lang="en-US" sz="1550" dirty="0"/>
          </a:p>
        </p:txBody>
      </p:sp>
      <p:sp>
        <p:nvSpPr>
          <p:cNvPr id="30" name="Text 28"/>
          <p:cNvSpPr txBox="1"/>
          <p:nvPr/>
        </p:nvSpPr>
        <p:spPr>
          <a:xfrm>
            <a:off x="1325880" y="5522976"/>
            <a:ext cx="9509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new execution  ·  No PASS / FAIL for the conceptual change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4D  EVALUATION &amp; REGRESSION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S65  ·  4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Harness도 특정 실패에 맞춰 과적합될 수 있다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실패했다고 규칙을 계속 추가하면 어떻게 될까?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337560" cy="292608"/>
          </a:xfrm>
          <a:prstGeom prst="roundRect">
            <a:avLst>
              <a:gd name="adj" fmla="val 18750"/>
            </a:avLst>
          </a:prstGeom>
          <a:solidFill>
            <a:srgbClr val="F5F0E3"/>
          </a:solidFill>
          <a:ln w="17780">
            <a:solidFill>
              <a:srgbClr val="80540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154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CASE  +  TEACHING MODEL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9050">
            <a:solidFill>
              <a:srgbClr val="80540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DEMO-04A  ·  conceptual regression / maintenance model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921240" y="1673352"/>
            <a:ext cx="13258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60120" y="2148840"/>
            <a:ext cx="20574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51560" y="2322576"/>
            <a:ext cx="18745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Failure 1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090672" y="2478024"/>
            <a:ext cx="448056" cy="0"/>
          </a:xfrm>
          <a:prstGeom prst="line">
            <a:avLst/>
          </a:prstGeom>
          <a:noFill/>
          <a:ln w="20320">
            <a:solidFill>
              <a:srgbClr val="80540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611880" y="2148840"/>
            <a:ext cx="20574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03320" y="2322576"/>
            <a:ext cx="18745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Failure 2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742432" y="2478024"/>
            <a:ext cx="448056" cy="0"/>
          </a:xfrm>
          <a:prstGeom prst="line">
            <a:avLst/>
          </a:prstGeom>
          <a:noFill/>
          <a:ln w="20320">
            <a:solidFill>
              <a:srgbClr val="80540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263640" y="2148840"/>
            <a:ext cx="20574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55080" y="2322576"/>
            <a:ext cx="18745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Failure 3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914400" y="3310128"/>
            <a:ext cx="2697480" cy="758952"/>
          </a:xfrm>
          <a:prstGeom prst="roundRect">
            <a:avLst>
              <a:gd name="adj" fmla="val 7229"/>
            </a:avLst>
          </a:prstGeom>
          <a:solidFill>
            <a:srgbClr val="F5F0E3"/>
          </a:solidFill>
          <a:ln w="13970">
            <a:solidFill>
              <a:srgbClr val="8054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24128" y="3529584"/>
            <a:ext cx="2478024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BLOAT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4297680" y="3310128"/>
            <a:ext cx="2697480" cy="758952"/>
          </a:xfrm>
          <a:prstGeom prst="roundRect">
            <a:avLst>
              <a:gd name="adj" fmla="val 7229"/>
            </a:avLst>
          </a:prstGeom>
          <a:solidFill>
            <a:srgbClr val="F5F0E3"/>
          </a:solidFill>
          <a:ln w="13970">
            <a:solidFill>
              <a:srgbClr val="8054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407408" y="3529584"/>
            <a:ext cx="2478024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CONFLICT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7680960" y="3310128"/>
            <a:ext cx="2697480" cy="758952"/>
          </a:xfrm>
          <a:prstGeom prst="roundRect">
            <a:avLst>
              <a:gd name="adj" fmla="val 7229"/>
            </a:avLst>
          </a:prstGeom>
          <a:solidFill>
            <a:srgbClr val="F5F0E3"/>
          </a:solidFill>
          <a:ln w="13970">
            <a:solidFill>
              <a:srgbClr val="80540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90688" y="3529584"/>
            <a:ext cx="2478024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NARROW FIT</a:t>
            </a:r>
            <a:endParaRPr lang="en-US" sz="1900" dirty="0"/>
          </a:p>
        </p:txBody>
      </p:sp>
      <p:sp>
        <p:nvSpPr>
          <p:cNvPr id="25" name="Shape 23"/>
          <p:cNvSpPr/>
          <p:nvPr/>
        </p:nvSpPr>
        <p:spPr>
          <a:xfrm>
            <a:off x="1993392" y="2852928"/>
            <a:ext cx="0" cy="347472"/>
          </a:xfrm>
          <a:prstGeom prst="line">
            <a:avLst/>
          </a:prstGeom>
          <a:noFill/>
          <a:ln w="15240">
            <a:solidFill>
              <a:srgbClr val="805400"/>
            </a:solidFill>
            <a:prstDash val="dash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4645152" y="2852928"/>
            <a:ext cx="978408" cy="347472"/>
          </a:xfrm>
          <a:prstGeom prst="line">
            <a:avLst/>
          </a:prstGeom>
          <a:noFill/>
          <a:ln w="15240">
            <a:solidFill>
              <a:srgbClr val="805400"/>
            </a:solidFill>
            <a:prstDash val="dash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7296912" y="2852928"/>
            <a:ext cx="1709928" cy="347472"/>
          </a:xfrm>
          <a:prstGeom prst="line">
            <a:avLst/>
          </a:prstGeom>
          <a:noFill/>
          <a:ln w="15240">
            <a:solidFill>
              <a:srgbClr val="805400"/>
            </a:solidFill>
            <a:prstDash val="dash"/>
            <a:tailEnd type="none"/>
          </a:ln>
        </p:spPr>
      </p:sp>
      <p:sp>
        <p:nvSpPr>
          <p:cNvPr id="28" name="Text 26"/>
          <p:cNvSpPr txBox="1"/>
          <p:nvPr/>
        </p:nvSpPr>
        <p:spPr>
          <a:xfrm>
            <a:off x="1005840" y="4361688"/>
            <a:ext cx="1014984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2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교육용 비유  ·  ML의 통계적 overfitting과 같은 의미가 아님</a:t>
            </a:r>
            <a:endParaRPr lang="en-US" sz="1520" dirty="0"/>
          </a:p>
        </p:txBody>
      </p:sp>
      <p:sp>
        <p:nvSpPr>
          <p:cNvPr id="29" name="Shape 27"/>
          <p:cNvSpPr/>
          <p:nvPr/>
        </p:nvSpPr>
        <p:spPr>
          <a:xfrm>
            <a:off x="1143000" y="4809744"/>
            <a:ext cx="9829800" cy="658368"/>
          </a:xfrm>
          <a:prstGeom prst="roundRect">
            <a:avLst>
              <a:gd name="adj" fmla="val 8333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25880" y="5001768"/>
            <a:ext cx="946404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 관찰  →  원인 확인  →  대표 작업 평가  →  불필요한 규칙 정리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4E  LOOP MENTAL MODEL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S66  ·  11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Feedback을 System Change와 Evaluation으로 잇기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Feedback이 언제 Engineering이 되는가?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291840" cy="292608"/>
          </a:xfrm>
          <a:prstGeom prst="roundRect">
            <a:avLst>
              <a:gd name="adj" fmla="val 18750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  ·  TEACHING MODEL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7780">
            <a:solidFill>
              <a:srgbClr val="0B61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DEC-0023  ·  course operational model  ·  no product loop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875520" y="1664208"/>
            <a:ext cx="13716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96112" y="2404872"/>
            <a:ext cx="1938528" cy="1499616"/>
          </a:xfrm>
          <a:prstGeom prst="roundRect">
            <a:avLst>
              <a:gd name="adj" fmla="val 3659"/>
            </a:avLst>
          </a:prstGeom>
          <a:solidFill>
            <a:srgbClr val="FFFFFF"/>
          </a:solidFill>
          <a:ln w="14605">
            <a:solidFill>
              <a:srgbClr val="0B617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2478024"/>
            <a:ext cx="171907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R1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2715768"/>
            <a:ext cx="1700784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5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Execution</a:t>
            </a:r>
            <a:endParaRPr lang="en-US" sz="1850" dirty="0"/>
          </a:p>
        </p:txBody>
      </p:sp>
      <p:sp>
        <p:nvSpPr>
          <p:cNvPr id="14" name="Text 12"/>
          <p:cNvSpPr txBox="1"/>
          <p:nvPr/>
        </p:nvSpPr>
        <p:spPr>
          <a:xfrm>
            <a:off x="1014984" y="3172968"/>
            <a:ext cx="1700784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2857500" y="3127248"/>
            <a:ext cx="214884" cy="0"/>
          </a:xfrm>
          <a:prstGeom prst="line">
            <a:avLst/>
          </a:prstGeom>
          <a:noFill/>
          <a:ln w="22225">
            <a:solidFill>
              <a:srgbClr val="0B6172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090672" y="2404872"/>
            <a:ext cx="1938528" cy="1499616"/>
          </a:xfrm>
          <a:prstGeom prst="roundRect">
            <a:avLst>
              <a:gd name="adj" fmla="val 3659"/>
            </a:avLst>
          </a:prstGeom>
          <a:solidFill>
            <a:srgbClr val="FFFFFF"/>
          </a:solidFill>
          <a:ln w="14605">
            <a:solidFill>
              <a:srgbClr val="0B617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00400" y="2478024"/>
            <a:ext cx="171907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R2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3209544" y="2715768"/>
            <a:ext cx="1700784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5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Observation</a:t>
            </a:r>
            <a:endParaRPr lang="en-US" sz="1850" dirty="0"/>
          </a:p>
        </p:txBody>
      </p:sp>
      <p:sp>
        <p:nvSpPr>
          <p:cNvPr id="19" name="Text 17"/>
          <p:cNvSpPr txBox="1"/>
          <p:nvPr/>
        </p:nvSpPr>
        <p:spPr>
          <a:xfrm>
            <a:off x="3209544" y="3172968"/>
            <a:ext cx="1700784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관찰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5052060" y="3127248"/>
            <a:ext cx="214884" cy="0"/>
          </a:xfrm>
          <a:prstGeom prst="line">
            <a:avLst/>
          </a:prstGeom>
          <a:noFill/>
          <a:ln w="22225">
            <a:solidFill>
              <a:srgbClr val="0B6172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285232" y="2404872"/>
            <a:ext cx="1938528" cy="1499616"/>
          </a:xfrm>
          <a:prstGeom prst="roundRect">
            <a:avLst>
              <a:gd name="adj" fmla="val 3659"/>
            </a:avLst>
          </a:prstGeom>
          <a:solidFill>
            <a:srgbClr val="F5F0E3"/>
          </a:solidFill>
          <a:ln w="14605">
            <a:solidFill>
              <a:srgbClr val="8054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94960" y="2478024"/>
            <a:ext cx="171907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R3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5404104" y="2715768"/>
            <a:ext cx="1700784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5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Cause</a:t>
            </a:r>
            <a:endParaRPr lang="en-US" sz="1850" dirty="0"/>
          </a:p>
        </p:txBody>
      </p:sp>
      <p:sp>
        <p:nvSpPr>
          <p:cNvPr id="24" name="Text 22"/>
          <p:cNvSpPr txBox="1"/>
          <p:nvPr/>
        </p:nvSpPr>
        <p:spPr>
          <a:xfrm>
            <a:off x="5404104" y="3172968"/>
            <a:ext cx="1700784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판단</a:t>
            </a:r>
            <a:endParaRPr lang="en-US" sz="1550" dirty="0"/>
          </a:p>
        </p:txBody>
      </p:sp>
      <p:sp>
        <p:nvSpPr>
          <p:cNvPr id="25" name="Shape 23"/>
          <p:cNvSpPr/>
          <p:nvPr/>
        </p:nvSpPr>
        <p:spPr>
          <a:xfrm>
            <a:off x="7246620" y="3127248"/>
            <a:ext cx="214884" cy="0"/>
          </a:xfrm>
          <a:prstGeom prst="line">
            <a:avLst/>
          </a:prstGeom>
          <a:noFill/>
          <a:ln w="22225">
            <a:solidFill>
              <a:srgbClr val="0B6172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479792" y="2404872"/>
            <a:ext cx="1938528" cy="1499616"/>
          </a:xfrm>
          <a:prstGeom prst="roundRect">
            <a:avLst>
              <a:gd name="adj" fmla="val 3659"/>
            </a:avLst>
          </a:prstGeom>
          <a:solidFill>
            <a:srgbClr val="FFFFFF"/>
          </a:solidFill>
          <a:ln w="14605">
            <a:solidFill>
              <a:srgbClr val="0B617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589520" y="2478024"/>
            <a:ext cx="171907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R4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7598664" y="2715768"/>
            <a:ext cx="1700784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Change</a:t>
            </a:r>
            <a:endParaRPr lang="en-US" sz="1650" dirty="0"/>
          </a:p>
        </p:txBody>
      </p:sp>
      <p:sp>
        <p:nvSpPr>
          <p:cNvPr id="29" name="Text 27"/>
          <p:cNvSpPr txBox="1"/>
          <p:nvPr/>
        </p:nvSpPr>
        <p:spPr>
          <a:xfrm>
            <a:off x="7598664" y="3172968"/>
            <a:ext cx="1700784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변경</a:t>
            </a:r>
            <a:endParaRPr lang="en-US" sz="1550" dirty="0"/>
          </a:p>
        </p:txBody>
      </p:sp>
      <p:sp>
        <p:nvSpPr>
          <p:cNvPr id="30" name="Shape 28"/>
          <p:cNvSpPr/>
          <p:nvPr/>
        </p:nvSpPr>
        <p:spPr>
          <a:xfrm>
            <a:off x="9441180" y="3127248"/>
            <a:ext cx="214884" cy="0"/>
          </a:xfrm>
          <a:prstGeom prst="line">
            <a:avLst/>
          </a:prstGeom>
          <a:noFill/>
          <a:ln w="22225">
            <a:solidFill>
              <a:srgbClr val="0B6172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674352" y="2404872"/>
            <a:ext cx="1938528" cy="1499616"/>
          </a:xfrm>
          <a:prstGeom prst="roundRect">
            <a:avLst>
              <a:gd name="adj" fmla="val 3659"/>
            </a:avLst>
          </a:prstGeom>
          <a:solidFill>
            <a:srgbClr val="FFFFFF"/>
          </a:solidFill>
          <a:ln w="14605">
            <a:solidFill>
              <a:srgbClr val="0B617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784080" y="2478024"/>
            <a:ext cx="171907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R5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9793224" y="2715768"/>
            <a:ext cx="1700784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5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Re-evaluation</a:t>
            </a:r>
            <a:endParaRPr lang="en-US" sz="1850" dirty="0"/>
          </a:p>
        </p:txBody>
      </p:sp>
      <p:sp>
        <p:nvSpPr>
          <p:cNvPr id="34" name="Text 32"/>
          <p:cNvSpPr txBox="1"/>
          <p:nvPr/>
        </p:nvSpPr>
        <p:spPr>
          <a:xfrm>
            <a:off x="9793224" y="3172968"/>
            <a:ext cx="1700784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재평가</a:t>
            </a:r>
            <a:endParaRPr lang="en-US" sz="1550" dirty="0"/>
          </a:p>
        </p:txBody>
      </p:sp>
      <p:sp>
        <p:nvSpPr>
          <p:cNvPr id="35" name="Text 33"/>
          <p:cNvSpPr txBox="1"/>
          <p:nvPr/>
        </p:nvSpPr>
        <p:spPr>
          <a:xfrm>
            <a:off x="960120" y="4315968"/>
            <a:ext cx="475488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OPERATIONAL MODEL</a:t>
            </a:r>
            <a:endParaRPr lang="en-US" sz="1450" dirty="0"/>
          </a:p>
        </p:txBody>
      </p:sp>
      <p:sp>
        <p:nvSpPr>
          <p:cNvPr id="36" name="Text 34"/>
          <p:cNvSpPr txBox="1"/>
          <p:nvPr/>
        </p:nvSpPr>
        <p:spPr>
          <a:xfrm>
            <a:off x="960120" y="4617720"/>
            <a:ext cx="1014984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Feedback → 원인과 재발 가능성 판단 → 필요한 System 변경 → 결과 재평가</a:t>
            </a:r>
            <a:endParaRPr lang="en-US" sz="1900" dirty="0"/>
          </a:p>
        </p:txBody>
      </p:sp>
      <p:sp>
        <p:nvSpPr>
          <p:cNvPr id="37" name="Text 35"/>
          <p:cNvSpPr txBox="1"/>
          <p:nvPr/>
        </p:nvSpPr>
        <p:spPr>
          <a:xfrm>
            <a:off x="960120" y="5184648"/>
            <a:ext cx="10241280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VISUAL 2분은 정적 도식에 발표자가 R1–R5를 강조한다  ·  자동 학습 아님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4F  OBSERVED META LOOP / DEMO-04B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S67  ·  2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제작 기록: TRIAL-006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실제 제작 과정에서 무슨 일이 있었나?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520440" cy="292608"/>
          </a:xfrm>
          <a:prstGeom prst="roundRect">
            <a:avLst>
              <a:gd name="adj" fmla="val 18750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3375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META  ·  TRAINING PRODUCTION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22860">
            <a:solidFill>
              <a:srgbClr val="334B6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4088" y="1700784"/>
            <a:ext cx="10789920" cy="4197096"/>
          </a:xfrm>
          <a:prstGeom prst="rect">
            <a:avLst>
              <a:gd name="adj" fmla="val 1307"/>
            </a:avLst>
          </a:prstGeom>
          <a:solidFill>
            <a:srgbClr val="F4F6F8">
              <a:alpha val="0"/>
            </a:srgbClr>
          </a:solidFill>
          <a:ln w="9525">
            <a:solidFill>
              <a:srgbClr val="334B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TRIAL-006  ·  DEC-0016  ·  TRIAL-007/008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9738360" y="1664208"/>
            <a:ext cx="15087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META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14400" y="2514600"/>
            <a:ext cx="1691640" cy="1207008"/>
          </a:xfrm>
          <a:prstGeom prst="roundRect">
            <a:avLst>
              <a:gd name="adj" fmla="val 4545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" y="2688336"/>
            <a:ext cx="150876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TRIAL-006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3127248"/>
            <a:ext cx="1472184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CLI 조사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2642616" y="3108960"/>
            <a:ext cx="310896" cy="0"/>
          </a:xfrm>
          <a:prstGeom prst="line">
            <a:avLst/>
          </a:prstGeom>
          <a:noFill/>
          <a:ln w="20320">
            <a:solidFill>
              <a:srgbClr val="334B6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063240" y="2514600"/>
            <a:ext cx="1691640" cy="1207008"/>
          </a:xfrm>
          <a:prstGeom prst="roundRect">
            <a:avLst>
              <a:gd name="adj" fmla="val 4545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154680" y="2688336"/>
            <a:ext cx="150876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GLOBAL INFLUENCE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172968" y="3127248"/>
            <a:ext cx="1472184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Skills + 시작 경고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4791456" y="3108960"/>
            <a:ext cx="310896" cy="0"/>
          </a:xfrm>
          <a:prstGeom prst="line">
            <a:avLst/>
          </a:prstGeom>
          <a:noFill/>
          <a:ln w="20320">
            <a:solidFill>
              <a:srgbClr val="334B63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212080" y="2514600"/>
            <a:ext cx="1691640" cy="1207008"/>
          </a:xfrm>
          <a:prstGeom prst="roundRect">
            <a:avLst>
              <a:gd name="adj" fmla="val 4545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03520" y="2688336"/>
            <a:ext cx="150876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PARTIAL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321808" y="3127248"/>
            <a:ext cx="1472184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Prompt-only attribution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940296" y="3108960"/>
            <a:ext cx="310896" cy="0"/>
          </a:xfrm>
          <a:prstGeom prst="line">
            <a:avLst/>
          </a:prstGeom>
          <a:noFill/>
          <a:ln w="20320">
            <a:solidFill>
              <a:srgbClr val="334B63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360920" y="2514600"/>
            <a:ext cx="1691640" cy="1207008"/>
          </a:xfrm>
          <a:prstGeom prst="roundRect">
            <a:avLst>
              <a:gd name="adj" fmla="val 4545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52360" y="2688336"/>
            <a:ext cx="150876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DEC-0016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470648" y="3127248"/>
            <a:ext cx="1472184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평가·보고 변경</a:t>
            </a:r>
            <a:endParaRPr lang="en-US" sz="1450" dirty="0"/>
          </a:p>
        </p:txBody>
      </p:sp>
      <p:sp>
        <p:nvSpPr>
          <p:cNvPr id="27" name="Shape 25"/>
          <p:cNvSpPr/>
          <p:nvPr/>
        </p:nvSpPr>
        <p:spPr>
          <a:xfrm>
            <a:off x="9089136" y="3108960"/>
            <a:ext cx="310896" cy="0"/>
          </a:xfrm>
          <a:prstGeom prst="line">
            <a:avLst/>
          </a:prstGeom>
          <a:noFill/>
          <a:ln w="20320">
            <a:solidFill>
              <a:srgbClr val="334B63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509760" y="2514600"/>
            <a:ext cx="1691640" cy="1207008"/>
          </a:xfrm>
          <a:prstGeom prst="roundRect">
            <a:avLst>
              <a:gd name="adj" fmla="val 4545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01200" y="2688336"/>
            <a:ext cx="150876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TRIAL-007/008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619488" y="3127248"/>
            <a:ext cx="1472184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후속 기록</a:t>
            </a:r>
            <a:endParaRPr lang="en-US" sz="1450" dirty="0"/>
          </a:p>
        </p:txBody>
      </p:sp>
      <p:sp>
        <p:nvSpPr>
          <p:cNvPr id="31" name="Text 29"/>
          <p:cNvSpPr txBox="1"/>
          <p:nvPr/>
        </p:nvSpPr>
        <p:spPr>
          <a:xfrm>
            <a:off x="1005840" y="4315968"/>
            <a:ext cx="1014984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Training Production evidence  ·  not a Demo Product failure or code repair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1170432" y="4956048"/>
            <a:ext cx="98755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 warning ≠ observed effect     ·     MCP startup error ≠ task result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4F  OBSERVED META LOOP / DEMO-04B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S68  ·  4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결과의 타당성과 원인 귀속은 별개다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결과가 유효해도 원인을 Prompt 하나로 좁힐 수 있을까?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520440" cy="292608"/>
          </a:xfrm>
          <a:prstGeom prst="roundRect">
            <a:avLst>
              <a:gd name="adj" fmla="val 18750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3375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META  ·  TRAINING PRODUCTION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22860">
            <a:solidFill>
              <a:srgbClr val="334B6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4088" y="1700784"/>
            <a:ext cx="10789920" cy="4197096"/>
          </a:xfrm>
          <a:prstGeom prst="rect">
            <a:avLst>
              <a:gd name="adj" fmla="val 1307"/>
            </a:avLst>
          </a:prstGeom>
          <a:solidFill>
            <a:srgbClr val="F4F6F8">
              <a:alpha val="0"/>
            </a:srgbClr>
          </a:solidFill>
          <a:ln w="9525">
            <a:solidFill>
              <a:srgbClr val="334B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TRIAL-006  ·  7 one-call samples  ·  disposable worktree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9738360" y="1664208"/>
            <a:ext cx="15087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META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14400" y="1993392"/>
            <a:ext cx="489204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14605">
            <a:solidFill>
              <a:srgbClr val="334B6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993392"/>
            <a:ext cx="4892040" cy="3063240"/>
          </a:xfrm>
          <a:prstGeom prst="roundRect">
            <a:avLst>
              <a:gd name="adj" fmla="val 1791"/>
            </a:avLst>
          </a:prstGeom>
          <a:solidFill>
            <a:srgbClr val="EAF0F5"/>
          </a:solidFill>
          <a:ln w="14605">
            <a:solidFill>
              <a:srgbClr val="334B6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70432" y="2221992"/>
            <a:ext cx="438912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 VALIDITY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706624"/>
            <a:ext cx="434340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 / output hashes matched</a:t>
            </a:r>
            <a:endParaRPr lang="en-US" sz="17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one-call samples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3566160"/>
            <a:ext cx="42976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144.2 → 33.5 ms/call median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977640"/>
            <a:ext cx="4343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supporting evidence · not a hero metric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1161288" y="4407408"/>
            <a:ext cx="4389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 BOUNDARY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1133856" y="4681728"/>
            <a:ext cx="443484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8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resize_nearest · synthetic 640×480 gray (max=4095) → 960×720</a:t>
            </a:r>
            <a:endParaRPr lang="en-US" sz="138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38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CPython 3.9.6 · macOS 26.6.2 arm64</a:t>
            </a:r>
            <a:endParaRPr lang="en-US" sz="1380" dirty="0"/>
          </a:p>
        </p:txBody>
      </p:sp>
      <p:sp>
        <p:nvSpPr>
          <p:cNvPr id="20" name="Text 18"/>
          <p:cNvSpPr txBox="1"/>
          <p:nvPr/>
        </p:nvSpPr>
        <p:spPr>
          <a:xfrm>
            <a:off x="6473952" y="2221992"/>
            <a:ext cx="438912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CAUSAL ATTRIBUTION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7342632" y="2679192"/>
            <a:ext cx="26517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240">
            <a:solidFill>
              <a:srgbClr val="8054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98080" y="2816352"/>
            <a:ext cx="2340864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PARTIAL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6537960" y="3410712"/>
            <a:ext cx="4251960" cy="8412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Global Skills were present.</a:t>
            </a:r>
            <a:endParaRPr lang="en-US" sz="152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`performance-goal` influenced evaluator, ledger and threshold; direct cause of the metric is not established.</a:t>
            </a:r>
            <a:endParaRPr lang="en-US" sz="1520" dirty="0"/>
          </a:p>
        </p:txBody>
      </p:sp>
      <p:sp>
        <p:nvSpPr>
          <p:cNvPr id="24" name="Shape 22"/>
          <p:cNvSpPr/>
          <p:nvPr/>
        </p:nvSpPr>
        <p:spPr>
          <a:xfrm>
            <a:off x="6656832" y="4361688"/>
            <a:ext cx="3995928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tailEnd type="none"/>
          </a:ln>
        </p:spPr>
      </p:sp>
      <p:sp>
        <p:nvSpPr>
          <p:cNvPr id="25" name="Text 23"/>
          <p:cNvSpPr txBox="1"/>
          <p:nvPr/>
        </p:nvSpPr>
        <p:spPr>
          <a:xfrm>
            <a:off x="6565392" y="4517136"/>
            <a:ext cx="4224528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8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 warnings: no effect observed</a:t>
            </a:r>
            <a:endParaRPr lang="en-US" sz="148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8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startup issue: no task result observed</a:t>
            </a:r>
            <a:endParaRPr lang="en-US" sz="14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4F  OBSERVED META LOOP / DEMO-04B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S69  ·  3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평가와 보고 규칙을 Evidence에 맞추다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 효과를 분리할 수 없다면 다음 Trial은 어떻게 기록해야 할까?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520440" cy="292608"/>
          </a:xfrm>
          <a:prstGeom prst="roundRect">
            <a:avLst>
              <a:gd name="adj" fmla="val 18750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3375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META  ·  TRAINING PRODUCTION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22860">
            <a:solidFill>
              <a:srgbClr val="334B6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4088" y="1700784"/>
            <a:ext cx="10789920" cy="4197096"/>
          </a:xfrm>
          <a:prstGeom prst="rect">
            <a:avLst>
              <a:gd name="adj" fmla="val 1307"/>
            </a:avLst>
          </a:prstGeom>
          <a:solidFill>
            <a:srgbClr val="F4F6F8">
              <a:alpha val="0"/>
            </a:srgbClr>
          </a:solidFill>
          <a:ln w="9525">
            <a:solidFill>
              <a:srgbClr val="334B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TRIAL-006  →  DEC-0016  ·  evaluation / reporting policy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9738360" y="1664208"/>
            <a:ext cx="15087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META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60120" y="2267712"/>
            <a:ext cx="274320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4605">
            <a:solidFill>
              <a:srgbClr val="334B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69848" y="2340864"/>
            <a:ext cx="252374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EVIDENCE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078992" y="2578608"/>
            <a:ext cx="2505456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TRIAL-006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078992" y="3035808"/>
            <a:ext cx="2505456" cy="740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Global influence</a:t>
            </a:r>
            <a:endParaRPr lang="en-US" sz="15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visible; attribution PARTIAL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3858768" y="3054096"/>
            <a:ext cx="731520" cy="0"/>
          </a:xfrm>
          <a:prstGeom prst="line">
            <a:avLst/>
          </a:prstGeom>
          <a:noFill/>
          <a:ln w="22860">
            <a:solidFill>
              <a:srgbClr val="334B63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800600" y="2267712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4605">
            <a:solidFill>
              <a:srgbClr val="334B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910328" y="2340864"/>
            <a:ext cx="238658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DECISION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4919472" y="2578608"/>
            <a:ext cx="2368296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DEC-0016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4919472" y="3035808"/>
            <a:ext cx="2368296" cy="740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Evaluation / reporting</a:t>
            </a:r>
            <a:endParaRPr lang="en-US" sz="15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policy changes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7562088" y="3054096"/>
            <a:ext cx="740664" cy="0"/>
          </a:xfrm>
          <a:prstGeom prst="line">
            <a:avLst/>
          </a:prstGeom>
          <a:noFill/>
          <a:ln w="22860">
            <a:solidFill>
              <a:srgbClr val="334B63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503920" y="2267712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4605">
            <a:solidFill>
              <a:srgbClr val="334B6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613648" y="2340864"/>
            <a:ext cx="238658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RE-EVALUATION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622792" y="2578608"/>
            <a:ext cx="2368296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FOLLOW-UP</a:t>
            </a:r>
            <a:endParaRPr lang="en-US" sz="1900" dirty="0"/>
          </a:p>
        </p:txBody>
      </p:sp>
      <p:sp>
        <p:nvSpPr>
          <p:cNvPr id="25" name="Text 23"/>
          <p:cNvSpPr txBox="1"/>
          <p:nvPr/>
        </p:nvSpPr>
        <p:spPr>
          <a:xfrm>
            <a:off x="8622792" y="3035808"/>
            <a:ext cx="2368296" cy="740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3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Record observed global</a:t>
            </a:r>
            <a:endParaRPr lang="en-US" sz="15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3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influences in later CLI trials</a:t>
            </a:r>
            <a:endParaRPr lang="en-US" sz="1530" dirty="0"/>
          </a:p>
        </p:txBody>
      </p:sp>
      <p:sp>
        <p:nvSpPr>
          <p:cNvPr id="26" name="Shape 24"/>
          <p:cNvSpPr/>
          <p:nvPr/>
        </p:nvSpPr>
        <p:spPr>
          <a:xfrm>
            <a:off x="987552" y="4361688"/>
            <a:ext cx="1014984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170432" y="4517136"/>
            <a:ext cx="4754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8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Changed: Training Production evaluation / reporting</a:t>
            </a:r>
            <a:endParaRPr lang="en-US" sz="1680" dirty="0"/>
          </a:p>
        </p:txBody>
      </p:sp>
      <p:sp>
        <p:nvSpPr>
          <p:cNvPr id="28" name="Text 26"/>
          <p:cNvSpPr txBox="1"/>
          <p:nvPr/>
        </p:nvSpPr>
        <p:spPr>
          <a:xfrm>
            <a:off x="5925312" y="4517136"/>
            <a:ext cx="49834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 changed: Product code, Demo Skill, or clean-isolation status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4F  OBSERVED META LOOP / DEMO-04B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S70  ·  3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후속 기록은 개선됐지만 완전하지 않았다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새로운 기록 규칙이 모든 불확실성을 해결했을까?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520440" cy="292608"/>
          </a:xfrm>
          <a:prstGeom prst="roundRect">
            <a:avLst>
              <a:gd name="adj" fmla="val 18750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3375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META  ·  TRAINING PRODUCTION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22860">
            <a:solidFill>
              <a:srgbClr val="334B6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4088" y="1700784"/>
            <a:ext cx="10789920" cy="4197096"/>
          </a:xfrm>
          <a:prstGeom prst="rect">
            <a:avLst>
              <a:gd name="adj" fmla="val 1307"/>
            </a:avLst>
          </a:prstGeom>
          <a:solidFill>
            <a:srgbClr val="F4F6F8">
              <a:alpha val="0"/>
            </a:srgbClr>
          </a:solidFill>
          <a:ln w="9525">
            <a:solidFill>
              <a:srgbClr val="334B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TRIAL-007 / TRIAL-008  ·  DEC-0016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9738360" y="1664208"/>
            <a:ext cx="15087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META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32688" y="2029968"/>
            <a:ext cx="4800600" cy="2404872"/>
          </a:xfrm>
          <a:prstGeom prst="roundRect">
            <a:avLst>
              <a:gd name="adj" fmla="val 2281"/>
            </a:avLst>
          </a:prstGeom>
          <a:solidFill>
            <a:srgbClr val="FFFFFF"/>
          </a:solidFill>
          <a:ln w="13970">
            <a:solidFill>
              <a:srgbClr val="334B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2167128"/>
            <a:ext cx="447141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TRIAL-007  ·  partial application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2633472"/>
            <a:ext cx="4471416" cy="16824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8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Report: no MCP warning</a:t>
            </a:r>
            <a:endParaRPr lang="en-US" sz="168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8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Retained stderr: Nimble AuthRequired</a:t>
            </a:r>
            <a:endParaRPr lang="en-US" sz="1680" dirty="0"/>
          </a:p>
          <a:p>
            <a:pPr algn="l" indent="0" marL="0">
              <a:lnSpc>
                <a:spcPct val="100000"/>
              </a:lnSpc>
              <a:buNone/>
            </a:pPr>
            <a:endParaRPr lang="en-US" sz="168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8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MCP task result shown</a:t>
            </a:r>
            <a:endParaRPr lang="en-US" sz="1680" dirty="0"/>
          </a:p>
        </p:txBody>
      </p:sp>
      <p:sp>
        <p:nvSpPr>
          <p:cNvPr id="15" name="Shape 13"/>
          <p:cNvSpPr/>
          <p:nvPr/>
        </p:nvSpPr>
        <p:spPr>
          <a:xfrm>
            <a:off x="6428232" y="2029968"/>
            <a:ext cx="4800600" cy="2404872"/>
          </a:xfrm>
          <a:prstGeom prst="roundRect">
            <a:avLst>
              <a:gd name="adj" fmla="val 2281"/>
            </a:avLst>
          </a:prstGeom>
          <a:solidFill>
            <a:srgbClr val="FFFFFF"/>
          </a:solidFill>
          <a:ln w="13970">
            <a:solidFill>
              <a:srgbClr val="334B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92824" y="2167128"/>
            <a:ext cx="447141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TRIAL-008  ·  separate evidence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6592824" y="2633472"/>
            <a:ext cx="4471416" cy="16824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2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Codex CLI 0.154.0</a:t>
            </a:r>
            <a:endParaRPr lang="en-US" sz="162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2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 Skill discovered and explicitly invoked</a:t>
            </a:r>
            <a:endParaRPr lang="en-US" sz="162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2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Global influence recorded separately</a:t>
            </a:r>
            <a:endParaRPr lang="en-US" sz="1620" dirty="0"/>
          </a:p>
        </p:txBody>
      </p:sp>
      <p:sp>
        <p:nvSpPr>
          <p:cNvPr id="18" name="Shape 16"/>
          <p:cNvSpPr/>
          <p:nvPr/>
        </p:nvSpPr>
        <p:spPr>
          <a:xfrm>
            <a:off x="1920240" y="4828032"/>
            <a:ext cx="8321040" cy="566928"/>
          </a:xfrm>
          <a:prstGeom prst="roundRect">
            <a:avLst>
              <a:gd name="adj" fmla="val 9677"/>
            </a:avLst>
          </a:prstGeom>
          <a:solidFill>
            <a:srgbClr val="F5F0E3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103120" y="4965192"/>
            <a:ext cx="7955280" cy="2651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보고가 완전해졌거나 Trial 품질이 향상됐다는 측정은 없다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4F  OBSERVED META LOOP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S71  ·  3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Meta Loop에서 바뀐 것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바뀌었고, 무엇은 아직 모르는가?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520440" cy="292608"/>
          </a:xfrm>
          <a:prstGeom prst="roundRect">
            <a:avLst>
              <a:gd name="adj" fmla="val 18750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3375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META  ·  TRAINING PRODUCTION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22860">
            <a:solidFill>
              <a:srgbClr val="334B6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4088" y="1700784"/>
            <a:ext cx="10789920" cy="4197096"/>
          </a:xfrm>
          <a:prstGeom prst="rect">
            <a:avLst>
              <a:gd name="adj" fmla="val 1307"/>
            </a:avLst>
          </a:prstGeom>
          <a:solidFill>
            <a:srgbClr val="F4F6F8">
              <a:alpha val="0"/>
            </a:srgbClr>
          </a:solidFill>
          <a:ln w="9525">
            <a:solidFill>
              <a:srgbClr val="334B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TRIAL-006  →  DEC-0016  →  TRIAL-007/008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9738360" y="1664208"/>
            <a:ext cx="15087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META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14400" y="2267712"/>
            <a:ext cx="1691640" cy="1024128"/>
          </a:xfrm>
          <a:prstGeom prst="roundRect">
            <a:avLst>
              <a:gd name="adj" fmla="val 5357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" y="2514600"/>
            <a:ext cx="150876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TRIAL-006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2642616" y="2779776"/>
            <a:ext cx="310896" cy="0"/>
          </a:xfrm>
          <a:prstGeom prst="line">
            <a:avLst/>
          </a:prstGeom>
          <a:noFill/>
          <a:ln w="19685">
            <a:solidFill>
              <a:srgbClr val="334B63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063240" y="2267712"/>
            <a:ext cx="1691640" cy="1024128"/>
          </a:xfrm>
          <a:prstGeom prst="roundRect">
            <a:avLst>
              <a:gd name="adj" fmla="val 5357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154680" y="2514600"/>
            <a:ext cx="150876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PARTIAL</a:t>
            </a:r>
            <a:endParaRPr lang="en-US" sz="15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attribution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4791456" y="2779776"/>
            <a:ext cx="310896" cy="0"/>
          </a:xfrm>
          <a:prstGeom prst="line">
            <a:avLst/>
          </a:prstGeom>
          <a:noFill/>
          <a:ln w="19685">
            <a:solidFill>
              <a:srgbClr val="334B63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212080" y="2267712"/>
            <a:ext cx="1691640" cy="1024128"/>
          </a:xfrm>
          <a:prstGeom prst="roundRect">
            <a:avLst>
              <a:gd name="adj" fmla="val 5357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03520" y="2514600"/>
            <a:ext cx="150876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DEC-0016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6940296" y="2779776"/>
            <a:ext cx="310896" cy="0"/>
          </a:xfrm>
          <a:prstGeom prst="line">
            <a:avLst/>
          </a:prstGeom>
          <a:noFill/>
          <a:ln w="19685">
            <a:solidFill>
              <a:srgbClr val="334B63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360920" y="2267712"/>
            <a:ext cx="1691640" cy="1024128"/>
          </a:xfrm>
          <a:prstGeom prst="roundRect">
            <a:avLst>
              <a:gd name="adj" fmla="val 5357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52360" y="2514600"/>
            <a:ext cx="150876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TRIAL-007/008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9089136" y="2779776"/>
            <a:ext cx="310896" cy="0"/>
          </a:xfrm>
          <a:prstGeom prst="line">
            <a:avLst/>
          </a:prstGeom>
          <a:noFill/>
          <a:ln w="19685">
            <a:solidFill>
              <a:srgbClr val="334B63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509760" y="2267712"/>
            <a:ext cx="1691640" cy="1024128"/>
          </a:xfrm>
          <a:prstGeom prst="roundRect">
            <a:avLst>
              <a:gd name="adj" fmla="val 5357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601200" y="2514600"/>
            <a:ext cx="150876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uncertainty</a:t>
            </a:r>
            <a:endParaRPr lang="en-US" sz="15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remains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914400" y="3822192"/>
            <a:ext cx="489204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3970">
            <a:solidFill>
              <a:srgbClr val="334B6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78992" y="3959352"/>
            <a:ext cx="456285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CHANGED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1078992" y="4352544"/>
            <a:ext cx="4562856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Training Production evaluation / reporting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6355080" y="3822192"/>
            <a:ext cx="489204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3970">
            <a:solidFill>
              <a:srgbClr val="80540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519672" y="3959352"/>
            <a:ext cx="456285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STILL UNKNOWN</a:t>
            </a:r>
            <a:endParaRPr lang="en-US" sz="1900" dirty="0"/>
          </a:p>
        </p:txBody>
      </p:sp>
      <p:sp>
        <p:nvSpPr>
          <p:cNvPr id="31" name="Text 29"/>
          <p:cNvSpPr txBox="1"/>
          <p:nvPr/>
        </p:nvSpPr>
        <p:spPr>
          <a:xfrm>
            <a:off x="6519672" y="4352544"/>
            <a:ext cx="4562856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Full inventory · causal effect · quality gain</a:t>
            </a:r>
            <a:endParaRPr lang="en-US" sz="1650" dirty="0"/>
          </a:p>
        </p:txBody>
      </p:sp>
      <p:sp>
        <p:nvSpPr>
          <p:cNvPr id="32" name="Text 30"/>
          <p:cNvSpPr txBox="1"/>
          <p:nvPr/>
        </p:nvSpPr>
        <p:spPr>
          <a:xfrm>
            <a:off x="1188720" y="5230368"/>
            <a:ext cx="97840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Meta case is separate from the conceptual stale-workflow story.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4G  C++ VISION TRANSFER  /  4H DISCUSSION &amp; TRANSITION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S72  ·  20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Project와 환경이 바뀌면 검증도 다시 본다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문제가 두 번째로 생기면 다시 Prompt를 고칠까, System을 살펴볼까?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291840" cy="292608"/>
          </a:xfrm>
          <a:prstGeom prst="roundRect">
            <a:avLst>
              <a:gd name="adj" fmla="val 18750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  ·  TEACHING MODEL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7780">
            <a:solidFill>
              <a:srgbClr val="0B61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BEAT-059 / TRANS-012  ·  teaching transfer, not observed C++ incident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875520" y="1664208"/>
            <a:ext cx="13716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68680" y="2029968"/>
            <a:ext cx="175564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2157984"/>
            <a:ext cx="1572768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CHANGE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2432304"/>
            <a:ext cx="1572768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2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/ Environment</a:t>
            </a:r>
            <a:endParaRPr lang="en-US" sz="1520" dirty="0"/>
          </a:p>
        </p:txBody>
      </p:sp>
      <p:sp>
        <p:nvSpPr>
          <p:cNvPr id="14" name="Shape 12"/>
          <p:cNvSpPr/>
          <p:nvPr/>
        </p:nvSpPr>
        <p:spPr>
          <a:xfrm>
            <a:off x="2670048" y="2450592"/>
            <a:ext cx="246888" cy="0"/>
          </a:xfrm>
          <a:prstGeom prst="line">
            <a:avLst/>
          </a:prstGeom>
          <a:noFill/>
          <a:ln w="17780">
            <a:solidFill>
              <a:srgbClr val="0B6172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026664" y="2029968"/>
            <a:ext cx="175564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118104" y="2157984"/>
            <a:ext cx="1572768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FRICTION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3118104" y="2432304"/>
            <a:ext cx="1572768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2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Repeated signal</a:t>
            </a:r>
            <a:endParaRPr lang="en-US" sz="1520" dirty="0"/>
          </a:p>
        </p:txBody>
      </p:sp>
      <p:sp>
        <p:nvSpPr>
          <p:cNvPr id="18" name="Shape 16"/>
          <p:cNvSpPr/>
          <p:nvPr/>
        </p:nvSpPr>
        <p:spPr>
          <a:xfrm>
            <a:off x="4828032" y="2450592"/>
            <a:ext cx="246888" cy="0"/>
          </a:xfrm>
          <a:prstGeom prst="line">
            <a:avLst/>
          </a:prstGeom>
          <a:noFill/>
          <a:ln w="17780">
            <a:solidFill>
              <a:srgbClr val="0B6172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184648" y="2029968"/>
            <a:ext cx="175564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76088" y="2157984"/>
            <a:ext cx="1572768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CAUSE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276088" y="2432304"/>
            <a:ext cx="1572768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2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Locate the layer</a:t>
            </a:r>
            <a:endParaRPr lang="en-US" sz="1520" dirty="0"/>
          </a:p>
        </p:txBody>
      </p:sp>
      <p:sp>
        <p:nvSpPr>
          <p:cNvPr id="22" name="Shape 20"/>
          <p:cNvSpPr/>
          <p:nvPr/>
        </p:nvSpPr>
        <p:spPr>
          <a:xfrm>
            <a:off x="6986016" y="2450592"/>
            <a:ext cx="246888" cy="0"/>
          </a:xfrm>
          <a:prstGeom prst="line">
            <a:avLst/>
          </a:prstGeom>
          <a:noFill/>
          <a:ln w="17780">
            <a:solidFill>
              <a:srgbClr val="0B6172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342632" y="2029968"/>
            <a:ext cx="175564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34072" y="2157984"/>
            <a:ext cx="1572768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CHANGE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7434072" y="2432304"/>
            <a:ext cx="1572768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2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Adjust the relevant system</a:t>
            </a:r>
            <a:endParaRPr lang="en-US" sz="1520" dirty="0"/>
          </a:p>
        </p:txBody>
      </p:sp>
      <p:sp>
        <p:nvSpPr>
          <p:cNvPr id="26" name="Shape 24"/>
          <p:cNvSpPr/>
          <p:nvPr/>
        </p:nvSpPr>
        <p:spPr>
          <a:xfrm>
            <a:off x="9144000" y="2450592"/>
            <a:ext cx="246888" cy="0"/>
          </a:xfrm>
          <a:prstGeom prst="line">
            <a:avLst/>
          </a:prstGeom>
          <a:noFill/>
          <a:ln w="17780">
            <a:solidFill>
              <a:srgbClr val="0B6172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9500616" y="2029968"/>
            <a:ext cx="175564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21590">
            <a:solidFill>
              <a:srgbClr val="0B617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592056" y="2157984"/>
            <a:ext cx="1572768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VERIFY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9592056" y="2432304"/>
            <a:ext cx="1572768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2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 + regression</a:t>
            </a:r>
            <a:endParaRPr lang="en-US" sz="1520" dirty="0"/>
          </a:p>
        </p:txBody>
      </p:sp>
      <p:sp>
        <p:nvSpPr>
          <p:cNvPr id="30" name="Shape 28"/>
          <p:cNvSpPr/>
          <p:nvPr/>
        </p:nvSpPr>
        <p:spPr>
          <a:xfrm>
            <a:off x="914400" y="3218688"/>
            <a:ext cx="10241280" cy="1005840"/>
          </a:xfrm>
          <a:prstGeom prst="roundRect">
            <a:avLst>
              <a:gd name="adj" fmla="val 5455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115568" y="3364992"/>
            <a:ext cx="98298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C++ VISION  ·  hypothetical teaching context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115568" y="3657600"/>
            <a:ext cx="98298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Toolchain / GPU architecture / build or benchmark setup changes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1115568" y="4297680"/>
            <a:ext cx="98298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확인할 것: 기존 가정  →  측정 조건  →  관련 regression</a:t>
            </a:r>
            <a:endParaRPr lang="en-US" sz="1650" dirty="0"/>
          </a:p>
        </p:txBody>
      </p:sp>
      <p:sp>
        <p:nvSpPr>
          <p:cNvPr id="34" name="Text 32"/>
          <p:cNvSpPr txBox="1"/>
          <p:nvPr/>
        </p:nvSpPr>
        <p:spPr>
          <a:xfrm>
            <a:off x="932688" y="4864608"/>
            <a:ext cx="260604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2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20-MINUTE OPERATION</a:t>
            </a:r>
            <a:endParaRPr lang="en-US" sz="1420" dirty="0"/>
          </a:p>
        </p:txBody>
      </p:sp>
      <p:sp>
        <p:nvSpPr>
          <p:cNvPr id="35" name="Shape 33"/>
          <p:cNvSpPr/>
          <p:nvPr/>
        </p:nvSpPr>
        <p:spPr>
          <a:xfrm>
            <a:off x="941832" y="5184648"/>
            <a:ext cx="22860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1430">
            <a:solidFill>
              <a:srgbClr val="C7D0D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05840" y="5303520"/>
            <a:ext cx="2157984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0–7 min  ·  Case</a:t>
            </a:r>
            <a:endParaRPr lang="en-US" sz="1450" dirty="0"/>
          </a:p>
        </p:txBody>
      </p:sp>
      <p:sp>
        <p:nvSpPr>
          <p:cNvPr id="37" name="Shape 35"/>
          <p:cNvSpPr/>
          <p:nvPr/>
        </p:nvSpPr>
        <p:spPr>
          <a:xfrm>
            <a:off x="3392424" y="5184648"/>
            <a:ext cx="22860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1430">
            <a:solidFill>
              <a:srgbClr val="C7D0D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456432" y="5303520"/>
            <a:ext cx="2157984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7–9 min  ·  Reflection</a:t>
            </a:r>
            <a:endParaRPr lang="en-US" sz="1450" dirty="0"/>
          </a:p>
        </p:txBody>
      </p:sp>
      <p:sp>
        <p:nvSpPr>
          <p:cNvPr id="39" name="Shape 37"/>
          <p:cNvSpPr/>
          <p:nvPr/>
        </p:nvSpPr>
        <p:spPr>
          <a:xfrm>
            <a:off x="5843016" y="5184648"/>
            <a:ext cx="22860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1430">
            <a:solidFill>
              <a:srgbClr val="C7D0D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07024" y="5303520"/>
            <a:ext cx="2157984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9–16 min  ·  Q&amp;A</a:t>
            </a:r>
            <a:endParaRPr lang="en-US" sz="1450" dirty="0"/>
          </a:p>
        </p:txBody>
      </p:sp>
      <p:sp>
        <p:nvSpPr>
          <p:cNvPr id="41" name="Shape 39"/>
          <p:cNvSpPr/>
          <p:nvPr/>
        </p:nvSpPr>
        <p:spPr>
          <a:xfrm>
            <a:off x="8293608" y="5184648"/>
            <a:ext cx="2834640" cy="475488"/>
          </a:xfrm>
          <a:prstGeom prst="roundRect">
            <a:avLst>
              <a:gd name="adj" fmla="val 11538"/>
            </a:avLst>
          </a:prstGeom>
          <a:solidFill>
            <a:srgbClr val="EAF0F5"/>
          </a:solidFill>
          <a:ln w="11430">
            <a:solidFill>
              <a:srgbClr val="334B63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357616" y="5303520"/>
            <a:ext cx="2706624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16–20 min  ·  Transition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Internal Training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Developer Training — ACT 4</dc:title>
  <dc:subject>ACT 4 production, S55-S72</dc:subject>
  <dc:creator>AI Dev Training</dc:creator>
  <cp:lastModifiedBy>AI Dev Training</cp:lastModifiedBy>
  <cp:revision>1</cp:revision>
  <dcterms:created xsi:type="dcterms:W3CDTF">2026-10-13T11:30:22Z</dcterms:created>
  <dcterms:modified xsi:type="dcterms:W3CDTF">2026-10-13T11:30:22Z</dcterms:modified>
</cp:coreProperties>
</file>