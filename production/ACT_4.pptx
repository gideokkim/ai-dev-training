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e98a8fb01e4904" /><Relationship Type="http://schemas.openxmlformats.org/officeDocument/2006/relationships/extended-properties" Target="/docProps/app.xml" Id="R0125946b785f42e1" /><Relationship Type="http://schemas.openxmlformats.org/officeDocument/2006/relationships/officeDocument" Target="/ppt/presentation.xml" Id="Red0fb67c4ca24e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0ff8a352a1f40fb"/>
  </p:sldMasterIdLst>
  <p:notesMasterIdLst>
    <p:notesMasterId xmlns:r="http://schemas.openxmlformats.org/officeDocument/2006/relationships" r:id="Rdc66f6629d6d43ee"/>
  </p:notesMasterIdLst>
  <p:sldIdLst>
    <p:sldId xmlns:r="http://schemas.openxmlformats.org/officeDocument/2006/relationships" id="256" r:id="Rbae813a0186d4d4c"/>
    <p:sldId xmlns:r="http://schemas.openxmlformats.org/officeDocument/2006/relationships" id="257" r:id="R87a5134ad6dd43ec"/>
    <p:sldId xmlns:r="http://schemas.openxmlformats.org/officeDocument/2006/relationships" id="258" r:id="Reaeed5fc1cdd436d"/>
    <p:sldId xmlns:r="http://schemas.openxmlformats.org/officeDocument/2006/relationships" id="259" r:id="R4cfcdaa8a330424a"/>
    <p:sldId xmlns:r="http://schemas.openxmlformats.org/officeDocument/2006/relationships" id="260" r:id="Rac154ed7ed134efa"/>
    <p:sldId xmlns:r="http://schemas.openxmlformats.org/officeDocument/2006/relationships" id="261" r:id="Rde364e9d068d4b9b"/>
    <p:sldId xmlns:r="http://schemas.openxmlformats.org/officeDocument/2006/relationships" id="262" r:id="Rda88876692ef4abc"/>
    <p:sldId xmlns:r="http://schemas.openxmlformats.org/officeDocument/2006/relationships" id="263" r:id="Rc7b38e9bbb554d2d"/>
    <p:sldId xmlns:r="http://schemas.openxmlformats.org/officeDocument/2006/relationships" id="264" r:id="R50d31d1fae274852"/>
    <p:sldId xmlns:r="http://schemas.openxmlformats.org/officeDocument/2006/relationships" id="265" r:id="R3d905b778c7947e5"/>
    <p:sldId xmlns:r="http://schemas.openxmlformats.org/officeDocument/2006/relationships" id="266" r:id="R1c191f880f3c48b7"/>
    <p:sldId xmlns:r="http://schemas.openxmlformats.org/officeDocument/2006/relationships" id="267" r:id="R6c0e216b84a84e0c"/>
    <p:sldId xmlns:r="http://schemas.openxmlformats.org/officeDocument/2006/relationships" id="268" r:id="Ra3afdaf8b37746eb"/>
    <p:sldId xmlns:r="http://schemas.openxmlformats.org/officeDocument/2006/relationships" id="269" r:id="Rab5c1b09965c4071"/>
    <p:sldId xmlns:r="http://schemas.openxmlformats.org/officeDocument/2006/relationships" id="270" r:id="Rf7885df41ef74143"/>
    <p:sldId xmlns:r="http://schemas.openxmlformats.org/officeDocument/2006/relationships" id="271" r:id="R92b7a80645c34df8"/>
    <p:sldId xmlns:r="http://schemas.openxmlformats.org/officeDocument/2006/relationships" id="272" r:id="Rd1f26856de314f16"/>
    <p:sldId xmlns:r="http://schemas.openxmlformats.org/officeDocument/2006/relationships" id="273" r:id="R9b23ab115e7e438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9ffa47ca0e4c5c" /><Relationship Type="http://schemas.openxmlformats.org/officeDocument/2006/relationships/slideMaster" Target="/ppt/slideMasters/slideMaster1.xml" Id="R40ff8a352a1f40fb" /><Relationship Type="http://schemas.openxmlformats.org/officeDocument/2006/relationships/notesMaster" Target="/ppt/notesMasters/notesMaster1.xml" Id="Rdc66f6629d6d43ee" /><Relationship Type="http://schemas.openxmlformats.org/officeDocument/2006/relationships/presProps" Target="/ppt/presProps.xml" Id="R7f9acce2e4774701" /><Relationship Type="http://schemas.openxmlformats.org/officeDocument/2006/relationships/tableStyles" Target="/ppt/tableStyles.xml" Id="Rba626676156340f5" /><Relationship Type="http://schemas.openxmlformats.org/officeDocument/2006/relationships/slide" Target="/ppt/slides/slide1.xml" Id="Rbae813a0186d4d4c" /><Relationship Type="http://schemas.openxmlformats.org/officeDocument/2006/relationships/slide" Target="/ppt/slides/slide2.xml" Id="R87a5134ad6dd43ec" /><Relationship Type="http://schemas.openxmlformats.org/officeDocument/2006/relationships/slide" Target="/ppt/slides/slide3.xml" Id="Reaeed5fc1cdd436d" /><Relationship Type="http://schemas.openxmlformats.org/officeDocument/2006/relationships/slide" Target="/ppt/slides/slide4.xml" Id="R4cfcdaa8a330424a" /><Relationship Type="http://schemas.openxmlformats.org/officeDocument/2006/relationships/slide" Target="/ppt/slides/slide5.xml" Id="Rac154ed7ed134efa" /><Relationship Type="http://schemas.openxmlformats.org/officeDocument/2006/relationships/slide" Target="/ppt/slides/slide6.xml" Id="Rde364e9d068d4b9b" /><Relationship Type="http://schemas.openxmlformats.org/officeDocument/2006/relationships/slide" Target="/ppt/slides/slide7.xml" Id="Rda88876692ef4abc" /><Relationship Type="http://schemas.openxmlformats.org/officeDocument/2006/relationships/slide" Target="/ppt/slides/slide8.xml" Id="Rc7b38e9bbb554d2d" /><Relationship Type="http://schemas.openxmlformats.org/officeDocument/2006/relationships/slide" Target="/ppt/slides/slide9.xml" Id="R50d31d1fae274852" /><Relationship Type="http://schemas.openxmlformats.org/officeDocument/2006/relationships/slide" Target="/ppt/slides/slide10.xml" Id="R3d905b778c7947e5" /><Relationship Type="http://schemas.openxmlformats.org/officeDocument/2006/relationships/slide" Target="/ppt/slides/slide11.xml" Id="R1c191f880f3c48b7" /><Relationship Type="http://schemas.openxmlformats.org/officeDocument/2006/relationships/slide" Target="/ppt/slides/slide12.xml" Id="R6c0e216b84a84e0c" /><Relationship Type="http://schemas.openxmlformats.org/officeDocument/2006/relationships/slide" Target="/ppt/slides/slide13.xml" Id="Ra3afdaf8b37746eb" /><Relationship Type="http://schemas.openxmlformats.org/officeDocument/2006/relationships/slide" Target="/ppt/slides/slide14.xml" Id="Rab5c1b09965c4071" /><Relationship Type="http://schemas.openxmlformats.org/officeDocument/2006/relationships/slide" Target="/ppt/slides/slide15.xml" Id="Rf7885df41ef74143" /><Relationship Type="http://schemas.openxmlformats.org/officeDocument/2006/relationships/slide" Target="/ppt/slides/slide16.xml" Id="R92b7a80645c34df8" /><Relationship Type="http://schemas.openxmlformats.org/officeDocument/2006/relationships/slide" Target="/ppt/slides/slide17.xml" Id="Rd1f26856de314f16" /><Relationship Type="http://schemas.openxmlformats.org/officeDocument/2006/relationships/slide" Target="/ppt/slides/slide18.xml" Id="R9b23ab115e7e43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8efa5833d44fb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ac2931b74442c3" /><Relationship Type="http://schemas.openxmlformats.org/officeDocument/2006/relationships/notesMaster" Target="/ppt/notesMasters/notesMaster1.xml" Id="R6773b6d7256c40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ce05cdaaff64b8a" /><Relationship Type="http://schemas.openxmlformats.org/officeDocument/2006/relationships/notesMaster" Target="/ppt/notesMasters/notesMaster1.xml" Id="R4878ef3515b54c5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25a593844d44445" /><Relationship Type="http://schemas.openxmlformats.org/officeDocument/2006/relationships/notesMaster" Target="/ppt/notesMasters/notesMaster1.xml" Id="R56fe5a9effb246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8b6ec29de0e4637" /><Relationship Type="http://schemas.openxmlformats.org/officeDocument/2006/relationships/notesMaster" Target="/ppt/notesMasters/notesMaster1.xml" Id="Re5e9beb74b1d45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d97466c2f747b5" /><Relationship Type="http://schemas.openxmlformats.org/officeDocument/2006/relationships/notesMaster" Target="/ppt/notesMasters/notesMaster1.xml" Id="Rfef7e6ca8c524e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196b861c884acc" /><Relationship Type="http://schemas.openxmlformats.org/officeDocument/2006/relationships/notesMaster" Target="/ppt/notesMasters/notesMaster1.xml" Id="Rda3eb4ff67df477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99135c4d5443e0" /><Relationship Type="http://schemas.openxmlformats.org/officeDocument/2006/relationships/notesMaster" Target="/ppt/notesMasters/notesMaster1.xml" Id="R32dc1e3bbd34444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9b248b75b04ee8" /><Relationship Type="http://schemas.openxmlformats.org/officeDocument/2006/relationships/notesMaster" Target="/ppt/notesMasters/notesMaster1.xml" Id="Rfe400297223d45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2eeb683f22a4841" /><Relationship Type="http://schemas.openxmlformats.org/officeDocument/2006/relationships/notesMaster" Target="/ppt/notesMasters/notesMaster1.xml" Id="R332f3943ed234d5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34e423a7ba649a4" /><Relationship Type="http://schemas.openxmlformats.org/officeDocument/2006/relationships/notesMaster" Target="/ppt/notesMasters/notesMaster1.xml" Id="Refbe905179e145a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41a7ff359714420" /><Relationship Type="http://schemas.openxmlformats.org/officeDocument/2006/relationships/notesMaster" Target="/ppt/notesMasters/notesMaster1.xml" Id="Rc77d0232c7c64c7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6ddbde3fce84456" /><Relationship Type="http://schemas.openxmlformats.org/officeDocument/2006/relationships/notesMaster" Target="/ppt/notesMasters/notesMaster1.xml" Id="R29c3bff155674d4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5cdd17564a64267" /><Relationship Type="http://schemas.openxmlformats.org/officeDocument/2006/relationships/notesMaster" Target="/ppt/notesMasters/notesMaster1.xml" Id="R94bf705cbce6435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78f2b972f994bc2" /><Relationship Type="http://schemas.openxmlformats.org/officeDocument/2006/relationships/notesMaster" Target="/ppt/notesMasters/notesMaster1.xml" Id="R0cf295576c8146a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d923a18b7414c76" /><Relationship Type="http://schemas.openxmlformats.org/officeDocument/2006/relationships/notesMaster" Target="/ppt/notesMasters/notesMaster1.xml" Id="Rc3851260e8d04cf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a25a800477f4c69" /><Relationship Type="http://schemas.openxmlformats.org/officeDocument/2006/relationships/notesMaster" Target="/ppt/notesMasters/notesMaster1.xml" Id="Rc94a9c39f45943c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aa6ed5d2c2044a8" /><Relationship Type="http://schemas.openxmlformats.org/officeDocument/2006/relationships/notesMaster" Target="/ppt/notesMasters/notesMaster1.xml" Id="R0d62c4228416476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7bfbaae94554986" /><Relationship Type="http://schemas.openxmlformats.org/officeDocument/2006/relationships/notesMaster" Target="/ppt/notesMasters/notesMaster1.xml" Id="Raa2f0d9c221241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S56 — 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4A  WORKING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Reflection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STATE-04-PERF는 bounded task에서 검증된 성공이다. 뒤에 나올 stale 사례는 별도의 개념 사례다.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“잘 동작하는 System도 계속 맞는 상태로 남아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(0:00–1:30 / Lecture) ACT 3의 STATE-04-PERF가 기록된 범위에서 성공한 endpoint임을 회수한다.</a:t>
            </a:r>
          </a:p>
          <a:p xmlns:a="http://schemas.openxmlformats.org/drawingml/2006/main">
            <a:r>
              <a:t>2. (1:30–3:00 / Lecture) 화면의 동작 계약, 전체 테스트 11/11, Benchmark guard 세 근거를 차례로 가리킨다. 새 실행이나 인과 비교는 하지 않는다.</a:t>
            </a:r>
          </a:p>
          <a:p xmlns:a="http://schemas.openxmlformats.org/drawingml/2006/main">
            <a:r>
              <a:t>3. (3:00–4:00 / Reflection) “프로젝트가 바뀐 뒤에도 맞을까?”를 개인적으로 생각하게 하고 다음 가상 사례로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STATE-00 → STATE-04-PERF  ·  bounded image_statistics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STATE-04-PERF의 기록된 task, 코드 경로, 입력, runtime, host 및 검증 조건에 한정한다. 이 결과는 실제 stale Harness나 Product failure를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먼저 잘 동작했던 현재 시스템을 기준점으로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성공한 Product State와 뒤의 Conceptual Case를 별도 Evidence frame으로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기존 ACT 3에서 승인된 STATE-04-PERF 결과를 짧게 회수한다. 수치는 현재 범위와 함께 보이고 일반 성과로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1분 Reflection: “성공한 현재 상태도 Project 변화 뒤 다시 확인해야 할까?” 개인 생각만 하고 응답을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실제 성공은 기준점으로 남기고, 별개의 가상 사례에서 Project와 Workflow가 어떻게 어긋날 수 있는지 보겠습니다.” S57으로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Reflection 1분. 기존 ACT 3 설명을 다시 길게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S56와 production/preview/act4/S56.png를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S57 — 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가상 사례의 시작에서는 프로젝트의 검증 기준과 재사용 Workflow의 지시가 모두 단위 테스트를 대상으로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“지금 맞는 Project Workflow는 계속 맞을까?”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VISUAL Demo) S56의 실제 성공을 기준점으로 남기고, 여기서부터 실제 graypipe 이력과 별개인 가상 사례를 시작한다고 말한다.</a:t>
            </a:r>
          </a:p>
          <a:p xmlns:a="http://schemas.openxmlformats.org/drawingml/2006/main">
            <a:r>
              <a:t>2. (0:30–1:30 / VISUAL Demo) 왼쪽 프로젝트 기준과 오른쪽 재사용 지침이 모두 단위 테스트를 가리키는 모습을 비교한다.</a:t>
            </a:r>
          </a:p>
          <a:p xmlns:a="http://schemas.openxmlformats.org/drawingml/2006/main">
            <a:r>
              <a:t>3. (1:30–2:00 / VISUAL Demo) 당시 기준에는 일치하는 절차였다는 출발점을 남긴다. 다음 장의 변경을 미리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constructed starting condition  ·  no Trial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CASE. `ai-dev-training-demo`의 기록, Trial 또는 Product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처음에는 현재 지침과 재사용 절차가 서로 맞아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당시에 올바른 절차도 Project 변화 이후 stale해질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선택적 맥락: 실제 Project에서도 build/test structure가 바뀔 수 있다. 별도 C++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CONCEPTUAL 정적 도식. 두 단위 테스트 범위와 가운데 등호를 가리킨다. 실행 캡처·명령·결과 badge는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지시의 범위가 같은지 눈으로 비교한다. 답변이나 실행은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Project가 바뀌었는데 재사용 Workflow가 그대로라면 어떻게 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VISUAL Demo 2분. 첫 장면은 정상 상태로 두고 Project 변경을 앞당겨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S57와 production/preview/act4/S57.png를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S58 —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2분 (VISUAL)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모듈 연결 동작까지 검증해야 하는 가상 프로젝트에서 공식 기준은 단위+통합 테스트로 넓어졌지만 재사용 Workflow에는 단위 테스트 지시가 남아 있다. 이는 지시 범위의 차이다.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“다음 Task에서 old workflow를 따르면 누가 틀린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실제 Trial과 별개인 가상 사례임을 밝힌다. 모듈 연결 동작까지 검증할 필요가 생겨 공식 범위에 통합 테스트를 추가한 사례다.</a:t>
            </a:r>
          </a:p>
          <a:p xmlns:a="http://schemas.openxmlformats.org/drawingml/2006/main">
            <a:r>
              <a:t>2. (1:00–2:00 / Demo) 왼쪽 A/B 각각의 박스와 둘 사이 연결까지 감싼 통합 범위를 가리킨다. 오른쪽에는 같은 모듈과 연결이 있지만 재사용 지시는 단위 테스트만 요구한다. 두 그림은 실행 결과가 아니라 지시 범위의 차이다.</a:t>
            </a:r>
          </a:p>
          <a:p xmlns:a="http://schemas.openxmlformats.org/drawingml/2006/main">
            <a:r>
              <a:t>3. (2:00–3:00 / Case) Project의 요구 변화와 재사용 지침의 미갱신을 구분한다.</a:t>
            </a:r>
          </a:p>
          <a:p xmlns:a="http://schemas.openxmlformats.org/drawingml/2006/main">
            <a:r>
              <a:t>4. (3:00–4:00 / Case) Agent가 실제로 무엇을 실행했는지 아직 보여주지 않았음을 짧게 알리고, 다음 요청을 보정해도 재사용 지침이 남는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DEMO-04A / DEC-0021 / BEAT-038–039 / CONCEPTUAL. 단위+통합 테스트 가상 설정은 발표용 Pilot에 대한 최신 사용자 승인으로 확정됐다. 실제 Repository 이력이나 Trial 근거가 추가된 것은 아니다. 편집 가능한 native 범위 도식: production/source/presentation-revision/test-scope-visual.mjs. 모듈 A/B는 사례를 설명하는 일반 표기이며 실제 graypipe 모듈을 식별하지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승인된 가상 설정이다. 실제 Repository migration, 기존 graypipe Skill, Agent 실행, 테스트 누락 또는 PASS/FAIL 결과를 뜻하지 않는다. 지시의 범위를 비교하며 실제 실행 결과는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Agent가 따르는 지침이 Project의 현재 절차와 맞는지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source의 변화와 stale artifact의 위치를 분리해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production/ACT_4.pptx의 S58와 production/preview/act4/S58.png 개념 도식을 사용한다. 구체적 명령·Runner 구현·테스트 수·실행 캡처를 추가하지 않는다. 각 모듈의 범위→왼쪽의 연결을 포함한 통합 범위→오른쪽에 남은 단위 테스트 지시를 차례로 가리킨다. 모듈의 실제 테스트가 실행됐거나 통합 테스트를 누락했다고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무엇이 바뀌었고 무엇이 남았는지 잠시 비교한다. Agent 탓이나 특정 실패를 가정하지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“이번 요청에 통합 테스트도 확인해 달라고 쓰면, 다음 작업이 읽을 Workflow까지 바뀔까요?” S59로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2분은 도식 공개에, Case 2분은 stale 간극을 해석하는 데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S58와 production/preview/act4/S58.png를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승인된 전체 이미지 후보의 반영과 로컬 렌더링 결과는 production/evaluation/FULL_DECK_IMAGE_EXPANSION.md에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S59 — 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이번 요청을 단위+통합 검증으로 보정할 수 있어도 재사용 Workflow의 단위 테스트 지시는 그대로 남을 수 있다. 현재 Task의 요청 범위와 재사용 절차의 변경을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“Prompt를 더 자세히 쓰면 이번 Task는 해결될까?”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이번 Prompt에 “통합 테스트도 확인해 줘”를 더하는 가능성을 소개한다.</a:t>
            </a:r>
          </a:p>
          <a:p xmlns:a="http://schemas.openxmlformats.org/drawingml/2006/main">
            <a:r>
              <a:t>2. (1:00–2:00 / Case) 왼쪽 이번 Task 요청은 넓힐 수 있지만 오른쪽 재사용 지침은 단위 테스트에 머무는 차이를 가리킨다.</a:t>
            </a:r>
          </a:p>
          <a:p xmlns:a="http://schemas.openxmlformats.org/drawingml/2006/main">
            <a:r>
              <a:t>3. (2:00–3:00 / Case) 요청 보정이 실제 성공을 입증하지 않으며 다음 Task의 절차까지 갱신하는 조치와 다르다고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consequence  ·  no execution result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가능성만 제시한다. 구체적인 실패, 실행 결과, PASS/FAIL 또는 실제 Demo 이력은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답을 고치는 것과 다음 작업의 절차까지 바꾸는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Task-level workaround와 durable system correction을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승인된 가상 설정에서 가능한 Task 보정과 재사용 지침을 비교한다. 실행 결과·누락·복구 성공을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“이번 Task가 풀려도 다음 Task의 지침은 달라졌나?”를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그럼 Prompt, global rule, stale Workflow 중 어느 Layer를 살펴볼까?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3분. 가능한 대응과 지시 범위에 머물고 실제 command 실패나 성공 결과를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S59와 production/preview/act4/S59.png를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S60 — 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Prompt patch는 현재 Task만 풀 수 있고 global rule은 중복·충돌을 만들 수 있다. Workflow가 원인으로 확인된 사례라면 그 source를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“어디를 고치면 현재 Task와 다음 Task가 함께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Prompt, 전역 규칙, 원인 Workflow의 세 행을 읽는다.</a:t>
            </a:r>
          </a:p>
          <a:p xmlns:a="http://schemas.openxmlformats.org/drawingml/2006/main">
            <a:r>
              <a:t>2. (0:30–1:15 / CAPTURED Demo) 각각 이번 요청만 바꾸는지, 넓은 곳에 새 규칙을 더하는지, 재사용 절차를 바꾸는지 비교한다.</a:t>
            </a:r>
          </a:p>
          <a:p xmlns:a="http://schemas.openxmlformats.org/drawingml/2006/main">
            <a:r>
              <a:t>3. (1:15–2:00 / CAPTURED Demo) Workflow가 원인으로 확인된 경우에만 마지막 선택이 맞다고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layer-selection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 안의 선택 논리다. C는 workflow 원인이 확인된 경우에 맞으며 일반적인 정답이나 Product modification이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Prompt에 한 줄 더하기 전에 반복되는 원인이 있는 곳을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원인이 뒷받침하는 좁은 layer를 선택하고 중복 지침 가능성을 따진다.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Context, workflow, toolchain 또는 test environment 중 원인이 있는 layer를 살핀다는 정도의 pattern transfer만 가능하다.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실행 캡처가 아닌 가상 선택지의 정적 재구성이다. 세 행의 변경 범위를 비교하고 실제 Product 수정 diff처럼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A/B/C의 효과 범위를 소리 없이 비교하게 한다. 원인이 정해졌다고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“앞에서는 원인이 확인됐을 때의 대응을 봤습니다. 이제 그 원인을 어떻게 확인할지 보겠습니다.” S61으로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Visual matrix만 설명하고 새 Product 근거를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S60와 production/preview/act4/S60.png를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S61 — 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1분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증상은 Prompt나 실행 지점에 보일 수 있지만 원인은 Context, Workflow, Environment, Tool/Permission, Product code 등 다른 층에 있을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“실패가 보인 Layer와 원인이 있는 Layer는 항상 같을까?”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Lecture) S60의 선택은 원인 확인을 전제로 했음을 짚고, 이제 그 전제를 확인하는 방법을 본다고 안내한다. “요청한 검증이 충분한가?”라는 증상만으로 원인을 정할 수 없다고 설명한다.</a:t>
            </a:r>
          </a:p>
          <a:p xmlns:a="http://schemas.openxmlformats.org/drawingml/2006/main">
            <a:r>
              <a:t>2. (0:45–1:00 / Lecture) 현재 기준, 작업 절차, 실행 조건, 코드 동작을 다른 조사 대상으로 분리한다.</a:t>
            </a:r>
          </a:p>
          <a:p xmlns:a="http://schemas.openxmlformats.org/drawingml/2006/main">
            <a:r>
              <a:t>3. (1:00–2:00 / CAPTURED Demo) 오른쪽의 Context, Workflow, 환경·권한, 제품 코드 질문을 차례로 가리킨다. 어느 하나를 원인으로 확정하지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cause/layer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교육용 debugging heuristic이다. 고정 진단표나 단일 원인 mapping이 아니며, 가상 사례의 원인은 조사로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실패 메시지만 보고 Prompt나 Agent를 탓하지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Observation, cause hypothesis, system change, rerun, evaluation을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Build, environment, permission, project code를 후보로 분리하는 pattern만 제공한다.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가상 원인 후보의 정적 도식이다. 왼쪽 질문에서 오른쪽 점선 후보 목록으로 시선을 옮긴다. 단일 인과 화살표나 실행 결과가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증상이 보여도 원인이 아직 미확정일 수 있음을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S62에서 이 사례의 가정과 확인할 가설을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관점을 설명하고 CAPTURED visual 1분은 후보 layer만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S61와 production/preview/act4/S61.png를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S62 — 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실행된 절차, 현재 Project 문서, 재사용 Workflow, 실패가 나타난 위치를 먼저 살핀다. 관찰한 사실과 원인 판단은 별개다.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“원인을 추측하기 전에 무엇부터 확인해야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Case) 왼쪽의 현재 기준 단위+통합, 재사용 지침 단위만은 가상 설정에 주어진 정보라고 밝힌다.</a:t>
            </a:r>
          </a:p>
          <a:p xmlns:a="http://schemas.openxmlformats.org/drawingml/2006/main">
            <a:r>
              <a:t>2. (0:45–1:30 / Case) 오른쪽의 “오래된 Workflow가 원인일 수 있다”는 원인 가설로 구분한다.</a:t>
            </a:r>
          </a:p>
          <a:p xmlns:a="http://schemas.openxmlformats.org/drawingml/2006/main">
            <a:r>
              <a:t>3. (1:30–2:00 / Case) 실제 문제라면 실행 경로와 실제 읽은 지침을 대조해야 한다고 정리한다. 이 사례의 실제 실행 기록은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scenario assumptions and inference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화면의 “scenario assumption”도 실제 Trial 관찰이 아니다. stale Workflow는 점검할 가설이지 확정 사실이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원인을 정하기 전 현재 지침과 따라간 절차를 맞춰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증거와 cause hypothesis의 확신 수준을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왼쪽 가상 설정과 오른쪽 확인할 가설을 비교한다. OBSERVED 제품 기록이나 실제 실행 경로처럼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칸을 읽고 어떤 문장이 가정이며 어떤 문장이 추론인지 구분해 본다. 답변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Workflow 원인이 확인됐다면 어느 범위까지 바꿔야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2분. 가상 전제와 실제 Evidence를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S62와 production/preview/act4/S62.png를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S63 — 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사례에서 stale Workflow가 원인으로 확인됐다고 가정하면 우선 그 Workflow를 갱신한다. 중복된 오래된 지침은 원인일 때만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“얼마나 바꿔야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“Workflow가 원인으로 확인됐다면”이라는 조건을 먼저 읽고, 원인과 변경 범위를 맞추는 원칙을 설명한다.</a:t>
            </a:r>
          </a:p>
          <a:p xmlns:a="http://schemas.openxmlformats.org/drawingml/2006/main">
            <a:r>
              <a:t>2. (1:00–2:00 / Case) 가상 Workflow의 검증 대상 지시를 단위에서 단위+통합으로 갱신하는 설계를 가리킨다. 불필요한 전역 규칙이나 다른 파일을 함께 바꿀 이유는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cause-to-change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사례의 조건부 대응이다. 실제 Product 변경이나 Trial 결과가 아니며, “최소”는 무조건 적게 바꾸라는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새 규칙을 더하기 전에 실제 원인이 있는 곳을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Cause가 지지하는 가장 작은 durable change를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화면의 두 지침은 가상 Before/After 설계다. 실제 변경 diff나 실행 결과가 아니다. 원인 확인 조건을 계속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조건이 바뀌면 수정 대상도 바뀔 수 있음을 잠시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 뒤 같은 Task를 다시 통과하면 Harness는 충분히 검증된 걸까?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원칙, Case 1분은 가상 workflow 변화에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S63와 production/preview/act4/S63.png를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S64 — 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같은 Task의 재실행은 필요하지만 그것만으로 변경이 인접 작업에 영향을 주지 않는지는 알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“Failure가 사라졌으면 Harness fix가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왼쪽은 이번 작업의 요청 범위를 다시 다루는지 묻는 검증이라고 설명한다.</a:t>
            </a:r>
          </a:p>
          <a:p xmlns:a="http://schemas.openxmlformats.org/drawingml/2006/main">
            <a:r>
              <a:t>2. (1:00–2:30 / Case) 오른쪽은 바뀐 지침이 다른 유효한 작업을 방해하는지 묻는 질문임을 비교한다.</a:t>
            </a:r>
          </a:p>
          <a:p xmlns:a="http://schemas.openxmlformats.org/drawingml/2006/main">
            <a:r>
              <a:t>3. (2:30–4:00 / Case) 두 질문의 범위가 다르므로 대표 작업을 고르는 평가 설계가 필요하다고 연결한다. 어느 결과도 통과했다고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designed rerun and system evaluation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재실행과 확장 검증은 conceptual design이다. 실행 결과, pass count, regression success를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작업이 다시 되는지와 다른 작업도 안전한지는 별도 질문이다.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 recovery는 필요 조건일 수 있어도 Harness-level validation을 대신하지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같은 build/test 시나리오 재실행은 필요하지만 전체 회귀 위험을 모두 해소하지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이번 작업과 다른 작업의 검증 질문 두 영역을 비교한다. 실제 재실행이나 회귀 성공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확인 질문의 범위가 다른 점을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변경이 닿는 다른 작업 표면은 어떤 대표 Task로 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3분. 구체적인 pass/fail을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S64와 production/preview/act4/S64.png를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S65 — 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5분 (VISUAL / CAPTURED conceptual matrix)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평가 작업의 수보다 서로 다른 사용 표면과 회귀 위험을 대표하는지가 중요하다. EVAL-01/02의 별도 과거 관찰 참고와 EVAL-03/04의 설계 사례를 구분하며, 이 Workflow 변경 뒤의 실행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“무엇을 대표 Task로 고를까?”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VISUAL Demo) “작업 수보다 서로 다른 위험을 덮는가?”라는 기준을 연다.</a:t>
            </a:r>
          </a:p>
          <a:p xmlns:a="http://schemas.openxmlformats.org/drawingml/2006/main">
            <a:r>
              <a:t>2. (1:00–2:00 / VISUAL Demo) 버그 수정은 동작 계약, 성능 변경은 측정과 검증 범위를 확인하기 위한 선택임을 짚는다. 우측 실선의 TRIAL-002와 STATE-04-PERF는 별도 과거 관찰 참고다.</a:t>
            </a:r>
          </a:p>
          <a:p xmlns:a="http://schemas.openxmlformats.org/drawingml/2006/main">
            <a:r>
              <a:t>3. (2:00–4:00 / VISUAL Demo) 문서만 수정하는 작업에는 불필요한 절차가 강요되지 않는지, 작은 리팩터링에는 유효한 다른 작업이 방해받지 않는지 묻는다. 두 행은 점선의 설계 사례이며 결과가 없다.</a:t>
            </a:r>
          </a:p>
          <a:p xmlns:a="http://schemas.openxmlformats.org/drawingml/2006/main">
            <a:r>
              <a:t>4. (4:00–5:00 / VISUAL Demo) 네 작업 모두 이번 가상 Workflow 변경 후 수행된 평가가 아님을 말하고 대표성을 기준으로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각 행의 상태를 먼저 읽는다. EVAL-01/02의 과거 관찰 참고는 새 Workflow 평가 결과가 아니며 EVAL-03/04는 설계 사례다. 네 행 모두 변경 후 평가 PASS/FAIL이나 완료 결과를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DEMO-10  ·  EVAL-01/02 prior Product references; EVAL-03/04 designed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EVAL-01/02는 별도 Product task chain의 기존 참고 Evidence다. EVAL-03/04는 설계 사례이며 결과가 없다. 이번 stale-Workflow 변경 뒤의 PASS/FAIL 또는 새 Trial은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대표 작업은 다른 사용 방식을 확인하도록 골라야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변경이 닿는 흔한 표면, 알려진 회귀 위험, 비교 대상이 없을 수 있는 task를 나눠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Contextual only: 대표 작업 선택은 Vision build, benchmark, docs 같은 surface에 적용할 수 있지만 별도 C++ case는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중앙은 네 평가 작업의 선정 이유, 우측은 분리된 참고 근거/설계 상태다. EVAL-01/02의 과거 관찰 참고와 EVAL-03/04의 설계를 선과 색으로 구분한다. 새 실행·PASS/FAIL 결과는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작업 이름보다 가운데 확인 질문을 읽도록 유도한다. 평가 작업을 많이 모으는 대신 어떤 위험을 보려는지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실패마다 규칙을 하나씩 더하면 평가 범위가 커지기만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Demo 5분은 static matrix 설명에 사용한다. 네 EVAL을 실제로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S65와 production/preview/act4/S65.png를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S66 — 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실패마다 전역 규칙을 덧붙이면 Harness가 비대해지거나 충돌하고 특정 Task에만 좁게 맞춰질 수 있다. 원인을 확인하고 대표 작업을 평가하며 불필요한 규칙은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“한 번 실패했다고 규칙을 계속 추가하면 어떻게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실패마다 규칙을 더하는 상황을 가정한다.</a:t>
            </a:r>
          </a:p>
          <a:p xmlns:a="http://schemas.openxmlformats.org/drawingml/2006/main">
            <a:r>
              <a:t>2. (1:00–2:30 / Lecture) 규칙 누적, 충돌, 특정 작업에만 맞춤 세 비용을 짚는다. 통계적 ML 과적합과 동일한 현상이라고 말하지 않는다.</a:t>
            </a:r>
          </a:p>
          <a:p xmlns:a="http://schemas.openxmlformats.org/drawingml/2006/main">
            <a:r>
              <a:t>3. (2:30–4:00 / Lecture) 원인 확인, 대표 작업 평가, 불필요한 규칙 정리라는 하단 판단 기준으로 돌아온다.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regression / maintenance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“Overfit”은 교육용 비유다. ML 통계적 overfitting과 같은 현상이라고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규칙 수를 늘리기보다 반복 원인을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대표 task에서의 효과와 유지 비용을 같이 평가하고 obsolete rule을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없음. 반복 실패→규칙 누적 도식은 teaching model이며 실제 history가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누적 규칙이 낳을 수 있는 bloat, conflict, narrow fit을 같이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“지금까지 따로 본 관찰·원인 판단·변경·평가를, 다음 작업까지 이어지는 하나의 운영 순서로 묶겠습니다.” S67으로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4분. 통계적 ML overfitting과 동일시하거나 보편 법칙으로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S66와 production/preview/act4/S66.png를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S67 — 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4E  LOOP MENTAL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9분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 결과와 반복되는 마찰을 관찰하고 원인과 재발 가능성을 판단한 뒤 적절한 System을 바꾸고 결과를 다시 평가할 때 Feedback은 System Improvement로 이어진다.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“앞에서 나누어 본 판단을 어떤 순서로 이어야 다음 작업도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앞에서 따로 본 판단을 다섯 단계 운영 순서로 통합한다고 안내한다. 실행과 관찰의 질문을 구분하고, 가상 사례의 지시 범위 비교가 실행 결과와 다름을 짚는다.</a:t>
            </a:r>
          </a:p>
          <a:p xmlns:a="http://schemas.openxmlformats.org/drawingml/2006/main">
            <a:r>
              <a:t>2. (2:00–5:00 / Lecture) 원인 판단에는 실행 경로·선택한 지침 등 추가 확인이 필요함을 S62의 논리로 회수한다.</a:t>
            </a:r>
          </a:p>
          <a:p xmlns:a="http://schemas.openxmlformats.org/drawingml/2006/main">
            <a:r>
              <a:t>3. (5:00–7:00 / Lecture) 시스템 변경은 원인 Layer를 바꾸는 일이며, Prompt 보정과 재사용 Workflow 갱신의 범위가 다름을 회수한다.</a:t>
            </a:r>
          </a:p>
          <a:p xmlns:a="http://schemas.openxmlformats.org/drawingml/2006/main">
            <a:r>
              <a:t>4. (7:00–9:00 / Lecture) 같은 작업과 다른 대표 작업의 재평가가 답하는 질문을 비교한다. 새 결과는 제시하지 않는다.</a:t>
            </a:r>
          </a:p>
          <a:p xmlns:a="http://schemas.openxmlformats.org/drawingml/2006/main">
            <a:r>
              <a:t>5. (9:00–11:00 / VISUAL Demo) 정적 도식의 실행→관찰→원인 판단→시스템 변경→재평가를 순서대로 가리킨다. 자동 학습을 뜻하지 않는 교육용 운영 모델임을 닫고 실제 Meta 기록으로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기존 가상 단위/통합 사례를 다섯 단계에 대응한다. 실행 범위 확인→현재 지시와 기준 비교→Workflow 원인 가설 확인→확인된 원인 Layer의 지시 갱신→같은/다른 대표 작업 재평가 순서다. 단계별 질문만 가리키며 실제 실행·변경 성공·새 평가 결과를 채우지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DEC-0023  ·  course operational model  ·  no product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operational model이다. 자동 학습, Agent self-learning, 무한 반복, observed Product loop를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같은 수정을 되풀이하는 대신 다음 작업에도 영향을 주는 System을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자동화와 별개로 cause, recurrence, change layer, evaluation을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5단계 도식과 발표자 지목을 사용한다. R1–R5 내부 번호나 운영 시간은 청중 화면에 표시하지 않는다. 자동 애니메이션·실행·모델 학습 주장은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“Feedback은 어느 순간 System change가 되는가?”를 생각하게 하고, 응답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“이번에는 실제 교육 제작 기록에서 Trial의 평가·보고 기준을 살펴보겠습니다. 어떤 관찰이 그 기준을 돌아보게 했는지부터 보겠습니다.” S68로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9분, 마지막 VISUAL Demo 2분. R1–R5는 approximate reveal cue이며 전체가 항상 표시되는 정적 도식으로 진행 가능.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S67와 production/preview/act4/S67.png를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S68 — 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TRIAL-006은 Codex CLI에서 수행한 실제 성능 조사다. Global Skills와 시작 경고가 함께 관찰되어 Prompt-only attribution은 PARTIAL이다.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“실제 제작 과정에서 Trial의 평가·보고 기준을 돌아보게 한 관찰은 무엇이었나?”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OBSERVED META 표식과 이중선을 가리키며 앞의 가상 사례를 닫고 실제 교육 제작 기록으로 전환한다. 이번에 살펴볼 System은 Trial의 평가·보고 기준이라고 안내하고, 그 기준을 돌아보게 한 TRIAL-006의 관찰부터 연다.</a:t>
            </a:r>
          </a:p>
          <a:p xmlns:a="http://schemas.openxmlformats.org/drawingml/2006/main">
            <a:r>
              <a:t>2. (0:30–1:15 / CAPTURED Demo) 성능 작업 요청, Global Skill이 관여한 실행 환경, Prompt만의 효과로 분리하기 어려운 결과 해석의 세 영역을 짚는다.</a:t>
            </a:r>
          </a:p>
          <a:p xmlns:a="http://schemas.openxmlformats.org/drawingml/2006/main">
            <a:r>
              <a:t>3. (1:15–2:00 / CAPTURED Demo) PARTIAL은 결과가 없다는 뜻이 아니라 원인 귀속의 한계라고 열고 다음 장에서 두 질문을 나눈다.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상단의 Trial 평가·보고 기준은 이번 실제 사례에서 살펴볼 대상을 안내한다. 이 장은 실제 사건을 여는 화면으로, TRIAL-006 요청과 함께 관찰된 Global Skill/시작 경고를 먼저 짚고 인과 해석의 두 질문은 다음 장으로 넘긴다. 앞의 가상 stale 사례와 별개임을 이중선과 표식으로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DEC-0016  ·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OBSERVED_META: 교육자료 제작·Trial 평가 기록이다. Demo Product change나 DEMO-04A 원인/수정 사례가 아니다. Codex CLI evidence를 현재 Desktop으로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결과가 있다는 사실과 그 원인을 안다는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ambient global environment가 있는 실행에서 attribution boundary를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TRIAL-006 기록을 재구성한 native 도식이다. 작업 요청→실행 환경→결과 해석을 차례로 읽는다. 실제 terminal screenshot이 아니며 현재 Desktop 동작을 주장하지 않는다. Hook 경고는 효과 관찰을 뜻하지 않고 MCP 시작 경고는 작업 결과를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이 시점에 Evidence grammar가 바뀌었음을 보고 Conceptual case와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결과를 Task Prompt만의 효과라고 말할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실제 기록의 정적 요약을 사용하고 새 제품 실행은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S68와 production/preview/act4/S68.png를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S69 — 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4분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resize_nearest 측정은 기록된 코드·입력·runtime·host 범위에서 유효하지만, global Harness 영향 때문에 전체 workflow를 Prompt 하나의 효과로 분리할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“측정 결과가 유효해도 원인을 Prompt 하나로 좁힐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CAPTURED Demo) 이번 수치는 S46의 image_statistics Benchmark와 별개인 TRIAL-006 resize_nearest 기록임을 먼저 짚는다. 왼쪽 “측정 결과는 유효한가?”와 오른쪽 “무엇이 결과를 만들었나?”를 독립된 질문으로 읽는다.</a:t>
            </a:r>
          </a:p>
          <a:p xmlns:a="http://schemas.openxmlformats.org/drawingml/2006/main">
            <a:r>
              <a:t>2. (1:00–2:00 / CAPTURED Demo) input/output hash와 같은 조건의 7회 one-call 측정 기록을 확인한다. 144.2→33.5 ms/call median은 작은 보조정보다. 합성 640×480 gray(max4095)→960×720, CPython 3.9.6, macOS 26.6.2 arm64 범위를 말한다.</a:t>
            </a:r>
          </a:p>
          <a:p xmlns:a="http://schemas.openxmlformats.org/drawingml/2006/main">
            <a:r>
              <a:t>3. (2:00–3:15 / CAPTURED Demo) performance-goal Global Skill이 evaluator·ledger·threshold에 관여한 기록을 설명한다. 수치 변화의 직접 원인이라고 단정하지 않는다.</a:t>
            </a:r>
          </a:p>
          <a:p xmlns:a="http://schemas.openxmlformats.org/drawingml/2006/main">
            <a:r>
              <a:t>4. (3:15–4:00 / CAPTURED Demo) Hook 경고와 효과, MCP 시작 오류와 작업 결과를 구분하고, 결과와 원인 해석을 별도로 기록해야 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왼쪽의 결과 타당성과 오른쪽의 원인 귀속을 각각 별도 질문으로 읽는다. 실제 hash와 측정 범위는 왼쪽에, Global 영향과 PARTIAL은 오른쪽에 대응한다. 수치를 새로운 실행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7 one-call samples  ·  disposable worktree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144.2 → 33.5 ms/call median은 기록된 synthetic 640×480 grayscale input (max 4095) → 960×720, CPython 3.9.6, macOS 26.6.2 arm64에 한정한다. Prompt-only attribution은 PARTIAL. 4.30×/76.8% hero metric은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숫자가 있어도 무엇이 결과를 만들었는지 자동으로 알 수는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Result validity와 causal attribution의 확신 수준을 따로 보고한다.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필요하면 같은 원리를 C++ benchmark의 입력, compiler, host, toolchain 범위로 transfer하되 새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CAPTURED trial summary. Input/output SHA-256 guards matched; seven one-call samples. `performance-goal` global Skill influenced evaluator/ledger/threshold, but is not proven the direct cause of the metric. Hook warnings do not prove hook effect; MCP startup error does not evidence task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왼쪽은 확인된 result validity, 오른쪽은 남은 attribution uncertainty를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한계가 후속 Trial의 평가 방식에 어떤 변경을 만들었을까?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Demo 4분. 성능 숫자를 성과 발표처럼 연출하거나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S69와 production/preview/act4/S69.png를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S70 — 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DEC-0016은 TRIAL-006을 PARTIAL로 보존하고 clean isolation을 진행 조건으로 요구하지 않으며, 후속 CLI Trial에서 관찰된 global influence를 기록하도록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 효과를 분리할 수 없다면 다음 Trial은 어떻게 기록해야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기존 평가가 작업·Repository 중심이어서 주변 Harness 영향 설명이 충분하지 않았다고 짚는다.</a:t>
            </a:r>
          </a:p>
          <a:p xmlns:a="http://schemas.openxmlformats.org/drawingml/2006/main">
            <a:r>
              <a:t>2. (1:00–2:15 / CAPTURED Demo) 우측 후속 기록 기준에서 관찰한 Skill, 경고와 실제 사용 여부, 결과의 해석 범위를 차례로 가리킨다.</a:t>
            </a:r>
          </a:p>
          <a:p xmlns:a="http://schemas.openxmlformats.org/drawingml/2006/main">
            <a:r>
              <a:t>3. (2:15–3:00 / CAPTURED Demo) DEC-0016은 기존 결과를 PARTIAL로 보존하고 관찰된 조건을 함께 남기는 결정이었다고 정리한다. Product 코드/Skill 수정이나 격리 환경 구축은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DEC-0016에서 바뀐 평가·보고 기준에 집중한다. 이전 기록의 빈틈→이후에 남길 환경 관찰 순서로 읽고 제품 코드나 Demo Skill 변경과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·  evaluation / reporting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실제 Training Production evaluation/reporting governance 변화다. Product code 또는 Demo Skill을 수정하지 않았고 clean isolation을 구축했다고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환경 조건과 수행 도구가 다르면 결과 설명도 그 경계를 밝혀야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미통제 조건을 숨기지 않고 Trial 결과의 사용 범위를 제한한다.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평가·보고 결정의 의미를 Before/After로 재구성했다. 원문 직접 인용이나 Product diff로 표현하지 않는다. PARTIAL 보존과 관찰된 Global influence 기록을 변경 내용으로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무엇이 바뀌었는지와 무엇이 바뀌지 않았는지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기준은 TRIAL-007/008에 어떻게 적용됐을까?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CAPTURED 2분. Trial/reporting boundary에만 머문다.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S70와 production/preview/act4/S70.png를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S71 — 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TRIAL-007은 global influence를 기록했지만 MCP report와 stderr가 불일치한다. TRIAL-008은 repository Skill 호출과 global influence를 별도로 기록했다. 품질 향상은 측정되지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“새로운 기록 규칙이 모든 불확실성을 해결했을까?”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TRIAL-007의 최종 보고 “MCP 경고 없음”과 보존된 stderr의 Nimble AuthRequired가 서로 맞지 않는 점을 가리킨다. 화면 문구는 원문 의미의 요약이다.</a:t>
            </a:r>
          </a:p>
          <a:p xmlns:a="http://schemas.openxmlformats.org/drawingml/2006/main">
            <a:r>
              <a:t>2. (1:00–2:00 / Case) 오류 표시는 MCP 작업 결과를 뜻하지 않음을 명확히 한다. TRIAL-008은 Repository Skill 발견·명시 호출과 Global influence를 따로 기록한 Codex CLI 0.154.0 사례다.</a:t>
            </a:r>
          </a:p>
          <a:p xmlns:a="http://schemas.openxmlformats.org/drawingml/2006/main">
            <a:r>
              <a:t>3. (2:00–3:00 / Case) 기록 경계가 명확해진 부분과 남은 불일치를 함께 보존한다. 완전한 목록이나 측정된 품질 개선이라고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TRIAL-007 최종 보고와 보존된 stderr를 대조한다. Nimble AuthRequired는 인증 필요 경고라는 뜻으로만 풀고 MCP 작업 결과나 도구 사용 성공으로 확대하지 않는다. 이후 TRIAL-008에서 호출과 Global influence를 따로 기록한 사실을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TRIAL-007 / TRIAL-008  ·  DEC-0016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적용은 부분적이다. 완전한 environment inventory, 완벽한 report, 측정된 Trial-quality improvement를 주장하지 않는다. TRIAL-007의 stderr에는 Nimble AuthRequired가 있으나 MCP task result는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개선된 기록도 빠진 점과 불일치가 있는지 다시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보고, stderr, global influence inventory를 서로 대조하고 claim boundary를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위쪽 두 행은 TRIAL-007 보고/stderr의 의미 대조이고, 아래 행은 TRIAL-008의 별도 기록을 요약한다. 실제 로그 캡처로 위장하지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후속 기록이 무엇을 명확히 했고 무엇을 남겼는지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S72에서 실제로 바뀐 System과 미확정 사항을 한 번에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불일치와 unknown을 숨기지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S71와 production/preview/act4/S71.png를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S72 — 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TRIAL-006의 ambient influence 및 PARTIAL attribution은 DEC-0016의 Trial evaluation/reporting 변경으로 이어졌고 TRIAL-007/008에서 기록 경계가 부분적으로 적용됐다. Product code가 바뀐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“무엇이 바뀌었고, 무엇은 아직 모르는가?”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TRIAL-006의 관찰→DEC-0016→후속 TRIAL-007/008이라는 실제 흐름을 한 문장으로 회수한다.</a:t>
            </a:r>
          </a:p>
          <a:p xmlns:a="http://schemas.openxmlformats.org/drawingml/2006/main">
            <a:r>
              <a:t>2. (1:00–2:00 / Case) 왼쪽에서 바뀐 대상이 교육 제작의 평가·보고 기준임을 짚는다.</a:t>
            </a:r>
          </a:p>
          <a:p xmlns:a="http://schemas.openxmlformats.org/drawingml/2006/main">
            <a:r>
              <a:t>3. (2:00–3:00 / Case) 오른쪽의 원인별 효과, 환경 목록의 완전성, Trial 품질 향상은 미확인이라고 남기고 C++ 전이로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Meta 사례의 남은 한계를 닫는다. 실제 바뀐 평가·보고 기준과 여전히 미확인인 원인별 효과·환경 목록·품질 향상을 나누고 S73의 적용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→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후속 report에는 불일치가 남고 quality effect는 미측정이다. DEMO-04A conceptual stale workflow와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실제로 바뀐 것과 아직 모르는 점을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Loop의 system change는 평가·보고 거버넌스일 수 있으나 outcome은 재평가해야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실제로 바뀐 것과 아직 확인 못한 것의 두 영역을 비교한다. 앞의 Timeline을 다시 길게 강의하거나 가상 Workflow의 실제 복구로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Changed/Unknown 두 칸을 비교하며 Meta case를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“평가 체계를 바꾼 뒤에도 확인할 것이 남았습니다. 이 원리를 C++ Vision 업무로 옮겨, 환경이 달라졌을 때 검증 조건을 어떻게 다시 볼지 생각해 보겠습니다.” S73로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preceding slides를 다시 풀어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S72와 production/preview/act4/S72.png를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S73 —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4G  C++ VISION TRANSFER  /  4H DISCUSSION &amp; TRANSITION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7분 + Reflection 2분 + Q&amp;A 7분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Project나 환경이 바뀌면 기존 performance 가정과 verification 절차가 여전히 맞는지 다시 확인한다. 반복되는 마찰은 관찰하고 원인을 찾아 관련 layer를 바꾼 뒤 benchmark와 regression으로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문제가 두 번째로 생기면 다시 Prompt를 고칠까, System을 살펴볼까?”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Case) 앞의 평가 원리를 업무의 검증 조건에 적용해 본다고 안내하고 GPU·빌드·측정 조건이 달라진 상황을 가정한다. 실제 C++ 사건이나 구체적 버전 조합을 주장하지 않는다.</a:t>
            </a:r>
          </a:p>
          <a:p xmlns:a="http://schemas.openxmlformats.org/drawingml/2006/main">
            <a:r>
              <a:t>2. (2:00–4:30 / Case) 그림의 입력·코드·장치와 기존 가정·측정 조건 질문을 가리킨다. 기존 판단이 어떤 조건에서 맞았는지, 입력과 실행 조건이 비교 가능한지 묻는다. 관찰된 성능 저하나 숫자를 만들지 않는다.</a:t>
            </a:r>
          </a:p>
          <a:p xmlns:a="http://schemas.openxmlformats.org/drawingml/2006/main">
            <a:r>
              <a:t>3. (4:30–7:00 / Case) 출력 그림과 기능 계약 질문에서 성능과 함께 다시 확인할 동작 범위를 살핀다. 반복 신호→원인 Layer 조사→관련 시스템 변경→Benchmark/Regression 재확인으로 연결한다.</a:t>
            </a:r>
          </a:p>
          <a:p xmlns:a="http://schemas.openxmlformats.org/drawingml/2006/main">
            <a:r>
              <a:t>4. (7:00–9:00 / Reflection) 하단 질문을 가리켜 자기 업무의 반복 마찰 하나를 마음속으로 떠올리게 한다. 기록·답변·발표는 요구하지 않는다.</a:t>
            </a:r>
          </a:p>
          <a:p xmlns:a="http://schemas.openxmlformats.org/drawingml/2006/main">
            <a:r>
              <a:t>5. (9:00–16:00 / Q&amp;A) 질문을 받는다. 질문이 없으면 아래 Fallback 질문을 하나씩 골라 강사가 짧게 해설한다. 새로운 기술 사례나 제품 설정 강의를 열지 않는다.</a:t>
            </a:r>
          </a:p>
          <a:p xmlns:a="http://schemas.openxmlformats.org/drawingml/2006/main">
            <a:r>
              <a:t>6. (16:00–20:00 / Transition) 16분에 질문을 마감한다. 가정→측정 조건→기능 계약 세 질문을 전체 Story의 Context→Harness→Loop와 연결하고 S74의 여정 회수로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 그림에서 조건 변화만 확인하고 오른쪽 01 기존 가정→02 측정 조건→03 기능 계약을 위에서 아래로 짚는다. 마지막에만 하단 큰 질문으로 시선을 옮긴다. 7–9분 Reflection, 9–16분 Q&amp;A, 16–20분 Transition은 그대로이며 정적 화면을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BEAT-059 / TRANS-012  ·  teaching transfer, not observed C++ incident 삽화 출처: prototype/image-illustration-pilot/assets/S72.png,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COURSE MODEL / C++ VISION TRANSFER. Toolchain, CUDA/GPU architecture, build/benchmark configuration은 hypothetical teaching context이며 실제 Demo history가 아니다. 구체적인 Windows/shell/IDE/hardware setup을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문제가 반복되면 Prompt 외에도 Project와 workflow를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Project/environment 변화가 verification assumptions에 미치는 영향을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Primary bridge. 변화한 조건에서 기존 tuning 가정과 benchmark/regression 조건을 다시 확인하는 engineering pattern만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화면과 speaker-led highlighting을 사용한다. 화면에는 세 확인 대상과 성찰 질문을 두고, 20분 운영표는 Notes에만 둔다. Live 프로젝트·제품 실행·애니메이션 의존 없음. 정적 삽화의 입력→처리 코드→실행 장치→출력을 차례로 가리킨다. 황색 장치·설정 표시는 검토할 조건의 변화이며 실패 원인이 확정됐다는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7–9분 개인 Reflection은 답변·공유 없이 진행한다. 9–16분 Q&amp;A에서는 실제 회사 환경의 검증되지 않은 해결책을 단정하지 않고 어떤 조건을 확인해야 하는지로 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“이제 처음의 질문부터 Task·Context·Harness·Loop까지, 어떤 문제에 대응해 왔는지 전체 Story를 다시 연결하겠습니다.” ACT 5 S74으로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0–7 Case 7분, 7–9 Reflection 2분, 9–16 Q&amp;A 7분, 16–20 Transition 4분으로 20분을 유지한다. Cutoff cue: “이 질문은 여기까지 정리하고, 이제 처음 문제부터 지금의 Loop까지 연결해 보겠습니다.” 실제 20분 리허설은 수행하지 않았다. 0–2분 전체 그림/변경 표식, 2–4:30분 입력·코드·장치의 가정과 비교 조건, 4:30–7분 출력·기능 계약을 설명한다. 이후 7–9분 Reflection, 9–16분 Q&amp;A, 16–20분 Transition을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PPT/PNG를 기본 경로로 사용한다. Q&amp;A가 없으면 ①“예전 Benchmark와 비교하기 전에 어떤 조건을 맞춰야 할까요?” ②“성능이 달라졌을 때 기능 계약은 무엇으로 다시 확인할까요?” ③“두 번째로 같은 문제가 생기면 Prompt 외에 무엇을 살펴볼까요?” 중 하나씩 선택한다. 응답을 요구하지 않고 기존 세 질문의 범위에서 강사가 짧게 해설한다. 정적 파일: production/preview/act4/S73.png 및 production/preview/full/S73.png.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40537e192b490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b79af64afe434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0e5e7374bd4ad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32c271cc8e42d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356100ae29434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8b88e09df749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716C3EB-4C2E-4B52-8383-6B14E613C9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C0E5F18-0D14-4947-8440-16B29E515AC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64796D9-A5FF-483C-B734-275053A970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61591B9-7B42-4553-91E2-F9B33D3444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532CB24-B1D4-4B83-BF61-829F32E66CE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83638BA-BA83-4C1B-932C-B770065B99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6EABDB1-6F89-4F25-B3D1-2B21E0CEA9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92F5BB1-B7C5-4A7B-A9FB-42784D2AFC6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1EAE37-AE10-4D4E-9A3C-B2D04D200C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0594D8B-02D8-4FF5-B32B-FEBBD96C86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126511f7ca4e98" /><Relationship Type="http://schemas.openxmlformats.org/officeDocument/2006/relationships/slideLayout" Target="/ppt/slideLayouts/slideLayout1.xml" Id="Rd6ca5cf50477446f" /><Relationship Type="http://schemas.openxmlformats.org/officeDocument/2006/relationships/slideLayout" Target="/ppt/slideLayouts/slideLayout2.xml" Id="R22ec92288d9a4461" /><Relationship Type="http://schemas.openxmlformats.org/officeDocument/2006/relationships/slideLayout" Target="/ppt/slideLayouts/slideLayout3.xml" Id="Rdbb5cf33a1254dce" /><Relationship Type="http://schemas.openxmlformats.org/officeDocument/2006/relationships/slideLayout" Target="/ppt/slideLayouts/slideLayout4.xml" Id="R8d776642c6de42b3" /><Relationship Type="http://schemas.openxmlformats.org/officeDocument/2006/relationships/slideLayout" Target="/ppt/slideLayouts/slideLayout5.xml" Id="Rccc713366b7b4cc3" /><Relationship Type="http://schemas.openxmlformats.org/officeDocument/2006/relationships/slideLayout" Target="/ppt/slideLayouts/slideLayout6.xml" Id="R24735d7857fa43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ca5cf50477446f"/>
    <p:sldLayoutId xmlns:r="http://schemas.openxmlformats.org/officeDocument/2006/relationships" id="2147483650" r:id="R22ec92288d9a4461"/>
    <p:sldLayoutId xmlns:r="http://schemas.openxmlformats.org/officeDocument/2006/relationships" id="2147483651" r:id="Rdbb5cf33a1254dce"/>
    <p:sldLayoutId xmlns:r="http://schemas.openxmlformats.org/officeDocument/2006/relationships" id="2147483652" r:id="R8d776642c6de42b3"/>
    <p:sldLayoutId xmlns:r="http://schemas.openxmlformats.org/officeDocument/2006/relationships" id="2147483653" r:id="Rccc713366b7b4cc3"/>
    <p:sldLayoutId xmlns:r="http://schemas.openxmlformats.org/officeDocument/2006/relationships" id="2147483654" r:id="R24735d7857fa43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7c3992585945dd" /><Relationship Type="http://schemas.openxmlformats.org/officeDocument/2006/relationships/notesSlide" Target="/ppt/notesSlides/notesSlide1.xml" Id="R26f6720ce0274a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739b5d9a554841" /><Relationship Type="http://schemas.openxmlformats.org/officeDocument/2006/relationships/notesSlide" Target="/ppt/notesSlides/notesSlide2.xml" Id="Rd49a21594e2847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0e55eb8b1e4d14" /><Relationship Type="http://schemas.openxmlformats.org/officeDocument/2006/relationships/notesSlide" Target="/ppt/notesSlides/notesSlide3.xml" Id="Rc6219d30ea4945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ddbfaf433e41e1" /><Relationship Type="http://schemas.openxmlformats.org/officeDocument/2006/relationships/notesSlide" Target="/ppt/notesSlides/notesSlide4.xml" Id="Rc8b8d292440a47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787a188e5240b7" /><Relationship Type="http://schemas.openxmlformats.org/officeDocument/2006/relationships/notesSlide" Target="/ppt/notesSlides/notesSlide5.xml" Id="Rf2b2cc2695f640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639a975e634124" /><Relationship Type="http://schemas.openxmlformats.org/officeDocument/2006/relationships/notesSlide" Target="/ppt/notesSlides/notesSlide6.xml" Id="Rec093b87e6f44e7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9b68ec7e774514" /><Relationship Type="http://schemas.openxmlformats.org/officeDocument/2006/relationships/notesSlide" Target="/ppt/notesSlides/notesSlide7.xml" Id="R39b6aa2d82e74c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884275508b40de" /><Relationship Type="http://schemas.openxmlformats.org/officeDocument/2006/relationships/notesSlide" Target="/ppt/notesSlides/notesSlide8.xml" Id="R7863290a94f54c3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a01835002e4e08" /><Relationship Type="http://schemas.openxmlformats.org/officeDocument/2006/relationships/notesSlide" Target="/ppt/notesSlides/notesSlide9.xml" Id="Rfdd92ed6c84a4ed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98011712b044bd" /><Relationship Type="http://schemas.openxmlformats.org/officeDocument/2006/relationships/notesSlide" Target="/ppt/notesSlides/notesSlide10.xml" Id="R4ce35f7ce62148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9c1cc645ef4cb7" /><Relationship Type="http://schemas.openxmlformats.org/officeDocument/2006/relationships/notesSlide" Target="/ppt/notesSlides/notesSlide11.xml" Id="Ree8ebb2e537d435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db2f2c00b949f8" /><Relationship Type="http://schemas.openxmlformats.org/officeDocument/2006/relationships/notesSlide" Target="/ppt/notesSlides/notesSlide12.xml" Id="Re02d278799e046c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fa3c200aa44248" /><Relationship Type="http://schemas.openxmlformats.org/officeDocument/2006/relationships/notesSlide" Target="/ppt/notesSlides/notesSlide13.xml" Id="R08421386f47246b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89011d70bb459a" /><Relationship Type="http://schemas.openxmlformats.org/officeDocument/2006/relationships/notesSlide" Target="/ppt/notesSlides/notesSlide14.xml" Id="R759e2e6a6521494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c64465395b4ea0" /><Relationship Type="http://schemas.openxmlformats.org/officeDocument/2006/relationships/notesSlide" Target="/ppt/notesSlides/notesSlide15.xml" Id="R6323c4cdcc71469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b3d48d1e7e44d3" /><Relationship Type="http://schemas.openxmlformats.org/officeDocument/2006/relationships/notesSlide" Target="/ppt/notesSlides/notesSlide16.xml" Id="Rc75083f702ed49b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5b97f453244b1a" /><Relationship Type="http://schemas.openxmlformats.org/officeDocument/2006/relationships/notesSlide" Target="/ppt/notesSlides/notesSlide17.xml" Id="Rf0d08af608ae4a3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160bbe73074327" /><Relationship Type="http://schemas.openxmlformats.org/officeDocument/2006/relationships/image" Target="/ppt/media/image.png" Id="Rac1a44cf467644e1" /><Relationship Type="http://schemas.openxmlformats.org/officeDocument/2006/relationships/notesSlide" Target="/ppt/notesSlides/notesSlide18.xml" Id="R5eb52955cdea46e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확인된 제품 결과">
            <a:extLst xmlns:a="http://schemas.openxmlformats.org/drawingml/2006/main">
              <a:ext uri="{FF2B5EF4-FFF2-40B4-BE49-F238E27FC236}">
                <a16:creationId xmlns:a16="http://schemas.microsoft.com/office/drawing/2014/main" id="{C468028A-F11E-42D0-9079-7AFA7025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확인된 제품 결과</a:t>
            </a:r>
          </a:p>
        </p:txBody>
      </p:sp>
      <p:sp>
        <p:nvSpPr>
          <p:cNvPr id="2" name="S56">
            <a:extLst xmlns:a="http://schemas.openxmlformats.org/drawingml/2006/main">
              <a:ext uri="{FF2B5EF4-FFF2-40B4-BE49-F238E27FC236}">
                <a16:creationId xmlns:a16="http://schemas.microsoft.com/office/drawing/2014/main" id="{5ECD7F32-1345-4EAB-9761-93648BC7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S56</a:t>
            </a:r>
          </a:p>
        </p:txBody>
      </p:sp>
      <p:sp>
        <p:nvSpPr>
          <p:cNvPr id="3" name="여기까지는 잘 동작했다">
            <a:extLst xmlns:a="http://schemas.openxmlformats.org/drawingml/2006/main">
              <a:ext uri="{FF2B5EF4-FFF2-40B4-BE49-F238E27FC236}">
                <a16:creationId xmlns:a16="http://schemas.microsoft.com/office/drawing/2014/main" id="{26062113-6C2D-4648-BC6B-4BF71194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여기까지는 잘 동작했다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DED323-FCE5-4CC4-A122-B595E2CC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image_statistics · 실제 기록 요약">
            <a:extLst xmlns:a="http://schemas.openxmlformats.org/drawingml/2006/main">
              <a:ext uri="{FF2B5EF4-FFF2-40B4-BE49-F238E27FC236}">
                <a16:creationId xmlns:a16="http://schemas.microsoft.com/office/drawing/2014/main" id="{D1297AC9-465B-4C00-9FBD-D3D47615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image_statistics · 실제 기록 요약</a:t>
            </a:r>
          </a:p>
        </p:txBody>
      </p:sp>
      <p:sp>
        <p:nvSpPr>
          <p:cNvPr id="6" name="기록된 입력·코드·환경의 결과이며, 뒤의 가상 사례와 별개다.">
            <a:extLst xmlns:a="http://schemas.openxmlformats.org/drawingml/2006/main">
              <a:ext uri="{FF2B5EF4-FFF2-40B4-BE49-F238E27FC236}">
                <a16:creationId xmlns:a16="http://schemas.microsoft.com/office/drawing/2014/main" id="{872F9F94-2AF3-4A31-B7B3-6EFCFD10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입력·코드·환경의 결과이며, 뒤의 가상 사례와 별개다.</a:t>
            </a:r>
          </a:p>
        </p:txBody>
      </p:sp>
      <p:sp>
        <p:nvSpPr>
          <p:cNvPr id="7" name="작업을 맡기고, 결과를 확인할 수 있었다">
            <a:extLst xmlns:a="http://schemas.openxmlformats.org/drawingml/2006/main">
              <a:ext uri="{FF2B5EF4-FFF2-40B4-BE49-F238E27FC236}">
                <a16:creationId xmlns:a16="http://schemas.microsoft.com/office/drawing/2014/main" id="{B7ADCB75-4E50-4425-A347-FEC85C92F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작업을 맡기고, 결과를 확인할 수 있었다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234182-7FF9-4592-A3E6-828C7033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동작 계약">
            <a:extLst xmlns:a="http://schemas.openxmlformats.org/drawingml/2006/main">
              <a:ext uri="{FF2B5EF4-FFF2-40B4-BE49-F238E27FC236}">
                <a16:creationId xmlns:a16="http://schemas.microsoft.com/office/drawing/2014/main" id="{AA1504AD-195A-4F4B-B742-8D4625AB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6707C2-055D-4E2C-8314-A645391E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테스트">
            <a:extLst xmlns:a="http://schemas.openxmlformats.org/drawingml/2006/main">
              <a:ext uri="{FF2B5EF4-FFF2-40B4-BE49-F238E27FC236}">
                <a16:creationId xmlns:a16="http://schemas.microsoft.com/office/drawing/2014/main" id="{E2FD8E7B-078B-45F6-8544-62EC2F12C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546CBC-4779-43D6-A157-E331EB37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ACB8C722-E51B-42E7-B485-D73B8FD1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14" name="입력·출력 조건 확인">
            <a:extLst xmlns:a="http://schemas.openxmlformats.org/drawingml/2006/main">
              <a:ext uri="{FF2B5EF4-FFF2-40B4-BE49-F238E27FC236}">
                <a16:creationId xmlns:a16="http://schemas.microsoft.com/office/drawing/2014/main" id="{3782811D-152D-460D-8330-3E094096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조건 확인</a:t>
            </a:r>
          </a:p>
        </p:txBody>
      </p:sp>
      <p:sp>
        <p:nvSpPr>
          <p:cNvPr id="15" name="전체 테스트 11/11">
            <a:extLst xmlns:a="http://schemas.openxmlformats.org/drawingml/2006/main">
              <a:ext uri="{FF2B5EF4-FFF2-40B4-BE49-F238E27FC236}">
                <a16:creationId xmlns:a16="http://schemas.microsoft.com/office/drawing/2014/main" id="{32A73742-20A9-4404-BB26-EDA1F907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 11/11</a:t>
            </a:r>
          </a:p>
        </p:txBody>
      </p:sp>
      <p:sp>
        <p:nvSpPr>
          <p:cNvPr id="16" name="Benchmark guard 확인">
            <a:extLst xmlns:a="http://schemas.openxmlformats.org/drawingml/2006/main">
              <a:ext uri="{FF2B5EF4-FFF2-40B4-BE49-F238E27FC236}">
                <a16:creationId xmlns:a16="http://schemas.microsoft.com/office/drawing/2014/main" id="{22AB2650-34FB-438B-BF2A-6D67EB45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719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Benchmark guard 확인</a:t>
            </a:r>
          </a:p>
        </p:txBody>
      </p:sp>
      <p:sp>
        <p:nvSpPr>
          <p:cNvPr id="17" name="그렇다면 프로젝트가 바뀐 뒤에도 맞을까?">
            <a:extLst xmlns:a="http://schemas.openxmlformats.org/drawingml/2006/main">
              <a:ext uri="{FF2B5EF4-FFF2-40B4-BE49-F238E27FC236}">
                <a16:creationId xmlns:a16="http://schemas.microsoft.com/office/drawing/2014/main" id="{F1474CEA-FFE9-416F-92AF-B5852700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그렇다면 프로젝트가 바뀐 뒤에도 맞을까?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F553773-F1F4-4EFA-918B-D04F5738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819131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35918CBA-899E-4BEE-B491-73714C6D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57">
            <a:extLst xmlns:a="http://schemas.openxmlformats.org/drawingml/2006/main">
              <a:ext uri="{FF2B5EF4-FFF2-40B4-BE49-F238E27FC236}">
                <a16:creationId xmlns:a16="http://schemas.microsoft.com/office/drawing/2014/main" id="{E6480B86-6A2D-496F-A5C6-E1AC7025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S57</a:t>
            </a:r>
          </a:p>
        </p:txBody>
      </p:sp>
      <p:sp>
        <p:nvSpPr>
          <p:cNvPr id="3" name="개념 사례: Project와 Workflow는 현재 맞다">
            <a:extLst xmlns:a="http://schemas.openxmlformats.org/drawingml/2006/main">
              <a:ext uri="{FF2B5EF4-FFF2-40B4-BE49-F238E27FC236}">
                <a16:creationId xmlns:a16="http://schemas.microsoft.com/office/drawing/2014/main" id="{7B918B57-DC8A-49FE-A1D4-6F9A29A9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개념 사례: Project와 Workflow는 현재 맞다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77508F-5290-4DEC-B2C7-A051522E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프로젝트 변화 전의 가상 설정">
            <a:extLst xmlns:a="http://schemas.openxmlformats.org/drawingml/2006/main">
              <a:ext uri="{FF2B5EF4-FFF2-40B4-BE49-F238E27FC236}">
                <a16:creationId xmlns:a16="http://schemas.microsoft.com/office/drawing/2014/main" id="{F51130E8-5362-4E9E-AED3-91E5481B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프로젝트 변화 전의 가상 설정</a:t>
            </a:r>
          </a:p>
        </p:txBody>
      </p:sp>
      <p:sp>
        <p:nvSpPr>
          <p:cNvPr id="6" name="실제 Repository 변경 이력, Agent 실행 또는 테스트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E060FF48-7F1A-4F92-B634-97B53FE06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Repository 변경 이력, Agent 실행 또는 테스트 결과가 아니다.</a:t>
            </a:r>
          </a:p>
        </p:txBody>
      </p:sp>
      <p:sp>
        <p:nvSpPr>
          <p:cNvPr id="7" name="처음에는 두 기준이 같았다">
            <a:extLst xmlns:a="http://schemas.openxmlformats.org/drawingml/2006/main">
              <a:ext uri="{FF2B5EF4-FFF2-40B4-BE49-F238E27FC236}">
                <a16:creationId xmlns:a16="http://schemas.microsoft.com/office/drawing/2014/main" id="{51A9AB2B-72D8-4945-BDB5-10D621866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처음에는 두 기준이 같았다</a:t>
            </a:r>
          </a:p>
        </p:txBody>
      </p:sp>
      <p:sp>
        <p:nvSpPr>
          <p:cNvPr id="8" name="프로젝트의 검증 기준">
            <a:extLst xmlns:a="http://schemas.openxmlformats.org/drawingml/2006/main">
              <a:ext uri="{FF2B5EF4-FFF2-40B4-BE49-F238E27FC236}">
                <a16:creationId xmlns:a16="http://schemas.microsoft.com/office/drawing/2014/main" id="{B2B90E81-A5B5-4250-A0ED-79390246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프로젝트의 검증 기준</a:t>
            </a:r>
          </a:p>
        </p:txBody>
      </p:sp>
      <p:sp>
        <p:nvSpPr>
          <p:cNvPr id="9" name="재사용 Workflow의 지시">
            <a:extLst xmlns:a="http://schemas.openxmlformats.org/drawingml/2006/main">
              <a:ext uri="{FF2B5EF4-FFF2-40B4-BE49-F238E27FC236}">
                <a16:creationId xmlns:a16="http://schemas.microsoft.com/office/drawing/2014/main" id="{D260D417-9BB2-486D-8CA9-6ACF0E95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재사용 Workflow의 지시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50A9D4-25B5-468A-98D8-A14EFAF1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F7C21B-C60E-41AB-8B7E-2CABB20D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C04C4FF4-78DB-4FB5-A06A-B97D1ADC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3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D9715566-4F35-4B0C-9430-96650865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4" name="=">
            <a:extLst xmlns:a="http://schemas.openxmlformats.org/drawingml/2006/main">
              <a:ext uri="{FF2B5EF4-FFF2-40B4-BE49-F238E27FC236}">
                <a16:creationId xmlns:a16="http://schemas.microsoft.com/office/drawing/2014/main" id="{5DBC3566-BC9E-4841-B152-269B5375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86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=</a:t>
            </a:r>
          </a:p>
        </p:txBody>
      </p:sp>
      <p:sp>
        <p:nvSpPr>
          <p:cNvPr id="15" name="현재 프로젝트에 맞춰 만들어 둔 절차">
            <a:extLst xmlns:a="http://schemas.openxmlformats.org/drawingml/2006/main">
              <a:ext uri="{FF2B5EF4-FFF2-40B4-BE49-F238E27FC236}">
                <a16:creationId xmlns:a16="http://schemas.microsoft.com/office/drawing/2014/main" id="{2018CF86-2BD1-4B5E-BAC6-BAA1C522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프로젝트에 맞춰 만들어 둔 절차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B7F35A1-B6E5-4CD1-A5B0-FBADA75E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8240168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CT 4  · 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E08A9A68-050C-4E1F-ABBE-01C95674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 ·  CONCEPTUAL / 가상 사례</a:t>
            </a:r>
          </a:p>
        </p:txBody>
      </p:sp>
      <p:sp>
        <p:nvSpPr>
          <p:cNvPr id="2" name="S58">
            <a:extLst xmlns:a="http://schemas.openxmlformats.org/drawingml/2006/main">
              <a:ext uri="{FF2B5EF4-FFF2-40B4-BE49-F238E27FC236}">
                <a16:creationId xmlns:a16="http://schemas.microsoft.com/office/drawing/2014/main" id="{3AB1314C-D792-4E78-B0C0-0B2ECD1B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S58</a:t>
            </a:r>
          </a:p>
        </p:txBody>
      </p:sp>
      <p:sp>
        <p:nvSpPr>
          <p:cNvPr id="3" name="Project는 바뀌고 Workflow는 남았다">
            <a:extLst xmlns:a="http://schemas.openxmlformats.org/drawingml/2006/main">
              <a:ext uri="{FF2B5EF4-FFF2-40B4-BE49-F238E27FC236}">
                <a16:creationId xmlns:a16="http://schemas.microsoft.com/office/drawing/2014/main" id="{13E723AA-D1EE-4F8B-AC5D-0A15B614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Project는 바뀌고 Workflow는 남았다</a:t>
            </a:r>
          </a:p>
        </p:txBody>
      </p:sp>
      <p:sp>
        <p:nvSpPr>
          <p:cNvPr id="4" name="가정: 모듈 연결 동작도 검증해야 하는 프로젝트가 됐다">
            <a:extLst xmlns:a="http://schemas.openxmlformats.org/drawingml/2006/main">
              <a:ext uri="{FF2B5EF4-FFF2-40B4-BE49-F238E27FC236}">
                <a16:creationId xmlns:a16="http://schemas.microsoft.com/office/drawing/2014/main" id="{276E2E01-0798-467C-BF10-EB5D643B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가정: 모듈 연결 동작도 검증해야 하는 프로젝트가 됐다</a:t>
            </a:r>
          </a:p>
        </p:txBody>
      </p:sp>
      <p:sp>
        <p:nvSpPr>
          <p:cNvPr id="5" name="현재 프로젝트의 기준">
            <a:extLst xmlns:a="http://schemas.openxmlformats.org/drawingml/2006/main">
              <a:ext uri="{FF2B5EF4-FFF2-40B4-BE49-F238E27FC236}">
                <a16:creationId xmlns:a16="http://schemas.microsoft.com/office/drawing/2014/main" id="{891A2D4C-807E-4108-98FB-0C4C3DF8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프로젝트의 기준</a:t>
            </a:r>
          </a:p>
        </p:txBody>
      </p:sp>
      <p:sp>
        <p:nvSpPr>
          <p:cNvPr id="6" name="재사용 Workflow에 남은 지시">
            <a:extLst xmlns:a="http://schemas.openxmlformats.org/drawingml/2006/main">
              <a:ext uri="{FF2B5EF4-FFF2-40B4-BE49-F238E27FC236}">
                <a16:creationId xmlns:a16="http://schemas.microsoft.com/office/drawing/2014/main" id="{17195EC7-9DE3-4F7B-9EC1-344CAE7B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재사용 Workflow에 남은 지시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D26193-B5CD-4B00-868C-C99EC0E6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F5162B-F7CC-4891-AC65-87B23A65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19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F994C274-F0EB-43EE-9009-E502B0EE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0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7523E545-50D9-4702-8A0A-7F0D6994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718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FC5042-0E70-4CE2-ADB5-64CA72371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953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5D0FA-C681-4F2D-9718-22B6F191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3" name="모듈 A">
            <a:extLst xmlns:a="http://schemas.openxmlformats.org/drawingml/2006/main">
              <a:ext uri="{FF2B5EF4-FFF2-40B4-BE49-F238E27FC236}">
                <a16:creationId xmlns:a16="http://schemas.microsoft.com/office/drawing/2014/main" id="{E50811AD-D362-4152-BB58-713CA801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8BF25C-5876-4002-9BD8-1616BDE7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5" name="모듈 B">
            <a:extLst xmlns:a="http://schemas.openxmlformats.org/drawingml/2006/main">
              <a:ext uri="{FF2B5EF4-FFF2-40B4-BE49-F238E27FC236}">
                <a16:creationId xmlns:a16="http://schemas.microsoft.com/office/drawing/2014/main" id="{F97A70BF-CAEC-42CE-A071-57942D21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CA6486-2D18-43EE-A312-54473C46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781425"/>
            <a:ext cx="666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+ 통합 테스트 · 모듈 연결까지">
            <a:extLst xmlns:a="http://schemas.openxmlformats.org/drawingml/2006/main">
              <a:ext uri="{FF2B5EF4-FFF2-40B4-BE49-F238E27FC236}">
                <a16:creationId xmlns:a16="http://schemas.microsoft.com/office/drawing/2014/main" id="{02AE03AB-B40A-440A-9FA4-165B23A37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 통합 테스트 · 모듈 연결까지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D9DECF-EB0E-4D5D-8E70-735B9518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9" name="모듈 A">
            <a:extLst xmlns:a="http://schemas.openxmlformats.org/drawingml/2006/main">
              <a:ext uri="{FF2B5EF4-FFF2-40B4-BE49-F238E27FC236}">
                <a16:creationId xmlns:a16="http://schemas.microsoft.com/office/drawing/2014/main" id="{F13ABBCD-8B09-4418-827E-8F36661A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3D5239-337E-411E-B17E-85D78400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1" name="모듈 B">
            <a:extLst xmlns:a="http://schemas.openxmlformats.org/drawingml/2006/main">
              <a:ext uri="{FF2B5EF4-FFF2-40B4-BE49-F238E27FC236}">
                <a16:creationId xmlns:a16="http://schemas.microsoft.com/office/drawing/2014/main" id="{8C990E27-728F-4FCC-860B-B939992C9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D02865-7A16-460A-899A-B51D4B673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81425"/>
            <a:ext cx="647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57858A-B25C-4684-827F-AA17E61F4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72000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4" name="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C770FB24-4AEE-4FE3-9EFF-D5EE1A52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38675"/>
            <a:ext cx="441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25" name="프로젝트의 기준이 바뀌었을 때, 재사용 지침도 함께 바뀌었을까?">
            <a:extLst xmlns:a="http://schemas.openxmlformats.org/drawingml/2006/main">
              <a:ext uri="{FF2B5EF4-FFF2-40B4-BE49-F238E27FC236}">
                <a16:creationId xmlns:a16="http://schemas.microsoft.com/office/drawing/2014/main" id="{D0872114-BD09-49EF-A0E9-45BAA507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기준이 바뀌었을 때, 재사용 지침도 함께 바뀌었을까?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385039-2592-4FC7-A12D-F602299B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7" name="DEMO-04A  |  가상 설정 · 실제 Repository 변경 이력이 아님">
            <a:extLst xmlns:a="http://schemas.openxmlformats.org/drawingml/2006/main">
              <a:ext uri="{FF2B5EF4-FFF2-40B4-BE49-F238E27FC236}">
                <a16:creationId xmlns:a16="http://schemas.microsoft.com/office/drawing/2014/main" id="{7FAA8C7F-B4BE-4428-BE6C-52004C28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 |  가상 설정 · 실제 Repository 변경 이력이 아님</a:t>
            </a:r>
          </a:p>
        </p:txBody>
      </p:sp>
      <p:sp>
        <p:nvSpPr>
          <p:cNvPr id="28" name="두 지침의 범위 비교 · Agent 실행, 테스트 누락 또는 PASS / FAIL 결과를 뜻하지 않음">
            <a:extLst xmlns:a="http://schemas.openxmlformats.org/drawingml/2006/main">
              <a:ext uri="{FF2B5EF4-FFF2-40B4-BE49-F238E27FC236}">
                <a16:creationId xmlns:a16="http://schemas.microsoft.com/office/drawing/2014/main" id="{72A3C580-030D-4BC7-9B4F-19253977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두 지침의 범위 비교 · Agent 실행, 테스트 누락 또는 PASS / FAIL 결과를 뜻하지 않음</a:t>
            </a:r>
          </a:p>
        </p:txBody>
      </p:sp>
      <p:sp>
        <p:nvSpPr>
          <p:cNvPr id="2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147E723-904F-4DD5-B4EA-033651F3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5065290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08304166-EE2B-423B-8A01-22D233DA1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59">
            <a:extLst xmlns:a="http://schemas.openxmlformats.org/drawingml/2006/main">
              <a:ext uri="{FF2B5EF4-FFF2-40B4-BE49-F238E27FC236}">
                <a16:creationId xmlns:a16="http://schemas.microsoft.com/office/drawing/2014/main" id="{879344A2-BA35-442F-A2EC-E5FD7A51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S59</a:t>
            </a:r>
          </a:p>
        </p:txBody>
      </p:sp>
      <p:sp>
        <p:nvSpPr>
          <p:cNvPr id="3" name="Task 해결과 System 문제는 다르다">
            <a:extLst xmlns:a="http://schemas.openxmlformats.org/drawingml/2006/main">
              <a:ext uri="{FF2B5EF4-FFF2-40B4-BE49-F238E27FC236}">
                <a16:creationId xmlns:a16="http://schemas.microsoft.com/office/drawing/2014/main" id="{F4F56D70-ED38-4082-B8C0-7571F775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해결과 System 문제는 다르다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809A8B-2A70-45C2-8B0B-D49FFFF9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이번 요청과 재사용 지침의 범위 비교">
            <a:extLst xmlns:a="http://schemas.openxmlformats.org/drawingml/2006/main">
              <a:ext uri="{FF2B5EF4-FFF2-40B4-BE49-F238E27FC236}">
                <a16:creationId xmlns:a16="http://schemas.microsoft.com/office/drawing/2014/main" id="{DD42B5E0-2F07-4AC8-B914-E60C2C3C3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이번 요청과 재사용 지침의 범위 비교</a:t>
            </a:r>
          </a:p>
        </p:txBody>
      </p:sp>
      <p:sp>
        <p:nvSpPr>
          <p:cNvPr id="6" name="아래는 가능한 대응이다. 실제 실행·복구 성공·검증 누락을 관찰한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369AEA7F-05FA-44DC-BEC8-A0E387BD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아래는 가능한 대응이다. 실제 실행·복구 성공·검증 누락을 관찰한 결과가 아니다.</a:t>
            </a:r>
          </a:p>
        </p:txBody>
      </p:sp>
      <p:sp>
        <p:nvSpPr>
          <p:cNvPr id="7" name="이번 요청에 “통합 테스트도 확인해 줘”를 더한다면?">
            <a:extLst xmlns:a="http://schemas.openxmlformats.org/drawingml/2006/main">
              <a:ext uri="{FF2B5EF4-FFF2-40B4-BE49-F238E27FC236}">
                <a16:creationId xmlns:a16="http://schemas.microsoft.com/office/drawing/2014/main" id="{618A279A-F1AB-4A32-8732-B18B2D37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요청에 “통합 테스트도 확인해 줘”를 더한다면?</a:t>
            </a:r>
          </a:p>
        </p:txBody>
      </p:sp>
      <p:sp>
        <p:nvSpPr>
          <p:cNvPr id="8" name="이번 Task">
            <a:extLst xmlns:a="http://schemas.openxmlformats.org/drawingml/2006/main">
              <a:ext uri="{FF2B5EF4-FFF2-40B4-BE49-F238E27FC236}">
                <a16:creationId xmlns:a16="http://schemas.microsoft.com/office/drawing/2014/main" id="{AC220AE4-93CB-48DA-9398-C4D42292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</a:t>
            </a:r>
          </a:p>
        </p:txBody>
      </p:sp>
      <p:sp>
        <p:nvSpPr>
          <p:cNvPr id="9" name="다음 Task가 읽을 Workflow">
            <a:extLst xmlns:a="http://schemas.openxmlformats.org/drawingml/2006/main">
              <a:ext uri="{FF2B5EF4-FFF2-40B4-BE49-F238E27FC236}">
                <a16:creationId xmlns:a16="http://schemas.microsoft.com/office/drawing/2014/main" id="{5EF28561-18D5-442B-907A-E5AAF1E7D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Task가 읽을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7D2AB9-4D76-415E-8D4F-1D72179E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A50E1D-6B2C-4FDE-8A12-ADBCBAB5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단위 + 통합 테스트를&#10;확인하도록 요청 가능">
            <a:extLst xmlns:a="http://schemas.openxmlformats.org/drawingml/2006/main">
              <a:ext uri="{FF2B5EF4-FFF2-40B4-BE49-F238E27FC236}">
                <a16:creationId xmlns:a16="http://schemas.microsoft.com/office/drawing/2014/main" id="{83B8AD05-1949-4C3C-9BE6-12BB3E66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테스트를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확인하도록 요청 가능</a:t>
            </a:r>
          </a:p>
        </p:txBody>
      </p:sp>
      <p:sp>
        <p:nvSpPr>
          <p:cNvPr id="13" name="여전히&#10;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F917A4CB-5AE3-4C2F-8CB6-8B01EB7E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여전히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14" name="이번 답을 보정해도, 재사용 절차는 그대로일 수 있다.">
            <a:extLst xmlns:a="http://schemas.openxmlformats.org/drawingml/2006/main">
              <a:ext uri="{FF2B5EF4-FFF2-40B4-BE49-F238E27FC236}">
                <a16:creationId xmlns:a16="http://schemas.microsoft.com/office/drawing/2014/main" id="{F9C13A70-CA41-4DBE-AC73-E1EE6298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답을 보정해도, 재사용 절차는 그대로일 수 있다.</a:t>
            </a:r>
          </a:p>
        </p:txBody>
      </p:sp>
      <p:sp>
        <p:nvSpPr>
          <p:cNvPr id="1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561CA34-556F-4B6A-A942-96280A1C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20213355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CONCEPTUAL / 대응 범위 비교">
            <a:extLst xmlns:a="http://schemas.openxmlformats.org/drawingml/2006/main">
              <a:ext uri="{FF2B5EF4-FFF2-40B4-BE49-F238E27FC236}">
                <a16:creationId xmlns:a16="http://schemas.microsoft.com/office/drawing/2014/main" id="{F5E417E2-5A1D-40BE-A9FD-A2E8E7A5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대응 범위 비교</a:t>
            </a:r>
          </a:p>
        </p:txBody>
      </p:sp>
      <p:sp>
        <p:nvSpPr>
          <p:cNvPr id="2" name="S60">
            <a:extLst xmlns:a="http://schemas.openxmlformats.org/drawingml/2006/main">
              <a:ext uri="{FF2B5EF4-FFF2-40B4-BE49-F238E27FC236}">
                <a16:creationId xmlns:a16="http://schemas.microsoft.com/office/drawing/2014/main" id="{F9F6023D-F7F7-4577-A9C7-68ACA1C3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S60</a:t>
            </a:r>
          </a:p>
        </p:txBody>
      </p:sp>
      <p:sp>
        <p:nvSpPr>
          <p:cNvPr id="3" name="원인에 맞는 Layer를 고르기">
            <a:extLst xmlns:a="http://schemas.openxmlformats.org/drawingml/2006/main">
              <a:ext uri="{FF2B5EF4-FFF2-40B4-BE49-F238E27FC236}">
                <a16:creationId xmlns:a16="http://schemas.microsoft.com/office/drawing/2014/main" id="{01CF4625-BBB0-459E-AEE0-CB39BDCB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원인에 맞는 Layer를 고르기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7E9EAC-4831-4328-B220-BC3026A7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DEMO-11 · 가상 사례의 선택지">
            <a:extLst xmlns:a="http://schemas.openxmlformats.org/drawingml/2006/main">
              <a:ext uri="{FF2B5EF4-FFF2-40B4-BE49-F238E27FC236}">
                <a16:creationId xmlns:a16="http://schemas.microsoft.com/office/drawing/2014/main" id="{C1EE7C60-CE17-48BA-94E7-0C37B6B1B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DEMO-11 · 가상 사례의 선택지</a:t>
            </a:r>
          </a:p>
        </p:txBody>
      </p:sp>
      <p:sp>
        <p:nvSpPr>
          <p:cNvPr id="6" name="Workflow가 원인으로 확인된 경우의 판단이며, 모든 문제의 정답은 아니다.">
            <a:extLst xmlns:a="http://schemas.openxmlformats.org/drawingml/2006/main">
              <a:ext uri="{FF2B5EF4-FFF2-40B4-BE49-F238E27FC236}">
                <a16:creationId xmlns:a16="http://schemas.microsoft.com/office/drawing/2014/main" id="{F138408C-B0E8-438A-814B-47937E12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Workflow가 원인으로 확인된 경우의 판단이며, 모든 문제의 정답은 아니다.</a:t>
            </a:r>
          </a:p>
        </p:txBody>
      </p:sp>
      <p:sp>
        <p:nvSpPr>
          <p:cNvPr id="7" name="무엇을 바꾸면 다음 작업에도 반영될까?">
            <a:extLst xmlns:a="http://schemas.openxmlformats.org/drawingml/2006/main">
              <a:ext uri="{FF2B5EF4-FFF2-40B4-BE49-F238E27FC236}">
                <a16:creationId xmlns:a16="http://schemas.microsoft.com/office/drawing/2014/main" id="{4B05E47B-B8C4-4A0E-845F-D40D7AEC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바꾸면 다음 작업에도 반영될까?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6DBFE5-9AAB-455B-8714-5C7E67A4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이번 Prompt 보정">
            <a:extLst xmlns:a="http://schemas.openxmlformats.org/drawingml/2006/main">
              <a:ext uri="{FF2B5EF4-FFF2-40B4-BE49-F238E27FC236}">
                <a16:creationId xmlns:a16="http://schemas.microsoft.com/office/drawing/2014/main" id="{BABBD517-1453-49C3-A79C-4502AD5C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Prompt 보정</a:t>
            </a:r>
          </a:p>
        </p:txBody>
      </p:sp>
      <p:sp>
        <p:nvSpPr>
          <p:cNvPr id="10" name="현재 Task의 요청 범위를 넓힌다">
            <a:extLst xmlns:a="http://schemas.openxmlformats.org/drawingml/2006/main">
              <a:ext uri="{FF2B5EF4-FFF2-40B4-BE49-F238E27FC236}">
                <a16:creationId xmlns:a16="http://schemas.microsoft.com/office/drawing/2014/main" id="{5D251795-8809-4EBD-A7DA-1FCFF0C1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670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Task의 요청 범위를 넓힌다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9B3C81-9062-49F7-8F34-056AD196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전역 규칙 추가">
            <a:extLst xmlns:a="http://schemas.openxmlformats.org/drawingml/2006/main">
              <a:ext uri="{FF2B5EF4-FFF2-40B4-BE49-F238E27FC236}">
                <a16:creationId xmlns:a16="http://schemas.microsoft.com/office/drawing/2014/main" id="{4EFF4CC4-6F67-455E-BE6D-307BA9F2E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전역 규칙 추가</a:t>
            </a:r>
          </a:p>
        </p:txBody>
      </p:sp>
      <p:sp>
        <p:nvSpPr>
          <p:cNvPr id="13" name="다른 지침과 중복·충돌할 수 있다">
            <a:extLst xmlns:a="http://schemas.openxmlformats.org/drawingml/2006/main">
              <a:ext uri="{FF2B5EF4-FFF2-40B4-BE49-F238E27FC236}">
                <a16:creationId xmlns:a16="http://schemas.microsoft.com/office/drawing/2014/main" id="{87E7591A-C0BC-46FD-9B77-9A45E40F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4810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지침과 중복·충돌할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97E7ED-4B3D-4850-ABD0-AAB1023F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원인인 Workflow 갱신">
            <a:extLst xmlns:a="http://schemas.openxmlformats.org/drawingml/2006/main">
              <a:ext uri="{FF2B5EF4-FFF2-40B4-BE49-F238E27FC236}">
                <a16:creationId xmlns:a16="http://schemas.microsoft.com/office/drawing/2014/main" id="{C93D7E72-CA68-4C21-9270-EFA9B0A7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원인인 Workflow 갱신</a:t>
            </a:r>
          </a:p>
        </p:txBody>
      </p:sp>
      <p:sp>
        <p:nvSpPr>
          <p:cNvPr id="16" name="다음 Task가 재사용할 절차를 바꾼다">
            <a:extLst xmlns:a="http://schemas.openxmlformats.org/drawingml/2006/main">
              <a:ext uri="{FF2B5EF4-FFF2-40B4-BE49-F238E27FC236}">
                <a16:creationId xmlns:a16="http://schemas.microsoft.com/office/drawing/2014/main" id="{8807DECA-A039-4A77-86DB-F04DAF5E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291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Task가 재사용할 절차를 바꾼다</a:t>
            </a:r>
          </a:p>
        </p:txBody>
      </p:sp>
      <p:sp>
        <p:nvSpPr>
          <p:cNvPr id="17" name="선택 기준: 원인이 있는 곳과 변경할 곳이 맞는가?">
            <a:extLst xmlns:a="http://schemas.openxmlformats.org/drawingml/2006/main">
              <a:ext uri="{FF2B5EF4-FFF2-40B4-BE49-F238E27FC236}">
                <a16:creationId xmlns:a16="http://schemas.microsoft.com/office/drawing/2014/main" id="{2F64EB65-DD83-4734-881F-9CAAEB0C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선택 기준: 원인이 있는 곳과 변경할 곳이 맞는가?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7078D27-24E6-4537-B593-B81E51BB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3147280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CONCEPTUAL / 원인 후보">
            <a:extLst xmlns:a="http://schemas.openxmlformats.org/drawingml/2006/main">
              <a:ext uri="{FF2B5EF4-FFF2-40B4-BE49-F238E27FC236}">
                <a16:creationId xmlns:a16="http://schemas.microsoft.com/office/drawing/2014/main" id="{DB4B19F5-2F08-47FF-AAA9-307B9F83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 후보</a:t>
            </a:r>
          </a:p>
        </p:txBody>
      </p:sp>
      <p:sp>
        <p:nvSpPr>
          <p:cNvPr id="2" name="S61">
            <a:extLst xmlns:a="http://schemas.openxmlformats.org/drawingml/2006/main">
              <a:ext uri="{FF2B5EF4-FFF2-40B4-BE49-F238E27FC236}">
                <a16:creationId xmlns:a16="http://schemas.microsoft.com/office/drawing/2014/main" id="{CEAE75D5-5BA6-4B89-8E16-348E1945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S61</a:t>
            </a:r>
          </a:p>
        </p:txBody>
      </p:sp>
      <p:sp>
        <p:nvSpPr>
          <p:cNvPr id="3" name="실패 지점과 원인 Layer 구분하기">
            <a:extLst xmlns:a="http://schemas.openxmlformats.org/drawingml/2006/main">
              <a:ext uri="{FF2B5EF4-FFF2-40B4-BE49-F238E27FC236}">
                <a16:creationId xmlns:a16="http://schemas.microsoft.com/office/drawing/2014/main" id="{57776E2F-2ED7-400A-B9DA-F88E45EC9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 지점과 원인 Layer 구분하기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9FF16B-B581-4DC0-8F7C-3FE13705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1 · 원인을 찾기 위한 교육용 관점">
            <a:extLst xmlns:a="http://schemas.openxmlformats.org/drawingml/2006/main">
              <a:ext uri="{FF2B5EF4-FFF2-40B4-BE49-F238E27FC236}">
                <a16:creationId xmlns:a16="http://schemas.microsoft.com/office/drawing/2014/main" id="{D986F36F-4BFF-44C1-8213-35D1128B6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DEMO-11 · 원인을 찾기 위한 교육용 관점</a:t>
            </a:r>
          </a:p>
        </p:txBody>
      </p:sp>
      <p:sp>
        <p:nvSpPr>
          <p:cNvPr id="6" name="가능한 원인 후보이며, 증상만으로 한 원인을 확정하지 않는다.">
            <a:extLst xmlns:a="http://schemas.openxmlformats.org/drawingml/2006/main">
              <a:ext uri="{FF2B5EF4-FFF2-40B4-BE49-F238E27FC236}">
                <a16:creationId xmlns:a16="http://schemas.microsoft.com/office/drawing/2014/main" id="{F1DF881D-348D-4D27-87BB-ACD331C9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가능한 원인 후보이며, 증상만으로 한 원인을 확정하지 않는다.</a:t>
            </a:r>
          </a:p>
        </p:txBody>
      </p:sp>
      <p:sp>
        <p:nvSpPr>
          <p:cNvPr id="7" name="“요청한 검증이 충분한가?”">
            <a:extLst xmlns:a="http://schemas.openxmlformats.org/drawingml/2006/main">
              <a:ext uri="{FF2B5EF4-FFF2-40B4-BE49-F238E27FC236}">
                <a16:creationId xmlns:a16="http://schemas.microsoft.com/office/drawing/2014/main" id="{F1856830-E045-4181-A6DD-652A97EA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“요청한 검증이 충분한가?”</a:t>
            </a:r>
          </a:p>
        </p:txBody>
      </p:sp>
      <p:sp>
        <p:nvSpPr>
          <p:cNvPr id="8" name="증상에서 바로 결론으로 가지 않는다">
            <a:extLst xmlns:a="http://schemas.openxmlformats.org/drawingml/2006/main">
              <a:ext uri="{FF2B5EF4-FFF2-40B4-BE49-F238E27FC236}">
                <a16:creationId xmlns:a16="http://schemas.microsoft.com/office/drawing/2014/main" id="{DE590465-C8F2-444E-B29A-A8B1120C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증상에서 바로 결론으로 가지 않는다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C53B0-56BF-4B02-8E69-7312AF00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669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0" name="Context">
            <a:extLst xmlns:a="http://schemas.openxmlformats.org/drawingml/2006/main">
              <a:ext uri="{FF2B5EF4-FFF2-40B4-BE49-F238E27FC236}">
                <a16:creationId xmlns:a16="http://schemas.microsoft.com/office/drawing/2014/main" id="{1EF8CC04-C56B-4BD1-AA1E-25B21AD9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1" name="현재 기준이 맞는가?">
            <a:extLst xmlns:a="http://schemas.openxmlformats.org/drawingml/2006/main">
              <a:ext uri="{FF2B5EF4-FFF2-40B4-BE49-F238E27FC236}">
                <a16:creationId xmlns:a16="http://schemas.microsoft.com/office/drawing/2014/main" id="{193D8A0F-5D7D-4926-94E9-6F8CDB96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62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기준이 맞는가?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E1379D-3DD6-4883-87C4-2F07B8E71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3" name="Workflow">
            <a:extLst xmlns:a="http://schemas.openxmlformats.org/drawingml/2006/main">
              <a:ext uri="{FF2B5EF4-FFF2-40B4-BE49-F238E27FC236}">
                <a16:creationId xmlns:a16="http://schemas.microsoft.com/office/drawing/2014/main" id="{BAF49F2D-7C1C-429C-8D4C-758A24F3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432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4" name="어떤 절차를 지시하는가?">
            <a:extLst xmlns:a="http://schemas.openxmlformats.org/drawingml/2006/main">
              <a:ext uri="{FF2B5EF4-FFF2-40B4-BE49-F238E27FC236}">
                <a16:creationId xmlns:a16="http://schemas.microsoft.com/office/drawing/2014/main" id="{483272F6-1F21-43DB-9EF9-F6590CDC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432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절차를 지시하는가?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CA0C52-8027-44EB-89FE-E273E50B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29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6" name="환경 · 권한">
            <a:extLst xmlns:a="http://schemas.openxmlformats.org/drawingml/2006/main">
              <a:ext uri="{FF2B5EF4-FFF2-40B4-BE49-F238E27FC236}">
                <a16:creationId xmlns:a16="http://schemas.microsoft.com/office/drawing/2014/main" id="{A8B10788-4BEE-4B6E-AE9A-27E7F002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243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환경 · 권한</a:t>
            </a:r>
          </a:p>
        </p:txBody>
      </p:sp>
      <p:sp>
        <p:nvSpPr>
          <p:cNvPr id="17" name="실행 조건이 맞는가?">
            <a:extLst xmlns:a="http://schemas.openxmlformats.org/drawingml/2006/main">
              <a:ext uri="{FF2B5EF4-FFF2-40B4-BE49-F238E27FC236}">
                <a16:creationId xmlns:a16="http://schemas.microsoft.com/office/drawing/2014/main" id="{D8232F1C-E65E-49A2-B47D-BB3295F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243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조건이 맞는가?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E05EF1-83AE-483A-83C4-D557CE56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01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9" name="제품 코드">
            <a:extLst xmlns:a="http://schemas.openxmlformats.org/drawingml/2006/main">
              <a:ext uri="{FF2B5EF4-FFF2-40B4-BE49-F238E27FC236}">
                <a16:creationId xmlns:a16="http://schemas.microsoft.com/office/drawing/2014/main" id="{841501FB-6C5C-48CD-AFFE-CBD087C22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053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제품 코드</a:t>
            </a:r>
          </a:p>
        </p:txBody>
      </p:sp>
      <p:sp>
        <p:nvSpPr>
          <p:cNvPr id="20" name="동작 자체의 문제인가?">
            <a:extLst xmlns:a="http://schemas.openxmlformats.org/drawingml/2006/main">
              <a:ext uri="{FF2B5EF4-FFF2-40B4-BE49-F238E27FC236}">
                <a16:creationId xmlns:a16="http://schemas.microsoft.com/office/drawing/2014/main" id="{5C1C7E53-A973-4739-B429-C7680133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053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자체의 문제인가?</a:t>
            </a:r>
          </a:p>
        </p:txBody>
      </p:sp>
      <p:sp>
        <p:nvSpPr>
          <p:cNvPr id="21" name="확인할 기록부터 찾는다">
            <a:extLst xmlns:a="http://schemas.openxmlformats.org/drawingml/2006/main">
              <a:ext uri="{FF2B5EF4-FFF2-40B4-BE49-F238E27FC236}">
                <a16:creationId xmlns:a16="http://schemas.microsoft.com/office/drawing/2014/main" id="{EA4A0678-FD9A-44B6-BA8E-D0B53DFA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23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기록부터 찾는다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68B6468-C3C7-4C15-9DA1-44B61D4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20774867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가정과 추론">
            <a:extLst xmlns:a="http://schemas.openxmlformats.org/drawingml/2006/main">
              <a:ext uri="{FF2B5EF4-FFF2-40B4-BE49-F238E27FC236}">
                <a16:creationId xmlns:a16="http://schemas.microsoft.com/office/drawing/2014/main" id="{4CF51DD7-0D82-4D76-BF86-A223AAC0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가정과 추론</a:t>
            </a:r>
          </a:p>
        </p:txBody>
      </p:sp>
      <p:sp>
        <p:nvSpPr>
          <p:cNvPr id="2" name="S62">
            <a:extLst xmlns:a="http://schemas.openxmlformats.org/drawingml/2006/main">
              <a:ext uri="{FF2B5EF4-FFF2-40B4-BE49-F238E27FC236}">
                <a16:creationId xmlns:a16="http://schemas.microsoft.com/office/drawing/2014/main" id="{4741382D-BDE9-4F8A-BBB3-F46CE759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S62</a:t>
            </a:r>
          </a:p>
        </p:txBody>
      </p:sp>
      <p:sp>
        <p:nvSpPr>
          <p:cNvPr id="3" name="먼저 관찰하고, 그다음 가설을 세운다">
            <a:extLst xmlns:a="http://schemas.openxmlformats.org/drawingml/2006/main">
              <a:ext uri="{FF2B5EF4-FFF2-40B4-BE49-F238E27FC236}">
                <a16:creationId xmlns:a16="http://schemas.microsoft.com/office/drawing/2014/main" id="{3E961E10-B48A-4D65-8658-4030BC3A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관찰하고, 그다음 가설을 세운다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78ED1-6E28-4763-8951-C186433D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구성된 사례의 전제와 원인 가설">
            <a:extLst xmlns:a="http://schemas.openxmlformats.org/drawingml/2006/main">
              <a:ext uri="{FF2B5EF4-FFF2-40B4-BE49-F238E27FC236}">
                <a16:creationId xmlns:a16="http://schemas.microsoft.com/office/drawing/2014/main" id="{F9A06338-2575-48BB-B26D-EF1B44C0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구성된 사례의 전제와 원인 가설</a:t>
            </a:r>
          </a:p>
        </p:txBody>
      </p:sp>
      <p:sp>
        <p:nvSpPr>
          <p:cNvPr id="6" name="가상 설정을 실제 Trial 관찰로 표현하지 않는다. 실행 결과는 아직 없다.">
            <a:extLst xmlns:a="http://schemas.openxmlformats.org/drawingml/2006/main">
              <a:ext uri="{FF2B5EF4-FFF2-40B4-BE49-F238E27FC236}">
                <a16:creationId xmlns:a16="http://schemas.microsoft.com/office/drawing/2014/main" id="{58AE7426-1CEF-4F06-8146-282F3CE53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가상 설정을 실제 Trial 관찰로 표현하지 않는다. 실행 결과는 아직 없다.</a:t>
            </a:r>
          </a:p>
        </p:txBody>
      </p:sp>
      <p:sp>
        <p:nvSpPr>
          <p:cNvPr id="7" name="사례에 주어진 정보">
            <a:extLst xmlns:a="http://schemas.openxmlformats.org/drawingml/2006/main">
              <a:ext uri="{FF2B5EF4-FFF2-40B4-BE49-F238E27FC236}">
                <a16:creationId xmlns:a16="http://schemas.microsoft.com/office/drawing/2014/main" id="{7C8C92E2-892E-4C19-A57E-43FCF4E4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사례에 주어진 정보</a:t>
            </a:r>
          </a:p>
        </p:txBody>
      </p:sp>
      <p:sp>
        <p:nvSpPr>
          <p:cNvPr id="8" name="확인해야 할 가설">
            <a:extLst xmlns:a="http://schemas.openxmlformats.org/drawingml/2006/main">
              <a:ext uri="{FF2B5EF4-FFF2-40B4-BE49-F238E27FC236}">
                <a16:creationId xmlns:a16="http://schemas.microsoft.com/office/drawing/2014/main" id="{DEA0CC0D-7012-4961-A67F-9787BA0B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28850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확인해야 할 가설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A21F9C-C3B1-413F-ADCA-9D1B12F8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CD0184-0473-42D3-9751-01F773DF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현재 기준: 단위 + 통합&#10;재사용 지침: 단위만">
            <a:extLst xmlns:a="http://schemas.openxmlformats.org/drawingml/2006/main">
              <a:ext uri="{FF2B5EF4-FFF2-40B4-BE49-F238E27FC236}">
                <a16:creationId xmlns:a16="http://schemas.microsoft.com/office/drawing/2014/main" id="{62819682-3977-4E7B-AFEF-0F559023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기준: 단위 + 통합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지침: 단위만</a:t>
            </a:r>
          </a:p>
        </p:txBody>
      </p:sp>
      <p:sp>
        <p:nvSpPr>
          <p:cNvPr id="12" name="오래된 Workflow가&#10;문제의 원인일 수 있다">
            <a:extLst xmlns:a="http://schemas.openxmlformats.org/drawingml/2006/main">
              <a:ext uri="{FF2B5EF4-FFF2-40B4-BE49-F238E27FC236}">
                <a16:creationId xmlns:a16="http://schemas.microsoft.com/office/drawing/2014/main" id="{F55B3280-3128-4B6A-A1EA-8C2AE6B7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Workflow가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문제의 원인일 수 있다</a:t>
            </a:r>
          </a:p>
        </p:txBody>
      </p:sp>
      <p:sp>
        <p:nvSpPr>
          <p:cNvPr id="13" name="실행 경로와 실제로 읽은 지침을 대조해야 원인을 판단할 수 있다.">
            <a:extLst xmlns:a="http://schemas.openxmlformats.org/drawingml/2006/main">
              <a:ext uri="{FF2B5EF4-FFF2-40B4-BE49-F238E27FC236}">
                <a16:creationId xmlns:a16="http://schemas.microsoft.com/office/drawing/2014/main" id="{BE25DDFF-441D-4192-B744-297AF22E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경로와 실제로 읽은 지침을 대조해야 원인을 판단할 수 있다.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25FB028-070D-44C1-8B63-29284AD2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9164326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4 · CONCEPTUAL / 원인에 맞는 수정">
            <a:extLst xmlns:a="http://schemas.openxmlformats.org/drawingml/2006/main">
              <a:ext uri="{FF2B5EF4-FFF2-40B4-BE49-F238E27FC236}">
                <a16:creationId xmlns:a16="http://schemas.microsoft.com/office/drawing/2014/main" id="{F236F123-EB69-49A6-87C5-1DB57502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원인에 맞는 수정</a:t>
            </a:r>
          </a:p>
        </p:txBody>
      </p:sp>
      <p:sp>
        <p:nvSpPr>
          <p:cNvPr id="2" name="S63">
            <a:extLst xmlns:a="http://schemas.openxmlformats.org/drawingml/2006/main">
              <a:ext uri="{FF2B5EF4-FFF2-40B4-BE49-F238E27FC236}">
                <a16:creationId xmlns:a16="http://schemas.microsoft.com/office/drawing/2014/main" id="{D8C1BA3B-6D3B-4544-93EA-BD788C9F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S63</a:t>
            </a:r>
          </a:p>
        </p:txBody>
      </p:sp>
      <p:sp>
        <p:nvSpPr>
          <p:cNvPr id="3" name="Cause가 지지하는 최소 변경">
            <a:extLst xmlns:a="http://schemas.openxmlformats.org/drawingml/2006/main">
              <a:ext uri="{FF2B5EF4-FFF2-40B4-BE49-F238E27FC236}">
                <a16:creationId xmlns:a16="http://schemas.microsoft.com/office/drawing/2014/main" id="{E3258A80-EFE6-401D-8594-791180AD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Cause가 지지하는 최소 변경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EB4430-7047-4264-8833-82412A1C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원인이 확인됐다고 가정한 변경 설계">
            <a:extLst xmlns:a="http://schemas.openxmlformats.org/drawingml/2006/main">
              <a:ext uri="{FF2B5EF4-FFF2-40B4-BE49-F238E27FC236}">
                <a16:creationId xmlns:a16="http://schemas.microsoft.com/office/drawing/2014/main" id="{B38430A3-80DE-46EF-AB6E-58AFECB9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원인이 확인됐다고 가정한 변경 설계</a:t>
            </a:r>
          </a:p>
        </p:txBody>
      </p:sp>
      <p:sp>
        <p:nvSpPr>
          <p:cNvPr id="6" name="실제 코드·Skill 수정 또는 실행 결과가 아니다. 관련 없는 규칙은 임의로 바꾸지 않는다.">
            <a:extLst xmlns:a="http://schemas.openxmlformats.org/drawingml/2006/main">
              <a:ext uri="{FF2B5EF4-FFF2-40B4-BE49-F238E27FC236}">
                <a16:creationId xmlns:a16="http://schemas.microsoft.com/office/drawing/2014/main" id="{49718BF6-27BD-46F0-B634-E424C447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코드·Skill 수정 또는 실행 결과가 아니다. 관련 없는 규칙은 임의로 바꾸지 않는다.</a:t>
            </a:r>
          </a:p>
        </p:txBody>
      </p:sp>
      <p:sp>
        <p:nvSpPr>
          <p:cNvPr id="7" name="Workflow가 원인으로 확인됐다면">
            <a:extLst xmlns:a="http://schemas.openxmlformats.org/drawingml/2006/main">
              <a:ext uri="{FF2B5EF4-FFF2-40B4-BE49-F238E27FC236}">
                <a16:creationId xmlns:a16="http://schemas.microsoft.com/office/drawing/2014/main" id="{5FE0325D-02DE-4D70-8B9B-44D173A1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Workflow가 원인으로 확인됐다면</a:t>
            </a:r>
          </a:p>
        </p:txBody>
      </p:sp>
      <p:sp>
        <p:nvSpPr>
          <p:cNvPr id="8" name="기존 재사용 지침">
            <a:extLst xmlns:a="http://schemas.openxmlformats.org/drawingml/2006/main">
              <a:ext uri="{FF2B5EF4-FFF2-40B4-BE49-F238E27FC236}">
                <a16:creationId xmlns:a16="http://schemas.microsoft.com/office/drawing/2014/main" id="{094F6835-B861-47AA-BC34-3F4C612C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재사용 지침</a:t>
            </a:r>
          </a:p>
        </p:txBody>
      </p:sp>
      <p:sp>
        <p:nvSpPr>
          <p:cNvPr id="9" name="갱신할 지침">
            <a:extLst xmlns:a="http://schemas.openxmlformats.org/drawingml/2006/main">
              <a:ext uri="{FF2B5EF4-FFF2-40B4-BE49-F238E27FC236}">
                <a16:creationId xmlns:a16="http://schemas.microsoft.com/office/drawing/2014/main" id="{87394E4E-124B-42D6-8CF6-D38ADB79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지침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0680FA-5381-4F31-9BAF-0A76C6A6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7633A1-A8D1-4048-A5CC-FCD0F3B0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를 확인">
            <a:extLst xmlns:a="http://schemas.openxmlformats.org/drawingml/2006/main">
              <a:ext uri="{FF2B5EF4-FFF2-40B4-BE49-F238E27FC236}">
                <a16:creationId xmlns:a16="http://schemas.microsoft.com/office/drawing/2014/main" id="{B5C4FA73-55CD-4350-86F7-C2F4C44A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테스트를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2D6BBA-C7F4-4683-ACE6-3427BCC7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10025"/>
            <a:ext cx="609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단위 + 통합 테스트 확인">
            <a:extLst xmlns:a="http://schemas.openxmlformats.org/drawingml/2006/main">
              <a:ext uri="{FF2B5EF4-FFF2-40B4-BE49-F238E27FC236}">
                <a16:creationId xmlns:a16="http://schemas.microsoft.com/office/drawing/2014/main" id="{931BC12A-80D6-4D11-ADD0-A98DAFDD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 확인</a:t>
            </a:r>
          </a:p>
        </p:txBody>
      </p:sp>
      <p:sp>
        <p:nvSpPr>
          <p:cNvPr id="15" name="원인이 뒷받침하는 범위까지 바꾼다.">
            <a:extLst xmlns:a="http://schemas.openxmlformats.org/drawingml/2006/main">
              <a:ext uri="{FF2B5EF4-FFF2-40B4-BE49-F238E27FC236}">
                <a16:creationId xmlns:a16="http://schemas.microsoft.com/office/drawing/2014/main" id="{A82E7115-28FA-45AD-AA3E-A05AE320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원인이 뒷받침하는 범위까지 바꾼다.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ABA1994-542B-499C-9651-757EEF2F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5054950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평가 범위">
            <a:extLst xmlns:a="http://schemas.openxmlformats.org/drawingml/2006/main">
              <a:ext uri="{FF2B5EF4-FFF2-40B4-BE49-F238E27FC236}">
                <a16:creationId xmlns:a16="http://schemas.microsoft.com/office/drawing/2014/main" id="{E257E7C6-999A-4C2D-B643-11962E79D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범위</a:t>
            </a:r>
          </a:p>
        </p:txBody>
      </p:sp>
      <p:sp>
        <p:nvSpPr>
          <p:cNvPr id="2" name="S64">
            <a:extLst xmlns:a="http://schemas.openxmlformats.org/drawingml/2006/main">
              <a:ext uri="{FF2B5EF4-FFF2-40B4-BE49-F238E27FC236}">
                <a16:creationId xmlns:a16="http://schemas.microsoft.com/office/drawing/2014/main" id="{82155E48-5675-4E03-B891-9C3BAADC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S64</a:t>
            </a:r>
          </a:p>
        </p:txBody>
      </p:sp>
      <p:sp>
        <p:nvSpPr>
          <p:cNvPr id="3" name="같은 Task의 재실행만으로 충분할까?">
            <a:extLst xmlns:a="http://schemas.openxmlformats.org/drawingml/2006/main">
              <a:ext uri="{FF2B5EF4-FFF2-40B4-BE49-F238E27FC236}">
                <a16:creationId xmlns:a16="http://schemas.microsoft.com/office/drawing/2014/main" id="{45705A21-679C-4314-A834-C95BC4E6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Task의 재실행만으로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40C32-B74A-4982-A147-B6814555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변경 후 확인할 질문을 설계한 도식">
            <a:extLst xmlns:a="http://schemas.openxmlformats.org/drawingml/2006/main">
              <a:ext uri="{FF2B5EF4-FFF2-40B4-BE49-F238E27FC236}">
                <a16:creationId xmlns:a16="http://schemas.microsoft.com/office/drawing/2014/main" id="{27DDD35A-6D0E-4615-9A38-76298E0D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변경 후 확인할 질문을 설계한 도식</a:t>
            </a:r>
          </a:p>
        </p:txBody>
      </p:sp>
      <p:sp>
        <p:nvSpPr>
          <p:cNvPr id="6" name="재실행·회귀 테스트 결과는 없다. 두 검증 질문을 구분하는 가상 사례다.">
            <a:extLst xmlns:a="http://schemas.openxmlformats.org/drawingml/2006/main">
              <a:ext uri="{FF2B5EF4-FFF2-40B4-BE49-F238E27FC236}">
                <a16:creationId xmlns:a16="http://schemas.microsoft.com/office/drawing/2014/main" id="{99044DE7-6F0A-4BF7-AFD0-073B9430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재실행·회귀 테스트 결과는 없다. 두 검증 질문을 구분하는 가상 사례다.</a:t>
            </a:r>
          </a:p>
        </p:txBody>
      </p:sp>
      <p:sp>
        <p:nvSpPr>
          <p:cNvPr id="7" name="이번 작업을 다시 확인">
            <a:extLst xmlns:a="http://schemas.openxmlformats.org/drawingml/2006/main">
              <a:ext uri="{FF2B5EF4-FFF2-40B4-BE49-F238E27FC236}">
                <a16:creationId xmlns:a16="http://schemas.microsoft.com/office/drawing/2014/main" id="{293A40CF-1385-40C5-8B58-9CE6D519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작업을 다시 확인</a:t>
            </a:r>
          </a:p>
        </p:txBody>
      </p:sp>
      <p:sp>
        <p:nvSpPr>
          <p:cNvPr id="8" name="다른 작업도 확인">
            <a:extLst xmlns:a="http://schemas.openxmlformats.org/drawingml/2006/main">
              <a:ext uri="{FF2B5EF4-FFF2-40B4-BE49-F238E27FC236}">
                <a16:creationId xmlns:a16="http://schemas.microsoft.com/office/drawing/2014/main" id="{21793122-1ADF-4B11-8A71-CD79457A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작업도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C924BE-A353-4AF5-95CE-3C95D3F20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CB2C84-1E4F-40A5-992D-D184F993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요청했던 검증 범위를&#10;이제 다루는가?">
            <a:extLst xmlns:a="http://schemas.openxmlformats.org/drawingml/2006/main">
              <a:ext uri="{FF2B5EF4-FFF2-40B4-BE49-F238E27FC236}">
                <a16:creationId xmlns:a16="http://schemas.microsoft.com/office/drawing/2014/main" id="{034856AB-0957-4ED1-9BBA-F5D289AFA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요청했던 검증 범위를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이제 다루는가?</a:t>
            </a:r>
          </a:p>
        </p:txBody>
      </p:sp>
      <p:sp>
        <p:nvSpPr>
          <p:cNvPr id="12" name="바뀐 지침이 다른 작업을&#10;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87A9F5B9-F48A-4799-9487-534320B9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지침이 다른 작업을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방해하지 않는가?</a:t>
            </a:r>
          </a:p>
        </p:txBody>
      </p:sp>
      <p:sp>
        <p:nvSpPr>
          <p:cNvPr id="13" name="확인할 범위가 다르므로, 두 질문이 모두 필요하다.">
            <a:extLst xmlns:a="http://schemas.openxmlformats.org/drawingml/2006/main">
              <a:ext uri="{FF2B5EF4-FFF2-40B4-BE49-F238E27FC236}">
                <a16:creationId xmlns:a16="http://schemas.microsoft.com/office/drawing/2014/main" id="{E0298298-A9E4-4BEC-AC76-F5969A24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범위가 다르므로, 두 질문이 모두 필요하다.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90C790D-AFDD-4484-90E1-1013754AF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20229112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ACT 4 · CONCEPTUAL / 평가 설계">
            <a:extLst xmlns:a="http://schemas.openxmlformats.org/drawingml/2006/main">
              <a:ext uri="{FF2B5EF4-FFF2-40B4-BE49-F238E27FC236}">
                <a16:creationId xmlns:a16="http://schemas.microsoft.com/office/drawing/2014/main" id="{148C55FF-48DF-4B36-808A-DB061E75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설계</a:t>
            </a:r>
          </a:p>
        </p:txBody>
      </p:sp>
      <p:sp>
        <p:nvSpPr>
          <p:cNvPr id="2" name="S65">
            <a:extLst xmlns:a="http://schemas.openxmlformats.org/drawingml/2006/main">
              <a:ext uri="{FF2B5EF4-FFF2-40B4-BE49-F238E27FC236}">
                <a16:creationId xmlns:a16="http://schemas.microsoft.com/office/drawing/2014/main" id="{9AB9BD6F-36FC-40A6-A1B4-13097881A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S65</a:t>
            </a:r>
          </a:p>
        </p:txBody>
      </p:sp>
      <p:sp>
        <p:nvSpPr>
          <p:cNvPr id="3" name="대표 작업으로 변경 범위를 확인하기">
            <a:extLst xmlns:a="http://schemas.openxmlformats.org/drawingml/2006/main">
              <a:ext uri="{FF2B5EF4-FFF2-40B4-BE49-F238E27FC236}">
                <a16:creationId xmlns:a16="http://schemas.microsoft.com/office/drawing/2014/main" id="{5208C8CD-3C47-4C92-B238-CA82A5EB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대표 작업으로 변경 범위를 확인하기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4436B2-C644-46DD-98DD-7CEAC414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0 · 네 작업 모두 이 Workflow 변경 후의 평가 결과는 없음">
            <a:extLst xmlns:a="http://schemas.openxmlformats.org/drawingml/2006/main">
              <a:ext uri="{FF2B5EF4-FFF2-40B4-BE49-F238E27FC236}">
                <a16:creationId xmlns:a16="http://schemas.microsoft.com/office/drawing/2014/main" id="{6AFDF90A-D72D-4147-BEBB-B125FA1E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DEMO-10 · 네 작업 모두 이 Workflow 변경 후의 평가 결과는 없음</a:t>
            </a:r>
          </a:p>
        </p:txBody>
      </p:sp>
      <p:sp>
        <p:nvSpPr>
          <p:cNvPr id="6" name="EVAL-01/02: 별도 과거 관찰 참고 · EVAL-03/04: 설계만 있음 · 새 실행·PASS/FAI">
            <a:extLst xmlns:a="http://schemas.openxmlformats.org/drawingml/2006/main">
              <a:ext uri="{FF2B5EF4-FFF2-40B4-BE49-F238E27FC236}">
                <a16:creationId xmlns:a16="http://schemas.microsoft.com/office/drawing/2014/main" id="{31EC77CB-1B60-4242-ACAB-A9640F18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EVAL-01/02: 별도 과거 관찰 참고 · EVAL-03/04: 설계만 있음 · 새 실행·PASS/FAIL 없음</a:t>
            </a:r>
          </a:p>
        </p:txBody>
      </p:sp>
      <p:sp>
        <p:nvSpPr>
          <p:cNvPr id="7" name="작업 수보다, 서로 다른 위험을 덮는가?">
            <a:extLst xmlns:a="http://schemas.openxmlformats.org/drawingml/2006/main">
              <a:ext uri="{FF2B5EF4-FFF2-40B4-BE49-F238E27FC236}">
                <a16:creationId xmlns:a16="http://schemas.microsoft.com/office/drawing/2014/main" id="{DF68AA30-ACF2-4368-BC60-081BF8B8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수보다, 서로 다른 위험을 덮는가?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35C840-39A7-412C-90BB-517093B4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평가 설계 · 네 작업 모두 이 Workflow 변경 뒤의 실행 결과는 없음">
            <a:extLst xmlns:a="http://schemas.openxmlformats.org/drawingml/2006/main">
              <a:ext uri="{FF2B5EF4-FFF2-40B4-BE49-F238E27FC236}">
                <a16:creationId xmlns:a16="http://schemas.microsoft.com/office/drawing/2014/main" id="{75C89BA8-FBB1-4530-9BB0-D17013B2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479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평가 설계 · 네 작업 모두 이 Workflow 변경 뒤의 실행 결과는 없음</a:t>
            </a:r>
          </a:p>
        </p:txBody>
      </p:sp>
      <p:sp>
        <p:nvSpPr>
          <p:cNvPr id="10" name="대표 작업">
            <a:extLst xmlns:a="http://schemas.openxmlformats.org/drawingml/2006/main">
              <a:ext uri="{FF2B5EF4-FFF2-40B4-BE49-F238E27FC236}">
                <a16:creationId xmlns:a16="http://schemas.microsoft.com/office/drawing/2014/main" id="{BB22D48E-C33E-4928-B8BB-8693E191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대표 작업</a:t>
            </a:r>
          </a:p>
        </p:txBody>
      </p:sp>
      <p:sp>
        <p:nvSpPr>
          <p:cNvPr id="11" name="무엇을 확인하기 위한 설계인가?">
            <a:extLst xmlns:a="http://schemas.openxmlformats.org/drawingml/2006/main">
              <a:ext uri="{FF2B5EF4-FFF2-40B4-BE49-F238E27FC236}">
                <a16:creationId xmlns:a16="http://schemas.microsoft.com/office/drawing/2014/main" id="{9BE6A751-B140-4549-B240-F02CC24A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24175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확인하기 위한 설계인가?</a:t>
            </a:r>
          </a:p>
        </p:txBody>
      </p:sp>
      <p:sp>
        <p:nvSpPr>
          <p:cNvPr id="12" name="현재 근거 상태">
            <a:extLst xmlns:a="http://schemas.openxmlformats.org/drawingml/2006/main">
              <a:ext uri="{FF2B5EF4-FFF2-40B4-BE49-F238E27FC236}">
                <a16:creationId xmlns:a16="http://schemas.microsoft.com/office/drawing/2014/main" id="{732D6E8D-790A-401B-BEA0-C02879A4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24175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근거 상태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E211A2-14D9-4169-8A12-9B97A639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4" name="EVAL-01">
            <a:extLst xmlns:a="http://schemas.openxmlformats.org/drawingml/2006/main">
              <a:ext uri="{FF2B5EF4-FFF2-40B4-BE49-F238E27FC236}">
                <a16:creationId xmlns:a16="http://schemas.microsoft.com/office/drawing/2014/main" id="{9CCD0C49-6D1A-4669-8870-E783E58E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EVAL-01</a:t>
            </a:r>
          </a:p>
        </p:txBody>
      </p:sp>
      <p:sp>
        <p:nvSpPr>
          <p:cNvPr id="15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FC26FF53-7B82-4B25-9B90-C4ADE440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3528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16" name="동작 계약을 확인하는가?">
            <a:extLst xmlns:a="http://schemas.openxmlformats.org/drawingml/2006/main">
              <a:ext uri="{FF2B5EF4-FFF2-40B4-BE49-F238E27FC236}">
                <a16:creationId xmlns:a16="http://schemas.microsoft.com/office/drawing/2014/main" id="{AA371C67-2962-4E84-9EBE-E1B3B9E0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5280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계약을 확인하는가?</a:t>
            </a:r>
          </a:p>
        </p:txBody>
      </p:sp>
      <p:sp>
        <p:nvSpPr>
          <p:cNvPr id="17" name="과거 관찰 참고">
            <a:extLst xmlns:a="http://schemas.openxmlformats.org/drawingml/2006/main">
              <a:ext uri="{FF2B5EF4-FFF2-40B4-BE49-F238E27FC236}">
                <a16:creationId xmlns:a16="http://schemas.microsoft.com/office/drawing/2014/main" id="{469516A6-2A6E-4A57-ACD5-E060E212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3375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과거 관찰 참고</a:t>
            </a:r>
          </a:p>
        </p:txBody>
      </p:sp>
      <p:sp>
        <p:nvSpPr>
          <p:cNvPr id="18" name="TRIAL-002">
            <a:extLst xmlns:a="http://schemas.openxmlformats.org/drawingml/2006/main">
              <a:ext uri="{FF2B5EF4-FFF2-40B4-BE49-F238E27FC236}">
                <a16:creationId xmlns:a16="http://schemas.microsoft.com/office/drawing/2014/main" id="{ABB4014B-9BA0-4E7C-AAC3-0D00D3931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8140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7E8687-3920-4104-8F11-87258F24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0" name="EVAL-02">
            <a:extLst xmlns:a="http://schemas.openxmlformats.org/drawingml/2006/main">
              <a:ext uri="{FF2B5EF4-FFF2-40B4-BE49-F238E27FC236}">
                <a16:creationId xmlns:a16="http://schemas.microsoft.com/office/drawing/2014/main" id="{840446CE-E341-4319-9FE9-549DF0C3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EVAL-02</a:t>
            </a:r>
          </a:p>
        </p:txBody>
      </p:sp>
      <p:sp>
        <p:nvSpPr>
          <p:cNvPr id="21" name="성능 변경">
            <a:extLst xmlns:a="http://schemas.openxmlformats.org/drawingml/2006/main">
              <a:ext uri="{FF2B5EF4-FFF2-40B4-BE49-F238E27FC236}">
                <a16:creationId xmlns:a16="http://schemas.microsoft.com/office/drawing/2014/main" id="{6CCA0C5E-BEF9-44B0-B5C8-81983E39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변경</a:t>
            </a:r>
          </a:p>
        </p:txBody>
      </p:sp>
      <p:sp>
        <p:nvSpPr>
          <p:cNvPr id="22" name="측정·검증 범위를 유지하는가?">
            <a:extLst xmlns:a="http://schemas.openxmlformats.org/drawingml/2006/main">
              <a:ext uri="{FF2B5EF4-FFF2-40B4-BE49-F238E27FC236}">
                <a16:creationId xmlns:a16="http://schemas.microsoft.com/office/drawing/2014/main" id="{065F22E0-FA9A-4C38-84FF-AF8156D7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4335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측정·검증 범위를 유지하는가?</a:t>
            </a:r>
          </a:p>
        </p:txBody>
      </p:sp>
      <p:sp>
        <p:nvSpPr>
          <p:cNvPr id="23" name="과거 관찰 참고">
            <a:extLst xmlns:a="http://schemas.openxmlformats.org/drawingml/2006/main">
              <a:ext uri="{FF2B5EF4-FFF2-40B4-BE49-F238E27FC236}">
                <a16:creationId xmlns:a16="http://schemas.microsoft.com/office/drawing/2014/main" id="{D0AC9E7E-D70C-4DC4-B938-8F02B1F07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2430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과거 관찰 참고</a:t>
            </a:r>
          </a:p>
        </p:txBody>
      </p:sp>
      <p:sp>
        <p:nvSpPr>
          <p:cNvPr id="24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0D316741-2C6F-4C52-A3F1-DFA9C57F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7195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D32FF1-54D4-4BFE-A85A-FDFC8715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6" name="EVAL-03">
            <a:extLst xmlns:a="http://schemas.openxmlformats.org/drawingml/2006/main">
              <a:ext uri="{FF2B5EF4-FFF2-40B4-BE49-F238E27FC236}">
                <a16:creationId xmlns:a16="http://schemas.microsoft.com/office/drawing/2014/main" id="{5DBE1F3D-0498-4C32-B2B5-E7A789B4B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EVAL-03</a:t>
            </a:r>
          </a:p>
        </p:txBody>
      </p:sp>
      <p:sp>
        <p:nvSpPr>
          <p:cNvPr id="27" name="문서만 수정">
            <a:extLst xmlns:a="http://schemas.openxmlformats.org/drawingml/2006/main">
              <a:ext uri="{FF2B5EF4-FFF2-40B4-BE49-F238E27FC236}">
                <a16:creationId xmlns:a16="http://schemas.microsoft.com/office/drawing/2014/main" id="{B18403DA-5598-4597-9325-0217AFD0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339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문서만 수정</a:t>
            </a:r>
          </a:p>
        </p:txBody>
      </p:sp>
      <p:sp>
        <p:nvSpPr>
          <p:cNvPr id="28" name="불필요한 절차를 강요하지 않는가?">
            <a:extLst xmlns:a="http://schemas.openxmlformats.org/drawingml/2006/main">
              <a:ext uri="{FF2B5EF4-FFF2-40B4-BE49-F238E27FC236}">
                <a16:creationId xmlns:a16="http://schemas.microsoft.com/office/drawing/2014/main" id="{F7CA160E-6B2A-4A7B-9404-A66EC3D5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53390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불필요한 절차를 강요하지 않는가?</a:t>
            </a:r>
          </a:p>
        </p:txBody>
      </p:sp>
      <p:sp>
        <p:nvSpPr>
          <p:cNvPr id="29" name="설계 사례">
            <a:extLst xmlns:a="http://schemas.openxmlformats.org/drawingml/2006/main">
              <a:ext uri="{FF2B5EF4-FFF2-40B4-BE49-F238E27FC236}">
                <a16:creationId xmlns:a16="http://schemas.microsoft.com/office/drawing/2014/main" id="{8756E433-73E4-492E-8FAB-0FE34E12D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1485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설계 사례</a:t>
            </a:r>
          </a:p>
        </p:txBody>
      </p:sp>
      <p:sp>
        <p:nvSpPr>
          <p:cNvPr id="30" name="새 평가 실행 없음">
            <a:extLst xmlns:a="http://schemas.openxmlformats.org/drawingml/2006/main">
              <a:ext uri="{FF2B5EF4-FFF2-40B4-BE49-F238E27FC236}">
                <a16:creationId xmlns:a16="http://schemas.microsoft.com/office/drawing/2014/main" id="{768A802B-65C6-421D-9002-84B8F5DA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6250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평가 실행 없음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80CF24-67E4-429B-B43D-53E21242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32" name="EVAL-04">
            <a:extLst xmlns:a="http://schemas.openxmlformats.org/drawingml/2006/main">
              <a:ext uri="{FF2B5EF4-FFF2-40B4-BE49-F238E27FC236}">
                <a16:creationId xmlns:a16="http://schemas.microsoft.com/office/drawing/2014/main" id="{CD2E200D-9473-4D00-A2CB-5BC57CFB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EVAL-04</a:t>
            </a:r>
          </a:p>
        </p:txBody>
      </p:sp>
      <p:sp>
        <p:nvSpPr>
          <p:cNvPr id="33" name="작은 리팩터링">
            <a:extLst xmlns:a="http://schemas.openxmlformats.org/drawingml/2006/main">
              <a:ext uri="{FF2B5EF4-FFF2-40B4-BE49-F238E27FC236}">
                <a16:creationId xmlns:a16="http://schemas.microsoft.com/office/drawing/2014/main" id="{41E7C379-B422-4784-A329-654583B9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244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리팩터링</a:t>
            </a:r>
          </a:p>
        </p:txBody>
      </p:sp>
      <p:sp>
        <p:nvSpPr>
          <p:cNvPr id="34" name="다른 유효한 작업을 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231F1B96-2DE8-4889-973D-24F9ABC5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12445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유효한 작업을 방해하지 않는가?</a:t>
            </a:r>
          </a:p>
        </p:txBody>
      </p:sp>
      <p:sp>
        <p:nvSpPr>
          <p:cNvPr id="35" name="설계 사례">
            <a:extLst xmlns:a="http://schemas.openxmlformats.org/drawingml/2006/main">
              <a:ext uri="{FF2B5EF4-FFF2-40B4-BE49-F238E27FC236}">
                <a16:creationId xmlns:a16="http://schemas.microsoft.com/office/drawing/2014/main" id="{2D7EBAC3-4716-4714-A490-FEF9C7C7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10540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설계 사례</a:t>
            </a:r>
          </a:p>
        </p:txBody>
      </p:sp>
      <p:sp>
        <p:nvSpPr>
          <p:cNvPr id="36" name="새 평가 실행 없음">
            <a:extLst xmlns:a="http://schemas.openxmlformats.org/drawingml/2006/main">
              <a:ext uri="{FF2B5EF4-FFF2-40B4-BE49-F238E27FC236}">
                <a16:creationId xmlns:a16="http://schemas.microsoft.com/office/drawing/2014/main" id="{2BA6CF7D-B34B-44EE-A7EB-34CD036C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35305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평가 실행 없음</a:t>
            </a:r>
          </a:p>
        </p:txBody>
      </p:sp>
      <p:sp>
        <p:nvSpPr>
          <p:cNvPr id="3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9716AB6-A747-4EB6-9AC0-1C40E04F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9129365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CONCEPTUAL / 규칙 유지보수">
            <a:extLst xmlns:a="http://schemas.openxmlformats.org/drawingml/2006/main">
              <a:ext uri="{FF2B5EF4-FFF2-40B4-BE49-F238E27FC236}">
                <a16:creationId xmlns:a16="http://schemas.microsoft.com/office/drawing/2014/main" id="{552B1923-451D-45D6-BB4A-9B52F98D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규칙 유지보수</a:t>
            </a:r>
          </a:p>
        </p:txBody>
      </p:sp>
      <p:sp>
        <p:nvSpPr>
          <p:cNvPr id="2" name="S66">
            <a:extLst xmlns:a="http://schemas.openxmlformats.org/drawingml/2006/main">
              <a:ext uri="{FF2B5EF4-FFF2-40B4-BE49-F238E27FC236}">
                <a16:creationId xmlns:a16="http://schemas.microsoft.com/office/drawing/2014/main" id="{A10F31ED-B4A6-480F-A220-41B1CD04C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S66</a:t>
            </a:r>
          </a:p>
        </p:txBody>
      </p:sp>
      <p:sp>
        <p:nvSpPr>
          <p:cNvPr id="3" name="Harness도 특정 실패에 맞춰&#10;과적합될 수 있다">
            <a:extLst xmlns:a="http://schemas.openxmlformats.org/drawingml/2006/main">
              <a:ext uri="{FF2B5EF4-FFF2-40B4-BE49-F238E27FC236}">
                <a16:creationId xmlns:a16="http://schemas.microsoft.com/office/drawing/2014/main" id="{36DC16E6-9FC9-46AE-A517-78D255362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Harness도 특정 실패에 맞춰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과적합될 수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5A3B5F-0665-43C5-9E5A-FAE1C887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과적합은 이 교육의 비유">
            <a:extLst xmlns:a="http://schemas.openxmlformats.org/drawingml/2006/main">
              <a:ext uri="{FF2B5EF4-FFF2-40B4-BE49-F238E27FC236}">
                <a16:creationId xmlns:a16="http://schemas.microsoft.com/office/drawing/2014/main" id="{6194CDAE-3093-4BC4-B677-082101F0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과적합은 이 교육의 비유</a:t>
            </a:r>
          </a:p>
        </p:txBody>
      </p:sp>
      <p:sp>
        <p:nvSpPr>
          <p:cNvPr id="6" name="Machine Learning의 통계적 과적합과 같은 현상이라는 주장이 아니다.">
            <a:extLst xmlns:a="http://schemas.openxmlformats.org/drawingml/2006/main">
              <a:ext uri="{FF2B5EF4-FFF2-40B4-BE49-F238E27FC236}">
                <a16:creationId xmlns:a16="http://schemas.microsoft.com/office/drawing/2014/main" id="{D053BF6C-2D7C-4014-ABC4-058870DD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Machine Learning의 통계적 과적합과 같은 현상이라는 주장이 아니다.</a:t>
            </a:r>
          </a:p>
        </p:txBody>
      </p:sp>
      <p:sp>
        <p:nvSpPr>
          <p:cNvPr id="7" name="실패할 때마다 규칙을 하나씩 더하면">
            <a:extLst xmlns:a="http://schemas.openxmlformats.org/drawingml/2006/main">
              <a:ext uri="{FF2B5EF4-FFF2-40B4-BE49-F238E27FC236}">
                <a16:creationId xmlns:a16="http://schemas.microsoft.com/office/drawing/2014/main" id="{37761E03-F3F7-4E3F-AA9A-4F805EC1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실패할 때마다 규칙을 하나씩 더하면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3B8ECA-77A1-4911-A524-0B04E420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규칙 누적">
            <a:extLst xmlns:a="http://schemas.openxmlformats.org/drawingml/2006/main">
              <a:ext uri="{FF2B5EF4-FFF2-40B4-BE49-F238E27FC236}">
                <a16:creationId xmlns:a16="http://schemas.microsoft.com/office/drawing/2014/main" id="{4EF170AD-C78E-475C-8607-9B57AF4E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누적</a:t>
            </a:r>
          </a:p>
        </p:txBody>
      </p:sp>
      <p:sp>
        <p:nvSpPr>
          <p:cNvPr id="10" name="읽고 유지할 내용이 커짐">
            <a:extLst xmlns:a="http://schemas.openxmlformats.org/drawingml/2006/main">
              <a:ext uri="{FF2B5EF4-FFF2-40B4-BE49-F238E27FC236}">
                <a16:creationId xmlns:a16="http://schemas.microsoft.com/office/drawing/2014/main" id="{E1A5F753-BEC1-430A-A1CD-C4A28033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읽고 유지할 내용이 커짐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ED7CA7-D474-43B0-A6DE-1FB2FC2E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규칙 충돌">
            <a:extLst xmlns:a="http://schemas.openxmlformats.org/drawingml/2006/main">
              <a:ext uri="{FF2B5EF4-FFF2-40B4-BE49-F238E27FC236}">
                <a16:creationId xmlns:a16="http://schemas.microsoft.com/office/drawing/2014/main" id="{9557251D-49A5-4383-A0F1-4A4E0C8D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충돌</a:t>
            </a:r>
          </a:p>
        </p:txBody>
      </p:sp>
      <p:sp>
        <p:nvSpPr>
          <p:cNvPr id="13" name="서로 다른 지시가 섞임">
            <a:extLst xmlns:a="http://schemas.openxmlformats.org/drawingml/2006/main">
              <a:ext uri="{FF2B5EF4-FFF2-40B4-BE49-F238E27FC236}">
                <a16:creationId xmlns:a16="http://schemas.microsoft.com/office/drawing/2014/main" id="{4232D963-DB59-4C3C-AEF3-26BCED12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지시가 섞임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D93112-3334-4502-9FFD-5BE6EE70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5" name="특정 작업에만 맞춤">
            <a:extLst xmlns:a="http://schemas.openxmlformats.org/drawingml/2006/main">
              <a:ext uri="{FF2B5EF4-FFF2-40B4-BE49-F238E27FC236}">
                <a16:creationId xmlns:a16="http://schemas.microsoft.com/office/drawing/2014/main" id="{ED35B8B6-F087-475D-9BFD-22CDC5F5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특정 작업에만 맞춤</a:t>
            </a:r>
          </a:p>
        </p:txBody>
      </p:sp>
      <p:sp>
        <p:nvSpPr>
          <p:cNvPr id="16" name="다른 작업에서 적합성 미확인">
            <a:extLst xmlns:a="http://schemas.openxmlformats.org/drawingml/2006/main">
              <a:ext uri="{FF2B5EF4-FFF2-40B4-BE49-F238E27FC236}">
                <a16:creationId xmlns:a16="http://schemas.microsoft.com/office/drawing/2014/main" id="{53817212-94A5-48BA-9495-0A2EF728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작업에서 적합성 미확인</a:t>
            </a:r>
          </a:p>
        </p:txBody>
      </p:sp>
      <p:sp>
        <p:nvSpPr>
          <p:cNvPr id="17" name="원인을 확인하고, 대표 작업으로 평가하고, 불필요한 규칙을 정리한다.">
            <a:extLst xmlns:a="http://schemas.openxmlformats.org/drawingml/2006/main">
              <a:ext uri="{FF2B5EF4-FFF2-40B4-BE49-F238E27FC236}">
                <a16:creationId xmlns:a16="http://schemas.microsoft.com/office/drawing/2014/main" id="{2704704E-E665-4FEA-A73B-56247F86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원인을 확인하고, 대표 작업으로 평가하고, 불필요한 규칙을 정리한다.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3B89F7D-CC75-41BA-A9A9-247B2953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27461131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ACT 4 · 이 교육의 Loop 모델">
            <a:extLst xmlns:a="http://schemas.openxmlformats.org/drawingml/2006/main">
              <a:ext uri="{FF2B5EF4-FFF2-40B4-BE49-F238E27FC236}">
                <a16:creationId xmlns:a16="http://schemas.microsoft.com/office/drawing/2014/main" id="{8079B082-6290-49E5-A2A0-57752612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이 교육의 Loop 모델</a:t>
            </a:r>
          </a:p>
        </p:txBody>
      </p:sp>
      <p:sp>
        <p:nvSpPr>
          <p:cNvPr id="2" name="S67">
            <a:extLst xmlns:a="http://schemas.openxmlformats.org/drawingml/2006/main">
              <a:ext uri="{FF2B5EF4-FFF2-40B4-BE49-F238E27FC236}">
                <a16:creationId xmlns:a16="http://schemas.microsoft.com/office/drawing/2014/main" id="{1CFF0273-2A2B-4842-BE48-1F72DBA07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S67</a:t>
            </a:r>
          </a:p>
        </p:txBody>
      </p:sp>
      <p:sp>
        <p:nvSpPr>
          <p:cNvPr id="3" name="Feedback을 System Change와&#10;Evaluation으로 잇기">
            <a:extLst xmlns:a="http://schemas.openxmlformats.org/drawingml/2006/main">
              <a:ext uri="{FF2B5EF4-FFF2-40B4-BE49-F238E27FC236}">
                <a16:creationId xmlns:a16="http://schemas.microsoft.com/office/drawing/2014/main" id="{D48AA730-3747-4D32-A223-5C9B8B5E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Feedback을 System Change와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Evaluation으로 잇기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FB6332-ED43-483E-9344-A7E317A6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교육용 운영 모델">
            <a:extLst xmlns:a="http://schemas.openxmlformats.org/drawingml/2006/main">
              <a:ext uri="{FF2B5EF4-FFF2-40B4-BE49-F238E27FC236}">
                <a16:creationId xmlns:a16="http://schemas.microsoft.com/office/drawing/2014/main" id="{EED5BC3D-4528-457F-8B19-58DF9E3F2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교육용 운영 모델</a:t>
            </a:r>
          </a:p>
        </p:txBody>
      </p:sp>
      <p:sp>
        <p:nvSpPr>
          <p:cNvPr id="6" name="모델의 자동 학습이나 실제 Product Loop를 관찰했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D928A912-46A2-494A-8A29-A22461B6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모델의 자동 학습이나 실제 Product Loop를 관찰했다는 뜻은 아니다.</a:t>
            </a:r>
          </a:p>
        </p:txBody>
      </p:sp>
      <p:sp>
        <p:nvSpPr>
          <p:cNvPr id="7" name="앞선 가상 사례의 판단을 다섯 단계로 묶으면">
            <a:extLst xmlns:a="http://schemas.openxmlformats.org/drawingml/2006/main">
              <a:ext uri="{FF2B5EF4-FFF2-40B4-BE49-F238E27FC236}">
                <a16:creationId xmlns:a16="http://schemas.microsoft.com/office/drawing/2014/main" id="{2E02AEAE-DCB7-43DD-8A09-60FE6855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앞선 가상 사례의 판단을 다섯 단계로 묶으면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CA69A760-0EFC-4996-B56D-46B1AB6B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BC072E-621D-4573-96EF-92270055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실행">
            <a:extLst xmlns:a="http://schemas.openxmlformats.org/drawingml/2006/main">
              <a:ext uri="{FF2B5EF4-FFF2-40B4-BE49-F238E27FC236}">
                <a16:creationId xmlns:a16="http://schemas.microsoft.com/office/drawing/2014/main" id="{B62483A0-B1ED-4DEB-A1EA-E4426EAA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11" name="무엇을 했나?">
            <a:extLst xmlns:a="http://schemas.openxmlformats.org/drawingml/2006/main">
              <a:ext uri="{FF2B5EF4-FFF2-40B4-BE49-F238E27FC236}">
                <a16:creationId xmlns:a16="http://schemas.microsoft.com/office/drawing/2014/main" id="{B42A7D22-AFCF-4B0D-8F79-D66C8EB4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했나?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6E3895-C472-4956-97B6-C5B2443C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가상 Task&#10;현재 기준은&#10;단위 + 통합">
            <a:extLst xmlns:a="http://schemas.openxmlformats.org/drawingml/2006/main">
              <a:ext uri="{FF2B5EF4-FFF2-40B4-BE49-F238E27FC236}">
                <a16:creationId xmlns:a16="http://schemas.microsoft.com/office/drawing/2014/main" id="{1516ACB7-A077-46EC-81AE-AC33DD75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가상 Task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기준은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ADB934-37F9-4E22-B211-0BCF81E9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02">
            <a:extLst xmlns:a="http://schemas.openxmlformats.org/drawingml/2006/main">
              <a:ext uri="{FF2B5EF4-FFF2-40B4-BE49-F238E27FC236}">
                <a16:creationId xmlns:a16="http://schemas.microsoft.com/office/drawing/2014/main" id="{EBA303C0-02CB-4230-8138-CDF84987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425F60-45BE-4802-8FE8-422FD69A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관찰">
            <a:extLst xmlns:a="http://schemas.openxmlformats.org/drawingml/2006/main">
              <a:ext uri="{FF2B5EF4-FFF2-40B4-BE49-F238E27FC236}">
                <a16:creationId xmlns:a16="http://schemas.microsoft.com/office/drawing/2014/main" id="{00553FE6-26A4-451B-96E5-FEC87EEB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18" name="무엇이 보였나?">
            <a:extLst xmlns:a="http://schemas.openxmlformats.org/drawingml/2006/main">
              <a:ext uri="{FF2B5EF4-FFF2-40B4-BE49-F238E27FC236}">
                <a16:creationId xmlns:a16="http://schemas.microsoft.com/office/drawing/2014/main" id="{5FE15263-ABD6-4A96-B5C3-6235E9F5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보였나?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C39365-CE80-4CBB-8017-A3CC352E5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지침은 단위만&#10;검증 범위가 다름">
            <a:extLst xmlns:a="http://schemas.openxmlformats.org/drawingml/2006/main">
              <a:ext uri="{FF2B5EF4-FFF2-40B4-BE49-F238E27FC236}">
                <a16:creationId xmlns:a16="http://schemas.microsoft.com/office/drawing/2014/main" id="{2785385B-2F5B-4DB6-ACD1-CA5610CC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지침은 단위만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 범위가 다름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8FCA35-DC4C-4760-AC8D-8B1F0965B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03">
            <a:extLst xmlns:a="http://schemas.openxmlformats.org/drawingml/2006/main">
              <a:ext uri="{FF2B5EF4-FFF2-40B4-BE49-F238E27FC236}">
                <a16:creationId xmlns:a16="http://schemas.microsoft.com/office/drawing/2014/main" id="{BD215139-1BE4-4DA1-824D-4F9A2837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197EF3-A8D0-4B09-ACD8-F87BBF0A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4" name="원인 판단">
            <a:extLst xmlns:a="http://schemas.openxmlformats.org/drawingml/2006/main">
              <a:ext uri="{FF2B5EF4-FFF2-40B4-BE49-F238E27FC236}">
                <a16:creationId xmlns:a16="http://schemas.microsoft.com/office/drawing/2014/main" id="{12A66F67-2EE9-4FE7-9265-94C9F008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 판단</a:t>
            </a:r>
          </a:p>
        </p:txBody>
      </p:sp>
      <p:sp>
        <p:nvSpPr>
          <p:cNvPr id="25" name="왜 생겼나?">
            <a:extLst xmlns:a="http://schemas.openxmlformats.org/drawingml/2006/main">
              <a:ext uri="{FF2B5EF4-FFF2-40B4-BE49-F238E27FC236}">
                <a16:creationId xmlns:a16="http://schemas.microsoft.com/office/drawing/2014/main" id="{EB4515AC-EFE4-4930-8AFD-986E3E8B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왜 생겼나?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CFA9E6-A790-4229-8192-8AA10270D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오래된 지침이&#10;원인인지 확인">
            <a:extLst xmlns:a="http://schemas.openxmlformats.org/drawingml/2006/main">
              <a:ext uri="{FF2B5EF4-FFF2-40B4-BE49-F238E27FC236}">
                <a16:creationId xmlns:a16="http://schemas.microsoft.com/office/drawing/2014/main" id="{AB5D1F2C-DB09-494D-B960-FABB84EF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지침이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원인인지 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F317F4-ADD4-44E5-B5C3-8451E6904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9" name="04">
            <a:extLst xmlns:a="http://schemas.openxmlformats.org/drawingml/2006/main">
              <a:ext uri="{FF2B5EF4-FFF2-40B4-BE49-F238E27FC236}">
                <a16:creationId xmlns:a16="http://schemas.microsoft.com/office/drawing/2014/main" id="{71F24F17-7EF5-4247-9ACB-D1B02DF1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CE4F73-3E2D-4200-BF25-062FE90F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1" name="시스템 변경">
            <a:extLst xmlns:a="http://schemas.openxmlformats.org/drawingml/2006/main">
              <a:ext uri="{FF2B5EF4-FFF2-40B4-BE49-F238E27FC236}">
                <a16:creationId xmlns:a16="http://schemas.microsoft.com/office/drawing/2014/main" id="{430CF4B8-08CD-429C-9745-3732C24D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 변경</a:t>
            </a:r>
          </a:p>
        </p:txBody>
      </p:sp>
      <p:sp>
        <p:nvSpPr>
          <p:cNvPr id="32" name="어디를 바꾸나?">
            <a:extLst xmlns:a="http://schemas.openxmlformats.org/drawingml/2006/main">
              <a:ext uri="{FF2B5EF4-FFF2-40B4-BE49-F238E27FC236}">
                <a16:creationId xmlns:a16="http://schemas.microsoft.com/office/drawing/2014/main" id="{16FAB079-D607-4A63-9F94-A30E4E86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어디를 바꾸나?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1A8F4A-10F1-40F4-98A1-28DE7803A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확인됐다면&#10;Workflow 갱신">
            <a:extLst xmlns:a="http://schemas.openxmlformats.org/drawingml/2006/main">
              <a:ext uri="{FF2B5EF4-FFF2-40B4-BE49-F238E27FC236}">
                <a16:creationId xmlns:a16="http://schemas.microsoft.com/office/drawing/2014/main" id="{9162082B-E94D-4692-97B6-C17746D6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확인됐다면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Workflow 갱신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740E78-93E4-4374-99B0-A7113564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6" name="05">
            <a:extLst xmlns:a="http://schemas.openxmlformats.org/drawingml/2006/main">
              <a:ext uri="{FF2B5EF4-FFF2-40B4-BE49-F238E27FC236}">
                <a16:creationId xmlns:a16="http://schemas.microsoft.com/office/drawing/2014/main" id="{33D9B33D-9098-417F-BB6C-7F30A800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C55B659-13CD-4BEC-A4C5-13C57C36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8" name="재평가">
            <a:extLst xmlns:a="http://schemas.openxmlformats.org/drawingml/2006/main">
              <a:ext uri="{FF2B5EF4-FFF2-40B4-BE49-F238E27FC236}">
                <a16:creationId xmlns:a16="http://schemas.microsoft.com/office/drawing/2014/main" id="{9F42CE6B-B883-4F57-B7E4-310D67A6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재평가</a:t>
            </a:r>
          </a:p>
        </p:txBody>
      </p:sp>
      <p:sp>
        <p:nvSpPr>
          <p:cNvPr id="39" name="다른 작업도 괜찮나?">
            <a:extLst xmlns:a="http://schemas.openxmlformats.org/drawingml/2006/main">
              <a:ext uri="{FF2B5EF4-FFF2-40B4-BE49-F238E27FC236}">
                <a16:creationId xmlns:a16="http://schemas.microsoft.com/office/drawing/2014/main" id="{4D807B17-DFA6-488F-8A6A-D77AA7A4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다른 작업도 괜찮나?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BECEAE4-02A8-480E-84D7-A1B73504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재실행 +&#10;다른 대표 작업">
            <a:extLst xmlns:a="http://schemas.openxmlformats.org/drawingml/2006/main">
              <a:ext uri="{FF2B5EF4-FFF2-40B4-BE49-F238E27FC236}">
                <a16:creationId xmlns:a16="http://schemas.microsoft.com/office/drawing/2014/main" id="{539B9BBF-D712-41FF-91C6-101D3B7EC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재실행 +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대표 작업</a:t>
            </a:r>
          </a:p>
        </p:txBody>
      </p:sp>
      <p:sp>
        <p:nvSpPr>
          <p:cNvPr id="42" name="다음 작업에도 영향을 주는 변경으로 연결한다.">
            <a:extLst xmlns:a="http://schemas.openxmlformats.org/drawingml/2006/main">
              <a:ext uri="{FF2B5EF4-FFF2-40B4-BE49-F238E27FC236}">
                <a16:creationId xmlns:a16="http://schemas.microsoft.com/office/drawing/2014/main" id="{3CC4B6C5-7027-42B8-915A-88FEDEB6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 영향을 주는 변경으로 연결한다.</a:t>
            </a:r>
          </a:p>
        </p:txBody>
      </p:sp>
      <p:sp>
        <p:nvSpPr>
          <p:cNvPr id="4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D85E719-CDD2-4B0D-A9DB-218F1719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4984183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OBSERVED META / Trial 평가·보고 기준">
            <a:extLst xmlns:a="http://schemas.openxmlformats.org/drawingml/2006/main">
              <a:ext uri="{FF2B5EF4-FFF2-40B4-BE49-F238E27FC236}">
                <a16:creationId xmlns:a16="http://schemas.microsoft.com/office/drawing/2014/main" id="{9E737F62-B5DE-494E-9468-ED01C0B3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Trial 평가·보고 기준</a:t>
            </a:r>
          </a:p>
        </p:txBody>
      </p:sp>
      <p:sp>
        <p:nvSpPr>
          <p:cNvPr id="2" name="S68">
            <a:extLst xmlns:a="http://schemas.openxmlformats.org/drawingml/2006/main">
              <a:ext uri="{FF2B5EF4-FFF2-40B4-BE49-F238E27FC236}">
                <a16:creationId xmlns:a16="http://schemas.microsoft.com/office/drawing/2014/main" id="{DBF7A3A6-2E88-400F-AD58-6A368298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S68</a:t>
            </a:r>
          </a:p>
        </p:txBody>
      </p:sp>
      <p:sp>
        <p:nvSpPr>
          <p:cNvPr id="3" name="실제 제작 기록: TRIAL-006">
            <a:extLst xmlns:a="http://schemas.openxmlformats.org/drawingml/2006/main">
              <a:ext uri="{FF2B5EF4-FFF2-40B4-BE49-F238E27FC236}">
                <a16:creationId xmlns:a16="http://schemas.microsoft.com/office/drawing/2014/main" id="{C9BACE8E-939E-4128-9E55-1246865A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제작 기록: TRIAL-006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F285E0-206A-45D6-A2BF-C23E762C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0D11E2-ED23-4A0B-9BCE-E1B3E58E7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과거 Codex CLI 조사 기록의 재구성">
            <a:extLst xmlns:a="http://schemas.openxmlformats.org/drawingml/2006/main">
              <a:ext uri="{FF2B5EF4-FFF2-40B4-BE49-F238E27FC236}">
                <a16:creationId xmlns:a16="http://schemas.microsoft.com/office/drawing/2014/main" id="{C123528B-228B-49B1-BAE9-BA6FD9D5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과거 Codex CLI 조사 기록의 재구성</a:t>
            </a:r>
          </a:p>
        </p:txBody>
      </p:sp>
      <p:sp>
        <p:nvSpPr>
          <p:cNvPr id="7" name="앞의 가상 Workflow와 별개 사건이다. 제품 코드·Demo Skill의 수정 사례가 아니다.">
            <a:extLst xmlns:a="http://schemas.openxmlformats.org/drawingml/2006/main">
              <a:ext uri="{FF2B5EF4-FFF2-40B4-BE49-F238E27FC236}">
                <a16:creationId xmlns:a16="http://schemas.microsoft.com/office/drawing/2014/main" id="{A1BEC0A3-7E2B-49B4-8D09-AF3DCF52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가상 Workflow와 별개 사건이다. 제품 코드·Demo Skill의 수정 사례가 아니다.</a:t>
            </a:r>
          </a:p>
        </p:txBody>
      </p:sp>
      <p:sp>
        <p:nvSpPr>
          <p:cNvPr id="8" name="성능 조사에 Prompt 밖의 환경도 함께 관여했다.">
            <a:extLst xmlns:a="http://schemas.openxmlformats.org/drawingml/2006/main">
              <a:ext uri="{FF2B5EF4-FFF2-40B4-BE49-F238E27FC236}">
                <a16:creationId xmlns:a16="http://schemas.microsoft.com/office/drawing/2014/main" id="{62ED2E89-E948-456E-AB2E-8A0F493E3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조사에 Prompt 밖의 환경도 함께 관여했다.</a:t>
            </a:r>
          </a:p>
        </p:txBody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06DE77D5-96E6-4C30-BD10-709C7D997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작업 요청">
            <a:extLst xmlns:a="http://schemas.openxmlformats.org/drawingml/2006/main">
              <a:ext uri="{FF2B5EF4-FFF2-40B4-BE49-F238E27FC236}">
                <a16:creationId xmlns:a16="http://schemas.microsoft.com/office/drawing/2014/main" id="{1386002B-E242-4E6A-9DE6-807E7EBC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요청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5FD529-55BE-4115-A6AD-56DE9B37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성능 개선 작업">
            <a:extLst xmlns:a="http://schemas.openxmlformats.org/drawingml/2006/main">
              <a:ext uri="{FF2B5EF4-FFF2-40B4-BE49-F238E27FC236}">
                <a16:creationId xmlns:a16="http://schemas.microsoft.com/office/drawing/2014/main" id="{0F12AA2D-2250-436E-830B-582AA92D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개선 작업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0F4C91-ACFD-478B-96E8-A5D3DFCB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486150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02">
            <a:extLst xmlns:a="http://schemas.openxmlformats.org/drawingml/2006/main">
              <a:ext uri="{FF2B5EF4-FFF2-40B4-BE49-F238E27FC236}">
                <a16:creationId xmlns:a16="http://schemas.microsoft.com/office/drawing/2014/main" id="{70551A16-7F6E-415F-A1AA-E1C4095E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5" name="함께 관찰된 조건">
            <a:extLst xmlns:a="http://schemas.openxmlformats.org/drawingml/2006/main">
              <a:ext uri="{FF2B5EF4-FFF2-40B4-BE49-F238E27FC236}">
                <a16:creationId xmlns:a16="http://schemas.microsoft.com/office/drawing/2014/main" id="{5AB153D3-77EC-4F83-93BD-36C10672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함께 관찰된 조건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4CFFF1-6C2E-4072-B0F9-D08F639D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Global Skill 관여&#10;시작 경고도 기록">
            <a:extLst xmlns:a="http://schemas.openxmlformats.org/drawingml/2006/main">
              <a:ext uri="{FF2B5EF4-FFF2-40B4-BE49-F238E27FC236}">
                <a16:creationId xmlns:a16="http://schemas.microsoft.com/office/drawing/2014/main" id="{30287322-374B-482D-9116-3A82C280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 관여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경고도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9AE54D-DCB1-4674-80B8-0B5231CE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86150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98164B0E-A445-4493-8A39-3F66AB3D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결과 해석의 질문">
            <a:extLst xmlns:a="http://schemas.openxmlformats.org/drawingml/2006/main">
              <a:ext uri="{FF2B5EF4-FFF2-40B4-BE49-F238E27FC236}">
                <a16:creationId xmlns:a16="http://schemas.microsoft.com/office/drawing/2014/main" id="{A4306D93-8AFA-43F1-8B5D-C7354F327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 해석의 질문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39F5E3-5BCC-463C-B61B-DAE5FCB95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2" name="Prompt만의 효과?&#10;귀속은 PARTIAL">
            <a:extLst xmlns:a="http://schemas.openxmlformats.org/drawingml/2006/main">
              <a:ext uri="{FF2B5EF4-FFF2-40B4-BE49-F238E27FC236}">
                <a16:creationId xmlns:a16="http://schemas.microsoft.com/office/drawing/2014/main" id="{B85162B7-4A09-4C35-A443-EA7D99FE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Prompt만의 효과?</a:t>
            </a:r>
          </a:p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귀속은 PARTIAL</a:t>
            </a:r>
          </a:p>
        </p:txBody>
      </p:sp>
      <p:sp>
        <p:nvSpPr>
          <p:cNvPr id="23" name="좋은 결과가 있다는 것과 원인을 안다는 것은 별개다.">
            <a:extLst xmlns:a="http://schemas.openxmlformats.org/drawingml/2006/main">
              <a:ext uri="{FF2B5EF4-FFF2-40B4-BE49-F238E27FC236}">
                <a16:creationId xmlns:a16="http://schemas.microsoft.com/office/drawing/2014/main" id="{F2DBE054-83DA-4962-B34C-9A802D3B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좋은 결과가 있다는 것과 원인을 안다는 것은 별개다.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B7511F8-8C6E-4121-9180-3B800630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3665701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OBSERVED META / 두 가지 검증 질문">
            <a:extLst xmlns:a="http://schemas.openxmlformats.org/drawingml/2006/main">
              <a:ext uri="{FF2B5EF4-FFF2-40B4-BE49-F238E27FC236}">
                <a16:creationId xmlns:a16="http://schemas.microsoft.com/office/drawing/2014/main" id="{465F67B1-A757-4668-9B7D-3EFDDB36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두 가지 검증 질문</a:t>
            </a:r>
          </a:p>
        </p:txBody>
      </p:sp>
      <p:sp>
        <p:nvSpPr>
          <p:cNvPr id="2" name="S69">
            <a:extLst xmlns:a="http://schemas.openxmlformats.org/drawingml/2006/main">
              <a:ext uri="{FF2B5EF4-FFF2-40B4-BE49-F238E27FC236}">
                <a16:creationId xmlns:a16="http://schemas.microsoft.com/office/drawing/2014/main" id="{3C78CCF8-79D1-4E63-8808-5FA15DE3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S69</a:t>
            </a:r>
          </a:p>
        </p:txBody>
      </p:sp>
      <p:sp>
        <p:nvSpPr>
          <p:cNvPr id="3" name="결과의 타당성과 원인 귀속은 별개다">
            <a:extLst xmlns:a="http://schemas.openxmlformats.org/drawingml/2006/main">
              <a:ext uri="{FF2B5EF4-FFF2-40B4-BE49-F238E27FC236}">
                <a16:creationId xmlns:a16="http://schemas.microsoft.com/office/drawing/2014/main" id="{4329986F-F570-4E7F-8E09-120F1F04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결과의 타당성과 원인 귀속은 별개다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8314CD-FBC0-4661-A168-BE8C644C8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B3F8DC-C44E-43D6-8BFD-0FD3522D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resize_nearest · 7 one-call samples · 기록 재구성">
            <a:extLst xmlns:a="http://schemas.openxmlformats.org/drawingml/2006/main">
              <a:ext uri="{FF2B5EF4-FFF2-40B4-BE49-F238E27FC236}">
                <a16:creationId xmlns:a16="http://schemas.microsoft.com/office/drawing/2014/main" id="{B3E71DC4-FAA0-4F0B-A5DD-5E5A44A8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resize_nearest · 7 one-call samples · 기록 재구성</a:t>
            </a:r>
          </a:p>
        </p:txBody>
      </p:sp>
      <p:sp>
        <p:nvSpPr>
          <p:cNvPr id="7" name="기록된 합성 입력·CPython 3.9.6·macOS arm64의 결과. 현재 Desktop 또는 일반 효과">
            <a:extLst xmlns:a="http://schemas.openxmlformats.org/drawingml/2006/main">
              <a:ext uri="{FF2B5EF4-FFF2-40B4-BE49-F238E27FC236}">
                <a16:creationId xmlns:a16="http://schemas.microsoft.com/office/drawing/2014/main" id="{92C34841-9DD8-41DE-99AE-929B9687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합성 입력·CPython 3.9.6·macOS arm64의 결과. 현재 Desktop 또는 일반 효과가 아니다.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F9ABF17C-0BFA-4A53-B159-BB38A4A6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측정 결과는 유효한가?">
            <a:extLst xmlns:a="http://schemas.openxmlformats.org/drawingml/2006/main">
              <a:ext uri="{FF2B5EF4-FFF2-40B4-BE49-F238E27FC236}">
                <a16:creationId xmlns:a16="http://schemas.microsoft.com/office/drawing/2014/main" id="{A0932216-C2E7-41E0-8446-DB5EE11F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결과는 유효한가?</a:t>
            </a:r>
          </a:p>
        </p:txBody>
      </p: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4E2E2435-6588-40B1-89AB-4EC8D38F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47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1" name="무엇이 결과를 만들었나?">
            <a:extLst xmlns:a="http://schemas.openxmlformats.org/drawingml/2006/main">
              <a:ext uri="{FF2B5EF4-FFF2-40B4-BE49-F238E27FC236}">
                <a16:creationId xmlns:a16="http://schemas.microsoft.com/office/drawing/2014/main" id="{1BEBD561-D9E8-49D8-A811-04345B2B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050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무엇이 결과를 만들었나?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69DD47-31BC-4DC1-A4F1-967FC0C0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D92DFD-C674-4E34-9ABA-5E11082B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099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4" name="입력·출력 hash 일치&#10;같은 조건의 측정 기록">
            <a:extLst xmlns:a="http://schemas.openxmlformats.org/drawingml/2006/main">
              <a:ext uri="{FF2B5EF4-FFF2-40B4-BE49-F238E27FC236}">
                <a16:creationId xmlns:a16="http://schemas.microsoft.com/office/drawing/2014/main" id="{0C53AF0F-70EA-46F9-9A6D-ED178C37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4876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hash 일치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조건의 측정 기록</a:t>
            </a:r>
          </a:p>
        </p:txBody>
      </p:sp>
      <p:sp>
        <p:nvSpPr>
          <p:cNvPr id="15" name="Global Skill이 평가 절차에 관여&#10;Prompt만의 효과는 분리 못함">
            <a:extLst xmlns:a="http://schemas.openxmlformats.org/drawingml/2006/main">
              <a:ext uri="{FF2B5EF4-FFF2-40B4-BE49-F238E27FC236}">
                <a16:creationId xmlns:a16="http://schemas.microsoft.com/office/drawing/2014/main" id="{07B2BD18-E99B-44F4-8E61-A267B203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57575"/>
            <a:ext cx="4876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Skill이 평가 절차에 관여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Prompt만의 효과는 분리 못함</a:t>
            </a:r>
          </a:p>
        </p:txBody>
      </p:sp>
      <p:sp>
        <p:nvSpPr>
          <p:cNvPr id="16" name="144.2 → 33.5 ms/call median">
            <a:extLst xmlns:a="http://schemas.openxmlformats.org/drawingml/2006/main">
              <a:ext uri="{FF2B5EF4-FFF2-40B4-BE49-F238E27FC236}">
                <a16:creationId xmlns:a16="http://schemas.microsoft.com/office/drawing/2014/main" id="{D367806B-E9AA-4209-A578-4A2ECFE6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144.2 → 33.5 ms/call median</a:t>
            </a:r>
          </a:p>
        </p:txBody>
      </p:sp>
      <p:sp>
        <p:nvSpPr>
          <p:cNvPr id="17" name="인과 해석: PARTIAL">
            <a:extLst xmlns:a="http://schemas.openxmlformats.org/drawingml/2006/main">
              <a:ext uri="{FF2B5EF4-FFF2-40B4-BE49-F238E27FC236}">
                <a16:creationId xmlns:a16="http://schemas.microsoft.com/office/drawing/2014/main" id="{56799208-C438-4CBF-B65A-EC917EFE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243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인과 해석: PARTIAL</a:t>
            </a:r>
          </a:p>
        </p:txBody>
      </p:sp>
      <p:sp>
        <p:nvSpPr>
          <p:cNvPr id="18" name="결과에 대한 확인과, 원인에 대한 확신을 따로 기록한다.">
            <a:extLst xmlns:a="http://schemas.openxmlformats.org/drawingml/2006/main">
              <a:ext uri="{FF2B5EF4-FFF2-40B4-BE49-F238E27FC236}">
                <a16:creationId xmlns:a16="http://schemas.microsoft.com/office/drawing/2014/main" id="{77DDE936-61F0-4761-9973-3B1E55D3C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결과에 대한 확인과, 원인에 대한 확신을 따로 기록한다.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E58AD72-427A-4801-A1A5-9E1917A7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95617074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OBSERVED META / 실제 기록 방식 변경">
            <a:extLst xmlns:a="http://schemas.openxmlformats.org/drawingml/2006/main">
              <a:ext uri="{FF2B5EF4-FFF2-40B4-BE49-F238E27FC236}">
                <a16:creationId xmlns:a16="http://schemas.microsoft.com/office/drawing/2014/main" id="{FBF4AC00-61FA-4717-B4C0-E0600AD5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실제 기록 방식 변경</a:t>
            </a:r>
          </a:p>
        </p:txBody>
      </p:sp>
      <p:sp>
        <p:nvSpPr>
          <p:cNvPr id="2" name="S70">
            <a:extLst xmlns:a="http://schemas.openxmlformats.org/drawingml/2006/main">
              <a:ext uri="{FF2B5EF4-FFF2-40B4-BE49-F238E27FC236}">
                <a16:creationId xmlns:a16="http://schemas.microsoft.com/office/drawing/2014/main" id="{824F2AD1-FF44-4BFC-B58D-52E44D24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S70</a:t>
            </a:r>
          </a:p>
        </p:txBody>
      </p:sp>
      <p:sp>
        <p:nvSpPr>
          <p:cNvPr id="3" name="평가와 보고 규칙을 Evidence에 맞추다">
            <a:extLst xmlns:a="http://schemas.openxmlformats.org/drawingml/2006/main">
              <a:ext uri="{FF2B5EF4-FFF2-40B4-BE49-F238E27FC236}">
                <a16:creationId xmlns:a16="http://schemas.microsoft.com/office/drawing/2014/main" id="{92133915-1FB7-4606-B677-18A4A26B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평가와 보고 규칙을 Evidence에 맞추다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33E626-6A3B-47B8-8F00-ADC4162D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66E6F7-FF16-42F2-9D23-B2F5F4A9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· 평가·보고 기준을 요약한 도식">
            <a:extLst xmlns:a="http://schemas.openxmlformats.org/drawingml/2006/main">
              <a:ext uri="{FF2B5EF4-FFF2-40B4-BE49-F238E27FC236}">
                <a16:creationId xmlns:a16="http://schemas.microsoft.com/office/drawing/2014/main" id="{803CB203-F884-452F-9C65-7CCFFC35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· 평가·보고 기준을 요약한 도식</a:t>
            </a:r>
          </a:p>
        </p:txBody>
      </p:sp>
      <p:sp>
        <p:nvSpPr>
          <p:cNvPr id="7" name="제품 코드·Demo Skill 수정이 아니며, 격리 환경에서 Prompt 효과를 검증한 것도 아니다.">
            <a:extLst xmlns:a="http://schemas.openxmlformats.org/drawingml/2006/main">
              <a:ext uri="{FF2B5EF4-FFF2-40B4-BE49-F238E27FC236}">
                <a16:creationId xmlns:a16="http://schemas.microsoft.com/office/drawing/2014/main" id="{1EBD4F8D-FC91-44C0-9EC8-B48DBA2A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코드·Demo Skill 수정이 아니며, 격리 환경에서 Prompt 효과를 검증한 것도 아니다.</a:t>
            </a:r>
          </a:p>
        </p:txBody>
      </p:sp>
      <p:sp>
        <p:nvSpPr>
          <p:cNvPr id="8" name="DEC-0016 · 바뀐 것은 후속 Trial을 기록하는 기준">
            <a:extLst xmlns:a="http://schemas.openxmlformats.org/drawingml/2006/main">
              <a:ext uri="{FF2B5EF4-FFF2-40B4-BE49-F238E27FC236}">
                <a16:creationId xmlns:a16="http://schemas.microsoft.com/office/drawing/2014/main" id="{7F8F2B0C-4A90-46CF-813F-FFD93A36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DEC-0016 · 바뀐 것은 후속 Trial을 기록하는 기준</a:t>
            </a:r>
          </a:p>
        </p:txBody>
      </p:sp>
      <p:sp>
        <p:nvSpPr>
          <p:cNvPr id="9" name="기존 빈틈: 작업·Repository 중심으로 보고 주변 Harness 영향 설명이 부족했다.">
            <a:extLst xmlns:a="http://schemas.openxmlformats.org/drawingml/2006/main">
              <a:ext uri="{FF2B5EF4-FFF2-40B4-BE49-F238E27FC236}">
                <a16:creationId xmlns:a16="http://schemas.microsoft.com/office/drawing/2014/main" id="{6E4BA4CE-CF2D-4510-9A97-C97B50F6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빈틈: 작업·Repository 중심으로 보고 주변 Harness 영향 설명이 부족했다.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4E4C6B-D251-4B93-8343-96BB3546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기존 결과 보존">
            <a:extLst xmlns:a="http://schemas.openxmlformats.org/drawingml/2006/main">
              <a:ext uri="{FF2B5EF4-FFF2-40B4-BE49-F238E27FC236}">
                <a16:creationId xmlns:a16="http://schemas.microsoft.com/office/drawing/2014/main" id="{5DC1F0D6-6915-4F8A-9790-2BB98C8B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결과 보존</a:t>
            </a:r>
          </a:p>
        </p:txBody>
      </p:sp>
      <p:sp>
        <p:nvSpPr>
          <p:cNvPr id="12" name="TRIAL-006&#10;PARTIAL로 남김">
            <a:extLst xmlns:a="http://schemas.openxmlformats.org/drawingml/2006/main">
              <a:ext uri="{FF2B5EF4-FFF2-40B4-BE49-F238E27FC236}">
                <a16:creationId xmlns:a16="http://schemas.microsoft.com/office/drawing/2014/main" id="{CF81178D-2164-47D3-8B39-2858B933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TRIAL-006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PARTIAL로 남김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CD63F2-70E1-4F75-BE6B-12E82CFF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762375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7A45D4-983D-4EEE-A7CF-BB0DEC98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진행 조건 명시">
            <a:extLst xmlns:a="http://schemas.openxmlformats.org/drawingml/2006/main">
              <a:ext uri="{FF2B5EF4-FFF2-40B4-BE49-F238E27FC236}">
                <a16:creationId xmlns:a16="http://schemas.microsoft.com/office/drawing/2014/main" id="{E5B40701-D156-4AAE-A097-0EBD88FC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진행 조건 명시</a:t>
            </a:r>
          </a:p>
        </p:txBody>
      </p:sp>
      <p:sp>
        <p:nvSpPr>
          <p:cNvPr id="16" name="clean isolation을&#10;진행 조건으로 두지 않음">
            <a:extLst xmlns:a="http://schemas.openxmlformats.org/drawingml/2006/main">
              <a:ext uri="{FF2B5EF4-FFF2-40B4-BE49-F238E27FC236}">
                <a16:creationId xmlns:a16="http://schemas.microsoft.com/office/drawing/2014/main" id="{27BF1AF8-EED9-4EC1-8D49-013878E9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clean isolation을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진행 조건으로 두지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EE622B-9010-4378-B722-614A2619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62375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1FE441-C35D-447C-A541-44E53F4D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후속 기록 변경">
            <a:extLst xmlns:a="http://schemas.openxmlformats.org/drawingml/2006/main">
              <a:ext uri="{FF2B5EF4-FFF2-40B4-BE49-F238E27FC236}">
                <a16:creationId xmlns:a16="http://schemas.microsoft.com/office/drawing/2014/main" id="{AC424B95-5A77-4869-A4D3-8047D9CE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후속 기록 변경</a:t>
            </a:r>
          </a:p>
        </p:txBody>
      </p:sp>
      <p:sp>
        <p:nvSpPr>
          <p:cNvPr id="20" name="관찰된 환경 영향을&#10;다음 Trial에 함께 기록">
            <a:extLst xmlns:a="http://schemas.openxmlformats.org/drawingml/2006/main">
              <a:ext uri="{FF2B5EF4-FFF2-40B4-BE49-F238E27FC236}">
                <a16:creationId xmlns:a16="http://schemas.microsoft.com/office/drawing/2014/main" id="{8F812228-099F-4DA5-98F8-5C141A035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관찰된 환경 영향을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Trial에 함께 기록</a:t>
            </a:r>
          </a:p>
        </p:txBody>
      </p:sp>
      <p:sp>
        <p:nvSpPr>
          <p:cNvPr id="21" name="기록 대상: Skills · 경고 / 실행·사용 여부 · 결과를 설명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1440E23C-D3E3-41F7-A6A8-A8A71E88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 대상: Skills · 경고 / 실행·사용 여부 · 결과를 설명할 수 있는 범위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17B4040-09A6-4C0F-A0C1-5CCAB509A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8680855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OBSERVED META / 후속 기록 대조">
            <a:extLst xmlns:a="http://schemas.openxmlformats.org/drawingml/2006/main">
              <a:ext uri="{FF2B5EF4-FFF2-40B4-BE49-F238E27FC236}">
                <a16:creationId xmlns:a16="http://schemas.microsoft.com/office/drawing/2014/main" id="{EA09A5F9-26C6-47A9-AA3E-886E45DB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후속 기록 대조</a:t>
            </a:r>
          </a:p>
        </p:txBody>
      </p:sp>
      <p:sp>
        <p:nvSpPr>
          <p:cNvPr id="2" name="S71">
            <a:extLst xmlns:a="http://schemas.openxmlformats.org/drawingml/2006/main">
              <a:ext uri="{FF2B5EF4-FFF2-40B4-BE49-F238E27FC236}">
                <a16:creationId xmlns:a16="http://schemas.microsoft.com/office/drawing/2014/main" id="{1EDBF42B-D9C9-46D6-84A8-66724619A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S71</a:t>
            </a:r>
          </a:p>
        </p:txBody>
      </p:sp>
      <p:sp>
        <p:nvSpPr>
          <p:cNvPr id="3" name="후속 기록은 개선됐지만 완전하지 않았다">
            <a:extLst xmlns:a="http://schemas.openxmlformats.org/drawingml/2006/main">
              <a:ext uri="{FF2B5EF4-FFF2-40B4-BE49-F238E27FC236}">
                <a16:creationId xmlns:a16="http://schemas.microsoft.com/office/drawing/2014/main" id="{487EB14C-DDF2-481D-834F-A313113DC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후속 기록은 개선됐지만 완전하지 않았다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11544C-178D-49AD-8788-E5001EA6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9C2F7B-B2EE-4F94-9721-C49AC2F9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7/008 · DEC-0016 · 원문 기록의 의미를 요약한 도식">
            <a:extLst xmlns:a="http://schemas.openxmlformats.org/drawingml/2006/main">
              <a:ext uri="{FF2B5EF4-FFF2-40B4-BE49-F238E27FC236}">
                <a16:creationId xmlns:a16="http://schemas.microsoft.com/office/drawing/2014/main" id="{4E61544A-58B0-43C7-9A51-2D940744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TRIAL-007/008 · DEC-0016 · 원문 기록의 의미를 요약한 도식</a:t>
            </a:r>
          </a:p>
        </p:txBody>
      </p:sp>
      <p:sp>
        <p:nvSpPr>
          <p:cNvPr id="7" name="MCP 작업 결과는 없음. 완전한 환경 목록이나 측정된 품질 향상을 뜻하지 않는다.">
            <a:extLst xmlns:a="http://schemas.openxmlformats.org/drawingml/2006/main">
              <a:ext uri="{FF2B5EF4-FFF2-40B4-BE49-F238E27FC236}">
                <a16:creationId xmlns:a16="http://schemas.microsoft.com/office/drawing/2014/main" id="{B87A7765-2CE4-4DB7-B504-8E4AA1BA9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MCP 작업 결과는 없음. 완전한 환경 목록이나 측정된 품질 향상을 뜻하지 않는다.</a:t>
            </a:r>
          </a:p>
        </p:txBody>
      </p:sp>
      <p:sp>
        <p:nvSpPr>
          <p:cNvPr id="8" name="TRIAL-007">
            <a:extLst xmlns:a="http://schemas.openxmlformats.org/drawingml/2006/main">
              <a:ext uri="{FF2B5EF4-FFF2-40B4-BE49-F238E27FC236}">
                <a16:creationId xmlns:a16="http://schemas.microsoft.com/office/drawing/2014/main" id="{E9DE8C4A-1A4C-413A-A66D-B498426C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8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TRIAL-007</a:t>
            </a:r>
          </a:p>
        </p:txBody>
      </p:sp>
      <p:sp>
        <p:nvSpPr>
          <p:cNvPr id="9" name="보고와 원문을 대조">
            <a:extLst xmlns:a="http://schemas.openxmlformats.org/drawingml/2006/main">
              <a:ext uri="{FF2B5EF4-FFF2-40B4-BE49-F238E27FC236}">
                <a16:creationId xmlns:a16="http://schemas.microsoft.com/office/drawing/2014/main" id="{54000021-02B5-440C-AFF0-79CC0E35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518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보고와 원문을 대조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F13F6C-66E5-46CB-BFC6-76307C81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최종 보고">
            <a:extLst xmlns:a="http://schemas.openxmlformats.org/drawingml/2006/main">
              <a:ext uri="{FF2B5EF4-FFF2-40B4-BE49-F238E27FC236}">
                <a16:creationId xmlns:a16="http://schemas.microsoft.com/office/drawing/2014/main" id="{ACDD0EFD-BF76-440E-8356-696C46CD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518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최종 보고</a:t>
            </a:r>
          </a:p>
        </p:txBody>
      </p:sp>
      <p:sp>
        <p:nvSpPr>
          <p:cNvPr id="12" name="MCP 경고 없음">
            <a:extLst xmlns:a="http://schemas.openxmlformats.org/drawingml/2006/main">
              <a:ext uri="{FF2B5EF4-FFF2-40B4-BE49-F238E27FC236}">
                <a16:creationId xmlns:a16="http://schemas.microsoft.com/office/drawing/2014/main" id="{59E10530-A6BE-4B79-A454-04439F5E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MCP 경고 없음</a:t>
            </a:r>
          </a:p>
        </p:txBody>
      </p:sp>
      <p:sp>
        <p:nvSpPr>
          <p:cNvPr id="13" name="보존된 stderr · 진단 메시지 출력">
            <a:extLst xmlns:a="http://schemas.openxmlformats.org/drawingml/2006/main">
              <a:ext uri="{FF2B5EF4-FFF2-40B4-BE49-F238E27FC236}">
                <a16:creationId xmlns:a16="http://schemas.microsoft.com/office/drawing/2014/main" id="{146E481C-78D4-4B01-ADF4-EBF31562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518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보존된 stderr · 진단 메시지 출력</a:t>
            </a:r>
          </a:p>
        </p:txBody>
      </p:sp>
      <p:sp>
        <p:nvSpPr>
          <p:cNvPr id="14" name="Nimble AuthRequired">
            <a:extLst xmlns:a="http://schemas.openxmlformats.org/drawingml/2006/main">
              <a:ext uri="{FF2B5EF4-FFF2-40B4-BE49-F238E27FC236}">
                <a16:creationId xmlns:a16="http://schemas.microsoft.com/office/drawing/2014/main" id="{6344E29D-94DB-48DA-B8A4-3A20F3D9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518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Nimble AuthRequired</a:t>
            </a:r>
          </a:p>
        </p:txBody>
      </p:sp>
      <p:sp>
        <p:nvSpPr>
          <p:cNvPr id="15" name="인증 필요 경고">
            <a:extLst xmlns:a="http://schemas.openxmlformats.org/drawingml/2006/main">
              <a:ext uri="{FF2B5EF4-FFF2-40B4-BE49-F238E27FC236}">
                <a16:creationId xmlns:a16="http://schemas.microsoft.com/office/drawing/2014/main" id="{58341BD5-9D9B-437A-930A-804CD2B5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5181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인증 필요 경고</a:t>
            </a:r>
          </a:p>
        </p:txBody>
      </p:sp>
      <p:sp>
        <p:nvSpPr>
          <p:cNvPr id="16" name="TRIAL-008">
            <a:extLst xmlns:a="http://schemas.openxmlformats.org/drawingml/2006/main">
              <a:ext uri="{FF2B5EF4-FFF2-40B4-BE49-F238E27FC236}">
                <a16:creationId xmlns:a16="http://schemas.microsoft.com/office/drawing/2014/main" id="{DCFDAF11-4527-458A-9906-62D32A48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5740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TRIAL-008</a:t>
            </a:r>
          </a:p>
        </p:txBody>
      </p:sp>
      <p:sp>
        <p:nvSpPr>
          <p:cNvPr id="17" name="사용 경로를 구분해 기록">
            <a:extLst xmlns:a="http://schemas.openxmlformats.org/drawingml/2006/main">
              <a:ext uri="{FF2B5EF4-FFF2-40B4-BE49-F238E27FC236}">
                <a16:creationId xmlns:a16="http://schemas.microsoft.com/office/drawing/2014/main" id="{0705BA68-B3C1-4E3C-8259-C236DEA4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52700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사용 경로를 구분해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442BEF-FA65-44D6-AA94-E168833F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E91CDB-CC2B-4229-B92C-9C4B5BD0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432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pository Skill 호출">
            <a:extLst xmlns:a="http://schemas.openxmlformats.org/drawingml/2006/main">
              <a:ext uri="{FF2B5EF4-FFF2-40B4-BE49-F238E27FC236}">
                <a16:creationId xmlns:a16="http://schemas.microsoft.com/office/drawing/2014/main" id="{22825BDC-7BAB-4D42-9BC2-C8A4EF73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3377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Skill 호출</a:t>
            </a:r>
          </a:p>
        </p:txBody>
      </p:sp>
      <p:sp>
        <p:nvSpPr>
          <p:cNvPr id="21" name="별도 기록">
            <a:extLst xmlns:a="http://schemas.openxmlformats.org/drawingml/2006/main">
              <a:ext uri="{FF2B5EF4-FFF2-40B4-BE49-F238E27FC236}">
                <a16:creationId xmlns:a16="http://schemas.microsoft.com/office/drawing/2014/main" id="{FFB138AB-6D99-4A1D-B90D-E9652C14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76725"/>
            <a:ext cx="4876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별도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F8D2DB-DA5A-4AEC-90C8-19DC3593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148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Global influence">
            <a:extLst xmlns:a="http://schemas.openxmlformats.org/drawingml/2006/main">
              <a:ext uri="{FF2B5EF4-FFF2-40B4-BE49-F238E27FC236}">
                <a16:creationId xmlns:a16="http://schemas.microsoft.com/office/drawing/2014/main" id="{BEA81002-5A4A-44F7-813D-77C0737D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90537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influence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8781311-CA77-490C-93AE-2A3F5A19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9096882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OBSERVED META / 사례 회수">
            <a:extLst xmlns:a="http://schemas.openxmlformats.org/drawingml/2006/main">
              <a:ext uri="{FF2B5EF4-FFF2-40B4-BE49-F238E27FC236}">
                <a16:creationId xmlns:a16="http://schemas.microsoft.com/office/drawing/2014/main" id="{7A5C8F2E-018D-40DD-BBE7-2EB81DDF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사례 회수</a:t>
            </a:r>
          </a:p>
        </p:txBody>
      </p:sp>
      <p:sp>
        <p:nvSpPr>
          <p:cNvPr id="2" name="S72">
            <a:extLst xmlns:a="http://schemas.openxmlformats.org/drawingml/2006/main">
              <a:ext uri="{FF2B5EF4-FFF2-40B4-BE49-F238E27FC236}">
                <a16:creationId xmlns:a16="http://schemas.microsoft.com/office/drawing/2014/main" id="{EE513BE1-EA91-4B3C-A04C-D3F6AA444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S72</a:t>
            </a:r>
          </a:p>
        </p:txBody>
      </p:sp>
      <p:sp>
        <p:nvSpPr>
          <p:cNvPr id="3" name="실제 Meta Loop에서 바뀐 것">
            <a:extLst xmlns:a="http://schemas.openxmlformats.org/drawingml/2006/main">
              <a:ext uri="{FF2B5EF4-FFF2-40B4-BE49-F238E27FC236}">
                <a16:creationId xmlns:a16="http://schemas.microsoft.com/office/drawing/2014/main" id="{33B14365-DCC3-4041-AF0E-94ACB758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Meta Loop에서 바뀐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27B7F-38AA-412E-9CA4-26A4F0C41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95187B-5D99-4A03-85A1-C252A70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→ TRIAL-007/008 · 실제 제작 기록">
            <a:extLst xmlns:a="http://schemas.openxmlformats.org/drawingml/2006/main">
              <a:ext uri="{FF2B5EF4-FFF2-40B4-BE49-F238E27FC236}">
                <a16:creationId xmlns:a16="http://schemas.microsoft.com/office/drawing/2014/main" id="{0AA1AB81-A844-4910-8A5F-469B969E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→ TRIAL-007/008 · 실제 제작 기록</a:t>
            </a:r>
          </a:p>
        </p:txBody>
      </p:sp>
      <p:sp>
        <p:nvSpPr>
          <p:cNvPr id="7" name="제품 코드의 개선이나 가상 stale Workflow의 복구 이력이 아니다.">
            <a:extLst xmlns:a="http://schemas.openxmlformats.org/drawingml/2006/main">
              <a:ext uri="{FF2B5EF4-FFF2-40B4-BE49-F238E27FC236}">
                <a16:creationId xmlns:a16="http://schemas.microsoft.com/office/drawing/2014/main" id="{584A315F-565B-4C1F-A293-6300C380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코드의 개선이나 가상 stale Workflow의 복구 이력이 아니다.</a:t>
            </a:r>
          </a:p>
        </p:txBody>
      </p:sp>
      <p:sp>
        <p:nvSpPr>
          <p:cNvPr id="8" name="바뀐 대상">
            <a:extLst xmlns:a="http://schemas.openxmlformats.org/drawingml/2006/main">
              <a:ext uri="{FF2B5EF4-FFF2-40B4-BE49-F238E27FC236}">
                <a16:creationId xmlns:a16="http://schemas.microsoft.com/office/drawing/2014/main" id="{831EA260-B769-4183-B979-78A1EBC8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바뀐 대상</a:t>
            </a:r>
          </a:p>
        </p:txBody>
      </p:sp>
      <p:sp>
        <p:nvSpPr>
          <p:cNvPr id="9" name="Trial을 평가하고 보고하는 기준">
            <a:extLst xmlns:a="http://schemas.openxmlformats.org/drawingml/2006/main">
              <a:ext uri="{FF2B5EF4-FFF2-40B4-BE49-F238E27FC236}">
                <a16:creationId xmlns:a16="http://schemas.microsoft.com/office/drawing/2014/main" id="{1E59859C-61BB-4C43-8B6F-A2DCE49EA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12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Trial을 평가하고 보고하는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F5FCBA-BCF9-4D93-86EF-0BCE9C25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남아 있는 확인 과제">
            <a:extLst xmlns:a="http://schemas.openxmlformats.org/drawingml/2006/main">
              <a:ext uri="{FF2B5EF4-FFF2-40B4-BE49-F238E27FC236}">
                <a16:creationId xmlns:a16="http://schemas.microsoft.com/office/drawing/2014/main" id="{90313517-5336-4542-91D1-2E29EDD4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남아 있는 확인 과제</a:t>
            </a:r>
          </a:p>
        </p:txBody>
      </p:sp>
      <p:sp>
        <p:nvSpPr>
          <p:cNvPr id="12" name="원인별 효과">
            <a:extLst xmlns:a="http://schemas.openxmlformats.org/drawingml/2006/main">
              <a:ext uri="{FF2B5EF4-FFF2-40B4-BE49-F238E27FC236}">
                <a16:creationId xmlns:a16="http://schemas.microsoft.com/office/drawing/2014/main" id="{F16DC52F-4199-4810-87E7-16DE83C1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원인별 효과</a:t>
            </a:r>
          </a:p>
        </p:txBody>
      </p:sp>
      <p:sp>
        <p:nvSpPr>
          <p:cNvPr id="13" name="무엇이 기여했는가?">
            <a:extLst xmlns:a="http://schemas.openxmlformats.org/drawingml/2006/main">
              <a:ext uri="{FF2B5EF4-FFF2-40B4-BE49-F238E27FC236}">
                <a16:creationId xmlns:a16="http://schemas.microsoft.com/office/drawing/2014/main" id="{A77F6690-2361-48F6-9118-91E71A056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기여했는가?</a:t>
            </a:r>
          </a:p>
        </p:txBody>
      </p:sp>
      <p:sp>
        <p:nvSpPr>
          <p:cNvPr id="14" name="환경 목록의 완전성">
            <a:extLst xmlns:a="http://schemas.openxmlformats.org/drawingml/2006/main">
              <a:ext uri="{FF2B5EF4-FFF2-40B4-BE49-F238E27FC236}">
                <a16:creationId xmlns:a16="http://schemas.microsoft.com/office/drawing/2014/main" id="{BBB9B597-9EB1-4AD5-9F9C-300E82FF5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환경 목록의 완전성</a:t>
            </a:r>
          </a:p>
        </p:txBody>
      </p:sp>
      <p:sp>
        <p:nvSpPr>
          <p:cNvPr id="15" name="빠진 조건은 없는가?">
            <a:extLst xmlns:a="http://schemas.openxmlformats.org/drawingml/2006/main">
              <a:ext uri="{FF2B5EF4-FFF2-40B4-BE49-F238E27FC236}">
                <a16:creationId xmlns:a16="http://schemas.microsoft.com/office/drawing/2014/main" id="{4ED87CDD-0026-46C5-AD04-88D9895B5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빠진 조건은 없는가?</a:t>
            </a:r>
          </a:p>
        </p:txBody>
      </p:sp>
      <p:sp>
        <p:nvSpPr>
          <p:cNvPr id="16" name="Trial 품질의 향상">
            <a:extLst xmlns:a="http://schemas.openxmlformats.org/drawingml/2006/main">
              <a:ext uri="{FF2B5EF4-FFF2-40B4-BE49-F238E27FC236}">
                <a16:creationId xmlns:a16="http://schemas.microsoft.com/office/drawing/2014/main" id="{8C4E00D8-069F-4182-9669-C9493DE42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 품질의 향상</a:t>
            </a:r>
          </a:p>
        </p:txBody>
      </p:sp>
      <p:sp>
        <p:nvSpPr>
          <p:cNvPr id="17" name="실제로 더 좋아졌는가?">
            <a:extLst xmlns:a="http://schemas.openxmlformats.org/drawingml/2006/main">
              <a:ext uri="{FF2B5EF4-FFF2-40B4-BE49-F238E27FC236}">
                <a16:creationId xmlns:a16="http://schemas.microsoft.com/office/drawing/2014/main" id="{DFAFB171-1D82-4EE1-BD9F-B7F18CEF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실제로 더 좋아졌는가?</a:t>
            </a:r>
          </a:p>
        </p:txBody>
      </p:sp>
      <p:sp>
        <p:nvSpPr>
          <p:cNvPr id="18" name="Feedback은 평가 체계도 바꿀 수 있다. 변경 뒤의 결과는 다시 확인한다.">
            <a:extLst xmlns:a="http://schemas.openxmlformats.org/drawingml/2006/main">
              <a:ext uri="{FF2B5EF4-FFF2-40B4-BE49-F238E27FC236}">
                <a16:creationId xmlns:a16="http://schemas.microsoft.com/office/drawing/2014/main" id="{63CE6718-B67F-4C65-A4A1-6F23024C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Feedback은 평가 체계도 바꿀 수 있다. 변경 뒤의 결과는 다시 확인한다.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CCFA4B0-1440-432C-89B1-C92F577E6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47506290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4 · C++ VISION / 적용을 위한 가상 질문">
            <a:extLst xmlns:a="http://schemas.openxmlformats.org/drawingml/2006/main">
              <a:ext uri="{FF2B5EF4-FFF2-40B4-BE49-F238E27FC236}">
                <a16:creationId xmlns:a16="http://schemas.microsoft.com/office/drawing/2014/main" id="{5ABF0B7A-59BD-4877-BDB2-A7F659FD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C++ VISION / 적용을 위한 가상 질문</a:t>
            </a:r>
          </a:p>
        </p:txBody>
      </p:sp>
      <p:sp>
        <p:nvSpPr>
          <p:cNvPr id="2" name="S73">
            <a:extLst xmlns:a="http://schemas.openxmlformats.org/drawingml/2006/main">
              <a:ext uri="{FF2B5EF4-FFF2-40B4-BE49-F238E27FC236}">
                <a16:creationId xmlns:a16="http://schemas.microsoft.com/office/drawing/2014/main" id="{3BD67E86-58B4-46EE-88B8-3DA4CAE6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S73</a:t>
            </a:r>
          </a:p>
        </p:txBody>
      </p:sp>
      <p:sp>
        <p:nvSpPr>
          <p:cNvPr id="3" name="Project와 환경이 바뀌면&#10;검증도 다시 본다">
            <a:extLst xmlns:a="http://schemas.openxmlformats.org/drawingml/2006/main">
              <a:ext uri="{FF2B5EF4-FFF2-40B4-BE49-F238E27FC236}">
                <a16:creationId xmlns:a16="http://schemas.microsoft.com/office/drawing/2014/main" id="{B3D9FECE-F097-46B7-9019-AC7185C7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Project와 환경이 바뀌면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검증도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62D06-B14A-44F2-A3AA-D68F9E38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BEAT-059 · TRANS-012 · 교육용 전이 모델 ·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3FAFC1AD-9BFC-4DAA-9459-1064A163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BEAT-059 · TRANS-012 · 교육용 전이 모델 · AI 생성 설명용 삽화</a:t>
            </a:r>
          </a:p>
        </p:txBody>
      </p:sp>
      <p:sp>
        <p:nvSpPr>
          <p:cNvPr id="6" name="실제 C++ 사건·성능 결과가 아닙니다. 변경 표시는 확인할 조건을 뜻하며 원인이나 결과를 단정하지 않습니다">
            <a:extLst xmlns:a="http://schemas.openxmlformats.org/drawingml/2006/main">
              <a:ext uri="{FF2B5EF4-FFF2-40B4-BE49-F238E27FC236}">
                <a16:creationId xmlns:a16="http://schemas.microsoft.com/office/drawing/2014/main" id="{8234F2CE-06F8-4D92-82DE-D2C1B94C7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C++ 사건·성능 결과가 아닙니다. 변경 표시는 확인할 조건을 뜻하며 원인이나 결과를 단정하지 않습니다.</a:t>
            </a:r>
          </a:p>
        </p:txBody>
      </p:sp>
      <p:sp>
        <p:nvSpPr>
          <p:cNvPr id="7" name="GPU · 빌드 · 측정 조건이 달라졌다면?">
            <a:extLst xmlns:a="http://schemas.openxmlformats.org/drawingml/2006/main">
              <a:ext uri="{FF2B5EF4-FFF2-40B4-BE49-F238E27FC236}">
                <a16:creationId xmlns:a16="http://schemas.microsoft.com/office/drawing/2014/main" id="{3B87D061-C990-4B6B-8460-53559224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GPU · 빌드 · 측정 조건이 달라졌다면?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B1BA65-F269-48E6-B456-A32077E1EC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1a44cf467644e1"/>
          <a:srcRect xmlns:a="http://schemas.openxmlformats.org/drawingml/2006/main" l="0" t="6000" r="0" b="10000"/>
          <a:stretch xmlns:a="http://schemas.openxmlformats.org/drawingml/2006/main"/>
        </p:blipFill>
        <p:spPr>
          <a:xfrm xmlns:a="http://schemas.openxmlformats.org/drawingml/2006/main">
            <a:off x="609600" y="2676525"/>
            <a:ext cx="6858000" cy="1924050"/>
          </a:xfrm>
          <a:prstGeom xmlns:a="http://schemas.openxmlformats.org/drawingml/2006/main" prst="rect">
            <a:avLst/>
          </a:prstGeom>
        </p:spPr>
      </p:pic>
      <p:sp>
        <p:nvSpPr>
          <p:cNvPr id="9" name="입력">
            <a:extLst xmlns:a="http://schemas.openxmlformats.org/drawingml/2006/main">
              <a:ext uri="{FF2B5EF4-FFF2-40B4-BE49-F238E27FC236}">
                <a16:creationId xmlns:a16="http://schemas.microsoft.com/office/drawing/2014/main" id="{4ECF6AD8-E990-47E5-B634-D1178CA9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0" name="처리 코드">
            <a:extLst xmlns:a="http://schemas.openxmlformats.org/drawingml/2006/main">
              <a:ext uri="{FF2B5EF4-FFF2-40B4-BE49-F238E27FC236}">
                <a16:creationId xmlns:a16="http://schemas.microsoft.com/office/drawing/2014/main" id="{3547FD16-6C64-4ABF-94FA-9FF272E0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767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처리 코드</a:t>
            </a:r>
          </a:p>
        </p:txBody>
      </p:sp>
      <p:sp>
        <p:nvSpPr>
          <p:cNvPr id="11" name="실행 장치 · 변경 조건">
            <a:extLst xmlns:a="http://schemas.openxmlformats.org/drawingml/2006/main">
              <a:ext uri="{FF2B5EF4-FFF2-40B4-BE49-F238E27FC236}">
                <a16:creationId xmlns:a16="http://schemas.microsoft.com/office/drawing/2014/main" id="{B3EF1B8E-6664-432B-9144-1CF13415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7677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장치 · 변경 조건</a:t>
            </a:r>
          </a:p>
        </p:txBody>
      </p:sp>
      <p:sp>
        <p:nvSpPr>
          <p:cNvPr id="12" name="출력">
            <a:extLst xmlns:a="http://schemas.openxmlformats.org/drawingml/2006/main">
              <a:ext uri="{FF2B5EF4-FFF2-40B4-BE49-F238E27FC236}">
                <a16:creationId xmlns:a16="http://schemas.microsoft.com/office/drawing/2014/main" id="{9601C193-1530-4322-A430-2BB43C46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767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출력</a:t>
            </a:r>
          </a:p>
        </p:txBody>
      </p:sp>
      <p:sp>
        <p:nvSpPr>
          <p:cNvPr id="13" name="01">
            <a:extLst xmlns:a="http://schemas.openxmlformats.org/drawingml/2006/main">
              <a:ext uri="{FF2B5EF4-FFF2-40B4-BE49-F238E27FC236}">
                <a16:creationId xmlns:a16="http://schemas.microsoft.com/office/drawing/2014/main" id="{93F0E308-15B5-472E-9376-6FCC9170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860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기존 가정">
            <a:extLst xmlns:a="http://schemas.openxmlformats.org/drawingml/2006/main">
              <a:ext uri="{FF2B5EF4-FFF2-40B4-BE49-F238E27FC236}">
                <a16:creationId xmlns:a16="http://schemas.microsoft.com/office/drawing/2014/main" id="{0A197B98-A9FD-4717-9D2C-03639E23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8602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가정</a:t>
            </a:r>
          </a:p>
        </p:txBody>
      </p:sp>
      <p:sp>
        <p:nvSpPr>
          <p:cNvPr id="15" name="어떤 조건에서&#10;맞던 판단인가?">
            <a:extLst xmlns:a="http://schemas.openxmlformats.org/drawingml/2006/main">
              <a:ext uri="{FF2B5EF4-FFF2-40B4-BE49-F238E27FC236}">
                <a16:creationId xmlns:a16="http://schemas.microsoft.com/office/drawing/2014/main" id="{21D1B341-CCBF-4FD9-AFCB-8D7B8EA1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09875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조건에서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맞던 판단인가?</a:t>
            </a:r>
          </a:p>
        </p:txBody>
      </p:sp>
      <p:sp>
        <p:nvSpPr>
          <p:cNvPr id="16" name="02">
            <a:extLst xmlns:a="http://schemas.openxmlformats.org/drawingml/2006/main">
              <a:ext uri="{FF2B5EF4-FFF2-40B4-BE49-F238E27FC236}">
                <a16:creationId xmlns:a16="http://schemas.microsoft.com/office/drawing/2014/main" id="{6B1AE429-B423-41E5-903B-8E8DE9D1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7185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7" name="측정 조건">
            <a:extLst xmlns:a="http://schemas.openxmlformats.org/drawingml/2006/main">
              <a:ext uri="{FF2B5EF4-FFF2-40B4-BE49-F238E27FC236}">
                <a16:creationId xmlns:a16="http://schemas.microsoft.com/office/drawing/2014/main" id="{0A2AF560-B0E0-4E71-A793-53531C7D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718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조건</a:t>
            </a:r>
          </a:p>
        </p:txBody>
      </p:sp>
      <p:sp>
        <p:nvSpPr>
          <p:cNvPr id="18" name="입력과 실행 조건은&#10;비교 가능한가?">
            <a:extLst xmlns:a="http://schemas.openxmlformats.org/drawingml/2006/main">
              <a:ext uri="{FF2B5EF4-FFF2-40B4-BE49-F238E27FC236}">
                <a16:creationId xmlns:a16="http://schemas.microsoft.com/office/drawing/2014/main" id="{4271D56A-FB42-48AA-BA36-68FF3A753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9570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입력과 실행 조건은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비교 가능한가?</a:t>
            </a:r>
          </a:p>
        </p:txBody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60E8A985-718E-47EB-9072-C2F23E2F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5767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기능 계약">
            <a:extLst xmlns:a="http://schemas.openxmlformats.org/drawingml/2006/main">
              <a:ext uri="{FF2B5EF4-FFF2-40B4-BE49-F238E27FC236}">
                <a16:creationId xmlns:a16="http://schemas.microsoft.com/office/drawing/2014/main" id="{3F1509E5-E338-4230-9007-4BDEA25B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5767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기능 계약</a:t>
            </a:r>
          </a:p>
        </p:txBody>
      </p:sp>
      <p:sp>
        <p:nvSpPr>
          <p:cNvPr id="21" name="함께 다시 확인할&#10;동작은?">
            <a:extLst xmlns:a="http://schemas.openxmlformats.org/drawingml/2006/main">
              <a:ext uri="{FF2B5EF4-FFF2-40B4-BE49-F238E27FC236}">
                <a16:creationId xmlns:a16="http://schemas.microsoft.com/office/drawing/2014/main" id="{50CF875E-D4EC-470D-AF22-2F87D5C9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81525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다시 확인할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동작은?</a:t>
            </a:r>
          </a:p>
        </p:txBody>
      </p:sp>
      <p:sp>
        <p:nvSpPr>
          <p:cNvPr id="22" name="같은 문제가 반복될 때, 어느 Layer를 먼저 살펴볼까?">
            <a:extLst xmlns:a="http://schemas.openxmlformats.org/drawingml/2006/main">
              <a:ext uri="{FF2B5EF4-FFF2-40B4-BE49-F238E27FC236}">
                <a16:creationId xmlns:a16="http://schemas.microsoft.com/office/drawing/2014/main" id="{B449A16E-403A-42D5-BF8C-F6958F10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반복될 때, 어느 Layer를 먼저 살펴볼까?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795E937-A289-44ED-9E13-1650DAA0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1596367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2026-10-21T12:22:05.8740000Z</dcterms:created>
  <dcterms:modified xsi:type="dcterms:W3CDTF">2026-10-21T12:22:05.8740000Z</dcterms:modified>
</coreProperties>
</file>