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fc448305f814c48" /><Relationship Type="http://schemas.openxmlformats.org/officeDocument/2006/relationships/extended-properties" Target="/docProps/app.xml" Id="R6668ed61a7b648cf" /><Relationship Type="http://schemas.openxmlformats.org/officeDocument/2006/relationships/officeDocument" Target="/ppt/presentation.xml" Id="Rd03661ca8eeb4a2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b40b168f1d244a5"/>
  </p:sldMasterIdLst>
  <p:notesMasterIdLst>
    <p:notesMasterId xmlns:r="http://schemas.openxmlformats.org/officeDocument/2006/relationships" r:id="R7786023421954f7c"/>
  </p:notesMasterIdLst>
  <p:sldIdLst>
    <p:sldId xmlns:r="http://schemas.openxmlformats.org/officeDocument/2006/relationships" id="256" r:id="R3257151a61304768"/>
    <p:sldId xmlns:r="http://schemas.openxmlformats.org/officeDocument/2006/relationships" id="257" r:id="R7de5ec5bba8b4b34"/>
    <p:sldId xmlns:r="http://schemas.openxmlformats.org/officeDocument/2006/relationships" id="258" r:id="R3bda84a2a7bb4fa5"/>
    <p:sldId xmlns:r="http://schemas.openxmlformats.org/officeDocument/2006/relationships" id="259" r:id="Ra35db27ebbd049a4"/>
    <p:sldId xmlns:r="http://schemas.openxmlformats.org/officeDocument/2006/relationships" id="260" r:id="R18c98f908aa34fbd"/>
    <p:sldId xmlns:r="http://schemas.openxmlformats.org/officeDocument/2006/relationships" id="261" r:id="R39d7109830a14fdd"/>
    <p:sldId xmlns:r="http://schemas.openxmlformats.org/officeDocument/2006/relationships" id="262" r:id="R102b592e9f334c43"/>
    <p:sldId xmlns:r="http://schemas.openxmlformats.org/officeDocument/2006/relationships" id="263" r:id="R1d9183dfd25a4744"/>
    <p:sldId xmlns:r="http://schemas.openxmlformats.org/officeDocument/2006/relationships" id="264" r:id="R4df2321c64954a84"/>
    <p:sldId xmlns:r="http://schemas.openxmlformats.org/officeDocument/2006/relationships" id="265" r:id="R9f2aaced60dd47ec"/>
    <p:sldId xmlns:r="http://schemas.openxmlformats.org/officeDocument/2006/relationships" id="266" r:id="Rb08faee737fe4e60"/>
    <p:sldId xmlns:r="http://schemas.openxmlformats.org/officeDocument/2006/relationships" id="267" r:id="R15380c17f7cc4ff4"/>
    <p:sldId xmlns:r="http://schemas.openxmlformats.org/officeDocument/2006/relationships" id="268" r:id="Rbc6fae68dba547dc"/>
    <p:sldId xmlns:r="http://schemas.openxmlformats.org/officeDocument/2006/relationships" id="269" r:id="R1a3bba41101c42e7"/>
    <p:sldId xmlns:r="http://schemas.openxmlformats.org/officeDocument/2006/relationships" id="270" r:id="R5731dfa887ce44d7"/>
    <p:sldId xmlns:r="http://schemas.openxmlformats.org/officeDocument/2006/relationships" id="271" r:id="R1616a3561bdb4ecf"/>
    <p:sldId xmlns:r="http://schemas.openxmlformats.org/officeDocument/2006/relationships" id="272" r:id="R06b134e51800473c"/>
    <p:sldId xmlns:r="http://schemas.openxmlformats.org/officeDocument/2006/relationships" id="273" r:id="Rd13b1a9bb84a446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224cf2465e44a0a" /><Relationship Type="http://schemas.openxmlformats.org/officeDocument/2006/relationships/slideMaster" Target="/ppt/slideMasters/slideMaster1.xml" Id="R6b40b168f1d244a5" /><Relationship Type="http://schemas.openxmlformats.org/officeDocument/2006/relationships/notesMaster" Target="/ppt/notesMasters/notesMaster1.xml" Id="R7786023421954f7c" /><Relationship Type="http://schemas.openxmlformats.org/officeDocument/2006/relationships/presProps" Target="/ppt/presProps.xml" Id="R9d0f86ee655f421b" /><Relationship Type="http://schemas.openxmlformats.org/officeDocument/2006/relationships/tableStyles" Target="/ppt/tableStyles.xml" Id="Rd20c1fd15898443c" /><Relationship Type="http://schemas.openxmlformats.org/officeDocument/2006/relationships/slide" Target="/ppt/slides/slide1.xml" Id="R3257151a61304768" /><Relationship Type="http://schemas.openxmlformats.org/officeDocument/2006/relationships/slide" Target="/ppt/slides/slide2.xml" Id="R7de5ec5bba8b4b34" /><Relationship Type="http://schemas.openxmlformats.org/officeDocument/2006/relationships/slide" Target="/ppt/slides/slide3.xml" Id="R3bda84a2a7bb4fa5" /><Relationship Type="http://schemas.openxmlformats.org/officeDocument/2006/relationships/slide" Target="/ppt/slides/slide4.xml" Id="Ra35db27ebbd049a4" /><Relationship Type="http://schemas.openxmlformats.org/officeDocument/2006/relationships/slide" Target="/ppt/slides/slide5.xml" Id="R18c98f908aa34fbd" /><Relationship Type="http://schemas.openxmlformats.org/officeDocument/2006/relationships/slide" Target="/ppt/slides/slide6.xml" Id="R39d7109830a14fdd" /><Relationship Type="http://schemas.openxmlformats.org/officeDocument/2006/relationships/slide" Target="/ppt/slides/slide7.xml" Id="R102b592e9f334c43" /><Relationship Type="http://schemas.openxmlformats.org/officeDocument/2006/relationships/slide" Target="/ppt/slides/slide8.xml" Id="R1d9183dfd25a4744" /><Relationship Type="http://schemas.openxmlformats.org/officeDocument/2006/relationships/slide" Target="/ppt/slides/slide9.xml" Id="R4df2321c64954a84" /><Relationship Type="http://schemas.openxmlformats.org/officeDocument/2006/relationships/slide" Target="/ppt/slides/slide10.xml" Id="R9f2aaced60dd47ec" /><Relationship Type="http://schemas.openxmlformats.org/officeDocument/2006/relationships/slide" Target="/ppt/slides/slide11.xml" Id="Rb08faee737fe4e60" /><Relationship Type="http://schemas.openxmlformats.org/officeDocument/2006/relationships/slide" Target="/ppt/slides/slide12.xml" Id="R15380c17f7cc4ff4" /><Relationship Type="http://schemas.openxmlformats.org/officeDocument/2006/relationships/slide" Target="/ppt/slides/slide13.xml" Id="Rbc6fae68dba547dc" /><Relationship Type="http://schemas.openxmlformats.org/officeDocument/2006/relationships/slide" Target="/ppt/slides/slide14.xml" Id="R1a3bba41101c42e7" /><Relationship Type="http://schemas.openxmlformats.org/officeDocument/2006/relationships/slide" Target="/ppt/slides/slide15.xml" Id="R5731dfa887ce44d7" /><Relationship Type="http://schemas.openxmlformats.org/officeDocument/2006/relationships/slide" Target="/ppt/slides/slide16.xml" Id="R1616a3561bdb4ecf" /><Relationship Type="http://schemas.openxmlformats.org/officeDocument/2006/relationships/slide" Target="/ppt/slides/slide17.xml" Id="R06b134e51800473c" /><Relationship Type="http://schemas.openxmlformats.org/officeDocument/2006/relationships/slide" Target="/ppt/slides/slide18.xml" Id="Rd13b1a9bb84a446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86b2c6e5e65498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279c2a6dbe649de" /><Relationship Type="http://schemas.openxmlformats.org/officeDocument/2006/relationships/notesMaster" Target="/ppt/notesMasters/notesMaster1.xml" Id="R3762574bc96a4cd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6a29b71d5fd427d" /><Relationship Type="http://schemas.openxmlformats.org/officeDocument/2006/relationships/notesMaster" Target="/ppt/notesMasters/notesMaster1.xml" Id="Rf7a0f380f308424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7a4e768695c400d" /><Relationship Type="http://schemas.openxmlformats.org/officeDocument/2006/relationships/notesMaster" Target="/ppt/notesMasters/notesMaster1.xml" Id="R239b09711698441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9d014944fe14716" /><Relationship Type="http://schemas.openxmlformats.org/officeDocument/2006/relationships/notesMaster" Target="/ppt/notesMasters/notesMaster1.xml" Id="Rd1f2a354a3464bd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f70cee8b58a45ea" /><Relationship Type="http://schemas.openxmlformats.org/officeDocument/2006/relationships/notesMaster" Target="/ppt/notesMasters/notesMaster1.xml" Id="Rb6b83a78658f468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a6a8b9b987248f7" /><Relationship Type="http://schemas.openxmlformats.org/officeDocument/2006/relationships/notesMaster" Target="/ppt/notesMasters/notesMaster1.xml" Id="Ra948d20a69694fe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224cf5903c34ff8" /><Relationship Type="http://schemas.openxmlformats.org/officeDocument/2006/relationships/notesMaster" Target="/ppt/notesMasters/notesMaster1.xml" Id="Re36cbb8fd60b4b8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b25330c3ec245db" /><Relationship Type="http://schemas.openxmlformats.org/officeDocument/2006/relationships/notesMaster" Target="/ppt/notesMasters/notesMaster1.xml" Id="Rfef233397f5a498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bc208c3a70843f6" /><Relationship Type="http://schemas.openxmlformats.org/officeDocument/2006/relationships/notesMaster" Target="/ppt/notesMasters/notesMaster1.xml" Id="Rfcd7ec8a96484c8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e6c33b55b6d46fd" /><Relationship Type="http://schemas.openxmlformats.org/officeDocument/2006/relationships/notesMaster" Target="/ppt/notesMasters/notesMaster1.xml" Id="Re8fe6fe3948443d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4aaf9f4a7ea4221" /><Relationship Type="http://schemas.openxmlformats.org/officeDocument/2006/relationships/notesMaster" Target="/ppt/notesMasters/notesMaster1.xml" Id="R1a3ba55c97a940d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f37b57260e1413d" /><Relationship Type="http://schemas.openxmlformats.org/officeDocument/2006/relationships/notesMaster" Target="/ppt/notesMasters/notesMaster1.xml" Id="R2e6cc502b2cd439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9ff01333e5e498d" /><Relationship Type="http://schemas.openxmlformats.org/officeDocument/2006/relationships/notesMaster" Target="/ppt/notesMasters/notesMaster1.xml" Id="Rd9a0f3535fe542d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1045c54ff444069" /><Relationship Type="http://schemas.openxmlformats.org/officeDocument/2006/relationships/notesMaster" Target="/ppt/notesMasters/notesMaster1.xml" Id="Re8fdb3d2ae194be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50be474dec44ed8" /><Relationship Type="http://schemas.openxmlformats.org/officeDocument/2006/relationships/notesMaster" Target="/ppt/notesMasters/notesMaster1.xml" Id="R405d1469cc0b48b2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65f8b2bed9a441b" /><Relationship Type="http://schemas.openxmlformats.org/officeDocument/2006/relationships/notesMaster" Target="/ppt/notesMasters/notesMaster1.xml" Id="R17c576cdbf374fe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d265e153ca9b4e92" /><Relationship Type="http://schemas.openxmlformats.org/officeDocument/2006/relationships/notesMaster" Target="/ppt/notesMasters/notesMaster1.xml" Id="Re05a0a92535b4dba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528cb02410a54cef" /><Relationship Type="http://schemas.openxmlformats.org/officeDocument/2006/relationships/notesMaster" Target="/ppt/notesMasters/notesMaster1.xml" Id="R0c2bc7d4d318427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S55 — 여기까지는 잘 동작했다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S55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여기까지는 잘 동작했다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4A  WORKING HARNESS CALLBACK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3분 + Reflection 1분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STATE-04-PERF는 bounded task에서 검증된 성공이다. 뒤에 나올 stale 사례는 별도의 개념 사례다.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“잘 동작하는 System도 계속 맞는 상태로 남아 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(0:00–1:30 / Lecture) ACT 3의 STATE-04-PERF가 기록된 범위에서 성공한 endpoint임을 회수한다.</a:t>
            </a:r>
          </a:p>
          <a:p xmlns:a="http://schemas.openxmlformats.org/drawingml/2006/main">
            <a:r>
              <a:t>2. (1:30–3:00 / Lecture) 화면의 동작 계약, 전체 테스트 11/11, Benchmark guard 세 근거를 차례로 가리킨다. 새 실행이나 인과 비교는 하지 않는다.</a:t>
            </a:r>
          </a:p>
          <a:p xmlns:a="http://schemas.openxmlformats.org/drawingml/2006/main">
            <a:r>
              <a:t>3. (3:00–4:00 / Reflection) “프로젝트가 바뀐 뒤에도 맞을까?”를 개인적으로 생각하게 하고 다음 가상 사례로 넘어간다.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STATE-00 → STATE-04-PERF  ·  bounded image_statistics evidence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STATE-04-PERF의 기록된 task, 코드 경로, 입력, runtime, host 및 검증 조건에 한정한다. 이 결과는 실제 stale Harness나 Product failure를 뜻하지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먼저 잘 동작했던 현재 시스템을 기준점으로 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성공한 Product State와 뒤의 Conceptual Case를 별도 Evidence frame으로 읽는다.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추가 실행 없음. 기존 ACT 3에서 승인된 STATE-04-PERF 결과를 짧게 회수한다. 수치는 현재 범위와 함께 보이고 일반 성과로 확대하지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1분 Reflection: “성공한 현재 상태도 Project 변화 뒤 다시 확인해야 할까?” 개인 생각만 하고 응답을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Project가 정당한 이유로 바뀌면 작업 Workflow도 함께 바뀔까?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3분 + Reflection 1분. 기존 ACT 3 설명을 다시 길게 열지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S55와 production/preview/act4/S55.png를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S56 — 개념 사례: Project와 Workflow는 현재 맞다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S56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개념 사례: Project와 Workflow는 현재 맞다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4B  CONCEPTUAL STALE HARNESS / DEMO-04A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Demo 2분 (VISUAL)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가상 사례의 시작에서는 프로젝트의 검증 기준과 재사용 Workflow의 지시가 모두 단위 테스트를 대상으로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“지금 맞는 Project Workflow는 계속 맞을까?”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(0:00–0:30 / VISUAL Demo) 실제 graypipe 이력과 별개인 가상 사례임을 먼저 말한다.</a:t>
            </a:r>
          </a:p>
          <a:p xmlns:a="http://schemas.openxmlformats.org/drawingml/2006/main">
            <a:r>
              <a:t>2. (0:30–1:30 / VISUAL Demo) 왼쪽 프로젝트 기준과 오른쪽 재사용 지침이 모두 단위 테스트를 가리키는 모습을 비교한다.</a:t>
            </a:r>
          </a:p>
          <a:p xmlns:a="http://schemas.openxmlformats.org/drawingml/2006/main">
            <a:r>
              <a:t>3. (1:30–2:00 / VISUAL Demo) 당시 기준에는 일치하는 절차였다는 출발점을 남긴다. 다음 장의 변경을 미리 설명하지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DEMO-04A  ·  constructed starting condition  ·  no Trial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CONCEPTUAL CASE. `ai-dev-training-demo`의 기록, Trial 또는 Product State가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처음에는 현재 지침과 재사용 절차가 서로 맞아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당시에 올바른 절차도 Project 변화 이후 stale해질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선택적 맥락: 실제 Project에서도 build/test structure가 바뀔 수 있다. 별도 C++ 사례로 확장하지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CONCEPTUAL 정적 도식. 두 단위 테스트 범위와 가운데 등호를 가리킨다. 실행 캡처·명령·결과 badge는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두 지시의 범위가 같은지 눈으로 비교한다. 답변이나 실행은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Project가 바뀌었는데 재사용 Workflow가 그대로라면 어떻게 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VISUAL Demo 2분. 첫 장면은 정상 상태로 두고 Project 변경을 앞당겨 보여주지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S56와 production/preview/act4/S56.png를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S57 — Project는 바뀌고 Workflow는 남았다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S57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Project는 바뀌고 Workflow는 남았다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4B  CONCEPTUAL STALE HARNESS / DEMO-04A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Demo 2분 (VISUAL) + Case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모듈 연결 동작까지 검증해야 하는 가상 프로젝트에서 공식 기준은 단위+통합 테스트로 넓어졌지만 재사용 Workflow에는 단위 테스트 지시가 남아 있다. 이는 지시 범위의 차이다.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“다음 Task에서 old workflow를 따르면 누가 틀린 걸까?”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Demo) 실제 Trial과 별개인 가상 사례임을 밝힌다. 모듈 연결 동작까지 검증할 필요가 생겨 공식 범위에 통합 테스트를 추가한 사례다.</a:t>
            </a:r>
          </a:p>
          <a:p xmlns:a="http://schemas.openxmlformats.org/drawingml/2006/main">
            <a:r>
              <a:t>2. (1:00–2:00 / Demo) 왼쪽 현재 기준의 단위+통합 테스트와 오른쪽 재사용 Workflow의 단위 테스트 지시를 대조한다.</a:t>
            </a:r>
          </a:p>
          <a:p xmlns:a="http://schemas.openxmlformats.org/drawingml/2006/main">
            <a:r>
              <a:t>3. (2:00–3:00 / Case) Project의 요구 변화와 재사용 지침의 미갱신을 구분한다.</a:t>
            </a:r>
          </a:p>
          <a:p xmlns:a="http://schemas.openxmlformats.org/drawingml/2006/main">
            <a:r>
              <a:t>4. (3:00–4:00 / Case) Agent가 실제로 무엇을 실행했는지 아직 보여주지 않았음을 짧게 알리고, 다음 요청을 보정해도 재사용 지침이 남는 질문으로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DEMO-04A / DEC-0021 / BEAT-038–039 / CONCEPTUAL. 단위+통합 테스트 가상 설정은 발표용 Pilot에 대한 최신 사용자 승인으로 확정됐다. 실제 Repository 이력이나 Trial 근거가 추가된 것은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승인된 가상 설정이다. 실제 Repository migration, 기존 graypipe Skill, Agent 실행, 테스트 누락 또는 PASS/FAIL 결과를 뜻하지 않는다. 지시의 범위를 비교하며 실제 실행 결과는 보여주지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Agent가 따르는 지침이 Project의 현재 절차와 맞는지 살핀다.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Project source의 변화와 stale artifact의 위치를 분리해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production/ACT_4.pptx의 S57와 production/preview/act4/S57.png 개념 도식을 사용한다. 구체적 명령·Runner 구현·테스트 수·실행 캡처를 추가하지 않는다. 현재 기준과 이전 Workflow 지시를 차례로 가리킨다.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무엇이 바뀌었고 무엇이 남았는지 잠시 비교한다. Agent 탓이나 특정 실패를 가정하지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“이번 요청에 통합 테스트도 확인해 달라고 쓰면, 다음 작업이 읽을 Workflow까지 바뀔까요?” S58로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Demo 2분은 도식 공개에, Case 2분은 stale 간극을 해석하는 데 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S57와 production/preview/act4/S57.png를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S58 — Task 해결과 System 문제는 다르다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S58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Task 해결과 System 문제는 다르다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4B  CONCEPTUAL STALE HARNESS / DEMO-04A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Case 3분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이번 요청을 단위+통합 검증으로 보정할 수 있어도 재사용 Workflow의 단위 테스트 지시는 그대로 남을 수 있다. 현재 Task의 요청 범위와 재사용 절차의 변경을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“Prompt를 더 자세히 쓰면 이번 Task는 해결될까?”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Case) 이번 Prompt에 “통합 테스트도 확인해 줘”를 더하는 가능성을 소개한다.</a:t>
            </a:r>
          </a:p>
          <a:p xmlns:a="http://schemas.openxmlformats.org/drawingml/2006/main">
            <a:r>
              <a:t>2. (1:00–2:00 / Case) 왼쪽 이번 Task 요청은 넓힐 수 있지만 오른쪽 재사용 지침은 단위 테스트에 머무는 차이를 가리킨다.</a:t>
            </a:r>
          </a:p>
          <a:p xmlns:a="http://schemas.openxmlformats.org/drawingml/2006/main">
            <a:r>
              <a:t>3. (2:00–3:00 / Case) 요청 보정이 실제 성공을 입증하지 않으며 다음 Task의 절차까지 갱신하는 조치와 다르다고 정리한다.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DEMO-04A  ·  conceptual consequence  ·  no execution result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가상 가능성만 제시한다. 구체적인 실패, 실행 결과, PASS/FAIL 또는 실제 Demo 이력은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이번 답을 고치는 것과 다음 작업의 절차까지 바꾸는 것은 다르다.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Task-level workaround와 durable system correction을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승인된 가상 설정에서 가능한 Task 보정과 재사용 지침을 비교한다. 실행 결과·누락·복구 성공을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“이번 Task가 풀려도 다음 Task의 지침은 달라졌나?”를 생각하게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그럼 Prompt, global rule, stale Workflow 중 어느 Layer를 살펴볼까?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Case 3분. 가능한 대응과 지시 범위에 머물고 실제 command 실패나 성공 결과를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S58와 production/preview/act4/S58.png를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S59 — 원인에 맞는 Layer를 고르기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S59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원인에 맞는 Layer를 고르기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4C  FIX THE RIGHT LAYER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Demo 2분 (CAPTURED)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Prompt patch는 현재 Task만 풀 수 있고 global rule은 중복·충돌을 만들 수 있다. Workflow가 원인으로 확인된 사례라면 그 source를 고친다.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“어디를 고치면 현재 Task와 다음 Task가 함께 달라질까?”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(0:00–0:30 / CAPTURED Demo) Prompt, 전역 규칙, 원인 Workflow의 세 행을 읽는다.</a:t>
            </a:r>
          </a:p>
          <a:p xmlns:a="http://schemas.openxmlformats.org/drawingml/2006/main">
            <a:r>
              <a:t>2. (0:30–1:15 / CAPTURED Demo) 각각 이번 요청만 바꾸는지, 넓은 곳에 새 규칙을 더하는지, 재사용 절차를 바꾸는지 비교한다.</a:t>
            </a:r>
          </a:p>
          <a:p xmlns:a="http://schemas.openxmlformats.org/drawingml/2006/main">
            <a:r>
              <a:t>3. (1:15–2:00 / CAPTURED Demo) Workflow가 원인으로 확인된 경우에만 마지막 선택이 맞다고 한정한다.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DEMO-11  ·  conceptual layer-selection synthesis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가상 사례 안의 선택 논리다. C는 workflow 원인이 확인된 경우에 맞으며 일반적인 정답이나 Product modification이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Prompt에 한 줄 더하기 전에 반복되는 원인이 있는 곳을 찾는다.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원인이 뒷받침하는 좁은 layer를 선택하고 중복 지침 가능성을 따진다.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Context, workflow, toolchain 또는 test environment 중 원인이 있는 layer를 살핀다는 정도의 pattern transfer만 가능하다.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실제 실행 캡처가 아닌 가상 선택지의 정적 재구성이다. 세 행의 변경 범위를 비교하고 실제 Product 수정 diff처럼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A/B/C의 효과 범위를 소리 없이 비교하게 한다. 원인이 정해졌다고 일반화하지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보이는 실패 지점과 실제 원인 Layer는 항상 같을까?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CAPTURED 2분. Visual matrix만 설명하고 새 Product 근거를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S59와 production/preview/act4/S59.png를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S60 — 실패 지점과 원인 Layer 구분하기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S60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실패 지점과 원인 Layer 구분하기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4C  FIX THE RIGHT LAYER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1분 + Demo 1분 (CAPTURED)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증상은 Prompt나 실행 지점에 보일 수 있지만 원인은 Context, Workflow, Environment, Tool/Permission, Product code 등 다른 층에 있을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“실패가 보인 Layer와 원인이 있는 Layer는 항상 같을까?”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(0:00–0:45 / Lecture) “요청한 검증이 충분한가?”라는 증상만으로 원인을 정할 수 없다고 설명한다.</a:t>
            </a:r>
          </a:p>
          <a:p xmlns:a="http://schemas.openxmlformats.org/drawingml/2006/main">
            <a:r>
              <a:t>2. (0:45–1:00 / Lecture) 현재 기준, 작업 절차, 실행 조건, 코드 동작을 다른 조사 대상으로 분리한다.</a:t>
            </a:r>
          </a:p>
          <a:p xmlns:a="http://schemas.openxmlformats.org/drawingml/2006/main">
            <a:r>
              <a:t>3. (1:00–2:00 / CAPTURED Demo) 오른쪽의 Context, Workflow, 환경·권한, 제품 코드 질문을 차례로 가리킨다. 어느 하나를 원인으로 확정하지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DEMO-11  ·  conceptual cause/layer synthesis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교육용 debugging heuristic이다. 고정 진단표나 단일 원인 mapping이 아니며, 가상 사례의 원인은 조사로 확인해야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실패 메시지만 보고 Prompt나 Agent를 탓하지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Observation, cause hypothesis, system change, rerun, evaluation을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Build, environment, permission, project code를 후보로 분리하는 pattern만 제공한다.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가상 원인 후보의 정적 도식이다. 왼쪽 질문에서 오른쪽 점선 후보 목록으로 시선을 옮긴다. 단일 인과 화살표나 실행 결과가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증상이 보여도 원인이 아직 미확정일 수 있음을 함께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S61에서 이 사례의 가정과 확인할 가설을 분리한다.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1분은 관점을 설명하고 CAPTURED visual 1분은 후보 layer만 보여준다.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S60와 production/preview/act4/S60.png를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S61 — 먼저 관찰하고, 그다음 가설을 세운다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S61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먼저 관찰하고, 그다음 가설을 세운다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4C  CAUSE / CHANGE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Case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실행된 절차, 현재 Project 문서, 재사용 Workflow, 실패가 나타난 위치를 먼저 살핀다. 관찰한 사실과 원인 판단은 별개다.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“원인을 추측하기 전에 무엇부터 확인해야 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(0:00–0:45 / Case) 왼쪽의 현재 기준 단위+통합, 재사용 지침 단위만은 가상 설정에 주어진 정보라고 밝힌다.</a:t>
            </a:r>
          </a:p>
          <a:p xmlns:a="http://schemas.openxmlformats.org/drawingml/2006/main">
            <a:r>
              <a:t>2. (0:45–1:30 / Case) 오른쪽의 “오래된 Workflow가 원인일 수 있다”는 원인 가설로 구분한다.</a:t>
            </a:r>
          </a:p>
          <a:p xmlns:a="http://schemas.openxmlformats.org/drawingml/2006/main">
            <a:r>
              <a:t>3. (1:30–2:00 / Case) 실제 문제라면 실행 경로와 실제 읽은 지침을 대조해야 한다고 정리한다. 이 사례의 실제 실행 기록은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DEMO-04A  ·  scenario assumptions and inference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화면의 “scenario assumption”도 실제 Trial 관찰이 아니다. stale Workflow는 점검할 가설이지 확정 사실이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원인을 정하기 전 현재 지침과 따라간 절차를 맞춰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증거와 cause hypothesis의 확신 수준을 분리한다.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왼쪽 가상 설정과 오른쪽 확인할 가설을 비교한다. OBSERVED 제품 기록이나 실제 실행 경로처럼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두 칸을 읽고 어떤 문장이 가정이며 어떤 문장이 추론인지 구분해 본다. 답변 제출은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Workflow 원인이 확인됐다면 어느 범위까지 바꿔야 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Case 2분. 가상 전제와 실제 Evidence를 구별한다.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S61와 production/preview/act4/S61.png를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S62 — Cause가 지지하는 최소 변경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S62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Cause가 지지하는 최소 변경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4C  CAUSE / CHANGE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1분 + Case 1분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이 사례에서 stale Workflow가 원인으로 확인됐다고 가정하면 우선 그 Workflow를 갱신한다. 중복된 오래된 지침은 원인일 때만 제거한다.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“얼마나 바꿔야 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Lecture) “Workflow가 원인으로 확인됐다면”이라는 조건을 먼저 읽고, 원인과 변경 범위를 맞추는 원칙을 설명한다.</a:t>
            </a:r>
          </a:p>
          <a:p xmlns:a="http://schemas.openxmlformats.org/drawingml/2006/main">
            <a:r>
              <a:t>2. (1:00–2:00 / Case) 가상 Workflow의 검증 대상 지시를 단위에서 단위+통합으로 갱신하는 설계를 가리킨다. 불필요한 전역 규칙이나 다른 파일을 함께 바꿀 이유는 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DEMO-04A  ·  conceptual cause-to-change path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가상 사례의 조건부 대응이다. 실제 Product 변경이나 Trial 결과가 아니며, “최소”는 무조건 적게 바꾸라는 뜻이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새 규칙을 더하기 전에 실제 원인이 있는 곳을 고친다.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Cause가 지지하는 가장 작은 durable change를 정한다.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화면의 두 지침은 가상 Before/After 설계다. 실제 변경 diff나 실행 결과가 아니다. 원인 확인 조건을 계속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조건이 바뀌면 수정 대상도 바뀔 수 있음을 잠시 생각하게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변경 뒤 같은 Task를 다시 통과하면 Harness는 충분히 검증된 걸까?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1분은 원칙, Case 1분은 가상 workflow 변화에 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S62와 production/preview/act4/S62.png를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S63 — 같은 Task의 재실행만으로 충분할까?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S63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같은 Task의 재실행만으로 충분할까?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4D  EVALUATION &amp; REGRESSION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1분 + Case 3분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같은 Task의 재실행은 필요하지만 그것만으로 변경이 인접 작업에 영향을 주지 않는지는 알 수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“Failure가 사라졌으면 Harness fix가 끝난 걸까?”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Lecture) 왼쪽은 이번 작업의 요청 범위를 다시 다루는지 묻는 검증이라고 설명한다.</a:t>
            </a:r>
          </a:p>
          <a:p xmlns:a="http://schemas.openxmlformats.org/drawingml/2006/main">
            <a:r>
              <a:t>2. (1:00–2:30 / Case) 오른쪽은 바뀐 지침이 다른 유효한 작업을 방해하는지 묻는 질문임을 비교한다.</a:t>
            </a:r>
          </a:p>
          <a:p xmlns:a="http://schemas.openxmlformats.org/drawingml/2006/main">
            <a:r>
              <a:t>3. (2:30–4:00 / Case) 두 질문의 범위가 다르므로 대표 작업을 고르는 평가 설계가 필요하다고 연결한다. 어느 결과도 통과했다고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DEMO-04A  ·  designed rerun and system evaluation path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이 재실행과 확장 검증은 conceptual design이다. 실행 결과, pass count, regression success를 보여주지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이번 작업이 다시 되는지와 다른 작업도 안전한지는 별도 질문이다.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Task recovery는 필요 조건일 수 있어도 Harness-level validation을 대신하지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같은 build/test 시나리오 재실행은 필요하지만 전체 회귀 위험을 모두 해소하지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이번 작업과 다른 작업의 검증 질문 두 영역을 비교한다. 실제 재실행이나 회귀 성공 결과는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두 확인 질문의 범위가 다른 점을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변경이 닿는 다른 작업 표면은 어떤 대표 Task로 볼까?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1분 + Case 3분. 구체적인 pass/fail을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S63와 production/preview/act4/S63.png를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S64 — 대표 작업으로 변경 범위를 확인하기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S64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대표 작업으로 변경 범위를 확인하기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4D  EVALUATION &amp; REGRESSION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Demo 5분 (VISUAL / CAPTURED conceptual matrix)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평가 작업의 수보다 서로 다른 사용 표면과 회귀 위험을 대표하는지가 중요하다. EVAL-01/02의 별도 과거 관찰 참고와 EVAL-03/04의 설계 사례를 구분하며, 이 Workflow 변경 뒤의 실행 결과는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“무엇을 대표 Task로 고를까?”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VISUAL Demo) “작업 수보다 서로 다른 위험을 덮는가?”라는 기준을 연다.</a:t>
            </a:r>
          </a:p>
          <a:p xmlns:a="http://schemas.openxmlformats.org/drawingml/2006/main">
            <a:r>
              <a:t>2. (1:00–2:00 / VISUAL Demo) 버그 수정은 동작 계약, 성능 변경은 측정과 검증 범위를 확인하기 위한 선택임을 짚는다. 우측 실선의 TRIAL-002와 STATE-04-PERF는 별도 과거 관찰 참고다.</a:t>
            </a:r>
          </a:p>
          <a:p xmlns:a="http://schemas.openxmlformats.org/drawingml/2006/main">
            <a:r>
              <a:t>3. (2:00–4:00 / VISUAL Demo) 문서만 수정하는 작업에는 불필요한 절차가 강요되지 않는지, 작은 리팩터링에는 유효한 다른 작업이 방해받지 않는지 묻는다. 두 행은 점선의 설계 사례이며 결과가 없다.</a:t>
            </a:r>
          </a:p>
          <a:p xmlns:a="http://schemas.openxmlformats.org/drawingml/2006/main">
            <a:r>
              <a:t>4. (4:00–5:00 / VISUAL Demo) 네 작업 모두 이번 가상 Workflow 변경 후 수행된 평가가 아님을 말하고 대표성을 기준으로 회수한다.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DEMO-10  ·  EVAL-01/02 prior Product references; EVAL-03/04 designed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EVAL-01/02는 별도 Product task chain의 기존 참고 Evidence다. EVAL-03/04는 설계 사례이며 결과가 없다. 이번 stale-Workflow 변경 뒤의 PASS/FAIL 또는 새 Trial은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대표 작업은 다른 사용 방식을 확인하도록 골라야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변경이 닿는 흔한 표면, 알려진 회귀 위험, 비교 대상이 없을 수 있는 task를 나눠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Contextual only: 대표 작업 선택은 Vision build, benchmark, docs 같은 surface에 적용할 수 있지만 별도 C++ case는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중앙은 네 평가 작업의 선정 이유, 우측은 분리된 참고 근거/설계 상태다. EVAL-01/02의 과거 관찰 참고와 EVAL-03/04의 설계를 선과 색으로 구분한다. 새 실행·PASS/FAIL 결과는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작업 이름보다 가운데 확인 질문을 읽도록 유도한다. 평가 작업을 많이 모으는 대신 어떤 위험을 보려는지 생각하게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실패마다 규칙을 하나씩 더하면 평가 범위가 커지기만 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Demo 5분은 static matrix 설명에 사용한다. 네 EVAL을 실제로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S64와 production/preview/act4/S64.png를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S65 — Harness도 특정 실패에 맞춰 과적합될 수 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S65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Harness도 특정 실패에 맞춰 과적합될 수 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4D  EVALUATION &amp; REGRESSION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4분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실패마다 전역 규칙을 덧붙이면 Harness가 비대해지거나 충돌하고 특정 Task에만 좁게 맞춰질 수 있다. 원인을 확인하고 대표 작업을 평가하며 불필요한 규칙은 정리한다.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“한 번 실패했다고 규칙을 계속 추가하면 어떻게 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Lecture) 실패마다 규칙을 더하는 상황을 가정한다.</a:t>
            </a:r>
          </a:p>
          <a:p xmlns:a="http://schemas.openxmlformats.org/drawingml/2006/main">
            <a:r>
              <a:t>2. (1:00–2:30 / Lecture) 규칙 누적, 충돌, 특정 작업에만 맞춤 세 비용을 짚는다. 통계적 ML 과적합과 동일한 현상이라고 말하지 않는다.</a:t>
            </a:r>
          </a:p>
          <a:p xmlns:a="http://schemas.openxmlformats.org/drawingml/2006/main">
            <a:r>
              <a:t>3. (2:30–4:00 / Lecture) 원인 확인, 대표 작업 평가, 불필요한 규칙 정리라는 하단 판단 기준으로 돌아온다.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DEMO-04A  ·  conceptual regression / maintenance model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“Overfit”은 교육용 비유다. ML 통계적 overfitting과 같은 현상이라고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규칙 수를 늘리기보다 반복 원인을 살핀다.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대표 task에서의 효과와 유지 비용을 같이 평가하고 obsolete rule을 제거한다.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없음. 반복 실패→규칙 누적 도식은 teaching model이며 실제 history가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누적 규칙이 낳을 수 있는 bloat, conflict, narrow fit을 같이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관찰·원인·변경·평가가 연결될 때 이를 어떤 Engineering 관점으로 볼까?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4분. 통계적 ML overfitting과 동일시하거나 보편 법칙으로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S65와 production/preview/act4/S65.png를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S66 — Feedback을 System Change와 Evaluation으로 잇기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S66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Feedback을 System Change와 Evaluation으로 잇기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4E  LOOP MENTAL MODEL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11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9분 + Demo 2분 (VISUAL)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실행 결과와 반복되는 마찰을 관찰하고 원인과 재발 가능성을 판단한 뒤 적절한 System을 바꾸고 결과를 다시 평가할 때 Feedback은 System Improvement로 이어진다.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“Feedback이 언제 Engineering이 되는가?”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(0:00–2:00 / Lecture) 실행과 관찰의 질문을 구분한다. 앞의 가상 사례에서 지시 범위 비교가 실행 결과와 다름을 짚는다.</a:t>
            </a:r>
          </a:p>
          <a:p xmlns:a="http://schemas.openxmlformats.org/drawingml/2006/main">
            <a:r>
              <a:t>2. (2:00–5:00 / Lecture) 원인 판단에는 실행 경로·선택한 지침 등 추가 확인이 필요함을 S61의 논리로 회수한다.</a:t>
            </a:r>
          </a:p>
          <a:p xmlns:a="http://schemas.openxmlformats.org/drawingml/2006/main">
            <a:r>
              <a:t>3. (5:00–7:00 / Lecture) 시스템 변경은 원인 Layer를 바꾸는 일이며, Prompt 보정과 재사용 Workflow 갱신의 범위가 다름을 회수한다.</a:t>
            </a:r>
          </a:p>
          <a:p xmlns:a="http://schemas.openxmlformats.org/drawingml/2006/main">
            <a:r>
              <a:t>4. (7:00–9:00 / Lecture) 같은 작업과 다른 대표 작업의 재평가가 답하는 질문을 비교한다. 새 결과는 제시하지 않는다.</a:t>
            </a:r>
          </a:p>
          <a:p xmlns:a="http://schemas.openxmlformats.org/drawingml/2006/main">
            <a:r>
              <a:t>5. (9:00–11:00 / VISUAL Demo) 정적 도식의 실행→관찰→원인 판단→시스템 변경→재평가를 순서대로 가리킨다. 자동 학습을 뜻하지 않는 교육용 운영 모델임을 닫고 실제 Meta 기록으로 전환한다.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DEC-0023  ·  course operational model  ·  no product loop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이 교육의 operational model이다. 자동 학습, Agent self-learning, 무한 반복, observed Product loop를 뜻하지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같은 수정을 되풀이하는 대신 다음 작업에도 영향을 주는 System을 살핀다.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자동화와 별개로 cause, recurrence, change layer, evaluation을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정적 5단계 도식과 발표자 지목을 사용한다. R1–R5 내부 번호나 운영 시간은 청중 화면에 표시하지 않는다. 자동 애니메이션·실행·모델 학습 주장은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“Feedback은 어느 순간 System change가 되는가?”를 생각하게 하고, 응답 제출은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표기를 바꾸어 실제 교육 제작 기록에서의 별도 Loop를 살펴본다.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9분, 마지막 VISUAL Demo 2분. R1–R5는 approximate reveal cue이며 전체가 항상 표시되는 정적 도식으로 진행 가능.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S66와 production/preview/act4/S66.png를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S67 — 실제 제작 기록: TRIAL-006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S67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실제 제작 기록: TRIAL-006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4F  OBSERVED META LOOP / DEMO-04B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Demo 2분 (CAPTURED)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TRIAL-006은 Codex CLI에서 수행한 실제 성능 조사다. Global Skills와 시작 경고가 함께 관찰되어 Prompt-only attribution은 PARTIAL이다.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“이번에는 실제 제작 과정에서 무슨 일이 있었나?”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(0:00–0:30 / CAPTURED Demo) OBSERVED META 표식과 이중선을 가리키며 앞의 가상 사례를 닫고 실제 교육 제작 기록으로 전환한다.</a:t>
            </a:r>
          </a:p>
          <a:p xmlns:a="http://schemas.openxmlformats.org/drawingml/2006/main">
            <a:r>
              <a:t>2. (0:30–1:15 / CAPTURED Demo) 성능 작업 요청, Global Skill이 관여한 실행 환경, Prompt만의 효과로 분리하기 어려운 결과 해석의 세 영역을 짚는다.</a:t>
            </a:r>
          </a:p>
          <a:p xmlns:a="http://schemas.openxmlformats.org/drawingml/2006/main">
            <a:r>
              <a:t>3. (1:15–2:00 / CAPTURED Demo) PARTIAL은 결과가 없다는 뜻이 아니라 원인 귀속의 한계라고 열고 다음 장에서 두 질문을 나눈다.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TRIAL-006  ·  DEC-0016  ·  TRIAL-007/008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OBSERVED_META: 교육자료 제작·Trial 평가 기록이다. Demo Product change나 DEMO-04A 원인/수정 사례가 아니다. Codex CLI evidence를 현재 Desktop으로 일반화하지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결과가 있다는 사실과 그 원인을 안다는 것은 다르다.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ambient global environment가 있는 실행에서 attribution boundary를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TRIAL-006 기록을 재구성한 native 도식이다. 작업 요청→실행 환경→결과 해석을 차례로 읽는다. 실제 terminal screenshot이 아니며 현재 Desktop 동작을 주장하지 않는다. Hook 경고는 효과 관찰을 뜻하지 않고 MCP 시작 경고는 작업 결과를 뜻하지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이 시점에 Evidence grammar가 바뀌었음을 보고 Conceptual case와 구별한다.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이 결과를 Task Prompt만의 효과라고 말할 수 있을까?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CAPTURED 2분. 실제 기록의 정적 요약을 사용하고 새 제품 실행은 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S67와 production/preview/act4/S67.png를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S68 — 결과의 타당성과 원인 귀속은 별개다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S68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결과의 타당성과 원인 귀속은 별개다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4F  OBSERVED META LOOP / DEMO-04B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Demo 4분 (CAPTURED)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resize_nearest 측정은 기록된 코드·입력·runtime·host 범위에서 유효하지만, global Harness 영향 때문에 전체 workflow를 Prompt 하나의 효과로 분리할 수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“측정 결과가 유효해도 원인을 Prompt 하나로 좁힐 수 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CAPTURED Demo) 왼쪽 “측정 결과는 유효한가?”와 오른쪽 “무엇이 결과를 만들었나?”를 독립된 질문으로 읽는다.</a:t>
            </a:r>
          </a:p>
          <a:p xmlns:a="http://schemas.openxmlformats.org/drawingml/2006/main">
            <a:r>
              <a:t>2. (1:00–2:00 / CAPTURED Demo) input/output hash와 같은 조건의 7회 one-call 측정 기록을 확인한다. 144.2→33.5 ms/call median은 작은 보조정보다. 합성 640×480 gray(max4095)→960×720, CPython 3.9.6, macOS 26.6.2 arm64 범위를 말한다.</a:t>
            </a:r>
          </a:p>
          <a:p xmlns:a="http://schemas.openxmlformats.org/drawingml/2006/main">
            <a:r>
              <a:t>3. (2:00–3:15 / CAPTURED Demo) performance-goal Global Skill이 evaluator·ledger·threshold에 관여한 기록을 설명한다. 수치 변화의 직접 원인이라고 단정하지 않는다.</a:t>
            </a:r>
          </a:p>
          <a:p xmlns:a="http://schemas.openxmlformats.org/drawingml/2006/main">
            <a:r>
              <a:t>4. (3:15–4:00 / CAPTURED Demo) Hook 경고와 효과, MCP 시작 오류와 작업 결과를 구분하고, 결과와 원인 해석을 별도로 기록해야 한다고 닫는다.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TRIAL-006  ·  7 one-call samples  ·  disposable worktree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144.2 → 33.5 ms/call median은 기록된 synthetic 640×480 grayscale input (max 4095) → 960×720, CPython 3.9.6, macOS 26.6.2 arm64에 한정한다. Prompt-only attribution은 PARTIAL. 4.30×/76.8% hero metric은 사용하지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숫자가 있어도 무엇이 결과를 만들었는지 자동으로 알 수는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Result validity와 causal attribution의 확신 수준을 따로 보고한다.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필요하면 같은 원리를 C++ benchmark의 입력, compiler, host, toolchain 범위로 transfer하되 새 사례로 확장하지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CAPTURED trial summary. Input/output SHA-256 guards matched; seven one-call samples. `performance-goal` global Skill influenced evaluator/ledger/threshold, but is not proven the direct cause of the metric. Hook warnings do not prove hook effect; MCP startup error does not evidence task result.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왼쪽은 확인된 result validity, 오른쪽은 남은 attribution uncertainty를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이 한계가 후속 Trial의 평가 방식에 어떤 변경을 만들었을까?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CAPTURED Demo 4분. 성능 숫자를 성과 발표처럼 연출하거나 일반화하지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S68와 production/preview/act4/S68.png를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S69 — 평가와 보고 규칙을 Evidence에 맞추다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S69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평가와 보고 규칙을 Evidence에 맞추다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4F  OBSERVED META LOOP / DEMO-04B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1분 + Demo 2분 (CAPTURED)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DEC-0016은 TRIAL-006을 PARTIAL로 보존하고 clean isolation을 진행 조건으로 요구하지 않으며, 후속 CLI Trial에서 관찰된 global influence를 기록하도록 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“Prompt 효과를 분리할 수 없다면 다음 Trial은 어떻게 기록해야 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Lecture) 기존 평가가 작업·Repository 중심이어서 주변 Harness 영향 설명이 충분하지 않았다고 짚는다.</a:t>
            </a:r>
          </a:p>
          <a:p xmlns:a="http://schemas.openxmlformats.org/drawingml/2006/main">
            <a:r>
              <a:t>2. (1:00–2:15 / CAPTURED Demo) 우측 후속 기록 기준에서 관찰한 Skill, 경고와 실제 사용 여부, 결과의 해석 범위를 차례로 가리킨다.</a:t>
            </a:r>
          </a:p>
          <a:p xmlns:a="http://schemas.openxmlformats.org/drawingml/2006/main">
            <a:r>
              <a:t>3. (2:15–3:00 / CAPTURED Demo) DEC-0016은 기존 결과를 PARTIAL로 보존하고 관찰된 조건을 함께 남기는 결정이었다고 정리한다. Product 코드/Skill 수정이나 격리 환경 구축은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TRIAL-006  →  DEC-0016  ·  evaluation / reporting policy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실제 Training Production evaluation/reporting governance 변화다. Product code 또는 Demo Skill을 수정하지 않았고 clean isolation을 구축했다고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환경 조건과 수행 도구가 다르면 결과 설명도 그 경계를 밝혀야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미통제 조건을 숨기지 않고 Trial 결과의 사용 범위를 제한한다.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실제 평가·보고 결정의 의미를 Before/After로 재구성했다. 원문 직접 인용이나 Product diff로 표현하지 않는다. PARTIAL 보존과 관찰된 Global influence 기록을 변경 내용으로 한정한다.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무엇이 바뀌었는지와 무엇이 바뀌지 않았는지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이 기준은 TRIAL-007/008에 어떻게 적용됐을까?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1분 + CAPTURED 2분. Trial/reporting boundary에만 머문다.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S69와 production/preview/act4/S69.png를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S70 — 후속 기록은 개선됐지만 완전하지 않았다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S70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후속 기록은 개선됐지만 완전하지 않았다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4F  OBSERVED META LOOP / DEMO-04B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1분 + Case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TRIAL-007은 global influence를 기록했지만 MCP report와 stderr가 불일치한다. TRIAL-008은 repository Skill 호출과 global influence를 별도로 기록했다. 품질 향상은 측정되지 않았다.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“새로운 기록 규칙이 모든 불확실성을 해결했을까?”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Lecture) TRIAL-007의 최종 보고 “MCP 경고 없음”과 보존된 stderr의 Nimble AuthRequired가 서로 맞지 않는 점을 가리킨다. 화면 문구는 원문 의미의 요약이다.</a:t>
            </a:r>
          </a:p>
          <a:p xmlns:a="http://schemas.openxmlformats.org/drawingml/2006/main">
            <a:r>
              <a:t>2. (1:00–2:00 / Case) 오류 표시는 MCP 작업 결과를 뜻하지 않음을 명확히 한다. TRIAL-008은 Repository Skill 발견·명시 호출과 Global influence를 따로 기록한 Codex CLI 0.154.0 사례다.</a:t>
            </a:r>
          </a:p>
          <a:p xmlns:a="http://schemas.openxmlformats.org/drawingml/2006/main">
            <a:r>
              <a:t>3. (2:00–3:00 / Case) 기록 경계가 명확해진 부분과 남은 불일치를 함께 보존한다. 완전한 목록이나 측정된 품질 개선이라고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TRIAL-007 / TRIAL-008  ·  DEC-0016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적용은 부분적이다. 완전한 environment inventory, 완벽한 report, 측정된 Trial-quality improvement를 주장하지 않는다. TRIAL-007의 stderr에는 Nimble AuthRequired가 있으나 MCP task result는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개선된 기록도 빠진 점과 불일치가 있는지 다시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보고, stderr, global influence inventory를 서로 대조하고 claim boundary를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위쪽 두 행은 TRIAL-007 보고/stderr의 의미 대조이고, 아래 행은 TRIAL-008의 별도 기록을 요약한다. 실제 로그 캡처로 위장하지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후속 기록이 무엇을 명확히 했고 무엇을 남겼는지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S71에서 실제로 바뀐 System과 미확정 사항을 한 번에 회수한다.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1분 + Case 2분. 불일치와 unknown을 숨기지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S70와 production/preview/act4/S70.png를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S71 — 실제 Meta Loop에서 바뀐 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S71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실제 Meta Loop에서 바뀐 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4F  OBSERVED META LOOP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1분 + Case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TRIAL-006의 ambient influence 및 PARTIAL attribution은 DEC-0016의 Trial evaluation/reporting 변경으로 이어졌고 TRIAL-007/008에서 기록 경계가 부분적으로 적용됐다. Product code가 바뀐 것은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“무엇이 바뀌었고, 무엇은 아직 모르는가?”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Lecture) TRIAL-006의 관찰→DEC-0016→후속 TRIAL-007/008이라는 실제 흐름을 한 문장으로 회수한다.</a:t>
            </a:r>
          </a:p>
          <a:p xmlns:a="http://schemas.openxmlformats.org/drawingml/2006/main">
            <a:r>
              <a:t>2. (1:00–2:00 / Case) 왼쪽에서 바뀐 대상이 교육 제작의 평가·보고 기준임을 짚는다.</a:t>
            </a:r>
          </a:p>
          <a:p xmlns:a="http://schemas.openxmlformats.org/drawingml/2006/main">
            <a:r>
              <a:t>3. (2:00–3:00 / Case) 오른쪽의 원인별 효과, 환경 목록의 완전성, Trial 품질 향상은 미확인이라고 남기고 C++ 전이로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TRIAL-006  →  DEC-0016  →  TRIAL-007/008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후속 report에는 불일치가 남고 quality effect는 미측정이다. DEMO-04A conceptual stale workflow와 합치지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실제로 바뀐 것과 아직 모르는 점을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Loop의 system change는 평가·보고 거버넌스일 수 있으나 outcome은 재평가해야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실제로 바뀐 것과 아직 확인 못한 것의 두 영역을 비교한다. 앞의 Timeline을 다시 길게 강의하거나 가상 Workflow의 실제 복구로 합치지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Changed/Unknown 두 칸을 비교하며 Meta case를 정리한다.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이 원리를 C++ Vision Project에 옮기면 무엇을 확인할까?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1분 + Case 2분. preceding slides를 다시 풀어 설명하지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S71와 production/preview/act4/S71.png를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S72 — Project와 환경이 바뀌면 검증도 다시 본다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S72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Project와 환경이 바뀌면 검증도 다시 본다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4 / 4G  C++ VISION TRANSFER  /  4H DISCUSSION &amp; TRANSITION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20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Case 7분 + Reflection 2분 + Q&amp;A 7분 + Transition 4분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Project나 환경이 바뀌면 기존 performance 가정과 verification 절차가 여전히 맞는지 다시 확인한다. 반복되는 마찰은 관찰하고 원인을 찾아 관련 layer를 바꾼 뒤 benchmark와 regression으로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“같은 문제가 두 번째로 생기면 다시 Prompt를 고칠까, System을 살펴볼까?”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(0:00–2:00 / Case) GPU·빌드·측정 조건이 달라진 상황을 가정한다. 실제 C++ 사건이나 구체적 버전 조합을 주장하지 않는다.</a:t>
            </a:r>
          </a:p>
          <a:p xmlns:a="http://schemas.openxmlformats.org/drawingml/2006/main">
            <a:r>
              <a:t>2. (2:00–4:30 / Case) 그림의 입력·코드·장치와 기존 가정·측정 조건 질문을 가리킨다. 기존 판단이 어떤 조건에서 맞았는지, 입력과 실행 조건이 비교 가능한지 묻는다. 관찰된 성능 저하나 숫자를 만들지 않는다.</a:t>
            </a:r>
          </a:p>
          <a:p xmlns:a="http://schemas.openxmlformats.org/drawingml/2006/main">
            <a:r>
              <a:t>3. (4:30–7:00 / Case) 출력 그림과 기능 계약 질문에서 성능과 함께 다시 확인할 동작 범위를 살핀다. 반복 신호→원인 Layer 조사→관련 시스템 변경→Benchmark/Regression 재확인으로 연결한다.</a:t>
            </a:r>
          </a:p>
          <a:p xmlns:a="http://schemas.openxmlformats.org/drawingml/2006/main">
            <a:r>
              <a:t>4. (7:00–9:00 / Reflection) 하단 질문을 가리켜 자기 업무의 반복 마찰 하나를 마음속으로 떠올리게 한다. 기록·답변·발표는 요구하지 않는다.</a:t>
            </a:r>
          </a:p>
          <a:p xmlns:a="http://schemas.openxmlformats.org/drawingml/2006/main">
            <a:r>
              <a:t>5. (9:00–16:00 / Q&amp;A) 질문을 받는다. 질문이 없으면 아래 Fallback 질문을 하나씩 골라 강사가 짧게 해설한다. 새로운 기술 사례나 제품 설정 강의를 열지 않는다.</a:t>
            </a:r>
          </a:p>
          <a:p xmlns:a="http://schemas.openxmlformats.org/drawingml/2006/main">
            <a:r>
              <a:t>6. (16:00–20:00 / Transition) 16분에 질문을 마감한다. 가정→측정 조건→기능 계약 세 질문을 전체 Story의 Context→Harness→Loop와 연결하고 S73의 여정 회수로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BEAT-059 / TRANS-012  ·  teaching transfer, not observed C++ incident 삽화 출처: prototype/image-illustration-pilot/assets/S72.png, built-in image_gen, 2026-10-18. 생성 프롬프트: prototype/image-illustration-pilot/PROMPTS.md. 실제 화면·현장 사진·관찰 자료가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COURSE MODEL / C++ VISION TRANSFER. Toolchain, CUDA/GPU architecture, build/benchmark configuration은 hypothetical teaching context이며 실제 Demo history가 아니다. 구체적인 Windows/shell/IDE/hardware setup을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같은 문제가 반복되면 Prompt 외에도 Project와 workflow를 살핀다.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Project/environment 변화가 verification assumptions에 미치는 영향을 평가한다.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Primary bridge. 변화한 조건에서 기존 tuning 가정과 benchmark/regression 조건을 다시 확인하는 engineering pattern만 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정적 화면과 speaker-led highlighting을 사용한다. 화면에는 세 확인 대상과 성찰 질문을 두고, 20분 운영표는 Notes에만 둔다. Live 프로젝트·제품 실행·애니메이션 의존 없음. 정적 삽화의 입력→처리 코드→실행 장치→출력을 차례로 가리킨다. 황색 장치·설정 표시는 검토할 조건의 변화이며 실패 원인이 확정됐다는 뜻이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7–9분 개인 Reflection은 답변·공유 없이 진행한다. 9–16분 Q&amp;A에서는 실제 회사 환경의 검증되지 않은 해결책을 단정하지 않고 어떤 조건을 확인해야 하는지로 답한다.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“이제 기능이 아니라, 처음의 문제에서 Loop까지 이어진 Story를 다시 연결해 보겠습니다.” ACT 5 S73으로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0–7 Case 7분, 7–9 Reflection 2분, 9–16 Q&amp;A 7분, 16–20 Transition 4분으로 20분을 유지한다. Cutoff cue: “이 질문은 여기까지 정리하고, 이제 처음 문제부터 지금의 Loop까지 연결해 보겠습니다.” 실제 20분 리허설은 수행하지 않았다. 0–2분 전체 그림/변경 표식, 2–4:30분 입력·코드·장치의 가정과 비교 조건, 4:30–7분 출력·기능 계약을 설명한다. 이후 7–9분 Reflection, 9–16분 Q&amp;A, 16–20분 Transition을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정적 PPT/PNG를 기본 경로로 사용한다. Q&amp;A가 없으면 ①“예전 Benchmark와 비교하기 전에 어떤 조건을 맞춰야 할까요?” ②“성능이 달라졌을 때 기능 계약은 무엇으로 다시 확인할까요?” ③“두 번째로 같은 문제가 생기면 Prompt 외에 무엇을 살펴볼까요?” 중 하나씩 선택한다. 응답을 요구하지 않고 기존 세 질문의 범위에서 강사가 짧게 해설한다. 정적 파일: production/preview/act4/S72.png 및 production/preview/full/S72.png.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사용자 승인 삽화를 전체 제작본에 반영했다. PPT/Notes/PNG 대조와 S72 잘림 재검토 결과는 production/evaluation/FULL_DECK_IMAGE_INTEGRATION.md에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9f989ee69349a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6c4fded6f143a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74044c307054ff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3fffebab146444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da6eefcbd0f4c2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3342c5180da480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DA29F06-16A8-4C26-8A72-6FB275823F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811CBD8C-5B75-4055-9766-36ABD2D42F8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EBBBF5AC-FA87-4F8E-9392-781D6B98D1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B0836DD-B2DB-413B-BCA7-8B6DAFFCA2A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49F05725-1F20-4704-844F-6B9BC5CB6FD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0F53006-C28E-4EC2-8AD7-2E86E1D68F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F07158B-4FD2-45EC-ADF9-112DC1728E4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6DC33407-8D5B-44C3-80E8-0FEC8021BB3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25651EB-1531-4FD3-BEFD-D77B253934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7BF8E69-3CFA-471A-B02A-55CE468297D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ed65141c4d34d10" /><Relationship Type="http://schemas.openxmlformats.org/officeDocument/2006/relationships/slideLayout" Target="/ppt/slideLayouts/slideLayout1.xml" Id="R32b62ff314154f62" /><Relationship Type="http://schemas.openxmlformats.org/officeDocument/2006/relationships/slideLayout" Target="/ppt/slideLayouts/slideLayout2.xml" Id="R3e80f07d47fd4ba3" /><Relationship Type="http://schemas.openxmlformats.org/officeDocument/2006/relationships/slideLayout" Target="/ppt/slideLayouts/slideLayout3.xml" Id="R130f9241913f4099" /><Relationship Type="http://schemas.openxmlformats.org/officeDocument/2006/relationships/slideLayout" Target="/ppt/slideLayouts/slideLayout4.xml" Id="R7f4ca49c3193454d" /><Relationship Type="http://schemas.openxmlformats.org/officeDocument/2006/relationships/slideLayout" Target="/ppt/slideLayouts/slideLayout5.xml" Id="R3b25adcb62924d67" /><Relationship Type="http://schemas.openxmlformats.org/officeDocument/2006/relationships/slideLayout" Target="/ppt/slideLayouts/slideLayout6.xml" Id="R2069ab5e617b44c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2b62ff314154f62"/>
    <p:sldLayoutId xmlns:r="http://schemas.openxmlformats.org/officeDocument/2006/relationships" id="2147483650" r:id="R3e80f07d47fd4ba3"/>
    <p:sldLayoutId xmlns:r="http://schemas.openxmlformats.org/officeDocument/2006/relationships" id="2147483651" r:id="R130f9241913f4099"/>
    <p:sldLayoutId xmlns:r="http://schemas.openxmlformats.org/officeDocument/2006/relationships" id="2147483652" r:id="R7f4ca49c3193454d"/>
    <p:sldLayoutId xmlns:r="http://schemas.openxmlformats.org/officeDocument/2006/relationships" id="2147483653" r:id="R3b25adcb62924d67"/>
    <p:sldLayoutId xmlns:r="http://schemas.openxmlformats.org/officeDocument/2006/relationships" id="2147483654" r:id="R2069ab5e617b44c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aa244dd85404b87" /><Relationship Type="http://schemas.openxmlformats.org/officeDocument/2006/relationships/notesSlide" Target="/ppt/notesSlides/notesSlide1.xml" Id="R983ee5d858e5466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72cc990cbfc44d3" /><Relationship Type="http://schemas.openxmlformats.org/officeDocument/2006/relationships/notesSlide" Target="/ppt/notesSlides/notesSlide2.xml" Id="Ra64b44680cdc438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096c0f1e04b4fb9" /><Relationship Type="http://schemas.openxmlformats.org/officeDocument/2006/relationships/notesSlide" Target="/ppt/notesSlides/notesSlide3.xml" Id="R5ff4d240bb094e9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cc1bc62b6d7474c" /><Relationship Type="http://schemas.openxmlformats.org/officeDocument/2006/relationships/notesSlide" Target="/ppt/notesSlides/notesSlide4.xml" Id="R2a5d99b61e484f6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104803d58a14616" /><Relationship Type="http://schemas.openxmlformats.org/officeDocument/2006/relationships/notesSlide" Target="/ppt/notesSlides/notesSlide5.xml" Id="R2efd7f09115a480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5e47f15322e4ce0" /><Relationship Type="http://schemas.openxmlformats.org/officeDocument/2006/relationships/notesSlide" Target="/ppt/notesSlides/notesSlide6.xml" Id="Ra7b99edf4e71480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e0c82e73a684f47" /><Relationship Type="http://schemas.openxmlformats.org/officeDocument/2006/relationships/notesSlide" Target="/ppt/notesSlides/notesSlide7.xml" Id="Rcace2175920a430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4a096560dee4a69" /><Relationship Type="http://schemas.openxmlformats.org/officeDocument/2006/relationships/notesSlide" Target="/ppt/notesSlides/notesSlide8.xml" Id="R5188646db65a4f5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5050b736762402a" /><Relationship Type="http://schemas.openxmlformats.org/officeDocument/2006/relationships/notesSlide" Target="/ppt/notesSlides/notesSlide9.xml" Id="R2cc49f39bcff4f5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15a5108565e4068" /><Relationship Type="http://schemas.openxmlformats.org/officeDocument/2006/relationships/notesSlide" Target="/ppt/notesSlides/notesSlide10.xml" Id="R251dc5c3df6841d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5cb1d9e5ff34325" /><Relationship Type="http://schemas.openxmlformats.org/officeDocument/2006/relationships/notesSlide" Target="/ppt/notesSlides/notesSlide11.xml" Id="R531506925ace4de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da3c257f00b447f" /><Relationship Type="http://schemas.openxmlformats.org/officeDocument/2006/relationships/notesSlide" Target="/ppt/notesSlides/notesSlide12.xml" Id="Rb3d0c6c0201c4b1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35fac81fc9543eb" /><Relationship Type="http://schemas.openxmlformats.org/officeDocument/2006/relationships/notesSlide" Target="/ppt/notesSlides/notesSlide13.xml" Id="Rd6b97c046805413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c544048fd7147f8" /><Relationship Type="http://schemas.openxmlformats.org/officeDocument/2006/relationships/notesSlide" Target="/ppt/notesSlides/notesSlide14.xml" Id="R725c0600b1bf463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b616b9d4dda4338" /><Relationship Type="http://schemas.openxmlformats.org/officeDocument/2006/relationships/notesSlide" Target="/ppt/notesSlides/notesSlide15.xml" Id="Rd8d5c27579f5400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7c90ecc6d0943c9" /><Relationship Type="http://schemas.openxmlformats.org/officeDocument/2006/relationships/notesSlide" Target="/ppt/notesSlides/notesSlide16.xml" Id="Rabdf169e4aa04b3f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e446d2f5d424828" /><Relationship Type="http://schemas.openxmlformats.org/officeDocument/2006/relationships/notesSlide" Target="/ppt/notesSlides/notesSlide17.xml" Id="R1ce27fd1a8044a63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3ed7dcdffc34d85" /><Relationship Type="http://schemas.openxmlformats.org/officeDocument/2006/relationships/image" Target="/ppt/media/image.png" Id="Reba6bbfb74d74f02" /><Relationship Type="http://schemas.openxmlformats.org/officeDocument/2006/relationships/notesSlide" Target="/ppt/notesSlides/notesSlide18.xml" Id="Ra3db941f14f545e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ACT 4 · 확인된 제품 결과">
            <a:extLst xmlns:a="http://schemas.openxmlformats.org/drawingml/2006/main">
              <a:ext uri="{FF2B5EF4-FFF2-40B4-BE49-F238E27FC236}">
                <a16:creationId xmlns:a16="http://schemas.microsoft.com/office/drawing/2014/main" id="{10512AB2-B22E-4D6B-8DBD-9FB4DF36C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확인된 제품 결과</a:t>
            </a:r>
          </a:p>
        </p:txBody>
      </p:sp>
      <p:sp>
        <p:nvSpPr>
          <p:cNvPr id="2" name="S55">
            <a:extLst xmlns:a="http://schemas.openxmlformats.org/drawingml/2006/main">
              <a:ext uri="{FF2B5EF4-FFF2-40B4-BE49-F238E27FC236}">
                <a16:creationId xmlns:a16="http://schemas.microsoft.com/office/drawing/2014/main" id="{D8C10507-41AA-49D8-8E77-5A5D8E956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S55</a:t>
            </a:r>
          </a:p>
        </p:txBody>
      </p:sp>
      <p:sp>
        <p:nvSpPr>
          <p:cNvPr id="3" name="여기까지는 잘 동작했다">
            <a:extLst xmlns:a="http://schemas.openxmlformats.org/drawingml/2006/main">
              <a:ext uri="{FF2B5EF4-FFF2-40B4-BE49-F238E27FC236}">
                <a16:creationId xmlns:a16="http://schemas.microsoft.com/office/drawing/2014/main" id="{8C5E13DA-7776-4868-8807-6FC7D08C3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여기까지는 잘 동작했다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3113C2-DFD2-461B-8471-B6C7FEC6C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STATE-04-PERF · image_statistics · 실제 기록 요약">
            <a:extLst xmlns:a="http://schemas.openxmlformats.org/drawingml/2006/main">
              <a:ext uri="{FF2B5EF4-FFF2-40B4-BE49-F238E27FC236}">
                <a16:creationId xmlns:a16="http://schemas.microsoft.com/office/drawing/2014/main" id="{E695BEFE-286C-4E1E-BD65-B8079557D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STATE-04-PERF · image_statistics · 실제 기록 요약</a:t>
            </a:r>
          </a:p>
        </p:txBody>
      </p:sp>
      <p:sp>
        <p:nvSpPr>
          <p:cNvPr id="6" name="기록된 입력·코드·환경의 결과이며, 뒤의 가상 사례와 별개다.">
            <a:extLst xmlns:a="http://schemas.openxmlformats.org/drawingml/2006/main">
              <a:ext uri="{FF2B5EF4-FFF2-40B4-BE49-F238E27FC236}">
                <a16:creationId xmlns:a16="http://schemas.microsoft.com/office/drawing/2014/main" id="{A201454B-CFED-497D-9855-F1858A534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기록된 입력·코드·환경의 결과이며, 뒤의 가상 사례와 별개다.</a:t>
            </a:r>
          </a:p>
        </p:txBody>
      </p:sp>
      <p:sp>
        <p:nvSpPr>
          <p:cNvPr id="7" name="작업을 맡기고, 결과를 확인할 수 있었다">
            <a:extLst xmlns:a="http://schemas.openxmlformats.org/drawingml/2006/main">
              <a:ext uri="{FF2B5EF4-FFF2-40B4-BE49-F238E27FC236}">
                <a16:creationId xmlns:a16="http://schemas.microsoft.com/office/drawing/2014/main" id="{2066FE73-AD2F-42C1-872A-64F7582BF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작업을 맡기고, 결과를 확인할 수 있었다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FF5BC8-CA1E-47BC-9F91-2F6033664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9" name="동작 계약">
            <a:extLst xmlns:a="http://schemas.openxmlformats.org/drawingml/2006/main">
              <a:ext uri="{FF2B5EF4-FFF2-40B4-BE49-F238E27FC236}">
                <a16:creationId xmlns:a16="http://schemas.microsoft.com/office/drawing/2014/main" id="{037DF208-7C3C-483D-86F3-ECAB26C76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323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동작 계약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129E03-0BED-4A8D-B895-9A3B5F392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952750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테스트">
            <a:extLst xmlns:a="http://schemas.openxmlformats.org/drawingml/2006/main">
              <a:ext uri="{FF2B5EF4-FFF2-40B4-BE49-F238E27FC236}">
                <a16:creationId xmlns:a16="http://schemas.microsoft.com/office/drawing/2014/main" id="{9120D229-C77E-49DF-9FDA-8BC1D7A08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143250"/>
            <a:ext cx="323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테스트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CF36B5-B726-485D-B554-450D21603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952750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3" name="성능 측정">
            <a:extLst xmlns:a="http://schemas.openxmlformats.org/drawingml/2006/main">
              <a:ext uri="{FF2B5EF4-FFF2-40B4-BE49-F238E27FC236}">
                <a16:creationId xmlns:a16="http://schemas.microsoft.com/office/drawing/2014/main" id="{0CFE0925-8930-4DAF-9E3C-72FCBFAEB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143250"/>
            <a:ext cx="323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성능 측정</a:t>
            </a:r>
          </a:p>
        </p:txBody>
      </p:sp>
      <p:sp>
        <p:nvSpPr>
          <p:cNvPr id="14" name="입력·출력 조건 확인">
            <a:extLst xmlns:a="http://schemas.openxmlformats.org/drawingml/2006/main">
              <a:ext uri="{FF2B5EF4-FFF2-40B4-BE49-F238E27FC236}">
                <a16:creationId xmlns:a16="http://schemas.microsoft.com/office/drawing/2014/main" id="{06E26F30-CAA0-407D-9D41-4279955B4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3286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입력·출력 조건 확인</a:t>
            </a:r>
          </a:p>
        </p:txBody>
      </p:sp>
      <p:sp>
        <p:nvSpPr>
          <p:cNvPr id="15" name="전체 테스트 11/11">
            <a:extLst xmlns:a="http://schemas.openxmlformats.org/drawingml/2006/main">
              <a:ext uri="{FF2B5EF4-FFF2-40B4-BE49-F238E27FC236}">
                <a16:creationId xmlns:a16="http://schemas.microsoft.com/office/drawing/2014/main" id="{2A06A389-05CE-4C2A-93E5-19343000B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771900"/>
            <a:ext cx="3286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전체 테스트 11/11</a:t>
            </a:r>
          </a:p>
        </p:txBody>
      </p:sp>
      <p:sp>
        <p:nvSpPr>
          <p:cNvPr id="16" name="Benchmark guard 확인">
            <a:extLst xmlns:a="http://schemas.openxmlformats.org/drawingml/2006/main">
              <a:ext uri="{FF2B5EF4-FFF2-40B4-BE49-F238E27FC236}">
                <a16:creationId xmlns:a16="http://schemas.microsoft.com/office/drawing/2014/main" id="{0AE9C591-CD90-4CB4-AF7A-A76F11B90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771900"/>
            <a:ext cx="3333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Benchmark guard 확인</a:t>
            </a:r>
          </a:p>
        </p:txBody>
      </p:sp>
      <p:sp>
        <p:nvSpPr>
          <p:cNvPr id="17" name="그렇다면 프로젝트가 바뀐 뒤에도 맞을까?">
            <a:extLst xmlns:a="http://schemas.openxmlformats.org/drawingml/2006/main">
              <a:ext uri="{FF2B5EF4-FFF2-40B4-BE49-F238E27FC236}">
                <a16:creationId xmlns:a16="http://schemas.microsoft.com/office/drawing/2014/main" id="{BF166DC9-52FE-4DDC-9853-C3D40F4C0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958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그렇다면 프로젝트가 바뀐 뒤에도 맞을까?</a:t>
            </a:r>
          </a:p>
        </p:txBody>
      </p:sp>
    </p:spTree>
    <p:extLst>
      <p:ext uri="{BB962C8B-B14F-4D97-AF65-F5344CB8AC3E}">
        <p14:creationId xmlns:p14="http://schemas.microsoft.com/office/powerpoint/2010/main" val="44039048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ACT 4 · CONCEPTUAL / 가상 사례">
            <a:extLst xmlns:a="http://schemas.openxmlformats.org/drawingml/2006/main">
              <a:ext uri="{FF2B5EF4-FFF2-40B4-BE49-F238E27FC236}">
                <a16:creationId xmlns:a16="http://schemas.microsoft.com/office/drawing/2014/main" id="{4D208F80-E75D-4445-B265-46D353525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가상 사례</a:t>
            </a:r>
          </a:p>
        </p:txBody>
      </p:sp>
      <p:sp>
        <p:nvSpPr>
          <p:cNvPr id="2" name="S56">
            <a:extLst xmlns:a="http://schemas.openxmlformats.org/drawingml/2006/main">
              <a:ext uri="{FF2B5EF4-FFF2-40B4-BE49-F238E27FC236}">
                <a16:creationId xmlns:a16="http://schemas.microsoft.com/office/drawing/2014/main" id="{2E30B05C-1D26-45DA-8897-CCE5B7104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S56</a:t>
            </a:r>
          </a:p>
        </p:txBody>
      </p:sp>
      <p:sp>
        <p:nvSpPr>
          <p:cNvPr id="3" name="개념 사례: Project와 Workflow는 현재 맞다">
            <a:extLst xmlns:a="http://schemas.openxmlformats.org/drawingml/2006/main">
              <a:ext uri="{FF2B5EF4-FFF2-40B4-BE49-F238E27FC236}">
                <a16:creationId xmlns:a16="http://schemas.microsoft.com/office/drawing/2014/main" id="{78894743-7705-4F70-9877-E9A5AA408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개념 사례: Project와 Workflow는 현재 맞다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307C46-CB51-4BA9-A117-8F18C839A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04A · 프로젝트 변화 전의 가상 설정">
            <a:extLst xmlns:a="http://schemas.openxmlformats.org/drawingml/2006/main">
              <a:ext uri="{FF2B5EF4-FFF2-40B4-BE49-F238E27FC236}">
                <a16:creationId xmlns:a16="http://schemas.microsoft.com/office/drawing/2014/main" id="{267DFF59-F795-471C-83B6-10B6D2322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DEMO-04A · 프로젝트 변화 전의 가상 설정</a:t>
            </a:r>
          </a:p>
        </p:txBody>
      </p:sp>
      <p:sp>
        <p:nvSpPr>
          <p:cNvPr id="6" name="실제 Repository 변경 이력, Agent 실행 또는 테스트 결과가 아니다.">
            <a:extLst xmlns:a="http://schemas.openxmlformats.org/drawingml/2006/main">
              <a:ext uri="{FF2B5EF4-FFF2-40B4-BE49-F238E27FC236}">
                <a16:creationId xmlns:a16="http://schemas.microsoft.com/office/drawing/2014/main" id="{8EFEF9A5-2022-4ED6-A91F-B0B20A904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실제 Repository 변경 이력, Agent 실행 또는 테스트 결과가 아니다.</a:t>
            </a:r>
          </a:p>
        </p:txBody>
      </p:sp>
      <p:sp>
        <p:nvSpPr>
          <p:cNvPr id="7" name="처음에는 두 기준이 같았다">
            <a:extLst xmlns:a="http://schemas.openxmlformats.org/drawingml/2006/main">
              <a:ext uri="{FF2B5EF4-FFF2-40B4-BE49-F238E27FC236}">
                <a16:creationId xmlns:a16="http://schemas.microsoft.com/office/drawing/2014/main" id="{2DD512A1-08D5-46C8-9646-561C60361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처음에는 두 기준이 같았다</a:t>
            </a:r>
          </a:p>
        </p:txBody>
      </p:sp>
      <p:sp>
        <p:nvSpPr>
          <p:cNvPr id="8" name="프로젝트의 검증 기준">
            <a:extLst xmlns:a="http://schemas.openxmlformats.org/drawingml/2006/main">
              <a:ext uri="{FF2B5EF4-FFF2-40B4-BE49-F238E27FC236}">
                <a16:creationId xmlns:a16="http://schemas.microsoft.com/office/drawing/2014/main" id="{C95CA481-587C-45E5-A6EB-9AED0F1A6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프로젝트의 검증 기준</a:t>
            </a:r>
          </a:p>
        </p:txBody>
      </p:sp>
      <p:sp>
        <p:nvSpPr>
          <p:cNvPr id="9" name="재사용 Workflow의 지시">
            <a:extLst xmlns:a="http://schemas.openxmlformats.org/drawingml/2006/main">
              <a:ext uri="{FF2B5EF4-FFF2-40B4-BE49-F238E27FC236}">
                <a16:creationId xmlns:a16="http://schemas.microsoft.com/office/drawing/2014/main" id="{480569BD-76F3-4087-A34C-A5BD619FE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52750"/>
            <a:ext cx="4857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재사용 Workflow의 지시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590494-F391-4FA0-9922-574026D0F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052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8A3AAC-51B8-46D8-8934-A8FF9A677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5052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2" name="단위 테스트">
            <a:extLst xmlns:a="http://schemas.openxmlformats.org/drawingml/2006/main">
              <a:ext uri="{FF2B5EF4-FFF2-40B4-BE49-F238E27FC236}">
                <a16:creationId xmlns:a16="http://schemas.microsoft.com/office/drawing/2014/main" id="{27E651F7-91D7-477C-BC93-1B998FAAC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4876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테스트</a:t>
            </a:r>
          </a:p>
        </p:txBody>
      </p:sp>
      <p:sp>
        <p:nvSpPr>
          <p:cNvPr id="13" name="단위 테스트">
            <a:extLst xmlns:a="http://schemas.openxmlformats.org/drawingml/2006/main">
              <a:ext uri="{FF2B5EF4-FFF2-40B4-BE49-F238E27FC236}">
                <a16:creationId xmlns:a16="http://schemas.microsoft.com/office/drawing/2014/main" id="{DE4BEFDC-F3E7-45D2-9029-652BA3D4B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857625"/>
            <a:ext cx="4876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테스트</a:t>
            </a:r>
          </a:p>
        </p:txBody>
      </p:sp>
      <p:sp>
        <p:nvSpPr>
          <p:cNvPr id="14" name="=">
            <a:extLst xmlns:a="http://schemas.openxmlformats.org/drawingml/2006/main">
              <a:ext uri="{FF2B5EF4-FFF2-40B4-BE49-F238E27FC236}">
                <a16:creationId xmlns:a16="http://schemas.microsoft.com/office/drawing/2014/main" id="{80EF4470-0080-4A37-9CE2-046ACD668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886200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=</a:t>
            </a:r>
          </a:p>
        </p:txBody>
      </p:sp>
      <p:sp>
        <p:nvSpPr>
          <p:cNvPr id="15" name="현재 프로젝트에 맞춰 만들어 둔 절차">
            <a:extLst xmlns:a="http://schemas.openxmlformats.org/drawingml/2006/main">
              <a:ext uri="{FF2B5EF4-FFF2-40B4-BE49-F238E27FC236}">
                <a16:creationId xmlns:a16="http://schemas.microsoft.com/office/drawing/2014/main" id="{A9564782-7264-4C46-8E0D-FF3816A24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현재 프로젝트에 맞춰 만들어 둔 절차</a:t>
            </a:r>
          </a:p>
        </p:txBody>
      </p:sp>
    </p:spTree>
    <p:extLst>
      <p:ext uri="{BB962C8B-B14F-4D97-AF65-F5344CB8AC3E}">
        <p14:creationId xmlns:p14="http://schemas.microsoft.com/office/powerpoint/2010/main" val="60511137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ACT 4  ·  CONCEPTUAL / 가상 사례">
            <a:extLst xmlns:a="http://schemas.openxmlformats.org/drawingml/2006/main">
              <a:ext uri="{FF2B5EF4-FFF2-40B4-BE49-F238E27FC236}">
                <a16:creationId xmlns:a16="http://schemas.microsoft.com/office/drawing/2014/main" id="{32FEB8BE-79D6-4DED-A1E3-2B8B15145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 ·  CONCEPTUAL / 가상 사례</a:t>
            </a:r>
          </a:p>
        </p:txBody>
      </p:sp>
      <p:sp>
        <p:nvSpPr>
          <p:cNvPr id="2" name="S57">
            <a:extLst xmlns:a="http://schemas.openxmlformats.org/drawingml/2006/main">
              <a:ext uri="{FF2B5EF4-FFF2-40B4-BE49-F238E27FC236}">
                <a16:creationId xmlns:a16="http://schemas.microsoft.com/office/drawing/2014/main" id="{47BCC5E5-C346-417C-88FE-C770BA024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S57</a:t>
            </a:r>
          </a:p>
        </p:txBody>
      </p:sp>
      <p:sp>
        <p:nvSpPr>
          <p:cNvPr id="3" name="Project는 바뀌고 Workflow는 남았다">
            <a:extLst xmlns:a="http://schemas.openxmlformats.org/drawingml/2006/main">
              <a:ext uri="{FF2B5EF4-FFF2-40B4-BE49-F238E27FC236}">
                <a16:creationId xmlns:a16="http://schemas.microsoft.com/office/drawing/2014/main" id="{399EE5B6-4D1F-4CC8-8886-87DD54928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Project는 바뀌고 Workflow는 남았다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8BA884-37DB-4429-933D-558F6232A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04A  |  가상 설정 · 실제 Repository 변경 이력이 아님">
            <a:extLst xmlns:a="http://schemas.openxmlformats.org/drawingml/2006/main">
              <a:ext uri="{FF2B5EF4-FFF2-40B4-BE49-F238E27FC236}">
                <a16:creationId xmlns:a16="http://schemas.microsoft.com/office/drawing/2014/main" id="{40954EF3-C7E6-4429-9AF9-A25A79915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DEMO-04A  |  가상 설정 · 실제 Repository 변경 이력이 아님</a:t>
            </a:r>
          </a:p>
        </p:txBody>
      </p:sp>
      <p:sp>
        <p:nvSpPr>
          <p:cNvPr id="6" name="두 지침의 범위를 비교하는 장 · Agent 실행, 테스트 누락 또는 PASS / FAIL 결과를 뜻하지 않">
            <a:extLst xmlns:a="http://schemas.openxmlformats.org/drawingml/2006/main">
              <a:ext uri="{FF2B5EF4-FFF2-40B4-BE49-F238E27FC236}">
                <a16:creationId xmlns:a16="http://schemas.microsoft.com/office/drawing/2014/main" id="{E354E301-634D-4AAA-AAE2-1E33BEEC6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두 지침의 범위를 비교하는 장 · Agent 실행, 테스트 누락 또는 PASS / FAIL 결과를 뜻하지 않음</a:t>
            </a:r>
          </a:p>
        </p:txBody>
      </p:sp>
      <p:sp>
        <p:nvSpPr>
          <p:cNvPr id="7" name="가정: 모듈 연결 동작도 검증해야 하는 프로젝트가 됐다">
            <a:extLst xmlns:a="http://schemas.openxmlformats.org/drawingml/2006/main">
              <a:ext uri="{FF2B5EF4-FFF2-40B4-BE49-F238E27FC236}">
                <a16:creationId xmlns:a16="http://schemas.microsoft.com/office/drawing/2014/main" id="{A7A710B1-723B-46F5-B8F8-ED0AF0207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9725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가정: 모듈 연결 동작도 검증해야 하는 프로젝트가 됐다</a:t>
            </a:r>
          </a:p>
        </p:txBody>
      </p:sp>
      <p:sp>
        <p:nvSpPr>
          <p:cNvPr id="8" name="현재 프로젝트의 기준">
            <a:extLst xmlns:a="http://schemas.openxmlformats.org/drawingml/2006/main">
              <a:ext uri="{FF2B5EF4-FFF2-40B4-BE49-F238E27FC236}">
                <a16:creationId xmlns:a16="http://schemas.microsoft.com/office/drawing/2014/main" id="{A70BFF26-59D0-45E2-BEAA-242E0BCBA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9825"/>
            <a:ext cx="523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현재 프로젝트의 기준</a:t>
            </a:r>
          </a:p>
        </p:txBody>
      </p:sp>
      <p:sp>
        <p:nvSpPr>
          <p:cNvPr id="9" name="재사용 Workflow에 남은 지시">
            <a:extLst xmlns:a="http://schemas.openxmlformats.org/drawingml/2006/main">
              <a:ext uri="{FF2B5EF4-FFF2-40B4-BE49-F238E27FC236}">
                <a16:creationId xmlns:a16="http://schemas.microsoft.com/office/drawing/2014/main" id="{4A28E3B8-FE0A-46B4-A9E5-25D3300F5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409825"/>
            <a:ext cx="4876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재사용 Workflow에 남은 지시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908E33-4367-43D9-B743-2EE1673F0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908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839550-9AFA-4540-9F11-FAB780D9E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908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dash"/>
          </a:ln>
        </p:spPr>
      </p:sp>
      <p:sp>
        <p:nvSpPr>
          <p:cNvPr id="12" name="단위 테스트">
            <a:extLst xmlns:a="http://schemas.openxmlformats.org/drawingml/2006/main">
              <a:ext uri="{FF2B5EF4-FFF2-40B4-BE49-F238E27FC236}">
                <a16:creationId xmlns:a16="http://schemas.microsoft.com/office/drawing/2014/main" id="{C58DAD01-FAA1-46C7-8FFE-8730227F9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43275"/>
            <a:ext cx="495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테스트</a:t>
            </a:r>
          </a:p>
        </p:txBody>
      </p:sp>
      <p:sp>
        <p:nvSpPr>
          <p:cNvPr id="13" name="단위 테스트">
            <a:extLst xmlns:a="http://schemas.openxmlformats.org/drawingml/2006/main">
              <a:ext uri="{FF2B5EF4-FFF2-40B4-BE49-F238E27FC236}">
                <a16:creationId xmlns:a16="http://schemas.microsoft.com/office/drawing/2014/main" id="{F036F046-D49E-4E36-8780-8A0CE31F1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343275"/>
            <a:ext cx="4876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테스트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F3533A-57E9-4410-A1E3-0F30FDBFE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4953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+ 통합 테스트">
            <a:extLst xmlns:a="http://schemas.openxmlformats.org/drawingml/2006/main">
              <a:ext uri="{FF2B5EF4-FFF2-40B4-BE49-F238E27FC236}">
                <a16:creationId xmlns:a16="http://schemas.microsoft.com/office/drawing/2014/main" id="{DEA1E641-5F53-4DA6-B102-117B43A7A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00525"/>
            <a:ext cx="4495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+ 통합 테스트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EAF42C-0A6D-466B-9F67-8124E6EC2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048125"/>
            <a:ext cx="4876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17" name="단위 테스트만 지시">
            <a:extLst xmlns:a="http://schemas.openxmlformats.org/drawingml/2006/main">
              <a:ext uri="{FF2B5EF4-FFF2-40B4-BE49-F238E27FC236}">
                <a16:creationId xmlns:a16="http://schemas.microsoft.com/office/drawing/2014/main" id="{D10C59EC-F9AF-412F-AC45-400041930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200525"/>
            <a:ext cx="4419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단위 테스트만 지시</a:t>
            </a:r>
          </a:p>
        </p:txBody>
      </p:sp>
      <p:sp>
        <p:nvSpPr>
          <p:cNvPr id="18" name="프로젝트의 기준이 바뀌었을 때, 재사용 지침도 함께 바뀌었을까?">
            <a:extLst xmlns:a="http://schemas.openxmlformats.org/drawingml/2006/main">
              <a:ext uri="{FF2B5EF4-FFF2-40B4-BE49-F238E27FC236}">
                <a16:creationId xmlns:a16="http://schemas.microsoft.com/office/drawing/2014/main" id="{FFD08557-AE56-4B5A-826F-F4B542306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2922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프로젝트의 기준이 바뀌었을 때, 재사용 지침도 함께 바뀌었을까?</a:t>
            </a:r>
          </a:p>
        </p:txBody>
      </p:sp>
    </p:spTree>
    <p:extLst>
      <p:ext uri="{BB962C8B-B14F-4D97-AF65-F5344CB8AC3E}">
        <p14:creationId xmlns:p14="http://schemas.microsoft.com/office/powerpoint/2010/main" val="58750034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ACT 4 · CONCEPTUAL / 가상 사례">
            <a:extLst xmlns:a="http://schemas.openxmlformats.org/drawingml/2006/main">
              <a:ext uri="{FF2B5EF4-FFF2-40B4-BE49-F238E27FC236}">
                <a16:creationId xmlns:a16="http://schemas.microsoft.com/office/drawing/2014/main" id="{A95229B5-A4B4-4935-9B56-505B506F1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가상 사례</a:t>
            </a:r>
          </a:p>
        </p:txBody>
      </p:sp>
      <p:sp>
        <p:nvSpPr>
          <p:cNvPr id="2" name="S58">
            <a:extLst xmlns:a="http://schemas.openxmlformats.org/drawingml/2006/main">
              <a:ext uri="{FF2B5EF4-FFF2-40B4-BE49-F238E27FC236}">
                <a16:creationId xmlns:a16="http://schemas.microsoft.com/office/drawing/2014/main" id="{7B597993-10B9-4738-86F6-F5C91050F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S58</a:t>
            </a:r>
          </a:p>
        </p:txBody>
      </p:sp>
      <p:sp>
        <p:nvSpPr>
          <p:cNvPr id="3" name="Task 해결과 System 문제는 다르다">
            <a:extLst xmlns:a="http://schemas.openxmlformats.org/drawingml/2006/main">
              <a:ext uri="{FF2B5EF4-FFF2-40B4-BE49-F238E27FC236}">
                <a16:creationId xmlns:a16="http://schemas.microsoft.com/office/drawing/2014/main" id="{7DDB6603-F5A6-49BF-BD25-CC71BD41F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Task 해결과 System 문제는 다르다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90D72F-C3DF-4837-A767-22E557956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04A · 이번 요청과 재사용 지침의 범위 비교">
            <a:extLst xmlns:a="http://schemas.openxmlformats.org/drawingml/2006/main">
              <a:ext uri="{FF2B5EF4-FFF2-40B4-BE49-F238E27FC236}">
                <a16:creationId xmlns:a16="http://schemas.microsoft.com/office/drawing/2014/main" id="{D095A335-776B-4F2C-B8B8-272FD01BA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DEMO-04A · 이번 요청과 재사용 지침의 범위 비교</a:t>
            </a:r>
          </a:p>
        </p:txBody>
      </p:sp>
      <p:sp>
        <p:nvSpPr>
          <p:cNvPr id="6" name="아래는 가능한 대응이다. 실제 실행·복구 성공·검증 누락을 관찰한 결과가 아니다.">
            <a:extLst xmlns:a="http://schemas.openxmlformats.org/drawingml/2006/main">
              <a:ext uri="{FF2B5EF4-FFF2-40B4-BE49-F238E27FC236}">
                <a16:creationId xmlns:a16="http://schemas.microsoft.com/office/drawing/2014/main" id="{970C4B44-0963-462C-9CFB-689E389A5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아래는 가능한 대응이다. 실제 실행·복구 성공·검증 누락을 관찰한 결과가 아니다.</a:t>
            </a:r>
          </a:p>
        </p:txBody>
      </p:sp>
      <p:sp>
        <p:nvSpPr>
          <p:cNvPr id="7" name="이번 요청에 “통합 테스트도 확인해 줘”를 더한다면?">
            <a:extLst xmlns:a="http://schemas.openxmlformats.org/drawingml/2006/main">
              <a:ext uri="{FF2B5EF4-FFF2-40B4-BE49-F238E27FC236}">
                <a16:creationId xmlns:a16="http://schemas.microsoft.com/office/drawing/2014/main" id="{703870D6-BE1A-42A5-862E-B2B7894B3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이번 요청에 “통합 테스트도 확인해 줘”를 더한다면?</a:t>
            </a:r>
          </a:p>
        </p:txBody>
      </p:sp>
      <p:sp>
        <p:nvSpPr>
          <p:cNvPr id="8" name="이번 Task">
            <a:extLst xmlns:a="http://schemas.openxmlformats.org/drawingml/2006/main">
              <a:ext uri="{FF2B5EF4-FFF2-40B4-BE49-F238E27FC236}">
                <a16:creationId xmlns:a16="http://schemas.microsoft.com/office/drawing/2014/main" id="{56D2ECB3-1D2A-4F4B-8C4B-89CE1B567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Task</a:t>
            </a:r>
          </a:p>
        </p:txBody>
      </p:sp>
      <p:sp>
        <p:nvSpPr>
          <p:cNvPr id="9" name="다음 Task가 읽을 Workflow">
            <a:extLst xmlns:a="http://schemas.openxmlformats.org/drawingml/2006/main">
              <a:ext uri="{FF2B5EF4-FFF2-40B4-BE49-F238E27FC236}">
                <a16:creationId xmlns:a16="http://schemas.microsoft.com/office/drawing/2014/main" id="{9A1FF277-CA68-4F46-AE47-26A61A8D8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67050"/>
            <a:ext cx="4876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다음 Task가 읽을 Workflow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6BE2AE-92FA-4D67-947E-221DE2D79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3A4FA7-F335-439A-A47B-0CDA2C0C1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6195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dash"/>
          </a:ln>
        </p:spPr>
      </p:sp>
      <p:sp>
        <p:nvSpPr>
          <p:cNvPr id="12" name="단위 + 통합 테스트를&#10;확인하도록 요청 가능">
            <a:extLst xmlns:a="http://schemas.openxmlformats.org/drawingml/2006/main">
              <a:ext uri="{FF2B5EF4-FFF2-40B4-BE49-F238E27FC236}">
                <a16:creationId xmlns:a16="http://schemas.microsoft.com/office/drawing/2014/main" id="{2EBAD7D6-39BB-4604-8A04-66EADDA5C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4876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+ 통합 테스트를</a:t>
            </a:r>
          </a:p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확인하도록 요청 가능</a:t>
            </a:r>
          </a:p>
        </p:txBody>
      </p:sp>
      <p:sp>
        <p:nvSpPr>
          <p:cNvPr id="13" name="여전히&#10;단위 테스트만 지시">
            <a:extLst xmlns:a="http://schemas.openxmlformats.org/drawingml/2006/main">
              <a:ext uri="{FF2B5EF4-FFF2-40B4-BE49-F238E27FC236}">
                <a16:creationId xmlns:a16="http://schemas.microsoft.com/office/drawing/2014/main" id="{83895100-BFA4-4B12-B36A-798266859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810000"/>
            <a:ext cx="4876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여전히</a:t>
            </a:r>
          </a:p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테스트만 지시</a:t>
            </a:r>
          </a:p>
        </p:txBody>
      </p:sp>
      <p:sp>
        <p:nvSpPr>
          <p:cNvPr id="14" name="이번 답을 보정해도, 재사용 절차는 그대로일 수 있다.">
            <a:extLst xmlns:a="http://schemas.openxmlformats.org/drawingml/2006/main">
              <a:ext uri="{FF2B5EF4-FFF2-40B4-BE49-F238E27FC236}">
                <a16:creationId xmlns:a16="http://schemas.microsoft.com/office/drawing/2014/main" id="{8AF0D0BD-25A3-45A2-B261-B9DDF9A63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0065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답을 보정해도, 재사용 절차는 그대로일 수 있다.</a:t>
            </a:r>
          </a:p>
        </p:txBody>
      </p:sp>
    </p:spTree>
    <p:extLst>
      <p:ext uri="{BB962C8B-B14F-4D97-AF65-F5344CB8AC3E}">
        <p14:creationId xmlns:p14="http://schemas.microsoft.com/office/powerpoint/2010/main" val="166256301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ACT 4 · CONCEPTUAL / 대응 범위 비교">
            <a:extLst xmlns:a="http://schemas.openxmlformats.org/drawingml/2006/main">
              <a:ext uri="{FF2B5EF4-FFF2-40B4-BE49-F238E27FC236}">
                <a16:creationId xmlns:a16="http://schemas.microsoft.com/office/drawing/2014/main" id="{B8EAA1DD-0B51-425D-93E9-5D2F2AA79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대응 범위 비교</a:t>
            </a:r>
          </a:p>
        </p:txBody>
      </p:sp>
      <p:sp>
        <p:nvSpPr>
          <p:cNvPr id="2" name="S59">
            <a:extLst xmlns:a="http://schemas.openxmlformats.org/drawingml/2006/main">
              <a:ext uri="{FF2B5EF4-FFF2-40B4-BE49-F238E27FC236}">
                <a16:creationId xmlns:a16="http://schemas.microsoft.com/office/drawing/2014/main" id="{82833E5D-9C8D-4F32-9C4D-89A8E7703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S59</a:t>
            </a:r>
          </a:p>
        </p:txBody>
      </p:sp>
      <p:sp>
        <p:nvSpPr>
          <p:cNvPr id="3" name="원인에 맞는 Layer를 고르기">
            <a:extLst xmlns:a="http://schemas.openxmlformats.org/drawingml/2006/main">
              <a:ext uri="{FF2B5EF4-FFF2-40B4-BE49-F238E27FC236}">
                <a16:creationId xmlns:a16="http://schemas.microsoft.com/office/drawing/2014/main" id="{D298B89A-72FD-4356-9FA2-3B53C8527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원인에 맞는 Layer를 고르기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9D62EE-6F1D-470D-AEE6-B929556D3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04A · DEMO-11 · 가상 사례의 선택지">
            <a:extLst xmlns:a="http://schemas.openxmlformats.org/drawingml/2006/main">
              <a:ext uri="{FF2B5EF4-FFF2-40B4-BE49-F238E27FC236}">
                <a16:creationId xmlns:a16="http://schemas.microsoft.com/office/drawing/2014/main" id="{0D4E96FA-C050-43BE-B209-9CA33A042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DEMO-04A · DEMO-11 · 가상 사례의 선택지</a:t>
            </a:r>
          </a:p>
        </p:txBody>
      </p:sp>
      <p:sp>
        <p:nvSpPr>
          <p:cNvPr id="6" name="Workflow가 원인으로 확인된 경우의 판단이며, 모든 문제의 정답은 아니다.">
            <a:extLst xmlns:a="http://schemas.openxmlformats.org/drawingml/2006/main">
              <a:ext uri="{FF2B5EF4-FFF2-40B4-BE49-F238E27FC236}">
                <a16:creationId xmlns:a16="http://schemas.microsoft.com/office/drawing/2014/main" id="{C579A15D-5125-49FE-A2F9-C7AE7765A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Workflow가 원인으로 확인된 경우의 판단이며, 모든 문제의 정답은 아니다.</a:t>
            </a:r>
          </a:p>
        </p:txBody>
      </p:sp>
      <p:sp>
        <p:nvSpPr>
          <p:cNvPr id="7" name="무엇을 바꾸면 다음 작업에도 반영될까?">
            <a:extLst xmlns:a="http://schemas.openxmlformats.org/drawingml/2006/main">
              <a:ext uri="{FF2B5EF4-FFF2-40B4-BE49-F238E27FC236}">
                <a16:creationId xmlns:a16="http://schemas.microsoft.com/office/drawing/2014/main" id="{BA8A0B05-E23A-4897-9F53-F10ED816D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무엇을 바꾸면 다음 작업에도 반영될까?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9AA6B4-8443-4290-908F-4479F4F39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9" name="이번 Prompt 보정">
            <a:extLst xmlns:a="http://schemas.openxmlformats.org/drawingml/2006/main">
              <a:ext uri="{FF2B5EF4-FFF2-40B4-BE49-F238E27FC236}">
                <a16:creationId xmlns:a16="http://schemas.microsoft.com/office/drawing/2014/main" id="{71896001-93EF-4DAA-905F-EB1C4FC2C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320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Prompt 보정</a:t>
            </a:r>
          </a:p>
        </p:txBody>
      </p:sp>
      <p:sp>
        <p:nvSpPr>
          <p:cNvPr id="10" name="현재 Task의 요청 범위를 넓힌다">
            <a:extLst xmlns:a="http://schemas.openxmlformats.org/drawingml/2006/main">
              <a:ext uri="{FF2B5EF4-FFF2-40B4-BE49-F238E27FC236}">
                <a16:creationId xmlns:a16="http://schemas.microsoft.com/office/drawing/2014/main" id="{606C35C4-D6C1-467C-BE4D-1673BECBE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067050"/>
            <a:ext cx="7543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현재 Task의 요청 범위를 넓힌다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106E99-A5FF-490C-AA13-111B2D00F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전역 규칙 추가">
            <a:extLst xmlns:a="http://schemas.openxmlformats.org/drawingml/2006/main">
              <a:ext uri="{FF2B5EF4-FFF2-40B4-BE49-F238E27FC236}">
                <a16:creationId xmlns:a16="http://schemas.microsoft.com/office/drawing/2014/main" id="{EDAD358B-B4B9-4D30-8460-F0ED80F45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48100"/>
            <a:ext cx="320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전역 규칙 추가</a:t>
            </a:r>
          </a:p>
        </p:txBody>
      </p:sp>
      <p:sp>
        <p:nvSpPr>
          <p:cNvPr id="13" name="다른 지침과 중복·충돌할 수 있다">
            <a:extLst xmlns:a="http://schemas.openxmlformats.org/drawingml/2006/main">
              <a:ext uri="{FF2B5EF4-FFF2-40B4-BE49-F238E27FC236}">
                <a16:creationId xmlns:a16="http://schemas.microsoft.com/office/drawing/2014/main" id="{5CD7552A-E995-447B-BCC1-C58430599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848100"/>
            <a:ext cx="7543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다른 지침과 중복·충돌할 수 있다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3EC50F-A16B-4ABF-8B99-9D202B60A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14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5" name="원인인 Workflow 갱신">
            <a:extLst xmlns:a="http://schemas.openxmlformats.org/drawingml/2006/main">
              <a:ext uri="{FF2B5EF4-FFF2-40B4-BE49-F238E27FC236}">
                <a16:creationId xmlns:a16="http://schemas.microsoft.com/office/drawing/2014/main" id="{2D3BF4A5-5D84-416E-AB18-3D25D028B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29150"/>
            <a:ext cx="320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원인인 Workflow 갱신</a:t>
            </a:r>
          </a:p>
        </p:txBody>
      </p:sp>
      <p:sp>
        <p:nvSpPr>
          <p:cNvPr id="16" name="다음 Task가 재사용할 절차를 바꾼다">
            <a:extLst xmlns:a="http://schemas.openxmlformats.org/drawingml/2006/main">
              <a:ext uri="{FF2B5EF4-FFF2-40B4-BE49-F238E27FC236}">
                <a16:creationId xmlns:a16="http://schemas.microsoft.com/office/drawing/2014/main" id="{D5FE95C9-054A-4945-8C15-48989ECBC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629150"/>
            <a:ext cx="7543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다음 Task가 재사용할 절차를 바꾼다</a:t>
            </a:r>
          </a:p>
        </p:txBody>
      </p:sp>
      <p:sp>
        <p:nvSpPr>
          <p:cNvPr id="17" name="선택 기준: 원인이 있는 곳과 변경할 곳이 맞는가?">
            <a:extLst xmlns:a="http://schemas.openxmlformats.org/drawingml/2006/main">
              <a:ext uri="{FF2B5EF4-FFF2-40B4-BE49-F238E27FC236}">
                <a16:creationId xmlns:a16="http://schemas.microsoft.com/office/drawing/2014/main" id="{56D847C8-F04B-4FD4-97B4-4F95296D6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62575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선택 기준: 원인이 있는 곳과 변경할 곳이 맞는가?</a:t>
            </a:r>
          </a:p>
        </p:txBody>
      </p:sp>
    </p:spTree>
    <p:extLst>
      <p:ext uri="{BB962C8B-B14F-4D97-AF65-F5344CB8AC3E}">
        <p14:creationId xmlns:p14="http://schemas.microsoft.com/office/powerpoint/2010/main" val="23417948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ACT 4 · CONCEPTUAL / 원인 후보">
            <a:extLst xmlns:a="http://schemas.openxmlformats.org/drawingml/2006/main">
              <a:ext uri="{FF2B5EF4-FFF2-40B4-BE49-F238E27FC236}">
                <a16:creationId xmlns:a16="http://schemas.microsoft.com/office/drawing/2014/main" id="{CD1BB30A-DC07-4BD1-AA5E-EB2B6D712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원인 후보</a:t>
            </a:r>
          </a:p>
        </p:txBody>
      </p:sp>
      <p:sp>
        <p:nvSpPr>
          <p:cNvPr id="2" name="S60">
            <a:extLst xmlns:a="http://schemas.openxmlformats.org/drawingml/2006/main">
              <a:ext uri="{FF2B5EF4-FFF2-40B4-BE49-F238E27FC236}">
                <a16:creationId xmlns:a16="http://schemas.microsoft.com/office/drawing/2014/main" id="{9EA36383-6CF0-4136-964E-AE8DEA118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S60</a:t>
            </a:r>
          </a:p>
        </p:txBody>
      </p:sp>
      <p:sp>
        <p:nvSpPr>
          <p:cNvPr id="3" name="실패 지점과 원인 Layer 구분하기">
            <a:extLst xmlns:a="http://schemas.openxmlformats.org/drawingml/2006/main">
              <a:ext uri="{FF2B5EF4-FFF2-40B4-BE49-F238E27FC236}">
                <a16:creationId xmlns:a16="http://schemas.microsoft.com/office/drawing/2014/main" id="{97848FCE-695C-4599-89DE-34D292DCA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실패 지점과 원인 Layer 구분하기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E7A5FC-1FD0-4A03-82BE-B74981B4E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11 · 원인을 찾기 위한 교육용 관점">
            <a:extLst xmlns:a="http://schemas.openxmlformats.org/drawingml/2006/main">
              <a:ext uri="{FF2B5EF4-FFF2-40B4-BE49-F238E27FC236}">
                <a16:creationId xmlns:a16="http://schemas.microsoft.com/office/drawing/2014/main" id="{73BB9592-7225-462F-B7CC-388DF2CCA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DEMO-11 · 원인을 찾기 위한 교육용 관점</a:t>
            </a:r>
          </a:p>
        </p:txBody>
      </p:sp>
      <p:sp>
        <p:nvSpPr>
          <p:cNvPr id="6" name="가능한 원인 후보이며, 증상만으로 한 원인을 확정하지 않는다.">
            <a:extLst xmlns:a="http://schemas.openxmlformats.org/drawingml/2006/main">
              <a:ext uri="{FF2B5EF4-FFF2-40B4-BE49-F238E27FC236}">
                <a16:creationId xmlns:a16="http://schemas.microsoft.com/office/drawing/2014/main" id="{552292F9-1E41-4156-B0DE-B17B30217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가능한 원인 후보이며, 증상만으로 한 원인을 확정하지 않는다.</a:t>
            </a:r>
          </a:p>
        </p:txBody>
      </p:sp>
      <p:sp>
        <p:nvSpPr>
          <p:cNvPr id="7" name="“요청한 검증이 충분한가?”">
            <a:extLst xmlns:a="http://schemas.openxmlformats.org/drawingml/2006/main">
              <a:ext uri="{FF2B5EF4-FFF2-40B4-BE49-F238E27FC236}">
                <a16:creationId xmlns:a16="http://schemas.microsoft.com/office/drawing/2014/main" id="{99B2F1A4-3FDB-4525-863C-4D03D26CC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5334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“요청한 검증이 충분한가?”</a:t>
            </a:r>
          </a:p>
        </p:txBody>
      </p:sp>
      <p:sp>
        <p:nvSpPr>
          <p:cNvPr id="8" name="증상에서 바로 결론으로 가지 않는다">
            <a:extLst xmlns:a="http://schemas.openxmlformats.org/drawingml/2006/main">
              <a:ext uri="{FF2B5EF4-FFF2-40B4-BE49-F238E27FC236}">
                <a16:creationId xmlns:a16="http://schemas.microsoft.com/office/drawing/2014/main" id="{56EB54E1-A539-4DB2-9E1E-3FCED71B5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5334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증상에서 바로 결론으로 가지 않는다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A3231C-5B15-4CD4-9A3D-31072FC15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669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05400"/>
            </a:solidFill>
            <a:prstDash val="dash"/>
          </a:ln>
        </p:spPr>
      </p:sp>
      <p:sp>
        <p:nvSpPr>
          <p:cNvPr id="10" name="Context">
            <a:extLst xmlns:a="http://schemas.openxmlformats.org/drawingml/2006/main">
              <a:ext uri="{FF2B5EF4-FFF2-40B4-BE49-F238E27FC236}">
                <a16:creationId xmlns:a16="http://schemas.microsoft.com/office/drawing/2014/main" id="{7688491C-B17F-41DF-8CC7-057197920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36220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Context</a:t>
            </a:r>
          </a:p>
        </p:txBody>
      </p:sp>
      <p:sp>
        <p:nvSpPr>
          <p:cNvPr id="11" name="현재 기준이 맞는가?">
            <a:extLst xmlns:a="http://schemas.openxmlformats.org/drawingml/2006/main">
              <a:ext uri="{FF2B5EF4-FFF2-40B4-BE49-F238E27FC236}">
                <a16:creationId xmlns:a16="http://schemas.microsoft.com/office/drawing/2014/main" id="{A4F378B8-981E-4C58-B383-3D57F2DC2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362200"/>
            <a:ext cx="2971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현재 기준이 맞는가?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EA7543-DFDD-4FA8-9C3E-20811588B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480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05400"/>
            </a:solidFill>
            <a:prstDash val="dash"/>
          </a:ln>
        </p:spPr>
      </p:sp>
      <p:sp>
        <p:nvSpPr>
          <p:cNvPr id="13" name="Workflow">
            <a:extLst xmlns:a="http://schemas.openxmlformats.org/drawingml/2006/main">
              <a:ext uri="{FF2B5EF4-FFF2-40B4-BE49-F238E27FC236}">
                <a16:creationId xmlns:a16="http://schemas.microsoft.com/office/drawing/2014/main" id="{184D951C-0E2B-47CF-954B-C4FD2B380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14325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Workflow</a:t>
            </a:r>
          </a:p>
        </p:txBody>
      </p:sp>
      <p:sp>
        <p:nvSpPr>
          <p:cNvPr id="14" name="어떤 절차를 지시하는가?">
            <a:extLst xmlns:a="http://schemas.openxmlformats.org/drawingml/2006/main">
              <a:ext uri="{FF2B5EF4-FFF2-40B4-BE49-F238E27FC236}">
                <a16:creationId xmlns:a16="http://schemas.microsoft.com/office/drawing/2014/main" id="{FD67965A-A217-43A3-AF4A-D36ABA69A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143250"/>
            <a:ext cx="2971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어떤 절차를 지시하는가?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ABFBDC-F9DF-43E6-90CB-68FDED1C8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8290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05400"/>
            </a:solidFill>
            <a:prstDash val="dash"/>
          </a:ln>
        </p:spPr>
      </p:sp>
      <p:sp>
        <p:nvSpPr>
          <p:cNvPr id="16" name="환경 · 권한">
            <a:extLst xmlns:a="http://schemas.openxmlformats.org/drawingml/2006/main">
              <a:ext uri="{FF2B5EF4-FFF2-40B4-BE49-F238E27FC236}">
                <a16:creationId xmlns:a16="http://schemas.microsoft.com/office/drawing/2014/main" id="{F3208D20-E90A-4288-95D6-FDB7DADBA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92430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환경 · 권한</a:t>
            </a:r>
          </a:p>
        </p:txBody>
      </p:sp>
      <p:sp>
        <p:nvSpPr>
          <p:cNvPr id="17" name="실행 조건이 맞는가?">
            <a:extLst xmlns:a="http://schemas.openxmlformats.org/drawingml/2006/main">
              <a:ext uri="{FF2B5EF4-FFF2-40B4-BE49-F238E27FC236}">
                <a16:creationId xmlns:a16="http://schemas.microsoft.com/office/drawing/2014/main" id="{942DC9DE-D8CE-4FD0-A618-36655C608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924300"/>
            <a:ext cx="2971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실행 조건이 맞는가?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A11B5C-7B3D-491B-8AA4-6765B8D5C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6101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05400"/>
            </a:solidFill>
            <a:prstDash val="dash"/>
          </a:ln>
        </p:spPr>
      </p:sp>
      <p:sp>
        <p:nvSpPr>
          <p:cNvPr id="19" name="제품 코드">
            <a:extLst xmlns:a="http://schemas.openxmlformats.org/drawingml/2006/main">
              <a:ext uri="{FF2B5EF4-FFF2-40B4-BE49-F238E27FC236}">
                <a16:creationId xmlns:a16="http://schemas.microsoft.com/office/drawing/2014/main" id="{BB782E89-3409-4E5F-9DCD-E211FF1D7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70535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제품 코드</a:t>
            </a:r>
          </a:p>
        </p:txBody>
      </p:sp>
      <p:sp>
        <p:nvSpPr>
          <p:cNvPr id="20" name="동작 자체의 문제인가?">
            <a:extLst xmlns:a="http://schemas.openxmlformats.org/drawingml/2006/main">
              <a:ext uri="{FF2B5EF4-FFF2-40B4-BE49-F238E27FC236}">
                <a16:creationId xmlns:a16="http://schemas.microsoft.com/office/drawing/2014/main" id="{C4F75C14-B789-415D-A0E3-016FB560D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705350"/>
            <a:ext cx="2971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동작 자체의 문제인가?</a:t>
            </a:r>
          </a:p>
        </p:txBody>
      </p:sp>
      <p:sp>
        <p:nvSpPr>
          <p:cNvPr id="21" name="확인할 기록부터 찾는다">
            <a:extLst xmlns:a="http://schemas.openxmlformats.org/drawingml/2006/main">
              <a:ext uri="{FF2B5EF4-FFF2-40B4-BE49-F238E27FC236}">
                <a16:creationId xmlns:a16="http://schemas.microsoft.com/office/drawing/2014/main" id="{55DB406C-2229-44ED-84B9-BF2FDDB51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5238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확인할 기록부터 찾는다</a:t>
            </a:r>
          </a:p>
        </p:txBody>
      </p:sp>
    </p:spTree>
    <p:extLst>
      <p:ext uri="{BB962C8B-B14F-4D97-AF65-F5344CB8AC3E}">
        <p14:creationId xmlns:p14="http://schemas.microsoft.com/office/powerpoint/2010/main" val="54305654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ACT 4 · CONCEPTUAL / 가정과 추론">
            <a:extLst xmlns:a="http://schemas.openxmlformats.org/drawingml/2006/main">
              <a:ext uri="{FF2B5EF4-FFF2-40B4-BE49-F238E27FC236}">
                <a16:creationId xmlns:a16="http://schemas.microsoft.com/office/drawing/2014/main" id="{76FF5CC0-5719-4D16-BFF1-A0A905675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가정과 추론</a:t>
            </a:r>
          </a:p>
        </p:txBody>
      </p:sp>
      <p:sp>
        <p:nvSpPr>
          <p:cNvPr id="2" name="S61">
            <a:extLst xmlns:a="http://schemas.openxmlformats.org/drawingml/2006/main">
              <a:ext uri="{FF2B5EF4-FFF2-40B4-BE49-F238E27FC236}">
                <a16:creationId xmlns:a16="http://schemas.microsoft.com/office/drawing/2014/main" id="{60E7D2CA-92D9-41D3-871E-765AE988E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S61</a:t>
            </a:r>
          </a:p>
        </p:txBody>
      </p:sp>
      <p:sp>
        <p:nvSpPr>
          <p:cNvPr id="3" name="먼저 관찰하고, 그다음 가설을 세운다">
            <a:extLst xmlns:a="http://schemas.openxmlformats.org/drawingml/2006/main">
              <a:ext uri="{FF2B5EF4-FFF2-40B4-BE49-F238E27FC236}">
                <a16:creationId xmlns:a16="http://schemas.microsoft.com/office/drawing/2014/main" id="{05C9A514-F053-4D78-BD0A-BC2430161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먼저 관찰하고, 그다음 가설을 세운다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EE2C5B-DC51-4C51-8103-FC67B7C76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04A · 구성된 사례의 전제와 원인 가설">
            <a:extLst xmlns:a="http://schemas.openxmlformats.org/drawingml/2006/main">
              <a:ext uri="{FF2B5EF4-FFF2-40B4-BE49-F238E27FC236}">
                <a16:creationId xmlns:a16="http://schemas.microsoft.com/office/drawing/2014/main" id="{13C9E8F5-3E91-4389-8739-418F5E45B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DEMO-04A · 구성된 사례의 전제와 원인 가설</a:t>
            </a:r>
          </a:p>
        </p:txBody>
      </p:sp>
      <p:sp>
        <p:nvSpPr>
          <p:cNvPr id="6" name="가상 설정을 실제 Trial 관찰로 표현하지 않는다. 실행 결과는 아직 없다.">
            <a:extLst xmlns:a="http://schemas.openxmlformats.org/drawingml/2006/main">
              <a:ext uri="{FF2B5EF4-FFF2-40B4-BE49-F238E27FC236}">
                <a16:creationId xmlns:a16="http://schemas.microsoft.com/office/drawing/2014/main" id="{DD23BE9A-3A12-4D0E-B596-67C20DB08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가상 설정을 실제 Trial 관찰로 표현하지 않는다. 실행 결과는 아직 없다.</a:t>
            </a:r>
          </a:p>
        </p:txBody>
      </p:sp>
      <p:sp>
        <p:nvSpPr>
          <p:cNvPr id="7" name="사례에 주어진 정보">
            <a:extLst xmlns:a="http://schemas.openxmlformats.org/drawingml/2006/main">
              <a:ext uri="{FF2B5EF4-FFF2-40B4-BE49-F238E27FC236}">
                <a16:creationId xmlns:a16="http://schemas.microsoft.com/office/drawing/2014/main" id="{8035D89E-295D-4A01-95D2-A55AB4275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28850"/>
            <a:ext cx="495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사례에 주어진 정보</a:t>
            </a:r>
          </a:p>
        </p:txBody>
      </p:sp>
      <p:sp>
        <p:nvSpPr>
          <p:cNvPr id="8" name="확인해야 할 가설">
            <a:extLst xmlns:a="http://schemas.openxmlformats.org/drawingml/2006/main">
              <a:ext uri="{FF2B5EF4-FFF2-40B4-BE49-F238E27FC236}">
                <a16:creationId xmlns:a16="http://schemas.microsoft.com/office/drawing/2014/main" id="{E0977B98-B842-4010-93E6-2DDF86C47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28850"/>
            <a:ext cx="4876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확인해야 할 가설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AE628E-FFC2-45CB-A53C-8C506F675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DA93EB-406C-41AE-B68B-97B232F59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8575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dash"/>
          </a:ln>
        </p:spPr>
      </p:sp>
      <p:sp>
        <p:nvSpPr>
          <p:cNvPr id="11" name="현재 기준: 단위 + 통합&#10;재사용 지침: 단위만">
            <a:extLst xmlns:a="http://schemas.openxmlformats.org/drawingml/2006/main">
              <a:ext uri="{FF2B5EF4-FFF2-40B4-BE49-F238E27FC236}">
                <a16:creationId xmlns:a16="http://schemas.microsoft.com/office/drawing/2014/main" id="{435A186A-AE9E-4E48-A7C8-AAA2C096E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14675"/>
            <a:ext cx="48768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현재 기준: 단위 + 통합</a:t>
            </a:r>
          </a:p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재사용 지침: 단위만</a:t>
            </a:r>
          </a:p>
        </p:txBody>
      </p:sp>
      <p:sp>
        <p:nvSpPr>
          <p:cNvPr id="12" name="오래된 Workflow가&#10;문제의 원인일 수 있다">
            <a:extLst xmlns:a="http://schemas.openxmlformats.org/drawingml/2006/main">
              <a:ext uri="{FF2B5EF4-FFF2-40B4-BE49-F238E27FC236}">
                <a16:creationId xmlns:a16="http://schemas.microsoft.com/office/drawing/2014/main" id="{4F307774-A9CC-409B-9EF8-BBB902C79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114675"/>
            <a:ext cx="48768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오래된 Workflow가</a:t>
            </a:r>
          </a:p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문제의 원인일 수 있다</a:t>
            </a:r>
          </a:p>
        </p:txBody>
      </p:sp>
      <p:sp>
        <p:nvSpPr>
          <p:cNvPr id="13" name="실행 경로와 실제로 읽은 지침을 대조해야 원인을 판단할 수 있다.">
            <a:extLst xmlns:a="http://schemas.openxmlformats.org/drawingml/2006/main">
              <a:ext uri="{FF2B5EF4-FFF2-40B4-BE49-F238E27FC236}">
                <a16:creationId xmlns:a16="http://schemas.microsoft.com/office/drawing/2014/main" id="{28F0FF9E-8EB7-47D7-82B1-D6F9E4B3F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1490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실행 경로와 실제로 읽은 지침을 대조해야 원인을 판단할 수 있다.</a:t>
            </a:r>
          </a:p>
        </p:txBody>
      </p:sp>
    </p:spTree>
    <p:extLst>
      <p:ext uri="{BB962C8B-B14F-4D97-AF65-F5344CB8AC3E}">
        <p14:creationId xmlns:p14="http://schemas.microsoft.com/office/powerpoint/2010/main" val="181845901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ACT 4 · CONCEPTUAL / 원인에 맞는 수정">
            <a:extLst xmlns:a="http://schemas.openxmlformats.org/drawingml/2006/main">
              <a:ext uri="{FF2B5EF4-FFF2-40B4-BE49-F238E27FC236}">
                <a16:creationId xmlns:a16="http://schemas.microsoft.com/office/drawing/2014/main" id="{1D730BE7-B4BC-4F7B-BBC3-2507AB070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원인에 맞는 수정</a:t>
            </a:r>
          </a:p>
        </p:txBody>
      </p:sp>
      <p:sp>
        <p:nvSpPr>
          <p:cNvPr id="2" name="S62">
            <a:extLst xmlns:a="http://schemas.openxmlformats.org/drawingml/2006/main">
              <a:ext uri="{FF2B5EF4-FFF2-40B4-BE49-F238E27FC236}">
                <a16:creationId xmlns:a16="http://schemas.microsoft.com/office/drawing/2014/main" id="{2E3B158D-44C5-4902-A1AE-3F285399B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S62</a:t>
            </a:r>
          </a:p>
        </p:txBody>
      </p:sp>
      <p:sp>
        <p:nvSpPr>
          <p:cNvPr id="3" name="Cause가 지지하는 최소 변경">
            <a:extLst xmlns:a="http://schemas.openxmlformats.org/drawingml/2006/main">
              <a:ext uri="{FF2B5EF4-FFF2-40B4-BE49-F238E27FC236}">
                <a16:creationId xmlns:a16="http://schemas.microsoft.com/office/drawing/2014/main" id="{F44B45B5-6DC7-47BB-BE6F-77FECCF8C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Cause가 지지하는 최소 변경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19DF39-FBCE-492A-BE08-89691F694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04A · 원인이 확인됐다고 가정한 변경 설계">
            <a:extLst xmlns:a="http://schemas.openxmlformats.org/drawingml/2006/main">
              <a:ext uri="{FF2B5EF4-FFF2-40B4-BE49-F238E27FC236}">
                <a16:creationId xmlns:a16="http://schemas.microsoft.com/office/drawing/2014/main" id="{F6D26239-A845-4505-8DD5-0FD96F6D2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DEMO-04A · 원인이 확인됐다고 가정한 변경 설계</a:t>
            </a:r>
          </a:p>
        </p:txBody>
      </p:sp>
      <p:sp>
        <p:nvSpPr>
          <p:cNvPr id="6" name="실제 코드·Skill 수정 또는 실행 결과가 아니다. 관련 없는 규칙은 임의로 바꾸지 않는다.">
            <a:extLst xmlns:a="http://schemas.openxmlformats.org/drawingml/2006/main">
              <a:ext uri="{FF2B5EF4-FFF2-40B4-BE49-F238E27FC236}">
                <a16:creationId xmlns:a16="http://schemas.microsoft.com/office/drawing/2014/main" id="{D24E1902-9F26-40FA-ACF1-301614B2F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실제 코드·Skill 수정 또는 실행 결과가 아니다. 관련 없는 규칙은 임의로 바꾸지 않는다.</a:t>
            </a:r>
          </a:p>
        </p:txBody>
      </p:sp>
      <p:sp>
        <p:nvSpPr>
          <p:cNvPr id="7" name="Workflow가 원인으로 확인됐다면">
            <a:extLst xmlns:a="http://schemas.openxmlformats.org/drawingml/2006/main">
              <a:ext uri="{FF2B5EF4-FFF2-40B4-BE49-F238E27FC236}">
                <a16:creationId xmlns:a16="http://schemas.microsoft.com/office/drawing/2014/main" id="{9B2B4093-7B79-4FA8-8A46-70C2821A4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Workflow가 원인으로 확인됐다면</a:t>
            </a:r>
          </a:p>
        </p:txBody>
      </p:sp>
      <p:sp>
        <p:nvSpPr>
          <p:cNvPr id="8" name="기존 재사용 지침">
            <a:extLst xmlns:a="http://schemas.openxmlformats.org/drawingml/2006/main">
              <a:ext uri="{FF2B5EF4-FFF2-40B4-BE49-F238E27FC236}">
                <a16:creationId xmlns:a16="http://schemas.microsoft.com/office/drawing/2014/main" id="{1A7BF349-31CB-43F3-9292-4750744BC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기존 재사용 지침</a:t>
            </a:r>
          </a:p>
        </p:txBody>
      </p:sp>
      <p:sp>
        <p:nvSpPr>
          <p:cNvPr id="9" name="갱신할 지침">
            <a:extLst xmlns:a="http://schemas.openxmlformats.org/drawingml/2006/main">
              <a:ext uri="{FF2B5EF4-FFF2-40B4-BE49-F238E27FC236}">
                <a16:creationId xmlns:a16="http://schemas.microsoft.com/office/drawing/2014/main" id="{D9A06DCF-D784-4904-A66A-EDA7CCF38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67050"/>
            <a:ext cx="4876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갱신할 지침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41ED7E-EE70-405E-8196-5CC92A0BB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9975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dash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A04920-FC2F-46CA-B750-98A7C5CB7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609975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2" name="단위 테스트를 확인">
            <a:extLst xmlns:a="http://schemas.openxmlformats.org/drawingml/2006/main">
              <a:ext uri="{FF2B5EF4-FFF2-40B4-BE49-F238E27FC236}">
                <a16:creationId xmlns:a16="http://schemas.microsoft.com/office/drawing/2014/main" id="{0E081CFA-557F-434F-8618-6AA1DD44B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14775"/>
            <a:ext cx="4876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테스트를 확인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95FD08-E29B-430F-9EA6-969F821C3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010025"/>
            <a:ext cx="6096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4" name="단위 + 통합 테스트 확인">
            <a:extLst xmlns:a="http://schemas.openxmlformats.org/drawingml/2006/main">
              <a:ext uri="{FF2B5EF4-FFF2-40B4-BE49-F238E27FC236}">
                <a16:creationId xmlns:a16="http://schemas.microsoft.com/office/drawing/2014/main" id="{EFE9F8A2-874C-4AAE-8537-5A475157A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914775"/>
            <a:ext cx="4876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+ 통합 테스트 확인</a:t>
            </a:r>
          </a:p>
        </p:txBody>
      </p:sp>
      <p:sp>
        <p:nvSpPr>
          <p:cNvPr id="15" name="원인이 뒷받침하는 범위까지 바꾼다.">
            <a:extLst xmlns:a="http://schemas.openxmlformats.org/drawingml/2006/main">
              <a:ext uri="{FF2B5EF4-FFF2-40B4-BE49-F238E27FC236}">
                <a16:creationId xmlns:a16="http://schemas.microsoft.com/office/drawing/2014/main" id="{5923C2B3-7B52-4FD5-90EF-A0BBB9327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76825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원인이 뒷받침하는 범위까지 바꾼다.</a:t>
            </a:r>
          </a:p>
        </p:txBody>
      </p:sp>
    </p:spTree>
    <p:extLst>
      <p:ext uri="{BB962C8B-B14F-4D97-AF65-F5344CB8AC3E}">
        <p14:creationId xmlns:p14="http://schemas.microsoft.com/office/powerpoint/2010/main" val="171757525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ACT 4 · CONCEPTUAL / 평가 범위">
            <a:extLst xmlns:a="http://schemas.openxmlformats.org/drawingml/2006/main">
              <a:ext uri="{FF2B5EF4-FFF2-40B4-BE49-F238E27FC236}">
                <a16:creationId xmlns:a16="http://schemas.microsoft.com/office/drawing/2014/main" id="{2F8CFFDD-C763-4576-8206-E2295E1F4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평가 범위</a:t>
            </a:r>
          </a:p>
        </p:txBody>
      </p:sp>
      <p:sp>
        <p:nvSpPr>
          <p:cNvPr id="2" name="S63">
            <a:extLst xmlns:a="http://schemas.openxmlformats.org/drawingml/2006/main">
              <a:ext uri="{FF2B5EF4-FFF2-40B4-BE49-F238E27FC236}">
                <a16:creationId xmlns:a16="http://schemas.microsoft.com/office/drawing/2014/main" id="{E943949B-4F86-4BE0-84AB-F6F43683D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S63</a:t>
            </a:r>
          </a:p>
        </p:txBody>
      </p:sp>
      <p:sp>
        <p:nvSpPr>
          <p:cNvPr id="3" name="같은 Task의 재실행만으로 충분할까?">
            <a:extLst xmlns:a="http://schemas.openxmlformats.org/drawingml/2006/main">
              <a:ext uri="{FF2B5EF4-FFF2-40B4-BE49-F238E27FC236}">
                <a16:creationId xmlns:a16="http://schemas.microsoft.com/office/drawing/2014/main" id="{51432A99-DAD2-4110-9FF5-49FBBC50F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Task의 재실행만으로 충분할까?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A7AF29-7E1F-47BA-B765-9E5C9D7D0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04A · 변경 후 확인할 질문을 설계한 도식">
            <a:extLst xmlns:a="http://schemas.openxmlformats.org/drawingml/2006/main">
              <a:ext uri="{FF2B5EF4-FFF2-40B4-BE49-F238E27FC236}">
                <a16:creationId xmlns:a16="http://schemas.microsoft.com/office/drawing/2014/main" id="{07F1F22C-7563-4326-A092-FABE761F1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DEMO-04A · 변경 후 확인할 질문을 설계한 도식</a:t>
            </a:r>
          </a:p>
        </p:txBody>
      </p:sp>
      <p:sp>
        <p:nvSpPr>
          <p:cNvPr id="6" name="재실행·회귀 테스트 결과는 없다. 두 검증 질문을 구분하는 가상 사례다.">
            <a:extLst xmlns:a="http://schemas.openxmlformats.org/drawingml/2006/main">
              <a:ext uri="{FF2B5EF4-FFF2-40B4-BE49-F238E27FC236}">
                <a16:creationId xmlns:a16="http://schemas.microsoft.com/office/drawing/2014/main" id="{6ADB5E85-D0B5-4593-B90C-3DED3A0E6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재실행·회귀 테스트 결과는 없다. 두 검증 질문을 구분하는 가상 사례다.</a:t>
            </a:r>
          </a:p>
        </p:txBody>
      </p:sp>
      <p:sp>
        <p:nvSpPr>
          <p:cNvPr id="7" name="이번 작업을 다시 확인">
            <a:extLst xmlns:a="http://schemas.openxmlformats.org/drawingml/2006/main">
              <a:ext uri="{FF2B5EF4-FFF2-40B4-BE49-F238E27FC236}">
                <a16:creationId xmlns:a16="http://schemas.microsoft.com/office/drawing/2014/main" id="{3AE6B2E1-7FF2-4944-B6E8-2351D0DD6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4876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작업을 다시 확인</a:t>
            </a:r>
          </a:p>
        </p:txBody>
      </p:sp>
      <p:sp>
        <p:nvSpPr>
          <p:cNvPr id="8" name="다른 작업도 확인">
            <a:extLst xmlns:a="http://schemas.openxmlformats.org/drawingml/2006/main">
              <a:ext uri="{FF2B5EF4-FFF2-40B4-BE49-F238E27FC236}">
                <a16:creationId xmlns:a16="http://schemas.microsoft.com/office/drawing/2014/main" id="{2BA47B7C-676A-4794-82B6-EAA773F65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38375"/>
            <a:ext cx="4876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다른 작업도 확인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3CDFE0-B39B-47B1-AD41-029F1A159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285F5B-2A5F-40BA-8E92-D4CE00845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527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dash"/>
          </a:ln>
        </p:spPr>
      </p:sp>
      <p:sp>
        <p:nvSpPr>
          <p:cNvPr id="11" name="요청했던 검증 범위를&#10;이제 다루는가?">
            <a:extLst xmlns:a="http://schemas.openxmlformats.org/drawingml/2006/main">
              <a:ext uri="{FF2B5EF4-FFF2-40B4-BE49-F238E27FC236}">
                <a16:creationId xmlns:a16="http://schemas.microsoft.com/office/drawing/2014/main" id="{9698596F-B11C-4C04-88FF-6677A317A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14700"/>
            <a:ext cx="48768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요청했던 검증 범위를</a:t>
            </a:r>
          </a:p>
          <a:p xmlns:a="http://schemas.openxmlformats.org/drawingml/2006/main">
            <a: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이제 다루는가?</a:t>
            </a:r>
          </a:p>
        </p:txBody>
      </p:sp>
      <p:sp>
        <p:nvSpPr>
          <p:cNvPr id="12" name="바뀐 지침이 다른 작업을&#10;방해하지 않는가?">
            <a:extLst xmlns:a="http://schemas.openxmlformats.org/drawingml/2006/main">
              <a:ext uri="{FF2B5EF4-FFF2-40B4-BE49-F238E27FC236}">
                <a16:creationId xmlns:a16="http://schemas.microsoft.com/office/drawing/2014/main" id="{257EDBCD-AE80-4E5C-BE9A-DF63CB285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314700"/>
            <a:ext cx="48768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바뀐 지침이 다른 작업을</a:t>
            </a:r>
          </a:p>
          <a:p xmlns:a="http://schemas.openxmlformats.org/drawingml/2006/main">
            <a: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방해하지 않는가?</a:t>
            </a:r>
          </a:p>
        </p:txBody>
      </p:sp>
      <p:sp>
        <p:nvSpPr>
          <p:cNvPr id="13" name="확인할 범위가 다르므로, 두 질문이 모두 필요하다.">
            <a:extLst xmlns:a="http://schemas.openxmlformats.org/drawingml/2006/main">
              <a:ext uri="{FF2B5EF4-FFF2-40B4-BE49-F238E27FC236}">
                <a16:creationId xmlns:a16="http://schemas.microsoft.com/office/drawing/2014/main" id="{B6768A34-03AE-4EB7-8068-35823FCB6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확인할 범위가 다르므로, 두 질문이 모두 필요하다.</a:t>
            </a:r>
          </a:p>
        </p:txBody>
      </p:sp>
    </p:spTree>
    <p:extLst>
      <p:ext uri="{BB962C8B-B14F-4D97-AF65-F5344CB8AC3E}">
        <p14:creationId xmlns:p14="http://schemas.microsoft.com/office/powerpoint/2010/main" val="166403835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ACT 4 · CONCEPTUAL / 평가 설계">
            <a:extLst xmlns:a="http://schemas.openxmlformats.org/drawingml/2006/main">
              <a:ext uri="{FF2B5EF4-FFF2-40B4-BE49-F238E27FC236}">
                <a16:creationId xmlns:a16="http://schemas.microsoft.com/office/drawing/2014/main" id="{521BA115-72AE-41EB-8562-8FA7FF53F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평가 설계</a:t>
            </a:r>
          </a:p>
        </p:txBody>
      </p:sp>
      <p:sp>
        <p:nvSpPr>
          <p:cNvPr id="2" name="S64">
            <a:extLst xmlns:a="http://schemas.openxmlformats.org/drawingml/2006/main">
              <a:ext uri="{FF2B5EF4-FFF2-40B4-BE49-F238E27FC236}">
                <a16:creationId xmlns:a16="http://schemas.microsoft.com/office/drawing/2014/main" id="{A529F723-0778-4C00-B07C-4AD51E806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S64</a:t>
            </a:r>
          </a:p>
        </p:txBody>
      </p:sp>
      <p:sp>
        <p:nvSpPr>
          <p:cNvPr id="3" name="대표 작업으로 변경 범위를 확인하기">
            <a:extLst xmlns:a="http://schemas.openxmlformats.org/drawingml/2006/main">
              <a:ext uri="{FF2B5EF4-FFF2-40B4-BE49-F238E27FC236}">
                <a16:creationId xmlns:a16="http://schemas.microsoft.com/office/drawing/2014/main" id="{42E265A0-55A7-4622-AD33-868E53975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대표 작업으로 변경 범위를 확인하기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CC5D72-4ED4-45EF-A2EF-77A2697A8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10 · 네 작업 모두 이 Workflow 변경 후의 평가 결과는 없음">
            <a:extLst xmlns:a="http://schemas.openxmlformats.org/drawingml/2006/main">
              <a:ext uri="{FF2B5EF4-FFF2-40B4-BE49-F238E27FC236}">
                <a16:creationId xmlns:a16="http://schemas.microsoft.com/office/drawing/2014/main" id="{BE28947E-BEB3-4362-8A3A-30E860C87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DEMO-10 · 네 작업 모두 이 Workflow 변경 후의 평가 결과는 없음</a:t>
            </a:r>
          </a:p>
        </p:txBody>
      </p:sp>
      <p:sp>
        <p:nvSpPr>
          <p:cNvPr id="6" name="EVAL-01/02: 별도 과거 관찰 참고 · EVAL-03/04: 설계만 있음 · 새 실행·PASS/FAI">
            <a:extLst xmlns:a="http://schemas.openxmlformats.org/drawingml/2006/main">
              <a:ext uri="{FF2B5EF4-FFF2-40B4-BE49-F238E27FC236}">
                <a16:creationId xmlns:a16="http://schemas.microsoft.com/office/drawing/2014/main" id="{9F620136-A858-4FB5-B2A7-320FB46D1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EVAL-01/02: 별도 과거 관찰 참고 · EVAL-03/04: 설계만 있음 · 새 실행·PASS/FAIL 없음</a:t>
            </a:r>
          </a:p>
        </p:txBody>
      </p:sp>
      <p:sp>
        <p:nvSpPr>
          <p:cNvPr id="7" name="작업 수보다, 서로 다른 위험을 덮는가?">
            <a:extLst xmlns:a="http://schemas.openxmlformats.org/drawingml/2006/main">
              <a:ext uri="{FF2B5EF4-FFF2-40B4-BE49-F238E27FC236}">
                <a16:creationId xmlns:a16="http://schemas.microsoft.com/office/drawing/2014/main" id="{B58397DE-6B00-4E2C-978A-FF2830BFA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작업 수보다, 서로 다른 위험을 덮는가?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AE5492-C823-4AEC-A516-1D341E6D5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76B4D"/>
            </a:solidFill>
            <a:prstDash val="solid"/>
          </a:ln>
        </p:spPr>
      </p:sp>
      <p:sp>
        <p:nvSpPr>
          <p:cNvPr id="9" name="버그 수정">
            <a:extLst xmlns:a="http://schemas.openxmlformats.org/drawingml/2006/main">
              <a:ext uri="{FF2B5EF4-FFF2-40B4-BE49-F238E27FC236}">
                <a16:creationId xmlns:a16="http://schemas.microsoft.com/office/drawing/2014/main" id="{F0FC2C39-3C2D-4631-AE0C-2271D3107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90825"/>
            <a:ext cx="228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버그 수정</a:t>
            </a:r>
          </a:p>
        </p:txBody>
      </p:sp>
      <p:sp>
        <p:nvSpPr>
          <p:cNvPr id="10" name="동작 계약을 확인하는가?">
            <a:extLst xmlns:a="http://schemas.openxmlformats.org/drawingml/2006/main">
              <a:ext uri="{FF2B5EF4-FFF2-40B4-BE49-F238E27FC236}">
                <a16:creationId xmlns:a16="http://schemas.microsoft.com/office/drawing/2014/main" id="{B23B9C96-5774-48BC-9C81-7AC21D621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790825"/>
            <a:ext cx="5762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동작 계약을 확인하는가?</a:t>
            </a:r>
          </a:p>
        </p:txBody>
      </p:sp>
      <p:sp>
        <p:nvSpPr>
          <p:cNvPr id="11" name="EVAL-01 · TRIAL-002">
            <a:extLst xmlns:a="http://schemas.openxmlformats.org/drawingml/2006/main">
              <a:ext uri="{FF2B5EF4-FFF2-40B4-BE49-F238E27FC236}">
                <a16:creationId xmlns:a16="http://schemas.microsoft.com/office/drawing/2014/main" id="{4F6C3599-5DF5-4BFD-BC1F-9D0EC4729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809875"/>
            <a:ext cx="2724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rPr>
              <a:t>EVAL-01 · TRIAL-002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7C089B-B558-4D85-AB98-AEC7AE624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04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76B4D"/>
            </a:solidFill>
            <a:prstDash val="solid"/>
          </a:ln>
        </p:spPr>
      </p:sp>
      <p:sp>
        <p:nvSpPr>
          <p:cNvPr id="13" name="성능 변경">
            <a:extLst xmlns:a="http://schemas.openxmlformats.org/drawingml/2006/main">
              <a:ext uri="{FF2B5EF4-FFF2-40B4-BE49-F238E27FC236}">
                <a16:creationId xmlns:a16="http://schemas.microsoft.com/office/drawing/2014/main" id="{92070087-0FD8-4988-B9BE-58647F4F9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76625"/>
            <a:ext cx="228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성능 변경</a:t>
            </a:r>
          </a:p>
        </p:txBody>
      </p:sp>
      <p:sp>
        <p:nvSpPr>
          <p:cNvPr id="14" name="측정과 검증 범위를 유지하는가?">
            <a:extLst xmlns:a="http://schemas.openxmlformats.org/drawingml/2006/main">
              <a:ext uri="{FF2B5EF4-FFF2-40B4-BE49-F238E27FC236}">
                <a16:creationId xmlns:a16="http://schemas.microsoft.com/office/drawing/2014/main" id="{15AEF85C-FA07-4110-A10A-DEBF949CD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476625"/>
            <a:ext cx="5762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측정과 검증 범위를 유지하는가?</a:t>
            </a:r>
          </a:p>
        </p:txBody>
      </p:sp>
      <p:sp>
        <p:nvSpPr>
          <p:cNvPr id="15" name="EVAL-02 · STATE-04-PERF">
            <a:extLst xmlns:a="http://schemas.openxmlformats.org/drawingml/2006/main">
              <a:ext uri="{FF2B5EF4-FFF2-40B4-BE49-F238E27FC236}">
                <a16:creationId xmlns:a16="http://schemas.microsoft.com/office/drawing/2014/main" id="{390DA5AE-E7DB-4827-9E7C-3F392F681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495675"/>
            <a:ext cx="2724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rPr>
              <a:t>EVAL-02 · STATE-04-PERF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5D6FB4-3B36-46E9-A62C-BD6476E3E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862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05400"/>
            </a:solidFill>
            <a:prstDash val="dash"/>
          </a:ln>
        </p:spPr>
      </p:sp>
      <p:sp>
        <p:nvSpPr>
          <p:cNvPr id="17" name="문서만 수정">
            <a:extLst xmlns:a="http://schemas.openxmlformats.org/drawingml/2006/main">
              <a:ext uri="{FF2B5EF4-FFF2-40B4-BE49-F238E27FC236}">
                <a16:creationId xmlns:a16="http://schemas.microsoft.com/office/drawing/2014/main" id="{5815BF84-0E1F-4563-8B7D-3A24B56BF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62425"/>
            <a:ext cx="228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문서만 수정</a:t>
            </a:r>
          </a:p>
        </p:txBody>
      </p:sp>
      <p:sp>
        <p:nvSpPr>
          <p:cNvPr id="18" name="불필요한 절차를 강요하지 않는가?">
            <a:extLst xmlns:a="http://schemas.openxmlformats.org/drawingml/2006/main">
              <a:ext uri="{FF2B5EF4-FFF2-40B4-BE49-F238E27FC236}">
                <a16:creationId xmlns:a16="http://schemas.microsoft.com/office/drawing/2014/main" id="{5541F133-1794-4CC3-A667-6393A9E17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162425"/>
            <a:ext cx="5762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불필요한 절차를 강요하지 않는가?</a:t>
            </a:r>
          </a:p>
        </p:txBody>
      </p:sp>
      <p:sp>
        <p:nvSpPr>
          <p:cNvPr id="19" name="EVAL-03 · 설계 사례">
            <a:extLst xmlns:a="http://schemas.openxmlformats.org/drawingml/2006/main">
              <a:ext uri="{FF2B5EF4-FFF2-40B4-BE49-F238E27FC236}">
                <a16:creationId xmlns:a16="http://schemas.microsoft.com/office/drawing/2014/main" id="{0AC92FAB-AF3A-4317-86C3-308B35724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181475"/>
            <a:ext cx="2724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EVAL-03 · 설계 사례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025F28-FDD9-49B0-AC84-CA8C8FE7D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720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05400"/>
            </a:solidFill>
            <a:prstDash val="dash"/>
          </a:ln>
        </p:spPr>
      </p:sp>
      <p:sp>
        <p:nvSpPr>
          <p:cNvPr id="21" name="작은 리팩터링">
            <a:extLst xmlns:a="http://schemas.openxmlformats.org/drawingml/2006/main">
              <a:ext uri="{FF2B5EF4-FFF2-40B4-BE49-F238E27FC236}">
                <a16:creationId xmlns:a16="http://schemas.microsoft.com/office/drawing/2014/main" id="{DF42F7F6-F969-46B5-9C58-C2905B3E1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48225"/>
            <a:ext cx="228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작은 리팩터링</a:t>
            </a:r>
          </a:p>
        </p:txBody>
      </p:sp>
      <p:sp>
        <p:nvSpPr>
          <p:cNvPr id="22" name="다른 유효한 작업을 방해하지 않는가?">
            <a:extLst xmlns:a="http://schemas.openxmlformats.org/drawingml/2006/main">
              <a:ext uri="{FF2B5EF4-FFF2-40B4-BE49-F238E27FC236}">
                <a16:creationId xmlns:a16="http://schemas.microsoft.com/office/drawing/2014/main" id="{4E1A1CBA-4B43-4A08-B4E4-8E36264E4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848225"/>
            <a:ext cx="5762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다른 유효한 작업을 방해하지 않는가?</a:t>
            </a:r>
          </a:p>
        </p:txBody>
      </p:sp>
      <p:sp>
        <p:nvSpPr>
          <p:cNvPr id="23" name="EVAL-04 · 설계 사례">
            <a:extLst xmlns:a="http://schemas.openxmlformats.org/drawingml/2006/main">
              <a:ext uri="{FF2B5EF4-FFF2-40B4-BE49-F238E27FC236}">
                <a16:creationId xmlns:a16="http://schemas.microsoft.com/office/drawing/2014/main" id="{C3DAFCCD-1C42-4E4C-90B5-C01689CC5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867275"/>
            <a:ext cx="2724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EVAL-04 · 설계 사례</a:t>
            </a:r>
          </a:p>
        </p:txBody>
      </p:sp>
    </p:spTree>
    <p:extLst>
      <p:ext uri="{BB962C8B-B14F-4D97-AF65-F5344CB8AC3E}">
        <p14:creationId xmlns:p14="http://schemas.microsoft.com/office/powerpoint/2010/main" val="151487839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ACT 4 · CONCEPTUAL / 규칙 유지보수">
            <a:extLst xmlns:a="http://schemas.openxmlformats.org/drawingml/2006/main">
              <a:ext uri="{FF2B5EF4-FFF2-40B4-BE49-F238E27FC236}">
                <a16:creationId xmlns:a16="http://schemas.microsoft.com/office/drawing/2014/main" id="{6C6403F4-86BB-4174-8B70-200B93530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규칙 유지보수</a:t>
            </a:r>
          </a:p>
        </p:txBody>
      </p:sp>
      <p:sp>
        <p:nvSpPr>
          <p:cNvPr id="2" name="S65">
            <a:extLst xmlns:a="http://schemas.openxmlformats.org/drawingml/2006/main">
              <a:ext uri="{FF2B5EF4-FFF2-40B4-BE49-F238E27FC236}">
                <a16:creationId xmlns:a16="http://schemas.microsoft.com/office/drawing/2014/main" id="{1661A8E1-6E6A-4E94-88A4-D0313006B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S65</a:t>
            </a:r>
          </a:p>
        </p:txBody>
      </p:sp>
      <p:sp>
        <p:nvSpPr>
          <p:cNvPr id="3" name="Harness도 특정 실패에 맞춰&#10;과적합될 수 있다">
            <a:extLst xmlns:a="http://schemas.openxmlformats.org/drawingml/2006/main">
              <a:ext uri="{FF2B5EF4-FFF2-40B4-BE49-F238E27FC236}">
                <a16:creationId xmlns:a16="http://schemas.microsoft.com/office/drawing/2014/main" id="{4D9FD633-406B-42C9-A322-579E58452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Harness도 특정 실패에 맞춰</a:t>
            </a:r>
          </a:p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과적합될 수 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8BA5AE-F984-4591-900E-9D8C82E8E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04A · 과적합은 이 교육의 비유">
            <a:extLst xmlns:a="http://schemas.openxmlformats.org/drawingml/2006/main">
              <a:ext uri="{FF2B5EF4-FFF2-40B4-BE49-F238E27FC236}">
                <a16:creationId xmlns:a16="http://schemas.microsoft.com/office/drawing/2014/main" id="{DFC9C21E-7F9E-41CA-A921-DE43F3411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DEMO-04A · 과적합은 이 교육의 비유</a:t>
            </a:r>
          </a:p>
        </p:txBody>
      </p:sp>
      <p:sp>
        <p:nvSpPr>
          <p:cNvPr id="6" name="Machine Learning의 통계적 과적합과 같은 현상이라는 주장이 아니다.">
            <a:extLst xmlns:a="http://schemas.openxmlformats.org/drawingml/2006/main">
              <a:ext uri="{FF2B5EF4-FFF2-40B4-BE49-F238E27FC236}">
                <a16:creationId xmlns:a16="http://schemas.microsoft.com/office/drawing/2014/main" id="{F449BF96-129A-48F3-8991-D67BB8ECF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Machine Learning의 통계적 과적합과 같은 현상이라는 주장이 아니다.</a:t>
            </a:r>
          </a:p>
        </p:txBody>
      </p:sp>
      <p:sp>
        <p:nvSpPr>
          <p:cNvPr id="7" name="실패할 때마다 규칙을 하나씩 더하면">
            <a:extLst xmlns:a="http://schemas.openxmlformats.org/drawingml/2006/main">
              <a:ext uri="{FF2B5EF4-FFF2-40B4-BE49-F238E27FC236}">
                <a16:creationId xmlns:a16="http://schemas.microsoft.com/office/drawing/2014/main" id="{2405BE74-2EE3-4229-BC2D-E418A49D3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실패할 때마다 규칙을 하나씩 더하면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87DD37-BD9F-4241-853B-EF275F1EE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dash"/>
          </a:ln>
        </p:spPr>
      </p:sp>
      <p:sp>
        <p:nvSpPr>
          <p:cNvPr id="9" name="규칙 누적">
            <a:extLst xmlns:a="http://schemas.openxmlformats.org/drawingml/2006/main">
              <a:ext uri="{FF2B5EF4-FFF2-40B4-BE49-F238E27FC236}">
                <a16:creationId xmlns:a16="http://schemas.microsoft.com/office/drawing/2014/main" id="{A17865EA-BFAF-4B8F-BA0D-A949F1A7B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333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규칙 누적</a:t>
            </a:r>
          </a:p>
        </p:txBody>
      </p:sp>
      <p:sp>
        <p:nvSpPr>
          <p:cNvPr id="10" name="읽고 유지할 내용이 커짐">
            <a:extLst xmlns:a="http://schemas.openxmlformats.org/drawingml/2006/main">
              <a:ext uri="{FF2B5EF4-FFF2-40B4-BE49-F238E27FC236}">
                <a16:creationId xmlns:a16="http://schemas.microsoft.com/office/drawing/2014/main" id="{52A8AABF-6925-45B6-B914-9B9D0E368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333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읽고 유지할 내용이 커짐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6EDFD8-378B-4F91-9EC8-064D35E9E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14325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dash"/>
          </a:ln>
        </p:spPr>
      </p:sp>
      <p:sp>
        <p:nvSpPr>
          <p:cNvPr id="12" name="규칙 충돌">
            <a:extLst xmlns:a="http://schemas.openxmlformats.org/drawingml/2006/main">
              <a:ext uri="{FF2B5EF4-FFF2-40B4-BE49-F238E27FC236}">
                <a16:creationId xmlns:a16="http://schemas.microsoft.com/office/drawing/2014/main" id="{852A51CF-4A39-4D0B-A858-040ED3027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333750"/>
            <a:ext cx="333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규칙 충돌</a:t>
            </a:r>
          </a:p>
        </p:txBody>
      </p:sp>
      <p:sp>
        <p:nvSpPr>
          <p:cNvPr id="13" name="서로 다른 지시가 섞임">
            <a:extLst xmlns:a="http://schemas.openxmlformats.org/drawingml/2006/main">
              <a:ext uri="{FF2B5EF4-FFF2-40B4-BE49-F238E27FC236}">
                <a16:creationId xmlns:a16="http://schemas.microsoft.com/office/drawing/2014/main" id="{BF4CC26A-830C-46F2-B85A-2CFFDFD9E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048125"/>
            <a:ext cx="333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서로 다른 지시가 섞임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9CED2E-ED70-4E34-9301-3AF771142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14325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dash"/>
          </a:ln>
        </p:spPr>
      </p:sp>
      <p:sp>
        <p:nvSpPr>
          <p:cNvPr id="15" name="특정 작업에만 맞춤">
            <a:extLst xmlns:a="http://schemas.openxmlformats.org/drawingml/2006/main">
              <a:ext uri="{FF2B5EF4-FFF2-40B4-BE49-F238E27FC236}">
                <a16:creationId xmlns:a16="http://schemas.microsoft.com/office/drawing/2014/main" id="{92FD355D-FFF3-41C6-84A7-A8B9B66BC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333750"/>
            <a:ext cx="333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특정 작업에만 맞춤</a:t>
            </a:r>
          </a:p>
        </p:txBody>
      </p:sp>
      <p:sp>
        <p:nvSpPr>
          <p:cNvPr id="16" name="다른 작업에서 적합성 미확인">
            <a:extLst xmlns:a="http://schemas.openxmlformats.org/drawingml/2006/main">
              <a:ext uri="{FF2B5EF4-FFF2-40B4-BE49-F238E27FC236}">
                <a16:creationId xmlns:a16="http://schemas.microsoft.com/office/drawing/2014/main" id="{6E3C59B7-C706-48FA-A122-5290B6050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048125"/>
            <a:ext cx="333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다른 작업에서 적합성 미확인</a:t>
            </a:r>
          </a:p>
        </p:txBody>
      </p:sp>
      <p:sp>
        <p:nvSpPr>
          <p:cNvPr id="17" name="원인을 확인하고, 대표 작업으로 평가하고, 불필요한 규칙을 정리한다.">
            <a:extLst xmlns:a="http://schemas.openxmlformats.org/drawingml/2006/main">
              <a:ext uri="{FF2B5EF4-FFF2-40B4-BE49-F238E27FC236}">
                <a16:creationId xmlns:a16="http://schemas.microsoft.com/office/drawing/2014/main" id="{96C0D491-F150-45E9-9AB9-67C3A8BEE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원인을 확인하고, 대표 작업으로 평가하고, 불필요한 규칙을 정리한다.</a:t>
            </a:r>
          </a:p>
        </p:txBody>
      </p:sp>
    </p:spTree>
    <p:extLst>
      <p:ext uri="{BB962C8B-B14F-4D97-AF65-F5344CB8AC3E}">
        <p14:creationId xmlns:p14="http://schemas.microsoft.com/office/powerpoint/2010/main" val="137691183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ACT 4 · 이 교육의 Loop 모델">
            <a:extLst xmlns:a="http://schemas.openxmlformats.org/drawingml/2006/main">
              <a:ext uri="{FF2B5EF4-FFF2-40B4-BE49-F238E27FC236}">
                <a16:creationId xmlns:a16="http://schemas.microsoft.com/office/drawing/2014/main" id="{4AC7A60D-7743-4816-A8D8-30F52BA9B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이 교육의 Loop 모델</a:t>
            </a:r>
          </a:p>
        </p:txBody>
      </p:sp>
      <p:sp>
        <p:nvSpPr>
          <p:cNvPr id="2" name="S66">
            <a:extLst xmlns:a="http://schemas.openxmlformats.org/drawingml/2006/main">
              <a:ext uri="{FF2B5EF4-FFF2-40B4-BE49-F238E27FC236}">
                <a16:creationId xmlns:a16="http://schemas.microsoft.com/office/drawing/2014/main" id="{9BBAF0A2-ACA8-4841-A2F1-D5D0D31E3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S66</a:t>
            </a:r>
          </a:p>
        </p:txBody>
      </p:sp>
      <p:sp>
        <p:nvSpPr>
          <p:cNvPr id="3" name="Feedback을 System Change와&#10;Evaluation으로 잇기">
            <a:extLst xmlns:a="http://schemas.openxmlformats.org/drawingml/2006/main">
              <a:ext uri="{FF2B5EF4-FFF2-40B4-BE49-F238E27FC236}">
                <a16:creationId xmlns:a16="http://schemas.microsoft.com/office/drawing/2014/main" id="{38ECF955-410E-4B89-BC16-DB7A5218F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Feedback을 System Change와</a:t>
            </a:r>
          </a:p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Evaluation으로 잇기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416D82-7FCE-4EF2-AF71-66E2CBC81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DEC-0023 · 교육용 운영 모델">
            <a:extLst xmlns:a="http://schemas.openxmlformats.org/drawingml/2006/main">
              <a:ext uri="{FF2B5EF4-FFF2-40B4-BE49-F238E27FC236}">
                <a16:creationId xmlns:a16="http://schemas.microsoft.com/office/drawing/2014/main" id="{72AE6BF8-2D62-4C92-9E60-7F3E07F79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DEC-0023 · 교육용 운영 모델</a:t>
            </a:r>
          </a:p>
        </p:txBody>
      </p:sp>
      <p:sp>
        <p:nvSpPr>
          <p:cNvPr id="6" name="모델의 자동 학습이나 실제 Product Loop를 관찰했다는 뜻은 아니다.">
            <a:extLst xmlns:a="http://schemas.openxmlformats.org/drawingml/2006/main">
              <a:ext uri="{FF2B5EF4-FFF2-40B4-BE49-F238E27FC236}">
                <a16:creationId xmlns:a16="http://schemas.microsoft.com/office/drawing/2014/main" id="{E4592E80-D6AF-4D1B-91BD-3A95C49E9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모델의 자동 학습이나 실제 Product Loop를 관찰했다는 뜻은 아니다.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012FBF-0203-45F5-BE8D-7FB86B859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18745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8" name="실행">
            <a:extLst xmlns:a="http://schemas.openxmlformats.org/drawingml/2006/main">
              <a:ext uri="{FF2B5EF4-FFF2-40B4-BE49-F238E27FC236}">
                <a16:creationId xmlns:a16="http://schemas.microsoft.com/office/drawing/2014/main" id="{F9A6C9C4-67A3-4F23-B95E-B228CDF62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187452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실행</a:t>
            </a:r>
          </a:p>
        </p:txBody>
      </p:sp>
      <p:sp>
        <p:nvSpPr>
          <p:cNvPr id="9" name="무엇을 했나?">
            <a:extLst xmlns:a="http://schemas.openxmlformats.org/drawingml/2006/main">
              <a:ext uri="{FF2B5EF4-FFF2-40B4-BE49-F238E27FC236}">
                <a16:creationId xmlns:a16="http://schemas.microsoft.com/office/drawing/2014/main" id="{0353336C-E896-4360-89F3-1AA31EFD5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38550"/>
            <a:ext cx="187452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무엇을 했나?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25CE2F-1451-4BED-9AE1-8E8CB93B2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9845" y="3105150"/>
            <a:ext cx="2286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96FC77-D79A-40B2-B760-B1CFA3A27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4170" y="2686050"/>
            <a:ext cx="18745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2" name="관찰">
            <a:extLst xmlns:a="http://schemas.openxmlformats.org/drawingml/2006/main">
              <a:ext uri="{FF2B5EF4-FFF2-40B4-BE49-F238E27FC236}">
                <a16:creationId xmlns:a16="http://schemas.microsoft.com/office/drawing/2014/main" id="{9D055271-8BFC-4A9A-997E-5BF3DF9E2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4170" y="2876550"/>
            <a:ext cx="187452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관찰</a:t>
            </a:r>
          </a:p>
        </p:txBody>
      </p:sp>
      <p:sp>
        <p:nvSpPr>
          <p:cNvPr id="13" name="무엇이 보였나?">
            <a:extLst xmlns:a="http://schemas.openxmlformats.org/drawingml/2006/main">
              <a:ext uri="{FF2B5EF4-FFF2-40B4-BE49-F238E27FC236}">
                <a16:creationId xmlns:a16="http://schemas.microsoft.com/office/drawing/2014/main" id="{C28B0FA2-0D1B-4386-A532-9C22146A6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4170" y="3638550"/>
            <a:ext cx="187452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무엇이 보였나?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5AAEAB-9181-4EB6-9B0E-A7D694355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4415" y="3105150"/>
            <a:ext cx="2286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F5974A-480B-4062-AF79-6DEFF5B51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8740" y="2686050"/>
            <a:ext cx="18745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6" name="원인 판단">
            <a:extLst xmlns:a="http://schemas.openxmlformats.org/drawingml/2006/main">
              <a:ext uri="{FF2B5EF4-FFF2-40B4-BE49-F238E27FC236}">
                <a16:creationId xmlns:a16="http://schemas.microsoft.com/office/drawing/2014/main" id="{D351AE02-DD1F-4824-9B1F-B530A8518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8740" y="2876550"/>
            <a:ext cx="187452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원인 판단</a:t>
            </a:r>
          </a:p>
        </p:txBody>
      </p:sp>
      <p:sp>
        <p:nvSpPr>
          <p:cNvPr id="17" name="왜 생겼나?">
            <a:extLst xmlns:a="http://schemas.openxmlformats.org/drawingml/2006/main">
              <a:ext uri="{FF2B5EF4-FFF2-40B4-BE49-F238E27FC236}">
                <a16:creationId xmlns:a16="http://schemas.microsoft.com/office/drawing/2014/main" id="{4013DF60-9069-4548-B73D-6E669D2B2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8740" y="3638550"/>
            <a:ext cx="187452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왜 생겼나?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8A88043-AFF7-4881-BCC2-F1DC34688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8985" y="3105150"/>
            <a:ext cx="2286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3AF5045-A84D-44F8-85B0-D53B67333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2686050"/>
            <a:ext cx="18745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20" name="시스템 변경">
            <a:extLst xmlns:a="http://schemas.openxmlformats.org/drawingml/2006/main">
              <a:ext uri="{FF2B5EF4-FFF2-40B4-BE49-F238E27FC236}">
                <a16:creationId xmlns:a16="http://schemas.microsoft.com/office/drawing/2014/main" id="{60E78876-7CDA-435E-B337-E8302E2DF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2876550"/>
            <a:ext cx="187452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시스템 변경</a:t>
            </a:r>
          </a:p>
        </p:txBody>
      </p:sp>
      <p:sp>
        <p:nvSpPr>
          <p:cNvPr id="21" name="어디를 바꾸나?">
            <a:extLst xmlns:a="http://schemas.openxmlformats.org/drawingml/2006/main">
              <a:ext uri="{FF2B5EF4-FFF2-40B4-BE49-F238E27FC236}">
                <a16:creationId xmlns:a16="http://schemas.microsoft.com/office/drawing/2014/main" id="{439C2378-BA69-4CB5-8CF8-1BEA33CE8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3638550"/>
            <a:ext cx="187452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어디를 바꾸나?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E3EC34-B43C-4C18-B929-12982EC54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3555" y="3105150"/>
            <a:ext cx="2286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DD629F5-B75D-4A10-B50A-A9BECF438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07880" y="2686050"/>
            <a:ext cx="18745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24" name="재평가">
            <a:extLst xmlns:a="http://schemas.openxmlformats.org/drawingml/2006/main">
              <a:ext uri="{FF2B5EF4-FFF2-40B4-BE49-F238E27FC236}">
                <a16:creationId xmlns:a16="http://schemas.microsoft.com/office/drawing/2014/main" id="{7CB9A1BE-D0C3-4861-87FC-87B41DAFB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07880" y="2876550"/>
            <a:ext cx="187452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재평가</a:t>
            </a:r>
          </a:p>
        </p:txBody>
      </p:sp>
      <p:sp>
        <p:nvSpPr>
          <p:cNvPr id="25" name="다른 작업도&#10;괜찮은가?">
            <a:extLst xmlns:a="http://schemas.openxmlformats.org/drawingml/2006/main">
              <a:ext uri="{FF2B5EF4-FFF2-40B4-BE49-F238E27FC236}">
                <a16:creationId xmlns:a16="http://schemas.microsoft.com/office/drawing/2014/main" id="{DF8FCA0F-7BC5-412D-B77C-0FB1D68EF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07880" y="3638550"/>
            <a:ext cx="187452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다른 작업도</a:t>
            </a:r>
          </a:p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괜찮은가?</a:t>
            </a:r>
          </a:p>
        </p:txBody>
      </p:sp>
      <p:sp>
        <p:nvSpPr>
          <p:cNvPr id="26" name="다음 작업에도 영향을 주는 변경으로 연결한다.">
            <a:extLst xmlns:a="http://schemas.openxmlformats.org/drawingml/2006/main">
              <a:ext uri="{FF2B5EF4-FFF2-40B4-BE49-F238E27FC236}">
                <a16:creationId xmlns:a16="http://schemas.microsoft.com/office/drawing/2014/main" id="{49D1AFD8-CCF4-4E6F-8978-F8E7CA9C4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다음 작업에도 영향을 주는 변경으로 연결한다.</a:t>
            </a:r>
          </a:p>
        </p:txBody>
      </p:sp>
    </p:spTree>
    <p:extLst>
      <p:ext uri="{BB962C8B-B14F-4D97-AF65-F5344CB8AC3E}">
        <p14:creationId xmlns:p14="http://schemas.microsoft.com/office/powerpoint/2010/main" val="185519457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ACT 4 · OBSERVED META / 교육자료 제작 기록">
            <a:extLst xmlns:a="http://schemas.openxmlformats.org/drawingml/2006/main">
              <a:ext uri="{FF2B5EF4-FFF2-40B4-BE49-F238E27FC236}">
                <a16:creationId xmlns:a16="http://schemas.microsoft.com/office/drawing/2014/main" id="{AA97E08D-2833-42B2-9FEA-FA66B1091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OBSERVED META / 교육자료 제작 기록</a:t>
            </a:r>
          </a:p>
        </p:txBody>
      </p:sp>
      <p:sp>
        <p:nvSpPr>
          <p:cNvPr id="2" name="S67">
            <a:extLst xmlns:a="http://schemas.openxmlformats.org/drawingml/2006/main">
              <a:ext uri="{FF2B5EF4-FFF2-40B4-BE49-F238E27FC236}">
                <a16:creationId xmlns:a16="http://schemas.microsoft.com/office/drawing/2014/main" id="{5846EFAC-4D9D-40CF-90D0-E1CBDCD5B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S67</a:t>
            </a:r>
          </a:p>
        </p:txBody>
      </p:sp>
      <p:sp>
        <p:nvSpPr>
          <p:cNvPr id="3" name="실제 제작 기록: TRIAL-006">
            <a:extLst xmlns:a="http://schemas.openxmlformats.org/drawingml/2006/main">
              <a:ext uri="{FF2B5EF4-FFF2-40B4-BE49-F238E27FC236}">
                <a16:creationId xmlns:a16="http://schemas.microsoft.com/office/drawing/2014/main" id="{2C758813-D5E7-4E34-BA05-4AA39B97A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실제 제작 기록: TRIAL-006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3DC047-AAD7-471E-BB52-F489E7A85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66AD9F-B2EF-4409-9136-B50D6B987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721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6172"/>
            </a:solidFill>
            <a:prstDash val="solid"/>
          </a:ln>
        </p:spPr>
      </p:sp>
      <p:sp>
        <p:nvSpPr>
          <p:cNvPr id="6" name="TRIAL-006 · 과거 Codex CLI 조사 기록의 재구성">
            <a:extLst xmlns:a="http://schemas.openxmlformats.org/drawingml/2006/main">
              <a:ext uri="{FF2B5EF4-FFF2-40B4-BE49-F238E27FC236}">
                <a16:creationId xmlns:a16="http://schemas.microsoft.com/office/drawing/2014/main" id="{3CC54441-9DE7-4D9C-BAEE-734348E6B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TRIAL-006 · 과거 Codex CLI 조사 기록의 재구성</a:t>
            </a:r>
          </a:p>
        </p:txBody>
      </p:sp>
      <p:sp>
        <p:nvSpPr>
          <p:cNvPr id="7" name="앞의 가상 Workflow와 별개 사건이다. 제품 코드·Demo Skill의 수정 사례가 아니다.">
            <a:extLst xmlns:a="http://schemas.openxmlformats.org/drawingml/2006/main">
              <a:ext uri="{FF2B5EF4-FFF2-40B4-BE49-F238E27FC236}">
                <a16:creationId xmlns:a16="http://schemas.microsoft.com/office/drawing/2014/main" id="{838A4BCB-429A-4AFF-94E9-E6014A22B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앞의 가상 Workflow와 별개 사건이다. 제품 코드·Demo Skill의 수정 사례가 아니다.</a:t>
            </a:r>
          </a:p>
        </p:txBody>
      </p:sp>
      <p:sp>
        <p:nvSpPr>
          <p:cNvPr id="8" name="성능 조사에 Prompt 밖의 환경도 함께 관여했다.">
            <a:extLst xmlns:a="http://schemas.openxmlformats.org/drawingml/2006/main">
              <a:ext uri="{FF2B5EF4-FFF2-40B4-BE49-F238E27FC236}">
                <a16:creationId xmlns:a16="http://schemas.microsoft.com/office/drawing/2014/main" id="{DAC019B1-2FFD-41E5-BCF8-12383CC3C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성능 조사에 Prompt 밖의 환경도 함께 관여했다.</a:t>
            </a:r>
          </a:p>
        </p:txBody>
      </p:sp>
      <p:sp>
        <p:nvSpPr>
          <p:cNvPr id="9" name="작업 요청">
            <a:extLst xmlns:a="http://schemas.openxmlformats.org/drawingml/2006/main">
              <a:ext uri="{FF2B5EF4-FFF2-40B4-BE49-F238E27FC236}">
                <a16:creationId xmlns:a16="http://schemas.microsoft.com/office/drawing/2014/main" id="{B59B6369-95DF-42AD-87D3-CF81B5FB9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95625"/>
            <a:ext cx="333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작업 요청</a:t>
            </a:r>
          </a:p>
        </p:txBody>
      </p:sp>
      <p:sp>
        <p:nvSpPr>
          <p:cNvPr id="10" name="실행 환경">
            <a:extLst xmlns:a="http://schemas.openxmlformats.org/drawingml/2006/main">
              <a:ext uri="{FF2B5EF4-FFF2-40B4-BE49-F238E27FC236}">
                <a16:creationId xmlns:a16="http://schemas.microsoft.com/office/drawing/2014/main" id="{713B655C-0AE9-412C-AE75-5CF7187D6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095625"/>
            <a:ext cx="333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실행 환경</a:t>
            </a:r>
          </a:p>
        </p:txBody>
      </p:sp>
      <p:sp>
        <p:nvSpPr>
          <p:cNvPr id="11" name="결과 해석">
            <a:extLst xmlns:a="http://schemas.openxmlformats.org/drawingml/2006/main">
              <a:ext uri="{FF2B5EF4-FFF2-40B4-BE49-F238E27FC236}">
                <a16:creationId xmlns:a16="http://schemas.microsoft.com/office/drawing/2014/main" id="{9BCDCAFC-F1DA-43A4-A2ED-1E7821BB5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095625"/>
            <a:ext cx="3009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결과 해석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13443F-354F-4432-8B0A-AF73A3A71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BFC15A-E19D-4283-A676-D523CC15F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71475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3F7F35-D92A-422B-AA69-C6A0F8E47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714750"/>
            <a:ext cx="3009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FDBBF1-7FC5-4B4D-A6A1-C687B7826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3886200"/>
            <a:ext cx="3429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25C919-5792-49BF-82A5-84E7A3381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886200"/>
            <a:ext cx="3429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7" name="성능 개선 작업">
            <a:extLst xmlns:a="http://schemas.openxmlformats.org/drawingml/2006/main">
              <a:ext uri="{FF2B5EF4-FFF2-40B4-BE49-F238E27FC236}">
                <a16:creationId xmlns:a16="http://schemas.microsoft.com/office/drawing/2014/main" id="{24E594FC-85D3-482A-9D21-8708DAD5D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43350"/>
            <a:ext cx="333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성능 개선 작업</a:t>
            </a:r>
          </a:p>
        </p:txBody>
      </p:sp>
      <p:sp>
        <p:nvSpPr>
          <p:cNvPr id="18" name="Global Skill 관여&#10;시작 경고도 기록">
            <a:extLst xmlns:a="http://schemas.openxmlformats.org/drawingml/2006/main">
              <a:ext uri="{FF2B5EF4-FFF2-40B4-BE49-F238E27FC236}">
                <a16:creationId xmlns:a16="http://schemas.microsoft.com/office/drawing/2014/main" id="{9701FB4A-348D-4CCF-B200-28A4A84AD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943350"/>
            <a:ext cx="33337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Global Skill 관여</a:t>
            </a:r>
          </a:p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시작 경고도 기록</a:t>
            </a:r>
          </a:p>
        </p:txBody>
      </p:sp>
      <p:sp>
        <p:nvSpPr>
          <p:cNvPr id="19" name="Prompt만의 효과?&#10;귀속은 PARTIAL">
            <a:extLst xmlns:a="http://schemas.openxmlformats.org/drawingml/2006/main">
              <a:ext uri="{FF2B5EF4-FFF2-40B4-BE49-F238E27FC236}">
                <a16:creationId xmlns:a16="http://schemas.microsoft.com/office/drawing/2014/main" id="{AD8FC58D-8BFF-43BF-9A70-2A2AF1A6A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943350"/>
            <a:ext cx="30099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Prompt만의 효과?</a:t>
            </a:r>
          </a:p>
          <a:p xmlns:a="http://schemas.openxmlformats.org/drawingml/2006/main">
            <a: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귀속은 PARTIAL</a:t>
            </a:r>
          </a:p>
        </p:txBody>
      </p:sp>
      <p:sp>
        <p:nvSpPr>
          <p:cNvPr id="20" name="좋은 결과가 있다는 것과 원인을 안다는 것은 별개다.">
            <a:extLst xmlns:a="http://schemas.openxmlformats.org/drawingml/2006/main">
              <a:ext uri="{FF2B5EF4-FFF2-40B4-BE49-F238E27FC236}">
                <a16:creationId xmlns:a16="http://schemas.microsoft.com/office/drawing/2014/main" id="{ACBED411-DAAA-4B5D-B450-148EC09C3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좋은 결과가 있다는 것과 원인을 안다는 것은 별개다.</a:t>
            </a:r>
          </a:p>
        </p:txBody>
      </p:sp>
    </p:spTree>
    <p:extLst>
      <p:ext uri="{BB962C8B-B14F-4D97-AF65-F5344CB8AC3E}">
        <p14:creationId xmlns:p14="http://schemas.microsoft.com/office/powerpoint/2010/main" val="207826190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ACT 4 · OBSERVED META / 두 가지 검증 질문">
            <a:extLst xmlns:a="http://schemas.openxmlformats.org/drawingml/2006/main">
              <a:ext uri="{FF2B5EF4-FFF2-40B4-BE49-F238E27FC236}">
                <a16:creationId xmlns:a16="http://schemas.microsoft.com/office/drawing/2014/main" id="{68E5A435-25C7-4D7A-A26B-8B1EE118A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OBSERVED META / 두 가지 검증 질문</a:t>
            </a:r>
          </a:p>
        </p:txBody>
      </p:sp>
      <p:sp>
        <p:nvSpPr>
          <p:cNvPr id="2" name="S68">
            <a:extLst xmlns:a="http://schemas.openxmlformats.org/drawingml/2006/main">
              <a:ext uri="{FF2B5EF4-FFF2-40B4-BE49-F238E27FC236}">
                <a16:creationId xmlns:a16="http://schemas.microsoft.com/office/drawing/2014/main" id="{7D3C8ECD-1E4A-4E87-BABC-D7192843A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S68</a:t>
            </a:r>
          </a:p>
        </p:txBody>
      </p:sp>
      <p:sp>
        <p:nvSpPr>
          <p:cNvPr id="3" name="결과의 타당성과 원인 귀속은 별개다">
            <a:extLst xmlns:a="http://schemas.openxmlformats.org/drawingml/2006/main">
              <a:ext uri="{FF2B5EF4-FFF2-40B4-BE49-F238E27FC236}">
                <a16:creationId xmlns:a16="http://schemas.microsoft.com/office/drawing/2014/main" id="{DA0FB156-6E04-4264-8EBE-4797156D8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결과의 타당성과 원인 귀속은 별개다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8B9FF9-457C-4DE7-BF83-93783EDF6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737A82-D858-4FD1-B9F3-111DE09B4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721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6172"/>
            </a:solidFill>
            <a:prstDash val="solid"/>
          </a:ln>
        </p:spPr>
      </p:sp>
      <p:sp>
        <p:nvSpPr>
          <p:cNvPr id="6" name="TRIAL-006 · resize_nearest · 7 one-call samples · 기록 재구성">
            <a:extLst xmlns:a="http://schemas.openxmlformats.org/drawingml/2006/main">
              <a:ext uri="{FF2B5EF4-FFF2-40B4-BE49-F238E27FC236}">
                <a16:creationId xmlns:a16="http://schemas.microsoft.com/office/drawing/2014/main" id="{FFD4C4D8-2D57-4A93-9926-CECB2624D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TRIAL-006 · resize_nearest · 7 one-call samples · 기록 재구성</a:t>
            </a:r>
          </a:p>
        </p:txBody>
      </p:sp>
      <p:sp>
        <p:nvSpPr>
          <p:cNvPr id="7" name="기록된 합성 입력·CPython 3.9.6·macOS arm64의 결과. 현재 Desktop 또는 일반 효과">
            <a:extLst xmlns:a="http://schemas.openxmlformats.org/drawingml/2006/main">
              <a:ext uri="{FF2B5EF4-FFF2-40B4-BE49-F238E27FC236}">
                <a16:creationId xmlns:a16="http://schemas.microsoft.com/office/drawing/2014/main" id="{FA118364-7103-4C20-AF4F-54AB4C57B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기록된 합성 입력·CPython 3.9.6·macOS arm64의 결과. 현재 Desktop 또는 일반 효과가 아니다.</a:t>
            </a:r>
          </a:p>
        </p:txBody>
      </p:sp>
      <p:sp>
        <p:nvSpPr>
          <p:cNvPr id="8" name="측정 결과는 유효한가?">
            <a:extLst xmlns:a="http://schemas.openxmlformats.org/drawingml/2006/main">
              <a:ext uri="{FF2B5EF4-FFF2-40B4-BE49-F238E27FC236}">
                <a16:creationId xmlns:a16="http://schemas.microsoft.com/office/drawing/2014/main" id="{698BFDDF-DE33-435E-86A0-C8BE50C27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495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측정 결과는 유효한가?</a:t>
            </a:r>
          </a:p>
        </p:txBody>
      </p:sp>
      <p:sp>
        <p:nvSpPr>
          <p:cNvPr id="9" name="무엇이 결과를 만들었나?">
            <a:extLst xmlns:a="http://schemas.openxmlformats.org/drawingml/2006/main">
              <a:ext uri="{FF2B5EF4-FFF2-40B4-BE49-F238E27FC236}">
                <a16:creationId xmlns:a16="http://schemas.microsoft.com/office/drawing/2014/main" id="{261AA955-3F94-46A0-9E6E-3ACADF6A8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190750"/>
            <a:ext cx="4876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무엇이 결과를 만들었나?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18E473-CA13-4F3D-AAE1-D7A877412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79AE91-17ED-4439-98AC-C0A64460B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8575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solid"/>
          </a:ln>
        </p:spPr>
      </p:sp>
      <p:sp>
        <p:nvSpPr>
          <p:cNvPr id="12" name="입력·출력 hash 일치&#10;같은 조건의 측정 기록">
            <a:extLst xmlns:a="http://schemas.openxmlformats.org/drawingml/2006/main">
              <a:ext uri="{FF2B5EF4-FFF2-40B4-BE49-F238E27FC236}">
                <a16:creationId xmlns:a16="http://schemas.microsoft.com/office/drawing/2014/main" id="{EFC48608-3649-4B72-BBB9-A15BF8469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95625"/>
            <a:ext cx="4876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입력·출력 hash 일치</a:t>
            </a:r>
          </a:p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조건의 측정 기록</a:t>
            </a:r>
          </a:p>
        </p:txBody>
      </p:sp>
      <p:sp>
        <p:nvSpPr>
          <p:cNvPr id="13" name="Global Skill이 평가 절차에 관여&#10;Prompt만의 효과는 분리 못함">
            <a:extLst xmlns:a="http://schemas.openxmlformats.org/drawingml/2006/main">
              <a:ext uri="{FF2B5EF4-FFF2-40B4-BE49-F238E27FC236}">
                <a16:creationId xmlns:a16="http://schemas.microsoft.com/office/drawing/2014/main" id="{7C3E8C05-9C39-43B9-B058-FAA60E1AA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95625"/>
            <a:ext cx="4876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Global Skill이 평가 절차에 관여</a:t>
            </a:r>
          </a:p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Prompt만의 효과는 분리 못함</a:t>
            </a:r>
          </a:p>
        </p:txBody>
      </p:sp>
      <p:sp>
        <p:nvSpPr>
          <p:cNvPr id="14" name="144.2 → 33.5 ms/call median">
            <a:extLst xmlns:a="http://schemas.openxmlformats.org/drawingml/2006/main">
              <a:ext uri="{FF2B5EF4-FFF2-40B4-BE49-F238E27FC236}">
                <a16:creationId xmlns:a16="http://schemas.microsoft.com/office/drawing/2014/main" id="{3DA83C9E-124F-4DE8-94DC-EC79F95E0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43400"/>
            <a:ext cx="4876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144.2 → 33.5 ms/call median</a:t>
            </a:r>
          </a:p>
        </p:txBody>
      </p:sp>
      <p:sp>
        <p:nvSpPr>
          <p:cNvPr id="15" name="인과 해석: PARTIAL">
            <a:extLst xmlns:a="http://schemas.openxmlformats.org/drawingml/2006/main">
              <a:ext uri="{FF2B5EF4-FFF2-40B4-BE49-F238E27FC236}">
                <a16:creationId xmlns:a16="http://schemas.microsoft.com/office/drawing/2014/main" id="{D74FEB70-88BC-469B-99D3-9CC54C763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343400"/>
            <a:ext cx="4876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인과 해석: PARTIAL</a:t>
            </a:r>
          </a:p>
        </p:txBody>
      </p:sp>
      <p:sp>
        <p:nvSpPr>
          <p:cNvPr id="16" name="측정된 변화와, 그 변화의 원인에 대한 확신을 따로 기록한다.">
            <a:extLst xmlns:a="http://schemas.openxmlformats.org/drawingml/2006/main">
              <a:ext uri="{FF2B5EF4-FFF2-40B4-BE49-F238E27FC236}">
                <a16:creationId xmlns:a16="http://schemas.microsoft.com/office/drawing/2014/main" id="{1FCDA963-8655-46F9-9A6E-F78F88FF9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0065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측정된 변화와, 그 변화의 원인에 대한 확신을 따로 기록한다.</a:t>
            </a:r>
          </a:p>
        </p:txBody>
      </p:sp>
    </p:spTree>
    <p:extLst>
      <p:ext uri="{BB962C8B-B14F-4D97-AF65-F5344CB8AC3E}">
        <p14:creationId xmlns:p14="http://schemas.microsoft.com/office/powerpoint/2010/main" val="185609599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ACT 4 · OBSERVED META / 실제 기록 방식 변경">
            <a:extLst xmlns:a="http://schemas.openxmlformats.org/drawingml/2006/main">
              <a:ext uri="{FF2B5EF4-FFF2-40B4-BE49-F238E27FC236}">
                <a16:creationId xmlns:a16="http://schemas.microsoft.com/office/drawing/2014/main" id="{6A97102A-B46E-47C4-9996-344984C85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OBSERVED META / 실제 기록 방식 변경</a:t>
            </a:r>
          </a:p>
        </p:txBody>
      </p:sp>
      <p:sp>
        <p:nvSpPr>
          <p:cNvPr id="2" name="S69">
            <a:extLst xmlns:a="http://schemas.openxmlformats.org/drawingml/2006/main">
              <a:ext uri="{FF2B5EF4-FFF2-40B4-BE49-F238E27FC236}">
                <a16:creationId xmlns:a16="http://schemas.microsoft.com/office/drawing/2014/main" id="{6CB08126-B296-4B6E-8E13-1D102ED95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S69</a:t>
            </a:r>
          </a:p>
        </p:txBody>
      </p:sp>
      <p:sp>
        <p:nvSpPr>
          <p:cNvPr id="3" name="평가와 보고 규칙을 Evidence에 맞추다">
            <a:extLst xmlns:a="http://schemas.openxmlformats.org/drawingml/2006/main">
              <a:ext uri="{FF2B5EF4-FFF2-40B4-BE49-F238E27FC236}">
                <a16:creationId xmlns:a16="http://schemas.microsoft.com/office/drawing/2014/main" id="{D93CC28B-277D-403C-BE69-7665F6DA3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평가와 보고 규칙을 Evidence에 맞추다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33F006-802C-429B-B08A-97D40559C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C8BC04-443A-48C7-BA4F-32B32B79E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721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6172"/>
            </a:solidFill>
            <a:prstDash val="solid"/>
          </a:ln>
        </p:spPr>
      </p:sp>
      <p:sp>
        <p:nvSpPr>
          <p:cNvPr id="6" name="TRIAL-006 → DEC-0016 · 평가·보고 기준을 요약한 도식">
            <a:extLst xmlns:a="http://schemas.openxmlformats.org/drawingml/2006/main">
              <a:ext uri="{FF2B5EF4-FFF2-40B4-BE49-F238E27FC236}">
                <a16:creationId xmlns:a16="http://schemas.microsoft.com/office/drawing/2014/main" id="{AE022E24-AE37-48F1-B1B1-4CA65FDE4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TRIAL-006 → DEC-0016 · 평가·보고 기준을 요약한 도식</a:t>
            </a:r>
          </a:p>
        </p:txBody>
      </p:sp>
      <p:sp>
        <p:nvSpPr>
          <p:cNvPr id="7" name="제품 코드·Demo Skill 수정이 아니며, 격리 환경에서 Prompt 효과를 검증한 것도 아니다.">
            <a:extLst xmlns:a="http://schemas.openxmlformats.org/drawingml/2006/main">
              <a:ext uri="{FF2B5EF4-FFF2-40B4-BE49-F238E27FC236}">
                <a16:creationId xmlns:a16="http://schemas.microsoft.com/office/drawing/2014/main" id="{A60ACFB4-950B-45A3-87A8-5A4F68F99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제품 코드·Demo Skill 수정이 아니며, 격리 환경에서 Prompt 효과를 검증한 것도 아니다.</a:t>
            </a:r>
          </a:p>
        </p:txBody>
      </p:sp>
      <p:sp>
        <p:nvSpPr>
          <p:cNvPr id="8" name="이후 Trial에는 관찰된 환경 영향도 기록한다.">
            <a:extLst xmlns:a="http://schemas.openxmlformats.org/drawingml/2006/main">
              <a:ext uri="{FF2B5EF4-FFF2-40B4-BE49-F238E27FC236}">
                <a16:creationId xmlns:a16="http://schemas.microsoft.com/office/drawing/2014/main" id="{5475D457-E748-41B0-97A1-7CA1CA20B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이후 Trial에는 관찰된 환경 영향도 기록한다.</a:t>
            </a:r>
          </a:p>
        </p:txBody>
      </p:sp>
      <p:sp>
        <p:nvSpPr>
          <p:cNvPr id="9" name="기존 평가의 빈틈">
            <a:extLst xmlns:a="http://schemas.openxmlformats.org/drawingml/2006/main">
              <a:ext uri="{FF2B5EF4-FFF2-40B4-BE49-F238E27FC236}">
                <a16:creationId xmlns:a16="http://schemas.microsoft.com/office/drawing/2014/main" id="{20B4C0BB-4DE4-4FEB-8559-7C16134A3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95625"/>
            <a:ext cx="4876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기존 평가의 빈틈</a:t>
            </a:r>
          </a:p>
        </p:txBody>
      </p:sp>
      <p:sp>
        <p:nvSpPr>
          <p:cNvPr id="10" name="후속 기록 기준">
            <a:extLst xmlns:a="http://schemas.openxmlformats.org/drawingml/2006/main">
              <a:ext uri="{FF2B5EF4-FFF2-40B4-BE49-F238E27FC236}">
                <a16:creationId xmlns:a16="http://schemas.microsoft.com/office/drawing/2014/main" id="{9561D7E7-24DA-48FA-8675-332332A82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95625"/>
            <a:ext cx="4876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후속 기록 기준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3FAA3F-261D-42E6-84D2-A32B7B9CB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67125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7D0D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582636-AAE4-4FD3-8DC6-4CB4FB390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667125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3" name="작업과 Repository 중심&#10;주변 Harness 영향 설명 부족">
            <a:extLst xmlns:a="http://schemas.openxmlformats.org/drawingml/2006/main">
              <a:ext uri="{FF2B5EF4-FFF2-40B4-BE49-F238E27FC236}">
                <a16:creationId xmlns:a16="http://schemas.microsoft.com/office/drawing/2014/main" id="{68465672-B30B-4359-B106-66D139A48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86200"/>
            <a:ext cx="48768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작업과 Repository 중심</a:t>
            </a:r>
          </a:p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주변 Harness 영향 설명 부족</a:t>
            </a:r>
          </a:p>
        </p:txBody>
      </p:sp>
      <p:sp>
        <p:nvSpPr>
          <p:cNvPr id="14" name="관찰된 Skills · 경고 · 사용 여부&#10;결과를 설명할 수 있는 범위">
            <a:extLst xmlns:a="http://schemas.openxmlformats.org/drawingml/2006/main">
              <a:ext uri="{FF2B5EF4-FFF2-40B4-BE49-F238E27FC236}">
                <a16:creationId xmlns:a16="http://schemas.microsoft.com/office/drawing/2014/main" id="{594A2E66-6CC9-4506-B35B-F004E0C91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886200"/>
            <a:ext cx="48768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관찰된 Skills · 경고 · 사용 여부</a:t>
            </a:r>
          </a:p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결과를 설명할 수 있는 범위</a:t>
            </a:r>
          </a:p>
        </p:txBody>
      </p:sp>
      <p:sp>
        <p:nvSpPr>
          <p:cNvPr id="15" name="기존 결과는 PARTIAL로 보존하고, 관찰된 조건을 함께 남긴다.">
            <a:extLst xmlns:a="http://schemas.openxmlformats.org/drawingml/2006/main">
              <a:ext uri="{FF2B5EF4-FFF2-40B4-BE49-F238E27FC236}">
                <a16:creationId xmlns:a16="http://schemas.microsoft.com/office/drawing/2014/main" id="{A679BAC3-9D45-4420-A9FB-B4492C404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7685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기존 결과는 PARTIAL로 보존하고, 관찰된 조건을 함께 남긴다.</a:t>
            </a:r>
          </a:p>
        </p:txBody>
      </p:sp>
    </p:spTree>
    <p:extLst>
      <p:ext uri="{BB962C8B-B14F-4D97-AF65-F5344CB8AC3E}">
        <p14:creationId xmlns:p14="http://schemas.microsoft.com/office/powerpoint/2010/main" val="128664030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ACT 4 · OBSERVED META / 후속 기록 대조">
            <a:extLst xmlns:a="http://schemas.openxmlformats.org/drawingml/2006/main">
              <a:ext uri="{FF2B5EF4-FFF2-40B4-BE49-F238E27FC236}">
                <a16:creationId xmlns:a16="http://schemas.microsoft.com/office/drawing/2014/main" id="{EA577319-3397-49FE-A026-6D6EE4C1F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OBSERVED META / 후속 기록 대조</a:t>
            </a:r>
          </a:p>
        </p:txBody>
      </p:sp>
      <p:sp>
        <p:nvSpPr>
          <p:cNvPr id="2" name="S70">
            <a:extLst xmlns:a="http://schemas.openxmlformats.org/drawingml/2006/main">
              <a:ext uri="{FF2B5EF4-FFF2-40B4-BE49-F238E27FC236}">
                <a16:creationId xmlns:a16="http://schemas.microsoft.com/office/drawing/2014/main" id="{BA8A5B51-DAA9-4AF1-9A47-6540B4690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S70</a:t>
            </a:r>
          </a:p>
        </p:txBody>
      </p:sp>
      <p:sp>
        <p:nvSpPr>
          <p:cNvPr id="3" name="후속 기록은 개선됐지만 완전하지 않았다">
            <a:extLst xmlns:a="http://schemas.openxmlformats.org/drawingml/2006/main">
              <a:ext uri="{FF2B5EF4-FFF2-40B4-BE49-F238E27FC236}">
                <a16:creationId xmlns:a16="http://schemas.microsoft.com/office/drawing/2014/main" id="{3E7AC213-F545-4272-AA64-399458AA7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후속 기록은 개선됐지만 완전하지 않았다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EAE675-0E37-49E1-A354-EBA0C4BCE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1176DB-264B-46E6-97F2-09CC72904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721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6172"/>
            </a:solidFill>
            <a:prstDash val="solid"/>
          </a:ln>
        </p:spPr>
      </p:sp>
      <p:sp>
        <p:nvSpPr>
          <p:cNvPr id="6" name="TRIAL-007/008 · DEC-0016 · 원문 기록의 의미를 요약한 도식">
            <a:extLst xmlns:a="http://schemas.openxmlformats.org/drawingml/2006/main">
              <a:ext uri="{FF2B5EF4-FFF2-40B4-BE49-F238E27FC236}">
                <a16:creationId xmlns:a16="http://schemas.microsoft.com/office/drawing/2014/main" id="{D68F8FF8-0C1E-4415-9792-44A3E5E6D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TRIAL-007/008 · DEC-0016 · 원문 기록의 의미를 요약한 도식</a:t>
            </a:r>
          </a:p>
        </p:txBody>
      </p:sp>
      <p:sp>
        <p:nvSpPr>
          <p:cNvPr id="7" name="MCP 작업 결과는 없음. 완전한 환경 목록이나 측정된 품질 향상을 뜻하지 않는다.">
            <a:extLst xmlns:a="http://schemas.openxmlformats.org/drawingml/2006/main">
              <a:ext uri="{FF2B5EF4-FFF2-40B4-BE49-F238E27FC236}">
                <a16:creationId xmlns:a16="http://schemas.microsoft.com/office/drawing/2014/main" id="{FA866DDD-2E21-414D-9236-6B032227C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MCP 작업 결과는 없음. 완전한 환경 목록이나 측정된 품질 향상을 뜻하지 않는다.</a:t>
            </a:r>
          </a:p>
        </p:txBody>
      </p:sp>
      <p:sp>
        <p:nvSpPr>
          <p:cNvPr id="8" name="TRIAL-007 · 보고와 기록의 불일치">
            <a:extLst xmlns:a="http://schemas.openxmlformats.org/drawingml/2006/main">
              <a:ext uri="{FF2B5EF4-FFF2-40B4-BE49-F238E27FC236}">
                <a16:creationId xmlns:a16="http://schemas.microsoft.com/office/drawing/2014/main" id="{A21918AF-C7A9-4A91-BA0F-7EAF9CDB4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1097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TRIAL-007 · 보고와 기록의 불일치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C31F4C-C334-4427-AB4F-AA8D8DDA4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432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10" name="최종 보고">
            <a:extLst xmlns:a="http://schemas.openxmlformats.org/drawingml/2006/main">
              <a:ext uri="{FF2B5EF4-FFF2-40B4-BE49-F238E27FC236}">
                <a16:creationId xmlns:a16="http://schemas.microsoft.com/office/drawing/2014/main" id="{7E196E57-2BA4-4D6E-BF1E-9AF03BF62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0375"/>
            <a:ext cx="2333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최종 보고</a:t>
            </a:r>
          </a:p>
        </p:txBody>
      </p:sp>
      <p:sp>
        <p:nvSpPr>
          <p:cNvPr id="11" name="MCP 경고 없음">
            <a:extLst xmlns:a="http://schemas.openxmlformats.org/drawingml/2006/main">
              <a:ext uri="{FF2B5EF4-FFF2-40B4-BE49-F238E27FC236}">
                <a16:creationId xmlns:a16="http://schemas.microsoft.com/office/drawing/2014/main" id="{4341B99C-6BD5-4E45-886B-DFC53D6DE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000375"/>
            <a:ext cx="842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MCP 경고 없음</a:t>
            </a:r>
          </a:p>
        </p:txBody>
      </p:sp>
      <p:sp>
        <p:nvSpPr>
          <p:cNvPr id="12" name="보존된 stderr">
            <a:extLst xmlns:a="http://schemas.openxmlformats.org/drawingml/2006/main">
              <a:ext uri="{FF2B5EF4-FFF2-40B4-BE49-F238E27FC236}">
                <a16:creationId xmlns:a16="http://schemas.microsoft.com/office/drawing/2014/main" id="{AE40716E-FBD5-4BF9-9997-8F54C023A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38550"/>
            <a:ext cx="2333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보존된 stderr</a:t>
            </a:r>
          </a:p>
        </p:txBody>
      </p:sp>
      <p:sp>
        <p:nvSpPr>
          <p:cNvPr id="13" name="Nimble AuthRequired">
            <a:extLst xmlns:a="http://schemas.openxmlformats.org/drawingml/2006/main">
              <a:ext uri="{FF2B5EF4-FFF2-40B4-BE49-F238E27FC236}">
                <a16:creationId xmlns:a16="http://schemas.microsoft.com/office/drawing/2014/main" id="{9D43A7C9-448F-4F1D-BA72-078789058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638550"/>
            <a:ext cx="842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Nimble AuthRequired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9C3319-8505-4C40-A6A8-3C6B6B85B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386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5" name="TRIAL-008">
            <a:extLst xmlns:a="http://schemas.openxmlformats.org/drawingml/2006/main">
              <a:ext uri="{FF2B5EF4-FFF2-40B4-BE49-F238E27FC236}">
                <a16:creationId xmlns:a16="http://schemas.microsoft.com/office/drawing/2014/main" id="{D38B781A-7A28-4AC8-8798-ABD3B68BB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2333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TRIAL-008</a:t>
            </a:r>
          </a:p>
        </p:txBody>
      </p:sp>
      <p:sp>
        <p:nvSpPr>
          <p:cNvPr id="16" name="Repository Skill 호출과 Global influence를 별도 기록">
            <a:extLst xmlns:a="http://schemas.openxmlformats.org/drawingml/2006/main">
              <a:ext uri="{FF2B5EF4-FFF2-40B4-BE49-F238E27FC236}">
                <a16:creationId xmlns:a16="http://schemas.microsoft.com/office/drawing/2014/main" id="{ABE631B6-B9D1-4778-AF5D-BCB0CE50C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714875"/>
            <a:ext cx="84201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Repository Skill 호출과 Global influence를 별도 기록</a:t>
            </a:r>
          </a:p>
        </p:txBody>
      </p:sp>
    </p:spTree>
    <p:extLst>
      <p:ext uri="{BB962C8B-B14F-4D97-AF65-F5344CB8AC3E}">
        <p14:creationId xmlns:p14="http://schemas.microsoft.com/office/powerpoint/2010/main" val="1860392857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ACT 4 · OBSERVED META / 사례 회수">
            <a:extLst xmlns:a="http://schemas.openxmlformats.org/drawingml/2006/main">
              <a:ext uri="{FF2B5EF4-FFF2-40B4-BE49-F238E27FC236}">
                <a16:creationId xmlns:a16="http://schemas.microsoft.com/office/drawing/2014/main" id="{523EE41F-BD49-4A7F-BBE7-D41150E6E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OBSERVED META / 사례 회수</a:t>
            </a:r>
          </a:p>
        </p:txBody>
      </p:sp>
      <p:sp>
        <p:nvSpPr>
          <p:cNvPr id="2" name="S71">
            <a:extLst xmlns:a="http://schemas.openxmlformats.org/drawingml/2006/main">
              <a:ext uri="{FF2B5EF4-FFF2-40B4-BE49-F238E27FC236}">
                <a16:creationId xmlns:a16="http://schemas.microsoft.com/office/drawing/2014/main" id="{3E69173D-D9D1-4E31-A85E-2EB1C42E2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S71</a:t>
            </a:r>
          </a:p>
        </p:txBody>
      </p:sp>
      <p:sp>
        <p:nvSpPr>
          <p:cNvPr id="3" name="실제 Meta Loop에서 바뀐 것">
            <a:extLst xmlns:a="http://schemas.openxmlformats.org/drawingml/2006/main">
              <a:ext uri="{FF2B5EF4-FFF2-40B4-BE49-F238E27FC236}">
                <a16:creationId xmlns:a16="http://schemas.microsoft.com/office/drawing/2014/main" id="{D81E77FB-5E53-46ED-8795-3F4B1BA0A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실제 Meta Loop에서 바뀐 것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4AC8DB-4696-4A07-88C0-5C02FAB8A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6B268E-2A3C-4918-8273-71FC77E80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721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6172"/>
            </a:solidFill>
            <a:prstDash val="solid"/>
          </a:ln>
        </p:spPr>
      </p:sp>
      <p:sp>
        <p:nvSpPr>
          <p:cNvPr id="6" name="TRIAL-006 → DEC-0016 → TRIAL-007/008 · 실제 제작 기록">
            <a:extLst xmlns:a="http://schemas.openxmlformats.org/drawingml/2006/main">
              <a:ext uri="{FF2B5EF4-FFF2-40B4-BE49-F238E27FC236}">
                <a16:creationId xmlns:a16="http://schemas.microsoft.com/office/drawing/2014/main" id="{7143C2F2-6909-4ED4-82E8-332050190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TRIAL-006 → DEC-0016 → TRIAL-007/008 · 실제 제작 기록</a:t>
            </a:r>
          </a:p>
        </p:txBody>
      </p:sp>
      <p:sp>
        <p:nvSpPr>
          <p:cNvPr id="7" name="제품 코드의 개선이나 가상 stale Workflow의 복구 이력이 아니다.">
            <a:extLst xmlns:a="http://schemas.openxmlformats.org/drawingml/2006/main">
              <a:ext uri="{FF2B5EF4-FFF2-40B4-BE49-F238E27FC236}">
                <a16:creationId xmlns:a16="http://schemas.microsoft.com/office/drawing/2014/main" id="{DC181D3C-8D43-47A3-A493-4834F32E4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제품 코드의 개선이나 가상 stale Workflow의 복구 이력이 아니다.</a:t>
            </a:r>
          </a:p>
        </p:txBody>
      </p:sp>
      <p:sp>
        <p:nvSpPr>
          <p:cNvPr id="8" name="실제로 바뀐 것">
            <a:extLst xmlns:a="http://schemas.openxmlformats.org/drawingml/2006/main">
              <a:ext uri="{FF2B5EF4-FFF2-40B4-BE49-F238E27FC236}">
                <a16:creationId xmlns:a16="http://schemas.microsoft.com/office/drawing/2014/main" id="{A80C5529-871F-419C-ADBE-FF26A8959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4876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실제로 바뀐 것</a:t>
            </a:r>
          </a:p>
        </p:txBody>
      </p:sp>
      <p:sp>
        <p:nvSpPr>
          <p:cNvPr id="9" name="아직 확인하지 못한 것">
            <a:extLst xmlns:a="http://schemas.openxmlformats.org/drawingml/2006/main">
              <a:ext uri="{FF2B5EF4-FFF2-40B4-BE49-F238E27FC236}">
                <a16:creationId xmlns:a16="http://schemas.microsoft.com/office/drawing/2014/main" id="{F961EFB6-FFA8-435A-A5F9-9A86ABCB7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86000"/>
            <a:ext cx="4876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아직 확인하지 못한 것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E608EB-12CC-45D7-8E3E-B09A2AB48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8A5403-951B-4DCC-8948-8E8C080C5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527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solid"/>
          </a:ln>
        </p:spPr>
      </p:sp>
      <p:sp>
        <p:nvSpPr>
          <p:cNvPr id="12" name="Trial을 평가하고&#10;보고하는 기준">
            <a:extLst xmlns:a="http://schemas.openxmlformats.org/drawingml/2006/main">
              <a:ext uri="{FF2B5EF4-FFF2-40B4-BE49-F238E27FC236}">
                <a16:creationId xmlns:a16="http://schemas.microsoft.com/office/drawing/2014/main" id="{945ED69A-DC32-4C08-ABB8-B4E956B9A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48768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Trial을 평가하고</a:t>
            </a:r>
          </a:p>
          <a:p xmlns:a="http://schemas.openxmlformats.org/drawingml/2006/main">
            <a: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보고하는 기준</a:t>
            </a:r>
          </a:p>
        </p:txBody>
      </p:sp>
      <p:sp>
        <p:nvSpPr>
          <p:cNvPr id="13" name="원인별 효과&#10;환경 목록의 완전성&#10;Trial 품질의 향상">
            <a:extLst xmlns:a="http://schemas.openxmlformats.org/drawingml/2006/main">
              <a:ext uri="{FF2B5EF4-FFF2-40B4-BE49-F238E27FC236}">
                <a16:creationId xmlns:a16="http://schemas.microsoft.com/office/drawing/2014/main" id="{4D94EBBD-0FA0-4E03-AA25-2185E689B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257550"/>
            <a:ext cx="487680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원인별 효과</a:t>
            </a:r>
          </a:p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환경 목록의 완전성</a:t>
            </a:r>
          </a:p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Trial 품질의 향상</a:t>
            </a:r>
          </a:p>
        </p:txBody>
      </p:sp>
      <p:sp>
        <p:nvSpPr>
          <p:cNvPr id="14" name="Feedback은 평가 체계도 바꿀 수 있다. 변경 뒤의 결과는 다시 확인한다.">
            <a:extLst xmlns:a="http://schemas.openxmlformats.org/drawingml/2006/main">
              <a:ext uri="{FF2B5EF4-FFF2-40B4-BE49-F238E27FC236}">
                <a16:creationId xmlns:a16="http://schemas.microsoft.com/office/drawing/2014/main" id="{624FAB22-CF39-4B7D-A3A4-89F5E39A5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Feedback은 평가 체계도 바꿀 수 있다. 변경 뒤의 결과는 다시 확인한다.</a:t>
            </a:r>
          </a:p>
        </p:txBody>
      </p:sp>
    </p:spTree>
    <p:extLst>
      <p:ext uri="{BB962C8B-B14F-4D97-AF65-F5344CB8AC3E}">
        <p14:creationId xmlns:p14="http://schemas.microsoft.com/office/powerpoint/2010/main" val="11088442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ACT 4 · C++ VISION / 적용을 위한 가상 질문">
            <a:extLst xmlns:a="http://schemas.openxmlformats.org/drawingml/2006/main">
              <a:ext uri="{FF2B5EF4-FFF2-40B4-BE49-F238E27FC236}">
                <a16:creationId xmlns:a16="http://schemas.microsoft.com/office/drawing/2014/main" id="{2EDA1614-BD2D-4467-856D-688E69BC9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C++ VISION / 적용을 위한 가상 질문</a:t>
            </a:r>
          </a:p>
        </p:txBody>
      </p:sp>
      <p:sp>
        <p:nvSpPr>
          <p:cNvPr id="2" name="S72">
            <a:extLst xmlns:a="http://schemas.openxmlformats.org/drawingml/2006/main">
              <a:ext uri="{FF2B5EF4-FFF2-40B4-BE49-F238E27FC236}">
                <a16:creationId xmlns:a16="http://schemas.microsoft.com/office/drawing/2014/main" id="{4F9DD32C-C014-42D0-A6CB-01A9377E6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S72</a:t>
            </a:r>
          </a:p>
        </p:txBody>
      </p:sp>
      <p:sp>
        <p:nvSpPr>
          <p:cNvPr id="3" name="Project와 환경이 바뀌면&#10;검증도 다시 본다">
            <a:extLst xmlns:a="http://schemas.openxmlformats.org/drawingml/2006/main">
              <a:ext uri="{FF2B5EF4-FFF2-40B4-BE49-F238E27FC236}">
                <a16:creationId xmlns:a16="http://schemas.microsoft.com/office/drawing/2014/main" id="{5F0DDB28-1447-4C38-9508-CDCC2A79B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Project와 환경이 바뀌면</a:t>
            </a:r>
          </a:p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검증도 다시 본다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475D5D-63BF-4DD0-8BAB-274FFC126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BEAT-059 · TRANS-012 · 교육용 전이 모델 · AI 생성 설명용 삽화">
            <a:extLst xmlns:a="http://schemas.openxmlformats.org/drawingml/2006/main">
              <a:ext uri="{FF2B5EF4-FFF2-40B4-BE49-F238E27FC236}">
                <a16:creationId xmlns:a16="http://schemas.microsoft.com/office/drawing/2014/main" id="{66C8E194-EB7D-44EB-87C8-3503BC714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BEAT-059 · TRANS-012 · 교육용 전이 모델 · AI 생성 설명용 삽화</a:t>
            </a:r>
          </a:p>
        </p:txBody>
      </p:sp>
      <p:sp>
        <p:nvSpPr>
          <p:cNvPr id="6" name="실제 C++ 사건·성능 결과가 아닙니다. 변경 표시는 확인할 조건을 뜻하며 원인이나 결과를 단정하지 않습니다">
            <a:extLst xmlns:a="http://schemas.openxmlformats.org/drawingml/2006/main">
              <a:ext uri="{FF2B5EF4-FFF2-40B4-BE49-F238E27FC236}">
                <a16:creationId xmlns:a16="http://schemas.microsoft.com/office/drawing/2014/main" id="{9D73B60A-3CD1-4378-9B20-085532915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실제 C++ 사건·성능 결과가 아닙니다. 변경 표시는 확인할 조건을 뜻하며 원인이나 결과를 단정하지 않습니다.</a:t>
            </a:r>
          </a:p>
        </p:txBody>
      </p:sp>
      <p:sp>
        <p:nvSpPr>
          <p:cNvPr id="7" name="GPU · 빌드 · 측정 조건이 달라졌다면?">
            <a:extLst xmlns:a="http://schemas.openxmlformats.org/drawingml/2006/main">
              <a:ext uri="{FF2B5EF4-FFF2-40B4-BE49-F238E27FC236}">
                <a16:creationId xmlns:a16="http://schemas.microsoft.com/office/drawing/2014/main" id="{0ED53F02-B58E-4FEF-9EDF-C1967579A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GPU · 빌드 · 측정 조건이 달라졌다면?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979662-EA90-4F1C-B1AA-2EEFEF133FD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a6bbfb74d74f02"/>
          <a:srcRect xmlns:a="http://schemas.openxmlformats.org/drawingml/2006/main" l="0" t="6000" r="0" b="10000"/>
          <a:stretch xmlns:a="http://schemas.openxmlformats.org/drawingml/2006/main"/>
        </p:blipFill>
        <p:spPr>
          <a:xfrm xmlns:a="http://schemas.openxmlformats.org/drawingml/2006/main">
            <a:off x="1928813" y="2238375"/>
            <a:ext cx="8334375" cy="2333625"/>
          </a:xfrm>
          <a:prstGeom xmlns:a="http://schemas.openxmlformats.org/drawingml/2006/main" prst="rect">
            <a:avLst/>
          </a:prstGeom>
        </p:spPr>
      </p:pic>
      <p:sp>
        <p:nvSpPr>
          <p:cNvPr id="9" name="입력">
            <a:extLst xmlns:a="http://schemas.openxmlformats.org/drawingml/2006/main">
              <a:ext uri="{FF2B5EF4-FFF2-40B4-BE49-F238E27FC236}">
                <a16:creationId xmlns:a16="http://schemas.microsoft.com/office/drawing/2014/main" id="{7697BDCA-1E14-45E1-B29E-2A9053575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533900"/>
            <a:ext cx="2476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입력</a:t>
            </a:r>
          </a:p>
        </p:txBody>
      </p:sp>
      <p:sp>
        <p:nvSpPr>
          <p:cNvPr id="10" name="처리 코드">
            <a:extLst xmlns:a="http://schemas.openxmlformats.org/drawingml/2006/main">
              <a:ext uri="{FF2B5EF4-FFF2-40B4-BE49-F238E27FC236}">
                <a16:creationId xmlns:a16="http://schemas.microsoft.com/office/drawing/2014/main" id="{A01F4959-84B7-40EF-BF6D-DC7223067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533900"/>
            <a:ext cx="2476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처리 코드</a:t>
            </a:r>
          </a:p>
        </p:txBody>
      </p:sp>
      <p:sp>
        <p:nvSpPr>
          <p:cNvPr id="11" name="실행 장치 · 변경 조건">
            <a:extLst xmlns:a="http://schemas.openxmlformats.org/drawingml/2006/main">
              <a:ext uri="{FF2B5EF4-FFF2-40B4-BE49-F238E27FC236}">
                <a16:creationId xmlns:a16="http://schemas.microsoft.com/office/drawing/2014/main" id="{FC965941-F714-43EF-90F9-F378D066C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4533900"/>
            <a:ext cx="2476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실행 장치 · 변경 조건</a:t>
            </a:r>
          </a:p>
        </p:txBody>
      </p:sp>
      <p:sp>
        <p:nvSpPr>
          <p:cNvPr id="12" name="출력">
            <a:extLst xmlns:a="http://schemas.openxmlformats.org/drawingml/2006/main">
              <a:ext uri="{FF2B5EF4-FFF2-40B4-BE49-F238E27FC236}">
                <a16:creationId xmlns:a16="http://schemas.microsoft.com/office/drawing/2014/main" id="{499815AC-1007-403D-8A69-699E3C140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533900"/>
            <a:ext cx="2476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출력</a:t>
            </a:r>
          </a:p>
        </p:txBody>
      </p:sp>
      <p:sp>
        <p:nvSpPr>
          <p:cNvPr id="13" name="기존 가정">
            <a:extLst xmlns:a="http://schemas.openxmlformats.org/drawingml/2006/main">
              <a:ext uri="{FF2B5EF4-FFF2-40B4-BE49-F238E27FC236}">
                <a16:creationId xmlns:a16="http://schemas.microsoft.com/office/drawing/2014/main" id="{584F74BD-9ED9-4903-BA06-C250435FC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3505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기존 가정</a:t>
            </a:r>
          </a:p>
        </p:txBody>
      </p:sp>
      <p:sp>
        <p:nvSpPr>
          <p:cNvPr id="14" name="어떤 조건에서 맞던 판단인가?">
            <a:extLst xmlns:a="http://schemas.openxmlformats.org/drawingml/2006/main">
              <a:ext uri="{FF2B5EF4-FFF2-40B4-BE49-F238E27FC236}">
                <a16:creationId xmlns:a16="http://schemas.microsoft.com/office/drawing/2014/main" id="{FCFCD6D9-03E9-427C-A815-FDA3BE795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86350"/>
            <a:ext cx="3505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어떤 조건에서 맞던 판단인가?</a:t>
            </a:r>
          </a:p>
        </p:txBody>
      </p:sp>
      <p:sp>
        <p:nvSpPr>
          <p:cNvPr id="15" name="측정 조건">
            <a:extLst xmlns:a="http://schemas.openxmlformats.org/drawingml/2006/main">
              <a:ext uri="{FF2B5EF4-FFF2-40B4-BE49-F238E27FC236}">
                <a16:creationId xmlns:a16="http://schemas.microsoft.com/office/drawing/2014/main" id="{6EE3C243-44BB-44D9-9F90-18E409EC2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762500"/>
            <a:ext cx="3505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측정 조건</a:t>
            </a:r>
          </a:p>
        </p:txBody>
      </p:sp>
      <p:sp>
        <p:nvSpPr>
          <p:cNvPr id="16" name="입력과 실행 조건은 비교 가능한가?">
            <a:extLst xmlns:a="http://schemas.openxmlformats.org/drawingml/2006/main">
              <a:ext uri="{FF2B5EF4-FFF2-40B4-BE49-F238E27FC236}">
                <a16:creationId xmlns:a16="http://schemas.microsoft.com/office/drawing/2014/main" id="{3631A1EC-520E-4DCD-98AA-B2F8089FE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086350"/>
            <a:ext cx="3505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입력과 실행 조건은 비교 가능한가?</a:t>
            </a:r>
          </a:p>
        </p:txBody>
      </p:sp>
      <p:sp>
        <p:nvSpPr>
          <p:cNvPr id="17" name="기능 계약">
            <a:extLst xmlns:a="http://schemas.openxmlformats.org/drawingml/2006/main">
              <a:ext uri="{FF2B5EF4-FFF2-40B4-BE49-F238E27FC236}">
                <a16:creationId xmlns:a16="http://schemas.microsoft.com/office/drawing/2014/main" id="{70D92B30-D121-45C6-913A-E0C74A034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762500"/>
            <a:ext cx="3505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기능 계약</a:t>
            </a:r>
          </a:p>
        </p:txBody>
      </p:sp>
      <p:sp>
        <p:nvSpPr>
          <p:cNvPr id="18" name="함께 다시 확인할 동작은?">
            <a:extLst xmlns:a="http://schemas.openxmlformats.org/drawingml/2006/main">
              <a:ext uri="{FF2B5EF4-FFF2-40B4-BE49-F238E27FC236}">
                <a16:creationId xmlns:a16="http://schemas.microsoft.com/office/drawing/2014/main" id="{5DD98F72-43C2-4C2E-BEC5-3C7FF09B0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5086350"/>
            <a:ext cx="3505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함께 다시 확인할 동작은?</a:t>
            </a:r>
          </a:p>
        </p:txBody>
      </p:sp>
      <p:sp>
        <p:nvSpPr>
          <p:cNvPr id="19" name="같은 문제가 반복될 때, 어느 Layer를 먼저 살펴볼까?">
            <a:extLst xmlns:a="http://schemas.openxmlformats.org/drawingml/2006/main">
              <a:ext uri="{FF2B5EF4-FFF2-40B4-BE49-F238E27FC236}">
                <a16:creationId xmlns:a16="http://schemas.microsoft.com/office/drawing/2014/main" id="{29ADD395-DA0D-46BC-9D1C-F5AA89DA0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8162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문제가 반복될 때, 어느 Layer를 먼저 살펴볼까?</a:t>
            </a:r>
          </a:p>
        </p:txBody>
      </p:sp>
    </p:spTree>
    <p:extLst>
      <p:ext uri="{BB962C8B-B14F-4D97-AF65-F5344CB8AC3E}">
        <p14:creationId xmlns:p14="http://schemas.microsoft.com/office/powerpoint/2010/main" val="4907848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2026-10-18T14:27:48.4970000Z</dcterms:created>
  <dcterms:modified xsi:type="dcterms:W3CDTF">2026-10-18T14:27:48.4970000Z</dcterms:modified>
</coreProperties>
</file>