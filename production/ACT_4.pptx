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cf7c50621014ea2" /><Relationship Type="http://schemas.openxmlformats.org/officeDocument/2006/relationships/extended-properties" Target="/docProps/app.xml" Id="R3569e9eb7b8146d1" /><Relationship Type="http://schemas.openxmlformats.org/officeDocument/2006/relationships/officeDocument" Target="/ppt/presentation.xml" Id="R7c39575958024d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4a1f2296d834b72"/>
  </p:sldMasterIdLst>
  <p:notesMasterIdLst>
    <p:notesMasterId xmlns:r="http://schemas.openxmlformats.org/officeDocument/2006/relationships" r:id="R04bfc48f37bc490a"/>
  </p:notesMasterIdLst>
  <p:sldIdLst>
    <p:sldId xmlns:r="http://schemas.openxmlformats.org/officeDocument/2006/relationships" id="256" r:id="Rdfe4514b7dba4727"/>
    <p:sldId xmlns:r="http://schemas.openxmlformats.org/officeDocument/2006/relationships" id="257" r:id="R21adf9a584884600"/>
    <p:sldId xmlns:r="http://schemas.openxmlformats.org/officeDocument/2006/relationships" id="258" r:id="R0a1452c8b8e04c1a"/>
    <p:sldId xmlns:r="http://schemas.openxmlformats.org/officeDocument/2006/relationships" id="259" r:id="R28a7c52b7acd4975"/>
    <p:sldId xmlns:r="http://schemas.openxmlformats.org/officeDocument/2006/relationships" id="260" r:id="R24a687a004cf41b2"/>
    <p:sldId xmlns:r="http://schemas.openxmlformats.org/officeDocument/2006/relationships" id="261" r:id="R7ff6affd11f34cfc"/>
    <p:sldId xmlns:r="http://schemas.openxmlformats.org/officeDocument/2006/relationships" id="262" r:id="R961d4387c45e4587"/>
    <p:sldId xmlns:r="http://schemas.openxmlformats.org/officeDocument/2006/relationships" id="263" r:id="R40ace114aa704ea9"/>
    <p:sldId xmlns:r="http://schemas.openxmlformats.org/officeDocument/2006/relationships" id="264" r:id="R5f542bac1ac64753"/>
    <p:sldId xmlns:r="http://schemas.openxmlformats.org/officeDocument/2006/relationships" id="265" r:id="R83590847f9c24074"/>
    <p:sldId xmlns:r="http://schemas.openxmlformats.org/officeDocument/2006/relationships" id="266" r:id="R3577c23f1c174a77"/>
    <p:sldId xmlns:r="http://schemas.openxmlformats.org/officeDocument/2006/relationships" id="267" r:id="R2bdeb3a3f64c4992"/>
    <p:sldId xmlns:r="http://schemas.openxmlformats.org/officeDocument/2006/relationships" id="268" r:id="R0be0ee77d1b7454f"/>
    <p:sldId xmlns:r="http://schemas.openxmlformats.org/officeDocument/2006/relationships" id="269" r:id="Rcbcd682d5a1646bd"/>
    <p:sldId xmlns:r="http://schemas.openxmlformats.org/officeDocument/2006/relationships" id="270" r:id="R61f01a8c0e2b442e"/>
    <p:sldId xmlns:r="http://schemas.openxmlformats.org/officeDocument/2006/relationships" id="271" r:id="Rb6b072fd13e7426d"/>
    <p:sldId xmlns:r="http://schemas.openxmlformats.org/officeDocument/2006/relationships" id="272" r:id="Ra29a7a32b4aa403e"/>
    <p:sldId xmlns:r="http://schemas.openxmlformats.org/officeDocument/2006/relationships" id="273" r:id="Ra2f6fdbff2b04bc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f296e5bcdb2454a" /><Relationship Type="http://schemas.openxmlformats.org/officeDocument/2006/relationships/slideMaster" Target="/ppt/slideMasters/slideMaster1.xml" Id="Rc4a1f2296d834b72" /><Relationship Type="http://schemas.openxmlformats.org/officeDocument/2006/relationships/notesMaster" Target="/ppt/notesMasters/notesMaster1.xml" Id="R04bfc48f37bc490a" /><Relationship Type="http://schemas.openxmlformats.org/officeDocument/2006/relationships/presProps" Target="/ppt/presProps.xml" Id="R333213ff08e14d13" /><Relationship Type="http://schemas.openxmlformats.org/officeDocument/2006/relationships/tableStyles" Target="/ppt/tableStyles.xml" Id="R0396c46800864618" /><Relationship Type="http://schemas.openxmlformats.org/officeDocument/2006/relationships/slide" Target="/ppt/slides/slide1.xml" Id="Rdfe4514b7dba4727" /><Relationship Type="http://schemas.openxmlformats.org/officeDocument/2006/relationships/slide" Target="/ppt/slides/slide2.xml" Id="R21adf9a584884600" /><Relationship Type="http://schemas.openxmlformats.org/officeDocument/2006/relationships/slide" Target="/ppt/slides/slide3.xml" Id="R0a1452c8b8e04c1a" /><Relationship Type="http://schemas.openxmlformats.org/officeDocument/2006/relationships/slide" Target="/ppt/slides/slide4.xml" Id="R28a7c52b7acd4975" /><Relationship Type="http://schemas.openxmlformats.org/officeDocument/2006/relationships/slide" Target="/ppt/slides/slide5.xml" Id="R24a687a004cf41b2" /><Relationship Type="http://schemas.openxmlformats.org/officeDocument/2006/relationships/slide" Target="/ppt/slides/slide6.xml" Id="R7ff6affd11f34cfc" /><Relationship Type="http://schemas.openxmlformats.org/officeDocument/2006/relationships/slide" Target="/ppt/slides/slide7.xml" Id="R961d4387c45e4587" /><Relationship Type="http://schemas.openxmlformats.org/officeDocument/2006/relationships/slide" Target="/ppt/slides/slide8.xml" Id="R40ace114aa704ea9" /><Relationship Type="http://schemas.openxmlformats.org/officeDocument/2006/relationships/slide" Target="/ppt/slides/slide9.xml" Id="R5f542bac1ac64753" /><Relationship Type="http://schemas.openxmlformats.org/officeDocument/2006/relationships/slide" Target="/ppt/slides/slide10.xml" Id="R83590847f9c24074" /><Relationship Type="http://schemas.openxmlformats.org/officeDocument/2006/relationships/slide" Target="/ppt/slides/slide11.xml" Id="R3577c23f1c174a77" /><Relationship Type="http://schemas.openxmlformats.org/officeDocument/2006/relationships/slide" Target="/ppt/slides/slide12.xml" Id="R2bdeb3a3f64c4992" /><Relationship Type="http://schemas.openxmlformats.org/officeDocument/2006/relationships/slide" Target="/ppt/slides/slide13.xml" Id="R0be0ee77d1b7454f" /><Relationship Type="http://schemas.openxmlformats.org/officeDocument/2006/relationships/slide" Target="/ppt/slides/slide14.xml" Id="Rcbcd682d5a1646bd" /><Relationship Type="http://schemas.openxmlformats.org/officeDocument/2006/relationships/slide" Target="/ppt/slides/slide15.xml" Id="R61f01a8c0e2b442e" /><Relationship Type="http://schemas.openxmlformats.org/officeDocument/2006/relationships/slide" Target="/ppt/slides/slide16.xml" Id="Rb6b072fd13e7426d" /><Relationship Type="http://schemas.openxmlformats.org/officeDocument/2006/relationships/slide" Target="/ppt/slides/slide17.xml" Id="Ra29a7a32b4aa403e" /><Relationship Type="http://schemas.openxmlformats.org/officeDocument/2006/relationships/slide" Target="/ppt/slides/slide18.xml" Id="Ra2f6fdbff2b04b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8d45dab4004a0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e7e614885c84bc9" /><Relationship Type="http://schemas.openxmlformats.org/officeDocument/2006/relationships/notesMaster" Target="/ppt/notesMasters/notesMaster1.xml" Id="R6b165515250e425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58289bbd394e1f" /><Relationship Type="http://schemas.openxmlformats.org/officeDocument/2006/relationships/notesMaster" Target="/ppt/notesMasters/notesMaster1.xml" Id="R4963c7ba07cc485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87df98179ab4032" /><Relationship Type="http://schemas.openxmlformats.org/officeDocument/2006/relationships/notesMaster" Target="/ppt/notesMasters/notesMaster1.xml" Id="R4d2820492a134d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be03fc517a145f4" /><Relationship Type="http://schemas.openxmlformats.org/officeDocument/2006/relationships/notesMaster" Target="/ppt/notesMasters/notesMaster1.xml" Id="R389a35fd4159480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8862aa024a4707" /><Relationship Type="http://schemas.openxmlformats.org/officeDocument/2006/relationships/notesMaster" Target="/ppt/notesMasters/notesMaster1.xml" Id="Rd4662f6121bc451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6383a9976944724" /><Relationship Type="http://schemas.openxmlformats.org/officeDocument/2006/relationships/notesMaster" Target="/ppt/notesMasters/notesMaster1.xml" Id="R1f5706bef77f4ad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1187e924efb4ebe" /><Relationship Type="http://schemas.openxmlformats.org/officeDocument/2006/relationships/notesMaster" Target="/ppt/notesMasters/notesMaster1.xml" Id="Rf9808e548c1c4fe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c800e360f24adf" /><Relationship Type="http://schemas.openxmlformats.org/officeDocument/2006/relationships/notesMaster" Target="/ppt/notesMasters/notesMaster1.xml" Id="Ref47127d4bbb4b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6c8177a86d94946" /><Relationship Type="http://schemas.openxmlformats.org/officeDocument/2006/relationships/notesMaster" Target="/ppt/notesMasters/notesMaster1.xml" Id="Rd2350a8dbad5491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5acbcb2cff64f92" /><Relationship Type="http://schemas.openxmlformats.org/officeDocument/2006/relationships/notesMaster" Target="/ppt/notesMasters/notesMaster1.xml" Id="R06dd74ec84bf4fa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f388f572f5b48a4" /><Relationship Type="http://schemas.openxmlformats.org/officeDocument/2006/relationships/notesMaster" Target="/ppt/notesMasters/notesMaster1.xml" Id="R38cdbd910ee54a1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88f88f93cca4cb8" /><Relationship Type="http://schemas.openxmlformats.org/officeDocument/2006/relationships/notesMaster" Target="/ppt/notesMasters/notesMaster1.xml" Id="R6ba8710ab03b466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01e49feb7524fdf" /><Relationship Type="http://schemas.openxmlformats.org/officeDocument/2006/relationships/notesMaster" Target="/ppt/notesMasters/notesMaster1.xml" Id="R22bd1f79b0db4a7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9b4e0a2d454748" /><Relationship Type="http://schemas.openxmlformats.org/officeDocument/2006/relationships/notesMaster" Target="/ppt/notesMasters/notesMaster1.xml" Id="R5b0c8bf7b4d04da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cf39b8d463044c7" /><Relationship Type="http://schemas.openxmlformats.org/officeDocument/2006/relationships/notesMaster" Target="/ppt/notesMasters/notesMaster1.xml" Id="Rc730866975c8457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38e8faf41734356" /><Relationship Type="http://schemas.openxmlformats.org/officeDocument/2006/relationships/notesMaster" Target="/ppt/notesMasters/notesMaster1.xml" Id="Ra0bc438a7d8c47b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bde6fdd12934a57" /><Relationship Type="http://schemas.openxmlformats.org/officeDocument/2006/relationships/notesMaster" Target="/ppt/notesMasters/notesMaster1.xml" Id="Rda448a6eb797484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ac9e128101346e4" /><Relationship Type="http://schemas.openxmlformats.org/officeDocument/2006/relationships/notesMaster" Target="/ppt/notesMasters/notesMaster1.xml" Id="Rcb512e2b486542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S65 — 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여기까지는 잘 동작했다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4A  WORKING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 + Reflection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STATE-04-PERF는 bounded task에서 검증된 성공이다. 뒤에 나올 stale 사례는 별도의 개념 사례다.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“잘 동작하는 System도 계속 맞는 상태로 남아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(0:00–1:30 / Lecture) ACT 3의 STATE-04-PERF가 기록된 범위에서 성공한 endpoint임을 회수한다.</a:t>
            </a:r>
          </a:p>
          <a:p xmlns:a="http://schemas.openxmlformats.org/drawingml/2006/main">
            <a:r>
              <a:t>2. (1:30–3:00 / Lecture) 화면의 동작 계약, 전체 테스트 11/11, Benchmark guard 세 근거를 차례로 가리킨다. 새 실행이나 인과 비교는 하지 않는다.</a:t>
            </a:r>
          </a:p>
          <a:p xmlns:a="http://schemas.openxmlformats.org/drawingml/2006/main">
            <a:r>
              <a:t>3. (3:00–4:00 / Reflection) “프로젝트가 바뀐 뒤에도 맞을까?”를 개인적으로 생각하게 하고 다음 가상 사례로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STATE-00 → STATE-04-PERF  ·  bounded image_statistics evidence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STATE-04-PERF의 기록된 task, 코드 경로, 입력, runtime, host 및 검증 조건에 한정한다. 이 결과는 실제 stale Harness나 Product failure를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먼저 잘 동작했던 현재 시스템을 기준점으로 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성공한 Product State와 뒤의 Conceptual Case를 별도 Evidence frame으로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기존 ACT 3에서 승인된 STATE-04-PERF 결과를 짧게 회수한다. 수치는 현재 범위와 함께 보이고 일반 성과로 확대하지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1분 Reflection: “성공한 현재 상태도 Project 변화 뒤 다시 확인해야 할까?” 개인 생각만 하고 응답을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실제 성공은 기준점으로 남기고, 별개의 가상 사례에서 Project와 Workflow가 어떻게 어긋날 수 있는지 보겠습니다.” S66으로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 + Reflection 1분. 기존 ACT 3 설명을 다시 길게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S65와 production/preview/act4/S65.png를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S66 — 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개념 사례: Project와 Workflow는 현재 맞다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가상 사례의 시작에서는 프로젝트의 검증 기준과 재사용 Workflow의 지시가 모두 단위 테스트를 대상으로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“지금 맞는 Project Workflow는 계속 맞을까?”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VISUAL Demo) S65의 실제 성공을 기준점으로 남기고, 여기서부터 실제 graypipe 이력과 별개인 가상 사례를 시작한다고 말한다.</a:t>
            </a:r>
          </a:p>
          <a:p xmlns:a="http://schemas.openxmlformats.org/drawingml/2006/main">
            <a:r>
              <a:t>2. (0:30–1:30 / VISUAL Demo) 왼쪽 프로젝트 기준과 오른쪽 재사용 지침이 모두 단위 테스트를 가리키는 모습을 비교한다.</a:t>
            </a:r>
          </a:p>
          <a:p xmlns:a="http://schemas.openxmlformats.org/drawingml/2006/main">
            <a:r>
              <a:t>3. (1:30–2:00 / VISUAL Demo) 당시 기준에는 일치하는 절차였다는 출발점을 남긴다. 다음 장의 변경을 미리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constructed starting condition  ·  no Trial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CONCEPTUAL CASE. `ai-dev-training-demo`의 기록, Trial 또는 Product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처음에는 현재 지침과 재사용 절차가 서로 맞아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당시에 올바른 절차도 Project 변화 이후 stale해질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선택적 맥락: 실제 Project에서도 build/test structure가 바뀔 수 있다. 별도 C++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CONCEPTUAL 정적 도식. 두 단위 테스트 범위와 가운데 등호를 가리킨다. 실행 캡처·명령·결과 badge는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지시의 범위가 같은지 눈으로 비교한다. 답변이나 실행은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Project가 바뀌었는데 재사용 Workflow가 그대로라면 어떻게 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VISUAL Demo 2분. 첫 장면은 정상 상태로 두고 Project 변경을 앞당겨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S66와 production/preview/act4/S66.png를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S67 —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S67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Project는 바뀌고 Workflow는 남았다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Demo 2분 (VISUAL)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모듈 연결 동작까지 검증해야 하는 가상 프로젝트에서 공식 기준은 단위+통합 테스트로 넓어졌지만 재사용 Workflow에는 단위 테스트 지시가 남아 있다. 이는 지시 범위의 차이다.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“다음 Task에서 old workflow를 따르면 누가 틀린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(0:00–1:00 / Demo) 실제 Trial과 별개인 가상 사례임을 밝힌다. 모듈 연결 동작까지 검증할 필요가 생겨 공식 범위에 통합 테스트를 추가한 사례다.</a:t>
            </a:r>
          </a:p>
          <a:p xmlns:a="http://schemas.openxmlformats.org/drawingml/2006/main">
            <a:r>
              <a:t>2. (1:00–2:00 / Demo) 왼쪽 A/B 각각의 박스와 둘 사이 연결까지 감싼 통합 범위를 가리킨다. 오른쪽에는 같은 모듈과 연결이 있지만 재사용 지시는 단위 테스트만 요구한다. 두 그림은 실행 결과가 아니라 지시 범위의 차이다.</a:t>
            </a:r>
          </a:p>
          <a:p xmlns:a="http://schemas.openxmlformats.org/drawingml/2006/main">
            <a:r>
              <a:t>3. (2:00–3:00 / Case) Project의 요구 변화와 재사용 지침의 미갱신을 구분한다.</a:t>
            </a:r>
          </a:p>
          <a:p xmlns:a="http://schemas.openxmlformats.org/drawingml/2006/main">
            <a:r>
              <a:t>4. (3:00–4:00 / Case) Agent가 실제로 무엇을 실행했는지 아직 보여주지 않았음을 짧게 알리고, 다음 요청을 보정해도 재사용 지침이 남는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DEMO-04A / DEC-0021 / BEAT-038–039 / CONCEPTUAL. 단위+통합 테스트 가상 설정은 발표용 Pilot에 대한 최신 사용자 승인으로 확정됐다. 실제 Repository 이력이나 Trial 근거가 추가된 것은 아니다. 편집 가능한 native 범위 도식: production/source/presentation-revision/test-scope-visual.mjs. 모듈 A/B는 사례를 설명하는 일반 표기이며 실제 graypipe 모듈을 식별하지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승인된 가상 설정이다. 실제 Repository migration, 기존 graypipe Skill, Agent 실행, 테스트 누락 또는 PASS/FAIL 결과를 뜻하지 않는다. 지시의 범위를 비교하며 실제 실행 결과는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Agent가 따르는 지침이 Project의 현재 절차와 맞는지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 source의 변화와 stale artifact의 위치를 분리해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production/ACT_4.pptx의 S67와 production/preview/act4/S67.png 개념 도식을 사용한다. 구체적 명령·Runner 구현·테스트 수·실행 캡처를 추가하지 않는다. 각 모듈의 범위→왼쪽의 연결을 포함한 통합 범위→오른쪽에 남은 단위 테스트 지시를 차례로 가리킨다. 모듈의 실제 테스트가 실행됐거나 통합 테스트를 누락했다고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무엇이 바뀌었고 무엇이 남았는지 잠시 비교한다. Agent 탓이나 특정 실패를 가정하지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“이번 요청에 통합 테스트도 확인해 달라고 쓰면, 다음 작업이 읽을 Workflow까지 바뀔까요?” S68로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Demo 2분은 도식 공개에, Case 2분은 stale 간극을 해석하는 데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LOCAL STATIC ARTIFACT — production/ACT_4.pptx의 S67와 production/preview/act4/S67.png를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승인된 전체 이미지 후보의 반영과 로컬 렌더링 결과는 production/evaluation/FULL_DECK_IMAGE_EXPANSION.md에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S68 — 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Task 해결과 System 문제는 다르다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4B  CONCEPTUAL STALE HARNESS / DEMO-04A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이번 요청을 단위+통합 검증으로 보정할 수 있어도 재사용 Workflow의 단위 테스트 지시는 그대로 남을 수 있다. 현재 Task의 요청 범위와 재사용 절차의 변경을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“Prompt를 더 자세히 쓰면 이번 Task는 해결될까?”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이번 Prompt에 “통합 테스트도 확인해 줘”를 더하는 가능성을 소개한다.</a:t>
            </a:r>
          </a:p>
          <a:p xmlns:a="http://schemas.openxmlformats.org/drawingml/2006/main">
            <a:r>
              <a:t>2. (1:00–2:00 / Case) 왼쪽 이번 Task 요청은 넓힐 수 있지만 오른쪽 재사용 지침은 단위 테스트에 머무는 차이를 가리킨다.</a:t>
            </a:r>
          </a:p>
          <a:p xmlns:a="http://schemas.openxmlformats.org/drawingml/2006/main">
            <a:r>
              <a:t>3. (2:00–3:00 / Case) 요청 보정이 실제 성공을 입증하지 않으며 다음 Task의 절차까지 갱신하는 조치와 다르다고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consequence  ·  no execution result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가능성만 제시한다. 구체적인 실패, 실행 결과, PASS/FAIL 또는 실제 Demo 이력은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답을 고치는 것과 다음 작업의 절차까지 바꾸는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Task-level workaround와 durable system correction을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승인된 가상 설정에서 가능한 Task 보정과 재사용 지침을 비교한다. 실행 결과·누락·복구 성공을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“이번 Task가 풀려도 다음 Task의 지침은 달라졌나?”를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그럼 Prompt, global rule, stale Workflow 중 어느 Layer를 살펴볼까?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3분. 가능한 대응과 지시 범위에 머물고 실제 command 실패나 성공 결과를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S68와 production/preview/act4/S68.png를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S69 — 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S69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원인에 맞는 Layer를 고르기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Prompt patch는 현재 Task만 풀 수 있고 global rule은 중복·충돌을 만들 수 있다. Workflow가 원인으로 확인된 사례라면 그 source를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“어디를 고치면 현재 Task와 다음 Task가 함께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Prompt, 전역 규칙, 원인 Workflow의 세 행을 읽는다.</a:t>
            </a:r>
          </a:p>
          <a:p xmlns:a="http://schemas.openxmlformats.org/drawingml/2006/main">
            <a:r>
              <a:t>2. (0:30–1:15 / CAPTURED Demo) 각각 이번 요청만 바꾸는지, 넓은 곳에 새 규칙을 더하는지, 재사용 절차를 바꾸는지 비교한다.</a:t>
            </a:r>
          </a:p>
          <a:p xmlns:a="http://schemas.openxmlformats.org/drawingml/2006/main">
            <a:r>
              <a:t>3. (1:15–2:00 / CAPTURED Demo) Workflow가 원인으로 확인된 경우에만 마지막 선택이 맞다고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layer-selection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 안의 선택 논리다. C는 workflow 원인이 확인된 경우에 맞으며 일반적인 정답이나 Product modification이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Prompt에 한 줄 더하기 전에 반복되는 원인이 있는 곳을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원인이 뒷받침하는 좁은 layer를 선택하고 중복 지침 가능성을 따진다.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Context, workflow, toolchain 또는 test environment 중 원인이 있는 layer를 살핀다는 정도의 pattern transfer만 가능하다.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실행 캡처가 아닌 가상 선택지의 정적 재구성이다. 세 행의 변경 범위를 비교하고 실제 Product 수정 diff처럼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A/B/C의 효과 범위를 소리 없이 비교하게 한다. 원인이 정해졌다고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“앞에서는 원인이 확인됐을 때의 대응을 봤습니다. 이제 그 원인을 어떻게 확인할지 보겠습니다.” S70으로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Visual matrix만 설명하고 새 Product 근거를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S69와 production/preview/act4/S69.png를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S70 — 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실패 지점과 원인 Layer 구분하기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FIX THE RIGHT LAYER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1분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증상은 Prompt나 실행 지점에 보일 수 있지만 원인은 Context, Workflow, Environment, Tool/Permission, Product code 등 다른 층에 있을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“실패가 보인 Layer와 원인이 있는 Layer는 항상 같을까?”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Lecture) S69의 선택은 원인 확인을 전제로 했음을 짚고, 이제 그 전제를 확인하는 방법을 본다고 안내한다. “요청한 검증이 충분한가?”라는 증상만으로 원인을 정할 수 없다고 설명한다.</a:t>
            </a:r>
          </a:p>
          <a:p xmlns:a="http://schemas.openxmlformats.org/drawingml/2006/main">
            <a:r>
              <a:t>2. (0:45–1:00 / Lecture) 현재 기준, 작업 절차, 실행 조건, 코드 동작을 다른 조사 대상으로 분리한다.</a:t>
            </a:r>
          </a:p>
          <a:p xmlns:a="http://schemas.openxmlformats.org/drawingml/2006/main">
            <a:r>
              <a:t>3. (1:00–2:00 / CAPTURED Demo) 오른쪽의 Context, Workflow, 환경·권한, 제품 코드 질문을 차례로 가리킨다. 어느 하나를 원인으로 확정하지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DEMO-11  ·  conceptual cause/layer synthesis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교육용 debugging heuristic이다. 고정 진단표나 단일 원인 mapping이 아니며, 가상 사례의 원인은 조사로 확인해야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실패 메시지만 보고 Prompt나 Agent를 탓하지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Observation, cause hypothesis, system change, rerun, evaluation을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Build, environment, permission, project code를 후보로 분리하는 pattern만 제공한다.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가상 원인 후보의 정적 도식이다. 왼쪽 질문에서 오른쪽 점선 후보 목록으로 시선을 옮긴다. 단일 인과 화살표나 실행 결과가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증상이 보여도 원인이 아직 미확정일 수 있음을 함께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S71에서 이 사례의 가정과 확인할 가설을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관점을 설명하고 CAPTURED visual 1분은 후보 layer만 보여준다.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S70와 production/preview/act4/S70.png를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S71 — 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먼저 관찰하고, 그다음 가설을 세운다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실행된 절차, 현재 Project 문서, 재사용 Workflow, 실패가 나타난 위치를 먼저 살핀다. 관찰한 사실과 원인 판단은 별개다.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“원인을 추측하기 전에 무엇부터 확인해야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(0:00–0:45 / Case) 왼쪽의 현재 기준 단위+통합, 재사용 지침 단위만은 가상 설정에 주어진 정보라고 밝힌다.</a:t>
            </a:r>
          </a:p>
          <a:p xmlns:a="http://schemas.openxmlformats.org/drawingml/2006/main">
            <a:r>
              <a:t>2. (0:45–1:30 / Case) 오른쪽의 “오래된 Workflow가 원인일 수 있다”는 원인 가설로 구분한다.</a:t>
            </a:r>
          </a:p>
          <a:p xmlns:a="http://schemas.openxmlformats.org/drawingml/2006/main">
            <a:r>
              <a:t>3. (1:30–2:00 / Case) 실제 문제라면 실행 경로와 실제 읽은 지침을 대조해야 한다고 정리한다. 이 사례의 실제 실행 기록은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scenario assumptions and inference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화면의 “scenario assumption”도 실제 Trial 관찰이 아니다. stale Workflow는 점검할 가설이지 확정 사실이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원인을 정하기 전 현재 지침과 따라간 절차를 맞춰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증거와 cause hypothesis의 확신 수준을 분리한다.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왼쪽 가상 설정과 오른쪽 확인할 가설을 비교한다. OBSERVED 제품 기록이나 실제 실행 경로처럼 표현하지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칸을 읽고 어떤 문장이 가정이며 어떤 문장이 추론인지 구분해 본다. 답변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Workflow 원인이 확인됐다면 어느 범위까지 바꿔야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2분. 가상 전제와 실제 Evidence를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S71와 production/preview/act4/S71.png를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S72 — 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Cause가 지지하는 최소 변경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4C  CAUSE / CHANGE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1분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사례에서 stale Workflow가 원인으로 확인됐다고 가정하면 우선 그 Workflow를 갱신한다. 중복된 오래된 지침은 원인일 때만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“얼마나 바꿔야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“Workflow가 원인으로 확인됐다면”이라는 조건을 먼저 읽고, 원인과 변경 범위를 맞추는 원칙을 설명한다.</a:t>
            </a:r>
          </a:p>
          <a:p xmlns:a="http://schemas.openxmlformats.org/drawingml/2006/main">
            <a:r>
              <a:t>2. (1:00–2:00 / Case) 가상 Workflow의 검증 대상 지시를 단위에서 단위+통합으로 갱신하는 설계를 가리킨다. 불필요한 전역 규칙이나 다른 파일을 함께 바꿀 이유는 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cause-to-change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가상 사례의 조건부 대응이다. 실제 Product 변경이나 Trial 결과가 아니며, “최소”는 무조건 적게 바꾸라는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새 규칙을 더하기 전에 실제 원인이 있는 곳을 고친다.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Cause가 지지하는 가장 작은 durable change를 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화면의 두 지침은 가상 Before/After 설계다. 실제 변경 diff나 실행 결과가 아니다. 원인 확인 조건을 계속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조건이 바뀌면 수정 대상도 바뀔 수 있음을 잠시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 뒤 같은 Task를 다시 통과하면 Harness는 충분히 검증된 걸까?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1분은 원칙, Case 1분은 가상 workflow 변화에 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S72와 production/preview/act4/S72.png를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S73 — 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같은 Task의 재실행만으로 충분할까?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같은 Task의 재실행은 필요하지만 그것만으로 변경이 인접 작업에 영향을 주지 않는지는 알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“Failure가 사라졌으면 Harness fix가 끝난 걸까?”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왼쪽은 이번 작업의 요청 범위를 다시 다루는지 묻는 검증이라고 설명한다.</a:t>
            </a:r>
          </a:p>
          <a:p xmlns:a="http://schemas.openxmlformats.org/drawingml/2006/main">
            <a:r>
              <a:t>2. (1:00–2:30 / Case) 오른쪽은 바뀐 지침이 다른 유효한 작업을 방해하는지 묻는 질문임을 비교한다.</a:t>
            </a:r>
          </a:p>
          <a:p xmlns:a="http://schemas.openxmlformats.org/drawingml/2006/main">
            <a:r>
              <a:t>3. (2:30–4:00 / Case) 두 질문의 범위가 다르므로 대표 작업을 고르는 평가 설계가 필요하다고 연결한다. 어느 결과도 통과했다고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designed rerun and system evaluation path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재실행과 확장 검증은 conceptual design이다. 실행 결과, pass count, regression success를 보여주지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이번 작업이 다시 되는지와 다른 작업도 안전한지는 별도 질문이다.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Task recovery는 필요 조건일 수 있어도 Harness-level validation을 대신하지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같은 build/test 시나리오 재실행은 필요하지만 전체 회귀 위험을 모두 해소하지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이번 작업과 다른 작업의 검증 질문 두 영역을 비교한다. 실제 재실행이나 회귀 성공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두 확인 질문의 범위가 다른 점을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변경이 닿는 다른 작업 표면은 어떤 대표 Task로 볼까?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3분. 구체적인 pass/fail을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S73와 production/preview/act4/S73.png를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S74 — 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대표 작업으로 변경 범위를 확인하기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5분 (VISUAL / CAPTURED conceptual matrix)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평가 작업의 수보다 서로 다른 사용 표면과 회귀 위험을 대표하는지가 중요하다. EVAL-01/02의 별도 과거 관찰 참고와 EVAL-03/04의 설계 사례를 구분하며, 이 Workflow 변경 뒤의 실행 결과는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“무엇을 대표 Task로 고를까?”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VISUAL Demo) “작업 수보다 서로 다른 위험을 덮는가?”라는 기준을 연다.</a:t>
            </a:r>
          </a:p>
          <a:p xmlns:a="http://schemas.openxmlformats.org/drawingml/2006/main">
            <a:r>
              <a:t>2. (1:00–2:00 / VISUAL Demo) 버그 수정은 동작 계약, 성능 변경은 측정과 검증 범위를 확인하기 위한 선택임을 짚는다. 우측 실선의 TRIAL-002와 STATE-04-PERF는 별도 과거 관찰 참고다.</a:t>
            </a:r>
          </a:p>
          <a:p xmlns:a="http://schemas.openxmlformats.org/drawingml/2006/main">
            <a:r>
              <a:t>3. (2:00–4:00 / VISUAL Demo) 문서만 수정하는 작업에는 불필요한 절차가 강요되지 않는지, 작은 리팩터링에는 유효한 다른 작업이 방해받지 않는지 묻는다. 두 행은 점선의 설계 사례이며 결과가 없다.</a:t>
            </a:r>
          </a:p>
          <a:p xmlns:a="http://schemas.openxmlformats.org/drawingml/2006/main">
            <a:r>
              <a:t>4. (4:00–5:00 / VISUAL Demo) 네 작업 모두 이번 가상 Workflow 변경 후 수행된 평가가 아님을 말하고 대표성을 기준으로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각 행의 상태를 먼저 읽는다. EVAL-01/02의 과거 관찰 참고는 새 Workflow 평가 결과가 아니며 EVAL-03/04는 설계 사례다. 네 행 모두 변경 후 평가 PASS/FAIL이나 완료 결과를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DEMO-10  ·  EVAL-01/02 prior Product references; EVAL-03/04 designed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EVAL-01/02는 별도 Product task chain의 기존 참고 Evidence다. EVAL-03/04는 설계 사례이며 결과가 없다. 이번 stale-Workflow 변경 뒤의 PASS/FAIL 또는 새 Trial은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대표 작업은 다른 사용 방식을 확인하도록 골라야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변경이 닿는 흔한 표면, 알려진 회귀 위험, 비교 대상이 없을 수 있는 task를 나눠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Contextual only: 대표 작업 선택은 Vision build, benchmark, docs 같은 surface에 적용할 수 있지만 별도 C++ case는 만들지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중앙은 네 평가 작업의 선정 이유, 우측은 분리된 참고 근거/설계 상태다. EVAL-01/02의 과거 관찰 참고와 EVAL-03/04의 설계를 선과 색으로 구분한다. 새 실행·PASS/FAIL 결과는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작업 이름보다 가운데 확인 질문을 읽도록 유도한다. 평가 작업을 많이 모으는 대신 어떤 위험을 보려는지 생각하게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실패마다 규칙을 하나씩 더하면 평가 범위가 커지기만 할까?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Demo 5분은 static matrix 설명에 사용한다. 네 EVAL을 실제로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S74와 production/preview/act4/S74.png를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S75 — 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Harness도 특정 실패에 맞춰 과적합될 수 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4D  EVALUATION &amp; REGRESSION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실패마다 전역 규칙을 덧붙이면 Harness가 비대해지거나 충돌하고 특정 Task에만 좁게 맞춰질 수 있다. 원인을 확인하고 대표 작업을 평가하며 불필요한 규칙은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“한 번 실패했다고 규칙을 계속 추가하면 어떻게 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실패마다 규칙을 더하는 상황을 가정한다.</a:t>
            </a:r>
          </a:p>
          <a:p xmlns:a="http://schemas.openxmlformats.org/drawingml/2006/main">
            <a:r>
              <a:t>2. (1:00–2:30 / Lecture) 규칙 누적, 충돌, 특정 작업에만 맞춤 세 비용을 짚는다. 통계적 ML 과적합과 동일한 현상이라고 말하지 않는다.</a:t>
            </a:r>
          </a:p>
          <a:p xmlns:a="http://schemas.openxmlformats.org/drawingml/2006/main">
            <a:r>
              <a:t>3. (2:30–4:00 / Lecture) 원인 확인, 대표 작업 평가, 불필요한 규칙 정리라는 하단 판단 기준으로 돌아온다.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DEMO-04A  ·  conceptual regression / maintenance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“Overfit”은 교육용 비유다. ML 통계적 overfitting과 같은 현상이라고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규칙 수를 늘리기보다 반복 원인을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대표 task에서의 효과와 유지 비용을 같이 평가하고 obsolete rule을 제거한다.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없음. 반복 실패→규칙 누적 도식은 teaching model이며 실제 history가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누적 규칙이 낳을 수 있는 bloat, conflict, narrow fit을 같이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“지금까지 따로 본 관찰·원인 판단·변경·평가를, 다음 작업까지 이어지는 하나의 운영 순서로 묶겠습니다.” S76으로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4분. 통계적 ML overfitting과 동일시하거나 보편 법칙으로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S75와 production/preview/act4/S75.png를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S76 — 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Feedback을 System Change와 Evaluation으로 잇기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4E  LOOP MENTAL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11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9분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실행 결과와 반복되는 마찰을 관찰하고 원인과 재발 가능성을 판단한 뒤 적절한 System을 바꾸고 결과를 다시 평가할 때 Feedback은 System Improvement로 이어진다.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“앞에서 나누어 본 판단을 어떤 순서로 이어야 다음 작업도 달라질까?”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(0:00–2:00 / Lecture) 앞에서 따로 본 판단을 다섯 단계 운영 순서로 통합한다고 안내한다. 실행과 관찰의 질문을 구분하고, 가상 사례의 지시 범위 비교가 실행 결과와 다름을 짚는다.</a:t>
            </a:r>
          </a:p>
          <a:p xmlns:a="http://schemas.openxmlformats.org/drawingml/2006/main">
            <a:r>
              <a:t>2. (2:00–5:00 / Lecture) 원인 판단에는 실행 경로·선택한 지침 등 추가 확인이 필요함을 S71의 논리로 회수한다.</a:t>
            </a:r>
          </a:p>
          <a:p xmlns:a="http://schemas.openxmlformats.org/drawingml/2006/main">
            <a:r>
              <a:t>3. (5:00–7:00 / Lecture) 시스템 변경은 원인 Layer를 바꾸는 일이며, Prompt 보정과 재사용 Workflow 갱신의 범위가 다름을 회수한다.</a:t>
            </a:r>
          </a:p>
          <a:p xmlns:a="http://schemas.openxmlformats.org/drawingml/2006/main">
            <a:r>
              <a:t>4. (7:00–9:00 / Lecture) 같은 작업과 다른 대표 작업의 재평가가 답하는 질문을 비교한다. 새 결과는 제시하지 않는다.</a:t>
            </a:r>
          </a:p>
          <a:p xmlns:a="http://schemas.openxmlformats.org/drawingml/2006/main">
            <a:r>
              <a:t>5. (9:00–11:00 / VISUAL Demo) 정적 도식의 실행→관찰→원인 판단→시스템 변경→재평가를 순서대로 가리킨다. 자동 학습을 뜻하지 않는 교육용 운영 모델임을 닫고 실제 Meta 기록으로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기존 가상 단위/통합 사례를 다섯 단계에 대응한다. 실행 범위 확인→현재 지시와 기준 비교→Workflow 원인 가설 확인→확인된 원인 Layer의 지시 갱신→같은/다른 대표 작업 재평가 순서다. 단계별 질문만 가리키며 실제 실행·변경 성공·새 평가 결과를 채우지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DEC-0023  ·  course operational model  ·  no product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operational model이다. 자동 학습, Agent self-learning, 무한 반복, observed Product loop를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같은 수정을 되풀이하는 대신 다음 작업에도 영향을 주는 System을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자동화와 별개로 cause, recurrence, change layer, evaluation을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정적 5단계 도식과 발표자 지목을 사용한다. R1–R5 내부 번호나 운영 시간은 청중 화면에 표시하지 않는다. 자동 애니메이션·실행·모델 학습 주장은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“Feedback은 어느 순간 System change가 되는가?”를 생각하게 하고, 응답 제출은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“이번에는 실제 교육 제작 기록에서 Trial의 평가·보고 기준을 살펴보겠습니다. 어떤 관찰이 그 기준을 돌아보게 했는지부터 보겠습니다.” S77로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9분, 마지막 VISUAL Demo 2분. R1–R5는 approximate reveal cue이며 전체가 항상 표시되는 정적 도식으로 진행 가능.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S76와 production/preview/act4/S76.png를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S77 — 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제작 기록: TRIAL-006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TRIAL-006은 Codex CLI에서 수행한 실제 성능 조사다. Global Skills와 시작 경고가 함께 관찰되어 Prompt-only attribution은 PARTIAL이다.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“실제 제작 과정에서 Trial의 평가·보고 기준을 돌아보게 한 관찰은 무엇이었나?”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CAPTURED Demo) OBSERVED META 표식과 이중선을 가리키며 앞의 가상 사례를 닫고 실제 교육 제작 기록으로 전환한다. 이번에 살펴볼 System은 Trial의 평가·보고 기준이라고 안내하고, 그 기준을 돌아보게 한 TRIAL-006의 관찰부터 연다.</a:t>
            </a:r>
          </a:p>
          <a:p xmlns:a="http://schemas.openxmlformats.org/drawingml/2006/main">
            <a:r>
              <a:t>2. (0:30–1:15 / CAPTURED Demo) 성능 작업 요청, Global Skill이 관여한 실행 환경, Prompt만의 효과로 분리하기 어려운 결과 해석의 세 영역을 짚는다.</a:t>
            </a:r>
          </a:p>
          <a:p xmlns:a="http://schemas.openxmlformats.org/drawingml/2006/main">
            <a:r>
              <a:t>3. (1:15–2:00 / CAPTURED Demo) PARTIAL은 결과가 없다는 뜻이 아니라 원인 귀속의 한계라고 열고 다음 장에서 두 질문을 나눈다.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상단의 Trial 평가·보고 기준은 이번 실제 사례에서 살펴볼 대상을 안내한다. 이 장은 실제 사건을 여는 화면으로, TRIAL-006 요청과 함께 관찰된 Global Skill/시작 경고를 먼저 짚고 인과 해석의 두 질문은 다음 장으로 넘긴다. 앞의 가상 stale 사례와 별개임을 이중선과 표식으로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DEC-0016  ·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OBSERVED_META: 교육자료 제작·Trial 평가 기록이다. Demo Product change나 DEMO-04A 원인/수정 사례가 아니다. Codex CLI evidence를 현재 Desktop으로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결과가 있다는 사실과 그 원인을 안다는 것은 다르다.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ambient global environment가 있는 실행에서 attribution boundary를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TRIAL-006 기록을 재구성한 native 도식이다. 작업 요청→실행 환경→결과 해석을 차례로 읽는다. 실제 terminal screenshot이 아니며 현재 Desktop 동작을 주장하지 않는다. Hook 경고는 효과 관찰을 뜻하지 않고 MCP 시작 경고는 작업 결과를 뜻하지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이 시점에 Evidence grammar가 바뀌었음을 보고 Conceptual case와 구별한다.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결과를 Task Prompt만의 효과라고 말할 수 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2분. 실제 기록의 정적 요약을 사용하고 새 제품 실행은 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S77와 production/preview/act4/S77.png를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S78 — 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결과의 타당성과 원인 귀속은 별개다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Demo 4분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resize_nearest 측정은 기록된 코드·입력·runtime·host 범위에서 유효하지만, global Harness 영향 때문에 전체 workflow를 Prompt 하나의 효과로 분리할 수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“측정 결과가 유효해도 원인을 Prompt 하나로 좁힐 수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CAPTURED Demo) 이번 수치는 S55의 image_statistics Benchmark와 별개인 TRIAL-006 resize_nearest 기록임을 먼저 짚는다. 왼쪽 “측정 결과는 유효한가?”와 오른쪽 “무엇이 결과를 만들었나?”를 독립된 질문으로 읽는다.</a:t>
            </a:r>
          </a:p>
          <a:p xmlns:a="http://schemas.openxmlformats.org/drawingml/2006/main">
            <a:r>
              <a:t>2. (1:00–2:00 / CAPTURED Demo) input/output hash와 같은 조건의 7회 one-call 측정 기록을 확인한다. 144.2→33.5 ms/call median은 작은 보조정보다. 합성 640×480 gray(max4095)→960×720, CPython 3.9.6, macOS 26.6.2 arm64 범위를 말한다.</a:t>
            </a:r>
          </a:p>
          <a:p xmlns:a="http://schemas.openxmlformats.org/drawingml/2006/main">
            <a:r>
              <a:t>3. (2:00–3:15 / CAPTURED Demo) performance-goal Global Skill이 evaluator·ledger·threshold에 관여한 기록을 설명한다. 수치 변화의 직접 원인이라고 단정하지 않는다.</a:t>
            </a:r>
          </a:p>
          <a:p xmlns:a="http://schemas.openxmlformats.org/drawingml/2006/main">
            <a:r>
              <a:t>4. (3:15–4:00 / CAPTURED Demo) Hook 경고와 효과, MCP 시작 오류와 작업 결과를 구분하고, 결과와 원인 해석을 별도로 기록해야 한다고 닫는다.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왼쪽의 결과 타당성과 오른쪽의 원인 귀속을 각각 별도 질문으로 읽는다. 실제 hash와 측정 범위는 왼쪽에, Global 영향과 PARTIAL은 오른쪽에 대응한다. 수치를 새로운 실행 결과로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·  7 one-call samples  ·  disposable worktree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144.2 → 33.5 ms/call median은 기록된 synthetic 640×480 grayscale input (max 4095) → 960×720, CPython 3.9.6, macOS 26.6.2 arm64에 한정한다. Prompt-only attribution은 PARTIAL. 4.30×/76.8% hero metric은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숫자가 있어도 무엇이 결과를 만들었는지 자동으로 알 수는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Result validity와 causal attribution의 확신 수준을 따로 보고한다.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필요하면 같은 원리를 C++ benchmark의 입력, compiler, host, toolchain 범위로 transfer하되 새 사례로 확장하지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CAPTURED trial summary. Input/output SHA-256 guards matched; seven one-call samples. `performance-goal` global Skill influenced evaluator/ledger/threshold, but is not proven the direct cause of the metric. Hook warnings do not prove hook effect; MCP startup error does not evidence task result.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왼쪽은 확인된 result validity, 오른쪽은 남은 attribution uncertainty를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한계가 후속 Trial의 평가 방식에 어떤 변경을 만들었을까?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CAPTURED Demo 4분. 성능 숫자를 성과 발표처럼 연출하거나 일반화하지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S78와 production/preview/act4/S78.png를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S79 — 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평가와 보고 규칙을 Evidence에 맞추다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(CAPTURED)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DEC-0016은 TRIAL-006을 PARTIAL로 보존하고 clean isolation을 진행 조건으로 요구하지 않으며, 후속 CLI Trial에서 관찰된 global influence를 기록하도록 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“Prompt 효과를 분리할 수 없다면 다음 Trial은 어떻게 기록해야 할까?”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기존 평가가 작업·Repository 중심이어서 주변 Harness 영향 설명이 충분하지 않았다고 짚는다.</a:t>
            </a:r>
          </a:p>
          <a:p xmlns:a="http://schemas.openxmlformats.org/drawingml/2006/main">
            <a:r>
              <a:t>2. (1:00–2:15 / CAPTURED Demo) 우측 후속 기록 기준에서 관찰한 Skill, 경고와 실제 사용 여부, 결과의 해석 범위를 차례로 가리킨다.</a:t>
            </a:r>
          </a:p>
          <a:p xmlns:a="http://schemas.openxmlformats.org/drawingml/2006/main">
            <a:r>
              <a:t>3. (2:15–3:00 / CAPTURED Demo) DEC-0016은 기존 결과를 PARTIAL로 보존하고 관찰된 조건을 함께 남기는 결정이었다고 정리한다. Product 코드/Skill 수정이나 격리 환경 구축은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DEC-0016에서 바뀐 평가·보고 기준에 집중한다. 이전 기록의 빈틈→이후에 남길 환경 관찰 순서로 읽고 제품 코드나 Demo Skill 변경과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·  evaluation / reporting 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실제 Training Production evaluation/reporting governance 변화다. Product code 또는 Demo Skill을 수정하지 않았고 clean isolation을 구축했다고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환경 조건과 수행 도구가 다르면 결과 설명도 그 경계를 밝혀야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미통제 조건을 숨기지 않고 Trial 결과의 사용 범위를 제한한다.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 평가·보고 결정의 의미를 Before/After로 재구성했다. 원문 직접 인용이나 Product diff로 표현하지 않는다. PARTIAL 보존과 관찰된 Global influence 기록을 변경 내용으로 한정한다.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무엇이 바뀌었는지와 무엇이 바뀌지 않았는지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이 기준은 TRIAL-007/008에 어떻게 적용됐을까?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CAPTURED 2분. Trial/reporting boundary에만 머문다.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S79와 production/preview/act4/S79.png를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S80 — 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후속 기록은 개선됐지만 완전하지 않았다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 / DEMO-04B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TRIAL-007은 global influence를 기록했지만 MCP report와 stderr가 불일치한다. TRIAL-008은 repository Skill 호출과 global influence를 별도로 기록했다. 품질 향상은 측정되지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“새로운 기록 규칙이 모든 불확실성을 해결했을까?”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TRIAL-007의 최종 보고 “MCP 경고 없음”과 보존된 stderr의 Nimble AuthRequired가 서로 맞지 않는 점을 가리킨다. 화면 문구는 원문 의미의 요약이다.</a:t>
            </a:r>
          </a:p>
          <a:p xmlns:a="http://schemas.openxmlformats.org/drawingml/2006/main">
            <a:r>
              <a:t>2. (1:00–2:00 / Case) 오류 표시는 MCP 작업 결과를 뜻하지 않음을 명확히 한다. TRIAL-008은 Repository Skill 발견·명시 호출과 Global influence를 따로 기록한 Codex CLI 0.154.0 사례다.</a:t>
            </a:r>
          </a:p>
          <a:p xmlns:a="http://schemas.openxmlformats.org/drawingml/2006/main">
            <a:r>
              <a:t>3. (2:00–3:00 / Case) 기록 경계가 명확해진 부분과 남은 불일치를 함께 보존한다. 완전한 목록이나 측정된 품질 개선이라고 말하지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TRIAL-007 최종 보고와 보존된 stderr를 대조한다. Nimble AuthRequired는 인증 필요 경고라는 뜻으로만 풀고 MCP 작업 결과나 도구 사용 성공으로 확대하지 않는다. 이후 TRIAL-008에서 호출과 Global influence를 따로 기록한 사실을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TRIAL-007 / TRIAL-008  ·  DEC-0016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적용은 부분적이다. 완전한 environment inventory, 완벽한 report, 측정된 Trial-quality improvement를 주장하지 않는다. TRIAL-007의 stderr에는 Nimble AuthRequired가 있으나 MCP task result는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개선된 기록도 빠진 점과 불일치가 있는지 다시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보고, stderr, global influence inventory를 서로 대조하고 claim boundary를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위쪽 두 행은 TRIAL-007 보고/stderr의 의미 대조이고, 아래 행은 TRIAL-008의 별도 기록을 요약한다. 실제 로그 캡처로 위장하지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후속 기록이 무엇을 명확히 했고 무엇을 남겼는지 비교한다.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S81에서 실제로 바뀐 System과 미확정 사항을 한 번에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불일치와 unknown을 숨기지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S80와 production/preview/act4/S80.png를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S81 — 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S81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실제 Meta Loop에서 바뀐 것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4 / 4F  OBSERVED META LOOP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Case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TRIAL-006의 ambient influence 및 PARTIAL attribution은 DEC-0016의 Trial evaluation/reporting 변경으로 이어졌고 TRIAL-007/008에서 기록 경계가 부분적으로 적용됐다. Product code가 바뀐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“무엇이 바뀌었고, 무엇은 아직 모르는가?”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TRIAL-006의 관찰→DEC-0016→후속 TRIAL-007/008이라는 실제 흐름을 한 문장으로 회수한다.</a:t>
            </a:r>
          </a:p>
          <a:p xmlns:a="http://schemas.openxmlformats.org/drawingml/2006/main">
            <a:r>
              <a:t>2. (1:00–2:00 / Case) 왼쪽에서 바뀐 대상이 교육 제작의 평가·보고 기준임을 짚는다.</a:t>
            </a:r>
          </a:p>
          <a:p xmlns:a="http://schemas.openxmlformats.org/drawingml/2006/main">
            <a:r>
              <a:t>3. (2:00–3:00 / Case) 오른쪽의 원인별 효과, 환경 목록의 완전성, Trial 품질 향상은 미확인이라고 남기고 C++ 전이로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이 장은 Meta 사례의 남은 한계를 닫는다. 실제 바뀐 평가·보고 기준과 여전히 미확인인 원인별 효과·환경 목록·품질 향상을 나누고 S82의 적용 질문으로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TRIAL-006  →  DEC-0016  →  TRIAL-007/008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후속 report에는 불일치가 남고 quality effect는 미측정이다. DEMO-04A conceptual stale workflow와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실제로 바뀐 것과 아직 모르는 점을 구분한다.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Loop의 system change는 평가·보고 거버넌스일 수 있으나 outcome은 재평가해야 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실제로 바뀐 것과 아직 확인 못한 것의 두 영역을 비교한다. 앞의 Timeline을 다시 길게 강의하거나 가상 Workflow의 실제 복구로 합치지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Changed/Unknown 두 칸을 비교하며 Meta case를 정리한다.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“평가 체계를 바꾼 뒤에도 확인할 것이 남았습니다. 이 원리를 C++ Vision 업무로 옮겨, 환경이 달라졌을 때 검증 조건을 어떻게 다시 볼지 생각해 보겠습니다.” S82로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Case 2분. preceding slides를 다시 풀어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production/ACT_4.pptx의 S81와 production/preview/act4/S81.png를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S82 —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Slide ID: S82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Working Title: Project와 환경이 바뀌면 검증도 다시 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ACT / Section: ACT 4 / 4G  C++ VISION TRANSFER  /  4H DISCUSSION &amp; TRANSITION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Allocated Time: 20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 Split: Case 7분 + Reflection 2분 + Q&amp;A 7분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Primary Message: Project나 환경이 바뀌면 기존 performance 가정과 verification 절차가 여전히 맞는지 다시 확인한다. 반복되는 마찰은 관찰하고 원인을 찾아 관련 layer를 바꾼 뒤 benchmark와 regression으로 확인한다.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Opening Question: “같은 문제가 두 번째로 생기면 다시 Prompt를 고칠까, System을 살펴볼까?”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Speaker Flow: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(0:00–2:00 / Case) 앞의 평가 원리를 업무의 검증 조건에 적용해 본다고 안내하고 GPU·빌드·측정 조건이 달라진 상황을 가정한다. 실제 C++ 사건이나 구체적 버전 조합을 주장하지 않는다.</a:t>
            </a:r>
          </a:p>
          <a:p xmlns:a="http://schemas.openxmlformats.org/drawingml/2006/main">
            <a:r>
              <a:t>2. (2:00–4:30 / Case) 그림의 입력·코드·장치와 기존 가정·측정 조건 질문을 가리킨다. 기존 판단이 어떤 조건에서 맞았는지, 입력과 실행 조건이 비교 가능한지 묻는다. 관찰된 성능 저하나 숫자를 만들지 않는다.</a:t>
            </a:r>
          </a:p>
          <a:p xmlns:a="http://schemas.openxmlformats.org/drawingml/2006/main">
            <a:r>
              <a:t>3. (4:30–7:00 / Case) 출력 그림과 기능 계약 질문에서 성능과 함께 다시 확인할 동작 범위를 살핀다. 반복 신호→원인 Layer 조사→관련 시스템 변경→Benchmark/Regression 재확인으로 연결한다.</a:t>
            </a:r>
          </a:p>
          <a:p xmlns:a="http://schemas.openxmlformats.org/drawingml/2006/main">
            <a:r>
              <a:t>4. (7:00–9:00 / Reflection) 하단 질문을 가리켜 자기 업무의 반복 마찰 하나를 마음속으로 떠올리게 한다. 기록·답변·발표는 요구하지 않는다.</a:t>
            </a:r>
          </a:p>
          <a:p xmlns:a="http://schemas.openxmlformats.org/drawingml/2006/main">
            <a:r>
              <a:t>5. (9:00–16:00 / Q&amp;A) 질문을 받는다. 질문이 없으면 아래 Fallback 질문을 하나씩 골라 강사가 짧게 해설한다. 새로운 기술 사례나 제품 설정 강의를 열지 않는다.</a:t>
            </a:r>
          </a:p>
          <a:p xmlns:a="http://schemas.openxmlformats.org/drawingml/2006/main">
            <a:r>
              <a:t>6. (16:00–20:00 / Transition) 16분에 질문을 마감한다. 가정→측정 조건→기능 계약 세 질문을 전체 Story의 Context→Harness→Loop와 연결하고 S83의 여정 회수로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화면 진행: 왼쪽 그림에서 조건 변화만 확인하고 오른쪽 01 기존 가정→02 측정 조건→03 기능 계약을 위에서 아래로 짚는다. 마지막에만 하단 큰 질문으로 시선을 옮긴다. 7–9분 Reflection, 9–16분 Q&amp;A, 16–20분 Transition은 그대로이며 정적 화면을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Evidence / Source: BEAT-059 / TRANS-012  ·  teaching transfer, not observed C++ incident 삽화 출처: prototype/image-illustration-pilot/assets/S72.png, built-in image_gen, 2026-10-18. 생성 프롬프트: prototype/image-illustration-pilot/PROMPTS.md. 실제 화면·현장 사진·관찰 자료가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Claim Boundary: COURSE MODEL / C++ VISION TRANSFER. Toolchain, CUDA/GPU architecture, build/benchmark configuration은 hypothetical teaching context이며 실제 Demo history가 아니다. 구체적인 Windows/shell/IDE/hardware setup을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Beginner Explanation: 같은 문제가 반복되면 Prompt 외에도 Project와 workflow를 살핀다.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Advanced Insight: Project/environment 변화가 verification assumptions에 미치는 영향을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C++ Vision Bridge: Primary bridge. 변화한 조건에서 기존 tuning 가정과 benchmark/regression 조건을 다시 확인하는 engineering pattern만 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Demo Operation: 정적 화면과 speaker-led highlighting을 사용한다. 화면에는 세 확인 대상과 성찰 질문을 두고, 20분 운영표는 Notes에만 둔다. Live 프로젝트·제품 실행·애니메이션 의존 없음. 정적 삽화의 입력→처리 코드→실행 장치→출력을 차례로 가리킨다. 황색 장치·설정 표시는 검토할 조건의 변화이며 실패 원인이 확정됐다는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Audience Interaction: 7–9분 개인 Reflection은 답변·공유 없이 진행한다. 9–16분 Q&amp;A에서는 실제 회사 환경의 검증되지 않은 해결책을 단정하지 않고 어떤 조건을 확인해야 하는지로 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Transition: “이제 처음의 질문부터 Task·Context·Harness·Loop까지, 어떤 문제에 대응해 왔는지 전체 Story를 다시 연결하겠습니다.” ACT 5 S83으로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Time Management: 0–7 Case 7분, 7–9 Reflection 2분, 9–16 Q&amp;A 7분, 16–20 Transition 4분으로 20분을 유지한다. Cutoff cue: “이 질문은 여기까지 정리하고, 이제 처음 문제부터 지금의 Loop까지 연결해 보겠습니다.” 실제 20분 리허설은 수행하지 않았다. 0–2분 전체 그림/변경 표식, 2–4:30분 입력·코드·장치의 가정과 비교 조건, 4:30–7분 출력·기능 계약을 설명한다. 이후 7–9분 Reflection, 9–16분 Q&amp;A, 16–20분 Transition을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Fallback: 정적 PPT/PNG를 기본 경로로 사용한다. Q&amp;A가 없으면 ①“예전 Benchmark와 비교하기 전에 어떤 조건을 맞춰야 할까요?” ②“성능이 달라졌을 때 기능 계약은 무엇으로 다시 확인할까요?” ③“두 번째로 같은 문제가 생기면 Prompt 외에 무엇을 살펴볼까요?” 중 하나씩 선택한다. 응답을 요구하지 않고 기존 세 질문의 범위에서 강사가 짧게 해설한다. 정적 파일: production/preview/act4/S82.png 및 production/preview/full/S82.png.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Validation Status: REVIEWED — DEC-0030에서 승인한 화면 강조와 운영 Cue를 정렬했다. 최종 PPT/Notes/PNG 대조와 렌더 검토 결과는 production/evaluation/FULL_DECK_PRESENTATION_POLISH.md에 기록한다. Windows PowerPoint, 발표 PC 글꼴, 교육장 투사, 제품·계정,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a2272af6374f7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6b57fac85c3402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89aa9b7cd2481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67129a3244e7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653f5d082b41c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e79904133840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2529C0-A08E-4807-B733-54CA67E6B4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28833A8-E632-4A30-B27E-A27825AF1C6C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49D1AF0-A8BC-49FF-AF45-E40D550A5C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74F862-E1A8-4751-85A6-D2B07F9C3A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4AAD243-FD06-4D78-AD76-B20725D48F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C53CA988-C95B-457B-9C46-9AC49295A1B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2341803-BB8C-4AF7-8BCA-6B404AE82DB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9E47109C-E694-4F71-AC1C-F5A83435484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C6F5EF8-977E-4A7E-94CD-C8FC6EA475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B7C238A-0425-4631-87FB-804E9EF2AE7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698b6a8d9d9451c" /><Relationship Type="http://schemas.openxmlformats.org/officeDocument/2006/relationships/slideLayout" Target="/ppt/slideLayouts/slideLayout1.xml" Id="Rff341c5325224e5b" /><Relationship Type="http://schemas.openxmlformats.org/officeDocument/2006/relationships/slideLayout" Target="/ppt/slideLayouts/slideLayout2.xml" Id="Re8b68a4ba5574443" /><Relationship Type="http://schemas.openxmlformats.org/officeDocument/2006/relationships/slideLayout" Target="/ppt/slideLayouts/slideLayout3.xml" Id="Re8a92adc2517496a" /><Relationship Type="http://schemas.openxmlformats.org/officeDocument/2006/relationships/slideLayout" Target="/ppt/slideLayouts/slideLayout4.xml" Id="R5adcb86bf52547a4" /><Relationship Type="http://schemas.openxmlformats.org/officeDocument/2006/relationships/slideLayout" Target="/ppt/slideLayouts/slideLayout5.xml" Id="Ra4a5ce788ce84fb0" /><Relationship Type="http://schemas.openxmlformats.org/officeDocument/2006/relationships/slideLayout" Target="/ppt/slideLayouts/slideLayout6.xml" Id="R270f9e3898ce422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f341c5325224e5b"/>
    <p:sldLayoutId xmlns:r="http://schemas.openxmlformats.org/officeDocument/2006/relationships" id="2147483650" r:id="Re8b68a4ba5574443"/>
    <p:sldLayoutId xmlns:r="http://schemas.openxmlformats.org/officeDocument/2006/relationships" id="2147483651" r:id="Re8a92adc2517496a"/>
    <p:sldLayoutId xmlns:r="http://schemas.openxmlformats.org/officeDocument/2006/relationships" id="2147483652" r:id="R5adcb86bf52547a4"/>
    <p:sldLayoutId xmlns:r="http://schemas.openxmlformats.org/officeDocument/2006/relationships" id="2147483653" r:id="Ra4a5ce788ce84fb0"/>
    <p:sldLayoutId xmlns:r="http://schemas.openxmlformats.org/officeDocument/2006/relationships" id="2147483654" r:id="R270f9e3898ce422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6a384d3e7e44cb" /><Relationship Type="http://schemas.openxmlformats.org/officeDocument/2006/relationships/notesSlide" Target="/ppt/notesSlides/notesSlide1.xml" Id="Ra717ae9cc7c4401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abc90b9cc940f6" /><Relationship Type="http://schemas.openxmlformats.org/officeDocument/2006/relationships/notesSlide" Target="/ppt/notesSlides/notesSlide2.xml" Id="Rfe1597645a3e4e7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492931779a4906" /><Relationship Type="http://schemas.openxmlformats.org/officeDocument/2006/relationships/notesSlide" Target="/ppt/notesSlides/notesSlide3.xml" Id="R6c027d2a4e7346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6017f4ae4f466f" /><Relationship Type="http://schemas.openxmlformats.org/officeDocument/2006/relationships/notesSlide" Target="/ppt/notesSlides/notesSlide4.xml" Id="R09d2381320d540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b2a5bf5b094ab7" /><Relationship Type="http://schemas.openxmlformats.org/officeDocument/2006/relationships/notesSlide" Target="/ppt/notesSlides/notesSlide5.xml" Id="R42fbee580dd942f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39577523e24755" /><Relationship Type="http://schemas.openxmlformats.org/officeDocument/2006/relationships/notesSlide" Target="/ppt/notesSlides/notesSlide6.xml" Id="Rfc60178f59b8412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36c6a8bb8694516" /><Relationship Type="http://schemas.openxmlformats.org/officeDocument/2006/relationships/notesSlide" Target="/ppt/notesSlides/notesSlide7.xml" Id="Rf1e800389e97422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c93b2c54be4573" /><Relationship Type="http://schemas.openxmlformats.org/officeDocument/2006/relationships/notesSlide" Target="/ppt/notesSlides/notesSlide8.xml" Id="R70bd7706fbe8406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8381ba0bed54a2b" /><Relationship Type="http://schemas.openxmlformats.org/officeDocument/2006/relationships/notesSlide" Target="/ppt/notesSlides/notesSlide9.xml" Id="R0ca13834c28c4d7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c97e0692c64a71" /><Relationship Type="http://schemas.openxmlformats.org/officeDocument/2006/relationships/notesSlide" Target="/ppt/notesSlides/notesSlide10.xml" Id="R659fb77520044cb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1eb94ffe444289" /><Relationship Type="http://schemas.openxmlformats.org/officeDocument/2006/relationships/notesSlide" Target="/ppt/notesSlides/notesSlide11.xml" Id="R2d8410e4bb214c0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53604431c3433f" /><Relationship Type="http://schemas.openxmlformats.org/officeDocument/2006/relationships/notesSlide" Target="/ppt/notesSlides/notesSlide12.xml" Id="R5dd972bf33a0428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92f518df754a68" /><Relationship Type="http://schemas.openxmlformats.org/officeDocument/2006/relationships/notesSlide" Target="/ppt/notesSlides/notesSlide13.xml" Id="Rc75357cf44c5438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045e7637874556" /><Relationship Type="http://schemas.openxmlformats.org/officeDocument/2006/relationships/notesSlide" Target="/ppt/notesSlides/notesSlide14.xml" Id="R9c5f8f1979b441c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126e791ea404ef5" /><Relationship Type="http://schemas.openxmlformats.org/officeDocument/2006/relationships/notesSlide" Target="/ppt/notesSlides/notesSlide15.xml" Id="Rce965a255595462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3351f6da7e4073" /><Relationship Type="http://schemas.openxmlformats.org/officeDocument/2006/relationships/notesSlide" Target="/ppt/notesSlides/notesSlide16.xml" Id="Rdffc950f3a184cb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9003091bc284c26" /><Relationship Type="http://schemas.openxmlformats.org/officeDocument/2006/relationships/notesSlide" Target="/ppt/notesSlides/notesSlide17.xml" Id="Rc9b5d0c8ad2045f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1549fac995402b" /><Relationship Type="http://schemas.openxmlformats.org/officeDocument/2006/relationships/image" Target="/ppt/media/image.png" Id="Rd424c668a64a4cff" /><Relationship Type="http://schemas.openxmlformats.org/officeDocument/2006/relationships/notesSlide" Target="/ppt/notesSlides/notesSlide18.xml" Id="Ree7c1230ef78452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확인된 제품 결과">
            <a:extLst xmlns:a="http://schemas.openxmlformats.org/drawingml/2006/main">
              <a:ext uri="{FF2B5EF4-FFF2-40B4-BE49-F238E27FC236}">
                <a16:creationId xmlns:a16="http://schemas.microsoft.com/office/drawing/2014/main" id="{592DBC93-BE88-4502-9CEE-3DFEA075A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확인된 제품 결과</a:t>
            </a:r>
          </a:p>
        </p:txBody>
      </p:sp>
      <p:sp>
        <p:nvSpPr>
          <p:cNvPr id="2" name="S65">
            <a:extLst xmlns:a="http://schemas.openxmlformats.org/drawingml/2006/main">
              <a:ext uri="{FF2B5EF4-FFF2-40B4-BE49-F238E27FC236}">
                <a16:creationId xmlns:a16="http://schemas.microsoft.com/office/drawing/2014/main" id="{3A0E819E-93E1-4B56-8B17-F56E66AE9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S65</a:t>
            </a:r>
          </a:p>
        </p:txBody>
      </p:sp>
      <p:sp>
        <p:nvSpPr>
          <p:cNvPr id="3" name="여기까지는 잘 동작했다">
            <a:extLst xmlns:a="http://schemas.openxmlformats.org/drawingml/2006/main">
              <a:ext uri="{FF2B5EF4-FFF2-40B4-BE49-F238E27FC236}">
                <a16:creationId xmlns:a16="http://schemas.microsoft.com/office/drawing/2014/main" id="{3B9AF2E7-A799-4D54-9024-85E632D2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여기까지는 잘 동작했다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301E2-91BD-4117-AA64-B045EC5F4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image_statistics · 실제 기록 요약">
            <a:extLst xmlns:a="http://schemas.openxmlformats.org/drawingml/2006/main">
              <a:ext uri="{FF2B5EF4-FFF2-40B4-BE49-F238E27FC236}">
                <a16:creationId xmlns:a16="http://schemas.microsoft.com/office/drawing/2014/main" id="{36098939-B25C-4644-900E-9EF2EEB8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image_statistics · 실제 기록 요약</a:t>
            </a:r>
          </a:p>
        </p:txBody>
      </p:sp>
      <p:sp>
        <p:nvSpPr>
          <p:cNvPr id="6" name="기록된 입력·코드·환경의 결과이며, 뒤의 가상 사례와 별개다.">
            <a:extLst xmlns:a="http://schemas.openxmlformats.org/drawingml/2006/main">
              <a:ext uri="{FF2B5EF4-FFF2-40B4-BE49-F238E27FC236}">
                <a16:creationId xmlns:a16="http://schemas.microsoft.com/office/drawing/2014/main" id="{0A47CEAA-1350-4757-B6C4-93F7B84C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입력·코드·환경의 결과이며, 뒤의 가상 사례와 별개다.</a:t>
            </a:r>
          </a:p>
        </p:txBody>
      </p:sp>
      <p:sp>
        <p:nvSpPr>
          <p:cNvPr id="7" name="작업을 맡기고, 결과를 확인할 수 있었다">
            <a:extLst xmlns:a="http://schemas.openxmlformats.org/drawingml/2006/main">
              <a:ext uri="{FF2B5EF4-FFF2-40B4-BE49-F238E27FC236}">
                <a16:creationId xmlns:a16="http://schemas.microsoft.com/office/drawing/2014/main" id="{28F51BC9-82D1-466F-A640-DBECE6F2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작업을 맡기고, 결과를 확인할 수 있었다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8C9F36-5164-4E54-97C5-8497F7DD5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동작 계약">
            <a:extLst xmlns:a="http://schemas.openxmlformats.org/drawingml/2006/main">
              <a:ext uri="{FF2B5EF4-FFF2-40B4-BE49-F238E27FC236}">
                <a16:creationId xmlns:a16="http://schemas.microsoft.com/office/drawing/2014/main" id="{367CC94E-47D0-4DDA-8D0B-E0C23E1B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699085-E3BC-468B-8115-6E2F51F4D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테스트">
            <a:extLst xmlns:a="http://schemas.openxmlformats.org/drawingml/2006/main">
              <a:ext uri="{FF2B5EF4-FFF2-40B4-BE49-F238E27FC236}">
                <a16:creationId xmlns:a16="http://schemas.microsoft.com/office/drawing/2014/main" id="{A22122B3-5B1B-4C32-9DCE-FE5E7DC3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46CA7E-0327-4400-B835-1B01E7177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952750"/>
            <a:ext cx="323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성능 측정">
            <a:extLst xmlns:a="http://schemas.openxmlformats.org/drawingml/2006/main">
              <a:ext uri="{FF2B5EF4-FFF2-40B4-BE49-F238E27FC236}">
                <a16:creationId xmlns:a16="http://schemas.microsoft.com/office/drawing/2014/main" id="{60DA6D2A-A5C7-4903-BF15-6ABE01DFE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432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측정</a:t>
            </a:r>
          </a:p>
        </p:txBody>
      </p:sp>
      <p:sp>
        <p:nvSpPr>
          <p:cNvPr id="14" name="입력·출력 조건 확인">
            <a:extLst xmlns:a="http://schemas.openxmlformats.org/drawingml/2006/main">
              <a:ext uri="{FF2B5EF4-FFF2-40B4-BE49-F238E27FC236}">
                <a16:creationId xmlns:a16="http://schemas.microsoft.com/office/drawing/2014/main" id="{97629629-CF8A-4F67-8F30-C6887C26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조건 확인</a:t>
            </a:r>
          </a:p>
        </p:txBody>
      </p:sp>
      <p:sp>
        <p:nvSpPr>
          <p:cNvPr id="15" name="전체 테스트 11/11">
            <a:extLst xmlns:a="http://schemas.openxmlformats.org/drawingml/2006/main">
              <a:ext uri="{FF2B5EF4-FFF2-40B4-BE49-F238E27FC236}">
                <a16:creationId xmlns:a16="http://schemas.microsoft.com/office/drawing/2014/main" id="{0AAD6898-FBDB-416F-815D-BE56907A5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71900"/>
            <a:ext cx="32861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전체 테스트 11/11</a:t>
            </a:r>
          </a:p>
        </p:txBody>
      </p:sp>
      <p:sp>
        <p:nvSpPr>
          <p:cNvPr id="16" name="Benchmark guard 확인">
            <a:extLst xmlns:a="http://schemas.openxmlformats.org/drawingml/2006/main">
              <a:ext uri="{FF2B5EF4-FFF2-40B4-BE49-F238E27FC236}">
                <a16:creationId xmlns:a16="http://schemas.microsoft.com/office/drawing/2014/main" id="{1E1A4B0E-D509-4C1A-9DE1-89BF7BC4D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771900"/>
            <a:ext cx="3333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Benchmark guard 확인</a:t>
            </a:r>
          </a:p>
        </p:txBody>
      </p:sp>
      <p:sp>
        <p:nvSpPr>
          <p:cNvPr id="17" name="그렇다면 프로젝트가 바뀐 뒤에도 맞을까?">
            <a:extLst xmlns:a="http://schemas.openxmlformats.org/drawingml/2006/main">
              <a:ext uri="{FF2B5EF4-FFF2-40B4-BE49-F238E27FC236}">
                <a16:creationId xmlns:a16="http://schemas.microsoft.com/office/drawing/2014/main" id="{E52B6B82-E91C-44FA-AE6C-FBE02B482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그렇다면 프로젝트가 바뀐 뒤에도 맞을까?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B78B781-8D82-4262-8A8F-82CC17062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63493704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08589640-E71A-4E65-A161-CF4BB2D4C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66">
            <a:extLst xmlns:a="http://schemas.openxmlformats.org/drawingml/2006/main">
              <a:ext uri="{FF2B5EF4-FFF2-40B4-BE49-F238E27FC236}">
                <a16:creationId xmlns:a16="http://schemas.microsoft.com/office/drawing/2014/main" id="{3814709A-413D-47CD-BEBD-85F81F0A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S66</a:t>
            </a:r>
          </a:p>
        </p:txBody>
      </p:sp>
      <p:sp>
        <p:nvSpPr>
          <p:cNvPr id="3" name="개념 사례: Project와 Workflow는 현재 맞다">
            <a:extLst xmlns:a="http://schemas.openxmlformats.org/drawingml/2006/main">
              <a:ext uri="{FF2B5EF4-FFF2-40B4-BE49-F238E27FC236}">
                <a16:creationId xmlns:a16="http://schemas.microsoft.com/office/drawing/2014/main" id="{3108151B-BE31-45E5-BFA1-D3CAF3B99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개념 사례: Project와 Workflow는 현재 맞다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61678-46E3-4CF3-BC07-D3671DF1E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프로젝트 변화 전의 가상 설정">
            <a:extLst xmlns:a="http://schemas.openxmlformats.org/drawingml/2006/main">
              <a:ext uri="{FF2B5EF4-FFF2-40B4-BE49-F238E27FC236}">
                <a16:creationId xmlns:a16="http://schemas.microsoft.com/office/drawing/2014/main" id="{155DFD26-A835-479F-A96F-A01F0E2B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프로젝트 변화 전의 가상 설정</a:t>
            </a:r>
          </a:p>
        </p:txBody>
      </p:sp>
      <p:sp>
        <p:nvSpPr>
          <p:cNvPr id="6" name="실제 Repository 변경 이력, Agent 실행 또는 테스트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082FB159-F77F-4009-A886-BD6B218E1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Repository 변경 이력, Agent 실행 또는 테스트 결과가 아니다.</a:t>
            </a:r>
          </a:p>
        </p:txBody>
      </p:sp>
      <p:sp>
        <p:nvSpPr>
          <p:cNvPr id="7" name="처음에는 두 기준이 같았다">
            <a:extLst xmlns:a="http://schemas.openxmlformats.org/drawingml/2006/main">
              <a:ext uri="{FF2B5EF4-FFF2-40B4-BE49-F238E27FC236}">
                <a16:creationId xmlns:a16="http://schemas.microsoft.com/office/drawing/2014/main" id="{B819B6EA-B024-4182-89E2-AA21C8766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처음에는 두 기준이 같았다</a:t>
            </a:r>
          </a:p>
        </p:txBody>
      </p:sp>
      <p:sp>
        <p:nvSpPr>
          <p:cNvPr id="8" name="프로젝트의 검증 기준">
            <a:extLst xmlns:a="http://schemas.openxmlformats.org/drawingml/2006/main">
              <a:ext uri="{FF2B5EF4-FFF2-40B4-BE49-F238E27FC236}">
                <a16:creationId xmlns:a16="http://schemas.microsoft.com/office/drawing/2014/main" id="{A2AD279D-7476-4276-A922-EF8F83EC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프로젝트의 검증 기준</a:t>
            </a:r>
          </a:p>
        </p:txBody>
      </p:sp>
      <p:sp>
        <p:nvSpPr>
          <p:cNvPr id="9" name="재사용 Workflow의 지시">
            <a:extLst xmlns:a="http://schemas.openxmlformats.org/drawingml/2006/main">
              <a:ext uri="{FF2B5EF4-FFF2-40B4-BE49-F238E27FC236}">
                <a16:creationId xmlns:a16="http://schemas.microsoft.com/office/drawing/2014/main" id="{0037EC6F-ADA4-4095-BA7E-6266BD37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57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재사용 Workflow의 지시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A2DF7A1-F8A1-4677-AC15-0A6A97B7B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183E91-E553-4DBD-B6E4-5D3DB028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5052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F41A7D39-C196-41C2-87C2-E602BC73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3" name="단위 테스트">
            <a:extLst xmlns:a="http://schemas.openxmlformats.org/drawingml/2006/main">
              <a:ext uri="{FF2B5EF4-FFF2-40B4-BE49-F238E27FC236}">
                <a16:creationId xmlns:a16="http://schemas.microsoft.com/office/drawing/2014/main" id="{F32449D1-DD6D-4AAA-9E1C-B30A38576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57625"/>
            <a:ext cx="4876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1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</a:t>
            </a:r>
          </a:p>
        </p:txBody>
      </p:sp>
      <p:sp>
        <p:nvSpPr>
          <p:cNvPr id="14" name="=">
            <a:extLst xmlns:a="http://schemas.openxmlformats.org/drawingml/2006/main">
              <a:ext uri="{FF2B5EF4-FFF2-40B4-BE49-F238E27FC236}">
                <a16:creationId xmlns:a16="http://schemas.microsoft.com/office/drawing/2014/main" id="{210EBEC1-2EC2-48E2-9478-73DB0167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886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=</a:t>
            </a:r>
          </a:p>
        </p:txBody>
      </p:sp>
      <p:sp>
        <p:nvSpPr>
          <p:cNvPr id="15" name="현재 프로젝트에 맞춰 만들어 둔 절차">
            <a:extLst xmlns:a="http://schemas.openxmlformats.org/drawingml/2006/main">
              <a:ext uri="{FF2B5EF4-FFF2-40B4-BE49-F238E27FC236}">
                <a16:creationId xmlns:a16="http://schemas.microsoft.com/office/drawing/2014/main" id="{1B466C81-1B0A-4A86-928A-77AFD09F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프로젝트에 맞춰 만들어 둔 절차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1C2573D-D1C7-4DB7-8EAC-78F57A9D5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5638011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ACT 4  · 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813BBE1D-3F78-4398-822D-0CDE0C18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 ·  CONCEPTUAL / 가상 사례</a:t>
            </a:r>
          </a:p>
        </p:txBody>
      </p:sp>
      <p:sp>
        <p:nvSpPr>
          <p:cNvPr id="2" name="S67">
            <a:extLst xmlns:a="http://schemas.openxmlformats.org/drawingml/2006/main">
              <a:ext uri="{FF2B5EF4-FFF2-40B4-BE49-F238E27FC236}">
                <a16:creationId xmlns:a16="http://schemas.microsoft.com/office/drawing/2014/main" id="{CAF9CF72-905A-4BDF-8249-81285CCE1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S67</a:t>
            </a:r>
          </a:p>
        </p:txBody>
      </p:sp>
      <p:sp>
        <p:nvSpPr>
          <p:cNvPr id="3" name="Project는 바뀌고 Workflow는 남았다">
            <a:extLst xmlns:a="http://schemas.openxmlformats.org/drawingml/2006/main">
              <a:ext uri="{FF2B5EF4-FFF2-40B4-BE49-F238E27FC236}">
                <a16:creationId xmlns:a16="http://schemas.microsoft.com/office/drawing/2014/main" id="{6A548CE6-D7D7-47A9-A5C6-BD4F42A84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Project는 바뀌고 Workflow는 남았다</a:t>
            </a:r>
          </a:p>
        </p:txBody>
      </p:sp>
      <p:sp>
        <p:nvSpPr>
          <p:cNvPr id="4" name="가정: 모듈 연결 동작도 검증해야 하는 프로젝트가 됐다">
            <a:extLst xmlns:a="http://schemas.openxmlformats.org/drawingml/2006/main">
              <a:ext uri="{FF2B5EF4-FFF2-40B4-BE49-F238E27FC236}">
                <a16:creationId xmlns:a16="http://schemas.microsoft.com/office/drawing/2014/main" id="{4F453C00-E19D-45F7-858F-22F21941C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가정: 모듈 연결 동작도 검증해야 하는 프로젝트가 됐다</a:t>
            </a:r>
          </a:p>
        </p:txBody>
      </p:sp>
      <p:sp>
        <p:nvSpPr>
          <p:cNvPr id="5" name="현재 프로젝트의 기준">
            <a:extLst xmlns:a="http://schemas.openxmlformats.org/drawingml/2006/main">
              <a:ext uri="{FF2B5EF4-FFF2-40B4-BE49-F238E27FC236}">
                <a16:creationId xmlns:a16="http://schemas.microsoft.com/office/drawing/2014/main" id="{2D8F01EB-5C9F-4605-86F3-FB39CB47F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23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프로젝트의 기준</a:t>
            </a:r>
          </a:p>
        </p:txBody>
      </p:sp>
      <p:sp>
        <p:nvSpPr>
          <p:cNvPr id="6" name="재사용 Workflow에 남은 지시">
            <a:extLst xmlns:a="http://schemas.openxmlformats.org/drawingml/2006/main">
              <a:ext uri="{FF2B5EF4-FFF2-40B4-BE49-F238E27FC236}">
                <a16:creationId xmlns:a16="http://schemas.microsoft.com/office/drawing/2014/main" id="{886660F1-0F44-4557-9D6A-2C2230D4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764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재사용 Workflow에 남은 지시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18547-95E8-44EB-AE4B-C4F5E2D4C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19400"/>
            <a:ext cx="4953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29680FD-8337-4D74-BB0D-AA9950D4F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194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26AA02AA-9EC6-412E-95C1-398AFF96F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0" name="단위 테스트 · 각 모듈">
            <a:extLst xmlns:a="http://schemas.openxmlformats.org/drawingml/2006/main">
              <a:ext uri="{FF2B5EF4-FFF2-40B4-BE49-F238E27FC236}">
                <a16:creationId xmlns:a16="http://schemas.microsoft.com/office/drawing/2014/main" id="{64184760-BDE4-43AE-AEB5-64D16FCF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71800"/>
            <a:ext cx="4876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 · 각 모듈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79C839-1BE3-43DA-91AB-53694F86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49530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1B4331-8F02-4263-B6B8-EFEC7D443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3" name="모듈 A">
            <a:extLst xmlns:a="http://schemas.openxmlformats.org/drawingml/2006/main">
              <a:ext uri="{FF2B5EF4-FFF2-40B4-BE49-F238E27FC236}">
                <a16:creationId xmlns:a16="http://schemas.microsoft.com/office/drawing/2014/main" id="{5BFE86FE-7C1C-4B1D-832F-DC2FEFB2A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0E1A786-AFE8-4DDF-AD6F-CB8641DE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5" name="모듈 B">
            <a:extLst xmlns:a="http://schemas.openxmlformats.org/drawingml/2006/main">
              <a:ext uri="{FF2B5EF4-FFF2-40B4-BE49-F238E27FC236}">
                <a16:creationId xmlns:a16="http://schemas.microsoft.com/office/drawing/2014/main" id="{06050599-38C7-4359-B537-E16373A2E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156D5D-E7E1-4F9B-B905-19D9C09FB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3781425"/>
            <a:ext cx="6667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7" name="+ 통합 테스트 · 모듈 연결까지">
            <a:extLst xmlns:a="http://schemas.openxmlformats.org/drawingml/2006/main">
              <a:ext uri="{FF2B5EF4-FFF2-40B4-BE49-F238E27FC236}">
                <a16:creationId xmlns:a16="http://schemas.microsoft.com/office/drawing/2014/main" id="{51395B5E-5A9E-43CA-94BB-59D2DB05E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+ 통합 테스트 · 모듈 연결까지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3255BE-55A8-470F-9112-8AE46A5F5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19" name="모듈 A">
            <a:extLst xmlns:a="http://schemas.openxmlformats.org/drawingml/2006/main">
              <a:ext uri="{FF2B5EF4-FFF2-40B4-BE49-F238E27FC236}">
                <a16:creationId xmlns:a16="http://schemas.microsoft.com/office/drawing/2014/main" id="{65002DF5-42C7-4306-81FB-AF9A85EAE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5ECBFC7-5718-43CD-9E18-0C43D3268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21" name="모듈 B">
            <a:extLst xmlns:a="http://schemas.openxmlformats.org/drawingml/2006/main">
              <a:ext uri="{FF2B5EF4-FFF2-40B4-BE49-F238E27FC236}">
                <a16:creationId xmlns:a16="http://schemas.microsoft.com/office/drawing/2014/main" id="{4CE596D0-EAA6-4633-98F9-4ECA1FC4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3724275"/>
            <a:ext cx="15049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모듈 B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AE3D2A-4A16-4400-9849-AEAFB981D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3781425"/>
            <a:ext cx="6477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4D5A68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FD7A1B5-2ED8-4417-AA77-CC60731A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72000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4" name="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F4DF06C1-FE6A-4B31-A72F-FCFCA82CF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638675"/>
            <a:ext cx="44196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25" name="프로젝트의 기준이 바뀌었을 때, 재사용 지침도 함께 바뀌었을까?">
            <a:extLst xmlns:a="http://schemas.openxmlformats.org/drawingml/2006/main">
              <a:ext uri="{FF2B5EF4-FFF2-40B4-BE49-F238E27FC236}">
                <a16:creationId xmlns:a16="http://schemas.microsoft.com/office/drawing/2014/main" id="{4BEED1A4-45EC-4A01-A299-738EDEA3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92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프로젝트의 기준이 바뀌었을 때, 재사용 지침도 함께 바뀌었을까?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5F1313-D036-499C-9719-178625AB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27" name="DEMO-04A  |  가상 설정 · 실제 Repository 변경 이력이 아님">
            <a:extLst xmlns:a="http://schemas.openxmlformats.org/drawingml/2006/main">
              <a:ext uri="{FF2B5EF4-FFF2-40B4-BE49-F238E27FC236}">
                <a16:creationId xmlns:a16="http://schemas.microsoft.com/office/drawing/2014/main" id="{BE64B624-230F-4D25-BCC3-BBE341DF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 |  가상 설정 · 실제 Repository 변경 이력이 아님</a:t>
            </a:r>
          </a:p>
        </p:txBody>
      </p:sp>
      <p:sp>
        <p:nvSpPr>
          <p:cNvPr id="28" name="두 지침의 범위 비교 · Agent 실행, 테스트 누락 또는 PASS / FAIL 결과를 뜻하지 않음">
            <a:extLst xmlns:a="http://schemas.openxmlformats.org/drawingml/2006/main">
              <a:ext uri="{FF2B5EF4-FFF2-40B4-BE49-F238E27FC236}">
                <a16:creationId xmlns:a16="http://schemas.microsoft.com/office/drawing/2014/main" id="{7783FE5D-DB6E-4F79-ABF9-37E75AAA8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두 지침의 범위 비교 · Agent 실행, 테스트 누락 또는 PASS / FAIL 결과를 뜻하지 않음</a:t>
            </a:r>
          </a:p>
        </p:txBody>
      </p:sp>
      <p:sp>
        <p:nvSpPr>
          <p:cNvPr id="2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0C1E785C-E766-4CA5-A095-DCCFC3AB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3602601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ACT 4 · CONCEPTUAL / 가상 사례">
            <a:extLst xmlns:a="http://schemas.openxmlformats.org/drawingml/2006/main">
              <a:ext uri="{FF2B5EF4-FFF2-40B4-BE49-F238E27FC236}">
                <a16:creationId xmlns:a16="http://schemas.microsoft.com/office/drawing/2014/main" id="{9BCBBA9B-44D0-457F-9EEC-CA254286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가상 사례</a:t>
            </a:r>
          </a:p>
        </p:txBody>
      </p:sp>
      <p:sp>
        <p:nvSpPr>
          <p:cNvPr id="2" name="S68">
            <a:extLst xmlns:a="http://schemas.openxmlformats.org/drawingml/2006/main">
              <a:ext uri="{FF2B5EF4-FFF2-40B4-BE49-F238E27FC236}">
                <a16:creationId xmlns:a16="http://schemas.microsoft.com/office/drawing/2014/main" id="{C41B165B-69C3-4FDF-951B-89B5444F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S68</a:t>
            </a:r>
          </a:p>
        </p:txBody>
      </p:sp>
      <p:sp>
        <p:nvSpPr>
          <p:cNvPr id="3" name="Task 해결과 System 문제는 다르다">
            <a:extLst xmlns:a="http://schemas.openxmlformats.org/drawingml/2006/main">
              <a:ext uri="{FF2B5EF4-FFF2-40B4-BE49-F238E27FC236}">
                <a16:creationId xmlns:a16="http://schemas.microsoft.com/office/drawing/2014/main" id="{59ACA701-5108-436F-BA9A-DB1086C70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해결과 System 문제는 다르다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1645C1-686C-4AB8-9959-60368361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이번 요청과 재사용 지침의 범위 비교">
            <a:extLst xmlns:a="http://schemas.openxmlformats.org/drawingml/2006/main">
              <a:ext uri="{FF2B5EF4-FFF2-40B4-BE49-F238E27FC236}">
                <a16:creationId xmlns:a16="http://schemas.microsoft.com/office/drawing/2014/main" id="{6D722743-D19B-409F-8061-9FF7B1548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이번 요청과 재사용 지침의 범위 비교</a:t>
            </a:r>
          </a:p>
        </p:txBody>
      </p:sp>
      <p:sp>
        <p:nvSpPr>
          <p:cNvPr id="6" name="아래는 가능한 대응이다. 실제 실행·복구 성공·검증 누락을 관찰한 결과가 아니다.">
            <a:extLst xmlns:a="http://schemas.openxmlformats.org/drawingml/2006/main">
              <a:ext uri="{FF2B5EF4-FFF2-40B4-BE49-F238E27FC236}">
                <a16:creationId xmlns:a16="http://schemas.microsoft.com/office/drawing/2014/main" id="{7CAEBA0B-4956-403D-9AE9-C6449CF67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아래는 가능한 대응이다. 실제 실행·복구 성공·검증 누락을 관찰한 결과가 아니다.</a:t>
            </a:r>
          </a:p>
        </p:txBody>
      </p:sp>
      <p:sp>
        <p:nvSpPr>
          <p:cNvPr id="7" name="이번 요청에 “통합 테스트도 확인해 줘”를 더한다면?">
            <a:extLst xmlns:a="http://schemas.openxmlformats.org/drawingml/2006/main">
              <a:ext uri="{FF2B5EF4-FFF2-40B4-BE49-F238E27FC236}">
                <a16:creationId xmlns:a16="http://schemas.microsoft.com/office/drawing/2014/main" id="{4016D15A-572C-4B51-AB9A-722706D3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33600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요청에 “통합 테스트도 확인해 줘”를 더한다면?</a:t>
            </a:r>
          </a:p>
        </p:txBody>
      </p:sp>
      <p:sp>
        <p:nvSpPr>
          <p:cNvPr id="8" name="이번 Task">
            <a:extLst xmlns:a="http://schemas.openxmlformats.org/drawingml/2006/main">
              <a:ext uri="{FF2B5EF4-FFF2-40B4-BE49-F238E27FC236}">
                <a16:creationId xmlns:a16="http://schemas.microsoft.com/office/drawing/2014/main" id="{5CF0A6B6-CFFE-416F-95F5-2AEC0547A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Task</a:t>
            </a:r>
          </a:p>
        </p:txBody>
      </p:sp>
      <p:sp>
        <p:nvSpPr>
          <p:cNvPr id="9" name="다음 Task가 읽을 Workflow">
            <a:extLst xmlns:a="http://schemas.openxmlformats.org/drawingml/2006/main">
              <a:ext uri="{FF2B5EF4-FFF2-40B4-BE49-F238E27FC236}">
                <a16:creationId xmlns:a16="http://schemas.microsoft.com/office/drawing/2014/main" id="{20EEA1FA-8222-4CCB-9AEB-61129E073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다음 Task가 읽을 Workflow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B5FA1-129B-49F5-A240-93CC5841F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715E3-6519-418A-835D-460486E59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19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단위 + 통합 테스트를&#10;확인하도록 요청 가능">
            <a:extLst xmlns:a="http://schemas.openxmlformats.org/drawingml/2006/main">
              <a:ext uri="{FF2B5EF4-FFF2-40B4-BE49-F238E27FC236}">
                <a16:creationId xmlns:a16="http://schemas.microsoft.com/office/drawing/2014/main" id="{4511B765-6970-4B7B-8374-F174E6086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테스트를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확인하도록 요청 가능</a:t>
            </a:r>
          </a:p>
        </p:txBody>
      </p:sp>
      <p:sp>
        <p:nvSpPr>
          <p:cNvPr id="13" name="여전히&#10;단위 테스트만 지시">
            <a:extLst xmlns:a="http://schemas.openxmlformats.org/drawingml/2006/main">
              <a:ext uri="{FF2B5EF4-FFF2-40B4-BE49-F238E27FC236}">
                <a16:creationId xmlns:a16="http://schemas.microsoft.com/office/drawing/2014/main" id="{890F8E63-B82B-40AE-8D20-5427D1FD9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10000"/>
            <a:ext cx="4876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여전히</a:t>
            </a:r>
          </a:p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테스트만 지시</a:t>
            </a:r>
          </a:p>
        </p:txBody>
      </p:sp>
      <p:sp>
        <p:nvSpPr>
          <p:cNvPr id="14" name="이번 답을 보정해도, 재사용 절차는 그대로일 수 있다.">
            <a:extLst xmlns:a="http://schemas.openxmlformats.org/drawingml/2006/main">
              <a:ext uri="{FF2B5EF4-FFF2-40B4-BE49-F238E27FC236}">
                <a16:creationId xmlns:a16="http://schemas.microsoft.com/office/drawing/2014/main" id="{F569D0EE-ACBD-4E6D-B0CC-6ED5D1D6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답을 보정해도, 재사용 절차는 그대로일 수 있다.</a:t>
            </a:r>
          </a:p>
        </p:txBody>
      </p:sp>
      <p:sp>
        <p:nvSpPr>
          <p:cNvPr id="15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74AD7A1-DE03-43CF-B6D5-52E7D677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152578453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대응 범위 비교">
            <a:extLst xmlns:a="http://schemas.openxmlformats.org/drawingml/2006/main">
              <a:ext uri="{FF2B5EF4-FFF2-40B4-BE49-F238E27FC236}">
                <a16:creationId xmlns:a16="http://schemas.microsoft.com/office/drawing/2014/main" id="{5616F15E-4B7A-4EC3-8B3F-A3BCE06DD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대응 범위 비교</a:t>
            </a:r>
          </a:p>
        </p:txBody>
      </p:sp>
      <p:sp>
        <p:nvSpPr>
          <p:cNvPr id="2" name="S69">
            <a:extLst xmlns:a="http://schemas.openxmlformats.org/drawingml/2006/main">
              <a:ext uri="{FF2B5EF4-FFF2-40B4-BE49-F238E27FC236}">
                <a16:creationId xmlns:a16="http://schemas.microsoft.com/office/drawing/2014/main" id="{EFEDFBE9-EA6F-4B7C-BF82-29EA5DCC2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S69</a:t>
            </a:r>
          </a:p>
        </p:txBody>
      </p:sp>
      <p:sp>
        <p:nvSpPr>
          <p:cNvPr id="3" name="원인에 맞는 Layer를 고르기">
            <a:extLst xmlns:a="http://schemas.openxmlformats.org/drawingml/2006/main">
              <a:ext uri="{FF2B5EF4-FFF2-40B4-BE49-F238E27FC236}">
                <a16:creationId xmlns:a16="http://schemas.microsoft.com/office/drawing/2014/main" id="{87E24991-C9AC-4237-A458-B42DFC44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원인에 맞는 Layer를 고르기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33C81B-B200-4A72-8524-C4C213003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DEMO-11 · 가상 사례의 선택지">
            <a:extLst xmlns:a="http://schemas.openxmlformats.org/drawingml/2006/main">
              <a:ext uri="{FF2B5EF4-FFF2-40B4-BE49-F238E27FC236}">
                <a16:creationId xmlns:a16="http://schemas.microsoft.com/office/drawing/2014/main" id="{E8EEE8FB-24F4-4DCA-A68F-C76BCE9E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DEMO-11 · 가상 사례의 선택지</a:t>
            </a:r>
          </a:p>
        </p:txBody>
      </p:sp>
      <p:sp>
        <p:nvSpPr>
          <p:cNvPr id="6" name="Workflow가 원인으로 확인된 경우의 판단이며, 모든 문제의 정답은 아니다.">
            <a:extLst xmlns:a="http://schemas.openxmlformats.org/drawingml/2006/main">
              <a:ext uri="{FF2B5EF4-FFF2-40B4-BE49-F238E27FC236}">
                <a16:creationId xmlns:a16="http://schemas.microsoft.com/office/drawing/2014/main" id="{5D924371-0186-4CE7-8BA9-F5925160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Workflow가 원인으로 확인된 경우의 판단이며, 모든 문제의 정답은 아니다.</a:t>
            </a:r>
          </a:p>
        </p:txBody>
      </p:sp>
      <p:sp>
        <p:nvSpPr>
          <p:cNvPr id="7" name="무엇을 바꾸면 다음 작업에도 반영될까?">
            <a:extLst xmlns:a="http://schemas.openxmlformats.org/drawingml/2006/main">
              <a:ext uri="{FF2B5EF4-FFF2-40B4-BE49-F238E27FC236}">
                <a16:creationId xmlns:a16="http://schemas.microsoft.com/office/drawing/2014/main" id="{01846194-4C2F-4DE6-B961-01161E86E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바꾸면 다음 작업에도 반영될까?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2BA410-22C4-465F-A525-F68B344E3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이번 Prompt 보정">
            <a:extLst xmlns:a="http://schemas.openxmlformats.org/drawingml/2006/main">
              <a:ext uri="{FF2B5EF4-FFF2-40B4-BE49-F238E27FC236}">
                <a16:creationId xmlns:a16="http://schemas.microsoft.com/office/drawing/2014/main" id="{C757247E-81F7-4358-9738-FC09BBD7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Prompt 보정</a:t>
            </a:r>
          </a:p>
        </p:txBody>
      </p:sp>
      <p:sp>
        <p:nvSpPr>
          <p:cNvPr id="10" name="현재 Task의 요청 범위를 넓힌다">
            <a:extLst xmlns:a="http://schemas.openxmlformats.org/drawingml/2006/main">
              <a:ext uri="{FF2B5EF4-FFF2-40B4-BE49-F238E27FC236}">
                <a16:creationId xmlns:a16="http://schemas.microsoft.com/office/drawing/2014/main" id="{30926ACE-E201-4904-BED7-281210FBB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0670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Task의 요청 범위를 넓힌다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A2D985-619B-4B52-B7AB-3546052D8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전역 규칙 추가">
            <a:extLst xmlns:a="http://schemas.openxmlformats.org/drawingml/2006/main">
              <a:ext uri="{FF2B5EF4-FFF2-40B4-BE49-F238E27FC236}">
                <a16:creationId xmlns:a16="http://schemas.microsoft.com/office/drawing/2014/main" id="{9B567DF0-E7B7-46BD-873C-4EA8478F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전역 규칙 추가</a:t>
            </a:r>
          </a:p>
        </p:txBody>
      </p:sp>
      <p:sp>
        <p:nvSpPr>
          <p:cNvPr id="13" name="다른 지침과 중복·충돌할 수 있다">
            <a:extLst xmlns:a="http://schemas.openxmlformats.org/drawingml/2006/main">
              <a:ext uri="{FF2B5EF4-FFF2-40B4-BE49-F238E27FC236}">
                <a16:creationId xmlns:a16="http://schemas.microsoft.com/office/drawing/2014/main" id="{101A47CC-D202-4CBF-8B8F-2FAC38691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84810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지침과 중복·충돌할 수 있다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3C5679-CE6A-46B0-9AC2-6E4EAE2B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원인인 Workflow 갱신">
            <a:extLst xmlns:a="http://schemas.openxmlformats.org/drawingml/2006/main">
              <a:ext uri="{FF2B5EF4-FFF2-40B4-BE49-F238E27FC236}">
                <a16:creationId xmlns:a16="http://schemas.microsoft.com/office/drawing/2014/main" id="{7C3D204A-C6F1-42F3-A09D-9A8B0EB2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29150"/>
            <a:ext cx="3200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원인인 Workflow 갱신</a:t>
            </a:r>
          </a:p>
        </p:txBody>
      </p:sp>
      <p:sp>
        <p:nvSpPr>
          <p:cNvPr id="16" name="다음 Task가 재사용할 절차를 바꾼다">
            <a:extLst xmlns:a="http://schemas.openxmlformats.org/drawingml/2006/main">
              <a:ext uri="{FF2B5EF4-FFF2-40B4-BE49-F238E27FC236}">
                <a16:creationId xmlns:a16="http://schemas.microsoft.com/office/drawing/2014/main" id="{59457579-22E3-4567-9711-22AF87790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29150"/>
            <a:ext cx="7543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Task가 재사용할 절차를 바꾼다</a:t>
            </a:r>
          </a:p>
        </p:txBody>
      </p:sp>
      <p:sp>
        <p:nvSpPr>
          <p:cNvPr id="17" name="선택 기준: 원인이 있는 곳과 변경할 곳이 맞는가?">
            <a:extLst xmlns:a="http://schemas.openxmlformats.org/drawingml/2006/main">
              <a:ext uri="{FF2B5EF4-FFF2-40B4-BE49-F238E27FC236}">
                <a16:creationId xmlns:a16="http://schemas.microsoft.com/office/drawing/2014/main" id="{6058E3D8-E4C5-4FC2-80B3-8A9732D3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972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선택 기준: 원인이 있는 곳과 변경할 곳이 맞는가?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2E8E7970-665D-4945-98BB-A3B0C950C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4471346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CONCEPTUAL / 원인 후보">
            <a:extLst xmlns:a="http://schemas.openxmlformats.org/drawingml/2006/main">
              <a:ext uri="{FF2B5EF4-FFF2-40B4-BE49-F238E27FC236}">
                <a16:creationId xmlns:a16="http://schemas.microsoft.com/office/drawing/2014/main" id="{262BD7DE-DCD4-4F5B-9C2E-B93C8754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 후보</a:t>
            </a:r>
          </a:p>
        </p:txBody>
      </p:sp>
      <p:sp>
        <p:nvSpPr>
          <p:cNvPr id="2" name="S70">
            <a:extLst xmlns:a="http://schemas.openxmlformats.org/drawingml/2006/main">
              <a:ext uri="{FF2B5EF4-FFF2-40B4-BE49-F238E27FC236}">
                <a16:creationId xmlns:a16="http://schemas.microsoft.com/office/drawing/2014/main" id="{5A7B0607-A4F0-4793-B1B6-7C74C9C1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S70</a:t>
            </a:r>
          </a:p>
        </p:txBody>
      </p:sp>
      <p:sp>
        <p:nvSpPr>
          <p:cNvPr id="3" name="실패 지점과 원인 Layer 구분하기">
            <a:extLst xmlns:a="http://schemas.openxmlformats.org/drawingml/2006/main">
              <a:ext uri="{FF2B5EF4-FFF2-40B4-BE49-F238E27FC236}">
                <a16:creationId xmlns:a16="http://schemas.microsoft.com/office/drawing/2014/main" id="{4D83C55E-ACFE-427B-8697-5E56FC431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 지점과 원인 Layer 구분하기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FE4132-73B6-4A9B-BED3-2BD37C6FB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1 · 원인을 찾기 위한 교육용 관점">
            <a:extLst xmlns:a="http://schemas.openxmlformats.org/drawingml/2006/main">
              <a:ext uri="{FF2B5EF4-FFF2-40B4-BE49-F238E27FC236}">
                <a16:creationId xmlns:a16="http://schemas.microsoft.com/office/drawing/2014/main" id="{6C5AAFB8-FB2B-415C-BE63-1155367EF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DEMO-11 · 원인을 찾기 위한 교육용 관점</a:t>
            </a:r>
          </a:p>
        </p:txBody>
      </p:sp>
      <p:sp>
        <p:nvSpPr>
          <p:cNvPr id="6" name="가능한 원인 후보이며, 증상만으로 한 원인을 확정하지 않는다.">
            <a:extLst xmlns:a="http://schemas.openxmlformats.org/drawingml/2006/main">
              <a:ext uri="{FF2B5EF4-FFF2-40B4-BE49-F238E27FC236}">
                <a16:creationId xmlns:a16="http://schemas.microsoft.com/office/drawing/2014/main" id="{7F8D7979-F09E-44E0-925B-8F71C2D4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가능한 원인 후보이며, 증상만으로 한 원인을 확정하지 않는다.</a:t>
            </a:r>
          </a:p>
        </p:txBody>
      </p:sp>
      <p:sp>
        <p:nvSpPr>
          <p:cNvPr id="7" name="“요청한 검증이 충분한가?”">
            <a:extLst xmlns:a="http://schemas.openxmlformats.org/drawingml/2006/main">
              <a:ext uri="{FF2B5EF4-FFF2-40B4-BE49-F238E27FC236}">
                <a16:creationId xmlns:a16="http://schemas.microsoft.com/office/drawing/2014/main" id="{71C6CC36-8CD3-47F9-A76A-2C56838E9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66950"/>
            <a:ext cx="5334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“요청한 검증이 충분한가?”</a:t>
            </a:r>
          </a:p>
        </p:txBody>
      </p:sp>
      <p:sp>
        <p:nvSpPr>
          <p:cNvPr id="8" name="증상에서 바로 결론으로 가지 않는다">
            <a:extLst xmlns:a="http://schemas.openxmlformats.org/drawingml/2006/main">
              <a:ext uri="{FF2B5EF4-FFF2-40B4-BE49-F238E27FC236}">
                <a16:creationId xmlns:a16="http://schemas.microsoft.com/office/drawing/2014/main" id="{29172554-DF6A-404B-9578-643F596FE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5334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증상에서 바로 결론으로 가지 않는다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C566E8-696B-4331-A9C2-8BAF255BC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669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0" name="Context">
            <a:extLst xmlns:a="http://schemas.openxmlformats.org/drawingml/2006/main">
              <a:ext uri="{FF2B5EF4-FFF2-40B4-BE49-F238E27FC236}">
                <a16:creationId xmlns:a16="http://schemas.microsoft.com/office/drawing/2014/main" id="{FDA28B6E-270E-412B-9701-E32947AA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3622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1" name="현재 기준이 맞는가?">
            <a:extLst xmlns:a="http://schemas.openxmlformats.org/drawingml/2006/main">
              <a:ext uri="{FF2B5EF4-FFF2-40B4-BE49-F238E27FC236}">
                <a16:creationId xmlns:a16="http://schemas.microsoft.com/office/drawing/2014/main" id="{C34DD2B2-1215-4E5E-AD82-0BB0F66F0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3622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기준이 맞는가?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136F0FF-FFF2-441B-9E48-AAAEFDB4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480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3" name="Workflow">
            <a:extLst xmlns:a="http://schemas.openxmlformats.org/drawingml/2006/main">
              <a:ext uri="{FF2B5EF4-FFF2-40B4-BE49-F238E27FC236}">
                <a16:creationId xmlns:a16="http://schemas.microsoft.com/office/drawing/2014/main" id="{47443CED-071C-4A16-8950-A1FBE7893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432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4" name="어떤 절차를 지시하는가?">
            <a:extLst xmlns:a="http://schemas.openxmlformats.org/drawingml/2006/main">
              <a:ext uri="{FF2B5EF4-FFF2-40B4-BE49-F238E27FC236}">
                <a16:creationId xmlns:a16="http://schemas.microsoft.com/office/drawing/2014/main" id="{46654C97-C380-4F16-98DE-1CD19CB0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1432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절차를 지시하는가?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80F456-BADA-4AD8-9E7C-1CA26EDE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829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6" name="환경 · 권한">
            <a:extLst xmlns:a="http://schemas.openxmlformats.org/drawingml/2006/main">
              <a:ext uri="{FF2B5EF4-FFF2-40B4-BE49-F238E27FC236}">
                <a16:creationId xmlns:a16="http://schemas.microsoft.com/office/drawing/2014/main" id="{3454D3D3-FCB1-4260-AF53-028A422C7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2430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환경 · 권한</a:t>
            </a:r>
          </a:p>
        </p:txBody>
      </p:sp>
      <p:sp>
        <p:nvSpPr>
          <p:cNvPr id="17" name="실행 조건이 맞는가?">
            <a:extLst xmlns:a="http://schemas.openxmlformats.org/drawingml/2006/main">
              <a:ext uri="{FF2B5EF4-FFF2-40B4-BE49-F238E27FC236}">
                <a16:creationId xmlns:a16="http://schemas.microsoft.com/office/drawing/2014/main" id="{7B39F2D7-FD58-4CD3-861E-481317A64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392430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 조건이 맞는가?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11D222-5045-4948-820B-70217E9B7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6101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9" name="제품 코드">
            <a:extLst xmlns:a="http://schemas.openxmlformats.org/drawingml/2006/main">
              <a:ext uri="{FF2B5EF4-FFF2-40B4-BE49-F238E27FC236}">
                <a16:creationId xmlns:a16="http://schemas.microsoft.com/office/drawing/2014/main" id="{4BACF7AE-CD99-4835-B728-3E3AEE326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05350"/>
            <a:ext cx="1714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제품 코드</a:t>
            </a:r>
          </a:p>
        </p:txBody>
      </p:sp>
      <p:sp>
        <p:nvSpPr>
          <p:cNvPr id="20" name="동작 자체의 문제인가?">
            <a:extLst xmlns:a="http://schemas.openxmlformats.org/drawingml/2006/main">
              <a:ext uri="{FF2B5EF4-FFF2-40B4-BE49-F238E27FC236}">
                <a16:creationId xmlns:a16="http://schemas.microsoft.com/office/drawing/2014/main" id="{3D2B912F-2454-41F0-952A-5E22A5AF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705350"/>
            <a:ext cx="2971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자체의 문제인가?</a:t>
            </a:r>
          </a:p>
        </p:txBody>
      </p:sp>
      <p:sp>
        <p:nvSpPr>
          <p:cNvPr id="21" name="확인할 기록부터 찾는다">
            <a:extLst xmlns:a="http://schemas.openxmlformats.org/drawingml/2006/main">
              <a:ext uri="{FF2B5EF4-FFF2-40B4-BE49-F238E27FC236}">
                <a16:creationId xmlns:a16="http://schemas.microsoft.com/office/drawing/2014/main" id="{00CEEFC0-1D2B-4AF2-80D0-E1C790652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238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기록부터 찾는다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E938A407-E032-412B-AABF-925C13376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3350568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가정과 추론">
            <a:extLst xmlns:a="http://schemas.openxmlformats.org/drawingml/2006/main">
              <a:ext uri="{FF2B5EF4-FFF2-40B4-BE49-F238E27FC236}">
                <a16:creationId xmlns:a16="http://schemas.microsoft.com/office/drawing/2014/main" id="{37C8104B-BA47-4916-911A-D60EB764C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가정과 추론</a:t>
            </a:r>
          </a:p>
        </p:txBody>
      </p:sp>
      <p:sp>
        <p:nvSpPr>
          <p:cNvPr id="2" name="S71">
            <a:extLst xmlns:a="http://schemas.openxmlformats.org/drawingml/2006/main">
              <a:ext uri="{FF2B5EF4-FFF2-40B4-BE49-F238E27FC236}">
                <a16:creationId xmlns:a16="http://schemas.microsoft.com/office/drawing/2014/main" id="{699F4A9B-58C5-4D55-B73F-D1B5770C0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S71</a:t>
            </a:r>
          </a:p>
        </p:txBody>
      </p:sp>
      <p:sp>
        <p:nvSpPr>
          <p:cNvPr id="3" name="먼저 관찰하고, 그다음 가설을 세운다">
            <a:extLst xmlns:a="http://schemas.openxmlformats.org/drawingml/2006/main">
              <a:ext uri="{FF2B5EF4-FFF2-40B4-BE49-F238E27FC236}">
                <a16:creationId xmlns:a16="http://schemas.microsoft.com/office/drawing/2014/main" id="{0232EAC1-E7A3-4013-B235-307A7497F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먼저 관찰하고, 그다음 가설을 세운다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F16BFE-4F44-4693-BDD5-EED026D7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구성된 사례의 전제와 원인 가설">
            <a:extLst xmlns:a="http://schemas.openxmlformats.org/drawingml/2006/main">
              <a:ext uri="{FF2B5EF4-FFF2-40B4-BE49-F238E27FC236}">
                <a16:creationId xmlns:a16="http://schemas.microsoft.com/office/drawing/2014/main" id="{C2582AF0-3346-469A-8E71-736E7E64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구성된 사례의 전제와 원인 가설</a:t>
            </a:r>
          </a:p>
        </p:txBody>
      </p:sp>
      <p:sp>
        <p:nvSpPr>
          <p:cNvPr id="6" name="가상 설정을 실제 Trial 관찰로 표현하지 않는다. 실행 결과는 아직 없다.">
            <a:extLst xmlns:a="http://schemas.openxmlformats.org/drawingml/2006/main">
              <a:ext uri="{FF2B5EF4-FFF2-40B4-BE49-F238E27FC236}">
                <a16:creationId xmlns:a16="http://schemas.microsoft.com/office/drawing/2014/main" id="{29F56B9A-6DBA-494A-8B4F-EF80BAF5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가상 설정을 실제 Trial 관찰로 표현하지 않는다. 실행 결과는 아직 없다.</a:t>
            </a:r>
          </a:p>
        </p:txBody>
      </p:sp>
      <p:sp>
        <p:nvSpPr>
          <p:cNvPr id="7" name="사례에 주어진 정보">
            <a:extLst xmlns:a="http://schemas.openxmlformats.org/drawingml/2006/main">
              <a:ext uri="{FF2B5EF4-FFF2-40B4-BE49-F238E27FC236}">
                <a16:creationId xmlns:a16="http://schemas.microsoft.com/office/drawing/2014/main" id="{265D418F-9ED4-4006-B693-2336FF1C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28850"/>
            <a:ext cx="495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사례에 주어진 정보</a:t>
            </a:r>
          </a:p>
        </p:txBody>
      </p:sp>
      <p:sp>
        <p:nvSpPr>
          <p:cNvPr id="8" name="확인해야 할 가설">
            <a:extLst xmlns:a="http://schemas.openxmlformats.org/drawingml/2006/main">
              <a:ext uri="{FF2B5EF4-FFF2-40B4-BE49-F238E27FC236}">
                <a16:creationId xmlns:a16="http://schemas.microsoft.com/office/drawing/2014/main" id="{AA7CEC83-35AA-4B07-9BCC-4F6345DE1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28850"/>
            <a:ext cx="4876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확인해야 할 가설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8A7666-3136-48DF-9C91-EC0CD8BA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36A11D-E90D-46B9-8096-1EEA022BE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5750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현재 기준: 단위 + 통합&#10;재사용 지침: 단위만">
            <a:extLst xmlns:a="http://schemas.openxmlformats.org/drawingml/2006/main">
              <a:ext uri="{FF2B5EF4-FFF2-40B4-BE49-F238E27FC236}">
                <a16:creationId xmlns:a16="http://schemas.microsoft.com/office/drawing/2014/main" id="{88094FAA-1ABD-4C02-8C6C-F57CE315A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기준: 단위 + 통합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지침: 단위만</a:t>
            </a:r>
          </a:p>
        </p:txBody>
      </p:sp>
      <p:sp>
        <p:nvSpPr>
          <p:cNvPr id="12" name="오래된 Workflow가&#10;문제의 원인일 수 있다">
            <a:extLst xmlns:a="http://schemas.openxmlformats.org/drawingml/2006/main">
              <a:ext uri="{FF2B5EF4-FFF2-40B4-BE49-F238E27FC236}">
                <a16:creationId xmlns:a16="http://schemas.microsoft.com/office/drawing/2014/main" id="{F20DFC23-7EDA-438B-9FE6-12438CC7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14675"/>
            <a:ext cx="48768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Workflow가</a:t>
            </a:r>
          </a:p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문제의 원인일 수 있다</a:t>
            </a:r>
          </a:p>
        </p:txBody>
      </p:sp>
      <p:sp>
        <p:nvSpPr>
          <p:cNvPr id="13" name="실행 경로와 실제로 읽은 지침을 대조해야 원인을 판단할 수 있다.">
            <a:extLst xmlns:a="http://schemas.openxmlformats.org/drawingml/2006/main">
              <a:ext uri="{FF2B5EF4-FFF2-40B4-BE49-F238E27FC236}">
                <a16:creationId xmlns:a16="http://schemas.microsoft.com/office/drawing/2014/main" id="{070223B7-B29E-45B8-B352-3BB0622B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149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실행 경로와 실제로 읽은 지침을 대조해야 원인을 판단할 수 있다.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BCBB0E6-6490-487A-B2DD-D5E1140E6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09921140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4 · CONCEPTUAL / 원인에 맞는 수정">
            <a:extLst xmlns:a="http://schemas.openxmlformats.org/drawingml/2006/main">
              <a:ext uri="{FF2B5EF4-FFF2-40B4-BE49-F238E27FC236}">
                <a16:creationId xmlns:a16="http://schemas.microsoft.com/office/drawing/2014/main" id="{02ACA6A4-BF03-4525-9E08-D05BBAD66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원인에 맞는 수정</a:t>
            </a:r>
          </a:p>
        </p:txBody>
      </p:sp>
      <p:sp>
        <p:nvSpPr>
          <p:cNvPr id="2" name="S72">
            <a:extLst xmlns:a="http://schemas.openxmlformats.org/drawingml/2006/main">
              <a:ext uri="{FF2B5EF4-FFF2-40B4-BE49-F238E27FC236}">
                <a16:creationId xmlns:a16="http://schemas.microsoft.com/office/drawing/2014/main" id="{5ECC5D38-2609-4FC7-B756-008DC686F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S72</a:t>
            </a:r>
          </a:p>
        </p:txBody>
      </p:sp>
      <p:sp>
        <p:nvSpPr>
          <p:cNvPr id="3" name="Cause가 지지하는 최소 변경">
            <a:extLst xmlns:a="http://schemas.openxmlformats.org/drawingml/2006/main">
              <a:ext uri="{FF2B5EF4-FFF2-40B4-BE49-F238E27FC236}">
                <a16:creationId xmlns:a16="http://schemas.microsoft.com/office/drawing/2014/main" id="{3ACBA823-9733-4F2A-8EB5-2F6CBF973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Cause가 지지하는 최소 변경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13D1E9-E9D3-4CF6-9F20-A49066E61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원인이 확인됐다고 가정한 변경 설계">
            <a:extLst xmlns:a="http://schemas.openxmlformats.org/drawingml/2006/main">
              <a:ext uri="{FF2B5EF4-FFF2-40B4-BE49-F238E27FC236}">
                <a16:creationId xmlns:a16="http://schemas.microsoft.com/office/drawing/2014/main" id="{00BEAA7B-36CE-4459-8148-BFEEBEC88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원인이 확인됐다고 가정한 변경 설계</a:t>
            </a:r>
          </a:p>
        </p:txBody>
      </p:sp>
      <p:sp>
        <p:nvSpPr>
          <p:cNvPr id="6" name="실제 코드·Skill 수정 또는 실행 결과가 아니다. 관련 없는 규칙은 임의로 바꾸지 않는다.">
            <a:extLst xmlns:a="http://schemas.openxmlformats.org/drawingml/2006/main">
              <a:ext uri="{FF2B5EF4-FFF2-40B4-BE49-F238E27FC236}">
                <a16:creationId xmlns:a16="http://schemas.microsoft.com/office/drawing/2014/main" id="{CF0DAC3F-E141-4B5C-9848-065038913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코드·Skill 수정 또는 실행 결과가 아니다. 관련 없는 규칙은 임의로 바꾸지 않는다.</a:t>
            </a:r>
          </a:p>
        </p:txBody>
      </p:sp>
      <p:sp>
        <p:nvSpPr>
          <p:cNvPr id="7" name="Workflow가 원인으로 확인됐다면">
            <a:extLst xmlns:a="http://schemas.openxmlformats.org/drawingml/2006/main">
              <a:ext uri="{FF2B5EF4-FFF2-40B4-BE49-F238E27FC236}">
                <a16:creationId xmlns:a16="http://schemas.microsoft.com/office/drawing/2014/main" id="{F80971A6-BAAC-4733-942B-5094E896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Workflow가 원인으로 확인됐다면</a:t>
            </a:r>
          </a:p>
        </p:txBody>
      </p:sp>
      <p:sp>
        <p:nvSpPr>
          <p:cNvPr id="8" name="기존 재사용 지침">
            <a:extLst xmlns:a="http://schemas.openxmlformats.org/drawingml/2006/main">
              <a:ext uri="{FF2B5EF4-FFF2-40B4-BE49-F238E27FC236}">
                <a16:creationId xmlns:a16="http://schemas.microsoft.com/office/drawing/2014/main" id="{1EC41F49-EDAD-4E92-8E32-1CA4A1C07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476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재사용 지침</a:t>
            </a:r>
          </a:p>
        </p:txBody>
      </p:sp>
      <p:sp>
        <p:nvSpPr>
          <p:cNvPr id="9" name="갱신할 지침">
            <a:extLst xmlns:a="http://schemas.openxmlformats.org/drawingml/2006/main">
              <a:ext uri="{FF2B5EF4-FFF2-40B4-BE49-F238E27FC236}">
                <a16:creationId xmlns:a16="http://schemas.microsoft.com/office/drawing/2014/main" id="{CCBC25B1-B6A9-4A9D-8C9D-5EA1D9313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갱신할 지침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C43D46-D68E-4950-BAFD-290C24B39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34D89C-8911-48AB-8D34-276675BC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0997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단위 테스트를 확인">
            <a:extLst xmlns:a="http://schemas.openxmlformats.org/drawingml/2006/main">
              <a:ext uri="{FF2B5EF4-FFF2-40B4-BE49-F238E27FC236}">
                <a16:creationId xmlns:a16="http://schemas.microsoft.com/office/drawing/2014/main" id="{4724F840-7BCF-4811-A513-7E3FE642E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테스트를 확인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F4875E-55D7-4EB0-B954-FBA6358C0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4010025"/>
            <a:ext cx="609600" cy="2476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단위 + 통합 테스트 확인">
            <a:extLst xmlns:a="http://schemas.openxmlformats.org/drawingml/2006/main">
              <a:ext uri="{FF2B5EF4-FFF2-40B4-BE49-F238E27FC236}">
                <a16:creationId xmlns:a16="http://schemas.microsoft.com/office/drawing/2014/main" id="{B8FE966E-51BF-42FC-A2BC-1ABAB5F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14775"/>
            <a:ext cx="4876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 테스트 확인</a:t>
            </a:r>
          </a:p>
        </p:txBody>
      </p:sp>
      <p:sp>
        <p:nvSpPr>
          <p:cNvPr id="15" name="원인이 뒷받침하는 범위까지 바꾼다.">
            <a:extLst xmlns:a="http://schemas.openxmlformats.org/drawingml/2006/main">
              <a:ext uri="{FF2B5EF4-FFF2-40B4-BE49-F238E27FC236}">
                <a16:creationId xmlns:a16="http://schemas.microsoft.com/office/drawing/2014/main" id="{8A8DB726-BB5B-4A29-ACDD-7D72A69BD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원인이 뒷받침하는 범위까지 바꾼다.</a:t>
            </a:r>
          </a:p>
        </p:txBody>
      </p:sp>
      <p:sp>
        <p:nvSpPr>
          <p:cNvPr id="16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946FD0C-CA30-4979-8FFF-D3351E580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618044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ACT 4 · CONCEPTUAL / 평가 범위">
            <a:extLst xmlns:a="http://schemas.openxmlformats.org/drawingml/2006/main">
              <a:ext uri="{FF2B5EF4-FFF2-40B4-BE49-F238E27FC236}">
                <a16:creationId xmlns:a16="http://schemas.microsoft.com/office/drawing/2014/main" id="{559E4350-3CDD-460F-9A77-9345ECF0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범위</a:t>
            </a:r>
          </a:p>
        </p:txBody>
      </p:sp>
      <p:sp>
        <p:nvSpPr>
          <p:cNvPr id="2" name="S73">
            <a:extLst xmlns:a="http://schemas.openxmlformats.org/drawingml/2006/main">
              <a:ext uri="{FF2B5EF4-FFF2-40B4-BE49-F238E27FC236}">
                <a16:creationId xmlns:a16="http://schemas.microsoft.com/office/drawing/2014/main" id="{CD0DBCC0-3AEA-45A6-8070-840DFCDF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S73</a:t>
            </a:r>
          </a:p>
        </p:txBody>
      </p:sp>
      <p:sp>
        <p:nvSpPr>
          <p:cNvPr id="3" name="같은 Task의 재실행만으로 충분할까?">
            <a:extLst xmlns:a="http://schemas.openxmlformats.org/drawingml/2006/main">
              <a:ext uri="{FF2B5EF4-FFF2-40B4-BE49-F238E27FC236}">
                <a16:creationId xmlns:a16="http://schemas.microsoft.com/office/drawing/2014/main" id="{00ABCBB8-8A41-4C7D-BC10-2B1BD1088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Task의 재실행만으로 충분할까?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33BFF1-F421-44F6-B2AC-42A7BD8ED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변경 후 확인할 질문을 설계한 도식">
            <a:extLst xmlns:a="http://schemas.openxmlformats.org/drawingml/2006/main">
              <a:ext uri="{FF2B5EF4-FFF2-40B4-BE49-F238E27FC236}">
                <a16:creationId xmlns:a16="http://schemas.microsoft.com/office/drawing/2014/main" id="{A988A894-5A60-42D1-9616-BDD6D836C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변경 후 확인할 질문을 설계한 도식</a:t>
            </a:r>
          </a:p>
        </p:txBody>
      </p:sp>
      <p:sp>
        <p:nvSpPr>
          <p:cNvPr id="6" name="재실행·회귀 테스트 결과는 없다. 두 검증 질문을 구분하는 가상 사례다.">
            <a:extLst xmlns:a="http://schemas.openxmlformats.org/drawingml/2006/main">
              <a:ext uri="{FF2B5EF4-FFF2-40B4-BE49-F238E27FC236}">
                <a16:creationId xmlns:a16="http://schemas.microsoft.com/office/drawing/2014/main" id="{1E9C75A2-26CC-41B2-9708-B7F5EBDA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재실행·회귀 테스트 결과는 없다. 두 검증 질문을 구분하는 가상 사례다.</a:t>
            </a:r>
          </a:p>
        </p:txBody>
      </p:sp>
      <p:sp>
        <p:nvSpPr>
          <p:cNvPr id="7" name="이번 작업을 다시 확인">
            <a:extLst xmlns:a="http://schemas.openxmlformats.org/drawingml/2006/main">
              <a:ext uri="{FF2B5EF4-FFF2-40B4-BE49-F238E27FC236}">
                <a16:creationId xmlns:a16="http://schemas.microsoft.com/office/drawing/2014/main" id="{AF2CA413-3C6A-4D09-AE9F-9215ADB6D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작업을 다시 확인</a:t>
            </a:r>
          </a:p>
        </p:txBody>
      </p:sp>
      <p:sp>
        <p:nvSpPr>
          <p:cNvPr id="8" name="다른 작업도 확인">
            <a:extLst xmlns:a="http://schemas.openxmlformats.org/drawingml/2006/main">
              <a:ext uri="{FF2B5EF4-FFF2-40B4-BE49-F238E27FC236}">
                <a16:creationId xmlns:a16="http://schemas.microsoft.com/office/drawing/2014/main" id="{A586BB87-E1AF-4D76-90BD-55CB9A576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다른 작업도 확인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A036F5-5FA4-474D-BDA2-38BD0036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4E7E3E-6BBC-4FDC-843D-97B12D2AA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1" name="요청했던 검증 범위를&#10;이제 다루는가?">
            <a:extLst xmlns:a="http://schemas.openxmlformats.org/drawingml/2006/main">
              <a:ext uri="{FF2B5EF4-FFF2-40B4-BE49-F238E27FC236}">
                <a16:creationId xmlns:a16="http://schemas.microsoft.com/office/drawing/2014/main" id="{FC460DFA-D822-426C-8742-84B1F308D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요청했던 검증 범위를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이제 다루는가?</a:t>
            </a:r>
          </a:p>
        </p:txBody>
      </p:sp>
      <p:sp>
        <p:nvSpPr>
          <p:cNvPr id="12" name="바뀐 지침이 다른 작업을&#10;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E95B98FE-3C8F-4203-94CA-1AE62DFFD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바뀐 지침이 다른 작업을</a:t>
            </a:r>
          </a:p>
          <a:p xmlns:a="http://schemas.openxmlformats.org/drawingml/2006/main">
            <a:pPr algn="l">
              <a:def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6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방해하지 않는가?</a:t>
            </a:r>
          </a:p>
        </p:txBody>
      </p:sp>
      <p:sp>
        <p:nvSpPr>
          <p:cNvPr id="13" name="확인할 범위가 다르므로, 두 질문이 모두 필요하다.">
            <a:extLst xmlns:a="http://schemas.openxmlformats.org/drawingml/2006/main">
              <a:ext uri="{FF2B5EF4-FFF2-40B4-BE49-F238E27FC236}">
                <a16:creationId xmlns:a16="http://schemas.microsoft.com/office/drawing/2014/main" id="{B7ECD0F4-6C0F-4E70-97BC-4657B5B0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확인할 범위가 다르므로, 두 질문이 모두 필요하다.</a:t>
            </a:r>
          </a:p>
        </p:txBody>
      </p:sp>
      <p:sp>
        <p:nvSpPr>
          <p:cNvPr id="1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DB7DC8F4-9829-4A78-8297-BEF55C286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7494772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ACT 4 · CONCEPTUAL / 평가 설계">
            <a:extLst xmlns:a="http://schemas.openxmlformats.org/drawingml/2006/main">
              <a:ext uri="{FF2B5EF4-FFF2-40B4-BE49-F238E27FC236}">
                <a16:creationId xmlns:a16="http://schemas.microsoft.com/office/drawing/2014/main" id="{07223EAE-5E32-4093-B4D3-E2734D5D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평가 설계</a:t>
            </a:r>
          </a:p>
        </p:txBody>
      </p:sp>
      <p:sp>
        <p:nvSpPr>
          <p:cNvPr id="2" name="S74">
            <a:extLst xmlns:a="http://schemas.openxmlformats.org/drawingml/2006/main">
              <a:ext uri="{FF2B5EF4-FFF2-40B4-BE49-F238E27FC236}">
                <a16:creationId xmlns:a16="http://schemas.microsoft.com/office/drawing/2014/main" id="{05A4C400-F826-4601-837E-C1A2CC22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S74</a:t>
            </a:r>
          </a:p>
        </p:txBody>
      </p:sp>
      <p:sp>
        <p:nvSpPr>
          <p:cNvPr id="3" name="대표 작업으로 변경 범위를 확인하기">
            <a:extLst xmlns:a="http://schemas.openxmlformats.org/drawingml/2006/main">
              <a:ext uri="{FF2B5EF4-FFF2-40B4-BE49-F238E27FC236}">
                <a16:creationId xmlns:a16="http://schemas.microsoft.com/office/drawing/2014/main" id="{16993758-EBEF-45C2-A22C-1C5A565E1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대표 작업으로 변경 범위를 확인하기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5511E7-92B2-4CED-B63A-3D2724F43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10 · 네 작업 모두 이 Workflow 변경 후의 평가 결과는 없음">
            <a:extLst xmlns:a="http://schemas.openxmlformats.org/drawingml/2006/main">
              <a:ext uri="{FF2B5EF4-FFF2-40B4-BE49-F238E27FC236}">
                <a16:creationId xmlns:a16="http://schemas.microsoft.com/office/drawing/2014/main" id="{27443DA1-C72B-4000-A571-3B4ADA101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DEMO-10 · 네 작업 모두 이 Workflow 변경 후의 평가 결과는 없음</a:t>
            </a:r>
          </a:p>
        </p:txBody>
      </p:sp>
      <p:sp>
        <p:nvSpPr>
          <p:cNvPr id="6" name="EVAL-01/02: 별도 과거 관찰 참고 · EVAL-03/04: 설계만 있음 · 새 실행·PASS/FAI">
            <a:extLst xmlns:a="http://schemas.openxmlformats.org/drawingml/2006/main">
              <a:ext uri="{FF2B5EF4-FFF2-40B4-BE49-F238E27FC236}">
                <a16:creationId xmlns:a16="http://schemas.microsoft.com/office/drawing/2014/main" id="{1CD368F7-B83A-480A-B63D-08510F29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EVAL-01/02: 별도 과거 관찰 참고 · EVAL-03/04: 설계만 있음 · 새 실행·PASS/FAIL 없음</a:t>
            </a:r>
          </a:p>
        </p:txBody>
      </p:sp>
      <p:sp>
        <p:nvSpPr>
          <p:cNvPr id="7" name="작업 수보다, 서로 다른 위험을 덮는가?">
            <a:extLst xmlns:a="http://schemas.openxmlformats.org/drawingml/2006/main">
              <a:ext uri="{FF2B5EF4-FFF2-40B4-BE49-F238E27FC236}">
                <a16:creationId xmlns:a16="http://schemas.microsoft.com/office/drawing/2014/main" id="{9DDA8CC6-403A-4E8D-83FA-57DEC03D8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수보다, 서로 다른 위험을 덮는가?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3BAA50-A658-4689-88A1-224836E3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109728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EA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평가 설계 · 네 작업 모두 이 Workflow 변경 뒤의 실행 결과는 없음">
            <a:extLst xmlns:a="http://schemas.openxmlformats.org/drawingml/2006/main">
              <a:ext uri="{FF2B5EF4-FFF2-40B4-BE49-F238E27FC236}">
                <a16:creationId xmlns:a16="http://schemas.microsoft.com/office/drawing/2014/main" id="{17ECF3A3-7025-4082-BFD6-807A1B9DD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479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평가 설계 · 네 작업 모두 이 Workflow 변경 뒤의 실행 결과는 없음</a:t>
            </a:r>
          </a:p>
        </p:txBody>
      </p:sp>
      <p:sp>
        <p:nvSpPr>
          <p:cNvPr id="10" name="대표 작업">
            <a:extLst xmlns:a="http://schemas.openxmlformats.org/drawingml/2006/main">
              <a:ext uri="{FF2B5EF4-FFF2-40B4-BE49-F238E27FC236}">
                <a16:creationId xmlns:a16="http://schemas.microsoft.com/office/drawing/2014/main" id="{2606BC51-3F1E-4BFA-8E4D-0DBF9CF0D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241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대표 작업</a:t>
            </a:r>
          </a:p>
        </p:txBody>
      </p:sp>
      <p:sp>
        <p:nvSpPr>
          <p:cNvPr id="11" name="무엇을 확인하기 위한 설계인가?">
            <a:extLst xmlns:a="http://schemas.openxmlformats.org/drawingml/2006/main">
              <a:ext uri="{FF2B5EF4-FFF2-40B4-BE49-F238E27FC236}">
                <a16:creationId xmlns:a16="http://schemas.microsoft.com/office/drawing/2014/main" id="{7350968D-46CF-4E52-ABDB-B44A58572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924175"/>
            <a:ext cx="4895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확인하기 위한 설계인가?</a:t>
            </a:r>
          </a:p>
        </p:txBody>
      </p:sp>
      <p:sp>
        <p:nvSpPr>
          <p:cNvPr id="12" name="현재 근거 상태">
            <a:extLst xmlns:a="http://schemas.openxmlformats.org/drawingml/2006/main">
              <a:ext uri="{FF2B5EF4-FFF2-40B4-BE49-F238E27FC236}">
                <a16:creationId xmlns:a16="http://schemas.microsoft.com/office/drawing/2014/main" id="{0E2B4937-0074-42A2-B32E-14D38B306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924175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현재 근거 상태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ED8AD2-C25A-4EE9-BCE9-87062A48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956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14" name="EVAL-01">
            <a:extLst xmlns:a="http://schemas.openxmlformats.org/drawingml/2006/main">
              <a:ext uri="{FF2B5EF4-FFF2-40B4-BE49-F238E27FC236}">
                <a16:creationId xmlns:a16="http://schemas.microsoft.com/office/drawing/2014/main" id="{A16E3E62-0B90-4B20-9888-7933F7CA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623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EVAL-01</a:t>
            </a:r>
          </a:p>
        </p:txBody>
      </p:sp>
      <p:sp>
        <p:nvSpPr>
          <p:cNvPr id="15" name="버그 수정">
            <a:extLst xmlns:a="http://schemas.openxmlformats.org/drawingml/2006/main">
              <a:ext uri="{FF2B5EF4-FFF2-40B4-BE49-F238E27FC236}">
                <a16:creationId xmlns:a16="http://schemas.microsoft.com/office/drawing/2014/main" id="{B32A4AD5-8859-4271-9E5D-3F4576D0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3528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버그 수정</a:t>
            </a:r>
          </a:p>
        </p:txBody>
      </p:sp>
      <p:sp>
        <p:nvSpPr>
          <p:cNvPr id="16" name="동작 계약을 확인하는가?">
            <a:extLst xmlns:a="http://schemas.openxmlformats.org/drawingml/2006/main">
              <a:ext uri="{FF2B5EF4-FFF2-40B4-BE49-F238E27FC236}">
                <a16:creationId xmlns:a16="http://schemas.microsoft.com/office/drawing/2014/main" id="{1C4998C9-4BC9-4AE5-8048-439DDBF4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528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동작 계약을 확인하는가?</a:t>
            </a:r>
          </a:p>
        </p:txBody>
      </p:sp>
      <p:sp>
        <p:nvSpPr>
          <p:cNvPr id="17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1DFE3AE3-F86F-4E27-831D-DE2901EB2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18" name="TRIAL-002">
            <a:extLst xmlns:a="http://schemas.openxmlformats.org/drawingml/2006/main">
              <a:ext uri="{FF2B5EF4-FFF2-40B4-BE49-F238E27FC236}">
                <a16:creationId xmlns:a16="http://schemas.microsoft.com/office/drawing/2014/main" id="{DCDFE8A7-3F9C-4AB0-8CD8-C1F5B745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814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16A4D5-FF76-4857-A9B9-4F5DCD69A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862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0" name="EVAL-02">
            <a:extLst xmlns:a="http://schemas.openxmlformats.org/drawingml/2006/main">
              <a:ext uri="{FF2B5EF4-FFF2-40B4-BE49-F238E27FC236}">
                <a16:creationId xmlns:a16="http://schemas.microsoft.com/office/drawing/2014/main" id="{C61D8CDF-A003-43B1-B4EF-DBC3ADFF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EVAL-02</a:t>
            </a:r>
          </a:p>
        </p:txBody>
      </p:sp>
      <p:sp>
        <p:nvSpPr>
          <p:cNvPr id="21" name="성능 변경">
            <a:extLst xmlns:a="http://schemas.openxmlformats.org/drawingml/2006/main">
              <a:ext uri="{FF2B5EF4-FFF2-40B4-BE49-F238E27FC236}">
                <a16:creationId xmlns:a16="http://schemas.microsoft.com/office/drawing/2014/main" id="{195B2A6B-BAEE-4715-AA92-388EDB0DB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433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변경</a:t>
            </a:r>
          </a:p>
        </p:txBody>
      </p:sp>
      <p:sp>
        <p:nvSpPr>
          <p:cNvPr id="22" name="측정·검증 범위를 유지하는가?">
            <a:extLst xmlns:a="http://schemas.openxmlformats.org/drawingml/2006/main">
              <a:ext uri="{FF2B5EF4-FFF2-40B4-BE49-F238E27FC236}">
                <a16:creationId xmlns:a16="http://schemas.microsoft.com/office/drawing/2014/main" id="{F4561658-9E32-4BA7-B5F2-08DDBD9D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433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측정·검증 범위를 유지하는가?</a:t>
            </a:r>
          </a:p>
        </p:txBody>
      </p:sp>
      <p:sp>
        <p:nvSpPr>
          <p:cNvPr id="23" name="과거 관찰 참고">
            <a:extLst xmlns:a="http://schemas.openxmlformats.org/drawingml/2006/main">
              <a:ext uri="{FF2B5EF4-FFF2-40B4-BE49-F238E27FC236}">
                <a16:creationId xmlns:a16="http://schemas.microsoft.com/office/drawing/2014/main" id="{C9E16C35-8578-45DF-A569-498FEC1CA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243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과거 관찰 참고</a:t>
            </a:r>
          </a:p>
        </p:txBody>
      </p:sp>
      <p:sp>
        <p:nvSpPr>
          <p:cNvPr id="24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60EB1590-9488-492D-8A78-3519D4E4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719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B0D092-2156-4B21-859F-E63FC08B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26" name="EVAL-03">
            <a:extLst xmlns:a="http://schemas.openxmlformats.org/drawingml/2006/main">
              <a:ext uri="{FF2B5EF4-FFF2-40B4-BE49-F238E27FC236}">
                <a16:creationId xmlns:a16="http://schemas.microsoft.com/office/drawing/2014/main" id="{D907ECD1-EA83-46BC-9AA6-BC562C00F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EVAL-03</a:t>
            </a:r>
          </a:p>
        </p:txBody>
      </p:sp>
      <p:sp>
        <p:nvSpPr>
          <p:cNvPr id="27" name="문서만 수정">
            <a:extLst xmlns:a="http://schemas.openxmlformats.org/drawingml/2006/main">
              <a:ext uri="{FF2B5EF4-FFF2-40B4-BE49-F238E27FC236}">
                <a16:creationId xmlns:a16="http://schemas.microsoft.com/office/drawing/2014/main" id="{05B0D5C2-06B4-4853-9EC4-62BD2C6FA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3390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문서만 수정</a:t>
            </a:r>
          </a:p>
        </p:txBody>
      </p:sp>
      <p:sp>
        <p:nvSpPr>
          <p:cNvPr id="28" name="불필요한 절차를 강요하지 않는가?">
            <a:extLst xmlns:a="http://schemas.openxmlformats.org/drawingml/2006/main">
              <a:ext uri="{FF2B5EF4-FFF2-40B4-BE49-F238E27FC236}">
                <a16:creationId xmlns:a16="http://schemas.microsoft.com/office/drawing/2014/main" id="{A71B3DD1-D648-4759-9C38-74AA80952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53390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불필요한 절차를 강요하지 않는가?</a:t>
            </a:r>
          </a:p>
        </p:txBody>
      </p:sp>
      <p:sp>
        <p:nvSpPr>
          <p:cNvPr id="29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55C2B4BD-EF43-4F97-A60E-A54A72034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1485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0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34727597-E53E-462C-9DFF-BEC7719C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76250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CBDCDA4-6318-4083-9A59-6F1E5993B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805400"/>
            </a:solidFill>
            <a:prstDash val="dash"/>
          </a:ln>
        </p:spPr>
      </p:sp>
      <p:sp>
        <p:nvSpPr>
          <p:cNvPr id="32" name="EVAL-04">
            <a:extLst xmlns:a="http://schemas.openxmlformats.org/drawingml/2006/main">
              <a:ext uri="{FF2B5EF4-FFF2-40B4-BE49-F238E27FC236}">
                <a16:creationId xmlns:a16="http://schemas.microsoft.com/office/drawing/2014/main" id="{52BB48D9-1FDE-442F-B46E-946915F2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33975"/>
            <a:ext cx="12096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EVAL-04</a:t>
            </a:r>
          </a:p>
        </p:txBody>
      </p:sp>
      <p:sp>
        <p:nvSpPr>
          <p:cNvPr id="33" name="작은 리팩터링">
            <a:extLst xmlns:a="http://schemas.openxmlformats.org/drawingml/2006/main">
              <a:ext uri="{FF2B5EF4-FFF2-40B4-BE49-F238E27FC236}">
                <a16:creationId xmlns:a16="http://schemas.microsoft.com/office/drawing/2014/main" id="{6FAE9BF2-3B86-4219-A57A-597F1E1F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124450"/>
            <a:ext cx="1600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작은 리팩터링</a:t>
            </a:r>
          </a:p>
        </p:txBody>
      </p:sp>
      <p:sp>
        <p:nvSpPr>
          <p:cNvPr id="34" name="다른 유효한 작업을 방해하지 않는가?">
            <a:extLst xmlns:a="http://schemas.openxmlformats.org/drawingml/2006/main">
              <a:ext uri="{FF2B5EF4-FFF2-40B4-BE49-F238E27FC236}">
                <a16:creationId xmlns:a16="http://schemas.microsoft.com/office/drawing/2014/main" id="{0994D038-2B00-4F1B-99A4-6B57BB5B9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5124450"/>
            <a:ext cx="4895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유효한 작업을 방해하지 않는가?</a:t>
            </a:r>
          </a:p>
        </p:txBody>
      </p:sp>
      <p:sp>
        <p:nvSpPr>
          <p:cNvPr id="35" name="설계 사례">
            <a:extLst xmlns:a="http://schemas.openxmlformats.org/drawingml/2006/main">
              <a:ext uri="{FF2B5EF4-FFF2-40B4-BE49-F238E27FC236}">
                <a16:creationId xmlns:a16="http://schemas.microsoft.com/office/drawing/2014/main" id="{EFB15817-FBA4-44CD-913B-375B2078E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05400"/>
            <a:ext cx="2724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설계 사례</a:t>
            </a:r>
          </a:p>
        </p:txBody>
      </p:sp>
      <p:sp>
        <p:nvSpPr>
          <p:cNvPr id="36" name="새 평가 실행 없음">
            <a:extLst xmlns:a="http://schemas.openxmlformats.org/drawingml/2006/main">
              <a:ext uri="{FF2B5EF4-FFF2-40B4-BE49-F238E27FC236}">
                <a16:creationId xmlns:a16="http://schemas.microsoft.com/office/drawing/2014/main" id="{B50572A8-7EF2-46DF-98AA-5E2E4AAB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353050"/>
            <a:ext cx="2724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새 평가 실행 없음</a:t>
            </a:r>
          </a:p>
        </p:txBody>
      </p:sp>
      <p:sp>
        <p:nvSpPr>
          <p:cNvPr id="37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1CF5C2E-EA65-4F38-B654-5CB608668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8006674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ACT 4 · CONCEPTUAL / 규칙 유지보수">
            <a:extLst xmlns:a="http://schemas.openxmlformats.org/drawingml/2006/main">
              <a:ext uri="{FF2B5EF4-FFF2-40B4-BE49-F238E27FC236}">
                <a16:creationId xmlns:a16="http://schemas.microsoft.com/office/drawing/2014/main" id="{DDAA7BE3-BDEF-4C86-8351-91878FB1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CONCEPTUAL / 규칙 유지보수</a:t>
            </a:r>
          </a:p>
        </p:txBody>
      </p:sp>
      <p:sp>
        <p:nvSpPr>
          <p:cNvPr id="2" name="S75">
            <a:extLst xmlns:a="http://schemas.openxmlformats.org/drawingml/2006/main">
              <a:ext uri="{FF2B5EF4-FFF2-40B4-BE49-F238E27FC236}">
                <a16:creationId xmlns:a16="http://schemas.microsoft.com/office/drawing/2014/main" id="{83904C8A-6B30-4CE9-85DA-1F4DF6E9B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S75</a:t>
            </a:r>
          </a:p>
        </p:txBody>
      </p:sp>
      <p:sp>
        <p:nvSpPr>
          <p:cNvPr id="3" name="Harness도 특정 실패에 맞춰&#10;과적합될 수 있다">
            <a:extLst xmlns:a="http://schemas.openxmlformats.org/drawingml/2006/main">
              <a:ext uri="{FF2B5EF4-FFF2-40B4-BE49-F238E27FC236}">
                <a16:creationId xmlns:a16="http://schemas.microsoft.com/office/drawing/2014/main" id="{EEABA89D-0FF0-4480-B20E-E174A292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Harness도 특정 실패에 맞춰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과적합될 수 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AE337F-EDE0-4F14-A40D-D259A18C6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DEMO-04A · 과적합은 이 교육의 비유">
            <a:extLst xmlns:a="http://schemas.openxmlformats.org/drawingml/2006/main">
              <a:ext uri="{FF2B5EF4-FFF2-40B4-BE49-F238E27FC236}">
                <a16:creationId xmlns:a16="http://schemas.microsoft.com/office/drawing/2014/main" id="{D447F348-3160-4901-A25B-B37768B8A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DEMO-04A · 과적합은 이 교육의 비유</a:t>
            </a:r>
          </a:p>
        </p:txBody>
      </p:sp>
      <p:sp>
        <p:nvSpPr>
          <p:cNvPr id="6" name="Machine Learning의 통계적 과적합과 같은 현상이라는 주장이 아니다.">
            <a:extLst xmlns:a="http://schemas.openxmlformats.org/drawingml/2006/main">
              <a:ext uri="{FF2B5EF4-FFF2-40B4-BE49-F238E27FC236}">
                <a16:creationId xmlns:a16="http://schemas.microsoft.com/office/drawing/2014/main" id="{EE8E91C8-5CE6-41CE-8171-79C543BCA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Machine Learning의 통계적 과적합과 같은 현상이라는 주장이 아니다.</a:t>
            </a:r>
          </a:p>
        </p:txBody>
      </p:sp>
      <p:sp>
        <p:nvSpPr>
          <p:cNvPr id="7" name="실패할 때마다 규칙을 하나씩 더하면">
            <a:extLst xmlns:a="http://schemas.openxmlformats.org/drawingml/2006/main">
              <a:ext uri="{FF2B5EF4-FFF2-40B4-BE49-F238E27FC236}">
                <a16:creationId xmlns:a16="http://schemas.microsoft.com/office/drawing/2014/main" id="{FB6C400C-B2E2-4008-BD56-B2477C35C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실패할 때마다 규칙을 하나씩 더하면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2BD804-2E5B-4C05-87A8-D06F8BE6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9" name="규칙 누적">
            <a:extLst xmlns:a="http://schemas.openxmlformats.org/drawingml/2006/main">
              <a:ext uri="{FF2B5EF4-FFF2-40B4-BE49-F238E27FC236}">
                <a16:creationId xmlns:a16="http://schemas.microsoft.com/office/drawing/2014/main" id="{539C889F-FA0F-43C6-8044-482DF74F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누적</a:t>
            </a:r>
          </a:p>
        </p:txBody>
      </p:sp>
      <p:sp>
        <p:nvSpPr>
          <p:cNvPr id="10" name="읽고 유지할 내용이 커짐">
            <a:extLst xmlns:a="http://schemas.openxmlformats.org/drawingml/2006/main">
              <a:ext uri="{FF2B5EF4-FFF2-40B4-BE49-F238E27FC236}">
                <a16:creationId xmlns:a16="http://schemas.microsoft.com/office/drawing/2014/main" id="{223CF0BD-1894-4885-B091-79F8E0B2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읽고 유지할 내용이 커짐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BB52BD-5775-4AE1-963C-82FC9E568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2" name="규칙 충돌">
            <a:extLst xmlns:a="http://schemas.openxmlformats.org/drawingml/2006/main">
              <a:ext uri="{FF2B5EF4-FFF2-40B4-BE49-F238E27FC236}">
                <a16:creationId xmlns:a16="http://schemas.microsoft.com/office/drawing/2014/main" id="{280E21FD-6E98-4258-BD7A-448306BF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규칙 충돌</a:t>
            </a:r>
          </a:p>
        </p:txBody>
      </p:sp>
      <p:sp>
        <p:nvSpPr>
          <p:cNvPr id="13" name="서로 다른 지시가 섞임">
            <a:extLst xmlns:a="http://schemas.openxmlformats.org/drawingml/2006/main">
              <a:ext uri="{FF2B5EF4-FFF2-40B4-BE49-F238E27FC236}">
                <a16:creationId xmlns:a16="http://schemas.microsoft.com/office/drawing/2014/main" id="{3D3D3AA9-8AE8-4235-83A7-B1673564A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서로 다른 지시가 섞임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8686B0-0DEF-4501-BECF-3106E3C6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14325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dash"/>
          </a:ln>
        </p:spPr>
      </p:sp>
      <p:sp>
        <p:nvSpPr>
          <p:cNvPr id="15" name="특정 작업에만 맞춤">
            <a:extLst xmlns:a="http://schemas.openxmlformats.org/drawingml/2006/main">
              <a:ext uri="{FF2B5EF4-FFF2-40B4-BE49-F238E27FC236}">
                <a16:creationId xmlns:a16="http://schemas.microsoft.com/office/drawing/2014/main" id="{239565EB-D752-48BD-A7C2-9A8512E6F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33750"/>
            <a:ext cx="333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특정 작업에만 맞춤</a:t>
            </a:r>
          </a:p>
        </p:txBody>
      </p:sp>
      <p:sp>
        <p:nvSpPr>
          <p:cNvPr id="16" name="다른 작업에서 적합성 미확인">
            <a:extLst xmlns:a="http://schemas.openxmlformats.org/drawingml/2006/main">
              <a:ext uri="{FF2B5EF4-FFF2-40B4-BE49-F238E27FC236}">
                <a16:creationId xmlns:a16="http://schemas.microsoft.com/office/drawing/2014/main" id="{88AFCA44-B045-4453-9F69-5EC90538F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0481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작업에서 적합성 미확인</a:t>
            </a:r>
          </a:p>
        </p:txBody>
      </p:sp>
      <p:sp>
        <p:nvSpPr>
          <p:cNvPr id="17" name="원인을 확인하고, 대표 작업으로 평가하고, 불필요한 규칙을 정리한다.">
            <a:extLst xmlns:a="http://schemas.openxmlformats.org/drawingml/2006/main">
              <a:ext uri="{FF2B5EF4-FFF2-40B4-BE49-F238E27FC236}">
                <a16:creationId xmlns:a16="http://schemas.microsoft.com/office/drawing/2014/main" id="{315C7CBB-FD5C-4B87-B358-DE6E2A65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원인을 확인하고, 대표 작업으로 평가하고, 불필요한 규칙을 정리한다.</a:t>
            </a:r>
          </a:p>
        </p:txBody>
      </p:sp>
      <p:sp>
        <p:nvSpPr>
          <p:cNvPr id="18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CB057B2-F3F7-4607-908A-B43E95F8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18291675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ACT 4 · 이 교육의 Loop 모델">
            <a:extLst xmlns:a="http://schemas.openxmlformats.org/drawingml/2006/main">
              <a:ext uri="{FF2B5EF4-FFF2-40B4-BE49-F238E27FC236}">
                <a16:creationId xmlns:a16="http://schemas.microsoft.com/office/drawing/2014/main" id="{48F3EDD8-89C2-4640-B26E-1D91AA4ED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이 교육의 Loop 모델</a:t>
            </a:r>
          </a:p>
        </p:txBody>
      </p:sp>
      <p:sp>
        <p:nvSpPr>
          <p:cNvPr id="2" name="S76">
            <a:extLst xmlns:a="http://schemas.openxmlformats.org/drawingml/2006/main">
              <a:ext uri="{FF2B5EF4-FFF2-40B4-BE49-F238E27FC236}">
                <a16:creationId xmlns:a16="http://schemas.microsoft.com/office/drawing/2014/main" id="{F10FC065-0A1B-49B0-93AB-512007597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S76</a:t>
            </a:r>
          </a:p>
        </p:txBody>
      </p:sp>
      <p:sp>
        <p:nvSpPr>
          <p:cNvPr id="3" name="Feedback을 System Change와&#10;Evaluation으로 잇기">
            <a:extLst xmlns:a="http://schemas.openxmlformats.org/drawingml/2006/main">
              <a:ext uri="{FF2B5EF4-FFF2-40B4-BE49-F238E27FC236}">
                <a16:creationId xmlns:a16="http://schemas.microsoft.com/office/drawing/2014/main" id="{2D569204-7562-4D09-B029-448F672F4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Feedback을 System Change와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Evaluation으로 잇기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113CDC-1A63-4EC9-BAA1-4DA84774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교육용 운영 모델">
            <a:extLst xmlns:a="http://schemas.openxmlformats.org/drawingml/2006/main">
              <a:ext uri="{FF2B5EF4-FFF2-40B4-BE49-F238E27FC236}">
                <a16:creationId xmlns:a16="http://schemas.microsoft.com/office/drawing/2014/main" id="{34360712-3FD5-43A3-B934-E8D9FF4F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교육용 운영 모델</a:t>
            </a:r>
          </a:p>
        </p:txBody>
      </p:sp>
      <p:sp>
        <p:nvSpPr>
          <p:cNvPr id="6" name="모델의 자동 학습이나 실제 Product Loop를 관찰했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515F4563-04F0-48D2-A400-AC01B34F6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모델의 자동 학습이나 실제 Product Loop를 관찰했다는 뜻은 아니다.</a:t>
            </a:r>
          </a:p>
        </p:txBody>
      </p:sp>
      <p:sp>
        <p:nvSpPr>
          <p:cNvPr id="7" name="앞선 가상 사례의 판단을 다섯 단계로 묶으면">
            <a:extLst xmlns:a="http://schemas.openxmlformats.org/drawingml/2006/main">
              <a:ext uri="{FF2B5EF4-FFF2-40B4-BE49-F238E27FC236}">
                <a16:creationId xmlns:a16="http://schemas.microsoft.com/office/drawing/2014/main" id="{8A303C81-DD98-4B52-9636-B7732F75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앞선 가상 사례의 판단을 다섯 단계로 묶으면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03B27531-8784-450D-8E76-9FF42B7B1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D368B3-9DF3-42E5-80BF-17096AB5C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실행">
            <a:extLst xmlns:a="http://schemas.openxmlformats.org/drawingml/2006/main">
              <a:ext uri="{FF2B5EF4-FFF2-40B4-BE49-F238E27FC236}">
                <a16:creationId xmlns:a16="http://schemas.microsoft.com/office/drawing/2014/main" id="{0B07B865-AB1E-4446-8E4D-7B5E32EE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실행</a:t>
            </a:r>
          </a:p>
        </p:txBody>
      </p:sp>
      <p:sp>
        <p:nvSpPr>
          <p:cNvPr id="11" name="무엇을 했나?">
            <a:extLst xmlns:a="http://schemas.openxmlformats.org/drawingml/2006/main">
              <a:ext uri="{FF2B5EF4-FFF2-40B4-BE49-F238E27FC236}">
                <a16:creationId xmlns:a16="http://schemas.microsoft.com/office/drawing/2014/main" id="{2B9351B6-526F-413A-8159-621F43C98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무엇을 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4794F2E-A895-487A-AA18-22EE0AFE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가상 Task&#10;현재 기준은&#10;단위 + 통합">
            <a:extLst xmlns:a="http://schemas.openxmlformats.org/drawingml/2006/main">
              <a:ext uri="{FF2B5EF4-FFF2-40B4-BE49-F238E27FC236}">
                <a16:creationId xmlns:a16="http://schemas.microsoft.com/office/drawing/2014/main" id="{51D193A7-99D4-4DA3-825D-8DB60D561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가상 Task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현재 기준은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단위 + 통합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6AFA87-35FC-4512-BF77-F70710695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5" name="02">
            <a:extLst xmlns:a="http://schemas.openxmlformats.org/drawingml/2006/main">
              <a:ext uri="{FF2B5EF4-FFF2-40B4-BE49-F238E27FC236}">
                <a16:creationId xmlns:a16="http://schemas.microsoft.com/office/drawing/2014/main" id="{67D2356B-BC3E-45CF-AFF3-E6BFCED8D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83650C-C055-4549-AAE9-3D8F725B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관찰">
            <a:extLst xmlns:a="http://schemas.openxmlformats.org/drawingml/2006/main">
              <a:ext uri="{FF2B5EF4-FFF2-40B4-BE49-F238E27FC236}">
                <a16:creationId xmlns:a16="http://schemas.microsoft.com/office/drawing/2014/main" id="{E80DA198-60C6-42AB-AE94-3F3DF0A3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</a:t>
            </a:r>
          </a:p>
        </p:txBody>
      </p:sp>
      <p:sp>
        <p:nvSpPr>
          <p:cNvPr id="18" name="무엇이 보였나?">
            <a:extLst xmlns:a="http://schemas.openxmlformats.org/drawingml/2006/main">
              <a:ext uri="{FF2B5EF4-FFF2-40B4-BE49-F238E27FC236}">
                <a16:creationId xmlns:a16="http://schemas.microsoft.com/office/drawing/2014/main" id="{A19C6979-20BA-4167-AF34-C946C7334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보였나?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7C66F8-D65E-43DC-BD00-154FDA62F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지침은 단위만&#10;검증 범위가 다름">
            <a:extLst xmlns:a="http://schemas.openxmlformats.org/drawingml/2006/main">
              <a:ext uri="{FF2B5EF4-FFF2-40B4-BE49-F238E27FC236}">
                <a16:creationId xmlns:a16="http://schemas.microsoft.com/office/drawing/2014/main" id="{855381BC-B181-4976-BF09-8A6C4BDD9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지침은 단위만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 범위가 다름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997C0D-D02A-4719-8D1E-1715440C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2" name="03">
            <a:extLst xmlns:a="http://schemas.openxmlformats.org/drawingml/2006/main">
              <a:ext uri="{FF2B5EF4-FFF2-40B4-BE49-F238E27FC236}">
                <a16:creationId xmlns:a16="http://schemas.microsoft.com/office/drawing/2014/main" id="{90DC96FB-41E6-45EE-9ABB-AB81FBA9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70E750-977B-4EC5-9F07-FB99EF766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4" name="원인 판단">
            <a:extLst xmlns:a="http://schemas.openxmlformats.org/drawingml/2006/main">
              <a:ext uri="{FF2B5EF4-FFF2-40B4-BE49-F238E27FC236}">
                <a16:creationId xmlns:a16="http://schemas.microsoft.com/office/drawing/2014/main" id="{2562BE11-FB8A-4A2C-ADF6-A843F303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 판단</a:t>
            </a:r>
          </a:p>
        </p:txBody>
      </p:sp>
      <p:sp>
        <p:nvSpPr>
          <p:cNvPr id="25" name="왜 생겼나?">
            <a:extLst xmlns:a="http://schemas.openxmlformats.org/drawingml/2006/main">
              <a:ext uri="{FF2B5EF4-FFF2-40B4-BE49-F238E27FC236}">
                <a16:creationId xmlns:a16="http://schemas.microsoft.com/office/drawing/2014/main" id="{DBDCF550-488A-4DDB-BB7F-B0A0DE69A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왜 생겼나?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CE5179-4F8F-463B-A9AA-BE9B8B34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오래된 지침이&#10;원인인지 확인">
            <a:extLst xmlns:a="http://schemas.openxmlformats.org/drawingml/2006/main">
              <a:ext uri="{FF2B5EF4-FFF2-40B4-BE49-F238E27FC236}">
                <a16:creationId xmlns:a16="http://schemas.microsoft.com/office/drawing/2014/main" id="{B1BB6893-6459-4385-9169-028DF6E71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92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오래된 지침이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원인인지 확인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9C8FB95-2755-4EB3-A5C6-B1095BC3D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29" name="04">
            <a:extLst xmlns:a="http://schemas.openxmlformats.org/drawingml/2006/main">
              <a:ext uri="{FF2B5EF4-FFF2-40B4-BE49-F238E27FC236}">
                <a16:creationId xmlns:a16="http://schemas.microsoft.com/office/drawing/2014/main" id="{60ECAA8B-0751-4C15-85CA-6F8645707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5791C9-020F-4D98-9CA9-4F76F653E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1" name="시스템 변경">
            <a:extLst xmlns:a="http://schemas.openxmlformats.org/drawingml/2006/main">
              <a:ext uri="{FF2B5EF4-FFF2-40B4-BE49-F238E27FC236}">
                <a16:creationId xmlns:a16="http://schemas.microsoft.com/office/drawing/2014/main" id="{7C431842-85D3-478B-B2DC-00599A5DE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시스템 변경</a:t>
            </a:r>
          </a:p>
        </p:txBody>
      </p:sp>
      <p:sp>
        <p:nvSpPr>
          <p:cNvPr id="32" name="어디를 바꾸나?">
            <a:extLst xmlns:a="http://schemas.openxmlformats.org/drawingml/2006/main">
              <a:ext uri="{FF2B5EF4-FFF2-40B4-BE49-F238E27FC236}">
                <a16:creationId xmlns:a16="http://schemas.microsoft.com/office/drawing/2014/main" id="{F056C370-4AB7-4B3C-BB7A-56C7A422F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어디를 바꾸나?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74DC0E7-8354-4AF1-A49D-D3E9CFEF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확인됐다면&#10;Workflow 갱신">
            <a:extLst xmlns:a="http://schemas.openxmlformats.org/drawingml/2006/main">
              <a:ext uri="{FF2B5EF4-FFF2-40B4-BE49-F238E27FC236}">
                <a16:creationId xmlns:a16="http://schemas.microsoft.com/office/drawing/2014/main" id="{7CAD9FC3-6E63-4823-90CC-245F41D4B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확인됐다면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Workflow 갱신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52BAAA-B616-42A1-9F55-351F5A72A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33750"/>
            <a:ext cx="161925" cy="1428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36" name="05">
            <a:extLst xmlns:a="http://schemas.openxmlformats.org/drawingml/2006/main">
              <a:ext uri="{FF2B5EF4-FFF2-40B4-BE49-F238E27FC236}">
                <a16:creationId xmlns:a16="http://schemas.microsoft.com/office/drawing/2014/main" id="{5B08E88C-83E2-459F-BC21-98E58E8B2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647950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05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66D7E2-3657-47EC-BB43-AFF6F950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038475"/>
            <a:ext cx="198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38" name="재평가">
            <a:extLst xmlns:a="http://schemas.openxmlformats.org/drawingml/2006/main">
              <a:ext uri="{FF2B5EF4-FFF2-40B4-BE49-F238E27FC236}">
                <a16:creationId xmlns:a16="http://schemas.microsoft.com/office/drawing/2014/main" id="{5B74CECB-393A-4507-8204-5B2F19243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171825"/>
            <a:ext cx="19812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재평가</a:t>
            </a:r>
          </a:p>
        </p:txBody>
      </p:sp>
      <p:sp>
        <p:nvSpPr>
          <p:cNvPr id="39" name="다른 작업도 괜찮나?">
            <a:extLst xmlns:a="http://schemas.openxmlformats.org/drawingml/2006/main">
              <a:ext uri="{FF2B5EF4-FFF2-40B4-BE49-F238E27FC236}">
                <a16:creationId xmlns:a16="http://schemas.microsoft.com/office/drawing/2014/main" id="{600EC583-C57B-4498-BF14-5D4D4ACDA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657600"/>
            <a:ext cx="198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다른 작업도 괜찮나?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DDBDB6F-EB2F-4557-9DAC-8B785D427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4124325"/>
            <a:ext cx="1981200" cy="1076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재실행 +&#10;다른 대표 작업">
            <a:extLst xmlns:a="http://schemas.openxmlformats.org/drawingml/2006/main">
              <a:ext uri="{FF2B5EF4-FFF2-40B4-BE49-F238E27FC236}">
                <a16:creationId xmlns:a16="http://schemas.microsoft.com/office/drawing/2014/main" id="{224D9509-D084-4A15-8274-4D0A5C62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5025" y="4181475"/>
            <a:ext cx="173355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재실행 +</a:t>
            </a:r>
          </a:p>
          <a:p xmlns:a="http://schemas.openxmlformats.org/drawingml/2006/main">
            <a:pPr algn="l">
              <a:def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다른 대표 작업</a:t>
            </a:r>
          </a:p>
        </p:txBody>
      </p:sp>
      <p:sp>
        <p:nvSpPr>
          <p:cNvPr id="42" name="다음 작업에도 영향을 주는 변경으로 연결한다.">
            <a:extLst xmlns:a="http://schemas.openxmlformats.org/drawingml/2006/main">
              <a:ext uri="{FF2B5EF4-FFF2-40B4-BE49-F238E27FC236}">
                <a16:creationId xmlns:a16="http://schemas.microsoft.com/office/drawing/2014/main" id="{3B79103C-DE47-4D2A-BA63-B6ACC3F96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다음 작업에도 영향을 주는 변경으로 연결한다.</a:t>
            </a:r>
          </a:p>
        </p:txBody>
      </p:sp>
      <p:sp>
        <p:nvSpPr>
          <p:cNvPr id="4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A7D88AE-F935-4953-8B57-0F09A0ADE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M2 · M6</a:t>
            </a:r>
          </a:p>
        </p:txBody>
      </p:sp>
    </p:spTree>
    <p:extLst>
      <p:ext uri="{BB962C8B-B14F-4D97-AF65-F5344CB8AC3E}">
        <p14:creationId xmlns:p14="http://schemas.microsoft.com/office/powerpoint/2010/main" val="84419939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Trial 평가·보고 기준">
            <a:extLst xmlns:a="http://schemas.openxmlformats.org/drawingml/2006/main">
              <a:ext uri="{FF2B5EF4-FFF2-40B4-BE49-F238E27FC236}">
                <a16:creationId xmlns:a16="http://schemas.microsoft.com/office/drawing/2014/main" id="{E8AA2A97-3F79-44FD-925A-765B465B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Trial 평가·보고 기준</a:t>
            </a:r>
          </a:p>
        </p:txBody>
      </p:sp>
      <p:sp>
        <p:nvSpPr>
          <p:cNvPr id="2" name="S77">
            <a:extLst xmlns:a="http://schemas.openxmlformats.org/drawingml/2006/main">
              <a:ext uri="{FF2B5EF4-FFF2-40B4-BE49-F238E27FC236}">
                <a16:creationId xmlns:a16="http://schemas.microsoft.com/office/drawing/2014/main" id="{6AB11393-2382-4935-A00C-A1563FD1E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S77</a:t>
            </a:r>
          </a:p>
        </p:txBody>
      </p:sp>
      <p:sp>
        <p:nvSpPr>
          <p:cNvPr id="3" name="실제 제작 기록: TRIAL-006">
            <a:extLst xmlns:a="http://schemas.openxmlformats.org/drawingml/2006/main">
              <a:ext uri="{FF2B5EF4-FFF2-40B4-BE49-F238E27FC236}">
                <a16:creationId xmlns:a16="http://schemas.microsoft.com/office/drawing/2014/main" id="{77959381-A17A-4E6F-91F4-ABA82FC76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제작 기록: TRIAL-006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DC05FC-B2C9-4403-B8ED-5A68E5CB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E38B3-A8AE-461B-AADA-86B619A80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과거 Codex CLI 조사 기록의 재구성">
            <a:extLst xmlns:a="http://schemas.openxmlformats.org/drawingml/2006/main">
              <a:ext uri="{FF2B5EF4-FFF2-40B4-BE49-F238E27FC236}">
                <a16:creationId xmlns:a16="http://schemas.microsoft.com/office/drawing/2014/main" id="{27434D4F-0E20-4B33-B600-843E56AA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과거 Codex CLI 조사 기록의 재구성</a:t>
            </a:r>
          </a:p>
        </p:txBody>
      </p:sp>
      <p:sp>
        <p:nvSpPr>
          <p:cNvPr id="7" name="앞의 가상 Workflow와 별개 사건이다. 제품 코드·Demo Skill의 수정 사례가 아니다.">
            <a:extLst xmlns:a="http://schemas.openxmlformats.org/drawingml/2006/main">
              <a:ext uri="{FF2B5EF4-FFF2-40B4-BE49-F238E27FC236}">
                <a16:creationId xmlns:a16="http://schemas.microsoft.com/office/drawing/2014/main" id="{A21200EE-1131-41B9-B71E-205F362A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가상 Workflow와 별개 사건이다. 제품 코드·Demo Skill의 수정 사례가 아니다.</a:t>
            </a:r>
          </a:p>
        </p:txBody>
      </p:sp>
      <p:sp>
        <p:nvSpPr>
          <p:cNvPr id="8" name="성능 조사에 Prompt 밖의 환경도 함께 관여했다.">
            <a:extLst xmlns:a="http://schemas.openxmlformats.org/drawingml/2006/main">
              <a:ext uri="{FF2B5EF4-FFF2-40B4-BE49-F238E27FC236}">
                <a16:creationId xmlns:a16="http://schemas.microsoft.com/office/drawing/2014/main" id="{9393F50E-E0BD-40CA-8536-7B99277D3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성능 조사에 Prompt 밖의 환경도 함께 관여했다.</a:t>
            </a:r>
          </a:p>
        </p:txBody>
      </p:sp>
      <p:sp>
        <p:nvSpPr>
          <p:cNvPr id="9" name="01">
            <a:extLst xmlns:a="http://schemas.openxmlformats.org/drawingml/2006/main">
              <a:ext uri="{FF2B5EF4-FFF2-40B4-BE49-F238E27FC236}">
                <a16:creationId xmlns:a16="http://schemas.microsoft.com/office/drawing/2014/main" id="{7ADA63D5-2352-401B-9936-FD24E8811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0" name="작업 요청">
            <a:extLst xmlns:a="http://schemas.openxmlformats.org/drawingml/2006/main">
              <a:ext uri="{FF2B5EF4-FFF2-40B4-BE49-F238E27FC236}">
                <a16:creationId xmlns:a16="http://schemas.microsoft.com/office/drawing/2014/main" id="{6E52D044-5695-408E-9081-CD9871FF3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작업 요청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BD6CF5-0874-4EC3-A3CC-24F06E68C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성능 개선 작업">
            <a:extLst xmlns:a="http://schemas.openxmlformats.org/drawingml/2006/main">
              <a:ext uri="{FF2B5EF4-FFF2-40B4-BE49-F238E27FC236}">
                <a16:creationId xmlns:a16="http://schemas.microsoft.com/office/drawing/2014/main" id="{E7D5D784-6067-43E4-B69E-BF58A57C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성능 개선 작업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B6D10-CF7C-4875-81FD-C99C8312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02">
            <a:extLst xmlns:a="http://schemas.openxmlformats.org/drawingml/2006/main">
              <a:ext uri="{FF2B5EF4-FFF2-40B4-BE49-F238E27FC236}">
                <a16:creationId xmlns:a16="http://schemas.microsoft.com/office/drawing/2014/main" id="{C471C7BC-6C27-4407-9561-09F49FE55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5" name="함께 관찰된 조건">
            <a:extLst xmlns:a="http://schemas.openxmlformats.org/drawingml/2006/main">
              <a:ext uri="{FF2B5EF4-FFF2-40B4-BE49-F238E27FC236}">
                <a16:creationId xmlns:a16="http://schemas.microsoft.com/office/drawing/2014/main" id="{2F1E8DD6-A166-4F3C-BB1D-ECAF20E7A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함께 관찰된 조건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113E4C2-A5B3-4EDA-8136-849DE3F4C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Global Skill 관여&#10;시작 경고도 기록">
            <a:extLst xmlns:a="http://schemas.openxmlformats.org/drawingml/2006/main">
              <a:ext uri="{FF2B5EF4-FFF2-40B4-BE49-F238E27FC236}">
                <a16:creationId xmlns:a16="http://schemas.microsoft.com/office/drawing/2014/main" id="{6539EF7F-3D3D-4978-AA28-E4C28C331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 관여</a:t>
            </a:r>
          </a:p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시작 경고도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226A98-812D-4724-8E2F-6C9C7711B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86150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DB4AE1C1-5562-46BE-858A-51A70C62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87655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575" b="1">
                <a:solidFill>
                  <a:srgbClr val="4D5A68"/>
                </a:solidFill>
                <a:latin typeface="Consolas"/>
                <a:ea typeface="Consolas"/>
                <a:cs typeface="Consolas"/>
              </a:defRPr>
            </a:pPr>
            <a:r>
              <a:rPr sz="1575" b="1">
                <a:solidFill>
                  <a:srgbClr val="4D5A68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결과 해석의 질문">
            <a:extLst xmlns:a="http://schemas.openxmlformats.org/drawingml/2006/main">
              <a:ext uri="{FF2B5EF4-FFF2-40B4-BE49-F238E27FC236}">
                <a16:creationId xmlns:a16="http://schemas.microsoft.com/office/drawing/2014/main" id="{6F9B7EDF-C55F-4CB0-8273-FBB35AD5A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67075"/>
            <a:ext cx="3333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 해석의 질문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370E22-0978-4877-8745-404CFC86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819525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2" name="Prompt만의 효과?&#10;귀속은 PARTIAL">
            <a:extLst xmlns:a="http://schemas.openxmlformats.org/drawingml/2006/main">
              <a:ext uri="{FF2B5EF4-FFF2-40B4-BE49-F238E27FC236}">
                <a16:creationId xmlns:a16="http://schemas.microsoft.com/office/drawing/2014/main" id="{0B0AB913-B672-4436-B60F-F9BC800C6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1002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Prompt만의 효과?</a:t>
            </a:r>
          </a:p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귀속은 PARTIAL</a:t>
            </a:r>
          </a:p>
        </p:txBody>
      </p:sp>
      <p:sp>
        <p:nvSpPr>
          <p:cNvPr id="23" name="좋은 결과가 있다는 것과 원인을 안다는 것은 별개다.">
            <a:extLst xmlns:a="http://schemas.openxmlformats.org/drawingml/2006/main">
              <a:ext uri="{FF2B5EF4-FFF2-40B4-BE49-F238E27FC236}">
                <a16:creationId xmlns:a16="http://schemas.microsoft.com/office/drawing/2014/main" id="{FDFF9B96-0ABE-410B-B783-519CA5995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좋은 결과가 있다는 것과 원인을 안다는 것은 별개다.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5CE2D866-7A08-4A19-9570-8D5536E2C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72797835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두 가지 검증 질문">
            <a:extLst xmlns:a="http://schemas.openxmlformats.org/drawingml/2006/main">
              <a:ext uri="{FF2B5EF4-FFF2-40B4-BE49-F238E27FC236}">
                <a16:creationId xmlns:a16="http://schemas.microsoft.com/office/drawing/2014/main" id="{52DB7AB6-8E0D-4C69-B652-E7DB3B2D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두 가지 검증 질문</a:t>
            </a:r>
          </a:p>
        </p:txBody>
      </p:sp>
      <p:sp>
        <p:nvSpPr>
          <p:cNvPr id="2" name="S78">
            <a:extLst xmlns:a="http://schemas.openxmlformats.org/drawingml/2006/main">
              <a:ext uri="{FF2B5EF4-FFF2-40B4-BE49-F238E27FC236}">
                <a16:creationId xmlns:a16="http://schemas.microsoft.com/office/drawing/2014/main" id="{3FB57827-FA73-475B-8C29-E273BEC6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S78</a:t>
            </a:r>
          </a:p>
        </p:txBody>
      </p:sp>
      <p:sp>
        <p:nvSpPr>
          <p:cNvPr id="3" name="결과의 타당성과 원인 귀속은 별개다">
            <a:extLst xmlns:a="http://schemas.openxmlformats.org/drawingml/2006/main">
              <a:ext uri="{FF2B5EF4-FFF2-40B4-BE49-F238E27FC236}">
                <a16:creationId xmlns:a16="http://schemas.microsoft.com/office/drawing/2014/main" id="{10A306DE-3D23-4C66-AAFC-9A18D739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결과의 타당성과 원인 귀속은 별개다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AC9E75-CDC3-41D0-B2E5-609955B7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A50CA7-AB85-4B5F-9131-87AED55FE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· resize_nearest · 7 one-call samples · 기록 재구성">
            <a:extLst xmlns:a="http://schemas.openxmlformats.org/drawingml/2006/main">
              <a:ext uri="{FF2B5EF4-FFF2-40B4-BE49-F238E27FC236}">
                <a16:creationId xmlns:a16="http://schemas.microsoft.com/office/drawing/2014/main" id="{86C70645-EE89-4C23-A5FD-939E685AB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· resize_nearest · 7 one-call samples · 기록 재구성</a:t>
            </a:r>
          </a:p>
        </p:txBody>
      </p:sp>
      <p:sp>
        <p:nvSpPr>
          <p:cNvPr id="7" name="기록된 합성 입력·CPython 3.9.6·macOS arm64의 결과. 현재 Desktop 또는 일반 효과">
            <a:extLst xmlns:a="http://schemas.openxmlformats.org/drawingml/2006/main">
              <a:ext uri="{FF2B5EF4-FFF2-40B4-BE49-F238E27FC236}">
                <a16:creationId xmlns:a16="http://schemas.microsoft.com/office/drawing/2014/main" id="{35DD7079-CDDA-45E7-BA09-CAEAA5E15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기록된 합성 입력·CPython 3.9.6·macOS arm64의 결과. 현재 Desktop 또는 일반 효과가 아니다.</a:t>
            </a:r>
          </a:p>
        </p:txBody>
      </p:sp>
      <p:sp>
        <p:nvSpPr>
          <p:cNvPr id="8" name="01">
            <a:extLst xmlns:a="http://schemas.openxmlformats.org/drawingml/2006/main">
              <a:ext uri="{FF2B5EF4-FFF2-40B4-BE49-F238E27FC236}">
                <a16:creationId xmlns:a16="http://schemas.microsoft.com/office/drawing/2014/main" id="{CC3D05D3-9367-40AD-AE72-00363C2EE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B6172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0B6172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9" name="측정 결과는 유효한가?">
            <a:extLst xmlns:a="http://schemas.openxmlformats.org/drawingml/2006/main">
              <a:ext uri="{FF2B5EF4-FFF2-40B4-BE49-F238E27FC236}">
                <a16:creationId xmlns:a16="http://schemas.microsoft.com/office/drawing/2014/main" id="{BCF8A2EC-79D5-4D46-A5F9-289C2FD9B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결과는 유효한가?</a:t>
            </a:r>
          </a:p>
        </p:txBody>
      </p:sp>
      <p:sp>
        <p:nvSpPr>
          <p:cNvPr id="10" name="02">
            <a:extLst xmlns:a="http://schemas.openxmlformats.org/drawingml/2006/main">
              <a:ext uri="{FF2B5EF4-FFF2-40B4-BE49-F238E27FC236}">
                <a16:creationId xmlns:a16="http://schemas.microsoft.com/office/drawing/2014/main" id="{7CC9966F-4421-416B-BC15-63E585F6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4787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725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1" name="무엇이 결과를 만들었나?">
            <a:extLst xmlns:a="http://schemas.openxmlformats.org/drawingml/2006/main">
              <a:ext uri="{FF2B5EF4-FFF2-40B4-BE49-F238E27FC236}">
                <a16:creationId xmlns:a16="http://schemas.microsoft.com/office/drawing/2014/main" id="{BCA2A87B-1DE0-4F57-ABB2-5C7554E9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050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무엇이 결과를 만들었나?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9C777F-F4A3-4861-8A4F-9BB1C57FC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CFA100-3023-4B95-B8AA-52F9F5D50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209925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805400"/>
            </a:solidFill>
            <a:prstDash val="solid"/>
          </a:ln>
        </p:spPr>
      </p:sp>
      <p:sp>
        <p:nvSpPr>
          <p:cNvPr id="14" name="입력·출력 hash 일치&#10;같은 조건의 측정 기록">
            <a:extLst xmlns:a="http://schemas.openxmlformats.org/drawingml/2006/main">
              <a:ext uri="{FF2B5EF4-FFF2-40B4-BE49-F238E27FC236}">
                <a16:creationId xmlns:a16="http://schemas.microsoft.com/office/drawing/2014/main" id="{21B25507-11A2-4439-8767-C4E22541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입력·출력 hash 일치</a:t>
            </a:r>
          </a:p>
          <a:p xmlns:a="http://schemas.openxmlformats.org/drawingml/2006/main">
            <a:pPr algn="l">
              <a:def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3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조건의 측정 기록</a:t>
            </a:r>
          </a:p>
        </p:txBody>
      </p:sp>
      <p:sp>
        <p:nvSpPr>
          <p:cNvPr id="15" name="Global Skill이 평가 절차에 관여&#10;Prompt만의 효과는 분리 못함">
            <a:extLst xmlns:a="http://schemas.openxmlformats.org/drawingml/2006/main">
              <a:ext uri="{FF2B5EF4-FFF2-40B4-BE49-F238E27FC236}">
                <a16:creationId xmlns:a16="http://schemas.microsoft.com/office/drawing/2014/main" id="{D4D94064-8B93-43AD-9F2F-220EAB97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57575"/>
            <a:ext cx="48768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Skill이 평가 절차에 관여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Prompt만의 효과는 분리 못함</a:t>
            </a:r>
          </a:p>
        </p:txBody>
      </p:sp>
      <p:sp>
        <p:nvSpPr>
          <p:cNvPr id="16" name="144.2 → 33.5 ms/call median">
            <a:extLst xmlns:a="http://schemas.openxmlformats.org/drawingml/2006/main">
              <a:ext uri="{FF2B5EF4-FFF2-40B4-BE49-F238E27FC236}">
                <a16:creationId xmlns:a16="http://schemas.microsoft.com/office/drawing/2014/main" id="{1D4F293D-C4C1-45CF-8D52-E11B3CC9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144.2 → 33.5 ms/call median</a:t>
            </a:r>
          </a:p>
        </p:txBody>
      </p:sp>
      <p:sp>
        <p:nvSpPr>
          <p:cNvPr id="17" name="인과 해석: PARTIAL">
            <a:extLst xmlns:a="http://schemas.openxmlformats.org/drawingml/2006/main">
              <a:ext uri="{FF2B5EF4-FFF2-40B4-BE49-F238E27FC236}">
                <a16:creationId xmlns:a16="http://schemas.microsoft.com/office/drawing/2014/main" id="{4E816586-3228-4B32-B439-61C9781B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24375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인과 해석: PARTIAL</a:t>
            </a:r>
          </a:p>
        </p:txBody>
      </p:sp>
      <p:sp>
        <p:nvSpPr>
          <p:cNvPr id="18" name="결과에 대한 확인과, 원인에 대한 확신을 따로 기록한다.">
            <a:extLst xmlns:a="http://schemas.openxmlformats.org/drawingml/2006/main">
              <a:ext uri="{FF2B5EF4-FFF2-40B4-BE49-F238E27FC236}">
                <a16:creationId xmlns:a16="http://schemas.microsoft.com/office/drawing/2014/main" id="{677FC8D7-4462-4F27-A53C-2668E26AB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8637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결과에 대한 확인과, 원인에 대한 확신을 따로 기록한다.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4219F7B2-27D4-4928-A040-A4BC6B05A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210631329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4 · OBSERVED META / 실제 기록 방식 변경">
            <a:extLst xmlns:a="http://schemas.openxmlformats.org/drawingml/2006/main">
              <a:ext uri="{FF2B5EF4-FFF2-40B4-BE49-F238E27FC236}">
                <a16:creationId xmlns:a16="http://schemas.microsoft.com/office/drawing/2014/main" id="{31600AB7-108D-4AB5-B5E6-824228CE2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실제 기록 방식 변경</a:t>
            </a:r>
          </a:p>
        </p:txBody>
      </p:sp>
      <p:sp>
        <p:nvSpPr>
          <p:cNvPr id="2" name="S79">
            <a:extLst xmlns:a="http://schemas.openxmlformats.org/drawingml/2006/main">
              <a:ext uri="{FF2B5EF4-FFF2-40B4-BE49-F238E27FC236}">
                <a16:creationId xmlns:a16="http://schemas.microsoft.com/office/drawing/2014/main" id="{EAC85C7F-1144-49A0-983A-82E9F32F5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S79</a:t>
            </a:r>
          </a:p>
        </p:txBody>
      </p:sp>
      <p:sp>
        <p:nvSpPr>
          <p:cNvPr id="3" name="평가와 보고 규칙을 Evidence에 맞추다">
            <a:extLst xmlns:a="http://schemas.openxmlformats.org/drawingml/2006/main">
              <a:ext uri="{FF2B5EF4-FFF2-40B4-BE49-F238E27FC236}">
                <a16:creationId xmlns:a16="http://schemas.microsoft.com/office/drawing/2014/main" id="{497294EC-3A4D-4064-90D8-3FE9DF954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평가와 보고 규칙을 Evidence에 맞추다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CA1D46-E53B-459B-9479-B1961D15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F1663E-A454-4F28-846F-A38F0D610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· 평가·보고 기준을 요약한 도식">
            <a:extLst xmlns:a="http://schemas.openxmlformats.org/drawingml/2006/main">
              <a:ext uri="{FF2B5EF4-FFF2-40B4-BE49-F238E27FC236}">
                <a16:creationId xmlns:a16="http://schemas.microsoft.com/office/drawing/2014/main" id="{007DE5D4-C04A-489B-9BDE-5197517F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· 평가·보고 기준을 요약한 도식</a:t>
            </a:r>
          </a:p>
        </p:txBody>
      </p:sp>
      <p:sp>
        <p:nvSpPr>
          <p:cNvPr id="7" name="제품 코드·Demo Skill 수정이 아니며, 격리 환경에서 Prompt 효과를 검증한 것도 아니다.">
            <a:extLst xmlns:a="http://schemas.openxmlformats.org/drawingml/2006/main">
              <a:ext uri="{FF2B5EF4-FFF2-40B4-BE49-F238E27FC236}">
                <a16:creationId xmlns:a16="http://schemas.microsoft.com/office/drawing/2014/main" id="{40FE3E5E-3679-46CB-9C6E-BDA9A2EE1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코드·Demo Skill 수정이 아니며, 격리 환경에서 Prompt 효과를 검증한 것도 아니다.</a:t>
            </a:r>
          </a:p>
        </p:txBody>
      </p:sp>
      <p:sp>
        <p:nvSpPr>
          <p:cNvPr id="8" name="DEC-0016 · 바뀐 것은 후속 Trial을 기록하는 기준">
            <a:extLst xmlns:a="http://schemas.openxmlformats.org/drawingml/2006/main">
              <a:ext uri="{FF2B5EF4-FFF2-40B4-BE49-F238E27FC236}">
                <a16:creationId xmlns:a16="http://schemas.microsoft.com/office/drawing/2014/main" id="{968A8A3A-8387-4195-9B56-7EEE37F9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DEC-0016 · 바뀐 것은 후속 Trial을 기록하는 기준</a:t>
            </a:r>
          </a:p>
        </p:txBody>
      </p:sp>
      <p:sp>
        <p:nvSpPr>
          <p:cNvPr id="9" name="기존 빈틈: 작업·Repository 중심으로 보고 주변 Harness 영향 설명이 부족했다.">
            <a:extLst xmlns:a="http://schemas.openxmlformats.org/drawingml/2006/main">
              <a:ext uri="{FF2B5EF4-FFF2-40B4-BE49-F238E27FC236}">
                <a16:creationId xmlns:a16="http://schemas.microsoft.com/office/drawing/2014/main" id="{0FB8CDAC-485F-4092-BB2B-AFDCF4D7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기존 빈틈: 작업·Repository 중심으로 보고 주변 Harness 영향 설명이 부족했다.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4B1A2E-0334-4958-BCDA-030996DFA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기존 결과 보존">
            <a:extLst xmlns:a="http://schemas.openxmlformats.org/drawingml/2006/main">
              <a:ext uri="{FF2B5EF4-FFF2-40B4-BE49-F238E27FC236}">
                <a16:creationId xmlns:a16="http://schemas.microsoft.com/office/drawing/2014/main" id="{DC544C55-DD76-45CC-88BD-B6610E5EB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결과 보존</a:t>
            </a:r>
          </a:p>
        </p:txBody>
      </p:sp>
      <p:sp>
        <p:nvSpPr>
          <p:cNvPr id="12" name="TRIAL-006&#10;PARTIAL로 남김">
            <a:extLst xmlns:a="http://schemas.openxmlformats.org/drawingml/2006/main">
              <a:ext uri="{FF2B5EF4-FFF2-40B4-BE49-F238E27FC236}">
                <a16:creationId xmlns:a16="http://schemas.microsoft.com/office/drawing/2014/main" id="{F005B724-1DD8-444C-95A7-2840370C0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TRIAL-006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PARTIAL로 남김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2379D1-8612-4A1E-ACAC-BBC5F004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6B2AF1-4E5B-4CE9-9F16-F10A293B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진행 조건 명시">
            <a:extLst xmlns:a="http://schemas.openxmlformats.org/drawingml/2006/main">
              <a:ext uri="{FF2B5EF4-FFF2-40B4-BE49-F238E27FC236}">
                <a16:creationId xmlns:a16="http://schemas.microsoft.com/office/drawing/2014/main" id="{68DF156D-5F3D-47E8-8ACF-4A5A51F96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진행 조건 명시</a:t>
            </a:r>
          </a:p>
        </p:txBody>
      </p:sp>
      <p:sp>
        <p:nvSpPr>
          <p:cNvPr id="16" name="clean isolation을&#10;진행 조건으로 두지 않음">
            <a:extLst xmlns:a="http://schemas.openxmlformats.org/drawingml/2006/main">
              <a:ext uri="{FF2B5EF4-FFF2-40B4-BE49-F238E27FC236}">
                <a16:creationId xmlns:a16="http://schemas.microsoft.com/office/drawing/2014/main" id="{D43C1499-884C-4838-B351-7380F2520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clean isolation을</a:t>
            </a:r>
          </a:p>
          <a:p xmlns:a="http://schemas.openxmlformats.org/drawingml/2006/main">
            <a:pPr algn="l">
              <a:def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진행 조건으로 두지 않음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393600-71A0-443A-AEEB-16754A3E6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762375"/>
            <a:ext cx="257175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6172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7EE5F6-139E-4BA9-970A-A49C3BFA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352800"/>
            <a:ext cx="3333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후속 기록 변경">
            <a:extLst xmlns:a="http://schemas.openxmlformats.org/drawingml/2006/main">
              <a:ext uri="{FF2B5EF4-FFF2-40B4-BE49-F238E27FC236}">
                <a16:creationId xmlns:a16="http://schemas.microsoft.com/office/drawing/2014/main" id="{4E743B65-03EA-4248-B92C-F2EDB1C1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24250"/>
            <a:ext cx="3333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후속 기록 변경</a:t>
            </a:r>
          </a:p>
        </p:txBody>
      </p:sp>
      <p:sp>
        <p:nvSpPr>
          <p:cNvPr id="20" name="관찰된 환경 영향을&#10;다음 Trial에 함께 기록">
            <a:extLst xmlns:a="http://schemas.openxmlformats.org/drawingml/2006/main">
              <a:ext uri="{FF2B5EF4-FFF2-40B4-BE49-F238E27FC236}">
                <a16:creationId xmlns:a16="http://schemas.microsoft.com/office/drawing/2014/main" id="{FBCD1FD2-B373-479D-B44D-A2A3E028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105275"/>
            <a:ext cx="3333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관찰된 환경 영향을</a:t>
            </a:r>
          </a:p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Trial에 함께 기록</a:t>
            </a:r>
          </a:p>
        </p:txBody>
      </p:sp>
      <p:sp>
        <p:nvSpPr>
          <p:cNvPr id="21" name="기록 대상: Skills · 경고 / 실행·사용 여부 · 결과를 설명할 수 있는 범위">
            <a:extLst xmlns:a="http://schemas.openxmlformats.org/drawingml/2006/main">
              <a:ext uri="{FF2B5EF4-FFF2-40B4-BE49-F238E27FC236}">
                <a16:creationId xmlns:a16="http://schemas.microsoft.com/office/drawing/2014/main" id="{330282EA-1C7C-4540-B4A8-E2F3EB9CC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67325"/>
            <a:ext cx="10972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기록 대상: Skills · 경고 / 실행·사용 여부 · 결과를 설명할 수 있는 범위</a:t>
            </a:r>
          </a:p>
        </p:txBody>
      </p:sp>
      <p:sp>
        <p:nvSpPr>
          <p:cNvPr id="22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CE5A1D5E-349C-466C-BF48-150CBD284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신규 확장</a:t>
            </a:r>
          </a:p>
        </p:txBody>
      </p:sp>
    </p:spTree>
    <p:extLst>
      <p:ext uri="{BB962C8B-B14F-4D97-AF65-F5344CB8AC3E}">
        <p14:creationId xmlns:p14="http://schemas.microsoft.com/office/powerpoint/2010/main" val="200669052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ACT 4 · OBSERVED META / 후속 기록 대조">
            <a:extLst xmlns:a="http://schemas.openxmlformats.org/drawingml/2006/main">
              <a:ext uri="{FF2B5EF4-FFF2-40B4-BE49-F238E27FC236}">
                <a16:creationId xmlns:a16="http://schemas.microsoft.com/office/drawing/2014/main" id="{934D1341-2DC3-4E96-A29A-4E39ECBA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후속 기록 대조</a:t>
            </a:r>
          </a:p>
        </p:txBody>
      </p:sp>
      <p:sp>
        <p:nvSpPr>
          <p:cNvPr id="2" name="S80">
            <a:extLst xmlns:a="http://schemas.openxmlformats.org/drawingml/2006/main">
              <a:ext uri="{FF2B5EF4-FFF2-40B4-BE49-F238E27FC236}">
                <a16:creationId xmlns:a16="http://schemas.microsoft.com/office/drawing/2014/main" id="{7C83FC28-D523-4233-833B-00A8D4F8C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S80</a:t>
            </a:r>
          </a:p>
        </p:txBody>
      </p:sp>
      <p:sp>
        <p:nvSpPr>
          <p:cNvPr id="3" name="후속 기록은 개선됐지만 완전하지 않았다">
            <a:extLst xmlns:a="http://schemas.openxmlformats.org/drawingml/2006/main">
              <a:ext uri="{FF2B5EF4-FFF2-40B4-BE49-F238E27FC236}">
                <a16:creationId xmlns:a16="http://schemas.microsoft.com/office/drawing/2014/main" id="{F8987BDF-082A-4384-AB1E-1D6A4AD12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후속 기록은 개선됐지만 완전하지 않았다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2FBC9B-0BB6-4103-9501-C2BB06F2F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4D910A-7E03-4AFB-9B48-DF8EFE2C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7/008 · DEC-0016 · 원문 기록의 의미를 요약한 도식">
            <a:extLst xmlns:a="http://schemas.openxmlformats.org/drawingml/2006/main">
              <a:ext uri="{FF2B5EF4-FFF2-40B4-BE49-F238E27FC236}">
                <a16:creationId xmlns:a16="http://schemas.microsoft.com/office/drawing/2014/main" id="{2ECCF989-BB2E-451E-970C-CCAA2E23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TRIAL-007/008 · DEC-0016 · 원문 기록의 의미를 요약한 도식</a:t>
            </a:r>
          </a:p>
        </p:txBody>
      </p:sp>
      <p:sp>
        <p:nvSpPr>
          <p:cNvPr id="7" name="MCP 작업 결과는 없음. 완전한 환경 목록이나 측정된 품질 향상을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77D8B107-27B8-49E0-A61A-319E3C95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MCP 작업 결과는 없음. 완전한 환경 목록이나 측정된 품질 향상을 뜻하지 않는다.</a:t>
            </a:r>
          </a:p>
        </p:txBody>
      </p:sp>
      <p:sp>
        <p:nvSpPr>
          <p:cNvPr id="8" name="TRIAL-007">
            <a:extLst xmlns:a="http://schemas.openxmlformats.org/drawingml/2006/main">
              <a:ext uri="{FF2B5EF4-FFF2-40B4-BE49-F238E27FC236}">
                <a16:creationId xmlns:a16="http://schemas.microsoft.com/office/drawing/2014/main" id="{5D3C2CFF-D683-46A7-A554-A432A72D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57400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TRIAL-007</a:t>
            </a:r>
          </a:p>
        </p:txBody>
      </p:sp>
      <p:sp>
        <p:nvSpPr>
          <p:cNvPr id="9" name="보고와 원문을 대조">
            <a:extLst xmlns:a="http://schemas.openxmlformats.org/drawingml/2006/main">
              <a:ext uri="{FF2B5EF4-FFF2-40B4-BE49-F238E27FC236}">
                <a16:creationId xmlns:a16="http://schemas.microsoft.com/office/drawing/2014/main" id="{EBF35075-F759-4503-93FE-E049404B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5181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보고와 원문을 대조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EBFA09-721C-4825-B791-43FB7C40E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181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최종 보고">
            <a:extLst xmlns:a="http://schemas.openxmlformats.org/drawingml/2006/main">
              <a:ext uri="{FF2B5EF4-FFF2-40B4-BE49-F238E27FC236}">
                <a16:creationId xmlns:a16="http://schemas.microsoft.com/office/drawing/2014/main" id="{59D6896E-415E-40B7-A4DF-B62F20FD6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67075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최종 보고</a:t>
            </a:r>
          </a:p>
        </p:txBody>
      </p:sp>
      <p:sp>
        <p:nvSpPr>
          <p:cNvPr id="12" name="MCP 경고 없음">
            <a:extLst xmlns:a="http://schemas.openxmlformats.org/drawingml/2006/main">
              <a:ext uri="{FF2B5EF4-FFF2-40B4-BE49-F238E27FC236}">
                <a16:creationId xmlns:a16="http://schemas.microsoft.com/office/drawing/2014/main" id="{E8577EC0-7350-4323-8744-205D94C7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51816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MCP 경고 없음</a:t>
            </a:r>
          </a:p>
        </p:txBody>
      </p:sp>
      <p:sp>
        <p:nvSpPr>
          <p:cNvPr id="13" name="보존된 stderr · 진단 메시지 출력">
            <a:extLst xmlns:a="http://schemas.openxmlformats.org/drawingml/2006/main">
              <a:ext uri="{FF2B5EF4-FFF2-40B4-BE49-F238E27FC236}">
                <a16:creationId xmlns:a16="http://schemas.microsoft.com/office/drawing/2014/main" id="{7537EF98-CA26-4320-A749-8E3C42177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51816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보존된 stderr · 진단 메시지 출력</a:t>
            </a:r>
          </a:p>
        </p:txBody>
      </p:sp>
      <p:sp>
        <p:nvSpPr>
          <p:cNvPr id="14" name="Nimble AuthRequired">
            <a:extLst xmlns:a="http://schemas.openxmlformats.org/drawingml/2006/main">
              <a:ext uri="{FF2B5EF4-FFF2-40B4-BE49-F238E27FC236}">
                <a16:creationId xmlns:a16="http://schemas.microsoft.com/office/drawing/2014/main" id="{04CE96BD-C108-440C-A4A4-B70A7B8EF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518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Nimble AuthRequired</a:t>
            </a:r>
          </a:p>
        </p:txBody>
      </p:sp>
      <p:sp>
        <p:nvSpPr>
          <p:cNvPr id="15" name="인증 필요 경고">
            <a:extLst xmlns:a="http://schemas.openxmlformats.org/drawingml/2006/main">
              <a:ext uri="{FF2B5EF4-FFF2-40B4-BE49-F238E27FC236}">
                <a16:creationId xmlns:a16="http://schemas.microsoft.com/office/drawing/2014/main" id="{1555D516-1F03-4DEE-8D65-2B361031E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67300"/>
            <a:ext cx="51816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인증 필요 경고</a:t>
            </a:r>
          </a:p>
        </p:txBody>
      </p:sp>
      <p:sp>
        <p:nvSpPr>
          <p:cNvPr id="16" name="TRIAL-008">
            <a:extLst xmlns:a="http://schemas.openxmlformats.org/drawingml/2006/main">
              <a:ext uri="{FF2B5EF4-FFF2-40B4-BE49-F238E27FC236}">
                <a16:creationId xmlns:a16="http://schemas.microsoft.com/office/drawing/2014/main" id="{57DEA3AC-B536-487D-A8F9-32789A5B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057400"/>
            <a:ext cx="487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TRIAL-008</a:t>
            </a:r>
          </a:p>
        </p:txBody>
      </p:sp>
      <p:sp>
        <p:nvSpPr>
          <p:cNvPr id="17" name="사용 경로를 구분해 기록">
            <a:extLst xmlns:a="http://schemas.openxmlformats.org/drawingml/2006/main">
              <a:ext uri="{FF2B5EF4-FFF2-40B4-BE49-F238E27FC236}">
                <a16:creationId xmlns:a16="http://schemas.microsoft.com/office/drawing/2014/main" id="{6A2765F9-B35D-495E-B080-9265AE06E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52700"/>
            <a:ext cx="487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사용 경로를 구분해 기록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24B37F4-D54A-4CD9-BD9B-E3E34DA35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0670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4879FA-220B-47E5-AC6A-E8C1736A3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432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epository Skill 호출">
            <a:extLst xmlns:a="http://schemas.openxmlformats.org/drawingml/2006/main">
              <a:ext uri="{FF2B5EF4-FFF2-40B4-BE49-F238E27FC236}">
                <a16:creationId xmlns:a16="http://schemas.microsoft.com/office/drawing/2014/main" id="{027F3CE2-1D1E-4809-86E8-421BA39AF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5337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Repository Skill 호출</a:t>
            </a:r>
          </a:p>
        </p:txBody>
      </p:sp>
      <p:sp>
        <p:nvSpPr>
          <p:cNvPr id="21" name="별도 기록">
            <a:extLst xmlns:a="http://schemas.openxmlformats.org/drawingml/2006/main">
              <a:ext uri="{FF2B5EF4-FFF2-40B4-BE49-F238E27FC236}">
                <a16:creationId xmlns:a16="http://schemas.microsoft.com/office/drawing/2014/main" id="{5BA8067C-D4CC-4F3C-BEB7-065A931D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276725"/>
            <a:ext cx="4876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별도 기록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1B1BF1-A5AD-49F7-980A-0F202C34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14875"/>
            <a:ext cx="48768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FF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Global influence">
            <a:extLst xmlns:a="http://schemas.openxmlformats.org/drawingml/2006/main">
              <a:ext uri="{FF2B5EF4-FFF2-40B4-BE49-F238E27FC236}">
                <a16:creationId xmlns:a16="http://schemas.microsoft.com/office/drawing/2014/main" id="{20852A99-F81E-4044-9CF5-506160C6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905375"/>
            <a:ext cx="449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Global influence</a:t>
            </a:r>
          </a:p>
        </p:txBody>
      </p:sp>
      <p:sp>
        <p:nvSpPr>
          <p:cNvPr id="24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673235C5-A753-42A5-B757-3417D46D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123098304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ACT 4 · OBSERVED META / 사례 회수">
            <a:extLst xmlns:a="http://schemas.openxmlformats.org/drawingml/2006/main">
              <a:ext uri="{FF2B5EF4-FFF2-40B4-BE49-F238E27FC236}">
                <a16:creationId xmlns:a16="http://schemas.microsoft.com/office/drawing/2014/main" id="{48682387-40F7-441B-AF7C-61A6906E2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OBSERVED META / 사례 회수</a:t>
            </a:r>
          </a:p>
        </p:txBody>
      </p:sp>
      <p:sp>
        <p:nvSpPr>
          <p:cNvPr id="2" name="S81">
            <a:extLst xmlns:a="http://schemas.openxmlformats.org/drawingml/2006/main">
              <a:ext uri="{FF2B5EF4-FFF2-40B4-BE49-F238E27FC236}">
                <a16:creationId xmlns:a16="http://schemas.microsoft.com/office/drawing/2014/main" id="{A3806768-ABE6-4579-86AE-A92A6939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S81</a:t>
            </a:r>
          </a:p>
        </p:txBody>
      </p:sp>
      <p:sp>
        <p:nvSpPr>
          <p:cNvPr id="3" name="실제 Meta Loop에서 바뀐 것">
            <a:extLst xmlns:a="http://schemas.openxmlformats.org/drawingml/2006/main">
              <a:ext uri="{FF2B5EF4-FFF2-40B4-BE49-F238E27FC236}">
                <a16:creationId xmlns:a16="http://schemas.microsoft.com/office/drawing/2014/main" id="{F49A7C12-52B8-4802-AC7D-76269E3DA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실제 Meta Loop에서 바뀐 것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9B5D6A-CE5B-48E7-841F-970F0A6C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27BA54-7D55-4EEF-9D34-B9BD3BB69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0B6172"/>
            </a:solidFill>
            <a:prstDash val="solid"/>
          </a:ln>
        </p:spPr>
      </p:sp>
      <p:sp>
        <p:nvSpPr>
          <p:cNvPr id="6" name="TRIAL-006 → DEC-0016 → TRIAL-007/008 · 실제 제작 기록">
            <a:extLst xmlns:a="http://schemas.openxmlformats.org/drawingml/2006/main">
              <a:ext uri="{FF2B5EF4-FFF2-40B4-BE49-F238E27FC236}">
                <a16:creationId xmlns:a16="http://schemas.microsoft.com/office/drawing/2014/main" id="{B1A49D25-9C16-44E7-9841-CD07CB1C6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TRIAL-006 → DEC-0016 → TRIAL-007/008 · 실제 제작 기록</a:t>
            </a:r>
          </a:p>
        </p:txBody>
      </p:sp>
      <p:sp>
        <p:nvSpPr>
          <p:cNvPr id="7" name="제품 코드의 개선이나 가상 stale Workflow의 복구 이력이 아니다.">
            <a:extLst xmlns:a="http://schemas.openxmlformats.org/drawingml/2006/main">
              <a:ext uri="{FF2B5EF4-FFF2-40B4-BE49-F238E27FC236}">
                <a16:creationId xmlns:a16="http://schemas.microsoft.com/office/drawing/2014/main" id="{0EB32EE9-41D0-4614-9B09-27C43231C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제품 코드의 개선이나 가상 stale Workflow의 복구 이력이 아니다.</a:t>
            </a:r>
          </a:p>
        </p:txBody>
      </p:sp>
      <p:sp>
        <p:nvSpPr>
          <p:cNvPr id="8" name="바뀐 대상">
            <a:extLst xmlns:a="http://schemas.openxmlformats.org/drawingml/2006/main">
              <a:ext uri="{FF2B5EF4-FFF2-40B4-BE49-F238E27FC236}">
                <a16:creationId xmlns:a16="http://schemas.microsoft.com/office/drawing/2014/main" id="{10DE5EA4-0FAC-43EE-B7AF-70A30C515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10972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바뀐 대상</a:t>
            </a:r>
          </a:p>
        </p:txBody>
      </p:sp>
      <p:sp>
        <p:nvSpPr>
          <p:cNvPr id="9" name="Trial을 평가하고 보고하는 기준">
            <a:extLst xmlns:a="http://schemas.openxmlformats.org/drawingml/2006/main">
              <a:ext uri="{FF2B5EF4-FFF2-40B4-BE49-F238E27FC236}">
                <a16:creationId xmlns:a16="http://schemas.microsoft.com/office/drawing/2014/main" id="{991CFE42-31F9-41D8-B605-7CF6B7327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812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Trial을 평가하고 보고하는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A7CE0D-4000-47BB-8AF1-7B0DD52F1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남아 있는 확인 과제">
            <a:extLst xmlns:a="http://schemas.openxmlformats.org/drawingml/2006/main">
              <a:ext uri="{FF2B5EF4-FFF2-40B4-BE49-F238E27FC236}">
                <a16:creationId xmlns:a16="http://schemas.microsoft.com/office/drawing/2014/main" id="{29FC53B8-2F24-4C0A-82F7-59623B38E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62350"/>
            <a:ext cx="109728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남아 있는 확인 과제</a:t>
            </a:r>
          </a:p>
        </p:txBody>
      </p:sp>
      <p:sp>
        <p:nvSpPr>
          <p:cNvPr id="12" name="원인별 효과">
            <a:extLst xmlns:a="http://schemas.openxmlformats.org/drawingml/2006/main">
              <a:ext uri="{FF2B5EF4-FFF2-40B4-BE49-F238E27FC236}">
                <a16:creationId xmlns:a16="http://schemas.microsoft.com/office/drawing/2014/main" id="{AD6C20CA-ECF1-4DAD-A5E8-04873EC8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원인별 효과</a:t>
            </a:r>
          </a:p>
        </p:txBody>
      </p:sp>
      <p:sp>
        <p:nvSpPr>
          <p:cNvPr id="13" name="무엇이 기여했는가?">
            <a:extLst xmlns:a="http://schemas.openxmlformats.org/drawingml/2006/main">
              <a:ext uri="{FF2B5EF4-FFF2-40B4-BE49-F238E27FC236}">
                <a16:creationId xmlns:a16="http://schemas.microsoft.com/office/drawing/2014/main" id="{681CF311-398A-48DD-BAB3-6C1A7395A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무엇이 기여했는가?</a:t>
            </a:r>
          </a:p>
        </p:txBody>
      </p:sp>
      <p:sp>
        <p:nvSpPr>
          <p:cNvPr id="14" name="환경 목록의 완전성">
            <a:extLst xmlns:a="http://schemas.openxmlformats.org/drawingml/2006/main">
              <a:ext uri="{FF2B5EF4-FFF2-40B4-BE49-F238E27FC236}">
                <a16:creationId xmlns:a16="http://schemas.microsoft.com/office/drawing/2014/main" id="{1A851ABE-ADF5-4598-9800-C9DF55CB1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환경 목록의 완전성</a:t>
            </a:r>
          </a:p>
        </p:txBody>
      </p:sp>
      <p:sp>
        <p:nvSpPr>
          <p:cNvPr id="15" name="빠진 조건은 없는가?">
            <a:extLst xmlns:a="http://schemas.openxmlformats.org/drawingml/2006/main">
              <a:ext uri="{FF2B5EF4-FFF2-40B4-BE49-F238E27FC236}">
                <a16:creationId xmlns:a16="http://schemas.microsoft.com/office/drawing/2014/main" id="{36073B8D-880F-4B6B-B26A-30508E37F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빠진 조건은 없는가?</a:t>
            </a:r>
          </a:p>
        </p:txBody>
      </p:sp>
      <p:sp>
        <p:nvSpPr>
          <p:cNvPr id="16" name="Trial 품질의 향상">
            <a:extLst xmlns:a="http://schemas.openxmlformats.org/drawingml/2006/main">
              <a:ext uri="{FF2B5EF4-FFF2-40B4-BE49-F238E27FC236}">
                <a16:creationId xmlns:a16="http://schemas.microsoft.com/office/drawing/2014/main" id="{1D7577CE-52B7-4CA3-B1BB-3682436A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219575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Trial 품질의 향상</a:t>
            </a:r>
          </a:p>
        </p:txBody>
      </p:sp>
      <p:sp>
        <p:nvSpPr>
          <p:cNvPr id="17" name="실제로 더 좋아졌는가?">
            <a:extLst xmlns:a="http://schemas.openxmlformats.org/drawingml/2006/main">
              <a:ext uri="{FF2B5EF4-FFF2-40B4-BE49-F238E27FC236}">
                <a16:creationId xmlns:a16="http://schemas.microsoft.com/office/drawing/2014/main" id="{83300E90-CDF4-4D17-88B7-B3FDF379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676775"/>
            <a:ext cx="33337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실제로 더 좋아졌는가?</a:t>
            </a:r>
          </a:p>
        </p:txBody>
      </p:sp>
      <p:sp>
        <p:nvSpPr>
          <p:cNvPr id="18" name="Feedback은 평가 체계도 바꿀 수 있다. 변경 뒤의 결과는 다시 확인한다.">
            <a:extLst xmlns:a="http://schemas.openxmlformats.org/drawingml/2006/main">
              <a:ext uri="{FF2B5EF4-FFF2-40B4-BE49-F238E27FC236}">
                <a16:creationId xmlns:a16="http://schemas.microsoft.com/office/drawing/2014/main" id="{5BB4B852-9130-4876-A6DC-68B4C4EFC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9590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Feedback은 평가 체계도 바꿀 수 있다. 변경 뒤의 결과는 다시 확인한다.</a:t>
            </a:r>
          </a:p>
        </p:txBody>
      </p:sp>
      <p:sp>
        <p:nvSpPr>
          <p:cNvPr id="19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FEB9B00E-CA7E-41A4-B01A-A7518DB1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M6</a:t>
            </a:r>
          </a:p>
        </p:txBody>
      </p:sp>
    </p:spTree>
    <p:extLst>
      <p:ext uri="{BB962C8B-B14F-4D97-AF65-F5344CB8AC3E}">
        <p14:creationId xmlns:p14="http://schemas.microsoft.com/office/powerpoint/2010/main" val="51776006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ACT 4 · C++ VISION / 적용을 위한 가상 질문">
            <a:extLst xmlns:a="http://schemas.openxmlformats.org/drawingml/2006/main">
              <a:ext uri="{FF2B5EF4-FFF2-40B4-BE49-F238E27FC236}">
                <a16:creationId xmlns:a16="http://schemas.microsoft.com/office/drawing/2014/main" id="{4A67088E-801C-45AF-A189-4BF6AF63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4 · C++ VISION / 적용을 위한 가상 질문</a:t>
            </a:r>
          </a:p>
        </p:txBody>
      </p:sp>
      <p:sp>
        <p:nvSpPr>
          <p:cNvPr id="2" name="S82">
            <a:extLst xmlns:a="http://schemas.openxmlformats.org/drawingml/2006/main">
              <a:ext uri="{FF2B5EF4-FFF2-40B4-BE49-F238E27FC236}">
                <a16:creationId xmlns:a16="http://schemas.microsoft.com/office/drawing/2014/main" id="{56398E56-0303-44F1-9BEA-8A5666D0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S82</a:t>
            </a:r>
          </a:p>
        </p:txBody>
      </p:sp>
      <p:sp>
        <p:nvSpPr>
          <p:cNvPr id="3" name="Project와 환경이 바뀌면&#10;검증도 다시 본다">
            <a:extLst xmlns:a="http://schemas.openxmlformats.org/drawingml/2006/main">
              <a:ext uri="{FF2B5EF4-FFF2-40B4-BE49-F238E27FC236}">
                <a16:creationId xmlns:a16="http://schemas.microsoft.com/office/drawing/2014/main" id="{FC0909D1-CD2D-46FE-99F4-CAF81C16A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Project와 환경이 바뀌면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검증도 다시 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C30937-C917-45EA-A43A-82ADD02F0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dash"/>
          </a:ln>
        </p:spPr>
      </p:sp>
      <p:sp>
        <p:nvSpPr>
          <p:cNvPr id="5" name="BEAT-059 · TRANS-012 · 교육용 전이 모델 · AI 생성 설명용 삽화">
            <a:extLst xmlns:a="http://schemas.openxmlformats.org/drawingml/2006/main">
              <a:ext uri="{FF2B5EF4-FFF2-40B4-BE49-F238E27FC236}">
                <a16:creationId xmlns:a16="http://schemas.microsoft.com/office/drawing/2014/main" id="{796EAF9B-273A-4C8F-82CB-7C230F108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BEAT-059 · TRANS-012 · 교육용 전이 모델 · AI 생성 설명용 삽화</a:t>
            </a:r>
          </a:p>
        </p:txBody>
      </p:sp>
      <p:sp>
        <p:nvSpPr>
          <p:cNvPr id="6" name="실제 C++ 사건·성능 결과가 아닙니다. 변경 표시는 확인할 조건을 뜻하며 원인이나 결과를 단정하지 않습니다">
            <a:extLst xmlns:a="http://schemas.openxmlformats.org/drawingml/2006/main">
              <a:ext uri="{FF2B5EF4-FFF2-40B4-BE49-F238E27FC236}">
                <a16:creationId xmlns:a16="http://schemas.microsoft.com/office/drawing/2014/main" id="{2C573C9A-3B16-437B-98BA-530D66CD5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980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실제 C++ 사건·성능 결과가 아닙니다. 변경 표시는 확인할 조건을 뜻하며 원인이나 결과를 단정하지 않습니다.</a:t>
            </a:r>
          </a:p>
        </p:txBody>
      </p:sp>
      <p:sp>
        <p:nvSpPr>
          <p:cNvPr id="7" name="GPU · 빌드 · 측정 조건이 달라졌다면?">
            <a:extLst xmlns:a="http://schemas.openxmlformats.org/drawingml/2006/main">
              <a:ext uri="{FF2B5EF4-FFF2-40B4-BE49-F238E27FC236}">
                <a16:creationId xmlns:a16="http://schemas.microsoft.com/office/drawing/2014/main" id="{6BC95A23-6266-4E3B-9163-AD1D7D7E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002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GPU · 빌드 · 측정 조건이 달라졌다면?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3461D8-5C25-4C16-9867-024E436A686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24c668a64a4cff"/>
          <a:srcRect xmlns:a="http://schemas.openxmlformats.org/drawingml/2006/main" l="0" t="6000" r="0" b="10000"/>
          <a:stretch xmlns:a="http://schemas.openxmlformats.org/drawingml/2006/main"/>
        </p:blipFill>
        <p:spPr>
          <a:xfrm xmlns:a="http://schemas.openxmlformats.org/drawingml/2006/main">
            <a:off x="609600" y="2676525"/>
            <a:ext cx="6858000" cy="1924050"/>
          </a:xfrm>
          <a:prstGeom xmlns:a="http://schemas.openxmlformats.org/drawingml/2006/main" prst="rect">
            <a:avLst/>
          </a:prstGeom>
        </p:spPr>
      </p:pic>
      <p:sp>
        <p:nvSpPr>
          <p:cNvPr id="9" name="입력">
            <a:extLst xmlns:a="http://schemas.openxmlformats.org/drawingml/2006/main">
              <a:ext uri="{FF2B5EF4-FFF2-40B4-BE49-F238E27FC236}">
                <a16:creationId xmlns:a16="http://schemas.microsoft.com/office/drawing/2014/main" id="{6858C2F6-F17D-4CE9-916C-6A635901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</a:t>
            </a:r>
          </a:p>
        </p:txBody>
      </p:sp>
      <p:sp>
        <p:nvSpPr>
          <p:cNvPr id="10" name="처리 코드">
            <a:extLst xmlns:a="http://schemas.openxmlformats.org/drawingml/2006/main">
              <a:ext uri="{FF2B5EF4-FFF2-40B4-BE49-F238E27FC236}">
                <a16:creationId xmlns:a16="http://schemas.microsoft.com/office/drawing/2014/main" id="{0B7AEB3B-C0DB-43B5-9522-9106DDBD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676775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처리 코드</a:t>
            </a:r>
          </a:p>
        </p:txBody>
      </p:sp>
      <p:sp>
        <p:nvSpPr>
          <p:cNvPr id="11" name="실행 장치 · 변경 조건">
            <a:extLst xmlns:a="http://schemas.openxmlformats.org/drawingml/2006/main">
              <a:ext uri="{FF2B5EF4-FFF2-40B4-BE49-F238E27FC236}">
                <a16:creationId xmlns:a16="http://schemas.microsoft.com/office/drawing/2014/main" id="{31A5963F-111E-4779-A520-7E76C51C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6767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실행 장치 · 변경 조건</a:t>
            </a:r>
          </a:p>
        </p:txBody>
      </p:sp>
      <p:sp>
        <p:nvSpPr>
          <p:cNvPr id="12" name="출력">
            <a:extLst xmlns:a="http://schemas.openxmlformats.org/drawingml/2006/main">
              <a:ext uri="{FF2B5EF4-FFF2-40B4-BE49-F238E27FC236}">
                <a16:creationId xmlns:a16="http://schemas.microsoft.com/office/drawing/2014/main" id="{FFEBA476-1099-49B9-9126-F5ACB60C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7677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500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출력</a:t>
            </a:r>
          </a:p>
        </p:txBody>
      </p:sp>
      <p:sp>
        <p:nvSpPr>
          <p:cNvPr id="13" name="01">
            <a:extLst xmlns:a="http://schemas.openxmlformats.org/drawingml/2006/main">
              <a:ext uri="{FF2B5EF4-FFF2-40B4-BE49-F238E27FC236}">
                <a16:creationId xmlns:a16="http://schemas.microsoft.com/office/drawing/2014/main" id="{A869683A-9BEB-4D12-8F06-6C122B62B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48602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01</a:t>
            </a:r>
          </a:p>
        </p:txBody>
      </p:sp>
      <p:sp>
        <p:nvSpPr>
          <p:cNvPr id="14" name="기존 가정">
            <a:extLst xmlns:a="http://schemas.openxmlformats.org/drawingml/2006/main">
              <a:ext uri="{FF2B5EF4-FFF2-40B4-BE49-F238E27FC236}">
                <a16:creationId xmlns:a16="http://schemas.microsoft.com/office/drawing/2014/main" id="{A6EEB0F1-B6E8-4FB9-8058-859C4B886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48602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기존 가정</a:t>
            </a:r>
          </a:p>
        </p:txBody>
      </p:sp>
      <p:sp>
        <p:nvSpPr>
          <p:cNvPr id="15" name="어떤 조건에서&#10;맞던 판단인가?">
            <a:extLst xmlns:a="http://schemas.openxmlformats.org/drawingml/2006/main">
              <a:ext uri="{FF2B5EF4-FFF2-40B4-BE49-F238E27FC236}">
                <a16:creationId xmlns:a16="http://schemas.microsoft.com/office/drawing/2014/main" id="{89D9A512-D9CF-464F-A230-D7271C4D0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0987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어떤 조건에서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맞던 판단인가?</a:t>
            </a:r>
          </a:p>
        </p:txBody>
      </p:sp>
      <p:sp>
        <p:nvSpPr>
          <p:cNvPr id="16" name="02">
            <a:extLst xmlns:a="http://schemas.openxmlformats.org/drawingml/2006/main">
              <a:ext uri="{FF2B5EF4-FFF2-40B4-BE49-F238E27FC236}">
                <a16:creationId xmlns:a16="http://schemas.microsoft.com/office/drawing/2014/main" id="{B6C4CC6C-0BC9-4933-9676-FF0BA0611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371850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02</a:t>
            </a:r>
          </a:p>
        </p:txBody>
      </p:sp>
      <p:sp>
        <p:nvSpPr>
          <p:cNvPr id="17" name="측정 조건">
            <a:extLst xmlns:a="http://schemas.openxmlformats.org/drawingml/2006/main">
              <a:ext uri="{FF2B5EF4-FFF2-40B4-BE49-F238E27FC236}">
                <a16:creationId xmlns:a16="http://schemas.microsoft.com/office/drawing/2014/main" id="{25F7C3F6-665C-4C50-A25E-D95E8C79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71850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측정 조건</a:t>
            </a:r>
          </a:p>
        </p:txBody>
      </p:sp>
      <p:sp>
        <p:nvSpPr>
          <p:cNvPr id="18" name="입력과 실행 조건은&#10;비교 가능한가?">
            <a:extLst xmlns:a="http://schemas.openxmlformats.org/drawingml/2006/main">
              <a:ext uri="{FF2B5EF4-FFF2-40B4-BE49-F238E27FC236}">
                <a16:creationId xmlns:a16="http://schemas.microsoft.com/office/drawing/2014/main" id="{07C2D765-DE7D-4A29-AFCC-46CE7F46B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95700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입력과 실행 조건은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비교 가능한가?</a:t>
            </a:r>
          </a:p>
        </p:txBody>
      </p:sp>
      <p:sp>
        <p:nvSpPr>
          <p:cNvPr id="19" name="03">
            <a:extLst xmlns:a="http://schemas.openxmlformats.org/drawingml/2006/main">
              <a:ext uri="{FF2B5EF4-FFF2-40B4-BE49-F238E27FC236}">
                <a16:creationId xmlns:a16="http://schemas.microsoft.com/office/drawing/2014/main" id="{105379A2-E674-4D78-A987-7486DE432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257675"/>
            <a:ext cx="38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defPPr>
            <a:lvl1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1pPr>
            <a:lvl2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2pPr>
            <a:lvl3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3pPr>
            <a:lvl4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4pPr>
            <a:lvl5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5pPr>
            <a:lvl6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6pPr>
            <a:lvl7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7pPr>
            <a:lvl8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8pPr>
            <a:lvl9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805400"/>
                </a:solidFill>
                <a:latin typeface="Consolas"/>
                <a:ea typeface="Consolas"/>
                <a:cs typeface="Consolas"/>
              </a:defRPr>
            </a:pPr>
            <a:r>
              <a:rPr sz="1650" b="1">
                <a:solidFill>
                  <a:srgbClr val="805400"/>
                </a:solidFill>
                <a:latin typeface="Consolas"/>
                <a:ea typeface="Consolas"/>
                <a:cs typeface="Consolas"/>
              </a:rPr>
              <a:t>03</a:t>
            </a:r>
          </a:p>
        </p:txBody>
      </p:sp>
      <p:sp>
        <p:nvSpPr>
          <p:cNvPr id="20" name="기능 계약">
            <a:extLst xmlns:a="http://schemas.openxmlformats.org/drawingml/2006/main">
              <a:ext uri="{FF2B5EF4-FFF2-40B4-BE49-F238E27FC236}">
                <a16:creationId xmlns:a16="http://schemas.microsoft.com/office/drawing/2014/main" id="{E0146598-D59F-4B74-84D8-3A0D1697B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257675"/>
            <a:ext cx="3105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기능 계약</a:t>
            </a:r>
          </a:p>
        </p:txBody>
      </p:sp>
      <p:sp>
        <p:nvSpPr>
          <p:cNvPr id="21" name="함께 다시 확인할&#10;동작은?">
            <a:extLst xmlns:a="http://schemas.openxmlformats.org/drawingml/2006/main">
              <a:ext uri="{FF2B5EF4-FFF2-40B4-BE49-F238E27FC236}">
                <a16:creationId xmlns:a16="http://schemas.microsoft.com/office/drawing/2014/main" id="{6AF0E1FE-83B8-431C-97F4-874A25018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81525"/>
            <a:ext cx="31051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함께 다시 확인할</a:t>
            </a:r>
          </a:p>
          <a:p xmlns:a="http://schemas.openxmlformats.org/drawingml/2006/main">
            <a:pPr algn="l">
              <a:def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동작은?</a:t>
            </a:r>
          </a:p>
        </p:txBody>
      </p:sp>
      <p:sp>
        <p:nvSpPr>
          <p:cNvPr id="22" name="같은 문제가 반복될 때, 어느 Layer를 먼저 살펴볼까?">
            <a:extLst xmlns:a="http://schemas.openxmlformats.org/drawingml/2006/main">
              <a:ext uri="{FF2B5EF4-FFF2-40B4-BE49-F238E27FC236}">
                <a16:creationId xmlns:a16="http://schemas.microsoft.com/office/drawing/2014/main" id="{173F0564-28C9-4790-A689-7899213B1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반복될 때, 어느 Layer를 먼저 살펴볼까?</a:t>
            </a:r>
          </a:p>
        </p:txBody>
      </p:sp>
      <p:sp>
        <p:nvSpPr>
          <p:cNvPr id="23" name="Legacy module connection">
            <a:extLst xmlns:a="http://schemas.openxmlformats.org/drawingml/2006/main">
              <a:ext uri="{FF2B5EF4-FFF2-40B4-BE49-F238E27FC236}">
                <a16:creationId xmlns:a16="http://schemas.microsoft.com/office/drawing/2014/main" id="{72DA992B-5BAB-41D4-B1F4-A95767BD1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29350"/>
            <a:ext cx="10972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M 연계 · M5 · M6</a:t>
            </a:r>
          </a:p>
        </p:txBody>
      </p:sp>
    </p:spTree>
    <p:extLst>
      <p:ext uri="{BB962C8B-B14F-4D97-AF65-F5344CB8AC3E}">
        <p14:creationId xmlns:p14="http://schemas.microsoft.com/office/powerpoint/2010/main" val="98996860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2026-10-21T13:40:45.0750000Z</dcterms:created>
  <dcterms:modified xsi:type="dcterms:W3CDTF">2026-10-21T13:40:45.0750000Z</dcterms:modified>
</coreProperties>
</file>