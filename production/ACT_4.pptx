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1b39f2e5d231445d" /><Relationship Type="http://schemas.openxmlformats.org/officeDocument/2006/relationships/extended-properties" Target="/docProps/app.xml" Id="R94cb000bf68d4d27" /><Relationship Type="http://schemas.openxmlformats.org/officeDocument/2006/relationships/officeDocument" Target="/ppt/presentation.xml" Id="R7ebf89c33a964188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9084a2bcd0564bd2"/>
  </p:sldMasterIdLst>
  <p:notesMasterIdLst>
    <p:notesMasterId xmlns:r="http://schemas.openxmlformats.org/officeDocument/2006/relationships" r:id="Re7c58e079fc646df"/>
  </p:notesMasterIdLst>
  <p:sldIdLst>
    <p:sldId xmlns:r="http://schemas.openxmlformats.org/officeDocument/2006/relationships" id="256" r:id="Re783b4a7142c4944"/>
    <p:sldId xmlns:r="http://schemas.openxmlformats.org/officeDocument/2006/relationships" id="257" r:id="R44b9b49f383548f8"/>
    <p:sldId xmlns:r="http://schemas.openxmlformats.org/officeDocument/2006/relationships" id="258" r:id="R87089c9550b445c1"/>
    <p:sldId xmlns:r="http://schemas.openxmlformats.org/officeDocument/2006/relationships" id="259" r:id="R20d208e5b61f4b67"/>
    <p:sldId xmlns:r="http://schemas.openxmlformats.org/officeDocument/2006/relationships" id="260" r:id="Rab647d99cdec43e0"/>
    <p:sldId xmlns:r="http://schemas.openxmlformats.org/officeDocument/2006/relationships" id="261" r:id="R34483569e50a44cd"/>
    <p:sldId xmlns:r="http://schemas.openxmlformats.org/officeDocument/2006/relationships" id="262" r:id="Rf3baff23d75b41b4"/>
    <p:sldId xmlns:r="http://schemas.openxmlformats.org/officeDocument/2006/relationships" id="263" r:id="R07a1f004e6c849c6"/>
    <p:sldId xmlns:r="http://schemas.openxmlformats.org/officeDocument/2006/relationships" id="264" r:id="R05cb0cc6cff24f9f"/>
    <p:sldId xmlns:r="http://schemas.openxmlformats.org/officeDocument/2006/relationships" id="265" r:id="R334788714a004e61"/>
    <p:sldId xmlns:r="http://schemas.openxmlformats.org/officeDocument/2006/relationships" id="266" r:id="R5d5d3f59516940d2"/>
    <p:sldId xmlns:r="http://schemas.openxmlformats.org/officeDocument/2006/relationships" id="267" r:id="R66036b52b8af47c2"/>
    <p:sldId xmlns:r="http://schemas.openxmlformats.org/officeDocument/2006/relationships" id="268" r:id="R52dd0a8692d94778"/>
    <p:sldId xmlns:r="http://schemas.openxmlformats.org/officeDocument/2006/relationships" id="269" r:id="R08a81cc7d5484ba8"/>
    <p:sldId xmlns:r="http://schemas.openxmlformats.org/officeDocument/2006/relationships" id="270" r:id="Rcba56dc35ee3464f"/>
    <p:sldId xmlns:r="http://schemas.openxmlformats.org/officeDocument/2006/relationships" id="271" r:id="R5d79382ae02943d9"/>
    <p:sldId xmlns:r="http://schemas.openxmlformats.org/officeDocument/2006/relationships" id="272" r:id="Rfb229c63baa842b7"/>
    <p:sldId xmlns:r="http://schemas.openxmlformats.org/officeDocument/2006/relationships" id="273" r:id="Rc0fbba2297ef4457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cefcb819da3e4287" /><Relationship Type="http://schemas.openxmlformats.org/officeDocument/2006/relationships/slideMaster" Target="/ppt/slideMasters/slideMaster1.xml" Id="R9084a2bcd0564bd2" /><Relationship Type="http://schemas.openxmlformats.org/officeDocument/2006/relationships/notesMaster" Target="/ppt/notesMasters/notesMaster1.xml" Id="Re7c58e079fc646df" /><Relationship Type="http://schemas.openxmlformats.org/officeDocument/2006/relationships/presProps" Target="/ppt/presProps.xml" Id="R1c6e550be6dd4b9b" /><Relationship Type="http://schemas.openxmlformats.org/officeDocument/2006/relationships/tableStyles" Target="/ppt/tableStyles.xml" Id="Rfed687bf6fd0436c" /><Relationship Type="http://schemas.openxmlformats.org/officeDocument/2006/relationships/slide" Target="/ppt/slides/slide1.xml" Id="Re783b4a7142c4944" /><Relationship Type="http://schemas.openxmlformats.org/officeDocument/2006/relationships/slide" Target="/ppt/slides/slide2.xml" Id="R44b9b49f383548f8" /><Relationship Type="http://schemas.openxmlformats.org/officeDocument/2006/relationships/slide" Target="/ppt/slides/slide3.xml" Id="R87089c9550b445c1" /><Relationship Type="http://schemas.openxmlformats.org/officeDocument/2006/relationships/slide" Target="/ppt/slides/slide4.xml" Id="R20d208e5b61f4b67" /><Relationship Type="http://schemas.openxmlformats.org/officeDocument/2006/relationships/slide" Target="/ppt/slides/slide5.xml" Id="Rab647d99cdec43e0" /><Relationship Type="http://schemas.openxmlformats.org/officeDocument/2006/relationships/slide" Target="/ppt/slides/slide6.xml" Id="R34483569e50a44cd" /><Relationship Type="http://schemas.openxmlformats.org/officeDocument/2006/relationships/slide" Target="/ppt/slides/slide7.xml" Id="Rf3baff23d75b41b4" /><Relationship Type="http://schemas.openxmlformats.org/officeDocument/2006/relationships/slide" Target="/ppt/slides/slide8.xml" Id="R07a1f004e6c849c6" /><Relationship Type="http://schemas.openxmlformats.org/officeDocument/2006/relationships/slide" Target="/ppt/slides/slide9.xml" Id="R05cb0cc6cff24f9f" /><Relationship Type="http://schemas.openxmlformats.org/officeDocument/2006/relationships/slide" Target="/ppt/slides/slide10.xml" Id="R334788714a004e61" /><Relationship Type="http://schemas.openxmlformats.org/officeDocument/2006/relationships/slide" Target="/ppt/slides/slide11.xml" Id="R5d5d3f59516940d2" /><Relationship Type="http://schemas.openxmlformats.org/officeDocument/2006/relationships/slide" Target="/ppt/slides/slide12.xml" Id="R66036b52b8af47c2" /><Relationship Type="http://schemas.openxmlformats.org/officeDocument/2006/relationships/slide" Target="/ppt/slides/slide13.xml" Id="R52dd0a8692d94778" /><Relationship Type="http://schemas.openxmlformats.org/officeDocument/2006/relationships/slide" Target="/ppt/slides/slide14.xml" Id="R08a81cc7d5484ba8" /><Relationship Type="http://schemas.openxmlformats.org/officeDocument/2006/relationships/slide" Target="/ppt/slides/slide15.xml" Id="Rcba56dc35ee3464f" /><Relationship Type="http://schemas.openxmlformats.org/officeDocument/2006/relationships/slide" Target="/ppt/slides/slide16.xml" Id="R5d79382ae02943d9" /><Relationship Type="http://schemas.openxmlformats.org/officeDocument/2006/relationships/slide" Target="/ppt/slides/slide17.xml" Id="Rfb229c63baa842b7" /><Relationship Type="http://schemas.openxmlformats.org/officeDocument/2006/relationships/slide" Target="/ppt/slides/slide18.xml" Id="Rc0fbba2297ef4457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dd3c7904c55f41b7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Malgun Gothic"/>
        <a:ea typeface=""/>
        <a:cs typeface=""/>
      </a:majorFont>
      <a:minorFont>
        <a:latin typeface="Malgun Gothic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f1d743a16e284b39" /><Relationship Type="http://schemas.openxmlformats.org/officeDocument/2006/relationships/notesMaster" Target="/ppt/notesMasters/notesMaster1.xml" Id="Rad8fc16df546483b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57a6e82d0cbc42b2" /><Relationship Type="http://schemas.openxmlformats.org/officeDocument/2006/relationships/notesMaster" Target="/ppt/notesMasters/notesMaster1.xml" Id="R7acd33c979f14f27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f293e671c1464d55" /><Relationship Type="http://schemas.openxmlformats.org/officeDocument/2006/relationships/notesMaster" Target="/ppt/notesMasters/notesMaster1.xml" Id="Rf84e8c287f2546f0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7cfab8423f79418d" /><Relationship Type="http://schemas.openxmlformats.org/officeDocument/2006/relationships/notesMaster" Target="/ppt/notesMasters/notesMaster1.xml" Id="Rfb75d6bade3245f7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f44c3436c8cb4f26" /><Relationship Type="http://schemas.openxmlformats.org/officeDocument/2006/relationships/notesMaster" Target="/ppt/notesMasters/notesMaster1.xml" Id="R5532e09618974961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33e85803879c4576" /><Relationship Type="http://schemas.openxmlformats.org/officeDocument/2006/relationships/notesMaster" Target="/ppt/notesMasters/notesMaster1.xml" Id="R06a4b1b8b473452e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e76e2eb8fe1b4b78" /><Relationship Type="http://schemas.openxmlformats.org/officeDocument/2006/relationships/notesMaster" Target="/ppt/notesMasters/notesMaster1.xml" Id="R9322f4796313423f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2026cb35e8a442d9" /><Relationship Type="http://schemas.openxmlformats.org/officeDocument/2006/relationships/notesMaster" Target="/ppt/notesMasters/notesMaster1.xml" Id="Rd2848da534db4452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d717d5df92eb4526" /><Relationship Type="http://schemas.openxmlformats.org/officeDocument/2006/relationships/notesMaster" Target="/ppt/notesMasters/notesMaster1.xml" Id="R7115f5052b644679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38b142cebf4548e9" /><Relationship Type="http://schemas.openxmlformats.org/officeDocument/2006/relationships/notesMaster" Target="/ppt/notesMasters/notesMaster1.xml" Id="R85b28d481f9640b8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8f28b34df2e64c54" /><Relationship Type="http://schemas.openxmlformats.org/officeDocument/2006/relationships/notesMaster" Target="/ppt/notesMasters/notesMaster1.xml" Id="Rfbeec86f3a5a4f82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17e97164cf87461b" /><Relationship Type="http://schemas.openxmlformats.org/officeDocument/2006/relationships/notesMaster" Target="/ppt/notesMasters/notesMaster1.xml" Id="Rc6f2c63016564f59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cca324abb747496c" /><Relationship Type="http://schemas.openxmlformats.org/officeDocument/2006/relationships/notesMaster" Target="/ppt/notesMasters/notesMaster1.xml" Id="R1dc7f4f834c94394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0abd1b2ed2e84bb2" /><Relationship Type="http://schemas.openxmlformats.org/officeDocument/2006/relationships/notesMaster" Target="/ppt/notesMasters/notesMaster1.xml" Id="R26f1f2193e884222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ae0818eabe2f4950" /><Relationship Type="http://schemas.openxmlformats.org/officeDocument/2006/relationships/notesMaster" Target="/ppt/notesMasters/notesMaster1.xml" Id="R6fab4e25ff8a45b3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71bc83fac6d94683" /><Relationship Type="http://schemas.openxmlformats.org/officeDocument/2006/relationships/notesMaster" Target="/ppt/notesMasters/notesMaster1.xml" Id="R6d616be185724284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fb3410133ff4470e" /><Relationship Type="http://schemas.openxmlformats.org/officeDocument/2006/relationships/notesMaster" Target="/ppt/notesMasters/notesMaster1.xml" Id="R91766468b3f34a89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a8bfe0b09cfc4d0d" /><Relationship Type="http://schemas.openxmlformats.org/officeDocument/2006/relationships/notesMaster" Target="/ppt/notesMasters/notesMaster1.xml" Id="R8e6610aa73604d93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S55 — 여기까지는 잘 동작했다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**Slide ID:**</a:t>
            </a:r>
          </a:p>
          <a:p xmlns:a="http://schemas.openxmlformats.org/drawingml/2006/main">
            <a:r>
              <a:t>S55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**Working Title:**</a:t>
            </a:r>
          </a:p>
          <a:p xmlns:a="http://schemas.openxmlformats.org/drawingml/2006/main">
            <a:r>
              <a:t>여기까지는 잘 동작했다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**ACT / Section:**</a:t>
            </a:r>
          </a:p>
          <a:p xmlns:a="http://schemas.openxmlformats.org/drawingml/2006/main">
            <a:r>
              <a:t>ACT 4 / 4A  WORKING HARNESS CALLBACK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**Allocated Time:**</a:t>
            </a:r>
          </a:p>
          <a:p xmlns:a="http://schemas.openxmlformats.org/drawingml/2006/main">
            <a:r>
              <a:t>4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**Mode Split:**</a:t>
            </a:r>
          </a:p>
          <a:p xmlns:a="http://schemas.openxmlformats.org/drawingml/2006/main">
            <a:r>
              <a:t>Lecture 3분 + Reflection 1분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**Primary Message:**</a:t>
            </a:r>
          </a:p>
          <a:p xmlns:a="http://schemas.openxmlformats.org/drawingml/2006/main">
            <a:r>
              <a:t>STATE-04-PERF는 bounded task에서 검증된 성공이다. 뒤에 나올 stale 사례는 별도의 개념 사례다.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**Opening Question:**</a:t>
            </a:r>
          </a:p>
          <a:p xmlns:a="http://schemas.openxmlformats.org/drawingml/2006/main">
            <a:r>
              <a:t>“잘 동작하는 System도 계속 맞는 상태로 남아 있을까?”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**Speaker Flow:**</a:t>
            </a:r>
          </a:p>
          <a:p xmlns:a="http://schemas.openxmlformats.org/drawingml/2006/main">
            <a:r>
              <a:t>1. (0:00–1:30 / Lecture) ACT 3의 STATE-04-PERF가 기록된 범위에서 성공한 endpoint임을 회수한다.</a:t>
            </a:r>
          </a:p>
          <a:p xmlns:a="http://schemas.openxmlformats.org/drawingml/2006/main">
            <a:r>
              <a:t>2. (1:30–3:00 / Lecture) 화면의 동작 계약, 전체 테스트 11/11, Benchmark guard 세 근거를 차례로 가리킨다. 새 실행이나 인과 비교는 하지 않는다.</a:t>
            </a:r>
          </a:p>
          <a:p xmlns:a="http://schemas.openxmlformats.org/drawingml/2006/main">
            <a:r>
              <a:t>3. (3:00–4:00 / Reflection) “프로젝트가 바뀐 뒤에도 맞을까?”를 개인적으로 생각하게 하고 다음 가상 사례로 넘어간다.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**Evidence / Source:**</a:t>
            </a:r>
          </a:p>
          <a:p xmlns:a="http://schemas.openxmlformats.org/drawingml/2006/main">
            <a:r>
              <a:t>STATE-00 → STATE-04-PERF  ·  bounded image_statistics evidence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**Claim Boundary:**</a:t>
            </a:r>
          </a:p>
          <a:p xmlns:a="http://schemas.openxmlformats.org/drawingml/2006/main">
            <a:r>
              <a:t>STATE-04-PERF의 기록된 task, 코드 경로, 입력, runtime, host 및 검증 조건에 한정한다. 이 결과는 실제 stale Harness나 Product failure를 뜻하지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**Beginner Explanation:**</a:t>
            </a:r>
          </a:p>
          <a:p xmlns:a="http://schemas.openxmlformats.org/drawingml/2006/main">
            <a:r>
              <a:t>먼저 잘 동작했던 현재 시스템을 기준점으로 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**Advanced Insight:**</a:t>
            </a:r>
          </a:p>
          <a:p xmlns:a="http://schemas.openxmlformats.org/drawingml/2006/main">
            <a:r>
              <a:t>성공한 Product State와 뒤의 Conceptual Case를 별도 Evidence frame으로 읽는다.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**C++ Vision Bridge:**</a:t>
            </a:r>
          </a:p>
          <a:p xmlns:a="http://schemas.openxmlformats.org/drawingml/2006/main">
            <a:r>
              <a:t>없음.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**Demo Operation:**</a:t>
            </a:r>
          </a:p>
          <a:p xmlns:a="http://schemas.openxmlformats.org/drawingml/2006/main">
            <a:r>
              <a:t>추가 실행 없음. 기존 ACT 3에서 승인된 STATE-04-PERF 결과를 짧게 회수한다. 수치는 현재 범위와 함께 보이고 일반 성과로 확대하지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**Audience Interaction:**</a:t>
            </a:r>
          </a:p>
          <a:p xmlns:a="http://schemas.openxmlformats.org/drawingml/2006/main">
            <a:r>
              <a:t>1분 Reflection: “성공한 현재 상태도 Project 변화 뒤 다시 확인해야 할까?” 개인 생각만 하고 응답을 요구하지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**Transition:**</a:t>
            </a:r>
          </a:p>
          <a:p xmlns:a="http://schemas.openxmlformats.org/drawingml/2006/main">
            <a:r>
              <a:t>“이 실제 성공은 기준점으로 남기고, 별개의 가상 사례에서 Project와 Workflow가 어떻게 어긋날 수 있는지 보겠습니다.” S56으로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**Time Management:**</a:t>
            </a:r>
          </a:p>
          <a:p xmlns:a="http://schemas.openxmlformats.org/drawingml/2006/main">
            <a:r>
              <a:t>Lecture 3분 + Reflection 1분. 기존 ACT 3 설명을 다시 길게 열지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**Fallback:**</a:t>
            </a:r>
          </a:p>
          <a:p xmlns:a="http://schemas.openxmlformats.org/drawingml/2006/main">
            <a:r>
              <a:t>LOCAL STATIC ARTIFACT — production/ACT_4.pptx의 S55와 production/preview/act4/S55.png를 사용한다. 원본 실행 캡처 또는 새로운 Trial 결과로 표현하지 않는다. 로컬 렌더링 검토 결과는 통합 평가 문서에 기록한다.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**Validation Status:**</a:t>
            </a:r>
          </a:p>
          <a:p xmlns:a="http://schemas.openxmlformats.org/drawingml/2006/main">
            <a:r>
              <a:t>REVIEWED — 원문·Claim 경계, 화면의 설명 순서와 운영 지침을 대조했다. 최종 PPT/Notes/PNG 대조 결과는 production/evaluation/FULL_DECK_PRESENTATION_REVISION.md에 기록한다. Windows PowerPoint, 발표 PC 글꼴, 교육장 투사,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S56 — 개념 사례: Project와 Workflow는 현재 맞다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**Slide ID:**</a:t>
            </a:r>
          </a:p>
          <a:p xmlns:a="http://schemas.openxmlformats.org/drawingml/2006/main">
            <a:r>
              <a:t>S56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**Working Title:**</a:t>
            </a:r>
          </a:p>
          <a:p xmlns:a="http://schemas.openxmlformats.org/drawingml/2006/main">
            <a:r>
              <a:t>개념 사례: Project와 Workflow는 현재 맞다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**ACT / Section:**</a:t>
            </a:r>
          </a:p>
          <a:p xmlns:a="http://schemas.openxmlformats.org/drawingml/2006/main">
            <a:r>
              <a:t>ACT 4 / 4B  CONCEPTUAL STALE HARNESS / DEMO-04A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**Allocated Time:**</a:t>
            </a:r>
          </a:p>
          <a:p xmlns:a="http://schemas.openxmlformats.org/drawingml/2006/main">
            <a:r>
              <a:t>2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**Mode Split:**</a:t>
            </a:r>
          </a:p>
          <a:p xmlns:a="http://schemas.openxmlformats.org/drawingml/2006/main">
            <a:r>
              <a:t>Demo 2분 (VISUAL)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**Primary Message:**</a:t>
            </a:r>
          </a:p>
          <a:p xmlns:a="http://schemas.openxmlformats.org/drawingml/2006/main">
            <a:r>
              <a:t>가상 사례의 시작에서는 프로젝트의 검증 기준과 재사용 Workflow의 지시가 모두 단위 테스트를 대상으로 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**Opening Question:**</a:t>
            </a:r>
          </a:p>
          <a:p xmlns:a="http://schemas.openxmlformats.org/drawingml/2006/main">
            <a:r>
              <a:t>“지금 맞는 Project Workflow는 계속 맞을까?”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**Speaker Flow:**</a:t>
            </a:r>
          </a:p>
          <a:p xmlns:a="http://schemas.openxmlformats.org/drawingml/2006/main">
            <a:r>
              <a:t>1. (0:00–0:30 / VISUAL Demo) S55의 실제 성공을 기준점으로 남기고, 여기서부터 실제 graypipe 이력과 별개인 가상 사례를 시작한다고 말한다.</a:t>
            </a:r>
          </a:p>
          <a:p xmlns:a="http://schemas.openxmlformats.org/drawingml/2006/main">
            <a:r>
              <a:t>2. (0:30–1:30 / VISUAL Demo) 왼쪽 프로젝트 기준과 오른쪽 재사용 지침이 모두 단위 테스트를 가리키는 모습을 비교한다.</a:t>
            </a:r>
          </a:p>
          <a:p xmlns:a="http://schemas.openxmlformats.org/drawingml/2006/main">
            <a:r>
              <a:t>3. (1:30–2:00 / VISUAL Demo) 당시 기준에는 일치하는 절차였다는 출발점을 남긴다. 다음 장의 변경을 미리 설명하지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**Evidence / Source:**</a:t>
            </a:r>
          </a:p>
          <a:p xmlns:a="http://schemas.openxmlformats.org/drawingml/2006/main">
            <a:r>
              <a:t>DEMO-04A  ·  constructed starting condition  ·  no Trial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**Claim Boundary:**</a:t>
            </a:r>
          </a:p>
          <a:p xmlns:a="http://schemas.openxmlformats.org/drawingml/2006/main">
            <a:r>
              <a:t>CONCEPTUAL CASE. `ai-dev-training-demo`의 기록, Trial 또는 Product State가 아니다.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**Beginner Explanation:**</a:t>
            </a:r>
          </a:p>
          <a:p xmlns:a="http://schemas.openxmlformats.org/drawingml/2006/main">
            <a:r>
              <a:t>처음에는 현재 지침과 재사용 절차가 서로 맞아 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**Advanced Insight:**</a:t>
            </a:r>
          </a:p>
          <a:p xmlns:a="http://schemas.openxmlformats.org/drawingml/2006/main">
            <a:r>
              <a:t>당시에 올바른 절차도 Project 변화 이후 stale해질 수 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**C++ Vision Bridge:**</a:t>
            </a:r>
          </a:p>
          <a:p xmlns:a="http://schemas.openxmlformats.org/drawingml/2006/main">
            <a:r>
              <a:t>선택적 맥락: 실제 Project에서도 build/test structure가 바뀔 수 있다. 별도 C++ 사례로 확장하지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**Demo Operation:**</a:t>
            </a:r>
          </a:p>
          <a:p xmlns:a="http://schemas.openxmlformats.org/drawingml/2006/main">
            <a:r>
              <a:t>CONCEPTUAL 정적 도식. 두 단위 테스트 범위와 가운데 등호를 가리킨다. 실행 캡처·명령·결과 badge는 없다.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**Audience Interaction:**</a:t>
            </a:r>
          </a:p>
          <a:p xmlns:a="http://schemas.openxmlformats.org/drawingml/2006/main">
            <a:r>
              <a:t>두 지시의 범위가 같은지 눈으로 비교한다. 답변이나 실행은 요구하지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**Transition:**</a:t>
            </a:r>
          </a:p>
          <a:p xmlns:a="http://schemas.openxmlformats.org/drawingml/2006/main">
            <a:r>
              <a:t>Project가 바뀌었는데 재사용 Workflow가 그대로라면 어떻게 될까?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**Time Management:**</a:t>
            </a:r>
          </a:p>
          <a:p xmlns:a="http://schemas.openxmlformats.org/drawingml/2006/main">
            <a:r>
              <a:t>VISUAL Demo 2분. 첫 장면은 정상 상태로 두고 Project 변경을 앞당겨 보여주지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**Fallback:**</a:t>
            </a:r>
          </a:p>
          <a:p xmlns:a="http://schemas.openxmlformats.org/drawingml/2006/main">
            <a:r>
              <a:t>LOCAL STATIC ARTIFACT — production/ACT_4.pptx의 S56와 production/preview/act4/S56.png를 사용한다. 원본 실행 캡처 또는 새로운 Trial 결과로 표현하지 않는다. 로컬 렌더링 검토 결과는 통합 평가 문서에 기록한다.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**Validation Status:**</a:t>
            </a:r>
          </a:p>
          <a:p xmlns:a="http://schemas.openxmlformats.org/drawingml/2006/main">
            <a:r>
              <a:t>REVIEWED — 원문·Claim 경계, 화면의 설명 순서와 운영 지침을 대조했다. 최종 PPT/Notes/PNG 대조 결과는 production/evaluation/FULL_DECK_PRESENTATION_REVISION.md에 기록한다. Windows PowerPoint, 발표 PC 글꼴, 교육장 투사,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S57 — Project는 바뀌고 Workflow는 남았다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Slide ID: S57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Working Title: Project는 바뀌고 Workflow는 남았다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ACT / Section: ACT 4 / 4B  CONCEPTUAL STALE HARNESS / DEMO-04A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Allocated Time: 4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 Split: Demo 2분 (VISUAL) + Case 2분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Primary Message: 모듈 연결 동작까지 검증해야 하는 가상 프로젝트에서 공식 기준은 단위+통합 테스트로 넓어졌지만 재사용 Workflow에는 단위 테스트 지시가 남아 있다. 이는 지시 범위의 차이다.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Opening Question: “다음 Task에서 old workflow를 따르면 누가 틀린 걸까?”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Flow: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(0:00–1:00 / Demo) 실제 Trial과 별개인 가상 사례임을 밝힌다. 모듈 연결 동작까지 검증할 필요가 생겨 공식 범위에 통합 테스트를 추가한 사례다.</a:t>
            </a:r>
          </a:p>
          <a:p xmlns:a="http://schemas.openxmlformats.org/drawingml/2006/main">
            <a:r>
              <a:t>2. (1:00–2:00 / Demo) 왼쪽 A/B 각각의 박스와 둘 사이 연결까지 감싼 통합 범위를 가리킨다. 오른쪽에는 같은 모듈과 연결이 있지만 재사용 지시는 단위 테스트만 요구한다. 두 그림은 실행 결과가 아니라 지시 범위의 차이다.</a:t>
            </a:r>
          </a:p>
          <a:p xmlns:a="http://schemas.openxmlformats.org/drawingml/2006/main">
            <a:r>
              <a:t>3. (2:00–3:00 / Case) Project의 요구 변화와 재사용 지침의 미갱신을 구분한다.</a:t>
            </a:r>
          </a:p>
          <a:p xmlns:a="http://schemas.openxmlformats.org/drawingml/2006/main">
            <a:r>
              <a:t>4. (3:00–4:00 / Case) Agent가 실제로 무엇을 실행했는지 아직 보여주지 않았음을 짧게 알리고, 다음 요청을 보정해도 재사용 지침이 남는 질문으로 넘긴다.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 / Source: DEMO-04A / DEC-0021 / BEAT-038–039 / CONCEPTUAL. 단위+통합 테스트 가상 설정은 발표용 Pilot에 대한 최신 사용자 승인으로 확정됐다. 실제 Repository 이력이나 Trial 근거가 추가된 것은 아니다. 편집 가능한 native 범위 도식: production/source/presentation-revision/test-scope-visual.mjs. 모듈 A/B는 사례를 설명하는 일반 표기이며 실제 graypipe 모듈을 식별하지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Claim Boundary: 승인된 가상 설정이다. 실제 Repository migration, 기존 graypipe Skill, Agent 실행, 테스트 누락 또는 PASS/FAIL 결과를 뜻하지 않는다. 지시의 범위를 비교하며 실제 실행 결과는 보여주지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Beginner Explanation: Agent가 따르는 지침이 Project의 현재 절차와 맞는지 살핀다.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Advanced Insight: Project source의 변화와 stale artifact의 위치를 분리해 본다.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C++ Vision Bridge: 없음.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Demo Operation: production/ACT_4.pptx의 S57와 production/preview/act4/S57.png 개념 도식을 사용한다. 구체적 명령·Runner 구현·테스트 수·실행 캡처를 추가하지 않는다. 각 모듈의 범위→왼쪽의 연결을 포함한 통합 범위→오른쪽에 남은 단위 테스트 지시를 차례로 가리킨다. 모듈의 실제 테스트가 실행됐거나 통합 테스트를 누락했다고 말하지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Audience Interaction: 무엇이 바뀌었고 무엇이 남았는지 잠시 비교한다. Agent 탓이나 특정 실패를 가정하지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Transition: “이번 요청에 통합 테스트도 확인해 달라고 쓰면, 다음 작업이 읽을 Workflow까지 바뀔까요?” S58로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Time Management: Demo 2분은 도식 공개에, Case 2분은 stale 간극을 해석하는 데 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Fallback: LOCAL STATIC ARTIFACT — production/ACT_4.pptx의 S57와 production/preview/act4/S57.png를 사용한다. 원본 실행 캡처 또는 새로운 Trial 결과로 표현하지 않는다. 로컬 렌더링 검토 결과는 통합 평가 문서에 기록한다.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Validation Status: REVIEWED — 승인된 전체 이미지 후보의 반영과 로컬 렌더링 결과는 production/evaluation/FULL_DECK_IMAGE_EXPANSION.md에 기록한다. Windows PowerPoint, 발표 PC 글꼴, 교육장 투사,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S58 — Task 해결과 System 문제는 다르다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**Slide ID:**</a:t>
            </a:r>
          </a:p>
          <a:p xmlns:a="http://schemas.openxmlformats.org/drawingml/2006/main">
            <a:r>
              <a:t>S58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**Working Title:**</a:t>
            </a:r>
          </a:p>
          <a:p xmlns:a="http://schemas.openxmlformats.org/drawingml/2006/main">
            <a:r>
              <a:t>Task 해결과 System 문제는 다르다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**ACT / Section:**</a:t>
            </a:r>
          </a:p>
          <a:p xmlns:a="http://schemas.openxmlformats.org/drawingml/2006/main">
            <a:r>
              <a:t>ACT 4 / 4B  CONCEPTUAL STALE HARNESS / DEMO-04A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**Allocated Time:**</a:t>
            </a:r>
          </a:p>
          <a:p xmlns:a="http://schemas.openxmlformats.org/drawingml/2006/main">
            <a:r>
              <a:t>3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**Mode Split:**</a:t>
            </a:r>
          </a:p>
          <a:p xmlns:a="http://schemas.openxmlformats.org/drawingml/2006/main">
            <a:r>
              <a:t>Case 3분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**Primary Message:**</a:t>
            </a:r>
          </a:p>
          <a:p xmlns:a="http://schemas.openxmlformats.org/drawingml/2006/main">
            <a:r>
              <a:t>이번 요청을 단위+통합 검증으로 보정할 수 있어도 재사용 Workflow의 단위 테스트 지시는 그대로 남을 수 있다. 현재 Task의 요청 범위와 재사용 절차의 변경을 구분한다.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**Opening Question:**</a:t>
            </a:r>
          </a:p>
          <a:p xmlns:a="http://schemas.openxmlformats.org/drawingml/2006/main">
            <a:r>
              <a:t>“Prompt를 더 자세히 쓰면 이번 Task는 해결될까?”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**Speaker Flow:**</a:t>
            </a:r>
          </a:p>
          <a:p xmlns:a="http://schemas.openxmlformats.org/drawingml/2006/main">
            <a:r>
              <a:t>1. (0:00–1:00 / Case) 이번 Prompt에 “통합 테스트도 확인해 줘”를 더하는 가능성을 소개한다.</a:t>
            </a:r>
          </a:p>
          <a:p xmlns:a="http://schemas.openxmlformats.org/drawingml/2006/main">
            <a:r>
              <a:t>2. (1:00–2:00 / Case) 왼쪽 이번 Task 요청은 넓힐 수 있지만 오른쪽 재사용 지침은 단위 테스트에 머무는 차이를 가리킨다.</a:t>
            </a:r>
          </a:p>
          <a:p xmlns:a="http://schemas.openxmlformats.org/drawingml/2006/main">
            <a:r>
              <a:t>3. (2:00–3:00 / Case) 요청 보정이 실제 성공을 입증하지 않으며 다음 Task의 절차까지 갱신하는 조치와 다르다고 정리한다.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**Evidence / Source:**</a:t>
            </a:r>
          </a:p>
          <a:p xmlns:a="http://schemas.openxmlformats.org/drawingml/2006/main">
            <a:r>
              <a:t>DEMO-04A  ·  conceptual consequence  ·  no execution result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**Claim Boundary:**</a:t>
            </a:r>
          </a:p>
          <a:p xmlns:a="http://schemas.openxmlformats.org/drawingml/2006/main">
            <a:r>
              <a:t>가상 가능성만 제시한다. 구체적인 실패, 실행 결과, PASS/FAIL 또는 실제 Demo 이력은 없다.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**Beginner Explanation:**</a:t>
            </a:r>
          </a:p>
          <a:p xmlns:a="http://schemas.openxmlformats.org/drawingml/2006/main">
            <a:r>
              <a:t>이번 답을 고치는 것과 다음 작업의 절차까지 바꾸는 것은 다르다.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**Advanced Insight:**</a:t>
            </a:r>
          </a:p>
          <a:p xmlns:a="http://schemas.openxmlformats.org/drawingml/2006/main">
            <a:r>
              <a:t>Task-level workaround와 durable system correction을 구분한다.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**C++ Vision Bridge:**</a:t>
            </a:r>
          </a:p>
          <a:p xmlns:a="http://schemas.openxmlformats.org/drawingml/2006/main">
            <a:r>
              <a:t>없음.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**Demo Operation:**</a:t>
            </a:r>
          </a:p>
          <a:p xmlns:a="http://schemas.openxmlformats.org/drawingml/2006/main">
            <a:r>
              <a:t>승인된 가상 설정에서 가능한 Task 보정과 재사용 지침을 비교한다. 실행 결과·누락·복구 성공을 표시하지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**Audience Interaction:**</a:t>
            </a:r>
          </a:p>
          <a:p xmlns:a="http://schemas.openxmlformats.org/drawingml/2006/main">
            <a:r>
              <a:t>“이번 Task가 풀려도 다음 Task의 지침은 달라졌나?”를 생각하게 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**Transition:**</a:t>
            </a:r>
          </a:p>
          <a:p xmlns:a="http://schemas.openxmlformats.org/drawingml/2006/main">
            <a:r>
              <a:t>그럼 Prompt, global rule, stale Workflow 중 어느 Layer를 살펴볼까?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**Time Management:**</a:t>
            </a:r>
          </a:p>
          <a:p xmlns:a="http://schemas.openxmlformats.org/drawingml/2006/main">
            <a:r>
              <a:t>Case 3분. 가능한 대응과 지시 범위에 머물고 실제 command 실패나 성공 결과를 만들지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**Fallback:**</a:t>
            </a:r>
          </a:p>
          <a:p xmlns:a="http://schemas.openxmlformats.org/drawingml/2006/main">
            <a:r>
              <a:t>LOCAL STATIC ARTIFACT — production/ACT_4.pptx의 S58와 production/preview/act4/S58.png를 사용한다. 원본 실행 캡처 또는 새로운 Trial 결과로 표현하지 않는다. 로컬 렌더링 검토 결과는 통합 평가 문서에 기록한다.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**Validation Status:**</a:t>
            </a:r>
          </a:p>
          <a:p xmlns:a="http://schemas.openxmlformats.org/drawingml/2006/main">
            <a:r>
              <a:t>REVIEWED — 원문·Claim 경계, 화면의 설명 순서와 운영 지침을 대조했다. 최종 PPT/Notes/PNG 대조 결과는 production/evaluation/FULL_DECK_PRESENTATION_REVISION.md에 기록한다. Windows PowerPoint, 발표 PC 글꼴, 교육장 투사,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S59 — 원인에 맞는 Layer를 고르기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**Slide ID:**</a:t>
            </a:r>
          </a:p>
          <a:p xmlns:a="http://schemas.openxmlformats.org/drawingml/2006/main">
            <a:r>
              <a:t>S59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**Working Title:**</a:t>
            </a:r>
          </a:p>
          <a:p xmlns:a="http://schemas.openxmlformats.org/drawingml/2006/main">
            <a:r>
              <a:t>원인에 맞는 Layer를 고르기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**ACT / Section:**</a:t>
            </a:r>
          </a:p>
          <a:p xmlns:a="http://schemas.openxmlformats.org/drawingml/2006/main">
            <a:r>
              <a:t>ACT 4 / 4C  FIX THE RIGHT LAYER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**Allocated Time:**</a:t>
            </a:r>
          </a:p>
          <a:p xmlns:a="http://schemas.openxmlformats.org/drawingml/2006/main">
            <a:r>
              <a:t>2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**Mode Split:**</a:t>
            </a:r>
          </a:p>
          <a:p xmlns:a="http://schemas.openxmlformats.org/drawingml/2006/main">
            <a:r>
              <a:t>Demo 2분 (CAPTURED)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**Primary Message:**</a:t>
            </a:r>
          </a:p>
          <a:p xmlns:a="http://schemas.openxmlformats.org/drawingml/2006/main">
            <a:r>
              <a:t>Prompt patch는 현재 Task만 풀 수 있고 global rule은 중복·충돌을 만들 수 있다. Workflow가 원인으로 확인된 사례라면 그 source를 고친다.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**Opening Question:**</a:t>
            </a:r>
          </a:p>
          <a:p xmlns:a="http://schemas.openxmlformats.org/drawingml/2006/main">
            <a:r>
              <a:t>“어디를 고치면 현재 Task와 다음 Task가 함께 달라질까?”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**Speaker Flow:**</a:t>
            </a:r>
          </a:p>
          <a:p xmlns:a="http://schemas.openxmlformats.org/drawingml/2006/main">
            <a:r>
              <a:t>1. (0:00–0:30 / CAPTURED Demo) Prompt, 전역 규칙, 원인 Workflow의 세 행을 읽는다.</a:t>
            </a:r>
          </a:p>
          <a:p xmlns:a="http://schemas.openxmlformats.org/drawingml/2006/main">
            <a:r>
              <a:t>2. (0:30–1:15 / CAPTURED Demo) 각각 이번 요청만 바꾸는지, 넓은 곳에 새 규칙을 더하는지, 재사용 절차를 바꾸는지 비교한다.</a:t>
            </a:r>
          </a:p>
          <a:p xmlns:a="http://schemas.openxmlformats.org/drawingml/2006/main">
            <a:r>
              <a:t>3. (1:15–2:00 / CAPTURED Demo) Workflow가 원인으로 확인된 경우에만 마지막 선택이 맞다고 한정한다.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**Evidence / Source:**</a:t>
            </a:r>
          </a:p>
          <a:p xmlns:a="http://schemas.openxmlformats.org/drawingml/2006/main">
            <a:r>
              <a:t>DEMO-11  ·  conceptual layer-selection synthesis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**Claim Boundary:**</a:t>
            </a:r>
          </a:p>
          <a:p xmlns:a="http://schemas.openxmlformats.org/drawingml/2006/main">
            <a:r>
              <a:t>가상 사례 안의 선택 논리다. C는 workflow 원인이 확인된 경우에 맞으며 일반적인 정답이나 Product modification이 아니다.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**Beginner Explanation:**</a:t>
            </a:r>
          </a:p>
          <a:p xmlns:a="http://schemas.openxmlformats.org/drawingml/2006/main">
            <a:r>
              <a:t>Prompt에 한 줄 더하기 전에 반복되는 원인이 있는 곳을 찾는다.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**Advanced Insight:**</a:t>
            </a:r>
          </a:p>
          <a:p xmlns:a="http://schemas.openxmlformats.org/drawingml/2006/main">
            <a:r>
              <a:t>원인이 뒷받침하는 좁은 layer를 선택하고 중복 지침 가능성을 따진다.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**C++ Vision Bridge:**</a:t>
            </a:r>
          </a:p>
          <a:p xmlns:a="http://schemas.openxmlformats.org/drawingml/2006/main">
            <a:r>
              <a:t>Context, workflow, toolchain 또는 test environment 중 원인이 있는 layer를 살핀다는 정도의 pattern transfer만 가능하다.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**Demo Operation:**</a:t>
            </a:r>
          </a:p>
          <a:p xmlns:a="http://schemas.openxmlformats.org/drawingml/2006/main">
            <a:r>
              <a:t>실제 실행 캡처가 아닌 가상 선택지의 정적 재구성이다. 세 행의 변경 범위를 비교하고 실제 Product 수정 diff처럼 말하지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**Audience Interaction:**</a:t>
            </a:r>
          </a:p>
          <a:p xmlns:a="http://schemas.openxmlformats.org/drawingml/2006/main">
            <a:r>
              <a:t>A/B/C의 효과 범위를 소리 없이 비교하게 한다. 원인이 정해졌다고 일반화하지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**Transition:**</a:t>
            </a:r>
          </a:p>
          <a:p xmlns:a="http://schemas.openxmlformats.org/drawingml/2006/main">
            <a:r>
              <a:t>“앞에서는 원인이 확인됐을 때의 대응을 봤습니다. 이제 그 원인을 어떻게 확인할지 보겠습니다.” S60으로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**Time Management:**</a:t>
            </a:r>
          </a:p>
          <a:p xmlns:a="http://schemas.openxmlformats.org/drawingml/2006/main">
            <a:r>
              <a:t>CAPTURED 2분. Visual matrix만 설명하고 새 Product 근거를 추가하지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**Fallback:**</a:t>
            </a:r>
          </a:p>
          <a:p xmlns:a="http://schemas.openxmlformats.org/drawingml/2006/main">
            <a:r>
              <a:t>LOCAL STATIC ARTIFACT — production/ACT_4.pptx의 S59와 production/preview/act4/S59.png를 사용한다. 원본 실행 캡처 또는 새로운 Trial 결과로 표현하지 않는다. 로컬 렌더링 검토 결과는 통합 평가 문서에 기록한다.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**Validation Status:**</a:t>
            </a:r>
          </a:p>
          <a:p xmlns:a="http://schemas.openxmlformats.org/drawingml/2006/main">
            <a:r>
              <a:t>REVIEWED — 원문·Claim 경계, 화면의 설명 순서와 운영 지침을 대조했다. 최종 PPT/Notes/PNG 대조 결과는 production/evaluation/FULL_DECK_PRESENTATION_REVISION.md에 기록한다. Windows PowerPoint, 발표 PC 글꼴, 교육장 투사,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S60 — 실패 지점과 원인 Layer 구분하기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**Slide ID:**</a:t>
            </a:r>
          </a:p>
          <a:p xmlns:a="http://schemas.openxmlformats.org/drawingml/2006/main">
            <a:r>
              <a:t>S60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**Working Title:**</a:t>
            </a:r>
          </a:p>
          <a:p xmlns:a="http://schemas.openxmlformats.org/drawingml/2006/main">
            <a:r>
              <a:t>실패 지점과 원인 Layer 구분하기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**ACT / Section:**</a:t>
            </a:r>
          </a:p>
          <a:p xmlns:a="http://schemas.openxmlformats.org/drawingml/2006/main">
            <a:r>
              <a:t>ACT 4 / 4C  FIX THE RIGHT LAYER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**Allocated Time:**</a:t>
            </a:r>
          </a:p>
          <a:p xmlns:a="http://schemas.openxmlformats.org/drawingml/2006/main">
            <a:r>
              <a:t>2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**Mode Split:**</a:t>
            </a:r>
          </a:p>
          <a:p xmlns:a="http://schemas.openxmlformats.org/drawingml/2006/main">
            <a:r>
              <a:t>Lecture 1분 + Demo 1분 (CAPTURED)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**Primary Message:**</a:t>
            </a:r>
          </a:p>
          <a:p xmlns:a="http://schemas.openxmlformats.org/drawingml/2006/main">
            <a:r>
              <a:t>증상은 Prompt나 실행 지점에 보일 수 있지만 원인은 Context, Workflow, Environment, Tool/Permission, Product code 등 다른 층에 있을 수 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**Opening Question:**</a:t>
            </a:r>
          </a:p>
          <a:p xmlns:a="http://schemas.openxmlformats.org/drawingml/2006/main">
            <a:r>
              <a:t>“실패가 보인 Layer와 원인이 있는 Layer는 항상 같을까?”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**Speaker Flow:**</a:t>
            </a:r>
          </a:p>
          <a:p xmlns:a="http://schemas.openxmlformats.org/drawingml/2006/main">
            <a:r>
              <a:t>1. (0:00–0:45 / Lecture) S59의 선택은 원인 확인을 전제로 했음을 짚고, 이제 그 전제를 확인하는 방법을 본다고 안내한다. “요청한 검증이 충분한가?”라는 증상만으로 원인을 정할 수 없다고 설명한다.</a:t>
            </a:r>
          </a:p>
          <a:p xmlns:a="http://schemas.openxmlformats.org/drawingml/2006/main">
            <a:r>
              <a:t>2. (0:45–1:00 / Lecture) 현재 기준, 작업 절차, 실행 조건, 코드 동작을 다른 조사 대상으로 분리한다.</a:t>
            </a:r>
          </a:p>
          <a:p xmlns:a="http://schemas.openxmlformats.org/drawingml/2006/main">
            <a:r>
              <a:t>3. (1:00–2:00 / CAPTURED Demo) 오른쪽의 Context, Workflow, 환경·권한, 제품 코드 질문을 차례로 가리킨다. 어느 하나를 원인으로 확정하지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**Evidence / Source:**</a:t>
            </a:r>
          </a:p>
          <a:p xmlns:a="http://schemas.openxmlformats.org/drawingml/2006/main">
            <a:r>
              <a:t>DEMO-11  ·  conceptual cause/layer synthesis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**Claim Boundary:**</a:t>
            </a:r>
          </a:p>
          <a:p xmlns:a="http://schemas.openxmlformats.org/drawingml/2006/main">
            <a:r>
              <a:t>교육용 debugging heuristic이다. 고정 진단표나 단일 원인 mapping이 아니며, 가상 사례의 원인은 조사로 확인해야 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**Beginner Explanation:**</a:t>
            </a:r>
          </a:p>
          <a:p xmlns:a="http://schemas.openxmlformats.org/drawingml/2006/main">
            <a:r>
              <a:t>실패 메시지만 보고 Prompt나 Agent를 탓하지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**Advanced Insight:**</a:t>
            </a:r>
          </a:p>
          <a:p xmlns:a="http://schemas.openxmlformats.org/drawingml/2006/main">
            <a:r>
              <a:t>Observation, cause hypothesis, system change, rerun, evaluation을 구분한다.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**C++ Vision Bridge:**</a:t>
            </a:r>
          </a:p>
          <a:p xmlns:a="http://schemas.openxmlformats.org/drawingml/2006/main">
            <a:r>
              <a:t>Build, environment, permission, project code를 후보로 분리하는 pattern만 제공한다.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**Demo Operation:**</a:t>
            </a:r>
          </a:p>
          <a:p xmlns:a="http://schemas.openxmlformats.org/drawingml/2006/main">
            <a:r>
              <a:t>가상 원인 후보의 정적 도식이다. 왼쪽 질문에서 오른쪽 점선 후보 목록으로 시선을 옮긴다. 단일 인과 화살표나 실행 결과가 없다.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**Audience Interaction:**</a:t>
            </a:r>
          </a:p>
          <a:p xmlns:a="http://schemas.openxmlformats.org/drawingml/2006/main">
            <a:r>
              <a:t>증상이 보여도 원인이 아직 미확정일 수 있음을 함께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**Transition:**</a:t>
            </a:r>
          </a:p>
          <a:p xmlns:a="http://schemas.openxmlformats.org/drawingml/2006/main">
            <a:r>
              <a:t>S61에서 이 사례의 가정과 확인할 가설을 분리한다.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**Time Management:**</a:t>
            </a:r>
          </a:p>
          <a:p xmlns:a="http://schemas.openxmlformats.org/drawingml/2006/main">
            <a:r>
              <a:t>Lecture 1분은 관점을 설명하고 CAPTURED visual 1분은 후보 layer만 보여준다.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**Fallback:**</a:t>
            </a:r>
          </a:p>
          <a:p xmlns:a="http://schemas.openxmlformats.org/drawingml/2006/main">
            <a:r>
              <a:t>LOCAL STATIC ARTIFACT — production/ACT_4.pptx의 S60와 production/preview/act4/S60.png를 사용한다. 원본 실행 캡처 또는 새로운 Trial 결과로 표현하지 않는다. 로컬 렌더링 검토 결과는 통합 평가 문서에 기록한다.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**Validation Status:**</a:t>
            </a:r>
          </a:p>
          <a:p xmlns:a="http://schemas.openxmlformats.org/drawingml/2006/main">
            <a:r>
              <a:t>REVIEWED — 원문·Claim 경계, 화면의 설명 순서와 운영 지침을 대조했다. 최종 PPT/Notes/PNG 대조 결과는 production/evaluation/FULL_DECK_PRESENTATION_REVISION.md에 기록한다. Windows PowerPoint, 발표 PC 글꼴, 교육장 투사,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S61 — 먼저 관찰하고, 그다음 가설을 세운다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**Slide ID:**</a:t>
            </a:r>
          </a:p>
          <a:p xmlns:a="http://schemas.openxmlformats.org/drawingml/2006/main">
            <a:r>
              <a:t>S61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**Working Title:**</a:t>
            </a:r>
          </a:p>
          <a:p xmlns:a="http://schemas.openxmlformats.org/drawingml/2006/main">
            <a:r>
              <a:t>먼저 관찰하고, 그다음 가설을 세운다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**ACT / Section:**</a:t>
            </a:r>
          </a:p>
          <a:p xmlns:a="http://schemas.openxmlformats.org/drawingml/2006/main">
            <a:r>
              <a:t>ACT 4 / 4C  CAUSE / CHANGE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**Allocated Time:**</a:t>
            </a:r>
          </a:p>
          <a:p xmlns:a="http://schemas.openxmlformats.org/drawingml/2006/main">
            <a:r>
              <a:t>2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**Mode Split:**</a:t>
            </a:r>
          </a:p>
          <a:p xmlns:a="http://schemas.openxmlformats.org/drawingml/2006/main">
            <a:r>
              <a:t>Case 2분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**Primary Message:**</a:t>
            </a:r>
          </a:p>
          <a:p xmlns:a="http://schemas.openxmlformats.org/drawingml/2006/main">
            <a:r>
              <a:t>실행된 절차, 현재 Project 문서, 재사용 Workflow, 실패가 나타난 위치를 먼저 살핀다. 관찰한 사실과 원인 판단은 별개다.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**Opening Question:**</a:t>
            </a:r>
          </a:p>
          <a:p xmlns:a="http://schemas.openxmlformats.org/drawingml/2006/main">
            <a:r>
              <a:t>“원인을 추측하기 전에 무엇부터 확인해야 할까?”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**Speaker Flow:**</a:t>
            </a:r>
          </a:p>
          <a:p xmlns:a="http://schemas.openxmlformats.org/drawingml/2006/main">
            <a:r>
              <a:t>1. (0:00–0:45 / Case) 왼쪽의 현재 기준 단위+통합, 재사용 지침 단위만은 가상 설정에 주어진 정보라고 밝힌다.</a:t>
            </a:r>
          </a:p>
          <a:p xmlns:a="http://schemas.openxmlformats.org/drawingml/2006/main">
            <a:r>
              <a:t>2. (0:45–1:30 / Case) 오른쪽의 “오래된 Workflow가 원인일 수 있다”는 원인 가설로 구분한다.</a:t>
            </a:r>
          </a:p>
          <a:p xmlns:a="http://schemas.openxmlformats.org/drawingml/2006/main">
            <a:r>
              <a:t>3. (1:30–2:00 / Case) 실제 문제라면 실행 경로와 실제 읽은 지침을 대조해야 한다고 정리한다. 이 사례의 실제 실행 기록은 만들지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**Evidence / Source:**</a:t>
            </a:r>
          </a:p>
          <a:p xmlns:a="http://schemas.openxmlformats.org/drawingml/2006/main">
            <a:r>
              <a:t>DEMO-04A  ·  scenario assumptions and inference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**Claim Boundary:**</a:t>
            </a:r>
          </a:p>
          <a:p xmlns:a="http://schemas.openxmlformats.org/drawingml/2006/main">
            <a:r>
              <a:t>화면의 “scenario assumption”도 실제 Trial 관찰이 아니다. stale Workflow는 점검할 가설이지 확정 사실이 아니다.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**Beginner Explanation:**</a:t>
            </a:r>
          </a:p>
          <a:p xmlns:a="http://schemas.openxmlformats.org/drawingml/2006/main">
            <a:r>
              <a:t>원인을 정하기 전 현재 지침과 따라간 절차를 맞춰 본다.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**Advanced Insight:**</a:t>
            </a:r>
          </a:p>
          <a:p xmlns:a="http://schemas.openxmlformats.org/drawingml/2006/main">
            <a:r>
              <a:t>증거와 cause hypothesis의 확신 수준을 분리한다.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**C++ Vision Bridge:**</a:t>
            </a:r>
          </a:p>
          <a:p xmlns:a="http://schemas.openxmlformats.org/drawingml/2006/main">
            <a:r>
              <a:t>없음.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**Demo Operation:**</a:t>
            </a:r>
          </a:p>
          <a:p xmlns:a="http://schemas.openxmlformats.org/drawingml/2006/main">
            <a:r>
              <a:t>왼쪽 가상 설정과 오른쪽 확인할 가설을 비교한다. OBSERVED 제품 기록이나 실제 실행 경로처럼 표현하지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**Audience Interaction:**</a:t>
            </a:r>
          </a:p>
          <a:p xmlns:a="http://schemas.openxmlformats.org/drawingml/2006/main">
            <a:r>
              <a:t>두 칸을 읽고 어떤 문장이 가정이며 어떤 문장이 추론인지 구분해 본다. 답변 제출은 요구하지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**Transition:**</a:t>
            </a:r>
          </a:p>
          <a:p xmlns:a="http://schemas.openxmlformats.org/drawingml/2006/main">
            <a:r>
              <a:t>Workflow 원인이 확인됐다면 어느 범위까지 바꿔야 할까?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**Time Management:**</a:t>
            </a:r>
          </a:p>
          <a:p xmlns:a="http://schemas.openxmlformats.org/drawingml/2006/main">
            <a:r>
              <a:t>Case 2분. 가상 전제와 실제 Evidence를 구별한다.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**Fallback:**</a:t>
            </a:r>
          </a:p>
          <a:p xmlns:a="http://schemas.openxmlformats.org/drawingml/2006/main">
            <a:r>
              <a:t>LOCAL STATIC ARTIFACT — production/ACT_4.pptx의 S61와 production/preview/act4/S61.png를 사용한다. 원본 실행 캡처 또는 새로운 Trial 결과로 표현하지 않는다. 로컬 렌더링 검토 결과는 통합 평가 문서에 기록한다.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**Validation Status:**</a:t>
            </a:r>
          </a:p>
          <a:p xmlns:a="http://schemas.openxmlformats.org/drawingml/2006/main">
            <a:r>
              <a:t>REVIEWED — 원문·Claim 경계, 화면의 설명 순서와 운영 지침을 대조했다. 최종 PPT/Notes/PNG 대조 결과는 production/evaluation/FULL_DECK_PRESENTATION_REVISION.md에 기록한다. Windows PowerPoint, 발표 PC 글꼴, 교육장 투사,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S62 — Cause가 지지하는 최소 변경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**Slide ID:**</a:t>
            </a:r>
          </a:p>
          <a:p xmlns:a="http://schemas.openxmlformats.org/drawingml/2006/main">
            <a:r>
              <a:t>S62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**Working Title:**</a:t>
            </a:r>
          </a:p>
          <a:p xmlns:a="http://schemas.openxmlformats.org/drawingml/2006/main">
            <a:r>
              <a:t>Cause가 지지하는 최소 변경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**ACT / Section:**</a:t>
            </a:r>
          </a:p>
          <a:p xmlns:a="http://schemas.openxmlformats.org/drawingml/2006/main">
            <a:r>
              <a:t>ACT 4 / 4C  CAUSE / CHANGE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**Allocated Time:**</a:t>
            </a:r>
          </a:p>
          <a:p xmlns:a="http://schemas.openxmlformats.org/drawingml/2006/main">
            <a:r>
              <a:t>2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**Mode Split:**</a:t>
            </a:r>
          </a:p>
          <a:p xmlns:a="http://schemas.openxmlformats.org/drawingml/2006/main">
            <a:r>
              <a:t>Lecture 1분 + Case 1분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**Primary Message:**</a:t>
            </a:r>
          </a:p>
          <a:p xmlns:a="http://schemas.openxmlformats.org/drawingml/2006/main">
            <a:r>
              <a:t>이 사례에서 stale Workflow가 원인으로 확인됐다고 가정하면 우선 그 Workflow를 갱신한다. 중복된 오래된 지침은 원인일 때만 제거한다.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**Opening Question:**</a:t>
            </a:r>
          </a:p>
          <a:p xmlns:a="http://schemas.openxmlformats.org/drawingml/2006/main">
            <a:r>
              <a:t>“얼마나 바꿔야 할까?”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**Speaker Flow:**</a:t>
            </a:r>
          </a:p>
          <a:p xmlns:a="http://schemas.openxmlformats.org/drawingml/2006/main">
            <a:r>
              <a:t>1. (0:00–1:00 / Lecture) “Workflow가 원인으로 확인됐다면”이라는 조건을 먼저 읽고, 원인과 변경 범위를 맞추는 원칙을 설명한다.</a:t>
            </a:r>
          </a:p>
          <a:p xmlns:a="http://schemas.openxmlformats.org/drawingml/2006/main">
            <a:r>
              <a:t>2. (1:00–2:00 / Case) 가상 Workflow의 검증 대상 지시를 단위에서 단위+통합으로 갱신하는 설계를 가리킨다. 불필요한 전역 규칙이나 다른 파일을 함께 바꿀 이유는 제시하지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**Evidence / Source:**</a:t>
            </a:r>
          </a:p>
          <a:p xmlns:a="http://schemas.openxmlformats.org/drawingml/2006/main">
            <a:r>
              <a:t>DEMO-04A  ·  conceptual cause-to-change path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**Claim Boundary:**</a:t>
            </a:r>
          </a:p>
          <a:p xmlns:a="http://schemas.openxmlformats.org/drawingml/2006/main">
            <a:r>
              <a:t>가상 사례의 조건부 대응이다. 실제 Product 변경이나 Trial 결과가 아니며, “최소”는 무조건 적게 바꾸라는 뜻이 아니다.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**Beginner Explanation:**</a:t>
            </a:r>
          </a:p>
          <a:p xmlns:a="http://schemas.openxmlformats.org/drawingml/2006/main">
            <a:r>
              <a:t>새 규칙을 더하기 전에 실제 원인이 있는 곳을 고친다.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**Advanced Insight:**</a:t>
            </a:r>
          </a:p>
          <a:p xmlns:a="http://schemas.openxmlformats.org/drawingml/2006/main">
            <a:r>
              <a:t>Cause가 지지하는 가장 작은 durable change를 정한다.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**C++ Vision Bridge:**</a:t>
            </a:r>
          </a:p>
          <a:p xmlns:a="http://schemas.openxmlformats.org/drawingml/2006/main">
            <a:r>
              <a:t>없음.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**Demo Operation:**</a:t>
            </a:r>
          </a:p>
          <a:p xmlns:a="http://schemas.openxmlformats.org/drawingml/2006/main">
            <a:r>
              <a:t>화면의 두 지침은 가상 Before/After 설계다. 실제 변경 diff나 실행 결과가 아니다. 원인 확인 조건을 계속 유지한다.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**Audience Interaction:**</a:t>
            </a:r>
          </a:p>
          <a:p xmlns:a="http://schemas.openxmlformats.org/drawingml/2006/main">
            <a:r>
              <a:t>조건이 바뀌면 수정 대상도 바뀔 수 있음을 잠시 생각하게 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**Transition:**</a:t>
            </a:r>
          </a:p>
          <a:p xmlns:a="http://schemas.openxmlformats.org/drawingml/2006/main">
            <a:r>
              <a:t>변경 뒤 같은 Task를 다시 통과하면 Harness는 충분히 검증된 걸까?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**Time Management:**</a:t>
            </a:r>
          </a:p>
          <a:p xmlns:a="http://schemas.openxmlformats.org/drawingml/2006/main">
            <a:r>
              <a:t>Lecture 1분은 원칙, Case 1분은 가상 workflow 변화에 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**Fallback:**</a:t>
            </a:r>
          </a:p>
          <a:p xmlns:a="http://schemas.openxmlformats.org/drawingml/2006/main">
            <a:r>
              <a:t>LOCAL STATIC ARTIFACT — production/ACT_4.pptx의 S62와 production/preview/act4/S62.png를 사용한다. 원본 실행 캡처 또는 새로운 Trial 결과로 표현하지 않는다. 로컬 렌더링 검토 결과는 통합 평가 문서에 기록한다.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**Validation Status:**</a:t>
            </a:r>
          </a:p>
          <a:p xmlns:a="http://schemas.openxmlformats.org/drawingml/2006/main">
            <a:r>
              <a:t>REVIEWED — 원문·Claim 경계, 화면의 설명 순서와 운영 지침을 대조했다. 최종 PPT/Notes/PNG 대조 결과는 production/evaluation/FULL_DECK_PRESENTATION_REVISION.md에 기록한다. Windows PowerPoint, 발표 PC 글꼴, 교육장 투사,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S63 — 같은 Task의 재실행만으로 충분할까?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**Slide ID:**</a:t>
            </a:r>
          </a:p>
          <a:p xmlns:a="http://schemas.openxmlformats.org/drawingml/2006/main">
            <a:r>
              <a:t>S63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**Working Title:**</a:t>
            </a:r>
          </a:p>
          <a:p xmlns:a="http://schemas.openxmlformats.org/drawingml/2006/main">
            <a:r>
              <a:t>같은 Task의 재실행만으로 충분할까?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**ACT / Section:**</a:t>
            </a:r>
          </a:p>
          <a:p xmlns:a="http://schemas.openxmlformats.org/drawingml/2006/main">
            <a:r>
              <a:t>ACT 4 / 4D  EVALUATION &amp; REGRESSION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**Allocated Time:**</a:t>
            </a:r>
          </a:p>
          <a:p xmlns:a="http://schemas.openxmlformats.org/drawingml/2006/main">
            <a:r>
              <a:t>4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**Mode Split:**</a:t>
            </a:r>
          </a:p>
          <a:p xmlns:a="http://schemas.openxmlformats.org/drawingml/2006/main">
            <a:r>
              <a:t>Lecture 1분 + Case 3분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**Primary Message:**</a:t>
            </a:r>
          </a:p>
          <a:p xmlns:a="http://schemas.openxmlformats.org/drawingml/2006/main">
            <a:r>
              <a:t>같은 Task의 재실행은 필요하지만 그것만으로 변경이 인접 작업에 영향을 주지 않는지는 알 수 없다.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**Opening Question:**</a:t>
            </a:r>
          </a:p>
          <a:p xmlns:a="http://schemas.openxmlformats.org/drawingml/2006/main">
            <a:r>
              <a:t>“Failure가 사라졌으면 Harness fix가 끝난 걸까?”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**Speaker Flow:**</a:t>
            </a:r>
          </a:p>
          <a:p xmlns:a="http://schemas.openxmlformats.org/drawingml/2006/main">
            <a:r>
              <a:t>1. (0:00–1:00 / Lecture) 왼쪽은 이번 작업의 요청 범위를 다시 다루는지 묻는 검증이라고 설명한다.</a:t>
            </a:r>
          </a:p>
          <a:p xmlns:a="http://schemas.openxmlformats.org/drawingml/2006/main">
            <a:r>
              <a:t>2. (1:00–2:30 / Case) 오른쪽은 바뀐 지침이 다른 유효한 작업을 방해하는지 묻는 질문임을 비교한다.</a:t>
            </a:r>
          </a:p>
          <a:p xmlns:a="http://schemas.openxmlformats.org/drawingml/2006/main">
            <a:r>
              <a:t>3. (2:30–4:00 / Case) 두 질문의 범위가 다르므로 대표 작업을 고르는 평가 설계가 필요하다고 연결한다. 어느 결과도 통과했다고 말하지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**Evidence / Source:**</a:t>
            </a:r>
          </a:p>
          <a:p xmlns:a="http://schemas.openxmlformats.org/drawingml/2006/main">
            <a:r>
              <a:t>DEMO-04A  ·  designed rerun and system evaluation path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**Claim Boundary:**</a:t>
            </a:r>
          </a:p>
          <a:p xmlns:a="http://schemas.openxmlformats.org/drawingml/2006/main">
            <a:r>
              <a:t>이 재실행과 확장 검증은 conceptual design이다. 실행 결과, pass count, regression success를 보여주지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**Beginner Explanation:**</a:t>
            </a:r>
          </a:p>
          <a:p xmlns:a="http://schemas.openxmlformats.org/drawingml/2006/main">
            <a:r>
              <a:t>이번 작업이 다시 되는지와 다른 작업도 안전한지는 별도 질문이다.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**Advanced Insight:**</a:t>
            </a:r>
          </a:p>
          <a:p xmlns:a="http://schemas.openxmlformats.org/drawingml/2006/main">
            <a:r>
              <a:t>Task recovery는 필요 조건일 수 있어도 Harness-level validation을 대신하지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**C++ Vision Bridge:**</a:t>
            </a:r>
          </a:p>
          <a:p xmlns:a="http://schemas.openxmlformats.org/drawingml/2006/main">
            <a:r>
              <a:t>같은 build/test 시나리오 재실행은 필요하지만 전체 회귀 위험을 모두 해소하지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**Demo Operation:**</a:t>
            </a:r>
          </a:p>
          <a:p xmlns:a="http://schemas.openxmlformats.org/drawingml/2006/main">
            <a:r>
              <a:t>이번 작업과 다른 작업의 검증 질문 두 영역을 비교한다. 실제 재실행이나 회귀 성공 결과는 없다.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**Audience Interaction:**</a:t>
            </a:r>
          </a:p>
          <a:p xmlns:a="http://schemas.openxmlformats.org/drawingml/2006/main">
            <a:r>
              <a:t>두 확인 질문의 범위가 다른 점을 비교한다.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**Transition:**</a:t>
            </a:r>
          </a:p>
          <a:p xmlns:a="http://schemas.openxmlformats.org/drawingml/2006/main">
            <a:r>
              <a:t>변경이 닿는 다른 작업 표면은 어떤 대표 Task로 볼까?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**Time Management:**</a:t>
            </a:r>
          </a:p>
          <a:p xmlns:a="http://schemas.openxmlformats.org/drawingml/2006/main">
            <a:r>
              <a:t>Lecture 1분 + Case 3분. 구체적인 pass/fail을 만들지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**Fallback:**</a:t>
            </a:r>
          </a:p>
          <a:p xmlns:a="http://schemas.openxmlformats.org/drawingml/2006/main">
            <a:r>
              <a:t>LOCAL STATIC ARTIFACT — production/ACT_4.pptx의 S63와 production/preview/act4/S63.png를 사용한다. 원본 실행 캡처 또는 새로운 Trial 결과로 표현하지 않는다. 로컬 렌더링 검토 결과는 통합 평가 문서에 기록한다.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**Validation Status:**</a:t>
            </a:r>
          </a:p>
          <a:p xmlns:a="http://schemas.openxmlformats.org/drawingml/2006/main">
            <a:r>
              <a:t>REVIEWED — 원문·Claim 경계, 화면의 설명 순서와 운영 지침을 대조했다. 최종 PPT/Notes/PNG 대조 결과는 production/evaluation/FULL_DECK_PRESENTATION_REVISION.md에 기록한다. Windows PowerPoint, 발표 PC 글꼴, 교육장 투사,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S64 — 대표 작업으로 변경 범위를 확인하기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**Slide ID:**</a:t>
            </a:r>
          </a:p>
          <a:p xmlns:a="http://schemas.openxmlformats.org/drawingml/2006/main">
            <a:r>
              <a:t>S64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**Working Title:**</a:t>
            </a:r>
          </a:p>
          <a:p xmlns:a="http://schemas.openxmlformats.org/drawingml/2006/main">
            <a:r>
              <a:t>대표 작업으로 변경 범위를 확인하기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**ACT / Section:**</a:t>
            </a:r>
          </a:p>
          <a:p xmlns:a="http://schemas.openxmlformats.org/drawingml/2006/main">
            <a:r>
              <a:t>ACT 4 / 4D  EVALUATION &amp; REGRESSION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**Allocated Time:**</a:t>
            </a:r>
          </a:p>
          <a:p xmlns:a="http://schemas.openxmlformats.org/drawingml/2006/main">
            <a:r>
              <a:t>5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**Mode Split:**</a:t>
            </a:r>
          </a:p>
          <a:p xmlns:a="http://schemas.openxmlformats.org/drawingml/2006/main">
            <a:r>
              <a:t>Demo 5분 (VISUAL / CAPTURED conceptual matrix)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**Primary Message:**</a:t>
            </a:r>
          </a:p>
          <a:p xmlns:a="http://schemas.openxmlformats.org/drawingml/2006/main">
            <a:r>
              <a:t>평가 작업의 수보다 서로 다른 사용 표면과 회귀 위험을 대표하는지가 중요하다. EVAL-01/02의 별도 과거 관찰 참고와 EVAL-03/04의 설계 사례를 구분하며, 이 Workflow 변경 뒤의 실행 결과는 없다.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**Opening Question:**</a:t>
            </a:r>
          </a:p>
          <a:p xmlns:a="http://schemas.openxmlformats.org/drawingml/2006/main">
            <a:r>
              <a:t>“무엇을 대표 Task로 고를까?”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**Speaker Flow:**</a:t>
            </a:r>
          </a:p>
          <a:p xmlns:a="http://schemas.openxmlformats.org/drawingml/2006/main">
            <a:r>
              <a:t>1. (0:00–1:00 / VISUAL Demo) “작업 수보다 서로 다른 위험을 덮는가?”라는 기준을 연다.</a:t>
            </a:r>
          </a:p>
          <a:p xmlns:a="http://schemas.openxmlformats.org/drawingml/2006/main">
            <a:r>
              <a:t>2. (1:00–2:00 / VISUAL Demo) 버그 수정은 동작 계약, 성능 변경은 측정과 검증 범위를 확인하기 위한 선택임을 짚는다. 우측 실선의 TRIAL-002와 STATE-04-PERF는 별도 과거 관찰 참고다.</a:t>
            </a:r>
          </a:p>
          <a:p xmlns:a="http://schemas.openxmlformats.org/drawingml/2006/main">
            <a:r>
              <a:t>3. (2:00–4:00 / VISUAL Demo) 문서만 수정하는 작업에는 불필요한 절차가 강요되지 않는지, 작은 리팩터링에는 유효한 다른 작업이 방해받지 않는지 묻는다. 두 행은 점선의 설계 사례이며 결과가 없다.</a:t>
            </a:r>
          </a:p>
          <a:p xmlns:a="http://schemas.openxmlformats.org/drawingml/2006/main">
            <a:r>
              <a:t>4. (4:00–5:00 / VISUAL Demo) 네 작업 모두 이번 가상 Workflow 변경 후 수행된 평가가 아님을 말하고 대표성을 기준으로 회수한다.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화면 진행: 각 행의 상태를 먼저 읽는다. EVAL-01/02의 과거 관찰 참고는 새 Workflow 평가 결과가 아니며 EVAL-03/04는 설계 사례다. 네 행 모두 변경 후 평가 PASS/FAIL이나 완료 결과를 표시하지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**Evidence / Source:**</a:t>
            </a:r>
          </a:p>
          <a:p xmlns:a="http://schemas.openxmlformats.org/drawingml/2006/main">
            <a:r>
              <a:t>DEMO-10  ·  EVAL-01/02 prior Product references; EVAL-03/04 designed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**Claim Boundary:**</a:t>
            </a:r>
          </a:p>
          <a:p xmlns:a="http://schemas.openxmlformats.org/drawingml/2006/main">
            <a:r>
              <a:t>EVAL-01/02는 별도 Product task chain의 기존 참고 Evidence다. EVAL-03/04는 설계 사례이며 결과가 없다. 이번 stale-Workflow 변경 뒤의 PASS/FAIL 또는 새 Trial은 없다.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**Beginner Explanation:**</a:t>
            </a:r>
          </a:p>
          <a:p xmlns:a="http://schemas.openxmlformats.org/drawingml/2006/main">
            <a:r>
              <a:t>대표 작업은 다른 사용 방식을 확인하도록 골라야 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**Advanced Insight:**</a:t>
            </a:r>
          </a:p>
          <a:p xmlns:a="http://schemas.openxmlformats.org/drawingml/2006/main">
            <a:r>
              <a:t>변경이 닿는 흔한 표면, 알려진 회귀 위험, 비교 대상이 없을 수 있는 task를 나눠 본다.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**C++ Vision Bridge:**</a:t>
            </a:r>
          </a:p>
          <a:p xmlns:a="http://schemas.openxmlformats.org/drawingml/2006/main">
            <a:r>
              <a:t>Contextual only: 대표 작업 선택은 Vision build, benchmark, docs 같은 surface에 적용할 수 있지만 별도 C++ case는 만들지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**Demo Operation:**</a:t>
            </a:r>
          </a:p>
          <a:p xmlns:a="http://schemas.openxmlformats.org/drawingml/2006/main">
            <a:r>
              <a:t>중앙은 네 평가 작업의 선정 이유, 우측은 분리된 참고 근거/설계 상태다. EVAL-01/02의 과거 관찰 참고와 EVAL-03/04의 설계를 선과 색으로 구분한다. 새 실행·PASS/FAIL 결과는 표시하지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**Audience Interaction:**</a:t>
            </a:r>
          </a:p>
          <a:p xmlns:a="http://schemas.openxmlformats.org/drawingml/2006/main">
            <a:r>
              <a:t>작업 이름보다 가운데 확인 질문을 읽도록 유도한다. 평가 작업을 많이 모으는 대신 어떤 위험을 보려는지 생각하게 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**Transition:**</a:t>
            </a:r>
          </a:p>
          <a:p xmlns:a="http://schemas.openxmlformats.org/drawingml/2006/main">
            <a:r>
              <a:t>실패마다 규칙을 하나씩 더하면 평가 범위가 커지기만 할까?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**Time Management:**</a:t>
            </a:r>
          </a:p>
          <a:p xmlns:a="http://schemas.openxmlformats.org/drawingml/2006/main">
            <a:r>
              <a:t>Demo 5분은 static matrix 설명에 사용한다. 네 EVAL을 실제로 실행하지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**Fallback:**</a:t>
            </a:r>
          </a:p>
          <a:p xmlns:a="http://schemas.openxmlformats.org/drawingml/2006/main">
            <a:r>
              <a:t>LOCAL STATIC ARTIFACT — production/ACT_4.pptx의 S64와 production/preview/act4/S64.png를 사용한다. 원본 실행 캡처 또는 새로운 Trial 결과로 표현하지 않는다. 로컬 렌더링 검토 결과는 통합 평가 문서에 기록한다.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**Validation Status:**</a:t>
            </a:r>
          </a:p>
          <a:p xmlns:a="http://schemas.openxmlformats.org/drawingml/2006/main">
            <a:r>
              <a:t>REVIEWED — DEC-0030에서 승인한 화면 강조와 운영 Cue를 정렬했다. 최종 PPT/Notes/PNG 대조와 렌더 검토 결과는 production/evaluation/FULL_DECK_PRESENTATION_POLISH.md에 기록한다. Windows PowerPoint, 발표 PC 글꼴, 교육장 투사, 제품·계정,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S65 — Harness도 특정 실패에 맞춰 과적합될 수 있다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**Slide ID:**</a:t>
            </a:r>
          </a:p>
          <a:p xmlns:a="http://schemas.openxmlformats.org/drawingml/2006/main">
            <a:r>
              <a:t>S65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**Working Title:**</a:t>
            </a:r>
          </a:p>
          <a:p xmlns:a="http://schemas.openxmlformats.org/drawingml/2006/main">
            <a:r>
              <a:t>Harness도 특정 실패에 맞춰 과적합될 수 있다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**ACT / Section:**</a:t>
            </a:r>
          </a:p>
          <a:p xmlns:a="http://schemas.openxmlformats.org/drawingml/2006/main">
            <a:r>
              <a:t>ACT 4 / 4D  EVALUATION &amp; REGRESSION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**Allocated Time:**</a:t>
            </a:r>
          </a:p>
          <a:p xmlns:a="http://schemas.openxmlformats.org/drawingml/2006/main">
            <a:r>
              <a:t>4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**Mode Split:**</a:t>
            </a:r>
          </a:p>
          <a:p xmlns:a="http://schemas.openxmlformats.org/drawingml/2006/main">
            <a:r>
              <a:t>Lecture 4분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**Primary Message:**</a:t>
            </a:r>
          </a:p>
          <a:p xmlns:a="http://schemas.openxmlformats.org/drawingml/2006/main">
            <a:r>
              <a:t>실패마다 전역 규칙을 덧붙이면 Harness가 비대해지거나 충돌하고 특정 Task에만 좁게 맞춰질 수 있다. 원인을 확인하고 대표 작업을 평가하며 불필요한 규칙은 정리한다.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**Opening Question:**</a:t>
            </a:r>
          </a:p>
          <a:p xmlns:a="http://schemas.openxmlformats.org/drawingml/2006/main">
            <a:r>
              <a:t>“한 번 실패했다고 규칙을 계속 추가하면 어떻게 될까?”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**Speaker Flow:**</a:t>
            </a:r>
          </a:p>
          <a:p xmlns:a="http://schemas.openxmlformats.org/drawingml/2006/main">
            <a:r>
              <a:t>1. (0:00–1:00 / Lecture) 실패마다 규칙을 더하는 상황을 가정한다.</a:t>
            </a:r>
          </a:p>
          <a:p xmlns:a="http://schemas.openxmlformats.org/drawingml/2006/main">
            <a:r>
              <a:t>2. (1:00–2:30 / Lecture) 규칙 누적, 충돌, 특정 작업에만 맞춤 세 비용을 짚는다. 통계적 ML 과적합과 동일한 현상이라고 말하지 않는다.</a:t>
            </a:r>
          </a:p>
          <a:p xmlns:a="http://schemas.openxmlformats.org/drawingml/2006/main">
            <a:r>
              <a:t>3. (2:30–4:00 / Lecture) 원인 확인, 대표 작업 평가, 불필요한 규칙 정리라는 하단 판단 기준으로 돌아온다.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**Evidence / Source:**</a:t>
            </a:r>
          </a:p>
          <a:p xmlns:a="http://schemas.openxmlformats.org/drawingml/2006/main">
            <a:r>
              <a:t>DEMO-04A  ·  conceptual regression / maintenance model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**Claim Boundary:**</a:t>
            </a:r>
          </a:p>
          <a:p xmlns:a="http://schemas.openxmlformats.org/drawingml/2006/main">
            <a:r>
              <a:t>“Overfit”은 교육용 비유다. ML 통계적 overfitting과 같은 현상이라고 주장하지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**Beginner Explanation:**</a:t>
            </a:r>
          </a:p>
          <a:p xmlns:a="http://schemas.openxmlformats.org/drawingml/2006/main">
            <a:r>
              <a:t>규칙 수를 늘리기보다 반복 원인을 살핀다.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**Advanced Insight:**</a:t>
            </a:r>
          </a:p>
          <a:p xmlns:a="http://schemas.openxmlformats.org/drawingml/2006/main">
            <a:r>
              <a:t>대표 task에서의 효과와 유지 비용을 같이 평가하고 obsolete rule을 제거한다.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**C++ Vision Bridge:**</a:t>
            </a:r>
          </a:p>
          <a:p xmlns:a="http://schemas.openxmlformats.org/drawingml/2006/main">
            <a:r>
              <a:t>없음.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**Demo Operation:**</a:t>
            </a:r>
          </a:p>
          <a:p xmlns:a="http://schemas.openxmlformats.org/drawingml/2006/main">
            <a:r>
              <a:t>없음. 반복 실패→규칙 누적 도식은 teaching model이며 실제 history가 아니다.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**Audience Interaction:**</a:t>
            </a:r>
          </a:p>
          <a:p xmlns:a="http://schemas.openxmlformats.org/drawingml/2006/main">
            <a:r>
              <a:t>누적 규칙이 낳을 수 있는 bloat, conflict, narrow fit을 같이 본다.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**Transition:**</a:t>
            </a:r>
          </a:p>
          <a:p xmlns:a="http://schemas.openxmlformats.org/drawingml/2006/main">
            <a:r>
              <a:t>“지금까지 따로 본 관찰·원인 판단·변경·평가를, 다음 작업까지 이어지는 하나의 운영 순서로 묶겠습니다.” S66으로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**Time Management:**</a:t>
            </a:r>
          </a:p>
          <a:p xmlns:a="http://schemas.openxmlformats.org/drawingml/2006/main">
            <a:r>
              <a:t>Lecture 4분. 통계적 ML overfitting과 동일시하거나 보편 법칙으로 말하지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**Fallback:**</a:t>
            </a:r>
          </a:p>
          <a:p xmlns:a="http://schemas.openxmlformats.org/drawingml/2006/main">
            <a:r>
              <a:t>LOCAL STATIC ARTIFACT — production/ACT_4.pptx의 S65와 production/preview/act4/S65.png를 사용한다. 원본 실행 캡처 또는 새로운 Trial 결과로 표현하지 않는다. 로컬 렌더링 검토 결과는 통합 평가 문서에 기록한다.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**Validation Status:**</a:t>
            </a:r>
          </a:p>
          <a:p xmlns:a="http://schemas.openxmlformats.org/drawingml/2006/main">
            <a:r>
              <a:t>REVIEWED — 원문·Claim 경계, 화면의 설명 순서와 운영 지침을 대조했다. 최종 PPT/Notes/PNG 대조 결과는 production/evaluation/FULL_DECK_PRESENTATION_REVISION.md에 기록한다. Windows PowerPoint, 발표 PC 글꼴, 교육장 투사,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S66 — Feedback을 System Change와 Evaluation으로 잇기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**Slide ID:**</a:t>
            </a:r>
          </a:p>
          <a:p xmlns:a="http://schemas.openxmlformats.org/drawingml/2006/main">
            <a:r>
              <a:t>S66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**Working Title:**</a:t>
            </a:r>
          </a:p>
          <a:p xmlns:a="http://schemas.openxmlformats.org/drawingml/2006/main">
            <a:r>
              <a:t>Feedback을 System Change와 Evaluation으로 잇기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**ACT / Section:**</a:t>
            </a:r>
          </a:p>
          <a:p xmlns:a="http://schemas.openxmlformats.org/drawingml/2006/main">
            <a:r>
              <a:t>ACT 4 / 4E  LOOP MENTAL MODEL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**Allocated Time:**</a:t>
            </a:r>
          </a:p>
          <a:p xmlns:a="http://schemas.openxmlformats.org/drawingml/2006/main">
            <a:r>
              <a:t>11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**Mode Split:**</a:t>
            </a:r>
          </a:p>
          <a:p xmlns:a="http://schemas.openxmlformats.org/drawingml/2006/main">
            <a:r>
              <a:t>Lecture 9분 + Demo 2분 (VISUAL)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**Primary Message:**</a:t>
            </a:r>
          </a:p>
          <a:p xmlns:a="http://schemas.openxmlformats.org/drawingml/2006/main">
            <a:r>
              <a:t>실행 결과와 반복되는 마찰을 관찰하고 원인과 재발 가능성을 판단한 뒤 적절한 System을 바꾸고 결과를 다시 평가할 때 Feedback은 System Improvement로 이어진다.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**Opening Question:**</a:t>
            </a:r>
          </a:p>
          <a:p xmlns:a="http://schemas.openxmlformats.org/drawingml/2006/main">
            <a:r>
              <a:t>“앞에서 나누어 본 판단을 어떤 순서로 이어야 다음 작업도 달라질까?”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**Speaker Flow:**</a:t>
            </a:r>
          </a:p>
          <a:p xmlns:a="http://schemas.openxmlformats.org/drawingml/2006/main">
            <a:r>
              <a:t>1. (0:00–2:00 / Lecture) 앞에서 따로 본 판단을 다섯 단계 운영 순서로 통합한다고 안내한다. 실행과 관찰의 질문을 구분하고, 가상 사례의 지시 범위 비교가 실행 결과와 다름을 짚는다.</a:t>
            </a:r>
          </a:p>
          <a:p xmlns:a="http://schemas.openxmlformats.org/drawingml/2006/main">
            <a:r>
              <a:t>2. (2:00–5:00 / Lecture) 원인 판단에는 실행 경로·선택한 지침 등 추가 확인이 필요함을 S61의 논리로 회수한다.</a:t>
            </a:r>
          </a:p>
          <a:p xmlns:a="http://schemas.openxmlformats.org/drawingml/2006/main">
            <a:r>
              <a:t>3. (5:00–7:00 / Lecture) 시스템 변경은 원인 Layer를 바꾸는 일이며, Prompt 보정과 재사용 Workflow 갱신의 범위가 다름을 회수한다.</a:t>
            </a:r>
          </a:p>
          <a:p xmlns:a="http://schemas.openxmlformats.org/drawingml/2006/main">
            <a:r>
              <a:t>4. (7:00–9:00 / Lecture) 같은 작업과 다른 대표 작업의 재평가가 답하는 질문을 비교한다. 새 결과는 제시하지 않는다.</a:t>
            </a:r>
          </a:p>
          <a:p xmlns:a="http://schemas.openxmlformats.org/drawingml/2006/main">
            <a:r>
              <a:t>5. (9:00–11:00 / VISUAL Demo) 정적 도식의 실행→관찰→원인 판단→시스템 변경→재평가를 순서대로 가리킨다. 자동 학습을 뜻하지 않는 교육용 운영 모델임을 닫고 실제 Meta 기록으로 전환한다.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화면 진행: 기존 가상 단위/통합 사례를 다섯 단계에 대응한다. 실행 범위 확인→현재 지시와 기준 비교→Workflow 원인 가설 확인→확인된 원인 Layer의 지시 갱신→같은/다른 대표 작업 재평가 순서다. 단계별 질문만 가리키며 실제 실행·변경 성공·새 평가 결과를 채우지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**Evidence / Source:**</a:t>
            </a:r>
          </a:p>
          <a:p xmlns:a="http://schemas.openxmlformats.org/drawingml/2006/main">
            <a:r>
              <a:t>DEC-0023  ·  course operational model  ·  no product loop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**Claim Boundary:**</a:t>
            </a:r>
          </a:p>
          <a:p xmlns:a="http://schemas.openxmlformats.org/drawingml/2006/main">
            <a:r>
              <a:t>이 교육의 operational model이다. 자동 학습, Agent self-learning, 무한 반복, observed Product loop를 뜻하지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**Beginner Explanation:**</a:t>
            </a:r>
          </a:p>
          <a:p xmlns:a="http://schemas.openxmlformats.org/drawingml/2006/main">
            <a:r>
              <a:t>같은 수정을 되풀이하는 대신 다음 작업에도 영향을 주는 System을 살핀다.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**Advanced Insight:**</a:t>
            </a:r>
          </a:p>
          <a:p xmlns:a="http://schemas.openxmlformats.org/drawingml/2006/main">
            <a:r>
              <a:t>자동화와 별개로 cause, recurrence, change layer, evaluation을 설계한다.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**C++ Vision Bridge:**</a:t>
            </a:r>
          </a:p>
          <a:p xmlns:a="http://schemas.openxmlformats.org/drawingml/2006/main">
            <a:r>
              <a:t>없음.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**Demo Operation:**</a:t>
            </a:r>
          </a:p>
          <a:p xmlns:a="http://schemas.openxmlformats.org/drawingml/2006/main">
            <a:r>
              <a:t>정적 5단계 도식과 발표자 지목을 사용한다. R1–R5 내부 번호나 운영 시간은 청중 화면에 표시하지 않는다. 자동 애니메이션·실행·모델 학습 주장은 없다.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**Audience Interaction:**</a:t>
            </a:r>
          </a:p>
          <a:p xmlns:a="http://schemas.openxmlformats.org/drawingml/2006/main">
            <a:r>
              <a:t>“Feedback은 어느 순간 System change가 되는가?”를 생각하게 하고, 응답 제출은 요구하지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**Transition:**</a:t>
            </a:r>
          </a:p>
          <a:p xmlns:a="http://schemas.openxmlformats.org/drawingml/2006/main">
            <a:r>
              <a:t>“이번에는 실제 교육 제작 기록에서 Trial의 평가·보고 기준을 살펴보겠습니다. 어떤 관찰이 그 기준을 돌아보게 했는지부터 보겠습니다.” S67로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**Time Management:**</a:t>
            </a:r>
          </a:p>
          <a:p xmlns:a="http://schemas.openxmlformats.org/drawingml/2006/main">
            <a:r>
              <a:t>Lecture 9분, 마지막 VISUAL Demo 2분. R1–R5는 approximate reveal cue이며 전체가 항상 표시되는 정적 도식으로 진행 가능.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**Fallback:**</a:t>
            </a:r>
          </a:p>
          <a:p xmlns:a="http://schemas.openxmlformats.org/drawingml/2006/main">
            <a:r>
              <a:t>LOCAL STATIC ARTIFACT — production/ACT_4.pptx의 S66와 production/preview/act4/S66.png를 사용한다. 원본 실행 캡처 또는 새로운 Trial 결과로 표현하지 않는다. 로컬 렌더링 검토 결과는 통합 평가 문서에 기록한다.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**Validation Status:**</a:t>
            </a:r>
          </a:p>
          <a:p xmlns:a="http://schemas.openxmlformats.org/drawingml/2006/main">
            <a:r>
              <a:t>REVIEWED — DEC-0030에서 승인한 화면 강조와 운영 Cue를 정렬했다. 최종 PPT/Notes/PNG 대조와 렌더 검토 결과는 production/evaluation/FULL_DECK_PRESENTATION_POLISH.md에 기록한다. Windows PowerPoint, 발표 PC 글꼴, 교육장 투사, 제품·계정,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S67 — 실제 제작 기록: TRIAL-006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**Slide ID:**</a:t>
            </a:r>
          </a:p>
          <a:p xmlns:a="http://schemas.openxmlformats.org/drawingml/2006/main">
            <a:r>
              <a:t>S67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**Working Title:**</a:t>
            </a:r>
          </a:p>
          <a:p xmlns:a="http://schemas.openxmlformats.org/drawingml/2006/main">
            <a:r>
              <a:t>실제 제작 기록: TRIAL-006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**ACT / Section:**</a:t>
            </a:r>
          </a:p>
          <a:p xmlns:a="http://schemas.openxmlformats.org/drawingml/2006/main">
            <a:r>
              <a:t>ACT 4 / 4F  OBSERVED META LOOP / DEMO-04B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**Allocated Time:**</a:t>
            </a:r>
          </a:p>
          <a:p xmlns:a="http://schemas.openxmlformats.org/drawingml/2006/main">
            <a:r>
              <a:t>2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**Mode Split:**</a:t>
            </a:r>
          </a:p>
          <a:p xmlns:a="http://schemas.openxmlformats.org/drawingml/2006/main">
            <a:r>
              <a:t>Demo 2분 (CAPTURED)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**Primary Message:**</a:t>
            </a:r>
          </a:p>
          <a:p xmlns:a="http://schemas.openxmlformats.org/drawingml/2006/main">
            <a:r>
              <a:t>TRIAL-006은 Codex CLI에서 수행한 실제 성능 조사다. Global Skills와 시작 경고가 함께 관찰되어 Prompt-only attribution은 PARTIAL이다.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**Opening Question:**</a:t>
            </a:r>
          </a:p>
          <a:p xmlns:a="http://schemas.openxmlformats.org/drawingml/2006/main">
            <a:r>
              <a:t>“실제 제작 과정에서 Trial의 평가·보고 기준을 돌아보게 한 관찰은 무엇이었나?”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**Speaker Flow:**</a:t>
            </a:r>
          </a:p>
          <a:p xmlns:a="http://schemas.openxmlformats.org/drawingml/2006/main">
            <a:r>
              <a:t>1. (0:00–0:30 / CAPTURED Demo) OBSERVED META 표식과 이중선을 가리키며 앞의 가상 사례를 닫고 실제 교육 제작 기록으로 전환한다. 이번에 살펴볼 System은 Trial의 평가·보고 기준이라고 안내하고, 그 기준을 돌아보게 한 TRIAL-006의 관찰부터 연다.</a:t>
            </a:r>
          </a:p>
          <a:p xmlns:a="http://schemas.openxmlformats.org/drawingml/2006/main">
            <a:r>
              <a:t>2. (0:30–1:15 / CAPTURED Demo) 성능 작업 요청, Global Skill이 관여한 실행 환경, Prompt만의 효과로 분리하기 어려운 결과 해석의 세 영역을 짚는다.</a:t>
            </a:r>
          </a:p>
          <a:p xmlns:a="http://schemas.openxmlformats.org/drawingml/2006/main">
            <a:r>
              <a:t>3. (1:15–2:00 / CAPTURED Demo) PARTIAL은 결과가 없다는 뜻이 아니라 원인 귀속의 한계라고 열고 다음 장에서 두 질문을 나눈다.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화면 진행: 상단의 Trial 평가·보고 기준은 이번 실제 사례에서 살펴볼 대상을 안내한다. 이 장은 실제 사건을 여는 화면으로, TRIAL-006 요청과 함께 관찰된 Global Skill/시작 경고를 먼저 짚고 인과 해석의 두 질문은 다음 장으로 넘긴다. 앞의 가상 stale 사례와 별개임을 이중선과 표식으로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**Evidence / Source:**</a:t>
            </a:r>
          </a:p>
          <a:p xmlns:a="http://schemas.openxmlformats.org/drawingml/2006/main">
            <a:r>
              <a:t>TRIAL-006  ·  DEC-0016  ·  TRIAL-007/008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**Claim Boundary:**</a:t>
            </a:r>
          </a:p>
          <a:p xmlns:a="http://schemas.openxmlformats.org/drawingml/2006/main">
            <a:r>
              <a:t>OBSERVED_META: 교육자료 제작·Trial 평가 기록이다. Demo Product change나 DEMO-04A 원인/수정 사례가 아니다. Codex CLI evidence를 현재 Desktop으로 일반화하지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**Beginner Explanation:**</a:t>
            </a:r>
          </a:p>
          <a:p xmlns:a="http://schemas.openxmlformats.org/drawingml/2006/main">
            <a:r>
              <a:t>결과가 있다는 사실과 그 원인을 안다는 것은 다르다.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**Advanced Insight:**</a:t>
            </a:r>
          </a:p>
          <a:p xmlns:a="http://schemas.openxmlformats.org/drawingml/2006/main">
            <a:r>
              <a:t>ambient global environment가 있는 실행에서 attribution boundary를 기록한다.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**C++ Vision Bridge:**</a:t>
            </a:r>
          </a:p>
          <a:p xmlns:a="http://schemas.openxmlformats.org/drawingml/2006/main">
            <a:r>
              <a:t>없음.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**Demo Operation:**</a:t>
            </a:r>
          </a:p>
          <a:p xmlns:a="http://schemas.openxmlformats.org/drawingml/2006/main">
            <a:r>
              <a:t>TRIAL-006 기록을 재구성한 native 도식이다. 작업 요청→실행 환경→결과 해석을 차례로 읽는다. 실제 terminal screenshot이 아니며 현재 Desktop 동작을 주장하지 않는다. Hook 경고는 효과 관찰을 뜻하지 않고 MCP 시작 경고는 작업 결과를 뜻하지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**Audience Interaction:**</a:t>
            </a:r>
          </a:p>
          <a:p xmlns:a="http://schemas.openxmlformats.org/drawingml/2006/main">
            <a:r>
              <a:t>이 시점에 Evidence grammar가 바뀌었음을 보고 Conceptual case와 구별한다.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**Transition:**</a:t>
            </a:r>
          </a:p>
          <a:p xmlns:a="http://schemas.openxmlformats.org/drawingml/2006/main">
            <a:r>
              <a:t>이 결과를 Task Prompt만의 효과라고 말할 수 있을까?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**Time Management:**</a:t>
            </a:r>
          </a:p>
          <a:p xmlns:a="http://schemas.openxmlformats.org/drawingml/2006/main">
            <a:r>
              <a:t>CAPTURED 2분. 실제 기록의 정적 요약을 사용하고 새 제품 실행은 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**Fallback:**</a:t>
            </a:r>
          </a:p>
          <a:p xmlns:a="http://schemas.openxmlformats.org/drawingml/2006/main">
            <a:r>
              <a:t>LOCAL STATIC ARTIFACT — production/ACT_4.pptx의 S67와 production/preview/act4/S67.png를 사용한다. 원본 실행 캡처 또는 새로운 Trial 결과로 표현하지 않는다. 로컬 렌더링 검토 결과는 통합 평가 문서에 기록한다.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**Validation Status:**</a:t>
            </a:r>
          </a:p>
          <a:p xmlns:a="http://schemas.openxmlformats.org/drawingml/2006/main">
            <a:r>
              <a:t>REVIEWED — DEC-0030에서 승인한 화면 강조와 운영 Cue를 정렬했다. 최종 PPT/Notes/PNG 대조와 렌더 검토 결과는 production/evaluation/FULL_DECK_PRESENTATION_POLISH.md에 기록한다. Windows PowerPoint, 발표 PC 글꼴, 교육장 투사, 제품·계정,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S68 — 결과의 타당성과 원인 귀속은 별개다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**Slide ID:**</a:t>
            </a:r>
          </a:p>
          <a:p xmlns:a="http://schemas.openxmlformats.org/drawingml/2006/main">
            <a:r>
              <a:t>S68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**Working Title:**</a:t>
            </a:r>
          </a:p>
          <a:p xmlns:a="http://schemas.openxmlformats.org/drawingml/2006/main">
            <a:r>
              <a:t>결과의 타당성과 원인 귀속은 별개다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**ACT / Section:**</a:t>
            </a:r>
          </a:p>
          <a:p xmlns:a="http://schemas.openxmlformats.org/drawingml/2006/main">
            <a:r>
              <a:t>ACT 4 / 4F  OBSERVED META LOOP / DEMO-04B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**Allocated Time:**</a:t>
            </a:r>
          </a:p>
          <a:p xmlns:a="http://schemas.openxmlformats.org/drawingml/2006/main">
            <a:r>
              <a:t>4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**Mode Split:**</a:t>
            </a:r>
          </a:p>
          <a:p xmlns:a="http://schemas.openxmlformats.org/drawingml/2006/main">
            <a:r>
              <a:t>Demo 4분 (CAPTURED)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**Primary Message:**</a:t>
            </a:r>
          </a:p>
          <a:p xmlns:a="http://schemas.openxmlformats.org/drawingml/2006/main">
            <a:r>
              <a:t>resize_nearest 측정은 기록된 코드·입력·runtime·host 범위에서 유효하지만, global Harness 영향 때문에 전체 workflow를 Prompt 하나의 효과로 분리할 수 없다.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**Opening Question:**</a:t>
            </a:r>
          </a:p>
          <a:p xmlns:a="http://schemas.openxmlformats.org/drawingml/2006/main">
            <a:r>
              <a:t>“측정 결과가 유효해도 원인을 Prompt 하나로 좁힐 수 있을까?”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**Speaker Flow:**</a:t>
            </a:r>
          </a:p>
          <a:p xmlns:a="http://schemas.openxmlformats.org/drawingml/2006/main">
            <a:r>
              <a:t>1. (0:00–1:00 / CAPTURED Demo) 이번 수치는 S45의 image_statistics Benchmark와 별개인 TRIAL-006 resize_nearest 기록임을 먼저 짚는다. 왼쪽 “측정 결과는 유효한가?”와 오른쪽 “무엇이 결과를 만들었나?”를 독립된 질문으로 읽는다.</a:t>
            </a:r>
          </a:p>
          <a:p xmlns:a="http://schemas.openxmlformats.org/drawingml/2006/main">
            <a:r>
              <a:t>2. (1:00–2:00 / CAPTURED Demo) input/output hash와 같은 조건의 7회 one-call 측정 기록을 확인한다. 144.2→33.5 ms/call median은 작은 보조정보다. 합성 640×480 gray(max4095)→960×720, CPython 3.9.6, macOS 26.6.2 arm64 범위를 말한다.</a:t>
            </a:r>
          </a:p>
          <a:p xmlns:a="http://schemas.openxmlformats.org/drawingml/2006/main">
            <a:r>
              <a:t>3. (2:00–3:15 / CAPTURED Demo) performance-goal Global Skill이 evaluator·ledger·threshold에 관여한 기록을 설명한다. 수치 변화의 직접 원인이라고 단정하지 않는다.</a:t>
            </a:r>
          </a:p>
          <a:p xmlns:a="http://schemas.openxmlformats.org/drawingml/2006/main">
            <a:r>
              <a:t>4. (3:15–4:00 / CAPTURED Demo) Hook 경고와 효과, MCP 시작 오류와 작업 결과를 구분하고, 결과와 원인 해석을 별도로 기록해야 한다고 닫는다.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화면 진행: 왼쪽의 결과 타당성과 오른쪽의 원인 귀속을 각각 별도 질문으로 읽는다. 실제 hash와 측정 범위는 왼쪽에, Global 영향과 PARTIAL은 오른쪽에 대응한다. 수치를 새로운 실행 결과로 말하지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**Evidence / Source:**</a:t>
            </a:r>
          </a:p>
          <a:p xmlns:a="http://schemas.openxmlformats.org/drawingml/2006/main">
            <a:r>
              <a:t>TRIAL-006  ·  7 one-call samples  ·  disposable worktree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**Claim Boundary:**</a:t>
            </a:r>
          </a:p>
          <a:p xmlns:a="http://schemas.openxmlformats.org/drawingml/2006/main">
            <a:r>
              <a:t>144.2 → 33.5 ms/call median은 기록된 synthetic 640×480 grayscale input (max 4095) → 960×720, CPython 3.9.6, macOS 26.6.2 arm64에 한정한다. Prompt-only attribution은 PARTIAL. 4.30×/76.8% hero metric은 사용하지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**Beginner Explanation:**</a:t>
            </a:r>
          </a:p>
          <a:p xmlns:a="http://schemas.openxmlformats.org/drawingml/2006/main">
            <a:r>
              <a:t>숫자가 있어도 무엇이 결과를 만들었는지 자동으로 알 수는 없다.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**Advanced Insight:**</a:t>
            </a:r>
          </a:p>
          <a:p xmlns:a="http://schemas.openxmlformats.org/drawingml/2006/main">
            <a:r>
              <a:t>Result validity와 causal attribution의 확신 수준을 따로 보고한다.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**C++ Vision Bridge:**</a:t>
            </a:r>
          </a:p>
          <a:p xmlns:a="http://schemas.openxmlformats.org/drawingml/2006/main">
            <a:r>
              <a:t>필요하면 같은 원리를 C++ benchmark의 입력, compiler, host, toolchain 범위로 transfer하되 새 사례로 확장하지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**Demo Operation:**</a:t>
            </a:r>
          </a:p>
          <a:p xmlns:a="http://schemas.openxmlformats.org/drawingml/2006/main">
            <a:r>
              <a:t>CAPTURED trial summary. Input/output SHA-256 guards matched; seven one-call samples. `performance-goal` global Skill influenced evaluator/ledger/threshold, but is not proven the direct cause of the metric. Hook warnings do not prove hook effect; MCP startup error does not evidence task result.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**Audience Interaction:**</a:t>
            </a:r>
          </a:p>
          <a:p xmlns:a="http://schemas.openxmlformats.org/drawingml/2006/main">
            <a:r>
              <a:t>왼쪽은 확인된 result validity, 오른쪽은 남은 attribution uncertainty를 비교한다.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**Transition:**</a:t>
            </a:r>
          </a:p>
          <a:p xmlns:a="http://schemas.openxmlformats.org/drawingml/2006/main">
            <a:r>
              <a:t>이 한계가 후속 Trial의 평가 방식에 어떤 변경을 만들었을까?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**Time Management:**</a:t>
            </a:r>
          </a:p>
          <a:p xmlns:a="http://schemas.openxmlformats.org/drawingml/2006/main">
            <a:r>
              <a:t>CAPTURED Demo 4분. 성능 숫자를 성과 발표처럼 연출하거나 일반화하지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**Fallback:**</a:t>
            </a:r>
          </a:p>
          <a:p xmlns:a="http://schemas.openxmlformats.org/drawingml/2006/main">
            <a:r>
              <a:t>LOCAL STATIC ARTIFACT — production/ACT_4.pptx의 S68와 production/preview/act4/S68.png를 사용한다. 원본 실행 캡처 또는 새로운 Trial 결과로 표현하지 않는다. 로컬 렌더링 검토 결과는 통합 평가 문서에 기록한다.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**Validation Status:**</a:t>
            </a:r>
          </a:p>
          <a:p xmlns:a="http://schemas.openxmlformats.org/drawingml/2006/main">
            <a:r>
              <a:t>REVIEWED — DEC-0030에서 승인한 화면 강조와 운영 Cue를 정렬했다. 최종 PPT/Notes/PNG 대조와 렌더 검토 결과는 production/evaluation/FULL_DECK_PRESENTATION_POLISH.md에 기록한다. Windows PowerPoint, 발표 PC 글꼴, 교육장 투사, 제품·계정,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S69 — 평가와 보고 규칙을 Evidence에 맞추다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**Slide ID:**</a:t>
            </a:r>
          </a:p>
          <a:p xmlns:a="http://schemas.openxmlformats.org/drawingml/2006/main">
            <a:r>
              <a:t>S69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**Working Title:**</a:t>
            </a:r>
          </a:p>
          <a:p xmlns:a="http://schemas.openxmlformats.org/drawingml/2006/main">
            <a:r>
              <a:t>평가와 보고 규칙을 Evidence에 맞추다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**ACT / Section:**</a:t>
            </a:r>
          </a:p>
          <a:p xmlns:a="http://schemas.openxmlformats.org/drawingml/2006/main">
            <a:r>
              <a:t>ACT 4 / 4F  OBSERVED META LOOP / DEMO-04B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**Allocated Time:**</a:t>
            </a:r>
          </a:p>
          <a:p xmlns:a="http://schemas.openxmlformats.org/drawingml/2006/main">
            <a:r>
              <a:t>3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**Mode Split:**</a:t>
            </a:r>
          </a:p>
          <a:p xmlns:a="http://schemas.openxmlformats.org/drawingml/2006/main">
            <a:r>
              <a:t>Lecture 1분 + Demo 2분 (CAPTURED)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**Primary Message:**</a:t>
            </a:r>
          </a:p>
          <a:p xmlns:a="http://schemas.openxmlformats.org/drawingml/2006/main">
            <a:r>
              <a:t>DEC-0016은 TRIAL-006을 PARTIAL로 보존하고 clean isolation을 진행 조건으로 요구하지 않으며, 후속 CLI Trial에서 관찰된 global influence를 기록하도록 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**Opening Question:**</a:t>
            </a:r>
          </a:p>
          <a:p xmlns:a="http://schemas.openxmlformats.org/drawingml/2006/main">
            <a:r>
              <a:t>“Prompt 효과를 분리할 수 없다면 다음 Trial은 어떻게 기록해야 할까?”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**Speaker Flow:**</a:t>
            </a:r>
          </a:p>
          <a:p xmlns:a="http://schemas.openxmlformats.org/drawingml/2006/main">
            <a:r>
              <a:t>1. (0:00–1:00 / Lecture) 기존 평가가 작업·Repository 중심이어서 주변 Harness 영향 설명이 충분하지 않았다고 짚는다.</a:t>
            </a:r>
          </a:p>
          <a:p xmlns:a="http://schemas.openxmlformats.org/drawingml/2006/main">
            <a:r>
              <a:t>2. (1:00–2:15 / CAPTURED Demo) 우측 후속 기록 기준에서 관찰한 Skill, 경고와 실제 사용 여부, 결과의 해석 범위를 차례로 가리킨다.</a:t>
            </a:r>
          </a:p>
          <a:p xmlns:a="http://schemas.openxmlformats.org/drawingml/2006/main">
            <a:r>
              <a:t>3. (2:15–3:00 / CAPTURED Demo) DEC-0016은 기존 결과를 PARTIAL로 보존하고 관찰된 조건을 함께 남기는 결정이었다고 정리한다. Product 코드/Skill 수정이나 격리 환경 구축은 아니다.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화면 진행: 이 장은 DEC-0016에서 바뀐 평가·보고 기준에 집중한다. 이전 기록의 빈틈→이후에 남길 환경 관찰 순서로 읽고 제품 코드나 Demo Skill 변경과 구분한다.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**Evidence / Source:**</a:t>
            </a:r>
          </a:p>
          <a:p xmlns:a="http://schemas.openxmlformats.org/drawingml/2006/main">
            <a:r>
              <a:t>TRIAL-006  →  DEC-0016  ·  evaluation / reporting policy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**Claim Boundary:**</a:t>
            </a:r>
          </a:p>
          <a:p xmlns:a="http://schemas.openxmlformats.org/drawingml/2006/main">
            <a:r>
              <a:t>실제 Training Production evaluation/reporting governance 변화다. Product code 또는 Demo Skill을 수정하지 않았고 clean isolation을 구축했다고 말하지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**Beginner Explanation:**</a:t>
            </a:r>
          </a:p>
          <a:p xmlns:a="http://schemas.openxmlformats.org/drawingml/2006/main">
            <a:r>
              <a:t>환경 조건과 수행 도구가 다르면 결과 설명도 그 경계를 밝혀야 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**Advanced Insight:**</a:t>
            </a:r>
          </a:p>
          <a:p xmlns:a="http://schemas.openxmlformats.org/drawingml/2006/main">
            <a:r>
              <a:t>미통제 조건을 숨기지 않고 Trial 결과의 사용 범위를 제한한다.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**C++ Vision Bridge:**</a:t>
            </a:r>
          </a:p>
          <a:p xmlns:a="http://schemas.openxmlformats.org/drawingml/2006/main">
            <a:r>
              <a:t>없음.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**Demo Operation:**</a:t>
            </a:r>
          </a:p>
          <a:p xmlns:a="http://schemas.openxmlformats.org/drawingml/2006/main">
            <a:r>
              <a:t>실제 평가·보고 결정의 의미를 Before/After로 재구성했다. 원문 직접 인용이나 Product diff로 표현하지 않는다. PARTIAL 보존과 관찰된 Global influence 기록을 변경 내용으로 한정한다.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**Audience Interaction:**</a:t>
            </a:r>
          </a:p>
          <a:p xmlns:a="http://schemas.openxmlformats.org/drawingml/2006/main">
            <a:r>
              <a:t>무엇이 바뀌었는지와 무엇이 바뀌지 않았는지 비교한다.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**Transition:**</a:t>
            </a:r>
          </a:p>
          <a:p xmlns:a="http://schemas.openxmlformats.org/drawingml/2006/main">
            <a:r>
              <a:t>이 기준은 TRIAL-007/008에 어떻게 적용됐을까?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**Time Management:**</a:t>
            </a:r>
          </a:p>
          <a:p xmlns:a="http://schemas.openxmlformats.org/drawingml/2006/main">
            <a:r>
              <a:t>Lecture 1분 + CAPTURED 2분. Trial/reporting boundary에만 머문다.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**Fallback:**</a:t>
            </a:r>
          </a:p>
          <a:p xmlns:a="http://schemas.openxmlformats.org/drawingml/2006/main">
            <a:r>
              <a:t>LOCAL STATIC ARTIFACT — production/ACT_4.pptx의 S69와 production/preview/act4/S69.png를 사용한다. 원본 실행 캡처 또는 새로운 Trial 결과로 표현하지 않는다. 로컬 렌더링 검토 결과는 통합 평가 문서에 기록한다.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**Validation Status:**</a:t>
            </a:r>
          </a:p>
          <a:p xmlns:a="http://schemas.openxmlformats.org/drawingml/2006/main">
            <a:r>
              <a:t>REVIEWED — DEC-0030에서 승인한 화면 강조와 운영 Cue를 정렬했다. 최종 PPT/Notes/PNG 대조와 렌더 검토 결과는 production/evaluation/FULL_DECK_PRESENTATION_POLISH.md에 기록한다. Windows PowerPoint, 발표 PC 글꼴, 교육장 투사, 제품·계정,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S70 — 후속 기록은 개선됐지만 완전하지 않았다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**Slide ID:**</a:t>
            </a:r>
          </a:p>
          <a:p xmlns:a="http://schemas.openxmlformats.org/drawingml/2006/main">
            <a:r>
              <a:t>S70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**Working Title:**</a:t>
            </a:r>
          </a:p>
          <a:p xmlns:a="http://schemas.openxmlformats.org/drawingml/2006/main">
            <a:r>
              <a:t>후속 기록은 개선됐지만 완전하지 않았다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**ACT / Section:**</a:t>
            </a:r>
          </a:p>
          <a:p xmlns:a="http://schemas.openxmlformats.org/drawingml/2006/main">
            <a:r>
              <a:t>ACT 4 / 4F  OBSERVED META LOOP / DEMO-04B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**Allocated Time:**</a:t>
            </a:r>
          </a:p>
          <a:p xmlns:a="http://schemas.openxmlformats.org/drawingml/2006/main">
            <a:r>
              <a:t>3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**Mode Split:**</a:t>
            </a:r>
          </a:p>
          <a:p xmlns:a="http://schemas.openxmlformats.org/drawingml/2006/main">
            <a:r>
              <a:t>Lecture 1분 + Case 2분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**Primary Message:**</a:t>
            </a:r>
          </a:p>
          <a:p xmlns:a="http://schemas.openxmlformats.org/drawingml/2006/main">
            <a:r>
              <a:t>TRIAL-007은 global influence를 기록했지만 MCP report와 stderr가 불일치한다. TRIAL-008은 repository Skill 호출과 global influence를 별도로 기록했다. 품질 향상은 측정되지 않았다.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**Opening Question:**</a:t>
            </a:r>
          </a:p>
          <a:p xmlns:a="http://schemas.openxmlformats.org/drawingml/2006/main">
            <a:r>
              <a:t>“새로운 기록 규칙이 모든 불확실성을 해결했을까?”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**Speaker Flow:**</a:t>
            </a:r>
          </a:p>
          <a:p xmlns:a="http://schemas.openxmlformats.org/drawingml/2006/main">
            <a:r>
              <a:t>1. (0:00–1:00 / Lecture) TRIAL-007의 최종 보고 “MCP 경고 없음”과 보존된 stderr의 Nimble AuthRequired가 서로 맞지 않는 점을 가리킨다. 화면 문구는 원문 의미의 요약이다.</a:t>
            </a:r>
          </a:p>
          <a:p xmlns:a="http://schemas.openxmlformats.org/drawingml/2006/main">
            <a:r>
              <a:t>2. (1:00–2:00 / Case) 오류 표시는 MCP 작업 결과를 뜻하지 않음을 명확히 한다. TRIAL-008은 Repository Skill 발견·명시 호출과 Global influence를 따로 기록한 Codex CLI 0.154.0 사례다.</a:t>
            </a:r>
          </a:p>
          <a:p xmlns:a="http://schemas.openxmlformats.org/drawingml/2006/main">
            <a:r>
              <a:t>3. (2:00–3:00 / Case) 기록 경계가 명확해진 부분과 남은 불일치를 함께 보존한다. 완전한 목록이나 측정된 품질 개선이라고 말하지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화면 진행: TRIAL-007 최종 보고와 보존된 stderr를 대조한다. Nimble AuthRequired는 인증 필요 경고라는 뜻으로만 풀고 MCP 작업 결과나 도구 사용 성공으로 확대하지 않는다. 이후 TRIAL-008에서 호출과 Global influence를 따로 기록한 사실을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**Evidence / Source:**</a:t>
            </a:r>
          </a:p>
          <a:p xmlns:a="http://schemas.openxmlformats.org/drawingml/2006/main">
            <a:r>
              <a:t>TRIAL-007 / TRIAL-008  ·  DEC-0016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**Claim Boundary:**</a:t>
            </a:r>
          </a:p>
          <a:p xmlns:a="http://schemas.openxmlformats.org/drawingml/2006/main">
            <a:r>
              <a:t>적용은 부분적이다. 완전한 environment inventory, 완벽한 report, 측정된 Trial-quality improvement를 주장하지 않는다. TRIAL-007의 stderr에는 Nimble AuthRequired가 있으나 MCP task result는 없다.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**Beginner Explanation:**</a:t>
            </a:r>
          </a:p>
          <a:p xmlns:a="http://schemas.openxmlformats.org/drawingml/2006/main">
            <a:r>
              <a:t>개선된 기록도 빠진 점과 불일치가 있는지 다시 본다.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**Advanced Insight:**</a:t>
            </a:r>
          </a:p>
          <a:p xmlns:a="http://schemas.openxmlformats.org/drawingml/2006/main">
            <a:r>
              <a:t>보고, stderr, global influence inventory를 서로 대조하고 claim boundary를 유지한다.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**C++ Vision Bridge:**</a:t>
            </a:r>
          </a:p>
          <a:p xmlns:a="http://schemas.openxmlformats.org/drawingml/2006/main">
            <a:r>
              <a:t>없음.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**Demo Operation:**</a:t>
            </a:r>
          </a:p>
          <a:p xmlns:a="http://schemas.openxmlformats.org/drawingml/2006/main">
            <a:r>
              <a:t>위쪽 두 행은 TRIAL-007 보고/stderr의 의미 대조이고, 아래 행은 TRIAL-008의 별도 기록을 요약한다. 실제 로그 캡처로 위장하지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**Audience Interaction:**</a:t>
            </a:r>
          </a:p>
          <a:p xmlns:a="http://schemas.openxmlformats.org/drawingml/2006/main">
            <a:r>
              <a:t>후속 기록이 무엇을 명확히 했고 무엇을 남겼는지 비교한다.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**Transition:**</a:t>
            </a:r>
          </a:p>
          <a:p xmlns:a="http://schemas.openxmlformats.org/drawingml/2006/main">
            <a:r>
              <a:t>S71에서 실제로 바뀐 System과 미확정 사항을 한 번에 회수한다.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**Time Management:**</a:t>
            </a:r>
          </a:p>
          <a:p xmlns:a="http://schemas.openxmlformats.org/drawingml/2006/main">
            <a:r>
              <a:t>Lecture 1분 + Case 2분. 불일치와 unknown을 숨기지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**Fallback:**</a:t>
            </a:r>
          </a:p>
          <a:p xmlns:a="http://schemas.openxmlformats.org/drawingml/2006/main">
            <a:r>
              <a:t>LOCAL STATIC ARTIFACT — production/ACT_4.pptx의 S70와 production/preview/act4/S70.png를 사용한다. 원본 실행 캡처 또는 새로운 Trial 결과로 표현하지 않는다. 로컬 렌더링 검토 결과는 통합 평가 문서에 기록한다.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**Validation Status:**</a:t>
            </a:r>
          </a:p>
          <a:p xmlns:a="http://schemas.openxmlformats.org/drawingml/2006/main">
            <a:r>
              <a:t>REVIEWED — DEC-0030에서 승인한 화면 강조와 운영 Cue를 정렬했다. 최종 PPT/Notes/PNG 대조와 렌더 검토 결과는 production/evaluation/FULL_DECK_PRESENTATION_POLISH.md에 기록한다. Windows PowerPoint, 발표 PC 글꼴, 교육장 투사, 제품·계정,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S71 — 실제 Meta Loop에서 바뀐 것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**Slide ID:**</a:t>
            </a:r>
          </a:p>
          <a:p xmlns:a="http://schemas.openxmlformats.org/drawingml/2006/main">
            <a:r>
              <a:t>S71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**Working Title:**</a:t>
            </a:r>
          </a:p>
          <a:p xmlns:a="http://schemas.openxmlformats.org/drawingml/2006/main">
            <a:r>
              <a:t>실제 Meta Loop에서 바뀐 것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**ACT / Section:**</a:t>
            </a:r>
          </a:p>
          <a:p xmlns:a="http://schemas.openxmlformats.org/drawingml/2006/main">
            <a:r>
              <a:t>ACT 4 / 4F  OBSERVED META LOOP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**Allocated Time:**</a:t>
            </a:r>
          </a:p>
          <a:p xmlns:a="http://schemas.openxmlformats.org/drawingml/2006/main">
            <a:r>
              <a:t>3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**Mode Split:**</a:t>
            </a:r>
          </a:p>
          <a:p xmlns:a="http://schemas.openxmlformats.org/drawingml/2006/main">
            <a:r>
              <a:t>Lecture 1분 + Case 2분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**Primary Message:**</a:t>
            </a:r>
          </a:p>
          <a:p xmlns:a="http://schemas.openxmlformats.org/drawingml/2006/main">
            <a:r>
              <a:t>TRIAL-006의 ambient influence 및 PARTIAL attribution은 DEC-0016의 Trial evaluation/reporting 변경으로 이어졌고 TRIAL-007/008에서 기록 경계가 부분적으로 적용됐다. Product code가 바뀐 것은 아니다.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**Opening Question:**</a:t>
            </a:r>
          </a:p>
          <a:p xmlns:a="http://schemas.openxmlformats.org/drawingml/2006/main">
            <a:r>
              <a:t>“무엇이 바뀌었고, 무엇은 아직 모르는가?”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**Speaker Flow:**</a:t>
            </a:r>
          </a:p>
          <a:p xmlns:a="http://schemas.openxmlformats.org/drawingml/2006/main">
            <a:r>
              <a:t>1. (0:00–1:00 / Lecture) TRIAL-006의 관찰→DEC-0016→후속 TRIAL-007/008이라는 실제 흐름을 한 문장으로 회수한다.</a:t>
            </a:r>
          </a:p>
          <a:p xmlns:a="http://schemas.openxmlformats.org/drawingml/2006/main">
            <a:r>
              <a:t>2. (1:00–2:00 / Case) 왼쪽에서 바뀐 대상이 교육 제작의 평가·보고 기준임을 짚는다.</a:t>
            </a:r>
          </a:p>
          <a:p xmlns:a="http://schemas.openxmlformats.org/drawingml/2006/main">
            <a:r>
              <a:t>3. (2:00–3:00 / Case) 오른쪽의 원인별 효과, 환경 목록의 완전성, Trial 품질 향상은 미확인이라고 남기고 C++ 전이로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화면 진행: 이 장은 Meta 사례의 남은 한계를 닫는다. 실제 바뀐 평가·보고 기준과 여전히 미확인인 원인별 효과·환경 목록·품질 향상을 나누고 S72의 적용 질문으로 넘긴다.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**Evidence / Source:**</a:t>
            </a:r>
          </a:p>
          <a:p xmlns:a="http://schemas.openxmlformats.org/drawingml/2006/main">
            <a:r>
              <a:t>TRIAL-006  →  DEC-0016  →  TRIAL-007/008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**Claim Boundary:**</a:t>
            </a:r>
          </a:p>
          <a:p xmlns:a="http://schemas.openxmlformats.org/drawingml/2006/main">
            <a:r>
              <a:t>후속 report에는 불일치가 남고 quality effect는 미측정이다. DEMO-04A conceptual stale workflow와 합치지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**Beginner Explanation:**</a:t>
            </a:r>
          </a:p>
          <a:p xmlns:a="http://schemas.openxmlformats.org/drawingml/2006/main">
            <a:r>
              <a:t>실제로 바뀐 것과 아직 모르는 점을 구분한다.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**Advanced Insight:**</a:t>
            </a:r>
          </a:p>
          <a:p xmlns:a="http://schemas.openxmlformats.org/drawingml/2006/main">
            <a:r>
              <a:t>Loop의 system change는 평가·보고 거버넌스일 수 있으나 outcome은 재평가해야 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**C++ Vision Bridge:**</a:t>
            </a:r>
          </a:p>
          <a:p xmlns:a="http://schemas.openxmlformats.org/drawingml/2006/main">
            <a:r>
              <a:t>없음.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**Demo Operation:**</a:t>
            </a:r>
          </a:p>
          <a:p xmlns:a="http://schemas.openxmlformats.org/drawingml/2006/main">
            <a:r>
              <a:t>실제로 바뀐 것과 아직 확인 못한 것의 두 영역을 비교한다. 앞의 Timeline을 다시 길게 강의하거나 가상 Workflow의 실제 복구로 합치지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**Audience Interaction:**</a:t>
            </a:r>
          </a:p>
          <a:p xmlns:a="http://schemas.openxmlformats.org/drawingml/2006/main">
            <a:r>
              <a:t>Changed/Unknown 두 칸을 비교하며 Meta case를 정리한다.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**Transition:**</a:t>
            </a:r>
          </a:p>
          <a:p xmlns:a="http://schemas.openxmlformats.org/drawingml/2006/main">
            <a:r>
              <a:t>“평가 체계를 바꾼 뒤에도 확인할 것이 남았습니다. 이 원리를 C++ Vision 업무로 옮겨, 환경이 달라졌을 때 검증 조건을 어떻게 다시 볼지 생각해 보겠습니다.” S72로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**Time Management:**</a:t>
            </a:r>
          </a:p>
          <a:p xmlns:a="http://schemas.openxmlformats.org/drawingml/2006/main">
            <a:r>
              <a:t>Lecture 1분 + Case 2분. preceding slides를 다시 풀어 설명하지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**Fallback:**</a:t>
            </a:r>
          </a:p>
          <a:p xmlns:a="http://schemas.openxmlformats.org/drawingml/2006/main">
            <a:r>
              <a:t>LOCAL STATIC ARTIFACT — production/ACT_4.pptx의 S71와 production/preview/act4/S71.png를 사용한다. 원본 실행 캡처 또는 새로운 Trial 결과로 표현하지 않는다. 로컬 렌더링 검토 결과는 통합 평가 문서에 기록한다.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**Validation Status:**</a:t>
            </a:r>
          </a:p>
          <a:p xmlns:a="http://schemas.openxmlformats.org/drawingml/2006/main">
            <a:r>
              <a:t>REVIEWED — DEC-0030에서 승인한 화면 강조와 운영 Cue를 정렬했다. 최종 PPT/Notes/PNG 대조와 렌더 검토 결과는 production/evaluation/FULL_DECK_PRESENTATION_POLISH.md에 기록한다. Windows PowerPoint, 발표 PC 글꼴, 교육장 투사, 제품·계정,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S72 — Project와 환경이 바뀌면 검증도 다시 본다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Slide ID: S72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Working Title: Project와 환경이 바뀌면 검증도 다시 본다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ACT / Section: ACT 4 / 4G  C++ VISION TRANSFER  /  4H DISCUSSION &amp; TRANSITION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Allocated Time: 20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 Split: Case 7분 + Reflection 2분 + Q&amp;A 7분 + Transition 4분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Primary Message: Project나 환경이 바뀌면 기존 performance 가정과 verification 절차가 여전히 맞는지 다시 확인한다. 반복되는 마찰은 관찰하고 원인을 찾아 관련 layer를 바꾼 뒤 benchmark와 regression으로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Opening Question: “같은 문제가 두 번째로 생기면 다시 Prompt를 고칠까, System을 살펴볼까?”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Flow: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(0:00–2:00 / Case) 앞의 평가 원리를 업무의 검증 조건에 적용해 본다고 안내하고 GPU·빌드·측정 조건이 달라진 상황을 가정한다. 실제 C++ 사건이나 구체적 버전 조합을 주장하지 않는다.</a:t>
            </a:r>
          </a:p>
          <a:p xmlns:a="http://schemas.openxmlformats.org/drawingml/2006/main">
            <a:r>
              <a:t>2. (2:00–4:30 / Case) 그림의 입력·코드·장치와 기존 가정·측정 조건 질문을 가리킨다. 기존 판단이 어떤 조건에서 맞았는지, 입력과 실행 조건이 비교 가능한지 묻는다. 관찰된 성능 저하나 숫자를 만들지 않는다.</a:t>
            </a:r>
          </a:p>
          <a:p xmlns:a="http://schemas.openxmlformats.org/drawingml/2006/main">
            <a:r>
              <a:t>3. (4:30–7:00 / Case) 출력 그림과 기능 계약 질문에서 성능과 함께 다시 확인할 동작 범위를 살핀다. 반복 신호→원인 Layer 조사→관련 시스템 변경→Benchmark/Regression 재확인으로 연결한다.</a:t>
            </a:r>
          </a:p>
          <a:p xmlns:a="http://schemas.openxmlformats.org/drawingml/2006/main">
            <a:r>
              <a:t>4. (7:00–9:00 / Reflection) 하단 질문을 가리켜 자기 업무의 반복 마찰 하나를 마음속으로 떠올리게 한다. 기록·답변·발표는 요구하지 않는다.</a:t>
            </a:r>
          </a:p>
          <a:p xmlns:a="http://schemas.openxmlformats.org/drawingml/2006/main">
            <a:r>
              <a:t>5. (9:00–16:00 / Q&amp;A) 질문을 받는다. 질문이 없으면 아래 Fallback 질문을 하나씩 골라 강사가 짧게 해설한다. 새로운 기술 사례나 제품 설정 강의를 열지 않는다.</a:t>
            </a:r>
          </a:p>
          <a:p xmlns:a="http://schemas.openxmlformats.org/drawingml/2006/main">
            <a:r>
              <a:t>6. (16:00–20:00 / Transition) 16분에 질문을 마감한다. 가정→측정 조건→기능 계약 세 질문을 전체 Story의 Context→Harness→Loop와 연결하고 S73의 여정 회수로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화면 진행: 왼쪽 그림에서 조건 변화만 확인하고 오른쪽 01 기존 가정→02 측정 조건→03 기능 계약을 위에서 아래로 짚는다. 마지막에만 하단 큰 질문으로 시선을 옮긴다. 7–9분 Reflection, 9–16분 Q&amp;A, 16–20분 Transition은 그대로이며 정적 화면을 사용한다.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 / Source: BEAT-059 / TRANS-012  ·  teaching transfer, not observed C++ incident 삽화 출처: prototype/image-illustration-pilot/assets/S72.png, built-in image_gen, 2026-10-18. 생성 프롬프트: prototype/image-illustration-pilot/PROMPTS.md. 실제 화면·현장 사진·관찰 자료가 아니다.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Claim Boundary: COURSE MODEL / C++ VISION TRANSFER. Toolchain, CUDA/GPU architecture, build/benchmark configuration은 hypothetical teaching context이며 실제 Demo history가 아니다. 구체적인 Windows/shell/IDE/hardware setup을 주장하지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Beginner Explanation: 같은 문제가 반복되면 Prompt 외에도 Project와 workflow를 살핀다.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Advanced Insight: Project/environment 변화가 verification assumptions에 미치는 영향을 평가한다.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C++ Vision Bridge: Primary bridge. 변화한 조건에서 기존 tuning 가정과 benchmark/regression 조건을 다시 확인하는 engineering pattern만 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Demo Operation: 정적 화면과 speaker-led highlighting을 사용한다. 화면에는 세 확인 대상과 성찰 질문을 두고, 20분 운영표는 Notes에만 둔다. Live 프로젝트·제품 실행·애니메이션 의존 없음. 정적 삽화의 입력→처리 코드→실행 장치→출력을 차례로 가리킨다. 황색 장치·설정 표시는 검토할 조건의 변화이며 실패 원인이 확정됐다는 뜻이 아니다.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Audience Interaction: 7–9분 개인 Reflection은 답변·공유 없이 진행한다. 9–16분 Q&amp;A에서는 실제 회사 환경의 검증되지 않은 해결책을 단정하지 않고 어떤 조건을 확인해야 하는지로 답한다.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Transition: “이제 처음의 질문부터 Task·Context·Harness·Loop까지, 어떤 문제에 대응해 왔는지 전체 Story를 다시 연결하겠습니다.” ACT 5 S73으로 넘긴다.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Time Management: 0–7 Case 7분, 7–9 Reflection 2분, 9–16 Q&amp;A 7분, 16–20 Transition 4분으로 20분을 유지한다. Cutoff cue: “이 질문은 여기까지 정리하고, 이제 처음 문제부터 지금의 Loop까지 연결해 보겠습니다.” 실제 20분 리허설은 수행하지 않았다. 0–2분 전체 그림/변경 표식, 2–4:30분 입력·코드·장치의 가정과 비교 조건, 4:30–7분 출력·기능 계약을 설명한다. 이후 7–9분 Reflection, 9–16분 Q&amp;A, 16–20분 Transition을 유지한다.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Fallback: 정적 PPT/PNG를 기본 경로로 사용한다. Q&amp;A가 없으면 ①“예전 Benchmark와 비교하기 전에 어떤 조건을 맞춰야 할까요?” ②“성능이 달라졌을 때 기능 계약은 무엇으로 다시 확인할까요?” ③“두 번째로 같은 문제가 생기면 Prompt 외에 무엇을 살펴볼까요?” 중 하나씩 선택한다. 응답을 요구하지 않고 기존 세 질문의 범위에서 강사가 짧게 해설한다. 정적 파일: production/preview/act4/S72.png 및 production/preview/full/S72.png.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Validation Status: REVIEWED — DEC-0030에서 승인한 화면 강조와 운영 Cue를 정렬했다. 최종 PPT/Notes/PNG 대조와 렌더 검토 결과는 production/evaluation/FULL_DECK_PRESENTATION_POLISH.md에 기록한다. Windows PowerPoint, 발표 PC 글꼴, 교육장 투사, 제품·계정,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e55c8ffb98043ec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9f71cf4de8b482f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f466dfc4deb48b1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eb44c0f1b47492a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bc7a8f818244777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af809d5cdea4880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E018B0DB-8E86-49CA-B73E-40F0D2262EE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E410A71F-7398-44A1-B502-D969CCC1AB20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42581227-E315-4266-BEA3-E06024054B4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09DC4CBB-46C1-4E3B-8D9F-3026A157A17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EB4B30E4-C19E-4697-9583-75AC2FCA1FA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BD1D2855-9A1D-4714-BB47-BC5E97D05F4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288F2FC6-9155-47B9-83E4-C202F945B15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DDEBA51B-41B8-4D8D-B096-125ED54579EC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EBA95FC1-0345-4CFD-9AA8-46D2B766FA5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859A9510-2AA6-4262-B07B-3F83C5126BE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4ad2d6bb51394e3f" /><Relationship Type="http://schemas.openxmlformats.org/officeDocument/2006/relationships/slideLayout" Target="/ppt/slideLayouts/slideLayout1.xml" Id="R15c7f1c5db9d4cae" /><Relationship Type="http://schemas.openxmlformats.org/officeDocument/2006/relationships/slideLayout" Target="/ppt/slideLayouts/slideLayout2.xml" Id="R790f45dec3994bd2" /><Relationship Type="http://schemas.openxmlformats.org/officeDocument/2006/relationships/slideLayout" Target="/ppt/slideLayouts/slideLayout3.xml" Id="R39b0c3fd82494435" /><Relationship Type="http://schemas.openxmlformats.org/officeDocument/2006/relationships/slideLayout" Target="/ppt/slideLayouts/slideLayout4.xml" Id="Ra0e1194c52cc42de" /><Relationship Type="http://schemas.openxmlformats.org/officeDocument/2006/relationships/slideLayout" Target="/ppt/slideLayouts/slideLayout5.xml" Id="R97d27fe719e24882" /><Relationship Type="http://schemas.openxmlformats.org/officeDocument/2006/relationships/slideLayout" Target="/ppt/slideLayouts/slideLayout6.xml" Id="R170a5f09b622427f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15c7f1c5db9d4cae"/>
    <p:sldLayoutId xmlns:r="http://schemas.openxmlformats.org/officeDocument/2006/relationships" id="2147483650" r:id="R790f45dec3994bd2"/>
    <p:sldLayoutId xmlns:r="http://schemas.openxmlformats.org/officeDocument/2006/relationships" id="2147483651" r:id="R39b0c3fd82494435"/>
    <p:sldLayoutId xmlns:r="http://schemas.openxmlformats.org/officeDocument/2006/relationships" id="2147483652" r:id="Ra0e1194c52cc42de"/>
    <p:sldLayoutId xmlns:r="http://schemas.openxmlformats.org/officeDocument/2006/relationships" id="2147483653" r:id="R97d27fe719e24882"/>
    <p:sldLayoutId xmlns:r="http://schemas.openxmlformats.org/officeDocument/2006/relationships" id="2147483654" r:id="R170a5f09b622427f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Malgun Gothic"/>
        <a:ea typeface=""/>
        <a:cs typeface=""/>
      </a:majorFont>
      <a:minorFont>
        <a:latin typeface="Malgun Gothic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8c717b04eae46b2" /><Relationship Type="http://schemas.openxmlformats.org/officeDocument/2006/relationships/notesSlide" Target="/ppt/notesSlides/notesSlide1.xml" Id="R007cfeda888b4eb8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ae262ab97b44d9d" /><Relationship Type="http://schemas.openxmlformats.org/officeDocument/2006/relationships/notesSlide" Target="/ppt/notesSlides/notesSlide2.xml" Id="R3556694cb01c46ad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a703db5badc48e1" /><Relationship Type="http://schemas.openxmlformats.org/officeDocument/2006/relationships/notesSlide" Target="/ppt/notesSlides/notesSlide3.xml" Id="R4ab99dc397f7461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fb3a9a4839f4f18" /><Relationship Type="http://schemas.openxmlformats.org/officeDocument/2006/relationships/notesSlide" Target="/ppt/notesSlides/notesSlide4.xml" Id="Rd078e89b849f4087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365b3a61d1b4a02" /><Relationship Type="http://schemas.openxmlformats.org/officeDocument/2006/relationships/notesSlide" Target="/ppt/notesSlides/notesSlide5.xml" Id="Rd46abe4dba2f4403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2a993231f74475d" /><Relationship Type="http://schemas.openxmlformats.org/officeDocument/2006/relationships/notesSlide" Target="/ppt/notesSlides/notesSlide6.xml" Id="R9c9febbb582a4772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45a5a3e12ad4884" /><Relationship Type="http://schemas.openxmlformats.org/officeDocument/2006/relationships/notesSlide" Target="/ppt/notesSlides/notesSlide7.xml" Id="Rae37b673bb894bc1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f6d26767797455e" /><Relationship Type="http://schemas.openxmlformats.org/officeDocument/2006/relationships/notesSlide" Target="/ppt/notesSlides/notesSlide8.xml" Id="Rbf8c4cbace6b4b5c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6c6ed3960014bec" /><Relationship Type="http://schemas.openxmlformats.org/officeDocument/2006/relationships/notesSlide" Target="/ppt/notesSlides/notesSlide9.xml" Id="Ra549a69ddf4a4f8f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babe8b8d9964742" /><Relationship Type="http://schemas.openxmlformats.org/officeDocument/2006/relationships/notesSlide" Target="/ppt/notesSlides/notesSlide10.xml" Id="Rf37f1560c3e24611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123c67742b54fce" /><Relationship Type="http://schemas.openxmlformats.org/officeDocument/2006/relationships/notesSlide" Target="/ppt/notesSlides/notesSlide11.xml" Id="R47748023983e4f67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7afe1a472194b98" /><Relationship Type="http://schemas.openxmlformats.org/officeDocument/2006/relationships/notesSlide" Target="/ppt/notesSlides/notesSlide12.xml" Id="R5bb0552dfb1c484b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9cff39d72d2487f" /><Relationship Type="http://schemas.openxmlformats.org/officeDocument/2006/relationships/notesSlide" Target="/ppt/notesSlides/notesSlide13.xml" Id="Rb20616bcb6ef4af3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f4b2635052b46ab" /><Relationship Type="http://schemas.openxmlformats.org/officeDocument/2006/relationships/notesSlide" Target="/ppt/notesSlides/notesSlide14.xml" Id="Rea90ad5af97c48f0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f1150c8a90e48e7" /><Relationship Type="http://schemas.openxmlformats.org/officeDocument/2006/relationships/notesSlide" Target="/ppt/notesSlides/notesSlide15.xml" Id="Rf5dc566033474df2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57a2135e91a4279" /><Relationship Type="http://schemas.openxmlformats.org/officeDocument/2006/relationships/notesSlide" Target="/ppt/notesSlides/notesSlide16.xml" Id="Re062691ac84142e1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f3df6e0118a4c22" /><Relationship Type="http://schemas.openxmlformats.org/officeDocument/2006/relationships/notesSlide" Target="/ppt/notesSlides/notesSlide17.xml" Id="Rf44bd2a694c34044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4115c50d82e4ff2" /><Relationship Type="http://schemas.openxmlformats.org/officeDocument/2006/relationships/image" Target="/ppt/media/image.png" Id="R8544ceca0e854511" /><Relationship Type="http://schemas.openxmlformats.org/officeDocument/2006/relationships/notesSlide" Target="/ppt/notesSlides/notesSlide18.xml" Id="R16baaa382cb34f55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ACT 4 · 확인된 제품 결과">
            <a:extLst xmlns:a="http://schemas.openxmlformats.org/drawingml/2006/main">
              <a:ext uri="{FF2B5EF4-FFF2-40B4-BE49-F238E27FC236}">
                <a16:creationId xmlns:a16="http://schemas.microsoft.com/office/drawing/2014/main" id="{37155F63-416E-4342-AF29-CFBC75BC4E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4 · 확인된 제품 결과</a:t>
            </a:r>
          </a:p>
        </p:txBody>
      </p:sp>
      <p:sp>
        <p:nvSpPr>
          <p:cNvPr id="2" name="S55">
            <a:extLst xmlns:a="http://schemas.openxmlformats.org/drawingml/2006/main">
              <a:ext uri="{FF2B5EF4-FFF2-40B4-BE49-F238E27FC236}">
                <a16:creationId xmlns:a16="http://schemas.microsoft.com/office/drawing/2014/main" id="{84E38F85-5C39-461B-9F02-2C1FB9F797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S55</a:t>
            </a:r>
          </a:p>
        </p:txBody>
      </p:sp>
      <p:sp>
        <p:nvSpPr>
          <p:cNvPr id="3" name="여기까지는 잘 동작했다">
            <a:extLst xmlns:a="http://schemas.openxmlformats.org/drawingml/2006/main">
              <a:ext uri="{FF2B5EF4-FFF2-40B4-BE49-F238E27FC236}">
                <a16:creationId xmlns:a16="http://schemas.microsoft.com/office/drawing/2014/main" id="{BB7A7E8C-9BA5-49D7-B5AA-121849B00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여기까지는 잘 동작했다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CDDFAF2-F7CD-4B89-BF2A-A0FEA884FF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STATE-04-PERF · image_statistics · 실제 기록 요약">
            <a:extLst xmlns:a="http://schemas.openxmlformats.org/drawingml/2006/main">
              <a:ext uri="{FF2B5EF4-FFF2-40B4-BE49-F238E27FC236}">
                <a16:creationId xmlns:a16="http://schemas.microsoft.com/office/drawing/2014/main" id="{EB583CA3-2EF7-41B0-99D5-61E25A9488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STATE-04-PERF · image_statistics · 실제 기록 요약</a:t>
            </a:r>
          </a:p>
        </p:txBody>
      </p:sp>
      <p:sp>
        <p:nvSpPr>
          <p:cNvPr id="6" name="기록된 입력·코드·환경의 결과이며, 뒤의 가상 사례와 별개다.">
            <a:extLst xmlns:a="http://schemas.openxmlformats.org/drawingml/2006/main">
              <a:ext uri="{FF2B5EF4-FFF2-40B4-BE49-F238E27FC236}">
                <a16:creationId xmlns:a16="http://schemas.microsoft.com/office/drawing/2014/main" id="{01AB8706-2127-46D5-BD92-A58374200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기록된 입력·코드·환경의 결과이며, 뒤의 가상 사례와 별개다.</a:t>
            </a:r>
          </a:p>
        </p:txBody>
      </p:sp>
      <p:sp>
        <p:nvSpPr>
          <p:cNvPr id="7" name="작업을 맡기고, 결과를 확인할 수 있었다">
            <a:extLst xmlns:a="http://schemas.openxmlformats.org/drawingml/2006/main">
              <a:ext uri="{FF2B5EF4-FFF2-40B4-BE49-F238E27FC236}">
                <a16:creationId xmlns:a16="http://schemas.microsoft.com/office/drawing/2014/main" id="{A0A019A5-F19D-4D33-9361-64DD92004E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1455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작업을 맡기고, 결과를 확인할 수 있었다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0EDDFA3-C7EC-4C33-85CC-C3345525BD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52750"/>
            <a:ext cx="3238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9" name="동작 계약">
            <a:extLst xmlns:a="http://schemas.openxmlformats.org/drawingml/2006/main">
              <a:ext uri="{FF2B5EF4-FFF2-40B4-BE49-F238E27FC236}">
                <a16:creationId xmlns:a16="http://schemas.microsoft.com/office/drawing/2014/main" id="{CC0756B1-391A-494B-BAF5-1A289E6320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43250"/>
            <a:ext cx="3238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동작 계약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D562962-F51F-4EE8-8FC4-B5D470FA6C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2952750"/>
            <a:ext cx="3238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1" name="테스트">
            <a:extLst xmlns:a="http://schemas.openxmlformats.org/drawingml/2006/main">
              <a:ext uri="{FF2B5EF4-FFF2-40B4-BE49-F238E27FC236}">
                <a16:creationId xmlns:a16="http://schemas.microsoft.com/office/drawing/2014/main" id="{8DFD9A94-2BF9-4396-B663-D4ED600A49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3143250"/>
            <a:ext cx="3238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테스트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CF4DD6C-AA6F-40CE-B30D-BC1BCA55F2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952750"/>
            <a:ext cx="3238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3" name="성능 측정">
            <a:extLst xmlns:a="http://schemas.openxmlformats.org/drawingml/2006/main">
              <a:ext uri="{FF2B5EF4-FFF2-40B4-BE49-F238E27FC236}">
                <a16:creationId xmlns:a16="http://schemas.microsoft.com/office/drawing/2014/main" id="{BEFF151C-CF28-4122-AFC3-E6AEBAD0B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143250"/>
            <a:ext cx="3238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성능 측정</a:t>
            </a:r>
          </a:p>
        </p:txBody>
      </p:sp>
      <p:sp>
        <p:nvSpPr>
          <p:cNvPr id="14" name="입력·출력 조건 확인">
            <a:extLst xmlns:a="http://schemas.openxmlformats.org/drawingml/2006/main">
              <a:ext uri="{FF2B5EF4-FFF2-40B4-BE49-F238E27FC236}">
                <a16:creationId xmlns:a16="http://schemas.microsoft.com/office/drawing/2014/main" id="{5A7F49C7-E6F1-4E46-80DE-8F537529F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71900"/>
            <a:ext cx="32861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입력·출력 조건 확인</a:t>
            </a:r>
          </a:p>
        </p:txBody>
      </p:sp>
      <p:sp>
        <p:nvSpPr>
          <p:cNvPr id="15" name="전체 테스트 11/11">
            <a:extLst xmlns:a="http://schemas.openxmlformats.org/drawingml/2006/main">
              <a:ext uri="{FF2B5EF4-FFF2-40B4-BE49-F238E27FC236}">
                <a16:creationId xmlns:a16="http://schemas.microsoft.com/office/drawing/2014/main" id="{0E1375FE-EAAC-4A50-BEB4-20BF9B3AE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3771900"/>
            <a:ext cx="32861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전체 테스트 11/11</a:t>
            </a:r>
          </a:p>
        </p:txBody>
      </p:sp>
      <p:sp>
        <p:nvSpPr>
          <p:cNvPr id="16" name="Benchmark guard 확인">
            <a:extLst xmlns:a="http://schemas.openxmlformats.org/drawingml/2006/main">
              <a:ext uri="{FF2B5EF4-FFF2-40B4-BE49-F238E27FC236}">
                <a16:creationId xmlns:a16="http://schemas.microsoft.com/office/drawing/2014/main" id="{3EF3CB12-C05A-40C3-9EFB-02CED645E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771900"/>
            <a:ext cx="3333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Benchmark guard 확인</a:t>
            </a:r>
          </a:p>
        </p:txBody>
      </p:sp>
      <p:sp>
        <p:nvSpPr>
          <p:cNvPr id="17" name="그렇다면 프로젝트가 바뀐 뒤에도 맞을까?">
            <a:extLst xmlns:a="http://schemas.openxmlformats.org/drawingml/2006/main">
              <a:ext uri="{FF2B5EF4-FFF2-40B4-BE49-F238E27FC236}">
                <a16:creationId xmlns:a16="http://schemas.microsoft.com/office/drawing/2014/main" id="{69EB5F1E-8C22-4BE7-9161-13D0D730C4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95850"/>
            <a:ext cx="10972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8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8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8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8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8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8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8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8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8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8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8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8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그렇다면 프로젝트가 바뀐 뒤에도 맞을까?</a:t>
            </a:r>
          </a:p>
        </p:txBody>
      </p:sp>
      <p:sp>
        <p:nvSpPr>
          <p:cNvPr id="18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81DF5074-3641-4B4C-A448-2020BF41D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M5 · M6</a:t>
            </a:r>
          </a:p>
        </p:txBody>
      </p:sp>
    </p:spTree>
    <p:extLst>
      <p:ext uri="{BB962C8B-B14F-4D97-AF65-F5344CB8AC3E}">
        <p14:creationId xmlns:p14="http://schemas.microsoft.com/office/powerpoint/2010/main" val="110919631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ACT 4 · CONCEPTUAL / 가상 사례">
            <a:extLst xmlns:a="http://schemas.openxmlformats.org/drawingml/2006/main">
              <a:ext uri="{FF2B5EF4-FFF2-40B4-BE49-F238E27FC236}">
                <a16:creationId xmlns:a16="http://schemas.microsoft.com/office/drawing/2014/main" id="{E33377A3-4C6E-4CE7-8CDA-FE3ADC04B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4 · CONCEPTUAL / 가상 사례</a:t>
            </a:r>
          </a:p>
        </p:txBody>
      </p:sp>
      <p:sp>
        <p:nvSpPr>
          <p:cNvPr id="2" name="S56">
            <a:extLst xmlns:a="http://schemas.openxmlformats.org/drawingml/2006/main">
              <a:ext uri="{FF2B5EF4-FFF2-40B4-BE49-F238E27FC236}">
                <a16:creationId xmlns:a16="http://schemas.microsoft.com/office/drawing/2014/main" id="{83F3F2F7-94D3-404F-B3F3-B7CDA0110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S56</a:t>
            </a:r>
          </a:p>
        </p:txBody>
      </p:sp>
      <p:sp>
        <p:nvSpPr>
          <p:cNvPr id="3" name="개념 사례: Project와 Workflow는 현재 맞다">
            <a:extLst xmlns:a="http://schemas.openxmlformats.org/drawingml/2006/main">
              <a:ext uri="{FF2B5EF4-FFF2-40B4-BE49-F238E27FC236}">
                <a16:creationId xmlns:a16="http://schemas.microsoft.com/office/drawing/2014/main" id="{8106D58E-CA83-485B-9655-244960994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개념 사례: Project와 Workflow는 현재 맞다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EEA8AEE-AB0E-486B-87D6-0812A44D9C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805400"/>
            </a:solidFill>
            <a:prstDash val="dash"/>
          </a:ln>
        </p:spPr>
      </p:sp>
      <p:sp>
        <p:nvSpPr>
          <p:cNvPr id="5" name="DEMO-04A · 프로젝트 변화 전의 가상 설정">
            <a:extLst xmlns:a="http://schemas.openxmlformats.org/drawingml/2006/main">
              <a:ext uri="{FF2B5EF4-FFF2-40B4-BE49-F238E27FC236}">
                <a16:creationId xmlns:a16="http://schemas.microsoft.com/office/drawing/2014/main" id="{F7E466ED-1ADA-423E-B5F9-77A302622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DEMO-04A · 프로젝트 변화 전의 가상 설정</a:t>
            </a:r>
          </a:p>
        </p:txBody>
      </p:sp>
      <p:sp>
        <p:nvSpPr>
          <p:cNvPr id="6" name="실제 Repository 변경 이력, Agent 실행 또는 테스트 결과가 아니다.">
            <a:extLst xmlns:a="http://schemas.openxmlformats.org/drawingml/2006/main">
              <a:ext uri="{FF2B5EF4-FFF2-40B4-BE49-F238E27FC236}">
                <a16:creationId xmlns:a16="http://schemas.microsoft.com/office/drawing/2014/main" id="{75D93F22-E19F-4220-B95E-BBDC0A7C3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실제 Repository 변경 이력, Agent 실행 또는 테스트 결과가 아니다.</a:t>
            </a:r>
          </a:p>
        </p:txBody>
      </p:sp>
      <p:sp>
        <p:nvSpPr>
          <p:cNvPr id="7" name="처음에는 두 기준이 같았다">
            <a:extLst xmlns:a="http://schemas.openxmlformats.org/drawingml/2006/main">
              <a:ext uri="{FF2B5EF4-FFF2-40B4-BE49-F238E27FC236}">
                <a16:creationId xmlns:a16="http://schemas.microsoft.com/office/drawing/2014/main" id="{7186440E-4929-452B-A11B-8DE37308E4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95500"/>
            <a:ext cx="109728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처음에는 두 기준이 같았다</a:t>
            </a:r>
          </a:p>
        </p:txBody>
      </p:sp>
      <p:sp>
        <p:nvSpPr>
          <p:cNvPr id="8" name="프로젝트의 검증 기준">
            <a:extLst xmlns:a="http://schemas.openxmlformats.org/drawingml/2006/main">
              <a:ext uri="{FF2B5EF4-FFF2-40B4-BE49-F238E27FC236}">
                <a16:creationId xmlns:a16="http://schemas.microsoft.com/office/drawing/2014/main" id="{C2BC998B-771D-4B82-AEF0-142D57F6B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52750"/>
            <a:ext cx="4762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프로젝트의 검증 기준</a:t>
            </a:r>
          </a:p>
        </p:txBody>
      </p:sp>
      <p:sp>
        <p:nvSpPr>
          <p:cNvPr id="9" name="재사용 Workflow의 지시">
            <a:extLst xmlns:a="http://schemas.openxmlformats.org/drawingml/2006/main">
              <a:ext uri="{FF2B5EF4-FFF2-40B4-BE49-F238E27FC236}">
                <a16:creationId xmlns:a16="http://schemas.microsoft.com/office/drawing/2014/main" id="{D3AB9AE9-B69C-47BC-B57F-69D9B935E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952750"/>
            <a:ext cx="4857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재사용 Workflow의 지시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99ECF09-017E-4B21-8604-16D9E5B6C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05200"/>
            <a:ext cx="4876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1BB79B6-F92B-468D-8C0B-6A07CE8B4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505200"/>
            <a:ext cx="4876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2" name="단위 테스트">
            <a:extLst xmlns:a="http://schemas.openxmlformats.org/drawingml/2006/main">
              <a:ext uri="{FF2B5EF4-FFF2-40B4-BE49-F238E27FC236}">
                <a16:creationId xmlns:a16="http://schemas.microsoft.com/office/drawing/2014/main" id="{73E996FE-C8E4-419F-BAA3-5608AD31FC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4876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1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1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1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1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1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1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1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1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1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1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1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1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단위 테스트</a:t>
            </a:r>
          </a:p>
        </p:txBody>
      </p:sp>
      <p:sp>
        <p:nvSpPr>
          <p:cNvPr id="13" name="단위 테스트">
            <a:extLst xmlns:a="http://schemas.openxmlformats.org/drawingml/2006/main">
              <a:ext uri="{FF2B5EF4-FFF2-40B4-BE49-F238E27FC236}">
                <a16:creationId xmlns:a16="http://schemas.microsoft.com/office/drawing/2014/main" id="{084F4B89-D271-41A7-9186-8E508CDDA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857625"/>
            <a:ext cx="4876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1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1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1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1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1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1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1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1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1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1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1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1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단위 테스트</a:t>
            </a:r>
          </a:p>
        </p:txBody>
      </p:sp>
      <p:sp>
        <p:nvSpPr>
          <p:cNvPr id="14" name="=">
            <a:extLst xmlns:a="http://schemas.openxmlformats.org/drawingml/2006/main">
              <a:ext uri="{FF2B5EF4-FFF2-40B4-BE49-F238E27FC236}">
                <a16:creationId xmlns:a16="http://schemas.microsoft.com/office/drawing/2014/main" id="{BE23365D-9D55-406B-B123-79DCA0E55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3886200"/>
            <a:ext cx="571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0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0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0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0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0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0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0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0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0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0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0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=</a:t>
            </a:r>
          </a:p>
        </p:txBody>
      </p:sp>
      <p:sp>
        <p:nvSpPr>
          <p:cNvPr id="15" name="현재 프로젝트에 맞춰 만들어 둔 절차">
            <a:extLst xmlns:a="http://schemas.openxmlformats.org/drawingml/2006/main">
              <a:ext uri="{FF2B5EF4-FFF2-40B4-BE49-F238E27FC236}">
                <a16:creationId xmlns:a16="http://schemas.microsoft.com/office/drawing/2014/main" id="{8D4E8404-B2C6-45F5-8CDE-91FD106554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53000"/>
            <a:ext cx="10972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현재 프로젝트에 맞춰 만들어 둔 절차</a:t>
            </a:r>
          </a:p>
        </p:txBody>
      </p:sp>
      <p:sp>
        <p:nvSpPr>
          <p:cNvPr id="16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2F7779A1-0840-4127-8DD0-77A97EEBA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M6</a:t>
            </a:r>
          </a:p>
        </p:txBody>
      </p:sp>
    </p:spTree>
    <p:extLst>
      <p:ext uri="{BB962C8B-B14F-4D97-AF65-F5344CB8AC3E}">
        <p14:creationId xmlns:p14="http://schemas.microsoft.com/office/powerpoint/2010/main" val="397527330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ACT 4  ·  CONCEPTUAL / 가상 사례">
            <a:extLst xmlns:a="http://schemas.openxmlformats.org/drawingml/2006/main">
              <a:ext uri="{FF2B5EF4-FFF2-40B4-BE49-F238E27FC236}">
                <a16:creationId xmlns:a16="http://schemas.microsoft.com/office/drawing/2014/main" id="{BC788DF1-53BB-4E34-BBA7-C2415245A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4  ·  CONCEPTUAL / 가상 사례</a:t>
            </a:r>
          </a:p>
        </p:txBody>
      </p:sp>
      <p:sp>
        <p:nvSpPr>
          <p:cNvPr id="2" name="S57">
            <a:extLst xmlns:a="http://schemas.openxmlformats.org/drawingml/2006/main">
              <a:ext uri="{FF2B5EF4-FFF2-40B4-BE49-F238E27FC236}">
                <a16:creationId xmlns:a16="http://schemas.microsoft.com/office/drawing/2014/main" id="{F13D1244-B7C0-4A03-8937-F10A0D727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S57</a:t>
            </a:r>
          </a:p>
        </p:txBody>
      </p:sp>
      <p:sp>
        <p:nvSpPr>
          <p:cNvPr id="3" name="Project는 바뀌고 Workflow는 남았다">
            <a:extLst xmlns:a="http://schemas.openxmlformats.org/drawingml/2006/main">
              <a:ext uri="{FF2B5EF4-FFF2-40B4-BE49-F238E27FC236}">
                <a16:creationId xmlns:a16="http://schemas.microsoft.com/office/drawing/2014/main" id="{BF14B607-E350-448E-B06A-BD9BD62C6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Project는 바뀌고 Workflow는 남았다</a:t>
            </a:r>
          </a:p>
        </p:txBody>
      </p:sp>
      <p:sp>
        <p:nvSpPr>
          <p:cNvPr id="4" name="가정: 모듈 연결 동작도 검증해야 하는 프로젝트가 됐다">
            <a:extLst xmlns:a="http://schemas.openxmlformats.org/drawingml/2006/main">
              <a:ext uri="{FF2B5EF4-FFF2-40B4-BE49-F238E27FC236}">
                <a16:creationId xmlns:a16="http://schemas.microsoft.com/office/drawing/2014/main" id="{5026BA6B-5927-434D-B6C7-C549E6C1A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09725"/>
            <a:ext cx="10972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가정: 모듈 연결 동작도 검증해야 하는 프로젝트가 됐다</a:t>
            </a:r>
          </a:p>
        </p:txBody>
      </p:sp>
      <p:sp>
        <p:nvSpPr>
          <p:cNvPr id="5" name="현재 프로젝트의 기준">
            <a:extLst xmlns:a="http://schemas.openxmlformats.org/drawingml/2006/main">
              <a:ext uri="{FF2B5EF4-FFF2-40B4-BE49-F238E27FC236}">
                <a16:creationId xmlns:a16="http://schemas.microsoft.com/office/drawing/2014/main" id="{598D9F86-FF20-4337-BB1C-EBA943D79C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76475"/>
            <a:ext cx="5238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현재 프로젝트의 기준</a:t>
            </a:r>
          </a:p>
        </p:txBody>
      </p:sp>
      <p:sp>
        <p:nvSpPr>
          <p:cNvPr id="6" name="재사용 Workflow에 남은 지시">
            <a:extLst xmlns:a="http://schemas.openxmlformats.org/drawingml/2006/main">
              <a:ext uri="{FF2B5EF4-FFF2-40B4-BE49-F238E27FC236}">
                <a16:creationId xmlns:a16="http://schemas.microsoft.com/office/drawing/2014/main" id="{42C879AF-AC00-49A9-8DD8-38412F1CDC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276475"/>
            <a:ext cx="4876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재사용 Workflow에 남은 지시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EA0E717-A556-44AD-9697-CBA8614D64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19400"/>
            <a:ext cx="4953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3DC68C0-E85F-4EDF-A1C3-9C81A4DDE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819400"/>
            <a:ext cx="4876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805400"/>
            </a:solidFill>
            <a:prstDash val="dash"/>
          </a:ln>
        </p:spPr>
      </p:sp>
      <p:sp>
        <p:nvSpPr>
          <p:cNvPr id="9" name="단위 테스트 · 각 모듈">
            <a:extLst xmlns:a="http://schemas.openxmlformats.org/drawingml/2006/main">
              <a:ext uri="{FF2B5EF4-FFF2-40B4-BE49-F238E27FC236}">
                <a16:creationId xmlns:a16="http://schemas.microsoft.com/office/drawing/2014/main" id="{F76B2AF7-8354-407E-90D6-B7BF2FBDE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71800"/>
            <a:ext cx="4953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단위 테스트 · 각 모듈</a:t>
            </a:r>
          </a:p>
        </p:txBody>
      </p:sp>
      <p:sp>
        <p:nvSpPr>
          <p:cNvPr id="10" name="단위 테스트 · 각 모듈">
            <a:extLst xmlns:a="http://schemas.openxmlformats.org/drawingml/2006/main">
              <a:ext uri="{FF2B5EF4-FFF2-40B4-BE49-F238E27FC236}">
                <a16:creationId xmlns:a16="http://schemas.microsoft.com/office/drawing/2014/main" id="{BF25FB7E-8C8E-474C-8D20-3C9CEAA17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971800"/>
            <a:ext cx="4876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단위 테스트 · 각 모듈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2B6076B-AB39-4A1F-AB9F-FBFC386BB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71850"/>
            <a:ext cx="495300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FF0"/>
          </a:solidFill>
          <a:ln xmlns:a="http://schemas.openxmlformats.org/drawingml/2006/main" w="19050">
            <a:solidFill>
              <a:srgbClr val="0B6172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B417399-DB30-4CAC-9410-F90B91F09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562350"/>
            <a:ext cx="17335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0B6172"/>
            </a:solidFill>
            <a:prstDash val="solid"/>
          </a:ln>
        </p:spPr>
      </p:sp>
      <p:sp>
        <p:nvSpPr>
          <p:cNvPr id="13" name="모듈 A">
            <a:extLst xmlns:a="http://schemas.openxmlformats.org/drawingml/2006/main">
              <a:ext uri="{FF2B5EF4-FFF2-40B4-BE49-F238E27FC236}">
                <a16:creationId xmlns:a16="http://schemas.microsoft.com/office/drawing/2014/main" id="{E52F615C-79A4-405B-A445-DC6FA495F3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724275"/>
            <a:ext cx="15049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모듈 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58A4A2C-30F0-42EF-88D6-91E89A010B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562350"/>
            <a:ext cx="17335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0B6172"/>
            </a:solidFill>
            <a:prstDash val="solid"/>
          </a:ln>
        </p:spPr>
      </p:sp>
      <p:sp>
        <p:nvSpPr>
          <p:cNvPr id="15" name="모듈 B">
            <a:extLst xmlns:a="http://schemas.openxmlformats.org/drawingml/2006/main">
              <a:ext uri="{FF2B5EF4-FFF2-40B4-BE49-F238E27FC236}">
                <a16:creationId xmlns:a16="http://schemas.microsoft.com/office/drawing/2014/main" id="{B1F6673E-A7B4-417F-83E2-66D3350106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724275"/>
            <a:ext cx="15049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모듈 B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AAB717B-318D-49DC-909B-E808F1275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52725" y="3781425"/>
            <a:ext cx="666750" cy="2286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17" name="+ 통합 테스트 · 모듈 연결까지">
            <a:extLst xmlns:a="http://schemas.openxmlformats.org/drawingml/2006/main">
              <a:ext uri="{FF2B5EF4-FFF2-40B4-BE49-F238E27FC236}">
                <a16:creationId xmlns:a16="http://schemas.microsoft.com/office/drawing/2014/main" id="{944EB01A-1A64-4F1F-95B1-B7B2CF641A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48200"/>
            <a:ext cx="4953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+ 통합 테스트 · 모듈 연결까지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309B283-A947-4F6D-927B-DED35229E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3562350"/>
            <a:ext cx="17335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0B6172"/>
            </a:solidFill>
            <a:prstDash val="solid"/>
          </a:ln>
        </p:spPr>
      </p:sp>
      <p:sp>
        <p:nvSpPr>
          <p:cNvPr id="19" name="모듈 A">
            <a:extLst xmlns:a="http://schemas.openxmlformats.org/drawingml/2006/main">
              <a:ext uri="{FF2B5EF4-FFF2-40B4-BE49-F238E27FC236}">
                <a16:creationId xmlns:a16="http://schemas.microsoft.com/office/drawing/2014/main" id="{263EAF54-CEEF-4D05-BA84-D04404ED2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3724275"/>
            <a:ext cx="15049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모듈 A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37EDE20-5EBE-4ABF-85B7-1D84739827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3562350"/>
            <a:ext cx="17335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0B6172"/>
            </a:solidFill>
            <a:prstDash val="solid"/>
          </a:ln>
        </p:spPr>
      </p:sp>
      <p:sp>
        <p:nvSpPr>
          <p:cNvPr id="21" name="모듈 B">
            <a:extLst xmlns:a="http://schemas.openxmlformats.org/drawingml/2006/main">
              <a:ext uri="{FF2B5EF4-FFF2-40B4-BE49-F238E27FC236}">
                <a16:creationId xmlns:a16="http://schemas.microsoft.com/office/drawing/2014/main" id="{8546B938-4E42-4F0A-9120-41F19F46E3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3724275"/>
            <a:ext cx="15049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모듈 B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DD52B7B-BFB2-40DE-A087-8486138AAC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3781425"/>
            <a:ext cx="647700" cy="2286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4D5A68"/>
          </a:solidFill>
          <a:ln xmlns:a="http://schemas.openxmlformats.org/drawingml/2006/main" w="0">
            <a:noFill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CB03279-9B97-4E6F-8E24-FED555AE10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4572000"/>
            <a:ext cx="4876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805400"/>
            </a:solidFill>
            <a:prstDash val="dash"/>
          </a:ln>
        </p:spPr>
      </p:sp>
      <p:sp>
        <p:nvSpPr>
          <p:cNvPr id="24" name="단위 테스트만 지시">
            <a:extLst xmlns:a="http://schemas.openxmlformats.org/drawingml/2006/main">
              <a:ext uri="{FF2B5EF4-FFF2-40B4-BE49-F238E27FC236}">
                <a16:creationId xmlns:a16="http://schemas.microsoft.com/office/drawing/2014/main" id="{F38ACA7F-A160-4731-AC5B-F6294F5DBA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4638675"/>
            <a:ext cx="441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단위 테스트만 지시</a:t>
            </a:r>
          </a:p>
        </p:txBody>
      </p:sp>
      <p:sp>
        <p:nvSpPr>
          <p:cNvPr id="25" name="프로젝트의 기준이 바뀌었을 때, 재사용 지침도 함께 바뀌었을까?">
            <a:extLst xmlns:a="http://schemas.openxmlformats.org/drawingml/2006/main">
              <a:ext uri="{FF2B5EF4-FFF2-40B4-BE49-F238E27FC236}">
                <a16:creationId xmlns:a16="http://schemas.microsoft.com/office/drawing/2014/main" id="{37CA4BC5-5817-41B9-9D8C-CCCB736C29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29225"/>
            <a:ext cx="10972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프로젝트의 기준이 바뀌었을 때, 재사용 지침도 함께 바뀌었을까?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047DB87-13E6-46F2-A23D-E9C1E83563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805400"/>
            </a:solidFill>
            <a:prstDash val="dash"/>
          </a:ln>
        </p:spPr>
      </p:sp>
      <p:sp>
        <p:nvSpPr>
          <p:cNvPr id="27" name="DEMO-04A  |  가상 설정 · 실제 Repository 변경 이력이 아님">
            <a:extLst xmlns:a="http://schemas.openxmlformats.org/drawingml/2006/main">
              <a:ext uri="{FF2B5EF4-FFF2-40B4-BE49-F238E27FC236}">
                <a16:creationId xmlns:a16="http://schemas.microsoft.com/office/drawing/2014/main" id="{F544FE3D-D33E-4ECF-99A1-9843495F0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DEMO-04A  |  가상 설정 · 실제 Repository 변경 이력이 아님</a:t>
            </a:r>
          </a:p>
        </p:txBody>
      </p:sp>
      <p:sp>
        <p:nvSpPr>
          <p:cNvPr id="28" name="두 지침의 범위 비교 · Agent 실행, 테스트 누락 또는 PASS / FAIL 결과를 뜻하지 않음">
            <a:extLst xmlns:a="http://schemas.openxmlformats.org/drawingml/2006/main">
              <a:ext uri="{FF2B5EF4-FFF2-40B4-BE49-F238E27FC236}">
                <a16:creationId xmlns:a16="http://schemas.microsoft.com/office/drawing/2014/main" id="{6F1FC4B6-12C8-4829-963C-3EC3E2FA0E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두 지침의 범위 비교 · Agent 실행, 테스트 누락 또는 PASS / FAIL 결과를 뜻하지 않음</a:t>
            </a:r>
          </a:p>
        </p:txBody>
      </p:sp>
      <p:sp>
        <p:nvSpPr>
          <p:cNvPr id="29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47690A9F-A66B-4888-9CC2-667D4CEC5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M6</a:t>
            </a:r>
          </a:p>
        </p:txBody>
      </p:sp>
    </p:spTree>
    <p:extLst>
      <p:ext uri="{BB962C8B-B14F-4D97-AF65-F5344CB8AC3E}">
        <p14:creationId xmlns:p14="http://schemas.microsoft.com/office/powerpoint/2010/main" val="528142229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ACT 4 · CONCEPTUAL / 가상 사례">
            <a:extLst xmlns:a="http://schemas.openxmlformats.org/drawingml/2006/main">
              <a:ext uri="{FF2B5EF4-FFF2-40B4-BE49-F238E27FC236}">
                <a16:creationId xmlns:a16="http://schemas.microsoft.com/office/drawing/2014/main" id="{C6686FD6-BB14-45B4-BC76-5CF7197C7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4 · CONCEPTUAL / 가상 사례</a:t>
            </a:r>
          </a:p>
        </p:txBody>
      </p:sp>
      <p:sp>
        <p:nvSpPr>
          <p:cNvPr id="2" name="S58">
            <a:extLst xmlns:a="http://schemas.openxmlformats.org/drawingml/2006/main">
              <a:ext uri="{FF2B5EF4-FFF2-40B4-BE49-F238E27FC236}">
                <a16:creationId xmlns:a16="http://schemas.microsoft.com/office/drawing/2014/main" id="{BE36957E-21D1-4D1C-964D-3662E1F95B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S58</a:t>
            </a:r>
          </a:p>
        </p:txBody>
      </p:sp>
      <p:sp>
        <p:nvSpPr>
          <p:cNvPr id="3" name="Task 해결과 System 문제는 다르다">
            <a:extLst xmlns:a="http://schemas.openxmlformats.org/drawingml/2006/main">
              <a:ext uri="{FF2B5EF4-FFF2-40B4-BE49-F238E27FC236}">
                <a16:creationId xmlns:a16="http://schemas.microsoft.com/office/drawing/2014/main" id="{9FC0035D-B727-49B0-8313-2EDF2E885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Task 해결과 System 문제는 다르다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A360616-6A2E-4D06-B590-9F733CA384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805400"/>
            </a:solidFill>
            <a:prstDash val="dash"/>
          </a:ln>
        </p:spPr>
      </p:sp>
      <p:sp>
        <p:nvSpPr>
          <p:cNvPr id="5" name="DEMO-04A · 이번 요청과 재사용 지침의 범위 비교">
            <a:extLst xmlns:a="http://schemas.openxmlformats.org/drawingml/2006/main">
              <a:ext uri="{FF2B5EF4-FFF2-40B4-BE49-F238E27FC236}">
                <a16:creationId xmlns:a16="http://schemas.microsoft.com/office/drawing/2014/main" id="{7EF7ED3F-ED8A-4F16-8F71-F2473B27D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DEMO-04A · 이번 요청과 재사용 지침의 범위 비교</a:t>
            </a:r>
          </a:p>
        </p:txBody>
      </p:sp>
      <p:sp>
        <p:nvSpPr>
          <p:cNvPr id="6" name="아래는 가능한 대응이다. 실제 실행·복구 성공·검증 누락을 관찰한 결과가 아니다.">
            <a:extLst xmlns:a="http://schemas.openxmlformats.org/drawingml/2006/main">
              <a:ext uri="{FF2B5EF4-FFF2-40B4-BE49-F238E27FC236}">
                <a16:creationId xmlns:a16="http://schemas.microsoft.com/office/drawing/2014/main" id="{521698EB-FBD5-468C-AEE9-F74A5B1CF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아래는 가능한 대응이다. 실제 실행·복구 성공·검증 누락을 관찰한 결과가 아니다.</a:t>
            </a:r>
          </a:p>
        </p:txBody>
      </p:sp>
      <p:sp>
        <p:nvSpPr>
          <p:cNvPr id="7" name="이번 요청에 “통합 테스트도 확인해 줘”를 더한다면?">
            <a:extLst xmlns:a="http://schemas.openxmlformats.org/drawingml/2006/main">
              <a:ext uri="{FF2B5EF4-FFF2-40B4-BE49-F238E27FC236}">
                <a16:creationId xmlns:a16="http://schemas.microsoft.com/office/drawing/2014/main" id="{F3B19458-3E01-4C6E-AF7E-BB3F183821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33600"/>
            <a:ext cx="10972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이번 요청에 “통합 테스트도 확인해 줘”를 더한다면?</a:t>
            </a:r>
          </a:p>
        </p:txBody>
      </p:sp>
      <p:sp>
        <p:nvSpPr>
          <p:cNvPr id="8" name="이번 Task">
            <a:extLst xmlns:a="http://schemas.openxmlformats.org/drawingml/2006/main">
              <a:ext uri="{FF2B5EF4-FFF2-40B4-BE49-F238E27FC236}">
                <a16:creationId xmlns:a16="http://schemas.microsoft.com/office/drawing/2014/main" id="{75794F64-75F8-4D8B-A405-7E541FD262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67050"/>
            <a:ext cx="4762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이번 Task</a:t>
            </a:r>
          </a:p>
        </p:txBody>
      </p:sp>
      <p:sp>
        <p:nvSpPr>
          <p:cNvPr id="9" name="다음 Task가 읽을 Workflow">
            <a:extLst xmlns:a="http://schemas.openxmlformats.org/drawingml/2006/main">
              <a:ext uri="{FF2B5EF4-FFF2-40B4-BE49-F238E27FC236}">
                <a16:creationId xmlns:a16="http://schemas.microsoft.com/office/drawing/2014/main" id="{910FBD6D-46BB-4079-AA17-15317EA27A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067050"/>
            <a:ext cx="4876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다음 Task가 읽을 Workflow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53276AA-F844-4B71-BA4C-23D6D83D2D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0"/>
            <a:ext cx="4876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5DA4E13-27D2-42BD-A377-DACF544EC6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619500"/>
            <a:ext cx="4876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805400"/>
            </a:solidFill>
            <a:prstDash val="dash"/>
          </a:ln>
        </p:spPr>
      </p:sp>
      <p:sp>
        <p:nvSpPr>
          <p:cNvPr id="12" name="단위 + 통합 테스트를&#10;확인하도록 요청 가능">
            <a:extLst xmlns:a="http://schemas.openxmlformats.org/drawingml/2006/main">
              <a:ext uri="{FF2B5EF4-FFF2-40B4-BE49-F238E27FC236}">
                <a16:creationId xmlns:a16="http://schemas.microsoft.com/office/drawing/2014/main" id="{059494C9-BE98-4701-9F31-ADD553C4CF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0"/>
            <a:ext cx="48768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단위 + 통합 테스트를</a:t>
            </a:r>
          </a:p>
          <a:p xmlns:a="http://schemas.openxmlformats.org/drawingml/2006/main">
            <a: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확인하도록 요청 가능</a:t>
            </a:r>
          </a:p>
        </p:txBody>
      </p:sp>
      <p:sp>
        <p:nvSpPr>
          <p:cNvPr id="13" name="여전히&#10;단위 테스트만 지시">
            <a:extLst xmlns:a="http://schemas.openxmlformats.org/drawingml/2006/main">
              <a:ext uri="{FF2B5EF4-FFF2-40B4-BE49-F238E27FC236}">
                <a16:creationId xmlns:a16="http://schemas.microsoft.com/office/drawing/2014/main" id="{97FB32D3-D238-4016-B7E1-2AECD22547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810000"/>
            <a:ext cx="48768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여전히</a:t>
            </a:r>
          </a:p>
          <a:p xmlns:a="http://schemas.openxmlformats.org/drawingml/2006/main">
            <a: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단위 테스트만 지시</a:t>
            </a:r>
          </a:p>
        </p:txBody>
      </p:sp>
      <p:sp>
        <p:nvSpPr>
          <p:cNvPr id="14" name="이번 답을 보정해도, 재사용 절차는 그대로일 수 있다.">
            <a:extLst xmlns:a="http://schemas.openxmlformats.org/drawingml/2006/main">
              <a:ext uri="{FF2B5EF4-FFF2-40B4-BE49-F238E27FC236}">
                <a16:creationId xmlns:a16="http://schemas.microsoft.com/office/drawing/2014/main" id="{1BF7A0C9-588A-456B-AC80-F3ADCE41A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00650"/>
            <a:ext cx="10972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이번 답을 보정해도, 재사용 절차는 그대로일 수 있다.</a:t>
            </a:r>
          </a:p>
        </p:txBody>
      </p:sp>
      <p:sp>
        <p:nvSpPr>
          <p:cNvPr id="15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7C36229B-4AFB-4E0E-918D-C0E568E14F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M2 · M6</a:t>
            </a:r>
          </a:p>
        </p:txBody>
      </p:sp>
    </p:spTree>
    <p:extLst>
      <p:ext uri="{BB962C8B-B14F-4D97-AF65-F5344CB8AC3E}">
        <p14:creationId xmlns:p14="http://schemas.microsoft.com/office/powerpoint/2010/main" val="1105078673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ACT 4 · CONCEPTUAL / 대응 범위 비교">
            <a:extLst xmlns:a="http://schemas.openxmlformats.org/drawingml/2006/main">
              <a:ext uri="{FF2B5EF4-FFF2-40B4-BE49-F238E27FC236}">
                <a16:creationId xmlns:a16="http://schemas.microsoft.com/office/drawing/2014/main" id="{E4374532-1B51-4FE1-8047-185FE174F8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4 · CONCEPTUAL / 대응 범위 비교</a:t>
            </a:r>
          </a:p>
        </p:txBody>
      </p:sp>
      <p:sp>
        <p:nvSpPr>
          <p:cNvPr id="2" name="S59">
            <a:extLst xmlns:a="http://schemas.openxmlformats.org/drawingml/2006/main">
              <a:ext uri="{FF2B5EF4-FFF2-40B4-BE49-F238E27FC236}">
                <a16:creationId xmlns:a16="http://schemas.microsoft.com/office/drawing/2014/main" id="{7771DF64-BC0F-46E5-9A01-872E35876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S59</a:t>
            </a:r>
          </a:p>
        </p:txBody>
      </p:sp>
      <p:sp>
        <p:nvSpPr>
          <p:cNvPr id="3" name="원인에 맞는 Layer를 고르기">
            <a:extLst xmlns:a="http://schemas.openxmlformats.org/drawingml/2006/main">
              <a:ext uri="{FF2B5EF4-FFF2-40B4-BE49-F238E27FC236}">
                <a16:creationId xmlns:a16="http://schemas.microsoft.com/office/drawing/2014/main" id="{8CD2386E-02FB-44A2-8087-9FAD5A174C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원인에 맞는 Layer를 고르기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703FD43-9607-4E53-864D-735609E41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805400"/>
            </a:solidFill>
            <a:prstDash val="dash"/>
          </a:ln>
        </p:spPr>
      </p:sp>
      <p:sp>
        <p:nvSpPr>
          <p:cNvPr id="5" name="DEMO-04A · DEMO-11 · 가상 사례의 선택지">
            <a:extLst xmlns:a="http://schemas.openxmlformats.org/drawingml/2006/main">
              <a:ext uri="{FF2B5EF4-FFF2-40B4-BE49-F238E27FC236}">
                <a16:creationId xmlns:a16="http://schemas.microsoft.com/office/drawing/2014/main" id="{BD2435CA-684C-4518-B72D-5C9346816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DEMO-04A · DEMO-11 · 가상 사례의 선택지</a:t>
            </a:r>
          </a:p>
        </p:txBody>
      </p:sp>
      <p:sp>
        <p:nvSpPr>
          <p:cNvPr id="6" name="Workflow가 원인으로 확인된 경우의 판단이며, 모든 문제의 정답은 아니다.">
            <a:extLst xmlns:a="http://schemas.openxmlformats.org/drawingml/2006/main">
              <a:ext uri="{FF2B5EF4-FFF2-40B4-BE49-F238E27FC236}">
                <a16:creationId xmlns:a16="http://schemas.microsoft.com/office/drawing/2014/main" id="{0113C138-1B5F-409B-87D2-352C9A055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Workflow가 원인으로 확인된 경우의 판단이며, 모든 문제의 정답은 아니다.</a:t>
            </a:r>
          </a:p>
        </p:txBody>
      </p:sp>
      <p:sp>
        <p:nvSpPr>
          <p:cNvPr id="7" name="무엇을 바꾸면 다음 작업에도 반영될까?">
            <a:extLst xmlns:a="http://schemas.openxmlformats.org/drawingml/2006/main">
              <a:ext uri="{FF2B5EF4-FFF2-40B4-BE49-F238E27FC236}">
                <a16:creationId xmlns:a16="http://schemas.microsoft.com/office/drawing/2014/main" id="{71A85699-5391-4683-8C09-DB9F832CCB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1455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무엇을 바꾸면 다음 작업에도 반영될까?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DD48817-B644-48D2-A9EE-04005AC8E7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52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9" name="이번 Prompt 보정">
            <a:extLst xmlns:a="http://schemas.openxmlformats.org/drawingml/2006/main">
              <a:ext uri="{FF2B5EF4-FFF2-40B4-BE49-F238E27FC236}">
                <a16:creationId xmlns:a16="http://schemas.microsoft.com/office/drawing/2014/main" id="{6F4E5C85-C4B8-43CD-B1A5-477A6C342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67050"/>
            <a:ext cx="32004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이번 Prompt 보정</a:t>
            </a:r>
          </a:p>
        </p:txBody>
      </p:sp>
      <p:sp>
        <p:nvSpPr>
          <p:cNvPr id="10" name="현재 Task의 요청 범위를 넓힌다">
            <a:extLst xmlns:a="http://schemas.openxmlformats.org/drawingml/2006/main">
              <a:ext uri="{FF2B5EF4-FFF2-40B4-BE49-F238E27FC236}">
                <a16:creationId xmlns:a16="http://schemas.microsoft.com/office/drawing/2014/main" id="{CB53FDCE-48F0-4172-AC79-6DAC3BD58F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3067050"/>
            <a:ext cx="75438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현재 Task의 요청 범위를 넓힌다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00AAA8F-0453-42A6-88F2-D2B01D15F4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338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2" name="전역 규칙 추가">
            <a:extLst xmlns:a="http://schemas.openxmlformats.org/drawingml/2006/main">
              <a:ext uri="{FF2B5EF4-FFF2-40B4-BE49-F238E27FC236}">
                <a16:creationId xmlns:a16="http://schemas.microsoft.com/office/drawing/2014/main" id="{3A4578B1-F1EA-49A9-AABB-50787658CA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48100"/>
            <a:ext cx="32004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전역 규칙 추가</a:t>
            </a:r>
          </a:p>
        </p:txBody>
      </p:sp>
      <p:sp>
        <p:nvSpPr>
          <p:cNvPr id="13" name="다른 지침과 중복·충돌할 수 있다">
            <a:extLst xmlns:a="http://schemas.openxmlformats.org/drawingml/2006/main">
              <a:ext uri="{FF2B5EF4-FFF2-40B4-BE49-F238E27FC236}">
                <a16:creationId xmlns:a16="http://schemas.microsoft.com/office/drawing/2014/main" id="{A3622766-AA15-407C-9DF7-8D7624A090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3848100"/>
            <a:ext cx="75438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다른 지침과 중복·충돌할 수 있다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5FF4A6B-A7E4-4C57-80AA-B5469B46A2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14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5" name="원인인 Workflow 갱신">
            <a:extLst xmlns:a="http://schemas.openxmlformats.org/drawingml/2006/main">
              <a:ext uri="{FF2B5EF4-FFF2-40B4-BE49-F238E27FC236}">
                <a16:creationId xmlns:a16="http://schemas.microsoft.com/office/drawing/2014/main" id="{63A17E9F-675B-4E5C-95FA-AC2783DA0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29150"/>
            <a:ext cx="32004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원인인 Workflow 갱신</a:t>
            </a:r>
          </a:p>
        </p:txBody>
      </p:sp>
      <p:sp>
        <p:nvSpPr>
          <p:cNvPr id="16" name="다음 Task가 재사용할 절차를 바꾼다">
            <a:extLst xmlns:a="http://schemas.openxmlformats.org/drawingml/2006/main">
              <a:ext uri="{FF2B5EF4-FFF2-40B4-BE49-F238E27FC236}">
                <a16:creationId xmlns:a16="http://schemas.microsoft.com/office/drawing/2014/main" id="{FA080923-EF36-4FE0-8ACD-D22E219E6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4629150"/>
            <a:ext cx="75438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다음 Task가 재사용할 절차를 바꾼다</a:t>
            </a:r>
          </a:p>
        </p:txBody>
      </p:sp>
      <p:sp>
        <p:nvSpPr>
          <p:cNvPr id="17" name="선택 기준: 원인이 있는 곳과 변경할 곳이 맞는가?">
            <a:extLst xmlns:a="http://schemas.openxmlformats.org/drawingml/2006/main">
              <a:ext uri="{FF2B5EF4-FFF2-40B4-BE49-F238E27FC236}">
                <a16:creationId xmlns:a16="http://schemas.microsoft.com/office/drawing/2014/main" id="{5A8A046E-AA04-4E6A-8C5D-2FCB6CC8E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62575"/>
            <a:ext cx="10972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선택 기준: 원인이 있는 곳과 변경할 곳이 맞는가?</a:t>
            </a:r>
          </a:p>
        </p:txBody>
      </p:sp>
      <p:sp>
        <p:nvSpPr>
          <p:cNvPr id="18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FF646491-155D-4400-AA46-E1B54FA1D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M6</a:t>
            </a:r>
          </a:p>
        </p:txBody>
      </p:sp>
    </p:spTree>
    <p:extLst>
      <p:ext uri="{BB962C8B-B14F-4D97-AF65-F5344CB8AC3E}">
        <p14:creationId xmlns:p14="http://schemas.microsoft.com/office/powerpoint/2010/main" val="1212761133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ACT 4 · CONCEPTUAL / 원인 후보">
            <a:extLst xmlns:a="http://schemas.openxmlformats.org/drawingml/2006/main">
              <a:ext uri="{FF2B5EF4-FFF2-40B4-BE49-F238E27FC236}">
                <a16:creationId xmlns:a16="http://schemas.microsoft.com/office/drawing/2014/main" id="{49C1068D-C8FC-45A4-BD66-28AF67AC02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4 · CONCEPTUAL / 원인 후보</a:t>
            </a:r>
          </a:p>
        </p:txBody>
      </p:sp>
      <p:sp>
        <p:nvSpPr>
          <p:cNvPr id="2" name="S60">
            <a:extLst xmlns:a="http://schemas.openxmlformats.org/drawingml/2006/main">
              <a:ext uri="{FF2B5EF4-FFF2-40B4-BE49-F238E27FC236}">
                <a16:creationId xmlns:a16="http://schemas.microsoft.com/office/drawing/2014/main" id="{C8CAA010-D711-43AA-86AB-93AC45B06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S60</a:t>
            </a:r>
          </a:p>
        </p:txBody>
      </p:sp>
      <p:sp>
        <p:nvSpPr>
          <p:cNvPr id="3" name="실패 지점과 원인 Layer 구분하기">
            <a:extLst xmlns:a="http://schemas.openxmlformats.org/drawingml/2006/main">
              <a:ext uri="{FF2B5EF4-FFF2-40B4-BE49-F238E27FC236}">
                <a16:creationId xmlns:a16="http://schemas.microsoft.com/office/drawing/2014/main" id="{20439D70-05DE-4B6F-A178-23B94CDC0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실패 지점과 원인 Layer 구분하기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AFEB3CD-F0AB-4A57-BB4A-F9D47B936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805400"/>
            </a:solidFill>
            <a:prstDash val="dash"/>
          </a:ln>
        </p:spPr>
      </p:sp>
      <p:sp>
        <p:nvSpPr>
          <p:cNvPr id="5" name="DEMO-11 · 원인을 찾기 위한 교육용 관점">
            <a:extLst xmlns:a="http://schemas.openxmlformats.org/drawingml/2006/main">
              <a:ext uri="{FF2B5EF4-FFF2-40B4-BE49-F238E27FC236}">
                <a16:creationId xmlns:a16="http://schemas.microsoft.com/office/drawing/2014/main" id="{EB3ED456-40E7-48CF-B19C-BB617C2AFA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DEMO-11 · 원인을 찾기 위한 교육용 관점</a:t>
            </a:r>
          </a:p>
        </p:txBody>
      </p:sp>
      <p:sp>
        <p:nvSpPr>
          <p:cNvPr id="6" name="가능한 원인 후보이며, 증상만으로 한 원인을 확정하지 않는다.">
            <a:extLst xmlns:a="http://schemas.openxmlformats.org/drawingml/2006/main">
              <a:ext uri="{FF2B5EF4-FFF2-40B4-BE49-F238E27FC236}">
                <a16:creationId xmlns:a16="http://schemas.microsoft.com/office/drawing/2014/main" id="{C3E67C93-FD0D-4E4F-B4CC-BA534942E1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가능한 원인 후보이며, 증상만으로 한 원인을 확정하지 않는다.</a:t>
            </a:r>
          </a:p>
        </p:txBody>
      </p:sp>
      <p:sp>
        <p:nvSpPr>
          <p:cNvPr id="7" name="“요청한 검증이 충분한가?”">
            <a:extLst xmlns:a="http://schemas.openxmlformats.org/drawingml/2006/main">
              <a:ext uri="{FF2B5EF4-FFF2-40B4-BE49-F238E27FC236}">
                <a16:creationId xmlns:a16="http://schemas.microsoft.com/office/drawing/2014/main" id="{FADE9DA0-9669-4333-A30A-3B0AAD0F2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66950"/>
            <a:ext cx="5334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8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8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8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8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8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8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8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8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8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8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8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8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“요청한 검증이 충분한가?”</a:t>
            </a:r>
          </a:p>
        </p:txBody>
      </p:sp>
      <p:sp>
        <p:nvSpPr>
          <p:cNvPr id="8" name="증상에서 바로 결론으로 가지 않는다">
            <a:extLst xmlns:a="http://schemas.openxmlformats.org/drawingml/2006/main">
              <a:ext uri="{FF2B5EF4-FFF2-40B4-BE49-F238E27FC236}">
                <a16:creationId xmlns:a16="http://schemas.microsoft.com/office/drawing/2014/main" id="{FA92FB94-39AE-41C6-A94C-308B6A0A76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05150"/>
            <a:ext cx="5334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증상에서 바로 결론으로 가지 않는다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0BC37F6-48EA-4B51-81B4-EE8149F3A4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266950"/>
            <a:ext cx="4876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805400"/>
            </a:solidFill>
            <a:prstDash val="dash"/>
          </a:ln>
        </p:spPr>
      </p:sp>
      <p:sp>
        <p:nvSpPr>
          <p:cNvPr id="10" name="Context">
            <a:extLst xmlns:a="http://schemas.openxmlformats.org/drawingml/2006/main">
              <a:ext uri="{FF2B5EF4-FFF2-40B4-BE49-F238E27FC236}">
                <a16:creationId xmlns:a16="http://schemas.microsoft.com/office/drawing/2014/main" id="{C1F5A037-3271-4910-AFB7-DC671038C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362200"/>
            <a:ext cx="1714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Context</a:t>
            </a:r>
          </a:p>
        </p:txBody>
      </p:sp>
      <p:sp>
        <p:nvSpPr>
          <p:cNvPr id="11" name="현재 기준이 맞는가?">
            <a:extLst xmlns:a="http://schemas.openxmlformats.org/drawingml/2006/main">
              <a:ext uri="{FF2B5EF4-FFF2-40B4-BE49-F238E27FC236}">
                <a16:creationId xmlns:a16="http://schemas.microsoft.com/office/drawing/2014/main" id="{49E9C039-BD09-478E-9F6F-C1C6B76C35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2362200"/>
            <a:ext cx="2971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현재 기준이 맞는가?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0AF26BC-48CB-4E68-A8C3-5264EBF45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048000"/>
            <a:ext cx="4876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805400"/>
            </a:solidFill>
            <a:prstDash val="dash"/>
          </a:ln>
        </p:spPr>
      </p:sp>
      <p:sp>
        <p:nvSpPr>
          <p:cNvPr id="13" name="Workflow">
            <a:extLst xmlns:a="http://schemas.openxmlformats.org/drawingml/2006/main">
              <a:ext uri="{FF2B5EF4-FFF2-40B4-BE49-F238E27FC236}">
                <a16:creationId xmlns:a16="http://schemas.microsoft.com/office/drawing/2014/main" id="{B3C87BEB-773F-4085-BEEB-28005F18E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143250"/>
            <a:ext cx="1714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Workflow</a:t>
            </a:r>
          </a:p>
        </p:txBody>
      </p:sp>
      <p:sp>
        <p:nvSpPr>
          <p:cNvPr id="14" name="어떤 절차를 지시하는가?">
            <a:extLst xmlns:a="http://schemas.openxmlformats.org/drawingml/2006/main">
              <a:ext uri="{FF2B5EF4-FFF2-40B4-BE49-F238E27FC236}">
                <a16:creationId xmlns:a16="http://schemas.microsoft.com/office/drawing/2014/main" id="{2BD35AA5-F603-4D5D-8E95-118CA90871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3143250"/>
            <a:ext cx="2971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어떤 절차를 지시하는가?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B778C8F-C663-4D26-919A-7B9EA25CFA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829050"/>
            <a:ext cx="4876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805400"/>
            </a:solidFill>
            <a:prstDash val="dash"/>
          </a:ln>
        </p:spPr>
      </p:sp>
      <p:sp>
        <p:nvSpPr>
          <p:cNvPr id="16" name="환경 · 권한">
            <a:extLst xmlns:a="http://schemas.openxmlformats.org/drawingml/2006/main">
              <a:ext uri="{FF2B5EF4-FFF2-40B4-BE49-F238E27FC236}">
                <a16:creationId xmlns:a16="http://schemas.microsoft.com/office/drawing/2014/main" id="{9D8998EE-F495-4987-BA62-0C81F2A920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924300"/>
            <a:ext cx="1714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환경 · 권한</a:t>
            </a:r>
          </a:p>
        </p:txBody>
      </p:sp>
      <p:sp>
        <p:nvSpPr>
          <p:cNvPr id="17" name="실행 조건이 맞는가?">
            <a:extLst xmlns:a="http://schemas.openxmlformats.org/drawingml/2006/main">
              <a:ext uri="{FF2B5EF4-FFF2-40B4-BE49-F238E27FC236}">
                <a16:creationId xmlns:a16="http://schemas.microsoft.com/office/drawing/2014/main" id="{86927A88-A80B-4C6F-A9B7-197BEEBCCA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3924300"/>
            <a:ext cx="2971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실행 조건이 맞는가?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0896F11-9B5B-481E-8831-B5AA064FF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4610100"/>
            <a:ext cx="4876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805400"/>
            </a:solidFill>
            <a:prstDash val="dash"/>
          </a:ln>
        </p:spPr>
      </p:sp>
      <p:sp>
        <p:nvSpPr>
          <p:cNvPr id="19" name="제품 코드">
            <a:extLst xmlns:a="http://schemas.openxmlformats.org/drawingml/2006/main">
              <a:ext uri="{FF2B5EF4-FFF2-40B4-BE49-F238E27FC236}">
                <a16:creationId xmlns:a16="http://schemas.microsoft.com/office/drawing/2014/main" id="{B08B6FBE-6652-4B5A-B8EE-FEA778136C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4705350"/>
            <a:ext cx="1714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제품 코드</a:t>
            </a:r>
          </a:p>
        </p:txBody>
      </p:sp>
      <p:sp>
        <p:nvSpPr>
          <p:cNvPr id="20" name="동작 자체의 문제인가?">
            <a:extLst xmlns:a="http://schemas.openxmlformats.org/drawingml/2006/main">
              <a:ext uri="{FF2B5EF4-FFF2-40B4-BE49-F238E27FC236}">
                <a16:creationId xmlns:a16="http://schemas.microsoft.com/office/drawing/2014/main" id="{F2904B06-2499-4973-ADBD-CD58AF9514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4705350"/>
            <a:ext cx="2971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동작 자체의 문제인가?</a:t>
            </a:r>
          </a:p>
        </p:txBody>
      </p:sp>
      <p:sp>
        <p:nvSpPr>
          <p:cNvPr id="21" name="확인할 기록부터 찾는다">
            <a:extLst xmlns:a="http://schemas.openxmlformats.org/drawingml/2006/main">
              <a:ext uri="{FF2B5EF4-FFF2-40B4-BE49-F238E27FC236}">
                <a16:creationId xmlns:a16="http://schemas.microsoft.com/office/drawing/2014/main" id="{88392A4C-C1D4-44CB-BEA2-0AE37846B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67250"/>
            <a:ext cx="5238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확인할 기록부터 찾는다</a:t>
            </a:r>
          </a:p>
        </p:txBody>
      </p:sp>
      <p:sp>
        <p:nvSpPr>
          <p:cNvPr id="22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46858945-81FC-4047-B88A-A46666C29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M6</a:t>
            </a:r>
          </a:p>
        </p:txBody>
      </p:sp>
    </p:spTree>
    <p:extLst>
      <p:ext uri="{BB962C8B-B14F-4D97-AF65-F5344CB8AC3E}">
        <p14:creationId xmlns:p14="http://schemas.microsoft.com/office/powerpoint/2010/main" val="624451161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ACT 4 · CONCEPTUAL / 가정과 추론">
            <a:extLst xmlns:a="http://schemas.openxmlformats.org/drawingml/2006/main">
              <a:ext uri="{FF2B5EF4-FFF2-40B4-BE49-F238E27FC236}">
                <a16:creationId xmlns:a16="http://schemas.microsoft.com/office/drawing/2014/main" id="{A9EBB5B1-5847-46F5-8086-0EC4EBEAF7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4 · CONCEPTUAL / 가정과 추론</a:t>
            </a:r>
          </a:p>
        </p:txBody>
      </p:sp>
      <p:sp>
        <p:nvSpPr>
          <p:cNvPr id="2" name="S61">
            <a:extLst xmlns:a="http://schemas.openxmlformats.org/drawingml/2006/main">
              <a:ext uri="{FF2B5EF4-FFF2-40B4-BE49-F238E27FC236}">
                <a16:creationId xmlns:a16="http://schemas.microsoft.com/office/drawing/2014/main" id="{97A97EB9-B178-42B1-9875-CC10E51184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S61</a:t>
            </a:r>
          </a:p>
        </p:txBody>
      </p:sp>
      <p:sp>
        <p:nvSpPr>
          <p:cNvPr id="3" name="먼저 관찰하고, 그다음 가설을 세운다">
            <a:extLst xmlns:a="http://schemas.openxmlformats.org/drawingml/2006/main">
              <a:ext uri="{FF2B5EF4-FFF2-40B4-BE49-F238E27FC236}">
                <a16:creationId xmlns:a16="http://schemas.microsoft.com/office/drawing/2014/main" id="{1415E7B5-6AA1-4A11-922B-C44C02AE22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먼저 관찰하고, 그다음 가설을 세운다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CBEA6AA-886A-4865-B2F7-D6979F264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805400"/>
            </a:solidFill>
            <a:prstDash val="dash"/>
          </a:ln>
        </p:spPr>
      </p:sp>
      <p:sp>
        <p:nvSpPr>
          <p:cNvPr id="5" name="DEMO-04A · 구성된 사례의 전제와 원인 가설">
            <a:extLst xmlns:a="http://schemas.openxmlformats.org/drawingml/2006/main">
              <a:ext uri="{FF2B5EF4-FFF2-40B4-BE49-F238E27FC236}">
                <a16:creationId xmlns:a16="http://schemas.microsoft.com/office/drawing/2014/main" id="{88898DBA-ED73-4D76-AC33-E461318008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DEMO-04A · 구성된 사례의 전제와 원인 가설</a:t>
            </a:r>
          </a:p>
        </p:txBody>
      </p:sp>
      <p:sp>
        <p:nvSpPr>
          <p:cNvPr id="6" name="가상 설정을 실제 Trial 관찰로 표현하지 않는다. 실행 결과는 아직 없다.">
            <a:extLst xmlns:a="http://schemas.openxmlformats.org/drawingml/2006/main">
              <a:ext uri="{FF2B5EF4-FFF2-40B4-BE49-F238E27FC236}">
                <a16:creationId xmlns:a16="http://schemas.microsoft.com/office/drawing/2014/main" id="{9EFEE05E-AE3B-4D1E-BC26-6EDA889BB7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가상 설정을 실제 Trial 관찰로 표현하지 않는다. 실행 결과는 아직 없다.</a:t>
            </a:r>
          </a:p>
        </p:txBody>
      </p:sp>
      <p:sp>
        <p:nvSpPr>
          <p:cNvPr id="7" name="사례에 주어진 정보">
            <a:extLst xmlns:a="http://schemas.openxmlformats.org/drawingml/2006/main">
              <a:ext uri="{FF2B5EF4-FFF2-40B4-BE49-F238E27FC236}">
                <a16:creationId xmlns:a16="http://schemas.microsoft.com/office/drawing/2014/main" id="{22436E42-E1F2-41A8-BE99-FBF1EE5265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28850"/>
            <a:ext cx="4953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사례에 주어진 정보</a:t>
            </a:r>
          </a:p>
        </p:txBody>
      </p:sp>
      <p:sp>
        <p:nvSpPr>
          <p:cNvPr id="8" name="확인해야 할 가설">
            <a:extLst xmlns:a="http://schemas.openxmlformats.org/drawingml/2006/main">
              <a:ext uri="{FF2B5EF4-FFF2-40B4-BE49-F238E27FC236}">
                <a16:creationId xmlns:a16="http://schemas.microsoft.com/office/drawing/2014/main" id="{AF0A4733-8D3D-4A7D-8B87-8870B07FA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228850"/>
            <a:ext cx="48768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확인해야 할 가설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D395576-BFBA-427E-8D53-D89CB568E2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0"/>
            <a:ext cx="4876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2C5A5E2-A17D-468B-9C99-9B3A1D376B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857500"/>
            <a:ext cx="4876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805400"/>
            </a:solidFill>
            <a:prstDash val="dash"/>
          </a:ln>
        </p:spPr>
      </p:sp>
      <p:sp>
        <p:nvSpPr>
          <p:cNvPr id="11" name="현재 기준: 단위 + 통합&#10;재사용 지침: 단위만">
            <a:extLst xmlns:a="http://schemas.openxmlformats.org/drawingml/2006/main">
              <a:ext uri="{FF2B5EF4-FFF2-40B4-BE49-F238E27FC236}">
                <a16:creationId xmlns:a16="http://schemas.microsoft.com/office/drawing/2014/main" id="{F3206BA2-BFB3-4EB3-8E11-F172778E19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14675"/>
            <a:ext cx="48768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현재 기준: 단위 + 통합</a:t>
            </a:r>
          </a:p>
          <a:p xmlns:a="http://schemas.openxmlformats.org/drawingml/2006/main">
            <a: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재사용 지침: 단위만</a:t>
            </a:r>
          </a:p>
        </p:txBody>
      </p:sp>
      <p:sp>
        <p:nvSpPr>
          <p:cNvPr id="12" name="오래된 Workflow가&#10;문제의 원인일 수 있다">
            <a:extLst xmlns:a="http://schemas.openxmlformats.org/drawingml/2006/main">
              <a:ext uri="{FF2B5EF4-FFF2-40B4-BE49-F238E27FC236}">
                <a16:creationId xmlns:a16="http://schemas.microsoft.com/office/drawing/2014/main" id="{48FAC996-B071-4A6D-A7BC-035060129B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114675"/>
            <a:ext cx="48768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오래된 Workflow가</a:t>
            </a:r>
          </a:p>
          <a:p xmlns:a="http://schemas.openxmlformats.org/drawingml/2006/main">
            <a: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문제의 원인일 수 있다</a:t>
            </a:r>
          </a:p>
        </p:txBody>
      </p:sp>
      <p:sp>
        <p:nvSpPr>
          <p:cNvPr id="13" name="실행 경로와 실제로 읽은 지침을 대조해야 원인을 판단할 수 있다.">
            <a:extLst xmlns:a="http://schemas.openxmlformats.org/drawingml/2006/main">
              <a:ext uri="{FF2B5EF4-FFF2-40B4-BE49-F238E27FC236}">
                <a16:creationId xmlns:a16="http://schemas.microsoft.com/office/drawing/2014/main" id="{045FDAF9-F1F8-4451-9758-381DE9FC17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1490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실행 경로와 실제로 읽은 지침을 대조해야 원인을 판단할 수 있다.</a:t>
            </a:r>
          </a:p>
        </p:txBody>
      </p:sp>
      <p:sp>
        <p:nvSpPr>
          <p:cNvPr id="14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7B336B8E-6202-462D-A5E6-662179E87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M6</a:t>
            </a:r>
          </a:p>
        </p:txBody>
      </p:sp>
    </p:spTree>
    <p:extLst>
      <p:ext uri="{BB962C8B-B14F-4D97-AF65-F5344CB8AC3E}">
        <p14:creationId xmlns:p14="http://schemas.microsoft.com/office/powerpoint/2010/main" val="1783131149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ACT 4 · CONCEPTUAL / 원인에 맞는 수정">
            <a:extLst xmlns:a="http://schemas.openxmlformats.org/drawingml/2006/main">
              <a:ext uri="{FF2B5EF4-FFF2-40B4-BE49-F238E27FC236}">
                <a16:creationId xmlns:a16="http://schemas.microsoft.com/office/drawing/2014/main" id="{8F7CF637-C280-4484-88B6-E0A16F7A16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4 · CONCEPTUAL / 원인에 맞는 수정</a:t>
            </a:r>
          </a:p>
        </p:txBody>
      </p:sp>
      <p:sp>
        <p:nvSpPr>
          <p:cNvPr id="2" name="S62">
            <a:extLst xmlns:a="http://schemas.openxmlformats.org/drawingml/2006/main">
              <a:ext uri="{FF2B5EF4-FFF2-40B4-BE49-F238E27FC236}">
                <a16:creationId xmlns:a16="http://schemas.microsoft.com/office/drawing/2014/main" id="{CB7088E8-8C4A-4020-B985-40460AED23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S62</a:t>
            </a:r>
          </a:p>
        </p:txBody>
      </p:sp>
      <p:sp>
        <p:nvSpPr>
          <p:cNvPr id="3" name="Cause가 지지하는 최소 변경">
            <a:extLst xmlns:a="http://schemas.openxmlformats.org/drawingml/2006/main">
              <a:ext uri="{FF2B5EF4-FFF2-40B4-BE49-F238E27FC236}">
                <a16:creationId xmlns:a16="http://schemas.microsoft.com/office/drawing/2014/main" id="{469095D6-E782-4EC7-BEB0-35A522EB9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Cause가 지지하는 최소 변경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65715EB-F40F-43FC-B6B4-D44FFF334B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805400"/>
            </a:solidFill>
            <a:prstDash val="dash"/>
          </a:ln>
        </p:spPr>
      </p:sp>
      <p:sp>
        <p:nvSpPr>
          <p:cNvPr id="5" name="DEMO-04A · 원인이 확인됐다고 가정한 변경 설계">
            <a:extLst xmlns:a="http://schemas.openxmlformats.org/drawingml/2006/main">
              <a:ext uri="{FF2B5EF4-FFF2-40B4-BE49-F238E27FC236}">
                <a16:creationId xmlns:a16="http://schemas.microsoft.com/office/drawing/2014/main" id="{BE7D6E12-AEDF-4577-8EF4-4494BF557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DEMO-04A · 원인이 확인됐다고 가정한 변경 설계</a:t>
            </a:r>
          </a:p>
        </p:txBody>
      </p:sp>
      <p:sp>
        <p:nvSpPr>
          <p:cNvPr id="6" name="실제 코드·Skill 수정 또는 실행 결과가 아니다. 관련 없는 규칙은 임의로 바꾸지 않는다.">
            <a:extLst xmlns:a="http://schemas.openxmlformats.org/drawingml/2006/main">
              <a:ext uri="{FF2B5EF4-FFF2-40B4-BE49-F238E27FC236}">
                <a16:creationId xmlns:a16="http://schemas.microsoft.com/office/drawing/2014/main" id="{C547A346-14C5-4EBB-8116-CD657E805B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실제 코드·Skill 수정 또는 실행 결과가 아니다. 관련 없는 규칙은 임의로 바꾸지 않는다.</a:t>
            </a:r>
          </a:p>
        </p:txBody>
      </p:sp>
      <p:sp>
        <p:nvSpPr>
          <p:cNvPr id="7" name="Workflow가 원인으로 확인됐다면">
            <a:extLst xmlns:a="http://schemas.openxmlformats.org/drawingml/2006/main">
              <a:ext uri="{FF2B5EF4-FFF2-40B4-BE49-F238E27FC236}">
                <a16:creationId xmlns:a16="http://schemas.microsoft.com/office/drawing/2014/main" id="{2362006B-B01C-4168-A3D9-0D2BE65ED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14550"/>
            <a:ext cx="109728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5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5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5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5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5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5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5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5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5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5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Workflow가 원인으로 확인됐다면</a:t>
            </a:r>
          </a:p>
        </p:txBody>
      </p:sp>
      <p:sp>
        <p:nvSpPr>
          <p:cNvPr id="8" name="기존 재사용 지침">
            <a:extLst xmlns:a="http://schemas.openxmlformats.org/drawingml/2006/main">
              <a:ext uri="{FF2B5EF4-FFF2-40B4-BE49-F238E27FC236}">
                <a16:creationId xmlns:a16="http://schemas.microsoft.com/office/drawing/2014/main" id="{8EF74003-3B74-40EB-865C-725A32263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67050"/>
            <a:ext cx="4762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기존 재사용 지침</a:t>
            </a:r>
          </a:p>
        </p:txBody>
      </p:sp>
      <p:sp>
        <p:nvSpPr>
          <p:cNvPr id="9" name="갱신할 지침">
            <a:extLst xmlns:a="http://schemas.openxmlformats.org/drawingml/2006/main">
              <a:ext uri="{FF2B5EF4-FFF2-40B4-BE49-F238E27FC236}">
                <a16:creationId xmlns:a16="http://schemas.microsoft.com/office/drawing/2014/main" id="{4D359469-656A-4A05-8044-68B666070F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067050"/>
            <a:ext cx="4876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갱신할 지침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BD7EA6C-3D34-41DB-ABB8-0432EBA95E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09975"/>
            <a:ext cx="4876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805400"/>
            </a:solidFill>
            <a:prstDash val="dash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6C97B5C-922A-41AD-9FAD-F4D49C8B7F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609975"/>
            <a:ext cx="4876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2" name="단위 테스트를 확인">
            <a:extLst xmlns:a="http://schemas.openxmlformats.org/drawingml/2006/main">
              <a:ext uri="{FF2B5EF4-FFF2-40B4-BE49-F238E27FC236}">
                <a16:creationId xmlns:a16="http://schemas.microsoft.com/office/drawing/2014/main" id="{6D56BE25-27BF-447B-A788-1D6215625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14775"/>
            <a:ext cx="4876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7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7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7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7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7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7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7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7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7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7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7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7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단위 테스트를 확인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02E5BD9-791F-4948-B651-FC60CE9201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4010025"/>
            <a:ext cx="609600" cy="2476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14" name="단위 + 통합 테스트 확인">
            <a:extLst xmlns:a="http://schemas.openxmlformats.org/drawingml/2006/main">
              <a:ext uri="{FF2B5EF4-FFF2-40B4-BE49-F238E27FC236}">
                <a16:creationId xmlns:a16="http://schemas.microsoft.com/office/drawing/2014/main" id="{757C4C62-62AC-448C-A94F-06F41C6DF8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914775"/>
            <a:ext cx="4876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단위 + 통합 테스트 확인</a:t>
            </a:r>
          </a:p>
        </p:txBody>
      </p:sp>
      <p:sp>
        <p:nvSpPr>
          <p:cNvPr id="15" name="원인이 뒷받침하는 범위까지 바꾼다.">
            <a:extLst xmlns:a="http://schemas.openxmlformats.org/drawingml/2006/main">
              <a:ext uri="{FF2B5EF4-FFF2-40B4-BE49-F238E27FC236}">
                <a16:creationId xmlns:a16="http://schemas.microsoft.com/office/drawing/2014/main" id="{0E371FD5-C1DB-44DC-B451-D98955636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76825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원인이 뒷받침하는 범위까지 바꾼다.</a:t>
            </a:r>
          </a:p>
        </p:txBody>
      </p:sp>
      <p:sp>
        <p:nvSpPr>
          <p:cNvPr id="16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CC2DBDD6-9ACA-43B5-99CA-321D4DF346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M5 · M6</a:t>
            </a:r>
          </a:p>
        </p:txBody>
      </p:sp>
    </p:spTree>
    <p:extLst>
      <p:ext uri="{BB962C8B-B14F-4D97-AF65-F5344CB8AC3E}">
        <p14:creationId xmlns:p14="http://schemas.microsoft.com/office/powerpoint/2010/main" val="970969836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ACT 4 · CONCEPTUAL / 평가 범위">
            <a:extLst xmlns:a="http://schemas.openxmlformats.org/drawingml/2006/main">
              <a:ext uri="{FF2B5EF4-FFF2-40B4-BE49-F238E27FC236}">
                <a16:creationId xmlns:a16="http://schemas.microsoft.com/office/drawing/2014/main" id="{B8B1E8D1-85AA-42E5-B2F2-8EB66902C8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4 · CONCEPTUAL / 평가 범위</a:t>
            </a:r>
          </a:p>
        </p:txBody>
      </p:sp>
      <p:sp>
        <p:nvSpPr>
          <p:cNvPr id="2" name="S63">
            <a:extLst xmlns:a="http://schemas.openxmlformats.org/drawingml/2006/main">
              <a:ext uri="{FF2B5EF4-FFF2-40B4-BE49-F238E27FC236}">
                <a16:creationId xmlns:a16="http://schemas.microsoft.com/office/drawing/2014/main" id="{CE1E5251-C715-401F-AD71-58B755E8B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S63</a:t>
            </a:r>
          </a:p>
        </p:txBody>
      </p:sp>
      <p:sp>
        <p:nvSpPr>
          <p:cNvPr id="3" name="같은 Task의 재실행만으로 충분할까?">
            <a:extLst xmlns:a="http://schemas.openxmlformats.org/drawingml/2006/main">
              <a:ext uri="{FF2B5EF4-FFF2-40B4-BE49-F238E27FC236}">
                <a16:creationId xmlns:a16="http://schemas.microsoft.com/office/drawing/2014/main" id="{F17ED86B-3945-43F0-9DFF-1799D9F632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같은 Task의 재실행만으로 충분할까?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B9A2CE9-5CFD-441A-AEEE-01066CE38D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805400"/>
            </a:solidFill>
            <a:prstDash val="dash"/>
          </a:ln>
        </p:spPr>
      </p:sp>
      <p:sp>
        <p:nvSpPr>
          <p:cNvPr id="5" name="DEMO-04A · 변경 후 확인할 질문을 설계한 도식">
            <a:extLst xmlns:a="http://schemas.openxmlformats.org/drawingml/2006/main">
              <a:ext uri="{FF2B5EF4-FFF2-40B4-BE49-F238E27FC236}">
                <a16:creationId xmlns:a16="http://schemas.microsoft.com/office/drawing/2014/main" id="{A0FDB612-BEE4-4296-A5FC-4858BDF1C8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DEMO-04A · 변경 후 확인할 질문을 설계한 도식</a:t>
            </a:r>
          </a:p>
        </p:txBody>
      </p:sp>
      <p:sp>
        <p:nvSpPr>
          <p:cNvPr id="6" name="재실행·회귀 테스트 결과는 없다. 두 검증 질문을 구분하는 가상 사례다.">
            <a:extLst xmlns:a="http://schemas.openxmlformats.org/drawingml/2006/main">
              <a:ext uri="{FF2B5EF4-FFF2-40B4-BE49-F238E27FC236}">
                <a16:creationId xmlns:a16="http://schemas.microsoft.com/office/drawing/2014/main" id="{688340D0-3B5D-4D39-8939-D70F43018F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재실행·회귀 테스트 결과는 없다. 두 검증 질문을 구분하는 가상 사례다.</a:t>
            </a:r>
          </a:p>
        </p:txBody>
      </p:sp>
      <p:sp>
        <p:nvSpPr>
          <p:cNvPr id="7" name="이번 작업을 다시 확인">
            <a:extLst xmlns:a="http://schemas.openxmlformats.org/drawingml/2006/main">
              <a:ext uri="{FF2B5EF4-FFF2-40B4-BE49-F238E27FC236}">
                <a16:creationId xmlns:a16="http://schemas.microsoft.com/office/drawing/2014/main" id="{2C467FEB-CCB0-486F-BCFF-1DD7B82B8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38375"/>
            <a:ext cx="4876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이번 작업을 다시 확인</a:t>
            </a:r>
          </a:p>
        </p:txBody>
      </p:sp>
      <p:sp>
        <p:nvSpPr>
          <p:cNvPr id="8" name="다른 작업도 확인">
            <a:extLst xmlns:a="http://schemas.openxmlformats.org/drawingml/2006/main">
              <a:ext uri="{FF2B5EF4-FFF2-40B4-BE49-F238E27FC236}">
                <a16:creationId xmlns:a16="http://schemas.microsoft.com/office/drawing/2014/main" id="{C0348E02-5349-44C2-BFE7-868D976DD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238375"/>
            <a:ext cx="4876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5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5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5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5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5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5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5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5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5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5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다른 작업도 확인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BDE72AD-41DF-4AF2-9648-B69E2C0C8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52750"/>
            <a:ext cx="4876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1364298-B42B-4442-90FC-705FA63EE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952750"/>
            <a:ext cx="4876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805400"/>
            </a:solidFill>
            <a:prstDash val="dash"/>
          </a:ln>
        </p:spPr>
      </p:sp>
      <p:sp>
        <p:nvSpPr>
          <p:cNvPr id="11" name="요청했던 검증 범위를&#10;이제 다루는가?">
            <a:extLst xmlns:a="http://schemas.openxmlformats.org/drawingml/2006/main">
              <a:ext uri="{FF2B5EF4-FFF2-40B4-BE49-F238E27FC236}">
                <a16:creationId xmlns:a16="http://schemas.microsoft.com/office/drawing/2014/main" id="{E390E797-954F-4F64-916E-FE6FCF208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14700"/>
            <a:ext cx="48768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요청했던 검증 범위를</a:t>
            </a:r>
          </a:p>
          <a:p xmlns:a="http://schemas.openxmlformats.org/drawingml/2006/main">
            <a: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이제 다루는가?</a:t>
            </a:r>
          </a:p>
        </p:txBody>
      </p:sp>
      <p:sp>
        <p:nvSpPr>
          <p:cNvPr id="12" name="바뀐 지침이 다른 작업을&#10;방해하지 않는가?">
            <a:extLst xmlns:a="http://schemas.openxmlformats.org/drawingml/2006/main">
              <a:ext uri="{FF2B5EF4-FFF2-40B4-BE49-F238E27FC236}">
                <a16:creationId xmlns:a16="http://schemas.microsoft.com/office/drawing/2014/main" id="{FCEB9DE4-FFCE-49DD-BD4E-76E98ACBD8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314700"/>
            <a:ext cx="48768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바뀐 지침이 다른 작업을</a:t>
            </a:r>
          </a:p>
          <a:p xmlns:a="http://schemas.openxmlformats.org/drawingml/2006/main">
            <a: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방해하지 않는가?</a:t>
            </a:r>
          </a:p>
        </p:txBody>
      </p:sp>
      <p:sp>
        <p:nvSpPr>
          <p:cNvPr id="13" name="확인할 범위가 다르므로, 두 질문이 모두 필요하다.">
            <a:extLst xmlns:a="http://schemas.openxmlformats.org/drawingml/2006/main">
              <a:ext uri="{FF2B5EF4-FFF2-40B4-BE49-F238E27FC236}">
                <a16:creationId xmlns:a16="http://schemas.microsoft.com/office/drawing/2014/main" id="{9933D0B9-2586-4A9C-8E60-8CD416BA34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0"/>
            <a:ext cx="10972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확인할 범위가 다르므로, 두 질문이 모두 필요하다.</a:t>
            </a:r>
          </a:p>
        </p:txBody>
      </p:sp>
      <p:sp>
        <p:nvSpPr>
          <p:cNvPr id="14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1155BF7D-5F06-48BF-804A-E088370D7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M6</a:t>
            </a:r>
          </a:p>
        </p:txBody>
      </p:sp>
    </p:spTree>
    <p:extLst>
      <p:ext uri="{BB962C8B-B14F-4D97-AF65-F5344CB8AC3E}">
        <p14:creationId xmlns:p14="http://schemas.microsoft.com/office/powerpoint/2010/main" val="1439023883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8" name="ACT 4 · CONCEPTUAL / 평가 설계">
            <a:extLst xmlns:a="http://schemas.openxmlformats.org/drawingml/2006/main">
              <a:ext uri="{FF2B5EF4-FFF2-40B4-BE49-F238E27FC236}">
                <a16:creationId xmlns:a16="http://schemas.microsoft.com/office/drawing/2014/main" id="{1BB17752-C735-4645-8EEF-F30FFA038F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4 · CONCEPTUAL / 평가 설계</a:t>
            </a:r>
          </a:p>
        </p:txBody>
      </p:sp>
      <p:sp>
        <p:nvSpPr>
          <p:cNvPr id="2" name="S64">
            <a:extLst xmlns:a="http://schemas.openxmlformats.org/drawingml/2006/main">
              <a:ext uri="{FF2B5EF4-FFF2-40B4-BE49-F238E27FC236}">
                <a16:creationId xmlns:a16="http://schemas.microsoft.com/office/drawing/2014/main" id="{99EA0DA7-A785-40B4-A140-2ECB90594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S64</a:t>
            </a:r>
          </a:p>
        </p:txBody>
      </p:sp>
      <p:sp>
        <p:nvSpPr>
          <p:cNvPr id="3" name="대표 작업으로 변경 범위를 확인하기">
            <a:extLst xmlns:a="http://schemas.openxmlformats.org/drawingml/2006/main">
              <a:ext uri="{FF2B5EF4-FFF2-40B4-BE49-F238E27FC236}">
                <a16:creationId xmlns:a16="http://schemas.microsoft.com/office/drawing/2014/main" id="{FAE273B4-0E4D-4162-B72F-0A94B5960D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대표 작업으로 변경 범위를 확인하기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D2F6F8F-EBBF-44E3-8A74-21BAB79E27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805400"/>
            </a:solidFill>
            <a:prstDash val="dash"/>
          </a:ln>
        </p:spPr>
      </p:sp>
      <p:sp>
        <p:nvSpPr>
          <p:cNvPr id="5" name="DEMO-10 · 네 작업 모두 이 Workflow 변경 후의 평가 결과는 없음">
            <a:extLst xmlns:a="http://schemas.openxmlformats.org/drawingml/2006/main">
              <a:ext uri="{FF2B5EF4-FFF2-40B4-BE49-F238E27FC236}">
                <a16:creationId xmlns:a16="http://schemas.microsoft.com/office/drawing/2014/main" id="{0A1620CB-2573-42D6-B9F5-48732508FC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DEMO-10 · 네 작업 모두 이 Workflow 변경 후의 평가 결과는 없음</a:t>
            </a:r>
          </a:p>
        </p:txBody>
      </p:sp>
      <p:sp>
        <p:nvSpPr>
          <p:cNvPr id="6" name="EVAL-01/02: 별도 과거 관찰 참고 · EVAL-03/04: 설계만 있음 · 새 실행·PASS/FAI">
            <a:extLst xmlns:a="http://schemas.openxmlformats.org/drawingml/2006/main">
              <a:ext uri="{FF2B5EF4-FFF2-40B4-BE49-F238E27FC236}">
                <a16:creationId xmlns:a16="http://schemas.microsoft.com/office/drawing/2014/main" id="{9CDD052F-3703-483B-86B7-51943158ED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EVAL-01/02: 별도 과거 관찰 참고 · EVAL-03/04: 설계만 있음 · 새 실행·PASS/FAIL 없음</a:t>
            </a:r>
          </a:p>
        </p:txBody>
      </p:sp>
      <p:sp>
        <p:nvSpPr>
          <p:cNvPr id="7" name="작업 수보다, 서로 다른 위험을 덮는가?">
            <a:extLst xmlns:a="http://schemas.openxmlformats.org/drawingml/2006/main">
              <a:ext uri="{FF2B5EF4-FFF2-40B4-BE49-F238E27FC236}">
                <a16:creationId xmlns:a16="http://schemas.microsoft.com/office/drawing/2014/main" id="{AC7D53D8-E727-4897-B11D-289C9FA191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4785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작업 수보다, 서로 다른 위험을 덮는가?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9376624-8650-40E8-BDB1-1B8E2BFD6D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00300"/>
            <a:ext cx="109728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EAC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평가 설계 · 네 작업 모두 이 Workflow 변경 뒤의 실행 결과는 없음">
            <a:extLst xmlns:a="http://schemas.openxmlformats.org/drawingml/2006/main">
              <a:ext uri="{FF2B5EF4-FFF2-40B4-BE49-F238E27FC236}">
                <a16:creationId xmlns:a16="http://schemas.microsoft.com/office/drawing/2014/main" id="{28528CE1-7577-4DA4-9BCC-FACA6EBAF7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447925"/>
            <a:ext cx="10668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평가 설계 · 네 작업 모두 이 Workflow 변경 뒤의 실행 결과는 없음</a:t>
            </a:r>
          </a:p>
        </p:txBody>
      </p:sp>
      <p:sp>
        <p:nvSpPr>
          <p:cNvPr id="10" name="대표 작업">
            <a:extLst xmlns:a="http://schemas.openxmlformats.org/drawingml/2006/main">
              <a:ext uri="{FF2B5EF4-FFF2-40B4-BE49-F238E27FC236}">
                <a16:creationId xmlns:a16="http://schemas.microsoft.com/office/drawing/2014/main" id="{B04A6683-55FD-40FC-8137-FB752DBF7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24175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대표 작업</a:t>
            </a:r>
          </a:p>
        </p:txBody>
      </p:sp>
      <p:sp>
        <p:nvSpPr>
          <p:cNvPr id="11" name="무엇을 확인하기 위한 설계인가?">
            <a:extLst xmlns:a="http://schemas.openxmlformats.org/drawingml/2006/main">
              <a:ext uri="{FF2B5EF4-FFF2-40B4-BE49-F238E27FC236}">
                <a16:creationId xmlns:a16="http://schemas.microsoft.com/office/drawing/2014/main" id="{59BEB98A-ED75-4D17-BDB2-46794F105A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2924175"/>
            <a:ext cx="4895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무엇을 확인하기 위한 설계인가?</a:t>
            </a:r>
          </a:p>
        </p:txBody>
      </p:sp>
      <p:sp>
        <p:nvSpPr>
          <p:cNvPr id="12" name="현재 근거 상태">
            <a:extLst xmlns:a="http://schemas.openxmlformats.org/drawingml/2006/main">
              <a:ext uri="{FF2B5EF4-FFF2-40B4-BE49-F238E27FC236}">
                <a16:creationId xmlns:a16="http://schemas.microsoft.com/office/drawing/2014/main" id="{7AD53736-18AB-4395-94DE-B70AA023E9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924175"/>
            <a:ext cx="2724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현재 근거 상태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61F0761-9660-47EE-AEAA-D4A2CDD0D7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956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805400"/>
            </a:solidFill>
            <a:prstDash val="dash"/>
          </a:ln>
        </p:spPr>
      </p:sp>
      <p:sp>
        <p:nvSpPr>
          <p:cNvPr id="14" name="EVAL-01">
            <a:extLst xmlns:a="http://schemas.openxmlformats.org/drawingml/2006/main">
              <a:ext uri="{FF2B5EF4-FFF2-40B4-BE49-F238E27FC236}">
                <a16:creationId xmlns:a16="http://schemas.microsoft.com/office/drawing/2014/main" id="{EBB5757B-AD85-4037-BBAD-8A9DC4D22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62325"/>
            <a:ext cx="12096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7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57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57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57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57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57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57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57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57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57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57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pPr>
            <a:r>
              <a:rPr sz="1575" b="1">
                <a:solidFill>
                  <a:srgbClr val="805400"/>
                </a:solidFill>
                <a:latin typeface="Consolas"/>
                <a:ea typeface="Consolas"/>
                <a:cs typeface="Consolas"/>
              </a:rPr>
              <a:t>EVAL-01</a:t>
            </a:r>
          </a:p>
        </p:txBody>
      </p:sp>
      <p:sp>
        <p:nvSpPr>
          <p:cNvPr id="15" name="버그 수정">
            <a:extLst xmlns:a="http://schemas.openxmlformats.org/drawingml/2006/main">
              <a:ext uri="{FF2B5EF4-FFF2-40B4-BE49-F238E27FC236}">
                <a16:creationId xmlns:a16="http://schemas.microsoft.com/office/drawing/2014/main" id="{F6F14704-A6A9-438F-9FDB-2008EE66B5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3352800"/>
            <a:ext cx="1600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버그 수정</a:t>
            </a:r>
          </a:p>
        </p:txBody>
      </p:sp>
      <p:sp>
        <p:nvSpPr>
          <p:cNvPr id="16" name="동작 계약을 확인하는가?">
            <a:extLst xmlns:a="http://schemas.openxmlformats.org/drawingml/2006/main">
              <a:ext uri="{FF2B5EF4-FFF2-40B4-BE49-F238E27FC236}">
                <a16:creationId xmlns:a16="http://schemas.microsoft.com/office/drawing/2014/main" id="{C4D1495B-1E2F-4F6A-AB65-D9AFC70DC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3352800"/>
            <a:ext cx="4895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동작 계약을 확인하는가?</a:t>
            </a:r>
          </a:p>
        </p:txBody>
      </p:sp>
      <p:sp>
        <p:nvSpPr>
          <p:cNvPr id="17" name="과거 관찰 참고">
            <a:extLst xmlns:a="http://schemas.openxmlformats.org/drawingml/2006/main">
              <a:ext uri="{FF2B5EF4-FFF2-40B4-BE49-F238E27FC236}">
                <a16:creationId xmlns:a16="http://schemas.microsoft.com/office/drawing/2014/main" id="{BF6FCEE9-6EE8-4220-81C9-100C0F1D5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333750"/>
            <a:ext cx="27241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과거 관찰 참고</a:t>
            </a:r>
          </a:p>
        </p:txBody>
      </p:sp>
      <p:sp>
        <p:nvSpPr>
          <p:cNvPr id="18" name="TRIAL-002">
            <a:extLst xmlns:a="http://schemas.openxmlformats.org/drawingml/2006/main">
              <a:ext uri="{FF2B5EF4-FFF2-40B4-BE49-F238E27FC236}">
                <a16:creationId xmlns:a16="http://schemas.microsoft.com/office/drawing/2014/main" id="{552861DB-BDAF-4A0B-B70A-AB2AFC3CC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581400"/>
            <a:ext cx="27241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TRIAL-002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1808E88-CD60-469A-B4E9-066BC0D523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862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805400"/>
            </a:solidFill>
            <a:prstDash val="dash"/>
          </a:ln>
        </p:spPr>
      </p:sp>
      <p:sp>
        <p:nvSpPr>
          <p:cNvPr id="20" name="EVAL-02">
            <a:extLst xmlns:a="http://schemas.openxmlformats.org/drawingml/2006/main">
              <a:ext uri="{FF2B5EF4-FFF2-40B4-BE49-F238E27FC236}">
                <a16:creationId xmlns:a16="http://schemas.microsoft.com/office/drawing/2014/main" id="{BA272632-A574-45E5-AF4A-33502D596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52875"/>
            <a:ext cx="12096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7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57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57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57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57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57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57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57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57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57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57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pPr>
            <a:r>
              <a:rPr sz="1575" b="1">
                <a:solidFill>
                  <a:srgbClr val="805400"/>
                </a:solidFill>
                <a:latin typeface="Consolas"/>
                <a:ea typeface="Consolas"/>
                <a:cs typeface="Consolas"/>
              </a:rPr>
              <a:t>EVAL-02</a:t>
            </a:r>
          </a:p>
        </p:txBody>
      </p:sp>
      <p:sp>
        <p:nvSpPr>
          <p:cNvPr id="21" name="성능 변경">
            <a:extLst xmlns:a="http://schemas.openxmlformats.org/drawingml/2006/main">
              <a:ext uri="{FF2B5EF4-FFF2-40B4-BE49-F238E27FC236}">
                <a16:creationId xmlns:a16="http://schemas.microsoft.com/office/drawing/2014/main" id="{837CB65A-6EC7-4172-9243-73B77BE840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3943350"/>
            <a:ext cx="1600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성능 변경</a:t>
            </a:r>
          </a:p>
        </p:txBody>
      </p:sp>
      <p:sp>
        <p:nvSpPr>
          <p:cNvPr id="22" name="측정·검증 범위를 유지하는가?">
            <a:extLst xmlns:a="http://schemas.openxmlformats.org/drawingml/2006/main">
              <a:ext uri="{FF2B5EF4-FFF2-40B4-BE49-F238E27FC236}">
                <a16:creationId xmlns:a16="http://schemas.microsoft.com/office/drawing/2014/main" id="{F306154B-50F7-42D9-8257-B26BF404E1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3943350"/>
            <a:ext cx="4895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측정·검증 범위를 유지하는가?</a:t>
            </a:r>
          </a:p>
        </p:txBody>
      </p:sp>
      <p:sp>
        <p:nvSpPr>
          <p:cNvPr id="23" name="과거 관찰 참고">
            <a:extLst xmlns:a="http://schemas.openxmlformats.org/drawingml/2006/main">
              <a:ext uri="{FF2B5EF4-FFF2-40B4-BE49-F238E27FC236}">
                <a16:creationId xmlns:a16="http://schemas.microsoft.com/office/drawing/2014/main" id="{78533974-A3E7-47E4-8B84-69E053A42D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924300"/>
            <a:ext cx="27241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과거 관찰 참고</a:t>
            </a:r>
          </a:p>
        </p:txBody>
      </p:sp>
      <p:sp>
        <p:nvSpPr>
          <p:cNvPr id="24" name="STATE-04-PERF">
            <a:extLst xmlns:a="http://schemas.openxmlformats.org/drawingml/2006/main">
              <a:ext uri="{FF2B5EF4-FFF2-40B4-BE49-F238E27FC236}">
                <a16:creationId xmlns:a16="http://schemas.microsoft.com/office/drawing/2014/main" id="{9C3AEAE2-73B0-4BE2-9663-C3E1ADE708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4171950"/>
            <a:ext cx="27241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STATE-04-PERF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EE13E48-10C1-4F07-BC29-E62C0FD27E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76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805400"/>
            </a:solidFill>
            <a:prstDash val="dash"/>
          </a:ln>
        </p:spPr>
      </p:sp>
      <p:sp>
        <p:nvSpPr>
          <p:cNvPr id="26" name="EVAL-03">
            <a:extLst xmlns:a="http://schemas.openxmlformats.org/drawingml/2006/main">
              <a:ext uri="{FF2B5EF4-FFF2-40B4-BE49-F238E27FC236}">
                <a16:creationId xmlns:a16="http://schemas.microsoft.com/office/drawing/2014/main" id="{1501F2A5-A909-4E6E-BE60-BD6E27EF0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43425"/>
            <a:ext cx="12096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7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57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57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57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57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57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57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57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57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57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57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pPr>
            <a:r>
              <a:rPr sz="1575" b="1">
                <a:solidFill>
                  <a:srgbClr val="805400"/>
                </a:solidFill>
                <a:latin typeface="Consolas"/>
                <a:ea typeface="Consolas"/>
                <a:cs typeface="Consolas"/>
              </a:rPr>
              <a:t>EVAL-03</a:t>
            </a:r>
          </a:p>
        </p:txBody>
      </p:sp>
      <p:sp>
        <p:nvSpPr>
          <p:cNvPr id="27" name="문서만 수정">
            <a:extLst xmlns:a="http://schemas.openxmlformats.org/drawingml/2006/main">
              <a:ext uri="{FF2B5EF4-FFF2-40B4-BE49-F238E27FC236}">
                <a16:creationId xmlns:a16="http://schemas.microsoft.com/office/drawing/2014/main" id="{E108BA16-C9DB-4B9F-8DBE-9F530E908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4533900"/>
            <a:ext cx="1600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문서만 수정</a:t>
            </a:r>
          </a:p>
        </p:txBody>
      </p:sp>
      <p:sp>
        <p:nvSpPr>
          <p:cNvPr id="28" name="불필요한 절차를 강요하지 않는가?">
            <a:extLst xmlns:a="http://schemas.openxmlformats.org/drawingml/2006/main">
              <a:ext uri="{FF2B5EF4-FFF2-40B4-BE49-F238E27FC236}">
                <a16:creationId xmlns:a16="http://schemas.microsoft.com/office/drawing/2014/main" id="{D1D11AC6-9593-440E-9BA3-BEBE025E2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4533900"/>
            <a:ext cx="4895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불필요한 절차를 강요하지 않는가?</a:t>
            </a:r>
          </a:p>
        </p:txBody>
      </p:sp>
      <p:sp>
        <p:nvSpPr>
          <p:cNvPr id="29" name="설계 사례">
            <a:extLst xmlns:a="http://schemas.openxmlformats.org/drawingml/2006/main">
              <a:ext uri="{FF2B5EF4-FFF2-40B4-BE49-F238E27FC236}">
                <a16:creationId xmlns:a16="http://schemas.microsoft.com/office/drawing/2014/main" id="{CBB4FAA2-B14E-4BE1-834B-254B9D676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4514850"/>
            <a:ext cx="27241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설계 사례</a:t>
            </a:r>
          </a:p>
        </p:txBody>
      </p:sp>
      <p:sp>
        <p:nvSpPr>
          <p:cNvPr id="30" name="새 평가 실행 없음">
            <a:extLst xmlns:a="http://schemas.openxmlformats.org/drawingml/2006/main">
              <a:ext uri="{FF2B5EF4-FFF2-40B4-BE49-F238E27FC236}">
                <a16:creationId xmlns:a16="http://schemas.microsoft.com/office/drawing/2014/main" id="{8EC32A0A-AA06-4738-B18C-2F380FB6A0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4762500"/>
            <a:ext cx="27241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새 평가 실행 없음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AF472EE-F545-4AC6-854C-F3003C24D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673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805400"/>
            </a:solidFill>
            <a:prstDash val="dash"/>
          </a:ln>
        </p:spPr>
      </p:sp>
      <p:sp>
        <p:nvSpPr>
          <p:cNvPr id="32" name="EVAL-04">
            <a:extLst xmlns:a="http://schemas.openxmlformats.org/drawingml/2006/main">
              <a:ext uri="{FF2B5EF4-FFF2-40B4-BE49-F238E27FC236}">
                <a16:creationId xmlns:a16="http://schemas.microsoft.com/office/drawing/2014/main" id="{4B878B00-46A0-4ACB-B0E7-FBFCE7DE00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33975"/>
            <a:ext cx="12096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7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57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57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57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57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57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57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57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57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57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57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pPr>
            <a:r>
              <a:rPr sz="1575" b="1">
                <a:solidFill>
                  <a:srgbClr val="805400"/>
                </a:solidFill>
                <a:latin typeface="Consolas"/>
                <a:ea typeface="Consolas"/>
                <a:cs typeface="Consolas"/>
              </a:rPr>
              <a:t>EVAL-04</a:t>
            </a:r>
          </a:p>
        </p:txBody>
      </p:sp>
      <p:sp>
        <p:nvSpPr>
          <p:cNvPr id="33" name="작은 리팩터링">
            <a:extLst xmlns:a="http://schemas.openxmlformats.org/drawingml/2006/main">
              <a:ext uri="{FF2B5EF4-FFF2-40B4-BE49-F238E27FC236}">
                <a16:creationId xmlns:a16="http://schemas.microsoft.com/office/drawing/2014/main" id="{F108DC9E-9E0F-4986-A63E-CDFD28353E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5124450"/>
            <a:ext cx="1600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작은 리팩터링</a:t>
            </a:r>
          </a:p>
        </p:txBody>
      </p:sp>
      <p:sp>
        <p:nvSpPr>
          <p:cNvPr id="34" name="다른 유효한 작업을 방해하지 않는가?">
            <a:extLst xmlns:a="http://schemas.openxmlformats.org/drawingml/2006/main">
              <a:ext uri="{FF2B5EF4-FFF2-40B4-BE49-F238E27FC236}">
                <a16:creationId xmlns:a16="http://schemas.microsoft.com/office/drawing/2014/main" id="{B09A509E-2938-4547-B032-2F65440050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5124450"/>
            <a:ext cx="4895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다른 유효한 작업을 방해하지 않는가?</a:t>
            </a:r>
          </a:p>
        </p:txBody>
      </p:sp>
      <p:sp>
        <p:nvSpPr>
          <p:cNvPr id="35" name="설계 사례">
            <a:extLst xmlns:a="http://schemas.openxmlformats.org/drawingml/2006/main">
              <a:ext uri="{FF2B5EF4-FFF2-40B4-BE49-F238E27FC236}">
                <a16:creationId xmlns:a16="http://schemas.microsoft.com/office/drawing/2014/main" id="{50CCA89F-61C2-4FD2-B5D4-358CECD35F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5105400"/>
            <a:ext cx="27241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설계 사례</a:t>
            </a:r>
          </a:p>
        </p:txBody>
      </p:sp>
      <p:sp>
        <p:nvSpPr>
          <p:cNvPr id="36" name="새 평가 실행 없음">
            <a:extLst xmlns:a="http://schemas.openxmlformats.org/drawingml/2006/main">
              <a:ext uri="{FF2B5EF4-FFF2-40B4-BE49-F238E27FC236}">
                <a16:creationId xmlns:a16="http://schemas.microsoft.com/office/drawing/2014/main" id="{66C7FD79-C16A-4BEE-B6FD-55DF868B2A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5353050"/>
            <a:ext cx="27241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새 평가 실행 없음</a:t>
            </a:r>
          </a:p>
        </p:txBody>
      </p:sp>
      <p:sp>
        <p:nvSpPr>
          <p:cNvPr id="37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469E7F06-1666-4C08-8CFF-D6F6845996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M6</a:t>
            </a:r>
          </a:p>
        </p:txBody>
      </p:sp>
    </p:spTree>
    <p:extLst>
      <p:ext uri="{BB962C8B-B14F-4D97-AF65-F5344CB8AC3E}">
        <p14:creationId xmlns:p14="http://schemas.microsoft.com/office/powerpoint/2010/main" val="2004842842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ACT 4 · CONCEPTUAL / 규칙 유지보수">
            <a:extLst xmlns:a="http://schemas.openxmlformats.org/drawingml/2006/main">
              <a:ext uri="{FF2B5EF4-FFF2-40B4-BE49-F238E27FC236}">
                <a16:creationId xmlns:a16="http://schemas.microsoft.com/office/drawing/2014/main" id="{89730B0F-06C0-43BC-BD39-139F8FCA0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4 · CONCEPTUAL / 규칙 유지보수</a:t>
            </a:r>
          </a:p>
        </p:txBody>
      </p:sp>
      <p:sp>
        <p:nvSpPr>
          <p:cNvPr id="2" name="S65">
            <a:extLst xmlns:a="http://schemas.openxmlformats.org/drawingml/2006/main">
              <a:ext uri="{FF2B5EF4-FFF2-40B4-BE49-F238E27FC236}">
                <a16:creationId xmlns:a16="http://schemas.microsoft.com/office/drawing/2014/main" id="{4565B6BE-CEAF-4371-82D5-C68EC98E2F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S65</a:t>
            </a:r>
          </a:p>
        </p:txBody>
      </p:sp>
      <p:sp>
        <p:nvSpPr>
          <p:cNvPr id="3" name="Harness도 특정 실패에 맞춰&#10;과적합될 수 있다">
            <a:extLst xmlns:a="http://schemas.openxmlformats.org/drawingml/2006/main">
              <a:ext uri="{FF2B5EF4-FFF2-40B4-BE49-F238E27FC236}">
                <a16:creationId xmlns:a16="http://schemas.microsoft.com/office/drawing/2014/main" id="{6CCD0541-E2D4-4D56-9E7F-848B5786D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Harness도 특정 실패에 맞춰</a:t>
            </a:r>
          </a:p>
          <a:p xmlns:a="http://schemas.openxmlformats.org/drawingml/2006/main">
            <a: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과적합될 수 있다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4D3CC84-D4D9-4432-9109-D175AAA07F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805400"/>
            </a:solidFill>
            <a:prstDash val="dash"/>
          </a:ln>
        </p:spPr>
      </p:sp>
      <p:sp>
        <p:nvSpPr>
          <p:cNvPr id="5" name="DEMO-04A · 과적합은 이 교육의 비유">
            <a:extLst xmlns:a="http://schemas.openxmlformats.org/drawingml/2006/main">
              <a:ext uri="{FF2B5EF4-FFF2-40B4-BE49-F238E27FC236}">
                <a16:creationId xmlns:a16="http://schemas.microsoft.com/office/drawing/2014/main" id="{57862012-C191-4C12-A6B1-7B46500EFA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DEMO-04A · 과적합은 이 교육의 비유</a:t>
            </a:r>
          </a:p>
        </p:txBody>
      </p:sp>
      <p:sp>
        <p:nvSpPr>
          <p:cNvPr id="6" name="Machine Learning의 통계적 과적합과 같은 현상이라는 주장이 아니다.">
            <a:extLst xmlns:a="http://schemas.openxmlformats.org/drawingml/2006/main">
              <a:ext uri="{FF2B5EF4-FFF2-40B4-BE49-F238E27FC236}">
                <a16:creationId xmlns:a16="http://schemas.microsoft.com/office/drawing/2014/main" id="{9304CECE-D419-4DD4-8196-21B2BF5494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Machine Learning의 통계적 과적합과 같은 현상이라는 주장이 아니다.</a:t>
            </a:r>
          </a:p>
        </p:txBody>
      </p:sp>
      <p:sp>
        <p:nvSpPr>
          <p:cNvPr id="7" name="실패할 때마다 규칙을 하나씩 더하면">
            <a:extLst xmlns:a="http://schemas.openxmlformats.org/drawingml/2006/main">
              <a:ext uri="{FF2B5EF4-FFF2-40B4-BE49-F238E27FC236}">
                <a16:creationId xmlns:a16="http://schemas.microsoft.com/office/drawing/2014/main" id="{B5957163-860E-4FC0-8FF1-FD1C7770BB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71700"/>
            <a:ext cx="109728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실패할 때마다 규칙을 하나씩 더하면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37C0759-798E-4D87-95AE-980E97A84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43250"/>
            <a:ext cx="3333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805400"/>
            </a:solidFill>
            <a:prstDash val="dash"/>
          </a:ln>
        </p:spPr>
      </p:sp>
      <p:sp>
        <p:nvSpPr>
          <p:cNvPr id="9" name="규칙 누적">
            <a:extLst xmlns:a="http://schemas.openxmlformats.org/drawingml/2006/main">
              <a:ext uri="{FF2B5EF4-FFF2-40B4-BE49-F238E27FC236}">
                <a16:creationId xmlns:a16="http://schemas.microsoft.com/office/drawing/2014/main" id="{463A246A-9D14-4ABB-A73B-68A3514766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0"/>
            <a:ext cx="3333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규칙 누적</a:t>
            </a:r>
          </a:p>
        </p:txBody>
      </p:sp>
      <p:sp>
        <p:nvSpPr>
          <p:cNvPr id="10" name="읽고 유지할 내용이 커짐">
            <a:extLst xmlns:a="http://schemas.openxmlformats.org/drawingml/2006/main">
              <a:ext uri="{FF2B5EF4-FFF2-40B4-BE49-F238E27FC236}">
                <a16:creationId xmlns:a16="http://schemas.microsoft.com/office/drawing/2014/main" id="{82566BAF-4BE2-485E-9A5F-8983A632B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48125"/>
            <a:ext cx="33337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읽고 유지할 내용이 커짐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8596EA5-E2B8-44A5-8367-7A4A5A8A9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3143250"/>
            <a:ext cx="3333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805400"/>
            </a:solidFill>
            <a:prstDash val="dash"/>
          </a:ln>
        </p:spPr>
      </p:sp>
      <p:sp>
        <p:nvSpPr>
          <p:cNvPr id="12" name="규칙 충돌">
            <a:extLst xmlns:a="http://schemas.openxmlformats.org/drawingml/2006/main">
              <a:ext uri="{FF2B5EF4-FFF2-40B4-BE49-F238E27FC236}">
                <a16:creationId xmlns:a16="http://schemas.microsoft.com/office/drawing/2014/main" id="{27AF2933-251C-42B1-B1EB-0A2C28FF6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3333750"/>
            <a:ext cx="3333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규칙 충돌</a:t>
            </a:r>
          </a:p>
        </p:txBody>
      </p:sp>
      <p:sp>
        <p:nvSpPr>
          <p:cNvPr id="13" name="서로 다른 지시가 섞임">
            <a:extLst xmlns:a="http://schemas.openxmlformats.org/drawingml/2006/main">
              <a:ext uri="{FF2B5EF4-FFF2-40B4-BE49-F238E27FC236}">
                <a16:creationId xmlns:a16="http://schemas.microsoft.com/office/drawing/2014/main" id="{7C81F5DB-BB4D-4E9B-AD11-FBD599EE72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4048125"/>
            <a:ext cx="33337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서로 다른 지시가 섞임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D13299E-3DC6-4536-B16B-016411470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3143250"/>
            <a:ext cx="3333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805400"/>
            </a:solidFill>
            <a:prstDash val="dash"/>
          </a:ln>
        </p:spPr>
      </p:sp>
      <p:sp>
        <p:nvSpPr>
          <p:cNvPr id="15" name="특정 작업에만 맞춤">
            <a:extLst xmlns:a="http://schemas.openxmlformats.org/drawingml/2006/main">
              <a:ext uri="{FF2B5EF4-FFF2-40B4-BE49-F238E27FC236}">
                <a16:creationId xmlns:a16="http://schemas.microsoft.com/office/drawing/2014/main" id="{E2F7EF5E-F26F-4689-A851-7D76CA840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3333750"/>
            <a:ext cx="3333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특정 작업에만 맞춤</a:t>
            </a:r>
          </a:p>
        </p:txBody>
      </p:sp>
      <p:sp>
        <p:nvSpPr>
          <p:cNvPr id="16" name="다른 작업에서 적합성 미확인">
            <a:extLst xmlns:a="http://schemas.openxmlformats.org/drawingml/2006/main">
              <a:ext uri="{FF2B5EF4-FFF2-40B4-BE49-F238E27FC236}">
                <a16:creationId xmlns:a16="http://schemas.microsoft.com/office/drawing/2014/main" id="{ACE5EAD2-BFD8-4606-9847-87A33DF2FC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4048125"/>
            <a:ext cx="33337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다른 작업에서 적합성 미확인</a:t>
            </a:r>
          </a:p>
        </p:txBody>
      </p:sp>
      <p:sp>
        <p:nvSpPr>
          <p:cNvPr id="17" name="원인을 확인하고, 대표 작업으로 평가하고, 불필요한 규칙을 정리한다.">
            <a:extLst xmlns:a="http://schemas.openxmlformats.org/drawingml/2006/main">
              <a:ext uri="{FF2B5EF4-FFF2-40B4-BE49-F238E27FC236}">
                <a16:creationId xmlns:a16="http://schemas.microsoft.com/office/drawing/2014/main" id="{1ADED6EC-1694-43BD-8922-8055CB089B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19700"/>
            <a:ext cx="10972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원인을 확인하고, 대표 작업으로 평가하고, 불필요한 규칙을 정리한다.</a:t>
            </a:r>
          </a:p>
        </p:txBody>
      </p:sp>
      <p:sp>
        <p:nvSpPr>
          <p:cNvPr id="18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DFDE49CD-F179-43F9-B3AA-B71D185ED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신규 확장</a:t>
            </a:r>
          </a:p>
        </p:txBody>
      </p:sp>
    </p:spTree>
    <p:extLst>
      <p:ext uri="{BB962C8B-B14F-4D97-AF65-F5344CB8AC3E}">
        <p14:creationId xmlns:p14="http://schemas.microsoft.com/office/powerpoint/2010/main" val="524073546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4" name="ACT 4 · 이 교육의 Loop 모델">
            <a:extLst xmlns:a="http://schemas.openxmlformats.org/drawingml/2006/main">
              <a:ext uri="{FF2B5EF4-FFF2-40B4-BE49-F238E27FC236}">
                <a16:creationId xmlns:a16="http://schemas.microsoft.com/office/drawing/2014/main" id="{374A4208-8362-4F50-959C-9B4E5A85B3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4 · 이 교육의 Loop 모델</a:t>
            </a:r>
          </a:p>
        </p:txBody>
      </p:sp>
      <p:sp>
        <p:nvSpPr>
          <p:cNvPr id="2" name="S66">
            <a:extLst xmlns:a="http://schemas.openxmlformats.org/drawingml/2006/main">
              <a:ext uri="{FF2B5EF4-FFF2-40B4-BE49-F238E27FC236}">
                <a16:creationId xmlns:a16="http://schemas.microsoft.com/office/drawing/2014/main" id="{0476B242-4E19-4944-A1D5-E841565438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S66</a:t>
            </a:r>
          </a:p>
        </p:txBody>
      </p:sp>
      <p:sp>
        <p:nvSpPr>
          <p:cNvPr id="3" name="Feedback을 System Change와&#10;Evaluation으로 잇기">
            <a:extLst xmlns:a="http://schemas.openxmlformats.org/drawingml/2006/main">
              <a:ext uri="{FF2B5EF4-FFF2-40B4-BE49-F238E27FC236}">
                <a16:creationId xmlns:a16="http://schemas.microsoft.com/office/drawing/2014/main" id="{F5DB8F5C-0EDF-4D0B-8FD0-849E8B3441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Feedback을 System Change와</a:t>
            </a:r>
          </a:p>
          <a:p xmlns:a="http://schemas.openxmlformats.org/drawingml/2006/main">
            <a: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Evaluation으로 잇기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42EF214-EB9F-4618-87AD-5AE587CDA7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DEC-0023 · 교육용 운영 모델">
            <a:extLst xmlns:a="http://schemas.openxmlformats.org/drawingml/2006/main">
              <a:ext uri="{FF2B5EF4-FFF2-40B4-BE49-F238E27FC236}">
                <a16:creationId xmlns:a16="http://schemas.microsoft.com/office/drawing/2014/main" id="{B2E7C7E2-A106-4B6A-8143-65B44D189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DEC-0023 · 교육용 운영 모델</a:t>
            </a:r>
          </a:p>
        </p:txBody>
      </p:sp>
      <p:sp>
        <p:nvSpPr>
          <p:cNvPr id="6" name="모델의 자동 학습이나 실제 Product Loop를 관찰했다는 뜻은 아니다.">
            <a:extLst xmlns:a="http://schemas.openxmlformats.org/drawingml/2006/main">
              <a:ext uri="{FF2B5EF4-FFF2-40B4-BE49-F238E27FC236}">
                <a16:creationId xmlns:a16="http://schemas.microsoft.com/office/drawing/2014/main" id="{8A84EDFA-DAD1-49B3-92AC-E9AAABD8B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모델의 자동 학습이나 실제 Product Loop를 관찰했다는 뜻은 아니다.</a:t>
            </a:r>
          </a:p>
        </p:txBody>
      </p:sp>
      <p:sp>
        <p:nvSpPr>
          <p:cNvPr id="7" name="앞선 가상 사례의 판단을 다섯 단계로 묶으면">
            <a:extLst xmlns:a="http://schemas.openxmlformats.org/drawingml/2006/main">
              <a:ext uri="{FF2B5EF4-FFF2-40B4-BE49-F238E27FC236}">
                <a16:creationId xmlns:a16="http://schemas.microsoft.com/office/drawing/2014/main" id="{AF4EB6C9-763E-4463-B8B1-8B9641E48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47875"/>
            <a:ext cx="10972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앞선 가상 사례의 판단을 다섯 단계로 묶으면</a:t>
            </a:r>
          </a:p>
        </p:txBody>
      </p:sp>
      <p:sp>
        <p:nvSpPr>
          <p:cNvPr id="8" name="01">
            <a:extLst xmlns:a="http://schemas.openxmlformats.org/drawingml/2006/main">
              <a:ext uri="{FF2B5EF4-FFF2-40B4-BE49-F238E27FC236}">
                <a16:creationId xmlns:a16="http://schemas.microsoft.com/office/drawing/2014/main" id="{370FCECB-0EE9-46F1-A58B-ACA74AF94A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47950"/>
            <a:ext cx="1981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pPr>
            <a:r>
              <a:rPr sz="1575" b="1">
                <a:solidFill>
                  <a:srgbClr val="0B6172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A17F299-887F-45A5-BB21-935738C7D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38475"/>
            <a:ext cx="198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0" name="실행">
            <a:extLst xmlns:a="http://schemas.openxmlformats.org/drawingml/2006/main">
              <a:ext uri="{FF2B5EF4-FFF2-40B4-BE49-F238E27FC236}">
                <a16:creationId xmlns:a16="http://schemas.microsoft.com/office/drawing/2014/main" id="{F5157FF0-ED6A-4D2B-8AFA-8E369CD397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71825"/>
            <a:ext cx="19812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실행</a:t>
            </a:r>
          </a:p>
        </p:txBody>
      </p:sp>
      <p:sp>
        <p:nvSpPr>
          <p:cNvPr id="11" name="무엇을 했나?">
            <a:extLst xmlns:a="http://schemas.openxmlformats.org/drawingml/2006/main">
              <a:ext uri="{FF2B5EF4-FFF2-40B4-BE49-F238E27FC236}">
                <a16:creationId xmlns:a16="http://schemas.microsoft.com/office/drawing/2014/main" id="{4578E8A0-509C-481F-9FEB-8A0B92B89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57600"/>
            <a:ext cx="1981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무엇을 했나?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D66AE3A-CA15-46C2-B503-1FCB9E972F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24325"/>
            <a:ext cx="1981200" cy="1076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F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가상 Task&#10;현재 기준은&#10;단위 + 통합">
            <a:extLst xmlns:a="http://schemas.openxmlformats.org/drawingml/2006/main">
              <a:ext uri="{FF2B5EF4-FFF2-40B4-BE49-F238E27FC236}">
                <a16:creationId xmlns:a16="http://schemas.microsoft.com/office/drawing/2014/main" id="{F308251E-1882-4259-BB7A-DD93ABBC7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4181475"/>
            <a:ext cx="173355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가상 Task</a:t>
            </a:r>
          </a:p>
          <a:p xmlns:a="http://schemas.openxmlformats.org/drawingml/2006/main">
            <a: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현재 기준은</a:t>
            </a:r>
          </a:p>
          <a:p xmlns:a="http://schemas.openxmlformats.org/drawingml/2006/main">
            <a: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단위 + 통합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C66B5A6-F9F3-4982-9C78-325E66BE0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3333750"/>
            <a:ext cx="161925" cy="14287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15" name="02">
            <a:extLst xmlns:a="http://schemas.openxmlformats.org/drawingml/2006/main">
              <a:ext uri="{FF2B5EF4-FFF2-40B4-BE49-F238E27FC236}">
                <a16:creationId xmlns:a16="http://schemas.microsoft.com/office/drawing/2014/main" id="{045C20A1-4F24-47AE-B60B-D1D5AAF70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2647950"/>
            <a:ext cx="1981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pPr>
            <a:r>
              <a:rPr sz="1575" b="1">
                <a:solidFill>
                  <a:srgbClr val="0B6172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4095BEB-A89B-4ECF-A6DD-9602DBD52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3038475"/>
            <a:ext cx="198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7" name="관찰">
            <a:extLst xmlns:a="http://schemas.openxmlformats.org/drawingml/2006/main">
              <a:ext uri="{FF2B5EF4-FFF2-40B4-BE49-F238E27FC236}">
                <a16:creationId xmlns:a16="http://schemas.microsoft.com/office/drawing/2014/main" id="{3F09E91C-B380-4F2D-B10A-D8C176C59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3171825"/>
            <a:ext cx="19812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관찰</a:t>
            </a:r>
          </a:p>
        </p:txBody>
      </p:sp>
      <p:sp>
        <p:nvSpPr>
          <p:cNvPr id="18" name="무엇이 보였나?">
            <a:extLst xmlns:a="http://schemas.openxmlformats.org/drawingml/2006/main">
              <a:ext uri="{FF2B5EF4-FFF2-40B4-BE49-F238E27FC236}">
                <a16:creationId xmlns:a16="http://schemas.microsoft.com/office/drawing/2014/main" id="{F1ED2C14-F916-4D40-B069-DC35DA947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3657600"/>
            <a:ext cx="1981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무엇이 보였나?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FD36707-C91E-48BE-8FE7-9D14F6810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4124325"/>
            <a:ext cx="1981200" cy="1076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F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지침은 단위만&#10;검증 범위가 다름">
            <a:extLst xmlns:a="http://schemas.openxmlformats.org/drawingml/2006/main">
              <a:ext uri="{FF2B5EF4-FFF2-40B4-BE49-F238E27FC236}">
                <a16:creationId xmlns:a16="http://schemas.microsoft.com/office/drawing/2014/main" id="{55E86510-1C89-4229-BB05-50725E9E2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1325" y="4181475"/>
            <a:ext cx="173355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지침은 단위만</a:t>
            </a:r>
          </a:p>
          <a:p xmlns:a="http://schemas.openxmlformats.org/drawingml/2006/main">
            <a: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검증 범위가 다름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A8DCB6A-F1C7-4AD5-A80D-1D83961060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3333750"/>
            <a:ext cx="161925" cy="14287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22" name="03">
            <a:extLst xmlns:a="http://schemas.openxmlformats.org/drawingml/2006/main">
              <a:ext uri="{FF2B5EF4-FFF2-40B4-BE49-F238E27FC236}">
                <a16:creationId xmlns:a16="http://schemas.microsoft.com/office/drawing/2014/main" id="{54DFFDA9-23A5-40F3-867A-A1A7BAD57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2647950"/>
            <a:ext cx="1981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pPr>
            <a:r>
              <a:rPr sz="1575" b="1">
                <a:solidFill>
                  <a:srgbClr val="0B6172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AF7ED40-1ED6-446D-9B1F-6AB684E000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3038475"/>
            <a:ext cx="198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24" name="원인 판단">
            <a:extLst xmlns:a="http://schemas.openxmlformats.org/drawingml/2006/main">
              <a:ext uri="{FF2B5EF4-FFF2-40B4-BE49-F238E27FC236}">
                <a16:creationId xmlns:a16="http://schemas.microsoft.com/office/drawing/2014/main" id="{27D2E083-34F2-491F-99AA-4DCE8D967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3171825"/>
            <a:ext cx="19812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원인 판단</a:t>
            </a:r>
          </a:p>
        </p:txBody>
      </p:sp>
      <p:sp>
        <p:nvSpPr>
          <p:cNvPr id="25" name="왜 생겼나?">
            <a:extLst xmlns:a="http://schemas.openxmlformats.org/drawingml/2006/main">
              <a:ext uri="{FF2B5EF4-FFF2-40B4-BE49-F238E27FC236}">
                <a16:creationId xmlns:a16="http://schemas.microsoft.com/office/drawing/2014/main" id="{7B34B148-B324-4502-9D79-819D14696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3657600"/>
            <a:ext cx="1981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왜 생겼나?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D4028FC-0FE7-4746-93E1-717D0F3D9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4124325"/>
            <a:ext cx="1981200" cy="1076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F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오래된 지침이&#10;원인인지 확인">
            <a:extLst xmlns:a="http://schemas.openxmlformats.org/drawingml/2006/main">
              <a:ext uri="{FF2B5EF4-FFF2-40B4-BE49-F238E27FC236}">
                <a16:creationId xmlns:a16="http://schemas.microsoft.com/office/drawing/2014/main" id="{B15A633D-E2DE-4FBB-9B92-766EE12FE9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29225" y="4181475"/>
            <a:ext cx="173355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오래된 지침이</a:t>
            </a:r>
          </a:p>
          <a:p xmlns:a="http://schemas.openxmlformats.org/drawingml/2006/main">
            <a: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원인인지 확인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9AA8856-61B1-4EDC-B651-D9DFAD43CC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3333750"/>
            <a:ext cx="161925" cy="14287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29" name="04">
            <a:extLst xmlns:a="http://schemas.openxmlformats.org/drawingml/2006/main">
              <a:ext uri="{FF2B5EF4-FFF2-40B4-BE49-F238E27FC236}">
                <a16:creationId xmlns:a16="http://schemas.microsoft.com/office/drawing/2014/main" id="{9BEDADCE-E33D-451C-8169-081A352C7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2647950"/>
            <a:ext cx="1981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pPr>
            <a:r>
              <a:rPr sz="1575" b="1">
                <a:solidFill>
                  <a:srgbClr val="0B6172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3D4AAF7-92C8-4499-BDFB-0FB2CF90E7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3038475"/>
            <a:ext cx="198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31" name="시스템 변경">
            <a:extLst xmlns:a="http://schemas.openxmlformats.org/drawingml/2006/main">
              <a:ext uri="{FF2B5EF4-FFF2-40B4-BE49-F238E27FC236}">
                <a16:creationId xmlns:a16="http://schemas.microsoft.com/office/drawing/2014/main" id="{8CD49F3B-0834-4E24-8404-953A9033F7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3171825"/>
            <a:ext cx="19812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시스템 변경</a:t>
            </a:r>
          </a:p>
        </p:txBody>
      </p:sp>
      <p:sp>
        <p:nvSpPr>
          <p:cNvPr id="32" name="어디를 바꾸나?">
            <a:extLst xmlns:a="http://schemas.openxmlformats.org/drawingml/2006/main">
              <a:ext uri="{FF2B5EF4-FFF2-40B4-BE49-F238E27FC236}">
                <a16:creationId xmlns:a16="http://schemas.microsoft.com/office/drawing/2014/main" id="{8B35F127-798D-4ED9-823B-D68F0FD83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3657600"/>
            <a:ext cx="1981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어디를 바꾸나?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BAECD1CC-2902-4CFC-B80B-D820B55510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4124325"/>
            <a:ext cx="1981200" cy="1076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F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확인됐다면&#10;Workflow 갱신">
            <a:extLst xmlns:a="http://schemas.openxmlformats.org/drawingml/2006/main">
              <a:ext uri="{FF2B5EF4-FFF2-40B4-BE49-F238E27FC236}">
                <a16:creationId xmlns:a16="http://schemas.microsoft.com/office/drawing/2014/main" id="{BD0B6C6B-F011-43E8-9625-F520EDD4D4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7125" y="4181475"/>
            <a:ext cx="173355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확인됐다면</a:t>
            </a:r>
          </a:p>
          <a:p xmlns:a="http://schemas.openxmlformats.org/drawingml/2006/main">
            <a: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Workflow 갱신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2DEE7ADA-4B50-445D-BEBC-38403AF432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3333750"/>
            <a:ext cx="161925" cy="14287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36" name="05">
            <a:extLst xmlns:a="http://schemas.openxmlformats.org/drawingml/2006/main">
              <a:ext uri="{FF2B5EF4-FFF2-40B4-BE49-F238E27FC236}">
                <a16:creationId xmlns:a16="http://schemas.microsoft.com/office/drawing/2014/main" id="{239B0318-0416-4DF4-8D08-00FFDB8BCF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2647950"/>
            <a:ext cx="1981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pPr>
            <a:r>
              <a:rPr sz="1575" b="1">
                <a:solidFill>
                  <a:srgbClr val="0B6172"/>
                </a:solidFill>
                <a:latin typeface="Consolas"/>
                <a:ea typeface="Consolas"/>
                <a:cs typeface="Consolas"/>
              </a:rPr>
              <a:t>05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EF119E57-807F-4526-838C-609A1162B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3038475"/>
            <a:ext cx="198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38" name="재평가">
            <a:extLst xmlns:a="http://schemas.openxmlformats.org/drawingml/2006/main">
              <a:ext uri="{FF2B5EF4-FFF2-40B4-BE49-F238E27FC236}">
                <a16:creationId xmlns:a16="http://schemas.microsoft.com/office/drawing/2014/main" id="{A8C88635-34C2-4731-ACD2-02DE5703A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3171825"/>
            <a:ext cx="19812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재평가</a:t>
            </a:r>
          </a:p>
        </p:txBody>
      </p:sp>
      <p:sp>
        <p:nvSpPr>
          <p:cNvPr id="39" name="다른 작업도 괜찮나?">
            <a:extLst xmlns:a="http://schemas.openxmlformats.org/drawingml/2006/main">
              <a:ext uri="{FF2B5EF4-FFF2-40B4-BE49-F238E27FC236}">
                <a16:creationId xmlns:a16="http://schemas.microsoft.com/office/drawing/2014/main" id="{BF103A95-8BCD-4173-A058-4132B2DB2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3657600"/>
            <a:ext cx="1981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5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5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5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5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5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5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5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5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5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5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다른 작업도 괜찮나?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A8007EEA-DD47-4CDC-8F2E-2020738C98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4124325"/>
            <a:ext cx="1981200" cy="1076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F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" name="재실행 +&#10;다른 대표 작업">
            <a:extLst xmlns:a="http://schemas.openxmlformats.org/drawingml/2006/main">
              <a:ext uri="{FF2B5EF4-FFF2-40B4-BE49-F238E27FC236}">
                <a16:creationId xmlns:a16="http://schemas.microsoft.com/office/drawing/2014/main" id="{40C2A1A6-961D-40C6-8F64-A4E16D60F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25025" y="4181475"/>
            <a:ext cx="173355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재실행 +</a:t>
            </a:r>
          </a:p>
          <a:p xmlns:a="http://schemas.openxmlformats.org/drawingml/2006/main">
            <a: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다른 대표 작업</a:t>
            </a:r>
          </a:p>
        </p:txBody>
      </p:sp>
      <p:sp>
        <p:nvSpPr>
          <p:cNvPr id="42" name="다음 작업에도 영향을 주는 변경으로 연결한다.">
            <a:extLst xmlns:a="http://schemas.openxmlformats.org/drawingml/2006/main">
              <a:ext uri="{FF2B5EF4-FFF2-40B4-BE49-F238E27FC236}">
                <a16:creationId xmlns:a16="http://schemas.microsoft.com/office/drawing/2014/main" id="{102C1FCD-7F78-420A-8973-A0AD935693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43525"/>
            <a:ext cx="10972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다음 작업에도 영향을 주는 변경으로 연결한다.</a:t>
            </a:r>
          </a:p>
        </p:txBody>
      </p:sp>
      <p:sp>
        <p:nvSpPr>
          <p:cNvPr id="43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D6BB495D-3F74-4E17-9C0D-2D3227F271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M2 · M6</a:t>
            </a:r>
          </a:p>
        </p:txBody>
      </p:sp>
    </p:spTree>
    <p:extLst>
      <p:ext uri="{BB962C8B-B14F-4D97-AF65-F5344CB8AC3E}">
        <p14:creationId xmlns:p14="http://schemas.microsoft.com/office/powerpoint/2010/main" val="1459270524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ACT 4 · OBSERVED META / Trial 평가·보고 기준">
            <a:extLst xmlns:a="http://schemas.openxmlformats.org/drawingml/2006/main">
              <a:ext uri="{FF2B5EF4-FFF2-40B4-BE49-F238E27FC236}">
                <a16:creationId xmlns:a16="http://schemas.microsoft.com/office/drawing/2014/main" id="{20F8EA46-738B-41ED-803B-E9391A0E1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4 · OBSERVED META / Trial 평가·보고 기준</a:t>
            </a:r>
          </a:p>
        </p:txBody>
      </p:sp>
      <p:sp>
        <p:nvSpPr>
          <p:cNvPr id="2" name="S67">
            <a:extLst xmlns:a="http://schemas.openxmlformats.org/drawingml/2006/main">
              <a:ext uri="{FF2B5EF4-FFF2-40B4-BE49-F238E27FC236}">
                <a16:creationId xmlns:a16="http://schemas.microsoft.com/office/drawing/2014/main" id="{B5179008-6BCF-42B8-9503-9D6F2A50AA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S67</a:t>
            </a:r>
          </a:p>
        </p:txBody>
      </p:sp>
      <p:sp>
        <p:nvSpPr>
          <p:cNvPr id="3" name="실제 제작 기록: TRIAL-006">
            <a:extLst xmlns:a="http://schemas.openxmlformats.org/drawingml/2006/main">
              <a:ext uri="{FF2B5EF4-FFF2-40B4-BE49-F238E27FC236}">
                <a16:creationId xmlns:a16="http://schemas.microsoft.com/office/drawing/2014/main" id="{240936B3-D8A0-4246-967A-3F1C1A6620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실제 제작 기록: TRIAL-006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46DE681-80C8-41B7-B517-C692CBE7C3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B6172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8F07479-6EFD-41F8-897A-AF1471F39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959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6172"/>
            </a:solidFill>
            <a:prstDash val="solid"/>
          </a:ln>
        </p:spPr>
      </p:sp>
      <p:sp>
        <p:nvSpPr>
          <p:cNvPr id="6" name="TRIAL-006 · 과거 Codex CLI 조사 기록의 재구성">
            <a:extLst xmlns:a="http://schemas.openxmlformats.org/drawingml/2006/main">
              <a:ext uri="{FF2B5EF4-FFF2-40B4-BE49-F238E27FC236}">
                <a16:creationId xmlns:a16="http://schemas.microsoft.com/office/drawing/2014/main" id="{50320EA1-6433-47B5-B40C-133579D8A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TRIAL-006 · 과거 Codex CLI 조사 기록의 재구성</a:t>
            </a:r>
          </a:p>
        </p:txBody>
      </p:sp>
      <p:sp>
        <p:nvSpPr>
          <p:cNvPr id="7" name="앞의 가상 Workflow와 별개 사건이다. 제품 코드·Demo Skill의 수정 사례가 아니다.">
            <a:extLst xmlns:a="http://schemas.openxmlformats.org/drawingml/2006/main">
              <a:ext uri="{FF2B5EF4-FFF2-40B4-BE49-F238E27FC236}">
                <a16:creationId xmlns:a16="http://schemas.microsoft.com/office/drawing/2014/main" id="{EEF10D62-E057-46F1-A7C4-13A951B986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앞의 가상 Workflow와 별개 사건이다. 제품 코드·Demo Skill의 수정 사례가 아니다.</a:t>
            </a:r>
          </a:p>
        </p:txBody>
      </p:sp>
      <p:sp>
        <p:nvSpPr>
          <p:cNvPr id="8" name="성능 조사에 Prompt 밖의 환경도 함께 관여했다.">
            <a:extLst xmlns:a="http://schemas.openxmlformats.org/drawingml/2006/main">
              <a:ext uri="{FF2B5EF4-FFF2-40B4-BE49-F238E27FC236}">
                <a16:creationId xmlns:a16="http://schemas.microsoft.com/office/drawing/2014/main" id="{FB9366F1-574D-433F-885B-9DAA476A5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47875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성능 조사에 Prompt 밖의 환경도 함께 관여했다.</a:t>
            </a:r>
          </a:p>
        </p:txBody>
      </p:sp>
      <p:sp>
        <p:nvSpPr>
          <p:cNvPr id="9" name="01">
            <a:extLst xmlns:a="http://schemas.openxmlformats.org/drawingml/2006/main">
              <a:ext uri="{FF2B5EF4-FFF2-40B4-BE49-F238E27FC236}">
                <a16:creationId xmlns:a16="http://schemas.microsoft.com/office/drawing/2014/main" id="{2431A3C3-E438-4FDA-AF7C-D62ECF22F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76550"/>
            <a:ext cx="3333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pPr>
            <a:r>
              <a:rPr sz="1575" b="1">
                <a:solidFill>
                  <a:srgbClr val="4D5A68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10" name="작업 요청">
            <a:extLst xmlns:a="http://schemas.openxmlformats.org/drawingml/2006/main">
              <a:ext uri="{FF2B5EF4-FFF2-40B4-BE49-F238E27FC236}">
                <a16:creationId xmlns:a16="http://schemas.microsoft.com/office/drawing/2014/main" id="{C88F28CE-C189-4CAF-9D39-0583E13549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67075"/>
            <a:ext cx="3333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작업 요청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E2248A4-691C-4AD7-97D8-4DBF9D902A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9525"/>
            <a:ext cx="3333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2" name="성능 개선 작업">
            <a:extLst xmlns:a="http://schemas.openxmlformats.org/drawingml/2006/main">
              <a:ext uri="{FF2B5EF4-FFF2-40B4-BE49-F238E27FC236}">
                <a16:creationId xmlns:a16="http://schemas.microsoft.com/office/drawing/2014/main" id="{20FDB308-A0B9-4080-A877-DD3C58AB3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10025"/>
            <a:ext cx="333375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성능 개선 작업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C6F8301-F41C-4345-87DD-4BCCEF05D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9550" y="3486150"/>
            <a:ext cx="257175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14" name="02">
            <a:extLst xmlns:a="http://schemas.openxmlformats.org/drawingml/2006/main">
              <a:ext uri="{FF2B5EF4-FFF2-40B4-BE49-F238E27FC236}">
                <a16:creationId xmlns:a16="http://schemas.microsoft.com/office/drawing/2014/main" id="{DBE9D91C-A4E5-47FF-9C42-B61A93E808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2876550"/>
            <a:ext cx="3333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pPr>
            <a:r>
              <a:rPr sz="1575" b="1">
                <a:solidFill>
                  <a:srgbClr val="4D5A68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5" name="함께 관찰된 조건">
            <a:extLst xmlns:a="http://schemas.openxmlformats.org/drawingml/2006/main">
              <a:ext uri="{FF2B5EF4-FFF2-40B4-BE49-F238E27FC236}">
                <a16:creationId xmlns:a16="http://schemas.microsoft.com/office/drawing/2014/main" id="{5C34E52D-F640-424A-A605-55247D2A85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3267075"/>
            <a:ext cx="3333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함께 관찰된 조건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856DB07-5EC9-4935-83CD-732D765F9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3819525"/>
            <a:ext cx="3333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7" name="Global Skill 관여&#10;시작 경고도 기록">
            <a:extLst xmlns:a="http://schemas.openxmlformats.org/drawingml/2006/main">
              <a:ext uri="{FF2B5EF4-FFF2-40B4-BE49-F238E27FC236}">
                <a16:creationId xmlns:a16="http://schemas.microsoft.com/office/drawing/2014/main" id="{B009B7C0-8FD6-4733-A582-BBC49A1378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4010025"/>
            <a:ext cx="333375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Global Skill 관여</a:t>
            </a:r>
          </a:p>
          <a:p xmlns:a="http://schemas.openxmlformats.org/drawingml/2006/main">
            <a: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시작 경고도 기록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1A6CE5C-F81F-4A79-815F-E6349EFC1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3486150"/>
            <a:ext cx="257175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19" name="03">
            <a:extLst xmlns:a="http://schemas.openxmlformats.org/drawingml/2006/main">
              <a:ext uri="{FF2B5EF4-FFF2-40B4-BE49-F238E27FC236}">
                <a16:creationId xmlns:a16="http://schemas.microsoft.com/office/drawing/2014/main" id="{0EB88BB3-8594-4A1E-9E15-E85D50D395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876550"/>
            <a:ext cx="3333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pPr>
            <a:r>
              <a:rPr sz="1575" b="1">
                <a:solidFill>
                  <a:srgbClr val="4D5A68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20" name="결과 해석의 질문">
            <a:extLst xmlns:a="http://schemas.openxmlformats.org/drawingml/2006/main">
              <a:ext uri="{FF2B5EF4-FFF2-40B4-BE49-F238E27FC236}">
                <a16:creationId xmlns:a16="http://schemas.microsoft.com/office/drawing/2014/main" id="{E2471341-058C-47FE-9D6F-4AAC22B6FE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267075"/>
            <a:ext cx="3333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결과 해석의 질문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AF2E65E-A3B7-48AF-8F2D-29134A79F9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819525"/>
            <a:ext cx="3333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22" name="Prompt만의 효과?&#10;귀속은 PARTIAL">
            <a:extLst xmlns:a="http://schemas.openxmlformats.org/drawingml/2006/main">
              <a:ext uri="{FF2B5EF4-FFF2-40B4-BE49-F238E27FC236}">
                <a16:creationId xmlns:a16="http://schemas.microsoft.com/office/drawing/2014/main" id="{4903AF9D-6197-48F3-ADC7-0774C04C48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4010025"/>
            <a:ext cx="333375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Prompt만의 효과?</a:t>
            </a:r>
          </a:p>
          <a:p xmlns:a="http://schemas.openxmlformats.org/drawingml/2006/main">
            <a: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귀속은 PARTIAL</a:t>
            </a:r>
          </a:p>
        </p:txBody>
      </p:sp>
      <p:sp>
        <p:nvSpPr>
          <p:cNvPr id="23" name="좋은 결과가 있다는 것과 원인을 안다는 것은 별개다.">
            <a:extLst xmlns:a="http://schemas.openxmlformats.org/drawingml/2006/main">
              <a:ext uri="{FF2B5EF4-FFF2-40B4-BE49-F238E27FC236}">
                <a16:creationId xmlns:a16="http://schemas.microsoft.com/office/drawing/2014/main" id="{E4BD765E-0A03-4E1F-BC8A-0FD8E354DB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76850"/>
            <a:ext cx="10972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좋은 결과가 있다는 것과 원인을 안다는 것은 별개다.</a:t>
            </a:r>
          </a:p>
        </p:txBody>
      </p:sp>
      <p:sp>
        <p:nvSpPr>
          <p:cNvPr id="24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DB5D8F14-0D26-4295-97ED-533608217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M6</a:t>
            </a:r>
          </a:p>
        </p:txBody>
      </p:sp>
    </p:spTree>
    <p:extLst>
      <p:ext uri="{BB962C8B-B14F-4D97-AF65-F5344CB8AC3E}">
        <p14:creationId xmlns:p14="http://schemas.microsoft.com/office/powerpoint/2010/main" val="1577980206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ACT 4 · OBSERVED META / 두 가지 검증 질문">
            <a:extLst xmlns:a="http://schemas.openxmlformats.org/drawingml/2006/main">
              <a:ext uri="{FF2B5EF4-FFF2-40B4-BE49-F238E27FC236}">
                <a16:creationId xmlns:a16="http://schemas.microsoft.com/office/drawing/2014/main" id="{33583BA9-0133-4FD0-BE06-82BA0772C6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4 · OBSERVED META / 두 가지 검증 질문</a:t>
            </a:r>
          </a:p>
        </p:txBody>
      </p:sp>
      <p:sp>
        <p:nvSpPr>
          <p:cNvPr id="2" name="S68">
            <a:extLst xmlns:a="http://schemas.openxmlformats.org/drawingml/2006/main">
              <a:ext uri="{FF2B5EF4-FFF2-40B4-BE49-F238E27FC236}">
                <a16:creationId xmlns:a16="http://schemas.microsoft.com/office/drawing/2014/main" id="{0B6CD4C9-5EB7-4F1B-B25E-C738A38ED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S68</a:t>
            </a:r>
          </a:p>
        </p:txBody>
      </p:sp>
      <p:sp>
        <p:nvSpPr>
          <p:cNvPr id="3" name="결과의 타당성과 원인 귀속은 별개다">
            <a:extLst xmlns:a="http://schemas.openxmlformats.org/drawingml/2006/main">
              <a:ext uri="{FF2B5EF4-FFF2-40B4-BE49-F238E27FC236}">
                <a16:creationId xmlns:a16="http://schemas.microsoft.com/office/drawing/2014/main" id="{F5EA31CA-D0B7-4159-A2AF-C061C6A8E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결과의 타당성과 원인 귀속은 별개다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803B92C-897F-45F5-8E62-437E27701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B6172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71DF0B8-F66B-4B85-B975-82C3B5D3C2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959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6172"/>
            </a:solidFill>
            <a:prstDash val="solid"/>
          </a:ln>
        </p:spPr>
      </p:sp>
      <p:sp>
        <p:nvSpPr>
          <p:cNvPr id="6" name="TRIAL-006 · resize_nearest · 7 one-call samples · 기록 재구성">
            <a:extLst xmlns:a="http://schemas.openxmlformats.org/drawingml/2006/main">
              <a:ext uri="{FF2B5EF4-FFF2-40B4-BE49-F238E27FC236}">
                <a16:creationId xmlns:a16="http://schemas.microsoft.com/office/drawing/2014/main" id="{1C0716A8-FEAF-4A67-A73C-D1F57B1FF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TRIAL-006 · resize_nearest · 7 one-call samples · 기록 재구성</a:t>
            </a:r>
          </a:p>
        </p:txBody>
      </p:sp>
      <p:sp>
        <p:nvSpPr>
          <p:cNvPr id="7" name="기록된 합성 입력·CPython 3.9.6·macOS arm64의 결과. 현재 Desktop 또는 일반 효과">
            <a:extLst xmlns:a="http://schemas.openxmlformats.org/drawingml/2006/main">
              <a:ext uri="{FF2B5EF4-FFF2-40B4-BE49-F238E27FC236}">
                <a16:creationId xmlns:a16="http://schemas.microsoft.com/office/drawing/2014/main" id="{B5D24690-22E1-47B7-8AD4-0C70FD0F9C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기록된 합성 입력·CPython 3.9.6·macOS arm64의 결과. 현재 Desktop 또는 일반 효과가 아니다.</a:t>
            </a:r>
          </a:p>
        </p:txBody>
      </p:sp>
      <p:sp>
        <p:nvSpPr>
          <p:cNvPr id="8" name="01">
            <a:extLst xmlns:a="http://schemas.openxmlformats.org/drawingml/2006/main">
              <a:ext uri="{FF2B5EF4-FFF2-40B4-BE49-F238E27FC236}">
                <a16:creationId xmlns:a16="http://schemas.microsoft.com/office/drawing/2014/main" id="{6C912CB6-CE3E-4B02-AD56-8EA884EBC2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47875"/>
            <a:ext cx="4876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pPr>
            <a:r>
              <a:rPr sz="1725" b="1">
                <a:solidFill>
                  <a:srgbClr val="0B6172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9" name="측정 결과는 유효한가?">
            <a:extLst xmlns:a="http://schemas.openxmlformats.org/drawingml/2006/main">
              <a:ext uri="{FF2B5EF4-FFF2-40B4-BE49-F238E27FC236}">
                <a16:creationId xmlns:a16="http://schemas.microsoft.com/office/drawing/2014/main" id="{D2FF2B30-640E-4785-8351-B991C0107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05075"/>
            <a:ext cx="4876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측정 결과는 유효한가?</a:t>
            </a:r>
          </a:p>
        </p:txBody>
      </p:sp>
      <p:sp>
        <p:nvSpPr>
          <p:cNvPr id="10" name="02">
            <a:extLst xmlns:a="http://schemas.openxmlformats.org/drawingml/2006/main">
              <a:ext uri="{FF2B5EF4-FFF2-40B4-BE49-F238E27FC236}">
                <a16:creationId xmlns:a16="http://schemas.microsoft.com/office/drawing/2014/main" id="{1C9F153C-8B6A-49A5-9DA3-4DBAE7BB3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047875"/>
            <a:ext cx="4876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72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72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72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72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72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72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72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72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72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72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pPr>
            <a:r>
              <a:rPr sz="1725" b="1">
                <a:solidFill>
                  <a:srgbClr val="805400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1" name="무엇이 결과를 만들었나?">
            <a:extLst xmlns:a="http://schemas.openxmlformats.org/drawingml/2006/main">
              <a:ext uri="{FF2B5EF4-FFF2-40B4-BE49-F238E27FC236}">
                <a16:creationId xmlns:a16="http://schemas.microsoft.com/office/drawing/2014/main" id="{BF6E2B9A-5E0F-45F9-822E-D15CB4F50B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505075"/>
            <a:ext cx="4876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무엇이 결과를 만들었나?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CD8173E-1A30-49E7-85FD-7DE29B05E4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09925"/>
            <a:ext cx="4876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789467A-7AAB-413D-9D7F-3E56446BC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209925"/>
            <a:ext cx="4876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805400"/>
            </a:solidFill>
            <a:prstDash val="solid"/>
          </a:ln>
        </p:spPr>
      </p:sp>
      <p:sp>
        <p:nvSpPr>
          <p:cNvPr id="14" name="입력·출력 hash 일치&#10;같은 조건의 측정 기록">
            <a:extLst xmlns:a="http://schemas.openxmlformats.org/drawingml/2006/main">
              <a:ext uri="{FF2B5EF4-FFF2-40B4-BE49-F238E27FC236}">
                <a16:creationId xmlns:a16="http://schemas.microsoft.com/office/drawing/2014/main" id="{53A563C9-D883-4F6D-B02D-122B8CADD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57575"/>
            <a:ext cx="487680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입력·출력 hash 일치</a:t>
            </a:r>
          </a:p>
          <a:p xmlns:a="http://schemas.openxmlformats.org/drawingml/2006/main">
            <a: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같은 조건의 측정 기록</a:t>
            </a:r>
          </a:p>
        </p:txBody>
      </p:sp>
      <p:sp>
        <p:nvSpPr>
          <p:cNvPr id="15" name="Global Skill이 평가 절차에 관여&#10;Prompt만의 효과는 분리 못함">
            <a:extLst xmlns:a="http://schemas.openxmlformats.org/drawingml/2006/main">
              <a:ext uri="{FF2B5EF4-FFF2-40B4-BE49-F238E27FC236}">
                <a16:creationId xmlns:a16="http://schemas.microsoft.com/office/drawing/2014/main" id="{AB7E7558-C013-448D-BABB-A6186AF69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457575"/>
            <a:ext cx="487680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Global Skill이 평가 절차에 관여</a:t>
            </a:r>
          </a:p>
          <a:p xmlns:a="http://schemas.openxmlformats.org/drawingml/2006/main">
            <a: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Prompt만의 효과는 분리 못함</a:t>
            </a:r>
          </a:p>
        </p:txBody>
      </p:sp>
      <p:sp>
        <p:nvSpPr>
          <p:cNvPr id="16" name="144.2 → 33.5 ms/call median">
            <a:extLst xmlns:a="http://schemas.openxmlformats.org/drawingml/2006/main">
              <a:ext uri="{FF2B5EF4-FFF2-40B4-BE49-F238E27FC236}">
                <a16:creationId xmlns:a16="http://schemas.microsoft.com/office/drawing/2014/main" id="{3D62919A-A31D-4CFA-86A2-B0F81F131B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24375"/>
            <a:ext cx="4876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144.2 → 33.5 ms/call median</a:t>
            </a:r>
          </a:p>
        </p:txBody>
      </p:sp>
      <p:sp>
        <p:nvSpPr>
          <p:cNvPr id="17" name="인과 해석: PARTIAL">
            <a:extLst xmlns:a="http://schemas.openxmlformats.org/drawingml/2006/main">
              <a:ext uri="{FF2B5EF4-FFF2-40B4-BE49-F238E27FC236}">
                <a16:creationId xmlns:a16="http://schemas.microsoft.com/office/drawing/2014/main" id="{BCC95595-E7B6-4B19-8793-A5A6153AF8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4524375"/>
            <a:ext cx="4876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인과 해석: PARTIAL</a:t>
            </a:r>
          </a:p>
        </p:txBody>
      </p:sp>
      <p:sp>
        <p:nvSpPr>
          <p:cNvPr id="18" name="결과에 대한 확인과, 원인에 대한 확신을 따로 기록한다.">
            <a:extLst xmlns:a="http://schemas.openxmlformats.org/drawingml/2006/main">
              <a:ext uri="{FF2B5EF4-FFF2-40B4-BE49-F238E27FC236}">
                <a16:creationId xmlns:a16="http://schemas.microsoft.com/office/drawing/2014/main" id="{24CB250B-E325-4619-B8C7-C96C943A5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86375"/>
            <a:ext cx="10972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결과에 대한 확인과, 원인에 대한 확신을 따로 기록한다.</a:t>
            </a:r>
          </a:p>
        </p:txBody>
      </p:sp>
      <p:sp>
        <p:nvSpPr>
          <p:cNvPr id="19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601BD105-300E-4EAE-BA96-539540C6E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M5 · M6</a:t>
            </a:r>
          </a:p>
        </p:txBody>
      </p:sp>
    </p:spTree>
    <p:extLst>
      <p:ext uri="{BB962C8B-B14F-4D97-AF65-F5344CB8AC3E}">
        <p14:creationId xmlns:p14="http://schemas.microsoft.com/office/powerpoint/2010/main" val="835138418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ACT 4 · OBSERVED META / 실제 기록 방식 변경">
            <a:extLst xmlns:a="http://schemas.openxmlformats.org/drawingml/2006/main">
              <a:ext uri="{FF2B5EF4-FFF2-40B4-BE49-F238E27FC236}">
                <a16:creationId xmlns:a16="http://schemas.microsoft.com/office/drawing/2014/main" id="{690FCE6F-7293-420D-B4FF-795C35B0E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4 · OBSERVED META / 실제 기록 방식 변경</a:t>
            </a:r>
          </a:p>
        </p:txBody>
      </p:sp>
      <p:sp>
        <p:nvSpPr>
          <p:cNvPr id="2" name="S69">
            <a:extLst xmlns:a="http://schemas.openxmlformats.org/drawingml/2006/main">
              <a:ext uri="{FF2B5EF4-FFF2-40B4-BE49-F238E27FC236}">
                <a16:creationId xmlns:a16="http://schemas.microsoft.com/office/drawing/2014/main" id="{045F7E0C-12B2-45BC-9A03-BD93265356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S69</a:t>
            </a:r>
          </a:p>
        </p:txBody>
      </p:sp>
      <p:sp>
        <p:nvSpPr>
          <p:cNvPr id="3" name="평가와 보고 규칙을 Evidence에 맞추다">
            <a:extLst xmlns:a="http://schemas.openxmlformats.org/drawingml/2006/main">
              <a:ext uri="{FF2B5EF4-FFF2-40B4-BE49-F238E27FC236}">
                <a16:creationId xmlns:a16="http://schemas.microsoft.com/office/drawing/2014/main" id="{D1537CED-E79C-4221-9E00-8788F11914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평가와 보고 규칙을 Evidence에 맞추다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1DE6D8C-48B1-4E13-BB9F-200C2FF95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B6172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3DA2451-3DB1-4A4C-9050-EA6871A905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959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6172"/>
            </a:solidFill>
            <a:prstDash val="solid"/>
          </a:ln>
        </p:spPr>
      </p:sp>
      <p:sp>
        <p:nvSpPr>
          <p:cNvPr id="6" name="TRIAL-006 → DEC-0016 · 평가·보고 기준을 요약한 도식">
            <a:extLst xmlns:a="http://schemas.openxmlformats.org/drawingml/2006/main">
              <a:ext uri="{FF2B5EF4-FFF2-40B4-BE49-F238E27FC236}">
                <a16:creationId xmlns:a16="http://schemas.microsoft.com/office/drawing/2014/main" id="{91EE8501-1C8F-40F3-AC68-FF02759A7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TRIAL-006 → DEC-0016 · 평가·보고 기준을 요약한 도식</a:t>
            </a:r>
          </a:p>
        </p:txBody>
      </p:sp>
      <p:sp>
        <p:nvSpPr>
          <p:cNvPr id="7" name="제품 코드·Demo Skill 수정이 아니며, 격리 환경에서 Prompt 효과를 검증한 것도 아니다.">
            <a:extLst xmlns:a="http://schemas.openxmlformats.org/drawingml/2006/main">
              <a:ext uri="{FF2B5EF4-FFF2-40B4-BE49-F238E27FC236}">
                <a16:creationId xmlns:a16="http://schemas.microsoft.com/office/drawing/2014/main" id="{8EDA6E42-B71A-4649-9B71-9D14E23B7A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제품 코드·Demo Skill 수정이 아니며, 격리 환경에서 Prompt 효과를 검증한 것도 아니다.</a:t>
            </a:r>
          </a:p>
        </p:txBody>
      </p:sp>
      <p:sp>
        <p:nvSpPr>
          <p:cNvPr id="8" name="DEC-0016 · 바뀐 것은 후속 Trial을 기록하는 기준">
            <a:extLst xmlns:a="http://schemas.openxmlformats.org/drawingml/2006/main">
              <a:ext uri="{FF2B5EF4-FFF2-40B4-BE49-F238E27FC236}">
                <a16:creationId xmlns:a16="http://schemas.microsoft.com/office/drawing/2014/main" id="{B9BC2515-54CF-4BC2-A116-530EC7CA0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47875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DEC-0016 · 바뀐 것은 후속 Trial을 기록하는 기준</a:t>
            </a:r>
          </a:p>
        </p:txBody>
      </p:sp>
      <p:sp>
        <p:nvSpPr>
          <p:cNvPr id="9" name="기존 빈틈: 작업·Repository 중심으로 보고 주변 Harness 영향 설명이 부족했다.">
            <a:extLst xmlns:a="http://schemas.openxmlformats.org/drawingml/2006/main">
              <a:ext uri="{FF2B5EF4-FFF2-40B4-BE49-F238E27FC236}">
                <a16:creationId xmlns:a16="http://schemas.microsoft.com/office/drawing/2014/main" id="{469CDAC6-CE10-485D-AF37-88C4E31E2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0"/>
            <a:ext cx="10972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기존 빈틈: 작업·Repository 중심으로 보고 주변 Harness 영향 설명이 부족했다.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EC72143-23E7-43FD-BE29-C59AAD751F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52800"/>
            <a:ext cx="3333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1" name="기존 결과 보존">
            <a:extLst xmlns:a="http://schemas.openxmlformats.org/drawingml/2006/main">
              <a:ext uri="{FF2B5EF4-FFF2-40B4-BE49-F238E27FC236}">
                <a16:creationId xmlns:a16="http://schemas.microsoft.com/office/drawing/2014/main" id="{A8FE2ECC-7899-49BF-9754-98EC48D78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24250"/>
            <a:ext cx="33337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기존 결과 보존</a:t>
            </a:r>
          </a:p>
        </p:txBody>
      </p:sp>
      <p:sp>
        <p:nvSpPr>
          <p:cNvPr id="12" name="TRIAL-006&#10;PARTIAL로 남김">
            <a:extLst xmlns:a="http://schemas.openxmlformats.org/drawingml/2006/main">
              <a:ext uri="{FF2B5EF4-FFF2-40B4-BE49-F238E27FC236}">
                <a16:creationId xmlns:a16="http://schemas.microsoft.com/office/drawing/2014/main" id="{39F102B4-8B79-4F5F-9C6F-81FB7E9449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05275"/>
            <a:ext cx="333375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TRIAL-006</a:t>
            </a:r>
          </a:p>
          <a:p xmlns:a="http://schemas.openxmlformats.org/drawingml/2006/main">
            <a: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PARTIAL로 남김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FC24FF6-BDE2-43F1-899B-52A6A9947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9550" y="3762375"/>
            <a:ext cx="257175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E45162C-05FC-42BB-B2F6-E202825E2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3352800"/>
            <a:ext cx="3333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5" name="진행 조건 명시">
            <a:extLst xmlns:a="http://schemas.openxmlformats.org/drawingml/2006/main">
              <a:ext uri="{FF2B5EF4-FFF2-40B4-BE49-F238E27FC236}">
                <a16:creationId xmlns:a16="http://schemas.microsoft.com/office/drawing/2014/main" id="{0366EDA5-CFD6-4115-B3D1-ADBB13897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3524250"/>
            <a:ext cx="33337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진행 조건 명시</a:t>
            </a:r>
          </a:p>
        </p:txBody>
      </p:sp>
      <p:sp>
        <p:nvSpPr>
          <p:cNvPr id="16" name="clean isolation을&#10;진행 조건으로 두지 않음">
            <a:extLst xmlns:a="http://schemas.openxmlformats.org/drawingml/2006/main">
              <a:ext uri="{FF2B5EF4-FFF2-40B4-BE49-F238E27FC236}">
                <a16:creationId xmlns:a16="http://schemas.microsoft.com/office/drawing/2014/main" id="{F8F2883F-2B56-43B7-A4D2-091D812D8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4105275"/>
            <a:ext cx="333375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clean isolation을</a:t>
            </a:r>
          </a:p>
          <a:p xmlns:a="http://schemas.openxmlformats.org/drawingml/2006/main">
            <a: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진행 조건으로 두지 않음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5A1D416-8A31-4DA5-995A-25EA96F4F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3762375"/>
            <a:ext cx="257175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820BDB7-C03B-430B-9A60-1CFA57AE5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352800"/>
            <a:ext cx="3333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9" name="후속 기록 변경">
            <a:extLst xmlns:a="http://schemas.openxmlformats.org/drawingml/2006/main">
              <a:ext uri="{FF2B5EF4-FFF2-40B4-BE49-F238E27FC236}">
                <a16:creationId xmlns:a16="http://schemas.microsoft.com/office/drawing/2014/main" id="{A4DF0011-B8E4-46E4-9D75-660DBC0EC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524250"/>
            <a:ext cx="33337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후속 기록 변경</a:t>
            </a:r>
          </a:p>
        </p:txBody>
      </p:sp>
      <p:sp>
        <p:nvSpPr>
          <p:cNvPr id="20" name="관찰된 환경 영향을&#10;다음 Trial에 함께 기록">
            <a:extLst xmlns:a="http://schemas.openxmlformats.org/drawingml/2006/main">
              <a:ext uri="{FF2B5EF4-FFF2-40B4-BE49-F238E27FC236}">
                <a16:creationId xmlns:a16="http://schemas.microsoft.com/office/drawing/2014/main" id="{8A340C5B-B94B-4106-AD91-D1A3531CBB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4105275"/>
            <a:ext cx="333375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관찰된 환경 영향을</a:t>
            </a:r>
          </a:p>
          <a:p xmlns:a="http://schemas.openxmlformats.org/drawingml/2006/main">
            <a: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다음 Trial에 함께 기록</a:t>
            </a:r>
          </a:p>
        </p:txBody>
      </p:sp>
      <p:sp>
        <p:nvSpPr>
          <p:cNvPr id="21" name="기록 대상: Skills · 경고 / 실행·사용 여부 · 결과를 설명할 수 있는 범위">
            <a:extLst xmlns:a="http://schemas.openxmlformats.org/drawingml/2006/main">
              <a:ext uri="{FF2B5EF4-FFF2-40B4-BE49-F238E27FC236}">
                <a16:creationId xmlns:a16="http://schemas.microsoft.com/office/drawing/2014/main" id="{3034915D-A940-490A-A09F-69211DC378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67325"/>
            <a:ext cx="10972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기록 대상: Skills · 경고 / 실행·사용 여부 · 결과를 설명할 수 있는 범위</a:t>
            </a:r>
          </a:p>
        </p:txBody>
      </p:sp>
      <p:sp>
        <p:nvSpPr>
          <p:cNvPr id="22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EFA60B0A-09C0-4A68-B317-2CC1AA079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신규 확장</a:t>
            </a:r>
          </a:p>
        </p:txBody>
      </p:sp>
    </p:spTree>
    <p:extLst>
      <p:ext uri="{BB962C8B-B14F-4D97-AF65-F5344CB8AC3E}">
        <p14:creationId xmlns:p14="http://schemas.microsoft.com/office/powerpoint/2010/main" val="1917499194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ACT 4 · OBSERVED META / 후속 기록 대조">
            <a:extLst xmlns:a="http://schemas.openxmlformats.org/drawingml/2006/main">
              <a:ext uri="{FF2B5EF4-FFF2-40B4-BE49-F238E27FC236}">
                <a16:creationId xmlns:a16="http://schemas.microsoft.com/office/drawing/2014/main" id="{8BE1C344-1BB2-47D5-ACCF-BC6768FE25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4 · OBSERVED META / 후속 기록 대조</a:t>
            </a:r>
          </a:p>
        </p:txBody>
      </p:sp>
      <p:sp>
        <p:nvSpPr>
          <p:cNvPr id="2" name="S70">
            <a:extLst xmlns:a="http://schemas.openxmlformats.org/drawingml/2006/main">
              <a:ext uri="{FF2B5EF4-FFF2-40B4-BE49-F238E27FC236}">
                <a16:creationId xmlns:a16="http://schemas.microsoft.com/office/drawing/2014/main" id="{0F758257-009F-415F-A0B7-6B6EDBB284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S70</a:t>
            </a:r>
          </a:p>
        </p:txBody>
      </p:sp>
      <p:sp>
        <p:nvSpPr>
          <p:cNvPr id="3" name="후속 기록은 개선됐지만 완전하지 않았다">
            <a:extLst xmlns:a="http://schemas.openxmlformats.org/drawingml/2006/main">
              <a:ext uri="{FF2B5EF4-FFF2-40B4-BE49-F238E27FC236}">
                <a16:creationId xmlns:a16="http://schemas.microsoft.com/office/drawing/2014/main" id="{5F5BF044-6429-41D7-B63D-CF8F80FBB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후속 기록은 개선됐지만 완전하지 않았다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C28FBC1-0EF3-48CE-B597-094F563BB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B6172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62940BC-CD6A-4743-AA04-C7E50728D5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959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6172"/>
            </a:solidFill>
            <a:prstDash val="solid"/>
          </a:ln>
        </p:spPr>
      </p:sp>
      <p:sp>
        <p:nvSpPr>
          <p:cNvPr id="6" name="TRIAL-007/008 · DEC-0016 · 원문 기록의 의미를 요약한 도식">
            <a:extLst xmlns:a="http://schemas.openxmlformats.org/drawingml/2006/main">
              <a:ext uri="{FF2B5EF4-FFF2-40B4-BE49-F238E27FC236}">
                <a16:creationId xmlns:a16="http://schemas.microsoft.com/office/drawing/2014/main" id="{8C32D73F-F3DF-4EE4-B508-9C1E9FD9F8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TRIAL-007/008 · DEC-0016 · 원문 기록의 의미를 요약한 도식</a:t>
            </a:r>
          </a:p>
        </p:txBody>
      </p:sp>
      <p:sp>
        <p:nvSpPr>
          <p:cNvPr id="7" name="MCP 작업 결과는 없음. 완전한 환경 목록이나 측정된 품질 향상을 뜻하지 않는다.">
            <a:extLst xmlns:a="http://schemas.openxmlformats.org/drawingml/2006/main">
              <a:ext uri="{FF2B5EF4-FFF2-40B4-BE49-F238E27FC236}">
                <a16:creationId xmlns:a16="http://schemas.microsoft.com/office/drawing/2014/main" id="{549081DB-4C98-48EA-8D15-3678107E4F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MCP 작업 결과는 없음. 완전한 환경 목록이나 측정된 품질 향상을 뜻하지 않는다.</a:t>
            </a:r>
          </a:p>
        </p:txBody>
      </p:sp>
      <p:sp>
        <p:nvSpPr>
          <p:cNvPr id="8" name="TRIAL-007">
            <a:extLst xmlns:a="http://schemas.openxmlformats.org/drawingml/2006/main">
              <a:ext uri="{FF2B5EF4-FFF2-40B4-BE49-F238E27FC236}">
                <a16:creationId xmlns:a16="http://schemas.microsoft.com/office/drawing/2014/main" id="{1A59FA3E-1BAC-4E5A-BED6-79E510749C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57400"/>
            <a:ext cx="5181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TRIAL-007</a:t>
            </a:r>
          </a:p>
        </p:txBody>
      </p:sp>
      <p:sp>
        <p:nvSpPr>
          <p:cNvPr id="9" name="보고와 원문을 대조">
            <a:extLst xmlns:a="http://schemas.openxmlformats.org/drawingml/2006/main">
              <a:ext uri="{FF2B5EF4-FFF2-40B4-BE49-F238E27FC236}">
                <a16:creationId xmlns:a16="http://schemas.microsoft.com/office/drawing/2014/main" id="{F87B2973-F756-4D3B-BE8B-ADC5FC4EB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52700"/>
            <a:ext cx="51816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보고와 원문을 대조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FDB4B4D-02F5-4894-928E-EFC971BC81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67050"/>
            <a:ext cx="5181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1" name="최종 보고">
            <a:extLst xmlns:a="http://schemas.openxmlformats.org/drawingml/2006/main">
              <a:ext uri="{FF2B5EF4-FFF2-40B4-BE49-F238E27FC236}">
                <a16:creationId xmlns:a16="http://schemas.microsoft.com/office/drawing/2014/main" id="{191EDB56-6E26-4F3E-AB86-7BEA11170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67075"/>
            <a:ext cx="51816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최종 보고</a:t>
            </a:r>
          </a:p>
        </p:txBody>
      </p:sp>
      <p:sp>
        <p:nvSpPr>
          <p:cNvPr id="12" name="MCP 경고 없음">
            <a:extLst xmlns:a="http://schemas.openxmlformats.org/drawingml/2006/main">
              <a:ext uri="{FF2B5EF4-FFF2-40B4-BE49-F238E27FC236}">
                <a16:creationId xmlns:a16="http://schemas.microsoft.com/office/drawing/2014/main" id="{AA09E074-5BC4-43C3-B7CE-0C50CDDAEC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38550"/>
            <a:ext cx="51816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MCP 경고 없음</a:t>
            </a:r>
          </a:p>
        </p:txBody>
      </p:sp>
      <p:sp>
        <p:nvSpPr>
          <p:cNvPr id="13" name="보존된 stderr · 진단 메시지 출력">
            <a:extLst xmlns:a="http://schemas.openxmlformats.org/drawingml/2006/main">
              <a:ext uri="{FF2B5EF4-FFF2-40B4-BE49-F238E27FC236}">
                <a16:creationId xmlns:a16="http://schemas.microsoft.com/office/drawing/2014/main" id="{1612FBF8-29B6-48C2-BD45-8353D2508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29100"/>
            <a:ext cx="51816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보존된 stderr · 진단 메시지 출력</a:t>
            </a:r>
          </a:p>
        </p:txBody>
      </p:sp>
      <p:sp>
        <p:nvSpPr>
          <p:cNvPr id="14" name="Nimble AuthRequired">
            <a:extLst xmlns:a="http://schemas.openxmlformats.org/drawingml/2006/main">
              <a:ext uri="{FF2B5EF4-FFF2-40B4-BE49-F238E27FC236}">
                <a16:creationId xmlns:a16="http://schemas.microsoft.com/office/drawing/2014/main" id="{47BEA2BF-8E32-4D55-9BDE-299C502504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00575"/>
            <a:ext cx="5181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Nimble AuthRequired</a:t>
            </a:r>
          </a:p>
        </p:txBody>
      </p:sp>
      <p:sp>
        <p:nvSpPr>
          <p:cNvPr id="15" name="인증 필요 경고">
            <a:extLst xmlns:a="http://schemas.openxmlformats.org/drawingml/2006/main">
              <a:ext uri="{FF2B5EF4-FFF2-40B4-BE49-F238E27FC236}">
                <a16:creationId xmlns:a16="http://schemas.microsoft.com/office/drawing/2014/main" id="{24E967B3-F60D-4364-A1A9-7A41DBCAA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67300"/>
            <a:ext cx="51816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0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0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0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0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0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0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0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0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0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0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인증 필요 경고</a:t>
            </a:r>
          </a:p>
        </p:txBody>
      </p:sp>
      <p:sp>
        <p:nvSpPr>
          <p:cNvPr id="16" name="TRIAL-008">
            <a:extLst xmlns:a="http://schemas.openxmlformats.org/drawingml/2006/main">
              <a:ext uri="{FF2B5EF4-FFF2-40B4-BE49-F238E27FC236}">
                <a16:creationId xmlns:a16="http://schemas.microsoft.com/office/drawing/2014/main" id="{A3917635-8C1B-4B89-B826-4FF37D478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057400"/>
            <a:ext cx="4876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TRIAL-008</a:t>
            </a:r>
          </a:p>
        </p:txBody>
      </p:sp>
      <p:sp>
        <p:nvSpPr>
          <p:cNvPr id="17" name="사용 경로를 구분해 기록">
            <a:extLst xmlns:a="http://schemas.openxmlformats.org/drawingml/2006/main">
              <a:ext uri="{FF2B5EF4-FFF2-40B4-BE49-F238E27FC236}">
                <a16:creationId xmlns:a16="http://schemas.microsoft.com/office/drawing/2014/main" id="{1785B6EA-268A-4DB4-98DD-94ACA8555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552700"/>
            <a:ext cx="4876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사용 경로를 구분해 기록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3DF808F-888D-4BDE-AD2E-8A193E6D17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067050"/>
            <a:ext cx="4876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E2C8562-19D0-43F0-8619-DFFB223DB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343275"/>
            <a:ext cx="48768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F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Repository Skill 호출">
            <a:extLst xmlns:a="http://schemas.openxmlformats.org/drawingml/2006/main">
              <a:ext uri="{FF2B5EF4-FFF2-40B4-BE49-F238E27FC236}">
                <a16:creationId xmlns:a16="http://schemas.microsoft.com/office/drawing/2014/main" id="{D4885D95-4496-4742-9111-145A2B6E34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3533775"/>
            <a:ext cx="4495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Repository Skill 호출</a:t>
            </a:r>
          </a:p>
        </p:txBody>
      </p:sp>
      <p:sp>
        <p:nvSpPr>
          <p:cNvPr id="21" name="별도 기록">
            <a:extLst xmlns:a="http://schemas.openxmlformats.org/drawingml/2006/main">
              <a:ext uri="{FF2B5EF4-FFF2-40B4-BE49-F238E27FC236}">
                <a16:creationId xmlns:a16="http://schemas.microsoft.com/office/drawing/2014/main" id="{9EE1F65F-6AD8-4FB1-823A-F7075FF50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4276725"/>
            <a:ext cx="48768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별도 기록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E6B373C-D5BF-42C0-B6F7-EABEE74F49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4714875"/>
            <a:ext cx="48768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F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Global influence">
            <a:extLst xmlns:a="http://schemas.openxmlformats.org/drawingml/2006/main">
              <a:ext uri="{FF2B5EF4-FFF2-40B4-BE49-F238E27FC236}">
                <a16:creationId xmlns:a16="http://schemas.microsoft.com/office/drawing/2014/main" id="{B6F3DBF9-9F26-4696-B2A9-1EA16DF6B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4905375"/>
            <a:ext cx="4495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Global influence</a:t>
            </a:r>
          </a:p>
        </p:txBody>
      </p:sp>
      <p:sp>
        <p:nvSpPr>
          <p:cNvPr id="24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38283423-D113-448F-935F-C54B10EAD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M6</a:t>
            </a:r>
          </a:p>
        </p:txBody>
      </p:sp>
    </p:spTree>
    <p:extLst>
      <p:ext uri="{BB962C8B-B14F-4D97-AF65-F5344CB8AC3E}">
        <p14:creationId xmlns:p14="http://schemas.microsoft.com/office/powerpoint/2010/main" val="2080604286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ACT 4 · OBSERVED META / 사례 회수">
            <a:extLst xmlns:a="http://schemas.openxmlformats.org/drawingml/2006/main">
              <a:ext uri="{FF2B5EF4-FFF2-40B4-BE49-F238E27FC236}">
                <a16:creationId xmlns:a16="http://schemas.microsoft.com/office/drawing/2014/main" id="{967B01DE-5241-4FD3-B4F4-ED2B209A5A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4 · OBSERVED META / 사례 회수</a:t>
            </a:r>
          </a:p>
        </p:txBody>
      </p:sp>
      <p:sp>
        <p:nvSpPr>
          <p:cNvPr id="2" name="S71">
            <a:extLst xmlns:a="http://schemas.openxmlformats.org/drawingml/2006/main">
              <a:ext uri="{FF2B5EF4-FFF2-40B4-BE49-F238E27FC236}">
                <a16:creationId xmlns:a16="http://schemas.microsoft.com/office/drawing/2014/main" id="{959C2AB7-8ACA-46D4-B018-FA0FFE93C0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S71</a:t>
            </a:r>
          </a:p>
        </p:txBody>
      </p:sp>
      <p:sp>
        <p:nvSpPr>
          <p:cNvPr id="3" name="실제 Meta Loop에서 바뀐 것">
            <a:extLst xmlns:a="http://schemas.openxmlformats.org/drawingml/2006/main">
              <a:ext uri="{FF2B5EF4-FFF2-40B4-BE49-F238E27FC236}">
                <a16:creationId xmlns:a16="http://schemas.microsoft.com/office/drawing/2014/main" id="{0228E028-4B4C-488B-9A40-6A4BB805A4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실제 Meta Loop에서 바뀐 것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C2F962D-E932-4816-A8C7-3AE7A9785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B6172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D1FC577-0A36-4AB9-ACD6-ACB9465CE0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959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6172"/>
            </a:solidFill>
            <a:prstDash val="solid"/>
          </a:ln>
        </p:spPr>
      </p:sp>
      <p:sp>
        <p:nvSpPr>
          <p:cNvPr id="6" name="TRIAL-006 → DEC-0016 → TRIAL-007/008 · 실제 제작 기록">
            <a:extLst xmlns:a="http://schemas.openxmlformats.org/drawingml/2006/main">
              <a:ext uri="{FF2B5EF4-FFF2-40B4-BE49-F238E27FC236}">
                <a16:creationId xmlns:a16="http://schemas.microsoft.com/office/drawing/2014/main" id="{1450641D-E381-41C0-AB86-52E772CFCC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TRIAL-006 → DEC-0016 → TRIAL-007/008 · 실제 제작 기록</a:t>
            </a:r>
          </a:p>
        </p:txBody>
      </p:sp>
      <p:sp>
        <p:nvSpPr>
          <p:cNvPr id="7" name="제품 코드의 개선이나 가상 stale Workflow의 복구 이력이 아니다.">
            <a:extLst xmlns:a="http://schemas.openxmlformats.org/drawingml/2006/main">
              <a:ext uri="{FF2B5EF4-FFF2-40B4-BE49-F238E27FC236}">
                <a16:creationId xmlns:a16="http://schemas.microsoft.com/office/drawing/2014/main" id="{076689DD-4DA1-4935-AE2C-13E4BBF72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제품 코드의 개선이나 가상 stale Workflow의 복구 이력이 아니다.</a:t>
            </a:r>
          </a:p>
        </p:txBody>
      </p:sp>
      <p:sp>
        <p:nvSpPr>
          <p:cNvPr id="8" name="바뀐 대상">
            <a:extLst xmlns:a="http://schemas.openxmlformats.org/drawingml/2006/main">
              <a:ext uri="{FF2B5EF4-FFF2-40B4-BE49-F238E27FC236}">
                <a16:creationId xmlns:a16="http://schemas.microsoft.com/office/drawing/2014/main" id="{7AB4E8C1-2510-4CFD-B07E-AFD6CEFD2B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05025"/>
            <a:ext cx="109728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바뀐 대상</a:t>
            </a:r>
          </a:p>
        </p:txBody>
      </p:sp>
      <p:sp>
        <p:nvSpPr>
          <p:cNvPr id="9" name="Trial을 평가하고 보고하는 기준">
            <a:extLst xmlns:a="http://schemas.openxmlformats.org/drawingml/2006/main">
              <a:ext uri="{FF2B5EF4-FFF2-40B4-BE49-F238E27FC236}">
                <a16:creationId xmlns:a16="http://schemas.microsoft.com/office/drawing/2014/main" id="{6065F88D-2E7C-4C82-A48F-AFE0B31CB3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81275"/>
            <a:ext cx="109728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0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0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0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0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0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0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0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0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0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0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0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Trial을 평가하고 보고하는 기준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BFC4736-5890-4E09-AC4D-B15E09A0B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71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1" name="남아 있는 확인 과제">
            <a:extLst xmlns:a="http://schemas.openxmlformats.org/drawingml/2006/main">
              <a:ext uri="{FF2B5EF4-FFF2-40B4-BE49-F238E27FC236}">
                <a16:creationId xmlns:a16="http://schemas.microsoft.com/office/drawing/2014/main" id="{A9D26419-2B2E-4C6A-887B-F6B36C0B7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62350"/>
            <a:ext cx="109728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남아 있는 확인 과제</a:t>
            </a:r>
          </a:p>
        </p:txBody>
      </p:sp>
      <p:sp>
        <p:nvSpPr>
          <p:cNvPr id="12" name="원인별 효과">
            <a:extLst xmlns:a="http://schemas.openxmlformats.org/drawingml/2006/main">
              <a:ext uri="{FF2B5EF4-FFF2-40B4-BE49-F238E27FC236}">
                <a16:creationId xmlns:a16="http://schemas.microsoft.com/office/drawing/2014/main" id="{291EA9C2-8C35-4F75-A73B-17F8AE5095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19575"/>
            <a:ext cx="3333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원인별 효과</a:t>
            </a:r>
          </a:p>
        </p:txBody>
      </p:sp>
      <p:sp>
        <p:nvSpPr>
          <p:cNvPr id="13" name="무엇이 기여했는가?">
            <a:extLst xmlns:a="http://schemas.openxmlformats.org/drawingml/2006/main">
              <a:ext uri="{FF2B5EF4-FFF2-40B4-BE49-F238E27FC236}">
                <a16:creationId xmlns:a16="http://schemas.microsoft.com/office/drawing/2014/main" id="{6FE13EDC-E042-4814-8619-81397EFCD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76775"/>
            <a:ext cx="333375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무엇이 기여했는가?</a:t>
            </a:r>
          </a:p>
        </p:txBody>
      </p:sp>
      <p:sp>
        <p:nvSpPr>
          <p:cNvPr id="14" name="환경 목록의 완전성">
            <a:extLst xmlns:a="http://schemas.openxmlformats.org/drawingml/2006/main">
              <a:ext uri="{FF2B5EF4-FFF2-40B4-BE49-F238E27FC236}">
                <a16:creationId xmlns:a16="http://schemas.microsoft.com/office/drawing/2014/main" id="{3BCB02DE-3D5A-4F26-85D8-7207986558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4219575"/>
            <a:ext cx="3333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환경 목록의 완전성</a:t>
            </a:r>
          </a:p>
        </p:txBody>
      </p:sp>
      <p:sp>
        <p:nvSpPr>
          <p:cNvPr id="15" name="빠진 조건은 없는가?">
            <a:extLst xmlns:a="http://schemas.openxmlformats.org/drawingml/2006/main">
              <a:ext uri="{FF2B5EF4-FFF2-40B4-BE49-F238E27FC236}">
                <a16:creationId xmlns:a16="http://schemas.microsoft.com/office/drawing/2014/main" id="{F1465478-8E0A-4AC9-8AA6-100CF215D1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4676775"/>
            <a:ext cx="333375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빠진 조건은 없는가?</a:t>
            </a:r>
          </a:p>
        </p:txBody>
      </p:sp>
      <p:sp>
        <p:nvSpPr>
          <p:cNvPr id="16" name="Trial 품질의 향상">
            <a:extLst xmlns:a="http://schemas.openxmlformats.org/drawingml/2006/main">
              <a:ext uri="{FF2B5EF4-FFF2-40B4-BE49-F238E27FC236}">
                <a16:creationId xmlns:a16="http://schemas.microsoft.com/office/drawing/2014/main" id="{737BD1A9-CBDB-4CD6-BCD6-9C63F38CC6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4219575"/>
            <a:ext cx="3333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Trial 품질의 향상</a:t>
            </a:r>
          </a:p>
        </p:txBody>
      </p:sp>
      <p:sp>
        <p:nvSpPr>
          <p:cNvPr id="17" name="실제로 더 좋아졌는가?">
            <a:extLst xmlns:a="http://schemas.openxmlformats.org/drawingml/2006/main">
              <a:ext uri="{FF2B5EF4-FFF2-40B4-BE49-F238E27FC236}">
                <a16:creationId xmlns:a16="http://schemas.microsoft.com/office/drawing/2014/main" id="{2681B68C-4B53-4138-99B0-97EADA7EE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4676775"/>
            <a:ext cx="333375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실제로 더 좋아졌는가?</a:t>
            </a:r>
          </a:p>
        </p:txBody>
      </p:sp>
      <p:sp>
        <p:nvSpPr>
          <p:cNvPr id="18" name="Feedback은 평가 체계도 바꿀 수 있다. 변경 뒤의 결과는 다시 확인한다.">
            <a:extLst xmlns:a="http://schemas.openxmlformats.org/drawingml/2006/main">
              <a:ext uri="{FF2B5EF4-FFF2-40B4-BE49-F238E27FC236}">
                <a16:creationId xmlns:a16="http://schemas.microsoft.com/office/drawing/2014/main" id="{94A4ACB2-6336-4E92-93E3-53D825E91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95900"/>
            <a:ext cx="10972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Feedback은 평가 체계도 바꿀 수 있다. 변경 뒤의 결과는 다시 확인한다.</a:t>
            </a:r>
          </a:p>
        </p:txBody>
      </p:sp>
      <p:sp>
        <p:nvSpPr>
          <p:cNvPr id="19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C1D5F2CC-0107-4437-BEDE-3623DA5AE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M6</a:t>
            </a:r>
          </a:p>
        </p:txBody>
      </p:sp>
    </p:spTree>
    <p:extLst>
      <p:ext uri="{BB962C8B-B14F-4D97-AF65-F5344CB8AC3E}">
        <p14:creationId xmlns:p14="http://schemas.microsoft.com/office/powerpoint/2010/main" val="1998100721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ACT 4 · C++ VISION / 적용을 위한 가상 질문">
            <a:extLst xmlns:a="http://schemas.openxmlformats.org/drawingml/2006/main">
              <a:ext uri="{FF2B5EF4-FFF2-40B4-BE49-F238E27FC236}">
                <a16:creationId xmlns:a16="http://schemas.microsoft.com/office/drawing/2014/main" id="{491C095A-CD57-4775-80EE-8CFBDDAB15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4 · C++ VISION / 적용을 위한 가상 질문</a:t>
            </a:r>
          </a:p>
        </p:txBody>
      </p:sp>
      <p:sp>
        <p:nvSpPr>
          <p:cNvPr id="2" name="S72">
            <a:extLst xmlns:a="http://schemas.openxmlformats.org/drawingml/2006/main">
              <a:ext uri="{FF2B5EF4-FFF2-40B4-BE49-F238E27FC236}">
                <a16:creationId xmlns:a16="http://schemas.microsoft.com/office/drawing/2014/main" id="{B51DD725-F781-4047-8622-F7AECD722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S72</a:t>
            </a:r>
          </a:p>
        </p:txBody>
      </p:sp>
      <p:sp>
        <p:nvSpPr>
          <p:cNvPr id="3" name="Project와 환경이 바뀌면&#10;검증도 다시 본다">
            <a:extLst xmlns:a="http://schemas.openxmlformats.org/drawingml/2006/main">
              <a:ext uri="{FF2B5EF4-FFF2-40B4-BE49-F238E27FC236}">
                <a16:creationId xmlns:a16="http://schemas.microsoft.com/office/drawing/2014/main" id="{8C21A1DF-B8F4-44BA-B2EA-3949B3D2D7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Project와 환경이 바뀌면</a:t>
            </a:r>
          </a:p>
          <a:p xmlns:a="http://schemas.openxmlformats.org/drawingml/2006/main">
            <a: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검증도 다시 본다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8BC97BF-A3FF-44BC-9A4D-BD5938FFC9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805400"/>
            </a:solidFill>
            <a:prstDash val="dash"/>
          </a:ln>
        </p:spPr>
      </p:sp>
      <p:sp>
        <p:nvSpPr>
          <p:cNvPr id="5" name="BEAT-059 · TRANS-012 · 교육용 전이 모델 · AI 생성 설명용 삽화">
            <a:extLst xmlns:a="http://schemas.openxmlformats.org/drawingml/2006/main">
              <a:ext uri="{FF2B5EF4-FFF2-40B4-BE49-F238E27FC236}">
                <a16:creationId xmlns:a16="http://schemas.microsoft.com/office/drawing/2014/main" id="{2AFD191F-E228-4D1B-B759-1FCD90F2F0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BEAT-059 · TRANS-012 · 교육용 전이 모델 · AI 생성 설명용 삽화</a:t>
            </a:r>
          </a:p>
        </p:txBody>
      </p:sp>
      <p:sp>
        <p:nvSpPr>
          <p:cNvPr id="6" name="실제 C++ 사건·성능 결과가 아닙니다. 변경 표시는 확인할 조건을 뜻하며 원인이나 결과를 단정하지 않습니다">
            <a:extLst xmlns:a="http://schemas.openxmlformats.org/drawingml/2006/main">
              <a:ext uri="{FF2B5EF4-FFF2-40B4-BE49-F238E27FC236}">
                <a16:creationId xmlns:a16="http://schemas.microsoft.com/office/drawing/2014/main" id="{3B0D47B1-377B-4C61-BE5D-F405F2E78E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실제 C++ 사건·성능 결과가 아닙니다. 변경 표시는 확인할 조건을 뜻하며 원인이나 결과를 단정하지 않습니다.</a:t>
            </a:r>
          </a:p>
        </p:txBody>
      </p:sp>
      <p:sp>
        <p:nvSpPr>
          <p:cNvPr id="7" name="GPU · 빌드 · 측정 조건이 달라졌다면?">
            <a:extLst xmlns:a="http://schemas.openxmlformats.org/drawingml/2006/main">
              <a:ext uri="{FF2B5EF4-FFF2-40B4-BE49-F238E27FC236}">
                <a16:creationId xmlns:a16="http://schemas.microsoft.com/office/drawing/2014/main" id="{53B56274-CC8F-4DEA-828D-36B5AFB01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00250"/>
            <a:ext cx="10972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GPU · 빌드 · 측정 조건이 달라졌다면?</a:t>
            </a:r>
          </a:p>
        </p:txBody>
      </p:sp>
      <p:pic>
        <p:nvPic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75315E8-5BC7-49D0-99D4-8F3C38F12C8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544ceca0e854511"/>
          <a:srcRect xmlns:a="http://schemas.openxmlformats.org/drawingml/2006/main" l="0" t="6000" r="0" b="10000"/>
          <a:stretch xmlns:a="http://schemas.openxmlformats.org/drawingml/2006/main"/>
        </p:blipFill>
        <p:spPr>
          <a:xfrm xmlns:a="http://schemas.openxmlformats.org/drawingml/2006/main">
            <a:off x="609600" y="2676525"/>
            <a:ext cx="6858000" cy="1924050"/>
          </a:xfrm>
          <a:prstGeom xmlns:a="http://schemas.openxmlformats.org/drawingml/2006/main" prst="rect">
            <a:avLst/>
          </a:prstGeom>
        </p:spPr>
      </p:pic>
      <p:sp>
        <p:nvSpPr>
          <p:cNvPr id="9" name="입력">
            <a:extLst xmlns:a="http://schemas.openxmlformats.org/drawingml/2006/main">
              <a:ext uri="{FF2B5EF4-FFF2-40B4-BE49-F238E27FC236}">
                <a16:creationId xmlns:a16="http://schemas.microsoft.com/office/drawing/2014/main" id="{601DDC7C-BBCE-4D44-A013-9CB4996144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76775"/>
            <a:ext cx="152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입력</a:t>
            </a:r>
          </a:p>
        </p:txBody>
      </p:sp>
      <p:sp>
        <p:nvSpPr>
          <p:cNvPr id="10" name="처리 코드">
            <a:extLst xmlns:a="http://schemas.openxmlformats.org/drawingml/2006/main">
              <a:ext uri="{FF2B5EF4-FFF2-40B4-BE49-F238E27FC236}">
                <a16:creationId xmlns:a16="http://schemas.microsoft.com/office/drawing/2014/main" id="{8B250664-4C16-4642-8DFE-F7FF4D2DE4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4676775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처리 코드</a:t>
            </a:r>
          </a:p>
        </p:txBody>
      </p:sp>
      <p:sp>
        <p:nvSpPr>
          <p:cNvPr id="11" name="실행 장치 · 변경 조건">
            <a:extLst xmlns:a="http://schemas.openxmlformats.org/drawingml/2006/main">
              <a:ext uri="{FF2B5EF4-FFF2-40B4-BE49-F238E27FC236}">
                <a16:creationId xmlns:a16="http://schemas.microsoft.com/office/drawing/2014/main" id="{2EA5E599-B1DE-461C-8C11-CC7ED3D1FF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4676775"/>
            <a:ext cx="2324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실행 장치 · 변경 조건</a:t>
            </a:r>
          </a:p>
        </p:txBody>
      </p:sp>
      <p:sp>
        <p:nvSpPr>
          <p:cNvPr id="12" name="출력">
            <a:extLst xmlns:a="http://schemas.openxmlformats.org/drawingml/2006/main">
              <a:ext uri="{FF2B5EF4-FFF2-40B4-BE49-F238E27FC236}">
                <a16:creationId xmlns:a16="http://schemas.microsoft.com/office/drawing/2014/main" id="{5674C5A8-3065-4BAA-8327-F43648350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4676775"/>
            <a:ext cx="1047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출력</a:t>
            </a:r>
          </a:p>
        </p:txBody>
      </p:sp>
      <p:sp>
        <p:nvSpPr>
          <p:cNvPr id="13" name="01">
            <a:extLst xmlns:a="http://schemas.openxmlformats.org/drawingml/2006/main">
              <a:ext uri="{FF2B5EF4-FFF2-40B4-BE49-F238E27FC236}">
                <a16:creationId xmlns:a16="http://schemas.microsoft.com/office/drawing/2014/main" id="{9EC079D8-D254-4502-BADE-3CAF91B09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486025"/>
            <a:ext cx="381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650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650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650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650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650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650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650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650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650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650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650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pPr>
            <a:r>
              <a:rPr sz="1650" b="1">
                <a:solidFill>
                  <a:srgbClr val="805400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14" name="기존 가정">
            <a:extLst xmlns:a="http://schemas.openxmlformats.org/drawingml/2006/main">
              <a:ext uri="{FF2B5EF4-FFF2-40B4-BE49-F238E27FC236}">
                <a16:creationId xmlns:a16="http://schemas.microsoft.com/office/drawing/2014/main" id="{950301B2-B5C8-4365-B121-909D7D0DAD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2486025"/>
            <a:ext cx="3105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기존 가정</a:t>
            </a:r>
          </a:p>
        </p:txBody>
      </p:sp>
      <p:sp>
        <p:nvSpPr>
          <p:cNvPr id="15" name="어떤 조건에서&#10;맞던 판단인가?">
            <a:extLst xmlns:a="http://schemas.openxmlformats.org/drawingml/2006/main">
              <a:ext uri="{FF2B5EF4-FFF2-40B4-BE49-F238E27FC236}">
                <a16:creationId xmlns:a16="http://schemas.microsoft.com/office/drawing/2014/main" id="{3BFE169D-CADB-4CC1-896D-BD64EF8BC7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2809875"/>
            <a:ext cx="31051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어떤 조건에서</a:t>
            </a:r>
          </a:p>
          <a:p xmlns:a="http://schemas.openxmlformats.org/drawingml/2006/main">
            <a: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맞던 판단인가?</a:t>
            </a:r>
          </a:p>
        </p:txBody>
      </p:sp>
      <p:sp>
        <p:nvSpPr>
          <p:cNvPr id="16" name="02">
            <a:extLst xmlns:a="http://schemas.openxmlformats.org/drawingml/2006/main">
              <a:ext uri="{FF2B5EF4-FFF2-40B4-BE49-F238E27FC236}">
                <a16:creationId xmlns:a16="http://schemas.microsoft.com/office/drawing/2014/main" id="{FCAD2026-E4DC-4FCB-96EF-5C49E13C3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371850"/>
            <a:ext cx="381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650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650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650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650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650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650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650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650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650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650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650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pPr>
            <a:r>
              <a:rPr sz="1650" b="1">
                <a:solidFill>
                  <a:srgbClr val="805400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7" name="측정 조건">
            <a:extLst xmlns:a="http://schemas.openxmlformats.org/drawingml/2006/main">
              <a:ext uri="{FF2B5EF4-FFF2-40B4-BE49-F238E27FC236}">
                <a16:creationId xmlns:a16="http://schemas.microsoft.com/office/drawing/2014/main" id="{98258E73-917D-4612-A409-8B1464EF05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371850"/>
            <a:ext cx="3105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측정 조건</a:t>
            </a:r>
          </a:p>
        </p:txBody>
      </p:sp>
      <p:sp>
        <p:nvSpPr>
          <p:cNvPr id="18" name="입력과 실행 조건은&#10;비교 가능한가?">
            <a:extLst xmlns:a="http://schemas.openxmlformats.org/drawingml/2006/main">
              <a:ext uri="{FF2B5EF4-FFF2-40B4-BE49-F238E27FC236}">
                <a16:creationId xmlns:a16="http://schemas.microsoft.com/office/drawing/2014/main" id="{4755E0AF-8951-4DBD-9103-CC4C951917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695700"/>
            <a:ext cx="31051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입력과 실행 조건은</a:t>
            </a:r>
          </a:p>
          <a:p xmlns:a="http://schemas.openxmlformats.org/drawingml/2006/main">
            <a: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비교 가능한가?</a:t>
            </a:r>
          </a:p>
        </p:txBody>
      </p:sp>
      <p:sp>
        <p:nvSpPr>
          <p:cNvPr id="19" name="03">
            <a:extLst xmlns:a="http://schemas.openxmlformats.org/drawingml/2006/main">
              <a:ext uri="{FF2B5EF4-FFF2-40B4-BE49-F238E27FC236}">
                <a16:creationId xmlns:a16="http://schemas.microsoft.com/office/drawing/2014/main" id="{D9FB9884-D09D-40F1-BD74-7717DDB0B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4257675"/>
            <a:ext cx="381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650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650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650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650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650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650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650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650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650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650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650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pPr>
            <a:r>
              <a:rPr sz="1650" b="1">
                <a:solidFill>
                  <a:srgbClr val="805400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20" name="기능 계약">
            <a:extLst xmlns:a="http://schemas.openxmlformats.org/drawingml/2006/main">
              <a:ext uri="{FF2B5EF4-FFF2-40B4-BE49-F238E27FC236}">
                <a16:creationId xmlns:a16="http://schemas.microsoft.com/office/drawing/2014/main" id="{54C6B284-FD4E-4D0F-9E81-8E4CA6BE37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4257675"/>
            <a:ext cx="3105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기능 계약</a:t>
            </a:r>
          </a:p>
        </p:txBody>
      </p:sp>
      <p:sp>
        <p:nvSpPr>
          <p:cNvPr id="21" name="함께 다시 확인할&#10;동작은?">
            <a:extLst xmlns:a="http://schemas.openxmlformats.org/drawingml/2006/main">
              <a:ext uri="{FF2B5EF4-FFF2-40B4-BE49-F238E27FC236}">
                <a16:creationId xmlns:a16="http://schemas.microsoft.com/office/drawing/2014/main" id="{8A4606F0-FEAB-46DA-8662-7E29846DA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4581525"/>
            <a:ext cx="31051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함께 다시 확인할</a:t>
            </a:r>
          </a:p>
          <a:p xmlns:a="http://schemas.openxmlformats.org/drawingml/2006/main">
            <a: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동작은?</a:t>
            </a:r>
          </a:p>
        </p:txBody>
      </p:sp>
      <p:sp>
        <p:nvSpPr>
          <p:cNvPr id="22" name="같은 문제가 반복될 때, 어느 Layer를 먼저 살펴볼까?">
            <a:extLst xmlns:a="http://schemas.openxmlformats.org/drawingml/2006/main">
              <a:ext uri="{FF2B5EF4-FFF2-40B4-BE49-F238E27FC236}">
                <a16:creationId xmlns:a16="http://schemas.microsoft.com/office/drawing/2014/main" id="{8B1FCF53-4128-443F-A706-F68490AFE4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05425"/>
            <a:ext cx="109728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같은 문제가 반복될 때, 어느 Layer를 먼저 살펴볼까?</a:t>
            </a:r>
          </a:p>
        </p:txBody>
      </p:sp>
      <p:sp>
        <p:nvSpPr>
          <p:cNvPr id="23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0E7DBCE2-F31A-4315-8C23-B7B36C205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M5 · M6</a:t>
            </a:r>
          </a:p>
        </p:txBody>
      </p:sp>
    </p:spTree>
    <p:extLst>
      <p:ext uri="{BB962C8B-B14F-4D97-AF65-F5344CB8AC3E}">
        <p14:creationId xmlns:p14="http://schemas.microsoft.com/office/powerpoint/2010/main" val="7882447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Malgun Gothic"/>
        <a:ea typeface=""/>
        <a:cs typeface=""/>
      </a:majorFont>
      <a:minorFont>
        <a:latin typeface="Malgun Gothic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2026-10-21T11:24:34.6150000Z</dcterms:created>
  <dcterms:modified xsi:type="dcterms:W3CDTF">2026-10-21T11:24:34.6150000Z</dcterms:modified>
</coreProperties>
</file>