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3829ba316c04b6d" /><Relationship Type="http://schemas.openxmlformats.org/officeDocument/2006/relationships/extended-properties" Target="/docProps/app.xml" Id="R27c573fe8d1e4cbc" /><Relationship Type="http://schemas.openxmlformats.org/officeDocument/2006/relationships/officeDocument" Target="/ppt/presentation.xml" Id="R31bfe9d3f6eb4b2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92f1cd938824c83"/>
  </p:sldMasterIdLst>
  <p:notesMasterIdLst>
    <p:notesMasterId xmlns:r="http://schemas.openxmlformats.org/officeDocument/2006/relationships" r:id="Rfb846c1718354f82"/>
  </p:notesMasterIdLst>
  <p:sldIdLst>
    <p:sldId xmlns:r="http://schemas.openxmlformats.org/officeDocument/2006/relationships" id="256" r:id="Rc2a3d46e1ad044e3"/>
    <p:sldId xmlns:r="http://schemas.openxmlformats.org/officeDocument/2006/relationships" id="257" r:id="Rc6202f8b08ab4b2a"/>
    <p:sldId xmlns:r="http://schemas.openxmlformats.org/officeDocument/2006/relationships" id="258" r:id="R1beaf41e26a546c4"/>
    <p:sldId xmlns:r="http://schemas.openxmlformats.org/officeDocument/2006/relationships" id="259" r:id="Re216cbb4efc3422b"/>
    <p:sldId xmlns:r="http://schemas.openxmlformats.org/officeDocument/2006/relationships" id="260" r:id="Rea7e3d0f41244d61"/>
    <p:sldId xmlns:r="http://schemas.openxmlformats.org/officeDocument/2006/relationships" id="261" r:id="R16378acbe9654a0a"/>
    <p:sldId xmlns:r="http://schemas.openxmlformats.org/officeDocument/2006/relationships" id="262" r:id="R560a1600550946b6"/>
    <p:sldId xmlns:r="http://schemas.openxmlformats.org/officeDocument/2006/relationships" id="263" r:id="R5aadb7775f4d48c0"/>
    <p:sldId xmlns:r="http://schemas.openxmlformats.org/officeDocument/2006/relationships" id="264" r:id="R954eff1fe1d64a99"/>
    <p:sldId xmlns:r="http://schemas.openxmlformats.org/officeDocument/2006/relationships" id="265" r:id="Rf09db6d1af104c08"/>
    <p:sldId xmlns:r="http://schemas.openxmlformats.org/officeDocument/2006/relationships" id="266" r:id="R1b78533121164edc"/>
    <p:sldId xmlns:r="http://schemas.openxmlformats.org/officeDocument/2006/relationships" id="267" r:id="R5532b8efb8a3455f"/>
    <p:sldId xmlns:r="http://schemas.openxmlformats.org/officeDocument/2006/relationships" id="268" r:id="Rce1c6722f1e04966"/>
    <p:sldId xmlns:r="http://schemas.openxmlformats.org/officeDocument/2006/relationships" id="269" r:id="R18571b7d6d5d4491"/>
    <p:sldId xmlns:r="http://schemas.openxmlformats.org/officeDocument/2006/relationships" id="270" r:id="R2197254f3a3a4489"/>
    <p:sldId xmlns:r="http://schemas.openxmlformats.org/officeDocument/2006/relationships" id="271" r:id="R8bfe2b47e8c0474c"/>
    <p:sldId xmlns:r="http://schemas.openxmlformats.org/officeDocument/2006/relationships" id="272" r:id="R6f6e9757ad074025"/>
    <p:sldId xmlns:r="http://schemas.openxmlformats.org/officeDocument/2006/relationships" id="273" r:id="R9dd1061f330042f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d21f3b34a7644d4" /><Relationship Type="http://schemas.openxmlformats.org/officeDocument/2006/relationships/slideMaster" Target="/ppt/slideMasters/slideMaster1.xml" Id="Rb92f1cd938824c83" /><Relationship Type="http://schemas.openxmlformats.org/officeDocument/2006/relationships/notesMaster" Target="/ppt/notesMasters/notesMaster1.xml" Id="Rfb846c1718354f82" /><Relationship Type="http://schemas.openxmlformats.org/officeDocument/2006/relationships/presProps" Target="/ppt/presProps.xml" Id="R8517c1e43bc84488" /><Relationship Type="http://schemas.openxmlformats.org/officeDocument/2006/relationships/tableStyles" Target="/ppt/tableStyles.xml" Id="R80e0838aa8c84cd5" /><Relationship Type="http://schemas.openxmlformats.org/officeDocument/2006/relationships/slide" Target="/ppt/slides/slide1.xml" Id="Rc2a3d46e1ad044e3" /><Relationship Type="http://schemas.openxmlformats.org/officeDocument/2006/relationships/slide" Target="/ppt/slides/slide2.xml" Id="Rc6202f8b08ab4b2a" /><Relationship Type="http://schemas.openxmlformats.org/officeDocument/2006/relationships/slide" Target="/ppt/slides/slide3.xml" Id="R1beaf41e26a546c4" /><Relationship Type="http://schemas.openxmlformats.org/officeDocument/2006/relationships/slide" Target="/ppt/slides/slide4.xml" Id="Re216cbb4efc3422b" /><Relationship Type="http://schemas.openxmlformats.org/officeDocument/2006/relationships/slide" Target="/ppt/slides/slide5.xml" Id="Rea7e3d0f41244d61" /><Relationship Type="http://schemas.openxmlformats.org/officeDocument/2006/relationships/slide" Target="/ppt/slides/slide6.xml" Id="R16378acbe9654a0a" /><Relationship Type="http://schemas.openxmlformats.org/officeDocument/2006/relationships/slide" Target="/ppt/slides/slide7.xml" Id="R560a1600550946b6" /><Relationship Type="http://schemas.openxmlformats.org/officeDocument/2006/relationships/slide" Target="/ppt/slides/slide8.xml" Id="R5aadb7775f4d48c0" /><Relationship Type="http://schemas.openxmlformats.org/officeDocument/2006/relationships/slide" Target="/ppt/slides/slide9.xml" Id="R954eff1fe1d64a99" /><Relationship Type="http://schemas.openxmlformats.org/officeDocument/2006/relationships/slide" Target="/ppt/slides/slide10.xml" Id="Rf09db6d1af104c08" /><Relationship Type="http://schemas.openxmlformats.org/officeDocument/2006/relationships/slide" Target="/ppt/slides/slide11.xml" Id="R1b78533121164edc" /><Relationship Type="http://schemas.openxmlformats.org/officeDocument/2006/relationships/slide" Target="/ppt/slides/slide12.xml" Id="R5532b8efb8a3455f" /><Relationship Type="http://schemas.openxmlformats.org/officeDocument/2006/relationships/slide" Target="/ppt/slides/slide13.xml" Id="Rce1c6722f1e04966" /><Relationship Type="http://schemas.openxmlformats.org/officeDocument/2006/relationships/slide" Target="/ppt/slides/slide14.xml" Id="R18571b7d6d5d4491" /><Relationship Type="http://schemas.openxmlformats.org/officeDocument/2006/relationships/slide" Target="/ppt/slides/slide15.xml" Id="R2197254f3a3a4489" /><Relationship Type="http://schemas.openxmlformats.org/officeDocument/2006/relationships/slide" Target="/ppt/slides/slide16.xml" Id="R8bfe2b47e8c0474c" /><Relationship Type="http://schemas.openxmlformats.org/officeDocument/2006/relationships/slide" Target="/ppt/slides/slide17.xml" Id="R6f6e9757ad074025" /><Relationship Type="http://schemas.openxmlformats.org/officeDocument/2006/relationships/slide" Target="/ppt/slides/slide18.xml" Id="R9dd1061f330042f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b003e6e36e242c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8711888fb5e47af" /><Relationship Type="http://schemas.openxmlformats.org/officeDocument/2006/relationships/notesMaster" Target="/ppt/notesMasters/notesMaster1.xml" Id="Rcbf3b194970c4c7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117e3ad8a644b35" /><Relationship Type="http://schemas.openxmlformats.org/officeDocument/2006/relationships/notesMaster" Target="/ppt/notesMasters/notesMaster1.xml" Id="Rd1b98c15d1dc45d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bdec89b4e534a09" /><Relationship Type="http://schemas.openxmlformats.org/officeDocument/2006/relationships/notesMaster" Target="/ppt/notesMasters/notesMaster1.xml" Id="R42114c94cccf48a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be4159edb0b4d87" /><Relationship Type="http://schemas.openxmlformats.org/officeDocument/2006/relationships/notesMaster" Target="/ppt/notesMasters/notesMaster1.xml" Id="Rb2b9b2de815d40b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d5d08072c564df7" /><Relationship Type="http://schemas.openxmlformats.org/officeDocument/2006/relationships/notesMaster" Target="/ppt/notesMasters/notesMaster1.xml" Id="Rc378049c9d854a2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8817157b8df4145" /><Relationship Type="http://schemas.openxmlformats.org/officeDocument/2006/relationships/notesMaster" Target="/ppt/notesMasters/notesMaster1.xml" Id="R68b230ef9cec461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6ab9bcf98de46f2" /><Relationship Type="http://schemas.openxmlformats.org/officeDocument/2006/relationships/notesMaster" Target="/ppt/notesMasters/notesMaster1.xml" Id="Rdb633247a6414f7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8f7522fba834740" /><Relationship Type="http://schemas.openxmlformats.org/officeDocument/2006/relationships/notesMaster" Target="/ppt/notesMasters/notesMaster1.xml" Id="R577002a5b7ce4ad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7f7f3143dd74618" /><Relationship Type="http://schemas.openxmlformats.org/officeDocument/2006/relationships/notesMaster" Target="/ppt/notesMasters/notesMaster1.xml" Id="R2375b8e093674e7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09c08416b5447bd" /><Relationship Type="http://schemas.openxmlformats.org/officeDocument/2006/relationships/notesMaster" Target="/ppt/notesMasters/notesMaster1.xml" Id="R4caff1b9a4dd42a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91dd0fe736645b9" /><Relationship Type="http://schemas.openxmlformats.org/officeDocument/2006/relationships/notesMaster" Target="/ppt/notesMasters/notesMaster1.xml" Id="R4e344b2041f548a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95269fec1df4a5b" /><Relationship Type="http://schemas.openxmlformats.org/officeDocument/2006/relationships/notesMaster" Target="/ppt/notesMasters/notesMaster1.xml" Id="R3389e14f3fc048c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8c1eb54d9174fad" /><Relationship Type="http://schemas.openxmlformats.org/officeDocument/2006/relationships/notesMaster" Target="/ppt/notesMasters/notesMaster1.xml" Id="R21ec956cf89544dc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14c020265fad4a08" /><Relationship Type="http://schemas.openxmlformats.org/officeDocument/2006/relationships/notesMaster" Target="/ppt/notesMasters/notesMaster1.xml" Id="R09b12760885144cd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db24b12650264d9c" /><Relationship Type="http://schemas.openxmlformats.org/officeDocument/2006/relationships/notesMaster" Target="/ppt/notesMasters/notesMaster1.xml" Id="R9cbd0c86448e47a7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9fee64a045ce4161" /><Relationship Type="http://schemas.openxmlformats.org/officeDocument/2006/relationships/notesMaster" Target="/ppt/notesMasters/notesMaster1.xml" Id="R99b2892110a6490e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9719a272818c4a94" /><Relationship Type="http://schemas.openxmlformats.org/officeDocument/2006/relationships/notesMaster" Target="/ppt/notesMasters/notesMaster1.xml" Id="R7078004598a840f5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660c57391f6e4569" /><Relationship Type="http://schemas.openxmlformats.org/officeDocument/2006/relationships/notesMaster" Target="/ppt/notesMasters/notesMaster1.xml" Id="R9608dfd26263450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S55 — 여기까지는 잘 동작했다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S55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여기까지는 잘 동작했다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4A  WORKING HARNESS CALLBACK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3분 + Reflection 1분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STATE-04-PERF는 bounded task에서 검증된 성공이다. 뒤에 나올 stale 사례는 별도의 개념 사례다.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“잘 동작하는 System도 계속 맞는 상태로 남아 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(0:00–1:30 / Lecture) ACT 3의 STATE-04-PERF가 기록된 범위에서 성공한 endpoint임을 회수한다.</a:t>
            </a:r>
          </a:p>
          <a:p xmlns:a="http://schemas.openxmlformats.org/drawingml/2006/main">
            <a:r>
              <a:t>2. (1:30–3:00 / Lecture) 화면의 동작 계약, 전체 테스트 11/11, Benchmark guard 세 근거를 차례로 가리킨다. 새 실행이나 인과 비교는 하지 않는다.</a:t>
            </a:r>
          </a:p>
          <a:p xmlns:a="http://schemas.openxmlformats.org/drawingml/2006/main">
            <a:r>
              <a:t>3. (3:00–4:00 / Reflection) “프로젝트가 바뀐 뒤에도 맞을까?”를 개인적으로 생각하게 하고 다음 가상 사례로 넘어간다.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STATE-00 → STATE-04-PERF  ·  bounded image_statistics evidence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STATE-04-PERF의 기록된 task, 코드 경로, 입력, runtime, host 및 검증 조건에 한정한다. 이 결과는 실제 stale Harness나 Product failure를 뜻하지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먼저 잘 동작했던 현재 시스템을 기준점으로 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성공한 Product State와 뒤의 Conceptual Case를 별도 Evidence frame으로 읽는다.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추가 실행 없음. 기존 ACT 3에서 승인된 STATE-04-PERF 결과를 짧게 회수한다. 수치는 현재 범위와 함께 보이고 일반 성과로 확대하지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1분 Reflection: “성공한 현재 상태도 Project 변화 뒤 다시 확인해야 할까?” 개인 생각만 하고 응답을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“이 실제 성공은 기준점으로 남기고, 별개의 가상 사례에서 Project와 Workflow가 어떻게 어긋날 수 있는지 보겠습니다.” S56으로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3분 + Reflection 1분. 기존 ACT 3 설명을 다시 길게 열지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S55와 production/preview/act4/S55.png를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S56 — 개념 사례: Project와 Workflow는 현재 맞다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S56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개념 사례: Project와 Workflow는 현재 맞다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4B  CONCEPTUAL STALE HARNESS / DEMO-04A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Demo 2분 (VISUAL)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가상 사례의 시작에서는 프로젝트의 검증 기준과 재사용 Workflow의 지시가 모두 단위 테스트를 대상으로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“지금 맞는 Project Workflow는 계속 맞을까?”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(0:00–0:30 / VISUAL Demo) S55의 실제 성공을 기준점으로 남기고, 여기서부터 실제 graypipe 이력과 별개인 가상 사례를 시작한다고 말한다.</a:t>
            </a:r>
          </a:p>
          <a:p xmlns:a="http://schemas.openxmlformats.org/drawingml/2006/main">
            <a:r>
              <a:t>2. (0:30–1:30 / VISUAL Demo) 왼쪽 프로젝트 기준과 오른쪽 재사용 지침이 모두 단위 테스트를 가리키는 모습을 비교한다.</a:t>
            </a:r>
          </a:p>
          <a:p xmlns:a="http://schemas.openxmlformats.org/drawingml/2006/main">
            <a:r>
              <a:t>3. (1:30–2:00 / VISUAL Demo) 당시 기준에는 일치하는 절차였다는 출발점을 남긴다. 다음 장의 변경을 미리 설명하지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DEMO-04A  ·  constructed starting condition  ·  no Trial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CONCEPTUAL CASE. `ai-dev-training-demo`의 기록, Trial 또는 Product State가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처음에는 현재 지침과 재사용 절차가 서로 맞아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당시에 올바른 절차도 Project 변화 이후 stale해질 수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선택적 맥락: 실제 Project에서도 build/test structure가 바뀔 수 있다. 별도 C++ 사례로 확장하지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CONCEPTUAL 정적 도식. 두 단위 테스트 범위와 가운데 등호를 가리킨다. 실행 캡처·명령·결과 badge는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두 지시의 범위가 같은지 눈으로 비교한다. 답변이나 실행은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Project가 바뀌었는데 재사용 Workflow가 그대로라면 어떻게 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VISUAL Demo 2분. 첫 장면은 정상 상태로 두고 Project 변경을 앞당겨 보여주지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S56와 production/preview/act4/S56.png를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S57 — Project는 바뀌고 Workflow는 남았다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S57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Project는 바뀌고 Workflow는 남았다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4 / 4B  CONCEPTUAL STALE HARNESS / DEMO-04A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Demo 2분 (VISUAL) + Case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모듈 연결 동작까지 검증해야 하는 가상 프로젝트에서 공식 기준은 단위+통합 테스트로 넓어졌지만 재사용 Workflow에는 단위 테스트 지시가 남아 있다. 이는 지시 범위의 차이다.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“다음 Task에서 old workflow를 따르면 누가 틀린 걸까?”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 / Demo) 실제 Trial과 별개인 가상 사례임을 밝힌다. 모듈 연결 동작까지 검증할 필요가 생겨 공식 범위에 통합 테스트를 추가한 사례다.</a:t>
            </a:r>
          </a:p>
          <a:p xmlns:a="http://schemas.openxmlformats.org/drawingml/2006/main">
            <a:r>
              <a:t>2. (1:00–2:00 / Demo) 왼쪽 A/B 각각의 박스와 둘 사이 연결까지 감싼 통합 범위를 가리킨다. 오른쪽에는 같은 모듈과 연결이 있지만 재사용 지시는 단위 테스트만 요구한다. 두 그림은 실행 결과가 아니라 지시 범위의 차이다.</a:t>
            </a:r>
          </a:p>
          <a:p xmlns:a="http://schemas.openxmlformats.org/drawingml/2006/main">
            <a:r>
              <a:t>3. (2:00–3:00 / Case) Project의 요구 변화와 재사용 지침의 미갱신을 구분한다.</a:t>
            </a:r>
          </a:p>
          <a:p xmlns:a="http://schemas.openxmlformats.org/drawingml/2006/main">
            <a:r>
              <a:t>4. (3:00–4:00 / Case) Agent가 실제로 무엇을 실행했는지 아직 보여주지 않았음을 짧게 알리고, 다음 요청을 보정해도 재사용 지침이 남는 질문으로 넘긴다.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DEMO-04A / DEC-0021 / BEAT-038–039 / CONCEPTUAL. 단위+통합 테스트 가상 설정은 발표용 Pilot에 대한 최신 사용자 승인으로 확정됐다. 실제 Repository 이력이나 Trial 근거가 추가된 것은 아니다. 편집 가능한 native 범위 도식: production/source/presentation-revision/test-scope-visual.mjs. 모듈 A/B는 사례를 설명하는 일반 표기이며 실제 graypipe 모듈을 식별하지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승인된 가상 설정이다. 실제 Repository migration, 기존 graypipe Skill, Agent 실행, 테스트 누락 또는 PASS/FAIL 결과를 뜻하지 않는다. 지시의 범위를 비교하며 실제 실행 결과는 보여주지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Agent가 따르는 지침이 Project의 현재 절차와 맞는지 살핀다.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Project source의 변화와 stale artifact의 위치를 분리해 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production/ACT_4.pptx의 S57와 production/preview/act4/S57.png 개념 도식을 사용한다. 구체적 명령·Runner 구현·테스트 수·실행 캡처를 추가하지 않는다. 각 모듈의 범위→왼쪽의 연결을 포함한 통합 범위→오른쪽에 남은 단위 테스트 지시를 차례로 가리킨다. 모듈의 실제 테스트가 실행됐거나 통합 테스트를 누락했다고 말하지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무엇이 바뀌었고 무엇이 남았는지 잠시 비교한다. Agent 탓이나 특정 실패를 가정하지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“이번 요청에 통합 테스트도 확인해 달라고 쓰면, 다음 작업이 읽을 Workflow까지 바뀔까요?” S58로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Demo 2분은 도식 공개에, Case 2분은 stale 간극을 해석하는 데 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production/ACT_4.pptx의 S57와 production/preview/act4/S57.png를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승인된 전체 이미지 후보의 반영과 로컬 렌더링 결과는 production/evaluation/FULL_DECK_IMAGE_EXPANSION.md에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S58 — Task 해결과 System 문제는 다르다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S58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Task 해결과 System 문제는 다르다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4B  CONCEPTUAL STALE HARNESS / DEMO-04A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Case 3분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이번 요청을 단위+통합 검증으로 보정할 수 있어도 재사용 Workflow의 단위 테스트 지시는 그대로 남을 수 있다. 현재 Task의 요청 범위와 재사용 절차의 변경을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“Prompt를 더 자세히 쓰면 이번 Task는 해결될까?”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(0:00–1:00 / Case) 이번 Prompt에 “통합 테스트도 확인해 줘”를 더하는 가능성을 소개한다.</a:t>
            </a:r>
          </a:p>
          <a:p xmlns:a="http://schemas.openxmlformats.org/drawingml/2006/main">
            <a:r>
              <a:t>2. (1:00–2:00 / Case) 왼쪽 이번 Task 요청은 넓힐 수 있지만 오른쪽 재사용 지침은 단위 테스트에 머무는 차이를 가리킨다.</a:t>
            </a:r>
          </a:p>
          <a:p xmlns:a="http://schemas.openxmlformats.org/drawingml/2006/main">
            <a:r>
              <a:t>3. (2:00–3:00 / Case) 요청 보정이 실제 성공을 입증하지 않으며 다음 Task의 절차까지 갱신하는 조치와 다르다고 정리한다.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DEMO-04A  ·  conceptual consequence  ·  no execution result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가상 가능성만 제시한다. 구체적인 실패, 실행 결과, PASS/FAIL 또는 실제 Demo 이력은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이번 답을 고치는 것과 다음 작업의 절차까지 바꾸는 것은 다르다.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Task-level workaround와 durable system correction을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승인된 가상 설정에서 가능한 Task 보정과 재사용 지침을 비교한다. 실행 결과·누락·복구 성공을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“이번 Task가 풀려도 다음 Task의 지침은 달라졌나?”를 생각하게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그럼 Prompt, global rule, stale Workflow 중 어느 Layer를 살펴볼까?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Case 3분. 가능한 대응과 지시 범위에 머물고 실제 command 실패나 성공 결과를 만들지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S58와 production/preview/act4/S58.png를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S59 — 원인에 맞는 Layer를 고르기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S59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원인에 맞는 Layer를 고르기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4C  FIX THE RIGHT LAYER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Demo 2분 (CAPTURED)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Prompt patch는 현재 Task만 풀 수 있고 global rule은 중복·충돌을 만들 수 있다. Workflow가 원인으로 확인된 사례라면 그 source를 고친다.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“어디를 고치면 현재 Task와 다음 Task가 함께 달라질까?”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(0:00–0:30 / CAPTURED Demo) Prompt, 전역 규칙, 원인 Workflow의 세 행을 읽는다.</a:t>
            </a:r>
          </a:p>
          <a:p xmlns:a="http://schemas.openxmlformats.org/drawingml/2006/main">
            <a:r>
              <a:t>2. (0:30–1:15 / CAPTURED Demo) 각각 이번 요청만 바꾸는지, 넓은 곳에 새 규칙을 더하는지, 재사용 절차를 바꾸는지 비교한다.</a:t>
            </a:r>
          </a:p>
          <a:p xmlns:a="http://schemas.openxmlformats.org/drawingml/2006/main">
            <a:r>
              <a:t>3. (1:15–2:00 / CAPTURED Demo) Workflow가 원인으로 확인된 경우에만 마지막 선택이 맞다고 한정한다.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DEMO-11  ·  conceptual layer-selection synthesis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가상 사례 안의 선택 논리다. C는 workflow 원인이 확인된 경우에 맞으며 일반적인 정답이나 Product modification이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Prompt에 한 줄 더하기 전에 반복되는 원인이 있는 곳을 찾는다.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원인이 뒷받침하는 좁은 layer를 선택하고 중복 지침 가능성을 따진다.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Context, workflow, toolchain 또는 test environment 중 원인이 있는 layer를 살핀다는 정도의 pattern transfer만 가능하다.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실제 실행 캡처가 아닌 가상 선택지의 정적 재구성이다. 세 행의 변경 범위를 비교하고 실제 Product 수정 diff처럼 말하지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A/B/C의 효과 범위를 소리 없이 비교하게 한다. 원인이 정해졌다고 일반화하지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“앞에서는 원인이 확인됐을 때의 대응을 봤습니다. 이제 그 원인을 어떻게 확인할지 보겠습니다.” S60으로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CAPTURED 2분. Visual matrix만 설명하고 새 Product 근거를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S59와 production/preview/act4/S59.png를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S60 — 실패 지점과 원인 Layer 구분하기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S60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실패 지점과 원인 Layer 구분하기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4C  FIX THE RIGHT LAYER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1분 + Demo 1분 (CAPTURED)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증상은 Prompt나 실행 지점에 보일 수 있지만 원인은 Context, Workflow, Environment, Tool/Permission, Product code 등 다른 층에 있을 수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“실패가 보인 Layer와 원인이 있는 Layer는 항상 같을까?”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(0:00–0:45 / Lecture) S59의 선택은 원인 확인을 전제로 했음을 짚고, 이제 그 전제를 확인하는 방법을 본다고 안내한다. “요청한 검증이 충분한가?”라는 증상만으로 원인을 정할 수 없다고 설명한다.</a:t>
            </a:r>
          </a:p>
          <a:p xmlns:a="http://schemas.openxmlformats.org/drawingml/2006/main">
            <a:r>
              <a:t>2. (0:45–1:00 / Lecture) 현재 기준, 작업 절차, 실행 조건, 코드 동작을 다른 조사 대상으로 분리한다.</a:t>
            </a:r>
          </a:p>
          <a:p xmlns:a="http://schemas.openxmlformats.org/drawingml/2006/main">
            <a:r>
              <a:t>3. (1:00–2:00 / CAPTURED Demo) 오른쪽의 Context, Workflow, 환경·권한, 제품 코드 질문을 차례로 가리킨다. 어느 하나를 원인으로 확정하지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DEMO-11  ·  conceptual cause/layer synthesis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교육용 debugging heuristic이다. 고정 진단표나 단일 원인 mapping이 아니며, 가상 사례의 원인은 조사로 확인해야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실패 메시지만 보고 Prompt나 Agent를 탓하지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Observation, cause hypothesis, system change, rerun, evaluation을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Build, environment, permission, project code를 후보로 분리하는 pattern만 제공한다.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가상 원인 후보의 정적 도식이다. 왼쪽 질문에서 오른쪽 점선 후보 목록으로 시선을 옮긴다. 단일 인과 화살표나 실행 결과가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증상이 보여도 원인이 아직 미확정일 수 있음을 함께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S61에서 이 사례의 가정과 확인할 가설을 분리한다.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1분은 관점을 설명하고 CAPTURED visual 1분은 후보 layer만 보여준다.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S60와 production/preview/act4/S60.png를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S61 — 먼저 관찰하고, 그다음 가설을 세운다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S61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먼저 관찰하고, 그다음 가설을 세운다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4C  CAUSE / CHANGE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Case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실행된 절차, 현재 Project 문서, 재사용 Workflow, 실패가 나타난 위치를 먼저 살핀다. 관찰한 사실과 원인 판단은 별개다.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“원인을 추측하기 전에 무엇부터 확인해야 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(0:00–0:45 / Case) 왼쪽의 현재 기준 단위+통합, 재사용 지침 단위만은 가상 설정에 주어진 정보라고 밝힌다.</a:t>
            </a:r>
          </a:p>
          <a:p xmlns:a="http://schemas.openxmlformats.org/drawingml/2006/main">
            <a:r>
              <a:t>2. (0:45–1:30 / Case) 오른쪽의 “오래된 Workflow가 원인일 수 있다”는 원인 가설로 구분한다.</a:t>
            </a:r>
          </a:p>
          <a:p xmlns:a="http://schemas.openxmlformats.org/drawingml/2006/main">
            <a:r>
              <a:t>3. (1:30–2:00 / Case) 실제 문제라면 실행 경로와 실제 읽은 지침을 대조해야 한다고 정리한다. 이 사례의 실제 실행 기록은 만들지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DEMO-04A  ·  scenario assumptions and inference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화면의 “scenario assumption”도 실제 Trial 관찰이 아니다. stale Workflow는 점검할 가설이지 확정 사실이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원인을 정하기 전 현재 지침과 따라간 절차를 맞춰 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증거와 cause hypothesis의 확신 수준을 분리한다.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왼쪽 가상 설정과 오른쪽 확인할 가설을 비교한다. OBSERVED 제품 기록이나 실제 실행 경로처럼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두 칸을 읽고 어떤 문장이 가정이며 어떤 문장이 추론인지 구분해 본다. 답변 제출은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Workflow 원인이 확인됐다면 어느 범위까지 바꿔야 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Case 2분. 가상 전제와 실제 Evidence를 구별한다.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S61와 production/preview/act4/S61.png를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S62 — Cause가 지지하는 최소 변경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S62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Cause가 지지하는 최소 변경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4C  CAUSE / CHANGE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1분 + Case 1분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이 사례에서 stale Workflow가 원인으로 확인됐다고 가정하면 우선 그 Workflow를 갱신한다. 중복된 오래된 지침은 원인일 때만 제거한다.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“얼마나 바꿔야 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(0:00–1:00 / Lecture) “Workflow가 원인으로 확인됐다면”이라는 조건을 먼저 읽고, 원인과 변경 범위를 맞추는 원칙을 설명한다.</a:t>
            </a:r>
          </a:p>
          <a:p xmlns:a="http://schemas.openxmlformats.org/drawingml/2006/main">
            <a:r>
              <a:t>2. (1:00–2:00 / Case) 가상 Workflow의 검증 대상 지시를 단위에서 단위+통합으로 갱신하는 설계를 가리킨다. 불필요한 전역 규칙이나 다른 파일을 함께 바꿀 이유는 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DEMO-04A  ·  conceptual cause-to-change path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가상 사례의 조건부 대응이다. 실제 Product 변경이나 Trial 결과가 아니며, “최소”는 무조건 적게 바꾸라는 뜻이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새 규칙을 더하기 전에 실제 원인이 있는 곳을 고친다.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Cause가 지지하는 가장 작은 durable change를 정한다.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화면의 두 지침은 가상 Before/After 설계다. 실제 변경 diff나 실행 결과가 아니다. 원인 확인 조건을 계속 유지한다.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조건이 바뀌면 수정 대상도 바뀔 수 있음을 잠시 생각하게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변경 뒤 같은 Task를 다시 통과하면 Harness는 충분히 검증된 걸까?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1분은 원칙, Case 1분은 가상 workflow 변화에 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S62와 production/preview/act4/S62.png를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S63 — 같은 Task의 재실행만으로 충분할까?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S63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같은 Task의 재실행만으로 충분할까?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4D  EVALUATION &amp; REGRESSION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1분 + Case 3분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같은 Task의 재실행은 필요하지만 그것만으로 변경이 인접 작업에 영향을 주지 않는지는 알 수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“Failure가 사라졌으면 Harness fix가 끝난 걸까?”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(0:00–1:00 / Lecture) 왼쪽은 이번 작업의 요청 범위를 다시 다루는지 묻는 검증이라고 설명한다.</a:t>
            </a:r>
          </a:p>
          <a:p xmlns:a="http://schemas.openxmlformats.org/drawingml/2006/main">
            <a:r>
              <a:t>2. (1:00–2:30 / Case) 오른쪽은 바뀐 지침이 다른 유효한 작업을 방해하는지 묻는 질문임을 비교한다.</a:t>
            </a:r>
          </a:p>
          <a:p xmlns:a="http://schemas.openxmlformats.org/drawingml/2006/main">
            <a:r>
              <a:t>3. (2:30–4:00 / Case) 두 질문의 범위가 다르므로 대표 작업을 고르는 평가 설계가 필요하다고 연결한다. 어느 결과도 통과했다고 말하지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DEMO-04A  ·  designed rerun and system evaluation path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이 재실행과 확장 검증은 conceptual design이다. 실행 결과, pass count, regression success를 보여주지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이번 작업이 다시 되는지와 다른 작업도 안전한지는 별도 질문이다.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Task recovery는 필요 조건일 수 있어도 Harness-level validation을 대신하지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같은 build/test 시나리오 재실행은 필요하지만 전체 회귀 위험을 모두 해소하지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이번 작업과 다른 작업의 검증 질문 두 영역을 비교한다. 실제 재실행이나 회귀 성공 결과는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두 확인 질문의 범위가 다른 점을 비교한다.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변경이 닿는 다른 작업 표면은 어떤 대표 Task로 볼까?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1분 + Case 3분. 구체적인 pass/fail을 만들지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S63와 production/preview/act4/S63.png를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S64 — 대표 작업으로 변경 범위를 확인하기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S64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대표 작업으로 변경 범위를 확인하기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4D  EVALUATION &amp; REGRESSION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Demo 5분 (VISUAL / CAPTURED conceptual matrix)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평가 작업의 수보다 서로 다른 사용 표면과 회귀 위험을 대표하는지가 중요하다. EVAL-01/02의 별도 과거 관찰 참고와 EVAL-03/04의 설계 사례를 구분하며, 이 Workflow 변경 뒤의 실행 결과는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“무엇을 대표 Task로 고를까?”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(0:00–1:00 / VISUAL Demo) “작업 수보다 서로 다른 위험을 덮는가?”라는 기준을 연다.</a:t>
            </a:r>
          </a:p>
          <a:p xmlns:a="http://schemas.openxmlformats.org/drawingml/2006/main">
            <a:r>
              <a:t>2. (1:00–2:00 / VISUAL Demo) 버그 수정은 동작 계약, 성능 변경은 측정과 검증 범위를 확인하기 위한 선택임을 짚는다. 우측 실선의 TRIAL-002와 STATE-04-PERF는 별도 과거 관찰 참고다.</a:t>
            </a:r>
          </a:p>
          <a:p xmlns:a="http://schemas.openxmlformats.org/drawingml/2006/main">
            <a:r>
              <a:t>3. (2:00–4:00 / VISUAL Demo) 문서만 수정하는 작업에는 불필요한 절차가 강요되지 않는지, 작은 리팩터링에는 유효한 다른 작업이 방해받지 않는지 묻는다. 두 행은 점선의 설계 사례이며 결과가 없다.</a:t>
            </a:r>
          </a:p>
          <a:p xmlns:a="http://schemas.openxmlformats.org/drawingml/2006/main">
            <a:r>
              <a:t>4. (4:00–5:00 / VISUAL Demo) 네 작업 모두 이번 가상 Workflow 변경 후 수행된 평가가 아님을 말하고 대표성을 기준으로 회수한다.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각 행의 상태를 먼저 읽는다. EVAL-01/02의 과거 관찰 참고는 새 Workflow 평가 결과가 아니며 EVAL-03/04는 설계 사례다. 네 행 모두 변경 후 평가 PASS/FAIL이나 완료 결과를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DEMO-10  ·  EVAL-01/02 prior Product references; EVAL-03/04 designed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EVAL-01/02는 별도 Product task chain의 기존 참고 Evidence다. EVAL-03/04는 설계 사례이며 결과가 없다. 이번 stale-Workflow 변경 뒤의 PASS/FAIL 또는 새 Trial은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대표 작업은 다른 사용 방식을 확인하도록 골라야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변경이 닿는 흔한 표면, 알려진 회귀 위험, 비교 대상이 없을 수 있는 task를 나눠 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Contextual only: 대표 작업 선택은 Vision build, benchmark, docs 같은 surface에 적용할 수 있지만 별도 C++ case는 만들지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중앙은 네 평가 작업의 선정 이유, 우측은 분리된 참고 근거/설계 상태다. EVAL-01/02의 과거 관찰 참고와 EVAL-03/04의 설계를 선과 색으로 구분한다. 새 실행·PASS/FAIL 결과는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작업 이름보다 가운데 확인 질문을 읽도록 유도한다. 평가 작업을 많이 모으는 대신 어떤 위험을 보려는지 생각하게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실패마다 규칙을 하나씩 더하면 평가 범위가 커지기만 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Demo 5분은 static matrix 설명에 사용한다. 네 EVAL을 실제로 실행하지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S64와 production/preview/act4/S64.png를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S65 — Harness도 특정 실패에 맞춰 과적합될 수 있다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S65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Harness도 특정 실패에 맞춰 과적합될 수 있다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4D  EVALUATION &amp; REGRESSION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4분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실패마다 전역 규칙을 덧붙이면 Harness가 비대해지거나 충돌하고 특정 Task에만 좁게 맞춰질 수 있다. 원인을 확인하고 대표 작업을 평가하며 불필요한 규칙은 정리한다.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“한 번 실패했다고 규칙을 계속 추가하면 어떻게 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(0:00–1:00 / Lecture) 실패마다 규칙을 더하는 상황을 가정한다.</a:t>
            </a:r>
          </a:p>
          <a:p xmlns:a="http://schemas.openxmlformats.org/drawingml/2006/main">
            <a:r>
              <a:t>2. (1:00–2:30 / Lecture) 규칙 누적, 충돌, 특정 작업에만 맞춤 세 비용을 짚는다. 통계적 ML 과적합과 동일한 현상이라고 말하지 않는다.</a:t>
            </a:r>
          </a:p>
          <a:p xmlns:a="http://schemas.openxmlformats.org/drawingml/2006/main">
            <a:r>
              <a:t>3. (2:30–4:00 / Lecture) 원인 확인, 대표 작업 평가, 불필요한 규칙 정리라는 하단 판단 기준으로 돌아온다.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DEMO-04A  ·  conceptual regression / maintenance model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“Overfit”은 교육용 비유다. ML 통계적 overfitting과 같은 현상이라고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규칙 수를 늘리기보다 반복 원인을 살핀다.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대표 task에서의 효과와 유지 비용을 같이 평가하고 obsolete rule을 제거한다.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없음. 반복 실패→규칙 누적 도식은 teaching model이며 실제 history가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누적 규칙이 낳을 수 있는 bloat, conflict, narrow fit을 같이 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“지금까지 따로 본 관찰·원인 판단·변경·평가를, 다음 작업까지 이어지는 하나의 운영 순서로 묶겠습니다.” S66으로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4분. 통계적 ML overfitting과 동일시하거나 보편 법칙으로 말하지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S65와 production/preview/act4/S65.png를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S66 — Feedback을 System Change와 Evaluation으로 잇기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S66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Feedback을 System Change와 Evaluation으로 잇기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4E  LOOP MENTAL MODEL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11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9분 + Demo 2분 (VISUAL)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실행 결과와 반복되는 마찰을 관찰하고 원인과 재발 가능성을 판단한 뒤 적절한 System을 바꾸고 결과를 다시 평가할 때 Feedback은 System Improvement로 이어진다.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“앞에서 나누어 본 판단을 어떤 순서로 이어야 다음 작업도 달라질까?”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(0:00–2:00 / Lecture) 앞에서 따로 본 판단을 다섯 단계 운영 순서로 통합한다고 안내한다. 실행과 관찰의 질문을 구분하고, 가상 사례의 지시 범위 비교가 실행 결과와 다름을 짚는다.</a:t>
            </a:r>
          </a:p>
          <a:p xmlns:a="http://schemas.openxmlformats.org/drawingml/2006/main">
            <a:r>
              <a:t>2. (2:00–5:00 / Lecture) 원인 판단에는 실행 경로·선택한 지침 등 추가 확인이 필요함을 S61의 논리로 회수한다.</a:t>
            </a:r>
          </a:p>
          <a:p xmlns:a="http://schemas.openxmlformats.org/drawingml/2006/main">
            <a:r>
              <a:t>3. (5:00–7:00 / Lecture) 시스템 변경은 원인 Layer를 바꾸는 일이며, Prompt 보정과 재사용 Workflow 갱신의 범위가 다름을 회수한다.</a:t>
            </a:r>
          </a:p>
          <a:p xmlns:a="http://schemas.openxmlformats.org/drawingml/2006/main">
            <a:r>
              <a:t>4. (7:00–9:00 / Lecture) 같은 작업과 다른 대표 작업의 재평가가 답하는 질문을 비교한다. 새 결과는 제시하지 않는다.</a:t>
            </a:r>
          </a:p>
          <a:p xmlns:a="http://schemas.openxmlformats.org/drawingml/2006/main">
            <a:r>
              <a:t>5. (9:00–11:00 / VISUAL Demo) 정적 도식의 실행→관찰→원인 판단→시스템 변경→재평가를 순서대로 가리킨다. 자동 학습을 뜻하지 않는 교육용 운영 모델임을 닫고 실제 Meta 기록으로 전환한다.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기존 가상 단위/통합 사례를 다섯 단계에 대응한다. 실행 범위 확인→현재 지시와 기준 비교→Workflow 원인 가설 확인→확인된 원인 Layer의 지시 갱신→같은/다른 대표 작업 재평가 순서다. 단계별 질문만 가리키며 실제 실행·변경 성공·새 평가 결과를 채우지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DEC-0023  ·  course operational model  ·  no product loop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이 교육의 operational model이다. 자동 학습, Agent self-learning, 무한 반복, observed Product loop를 뜻하지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같은 수정을 되풀이하는 대신 다음 작업에도 영향을 주는 System을 살핀다.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자동화와 별개로 cause, recurrence, change layer, evaluation을 설계한다.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정적 5단계 도식과 발표자 지목을 사용한다. R1–R5 내부 번호나 운영 시간은 청중 화면에 표시하지 않는다. 자동 애니메이션·실행·모델 학습 주장은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“Feedback은 어느 순간 System change가 되는가?”를 생각하게 하고, 응답 제출은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“이번에는 실제 교육 제작 기록에서 Trial의 평가·보고 기준을 살펴보겠습니다. 어떤 관찰이 그 기준을 돌아보게 했는지부터 보겠습니다.” S67로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9분, 마지막 VISUAL Demo 2분. R1–R5는 approximate reveal cue이며 전체가 항상 표시되는 정적 도식으로 진행 가능.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S66와 production/preview/act4/S66.png를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S67 — 실제 제작 기록: TRIAL-006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S67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실제 제작 기록: TRIAL-006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4F  OBSERVED META LOOP / DEMO-04B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Demo 2분 (CAPTURED)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TRIAL-006은 Codex CLI에서 수행한 실제 성능 조사다. Global Skills와 시작 경고가 함께 관찰되어 Prompt-only attribution은 PARTIAL이다.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“실제 제작 과정에서 Trial의 평가·보고 기준을 돌아보게 한 관찰은 무엇이었나?”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(0:00–0:30 / CAPTURED Demo) OBSERVED META 표식과 이중선을 가리키며 앞의 가상 사례를 닫고 실제 교육 제작 기록으로 전환한다. 이번에 살펴볼 System은 Trial의 평가·보고 기준이라고 안내하고, 그 기준을 돌아보게 한 TRIAL-006의 관찰부터 연다.</a:t>
            </a:r>
          </a:p>
          <a:p xmlns:a="http://schemas.openxmlformats.org/drawingml/2006/main">
            <a:r>
              <a:t>2. (0:30–1:15 / CAPTURED Demo) 성능 작업 요청, Global Skill이 관여한 실행 환경, Prompt만의 효과로 분리하기 어려운 결과 해석의 세 영역을 짚는다.</a:t>
            </a:r>
          </a:p>
          <a:p xmlns:a="http://schemas.openxmlformats.org/drawingml/2006/main">
            <a:r>
              <a:t>3. (1:15–2:00 / CAPTURED Demo) PARTIAL은 결과가 없다는 뜻이 아니라 원인 귀속의 한계라고 열고 다음 장에서 두 질문을 나눈다.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상단의 Trial 평가·보고 기준은 이번 실제 사례에서 살펴볼 대상을 안내한다. 이 장은 실제 사건을 여는 화면으로, TRIAL-006 요청과 함께 관찰된 Global Skill/시작 경고를 먼저 짚고 인과 해석의 두 질문은 다음 장으로 넘긴다. 앞의 가상 stale 사례와 별개임을 이중선과 표식으로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TRIAL-006  ·  DEC-0016  ·  TRIAL-007/008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OBSERVED_META: 교육자료 제작·Trial 평가 기록이다. Demo Product change나 DEMO-04A 원인/수정 사례가 아니다. Codex CLI evidence를 현재 Desktop으로 일반화하지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결과가 있다는 사실과 그 원인을 안다는 것은 다르다.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ambient global environment가 있는 실행에서 attribution boundary를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TRIAL-006 기록을 재구성한 native 도식이다. 작업 요청→실행 환경→결과 해석을 차례로 읽는다. 실제 terminal screenshot이 아니며 현재 Desktop 동작을 주장하지 않는다. Hook 경고는 효과 관찰을 뜻하지 않고 MCP 시작 경고는 작업 결과를 뜻하지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이 시점에 Evidence grammar가 바뀌었음을 보고 Conceptual case와 구별한다.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이 결과를 Task Prompt만의 효과라고 말할 수 있을까?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CAPTURED 2분. 실제 기록의 정적 요약을 사용하고 새 제품 실행은 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S67와 production/preview/act4/S67.png를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S68 — 결과의 타당성과 원인 귀속은 별개다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S68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결과의 타당성과 원인 귀속은 별개다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4F  OBSERVED META LOOP / DEMO-04B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Demo 4분 (CAPTURED)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resize_nearest 측정은 기록된 코드·입력·runtime·host 범위에서 유효하지만, global Harness 영향 때문에 전체 workflow를 Prompt 하나의 효과로 분리할 수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“측정 결과가 유효해도 원인을 Prompt 하나로 좁힐 수 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(0:00–1:00 / CAPTURED Demo) 이번 수치는 S45의 image_statistics Benchmark와 별개인 TRIAL-006 resize_nearest 기록임을 먼저 짚는다. 왼쪽 “측정 결과는 유효한가?”와 오른쪽 “무엇이 결과를 만들었나?”를 독립된 질문으로 읽는다.</a:t>
            </a:r>
          </a:p>
          <a:p xmlns:a="http://schemas.openxmlformats.org/drawingml/2006/main">
            <a:r>
              <a:t>2. (1:00–2:00 / CAPTURED Demo) input/output hash와 같은 조건의 7회 one-call 측정 기록을 확인한다. 144.2→33.5 ms/call median은 작은 보조정보다. 합성 640×480 gray(max4095)→960×720, CPython 3.9.6, macOS 26.6.2 arm64 범위를 말한다.</a:t>
            </a:r>
          </a:p>
          <a:p xmlns:a="http://schemas.openxmlformats.org/drawingml/2006/main">
            <a:r>
              <a:t>3. (2:00–3:15 / CAPTURED Demo) performance-goal Global Skill이 evaluator·ledger·threshold에 관여한 기록을 설명한다. 수치 변화의 직접 원인이라고 단정하지 않는다.</a:t>
            </a:r>
          </a:p>
          <a:p xmlns:a="http://schemas.openxmlformats.org/drawingml/2006/main">
            <a:r>
              <a:t>4. (3:15–4:00 / CAPTURED Demo) Hook 경고와 효과, MCP 시작 오류와 작업 결과를 구분하고, 결과와 원인 해석을 별도로 기록해야 한다고 닫는다.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왼쪽의 결과 타당성과 오른쪽의 원인 귀속을 각각 별도 질문으로 읽는다. 실제 hash와 측정 범위는 왼쪽에, Global 영향과 PARTIAL은 오른쪽에 대응한다. 수치를 새로운 실행 결과로 말하지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TRIAL-006  ·  7 one-call samples  ·  disposable worktree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144.2 → 33.5 ms/call median은 기록된 synthetic 640×480 grayscale input (max 4095) → 960×720, CPython 3.9.6, macOS 26.6.2 arm64에 한정한다. Prompt-only attribution은 PARTIAL. 4.30×/76.8% hero metric은 사용하지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숫자가 있어도 무엇이 결과를 만들었는지 자동으로 알 수는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Result validity와 causal attribution의 확신 수준을 따로 보고한다.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필요하면 같은 원리를 C++ benchmark의 입력, compiler, host, toolchain 범위로 transfer하되 새 사례로 확장하지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CAPTURED trial summary. Input/output SHA-256 guards matched; seven one-call samples. `performance-goal` global Skill influenced evaluator/ledger/threshold, but is not proven the direct cause of the metric. Hook warnings do not prove hook effect; MCP startup error does not evidence task result.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왼쪽은 확인된 result validity, 오른쪽은 남은 attribution uncertainty를 비교한다.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이 한계가 후속 Trial의 평가 방식에 어떤 변경을 만들었을까?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CAPTURED Demo 4분. 성능 숫자를 성과 발표처럼 연출하거나 일반화하지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S68와 production/preview/act4/S68.png를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S69 — 평가와 보고 규칙을 Evidence에 맞추다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S69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평가와 보고 규칙을 Evidence에 맞추다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4F  OBSERVED META LOOP / DEMO-04B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1분 + Demo 2분 (CAPTURED)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DEC-0016은 TRIAL-006을 PARTIAL로 보존하고 clean isolation을 진행 조건으로 요구하지 않으며, 후속 CLI Trial에서 관찰된 global influence를 기록하도록 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“Prompt 효과를 분리할 수 없다면 다음 Trial은 어떻게 기록해야 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(0:00–1:00 / Lecture) 기존 평가가 작업·Repository 중심이어서 주변 Harness 영향 설명이 충분하지 않았다고 짚는다.</a:t>
            </a:r>
          </a:p>
          <a:p xmlns:a="http://schemas.openxmlformats.org/drawingml/2006/main">
            <a:r>
              <a:t>2. (1:00–2:15 / CAPTURED Demo) 우측 후속 기록 기준에서 관찰한 Skill, 경고와 실제 사용 여부, 결과의 해석 범위를 차례로 가리킨다.</a:t>
            </a:r>
          </a:p>
          <a:p xmlns:a="http://schemas.openxmlformats.org/drawingml/2006/main">
            <a:r>
              <a:t>3. (2:15–3:00 / CAPTURED Demo) DEC-0016은 기존 결과를 PARTIAL로 보존하고 관찰된 조건을 함께 남기는 결정이었다고 정리한다. Product 코드/Skill 수정이나 격리 환경 구축은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이 장은 DEC-0016에서 바뀐 평가·보고 기준에 집중한다. 이전 기록의 빈틈→이후에 남길 환경 관찰 순서로 읽고 제품 코드나 Demo Skill 변경과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TRIAL-006  →  DEC-0016  ·  evaluation / reporting policy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실제 Training Production evaluation/reporting governance 변화다. Product code 또는 Demo Skill을 수정하지 않았고 clean isolation을 구축했다고 말하지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환경 조건과 수행 도구가 다르면 결과 설명도 그 경계를 밝혀야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미통제 조건을 숨기지 않고 Trial 결과의 사용 범위를 제한한다.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실제 평가·보고 결정의 의미를 Before/After로 재구성했다. 원문 직접 인용이나 Product diff로 표현하지 않는다. PARTIAL 보존과 관찰된 Global influence 기록을 변경 내용으로 한정한다.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무엇이 바뀌었는지와 무엇이 바뀌지 않았는지 비교한다.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이 기준은 TRIAL-007/008에 어떻게 적용됐을까?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1분 + CAPTURED 2분. Trial/reporting boundary에만 머문다.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S69와 production/preview/act4/S69.png를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S70 — 후속 기록은 개선됐지만 완전하지 않았다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S70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후속 기록은 개선됐지만 완전하지 않았다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4F  OBSERVED META LOOP / DEMO-04B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1분 + Case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TRIAL-007은 global influence를 기록했지만 MCP report와 stderr가 불일치한다. TRIAL-008은 repository Skill 호출과 global influence를 별도로 기록했다. 품질 향상은 측정되지 않았다.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“새로운 기록 규칙이 모든 불확실성을 해결했을까?”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(0:00–1:00 / Lecture) TRIAL-007의 최종 보고 “MCP 경고 없음”과 보존된 stderr의 Nimble AuthRequired가 서로 맞지 않는 점을 가리킨다. 화면 문구는 원문 의미의 요약이다.</a:t>
            </a:r>
          </a:p>
          <a:p xmlns:a="http://schemas.openxmlformats.org/drawingml/2006/main">
            <a:r>
              <a:t>2. (1:00–2:00 / Case) 오류 표시는 MCP 작업 결과를 뜻하지 않음을 명확히 한다. TRIAL-008은 Repository Skill 발견·명시 호출과 Global influence를 따로 기록한 Codex CLI 0.154.0 사례다.</a:t>
            </a:r>
          </a:p>
          <a:p xmlns:a="http://schemas.openxmlformats.org/drawingml/2006/main">
            <a:r>
              <a:t>3. (2:00–3:00 / Case) 기록 경계가 명확해진 부분과 남은 불일치를 함께 보존한다. 완전한 목록이나 측정된 품질 개선이라고 말하지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TRIAL-007 최종 보고와 보존된 stderr를 대조한다. Nimble AuthRequired는 인증 필요 경고라는 뜻으로만 풀고 MCP 작업 결과나 도구 사용 성공으로 확대하지 않는다. 이후 TRIAL-008에서 호출과 Global influence를 따로 기록한 사실을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TRIAL-007 / TRIAL-008  ·  DEC-0016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적용은 부분적이다. 완전한 environment inventory, 완벽한 report, 측정된 Trial-quality improvement를 주장하지 않는다. TRIAL-007의 stderr에는 Nimble AuthRequired가 있으나 MCP task result는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개선된 기록도 빠진 점과 불일치가 있는지 다시 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보고, stderr, global influence inventory를 서로 대조하고 claim boundary를 유지한다.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위쪽 두 행은 TRIAL-007 보고/stderr의 의미 대조이고, 아래 행은 TRIAL-008의 별도 기록을 요약한다. 실제 로그 캡처로 위장하지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후속 기록이 무엇을 명확히 했고 무엇을 남겼는지 비교한다.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S71에서 실제로 바뀐 System과 미확정 사항을 한 번에 회수한다.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1분 + Case 2분. 불일치와 unknown을 숨기지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S70와 production/preview/act4/S70.png를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S71 — 실제 Meta Loop에서 바뀐 것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S71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실제 Meta Loop에서 바뀐 것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4F  OBSERVED META LOOP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1분 + Case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TRIAL-006의 ambient influence 및 PARTIAL attribution은 DEC-0016의 Trial evaluation/reporting 변경으로 이어졌고 TRIAL-007/008에서 기록 경계가 부분적으로 적용됐다. Product code가 바뀐 것은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“무엇이 바뀌었고, 무엇은 아직 모르는가?”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(0:00–1:00 / Lecture) TRIAL-006의 관찰→DEC-0016→후속 TRIAL-007/008이라는 실제 흐름을 한 문장으로 회수한다.</a:t>
            </a:r>
          </a:p>
          <a:p xmlns:a="http://schemas.openxmlformats.org/drawingml/2006/main">
            <a:r>
              <a:t>2. (1:00–2:00 / Case) 왼쪽에서 바뀐 대상이 교육 제작의 평가·보고 기준임을 짚는다.</a:t>
            </a:r>
          </a:p>
          <a:p xmlns:a="http://schemas.openxmlformats.org/drawingml/2006/main">
            <a:r>
              <a:t>3. (2:00–3:00 / Case) 오른쪽의 원인별 효과, 환경 목록의 완전성, Trial 품질 향상은 미확인이라고 남기고 C++ 전이로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이 장은 Meta 사례의 남은 한계를 닫는다. 실제 바뀐 평가·보고 기준과 여전히 미확인인 원인별 효과·환경 목록·품질 향상을 나누고 S72의 적용 질문으로 넘긴다.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TRIAL-006  →  DEC-0016  →  TRIAL-007/008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후속 report에는 불일치가 남고 quality effect는 미측정이다. DEMO-04A conceptual stale workflow와 합치지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실제로 바뀐 것과 아직 모르는 점을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Loop의 system change는 평가·보고 거버넌스일 수 있으나 outcome은 재평가해야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실제로 바뀐 것과 아직 확인 못한 것의 두 영역을 비교한다. 앞의 Timeline을 다시 길게 강의하거나 가상 Workflow의 실제 복구로 합치지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Changed/Unknown 두 칸을 비교하며 Meta case를 정리한다.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“평가 체계를 바꾼 뒤에도 확인할 것이 남았습니다. 이 원리를 C++ Vision 업무로 옮겨, 환경이 달라졌을 때 검증 조건을 어떻게 다시 볼지 생각해 보겠습니다.” S72로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1분 + Case 2분. preceding slides를 다시 풀어 설명하지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S71와 production/preview/act4/S71.png를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S72 — Project와 환경이 바뀌면 검증도 다시 본다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S72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Project와 환경이 바뀌면 검증도 다시 본다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4 / 4G  C++ VISION TRANSFER  /  4H DISCUSSION &amp; TRANSITION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20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Case 7분 + Reflection 2분 + Q&amp;A 7분 + Transition 4분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Project나 환경이 바뀌면 기존 performance 가정과 verification 절차가 여전히 맞는지 다시 확인한다. 반복되는 마찰은 관찰하고 원인을 찾아 관련 layer를 바꾼 뒤 benchmark와 regression으로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“같은 문제가 두 번째로 생기면 다시 Prompt를 고칠까, System을 살펴볼까?”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(0:00–2:00 / Case) 앞의 평가 원리를 업무의 검증 조건에 적용해 본다고 안내하고 GPU·빌드·측정 조건이 달라진 상황을 가정한다. 실제 C++ 사건이나 구체적 버전 조합을 주장하지 않는다.</a:t>
            </a:r>
          </a:p>
          <a:p xmlns:a="http://schemas.openxmlformats.org/drawingml/2006/main">
            <a:r>
              <a:t>2. (2:00–4:30 / Case) 그림의 입력·코드·장치와 기존 가정·측정 조건 질문을 가리킨다. 기존 판단이 어떤 조건에서 맞았는지, 입력과 실행 조건이 비교 가능한지 묻는다. 관찰된 성능 저하나 숫자를 만들지 않는다.</a:t>
            </a:r>
          </a:p>
          <a:p xmlns:a="http://schemas.openxmlformats.org/drawingml/2006/main">
            <a:r>
              <a:t>3. (4:30–7:00 / Case) 출력 그림과 기능 계약 질문에서 성능과 함께 다시 확인할 동작 범위를 살핀다. 반복 신호→원인 Layer 조사→관련 시스템 변경→Benchmark/Regression 재확인으로 연결한다.</a:t>
            </a:r>
          </a:p>
          <a:p xmlns:a="http://schemas.openxmlformats.org/drawingml/2006/main">
            <a:r>
              <a:t>4. (7:00–9:00 / Reflection) 하단 질문을 가리켜 자기 업무의 반복 마찰 하나를 마음속으로 떠올리게 한다. 기록·답변·발표는 요구하지 않는다.</a:t>
            </a:r>
          </a:p>
          <a:p xmlns:a="http://schemas.openxmlformats.org/drawingml/2006/main">
            <a:r>
              <a:t>5. (9:00–16:00 / Q&amp;A) 질문을 받는다. 질문이 없으면 아래 Fallback 질문을 하나씩 골라 강사가 짧게 해설한다. 새로운 기술 사례나 제품 설정 강의를 열지 않는다.</a:t>
            </a:r>
          </a:p>
          <a:p xmlns:a="http://schemas.openxmlformats.org/drawingml/2006/main">
            <a:r>
              <a:t>6. (16:00–20:00 / Transition) 16분에 질문을 마감한다. 가정→측정 조건→기능 계약 세 질문을 전체 Story의 Context→Harness→Loop와 연결하고 S73의 여정 회수로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왼쪽 그림에서 조건 변화만 확인하고 오른쪽 01 기존 가정→02 측정 조건→03 기능 계약을 위에서 아래로 짚는다. 마지막에만 하단 큰 질문으로 시선을 옮긴다. 7–9분 Reflection, 9–16분 Q&amp;A, 16–20분 Transition은 그대로이며 정적 화면을 사용한다.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BEAT-059 / TRANS-012  ·  teaching transfer, not observed C++ incident 삽화 출처: prototype/image-illustration-pilot/assets/S72.png, built-in image_gen, 2026-10-18. 생성 프롬프트: prototype/image-illustration-pilot/PROMPTS.md. 실제 화면·현장 사진·관찰 자료가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COURSE MODEL / C++ VISION TRANSFER. Toolchain, CUDA/GPU architecture, build/benchmark configuration은 hypothetical teaching context이며 실제 Demo history가 아니다. 구체적인 Windows/shell/IDE/hardware setup을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같은 문제가 반복되면 Prompt 외에도 Project와 workflow를 살핀다.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Project/environment 변화가 verification assumptions에 미치는 영향을 평가한다.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Primary bridge. 변화한 조건에서 기존 tuning 가정과 benchmark/regression 조건을 다시 확인하는 engineering pattern만 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정적 화면과 speaker-led highlighting을 사용한다. 화면에는 세 확인 대상과 성찰 질문을 두고, 20분 운영표는 Notes에만 둔다. Live 프로젝트·제품 실행·애니메이션 의존 없음. 정적 삽화의 입력→처리 코드→실행 장치→출력을 차례로 가리킨다. 황색 장치·설정 표시는 검토할 조건의 변화이며 실패 원인이 확정됐다는 뜻이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7–9분 개인 Reflection은 답변·공유 없이 진행한다. 9–16분 Q&amp;A에서는 실제 회사 환경의 검증되지 않은 해결책을 단정하지 않고 어떤 조건을 확인해야 하는지로 답한다.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“이제 처음의 질문부터 Task·Context·Harness·Loop까지, 어떤 문제에 대응해 왔는지 전체 Story를 다시 연결하겠습니다.” ACT 5 S73으로 넘긴다.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0–7 Case 7분, 7–9 Reflection 2분, 9–16 Q&amp;A 7분, 16–20 Transition 4분으로 20분을 유지한다. Cutoff cue: “이 질문은 여기까지 정리하고, 이제 처음 문제부터 지금의 Loop까지 연결해 보겠습니다.” 실제 20분 리허설은 수행하지 않았다. 0–2분 전체 그림/변경 표식, 2–4:30분 입력·코드·장치의 가정과 비교 조건, 4:30–7분 출력·기능 계약을 설명한다. 이후 7–9분 Reflection, 9–16분 Q&amp;A, 16–20분 Transition을 유지한다.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정적 PPT/PNG를 기본 경로로 사용한다. Q&amp;A가 없으면 ①“예전 Benchmark와 비교하기 전에 어떤 조건을 맞춰야 할까요?” ②“성능이 달라졌을 때 기능 계약은 무엇으로 다시 확인할까요?” ③“두 번째로 같은 문제가 생기면 Prompt 외에 무엇을 살펴볼까요?” 중 하나씩 선택한다. 응답을 요구하지 않고 기존 세 질문의 범위에서 강사가 짧게 해설한다. 정적 파일: production/preview/act4/S72.png 및 production/preview/full/S72.png.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e3f8235b883488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12a0354584a444d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9019f0d8e8c42fd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497d2bc089f4857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65e10df8b964f27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c6a1849e3f7406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761A8D0-8BE5-4233-AAF7-7B1C338CBFC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6A096CF0-9502-4942-B1DE-4A1EA7DFA556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78653DD4-50CB-404A-B78D-A771F48F9F8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CBB1417-B3D3-4DAD-9AD7-6A7ECFA0BCE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2749C130-9F77-4B5C-BA00-1C84077F29F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38617C7F-D160-4233-8393-7EB662912E6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148DD505-B6EA-4E54-8649-C3D8503E176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D074C8BC-4D9D-4C0B-AF30-89F80746ED5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8301A3E-5AD0-4B4D-9F98-734B7CB248B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9F753DA1-F13C-4C76-86DE-0FB8B50DF42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ef79328e6244638" /><Relationship Type="http://schemas.openxmlformats.org/officeDocument/2006/relationships/slideLayout" Target="/ppt/slideLayouts/slideLayout1.xml" Id="Rff5d5321a5344183" /><Relationship Type="http://schemas.openxmlformats.org/officeDocument/2006/relationships/slideLayout" Target="/ppt/slideLayouts/slideLayout2.xml" Id="Rc453b694de1147b6" /><Relationship Type="http://schemas.openxmlformats.org/officeDocument/2006/relationships/slideLayout" Target="/ppt/slideLayouts/slideLayout3.xml" Id="R61a8322e4a954c36" /><Relationship Type="http://schemas.openxmlformats.org/officeDocument/2006/relationships/slideLayout" Target="/ppt/slideLayouts/slideLayout4.xml" Id="Rd466436132c24ef1" /><Relationship Type="http://schemas.openxmlformats.org/officeDocument/2006/relationships/slideLayout" Target="/ppt/slideLayouts/slideLayout5.xml" Id="R0d37802ffd204ce7" /><Relationship Type="http://schemas.openxmlformats.org/officeDocument/2006/relationships/slideLayout" Target="/ppt/slideLayouts/slideLayout6.xml" Id="R0709e23e9203496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f5d5321a5344183"/>
    <p:sldLayoutId xmlns:r="http://schemas.openxmlformats.org/officeDocument/2006/relationships" id="2147483650" r:id="Rc453b694de1147b6"/>
    <p:sldLayoutId xmlns:r="http://schemas.openxmlformats.org/officeDocument/2006/relationships" id="2147483651" r:id="R61a8322e4a954c36"/>
    <p:sldLayoutId xmlns:r="http://schemas.openxmlformats.org/officeDocument/2006/relationships" id="2147483652" r:id="Rd466436132c24ef1"/>
    <p:sldLayoutId xmlns:r="http://schemas.openxmlformats.org/officeDocument/2006/relationships" id="2147483653" r:id="R0d37802ffd204ce7"/>
    <p:sldLayoutId xmlns:r="http://schemas.openxmlformats.org/officeDocument/2006/relationships" id="2147483654" r:id="R0709e23e9203496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f7af5ae38954d0b" /><Relationship Type="http://schemas.openxmlformats.org/officeDocument/2006/relationships/notesSlide" Target="/ppt/notesSlides/notesSlide1.xml" Id="R5ce09be9d195450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d6652382ed048bd" /><Relationship Type="http://schemas.openxmlformats.org/officeDocument/2006/relationships/notesSlide" Target="/ppt/notesSlides/notesSlide2.xml" Id="R7711faf7b4ce4b6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e3c87a03b0b464d" /><Relationship Type="http://schemas.openxmlformats.org/officeDocument/2006/relationships/notesSlide" Target="/ppt/notesSlides/notesSlide3.xml" Id="Rc4eb3c22dbb5497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c6d6785a50a409f" /><Relationship Type="http://schemas.openxmlformats.org/officeDocument/2006/relationships/notesSlide" Target="/ppt/notesSlides/notesSlide4.xml" Id="R952e0fd825e04fc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a75faf544a54ab1" /><Relationship Type="http://schemas.openxmlformats.org/officeDocument/2006/relationships/notesSlide" Target="/ppt/notesSlides/notesSlide5.xml" Id="R31d8d1dbc16e4e3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4f5ca9a447c4d70" /><Relationship Type="http://schemas.openxmlformats.org/officeDocument/2006/relationships/notesSlide" Target="/ppt/notesSlides/notesSlide6.xml" Id="Ra88fe88d12ed421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c2cf9db307b443e" /><Relationship Type="http://schemas.openxmlformats.org/officeDocument/2006/relationships/notesSlide" Target="/ppt/notesSlides/notesSlide7.xml" Id="R61e76bd0b18a46e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8f85c71a49043cb" /><Relationship Type="http://schemas.openxmlformats.org/officeDocument/2006/relationships/notesSlide" Target="/ppt/notesSlides/notesSlide8.xml" Id="Ra279192adcd5452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8a400a6ce124da0" /><Relationship Type="http://schemas.openxmlformats.org/officeDocument/2006/relationships/notesSlide" Target="/ppt/notesSlides/notesSlide9.xml" Id="R18bfb65c35ef49e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2cf0fcc5c784598" /><Relationship Type="http://schemas.openxmlformats.org/officeDocument/2006/relationships/notesSlide" Target="/ppt/notesSlides/notesSlide10.xml" Id="Rd7bc35af797c4bf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8812b38b1874be6" /><Relationship Type="http://schemas.openxmlformats.org/officeDocument/2006/relationships/notesSlide" Target="/ppt/notesSlides/notesSlide11.xml" Id="R87aa9ddfe97e453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17e807437a64179" /><Relationship Type="http://schemas.openxmlformats.org/officeDocument/2006/relationships/notesSlide" Target="/ppt/notesSlides/notesSlide12.xml" Id="R5abe5a81079349b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24bb64f31804aed" /><Relationship Type="http://schemas.openxmlformats.org/officeDocument/2006/relationships/notesSlide" Target="/ppt/notesSlides/notesSlide13.xml" Id="R0648b0d827294f2e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137f7597cd84681" /><Relationship Type="http://schemas.openxmlformats.org/officeDocument/2006/relationships/notesSlide" Target="/ppt/notesSlides/notesSlide14.xml" Id="R35f46576514d4462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9b1922c8dd84d21" /><Relationship Type="http://schemas.openxmlformats.org/officeDocument/2006/relationships/notesSlide" Target="/ppt/notesSlides/notesSlide15.xml" Id="R2c611c6d01734fa1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eb342f774f74b0e" /><Relationship Type="http://schemas.openxmlformats.org/officeDocument/2006/relationships/notesSlide" Target="/ppt/notesSlides/notesSlide16.xml" Id="R3f23d257b5d54708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bc6d3b3e1cd4ebe" /><Relationship Type="http://schemas.openxmlformats.org/officeDocument/2006/relationships/notesSlide" Target="/ppt/notesSlides/notesSlide17.xml" Id="R1b463f747ad14fca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2980740c09146d5" /><Relationship Type="http://schemas.openxmlformats.org/officeDocument/2006/relationships/image" Target="/ppt/media/image.png" Id="R097da5bf82fe4ac7" /><Relationship Type="http://schemas.openxmlformats.org/officeDocument/2006/relationships/notesSlide" Target="/ppt/notesSlides/notesSlide18.xml" Id="R412985512d3e42b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ACT 4 · 확인된 제품 결과">
            <a:extLst xmlns:a="http://schemas.openxmlformats.org/drawingml/2006/main">
              <a:ext uri="{FF2B5EF4-FFF2-40B4-BE49-F238E27FC236}">
                <a16:creationId xmlns:a16="http://schemas.microsoft.com/office/drawing/2014/main" id="{B4CB6C59-ED68-4CEC-ABE0-98992B90E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확인된 제품 결과</a:t>
            </a:r>
          </a:p>
        </p:txBody>
      </p:sp>
      <p:sp>
        <p:nvSpPr>
          <p:cNvPr id="2" name="S55">
            <a:extLst xmlns:a="http://schemas.openxmlformats.org/drawingml/2006/main">
              <a:ext uri="{FF2B5EF4-FFF2-40B4-BE49-F238E27FC236}">
                <a16:creationId xmlns:a16="http://schemas.microsoft.com/office/drawing/2014/main" id="{06891154-DDCE-4563-8CFB-7729545F1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S55</a:t>
            </a:r>
          </a:p>
        </p:txBody>
      </p:sp>
      <p:sp>
        <p:nvSpPr>
          <p:cNvPr id="3" name="여기까지는 잘 동작했다">
            <a:extLst xmlns:a="http://schemas.openxmlformats.org/drawingml/2006/main">
              <a:ext uri="{FF2B5EF4-FFF2-40B4-BE49-F238E27FC236}">
                <a16:creationId xmlns:a16="http://schemas.microsoft.com/office/drawing/2014/main" id="{E8A96673-0E62-45EF-9605-0270F58FF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여기까지는 잘 동작했다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7A7E40-FB21-4303-86CD-470FBC655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STATE-04-PERF · image_statistics · 실제 기록 요약">
            <a:extLst xmlns:a="http://schemas.openxmlformats.org/drawingml/2006/main">
              <a:ext uri="{FF2B5EF4-FFF2-40B4-BE49-F238E27FC236}">
                <a16:creationId xmlns:a16="http://schemas.microsoft.com/office/drawing/2014/main" id="{96842E40-AC3C-48C3-92BA-7A99597D7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STATE-04-PERF · image_statistics · 실제 기록 요약</a:t>
            </a:r>
          </a:p>
        </p:txBody>
      </p:sp>
      <p:sp>
        <p:nvSpPr>
          <p:cNvPr id="6" name="기록된 입력·코드·환경의 결과이며, 뒤의 가상 사례와 별개다.">
            <a:extLst xmlns:a="http://schemas.openxmlformats.org/drawingml/2006/main">
              <a:ext uri="{FF2B5EF4-FFF2-40B4-BE49-F238E27FC236}">
                <a16:creationId xmlns:a16="http://schemas.microsoft.com/office/drawing/2014/main" id="{EF33EFDC-A575-4440-B2C5-878DC7864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기록된 입력·코드·환경의 결과이며, 뒤의 가상 사례와 별개다.</a:t>
            </a:r>
          </a:p>
        </p:txBody>
      </p:sp>
      <p:sp>
        <p:nvSpPr>
          <p:cNvPr id="7" name="작업을 맡기고, 결과를 확인할 수 있었다">
            <a:extLst xmlns:a="http://schemas.openxmlformats.org/drawingml/2006/main">
              <a:ext uri="{FF2B5EF4-FFF2-40B4-BE49-F238E27FC236}">
                <a16:creationId xmlns:a16="http://schemas.microsoft.com/office/drawing/2014/main" id="{3FA2ADF2-B682-45F8-8CD8-47101C886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145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작업을 맡기고, 결과를 확인할 수 있었다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CF6742-0761-4339-BB17-3FBA088C0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323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9" name="동작 계약">
            <a:extLst xmlns:a="http://schemas.openxmlformats.org/drawingml/2006/main">
              <a:ext uri="{FF2B5EF4-FFF2-40B4-BE49-F238E27FC236}">
                <a16:creationId xmlns:a16="http://schemas.microsoft.com/office/drawing/2014/main" id="{15B5E431-86B5-49B7-AE91-5F998469A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43250"/>
            <a:ext cx="323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동작 계약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328B8C-9B76-4FF4-88EE-23A236954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952750"/>
            <a:ext cx="323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1" name="테스트">
            <a:extLst xmlns:a="http://schemas.openxmlformats.org/drawingml/2006/main">
              <a:ext uri="{FF2B5EF4-FFF2-40B4-BE49-F238E27FC236}">
                <a16:creationId xmlns:a16="http://schemas.microsoft.com/office/drawing/2014/main" id="{1AA3C3E7-55B2-40A8-9E75-8F0724330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143250"/>
            <a:ext cx="323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테스트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0D1F42-C0A9-4B55-9B97-2B1F505AA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952750"/>
            <a:ext cx="323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3" name="성능 측정">
            <a:extLst xmlns:a="http://schemas.openxmlformats.org/drawingml/2006/main">
              <a:ext uri="{FF2B5EF4-FFF2-40B4-BE49-F238E27FC236}">
                <a16:creationId xmlns:a16="http://schemas.microsoft.com/office/drawing/2014/main" id="{4E97797E-F450-4F25-A420-00E9F87AD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143250"/>
            <a:ext cx="323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성능 측정</a:t>
            </a:r>
          </a:p>
        </p:txBody>
      </p:sp>
      <p:sp>
        <p:nvSpPr>
          <p:cNvPr id="14" name="입력·출력 조건 확인">
            <a:extLst xmlns:a="http://schemas.openxmlformats.org/drawingml/2006/main">
              <a:ext uri="{FF2B5EF4-FFF2-40B4-BE49-F238E27FC236}">
                <a16:creationId xmlns:a16="http://schemas.microsoft.com/office/drawing/2014/main" id="{800A3F04-8D9D-4025-9D47-6289EE360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71900"/>
            <a:ext cx="32861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입력·출력 조건 확인</a:t>
            </a:r>
          </a:p>
        </p:txBody>
      </p:sp>
      <p:sp>
        <p:nvSpPr>
          <p:cNvPr id="15" name="전체 테스트 11/11">
            <a:extLst xmlns:a="http://schemas.openxmlformats.org/drawingml/2006/main">
              <a:ext uri="{FF2B5EF4-FFF2-40B4-BE49-F238E27FC236}">
                <a16:creationId xmlns:a16="http://schemas.microsoft.com/office/drawing/2014/main" id="{E3BC9FF8-84E6-4F93-A1AB-CA66D9E86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771900"/>
            <a:ext cx="32861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전체 테스트 11/11</a:t>
            </a:r>
          </a:p>
        </p:txBody>
      </p:sp>
      <p:sp>
        <p:nvSpPr>
          <p:cNvPr id="16" name="Benchmark guard 확인">
            <a:extLst xmlns:a="http://schemas.openxmlformats.org/drawingml/2006/main">
              <a:ext uri="{FF2B5EF4-FFF2-40B4-BE49-F238E27FC236}">
                <a16:creationId xmlns:a16="http://schemas.microsoft.com/office/drawing/2014/main" id="{430C3BB5-A3C5-4972-BBC6-5967BE6EB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771900"/>
            <a:ext cx="3333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Benchmark guard 확인</a:t>
            </a:r>
          </a:p>
        </p:txBody>
      </p:sp>
      <p:sp>
        <p:nvSpPr>
          <p:cNvPr id="17" name="그렇다면 프로젝트가 바뀐 뒤에도 맞을까?">
            <a:extLst xmlns:a="http://schemas.openxmlformats.org/drawingml/2006/main">
              <a:ext uri="{FF2B5EF4-FFF2-40B4-BE49-F238E27FC236}">
                <a16:creationId xmlns:a16="http://schemas.microsoft.com/office/drawing/2014/main" id="{EEE8DDB4-7239-4F0A-834D-B196069CF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9585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그렇다면 프로젝트가 바뀐 뒤에도 맞을까?</a:t>
            </a:r>
          </a:p>
        </p:txBody>
      </p:sp>
    </p:spTree>
    <p:extLst>
      <p:ext uri="{BB962C8B-B14F-4D97-AF65-F5344CB8AC3E}">
        <p14:creationId xmlns:p14="http://schemas.microsoft.com/office/powerpoint/2010/main" val="104676492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ACT 4 · CONCEPTUAL / 가상 사례">
            <a:extLst xmlns:a="http://schemas.openxmlformats.org/drawingml/2006/main">
              <a:ext uri="{FF2B5EF4-FFF2-40B4-BE49-F238E27FC236}">
                <a16:creationId xmlns:a16="http://schemas.microsoft.com/office/drawing/2014/main" id="{6FD43998-6524-41B9-965D-D9B3B9EF2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CONCEPTUAL / 가상 사례</a:t>
            </a:r>
          </a:p>
        </p:txBody>
      </p:sp>
      <p:sp>
        <p:nvSpPr>
          <p:cNvPr id="2" name="S56">
            <a:extLst xmlns:a="http://schemas.openxmlformats.org/drawingml/2006/main">
              <a:ext uri="{FF2B5EF4-FFF2-40B4-BE49-F238E27FC236}">
                <a16:creationId xmlns:a16="http://schemas.microsoft.com/office/drawing/2014/main" id="{4E8CF91A-1DB1-428B-8814-FEA95E24D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S56</a:t>
            </a:r>
          </a:p>
        </p:txBody>
      </p:sp>
      <p:sp>
        <p:nvSpPr>
          <p:cNvPr id="3" name="개념 사례: Project와 Workflow는 현재 맞다">
            <a:extLst xmlns:a="http://schemas.openxmlformats.org/drawingml/2006/main">
              <a:ext uri="{FF2B5EF4-FFF2-40B4-BE49-F238E27FC236}">
                <a16:creationId xmlns:a16="http://schemas.microsoft.com/office/drawing/2014/main" id="{35A0618C-EF2D-410D-8EA2-449D11548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개념 사례: Project와 Workflow는 현재 맞다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6193F7-08F1-453B-A893-5F36868F8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DEMO-04A · 프로젝트 변화 전의 가상 설정">
            <a:extLst xmlns:a="http://schemas.openxmlformats.org/drawingml/2006/main">
              <a:ext uri="{FF2B5EF4-FFF2-40B4-BE49-F238E27FC236}">
                <a16:creationId xmlns:a16="http://schemas.microsoft.com/office/drawing/2014/main" id="{8CB7DF1E-D67C-4E77-A002-1FC34544E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DEMO-04A · 프로젝트 변화 전의 가상 설정</a:t>
            </a:r>
          </a:p>
        </p:txBody>
      </p:sp>
      <p:sp>
        <p:nvSpPr>
          <p:cNvPr id="6" name="실제 Repository 변경 이력, Agent 실행 또는 테스트 결과가 아니다.">
            <a:extLst xmlns:a="http://schemas.openxmlformats.org/drawingml/2006/main">
              <a:ext uri="{FF2B5EF4-FFF2-40B4-BE49-F238E27FC236}">
                <a16:creationId xmlns:a16="http://schemas.microsoft.com/office/drawing/2014/main" id="{C9C188A2-1194-4F03-B966-425821596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실제 Repository 변경 이력, Agent 실행 또는 테스트 결과가 아니다.</a:t>
            </a:r>
          </a:p>
        </p:txBody>
      </p:sp>
      <p:sp>
        <p:nvSpPr>
          <p:cNvPr id="7" name="처음에는 두 기준이 같았다">
            <a:extLst xmlns:a="http://schemas.openxmlformats.org/drawingml/2006/main">
              <a:ext uri="{FF2B5EF4-FFF2-40B4-BE49-F238E27FC236}">
                <a16:creationId xmlns:a16="http://schemas.microsoft.com/office/drawing/2014/main" id="{2BB22C6B-2D25-47D3-BB97-0DCEA3B6F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10972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처음에는 두 기준이 같았다</a:t>
            </a:r>
          </a:p>
        </p:txBody>
      </p:sp>
      <p:sp>
        <p:nvSpPr>
          <p:cNvPr id="8" name="프로젝트의 검증 기준">
            <a:extLst xmlns:a="http://schemas.openxmlformats.org/drawingml/2006/main">
              <a:ext uri="{FF2B5EF4-FFF2-40B4-BE49-F238E27FC236}">
                <a16:creationId xmlns:a16="http://schemas.microsoft.com/office/drawing/2014/main" id="{08364746-E60F-4258-BFA9-FD7F385AE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프로젝트의 검증 기준</a:t>
            </a:r>
          </a:p>
        </p:txBody>
      </p:sp>
      <p:sp>
        <p:nvSpPr>
          <p:cNvPr id="9" name="재사용 Workflow의 지시">
            <a:extLst xmlns:a="http://schemas.openxmlformats.org/drawingml/2006/main">
              <a:ext uri="{FF2B5EF4-FFF2-40B4-BE49-F238E27FC236}">
                <a16:creationId xmlns:a16="http://schemas.microsoft.com/office/drawing/2014/main" id="{8751417C-D7FB-4F38-BCAD-CBA7B35B5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952750"/>
            <a:ext cx="4857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재사용 Workflow의 지시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70AD1E-79C8-42CC-B9FF-24CF59AF3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052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51C2C10-93CA-4F7E-AD06-22B641F9D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5052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2" name="단위 테스트">
            <a:extLst xmlns:a="http://schemas.openxmlformats.org/drawingml/2006/main">
              <a:ext uri="{FF2B5EF4-FFF2-40B4-BE49-F238E27FC236}">
                <a16:creationId xmlns:a16="http://schemas.microsoft.com/office/drawing/2014/main" id="{E6410FA4-13C2-402D-830B-66509129A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4876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단위 테스트</a:t>
            </a:r>
          </a:p>
        </p:txBody>
      </p:sp>
      <p:sp>
        <p:nvSpPr>
          <p:cNvPr id="13" name="단위 테스트">
            <a:extLst xmlns:a="http://schemas.openxmlformats.org/drawingml/2006/main">
              <a:ext uri="{FF2B5EF4-FFF2-40B4-BE49-F238E27FC236}">
                <a16:creationId xmlns:a16="http://schemas.microsoft.com/office/drawing/2014/main" id="{B221BBD3-3F8F-4C69-AF14-78E5514BE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857625"/>
            <a:ext cx="4876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단위 테스트</a:t>
            </a:r>
          </a:p>
        </p:txBody>
      </p:sp>
      <p:sp>
        <p:nvSpPr>
          <p:cNvPr id="14" name="=">
            <a:extLst xmlns:a="http://schemas.openxmlformats.org/drawingml/2006/main">
              <a:ext uri="{FF2B5EF4-FFF2-40B4-BE49-F238E27FC236}">
                <a16:creationId xmlns:a16="http://schemas.microsoft.com/office/drawing/2014/main" id="{5CA512DC-1A4C-4A78-A6EA-E44D9E579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886200"/>
            <a:ext cx="571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=</a:t>
            </a:r>
          </a:p>
        </p:txBody>
      </p:sp>
      <p:sp>
        <p:nvSpPr>
          <p:cNvPr id="15" name="현재 프로젝트에 맞춰 만들어 둔 절차">
            <a:extLst xmlns:a="http://schemas.openxmlformats.org/drawingml/2006/main">
              <a:ext uri="{FF2B5EF4-FFF2-40B4-BE49-F238E27FC236}">
                <a16:creationId xmlns:a16="http://schemas.microsoft.com/office/drawing/2014/main" id="{03E46CFB-47FA-498F-85A7-E0E11FE43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현재 프로젝트에 맞춰 만들어 둔 절차</a:t>
            </a:r>
          </a:p>
        </p:txBody>
      </p:sp>
    </p:spTree>
    <p:extLst>
      <p:ext uri="{BB962C8B-B14F-4D97-AF65-F5344CB8AC3E}">
        <p14:creationId xmlns:p14="http://schemas.microsoft.com/office/powerpoint/2010/main" val="13223307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ACT 4  ·  CONCEPTUAL / 가상 사례">
            <a:extLst xmlns:a="http://schemas.openxmlformats.org/drawingml/2006/main">
              <a:ext uri="{FF2B5EF4-FFF2-40B4-BE49-F238E27FC236}">
                <a16:creationId xmlns:a16="http://schemas.microsoft.com/office/drawing/2014/main" id="{465822BB-22EB-4971-AB3F-F2956670D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 ·  CONCEPTUAL / 가상 사례</a:t>
            </a:r>
          </a:p>
        </p:txBody>
      </p:sp>
      <p:sp>
        <p:nvSpPr>
          <p:cNvPr id="2" name="S57">
            <a:extLst xmlns:a="http://schemas.openxmlformats.org/drawingml/2006/main">
              <a:ext uri="{FF2B5EF4-FFF2-40B4-BE49-F238E27FC236}">
                <a16:creationId xmlns:a16="http://schemas.microsoft.com/office/drawing/2014/main" id="{15823A47-ECAE-4098-BEC4-05D8C88B3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S57</a:t>
            </a:r>
          </a:p>
        </p:txBody>
      </p:sp>
      <p:sp>
        <p:nvSpPr>
          <p:cNvPr id="3" name="Project는 바뀌고 Workflow는 남았다">
            <a:extLst xmlns:a="http://schemas.openxmlformats.org/drawingml/2006/main">
              <a:ext uri="{FF2B5EF4-FFF2-40B4-BE49-F238E27FC236}">
                <a16:creationId xmlns:a16="http://schemas.microsoft.com/office/drawing/2014/main" id="{207BF6B5-368B-4865-8F35-5A3667D12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Project는 바뀌고 Workflow는 남았다</a:t>
            </a:r>
          </a:p>
        </p:txBody>
      </p:sp>
      <p:sp>
        <p:nvSpPr>
          <p:cNvPr id="4" name="가정: 모듈 연결 동작도 검증해야 하는 프로젝트가 됐다">
            <a:extLst xmlns:a="http://schemas.openxmlformats.org/drawingml/2006/main">
              <a:ext uri="{FF2B5EF4-FFF2-40B4-BE49-F238E27FC236}">
                <a16:creationId xmlns:a16="http://schemas.microsoft.com/office/drawing/2014/main" id="{3D636A09-154F-4C41-8A29-60DF12A08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9725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가정: 모듈 연결 동작도 검증해야 하는 프로젝트가 됐다</a:t>
            </a:r>
          </a:p>
        </p:txBody>
      </p:sp>
      <p:sp>
        <p:nvSpPr>
          <p:cNvPr id="5" name="현재 프로젝트의 기준">
            <a:extLst xmlns:a="http://schemas.openxmlformats.org/drawingml/2006/main">
              <a:ext uri="{FF2B5EF4-FFF2-40B4-BE49-F238E27FC236}">
                <a16:creationId xmlns:a16="http://schemas.microsoft.com/office/drawing/2014/main" id="{9D1B5CE2-9B75-4F97-9F20-BB73ADC0C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76475"/>
            <a:ext cx="5238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현재 프로젝트의 기준</a:t>
            </a:r>
          </a:p>
        </p:txBody>
      </p:sp>
      <p:sp>
        <p:nvSpPr>
          <p:cNvPr id="6" name="재사용 Workflow에 남은 지시">
            <a:extLst xmlns:a="http://schemas.openxmlformats.org/drawingml/2006/main">
              <a:ext uri="{FF2B5EF4-FFF2-40B4-BE49-F238E27FC236}">
                <a16:creationId xmlns:a16="http://schemas.microsoft.com/office/drawing/2014/main" id="{B6360F25-5E50-487C-BBF8-F29A17781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276475"/>
            <a:ext cx="4876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재사용 Workflow에 남은 지시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6CD9D6-EE8A-4514-85DA-F003EF572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1940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292FCB-79EC-4410-B109-50625DF3E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8194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05400"/>
            </a:solidFill>
            <a:prstDash val="dash"/>
          </a:ln>
        </p:spPr>
      </p:sp>
      <p:sp>
        <p:nvSpPr>
          <p:cNvPr id="9" name="단위 테스트 · 각 모듈">
            <a:extLst xmlns:a="http://schemas.openxmlformats.org/drawingml/2006/main">
              <a:ext uri="{FF2B5EF4-FFF2-40B4-BE49-F238E27FC236}">
                <a16:creationId xmlns:a16="http://schemas.microsoft.com/office/drawing/2014/main" id="{40EFB1AE-9C20-4B23-AFFF-AD3F8B856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단위 테스트 · 각 모듈</a:t>
            </a:r>
          </a:p>
        </p:txBody>
      </p:sp>
      <p:sp>
        <p:nvSpPr>
          <p:cNvPr id="10" name="단위 테스트 · 각 모듈">
            <a:extLst xmlns:a="http://schemas.openxmlformats.org/drawingml/2006/main">
              <a:ext uri="{FF2B5EF4-FFF2-40B4-BE49-F238E27FC236}">
                <a16:creationId xmlns:a16="http://schemas.microsoft.com/office/drawing/2014/main" id="{211746D1-784C-4E7F-9995-8B17D0CF8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971800"/>
            <a:ext cx="4876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단위 테스트 · 각 모듈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543DCC0-D536-4B73-9773-C32BC1795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49530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C68357-46CB-4C05-8C23-32ECA792E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62350"/>
            <a:ext cx="17335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13" name="모듈 A">
            <a:extLst xmlns:a="http://schemas.openxmlformats.org/drawingml/2006/main">
              <a:ext uri="{FF2B5EF4-FFF2-40B4-BE49-F238E27FC236}">
                <a16:creationId xmlns:a16="http://schemas.microsoft.com/office/drawing/2014/main" id="{0C47202F-9809-47D2-B595-DBFFA23FC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24275"/>
            <a:ext cx="1504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모듈 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665925-81B3-4081-B5D0-71699345C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562350"/>
            <a:ext cx="17335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15" name="모듈 B">
            <a:extLst xmlns:a="http://schemas.openxmlformats.org/drawingml/2006/main">
              <a:ext uri="{FF2B5EF4-FFF2-40B4-BE49-F238E27FC236}">
                <a16:creationId xmlns:a16="http://schemas.microsoft.com/office/drawing/2014/main" id="{2287ECAA-9C75-4817-863D-72265D6F3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724275"/>
            <a:ext cx="1504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모듈 B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2D1CF20-96C5-4473-AB5B-766355300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3781425"/>
            <a:ext cx="66675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7" name="+ 통합 테스트 · 모듈 연결까지">
            <a:extLst xmlns:a="http://schemas.openxmlformats.org/drawingml/2006/main">
              <a:ext uri="{FF2B5EF4-FFF2-40B4-BE49-F238E27FC236}">
                <a16:creationId xmlns:a16="http://schemas.microsoft.com/office/drawing/2014/main" id="{BA8D52D9-BA6C-4959-8AC4-79DD9C99F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48200"/>
            <a:ext cx="495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+ 통합 테스트 · 모듈 연결까지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21BEDF9-DC7D-4ED7-AA31-38944A3D7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562350"/>
            <a:ext cx="17335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19" name="모듈 A">
            <a:extLst xmlns:a="http://schemas.openxmlformats.org/drawingml/2006/main">
              <a:ext uri="{FF2B5EF4-FFF2-40B4-BE49-F238E27FC236}">
                <a16:creationId xmlns:a16="http://schemas.microsoft.com/office/drawing/2014/main" id="{9C417F6C-8409-4D50-88D3-3F973B384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724275"/>
            <a:ext cx="1504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모듈 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AC02ED8-94FB-4D34-B85E-C14E4495D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3562350"/>
            <a:ext cx="17335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21" name="모듈 B">
            <a:extLst xmlns:a="http://schemas.openxmlformats.org/drawingml/2006/main">
              <a:ext uri="{FF2B5EF4-FFF2-40B4-BE49-F238E27FC236}">
                <a16:creationId xmlns:a16="http://schemas.microsoft.com/office/drawing/2014/main" id="{0DD2F80A-7F43-41EB-B3A7-C5B34F9F7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3724275"/>
            <a:ext cx="1504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모듈 B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CFC31BC-652E-4EAB-9CF5-2BE873754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3781425"/>
            <a:ext cx="64770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D5A68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6E498C1-367E-4358-A846-450E4FCF3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572000"/>
            <a:ext cx="4876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24" name="단위 테스트만 지시">
            <a:extLst xmlns:a="http://schemas.openxmlformats.org/drawingml/2006/main">
              <a:ext uri="{FF2B5EF4-FFF2-40B4-BE49-F238E27FC236}">
                <a16:creationId xmlns:a16="http://schemas.microsoft.com/office/drawing/2014/main" id="{3C220A08-6D04-4F0C-ADB9-5B6A7DC82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638675"/>
            <a:ext cx="441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단위 테스트만 지시</a:t>
            </a:r>
          </a:p>
        </p:txBody>
      </p:sp>
      <p:sp>
        <p:nvSpPr>
          <p:cNvPr id="25" name="프로젝트의 기준이 바뀌었을 때, 재사용 지침도 함께 바뀌었을까?">
            <a:extLst xmlns:a="http://schemas.openxmlformats.org/drawingml/2006/main">
              <a:ext uri="{FF2B5EF4-FFF2-40B4-BE49-F238E27FC236}">
                <a16:creationId xmlns:a16="http://schemas.microsoft.com/office/drawing/2014/main" id="{D21F1D83-E413-4B35-B913-5B40F3B0F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29225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프로젝트의 기준이 바뀌었을 때, 재사용 지침도 함께 바뀌었을까?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115F286-294A-4F0F-84B8-F96F65016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27" name="DEMO-04A  |  가상 설정 · 실제 Repository 변경 이력이 아님">
            <a:extLst xmlns:a="http://schemas.openxmlformats.org/drawingml/2006/main">
              <a:ext uri="{FF2B5EF4-FFF2-40B4-BE49-F238E27FC236}">
                <a16:creationId xmlns:a16="http://schemas.microsoft.com/office/drawing/2014/main" id="{D0C0B11B-B793-4C14-AEE7-3AB1BEEF4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DEMO-04A  |  가상 설정 · 실제 Repository 변경 이력이 아님</a:t>
            </a:r>
          </a:p>
        </p:txBody>
      </p:sp>
      <p:sp>
        <p:nvSpPr>
          <p:cNvPr id="28" name="두 지침의 범위 비교 · Agent 실행, 테스트 누락 또는 PASS / FAIL 결과를 뜻하지 않음">
            <a:extLst xmlns:a="http://schemas.openxmlformats.org/drawingml/2006/main">
              <a:ext uri="{FF2B5EF4-FFF2-40B4-BE49-F238E27FC236}">
                <a16:creationId xmlns:a16="http://schemas.microsoft.com/office/drawing/2014/main" id="{5F69C7A9-7921-41F3-9C8A-7F6D4E0F7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두 지침의 범위 비교 · Agent 실행, 테스트 누락 또는 PASS / FAIL 결과를 뜻하지 않음</a:t>
            </a:r>
          </a:p>
        </p:txBody>
      </p:sp>
    </p:spTree>
    <p:extLst>
      <p:ext uri="{BB962C8B-B14F-4D97-AF65-F5344CB8AC3E}">
        <p14:creationId xmlns:p14="http://schemas.microsoft.com/office/powerpoint/2010/main" val="93107382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ACT 4 · CONCEPTUAL / 가상 사례">
            <a:extLst xmlns:a="http://schemas.openxmlformats.org/drawingml/2006/main">
              <a:ext uri="{FF2B5EF4-FFF2-40B4-BE49-F238E27FC236}">
                <a16:creationId xmlns:a16="http://schemas.microsoft.com/office/drawing/2014/main" id="{4F44E840-554D-4D32-A407-44525609A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CONCEPTUAL / 가상 사례</a:t>
            </a:r>
          </a:p>
        </p:txBody>
      </p:sp>
      <p:sp>
        <p:nvSpPr>
          <p:cNvPr id="2" name="S58">
            <a:extLst xmlns:a="http://schemas.openxmlformats.org/drawingml/2006/main">
              <a:ext uri="{FF2B5EF4-FFF2-40B4-BE49-F238E27FC236}">
                <a16:creationId xmlns:a16="http://schemas.microsoft.com/office/drawing/2014/main" id="{33E66EEA-298B-48AC-8E4C-DA0499DD8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S58</a:t>
            </a:r>
          </a:p>
        </p:txBody>
      </p:sp>
      <p:sp>
        <p:nvSpPr>
          <p:cNvPr id="3" name="Task 해결과 System 문제는 다르다">
            <a:extLst xmlns:a="http://schemas.openxmlformats.org/drawingml/2006/main">
              <a:ext uri="{FF2B5EF4-FFF2-40B4-BE49-F238E27FC236}">
                <a16:creationId xmlns:a16="http://schemas.microsoft.com/office/drawing/2014/main" id="{049C9A9D-9189-4A03-A97D-41D2B810A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Task 해결과 System 문제는 다르다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FB767F-E90B-4113-94BF-25B2DBEE6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DEMO-04A · 이번 요청과 재사용 지침의 범위 비교">
            <a:extLst xmlns:a="http://schemas.openxmlformats.org/drawingml/2006/main">
              <a:ext uri="{FF2B5EF4-FFF2-40B4-BE49-F238E27FC236}">
                <a16:creationId xmlns:a16="http://schemas.microsoft.com/office/drawing/2014/main" id="{4DEF6D2A-A424-42A0-A133-08E1F7C3D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DEMO-04A · 이번 요청과 재사용 지침의 범위 비교</a:t>
            </a:r>
          </a:p>
        </p:txBody>
      </p:sp>
      <p:sp>
        <p:nvSpPr>
          <p:cNvPr id="6" name="아래는 가능한 대응이다. 실제 실행·복구 성공·검증 누락을 관찰한 결과가 아니다.">
            <a:extLst xmlns:a="http://schemas.openxmlformats.org/drawingml/2006/main">
              <a:ext uri="{FF2B5EF4-FFF2-40B4-BE49-F238E27FC236}">
                <a16:creationId xmlns:a16="http://schemas.microsoft.com/office/drawing/2014/main" id="{8AB2EE84-5324-4965-81E2-73BAD9ECB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아래는 가능한 대응이다. 실제 실행·복구 성공·검증 누락을 관찰한 결과가 아니다.</a:t>
            </a:r>
          </a:p>
        </p:txBody>
      </p:sp>
      <p:sp>
        <p:nvSpPr>
          <p:cNvPr id="7" name="이번 요청에 “통합 테스트도 확인해 줘”를 더한다면?">
            <a:extLst xmlns:a="http://schemas.openxmlformats.org/drawingml/2006/main">
              <a:ext uri="{FF2B5EF4-FFF2-40B4-BE49-F238E27FC236}">
                <a16:creationId xmlns:a16="http://schemas.microsoft.com/office/drawing/2014/main" id="{E02BE4A2-D973-4E36-B610-031885906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33600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이번 요청에 “통합 테스트도 확인해 줘”를 더한다면?</a:t>
            </a:r>
          </a:p>
        </p:txBody>
      </p:sp>
      <p:sp>
        <p:nvSpPr>
          <p:cNvPr id="8" name="이번 Task">
            <a:extLst xmlns:a="http://schemas.openxmlformats.org/drawingml/2006/main">
              <a:ext uri="{FF2B5EF4-FFF2-40B4-BE49-F238E27FC236}">
                <a16:creationId xmlns:a16="http://schemas.microsoft.com/office/drawing/2014/main" id="{6BE0BD5A-DA39-4E4E-B9A7-CEC9E1002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6705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이번 Task</a:t>
            </a:r>
          </a:p>
        </p:txBody>
      </p:sp>
      <p:sp>
        <p:nvSpPr>
          <p:cNvPr id="9" name="다음 Task가 읽을 Workflow">
            <a:extLst xmlns:a="http://schemas.openxmlformats.org/drawingml/2006/main">
              <a:ext uri="{FF2B5EF4-FFF2-40B4-BE49-F238E27FC236}">
                <a16:creationId xmlns:a16="http://schemas.microsoft.com/office/drawing/2014/main" id="{D7743C51-D1BA-4BE2-BAAA-4656EEC13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067050"/>
            <a:ext cx="4876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다음 Task가 읽을 Workflow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723E82-BC16-4F63-9F17-0B6284049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C3AF7B-F030-44CE-A1B7-D61B9819A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6195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05400"/>
            </a:solidFill>
            <a:prstDash val="dash"/>
          </a:ln>
        </p:spPr>
      </p:sp>
      <p:sp>
        <p:nvSpPr>
          <p:cNvPr id="12" name="단위 + 통합 테스트를&#10;확인하도록 요청 가능">
            <a:extLst xmlns:a="http://schemas.openxmlformats.org/drawingml/2006/main">
              <a:ext uri="{FF2B5EF4-FFF2-40B4-BE49-F238E27FC236}">
                <a16:creationId xmlns:a16="http://schemas.microsoft.com/office/drawing/2014/main" id="{8B37CDCB-ECBB-4039-B40A-FA06F5995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0"/>
            <a:ext cx="4876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단위 + 통합 테스트를</a:t>
            </a:r>
          </a:p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확인하도록 요청 가능</a:t>
            </a:r>
          </a:p>
        </p:txBody>
      </p:sp>
      <p:sp>
        <p:nvSpPr>
          <p:cNvPr id="13" name="여전히&#10;단위 테스트만 지시">
            <a:extLst xmlns:a="http://schemas.openxmlformats.org/drawingml/2006/main">
              <a:ext uri="{FF2B5EF4-FFF2-40B4-BE49-F238E27FC236}">
                <a16:creationId xmlns:a16="http://schemas.microsoft.com/office/drawing/2014/main" id="{0BFD2D4E-7AB6-497F-97DB-A3B186411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810000"/>
            <a:ext cx="4876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여전히</a:t>
            </a:r>
          </a:p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단위 테스트만 지시</a:t>
            </a:r>
          </a:p>
        </p:txBody>
      </p:sp>
      <p:sp>
        <p:nvSpPr>
          <p:cNvPr id="14" name="이번 답을 보정해도, 재사용 절차는 그대로일 수 있다.">
            <a:extLst xmlns:a="http://schemas.openxmlformats.org/drawingml/2006/main">
              <a:ext uri="{FF2B5EF4-FFF2-40B4-BE49-F238E27FC236}">
                <a16:creationId xmlns:a16="http://schemas.microsoft.com/office/drawing/2014/main" id="{7732EF6C-1F27-471A-85BC-7A59A572D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0065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이번 답을 보정해도, 재사용 절차는 그대로일 수 있다.</a:t>
            </a:r>
          </a:p>
        </p:txBody>
      </p:sp>
    </p:spTree>
    <p:extLst>
      <p:ext uri="{BB962C8B-B14F-4D97-AF65-F5344CB8AC3E}">
        <p14:creationId xmlns:p14="http://schemas.microsoft.com/office/powerpoint/2010/main" val="148014561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ACT 4 · CONCEPTUAL / 대응 범위 비교">
            <a:extLst xmlns:a="http://schemas.openxmlformats.org/drawingml/2006/main">
              <a:ext uri="{FF2B5EF4-FFF2-40B4-BE49-F238E27FC236}">
                <a16:creationId xmlns:a16="http://schemas.microsoft.com/office/drawing/2014/main" id="{5BA63642-E4BF-4F90-B99A-F36C83F5C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CONCEPTUAL / 대응 범위 비교</a:t>
            </a:r>
          </a:p>
        </p:txBody>
      </p:sp>
      <p:sp>
        <p:nvSpPr>
          <p:cNvPr id="2" name="S59">
            <a:extLst xmlns:a="http://schemas.openxmlformats.org/drawingml/2006/main">
              <a:ext uri="{FF2B5EF4-FFF2-40B4-BE49-F238E27FC236}">
                <a16:creationId xmlns:a16="http://schemas.microsoft.com/office/drawing/2014/main" id="{97EADE94-8F35-4EB8-AC7E-F6A84367D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S59</a:t>
            </a:r>
          </a:p>
        </p:txBody>
      </p:sp>
      <p:sp>
        <p:nvSpPr>
          <p:cNvPr id="3" name="원인에 맞는 Layer를 고르기">
            <a:extLst xmlns:a="http://schemas.openxmlformats.org/drawingml/2006/main">
              <a:ext uri="{FF2B5EF4-FFF2-40B4-BE49-F238E27FC236}">
                <a16:creationId xmlns:a16="http://schemas.microsoft.com/office/drawing/2014/main" id="{F7C65737-7821-4CDC-BBAA-D60A89BFB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원인에 맞는 Layer를 고르기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E8B2C7-B60A-43F3-B8CA-F4BB4E5BD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DEMO-04A · DEMO-11 · 가상 사례의 선택지">
            <a:extLst xmlns:a="http://schemas.openxmlformats.org/drawingml/2006/main">
              <a:ext uri="{FF2B5EF4-FFF2-40B4-BE49-F238E27FC236}">
                <a16:creationId xmlns:a16="http://schemas.microsoft.com/office/drawing/2014/main" id="{A545C8A6-D06D-4205-A735-2892621FD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DEMO-04A · DEMO-11 · 가상 사례의 선택지</a:t>
            </a:r>
          </a:p>
        </p:txBody>
      </p:sp>
      <p:sp>
        <p:nvSpPr>
          <p:cNvPr id="6" name="Workflow가 원인으로 확인된 경우의 판단이며, 모든 문제의 정답은 아니다.">
            <a:extLst xmlns:a="http://schemas.openxmlformats.org/drawingml/2006/main">
              <a:ext uri="{FF2B5EF4-FFF2-40B4-BE49-F238E27FC236}">
                <a16:creationId xmlns:a16="http://schemas.microsoft.com/office/drawing/2014/main" id="{A274D305-012A-49AF-8BDC-16747808E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Workflow가 원인으로 확인된 경우의 판단이며, 모든 문제의 정답은 아니다.</a:t>
            </a:r>
          </a:p>
        </p:txBody>
      </p:sp>
      <p:sp>
        <p:nvSpPr>
          <p:cNvPr id="7" name="무엇을 바꾸면 다음 작업에도 반영될까?">
            <a:extLst xmlns:a="http://schemas.openxmlformats.org/drawingml/2006/main">
              <a:ext uri="{FF2B5EF4-FFF2-40B4-BE49-F238E27FC236}">
                <a16:creationId xmlns:a16="http://schemas.microsoft.com/office/drawing/2014/main" id="{2B527464-B78D-4A7C-97EB-7A161DAF3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145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무엇을 바꾸면 다음 작업에도 반영될까?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82178FA-E96E-4B5A-8581-2ACA72A6E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9" name="이번 Prompt 보정">
            <a:extLst xmlns:a="http://schemas.openxmlformats.org/drawingml/2006/main">
              <a:ext uri="{FF2B5EF4-FFF2-40B4-BE49-F238E27FC236}">
                <a16:creationId xmlns:a16="http://schemas.microsoft.com/office/drawing/2014/main" id="{57C62314-A0C2-4C39-9903-AC2082A4A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67050"/>
            <a:ext cx="320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이번 Prompt 보정</a:t>
            </a:r>
          </a:p>
        </p:txBody>
      </p:sp>
      <p:sp>
        <p:nvSpPr>
          <p:cNvPr id="10" name="현재 Task의 요청 범위를 넓힌다">
            <a:extLst xmlns:a="http://schemas.openxmlformats.org/drawingml/2006/main">
              <a:ext uri="{FF2B5EF4-FFF2-40B4-BE49-F238E27FC236}">
                <a16:creationId xmlns:a16="http://schemas.microsoft.com/office/drawing/2014/main" id="{3C79F854-A019-4357-A9B1-46E472705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067050"/>
            <a:ext cx="7543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현재 Task의 요청 범위를 넓힌다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FC3D7D-5441-43CA-95B3-88E3A3526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2" name="전역 규칙 추가">
            <a:extLst xmlns:a="http://schemas.openxmlformats.org/drawingml/2006/main">
              <a:ext uri="{FF2B5EF4-FFF2-40B4-BE49-F238E27FC236}">
                <a16:creationId xmlns:a16="http://schemas.microsoft.com/office/drawing/2014/main" id="{B61CD080-9753-48F3-BC29-BAC4DBA6B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48100"/>
            <a:ext cx="320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전역 규칙 추가</a:t>
            </a:r>
          </a:p>
        </p:txBody>
      </p:sp>
      <p:sp>
        <p:nvSpPr>
          <p:cNvPr id="13" name="다른 지침과 중복·충돌할 수 있다">
            <a:extLst xmlns:a="http://schemas.openxmlformats.org/drawingml/2006/main">
              <a:ext uri="{FF2B5EF4-FFF2-40B4-BE49-F238E27FC236}">
                <a16:creationId xmlns:a16="http://schemas.microsoft.com/office/drawing/2014/main" id="{1B973E03-2C69-4EAB-8EFD-0FB0790A0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848100"/>
            <a:ext cx="7543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다른 지침과 중복·충돌할 수 있다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75E0D91-B3F0-4BA2-B927-F84F9F09D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14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5" name="원인인 Workflow 갱신">
            <a:extLst xmlns:a="http://schemas.openxmlformats.org/drawingml/2006/main">
              <a:ext uri="{FF2B5EF4-FFF2-40B4-BE49-F238E27FC236}">
                <a16:creationId xmlns:a16="http://schemas.microsoft.com/office/drawing/2014/main" id="{7AD3086A-1C00-40F0-91AE-DE3F10FAB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29150"/>
            <a:ext cx="320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원인인 Workflow 갱신</a:t>
            </a:r>
          </a:p>
        </p:txBody>
      </p:sp>
      <p:sp>
        <p:nvSpPr>
          <p:cNvPr id="16" name="다음 Task가 재사용할 절차를 바꾼다">
            <a:extLst xmlns:a="http://schemas.openxmlformats.org/drawingml/2006/main">
              <a:ext uri="{FF2B5EF4-FFF2-40B4-BE49-F238E27FC236}">
                <a16:creationId xmlns:a16="http://schemas.microsoft.com/office/drawing/2014/main" id="{984E6025-F257-4F7B-B65C-6F5EB414D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629150"/>
            <a:ext cx="7543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다음 Task가 재사용할 절차를 바꾼다</a:t>
            </a:r>
          </a:p>
        </p:txBody>
      </p:sp>
      <p:sp>
        <p:nvSpPr>
          <p:cNvPr id="17" name="선택 기준: 원인이 있는 곳과 변경할 곳이 맞는가?">
            <a:extLst xmlns:a="http://schemas.openxmlformats.org/drawingml/2006/main">
              <a:ext uri="{FF2B5EF4-FFF2-40B4-BE49-F238E27FC236}">
                <a16:creationId xmlns:a16="http://schemas.microsoft.com/office/drawing/2014/main" id="{C6261896-D00D-454A-89C8-ABBBF96E2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62575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선택 기준: 원인이 있는 곳과 변경할 곳이 맞는가?</a:t>
            </a:r>
          </a:p>
        </p:txBody>
      </p:sp>
    </p:spTree>
    <p:extLst>
      <p:ext uri="{BB962C8B-B14F-4D97-AF65-F5344CB8AC3E}">
        <p14:creationId xmlns:p14="http://schemas.microsoft.com/office/powerpoint/2010/main" val="155940259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ACT 4 · CONCEPTUAL / 원인 후보">
            <a:extLst xmlns:a="http://schemas.openxmlformats.org/drawingml/2006/main">
              <a:ext uri="{FF2B5EF4-FFF2-40B4-BE49-F238E27FC236}">
                <a16:creationId xmlns:a16="http://schemas.microsoft.com/office/drawing/2014/main" id="{813227A9-28D4-4979-8C99-4E2094634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CONCEPTUAL / 원인 후보</a:t>
            </a:r>
          </a:p>
        </p:txBody>
      </p:sp>
      <p:sp>
        <p:nvSpPr>
          <p:cNvPr id="2" name="S60">
            <a:extLst xmlns:a="http://schemas.openxmlformats.org/drawingml/2006/main">
              <a:ext uri="{FF2B5EF4-FFF2-40B4-BE49-F238E27FC236}">
                <a16:creationId xmlns:a16="http://schemas.microsoft.com/office/drawing/2014/main" id="{27FFC490-9AC7-4581-8384-5F9C30245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S60</a:t>
            </a:r>
          </a:p>
        </p:txBody>
      </p:sp>
      <p:sp>
        <p:nvSpPr>
          <p:cNvPr id="3" name="실패 지점과 원인 Layer 구분하기">
            <a:extLst xmlns:a="http://schemas.openxmlformats.org/drawingml/2006/main">
              <a:ext uri="{FF2B5EF4-FFF2-40B4-BE49-F238E27FC236}">
                <a16:creationId xmlns:a16="http://schemas.microsoft.com/office/drawing/2014/main" id="{713AA293-0B3A-4855-842A-FAE15A6F7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실패 지점과 원인 Layer 구분하기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E560C7-2F5D-438E-BD28-E943C8D29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DEMO-11 · 원인을 찾기 위한 교육용 관점">
            <a:extLst xmlns:a="http://schemas.openxmlformats.org/drawingml/2006/main">
              <a:ext uri="{FF2B5EF4-FFF2-40B4-BE49-F238E27FC236}">
                <a16:creationId xmlns:a16="http://schemas.microsoft.com/office/drawing/2014/main" id="{51C39B26-A551-41F1-A6D7-6D4C8A3BE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DEMO-11 · 원인을 찾기 위한 교육용 관점</a:t>
            </a:r>
          </a:p>
        </p:txBody>
      </p:sp>
      <p:sp>
        <p:nvSpPr>
          <p:cNvPr id="6" name="가능한 원인 후보이며, 증상만으로 한 원인을 확정하지 않는다.">
            <a:extLst xmlns:a="http://schemas.openxmlformats.org/drawingml/2006/main">
              <a:ext uri="{FF2B5EF4-FFF2-40B4-BE49-F238E27FC236}">
                <a16:creationId xmlns:a16="http://schemas.microsoft.com/office/drawing/2014/main" id="{C50ABE61-B5F4-4C45-BDCF-C424E4BB9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가능한 원인 후보이며, 증상만으로 한 원인을 확정하지 않는다.</a:t>
            </a:r>
          </a:p>
        </p:txBody>
      </p:sp>
      <p:sp>
        <p:nvSpPr>
          <p:cNvPr id="7" name="“요청한 검증이 충분한가?”">
            <a:extLst xmlns:a="http://schemas.openxmlformats.org/drawingml/2006/main">
              <a:ext uri="{FF2B5EF4-FFF2-40B4-BE49-F238E27FC236}">
                <a16:creationId xmlns:a16="http://schemas.microsoft.com/office/drawing/2014/main" id="{9F104CED-66CA-463E-A0AC-C2FAB5C47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66950"/>
            <a:ext cx="5334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“요청한 검증이 충분한가?”</a:t>
            </a:r>
          </a:p>
        </p:txBody>
      </p:sp>
      <p:sp>
        <p:nvSpPr>
          <p:cNvPr id="8" name="증상에서 바로 결론으로 가지 않는다">
            <a:extLst xmlns:a="http://schemas.openxmlformats.org/drawingml/2006/main">
              <a:ext uri="{FF2B5EF4-FFF2-40B4-BE49-F238E27FC236}">
                <a16:creationId xmlns:a16="http://schemas.microsoft.com/office/drawing/2014/main" id="{5746525C-63B9-4EEF-A40B-B3805D6E4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05150"/>
            <a:ext cx="5334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증상에서 바로 결론으로 가지 않는다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306265-5FB5-4936-8F86-66AA7460C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26695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05400"/>
            </a:solidFill>
            <a:prstDash val="dash"/>
          </a:ln>
        </p:spPr>
      </p:sp>
      <p:sp>
        <p:nvSpPr>
          <p:cNvPr id="10" name="Context">
            <a:extLst xmlns:a="http://schemas.openxmlformats.org/drawingml/2006/main">
              <a:ext uri="{FF2B5EF4-FFF2-40B4-BE49-F238E27FC236}">
                <a16:creationId xmlns:a16="http://schemas.microsoft.com/office/drawing/2014/main" id="{9B95D117-4AEB-473E-800F-88448E083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36220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Context</a:t>
            </a:r>
          </a:p>
        </p:txBody>
      </p:sp>
      <p:sp>
        <p:nvSpPr>
          <p:cNvPr id="11" name="현재 기준이 맞는가?">
            <a:extLst xmlns:a="http://schemas.openxmlformats.org/drawingml/2006/main">
              <a:ext uri="{FF2B5EF4-FFF2-40B4-BE49-F238E27FC236}">
                <a16:creationId xmlns:a16="http://schemas.microsoft.com/office/drawing/2014/main" id="{7E3F98FB-1574-4618-B619-05965A2A8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362200"/>
            <a:ext cx="2971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현재 기준이 맞는가?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EEF3A8C-5EC3-45BB-8A98-5CEFE93D5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0480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05400"/>
            </a:solidFill>
            <a:prstDash val="dash"/>
          </a:ln>
        </p:spPr>
      </p:sp>
      <p:sp>
        <p:nvSpPr>
          <p:cNvPr id="13" name="Workflow">
            <a:extLst xmlns:a="http://schemas.openxmlformats.org/drawingml/2006/main">
              <a:ext uri="{FF2B5EF4-FFF2-40B4-BE49-F238E27FC236}">
                <a16:creationId xmlns:a16="http://schemas.microsoft.com/office/drawing/2014/main" id="{73C84027-9004-4F45-AD77-4E018B883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14325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Workflow</a:t>
            </a:r>
          </a:p>
        </p:txBody>
      </p:sp>
      <p:sp>
        <p:nvSpPr>
          <p:cNvPr id="14" name="어떤 절차를 지시하는가?">
            <a:extLst xmlns:a="http://schemas.openxmlformats.org/drawingml/2006/main">
              <a:ext uri="{FF2B5EF4-FFF2-40B4-BE49-F238E27FC236}">
                <a16:creationId xmlns:a16="http://schemas.microsoft.com/office/drawing/2014/main" id="{2CF27227-A1DE-4BA9-886D-C4A5EE110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143250"/>
            <a:ext cx="2971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어떤 절차를 지시하는가?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223CEA2-CF47-49DE-AC06-7F524BE08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82905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05400"/>
            </a:solidFill>
            <a:prstDash val="dash"/>
          </a:ln>
        </p:spPr>
      </p:sp>
      <p:sp>
        <p:nvSpPr>
          <p:cNvPr id="16" name="환경 · 권한">
            <a:extLst xmlns:a="http://schemas.openxmlformats.org/drawingml/2006/main">
              <a:ext uri="{FF2B5EF4-FFF2-40B4-BE49-F238E27FC236}">
                <a16:creationId xmlns:a16="http://schemas.microsoft.com/office/drawing/2014/main" id="{CFCE02F6-4C9B-4A17-96EC-BAAB0282C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92430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환경 · 권한</a:t>
            </a:r>
          </a:p>
        </p:txBody>
      </p:sp>
      <p:sp>
        <p:nvSpPr>
          <p:cNvPr id="17" name="실행 조건이 맞는가?">
            <a:extLst xmlns:a="http://schemas.openxmlformats.org/drawingml/2006/main">
              <a:ext uri="{FF2B5EF4-FFF2-40B4-BE49-F238E27FC236}">
                <a16:creationId xmlns:a16="http://schemas.microsoft.com/office/drawing/2014/main" id="{4DEDCDBC-0C65-4CDA-B882-92547DFE4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924300"/>
            <a:ext cx="2971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실행 조건이 맞는가?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310E96F-AC38-468C-81E4-53E8E0791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6101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05400"/>
            </a:solidFill>
            <a:prstDash val="dash"/>
          </a:ln>
        </p:spPr>
      </p:sp>
      <p:sp>
        <p:nvSpPr>
          <p:cNvPr id="19" name="제품 코드">
            <a:extLst xmlns:a="http://schemas.openxmlformats.org/drawingml/2006/main">
              <a:ext uri="{FF2B5EF4-FFF2-40B4-BE49-F238E27FC236}">
                <a16:creationId xmlns:a16="http://schemas.microsoft.com/office/drawing/2014/main" id="{A6590CB9-8A86-4222-B7EE-8D44B1723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70535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제품 코드</a:t>
            </a:r>
          </a:p>
        </p:txBody>
      </p:sp>
      <p:sp>
        <p:nvSpPr>
          <p:cNvPr id="20" name="동작 자체의 문제인가?">
            <a:extLst xmlns:a="http://schemas.openxmlformats.org/drawingml/2006/main">
              <a:ext uri="{FF2B5EF4-FFF2-40B4-BE49-F238E27FC236}">
                <a16:creationId xmlns:a16="http://schemas.microsoft.com/office/drawing/2014/main" id="{83FEE0F1-BC40-49E9-B633-F20C17759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4705350"/>
            <a:ext cx="2971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동작 자체의 문제인가?</a:t>
            </a:r>
          </a:p>
        </p:txBody>
      </p:sp>
      <p:sp>
        <p:nvSpPr>
          <p:cNvPr id="21" name="확인할 기록부터 찾는다">
            <a:extLst xmlns:a="http://schemas.openxmlformats.org/drawingml/2006/main">
              <a:ext uri="{FF2B5EF4-FFF2-40B4-BE49-F238E27FC236}">
                <a16:creationId xmlns:a16="http://schemas.microsoft.com/office/drawing/2014/main" id="{9F8E82B8-D13B-432E-B1DD-48F469AA0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0"/>
            <a:ext cx="5238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확인할 기록부터 찾는다</a:t>
            </a:r>
          </a:p>
        </p:txBody>
      </p:sp>
    </p:spTree>
    <p:extLst>
      <p:ext uri="{BB962C8B-B14F-4D97-AF65-F5344CB8AC3E}">
        <p14:creationId xmlns:p14="http://schemas.microsoft.com/office/powerpoint/2010/main" val="10669312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ACT 4 · CONCEPTUAL / 가정과 추론">
            <a:extLst xmlns:a="http://schemas.openxmlformats.org/drawingml/2006/main">
              <a:ext uri="{FF2B5EF4-FFF2-40B4-BE49-F238E27FC236}">
                <a16:creationId xmlns:a16="http://schemas.microsoft.com/office/drawing/2014/main" id="{F1A277F2-5A6E-4235-AB2B-B585EA33B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CONCEPTUAL / 가정과 추론</a:t>
            </a:r>
          </a:p>
        </p:txBody>
      </p:sp>
      <p:sp>
        <p:nvSpPr>
          <p:cNvPr id="2" name="S61">
            <a:extLst xmlns:a="http://schemas.openxmlformats.org/drawingml/2006/main">
              <a:ext uri="{FF2B5EF4-FFF2-40B4-BE49-F238E27FC236}">
                <a16:creationId xmlns:a16="http://schemas.microsoft.com/office/drawing/2014/main" id="{E882A4AA-9D44-46B0-BEF5-4912ED3B2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S61</a:t>
            </a:r>
          </a:p>
        </p:txBody>
      </p:sp>
      <p:sp>
        <p:nvSpPr>
          <p:cNvPr id="3" name="먼저 관찰하고, 그다음 가설을 세운다">
            <a:extLst xmlns:a="http://schemas.openxmlformats.org/drawingml/2006/main">
              <a:ext uri="{FF2B5EF4-FFF2-40B4-BE49-F238E27FC236}">
                <a16:creationId xmlns:a16="http://schemas.microsoft.com/office/drawing/2014/main" id="{4C224B79-A2E7-4426-85FF-A5DE0D92C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먼저 관찰하고, 그다음 가설을 세운다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2E77FF-184E-4D0E-A9C0-6827EBD6D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DEMO-04A · 구성된 사례의 전제와 원인 가설">
            <a:extLst xmlns:a="http://schemas.openxmlformats.org/drawingml/2006/main">
              <a:ext uri="{FF2B5EF4-FFF2-40B4-BE49-F238E27FC236}">
                <a16:creationId xmlns:a16="http://schemas.microsoft.com/office/drawing/2014/main" id="{48B9BE64-F42E-4CE5-9E01-9BC3C182A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DEMO-04A · 구성된 사례의 전제와 원인 가설</a:t>
            </a:r>
          </a:p>
        </p:txBody>
      </p:sp>
      <p:sp>
        <p:nvSpPr>
          <p:cNvPr id="6" name="가상 설정을 실제 Trial 관찰로 표현하지 않는다. 실행 결과는 아직 없다.">
            <a:extLst xmlns:a="http://schemas.openxmlformats.org/drawingml/2006/main">
              <a:ext uri="{FF2B5EF4-FFF2-40B4-BE49-F238E27FC236}">
                <a16:creationId xmlns:a16="http://schemas.microsoft.com/office/drawing/2014/main" id="{C57838E3-3552-444D-87D0-C480F38A9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가상 설정을 실제 Trial 관찰로 표현하지 않는다. 실행 결과는 아직 없다.</a:t>
            </a:r>
          </a:p>
        </p:txBody>
      </p:sp>
      <p:sp>
        <p:nvSpPr>
          <p:cNvPr id="7" name="사례에 주어진 정보">
            <a:extLst xmlns:a="http://schemas.openxmlformats.org/drawingml/2006/main">
              <a:ext uri="{FF2B5EF4-FFF2-40B4-BE49-F238E27FC236}">
                <a16:creationId xmlns:a16="http://schemas.microsoft.com/office/drawing/2014/main" id="{09924943-BBBF-4427-9C48-B938971EA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28850"/>
            <a:ext cx="4953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사례에 주어진 정보</a:t>
            </a:r>
          </a:p>
        </p:txBody>
      </p:sp>
      <p:sp>
        <p:nvSpPr>
          <p:cNvPr id="8" name="확인해야 할 가설">
            <a:extLst xmlns:a="http://schemas.openxmlformats.org/drawingml/2006/main">
              <a:ext uri="{FF2B5EF4-FFF2-40B4-BE49-F238E27FC236}">
                <a16:creationId xmlns:a16="http://schemas.microsoft.com/office/drawing/2014/main" id="{DB885D42-374F-4597-AAD1-26077EED6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228850"/>
            <a:ext cx="4876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확인해야 할 가설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278C0EC-945A-4AB5-BF87-1CDABB912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6048ED-C83C-4EB8-816A-AFF643BE6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8575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05400"/>
            </a:solidFill>
            <a:prstDash val="dash"/>
          </a:ln>
        </p:spPr>
      </p:sp>
      <p:sp>
        <p:nvSpPr>
          <p:cNvPr id="11" name="현재 기준: 단위 + 통합&#10;재사용 지침: 단위만">
            <a:extLst xmlns:a="http://schemas.openxmlformats.org/drawingml/2006/main">
              <a:ext uri="{FF2B5EF4-FFF2-40B4-BE49-F238E27FC236}">
                <a16:creationId xmlns:a16="http://schemas.microsoft.com/office/drawing/2014/main" id="{6528F0ED-A105-4285-A6A9-B99CD4821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14675"/>
            <a:ext cx="48768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현재 기준: 단위 + 통합</a:t>
            </a:r>
          </a:p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재사용 지침: 단위만</a:t>
            </a:r>
          </a:p>
        </p:txBody>
      </p:sp>
      <p:sp>
        <p:nvSpPr>
          <p:cNvPr id="12" name="오래된 Workflow가&#10;문제의 원인일 수 있다">
            <a:extLst xmlns:a="http://schemas.openxmlformats.org/drawingml/2006/main">
              <a:ext uri="{FF2B5EF4-FFF2-40B4-BE49-F238E27FC236}">
                <a16:creationId xmlns:a16="http://schemas.microsoft.com/office/drawing/2014/main" id="{DBD21A86-15A8-4F6C-B4B9-BBF7206CA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114675"/>
            <a:ext cx="48768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오래된 Workflow가</a:t>
            </a:r>
          </a:p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문제의 원인일 수 있다</a:t>
            </a:r>
          </a:p>
        </p:txBody>
      </p:sp>
      <p:sp>
        <p:nvSpPr>
          <p:cNvPr id="13" name="실행 경로와 실제로 읽은 지침을 대조해야 원인을 판단할 수 있다.">
            <a:extLst xmlns:a="http://schemas.openxmlformats.org/drawingml/2006/main">
              <a:ext uri="{FF2B5EF4-FFF2-40B4-BE49-F238E27FC236}">
                <a16:creationId xmlns:a16="http://schemas.microsoft.com/office/drawing/2014/main" id="{D7C275AF-4EBF-41D1-BB46-3193E25B1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1490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실행 경로와 실제로 읽은 지침을 대조해야 원인을 판단할 수 있다.</a:t>
            </a:r>
          </a:p>
        </p:txBody>
      </p:sp>
    </p:spTree>
    <p:extLst>
      <p:ext uri="{BB962C8B-B14F-4D97-AF65-F5344CB8AC3E}">
        <p14:creationId xmlns:p14="http://schemas.microsoft.com/office/powerpoint/2010/main" val="51123060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ACT 4 · CONCEPTUAL / 원인에 맞는 수정">
            <a:extLst xmlns:a="http://schemas.openxmlformats.org/drawingml/2006/main">
              <a:ext uri="{FF2B5EF4-FFF2-40B4-BE49-F238E27FC236}">
                <a16:creationId xmlns:a16="http://schemas.microsoft.com/office/drawing/2014/main" id="{6783471F-EB40-457C-80F7-9323AC83B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CONCEPTUAL / 원인에 맞는 수정</a:t>
            </a:r>
          </a:p>
        </p:txBody>
      </p:sp>
      <p:sp>
        <p:nvSpPr>
          <p:cNvPr id="2" name="S62">
            <a:extLst xmlns:a="http://schemas.openxmlformats.org/drawingml/2006/main">
              <a:ext uri="{FF2B5EF4-FFF2-40B4-BE49-F238E27FC236}">
                <a16:creationId xmlns:a16="http://schemas.microsoft.com/office/drawing/2014/main" id="{9C7A9918-2B15-47FB-B7F2-C4EBAD1CD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S62</a:t>
            </a:r>
          </a:p>
        </p:txBody>
      </p:sp>
      <p:sp>
        <p:nvSpPr>
          <p:cNvPr id="3" name="Cause가 지지하는 최소 변경">
            <a:extLst xmlns:a="http://schemas.openxmlformats.org/drawingml/2006/main">
              <a:ext uri="{FF2B5EF4-FFF2-40B4-BE49-F238E27FC236}">
                <a16:creationId xmlns:a16="http://schemas.microsoft.com/office/drawing/2014/main" id="{C32643B8-9593-4D79-A92C-05A07AACA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Cause가 지지하는 최소 변경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2CEFA2-CC05-430D-ABDA-60EB170F7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DEMO-04A · 원인이 확인됐다고 가정한 변경 설계">
            <a:extLst xmlns:a="http://schemas.openxmlformats.org/drawingml/2006/main">
              <a:ext uri="{FF2B5EF4-FFF2-40B4-BE49-F238E27FC236}">
                <a16:creationId xmlns:a16="http://schemas.microsoft.com/office/drawing/2014/main" id="{CAD3EFA2-44DF-41E7-9401-ED463D60C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DEMO-04A · 원인이 확인됐다고 가정한 변경 설계</a:t>
            </a:r>
          </a:p>
        </p:txBody>
      </p:sp>
      <p:sp>
        <p:nvSpPr>
          <p:cNvPr id="6" name="실제 코드·Skill 수정 또는 실행 결과가 아니다. 관련 없는 규칙은 임의로 바꾸지 않는다.">
            <a:extLst xmlns:a="http://schemas.openxmlformats.org/drawingml/2006/main">
              <a:ext uri="{FF2B5EF4-FFF2-40B4-BE49-F238E27FC236}">
                <a16:creationId xmlns:a16="http://schemas.microsoft.com/office/drawing/2014/main" id="{2DF5B1C0-5613-4C2A-8559-E1BE68BC6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실제 코드·Skill 수정 또는 실행 결과가 아니다. 관련 없는 규칙은 임의로 바꾸지 않는다.</a:t>
            </a:r>
          </a:p>
        </p:txBody>
      </p:sp>
      <p:sp>
        <p:nvSpPr>
          <p:cNvPr id="7" name="Workflow가 원인으로 확인됐다면">
            <a:extLst xmlns:a="http://schemas.openxmlformats.org/drawingml/2006/main">
              <a:ext uri="{FF2B5EF4-FFF2-40B4-BE49-F238E27FC236}">
                <a16:creationId xmlns:a16="http://schemas.microsoft.com/office/drawing/2014/main" id="{3FBC1DB6-645A-4CDE-BA21-0B178C534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14550"/>
            <a:ext cx="10972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Workflow가 원인으로 확인됐다면</a:t>
            </a:r>
          </a:p>
        </p:txBody>
      </p:sp>
      <p:sp>
        <p:nvSpPr>
          <p:cNvPr id="8" name="기존 재사용 지침">
            <a:extLst xmlns:a="http://schemas.openxmlformats.org/drawingml/2006/main">
              <a:ext uri="{FF2B5EF4-FFF2-40B4-BE49-F238E27FC236}">
                <a16:creationId xmlns:a16="http://schemas.microsoft.com/office/drawing/2014/main" id="{E76BD0A7-E34B-4F8F-AD1F-045AD0B87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6705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기존 재사용 지침</a:t>
            </a:r>
          </a:p>
        </p:txBody>
      </p:sp>
      <p:sp>
        <p:nvSpPr>
          <p:cNvPr id="9" name="갱신할 지침">
            <a:extLst xmlns:a="http://schemas.openxmlformats.org/drawingml/2006/main">
              <a:ext uri="{FF2B5EF4-FFF2-40B4-BE49-F238E27FC236}">
                <a16:creationId xmlns:a16="http://schemas.microsoft.com/office/drawing/2014/main" id="{0A994383-7A5A-4182-A002-E361C9A22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067050"/>
            <a:ext cx="4876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갱신할 지침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AF4A029-9CD8-4D08-AEDD-4696CB3EB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09975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05400"/>
            </a:solidFill>
            <a:prstDash val="dash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45AC42-950F-493C-AD62-B1ACEA674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609975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2" name="단위 테스트를 확인">
            <a:extLst xmlns:a="http://schemas.openxmlformats.org/drawingml/2006/main">
              <a:ext uri="{FF2B5EF4-FFF2-40B4-BE49-F238E27FC236}">
                <a16:creationId xmlns:a16="http://schemas.microsoft.com/office/drawing/2014/main" id="{0404CD9B-279D-43A1-A649-3679C1EAA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14775"/>
            <a:ext cx="4876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단위 테스트를 확인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B23904-D3D7-4F2E-B234-FBD3B8175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010025"/>
            <a:ext cx="6096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4" name="단위 + 통합 테스트 확인">
            <a:extLst xmlns:a="http://schemas.openxmlformats.org/drawingml/2006/main">
              <a:ext uri="{FF2B5EF4-FFF2-40B4-BE49-F238E27FC236}">
                <a16:creationId xmlns:a16="http://schemas.microsoft.com/office/drawing/2014/main" id="{FDB584FE-4D4A-4AA5-9055-232115297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914775"/>
            <a:ext cx="4876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단위 + 통합 테스트 확인</a:t>
            </a:r>
          </a:p>
        </p:txBody>
      </p:sp>
      <p:sp>
        <p:nvSpPr>
          <p:cNvPr id="15" name="원인이 뒷받침하는 범위까지 바꾼다.">
            <a:extLst xmlns:a="http://schemas.openxmlformats.org/drawingml/2006/main">
              <a:ext uri="{FF2B5EF4-FFF2-40B4-BE49-F238E27FC236}">
                <a16:creationId xmlns:a16="http://schemas.microsoft.com/office/drawing/2014/main" id="{119E97B2-05CE-4FB5-BA87-29874CEFF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76825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원인이 뒷받침하는 범위까지 바꾼다.</a:t>
            </a:r>
          </a:p>
        </p:txBody>
      </p:sp>
    </p:spTree>
    <p:extLst>
      <p:ext uri="{BB962C8B-B14F-4D97-AF65-F5344CB8AC3E}">
        <p14:creationId xmlns:p14="http://schemas.microsoft.com/office/powerpoint/2010/main" val="183031549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ACT 4 · CONCEPTUAL / 평가 범위">
            <a:extLst xmlns:a="http://schemas.openxmlformats.org/drawingml/2006/main">
              <a:ext uri="{FF2B5EF4-FFF2-40B4-BE49-F238E27FC236}">
                <a16:creationId xmlns:a16="http://schemas.microsoft.com/office/drawing/2014/main" id="{CC069A74-F3A1-4346-BB8A-8603877ED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CONCEPTUAL / 평가 범위</a:t>
            </a:r>
          </a:p>
        </p:txBody>
      </p:sp>
      <p:sp>
        <p:nvSpPr>
          <p:cNvPr id="2" name="S63">
            <a:extLst xmlns:a="http://schemas.openxmlformats.org/drawingml/2006/main">
              <a:ext uri="{FF2B5EF4-FFF2-40B4-BE49-F238E27FC236}">
                <a16:creationId xmlns:a16="http://schemas.microsoft.com/office/drawing/2014/main" id="{7E27F5A6-226B-40B4-AB9F-5E06C9459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S63</a:t>
            </a:r>
          </a:p>
        </p:txBody>
      </p:sp>
      <p:sp>
        <p:nvSpPr>
          <p:cNvPr id="3" name="같은 Task의 재실행만으로 충분할까?">
            <a:extLst xmlns:a="http://schemas.openxmlformats.org/drawingml/2006/main">
              <a:ext uri="{FF2B5EF4-FFF2-40B4-BE49-F238E27FC236}">
                <a16:creationId xmlns:a16="http://schemas.microsoft.com/office/drawing/2014/main" id="{9EAB7133-A869-4733-B9A8-10E5D54A9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같은 Task의 재실행만으로 충분할까?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8B7C27-D332-4DBF-AC96-6F2833924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DEMO-04A · 변경 후 확인할 질문을 설계한 도식">
            <a:extLst xmlns:a="http://schemas.openxmlformats.org/drawingml/2006/main">
              <a:ext uri="{FF2B5EF4-FFF2-40B4-BE49-F238E27FC236}">
                <a16:creationId xmlns:a16="http://schemas.microsoft.com/office/drawing/2014/main" id="{AA7C54A1-DE5A-4AF3-BB55-7EB5D8AF2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DEMO-04A · 변경 후 확인할 질문을 설계한 도식</a:t>
            </a:r>
          </a:p>
        </p:txBody>
      </p:sp>
      <p:sp>
        <p:nvSpPr>
          <p:cNvPr id="6" name="재실행·회귀 테스트 결과는 없다. 두 검증 질문을 구분하는 가상 사례다.">
            <a:extLst xmlns:a="http://schemas.openxmlformats.org/drawingml/2006/main">
              <a:ext uri="{FF2B5EF4-FFF2-40B4-BE49-F238E27FC236}">
                <a16:creationId xmlns:a16="http://schemas.microsoft.com/office/drawing/2014/main" id="{A5280084-DE75-4306-B174-2EDC952C0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재실행·회귀 테스트 결과는 없다. 두 검증 질문을 구분하는 가상 사례다.</a:t>
            </a:r>
          </a:p>
        </p:txBody>
      </p:sp>
      <p:sp>
        <p:nvSpPr>
          <p:cNvPr id="7" name="이번 작업을 다시 확인">
            <a:extLst xmlns:a="http://schemas.openxmlformats.org/drawingml/2006/main">
              <a:ext uri="{FF2B5EF4-FFF2-40B4-BE49-F238E27FC236}">
                <a16:creationId xmlns:a16="http://schemas.microsoft.com/office/drawing/2014/main" id="{DA674A4A-062B-4137-B88C-537A69E7E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4876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이번 작업을 다시 확인</a:t>
            </a:r>
          </a:p>
        </p:txBody>
      </p:sp>
      <p:sp>
        <p:nvSpPr>
          <p:cNvPr id="8" name="다른 작업도 확인">
            <a:extLst xmlns:a="http://schemas.openxmlformats.org/drawingml/2006/main">
              <a:ext uri="{FF2B5EF4-FFF2-40B4-BE49-F238E27FC236}">
                <a16:creationId xmlns:a16="http://schemas.microsoft.com/office/drawing/2014/main" id="{A6CDE58F-578C-4478-8DBC-397B92A2B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238375"/>
            <a:ext cx="4876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다른 작업도 확인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AAE0B0-8300-416E-9DFF-FAD3B14B0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6E4940E-7F5D-4796-93E5-A5DD2BC8E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95275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05400"/>
            </a:solidFill>
            <a:prstDash val="dash"/>
          </a:ln>
        </p:spPr>
      </p:sp>
      <p:sp>
        <p:nvSpPr>
          <p:cNvPr id="11" name="요청했던 검증 범위를&#10;이제 다루는가?">
            <a:extLst xmlns:a="http://schemas.openxmlformats.org/drawingml/2006/main">
              <a:ext uri="{FF2B5EF4-FFF2-40B4-BE49-F238E27FC236}">
                <a16:creationId xmlns:a16="http://schemas.microsoft.com/office/drawing/2014/main" id="{24C728ED-E7D5-47E6-AE17-31AF8CA75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14700"/>
            <a:ext cx="48768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요청했던 검증 범위를</a:t>
            </a:r>
          </a:p>
          <a:p xmlns:a="http://schemas.openxmlformats.org/drawingml/2006/main">
            <a: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이제 다루는가?</a:t>
            </a:r>
          </a:p>
        </p:txBody>
      </p:sp>
      <p:sp>
        <p:nvSpPr>
          <p:cNvPr id="12" name="바뀐 지침이 다른 작업을&#10;방해하지 않는가?">
            <a:extLst xmlns:a="http://schemas.openxmlformats.org/drawingml/2006/main">
              <a:ext uri="{FF2B5EF4-FFF2-40B4-BE49-F238E27FC236}">
                <a16:creationId xmlns:a16="http://schemas.microsoft.com/office/drawing/2014/main" id="{31FA1AA0-71F9-4CFA-9553-1F9E4D525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314700"/>
            <a:ext cx="48768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바뀐 지침이 다른 작업을</a:t>
            </a:r>
          </a:p>
          <a:p xmlns:a="http://schemas.openxmlformats.org/drawingml/2006/main">
            <a: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방해하지 않는가?</a:t>
            </a:r>
          </a:p>
        </p:txBody>
      </p:sp>
      <p:sp>
        <p:nvSpPr>
          <p:cNvPr id="13" name="확인할 범위가 다르므로, 두 질문이 모두 필요하다.">
            <a:extLst xmlns:a="http://schemas.openxmlformats.org/drawingml/2006/main">
              <a:ext uri="{FF2B5EF4-FFF2-40B4-BE49-F238E27FC236}">
                <a16:creationId xmlns:a16="http://schemas.microsoft.com/office/drawing/2014/main" id="{794BC378-BA1A-4230-BFE0-88F505261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확인할 범위가 다르므로, 두 질문이 모두 필요하다.</a:t>
            </a:r>
          </a:p>
        </p:txBody>
      </p:sp>
    </p:spTree>
    <p:extLst>
      <p:ext uri="{BB962C8B-B14F-4D97-AF65-F5344CB8AC3E}">
        <p14:creationId xmlns:p14="http://schemas.microsoft.com/office/powerpoint/2010/main" val="89153447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ACT 4 · CONCEPTUAL / 평가 설계">
            <a:extLst xmlns:a="http://schemas.openxmlformats.org/drawingml/2006/main">
              <a:ext uri="{FF2B5EF4-FFF2-40B4-BE49-F238E27FC236}">
                <a16:creationId xmlns:a16="http://schemas.microsoft.com/office/drawing/2014/main" id="{74235D9B-2A18-42E1-B62F-5C414A3C8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CONCEPTUAL / 평가 설계</a:t>
            </a:r>
          </a:p>
        </p:txBody>
      </p:sp>
      <p:sp>
        <p:nvSpPr>
          <p:cNvPr id="2" name="S64">
            <a:extLst xmlns:a="http://schemas.openxmlformats.org/drawingml/2006/main">
              <a:ext uri="{FF2B5EF4-FFF2-40B4-BE49-F238E27FC236}">
                <a16:creationId xmlns:a16="http://schemas.microsoft.com/office/drawing/2014/main" id="{E4A1C16E-B235-432D-BFB7-0E6155C2B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S64</a:t>
            </a:r>
          </a:p>
        </p:txBody>
      </p:sp>
      <p:sp>
        <p:nvSpPr>
          <p:cNvPr id="3" name="대표 작업으로 변경 범위를 확인하기">
            <a:extLst xmlns:a="http://schemas.openxmlformats.org/drawingml/2006/main">
              <a:ext uri="{FF2B5EF4-FFF2-40B4-BE49-F238E27FC236}">
                <a16:creationId xmlns:a16="http://schemas.microsoft.com/office/drawing/2014/main" id="{94C3085A-4D4D-4508-BB4B-523AC6F90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대표 작업으로 변경 범위를 확인하기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5DF7F3-ADE5-4E23-BAFF-2007155F3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DEMO-10 · 네 작업 모두 이 Workflow 변경 후의 평가 결과는 없음">
            <a:extLst xmlns:a="http://schemas.openxmlformats.org/drawingml/2006/main">
              <a:ext uri="{FF2B5EF4-FFF2-40B4-BE49-F238E27FC236}">
                <a16:creationId xmlns:a16="http://schemas.microsoft.com/office/drawing/2014/main" id="{9543BBFC-8D8B-41CF-8511-AABE60D52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DEMO-10 · 네 작업 모두 이 Workflow 변경 후의 평가 결과는 없음</a:t>
            </a:r>
          </a:p>
        </p:txBody>
      </p:sp>
      <p:sp>
        <p:nvSpPr>
          <p:cNvPr id="6" name="EVAL-01/02: 별도 과거 관찰 참고 · EVAL-03/04: 설계만 있음 · 새 실행·PASS/FAI">
            <a:extLst xmlns:a="http://schemas.openxmlformats.org/drawingml/2006/main">
              <a:ext uri="{FF2B5EF4-FFF2-40B4-BE49-F238E27FC236}">
                <a16:creationId xmlns:a16="http://schemas.microsoft.com/office/drawing/2014/main" id="{F7BFCAE1-B3F4-4F9E-B45D-0A52A70DB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EVAL-01/02: 별도 과거 관찰 참고 · EVAL-03/04: 설계만 있음 · 새 실행·PASS/FAIL 없음</a:t>
            </a:r>
          </a:p>
        </p:txBody>
      </p:sp>
      <p:sp>
        <p:nvSpPr>
          <p:cNvPr id="7" name="작업 수보다, 서로 다른 위험을 덮는가?">
            <a:extLst xmlns:a="http://schemas.openxmlformats.org/drawingml/2006/main">
              <a:ext uri="{FF2B5EF4-FFF2-40B4-BE49-F238E27FC236}">
                <a16:creationId xmlns:a16="http://schemas.microsoft.com/office/drawing/2014/main" id="{0A07E8EC-854E-491C-9B3C-ECECE74D2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작업 수보다, 서로 다른 위험을 덮는가?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58717C-35AB-440D-8077-F32F9E04F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0300"/>
            <a:ext cx="109728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EA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평가 설계 · 네 작업 모두 이 Workflow 변경 뒤의 실행 결과는 없음">
            <a:extLst xmlns:a="http://schemas.openxmlformats.org/drawingml/2006/main">
              <a:ext uri="{FF2B5EF4-FFF2-40B4-BE49-F238E27FC236}">
                <a16:creationId xmlns:a16="http://schemas.microsoft.com/office/drawing/2014/main" id="{C1020A73-EBA9-4D2F-A988-B97F571F7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47925"/>
            <a:ext cx="1066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평가 설계 · 네 작업 모두 이 Workflow 변경 뒤의 실행 결과는 없음</a:t>
            </a:r>
          </a:p>
        </p:txBody>
      </p:sp>
      <p:sp>
        <p:nvSpPr>
          <p:cNvPr id="10" name="대표 작업">
            <a:extLst xmlns:a="http://schemas.openxmlformats.org/drawingml/2006/main">
              <a:ext uri="{FF2B5EF4-FFF2-40B4-BE49-F238E27FC236}">
                <a16:creationId xmlns:a16="http://schemas.microsoft.com/office/drawing/2014/main" id="{2C8BF676-BFD3-452B-850E-8A3EC2449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대표 작업</a:t>
            </a:r>
          </a:p>
        </p:txBody>
      </p:sp>
      <p:sp>
        <p:nvSpPr>
          <p:cNvPr id="11" name="무엇을 확인하기 위한 설계인가?">
            <a:extLst xmlns:a="http://schemas.openxmlformats.org/drawingml/2006/main">
              <a:ext uri="{FF2B5EF4-FFF2-40B4-BE49-F238E27FC236}">
                <a16:creationId xmlns:a16="http://schemas.microsoft.com/office/drawing/2014/main" id="{186B8252-9E38-41E1-A90E-0B4569CD6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924175"/>
            <a:ext cx="4895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무엇을 확인하기 위한 설계인가?</a:t>
            </a:r>
          </a:p>
        </p:txBody>
      </p:sp>
      <p:sp>
        <p:nvSpPr>
          <p:cNvPr id="12" name="현재 근거 상태">
            <a:extLst xmlns:a="http://schemas.openxmlformats.org/drawingml/2006/main">
              <a:ext uri="{FF2B5EF4-FFF2-40B4-BE49-F238E27FC236}">
                <a16:creationId xmlns:a16="http://schemas.microsoft.com/office/drawing/2014/main" id="{C13C1D7F-4766-42E3-BDC3-AC259899F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924175"/>
            <a:ext cx="2724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현재 근거 상태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9C9D3B7-3B5C-474C-A841-83161405C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956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05400"/>
            </a:solidFill>
            <a:prstDash val="dash"/>
          </a:ln>
        </p:spPr>
      </p:sp>
      <p:sp>
        <p:nvSpPr>
          <p:cNvPr id="14" name="EVAL-01">
            <a:extLst xmlns:a="http://schemas.openxmlformats.org/drawingml/2006/main">
              <a:ext uri="{FF2B5EF4-FFF2-40B4-BE49-F238E27FC236}">
                <a16:creationId xmlns:a16="http://schemas.microsoft.com/office/drawing/2014/main" id="{92270767-488F-4E09-94C1-7F878766D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62325"/>
            <a:ext cx="12096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805400"/>
                </a:solidFill>
                <a:latin typeface="Consolas"/>
                <a:ea typeface="Consolas"/>
                <a:cs typeface="Consolas"/>
              </a:rPr>
              <a:t>EVAL-01</a:t>
            </a:r>
          </a:p>
        </p:txBody>
      </p:sp>
      <p:sp>
        <p:nvSpPr>
          <p:cNvPr id="15" name="버그 수정">
            <a:extLst xmlns:a="http://schemas.openxmlformats.org/drawingml/2006/main">
              <a:ext uri="{FF2B5EF4-FFF2-40B4-BE49-F238E27FC236}">
                <a16:creationId xmlns:a16="http://schemas.microsoft.com/office/drawing/2014/main" id="{694D42C1-F1E4-49C0-9A2B-63BCE6833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352800"/>
            <a:ext cx="1600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버그 수정</a:t>
            </a:r>
          </a:p>
        </p:txBody>
      </p:sp>
      <p:sp>
        <p:nvSpPr>
          <p:cNvPr id="16" name="동작 계약을 확인하는가?">
            <a:extLst xmlns:a="http://schemas.openxmlformats.org/drawingml/2006/main">
              <a:ext uri="{FF2B5EF4-FFF2-40B4-BE49-F238E27FC236}">
                <a16:creationId xmlns:a16="http://schemas.microsoft.com/office/drawing/2014/main" id="{17DAA290-2252-43DE-B42D-F60BAA483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352800"/>
            <a:ext cx="4895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동작 계약을 확인하는가?</a:t>
            </a:r>
          </a:p>
        </p:txBody>
      </p:sp>
      <p:sp>
        <p:nvSpPr>
          <p:cNvPr id="17" name="과거 관찰 참고">
            <a:extLst xmlns:a="http://schemas.openxmlformats.org/drawingml/2006/main">
              <a:ext uri="{FF2B5EF4-FFF2-40B4-BE49-F238E27FC236}">
                <a16:creationId xmlns:a16="http://schemas.microsoft.com/office/drawing/2014/main" id="{E6FAEDFB-7DB5-4D47-818A-C947FC726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333750"/>
            <a:ext cx="27241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과거 관찰 참고</a:t>
            </a:r>
          </a:p>
        </p:txBody>
      </p:sp>
      <p:sp>
        <p:nvSpPr>
          <p:cNvPr id="18" name="TRIAL-002">
            <a:extLst xmlns:a="http://schemas.openxmlformats.org/drawingml/2006/main">
              <a:ext uri="{FF2B5EF4-FFF2-40B4-BE49-F238E27FC236}">
                <a16:creationId xmlns:a16="http://schemas.microsoft.com/office/drawing/2014/main" id="{2C8AA7C2-BDDC-4586-8282-F03A2C07F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581400"/>
            <a:ext cx="27241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922A2A6-C322-4795-B0CA-E7CA0DFCB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862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05400"/>
            </a:solidFill>
            <a:prstDash val="dash"/>
          </a:ln>
        </p:spPr>
      </p:sp>
      <p:sp>
        <p:nvSpPr>
          <p:cNvPr id="20" name="EVAL-02">
            <a:extLst xmlns:a="http://schemas.openxmlformats.org/drawingml/2006/main">
              <a:ext uri="{FF2B5EF4-FFF2-40B4-BE49-F238E27FC236}">
                <a16:creationId xmlns:a16="http://schemas.microsoft.com/office/drawing/2014/main" id="{7F32BE02-DD50-45E7-A8A9-5637BCFE3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52875"/>
            <a:ext cx="12096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805400"/>
                </a:solidFill>
                <a:latin typeface="Consolas"/>
                <a:ea typeface="Consolas"/>
                <a:cs typeface="Consolas"/>
              </a:rPr>
              <a:t>EVAL-02</a:t>
            </a:r>
          </a:p>
        </p:txBody>
      </p:sp>
      <p:sp>
        <p:nvSpPr>
          <p:cNvPr id="21" name="성능 변경">
            <a:extLst xmlns:a="http://schemas.openxmlformats.org/drawingml/2006/main">
              <a:ext uri="{FF2B5EF4-FFF2-40B4-BE49-F238E27FC236}">
                <a16:creationId xmlns:a16="http://schemas.microsoft.com/office/drawing/2014/main" id="{BBBAB9B3-F564-41CA-88AE-A98B90D6D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943350"/>
            <a:ext cx="1600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성능 변경</a:t>
            </a:r>
          </a:p>
        </p:txBody>
      </p:sp>
      <p:sp>
        <p:nvSpPr>
          <p:cNvPr id="22" name="측정·검증 범위를 유지하는가?">
            <a:extLst xmlns:a="http://schemas.openxmlformats.org/drawingml/2006/main">
              <a:ext uri="{FF2B5EF4-FFF2-40B4-BE49-F238E27FC236}">
                <a16:creationId xmlns:a16="http://schemas.microsoft.com/office/drawing/2014/main" id="{5AE73A27-AE0E-4958-8EB2-F57FE9125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943350"/>
            <a:ext cx="4895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측정·검증 범위를 유지하는가?</a:t>
            </a:r>
          </a:p>
        </p:txBody>
      </p:sp>
      <p:sp>
        <p:nvSpPr>
          <p:cNvPr id="23" name="과거 관찰 참고">
            <a:extLst xmlns:a="http://schemas.openxmlformats.org/drawingml/2006/main">
              <a:ext uri="{FF2B5EF4-FFF2-40B4-BE49-F238E27FC236}">
                <a16:creationId xmlns:a16="http://schemas.microsoft.com/office/drawing/2014/main" id="{15E2E81C-C39B-48DE-B9B1-5E6FA3565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924300"/>
            <a:ext cx="27241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과거 관찰 참고</a:t>
            </a:r>
          </a:p>
        </p:txBody>
      </p:sp>
      <p:sp>
        <p:nvSpPr>
          <p:cNvPr id="24" name="STATE-04-PERF">
            <a:extLst xmlns:a="http://schemas.openxmlformats.org/drawingml/2006/main">
              <a:ext uri="{FF2B5EF4-FFF2-40B4-BE49-F238E27FC236}">
                <a16:creationId xmlns:a16="http://schemas.microsoft.com/office/drawing/2014/main" id="{6201B25A-9970-4DCB-8461-C027429F2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171950"/>
            <a:ext cx="27241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STATE-04-PERF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53054F4-731D-41C6-9088-BC13C2234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76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05400"/>
            </a:solidFill>
            <a:prstDash val="dash"/>
          </a:ln>
        </p:spPr>
      </p:sp>
      <p:sp>
        <p:nvSpPr>
          <p:cNvPr id="26" name="EVAL-03">
            <a:extLst xmlns:a="http://schemas.openxmlformats.org/drawingml/2006/main">
              <a:ext uri="{FF2B5EF4-FFF2-40B4-BE49-F238E27FC236}">
                <a16:creationId xmlns:a16="http://schemas.microsoft.com/office/drawing/2014/main" id="{39CDCF2F-9C55-411D-A158-6C4399765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43425"/>
            <a:ext cx="12096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805400"/>
                </a:solidFill>
                <a:latin typeface="Consolas"/>
                <a:ea typeface="Consolas"/>
                <a:cs typeface="Consolas"/>
              </a:rPr>
              <a:t>EVAL-03</a:t>
            </a:r>
          </a:p>
        </p:txBody>
      </p:sp>
      <p:sp>
        <p:nvSpPr>
          <p:cNvPr id="27" name="문서만 수정">
            <a:extLst xmlns:a="http://schemas.openxmlformats.org/drawingml/2006/main">
              <a:ext uri="{FF2B5EF4-FFF2-40B4-BE49-F238E27FC236}">
                <a16:creationId xmlns:a16="http://schemas.microsoft.com/office/drawing/2014/main" id="{76D8B432-96A6-4F94-8226-9DCE5F435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533900"/>
            <a:ext cx="1600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문서만 수정</a:t>
            </a:r>
          </a:p>
        </p:txBody>
      </p:sp>
      <p:sp>
        <p:nvSpPr>
          <p:cNvPr id="28" name="불필요한 절차를 강요하지 않는가?">
            <a:extLst xmlns:a="http://schemas.openxmlformats.org/drawingml/2006/main">
              <a:ext uri="{FF2B5EF4-FFF2-40B4-BE49-F238E27FC236}">
                <a16:creationId xmlns:a16="http://schemas.microsoft.com/office/drawing/2014/main" id="{1A9AB302-4D05-4373-9D5D-391A22B5E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4533900"/>
            <a:ext cx="4895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불필요한 절차를 강요하지 않는가?</a:t>
            </a:r>
          </a:p>
        </p:txBody>
      </p:sp>
      <p:sp>
        <p:nvSpPr>
          <p:cNvPr id="29" name="설계 사례">
            <a:extLst xmlns:a="http://schemas.openxmlformats.org/drawingml/2006/main">
              <a:ext uri="{FF2B5EF4-FFF2-40B4-BE49-F238E27FC236}">
                <a16:creationId xmlns:a16="http://schemas.microsoft.com/office/drawing/2014/main" id="{6C45EE26-5D08-4092-8050-A217667EF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514850"/>
            <a:ext cx="27241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설계 사례</a:t>
            </a:r>
          </a:p>
        </p:txBody>
      </p:sp>
      <p:sp>
        <p:nvSpPr>
          <p:cNvPr id="30" name="새 평가 실행 없음">
            <a:extLst xmlns:a="http://schemas.openxmlformats.org/drawingml/2006/main">
              <a:ext uri="{FF2B5EF4-FFF2-40B4-BE49-F238E27FC236}">
                <a16:creationId xmlns:a16="http://schemas.microsoft.com/office/drawing/2014/main" id="{487C4E79-E4F7-43BB-A38E-2B5AB9250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762500"/>
            <a:ext cx="27241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새 평가 실행 없음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DF7F40A-C562-4011-B46C-09653C3D0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67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05400"/>
            </a:solidFill>
            <a:prstDash val="dash"/>
          </a:ln>
        </p:spPr>
      </p:sp>
      <p:sp>
        <p:nvSpPr>
          <p:cNvPr id="32" name="EVAL-04">
            <a:extLst xmlns:a="http://schemas.openxmlformats.org/drawingml/2006/main">
              <a:ext uri="{FF2B5EF4-FFF2-40B4-BE49-F238E27FC236}">
                <a16:creationId xmlns:a16="http://schemas.microsoft.com/office/drawing/2014/main" id="{C265961F-99C1-4939-BD0E-2A10914E6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2096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805400"/>
                </a:solidFill>
                <a:latin typeface="Consolas"/>
                <a:ea typeface="Consolas"/>
                <a:cs typeface="Consolas"/>
              </a:rPr>
              <a:t>EVAL-04</a:t>
            </a:r>
          </a:p>
        </p:txBody>
      </p:sp>
      <p:sp>
        <p:nvSpPr>
          <p:cNvPr id="33" name="작은 리팩터링">
            <a:extLst xmlns:a="http://schemas.openxmlformats.org/drawingml/2006/main">
              <a:ext uri="{FF2B5EF4-FFF2-40B4-BE49-F238E27FC236}">
                <a16:creationId xmlns:a16="http://schemas.microsoft.com/office/drawing/2014/main" id="{6B153A31-7439-401F-882D-95EE340B4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5124450"/>
            <a:ext cx="1600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작은 리팩터링</a:t>
            </a:r>
          </a:p>
        </p:txBody>
      </p:sp>
      <p:sp>
        <p:nvSpPr>
          <p:cNvPr id="34" name="다른 유효한 작업을 방해하지 않는가?">
            <a:extLst xmlns:a="http://schemas.openxmlformats.org/drawingml/2006/main">
              <a:ext uri="{FF2B5EF4-FFF2-40B4-BE49-F238E27FC236}">
                <a16:creationId xmlns:a16="http://schemas.microsoft.com/office/drawing/2014/main" id="{544D3983-2A3C-4797-8D33-8BBE22287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5124450"/>
            <a:ext cx="4895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다른 유효한 작업을 방해하지 않는가?</a:t>
            </a:r>
          </a:p>
        </p:txBody>
      </p:sp>
      <p:sp>
        <p:nvSpPr>
          <p:cNvPr id="35" name="설계 사례">
            <a:extLst xmlns:a="http://schemas.openxmlformats.org/drawingml/2006/main">
              <a:ext uri="{FF2B5EF4-FFF2-40B4-BE49-F238E27FC236}">
                <a16:creationId xmlns:a16="http://schemas.microsoft.com/office/drawing/2014/main" id="{9651DBC9-4434-441A-9B38-17160BC58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105400"/>
            <a:ext cx="27241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설계 사례</a:t>
            </a:r>
          </a:p>
        </p:txBody>
      </p:sp>
      <p:sp>
        <p:nvSpPr>
          <p:cNvPr id="36" name="새 평가 실행 없음">
            <a:extLst xmlns:a="http://schemas.openxmlformats.org/drawingml/2006/main">
              <a:ext uri="{FF2B5EF4-FFF2-40B4-BE49-F238E27FC236}">
                <a16:creationId xmlns:a16="http://schemas.microsoft.com/office/drawing/2014/main" id="{88704E36-D5F9-4C39-ACBF-032784220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353050"/>
            <a:ext cx="27241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새 평가 실행 없음</a:t>
            </a:r>
          </a:p>
        </p:txBody>
      </p:sp>
    </p:spTree>
    <p:extLst>
      <p:ext uri="{BB962C8B-B14F-4D97-AF65-F5344CB8AC3E}">
        <p14:creationId xmlns:p14="http://schemas.microsoft.com/office/powerpoint/2010/main" val="28006018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ACT 4 · CONCEPTUAL / 규칙 유지보수">
            <a:extLst xmlns:a="http://schemas.openxmlformats.org/drawingml/2006/main">
              <a:ext uri="{FF2B5EF4-FFF2-40B4-BE49-F238E27FC236}">
                <a16:creationId xmlns:a16="http://schemas.microsoft.com/office/drawing/2014/main" id="{B42367E9-1E84-493B-8485-E5EA83DDF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CONCEPTUAL / 규칙 유지보수</a:t>
            </a:r>
          </a:p>
        </p:txBody>
      </p:sp>
      <p:sp>
        <p:nvSpPr>
          <p:cNvPr id="2" name="S65">
            <a:extLst xmlns:a="http://schemas.openxmlformats.org/drawingml/2006/main">
              <a:ext uri="{FF2B5EF4-FFF2-40B4-BE49-F238E27FC236}">
                <a16:creationId xmlns:a16="http://schemas.microsoft.com/office/drawing/2014/main" id="{4B977082-0D8C-4160-88C3-863BE1AF6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S65</a:t>
            </a:r>
          </a:p>
        </p:txBody>
      </p:sp>
      <p:sp>
        <p:nvSpPr>
          <p:cNvPr id="3" name="Harness도 특정 실패에 맞춰&#10;과적합될 수 있다">
            <a:extLst xmlns:a="http://schemas.openxmlformats.org/drawingml/2006/main">
              <a:ext uri="{FF2B5EF4-FFF2-40B4-BE49-F238E27FC236}">
                <a16:creationId xmlns:a16="http://schemas.microsoft.com/office/drawing/2014/main" id="{EE11FF20-FDC0-443B-8947-6E8462EFF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Harness도 특정 실패에 맞춰</a:t>
            </a:r>
          </a:p>
          <a:p xmlns:a="http://schemas.openxmlformats.org/drawingml/2006/main">
            <a: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과적합될 수 있다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C62066-6411-485A-A1EC-33DDF2451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DEMO-04A · 과적합은 이 교육의 비유">
            <a:extLst xmlns:a="http://schemas.openxmlformats.org/drawingml/2006/main">
              <a:ext uri="{FF2B5EF4-FFF2-40B4-BE49-F238E27FC236}">
                <a16:creationId xmlns:a16="http://schemas.microsoft.com/office/drawing/2014/main" id="{9BD7A2B4-49D3-49AA-8B6C-E3F8E9513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DEMO-04A · 과적합은 이 교육의 비유</a:t>
            </a:r>
          </a:p>
        </p:txBody>
      </p:sp>
      <p:sp>
        <p:nvSpPr>
          <p:cNvPr id="6" name="Machine Learning의 통계적 과적합과 같은 현상이라는 주장이 아니다.">
            <a:extLst xmlns:a="http://schemas.openxmlformats.org/drawingml/2006/main">
              <a:ext uri="{FF2B5EF4-FFF2-40B4-BE49-F238E27FC236}">
                <a16:creationId xmlns:a16="http://schemas.microsoft.com/office/drawing/2014/main" id="{77CB4F9F-41AF-4061-A1A9-FDCA03155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Machine Learning의 통계적 과적합과 같은 현상이라는 주장이 아니다.</a:t>
            </a:r>
          </a:p>
        </p:txBody>
      </p:sp>
      <p:sp>
        <p:nvSpPr>
          <p:cNvPr id="7" name="실패할 때마다 규칙을 하나씩 더하면">
            <a:extLst xmlns:a="http://schemas.openxmlformats.org/drawingml/2006/main">
              <a:ext uri="{FF2B5EF4-FFF2-40B4-BE49-F238E27FC236}">
                <a16:creationId xmlns:a16="http://schemas.microsoft.com/office/drawing/2014/main" id="{5A46808B-F34B-4288-BB2A-E66FF9F7C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10972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실패할 때마다 규칙을 하나씩 더하면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E27610-6DAA-4D6B-B98D-F9AA6C107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43250"/>
            <a:ext cx="333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05400"/>
            </a:solidFill>
            <a:prstDash val="dash"/>
          </a:ln>
        </p:spPr>
      </p:sp>
      <p:sp>
        <p:nvSpPr>
          <p:cNvPr id="9" name="규칙 누적">
            <a:extLst xmlns:a="http://schemas.openxmlformats.org/drawingml/2006/main">
              <a:ext uri="{FF2B5EF4-FFF2-40B4-BE49-F238E27FC236}">
                <a16:creationId xmlns:a16="http://schemas.microsoft.com/office/drawing/2014/main" id="{A4B76626-CE5F-4776-AF15-0970C2667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333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규칙 누적</a:t>
            </a:r>
          </a:p>
        </p:txBody>
      </p:sp>
      <p:sp>
        <p:nvSpPr>
          <p:cNvPr id="10" name="읽고 유지할 내용이 커짐">
            <a:extLst xmlns:a="http://schemas.openxmlformats.org/drawingml/2006/main">
              <a:ext uri="{FF2B5EF4-FFF2-40B4-BE49-F238E27FC236}">
                <a16:creationId xmlns:a16="http://schemas.microsoft.com/office/drawing/2014/main" id="{2C4DA71C-1D85-4332-A530-C4582FF46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48125"/>
            <a:ext cx="3333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읽고 유지할 내용이 커짐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F63EAF-1AAF-481F-A661-5C85FBEFA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143250"/>
            <a:ext cx="333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05400"/>
            </a:solidFill>
            <a:prstDash val="dash"/>
          </a:ln>
        </p:spPr>
      </p:sp>
      <p:sp>
        <p:nvSpPr>
          <p:cNvPr id="12" name="규칙 충돌">
            <a:extLst xmlns:a="http://schemas.openxmlformats.org/drawingml/2006/main">
              <a:ext uri="{FF2B5EF4-FFF2-40B4-BE49-F238E27FC236}">
                <a16:creationId xmlns:a16="http://schemas.microsoft.com/office/drawing/2014/main" id="{2121DC66-317D-4C11-98EF-6B7D52A87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333750"/>
            <a:ext cx="333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규칙 충돌</a:t>
            </a:r>
          </a:p>
        </p:txBody>
      </p:sp>
      <p:sp>
        <p:nvSpPr>
          <p:cNvPr id="13" name="서로 다른 지시가 섞임">
            <a:extLst xmlns:a="http://schemas.openxmlformats.org/drawingml/2006/main">
              <a:ext uri="{FF2B5EF4-FFF2-40B4-BE49-F238E27FC236}">
                <a16:creationId xmlns:a16="http://schemas.microsoft.com/office/drawing/2014/main" id="{9E7FF2CF-B66E-470C-8669-F2C727185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048125"/>
            <a:ext cx="3333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서로 다른 지시가 섞임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1EB570A-C7D1-482F-A379-AD9787232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143250"/>
            <a:ext cx="333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05400"/>
            </a:solidFill>
            <a:prstDash val="dash"/>
          </a:ln>
        </p:spPr>
      </p:sp>
      <p:sp>
        <p:nvSpPr>
          <p:cNvPr id="15" name="특정 작업에만 맞춤">
            <a:extLst xmlns:a="http://schemas.openxmlformats.org/drawingml/2006/main">
              <a:ext uri="{FF2B5EF4-FFF2-40B4-BE49-F238E27FC236}">
                <a16:creationId xmlns:a16="http://schemas.microsoft.com/office/drawing/2014/main" id="{8607829D-9525-4357-AA28-94FA5EB6B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333750"/>
            <a:ext cx="333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특정 작업에만 맞춤</a:t>
            </a:r>
          </a:p>
        </p:txBody>
      </p:sp>
      <p:sp>
        <p:nvSpPr>
          <p:cNvPr id="16" name="다른 작업에서 적합성 미확인">
            <a:extLst xmlns:a="http://schemas.openxmlformats.org/drawingml/2006/main">
              <a:ext uri="{FF2B5EF4-FFF2-40B4-BE49-F238E27FC236}">
                <a16:creationId xmlns:a16="http://schemas.microsoft.com/office/drawing/2014/main" id="{ACC2805D-7D3E-4BA3-B021-171312172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048125"/>
            <a:ext cx="3333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다른 작업에서 적합성 미확인</a:t>
            </a:r>
          </a:p>
        </p:txBody>
      </p:sp>
      <p:sp>
        <p:nvSpPr>
          <p:cNvPr id="17" name="원인을 확인하고, 대표 작업으로 평가하고, 불필요한 규칙을 정리한다.">
            <a:extLst xmlns:a="http://schemas.openxmlformats.org/drawingml/2006/main">
              <a:ext uri="{FF2B5EF4-FFF2-40B4-BE49-F238E27FC236}">
                <a16:creationId xmlns:a16="http://schemas.microsoft.com/office/drawing/2014/main" id="{E1BE3F86-7ABC-45A1-B6AB-03A6F1A45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원인을 확인하고, 대표 작업으로 평가하고, 불필요한 규칙을 정리한다.</a:t>
            </a:r>
          </a:p>
        </p:txBody>
      </p:sp>
    </p:spTree>
    <p:extLst>
      <p:ext uri="{BB962C8B-B14F-4D97-AF65-F5344CB8AC3E}">
        <p14:creationId xmlns:p14="http://schemas.microsoft.com/office/powerpoint/2010/main" val="4754450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ACT 4 · 이 교육의 Loop 모델">
            <a:extLst xmlns:a="http://schemas.openxmlformats.org/drawingml/2006/main">
              <a:ext uri="{FF2B5EF4-FFF2-40B4-BE49-F238E27FC236}">
                <a16:creationId xmlns:a16="http://schemas.microsoft.com/office/drawing/2014/main" id="{95BCFC4C-7B85-42D9-BBC5-6A41B0D9D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이 교육의 Loop 모델</a:t>
            </a:r>
          </a:p>
        </p:txBody>
      </p:sp>
      <p:sp>
        <p:nvSpPr>
          <p:cNvPr id="2" name="S66">
            <a:extLst xmlns:a="http://schemas.openxmlformats.org/drawingml/2006/main">
              <a:ext uri="{FF2B5EF4-FFF2-40B4-BE49-F238E27FC236}">
                <a16:creationId xmlns:a16="http://schemas.microsoft.com/office/drawing/2014/main" id="{A7107B01-E0F3-41D5-BB73-D0D7EEB41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S66</a:t>
            </a:r>
          </a:p>
        </p:txBody>
      </p:sp>
      <p:sp>
        <p:nvSpPr>
          <p:cNvPr id="3" name="Feedback을 System Change와&#10;Evaluation으로 잇기">
            <a:extLst xmlns:a="http://schemas.openxmlformats.org/drawingml/2006/main">
              <a:ext uri="{FF2B5EF4-FFF2-40B4-BE49-F238E27FC236}">
                <a16:creationId xmlns:a16="http://schemas.microsoft.com/office/drawing/2014/main" id="{B17C8FD6-2A69-4DC0-96A7-1F9F71A06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Feedback을 System Change와</a:t>
            </a:r>
          </a:p>
          <a:p xmlns:a="http://schemas.openxmlformats.org/drawingml/2006/main">
            <a: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Evaluation으로 잇기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C866E0-0CC8-4BDA-878E-5D1F536E9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DEC-0023 · 교육용 운영 모델">
            <a:extLst xmlns:a="http://schemas.openxmlformats.org/drawingml/2006/main">
              <a:ext uri="{FF2B5EF4-FFF2-40B4-BE49-F238E27FC236}">
                <a16:creationId xmlns:a16="http://schemas.microsoft.com/office/drawing/2014/main" id="{AF7C7698-FAA7-42EA-ABFF-F7AFF7F05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DEC-0023 · 교육용 운영 모델</a:t>
            </a:r>
          </a:p>
        </p:txBody>
      </p:sp>
      <p:sp>
        <p:nvSpPr>
          <p:cNvPr id="6" name="모델의 자동 학습이나 실제 Product Loop를 관찰했다는 뜻은 아니다.">
            <a:extLst xmlns:a="http://schemas.openxmlformats.org/drawingml/2006/main">
              <a:ext uri="{FF2B5EF4-FFF2-40B4-BE49-F238E27FC236}">
                <a16:creationId xmlns:a16="http://schemas.microsoft.com/office/drawing/2014/main" id="{49DB600E-101D-49C4-A53D-CCB8E5CF3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모델의 자동 학습이나 실제 Product Loop를 관찰했다는 뜻은 아니다.</a:t>
            </a:r>
          </a:p>
        </p:txBody>
      </p:sp>
      <p:sp>
        <p:nvSpPr>
          <p:cNvPr id="7" name="앞선 가상 사례의 판단을 다섯 단계로 묶으면">
            <a:extLst xmlns:a="http://schemas.openxmlformats.org/drawingml/2006/main">
              <a:ext uri="{FF2B5EF4-FFF2-40B4-BE49-F238E27FC236}">
                <a16:creationId xmlns:a16="http://schemas.microsoft.com/office/drawing/2014/main" id="{E989027C-A463-431C-A5B8-445A09F3F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앞선 가상 사례의 판단을 다섯 단계로 묶으면</a:t>
            </a:r>
          </a:p>
        </p:txBody>
      </p:sp>
      <p:sp>
        <p:nvSpPr>
          <p:cNvPr id="8" name="01">
            <a:extLst xmlns:a="http://schemas.openxmlformats.org/drawingml/2006/main">
              <a:ext uri="{FF2B5EF4-FFF2-40B4-BE49-F238E27FC236}">
                <a16:creationId xmlns:a16="http://schemas.microsoft.com/office/drawing/2014/main" id="{FA0C4DDC-8635-490D-B6D1-D1E670A49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47950"/>
            <a:ext cx="1981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A33942-28D4-4126-8CFB-02A372B12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38475"/>
            <a:ext cx="198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0" name="실행">
            <a:extLst xmlns:a="http://schemas.openxmlformats.org/drawingml/2006/main">
              <a:ext uri="{FF2B5EF4-FFF2-40B4-BE49-F238E27FC236}">
                <a16:creationId xmlns:a16="http://schemas.microsoft.com/office/drawing/2014/main" id="{EEA07B7D-6D44-428E-A22B-30EF22815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71825"/>
            <a:ext cx="19812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실행</a:t>
            </a:r>
          </a:p>
        </p:txBody>
      </p:sp>
      <p:sp>
        <p:nvSpPr>
          <p:cNvPr id="11" name="무엇을 했나?">
            <a:extLst xmlns:a="http://schemas.openxmlformats.org/drawingml/2006/main">
              <a:ext uri="{FF2B5EF4-FFF2-40B4-BE49-F238E27FC236}">
                <a16:creationId xmlns:a16="http://schemas.microsoft.com/office/drawing/2014/main" id="{44427D22-B216-444C-B141-BD6F22352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57600"/>
            <a:ext cx="1981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무엇을 했나?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A2A6C9-8DAE-4D24-9FD3-99412F85E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24325"/>
            <a:ext cx="1981200" cy="1076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가상 Task&#10;현재 기준은&#10;단위 + 통합">
            <a:extLst xmlns:a="http://schemas.openxmlformats.org/drawingml/2006/main">
              <a:ext uri="{FF2B5EF4-FFF2-40B4-BE49-F238E27FC236}">
                <a16:creationId xmlns:a16="http://schemas.microsoft.com/office/drawing/2014/main" id="{1633529E-3B16-4C92-8AD6-0CEB0FA0D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4181475"/>
            <a:ext cx="173355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가상 Task</a:t>
            </a:r>
          </a:p>
          <a:p xmlns:a="http://schemas.openxmlformats.org/drawingml/2006/main">
            <a: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현재 기준은</a:t>
            </a:r>
          </a:p>
          <a:p xmlns:a="http://schemas.openxmlformats.org/drawingml/2006/main">
            <a: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단위 + 통합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2B84E46-6026-48A7-A0BC-98705E4B6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333750"/>
            <a:ext cx="161925" cy="1428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5" name="02">
            <a:extLst xmlns:a="http://schemas.openxmlformats.org/drawingml/2006/main">
              <a:ext uri="{FF2B5EF4-FFF2-40B4-BE49-F238E27FC236}">
                <a16:creationId xmlns:a16="http://schemas.microsoft.com/office/drawing/2014/main" id="{665E0524-8666-4416-8BA9-0F6382368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647950"/>
            <a:ext cx="1981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1CF3A6E-D115-4253-B5E0-E5A1B315D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038475"/>
            <a:ext cx="198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7" name="관찰">
            <a:extLst xmlns:a="http://schemas.openxmlformats.org/drawingml/2006/main">
              <a:ext uri="{FF2B5EF4-FFF2-40B4-BE49-F238E27FC236}">
                <a16:creationId xmlns:a16="http://schemas.microsoft.com/office/drawing/2014/main" id="{AD060929-3035-4EF6-808F-E25FD091B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171825"/>
            <a:ext cx="19812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관찰</a:t>
            </a:r>
          </a:p>
        </p:txBody>
      </p:sp>
      <p:sp>
        <p:nvSpPr>
          <p:cNvPr id="18" name="무엇이 보였나?">
            <a:extLst xmlns:a="http://schemas.openxmlformats.org/drawingml/2006/main">
              <a:ext uri="{FF2B5EF4-FFF2-40B4-BE49-F238E27FC236}">
                <a16:creationId xmlns:a16="http://schemas.microsoft.com/office/drawing/2014/main" id="{451CE7E0-F17B-47E8-9F84-B55593F53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657600"/>
            <a:ext cx="1981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무엇이 보였나?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4720398-78EA-430E-863F-149C61573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124325"/>
            <a:ext cx="1981200" cy="1076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지침은 단위만&#10;검증 범위가 다름">
            <a:extLst xmlns:a="http://schemas.openxmlformats.org/drawingml/2006/main">
              <a:ext uri="{FF2B5EF4-FFF2-40B4-BE49-F238E27FC236}">
                <a16:creationId xmlns:a16="http://schemas.microsoft.com/office/drawing/2014/main" id="{7516FE6E-A595-4E2A-AAD8-1946D4279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4181475"/>
            <a:ext cx="173355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지침은 단위만</a:t>
            </a:r>
          </a:p>
          <a:p xmlns:a="http://schemas.openxmlformats.org/drawingml/2006/main">
            <a: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검증 범위가 다름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5A1E203-2FBF-4738-9CC2-3777D1263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333750"/>
            <a:ext cx="161925" cy="1428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22" name="03">
            <a:extLst xmlns:a="http://schemas.openxmlformats.org/drawingml/2006/main">
              <a:ext uri="{FF2B5EF4-FFF2-40B4-BE49-F238E27FC236}">
                <a16:creationId xmlns:a16="http://schemas.microsoft.com/office/drawing/2014/main" id="{3CA5E232-B660-449F-B7E7-9B4AE0AA1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647950"/>
            <a:ext cx="1981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03649BA-5669-4BE3-8DB9-9FE0A0A0C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038475"/>
            <a:ext cx="198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24" name="원인 판단">
            <a:extLst xmlns:a="http://schemas.openxmlformats.org/drawingml/2006/main">
              <a:ext uri="{FF2B5EF4-FFF2-40B4-BE49-F238E27FC236}">
                <a16:creationId xmlns:a16="http://schemas.microsoft.com/office/drawing/2014/main" id="{C776BB84-71CA-46DB-B648-30C97376B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171825"/>
            <a:ext cx="19812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원인 판단</a:t>
            </a:r>
          </a:p>
        </p:txBody>
      </p:sp>
      <p:sp>
        <p:nvSpPr>
          <p:cNvPr id="25" name="왜 생겼나?">
            <a:extLst xmlns:a="http://schemas.openxmlformats.org/drawingml/2006/main">
              <a:ext uri="{FF2B5EF4-FFF2-40B4-BE49-F238E27FC236}">
                <a16:creationId xmlns:a16="http://schemas.microsoft.com/office/drawing/2014/main" id="{AAF59306-B043-448F-B04E-BB740A68F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657600"/>
            <a:ext cx="1981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왜 생겼나?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F9515C3-5A36-4DC4-9FC0-4BA4DDA22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124325"/>
            <a:ext cx="1981200" cy="1076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오래된 지침이&#10;원인인지 확인">
            <a:extLst xmlns:a="http://schemas.openxmlformats.org/drawingml/2006/main">
              <a:ext uri="{FF2B5EF4-FFF2-40B4-BE49-F238E27FC236}">
                <a16:creationId xmlns:a16="http://schemas.microsoft.com/office/drawing/2014/main" id="{531C734A-7E82-458C-ACA2-1088EE5F9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29225" y="4181475"/>
            <a:ext cx="173355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오래된 지침이</a:t>
            </a:r>
          </a:p>
          <a:p xmlns:a="http://schemas.openxmlformats.org/drawingml/2006/main">
            <a: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원인인지 확인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F44A8A7-D00C-4649-A07D-A62CA9BD9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333750"/>
            <a:ext cx="161925" cy="1428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29" name="04">
            <a:extLst xmlns:a="http://schemas.openxmlformats.org/drawingml/2006/main">
              <a:ext uri="{FF2B5EF4-FFF2-40B4-BE49-F238E27FC236}">
                <a16:creationId xmlns:a16="http://schemas.microsoft.com/office/drawing/2014/main" id="{3BC7CCB3-4775-4C7D-A2E7-4409CDDEE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647950"/>
            <a:ext cx="1981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5F0DEF7-CBFC-4C84-B5F7-5C5840173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038475"/>
            <a:ext cx="198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31" name="시스템 변경">
            <a:extLst xmlns:a="http://schemas.openxmlformats.org/drawingml/2006/main">
              <a:ext uri="{FF2B5EF4-FFF2-40B4-BE49-F238E27FC236}">
                <a16:creationId xmlns:a16="http://schemas.microsoft.com/office/drawing/2014/main" id="{C24C2163-94F7-4494-9D3A-EE0E7EFCD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171825"/>
            <a:ext cx="19812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시스템 변경</a:t>
            </a:r>
          </a:p>
        </p:txBody>
      </p:sp>
      <p:sp>
        <p:nvSpPr>
          <p:cNvPr id="32" name="어디를 바꾸나?">
            <a:extLst xmlns:a="http://schemas.openxmlformats.org/drawingml/2006/main">
              <a:ext uri="{FF2B5EF4-FFF2-40B4-BE49-F238E27FC236}">
                <a16:creationId xmlns:a16="http://schemas.microsoft.com/office/drawing/2014/main" id="{CE9F69E1-1F55-41ED-BD2B-7AECF34C8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657600"/>
            <a:ext cx="1981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어디를 바꾸나?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CDD92CD-C89B-409B-B5B8-157B550E7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124325"/>
            <a:ext cx="1981200" cy="1076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확인됐다면&#10;Workflow 갱신">
            <a:extLst xmlns:a="http://schemas.openxmlformats.org/drawingml/2006/main">
              <a:ext uri="{FF2B5EF4-FFF2-40B4-BE49-F238E27FC236}">
                <a16:creationId xmlns:a16="http://schemas.microsoft.com/office/drawing/2014/main" id="{5D6E4D97-B771-4ACF-AC7D-B7FAFD427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4181475"/>
            <a:ext cx="173355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확인됐다면</a:t>
            </a:r>
          </a:p>
          <a:p xmlns:a="http://schemas.openxmlformats.org/drawingml/2006/main">
            <a: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Workflow 갱신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64D60B4-9321-4EE9-9403-699EA00BE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333750"/>
            <a:ext cx="161925" cy="1428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36" name="05">
            <a:extLst xmlns:a="http://schemas.openxmlformats.org/drawingml/2006/main">
              <a:ext uri="{FF2B5EF4-FFF2-40B4-BE49-F238E27FC236}">
                <a16:creationId xmlns:a16="http://schemas.microsoft.com/office/drawing/2014/main" id="{355AF5D2-9869-4985-881D-E05840C8D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647950"/>
            <a:ext cx="1981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CF3FEF2-7CA1-4C02-BC9F-DCE516AB9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038475"/>
            <a:ext cx="198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38" name="재평가">
            <a:extLst xmlns:a="http://schemas.openxmlformats.org/drawingml/2006/main">
              <a:ext uri="{FF2B5EF4-FFF2-40B4-BE49-F238E27FC236}">
                <a16:creationId xmlns:a16="http://schemas.microsoft.com/office/drawing/2014/main" id="{1D1430AA-F6C4-410A-82F3-4FE286238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171825"/>
            <a:ext cx="19812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재평가</a:t>
            </a:r>
          </a:p>
        </p:txBody>
      </p:sp>
      <p:sp>
        <p:nvSpPr>
          <p:cNvPr id="39" name="다른 작업도 괜찮나?">
            <a:extLst xmlns:a="http://schemas.openxmlformats.org/drawingml/2006/main">
              <a:ext uri="{FF2B5EF4-FFF2-40B4-BE49-F238E27FC236}">
                <a16:creationId xmlns:a16="http://schemas.microsoft.com/office/drawing/2014/main" id="{0218F66C-2CD6-4D36-A655-738A277A3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657600"/>
            <a:ext cx="1981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다른 작업도 괜찮나?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9356D40-5462-4562-A83E-14B988F42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4124325"/>
            <a:ext cx="1981200" cy="1076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재실행 +&#10;다른 대표 작업">
            <a:extLst xmlns:a="http://schemas.openxmlformats.org/drawingml/2006/main">
              <a:ext uri="{FF2B5EF4-FFF2-40B4-BE49-F238E27FC236}">
                <a16:creationId xmlns:a16="http://schemas.microsoft.com/office/drawing/2014/main" id="{0468E70E-AB88-407C-9EB0-243326927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5025" y="4181475"/>
            <a:ext cx="173355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재실행 +</a:t>
            </a:r>
          </a:p>
          <a:p xmlns:a="http://schemas.openxmlformats.org/drawingml/2006/main">
            <a: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다른 대표 작업</a:t>
            </a:r>
          </a:p>
        </p:txBody>
      </p:sp>
      <p:sp>
        <p:nvSpPr>
          <p:cNvPr id="42" name="다음 작업에도 영향을 주는 변경으로 연결한다.">
            <a:extLst xmlns:a="http://schemas.openxmlformats.org/drawingml/2006/main">
              <a:ext uri="{FF2B5EF4-FFF2-40B4-BE49-F238E27FC236}">
                <a16:creationId xmlns:a16="http://schemas.microsoft.com/office/drawing/2014/main" id="{AAC6E420-DED6-4D6B-9780-3F2657504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43525"/>
            <a:ext cx="1097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다음 작업에도 영향을 주는 변경으로 연결한다.</a:t>
            </a:r>
          </a:p>
        </p:txBody>
      </p:sp>
    </p:spTree>
    <p:extLst>
      <p:ext uri="{BB962C8B-B14F-4D97-AF65-F5344CB8AC3E}">
        <p14:creationId xmlns:p14="http://schemas.microsoft.com/office/powerpoint/2010/main" val="196726394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ACT 4 · OBSERVED META / Trial 평가·보고 기준">
            <a:extLst xmlns:a="http://schemas.openxmlformats.org/drawingml/2006/main">
              <a:ext uri="{FF2B5EF4-FFF2-40B4-BE49-F238E27FC236}">
                <a16:creationId xmlns:a16="http://schemas.microsoft.com/office/drawing/2014/main" id="{924CC345-E642-46C7-89D5-707982341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OBSERVED META / Trial 평가·보고 기준</a:t>
            </a:r>
          </a:p>
        </p:txBody>
      </p:sp>
      <p:sp>
        <p:nvSpPr>
          <p:cNvPr id="2" name="S67">
            <a:extLst xmlns:a="http://schemas.openxmlformats.org/drawingml/2006/main">
              <a:ext uri="{FF2B5EF4-FFF2-40B4-BE49-F238E27FC236}">
                <a16:creationId xmlns:a16="http://schemas.microsoft.com/office/drawing/2014/main" id="{E2A5ACD0-8D2C-4C9B-BBB9-B2DDEA58D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S67</a:t>
            </a:r>
          </a:p>
        </p:txBody>
      </p:sp>
      <p:sp>
        <p:nvSpPr>
          <p:cNvPr id="3" name="실제 제작 기록: TRIAL-006">
            <a:extLst xmlns:a="http://schemas.openxmlformats.org/drawingml/2006/main">
              <a:ext uri="{FF2B5EF4-FFF2-40B4-BE49-F238E27FC236}">
                <a16:creationId xmlns:a16="http://schemas.microsoft.com/office/drawing/2014/main" id="{F9651B41-2619-4CE2-AA5A-1431943E2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실제 제작 기록: TRIAL-006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1A79EF-7174-44B8-9AE0-100F5A58C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CF4215-A007-4A7A-BF3A-CD8EBDE06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721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6172"/>
            </a:solidFill>
            <a:prstDash val="solid"/>
          </a:ln>
        </p:spPr>
      </p:sp>
      <p:sp>
        <p:nvSpPr>
          <p:cNvPr id="6" name="TRIAL-006 · 과거 Codex CLI 조사 기록의 재구성">
            <a:extLst xmlns:a="http://schemas.openxmlformats.org/drawingml/2006/main">
              <a:ext uri="{FF2B5EF4-FFF2-40B4-BE49-F238E27FC236}">
                <a16:creationId xmlns:a16="http://schemas.microsoft.com/office/drawing/2014/main" id="{AAD1E79F-66E9-400D-9D3C-119E01FBA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TRIAL-006 · 과거 Codex CLI 조사 기록의 재구성</a:t>
            </a:r>
          </a:p>
        </p:txBody>
      </p:sp>
      <p:sp>
        <p:nvSpPr>
          <p:cNvPr id="7" name="앞의 가상 Workflow와 별개 사건이다. 제품 코드·Demo Skill의 수정 사례가 아니다.">
            <a:extLst xmlns:a="http://schemas.openxmlformats.org/drawingml/2006/main">
              <a:ext uri="{FF2B5EF4-FFF2-40B4-BE49-F238E27FC236}">
                <a16:creationId xmlns:a16="http://schemas.microsoft.com/office/drawing/2014/main" id="{6317402E-A26D-474B-ADCE-803F3D029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앞의 가상 Workflow와 별개 사건이다. 제품 코드·Demo Skill의 수정 사례가 아니다.</a:t>
            </a:r>
          </a:p>
        </p:txBody>
      </p:sp>
      <p:sp>
        <p:nvSpPr>
          <p:cNvPr id="8" name="성능 조사에 Prompt 밖의 환경도 함께 관여했다.">
            <a:extLst xmlns:a="http://schemas.openxmlformats.org/drawingml/2006/main">
              <a:ext uri="{FF2B5EF4-FFF2-40B4-BE49-F238E27FC236}">
                <a16:creationId xmlns:a16="http://schemas.microsoft.com/office/drawing/2014/main" id="{3ABED622-6C02-499D-B6D0-5FB232407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성능 조사에 Prompt 밖의 환경도 함께 관여했다.</a:t>
            </a:r>
          </a:p>
        </p:txBody>
      </p:sp>
      <p:sp>
        <p:nvSpPr>
          <p:cNvPr id="9" name="01">
            <a:extLst xmlns:a="http://schemas.openxmlformats.org/drawingml/2006/main">
              <a:ext uri="{FF2B5EF4-FFF2-40B4-BE49-F238E27FC236}">
                <a16:creationId xmlns:a16="http://schemas.microsoft.com/office/drawing/2014/main" id="{047D0C12-E948-492D-B6B9-EDA274022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6550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0" name="작업 요청">
            <a:extLst xmlns:a="http://schemas.openxmlformats.org/drawingml/2006/main">
              <a:ext uri="{FF2B5EF4-FFF2-40B4-BE49-F238E27FC236}">
                <a16:creationId xmlns:a16="http://schemas.microsoft.com/office/drawing/2014/main" id="{A9FB05DD-B853-4911-B08E-403DA9123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67075"/>
            <a:ext cx="3333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작업 요청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59B2738-972E-4825-A3C6-B4B3BFF88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9525"/>
            <a:ext cx="333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2" name="성능 개선 작업">
            <a:extLst xmlns:a="http://schemas.openxmlformats.org/drawingml/2006/main">
              <a:ext uri="{FF2B5EF4-FFF2-40B4-BE49-F238E27FC236}">
                <a16:creationId xmlns:a16="http://schemas.microsoft.com/office/drawing/2014/main" id="{6DF6B50E-681C-463C-928E-5FCC5F998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10025"/>
            <a:ext cx="33337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성능 개선 작업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8792335-9286-45C4-B0E1-297D1739E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3486150"/>
            <a:ext cx="257175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4" name="02">
            <a:extLst xmlns:a="http://schemas.openxmlformats.org/drawingml/2006/main">
              <a:ext uri="{FF2B5EF4-FFF2-40B4-BE49-F238E27FC236}">
                <a16:creationId xmlns:a16="http://schemas.microsoft.com/office/drawing/2014/main" id="{B284E5E0-3B0D-4A2F-A0A7-474FFE6D8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876550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5" name="함께 관찰된 조건">
            <a:extLst xmlns:a="http://schemas.openxmlformats.org/drawingml/2006/main">
              <a:ext uri="{FF2B5EF4-FFF2-40B4-BE49-F238E27FC236}">
                <a16:creationId xmlns:a16="http://schemas.microsoft.com/office/drawing/2014/main" id="{ABF10CA6-4D9A-46CD-8F74-5F1016FC1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267075"/>
            <a:ext cx="3333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함께 관찰된 조건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45AEFB2-7120-4A5B-B713-820FF0FF9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819525"/>
            <a:ext cx="333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7" name="Global Skill 관여&#10;시작 경고도 기록">
            <a:extLst xmlns:a="http://schemas.openxmlformats.org/drawingml/2006/main">
              <a:ext uri="{FF2B5EF4-FFF2-40B4-BE49-F238E27FC236}">
                <a16:creationId xmlns:a16="http://schemas.microsoft.com/office/drawing/2014/main" id="{1A886867-EE36-4086-968E-17DE0A743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010025"/>
            <a:ext cx="33337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Global Skill 관여</a:t>
            </a:r>
          </a:p>
          <a:p xmlns:a="http://schemas.openxmlformats.org/drawingml/2006/main">
            <a: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시작 경고도 기록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E611F82-8E44-4755-83A0-800270258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486150"/>
            <a:ext cx="257175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9" name="03">
            <a:extLst xmlns:a="http://schemas.openxmlformats.org/drawingml/2006/main">
              <a:ext uri="{FF2B5EF4-FFF2-40B4-BE49-F238E27FC236}">
                <a16:creationId xmlns:a16="http://schemas.microsoft.com/office/drawing/2014/main" id="{30A5FA57-96B2-4491-A1F2-4D0A5DAA8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876550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20" name="결과 해석의 질문">
            <a:extLst xmlns:a="http://schemas.openxmlformats.org/drawingml/2006/main">
              <a:ext uri="{FF2B5EF4-FFF2-40B4-BE49-F238E27FC236}">
                <a16:creationId xmlns:a16="http://schemas.microsoft.com/office/drawing/2014/main" id="{6E3E90EE-CE92-4268-90FA-126201B02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267075"/>
            <a:ext cx="3333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결과 해석의 질문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28CAEDE-8ED5-457C-9FB6-B5CB9DA1C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819525"/>
            <a:ext cx="333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22" name="Prompt만의 효과?&#10;귀속은 PARTIAL">
            <a:extLst xmlns:a="http://schemas.openxmlformats.org/drawingml/2006/main">
              <a:ext uri="{FF2B5EF4-FFF2-40B4-BE49-F238E27FC236}">
                <a16:creationId xmlns:a16="http://schemas.microsoft.com/office/drawing/2014/main" id="{382F2C73-D94E-41DD-9409-00899942D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010025"/>
            <a:ext cx="33337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Prompt만의 효과?</a:t>
            </a:r>
          </a:p>
          <a:p xmlns:a="http://schemas.openxmlformats.org/drawingml/2006/main">
            <a: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귀속은 PARTIAL</a:t>
            </a:r>
          </a:p>
        </p:txBody>
      </p:sp>
      <p:sp>
        <p:nvSpPr>
          <p:cNvPr id="23" name="좋은 결과가 있다는 것과 원인을 안다는 것은 별개다.">
            <a:extLst xmlns:a="http://schemas.openxmlformats.org/drawingml/2006/main">
              <a:ext uri="{FF2B5EF4-FFF2-40B4-BE49-F238E27FC236}">
                <a16:creationId xmlns:a16="http://schemas.microsoft.com/office/drawing/2014/main" id="{AA695A01-A491-4392-A790-ED37DB1E9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7685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좋은 결과가 있다는 것과 원인을 안다는 것은 별개다.</a:t>
            </a:r>
          </a:p>
        </p:txBody>
      </p:sp>
    </p:spTree>
    <p:extLst>
      <p:ext uri="{BB962C8B-B14F-4D97-AF65-F5344CB8AC3E}">
        <p14:creationId xmlns:p14="http://schemas.microsoft.com/office/powerpoint/2010/main" val="147735459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ACT 4 · OBSERVED META / 두 가지 검증 질문">
            <a:extLst xmlns:a="http://schemas.openxmlformats.org/drawingml/2006/main">
              <a:ext uri="{FF2B5EF4-FFF2-40B4-BE49-F238E27FC236}">
                <a16:creationId xmlns:a16="http://schemas.microsoft.com/office/drawing/2014/main" id="{2D2C7958-2127-488C-8366-26CFD05F5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OBSERVED META / 두 가지 검증 질문</a:t>
            </a:r>
          </a:p>
        </p:txBody>
      </p:sp>
      <p:sp>
        <p:nvSpPr>
          <p:cNvPr id="2" name="S68">
            <a:extLst xmlns:a="http://schemas.openxmlformats.org/drawingml/2006/main">
              <a:ext uri="{FF2B5EF4-FFF2-40B4-BE49-F238E27FC236}">
                <a16:creationId xmlns:a16="http://schemas.microsoft.com/office/drawing/2014/main" id="{FBF03F6F-0E91-4B27-85C0-3EE4B1362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S68</a:t>
            </a:r>
          </a:p>
        </p:txBody>
      </p:sp>
      <p:sp>
        <p:nvSpPr>
          <p:cNvPr id="3" name="결과의 타당성과 원인 귀속은 별개다">
            <a:extLst xmlns:a="http://schemas.openxmlformats.org/drawingml/2006/main">
              <a:ext uri="{FF2B5EF4-FFF2-40B4-BE49-F238E27FC236}">
                <a16:creationId xmlns:a16="http://schemas.microsoft.com/office/drawing/2014/main" id="{72EADD97-6CDB-439E-8966-CE6527910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결과의 타당성과 원인 귀속은 별개다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D99308-D0F5-4299-8CA4-133636167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D6A3AD-B76C-45ED-BB67-4AFD13348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721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6172"/>
            </a:solidFill>
            <a:prstDash val="solid"/>
          </a:ln>
        </p:spPr>
      </p:sp>
      <p:sp>
        <p:nvSpPr>
          <p:cNvPr id="6" name="TRIAL-006 · resize_nearest · 7 one-call samples · 기록 재구성">
            <a:extLst xmlns:a="http://schemas.openxmlformats.org/drawingml/2006/main">
              <a:ext uri="{FF2B5EF4-FFF2-40B4-BE49-F238E27FC236}">
                <a16:creationId xmlns:a16="http://schemas.microsoft.com/office/drawing/2014/main" id="{40CA91BF-7159-4034-BFEE-89F89C0F0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TRIAL-006 · resize_nearest · 7 one-call samples · 기록 재구성</a:t>
            </a:r>
          </a:p>
        </p:txBody>
      </p:sp>
      <p:sp>
        <p:nvSpPr>
          <p:cNvPr id="7" name="기록된 합성 입력·CPython 3.9.6·macOS arm64의 결과. 현재 Desktop 또는 일반 효과">
            <a:extLst xmlns:a="http://schemas.openxmlformats.org/drawingml/2006/main">
              <a:ext uri="{FF2B5EF4-FFF2-40B4-BE49-F238E27FC236}">
                <a16:creationId xmlns:a16="http://schemas.microsoft.com/office/drawing/2014/main" id="{2D2D8642-CAD1-41F4-A563-AD5394B86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기록된 합성 입력·CPython 3.9.6·macOS arm64의 결과. 현재 Desktop 또는 일반 효과가 아니다.</a:t>
            </a:r>
          </a:p>
        </p:txBody>
      </p:sp>
      <p:sp>
        <p:nvSpPr>
          <p:cNvPr id="8" name="01">
            <a:extLst xmlns:a="http://schemas.openxmlformats.org/drawingml/2006/main">
              <a:ext uri="{FF2B5EF4-FFF2-40B4-BE49-F238E27FC236}">
                <a16:creationId xmlns:a16="http://schemas.microsoft.com/office/drawing/2014/main" id="{15563109-122B-4B10-BC20-A6DFE9D11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72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9" name="측정 결과는 유효한가?">
            <a:extLst xmlns:a="http://schemas.openxmlformats.org/drawingml/2006/main">
              <a:ext uri="{FF2B5EF4-FFF2-40B4-BE49-F238E27FC236}">
                <a16:creationId xmlns:a16="http://schemas.microsoft.com/office/drawing/2014/main" id="{71B5E8E0-3E6E-44AB-B8E9-7F0144830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05075"/>
            <a:ext cx="4876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측정 결과는 유효한가?</a:t>
            </a:r>
          </a:p>
        </p:txBody>
      </p:sp>
      <p:sp>
        <p:nvSpPr>
          <p:cNvPr id="10" name="02">
            <a:extLst xmlns:a="http://schemas.openxmlformats.org/drawingml/2006/main">
              <a:ext uri="{FF2B5EF4-FFF2-40B4-BE49-F238E27FC236}">
                <a16:creationId xmlns:a16="http://schemas.microsoft.com/office/drawing/2014/main" id="{A56D1219-67B0-4CD7-9E97-20DB2EBA3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047875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72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72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72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72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72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72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72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72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72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pPr>
            <a:r>
              <a:rPr sz="1725" b="1">
                <a:solidFill>
                  <a:srgbClr val="805400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1" name="무엇이 결과를 만들었나?">
            <a:extLst xmlns:a="http://schemas.openxmlformats.org/drawingml/2006/main">
              <a:ext uri="{FF2B5EF4-FFF2-40B4-BE49-F238E27FC236}">
                <a16:creationId xmlns:a16="http://schemas.microsoft.com/office/drawing/2014/main" id="{6055DB75-A39A-4D8F-A7A7-8208DF1FB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505075"/>
            <a:ext cx="4876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무엇이 결과를 만들었나?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8EFB6D-1F98-40E8-B247-3C8D51195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09925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D438840-31F2-4543-8CCB-00D757175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209925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05400"/>
            </a:solidFill>
            <a:prstDash val="solid"/>
          </a:ln>
        </p:spPr>
      </p:sp>
      <p:sp>
        <p:nvSpPr>
          <p:cNvPr id="14" name="입력·출력 hash 일치&#10;같은 조건의 측정 기록">
            <a:extLst xmlns:a="http://schemas.openxmlformats.org/drawingml/2006/main">
              <a:ext uri="{FF2B5EF4-FFF2-40B4-BE49-F238E27FC236}">
                <a16:creationId xmlns:a16="http://schemas.microsoft.com/office/drawing/2014/main" id="{13F9DC14-726B-4E06-B1FB-AB4C806B9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57575"/>
            <a:ext cx="48768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입력·출력 hash 일치</a:t>
            </a:r>
          </a:p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같은 조건의 측정 기록</a:t>
            </a:r>
          </a:p>
        </p:txBody>
      </p:sp>
      <p:sp>
        <p:nvSpPr>
          <p:cNvPr id="15" name="Global Skill이 평가 절차에 관여&#10;Prompt만의 효과는 분리 못함">
            <a:extLst xmlns:a="http://schemas.openxmlformats.org/drawingml/2006/main">
              <a:ext uri="{FF2B5EF4-FFF2-40B4-BE49-F238E27FC236}">
                <a16:creationId xmlns:a16="http://schemas.microsoft.com/office/drawing/2014/main" id="{79DCDB39-6F6E-4D30-BFDF-BEFB3F914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457575"/>
            <a:ext cx="48768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Global Skill이 평가 절차에 관여</a:t>
            </a:r>
          </a:p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Prompt만의 효과는 분리 못함</a:t>
            </a:r>
          </a:p>
        </p:txBody>
      </p:sp>
      <p:sp>
        <p:nvSpPr>
          <p:cNvPr id="16" name="144.2 → 33.5 ms/call median">
            <a:extLst xmlns:a="http://schemas.openxmlformats.org/drawingml/2006/main">
              <a:ext uri="{FF2B5EF4-FFF2-40B4-BE49-F238E27FC236}">
                <a16:creationId xmlns:a16="http://schemas.microsoft.com/office/drawing/2014/main" id="{472776F2-EE34-4086-9BAD-C01114192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24375"/>
            <a:ext cx="4876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144.2 → 33.5 ms/call median</a:t>
            </a:r>
          </a:p>
        </p:txBody>
      </p:sp>
      <p:sp>
        <p:nvSpPr>
          <p:cNvPr id="17" name="인과 해석: PARTIAL">
            <a:extLst xmlns:a="http://schemas.openxmlformats.org/drawingml/2006/main">
              <a:ext uri="{FF2B5EF4-FFF2-40B4-BE49-F238E27FC236}">
                <a16:creationId xmlns:a16="http://schemas.microsoft.com/office/drawing/2014/main" id="{48EB6283-5FD8-4BA6-A7BA-8F6116747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524375"/>
            <a:ext cx="4876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인과 해석: PARTIAL</a:t>
            </a:r>
          </a:p>
        </p:txBody>
      </p:sp>
      <p:sp>
        <p:nvSpPr>
          <p:cNvPr id="18" name="결과에 대한 확인과, 원인에 대한 확신을 따로 기록한다.">
            <a:extLst xmlns:a="http://schemas.openxmlformats.org/drawingml/2006/main">
              <a:ext uri="{FF2B5EF4-FFF2-40B4-BE49-F238E27FC236}">
                <a16:creationId xmlns:a16="http://schemas.microsoft.com/office/drawing/2014/main" id="{AFCB4208-A8DC-406E-83FC-C60304194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86375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결과에 대한 확인과, 원인에 대한 확신을 따로 기록한다.</a:t>
            </a:r>
          </a:p>
        </p:txBody>
      </p:sp>
    </p:spTree>
    <p:extLst>
      <p:ext uri="{BB962C8B-B14F-4D97-AF65-F5344CB8AC3E}">
        <p14:creationId xmlns:p14="http://schemas.microsoft.com/office/powerpoint/2010/main" val="208677186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ACT 4 · OBSERVED META / 실제 기록 방식 변경">
            <a:extLst xmlns:a="http://schemas.openxmlformats.org/drawingml/2006/main">
              <a:ext uri="{FF2B5EF4-FFF2-40B4-BE49-F238E27FC236}">
                <a16:creationId xmlns:a16="http://schemas.microsoft.com/office/drawing/2014/main" id="{7D5CFCAE-B5A5-4679-A38C-7449C325A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OBSERVED META / 실제 기록 방식 변경</a:t>
            </a:r>
          </a:p>
        </p:txBody>
      </p:sp>
      <p:sp>
        <p:nvSpPr>
          <p:cNvPr id="2" name="S69">
            <a:extLst xmlns:a="http://schemas.openxmlformats.org/drawingml/2006/main">
              <a:ext uri="{FF2B5EF4-FFF2-40B4-BE49-F238E27FC236}">
                <a16:creationId xmlns:a16="http://schemas.microsoft.com/office/drawing/2014/main" id="{6F8E4AAF-14E9-4534-AC69-FB547298C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S69</a:t>
            </a:r>
          </a:p>
        </p:txBody>
      </p:sp>
      <p:sp>
        <p:nvSpPr>
          <p:cNvPr id="3" name="평가와 보고 규칙을 Evidence에 맞추다">
            <a:extLst xmlns:a="http://schemas.openxmlformats.org/drawingml/2006/main">
              <a:ext uri="{FF2B5EF4-FFF2-40B4-BE49-F238E27FC236}">
                <a16:creationId xmlns:a16="http://schemas.microsoft.com/office/drawing/2014/main" id="{1728D0DD-B998-4A26-B622-CB1F571AB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평가와 보고 규칙을 Evidence에 맞추다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5F1B3C-2501-4B72-96DE-CBC482580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FEB235-FAF1-4A55-8CC7-80D67DFAF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721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6172"/>
            </a:solidFill>
            <a:prstDash val="solid"/>
          </a:ln>
        </p:spPr>
      </p:sp>
      <p:sp>
        <p:nvSpPr>
          <p:cNvPr id="6" name="TRIAL-006 → DEC-0016 · 평가·보고 기준을 요약한 도식">
            <a:extLst xmlns:a="http://schemas.openxmlformats.org/drawingml/2006/main">
              <a:ext uri="{FF2B5EF4-FFF2-40B4-BE49-F238E27FC236}">
                <a16:creationId xmlns:a16="http://schemas.microsoft.com/office/drawing/2014/main" id="{FF3614BF-E984-48FB-ADE3-9547B8CA5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TRIAL-006 → DEC-0016 · 평가·보고 기준을 요약한 도식</a:t>
            </a:r>
          </a:p>
        </p:txBody>
      </p:sp>
      <p:sp>
        <p:nvSpPr>
          <p:cNvPr id="7" name="제품 코드·Demo Skill 수정이 아니며, 격리 환경에서 Prompt 효과를 검증한 것도 아니다.">
            <a:extLst xmlns:a="http://schemas.openxmlformats.org/drawingml/2006/main">
              <a:ext uri="{FF2B5EF4-FFF2-40B4-BE49-F238E27FC236}">
                <a16:creationId xmlns:a16="http://schemas.microsoft.com/office/drawing/2014/main" id="{34235EA4-4F2D-4918-80FD-B9BE28D05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제품 코드·Demo Skill 수정이 아니며, 격리 환경에서 Prompt 효과를 검증한 것도 아니다.</a:t>
            </a:r>
          </a:p>
        </p:txBody>
      </p:sp>
      <p:sp>
        <p:nvSpPr>
          <p:cNvPr id="8" name="DEC-0016 · 바뀐 것은 후속 Trial을 기록하는 기준">
            <a:extLst xmlns:a="http://schemas.openxmlformats.org/drawingml/2006/main">
              <a:ext uri="{FF2B5EF4-FFF2-40B4-BE49-F238E27FC236}">
                <a16:creationId xmlns:a16="http://schemas.microsoft.com/office/drawing/2014/main" id="{B5842C6C-D628-47C1-99C0-F49317AE2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DEC-0016 · 바뀐 것은 후속 Trial을 기록하는 기준</a:t>
            </a:r>
          </a:p>
        </p:txBody>
      </p:sp>
      <p:sp>
        <p:nvSpPr>
          <p:cNvPr id="9" name="기존 빈틈: 작업·Repository 중심으로 보고 주변 Harness 영향 설명이 부족했다.">
            <a:extLst xmlns:a="http://schemas.openxmlformats.org/drawingml/2006/main">
              <a:ext uri="{FF2B5EF4-FFF2-40B4-BE49-F238E27FC236}">
                <a16:creationId xmlns:a16="http://schemas.microsoft.com/office/drawing/2014/main" id="{3FC9A014-C871-4488-8BB9-6DFB8EE7B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기존 빈틈: 작업·Repository 중심으로 보고 주변 Harness 영향 설명이 부족했다.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C6F987-E87E-4236-92ED-0AAF8411D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52800"/>
            <a:ext cx="333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1" name="기존 결과 보존">
            <a:extLst xmlns:a="http://schemas.openxmlformats.org/drawingml/2006/main">
              <a:ext uri="{FF2B5EF4-FFF2-40B4-BE49-F238E27FC236}">
                <a16:creationId xmlns:a16="http://schemas.microsoft.com/office/drawing/2014/main" id="{83CFC169-1CD4-41C2-AF64-BFD6C698F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4250"/>
            <a:ext cx="3333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기존 결과 보존</a:t>
            </a:r>
          </a:p>
        </p:txBody>
      </p:sp>
      <p:sp>
        <p:nvSpPr>
          <p:cNvPr id="12" name="TRIAL-006&#10;PARTIAL로 남김">
            <a:extLst xmlns:a="http://schemas.openxmlformats.org/drawingml/2006/main">
              <a:ext uri="{FF2B5EF4-FFF2-40B4-BE49-F238E27FC236}">
                <a16:creationId xmlns:a16="http://schemas.microsoft.com/office/drawing/2014/main" id="{CBB19B2C-1176-4F94-8343-857D86792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05275"/>
            <a:ext cx="33337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TRIAL-006</a:t>
            </a:r>
          </a:p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PARTIAL로 남김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DCE39BF-5660-4755-BB1C-7DD14B6B2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3762375"/>
            <a:ext cx="257175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DC3F37E-155F-4719-BFD2-9F184E8A0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352800"/>
            <a:ext cx="333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5" name="진행 조건 명시">
            <a:extLst xmlns:a="http://schemas.openxmlformats.org/drawingml/2006/main">
              <a:ext uri="{FF2B5EF4-FFF2-40B4-BE49-F238E27FC236}">
                <a16:creationId xmlns:a16="http://schemas.microsoft.com/office/drawing/2014/main" id="{55983D23-D745-4ADF-9B11-2E222B424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524250"/>
            <a:ext cx="3333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진행 조건 명시</a:t>
            </a:r>
          </a:p>
        </p:txBody>
      </p:sp>
      <p:sp>
        <p:nvSpPr>
          <p:cNvPr id="16" name="clean isolation을&#10;진행 조건으로 두지 않음">
            <a:extLst xmlns:a="http://schemas.openxmlformats.org/drawingml/2006/main">
              <a:ext uri="{FF2B5EF4-FFF2-40B4-BE49-F238E27FC236}">
                <a16:creationId xmlns:a16="http://schemas.microsoft.com/office/drawing/2014/main" id="{E16DAE48-B64E-442D-AD9C-172B59F27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105275"/>
            <a:ext cx="33337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clean isolation을</a:t>
            </a:r>
          </a:p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진행 조건으로 두지 않음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5FFB513-445E-4885-93DC-807617EDA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762375"/>
            <a:ext cx="257175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1C2B371-E2C1-4B2A-845A-DF7DA0AC6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352800"/>
            <a:ext cx="333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9" name="후속 기록 변경">
            <a:extLst xmlns:a="http://schemas.openxmlformats.org/drawingml/2006/main">
              <a:ext uri="{FF2B5EF4-FFF2-40B4-BE49-F238E27FC236}">
                <a16:creationId xmlns:a16="http://schemas.microsoft.com/office/drawing/2014/main" id="{6183337B-613B-4B6F-88C2-1A929C1E4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524250"/>
            <a:ext cx="3333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후속 기록 변경</a:t>
            </a:r>
          </a:p>
        </p:txBody>
      </p:sp>
      <p:sp>
        <p:nvSpPr>
          <p:cNvPr id="20" name="관찰된 환경 영향을&#10;다음 Trial에 함께 기록">
            <a:extLst xmlns:a="http://schemas.openxmlformats.org/drawingml/2006/main">
              <a:ext uri="{FF2B5EF4-FFF2-40B4-BE49-F238E27FC236}">
                <a16:creationId xmlns:a16="http://schemas.microsoft.com/office/drawing/2014/main" id="{477086EF-442C-40A1-95DA-A34F939C2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105275"/>
            <a:ext cx="33337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관찰된 환경 영향을</a:t>
            </a:r>
          </a:p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다음 Trial에 함께 기록</a:t>
            </a:r>
          </a:p>
        </p:txBody>
      </p:sp>
      <p:sp>
        <p:nvSpPr>
          <p:cNvPr id="21" name="기록 대상: Skills · 경고 / 실행·사용 여부 · 결과를 설명할 수 있는 범위">
            <a:extLst xmlns:a="http://schemas.openxmlformats.org/drawingml/2006/main">
              <a:ext uri="{FF2B5EF4-FFF2-40B4-BE49-F238E27FC236}">
                <a16:creationId xmlns:a16="http://schemas.microsoft.com/office/drawing/2014/main" id="{C7D33BC5-2EE8-4A7C-A500-31685D1A4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67325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기록 대상: Skills · 경고 / 실행·사용 여부 · 결과를 설명할 수 있는 범위</a:t>
            </a:r>
          </a:p>
        </p:txBody>
      </p:sp>
    </p:spTree>
    <p:extLst>
      <p:ext uri="{BB962C8B-B14F-4D97-AF65-F5344CB8AC3E}">
        <p14:creationId xmlns:p14="http://schemas.microsoft.com/office/powerpoint/2010/main" val="105357077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ACT 4 · OBSERVED META / 후속 기록 대조">
            <a:extLst xmlns:a="http://schemas.openxmlformats.org/drawingml/2006/main">
              <a:ext uri="{FF2B5EF4-FFF2-40B4-BE49-F238E27FC236}">
                <a16:creationId xmlns:a16="http://schemas.microsoft.com/office/drawing/2014/main" id="{E796DD49-7FC6-4C95-B930-E44D55E81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OBSERVED META / 후속 기록 대조</a:t>
            </a:r>
          </a:p>
        </p:txBody>
      </p:sp>
      <p:sp>
        <p:nvSpPr>
          <p:cNvPr id="2" name="S70">
            <a:extLst xmlns:a="http://schemas.openxmlformats.org/drawingml/2006/main">
              <a:ext uri="{FF2B5EF4-FFF2-40B4-BE49-F238E27FC236}">
                <a16:creationId xmlns:a16="http://schemas.microsoft.com/office/drawing/2014/main" id="{6E2D0931-0F8B-47A8-B1DE-2DFBF01C8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S70</a:t>
            </a:r>
          </a:p>
        </p:txBody>
      </p:sp>
      <p:sp>
        <p:nvSpPr>
          <p:cNvPr id="3" name="후속 기록은 개선됐지만 완전하지 않았다">
            <a:extLst xmlns:a="http://schemas.openxmlformats.org/drawingml/2006/main">
              <a:ext uri="{FF2B5EF4-FFF2-40B4-BE49-F238E27FC236}">
                <a16:creationId xmlns:a16="http://schemas.microsoft.com/office/drawing/2014/main" id="{CD4C1D97-B8E5-42DD-88BF-44EF2363C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후속 기록은 개선됐지만 완전하지 않았다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8FD91C-95DB-4D8D-825B-47191EB17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A8D2AE-42F0-476B-ABD5-49C6DCA16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721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6172"/>
            </a:solidFill>
            <a:prstDash val="solid"/>
          </a:ln>
        </p:spPr>
      </p:sp>
      <p:sp>
        <p:nvSpPr>
          <p:cNvPr id="6" name="TRIAL-007/008 · DEC-0016 · 원문 기록의 의미를 요약한 도식">
            <a:extLst xmlns:a="http://schemas.openxmlformats.org/drawingml/2006/main">
              <a:ext uri="{FF2B5EF4-FFF2-40B4-BE49-F238E27FC236}">
                <a16:creationId xmlns:a16="http://schemas.microsoft.com/office/drawing/2014/main" id="{6547FA73-5552-4A96-B2F2-E417F80F1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TRIAL-007/008 · DEC-0016 · 원문 기록의 의미를 요약한 도식</a:t>
            </a:r>
          </a:p>
        </p:txBody>
      </p:sp>
      <p:sp>
        <p:nvSpPr>
          <p:cNvPr id="7" name="MCP 작업 결과는 없음. 완전한 환경 목록이나 측정된 품질 향상을 뜻하지 않는다.">
            <a:extLst xmlns:a="http://schemas.openxmlformats.org/drawingml/2006/main">
              <a:ext uri="{FF2B5EF4-FFF2-40B4-BE49-F238E27FC236}">
                <a16:creationId xmlns:a16="http://schemas.microsoft.com/office/drawing/2014/main" id="{40885697-B2FF-4CC6-95E7-120F55EE0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MCP 작업 결과는 없음. 완전한 환경 목록이나 측정된 품질 향상을 뜻하지 않는다.</a:t>
            </a:r>
          </a:p>
        </p:txBody>
      </p:sp>
      <p:sp>
        <p:nvSpPr>
          <p:cNvPr id="8" name="TRIAL-007">
            <a:extLst xmlns:a="http://schemas.openxmlformats.org/drawingml/2006/main">
              <a:ext uri="{FF2B5EF4-FFF2-40B4-BE49-F238E27FC236}">
                <a16:creationId xmlns:a16="http://schemas.microsoft.com/office/drawing/2014/main" id="{3F7C4476-811C-4A5B-8A97-B97EA0B9D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57400"/>
            <a:ext cx="518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TRIAL-007</a:t>
            </a:r>
          </a:p>
        </p:txBody>
      </p:sp>
      <p:sp>
        <p:nvSpPr>
          <p:cNvPr id="9" name="보고와 원문을 대조">
            <a:extLst xmlns:a="http://schemas.openxmlformats.org/drawingml/2006/main">
              <a:ext uri="{FF2B5EF4-FFF2-40B4-BE49-F238E27FC236}">
                <a16:creationId xmlns:a16="http://schemas.microsoft.com/office/drawing/2014/main" id="{1A71EC52-4764-41F6-962E-BDFD4A652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52700"/>
            <a:ext cx="5181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보고와 원문을 대조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B04A2C-22CA-4FA3-A162-B601CE43F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67050"/>
            <a:ext cx="5181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1" name="최종 보고">
            <a:extLst xmlns:a="http://schemas.openxmlformats.org/drawingml/2006/main">
              <a:ext uri="{FF2B5EF4-FFF2-40B4-BE49-F238E27FC236}">
                <a16:creationId xmlns:a16="http://schemas.microsoft.com/office/drawing/2014/main" id="{6FAE357E-24DA-400F-93B3-1993D583D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67075"/>
            <a:ext cx="51816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최종 보고</a:t>
            </a:r>
          </a:p>
        </p:txBody>
      </p:sp>
      <p:sp>
        <p:nvSpPr>
          <p:cNvPr id="12" name="MCP 경고 없음">
            <a:extLst xmlns:a="http://schemas.openxmlformats.org/drawingml/2006/main">
              <a:ext uri="{FF2B5EF4-FFF2-40B4-BE49-F238E27FC236}">
                <a16:creationId xmlns:a16="http://schemas.microsoft.com/office/drawing/2014/main" id="{CE6EE612-B711-4F21-B877-525CC5FD1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38550"/>
            <a:ext cx="51816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MCP 경고 없음</a:t>
            </a:r>
          </a:p>
        </p:txBody>
      </p:sp>
      <p:sp>
        <p:nvSpPr>
          <p:cNvPr id="13" name="보존된 stderr · 진단 메시지 출력">
            <a:extLst xmlns:a="http://schemas.openxmlformats.org/drawingml/2006/main">
              <a:ext uri="{FF2B5EF4-FFF2-40B4-BE49-F238E27FC236}">
                <a16:creationId xmlns:a16="http://schemas.microsoft.com/office/drawing/2014/main" id="{E36BE6BF-DB62-42B6-B38E-50D887E5B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29100"/>
            <a:ext cx="51816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보존된 stderr · 진단 메시지 출력</a:t>
            </a:r>
          </a:p>
        </p:txBody>
      </p:sp>
      <p:sp>
        <p:nvSpPr>
          <p:cNvPr id="14" name="Nimble AuthRequired">
            <a:extLst xmlns:a="http://schemas.openxmlformats.org/drawingml/2006/main">
              <a:ext uri="{FF2B5EF4-FFF2-40B4-BE49-F238E27FC236}">
                <a16:creationId xmlns:a16="http://schemas.microsoft.com/office/drawing/2014/main" id="{B68AE858-D435-4B43-8169-712D00336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00575"/>
            <a:ext cx="518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Nimble AuthRequired</a:t>
            </a:r>
          </a:p>
        </p:txBody>
      </p:sp>
      <p:sp>
        <p:nvSpPr>
          <p:cNvPr id="15" name="인증 필요 경고">
            <a:extLst xmlns:a="http://schemas.openxmlformats.org/drawingml/2006/main">
              <a:ext uri="{FF2B5EF4-FFF2-40B4-BE49-F238E27FC236}">
                <a16:creationId xmlns:a16="http://schemas.microsoft.com/office/drawing/2014/main" id="{42953360-530C-4342-81C7-8E7EDB327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67300"/>
            <a:ext cx="51816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인증 필요 경고</a:t>
            </a:r>
          </a:p>
        </p:txBody>
      </p:sp>
      <p:sp>
        <p:nvSpPr>
          <p:cNvPr id="16" name="TRIAL-008">
            <a:extLst xmlns:a="http://schemas.openxmlformats.org/drawingml/2006/main">
              <a:ext uri="{FF2B5EF4-FFF2-40B4-BE49-F238E27FC236}">
                <a16:creationId xmlns:a16="http://schemas.microsoft.com/office/drawing/2014/main" id="{2857114E-1305-485D-8B6E-CCD6FD48A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057400"/>
            <a:ext cx="4876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TRIAL-008</a:t>
            </a:r>
          </a:p>
        </p:txBody>
      </p:sp>
      <p:sp>
        <p:nvSpPr>
          <p:cNvPr id="17" name="사용 경로를 구분해 기록">
            <a:extLst xmlns:a="http://schemas.openxmlformats.org/drawingml/2006/main">
              <a:ext uri="{FF2B5EF4-FFF2-40B4-BE49-F238E27FC236}">
                <a16:creationId xmlns:a16="http://schemas.microsoft.com/office/drawing/2014/main" id="{F70F4629-AD4A-4024-9684-2E94A240D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552700"/>
            <a:ext cx="4876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사용 경로를 구분해 기록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EB30E68-F3C0-43B2-956E-F23CF75FD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06705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3B7288D-7F70-4697-87C5-3A4257926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343275"/>
            <a:ext cx="48768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Repository Skill 호출">
            <a:extLst xmlns:a="http://schemas.openxmlformats.org/drawingml/2006/main">
              <a:ext uri="{FF2B5EF4-FFF2-40B4-BE49-F238E27FC236}">
                <a16:creationId xmlns:a16="http://schemas.microsoft.com/office/drawing/2014/main" id="{D56EF72B-DB90-49D4-A3D1-6837DB66B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533775"/>
            <a:ext cx="4495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Repository Skill 호출</a:t>
            </a:r>
          </a:p>
        </p:txBody>
      </p:sp>
      <p:sp>
        <p:nvSpPr>
          <p:cNvPr id="21" name="별도 기록">
            <a:extLst xmlns:a="http://schemas.openxmlformats.org/drawingml/2006/main">
              <a:ext uri="{FF2B5EF4-FFF2-40B4-BE49-F238E27FC236}">
                <a16:creationId xmlns:a16="http://schemas.microsoft.com/office/drawing/2014/main" id="{FF67DB24-DC24-437F-9479-70DDCE2C8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276725"/>
            <a:ext cx="4876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별도 기록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4A5266E-07CF-489F-9041-42E94742E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714875"/>
            <a:ext cx="48768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Global influence">
            <a:extLst xmlns:a="http://schemas.openxmlformats.org/drawingml/2006/main">
              <a:ext uri="{FF2B5EF4-FFF2-40B4-BE49-F238E27FC236}">
                <a16:creationId xmlns:a16="http://schemas.microsoft.com/office/drawing/2014/main" id="{C6DF10E3-218D-4462-9EF3-B61814786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905375"/>
            <a:ext cx="4495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Global influence</a:t>
            </a:r>
          </a:p>
        </p:txBody>
      </p:sp>
    </p:spTree>
    <p:extLst>
      <p:ext uri="{BB962C8B-B14F-4D97-AF65-F5344CB8AC3E}">
        <p14:creationId xmlns:p14="http://schemas.microsoft.com/office/powerpoint/2010/main" val="58176591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ACT 4 · OBSERVED META / 사례 회수">
            <a:extLst xmlns:a="http://schemas.openxmlformats.org/drawingml/2006/main">
              <a:ext uri="{FF2B5EF4-FFF2-40B4-BE49-F238E27FC236}">
                <a16:creationId xmlns:a16="http://schemas.microsoft.com/office/drawing/2014/main" id="{26AB3E8A-78EB-4C59-9B22-91F4C11CB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OBSERVED META / 사례 회수</a:t>
            </a:r>
          </a:p>
        </p:txBody>
      </p:sp>
      <p:sp>
        <p:nvSpPr>
          <p:cNvPr id="2" name="S71">
            <a:extLst xmlns:a="http://schemas.openxmlformats.org/drawingml/2006/main">
              <a:ext uri="{FF2B5EF4-FFF2-40B4-BE49-F238E27FC236}">
                <a16:creationId xmlns:a16="http://schemas.microsoft.com/office/drawing/2014/main" id="{4A57E4AF-7771-4A19-B211-58657E1D1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S71</a:t>
            </a:r>
          </a:p>
        </p:txBody>
      </p:sp>
      <p:sp>
        <p:nvSpPr>
          <p:cNvPr id="3" name="실제 Meta Loop에서 바뀐 것">
            <a:extLst xmlns:a="http://schemas.openxmlformats.org/drawingml/2006/main">
              <a:ext uri="{FF2B5EF4-FFF2-40B4-BE49-F238E27FC236}">
                <a16:creationId xmlns:a16="http://schemas.microsoft.com/office/drawing/2014/main" id="{D1685AF2-475A-4F9A-B014-BC3D3EDE4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실제 Meta Loop에서 바뀐 것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BDF902-6898-4B3C-ADAA-AF24F956E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626D8C-878A-40E4-85E3-ACADB04C1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721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6172"/>
            </a:solidFill>
            <a:prstDash val="solid"/>
          </a:ln>
        </p:spPr>
      </p:sp>
      <p:sp>
        <p:nvSpPr>
          <p:cNvPr id="6" name="TRIAL-006 → DEC-0016 → TRIAL-007/008 · 실제 제작 기록">
            <a:extLst xmlns:a="http://schemas.openxmlformats.org/drawingml/2006/main">
              <a:ext uri="{FF2B5EF4-FFF2-40B4-BE49-F238E27FC236}">
                <a16:creationId xmlns:a16="http://schemas.microsoft.com/office/drawing/2014/main" id="{25AC2094-A8D8-43A8-AF8E-58ECF4FC7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TRIAL-006 → DEC-0016 → TRIAL-007/008 · 실제 제작 기록</a:t>
            </a:r>
          </a:p>
        </p:txBody>
      </p:sp>
      <p:sp>
        <p:nvSpPr>
          <p:cNvPr id="7" name="제품 코드의 개선이나 가상 stale Workflow의 복구 이력이 아니다.">
            <a:extLst xmlns:a="http://schemas.openxmlformats.org/drawingml/2006/main">
              <a:ext uri="{FF2B5EF4-FFF2-40B4-BE49-F238E27FC236}">
                <a16:creationId xmlns:a16="http://schemas.microsoft.com/office/drawing/2014/main" id="{8C234F4A-47F4-4BF5-A2E3-A1E88363C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제품 코드의 개선이나 가상 stale Workflow의 복구 이력이 아니다.</a:t>
            </a:r>
          </a:p>
        </p:txBody>
      </p:sp>
      <p:sp>
        <p:nvSpPr>
          <p:cNvPr id="8" name="바뀐 대상">
            <a:extLst xmlns:a="http://schemas.openxmlformats.org/drawingml/2006/main">
              <a:ext uri="{FF2B5EF4-FFF2-40B4-BE49-F238E27FC236}">
                <a16:creationId xmlns:a16="http://schemas.microsoft.com/office/drawing/2014/main" id="{D1F115A7-837D-4376-8AAD-67F0E1278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05025"/>
            <a:ext cx="109728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바뀐 대상</a:t>
            </a:r>
          </a:p>
        </p:txBody>
      </p:sp>
      <p:sp>
        <p:nvSpPr>
          <p:cNvPr id="9" name="Trial을 평가하고 보고하는 기준">
            <a:extLst xmlns:a="http://schemas.openxmlformats.org/drawingml/2006/main">
              <a:ext uri="{FF2B5EF4-FFF2-40B4-BE49-F238E27FC236}">
                <a16:creationId xmlns:a16="http://schemas.microsoft.com/office/drawing/2014/main" id="{77E8576A-B987-460F-8DDE-966DC6F37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81275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Trial을 평가하고 보고하는 기준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E5B1BE-ABB1-49B0-999C-16F1BE69E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1" name="남아 있는 확인 과제">
            <a:extLst xmlns:a="http://schemas.openxmlformats.org/drawingml/2006/main">
              <a:ext uri="{FF2B5EF4-FFF2-40B4-BE49-F238E27FC236}">
                <a16:creationId xmlns:a16="http://schemas.microsoft.com/office/drawing/2014/main" id="{D02229FC-1C9C-419F-BB58-EDD52FD79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10972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남아 있는 확인 과제</a:t>
            </a:r>
          </a:p>
        </p:txBody>
      </p:sp>
      <p:sp>
        <p:nvSpPr>
          <p:cNvPr id="12" name="원인별 효과">
            <a:extLst xmlns:a="http://schemas.openxmlformats.org/drawingml/2006/main">
              <a:ext uri="{FF2B5EF4-FFF2-40B4-BE49-F238E27FC236}">
                <a16:creationId xmlns:a16="http://schemas.microsoft.com/office/drawing/2014/main" id="{138E3B18-B890-46C1-A834-E5994A4CE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9575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원인별 효과</a:t>
            </a:r>
          </a:p>
        </p:txBody>
      </p:sp>
      <p:sp>
        <p:nvSpPr>
          <p:cNvPr id="13" name="무엇이 기여했는가?">
            <a:extLst xmlns:a="http://schemas.openxmlformats.org/drawingml/2006/main">
              <a:ext uri="{FF2B5EF4-FFF2-40B4-BE49-F238E27FC236}">
                <a16:creationId xmlns:a16="http://schemas.microsoft.com/office/drawing/2014/main" id="{2EE946C6-7A02-4C1A-9957-D157FA904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76775"/>
            <a:ext cx="33337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무엇이 기여했는가?</a:t>
            </a:r>
          </a:p>
        </p:txBody>
      </p:sp>
      <p:sp>
        <p:nvSpPr>
          <p:cNvPr id="14" name="환경 목록의 완전성">
            <a:extLst xmlns:a="http://schemas.openxmlformats.org/drawingml/2006/main">
              <a:ext uri="{FF2B5EF4-FFF2-40B4-BE49-F238E27FC236}">
                <a16:creationId xmlns:a16="http://schemas.microsoft.com/office/drawing/2014/main" id="{B53EA9BA-49D7-4083-835F-64D1E8882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219575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환경 목록의 완전성</a:t>
            </a:r>
          </a:p>
        </p:txBody>
      </p:sp>
      <p:sp>
        <p:nvSpPr>
          <p:cNvPr id="15" name="빠진 조건은 없는가?">
            <a:extLst xmlns:a="http://schemas.openxmlformats.org/drawingml/2006/main">
              <a:ext uri="{FF2B5EF4-FFF2-40B4-BE49-F238E27FC236}">
                <a16:creationId xmlns:a16="http://schemas.microsoft.com/office/drawing/2014/main" id="{5725C27B-5E76-4097-AD4D-933BC2755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676775"/>
            <a:ext cx="33337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빠진 조건은 없는가?</a:t>
            </a:r>
          </a:p>
        </p:txBody>
      </p:sp>
      <p:sp>
        <p:nvSpPr>
          <p:cNvPr id="16" name="Trial 품질의 향상">
            <a:extLst xmlns:a="http://schemas.openxmlformats.org/drawingml/2006/main">
              <a:ext uri="{FF2B5EF4-FFF2-40B4-BE49-F238E27FC236}">
                <a16:creationId xmlns:a16="http://schemas.microsoft.com/office/drawing/2014/main" id="{1ADA44A7-87E8-4A19-89C4-1F3C28301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219575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Trial 품질의 향상</a:t>
            </a:r>
          </a:p>
        </p:txBody>
      </p:sp>
      <p:sp>
        <p:nvSpPr>
          <p:cNvPr id="17" name="실제로 더 좋아졌는가?">
            <a:extLst xmlns:a="http://schemas.openxmlformats.org/drawingml/2006/main">
              <a:ext uri="{FF2B5EF4-FFF2-40B4-BE49-F238E27FC236}">
                <a16:creationId xmlns:a16="http://schemas.microsoft.com/office/drawing/2014/main" id="{8EEDB921-0E82-4D63-8A2C-421E73D83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676775"/>
            <a:ext cx="33337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실제로 더 좋아졌는가?</a:t>
            </a:r>
          </a:p>
        </p:txBody>
      </p:sp>
      <p:sp>
        <p:nvSpPr>
          <p:cNvPr id="18" name="Feedback은 평가 체계도 바꿀 수 있다. 변경 뒤의 결과는 다시 확인한다.">
            <a:extLst xmlns:a="http://schemas.openxmlformats.org/drawingml/2006/main">
              <a:ext uri="{FF2B5EF4-FFF2-40B4-BE49-F238E27FC236}">
                <a16:creationId xmlns:a16="http://schemas.microsoft.com/office/drawing/2014/main" id="{257B2C8C-F860-4BE3-801F-0B8584A4B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9590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Feedback은 평가 체계도 바꿀 수 있다. 변경 뒤의 결과는 다시 확인한다.</a:t>
            </a:r>
          </a:p>
        </p:txBody>
      </p:sp>
    </p:spTree>
    <p:extLst>
      <p:ext uri="{BB962C8B-B14F-4D97-AF65-F5344CB8AC3E}">
        <p14:creationId xmlns:p14="http://schemas.microsoft.com/office/powerpoint/2010/main" val="1864195558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ACT 4 · C++ VISION / 적용을 위한 가상 질문">
            <a:extLst xmlns:a="http://schemas.openxmlformats.org/drawingml/2006/main">
              <a:ext uri="{FF2B5EF4-FFF2-40B4-BE49-F238E27FC236}">
                <a16:creationId xmlns:a16="http://schemas.microsoft.com/office/drawing/2014/main" id="{24E584CC-DA66-46EC-B348-7A9378683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C++ VISION / 적용을 위한 가상 질문</a:t>
            </a:r>
          </a:p>
        </p:txBody>
      </p:sp>
      <p:sp>
        <p:nvSpPr>
          <p:cNvPr id="2" name="S72">
            <a:extLst xmlns:a="http://schemas.openxmlformats.org/drawingml/2006/main">
              <a:ext uri="{FF2B5EF4-FFF2-40B4-BE49-F238E27FC236}">
                <a16:creationId xmlns:a16="http://schemas.microsoft.com/office/drawing/2014/main" id="{7B76E852-D91E-4A6F-B522-9716B71E8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S72</a:t>
            </a:r>
          </a:p>
        </p:txBody>
      </p:sp>
      <p:sp>
        <p:nvSpPr>
          <p:cNvPr id="3" name="Project와 환경이 바뀌면&#10;검증도 다시 본다">
            <a:extLst xmlns:a="http://schemas.openxmlformats.org/drawingml/2006/main">
              <a:ext uri="{FF2B5EF4-FFF2-40B4-BE49-F238E27FC236}">
                <a16:creationId xmlns:a16="http://schemas.microsoft.com/office/drawing/2014/main" id="{D96FC98C-5947-45C5-9A56-76000216C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Project와 환경이 바뀌면</a:t>
            </a:r>
          </a:p>
          <a:p xmlns:a="http://schemas.openxmlformats.org/drawingml/2006/main">
            <a: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검증도 다시 본다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DDBC79-A06B-4ED6-9A27-82A13D8A6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BEAT-059 · TRANS-012 · 교육용 전이 모델 · AI 생성 설명용 삽화">
            <a:extLst xmlns:a="http://schemas.openxmlformats.org/drawingml/2006/main">
              <a:ext uri="{FF2B5EF4-FFF2-40B4-BE49-F238E27FC236}">
                <a16:creationId xmlns:a16="http://schemas.microsoft.com/office/drawing/2014/main" id="{13600AC1-C925-4730-8412-4EDD08DA9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BEAT-059 · TRANS-012 · 교육용 전이 모델 · AI 생성 설명용 삽화</a:t>
            </a:r>
          </a:p>
        </p:txBody>
      </p:sp>
      <p:sp>
        <p:nvSpPr>
          <p:cNvPr id="6" name="실제 C++ 사건·성능 결과가 아닙니다. 변경 표시는 확인할 조건을 뜻하며 원인이나 결과를 단정하지 않습니다">
            <a:extLst xmlns:a="http://schemas.openxmlformats.org/drawingml/2006/main">
              <a:ext uri="{FF2B5EF4-FFF2-40B4-BE49-F238E27FC236}">
                <a16:creationId xmlns:a16="http://schemas.microsoft.com/office/drawing/2014/main" id="{C83DF76D-E6A8-4232-861C-85C60EEF1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실제 C++ 사건·성능 결과가 아닙니다. 변경 표시는 확인할 조건을 뜻하며 원인이나 결과를 단정하지 않습니다.</a:t>
            </a:r>
          </a:p>
        </p:txBody>
      </p:sp>
      <p:sp>
        <p:nvSpPr>
          <p:cNvPr id="7" name="GPU · 빌드 · 측정 조건이 달라졌다면?">
            <a:extLst xmlns:a="http://schemas.openxmlformats.org/drawingml/2006/main">
              <a:ext uri="{FF2B5EF4-FFF2-40B4-BE49-F238E27FC236}">
                <a16:creationId xmlns:a16="http://schemas.microsoft.com/office/drawing/2014/main" id="{0579DF57-6225-40CC-84A1-EB526D1D4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1097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GPU · 빌드 · 측정 조건이 달라졌다면?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6AB056-D26D-4070-A32C-65C73359065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7da5bf82fe4ac7"/>
          <a:srcRect xmlns:a="http://schemas.openxmlformats.org/drawingml/2006/main" l="0" t="6000" r="0" b="10000"/>
          <a:stretch xmlns:a="http://schemas.openxmlformats.org/drawingml/2006/main"/>
        </p:blipFill>
        <p:spPr>
          <a:xfrm xmlns:a="http://schemas.openxmlformats.org/drawingml/2006/main">
            <a:off x="609600" y="2676525"/>
            <a:ext cx="6858000" cy="1924050"/>
          </a:xfrm>
          <a:prstGeom xmlns:a="http://schemas.openxmlformats.org/drawingml/2006/main" prst="rect">
            <a:avLst/>
          </a:prstGeom>
        </p:spPr>
      </p:pic>
      <p:sp>
        <p:nvSpPr>
          <p:cNvPr id="9" name="입력">
            <a:extLst xmlns:a="http://schemas.openxmlformats.org/drawingml/2006/main">
              <a:ext uri="{FF2B5EF4-FFF2-40B4-BE49-F238E27FC236}">
                <a16:creationId xmlns:a16="http://schemas.microsoft.com/office/drawing/2014/main" id="{8A5DFEBA-FDBD-427B-BCA7-83894B060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76775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입력</a:t>
            </a:r>
          </a:p>
        </p:txBody>
      </p:sp>
      <p:sp>
        <p:nvSpPr>
          <p:cNvPr id="10" name="처리 코드">
            <a:extLst xmlns:a="http://schemas.openxmlformats.org/drawingml/2006/main">
              <a:ext uri="{FF2B5EF4-FFF2-40B4-BE49-F238E27FC236}">
                <a16:creationId xmlns:a16="http://schemas.microsoft.com/office/drawing/2014/main" id="{E26236DA-0EDE-4CCB-8409-C18BAFF36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676775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처리 코드</a:t>
            </a:r>
          </a:p>
        </p:txBody>
      </p:sp>
      <p:sp>
        <p:nvSpPr>
          <p:cNvPr id="11" name="실행 장치 · 변경 조건">
            <a:extLst xmlns:a="http://schemas.openxmlformats.org/drawingml/2006/main">
              <a:ext uri="{FF2B5EF4-FFF2-40B4-BE49-F238E27FC236}">
                <a16:creationId xmlns:a16="http://schemas.microsoft.com/office/drawing/2014/main" id="{123159C0-D73E-4E93-A571-2D4D8CFF0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676775"/>
            <a:ext cx="2324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실행 장치 · 변경 조건</a:t>
            </a:r>
          </a:p>
        </p:txBody>
      </p:sp>
      <p:sp>
        <p:nvSpPr>
          <p:cNvPr id="12" name="출력">
            <a:extLst xmlns:a="http://schemas.openxmlformats.org/drawingml/2006/main">
              <a:ext uri="{FF2B5EF4-FFF2-40B4-BE49-F238E27FC236}">
                <a16:creationId xmlns:a16="http://schemas.microsoft.com/office/drawing/2014/main" id="{F53597BE-DE42-4BB1-BC29-431094168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676775"/>
            <a:ext cx="104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출력</a:t>
            </a:r>
          </a:p>
        </p:txBody>
      </p:sp>
      <p:sp>
        <p:nvSpPr>
          <p:cNvPr id="13" name="01">
            <a:extLst xmlns:a="http://schemas.openxmlformats.org/drawingml/2006/main">
              <a:ext uri="{FF2B5EF4-FFF2-40B4-BE49-F238E27FC236}">
                <a16:creationId xmlns:a16="http://schemas.microsoft.com/office/drawing/2014/main" id="{6F48C3DB-4E82-4822-A7C4-77C8283A8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486025"/>
            <a:ext cx="38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805400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4" name="기존 가정">
            <a:extLst xmlns:a="http://schemas.openxmlformats.org/drawingml/2006/main">
              <a:ext uri="{FF2B5EF4-FFF2-40B4-BE49-F238E27FC236}">
                <a16:creationId xmlns:a16="http://schemas.microsoft.com/office/drawing/2014/main" id="{FFD24591-B02E-4DED-83A6-14D5B86B0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486025"/>
            <a:ext cx="3105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기존 가정</a:t>
            </a:r>
          </a:p>
        </p:txBody>
      </p:sp>
      <p:sp>
        <p:nvSpPr>
          <p:cNvPr id="15" name="어떤 조건에서&#10;맞던 판단인가?">
            <a:extLst xmlns:a="http://schemas.openxmlformats.org/drawingml/2006/main">
              <a:ext uri="{FF2B5EF4-FFF2-40B4-BE49-F238E27FC236}">
                <a16:creationId xmlns:a16="http://schemas.microsoft.com/office/drawing/2014/main" id="{E189F9FF-8BE5-49C2-8391-5D4E6D73B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809875"/>
            <a:ext cx="3105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어떤 조건에서</a:t>
            </a:r>
          </a:p>
          <a:p xmlns:a="http://schemas.openxmlformats.org/drawingml/2006/main">
            <a: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맞던 판단인가?</a:t>
            </a:r>
          </a:p>
        </p:txBody>
      </p:sp>
      <p:sp>
        <p:nvSpPr>
          <p:cNvPr id="16" name="02">
            <a:extLst xmlns:a="http://schemas.openxmlformats.org/drawingml/2006/main">
              <a:ext uri="{FF2B5EF4-FFF2-40B4-BE49-F238E27FC236}">
                <a16:creationId xmlns:a16="http://schemas.microsoft.com/office/drawing/2014/main" id="{8E2E9EE0-A5BB-4534-9E73-5E3B31A97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371850"/>
            <a:ext cx="38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805400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7" name="측정 조건">
            <a:extLst xmlns:a="http://schemas.openxmlformats.org/drawingml/2006/main">
              <a:ext uri="{FF2B5EF4-FFF2-40B4-BE49-F238E27FC236}">
                <a16:creationId xmlns:a16="http://schemas.microsoft.com/office/drawing/2014/main" id="{979EDC4E-9B7B-4BD4-A203-3AC75A9C7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371850"/>
            <a:ext cx="3105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측정 조건</a:t>
            </a:r>
          </a:p>
        </p:txBody>
      </p:sp>
      <p:sp>
        <p:nvSpPr>
          <p:cNvPr id="18" name="입력과 실행 조건은&#10;비교 가능한가?">
            <a:extLst xmlns:a="http://schemas.openxmlformats.org/drawingml/2006/main">
              <a:ext uri="{FF2B5EF4-FFF2-40B4-BE49-F238E27FC236}">
                <a16:creationId xmlns:a16="http://schemas.microsoft.com/office/drawing/2014/main" id="{7287BB97-B5EE-499B-B23F-F7FAA62AE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695700"/>
            <a:ext cx="3105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입력과 실행 조건은</a:t>
            </a:r>
          </a:p>
          <a:p xmlns:a="http://schemas.openxmlformats.org/drawingml/2006/main">
            <a: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비교 가능한가?</a:t>
            </a:r>
          </a:p>
        </p:txBody>
      </p:sp>
      <p:sp>
        <p:nvSpPr>
          <p:cNvPr id="19" name="03">
            <a:extLst xmlns:a="http://schemas.openxmlformats.org/drawingml/2006/main">
              <a:ext uri="{FF2B5EF4-FFF2-40B4-BE49-F238E27FC236}">
                <a16:creationId xmlns:a16="http://schemas.microsoft.com/office/drawing/2014/main" id="{00BAE647-2E30-4272-9F18-4389422A2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257675"/>
            <a:ext cx="38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805400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20" name="기능 계약">
            <a:extLst xmlns:a="http://schemas.openxmlformats.org/drawingml/2006/main">
              <a:ext uri="{FF2B5EF4-FFF2-40B4-BE49-F238E27FC236}">
                <a16:creationId xmlns:a16="http://schemas.microsoft.com/office/drawing/2014/main" id="{34FE6D11-74C1-49AF-A816-7D3002E90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257675"/>
            <a:ext cx="3105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기능 계약</a:t>
            </a:r>
          </a:p>
        </p:txBody>
      </p:sp>
      <p:sp>
        <p:nvSpPr>
          <p:cNvPr id="21" name="함께 다시 확인할&#10;동작은?">
            <a:extLst xmlns:a="http://schemas.openxmlformats.org/drawingml/2006/main">
              <a:ext uri="{FF2B5EF4-FFF2-40B4-BE49-F238E27FC236}">
                <a16:creationId xmlns:a16="http://schemas.microsoft.com/office/drawing/2014/main" id="{1072E582-AB62-4FD5-8FB8-2BE91AF18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581525"/>
            <a:ext cx="3105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함께 다시 확인할</a:t>
            </a:r>
          </a:p>
          <a:p xmlns:a="http://schemas.openxmlformats.org/drawingml/2006/main">
            <a: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동작은?</a:t>
            </a:r>
          </a:p>
        </p:txBody>
      </p:sp>
      <p:sp>
        <p:nvSpPr>
          <p:cNvPr id="22" name="같은 문제가 반복될 때, 어느 Layer를 먼저 살펴볼까?">
            <a:extLst xmlns:a="http://schemas.openxmlformats.org/drawingml/2006/main">
              <a:ext uri="{FF2B5EF4-FFF2-40B4-BE49-F238E27FC236}">
                <a16:creationId xmlns:a16="http://schemas.microsoft.com/office/drawing/2014/main" id="{7C21E3C8-BE61-4C4F-9CE9-26796F9E1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05425"/>
            <a:ext cx="10972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같은 문제가 반복될 때, 어느 Layer를 먼저 살펴볼까?</a:t>
            </a:r>
          </a:p>
        </p:txBody>
      </p:sp>
    </p:spTree>
    <p:extLst>
      <p:ext uri="{BB962C8B-B14F-4D97-AF65-F5344CB8AC3E}">
        <p14:creationId xmlns:p14="http://schemas.microsoft.com/office/powerpoint/2010/main" val="140083026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2026-10-20T01:26:54.3960000Z</dcterms:created>
  <dcterms:modified xsi:type="dcterms:W3CDTF">2026-10-20T01:26:54.3960000Z</dcterms:modified>
</coreProperties>
</file>