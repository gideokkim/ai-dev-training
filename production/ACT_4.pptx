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7e673cb509ed473b" /><Relationship Type="http://schemas.openxmlformats.org/officeDocument/2006/relationships/extended-properties" Target="/docProps/app.xml" Id="R2bcdee811c6a41b9" /><Relationship Type="http://schemas.openxmlformats.org/officeDocument/2006/relationships/officeDocument" Target="/ppt/presentation.xml" Id="R9404462db88f4249" /></Relationships>
</file>

<file path=ppt/presentation.xml><?xml version="1.0" encoding="utf-8"?>
<p:presentation xmlns:p="http://schemas.openxmlformats.org/presentationml/2006/main">
  <p:sldMasterIdLst>
    <p:sldMasterId xmlns:r="http://schemas.openxmlformats.org/officeDocument/2006/relationships" id="2147483648" r:id="R5c2413391727431d"/>
  </p:sldMasterIdLst>
  <p:notesMasterIdLst>
    <p:notesMasterId xmlns:r="http://schemas.openxmlformats.org/officeDocument/2006/relationships" r:id="R09510632c7324d9b"/>
  </p:notesMasterIdLst>
  <p:sldIdLst>
    <p:sldId xmlns:r="http://schemas.openxmlformats.org/officeDocument/2006/relationships" id="256" r:id="Rd0523b37099c4ee6"/>
    <p:sldId xmlns:r="http://schemas.openxmlformats.org/officeDocument/2006/relationships" id="257" r:id="Rb1c725712b274b9e"/>
    <p:sldId xmlns:r="http://schemas.openxmlformats.org/officeDocument/2006/relationships" id="258" r:id="Rb16a9b24a1144661"/>
    <p:sldId xmlns:r="http://schemas.openxmlformats.org/officeDocument/2006/relationships" id="259" r:id="R4635f5cb6fb044e5"/>
    <p:sldId xmlns:r="http://schemas.openxmlformats.org/officeDocument/2006/relationships" id="260" r:id="R8c09aa4ede124afc"/>
    <p:sldId xmlns:r="http://schemas.openxmlformats.org/officeDocument/2006/relationships" id="261" r:id="Rc87f36cf0bf44341"/>
    <p:sldId xmlns:r="http://schemas.openxmlformats.org/officeDocument/2006/relationships" id="262" r:id="R195fc03ae10141b6"/>
    <p:sldId xmlns:r="http://schemas.openxmlformats.org/officeDocument/2006/relationships" id="263" r:id="R82624df3b5c24522"/>
    <p:sldId xmlns:r="http://schemas.openxmlformats.org/officeDocument/2006/relationships" id="264" r:id="Rc9ce04e0ea9d49df"/>
    <p:sldId xmlns:r="http://schemas.openxmlformats.org/officeDocument/2006/relationships" id="265" r:id="R12d2b6a9471c4314"/>
    <p:sldId xmlns:r="http://schemas.openxmlformats.org/officeDocument/2006/relationships" id="266" r:id="R17568d4cce5042f6"/>
    <p:sldId xmlns:r="http://schemas.openxmlformats.org/officeDocument/2006/relationships" id="267" r:id="R0d2baae1b1d947cf"/>
    <p:sldId xmlns:r="http://schemas.openxmlformats.org/officeDocument/2006/relationships" id="268" r:id="R9deee199b301400f"/>
    <p:sldId xmlns:r="http://schemas.openxmlformats.org/officeDocument/2006/relationships" id="269" r:id="R1778d90859e846cd"/>
    <p:sldId xmlns:r="http://schemas.openxmlformats.org/officeDocument/2006/relationships" id="270" r:id="Rd09142b400f54691"/>
    <p:sldId xmlns:r="http://schemas.openxmlformats.org/officeDocument/2006/relationships" id="271" r:id="R710bdaf469b14723"/>
    <p:sldId xmlns:r="http://schemas.openxmlformats.org/officeDocument/2006/relationships" id="272" r:id="Rb017255c34994f68"/>
    <p:sldId xmlns:r="http://schemas.openxmlformats.org/officeDocument/2006/relationships" id="273" r:id="R5e28c3877ef34f25"/>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b5e1df6c347e487f" /><Relationship Type="http://schemas.openxmlformats.org/officeDocument/2006/relationships/slideMaster" Target="/ppt/slideMasters/slideMaster1.xml" Id="R5c2413391727431d" /><Relationship Type="http://schemas.openxmlformats.org/officeDocument/2006/relationships/notesMaster" Target="/ppt/notesMasters/notesMaster1.xml" Id="R09510632c7324d9b" /><Relationship Type="http://schemas.openxmlformats.org/officeDocument/2006/relationships/presProps" Target="/ppt/presProps.xml" Id="R124fcaaf17d44b91" /><Relationship Type="http://schemas.openxmlformats.org/officeDocument/2006/relationships/tableStyles" Target="/ppt/tableStyles.xml" Id="R965894ab849944fc" /><Relationship Type="http://schemas.openxmlformats.org/officeDocument/2006/relationships/slide" Target="/ppt/slides/slide1.xml" Id="Rd0523b37099c4ee6" /><Relationship Type="http://schemas.openxmlformats.org/officeDocument/2006/relationships/slide" Target="/ppt/slides/slide2.xml" Id="Rb1c725712b274b9e" /><Relationship Type="http://schemas.openxmlformats.org/officeDocument/2006/relationships/slide" Target="/ppt/slides/slide3.xml" Id="Rb16a9b24a1144661" /><Relationship Type="http://schemas.openxmlformats.org/officeDocument/2006/relationships/slide" Target="/ppt/slides/slide4.xml" Id="R4635f5cb6fb044e5" /><Relationship Type="http://schemas.openxmlformats.org/officeDocument/2006/relationships/slide" Target="/ppt/slides/slide5.xml" Id="R8c09aa4ede124afc" /><Relationship Type="http://schemas.openxmlformats.org/officeDocument/2006/relationships/slide" Target="/ppt/slides/slide6.xml" Id="Rc87f36cf0bf44341" /><Relationship Type="http://schemas.openxmlformats.org/officeDocument/2006/relationships/slide" Target="/ppt/slides/slide7.xml" Id="R195fc03ae10141b6" /><Relationship Type="http://schemas.openxmlformats.org/officeDocument/2006/relationships/slide" Target="/ppt/slides/slide8.xml" Id="R82624df3b5c24522" /><Relationship Type="http://schemas.openxmlformats.org/officeDocument/2006/relationships/slide" Target="/ppt/slides/slide9.xml" Id="Rc9ce04e0ea9d49df" /><Relationship Type="http://schemas.openxmlformats.org/officeDocument/2006/relationships/slide" Target="/ppt/slides/slide10.xml" Id="R12d2b6a9471c4314" /><Relationship Type="http://schemas.openxmlformats.org/officeDocument/2006/relationships/slide" Target="/ppt/slides/slide11.xml" Id="R17568d4cce5042f6" /><Relationship Type="http://schemas.openxmlformats.org/officeDocument/2006/relationships/slide" Target="/ppt/slides/slide12.xml" Id="R0d2baae1b1d947cf" /><Relationship Type="http://schemas.openxmlformats.org/officeDocument/2006/relationships/slide" Target="/ppt/slides/slide13.xml" Id="R9deee199b301400f" /><Relationship Type="http://schemas.openxmlformats.org/officeDocument/2006/relationships/slide" Target="/ppt/slides/slide14.xml" Id="R1778d90859e846cd" /><Relationship Type="http://schemas.openxmlformats.org/officeDocument/2006/relationships/slide" Target="/ppt/slides/slide15.xml" Id="Rd09142b400f54691" /><Relationship Type="http://schemas.openxmlformats.org/officeDocument/2006/relationships/slide" Target="/ppt/slides/slide16.xml" Id="R710bdaf469b14723" /><Relationship Type="http://schemas.openxmlformats.org/officeDocument/2006/relationships/slide" Target="/ppt/slides/slide17.xml" Id="Rb017255c34994f68" /><Relationship Type="http://schemas.openxmlformats.org/officeDocument/2006/relationships/slide" Target="/ppt/slides/slide18.xml" Id="R5e28c3877ef34f25"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6881abd14d44d2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925a7a3bc284470" /><Relationship Type="http://schemas.openxmlformats.org/officeDocument/2006/relationships/notesMaster" Target="/ppt/notesMasters/notesMaster1.xml" Id="R835da8e533c64caf" /></Relationships>
</file>

<file path=ppt/notesSlides/_rels/notesSlide2.xml.rels>&#65279;<?xml version="1.0" encoding="utf-8"?><Relationships xmlns="http://schemas.openxmlformats.org/package/2006/relationships"><Relationship Type="http://schemas.openxmlformats.org/officeDocument/2006/relationships/slide" Target="/ppt/slides/slide2.xml" Id="R0af3346622504931" /><Relationship Type="http://schemas.openxmlformats.org/officeDocument/2006/relationships/notesMaster" Target="/ppt/notesMasters/notesMaster1.xml" Id="R85d31fe1e85d48ee" /></Relationships>
</file>

<file path=ppt/notesSlides/_rels/notesSlide3.xml.rels>&#65279;<?xml version="1.0" encoding="utf-8"?><Relationships xmlns="http://schemas.openxmlformats.org/package/2006/relationships"><Relationship Type="http://schemas.openxmlformats.org/officeDocument/2006/relationships/slide" Target="/ppt/slides/slide3.xml" Id="Rcca52f2f7de54e13" /><Relationship Type="http://schemas.openxmlformats.org/officeDocument/2006/relationships/notesMaster" Target="/ppt/notesMasters/notesMaster1.xml" Id="R699c78ac0ced4ef3" /></Relationships>
</file>

<file path=ppt/notesSlides/_rels/notesSlide4.xml.rels>&#65279;<?xml version="1.0" encoding="utf-8"?><Relationships xmlns="http://schemas.openxmlformats.org/package/2006/relationships"><Relationship Type="http://schemas.openxmlformats.org/officeDocument/2006/relationships/slide" Target="/ppt/slides/slide4.xml" Id="R53aba97f4d4a4986" /><Relationship Type="http://schemas.openxmlformats.org/officeDocument/2006/relationships/notesMaster" Target="/ppt/notesMasters/notesMaster1.xml" Id="R47a0fd112c6f44e7" /></Relationships>
</file>

<file path=ppt/notesSlides/_rels/notesSlide5.xml.rels>&#65279;<?xml version="1.0" encoding="utf-8"?><Relationships xmlns="http://schemas.openxmlformats.org/package/2006/relationships"><Relationship Type="http://schemas.openxmlformats.org/officeDocument/2006/relationships/slide" Target="/ppt/slides/slide5.xml" Id="R34474594dd394c44" /><Relationship Type="http://schemas.openxmlformats.org/officeDocument/2006/relationships/notesMaster" Target="/ppt/notesMasters/notesMaster1.xml" Id="R2e878c1cae894cf2" /></Relationships>
</file>

<file path=ppt/notesSlides/_rels/notesSlide6.xml.rels>&#65279;<?xml version="1.0" encoding="utf-8"?><Relationships xmlns="http://schemas.openxmlformats.org/package/2006/relationships"><Relationship Type="http://schemas.openxmlformats.org/officeDocument/2006/relationships/slide" Target="/ppt/slides/slide6.xml" Id="R1b06ac3923d64519" /><Relationship Type="http://schemas.openxmlformats.org/officeDocument/2006/relationships/notesMaster" Target="/ppt/notesMasters/notesMaster1.xml" Id="R5b5c1978a3f64f6a" /></Relationships>
</file>

<file path=ppt/notesSlides/_rels/notesSlide7.xml.rels>&#65279;<?xml version="1.0" encoding="utf-8"?><Relationships xmlns="http://schemas.openxmlformats.org/package/2006/relationships"><Relationship Type="http://schemas.openxmlformats.org/officeDocument/2006/relationships/slide" Target="/ppt/slides/slide7.xml" Id="R45c4fe24c8374e4c" /><Relationship Type="http://schemas.openxmlformats.org/officeDocument/2006/relationships/notesMaster" Target="/ppt/notesMasters/notesMaster1.xml" Id="R46c8ae86fc524822" /></Relationships>
</file>

<file path=ppt/notesSlides/_rels/notesSlide8.xml.rels>&#65279;<?xml version="1.0" encoding="utf-8"?><Relationships xmlns="http://schemas.openxmlformats.org/package/2006/relationships"><Relationship Type="http://schemas.openxmlformats.org/officeDocument/2006/relationships/slide" Target="/ppt/slides/slide8.xml" Id="R17d8bb5c7193451f" /><Relationship Type="http://schemas.openxmlformats.org/officeDocument/2006/relationships/notesMaster" Target="/ppt/notesMasters/notesMaster1.xml" Id="R2560a5d4af1a48a4" /></Relationships>
</file>

<file path=ppt/notesSlides/_rels/notesSlide9.xml.rels>&#65279;<?xml version="1.0" encoding="utf-8"?><Relationships xmlns="http://schemas.openxmlformats.org/package/2006/relationships"><Relationship Type="http://schemas.openxmlformats.org/officeDocument/2006/relationships/slide" Target="/ppt/slides/slide9.xml" Id="R6c57daa2a12c4f5f" /><Relationship Type="http://schemas.openxmlformats.org/officeDocument/2006/relationships/notesMaster" Target="/ppt/notesMasters/notesMaster1.xml" Id="R41aa5e7b61fc4edf"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2ce1b00f2aa24136" /><Relationship Type="http://schemas.openxmlformats.org/officeDocument/2006/relationships/notesMaster" Target="/ppt/notesMasters/notesMaster1.xml" Id="R004d2b3a94c243fd"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430f01b65b50410f" /><Relationship Type="http://schemas.openxmlformats.org/officeDocument/2006/relationships/notesMaster" Target="/ppt/notesMasters/notesMaster1.xml" Id="Rcd30ab4af6014a0f"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7a4e1fffa10445b4" /><Relationship Type="http://schemas.openxmlformats.org/officeDocument/2006/relationships/notesMaster" Target="/ppt/notesMasters/notesMaster1.xml" Id="R65e1c3d2e8474d74"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3be012c34b8e4984" /><Relationship Type="http://schemas.openxmlformats.org/officeDocument/2006/relationships/notesMaster" Target="/ppt/notesMasters/notesMaster1.xml" Id="Rb3e517689d604f12"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94edd81f8b2244dc" /><Relationship Type="http://schemas.openxmlformats.org/officeDocument/2006/relationships/notesMaster" Target="/ppt/notesMasters/notesMaster1.xml" Id="R0ec2562c4b224afb"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f454557fe5ab4d1a" /><Relationship Type="http://schemas.openxmlformats.org/officeDocument/2006/relationships/notesMaster" Target="/ppt/notesMasters/notesMaster1.xml" Id="R71c37ca425a6469b"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8571125a91624d41" /><Relationship Type="http://schemas.openxmlformats.org/officeDocument/2006/relationships/notesMaster" Target="/ppt/notesMasters/notesMaster1.xml" Id="R85a581da74cb4b63"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f2715592891f4ddd" /><Relationship Type="http://schemas.openxmlformats.org/officeDocument/2006/relationships/notesMaster" Target="/ppt/notesMasters/notesMaster1.xml" Id="R88788d2f4b114b70"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67c6a5f7696c474d" /><Relationship Type="http://schemas.openxmlformats.org/officeDocument/2006/relationships/notesMaster" Target="/ppt/notesMasters/notesMaster1.xml" Id="Rb841ed0ee1e34a6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S71 — 확인한 성공을 유지하려면</a:t>
            </a:r>
          </a:p>
          <a:p xmlns:a="http://schemas.openxmlformats.org/drawingml/2006/main">
            <a:r>
              <a:t/>
            </a:r>
          </a:p>
          <a:p xmlns:a="http://schemas.openxmlformats.org/drawingml/2006/main">
            <a:r>
              <a:t>Slide ID: S71</a:t>
            </a:r>
          </a:p>
          <a:p xmlns:a="http://schemas.openxmlformats.org/drawingml/2006/main">
            <a:r>
              <a:t/>
            </a:r>
          </a:p>
          <a:p xmlns:a="http://schemas.openxmlformats.org/drawingml/2006/main">
            <a:r>
              <a:t>Working Title: 확인한 성공을 유지하려면</a:t>
            </a:r>
          </a:p>
          <a:p xmlns:a="http://schemas.openxmlformats.org/drawingml/2006/main">
            <a:r>
              <a:t/>
            </a:r>
          </a:p>
          <a:p xmlns:a="http://schemas.openxmlformats.org/drawingml/2006/main">
            <a:r>
              <a:t>ACT / Section: ACT 4 / 4A  WORKING HARNESS CALLBACK</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3분 + Reflection 1분</a:t>
            </a:r>
          </a:p>
          <a:p xmlns:a="http://schemas.openxmlformats.org/drawingml/2006/main">
            <a:r>
              <a:t/>
            </a:r>
          </a:p>
          <a:p xmlns:a="http://schemas.openxmlformats.org/drawingml/2006/main">
            <a:r>
              <a:t>Primary Message: STATE-04-PERF는 bounded task에서 검증된 성공이다. 뒤에 나올 stale 사례는 별도의 개념 사례다.</a:t>
            </a:r>
          </a:p>
          <a:p xmlns:a="http://schemas.openxmlformats.org/drawingml/2006/main">
            <a:r>
              <a:t/>
            </a:r>
          </a:p>
          <a:p xmlns:a="http://schemas.openxmlformats.org/drawingml/2006/main">
            <a:r>
              <a:t>Opening Question: “앞서 정리한 정보와 절차는, 어떤 변화가 생겼을 때 다시 검토해야 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 Lecture) S70에서 위치·검토/갱신 역할을 생각했다는 점을 회수한다. 실제 밝기 통계는 출력6항목·전체 테스트11/11·같은 조건의 측정/guard를 확인한 성공으로 마쳤다고 짧게 남긴다. S61의 수치나 명령을 다시 풀어 설명하지 않는다.</a:t>
            </a:r>
          </a:p>
          <a:p xmlns:a="http://schemas.openxmlformats.org/drawingml/2006/main">
            <a:r>
              <a:t>2. (0:45–2:15 / Lecture) 기록된 성공은 그 입력·코드·환경과 검증 조건의 기준점이다. 이후 다른 조건에서도 맞는지까지 검증한 것은 아니다. 현재 성공을 실제 실패나 stale Harness 이력으로 바꾸지 않는다.</a:t>
            </a:r>
          </a:p>
          <a:p xmlns:a="http://schemas.openxmlformats.org/drawingml/2006/main">
            <a:r>
              <a:t>3. (2:15–3:00 / Lecture) 이번 ACT는 현재 기준과 재사용 지침을 계속 맞게 유지하고, 바꿨다면 다시 확인하는 문제를 다룬다고 안내한다. 완성 Loop나 가상 사례의 답을 먼저 제시하지 않는다.</a:t>
            </a:r>
          </a:p>
          <a:p xmlns:a="http://schemas.openxmlformats.org/drawingml/2006/main">
            <a:r>
              <a:t>4. (3:00–4:00 / Reflection) S70에서 떠올린 한 가지에 대해 어떤 기준/환경 변화가 담당자의 재검토를 요구할지 조용히 생각하게 한다. 앞 장의 위치·담당 선택을 다시 시키거나 답변/산출물을 요구하지 않는다. 다음 S72부터 별도 가상 사례가 시작된다.</a:t>
            </a:r>
          </a:p>
          <a:p xmlns:a="http://schemas.openxmlformats.org/drawingml/2006/main">
            <a:r>
              <a:t/>
            </a:r>
          </a:p>
          <a:p xmlns:a="http://schemas.openxmlformats.org/drawingml/2006/main">
            <a:r>
              <a:t>Evidence / Source: STATE-04-PERF / bounded image_statistics evidence; DEC-0021/0062/0080; BEAT-037/038.</a:t>
            </a:r>
          </a:p>
          <a:p xmlns:a="http://schemas.openxmlformats.org/drawingml/2006/main">
            <a:r>
              <a:t/>
            </a:r>
          </a:p>
          <a:p xmlns:a="http://schemas.openxmlformats.org/drawingml/2006/main">
            <a:r>
              <a:t>Claim Boundary: OBSERVED_PRODUCT callback이다. 기록된 task·코드·입력·runtime·host·검증 조건에 한정한다. 이후 변화/실패를 관찰한 것이 아니며 유지 문제의 질문과 실제 결과를 구분한다.</a:t>
            </a:r>
          </a:p>
          <a:p xmlns:a="http://schemas.openxmlformats.org/drawingml/2006/main">
            <a:r>
              <a:t/>
            </a:r>
          </a:p>
          <a:p xmlns:a="http://schemas.openxmlformats.org/drawingml/2006/main">
            <a:r>
              <a:t>Beginner Explanation: 이번 작업의 성공을 기준으로 남기고, 어떤 조건 변화가 다시 확인할 신호가 되는지 생각한다.</a:t>
            </a:r>
          </a:p>
          <a:p xmlns:a="http://schemas.openxmlformats.org/drawingml/2006/main">
            <a:r>
              <a:t/>
            </a:r>
          </a:p>
          <a:p xmlns:a="http://schemas.openxmlformats.org/drawingml/2006/main">
            <a:r>
              <a:t>Advanced Insight: 검증된 한 상태와 지속적인 유효성은 다르다. 이 차이가 별도 개념 사례를 여는 이유이며 실제 Product history는 연장하지 않는다.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추가 실행 없이 세 성공 근거를 짧게 회수하고 유지 문제로 이동한다. 과거 수치를 성과 발표처럼 반복하지 않는다.</a:t>
            </a:r>
          </a:p>
          <a:p xmlns:a="http://schemas.openxmlformats.org/drawingml/2006/main">
            <a:r>
              <a:t/>
            </a:r>
          </a:p>
          <a:p xmlns:a="http://schemas.openxmlformats.org/drawingml/2006/main">
            <a:r>
              <a:t>Audience Interaction: Reflection1분: 앞에서 고른 자료에 어떤 변화가 생기면 다시 확인할지 생각한다. 기록·공개 답변은 요구하지 않는다.</a:t>
            </a:r>
          </a:p>
          <a:p xmlns:a="http://schemas.openxmlformats.org/drawingml/2006/main">
            <a:r>
              <a:t/>
            </a:r>
          </a:p>
          <a:p xmlns:a="http://schemas.openxmlformats.org/drawingml/2006/main">
            <a:r>
              <a:t>Transition: “이 성공은 그대로 남기겠습니다. 별도의 가상 프로젝트에서 기준과 재사용 절차가 처음에는 맞았던 상태부터 보겠습니다.”</a:t>
            </a:r>
          </a:p>
          <a:p xmlns:a="http://schemas.openxmlformats.org/drawingml/2006/main">
            <a:r>
              <a:t/>
            </a:r>
          </a:p>
          <a:p xmlns:a="http://schemas.openxmlformats.org/drawingml/2006/main">
            <a:r>
              <a:t>Time Management: Lecture3분(성공 회수0.75, 적용 범위1.5, 유지 문제0.75) + Reflection1분. 실제4분 운영은 UNVERIFIED다.</a:t>
            </a:r>
          </a:p>
          <a:p xmlns:a="http://schemas.openxmlformats.org/drawingml/2006/main">
            <a:r>
              <a:t/>
            </a:r>
          </a:p>
          <a:p xmlns:a="http://schemas.openxmlformats.org/drawingml/2006/main">
            <a:r>
              <a:t>Fallback: LOCAL STATIC ARTIFACT — production/ACT_4.pptx의 S71, production/preview/act4/S71.png 및 production/preview/full/S71.png.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S72 — 처음에는 기준과 재사용 절차가 맞았다</a:t>
            </a:r>
          </a:p>
          <a:p xmlns:a="http://schemas.openxmlformats.org/drawingml/2006/main">
            <a:r>
              <a:t/>
            </a:r>
          </a:p>
          <a:p xmlns:a="http://schemas.openxmlformats.org/drawingml/2006/main">
            <a:r>
              <a:t>Slide ID: S72</a:t>
            </a:r>
          </a:p>
          <a:p xmlns:a="http://schemas.openxmlformats.org/drawingml/2006/main">
            <a:r>
              <a:t/>
            </a:r>
          </a:p>
          <a:p xmlns:a="http://schemas.openxmlformats.org/drawingml/2006/main">
            <a:r>
              <a:t>Working Title: 처음에는 기준과 재사용 절차가 맞았다</a:t>
            </a:r>
          </a:p>
          <a:p xmlns:a="http://schemas.openxmlformats.org/drawingml/2006/main">
            <a:r>
              <a:t/>
            </a:r>
          </a:p>
          <a:p xmlns:a="http://schemas.openxmlformats.org/drawingml/2006/main">
            <a:r>
              <a:t>ACT / Section: ACT 4 / 4B  CONCEPTUAL STALE HARNESS / DEMO-04A</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Demo 2분 (VISUAL)</a:t>
            </a:r>
          </a:p>
          <a:p xmlns:a="http://schemas.openxmlformats.org/drawingml/2006/main">
            <a:r>
              <a:t/>
            </a:r>
          </a:p>
          <a:p xmlns:a="http://schemas.openxmlformats.org/drawingml/2006/main">
            <a:r>
              <a:t>Primary Message: 가상 사례의 시작에서는 프로젝트의 검증 기준과 재사용 Workflow의 지시가 모두 단위 테스트를 대상으로 한다.</a:t>
            </a:r>
          </a:p>
          <a:p xmlns:a="http://schemas.openxmlformats.org/drawingml/2006/main">
            <a:r>
              <a:t/>
            </a:r>
          </a:p>
          <a:p xmlns:a="http://schemas.openxmlformats.org/drawingml/2006/main">
            <a:r>
              <a:t>Opening Question: “프로젝트 기준과 다시 읽을 작업 지침은 현재 같은 범위를 말하고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VISUAL Demo) 실제 graypipe 이력과 별개인 가상 사례를 시작한다. Workflow는 재사용할 수행 절차이며 앞에서는 그 역할을 Skill로 관리했다고 연결한다. 같은 graypipe Skill 파일이나 같은 사건이라는 뜻은 아니다.</a:t>
            </a:r>
          </a:p>
          <a:p xmlns:a="http://schemas.openxmlformats.org/drawingml/2006/main">
            <a:r>
              <a:t>2. (0:30–1:30 / VISUAL Demo) 왼쪽 프로젝트 문서의 현재 기준과 오른쪽 다음 작업이 읽을 재사용 지침을 각각 짚는다. 둘 다 단위 테스트를 대상으로 한다는 정상 출발 가정이다. 두 소제목은 서로 다른 출처이며 하나의 문장으로 읽지 않는다.</a:t>
            </a:r>
          </a:p>
          <a:p xmlns:a="http://schemas.openxmlformats.org/drawingml/2006/main">
            <a:r>
              <a:t>3. (1:30–2:00 / VISUAL Demo) 현재 기준에 맞춰 검토해 둔 절차라는 가정을 남긴다. 누가 실제로 파일을 검토했다는 사건을 만들어 넣지 않고 다음 프로젝트 변화로 넘긴다.</a:t>
            </a:r>
          </a:p>
          <a:p xmlns:a="http://schemas.openxmlformats.org/drawingml/2006/main">
            <a:r>
              <a:t/>
            </a:r>
          </a:p>
          <a:p xmlns:a="http://schemas.openxmlformats.org/drawingml/2006/main">
            <a:r>
              <a:t>Evidence / Source: DEMO-04A / constructed starting condition / DEC-0021/0027/0080 / BEAT-038; no Trial.</a:t>
            </a:r>
          </a:p>
          <a:p xmlns:a="http://schemas.openxmlformats.org/drawingml/2006/main">
            <a:r>
              <a:t/>
            </a:r>
          </a:p>
          <a:p xmlns:a="http://schemas.openxmlformats.org/drawingml/2006/main">
            <a:r>
              <a:t>Claim Boundary: CONCEPTUAL. 앞선 Skill과 역할을 연결한 설명이며 동일 파일·동일 사건·실제 검토/실행/테스트 결과가 아니다.</a:t>
            </a:r>
          </a:p>
          <a:p xmlns:a="http://schemas.openxmlformats.org/drawingml/2006/main">
            <a:r>
              <a:t/>
            </a:r>
          </a:p>
          <a:p xmlns:a="http://schemas.openxmlformats.org/drawingml/2006/main">
            <a:r>
              <a:t>Beginner Explanation: 프로젝트에서 지금 요구하는 범위와 다음 작업에 다시 쓸 지침을 나란히 비교한다.</a:t>
            </a:r>
          </a:p>
          <a:p xmlns:a="http://schemas.openxmlformats.org/drawingml/2006/main">
            <a:r>
              <a:t/>
            </a:r>
          </a:p>
          <a:p xmlns:a="http://schemas.openxmlformats.org/drawingml/2006/main">
            <a:r>
              <a:t>Advanced Insight: 구현으로서의 Skill과 일반적인 재사용 Workflow를 구분한다. 원래 맞던 지침도 프로젝트 기준이 바뀌면 다시 검토해야 한다.</a:t>
            </a:r>
          </a:p>
          <a:p xmlns:a="http://schemas.openxmlformats.org/drawingml/2006/main">
            <a:r>
              <a:t/>
            </a:r>
          </a:p>
          <a:p xmlns:a="http://schemas.openxmlformats.org/drawingml/2006/main">
            <a:r>
              <a:t>C++ Vision Bridge: 실제 C++ 프로젝트에서도 검증 기준/구조가 바뀔 수 있다는 맥락만 유지한다. 별도 구현/명령을 추가하지 않는다.</a:t>
            </a:r>
          </a:p>
          <a:p xmlns:a="http://schemas.openxmlformats.org/drawingml/2006/main">
            <a:r>
              <a:t/>
            </a:r>
          </a:p>
          <a:p xmlns:a="http://schemas.openxmlformats.org/drawingml/2006/main">
            <a:r>
              <a:t>Demo Operation: CONCEPTUAL 정적 도식. 용어 연결 한 줄→왼쪽 현재 기준→오른쪽 지침→같다는 관계 순으로 가리킨다. 명령·실행 결과는 없다.</a:t>
            </a:r>
          </a:p>
          <a:p xmlns:a="http://schemas.openxmlformats.org/drawingml/2006/main">
            <a:r>
              <a:t/>
            </a:r>
          </a:p>
          <a:p xmlns:a="http://schemas.openxmlformats.org/drawingml/2006/main">
            <a:r>
              <a:t>Audience Interaction: 두 범위의 일치만 눈으로 비교한다. 응답·실습을 요구하지 않는다.</a:t>
            </a:r>
          </a:p>
          <a:p xmlns:a="http://schemas.openxmlformats.org/drawingml/2006/main">
            <a:r>
              <a:t/>
            </a:r>
          </a:p>
          <a:p xmlns:a="http://schemas.openxmlformats.org/drawingml/2006/main">
            <a:r>
              <a:t>Transition: “현재 기준에 맞춰 둔 절차입니다. 프로젝트의 검증 기준이 넓어지면, 검토·갱신 담당은 무엇을 다시 봐야 할까요?”</a:t>
            </a:r>
          </a:p>
          <a:p xmlns:a="http://schemas.openxmlformats.org/drawingml/2006/main">
            <a:r>
              <a:t/>
            </a:r>
          </a:p>
          <a:p xmlns:a="http://schemas.openxmlformats.org/drawingml/2006/main">
            <a:r>
              <a:t>Time Management: VISUAL Demo2분: 사례/용어0.5, 두 출처와 범위1, 정상 출발/변화 질문0.5. 실제 리허설은 UNVERIFIED다.</a:t>
            </a:r>
          </a:p>
          <a:p xmlns:a="http://schemas.openxmlformats.org/drawingml/2006/main">
            <a:r>
              <a:t/>
            </a:r>
          </a:p>
          <a:p xmlns:a="http://schemas.openxmlformats.org/drawingml/2006/main">
            <a:r>
              <a:t>Fallback: LOCAL STATIC ARTIFACT — production/ACT_4.pptx의 S72, production/preview/act4/S72.png 및 production/preview/full/S72.png.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S73 — Project는 바뀌고 Workflow는 남았다</a:t>
            </a:r>
          </a:p>
          <a:p xmlns:a="http://schemas.openxmlformats.org/drawingml/2006/main">
            <a:r>
              <a:t/>
            </a:r>
          </a:p>
          <a:p xmlns:a="http://schemas.openxmlformats.org/drawingml/2006/main">
            <a:r>
              <a:t>Slide ID: S73</a:t>
            </a:r>
          </a:p>
          <a:p xmlns:a="http://schemas.openxmlformats.org/drawingml/2006/main">
            <a:r>
              <a:t/>
            </a:r>
          </a:p>
          <a:p xmlns:a="http://schemas.openxmlformats.org/drawingml/2006/main">
            <a:r>
              <a:t>Working Title: Project는 바뀌고 Workflow는 남았다</a:t>
            </a:r>
          </a:p>
          <a:p xmlns:a="http://schemas.openxmlformats.org/drawingml/2006/main">
            <a:r>
              <a:t/>
            </a:r>
          </a:p>
          <a:p xmlns:a="http://schemas.openxmlformats.org/drawingml/2006/main">
            <a:r>
              <a:t>ACT / Section: ACT 4 / 4B  CONCEPTUAL STALE HARNESS / DEMO-04A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2분 (VISUAL) + Case 2분</a:t>
            </a:r>
          </a:p>
          <a:p xmlns:a="http://schemas.openxmlformats.org/drawingml/2006/main">
            <a:r>
              <a:t/>
            </a:r>
          </a:p>
          <a:p xmlns:a="http://schemas.openxmlformats.org/drawingml/2006/main">
            <a:r>
              <a:t>Primary Message: 모듈 연결 동작까지 검증해야 하는 가상 프로젝트에서 공식 기준은 단위+통합 테스트로 넓어졌지만 재사용 Workflow에는 단위 테스트 지시가 남아 있다. 이는 지시 범위의 차이다.</a:t>
            </a:r>
          </a:p>
          <a:p xmlns:a="http://schemas.openxmlformats.org/drawingml/2006/main">
            <a:r>
              <a:t/>
            </a:r>
          </a:p>
          <a:p xmlns:a="http://schemas.openxmlformats.org/drawingml/2006/main">
            <a:r>
              <a:t>Opening Question: “프로젝트 기준이 바뀌면, 검토·갱신 담당은 어떤 지침을 다시 확인해야 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실제 Trial과 별개인 가상 사례임을 밝힌다. 모듈 연결 동작까지 검증할 필요가 생겨 공식 범위에 통합 테스트를 추가한 사례다.</a:t>
            </a:r>
          </a:p>
          <a:p xmlns:a="http://schemas.openxmlformats.org/drawingml/2006/main">
            <a:r>
              <a:t>2. (1:00–2:00 / Demo) 왼쪽 A/B 각각의 박스와 둘 사이 연결까지 감싼 통합 범위를 가리킨다. 오른쪽에는 같은 모듈과 연결이 있지만 재사용 지시는 단위 테스트만 요구한다. 두 그림은 실행 결과가 아니라 지시 범위의 차이다.</a:t>
            </a:r>
          </a:p>
          <a:p xmlns:a="http://schemas.openxmlformats.org/drawingml/2006/main">
            <a:r>
              <a:t>3. (2:00–3:00 / Case) Project의 정당한 요구 변화와 재사용 지침의 미갱신을 구분한다. S70의 검토·갱신 역할을 회수한다. 기준이 바뀌었다는 신호를 받은 담당이 원래 프로젝트 문서와 이 지침을 대조해야 하는 상황을 생각한다. 실제 회사의 담당자나 발생 사건을 확정하지 않는다.</a:t>
            </a:r>
          </a:p>
          <a:p xmlns:a="http://schemas.openxmlformats.org/drawingml/2006/main">
            <a:r>
              <a:t>4. (3:00–4:00 / Case) Agent가 실제로 무엇을 실행했는지 아직 보여주지 않았음을 짧게 알리고, 다음 요청을 보정해도 재사용 지침이 남는 질문으로 넘긴다.</a:t>
            </a:r>
          </a:p>
          <a:p xmlns:a="http://schemas.openxmlformats.org/drawingml/2006/main">
            <a:r>
              <a:t/>
            </a:r>
          </a:p>
          <a:p xmlns:a="http://schemas.openxmlformats.org/drawingml/2006/main">
            <a:r>
              <a:t>Evidence / Source: DEMO-04A / DEC-0021 / BEAT-038–039 / CONCEPTUAL. 단위+통합 테스트 가상 설정은 발표용 Pilot에 대한 최신 사용자 승인으로 확정됐다. 실제 Repository 이력이나 Trial 근거가 추가된 것은 아니다. 편집 가능한 native 범위 도식: production/source/presentation-revision/test-scope-visual.mjs. 모듈 A/B는 사례를 설명하는 일반 표기이며 실제 graypipe 모듈을 식별하지 않는다.; DEC-0080.</a:t>
            </a:r>
          </a:p>
          <a:p xmlns:a="http://schemas.openxmlformats.org/drawingml/2006/main">
            <a:r>
              <a:t/>
            </a:r>
          </a:p>
          <a:p xmlns:a="http://schemas.openxmlformats.org/drawingml/2006/main">
            <a:r>
              <a:t>Claim Boundary: 승인된 가상 설정이다. 실제 Repository migration, 기존 graypipe Skill, Agent 실행, 테스트 누락 또는 PASS/FAIL 결과를 뜻하지 않는다. 지시의 범위를 비교하며 실제 실행 결과는 보여주지 않는다.</a:t>
            </a:r>
          </a:p>
          <a:p xmlns:a="http://schemas.openxmlformats.org/drawingml/2006/main">
            <a:r>
              <a:t/>
            </a:r>
          </a:p>
          <a:p xmlns:a="http://schemas.openxmlformats.org/drawingml/2006/main">
            <a:r>
              <a:t>Beginner Explanation: Agent가 따르는 지침이 Project의 현재 절차와 맞는지 살핀다.</a:t>
            </a:r>
          </a:p>
          <a:p xmlns:a="http://schemas.openxmlformats.org/drawingml/2006/main">
            <a:r>
              <a:t/>
            </a:r>
          </a:p>
          <a:p xmlns:a="http://schemas.openxmlformats.org/drawingml/2006/main">
            <a:r>
              <a:t>Advanced Insight: Project source의 변화와 stale artifact의 위치를 분리해 본다.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production/ACT_4.pptx의 S73와 production/preview/act4/S73.png 개념 도식을 사용한다. 구체적 명령·Runner 구현·테스트 수·실행 캡처를 추가하지 않는다. 각 모듈의 범위→왼쪽의 연결을 포함한 통합 범위→오른쪽에 남은 단위 테스트 지시를 차례로 가리킨다. 모듈의 실제 테스트가 실행됐거나 통합 테스트를 누락했다고 말하지 않는다.</a:t>
            </a:r>
          </a:p>
          <a:p xmlns:a="http://schemas.openxmlformats.org/drawingml/2006/main">
            <a:r>
              <a:t/>
            </a:r>
          </a:p>
          <a:p xmlns:a="http://schemas.openxmlformats.org/drawingml/2006/main">
            <a:r>
              <a:t>Audience Interaction: 무엇이 바뀌었고 무엇이 남았는지 잠시 비교한다. Agent 탓이나 특정 실패를 가정하지 않는다.</a:t>
            </a:r>
          </a:p>
          <a:p xmlns:a="http://schemas.openxmlformats.org/drawingml/2006/main">
            <a:r>
              <a:t/>
            </a:r>
          </a:p>
          <a:p xmlns:a="http://schemas.openxmlformats.org/drawingml/2006/main">
            <a:r>
              <a:t>Transition: “차이는 확인했습니다. 이번 요청만 보정하는 것과, 다음 작업이 읽을 지침까지 바꾸는 것은 어떻게 다를까요?”</a:t>
            </a:r>
          </a:p>
          <a:p xmlns:a="http://schemas.openxmlformats.org/drawingml/2006/main">
            <a:r>
              <a:t/>
            </a:r>
          </a:p>
          <a:p xmlns:a="http://schemas.openxmlformats.org/drawingml/2006/main">
            <a:r>
              <a:t>Time Management: Demo 2분은 도식 공개에, Case 2분은 stale 간극을 해석하는 데 쓴다.</a:t>
            </a:r>
          </a:p>
          <a:p xmlns:a="http://schemas.openxmlformats.org/drawingml/2006/main">
            <a:r>
              <a:t/>
            </a:r>
          </a:p>
          <a:p xmlns:a="http://schemas.openxmlformats.org/drawingml/2006/main">
            <a:r>
              <a:t>Fallback: LOCAL STATIC ARTIFACT — production/ACT_4.pptx의 S73와 production/preview/act4/S73.png를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S74 — 이번 요청과 다음 작업의 지침</a:t>
            </a:r>
          </a:p>
          <a:p xmlns:a="http://schemas.openxmlformats.org/drawingml/2006/main">
            <a:r>
              <a:t/>
            </a:r>
          </a:p>
          <a:p xmlns:a="http://schemas.openxmlformats.org/drawingml/2006/main">
            <a:r>
              <a:t>Slide ID: S74</a:t>
            </a:r>
          </a:p>
          <a:p xmlns:a="http://schemas.openxmlformats.org/drawingml/2006/main">
            <a:r>
              <a:t/>
            </a:r>
          </a:p>
          <a:p xmlns:a="http://schemas.openxmlformats.org/drawingml/2006/main">
            <a:r>
              <a:t>Working Title: 이번 요청과 다음 작업의 지침</a:t>
            </a:r>
          </a:p>
          <a:p xmlns:a="http://schemas.openxmlformats.org/drawingml/2006/main">
            <a:r>
              <a:t/>
            </a:r>
          </a:p>
          <a:p xmlns:a="http://schemas.openxmlformats.org/drawingml/2006/main">
            <a:r>
              <a:t>ACT / Section: ACT 4 / 4B  CONCEPTUAL STALE HARNESS / DEMO-04A</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Case 3분</a:t>
            </a:r>
          </a:p>
          <a:p xmlns:a="http://schemas.openxmlformats.org/drawingml/2006/main">
            <a:r>
              <a:t/>
            </a:r>
          </a:p>
          <a:p xmlns:a="http://schemas.openxmlformats.org/drawingml/2006/main">
            <a:r>
              <a:t>Primary Message: 이번 요청을 단위+통합 검증으로 보정할 수 있어도 재사용 Workflow의 단위 테스트 지시는 그대로 남을 수 있다. 현재 Task의 요청 범위와 재사용 절차의 변경을 구분한다.</a:t>
            </a:r>
          </a:p>
          <a:p xmlns:a="http://schemas.openxmlformats.org/drawingml/2006/main">
            <a:r>
              <a:t/>
            </a:r>
          </a:p>
          <a:p xmlns:a="http://schemas.openxmlformats.org/drawingml/2006/main">
            <a:r>
              <a:t>Opening Question: “이번 요청을 보정하면, 다음 작업이 읽을 지침까지 달라질까요?”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Case) 왼쪽 이번 요청에 ‘통합 테스트도 확인해 줘’를 적는 가능한 대응을 읽는다. 실제 실행이나 복구 성공을 보여주는 프롬프트 캡처가 아니다.</a:t>
            </a:r>
          </a:p>
          <a:p xmlns:a="http://schemas.openxmlformats.org/drawingml/2006/main">
            <a:r>
              <a:t>2. (1:00–2:00 / Case) 오른쪽 다음 작업이 읽을 Workflow에는 단위 테스트 지시만 남을 수 있음을 비교한다. 요청 보정과 지침의 검토·갱신은 서로 다른 출처에 대한 조치다.</a:t>
            </a:r>
          </a:p>
          <a:p xmlns:a="http://schemas.openxmlformats.org/drawingml/2006/main">
            <a:r>
              <a:t>3. (2:00–3:00 / Case) 다음 작업까지 바꾸려면 재사용 출처를 검토해야 하지만 어떤 것을 수정할지는 원인을 확인한 뒤 판단한다고 회수한다. S75에서 확인할 기록을 먼저 고른다.</a:t>
            </a:r>
          </a:p>
          <a:p xmlns:a="http://schemas.openxmlformats.org/drawingml/2006/main">
            <a:r>
              <a:t/>
            </a:r>
          </a:p>
          <a:p xmlns:a="http://schemas.openxmlformats.org/drawingml/2006/main">
            <a:r>
              <a:t>Evidence / Source: DEMO-04A / conceptual response comparison / DEC-0080; no execution result.</a:t>
            </a:r>
          </a:p>
          <a:p xmlns:a="http://schemas.openxmlformats.org/drawingml/2006/main">
            <a:r>
              <a:t/>
            </a:r>
          </a:p>
          <a:p xmlns:a="http://schemas.openxmlformats.org/drawingml/2006/main">
            <a:r>
              <a:t>Claim Boundary: 가능한 요청 보정과 남아 있는 지침의 가상 비교다. 실제 실행·복구·누락·PASS/FAIL 결과가 아니다.</a:t>
            </a:r>
          </a:p>
          <a:p xmlns:a="http://schemas.openxmlformats.org/drawingml/2006/main">
            <a:r>
              <a:t/>
            </a:r>
          </a:p>
          <a:p xmlns:a="http://schemas.openxmlformats.org/drawingml/2006/main">
            <a:r>
              <a:t>Beginner Explanation: 이번 요청에 더 쓴 내용은 다른 작업의 기본 지침을 자동으로 고치지 않는다.</a:t>
            </a:r>
          </a:p>
          <a:p xmlns:a="http://schemas.openxmlformats.org/drawingml/2006/main">
            <a:r>
              <a:t/>
            </a:r>
          </a:p>
          <a:p xmlns:a="http://schemas.openxmlformats.org/drawingml/2006/main">
            <a:r>
              <a:t>Advanced Insight: Task-level workaround와 durable instruction change를 구분하고, 원인 확인 없이 파일을 고치지 않는다.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정적 요청 상자와 별도 재사용 지침 상자를 비교한다. 실제 제품 입력창 캡처나 Agent 실행이 아니다.</a:t>
            </a:r>
          </a:p>
          <a:p xmlns:a="http://schemas.openxmlformats.org/drawingml/2006/main">
            <a:r>
              <a:t/>
            </a:r>
          </a:p>
          <a:p xmlns:a="http://schemas.openxmlformats.org/drawingml/2006/main">
            <a:r>
              <a:t>Audience Interaction: 이번 요청과 다음 지침의 차이를 눈으로 비교한다. 별도 응답·실습은 요구하지 않는다.</a:t>
            </a:r>
          </a:p>
          <a:p xmlns:a="http://schemas.openxmlformats.org/drawingml/2006/main">
            <a:r>
              <a:t/>
            </a:r>
          </a:p>
          <a:p xmlns:a="http://schemas.openxmlformats.org/drawingml/2006/main">
            <a:r>
              <a:t>Transition: “어디를 고치기 전에, 실제로 어떤 기준과 지침을 썼는지부터 확인하겠습니다.”</a:t>
            </a:r>
          </a:p>
          <a:p xmlns:a="http://schemas.openxmlformats.org/drawingml/2006/main">
            <a:r>
              <a:t/>
            </a:r>
          </a:p>
          <a:p xmlns:a="http://schemas.openxmlformats.org/drawingml/2006/main">
            <a:r>
              <a:t>Time Management: Case3분: 요청1, 남은 지침1, 원인 확인으로 연결1. 실제 리허설은 UNVERIFIED다.</a:t>
            </a:r>
          </a:p>
          <a:p xmlns:a="http://schemas.openxmlformats.org/drawingml/2006/main">
            <a:r>
              <a:t/>
            </a:r>
          </a:p>
          <a:p xmlns:a="http://schemas.openxmlformats.org/drawingml/2006/main">
            <a:r>
              <a:t>Fallback: LOCAL STATIC ARTIFACT — production/ACT_4.pptx의 S74, production/preview/act4/S74.png 및 production/preview/full/S74.png.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S75 — 원인을 고르기 전에 확인할 기록</a:t>
            </a:r>
          </a:p>
          <a:p xmlns:a="http://schemas.openxmlformats.org/drawingml/2006/main">
            <a:r>
              <a:t/>
            </a:r>
          </a:p>
          <a:p xmlns:a="http://schemas.openxmlformats.org/drawingml/2006/main">
            <a:r>
              <a:t>Slide ID: S75</a:t>
            </a:r>
          </a:p>
          <a:p xmlns:a="http://schemas.openxmlformats.org/drawingml/2006/main">
            <a:r>
              <a:t/>
            </a:r>
          </a:p>
          <a:p xmlns:a="http://schemas.openxmlformats.org/drawingml/2006/main">
            <a:r>
              <a:t>Working Title: 원인을 고르기 전에 확인할 기록</a:t>
            </a:r>
          </a:p>
          <a:p xmlns:a="http://schemas.openxmlformats.org/drawingml/2006/main">
            <a:r>
              <a:t/>
            </a:r>
          </a:p>
          <a:p xmlns:a="http://schemas.openxmlformats.org/drawingml/2006/main">
            <a:r>
              <a:t>ACT / Section: ACT 4 / 4C  FIX THE RIGHT LAYER</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Demo 2분 (CAPTURED)</a:t>
            </a:r>
          </a:p>
          <a:p xmlns:a="http://schemas.openxmlformats.org/drawingml/2006/main">
            <a:r>
              <a:t/>
            </a:r>
          </a:p>
          <a:p xmlns:a="http://schemas.openxmlformats.org/drawingml/2006/main">
            <a:r>
              <a:t>Primary Message: 현재 프로젝트 기준·참조한 재사용 지침·실행 환경/권한·제품 코드/검사 기록을 먼저 확인하고 원인을 선택한다. 증상만으로 수정 대상을 확정하지 않는다.</a:t>
            </a:r>
          </a:p>
          <a:p xmlns:a="http://schemas.openxmlformats.org/drawingml/2006/main">
            <a:r>
              <a:t/>
            </a:r>
          </a:p>
          <a:p xmlns:a="http://schemas.openxmlformats.org/drawingml/2006/main">
            <a:r>
              <a:t>Opening Question: “검증이 충분한지 판단하려면 어떤 기록이 필요할까요?”</a:t>
            </a:r>
          </a:p>
          <a:p xmlns:a="http://schemas.openxmlformats.org/drawingml/2006/main">
            <a:r>
              <a:t/>
            </a:r>
          </a:p>
          <a:p xmlns:a="http://schemas.openxmlformats.org/drawingml/2006/main">
            <a:r>
              <a:t>**Speaker Flow:**</a:t>
            </a:r>
          </a:p>
          <a:p xmlns:a="http://schemas.openxmlformats.org/drawingml/2006/main">
            <a:r>
              <a:t>1. (0:00–0:30 / CAPTURED Demo) S74의 요청 보정에서 원인 확인으로 이동한다. 화면은 실제 문제라면 확인할 기록을 설계한 개념 도식이며 실행 증거가 아니다.</a:t>
            </a:r>
          </a:p>
          <a:p xmlns:a="http://schemas.openxmlformats.org/drawingml/2006/main">
            <a:r>
              <a:t>2. (0:30–1:30 / CAPTURED Demo) 현재 프로젝트 문서/명세, 실제로 읽은 재사용 지침, 명령·권한·실행 조건, 코드 변경과 검사 결과를 네 조사 대상으로 짚는다. Tool의 실행·실패 여부도 실제 기록이 있어야 판단한다. 고정 진단표나 한 증상/한 원인의 대응표가 아니다.</a:t>
            </a:r>
          </a:p>
          <a:p xmlns:a="http://schemas.openxmlformats.org/drawingml/2006/main">
            <a:r>
              <a:t>3. (1:30–2:00 / CAPTURED Demo) 현재 기준과 실제 실행 경로를 대조해야 한다고 회수한다. 원인이나 변경 대상을 선택하지 않고 S76에서 가정과 원인 가설을 분리한다.</a:t>
            </a:r>
          </a:p>
          <a:p xmlns:a="http://schemas.openxmlformats.org/drawingml/2006/main">
            <a:r>
              <a:t>운영 표시: “실무 적용 팁 · 검증·개선”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DEMO-11 / DEMO-04A; BEAT-043/044; CLM-0020/0029; INV-LOOP-001; DEC-0080.</a:t>
            </a:r>
          </a:p>
          <a:p xmlns:a="http://schemas.openxmlformats.org/drawingml/2006/main">
            <a:r>
              <a:t/>
            </a:r>
          </a:p>
          <a:p xmlns:a="http://schemas.openxmlformats.org/drawingml/2006/main">
            <a:r>
              <a:t>Claim Boundary: CONCEPTUAL / TEACHING_MODEL. 확인 대상의 설계이며 실제 실패·실행 로그·관찰 결과가 아니다. 원인은 기록을 대조해 확인해야 한다.</a:t>
            </a:r>
          </a:p>
          <a:p xmlns:a="http://schemas.openxmlformats.org/drawingml/2006/main">
            <a:r>
              <a:t/>
            </a:r>
          </a:p>
          <a:p xmlns:a="http://schemas.openxmlformats.org/drawingml/2006/main">
            <a:r>
              <a:t>Beginner Explanation: 어디를 고칠지 먼저 고르지 않고, 현재 기준과 실제 작업이 참고한 것을 확인한다.</a:t>
            </a:r>
          </a:p>
          <a:p xmlns:a="http://schemas.openxmlformats.org/drawingml/2006/main">
            <a:r>
              <a:t/>
            </a:r>
          </a:p>
          <a:p xmlns:a="http://schemas.openxmlformats.org/drawingml/2006/main">
            <a:r>
              <a:t>Advanced Insight: Context·Workflow·Environment/Permission·Tool·Product code가 각각 원인 후보일 수 있다. 목록 자체가 원인을 판정하지 않는다.</a:t>
            </a:r>
          </a:p>
          <a:p xmlns:a="http://schemas.openxmlformats.org/drawingml/2006/main">
            <a:r>
              <a:t/>
            </a:r>
          </a:p>
          <a:p xmlns:a="http://schemas.openxmlformats.org/drawingml/2006/main">
            <a:r>
              <a:t>C++ Vision Bridge: 빌드·환경·권한·프로젝트 코드도 서로 다른 조사 대상으로 확인하는 맥락만 유지한다.</a:t>
            </a:r>
          </a:p>
          <a:p xmlns:a="http://schemas.openxmlformats.org/drawingml/2006/main">
            <a:r>
              <a:t/>
            </a:r>
          </a:p>
          <a:p xmlns:a="http://schemas.openxmlformats.org/drawingml/2006/main">
            <a:r>
              <a:t>Demo Operation: DEMO-11의2분 정적 설명이다. 왼쪽 판단 질문에서 오른쪽 확인 대상 네 행으로 이동한다. CAPTURED는 보존된 교육용 설명 화면이며 raw execution capture가 아니다. 새 실행은 없다.</a:t>
            </a:r>
          </a:p>
          <a:p xmlns:a="http://schemas.openxmlformats.org/drawingml/2006/main">
            <a:r>
              <a:t/>
            </a:r>
          </a:p>
          <a:p xmlns:a="http://schemas.openxmlformats.org/drawingml/2006/main">
            <a:r>
              <a:t>Audience Interaction: 발표자가 질문을 회수한다. 추가 Q&amp;A·실습 시간을 만들지 않는다.</a:t>
            </a:r>
          </a:p>
          <a:p xmlns:a="http://schemas.openxmlformats.org/drawingml/2006/main">
            <a:r>
              <a:t/>
            </a:r>
          </a:p>
          <a:p xmlns:a="http://schemas.openxmlformats.org/drawingml/2006/main">
            <a:r>
              <a:t>Transition: “확인할 대상은 정했습니다. 이제 사례에 주어진 정보와 아직 확인하지 않은 원인 가설을 나누겠습니다.”</a:t>
            </a:r>
          </a:p>
          <a:p xmlns:a="http://schemas.openxmlformats.org/drawingml/2006/main">
            <a:r>
              <a:t/>
            </a:r>
          </a:p>
          <a:p xmlns:a="http://schemas.openxmlformats.org/drawingml/2006/main">
            <a:r>
              <a:t>Time Management: Demo2분: 조사로 전환0.5, 확인할 네 대상1, 정보/가설 구분으로 연결0.5. 기존 Demo 배정을 유지하며 실제 리허설은 UNVERIFIED다.</a:t>
            </a:r>
          </a:p>
          <a:p xmlns:a="http://schemas.openxmlformats.org/drawingml/2006/main">
            <a:r>
              <a:t/>
            </a:r>
          </a:p>
          <a:p xmlns:a="http://schemas.openxmlformats.org/drawingml/2006/main">
            <a:r>
              <a:t>Fallback: LOCAL STATIC ARTIFACT — production/ACT_4.pptx의 S75, production/preview/act4/S75.png 및 production/preview/full/S75.png.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S76 — 주어진 정보와 원인 가설을 나눈다</a:t>
            </a:r>
          </a:p>
          <a:p xmlns:a="http://schemas.openxmlformats.org/drawingml/2006/main">
            <a:r>
              <a:t/>
            </a:r>
          </a:p>
          <a:p xmlns:a="http://schemas.openxmlformats.org/drawingml/2006/main">
            <a:r>
              <a:t>Slide ID: S76</a:t>
            </a:r>
          </a:p>
          <a:p xmlns:a="http://schemas.openxmlformats.org/drawingml/2006/main">
            <a:r>
              <a:t/>
            </a:r>
          </a:p>
          <a:p xmlns:a="http://schemas.openxmlformats.org/drawingml/2006/main">
            <a:r>
              <a:t>Working Title: 주어진 정보와 원인 가설을 나눈다</a:t>
            </a:r>
          </a:p>
          <a:p xmlns:a="http://schemas.openxmlformats.org/drawingml/2006/main">
            <a:r>
              <a:t/>
            </a:r>
          </a:p>
          <a:p xmlns:a="http://schemas.openxmlformats.org/drawingml/2006/main">
            <a:r>
              <a:t>ACT / Section: ACT 4 / 4C  FIX THE RIGHT LAYER</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1분 + Demo 1분 (CAPTURED)</a:t>
            </a:r>
          </a:p>
          <a:p xmlns:a="http://schemas.openxmlformats.org/drawingml/2006/main">
            <a:r>
              <a:t/>
            </a:r>
          </a:p>
          <a:p xmlns:a="http://schemas.openxmlformats.org/drawingml/2006/main">
            <a:r>
              <a:t>Primary Message: 가상 사례의 현재 기준과 재사용 지침 차이는 주어진 정보다. 그것이 실제 작업의 원인이라는 가설은 실행 경로와 참조 지침을 대조해 확인해야 한다.</a:t>
            </a:r>
          </a:p>
          <a:p xmlns:a="http://schemas.openxmlformats.org/drawingml/2006/main">
            <a:r>
              <a:t/>
            </a:r>
          </a:p>
          <a:p xmlns:a="http://schemas.openxmlformats.org/drawingml/2006/main">
            <a:r>
              <a:t>Opening Question: “지침이 다르다는 사실만으로 실제 문제의 원인까지 알 수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S75의 확인 대상 중 현재 기준과 재사용 지침을 사례에 대입한다. 왼쪽 단위+통합 기준과 단위만 지시하는 Workflow는 가상 설정에 주어진 정보다. 실제 Trial을 관찰한 결과가 아니다. 오른쪽 오래된 지침이 원인일 수 있다는 말은 아직 확인할 가설이다.</a:t>
            </a:r>
          </a:p>
          <a:p xmlns:a="http://schemas.openxmlformats.org/drawingml/2006/main">
            <a:r>
              <a:t>2. (1:00–2:00 / CAPTURED Demo) 두 출처의 차이와 원인 판단을 좌우로 분리해 짚는다. 실제 문제에서는 실행 경로와 실제로 읽은 지침을 대조해야 한다. 이 사례의 실행 기록을 만들거나 원인 확인이 끝났다고 주장하지 않는다. 다음 장은 원인이 확인됐다고 가정했을 때의 선택이다.</a:t>
            </a:r>
          </a:p>
          <a:p xmlns:a="http://schemas.openxmlformats.org/drawingml/2006/main">
            <a:r>
              <a:t/>
            </a:r>
          </a:p>
          <a:p xmlns:a="http://schemas.openxmlformats.org/drawingml/2006/main">
            <a:r>
              <a:t>Evidence / Source: DEMO-04A / DEMO-11; BEAT-043/044; CLM-0020/0029; INV-LOOP-001; DEC-0080.</a:t>
            </a:r>
          </a:p>
          <a:p xmlns:a="http://schemas.openxmlformats.org/drawingml/2006/main">
            <a:r>
              <a:t/>
            </a:r>
          </a:p>
          <a:p xmlns:a="http://schemas.openxmlformats.org/drawingml/2006/main">
            <a:r>
              <a:t>Claim Boundary: CONCEPTUAL / TEACHING_MODEL. 가상 전제·원인 가설·실제 확인을 분리한다. 원인 확인 결과나 확정 실패는 없다.</a:t>
            </a:r>
          </a:p>
          <a:p xmlns:a="http://schemas.openxmlformats.org/drawingml/2006/main">
            <a:r>
              <a:t/>
            </a:r>
          </a:p>
          <a:p xmlns:a="http://schemas.openxmlformats.org/drawingml/2006/main">
            <a:r>
              <a:t>Beginner Explanation: 기준이 다르다는 것과, 그것이 이번 작업의 원인이라는 것은 다른 질문이다.</a:t>
            </a:r>
          </a:p>
          <a:p xmlns:a="http://schemas.openxmlformats.org/drawingml/2006/main">
            <a:r>
              <a:t/>
            </a:r>
          </a:p>
          <a:p xmlns:a="http://schemas.openxmlformats.org/drawingml/2006/main">
            <a:r>
              <a:t>Advanced Insight: 증상·출처 간 차이·실제 선택된 instruction의 실행 기여를 구분한다. 확신 수준을 근거에 맞춰 남긴다.</a:t>
            </a:r>
          </a:p>
          <a:p xmlns:a="http://schemas.openxmlformats.org/drawingml/2006/main">
            <a:r>
              <a:t/>
            </a:r>
          </a:p>
          <a:p xmlns:a="http://schemas.openxmlformats.org/drawingml/2006/main">
            <a:r>
              <a:t>C++ Vision Bridge: 환경/권한/코드 문제도 별도 후보로 남긴다. 회사 장비나 제품의 원인을 판정하지 않는다.</a:t>
            </a:r>
          </a:p>
          <a:p xmlns:a="http://schemas.openxmlformats.org/drawingml/2006/main">
            <a:r>
              <a:t/>
            </a:r>
          </a:p>
          <a:p xmlns:a="http://schemas.openxmlformats.org/drawingml/2006/main">
            <a:r>
              <a:t>Demo Operation: Lecture1분 뒤 같은 정적 화면에서 DEMO-11의1분을 사용한다. 원인 확인을 실제로 실행하지 않는다.</a:t>
            </a:r>
          </a:p>
          <a:p xmlns:a="http://schemas.openxmlformats.org/drawingml/2006/main">
            <a:r>
              <a:t/>
            </a:r>
          </a:p>
          <a:p xmlns:a="http://schemas.openxmlformats.org/drawingml/2006/main">
            <a:r>
              <a:t>Audience Interaction: 발표자가 왼쪽 정보와 오른쪽 가설의 차이를 짧게 묻고 회수한다. 응답/실습은 요구하지 않는다.</a:t>
            </a:r>
          </a:p>
          <a:p xmlns:a="http://schemas.openxmlformats.org/drawingml/2006/main">
            <a:r>
              <a:t/>
            </a:r>
          </a:p>
          <a:p xmlns:a="http://schemas.openxmlformats.org/drawingml/2006/main">
            <a:r>
              <a:t>Transition: “실제로 조사해 Workflow가 원인임을 확인했다고 가정하면, 어느 출처를 바꾸는 편이 맞을까요?”</a:t>
            </a:r>
          </a:p>
          <a:p xmlns:a="http://schemas.openxmlformats.org/drawingml/2006/main">
            <a:r>
              <a:t/>
            </a:r>
          </a:p>
          <a:p xmlns:a="http://schemas.openxmlformats.org/drawingml/2006/main">
            <a:r>
              <a:t>Time Management: Lecture1분 + Demo1분(CAPTURED 정적 도식).2분에 다음 Case로 이동하며 실제 리허설은 UNVERIFIED다.</a:t>
            </a:r>
          </a:p>
          <a:p xmlns:a="http://schemas.openxmlformats.org/drawingml/2006/main">
            <a:r>
              <a:t/>
            </a:r>
          </a:p>
          <a:p xmlns:a="http://schemas.openxmlformats.org/drawingml/2006/main">
            <a:r>
              <a:t>Fallback: LOCAL STATIC ARTIFACT — production/ACT_4.pptx의 S76, production/preview/act4/S76.png 및 production/preview/full/S76.png.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S77 — 확인한 원인에 맞춰 변경 대상을 고른다</a:t>
            </a:r>
          </a:p>
          <a:p xmlns:a="http://schemas.openxmlformats.org/drawingml/2006/main">
            <a:r>
              <a:t/>
            </a:r>
          </a:p>
          <a:p xmlns:a="http://schemas.openxmlformats.org/drawingml/2006/main">
            <a:r>
              <a:t>Slide ID: S77</a:t>
            </a:r>
          </a:p>
          <a:p xmlns:a="http://schemas.openxmlformats.org/drawingml/2006/main">
            <a:r>
              <a:t/>
            </a:r>
          </a:p>
          <a:p xmlns:a="http://schemas.openxmlformats.org/drawingml/2006/main">
            <a:r>
              <a:t>Working Title: 확인한 원인에 맞춰 변경 대상을 고른다</a:t>
            </a:r>
          </a:p>
          <a:p xmlns:a="http://schemas.openxmlformats.org/drawingml/2006/main">
            <a:r>
              <a:t/>
            </a:r>
          </a:p>
          <a:p xmlns:a="http://schemas.openxmlformats.org/drawingml/2006/main">
            <a:r>
              <a:t>ACT / Section: ACT 4 / 4C  CAUSE / CHANGE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2분</a:t>
            </a:r>
          </a:p>
          <a:p xmlns:a="http://schemas.openxmlformats.org/drawingml/2006/main">
            <a:r>
              <a:t/>
            </a:r>
          </a:p>
          <a:p xmlns:a="http://schemas.openxmlformats.org/drawingml/2006/main">
            <a:r>
              <a:t>Primary Message: Workflow가 원인으로 확인됐다고 가정한 경우, 이번 요청 보정·전역 규칙 추가·원인 Workflow 갱신의 영향 범위를 비교해 원인에 맞는 출처를 선택한다.</a:t>
            </a:r>
          </a:p>
          <a:p xmlns:a="http://schemas.openxmlformats.org/drawingml/2006/main">
            <a:r>
              <a:t/>
            </a:r>
          </a:p>
          <a:p xmlns:a="http://schemas.openxmlformats.org/drawingml/2006/main">
            <a:r>
              <a:t>Opening Question: “원인이 확인됐다면, 어느 위치를 바꿔야 다음 작업에도 반영될까요?”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Case) ‘재사용 Workflow가 원인으로 확인됐다면’이라는 조건을 먼저 읽는다. 앞 장에서 실제 확인 결과를 얻었다는 뜻이 아니며 확인됐다는 조건의 대응 설계다.</a:t>
            </a:r>
          </a:p>
          <a:p xmlns:a="http://schemas.openxmlformats.org/drawingml/2006/main">
            <a:r>
              <a:t>2. (0:30–1:30 / Case) 이번 요청 보정은 현재 Task의 범위, 전역 규칙 추가는 넓은 중복/충돌 가능성, 원인 Workflow 갱신은 다음 작업이 읽을 절차를 바꾸는 조치임을 비교한다. Workflow가 항상 정답이라는 규칙을 만들지 않는다.</a:t>
            </a:r>
          </a:p>
          <a:p xmlns:a="http://schemas.openxmlformats.org/drawingml/2006/main">
            <a:r>
              <a:t>3. (1:30–2:00 / Case) 검토 담당은 확인한 원인과 수정 위치가 맞는지 본다. 그 조건이 지지하는 범위를 S78에서 구체적으로 검토·갱신한다.</a:t>
            </a:r>
          </a:p>
          <a:p xmlns:a="http://schemas.openxmlformats.org/drawingml/2006/main">
            <a:r>
              <a:t/>
            </a:r>
          </a:p>
          <a:p xmlns:a="http://schemas.openxmlformats.org/drawingml/2006/main">
            <a:r>
              <a:t>Evidence / Source: DEMO-04A / DEMO-11 teaching context outside its3 Demo minutes; BEAT-044/045; INV-LOOP-001; CLM-0020/0029; DEC-0080.</a:t>
            </a:r>
          </a:p>
          <a:p xmlns:a="http://schemas.openxmlformats.org/drawingml/2006/main">
            <a:r>
              <a:t/>
            </a:r>
          </a:p>
          <a:p xmlns:a="http://schemas.openxmlformats.org/drawingml/2006/main">
            <a:r>
              <a:t>Claim Boundary: CONCEPTUAL / TEACHING_MODEL. 조건부 대응의 선택 논리다. 실제 Product 수정·원인 확인·일반 정답이 아니다.</a:t>
            </a:r>
          </a:p>
          <a:p xmlns:a="http://schemas.openxmlformats.org/drawingml/2006/main">
            <a:r>
              <a:t/>
            </a:r>
          </a:p>
          <a:p xmlns:a="http://schemas.openxmlformats.org/drawingml/2006/main">
            <a:r>
              <a:t>Beginner Explanation: 이번 요청만 고칠지, 다음 작업도 읽는 지침을 고칠지 수정의 위치를 비교한다.</a:t>
            </a:r>
          </a:p>
          <a:p xmlns:a="http://schemas.openxmlformats.org/drawingml/2006/main">
            <a:r>
              <a:t/>
            </a:r>
          </a:p>
          <a:p xmlns:a="http://schemas.openxmlformats.org/drawingml/2006/main">
            <a:r>
              <a:t>Advanced Insight: 최소한의 원인 일치 변경을 선택한다. 전역 규칙과 stale 지침의 중복은 원인이 지지할 때만 다룬다.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기존 세 대응 비교를 Case2분으로 설명한다. DEMO-11은 S75 2분/S76 1분 그대로이며 S77는 추가 Demo가 아니다.</a:t>
            </a:r>
          </a:p>
          <a:p xmlns:a="http://schemas.openxmlformats.org/drawingml/2006/main">
            <a:r>
              <a:t/>
            </a:r>
          </a:p>
          <a:p xmlns:a="http://schemas.openxmlformats.org/drawingml/2006/main">
            <a:r>
              <a:t>Audience Interaction: 가정과 영향 범위를 가리킨다. 공개 답변이나 실제 수정은 요구하지 않는다.</a:t>
            </a:r>
          </a:p>
          <a:p xmlns:a="http://schemas.openxmlformats.org/drawingml/2006/main">
            <a:r>
              <a:t/>
            </a:r>
          </a:p>
          <a:p xmlns:a="http://schemas.openxmlformats.org/drawingml/2006/main">
            <a:r>
              <a:t>Transition: “바꿀 출처를 골랐다면, 담당자는 어떤 범위까지 수정하고 검토해야 할까요?”</a:t>
            </a:r>
          </a:p>
          <a:p xmlns:a="http://schemas.openxmlformats.org/drawingml/2006/main">
            <a:r>
              <a:t/>
            </a:r>
          </a:p>
          <a:p xmlns:a="http://schemas.openxmlformats.org/drawingml/2006/main">
            <a:r>
              <a:t>Time Management: Case2분: 원인 확인 조건0.5, 세 대응 범위1, 검토/갱신 책임0.5. 실제 리허설은 UNVERIFIED다.</a:t>
            </a:r>
          </a:p>
          <a:p xmlns:a="http://schemas.openxmlformats.org/drawingml/2006/main">
            <a:r>
              <a:t/>
            </a:r>
          </a:p>
          <a:p xmlns:a="http://schemas.openxmlformats.org/drawingml/2006/main">
            <a:r>
              <a:t>Fallback: LOCAL STATIC ARTIFACT — production/ACT_4.pptx의 S77, production/preview/act4/S77.png 및 production/preview/full/S77.png.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S78 — 확인된 범위만 검토하고 갱신한다</a:t>
            </a:r>
          </a:p>
          <a:p xmlns:a="http://schemas.openxmlformats.org/drawingml/2006/main">
            <a:r>
              <a:t/>
            </a:r>
          </a:p>
          <a:p xmlns:a="http://schemas.openxmlformats.org/drawingml/2006/main">
            <a:r>
              <a:t>Slide ID: S78</a:t>
            </a:r>
          </a:p>
          <a:p xmlns:a="http://schemas.openxmlformats.org/drawingml/2006/main">
            <a:r>
              <a:t/>
            </a:r>
          </a:p>
          <a:p xmlns:a="http://schemas.openxmlformats.org/drawingml/2006/main">
            <a:r>
              <a:t>Working Title: 확인된 범위만 검토하고 갱신한다</a:t>
            </a:r>
          </a:p>
          <a:p xmlns:a="http://schemas.openxmlformats.org/drawingml/2006/main">
            <a:r>
              <a:t/>
            </a:r>
          </a:p>
          <a:p xmlns:a="http://schemas.openxmlformats.org/drawingml/2006/main">
            <a:r>
              <a:t>ACT / Section: ACT 4 / 4C  CAUSE / CHANGE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1분 + Case 1분</a:t>
            </a:r>
          </a:p>
          <a:p xmlns:a="http://schemas.openxmlformats.org/drawingml/2006/main">
            <a:r>
              <a:t/>
            </a:r>
          </a:p>
          <a:p xmlns:a="http://schemas.openxmlformats.org/drawingml/2006/main">
            <a:r>
              <a:t>Primary Message: 이 사례에서 stale Workflow가 원인으로 확인됐다고 가정하면 우선 그 Workflow를 갱신한다. 중복된 오래된 지침은 원인일 때만 제거한다.</a:t>
            </a:r>
          </a:p>
          <a:p xmlns:a="http://schemas.openxmlformats.org/drawingml/2006/main">
            <a:r>
              <a:t/>
            </a:r>
          </a:p>
          <a:p xmlns:a="http://schemas.openxmlformats.org/drawingml/2006/main">
            <a:r>
              <a:t>Opening Question: “갱신 담당과 검토 담당은 무엇을 확인해야 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Workflow가 원인으로 확인됐다는 가정 안에서 기존 단위 테스트 지시를 현재 기준인 단위+통합으로 갱신하는 범위를 짚는다. ‘최소’는 무조건 적게 고치는 뜻이 아니라 원인이 지지하는 범위다. 오래된 중복 지침도 원인일 때만 정리하고 관련 없는 규칙은 임의로 바꾸지 않는다.</a:t>
            </a:r>
          </a:p>
          <a:p xmlns:a="http://schemas.openxmlformats.org/drawingml/2006/main">
            <a:r>
              <a:t>2. (1:00–1:40 / Case) 아래 세 역할을 가리킨다. 갱신 담당은 확인된 지침을 수정하고, 검토 담당은 현재 기준·변경 범위가 맞는지 확인하며, 이후 같은 작업과 대표 작업으로 다시 평가한다. 담당은 예시 역할이고 실제 팀 구성원을 배정한 것이 아니다. 검토·갱신을 같은 사람이 맡을 수도 있으며 자동 자기 수정으로 설명하지 않는다.</a:t>
            </a:r>
          </a:p>
          <a:p xmlns:a="http://schemas.openxmlformats.org/drawingml/2006/main">
            <a:r>
              <a:t>3. (1:40–2:00 / Case) S70의 ‘어디에 두고 누가 유지할까’를 이 가상 유지 문제에서 회수했다고 정리한다. 실제 수정/재평가 결과는 없으며 S79에서 무엇을 확인해야 하는지로 넘어간다.</a:t>
            </a:r>
          </a:p>
          <a:p xmlns:a="http://schemas.openxmlformats.org/drawingml/2006/main">
            <a:r>
              <a:t/>
            </a:r>
          </a:p>
          <a:p xmlns:a="http://schemas.openxmlformats.org/drawingml/2006/main">
            <a:r>
              <a:t>Evidence / Source: DEMO-04A / BEAT-045/046 / INV-LOOP-001 / CLM-0020/0029 / DEC-0080.</a:t>
            </a:r>
          </a:p>
          <a:p xmlns:a="http://schemas.openxmlformats.org/drawingml/2006/main">
            <a:r>
              <a:t/>
            </a:r>
          </a:p>
          <a:p xmlns:a="http://schemas.openxmlformats.org/drawingml/2006/main">
            <a:r>
              <a:t>Claim Boundary: CONCEPTUAL / TEACHING_MODEL. 원인 확인을 가정한 지침 갱신과 역할의 예시다. 실제 담당 배정·Product/Skill 변경·재평가 성공을 만들지 않는다.</a:t>
            </a:r>
          </a:p>
          <a:p xmlns:a="http://schemas.openxmlformats.org/drawingml/2006/main">
            <a:r>
              <a:t/>
            </a:r>
          </a:p>
          <a:p xmlns:a="http://schemas.openxmlformats.org/drawingml/2006/main">
            <a:r>
              <a:t>Beginner Explanation: 바꿀 지침과 바꿀 범위를 정하고, 누가 수정·검토하며 무엇으로 다시 확인할지 연결한다.</a:t>
            </a:r>
          </a:p>
          <a:p xmlns:a="http://schemas.openxmlformats.org/drawingml/2006/main">
            <a:r>
              <a:t/>
            </a:r>
          </a:p>
          <a:p xmlns:a="http://schemas.openxmlformats.org/drawingml/2006/main">
            <a:r>
              <a:t>Advanced Insight: 원인과 변경 범위를 일치시키며 사람의 유지 책임을 남긴다. 도구가 수정에 도움을 주더라도 갱신·검토·수용 책임이 자동으로 사라지지 않는다.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정적 전후 지침과 아래 역할을 가리킨다. 실제 diff·Agent 실행·테스트 결과는 없다.</a:t>
            </a:r>
          </a:p>
          <a:p xmlns:a="http://schemas.openxmlformats.org/drawingml/2006/main">
            <a:r>
              <a:t/>
            </a:r>
          </a:p>
          <a:p xmlns:a="http://schemas.openxmlformats.org/drawingml/2006/main">
            <a:r>
              <a:t>Audience Interaction: 담당을 직접 정하거나 문서를 작성하게 하지 않는다. 역할 관계만 설명한다.</a:t>
            </a:r>
          </a:p>
          <a:p xmlns:a="http://schemas.openxmlformats.org/drawingml/2006/main">
            <a:r>
              <a:t/>
            </a:r>
          </a:p>
          <a:p xmlns:a="http://schemas.openxmlformats.org/drawingml/2006/main">
            <a:r>
              <a:t>Transition: “이 지침을 바꿨다면, 같은 작업을 다시 확인하는 것만으로 충분할까요?”</a:t>
            </a:r>
          </a:p>
          <a:p xmlns:a="http://schemas.openxmlformats.org/drawingml/2006/main">
            <a:r>
              <a:t/>
            </a:r>
          </a:p>
          <a:p xmlns:a="http://schemas.openxmlformats.org/drawingml/2006/main">
            <a:r>
              <a:t>Time Management: Lecture1분(원인/범위·전후 지침) + Case1분(역할0.67, 재평가 질문0.33). 실제 리허설은 UNVERIFIED다.</a:t>
            </a:r>
          </a:p>
          <a:p xmlns:a="http://schemas.openxmlformats.org/drawingml/2006/main">
            <a:r>
              <a:t/>
            </a:r>
          </a:p>
          <a:p xmlns:a="http://schemas.openxmlformats.org/drawingml/2006/main">
            <a:r>
              <a:t>Fallback: LOCAL STATIC ARTIFACT — production/ACT_4.pptx의 S78, production/preview/act4/S78.png 및 production/preview/full/S78.png.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S79 — 지침을 고친 뒤, 무엇을 다시 확인할까?</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S79</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지침을 고친 뒤, 무엇을 다시 확인할까?</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Lecture 1분 + Case 3분</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단위 테스트 지침을 단위+통합으로 갱신했다고 가정하면, 같은 작업이 요구 범위를 다루는지와 다른 작업을 방해하지 않는지를 각각 확인해야 한다. 결과가 나온 사례가 아니라 평가 질문의 설계다.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“단위+통합으로 지침을 바꿨다면, 그 작업만 다시 확인하면 충분할까요?”</a:t>
            </a:r>
          </a:p>
          <a:p xmlns:a="http://schemas.openxmlformats.org/drawingml/2006/main">
            <a:r>
              <a:t/>
            </a:r>
          </a:p>
          <a:p xmlns:a="http://schemas.openxmlformats.org/drawingml/2006/main">
            <a:r>
              <a:t>**Speaker Flow:**</a:t>
            </a:r>
          </a:p>
          <a:p xmlns:a="http://schemas.openxmlformats.org/drawingml/2006/main">
            <a:r>
              <a:t>1. (0:00–1:00 / Lecture) S78의 가상 지침 갱신을 회수한다. 현재 기준에 맞춰 단위+통합 지시로 바꿨다고 가정했지만, 실제 변경이나 재실행을 관찰한 것은 아니다.</a:t>
            </a:r>
          </a:p>
          <a:p xmlns:a="http://schemas.openxmlformats.org/drawingml/2006/main">
            <a:r>
              <a:t>2. (1:00–2:30 / Case) 왼쪽은 같은 작업이 요구했던 검증 범위를 이제 다루는지 묻는다. 오른쪽은 문서만 수정하는 다른 작업에도 불필요한 검증을 강요하는지 묻는다. 테스트 종류와 지침을 적용할 작업 종류를 구분한다.</a:t>
            </a:r>
          </a:p>
          <a:p xmlns:a="http://schemas.openxmlformats.org/drawingml/2006/main">
            <a:r>
              <a:t>3. (2:30–4:00 / Case) 이번 문제의 해결 확인과 주변 작업의 영향 평가는 범위가 다르다고 닫는다. S80에서 서로 다른 위험을 확인할 대표 작업을 고른다. 통과나 안전성이 확인됐다는 결과를 만들지 않는다.</a:t>
            </a:r>
          </a:p>
          <a:p xmlns:a="http://schemas.openxmlformats.org/drawingml/2006/main">
            <a:r>
              <a:t>운영 표시: “실무 적용 팁 · 검증·개선”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DEMO-04A  ·  designed rerun and system evaluation path; DEC-0080.;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이 재실행과 확장 검증은 conceptual design이다. 실행 결과, pass count, regression success를 보여주지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지침 변경이 이번 문제를 다루는지 확인하고, 다른 작업에 불필요한 일을 요구하지 않는지도 본다.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Task recovery의 재확인과 Harness 변경의 대표 작업·회귀 위험 평가를 분리한다.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같은 build/test 시나리오 재실행은 필요하지만 전체 회귀 위험을 모두 해소하지 않는다.</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왼쪽 같은 작업과 오른쪽 문서 수정 작업의 확인 질문을 비교한다. 단위/통합은 검사 종류이고 버그/성능/문서/리팩터링은 지침을 적용할 작업 종류다. 실제 실행·PASS/FAIL은 없다.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두 영역이 서로 다른 위험을 묻는다는 점을 비교한다. 답변·작업 제출은 요구하지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“이번 작업 외에 어떤 작업을 골라야, 바뀐 지침의 다른 영향을 확인할 수 있을까요?”</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Lecture1분+Case3분=4분. 단위/통합 테스트 기술 강의를 다시 열지 않고 두 평가 범위의 차이에 집중한다.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S79와 production/preview/act4/S79.png를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S80 — 대표 작업은 서로 다른 위험을 확인한다</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S80</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대표 작업은 서로 다른 위험을 확인한다</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Demo 5분 (VISUAL / CAPTURED conceptual matrix)</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대표 작업은 변경된 지침이 닿는 서로 다른 사용 방식과 회귀 위험을 확인하도록 고른다. EVAL-01/02는 별도 과거 사례를 참고한 설계, EVAL-03/04는 설계만 있으며 네 작업 모두 이 지침 변경 뒤의 실행 결과는 없다.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“바뀐 지침을 어떤 작업에 적용해 봐야 서로 다른 위험을 확인할까요?”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VISUAL Demo) S79의 다른 작업 질문을 회수한다. 여기서는 제품 테스트의 개수를 늘리는 대신 지침을 적용해 볼 작업 종류를 넓힌다. 표는 네 작업의 평가 설계이며 실행 성적표가 아니다.</a:t>
            </a:r>
          </a:p>
          <a:p xmlns:a="http://schemas.openxmlformats.org/drawingml/2006/main">
            <a:r>
              <a:t>2. (1:00–2:15 / VISUAL Demo) 표의 왼쪽 작업 종류와 가운데 확인 질문을 행별로 읽는다. 버그 수정은 동작 명세, 성능 변경은 측정·검증 범위를 놓치지 않는지 확인하기 위한 선택이다. EVAL-01/02의 별도 과거 참고는 TRIAL-002/STATE-04-PERF다.</a:t>
            </a:r>
          </a:p>
          <a:p xmlns:a="http://schemas.openxmlformats.org/drawingml/2006/main">
            <a:r>
              <a:t>3. (2:15–4:00 / VISUAL Demo) 문서만 수정하는 작업에 불필요한 절차가 강요되지 않는지, 작은 리팩터링에 다른 유효한 작업이 방해받지 않는지 묻는다. EVAL-03/04는 설계만 있다. 현재 근거 상태는 오른쪽의 문구로 구분하며 실선/점선의 행 구분을 안내하지 않는다.</a:t>
            </a:r>
          </a:p>
          <a:p xmlns:a="http://schemas.openxmlformats.org/drawingml/2006/main">
            <a:r>
              <a:t>4. (4:00–5:00 / VISUAL Demo) 네 작업 모두 이번 가상 지침 변경 뒤의 실행 결과가 없다고 회수한다. 모든 프로젝트의 고정 세트로 설명하지 않고 변경 범위·흔한 작업·알려진 회귀 위험·관련 없는 작업에 맞춰 선정한다고 닫는다.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DEMO-10  ·  EVAL-01/02 prior Product references; EVAL-03/04 designed;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EVAL-01/02는 별도 Product task chain의 기존 참고 Evidence다. EVAL-03/04는 설계 사례이며 결과가 없다. 이번 stale-Workflow 변경 뒤의 PASS/FAIL 또는 새 Trial은 없다.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작업을 많이 모으기보다, 바뀐 지침이 서로 다른 업무에 미칠 영향을 확인하도록 고른다.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영향 표면과 알려진 회귀 위험에 따라 평가 집합을 구성하고 비교 근거가 없는 작업도 설계 대상으로 구분한다.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Contextual only: 대표 작업 선택은 Vision build, benchmark, docs 같은 surface에 적용할 수 있지만 별도 C++ case는 만들지 않는다.</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네 작업·선정 이유·기존 근거 상태를 가진 Native 표를 위에서 아래로 읽는다. 오른쪽의 과거 사례 참고와 평가 설계만 있음은 근거 상태이며 결과 판정이 아니다. 식별자 매핑은 EVAL-01 버그/TRIAL-002, EVAL-02 성능/STATE-04-PERF, EVAL-03 문서, EVAL-04 작은 리팩터링이다. 화면 전체는 Conceptual frame이고 과거 Product 결과를 새 평가 결과에 합치지 않는다.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가운데 확인 질문이 왜 다른 작업을 필요로 하는지 생각하게 한다. 실제 평가나 응답 제출은 하지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“문서 작업도 함께 본 이유가 있습니다. 한 작업을 위해 넓힌 규칙이 다른 작업에도 맞을까요?”</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기존 Demo5분은 정적 평가 표에 사용한다. 실제 네 EVAL 실행이나 성공 수치를 만들지 않는다. 1분 배경, 3분 행별 위험, 1분 선정 기준·한계로 마감한다.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S80와 production/preview/act4/S80.png를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S81 — 한 작업에 맞춘 규칙, 다른 작업에도 맞을까?</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S81</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한 작업에 맞춘 규칙, 다른 작업에도 맞을까?</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가상으로 모든 작업에 통합 테스트를 요구하도록 전역 규칙을 넓히면 문서 수정 같은 작업에 불필요한 절차가 될 수 있다. 규칙의 누적·충돌·특정 작업 편중을 평가하고 원인과 범위에 맞춰 정리한다.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“코드 작업 때문에 넓힌 규칙이 문서만 고치는 작업에도 필요할까요?”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S80의 문서 작업을 회수해 모든 작업에 통합 테스트를 요구하도록 넓혔다는 가정을 읽는다. 실제 전역 지침 변경·Agent 실행·비용 측정은 없다.</a:t>
            </a:r>
          </a:p>
          <a:p xmlns:a="http://schemas.openxmlformats.org/drawingml/2006/main">
            <a:r>
              <a:t>2. (1:00–2:30 / Lecture) 왼쪽 지침에서 오른쪽 코드 변경과 문서 수정으로 갈라지는 관계를 읽는다. 코드 변경은 필요한 검증 범위를 확인하는 대상이며 문서 수정에서는 불필요한 절차가 될 가능성을 묻는다. 코드가 PASS하거나 문서 작업이 실제로 실패한 그림이 아니다.</a:t>
            </a:r>
          </a:p>
          <a:p xmlns:a="http://schemas.openxmlformats.org/drawingml/2006/main">
            <a:r>
              <a:t>3. (2:30–4:00 / Lecture) S77의 수정 위치 선택을 다시 강의하지 않고 변경 후의 규칙 누적·충돌·특정 작업 편중과 유지 비용에 집중한다. 원인을 확인하고 대표 작업으로 평가하며 불필요하거나 오래된 규칙을 제거·단순화한다. 과적합은 보조 비유이며 ML 통계적 과적합과 같다고 설명하지 않는다.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DEMO-04A  ·  conceptual regression / maintenance model;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“Overfit”은 교육용 비유다. ML 통계적 overfitting과 같은 현상이라고 주장하지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한 작업에서 필요했던 규칙을 모든 작업에 적용하면 불필요한 절차가 생길 수 있다.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변경의 적용 범위, 다른 지침과의 충돌, 읽기·유지 비용과 회귀 위험을 함께 평가한다.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가상 전역 지침에서 두 작업 종류로 갈라지는 교육용 관계도다. 지침이 실제 실행됐거나 비용이 측정됐다는 결과를 만들지 않는다.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문서만 수정하는 작업에도 같은 절차가 필요한지 생각하게 한다. 고정된 정답·새 규칙을 제시하지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“지금까지 본 기록·원인·변경·평가를 다음 판단으로 어떻게 넘기는지, Loop의 단계로 묶어 보겠습니다.”</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Lecture4분. 가정1분, 두 작업의 영향1분30초, 유지 비용과 정리1분30초. 통계적 과적합 강의와 S77의 세 선택지 설명은 반복하지 않는다.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S81와 production/preview/act4/S81.png를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S82 — 관찰을 시스템 개선으로 잇는 Loop</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S82</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관찰을 시스템 개선으로 잇는 Loop</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4E  LOOP MENTAL MODEL</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11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Lecture 9분 + Demo 2분 (VISUAL)</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실행의 기록을 현재 기준과 대조하고 원인 가설을 근거로 판단한 뒤, 확인된 출처·범위를 사람이 검토·갱신하고 같은·대표 작업의 영향을 재평가한다. 각 단계의 근거가 다음 판단으로 넘어가는 교육용 운영 모델이다.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“어떤 근거가 있어야 다음 판단으로 넘어갈 수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R1/R2) 01 실행은 요청·지침에 따라 작업을 수행하는 단계, 02 관찰은 그 기록을 현재 기준과 대조하는 단계로 구분한다. 아래에는 수행 기록과 기준 차이라는 서로 다른 판단 근거가 있다. 앞 가상 사례를 처음부터 재설명하지 않는다.</a:t>
            </a:r>
          </a:p>
          <a:p xmlns:a="http://schemas.openxmlformats.org/drawingml/2006/main">
            <a:r>
              <a:t>2. (2:00–4:30 / Lecture, R3) 03은 차이를 원인이라고 바로 확정하지 않는 판단 지점이다. 실제 읽힌 지침과 수행 기록 같은 근거가 더 필요하면 가설로 남긴다. “근거가 부족하면 변경을 서두를 수 있을까요?”를 수사적으로 묻고 기록·확인을 먼저 한다고 정리한다. 실제 원인을 확인했다는 사건은 없다.</a:t>
            </a:r>
          </a:p>
          <a:p xmlns:a="http://schemas.openxmlformats.org/drawingml/2006/main">
            <a:r>
              <a:t>3. (4:30–6:30 / Lecture, R4) 04는 확인한 원인에 맞는 출처와 범위를 사람이 검토·갱신하는 판단이다. 검토한 출처·변경 범위를 다음 평가에 넘긴다. S77/S78의 전체 선택지·역할 목록을 반복하지 않는다. 자동 학습이나 자율 복구가 아니다.</a:t>
            </a:r>
          </a:p>
          <a:p xmlns:a="http://schemas.openxmlformats.org/drawingml/2006/main">
            <a:r>
              <a:t>4. (6:30–9:00 / Lecture, R5) 05는 같은 작업과 대표 작업에서 영향 근거와 남은 한계를 확인하는 판단이다. 한 작업의 결과를 전체 시스템의 안전성으로 확대하지 않고, 모르는 점을 남겨 다음 작업에서도 관찰한다. 앞의 평가 표를 다시 전부 설명하지 않는다.</a:t>
            </a:r>
          </a:p>
          <a:p xmlns:a="http://schemas.openxmlformats.org/drawingml/2006/main">
            <a:r>
              <a:t>5. (9:00–11:00 / VISUAL Demo) 정적 화면의 번호·단계·질문·아래 근거를 01에서05로 한 번 연결한 뒤 되돌림선을 가리킨다. 가상 사례의 실행·원인 확인·수정·재평가 결과를 채우지 않는다. 다음 장은 실제 교육 Demo의 결과를 평가·보고하던 체계가 개선 대상이 된 별도 사건이라고 예고한다.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DEC-0023  ·  course operational model  ·  no product loop; DEC-0080.;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이 교육의 operational model이다. 자동 학습, Agent self-learning, 무한 반복, observed Product loop를 뜻하지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작업 기록을 보고, 원인을 확인하고, 필요한 지침을 바꾼 뒤 다른 작업의 영향도 다시 본다.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근거가 부족할 때 가설로 남기는 판단, 원인과 변경 범위를 맞추는 판단, 재평가에서 해석 범위를 제한하는 판단을 구분한다.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기존 LOOP-VISUAL2분이다. 전체가 보이는 정적 화면에서 01 수행 기록→02 기준과 차이→03 원인과 남은 가설→04 검토한 출처/범위→05 영향/한계를 한 번 연결한다. 01의 실행과02의 기록 대조를 구분한다. R1–R5는 발표 초점이며 Native animation·실제 실행 trace가 아니다.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“근거가 부족하면 어느 판단을 보류해야 할까요?”를 수사적 질문으로 사용한다. 별도 Reflection/Q&amp;A 시간을 추가하거나 응답·실습을 요구하지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“가상 지침 사례는 여기서 닫겠습니다. 이번에는 실제 교육 Demo의 성능 결과를 평가·보고하던 기준을 바꾼 사례를 보겠습니다.”</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Lecture9분(R1/R2 2, R3 2분30초, R4 2, R5 2분30초)+기존 VISUAL Demo2분=11분. 이전 장을 순서대로 재강의하지 않는다. 9분에 강의 설명을 마감하고 한 번의 경로 회수로 전환한다. 실제11분 리허설은 UNVERIFIED다.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S82와 production/preview/act4/S82.png를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S83 — 평가·보고 기준도 개선 대상이다</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S83</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평가·보고 기준도 개선 대상이다</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Demo 2분 (CAPTURED)</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실제 교육 Demo 제작 중의 Resize 성능 조사에서는 전역 Skill과 시작 경고가 관찰되어 전체 결과를 Prompt만의 효과로 분리할 수 없었다. 이번 개선 대상은 그 조건과 해석 범위를 남길 평가·보고 기준이다.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“성능 조사 결과를 설명하는 보고 기준도 다시 볼 필요가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(0:00–0:40 / CAPTURED Demo) OBSERVED_META 표식·이중선으로 실제 교육 Demo 제작 기록을 연다. 당시 작업은 이미지 크기 변경인 Resize 성능 조사이며 밝기 통계나 앞의 가상 지침 복구와 별개다. S68를 기억해야만 이해하도록 넘기지 않는다.</a:t>
            </a:r>
          </a:p>
          <a:p xmlns:a="http://schemas.openxmlformats.org/drawingml/2006/main">
            <a:r>
              <a:t>2. (0:40–1:20 / CAPTURED Demo) 세 영역을 관찰 조건→판단의 한계→바꿀 대상으로 읽는다. 전역 Skill 포함과 시작 경고는 보존됐지만, 경고만으로 도구 실행·결과 기여가 증명되는 것은 아니다. 전체 결과를 Prompt 하나로 설명할 수 없다는 평가의 한계다.</a:t>
            </a:r>
          </a:p>
          <a:p xmlns:a="http://schemas.openxmlformats.org/drawingml/2006/main">
            <a:r>
              <a:t>3. (1:20–2:00 / CAPTURED Demo) 지침의 유지에서 결과를 판단·보고할 기준의 유지로 대상이 넓어졌음을 회수한다. S84은 결과와 원인 해석의 구분, S85는 실제 기록 기준 변경을 맡는다. Product 코드·Demo Skill의 복구 이력으로 합치지 않는다.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TRIAL-006  ·  DEC-0016  ·  TRIAL-007/008; DEC-0080.;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OBSERVED_META: 교육자료 제작·Trial 평가 기록이다. Demo Product change나 DEMO-04A 원인/수정 사례가 아니다. Codex CLI evidence를 현재 Desktop으로 일반화하지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결과가 나와도 어떤 조건에서 무엇을 확인했고 무엇은 모르는지 남겨야 한다.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관찰한 실행 조건과 결과의 사용 범위를 기록하는 평가·보고 체계 자체도 Feedback의 변경 대상이 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실제 제작 기록을 재구성한 정적 요약이다. Resize 작업 맥락을 먼저 읽고 세 열을 연결한다. 과거 CLI 관찰이며 새로운 제품 실행·통제 환경 비교·가상 Workflow 수리가 아니다.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개선 대상이 재사용 지침에서 평가·보고 기준으로 넓어진 이유를 확인한다. 별도 답변은 요구하지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“측정한 결과의 확인 범위와, 무엇의 효과인지에 대한 해석은 어떻게 따로 남겨야 할까요?”</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CAPTURED Demo2분. 배경40초, 관찰·해석40초, 평가·보고로의 확장40초. 환경 오류 목록과 이전 Harness 강의를 다시 열지 않는다.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S83와 production/preview/act4/S83.png를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S84 — 결과 확인과 원인 해석을 따로 기록한다</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S84</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결과 확인과 원인 해석을 따로 기록한다</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Demo 4분 (CAPTURED)</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TRIAL-006 Resize 측정은 기록된 코드·입력·환경 범위의 결과다. 전역 Skill이 평가 절차에 관여했으므로 전체 Workflow를 Prompt만의 효과로 분리할 수 없다. 결과의 확인 범위와 원인 해석의 한계를 각각 기록한다.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“숫자를 확인했다면, 무엇이 그 결과를 만들었는지도 안다고 할 수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CAPTURED Demo) 상단의 Resize 성능 조사라는 맥락을 짚는다. S61의 밝기 통계 Benchmark와 다른 TRIAL-006 기록이다. 왼쪽 측정 결과의 확인과 오른쪽 무엇의 효과인지의 해석을 나눈다.</a:t>
            </a:r>
          </a:p>
          <a:p xmlns:a="http://schemas.openxmlformats.org/drawingml/2006/main">
            <a:r>
              <a:t>2. (1:00–2:00 / CAPTURED Demo) 왼쪽 input/output hash와 같은 조건의7회 one-call 측정 기록을 확인한다. 144.2→33.5 ms/call median은 보조 근거다. 합성640×480 grayscale(max4095)→960×720, CPython3.9.6, macOS26.6.2 arm64의 단일 변경 전후 쌍이라는 범위를 유지한다.</a:t>
            </a:r>
          </a:p>
          <a:p xmlns:a="http://schemas.openxmlformats.org/drawingml/2006/main">
            <a:r>
              <a:t>3. (2:00–3:15 / CAPTURED Demo) 오른쪽 전역 performance-goal Skill이 evaluator·ledger·threshold에 관여한 기록을 설명한다. 수치 변화의 직접 원인이나 Skill 우월성을 입증한 것은 아니다. PARTIAL은 Prompt만의 효과로 분리하는 인과 해석의 한계이며 모든 결과가 무효라는 판정이 아니다.</a:t>
            </a:r>
          </a:p>
          <a:p xmlns:a="http://schemas.openxmlformats.org/drawingml/2006/main">
            <a:r>
              <a:t>4. (3:15–4:00 / CAPTURED Demo) 결과 확인 범위와 원인 해석 한계를 함께 남긴다고 닫는다. Hook 경고와 실행 효과, MCP 시작 오류와 작업 결과를 분리하는 원칙만 회수하고 오류 목록은 반복하지 않는다.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TRIAL-006  ·  7 one-call samples  ·  disposable worktree; DEC-0080.;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144.2 → 33.5 ms/call median은 기록된 synthetic 640×480 grayscale input (max 4095) → 960×720, CPython 3.9.6, macOS 26.6.2 arm64에 한정한다. Prompt-only attribution은 PARTIAL. 4.30×/76.8% hero metric은 사용하지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결과가 확인됐다는 것과 무엇의 효과인지 안다는 것은 다른 질문이다.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측정의 입력·출력·설정 범위와 인과 주장의 확신 수준을 별도로 보고한다.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필요하면 같은 원리를 C++ benchmark의 입력, compiler, host, toolchain 범위로 transfer하되 새 사례로 확장하지 않는다.</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왼쪽의 hash/같은 조건/7회 측정과 오른쪽의 전역 Skill 관여/PARTIAL을 따로 읽는다. 수치는 resize_nearest의 과거 기록이며 밝기 통계·현재 Desktop·일반 성능 결과로 확대하지 않는다.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왼쪽 질문에 답할 근거와 오른쪽 질문에 남은 불확실성을 비교한다.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“그렇다면 다음 조사에서는 어떤 조건과 해석 범위를 보고에 더 남겨야 할까요?”</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기존 CAPTURED Demo4분. 숫자는 작은 보조 근거로 다루며 효과 배수·비율을 새 Hero metric으로 만들지 않는다.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S84와 production/preview/act4/S84.png를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S85 — 다음 조사에 남길 기록을 바꿨다</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S85</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다음 조사에 남길 기록을 바꿨다</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Lecture 1분 + Demo 2분 (CAPTURED)</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DEC-0016은 TRIAL-006을 PARTIAL로 보존하고 환경 격리를 진행 선행조건으로 요구하지 않으며, 후속 조사에 관찰된 지침·실행 조건·경고와 실제 사용 여부·해석 범위를 함께 기록하도록 했다.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“작업과 코드 외에, 다음 보고에는 무엇을 더 남겨야 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상단 기존 작업·저장소 중심의 보고와 변경된 실행 조건·해석 범위 기록을 비교한다. Decision ID를 먼저 외우게 하지 않고 실제 변경 내용을 연다.</a:t>
            </a:r>
          </a:p>
          <a:p xmlns:a="http://schemas.openxmlformats.org/drawingml/2006/main">
            <a:r>
              <a:t>2. (1:00–2:15 / CAPTURED Demo) 아래 세 병렬 항목을 위에서 아래로 읽는다. 적용된 Skill/환경 조건, 경고와 실제 실행·결과의 구분, 확인된 결과와 원인 불확실성을 후속 기록에 남기는 기준이다. 세 항목은 순차 실행 절차가 아니다.</a:t>
            </a:r>
          </a:p>
          <a:p xmlns:a="http://schemas.openxmlformats.org/drawingml/2006/main">
            <a:r>
              <a:t>3. (2:15–3:00 / CAPTURED Demo) 하단의 당시 결정을 회수한다. TRIAL-006은 PARTIAL로 보존했고 환경 격리를 진행의 선행조건으로 두지 않았다. 이는 해당 제작 조건에서의 진행 결정이며 격리가 일반적으로 불필요하거나 인과 검증을 완료했다는 뜻이 아니다. Product 코드/Skill 변경이나 격리 환경 구축으로 표현하지 않는다.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TRIAL-006  →  DEC-0016  ·  evaluation / reporting policy;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실제 Training Production evaluation/reporting governance 변화다. Product code 또는 Demo Skill을 수정하지 않았고 clean isolation을 구축했다고 말하지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무슨 작업을 했는지에 더해 어떤 지침·조건을 썼고 어디까지 해석할 수 있는지도 기록한다.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작업 진행의 환경 결정과 인과 주장의 검증 요건을 구분하며, 미통제 조건을 숨기지 않고 사용 범위를 제한한다.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실제 평가·보고 기준의 의미 요약이다. 위의 기존/변경 대비 다음 세 기록 항목을 읽고, 하단의 PARTIAL 보존·당시 환경 진행 결정을 보조 맥락으로 다룬다. 실제 원문 Screenshot·인용·코드 diff로 표현하지 않는다.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다음 기록에 새로 남길 정보가 무엇인지 확인한다. 환경 격리의 보편적 찬반으로 토론을 넓히지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“기록 기준을 바꾼 뒤에도, 다음 기록이 원문과 맞는지 다시 확인해야 합니다.”</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Lecture1분+CAPTURED Demo2분=3분. 변경 의미1분, 세 기록 항목1분15초, 당시 진행 결정과 한계45초. 기술 설정 강의는 하지 않는다.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S85와 production/preview/act4/S85.png를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S86 — 후속 기록도 원문과 다시 대조했다</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S86</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후속 기록도 원문과 다시 대조했다</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후속 기록 대조에서 TRIAL-007의 보고와 보존된 진단 메시지에 불일치가 남았고, TRIAL-008에서는 저장소 Skill 호출과 전역 영향을 구분해 기록했다. 서로 다른 확인 내용이며 완전한 목록·품질 향상은 입증되지 않았다.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“새 기록 기준이 있어도 보고서와 원문을 다시 봐야 하는 이유는 무엇일까요?”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왼쪽 TRIAL-007의 보고서 MCP 경고 없음과 원문 진단 기록의 인증 필요 경고가 맞지 않음을 짚는다. Nimble AuthRequired는 원문 식별을 위한 작은 근거이며 인증 설정 tutorial로 설명하지 않는다. 경고는 MCP 작업 결과가 아니다.</a:t>
            </a:r>
          </a:p>
          <a:p xmlns:a="http://schemas.openxmlformats.org/drawingml/2006/main">
            <a:r>
              <a:t>2. (1:00–2:00 / Case) 오른쪽 TRIAL-008은 저장소 graypipe-performance Skill의 명시 호출과 전역 지침·Skill의 영향을 서로 구분해 기록했다는 다른 확인 내용이다. 두 Trial을 같은 조건의 개선 전후 실험이나 실패→성공 비교로 읽지 않는다.</a:t>
            </a:r>
          </a:p>
          <a:p xmlns:a="http://schemas.openxmlformats.org/drawingml/2006/main">
            <a:r>
              <a:t>3. (2:00–3:00 / Case) 기록을 나눈 점과 보고/원문 불일치가 남은 점을 모두 보존한다. 원문 대조를 했어도 완전한 환경 목록·품질 효과를 얻었다고 결론 내리지 않는다. 다음 장은 상세를 반복하지 않고 Loop와 실제 기록의 대응만 회수한다.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TRIAL-007 / TRIAL-008  ·  DEC-0016;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적용은 부분적이다. 완전한 environment inventory, 완벽한 report, 측정된 Trial-quality improvement를 주장하지 않는다. TRIAL-007의 stderr에는 Nimble AuthRequired가 있으나 MCP task result는 없다.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보고가 놓친 조건은 원문에 남을 수 있고, 사용한 지침의 출처도 구분해서 남겨야 한다.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보고·진단 기록·지침 사용 경로를 대조하되, 서로 다른 Trial의 기록 특성을 통제 비교나 정량 품질 향상으로 확대하지 않는다.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왼쪽은 TRIAL-007의 보고서와 원문 진단 기록 대조, 오른쪽은 TRIAL-008의 두 지침 사용 경로 구분이다. 위쪽/아래쪽 행으로 안내하지 않는다. 화면은 원문 의미의 재구성 도식이며 실제 로그 Screenshot이 아니다.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두 영역에서 확인한 내용이 서로 다르다는 점과 남은 불확실성을 비교한다.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“상세 기록은 여기서 닫고, 실제 바뀐 평가·보고 기준이 Loop의 어느 단계에 해당하는지 연결하겠습니다.”</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Lecture1분+Case2분=3분. 왼쪽 대조1분, 오른쪽 사용 경로1분, 한계·대응 예고1분. 오류명·인증 해결법 설명은 하지 않는다.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S86와 production/preview/act4/S86.png를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S87 — 실제 기록을 Loop의 단계에 대응하면</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S87</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실제 기록을 Loop의 단계에 대응하면</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4F  OBSERVED META LOOP</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실제 Resize 조사와 전역 영향 관찰은 원인 해석의 한계를 드러내 DEC-0016의 평가·보고 기준 변경으로 이어졌고 후속 기록에서 부분적으로 점검됐다. 이를 교육용 Loop 단계에 대응하되 원인 확정·완전한 재평가·품질 향상을 주장하지 않는다.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“앞에서 본 Loop가 이 실제 기록에서는 어떻게 나타났을까요?”</a:t>
            </a:r>
          </a:p>
          <a:p xmlns:a="http://schemas.openxmlformats.org/drawingml/2006/main">
            <a:r>
              <a:t/>
            </a:r>
          </a:p>
          <a:p xmlns:a="http://schemas.openxmlformats.org/drawingml/2006/main">
            <a:r>
              <a:t>**Speaker Flow:**</a:t>
            </a:r>
          </a:p>
          <a:p xmlns:a="http://schemas.openxmlformats.org/drawingml/2006/main">
            <a:r>
              <a:t>1. (0:00–1:00 / Lecture) S82와 같은 다섯 단계 이름을 왼쪽에서 오른쪽으로 짚는다. 실행은 Resize 조사, 관찰은 전역 Skill/시작 경고, 원인 판단은 Prompt만의 효과를 분리할 수 없다는 해석 한계다. 특정 기능이 성능 변화의 원인으로 확정된 것이 아니다.</a:t>
            </a:r>
          </a:p>
          <a:p xmlns:a="http://schemas.openxmlformats.org/drawingml/2006/main">
            <a:r>
              <a:t>2. (1:00–2:00 / Case) 네 번째 시스템 변경은 평가·보고 기준 변경이다. 다섯 번째는 후속 기록 대조와 남은 불일치이며 대표 작업의 정량 성과 평가를 완료했다는 뜻이 아니다. S85의 세 기록 항목과 S86의 오류 세부는 다시 강의하지 않는다.</a:t>
            </a:r>
          </a:p>
          <a:p xmlns:a="http://schemas.openxmlformats.org/drawingml/2006/main">
            <a:r>
              <a:t>3. (2:00–3:00 / Case) 아래 바뀐 것과 미확인 사항을 읽는다. 평가·보고 기준은 바뀌었지만 원인별 효과·환경 목록의 완전성·Trial 품질 향상은 남아 있다. 상단 다섯 열/하단 회수라는 실제 화면 위치에 맞춰 안내한다. C++ 업무의 검증 조건으로 전이한다.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TRIAL-006  →  DEC-0016  →  TRIAL-007/008;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후속 report에는 불일치가 남고 quality effect는 미측정이다. DEMO-04A conceptual stale workflow와 합치지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피드백을 받아 바뀌는 대상에는 지침뿐 아니라 평가·보고 기준도 포함된다. 바꾼 뒤에도 모르는 점을 남긴다.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운영 모델과 실제 기록을 대응하되 원인 해석의 제한과 후속 적용 점검의 강도를 보존한다.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상단 다섯 열을 왼쪽→오른쪽으로 읽고 하단의 변경 대상과 미확인 사항으로 닫는다. 변경 대상을 왼쪽, 미확인 사항을 오른쪽이라고 안내하지 않는다. 실제 Product Loop나 DEMO-04A 수리가 아니며 추가 Demo 시간도 없다.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가상 모델의 단계와 실제 기록을 대응해 본다. 성공한 모든 단계를 채우거나 결과 제출을 요구하지 않는다.</a:t>
            </a:r>
          </a:p>
          <a:p xmlns:a="http://schemas.openxmlformats.org/drawingml/2006/main">
            <a:r>
              <a:t/>
            </a:r>
          </a:p>
          <a:p xmlns:a="http://schemas.openxmlformats.org/drawingml/2006/main">
            <a:r>
              <a:t>**Transition:**</a:t>
            </a:r>
          </a:p>
          <a:p xmlns:a="http://schemas.openxmlformats.org/drawingml/2006/main">
            <a:r>
              <a:t>“평가 기준을 바꾼 뒤에도 확인할 점은 남았습니다. 이제 같은 검사 코드의 GPU가 달라졌다면, 어떤 검증 조건을 다시 봐야 할지 생각해 보겠습니다.”</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Lecture1분+Case2분=3분. 단계 대응1분, 변경/후속점검1분, 한계와 업무 적용1분. 앞의 Timeline과 오류 설명을 반복하지 않는다.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S87와 production/preview/act4/S87.png를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S88 — GPU 변경 뒤, 검증 조건을 다시 본다</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S88</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GPU 변경 뒤, 검증 조건을 다시 본다</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4G  C++ VISION TRANSFER  /  4H DISCUSSION &amp; TRANSITION</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20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Case 7분 + Reflection 2분 + Q&amp;A 7분 + Transition 4분</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같은 검사 코드가 새 GPU에서 실행된다는 가정에서 기존 판단의 조건·측정 비교 조건·보존할 동작 명세를 다시 본다. 반복되는 점검은 원인과 근거를 확인한 뒤 관련 지침·검증 기준을 검토·갱신하고 재평가하는 질문으로 닫는다.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“같은 검사 코드라도 GPU가 바뀌면 예전 검증 조건을 그대로 써도 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Case) S87의 확인 과제를 업무의 검증 조건으로 가져온다. 같은 검사 코드가 새 GPU에서 실행된다는 한 가지 가정을 읽고 삽화의 장치·설정 표식을 짚는다. GPU 교체로 실제 오류나 성능 변화가 발생했다는 사건은 만들지 않는다.</a:t>
            </a:r>
          </a:p>
          <a:p xmlns:a="http://schemas.openxmlformats.org/drawingml/2006/main">
            <a:r>
              <a:t>2. (2:00–4:30 / Case) 왼쪽 입력·코드·장치 그림에서 오른쪽 기존 가정과 측정 조건 질문으로 이동한다. 예전 판단이 어떤 장치·조건에 맞았는지, 입력·빌드·측정 조건을 비교 가능하게 다시 확인해야 하는지 묻는다. 실제 환경 버전·Benchmark 수치·원인을 정하지 않는다.</a:t>
            </a:r>
          </a:p>
          <a:p xmlns:a="http://schemas.openxmlformats.org/drawingml/2006/main">
            <a:r>
              <a:t>3. (4:30–7:00 / Case) 출력 그림과 동작 명세 질문에서 장치가 달라도 지킬 출력·동작을 확인한다. 기록과 근거를 보고 필요한 지침·검증 기준을 검토하며, 변경이 필요했다면 Benchmark/Regression으로 다시 확인하는 패턴으로 연결한다. 검증 지침이 항상 원인이라는 정답은 없다.</a:t>
            </a:r>
          </a:p>
          <a:p xmlns:a="http://schemas.openxmlformats.org/drawingml/2006/main">
            <a:r>
              <a:t>4. (7:00–9:00 / Reflection) 하단 질문으로 자기 업무에서 반복해서 확인하는 조건 한 가지와 그 근거를 떠올리게 한다. 다음 작업에도 맞게 유지하려면 어떤 지침·검증 기준을 다시 볼지 생각하되 기록·답변·발표는 요구하지 않는다.</a:t>
            </a:r>
          </a:p>
          <a:p xmlns:a="http://schemas.openxmlformats.org/drawingml/2006/main">
            <a:r>
              <a:t>5. (9:00–16:00 / Q&amp;A) 질문을 받는다. 질문이 없으면 Fallback의 세 질문을 하나씩 골라 세 확인 대상 안에서 해설한다. 실제 회사 환경의 검증되지 않은 해결책·도구 설정을 단정하지 않는다.</a:t>
            </a:r>
          </a:p>
          <a:p xmlns:a="http://schemas.openxmlformats.org/drawingml/2006/main">
            <a:r>
              <a:t>6. (16:00–20:00 / Transition) 16분에 질문을 마감한다. 마지막 질문은 원인을 먼저 확인하고 필요한 출처·검증 기준을 검토한 뒤 결과를 다시 본다는 판단으로 닫는다. 16–18분에는 세 질문이 어떤 근거를 요구하는지, 18–19분에는 반복되는 점검을 유지할 위치·책임이 필요한지 회수한다. 19–20분에 ACT4를 마무리하고 S89에 전체 여정 회수를 넘긴다. 다섯 ACT의 여정을 여기서 미리 재강의하지 않는다.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BEAT-059 / TRANS-012  ·  teaching transfer, not observed C++ incident 삽화 출처: prototype/image-illustration-pilot/assets/S72.png, built-in image_gen, 2026-10-18. 생성 프롬프트: prototype/image-illustration-pilot/PROMPTS.md. 실제 화면·현장 사진·관찰 자료가 아니다.;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COURSE MODEL / C++ VISION TRANSFER. Toolchain, CUDA/GPU architecture, build/benchmark configuration은 hypothetical teaching context이며 실제 Demo history가 아니다. 구체적인 Windows/shell/IDE/hardware setup을 주장하지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장치가 바뀌면 예전 검증 조건을 다시 확인하고, 반복해서 필요한 기준을 다음 작업에서도 찾을 수 있게 유지한다.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프로젝트·실행 조건 변화에 따라 성능 비교 가정과 동작 명세·검증 절차의 유효성을 재검토하고 원인이 지지하는 출처만 갱신한다.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Primary bridge. 같은 검사 코드가 새 GPU에서 실행된다는 가정으로 기존 가정·측정 조건·동작 명세를 연결한다. GPU/도구 버전·실제 성능 변화·회사 사례는 만들지 않는다.</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기존 AI 생성 삽화의 bytes/crop을 유지한 정적 화면이다. 입력→코드→장치→출력을 가리킨 뒤 오른쪽 세 질문, 마지막에 하단 지침·검증 기준 질문으로 이동한다. 황색 표식은 확인할 조건이며 확정 원인·실패 결과가 아니다. Native animation·Live 실행에 의존하지 않는다.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7–9분은 마음속 성찰, 9–16분은 선택적 Q&amp;A다. 조건과 근거를 확인하는 질문으로 답하고 특정 도구 추가나 담당 배정을 정답으로 주지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“다음 작업에도 맞게 일하도록 근거를 확인하고 기준을 검토하는 것이 이번 ACT의 요점입니다. 이제 전체 교육에서 어떤 문제에 대응해 왔는지는 다음 장에서 한 번에 연결하겠습니다.” ACT5 S89으로 이동한다.</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0–7 Case7분, 7–9 Reflection2분, 9–16 Q&amp;A7분, 16–20 Transition4분=20분. 16분 Cutoff: “이 질문은 여기까지 정리하고, 근거를 확인해 기준을 검토한다는 판단으로 마무리하겠습니다.” 마지막4분은 ACT4 적용 질문의 마무리이며 S89의 전체 여정을 반복하지 않는다. 실제20분 리허설은 UNVERIFIED다.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정적 PPT/PNG가 기본 경로다. Q&amp;A가 없으면 ①“GPU가 달라졌다는 것 외에 비교 전에 확인할 조건은 무엇일까요?” ②“장치가 달라도 지킬 출력·동작은 무엇일까요?” ③“반복되는 점검을 다음 작업에도 유지하려면 어떤 지침·검증 기준을 다시 볼까요?”를 순서대로 선택해 해설한다. 실제 원인·명령·성능 수치를 만들지 않는다. 파일은 production/preview/act4/S88.png 및 production/preview/full/S88.png다.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ee31ef57288a49fe"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d3a92d763d494645"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6d8a35528003490c"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cc06ff8a7bc045ee"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a04bba99849a48ee"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381ff3bc3d6d42f2"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27A2206-F3F1-49C9-AEB4-AE584E8CA53A}"/>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0D6F7BEF-4104-4436-8BE8-65755CA58466}"/>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5BB6DB58-C889-467D-B1C3-B67EB0309F5C}"/>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72FECBC-DB90-481B-B164-ED84EFD19BE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48D74EC2-1D35-4DE9-8A07-894BC524D2A0}"/>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0F428C97-184A-48C7-B8EA-1F4703587E1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8D8373A-866E-4424-AE02-F2F236E66EA6}"/>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3B2A9954-2400-47E8-B223-E4793AFAF83F}"/>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03F11A5-7B69-4251-993F-EC19C853DA3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53A1A507-5856-46B3-9C45-55015939366F}"/>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ae0dd1b4a104fa5" /><Relationship Type="http://schemas.openxmlformats.org/officeDocument/2006/relationships/slideLayout" Target="/ppt/slideLayouts/slideLayout1.xml" Id="R1b3fd24ef1504996" /><Relationship Type="http://schemas.openxmlformats.org/officeDocument/2006/relationships/slideLayout" Target="/ppt/slideLayouts/slideLayout2.xml" Id="Rb592106ef9d54dbe" /><Relationship Type="http://schemas.openxmlformats.org/officeDocument/2006/relationships/slideLayout" Target="/ppt/slideLayouts/slideLayout3.xml" Id="R1d96fbb7e1634133" /><Relationship Type="http://schemas.openxmlformats.org/officeDocument/2006/relationships/slideLayout" Target="/ppt/slideLayouts/slideLayout4.xml" Id="R2a05d0f2d851433f" /><Relationship Type="http://schemas.openxmlformats.org/officeDocument/2006/relationships/slideLayout" Target="/ppt/slideLayouts/slideLayout5.xml" Id="R3c659feca4a44e05" /><Relationship Type="http://schemas.openxmlformats.org/officeDocument/2006/relationships/slideLayout" Target="/ppt/slideLayouts/slideLayout6.xml" Id="Rd067edd82e8f40c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1b3fd24ef1504996"/>
    <p:sldLayoutId xmlns:r="http://schemas.openxmlformats.org/officeDocument/2006/relationships" id="2147483650" r:id="Rb592106ef9d54dbe"/>
    <p:sldLayoutId xmlns:r="http://schemas.openxmlformats.org/officeDocument/2006/relationships" id="2147483651" r:id="R1d96fbb7e1634133"/>
    <p:sldLayoutId xmlns:r="http://schemas.openxmlformats.org/officeDocument/2006/relationships" id="2147483652" r:id="R2a05d0f2d851433f"/>
    <p:sldLayoutId xmlns:r="http://schemas.openxmlformats.org/officeDocument/2006/relationships" id="2147483653" r:id="R3c659feca4a44e05"/>
    <p:sldLayoutId xmlns:r="http://schemas.openxmlformats.org/officeDocument/2006/relationships" id="2147483654" r:id="Rd067edd82e8f40c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668bf95324354774" /><Relationship Type="http://schemas.openxmlformats.org/officeDocument/2006/relationships/notesSlide" Target="/ppt/notesSlides/notesSlide1.xml" Id="R68787fc2150e40af"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2d3fd6ca887b4f51" /><Relationship Type="http://schemas.openxmlformats.org/officeDocument/2006/relationships/notesSlide" Target="/ppt/notesSlides/notesSlide2.xml" Id="Re21f8782d9234925"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91642f6a43b04793" /><Relationship Type="http://schemas.openxmlformats.org/officeDocument/2006/relationships/notesSlide" Target="/ppt/notesSlides/notesSlide3.xml" Id="R20009f6dd09942d3"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5a1ce59ec15e4cc2" /><Relationship Type="http://schemas.openxmlformats.org/officeDocument/2006/relationships/notesSlide" Target="/ppt/notesSlides/notesSlide4.xml" Id="Rc3e154ad339b443f"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88287c3a14a14ac9" /><Relationship Type="http://schemas.openxmlformats.org/officeDocument/2006/relationships/notesSlide" Target="/ppt/notesSlides/notesSlide5.xml" Id="R6497c1e762f94524"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40c5371fd52a4439" /><Relationship Type="http://schemas.openxmlformats.org/officeDocument/2006/relationships/notesSlide" Target="/ppt/notesSlides/notesSlide6.xml" Id="R35377c46b2074783"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04c8154986d248a1" /><Relationship Type="http://schemas.openxmlformats.org/officeDocument/2006/relationships/notesSlide" Target="/ppt/notesSlides/notesSlide7.xml" Id="R0aaff62374e046dd"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a2254d85fa244b8e" /><Relationship Type="http://schemas.openxmlformats.org/officeDocument/2006/relationships/notesSlide" Target="/ppt/notesSlides/notesSlide8.xml" Id="Rdc37af79ffde4821"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49f9fe119aa043fe" /><Relationship Type="http://schemas.openxmlformats.org/officeDocument/2006/relationships/notesSlide" Target="/ppt/notesSlides/notesSlide9.xml" Id="R68e1ee2a3cfc4704"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84440b35279f4b5e" /><Relationship Type="http://schemas.openxmlformats.org/officeDocument/2006/relationships/notesSlide" Target="/ppt/notesSlides/notesSlide10.xml" Id="R203344b86f404a23"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4292891679954b87" /><Relationship Type="http://schemas.openxmlformats.org/officeDocument/2006/relationships/notesSlide" Target="/ppt/notesSlides/notesSlide11.xml" Id="R67e8f5f06d434a48"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73ba1e5dbf8f497c" /><Relationship Type="http://schemas.openxmlformats.org/officeDocument/2006/relationships/notesSlide" Target="/ppt/notesSlides/notesSlide12.xml" Id="R8b4d72027b2b46f9"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6e9c27075afc4ec6" /><Relationship Type="http://schemas.openxmlformats.org/officeDocument/2006/relationships/notesSlide" Target="/ppt/notesSlides/notesSlide13.xml" Id="R49adb34136e54d9f"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ebb77bd305f3491b" /><Relationship Type="http://schemas.openxmlformats.org/officeDocument/2006/relationships/notesSlide" Target="/ppt/notesSlides/notesSlide14.xml" Id="R685aec34c29d4ef1"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9654a04f95ad4c51" /><Relationship Type="http://schemas.openxmlformats.org/officeDocument/2006/relationships/notesSlide" Target="/ppt/notesSlides/notesSlide15.xml" Id="Re5b51d9a0ce1463f"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5057f2caef334041" /><Relationship Type="http://schemas.openxmlformats.org/officeDocument/2006/relationships/notesSlide" Target="/ppt/notesSlides/notesSlide16.xml" Id="Rdf638e43cbd640be"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32a89a78d2944d1e" /><Relationship Type="http://schemas.openxmlformats.org/officeDocument/2006/relationships/notesSlide" Target="/ppt/notesSlides/notesSlide17.xml" Id="R13b076f3609d42eb"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dce022fd88df4c82" /><Relationship Type="http://schemas.openxmlformats.org/officeDocument/2006/relationships/image" Target="/ppt/media/image.png" Id="Rf6bb589c73114189" /><Relationship Type="http://schemas.openxmlformats.org/officeDocument/2006/relationships/notesSlide" Target="/ppt/notesSlides/notesSlide18.xml" Id="R5f0f0411b68c405a" /></Relationships>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4 · 성공한 작업 환경의 유지와 개선">
            <a:extLst xmlns:a="http://schemas.openxmlformats.org/drawingml/2006/main">
              <a:ext uri="{FF2B5EF4-FFF2-40B4-BE49-F238E27FC236}">
                <a16:creationId xmlns:a16="http://schemas.microsoft.com/office/drawing/2014/main" id="{4813296E-F28A-4BA1-BD2A-46106E1259B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성공한 작업 환경의 유지와 개선</a:t>
            </a:r>
          </a:p>
        </p:txBody>
      </p:sp>
      <p:sp>
        <p:nvSpPr>
          <p:cNvPr id="2" name="S71">
            <a:extLst xmlns:a="http://schemas.openxmlformats.org/drawingml/2006/main">
              <a:ext uri="{FF2B5EF4-FFF2-40B4-BE49-F238E27FC236}">
                <a16:creationId xmlns:a16="http://schemas.microsoft.com/office/drawing/2014/main" id="{7C307783-DE51-415F-B24C-A55297853FD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S71</a:t>
            </a:r>
          </a:p>
        </p:txBody>
      </p:sp>
      <p:sp>
        <p:nvSpPr>
          <p:cNvPr id="3" name="확인한 성공을 유지하려면">
            <a:extLst xmlns:a="http://schemas.openxmlformats.org/drawingml/2006/main">
              <a:ext uri="{FF2B5EF4-FFF2-40B4-BE49-F238E27FC236}">
                <a16:creationId xmlns:a16="http://schemas.microsoft.com/office/drawing/2014/main" id="{45F6974B-6EF3-4672-879F-D52E20B9772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확인한 성공을 유지하려면</a:t>
            </a:r>
          </a:p>
        </p:txBody>
      </p:sp>
      <p:sp>
        <p:nvSpPr>
          <p:cNvPr id="4" name="">
            <a:extLst xmlns:a="http://schemas.openxmlformats.org/drawingml/2006/main">
              <a:ext uri="{FF2B5EF4-FFF2-40B4-BE49-F238E27FC236}">
                <a16:creationId xmlns:a16="http://schemas.microsoft.com/office/drawing/2014/main" id="{A87D8627-8BE8-4010-B330-075023F5497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밝기 통계의 실제 성공을 기준점으로 보존">
            <a:extLst xmlns:a="http://schemas.openxmlformats.org/drawingml/2006/main">
              <a:ext uri="{FF2B5EF4-FFF2-40B4-BE49-F238E27FC236}">
                <a16:creationId xmlns:a16="http://schemas.microsoft.com/office/drawing/2014/main" id="{D0AD1802-9D1A-4C63-AADC-7509DA072EA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밝기 통계의 실제 성공을 기준점으로 보존</a:t>
            </a:r>
          </a:p>
        </p:txBody>
      </p:sp>
      <p:sp>
        <p:nvSpPr>
          <p:cNvPr id="6" name="기록된 입력·코드·환경의 결과 · 다음 가상 사례는 별개이며 실제 실패 이력이 아님">
            <a:extLst xmlns:a="http://schemas.openxmlformats.org/drawingml/2006/main">
              <a:ext uri="{FF2B5EF4-FFF2-40B4-BE49-F238E27FC236}">
                <a16:creationId xmlns:a16="http://schemas.microsoft.com/office/drawing/2014/main" id="{5DAC3001-0706-4C82-B791-C8F800BCB05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입력·코드·환경의 결과 · 다음 가상 사례는 별개이며 실제 실패 이력이 아님</a:t>
            </a:r>
          </a:p>
        </p:txBody>
      </p:sp>
      <p:sp>
        <p:nvSpPr>
          <p:cNvPr id="7" name="밝기 통계 작업은 검증된 결과로 마쳤다">
            <a:extLst xmlns:a="http://schemas.openxmlformats.org/drawingml/2006/main">
              <a:ext uri="{FF2B5EF4-FFF2-40B4-BE49-F238E27FC236}">
                <a16:creationId xmlns:a16="http://schemas.microsoft.com/office/drawing/2014/main" id="{06C25C5D-36BE-49A1-9E2D-2BF18D2637BA}"/>
              </a:ext>
            </a:extLst>
          </p:cNvPr>
          <p:cNvSpPr>
            <a:spLocks xmlns:a="http://schemas.openxmlformats.org/drawingml/2006/main" noGrp="1"/>
          </p:cNvSpPr>
          <p:nvPr/>
        </p:nvSpPr>
        <p:spPr>
          <a:xfrm xmlns:a="http://schemas.openxmlformats.org/drawingml/2006/main">
            <a:off x="609600" y="195262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밝기 통계 작업은 검증된 결과로 마쳤다</a:t>
            </a:r>
          </a:p>
        </p:txBody>
      </p:sp>
      <p:sp>
        <p:nvSpPr>
          <p:cNvPr id="8" name="">
            <a:extLst xmlns:a="http://schemas.openxmlformats.org/drawingml/2006/main">
              <a:ext uri="{FF2B5EF4-FFF2-40B4-BE49-F238E27FC236}">
                <a16:creationId xmlns:a16="http://schemas.microsoft.com/office/drawing/2014/main" id="{DE9EF37F-1FCC-4266-92DB-389CB21E5B61}"/>
              </a:ext>
            </a:extLst>
          </p:cNvPr>
          <p:cNvSpPr>
            <a:spLocks xmlns:a="http://schemas.openxmlformats.org/drawingml/2006/main" noGrp="1"/>
          </p:cNvSpPr>
          <p:nvPr/>
        </p:nvSpPr>
        <p:spPr>
          <a:xfrm xmlns:a="http://schemas.openxmlformats.org/drawingml/2006/main">
            <a:off x="609600" y="26670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동작 명세">
            <a:extLst xmlns:a="http://schemas.openxmlformats.org/drawingml/2006/main">
              <a:ext uri="{FF2B5EF4-FFF2-40B4-BE49-F238E27FC236}">
                <a16:creationId xmlns:a16="http://schemas.microsoft.com/office/drawing/2014/main" id="{EADF20AF-889A-4890-A609-B5E44461CC2B}"/>
              </a:ext>
            </a:extLst>
          </p:cNvPr>
          <p:cNvSpPr>
            <a:spLocks xmlns:a="http://schemas.openxmlformats.org/drawingml/2006/main" noGrp="1"/>
          </p:cNvSpPr>
          <p:nvPr/>
        </p:nvSpPr>
        <p:spPr>
          <a:xfrm xmlns:a="http://schemas.openxmlformats.org/drawingml/2006/main">
            <a:off x="609600" y="28289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동작 명세</a:t>
            </a:r>
          </a:p>
        </p:txBody>
      </p:sp>
      <p:sp>
        <p:nvSpPr>
          <p:cNvPr id="10" name="출력 6항목 동일">
            <a:extLst xmlns:a="http://schemas.openxmlformats.org/drawingml/2006/main">
              <a:ext uri="{FF2B5EF4-FFF2-40B4-BE49-F238E27FC236}">
                <a16:creationId xmlns:a16="http://schemas.microsoft.com/office/drawing/2014/main" id="{72C3EBDD-F60D-4AF8-9413-E7798A318A5E}"/>
              </a:ext>
            </a:extLst>
          </p:cNvPr>
          <p:cNvSpPr>
            <a:spLocks xmlns:a="http://schemas.openxmlformats.org/drawingml/2006/main" noGrp="1"/>
          </p:cNvSpPr>
          <p:nvPr/>
        </p:nvSpPr>
        <p:spPr>
          <a:xfrm xmlns:a="http://schemas.openxmlformats.org/drawingml/2006/main">
            <a:off x="609600" y="33337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출력 6항목 동일</a:t>
            </a:r>
          </a:p>
        </p:txBody>
      </p:sp>
      <p:sp>
        <p:nvSpPr>
          <p:cNvPr id="11" name="">
            <a:extLst xmlns:a="http://schemas.openxmlformats.org/drawingml/2006/main">
              <a:ext uri="{FF2B5EF4-FFF2-40B4-BE49-F238E27FC236}">
                <a16:creationId xmlns:a16="http://schemas.microsoft.com/office/drawing/2014/main" id="{60F78903-CEBD-4D69-BE7B-25661C0035EA}"/>
              </a:ext>
            </a:extLst>
          </p:cNvPr>
          <p:cNvSpPr>
            <a:spLocks xmlns:a="http://schemas.openxmlformats.org/drawingml/2006/main" noGrp="1"/>
          </p:cNvSpPr>
          <p:nvPr/>
        </p:nvSpPr>
        <p:spPr>
          <a:xfrm xmlns:a="http://schemas.openxmlformats.org/drawingml/2006/main">
            <a:off x="4419600" y="26670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테스트">
            <a:extLst xmlns:a="http://schemas.openxmlformats.org/drawingml/2006/main">
              <a:ext uri="{FF2B5EF4-FFF2-40B4-BE49-F238E27FC236}">
                <a16:creationId xmlns:a16="http://schemas.microsoft.com/office/drawing/2014/main" id="{4C0D2595-A914-4302-AAF2-F7C054D7AA21}"/>
              </a:ext>
            </a:extLst>
          </p:cNvPr>
          <p:cNvSpPr>
            <a:spLocks xmlns:a="http://schemas.openxmlformats.org/drawingml/2006/main" noGrp="1"/>
          </p:cNvSpPr>
          <p:nvPr/>
        </p:nvSpPr>
        <p:spPr>
          <a:xfrm xmlns:a="http://schemas.openxmlformats.org/drawingml/2006/main">
            <a:off x="4419600" y="28289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a:t>
            </a:r>
          </a:p>
        </p:txBody>
      </p:sp>
      <p:sp>
        <p:nvSpPr>
          <p:cNvPr id="13" name="전체 11/11 통과">
            <a:extLst xmlns:a="http://schemas.openxmlformats.org/drawingml/2006/main">
              <a:ext uri="{FF2B5EF4-FFF2-40B4-BE49-F238E27FC236}">
                <a16:creationId xmlns:a16="http://schemas.microsoft.com/office/drawing/2014/main" id="{67147018-67A9-4C00-9AB4-044DED124AA4}"/>
              </a:ext>
            </a:extLst>
          </p:cNvPr>
          <p:cNvSpPr>
            <a:spLocks xmlns:a="http://schemas.openxmlformats.org/drawingml/2006/main" noGrp="1"/>
          </p:cNvSpPr>
          <p:nvPr/>
        </p:nvSpPr>
        <p:spPr>
          <a:xfrm xmlns:a="http://schemas.openxmlformats.org/drawingml/2006/main">
            <a:off x="4419600" y="33337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전체 11/11 통과</a:t>
            </a:r>
          </a:p>
        </p:txBody>
      </p:sp>
      <p:sp>
        <p:nvSpPr>
          <p:cNvPr id="14" name="">
            <a:extLst xmlns:a="http://schemas.openxmlformats.org/drawingml/2006/main">
              <a:ext uri="{FF2B5EF4-FFF2-40B4-BE49-F238E27FC236}">
                <a16:creationId xmlns:a16="http://schemas.microsoft.com/office/drawing/2014/main" id="{E9C701D2-0617-42AE-AA09-532AEA2B85F8}"/>
              </a:ext>
            </a:extLst>
          </p:cNvPr>
          <p:cNvSpPr>
            <a:spLocks xmlns:a="http://schemas.openxmlformats.org/drawingml/2006/main" noGrp="1"/>
          </p:cNvSpPr>
          <p:nvPr/>
        </p:nvSpPr>
        <p:spPr>
          <a:xfrm xmlns:a="http://schemas.openxmlformats.org/drawingml/2006/main">
            <a:off x="8229600" y="26670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성능 측정">
            <a:extLst xmlns:a="http://schemas.openxmlformats.org/drawingml/2006/main">
              <a:ext uri="{FF2B5EF4-FFF2-40B4-BE49-F238E27FC236}">
                <a16:creationId xmlns:a16="http://schemas.microsoft.com/office/drawing/2014/main" id="{B9A57402-5557-4D93-B30E-6FFC7E646211}"/>
              </a:ext>
            </a:extLst>
          </p:cNvPr>
          <p:cNvSpPr>
            <a:spLocks xmlns:a="http://schemas.openxmlformats.org/drawingml/2006/main" noGrp="1"/>
          </p:cNvSpPr>
          <p:nvPr/>
        </p:nvSpPr>
        <p:spPr>
          <a:xfrm xmlns:a="http://schemas.openxmlformats.org/drawingml/2006/main">
            <a:off x="8229600" y="28289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성능 측정</a:t>
            </a:r>
          </a:p>
        </p:txBody>
      </p:sp>
      <p:sp>
        <p:nvSpPr>
          <p:cNvPr id="16" name="같은 조건 · 결과 guard">
            <a:extLst xmlns:a="http://schemas.openxmlformats.org/drawingml/2006/main">
              <a:ext uri="{FF2B5EF4-FFF2-40B4-BE49-F238E27FC236}">
                <a16:creationId xmlns:a16="http://schemas.microsoft.com/office/drawing/2014/main" id="{4EA7BC72-4673-47B4-8BDC-1788C9122708}"/>
              </a:ext>
            </a:extLst>
          </p:cNvPr>
          <p:cNvSpPr>
            <a:spLocks xmlns:a="http://schemas.openxmlformats.org/drawingml/2006/main" noGrp="1"/>
          </p:cNvSpPr>
          <p:nvPr/>
        </p:nvSpPr>
        <p:spPr>
          <a:xfrm xmlns:a="http://schemas.openxmlformats.org/drawingml/2006/main">
            <a:off x="8229600" y="33337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같은 조건 · 결과 guard</a:t>
            </a:r>
          </a:p>
        </p:txBody>
      </p:sp>
      <p:sp>
        <p:nvSpPr>
          <p:cNvPr id="17" name="">
            <a:extLst xmlns:a="http://schemas.openxmlformats.org/drawingml/2006/main">
              <a:ext uri="{FF2B5EF4-FFF2-40B4-BE49-F238E27FC236}">
                <a16:creationId xmlns:a16="http://schemas.microsoft.com/office/drawing/2014/main" id="{5EB20383-1C3E-4DDE-958D-A9740FF378C8}"/>
              </a:ext>
            </a:extLst>
          </p:cNvPr>
          <p:cNvSpPr>
            <a:spLocks xmlns:a="http://schemas.openxmlformats.org/drawingml/2006/main" noGrp="1"/>
          </p:cNvSpPr>
          <p:nvPr/>
        </p:nvSpPr>
        <p:spPr>
          <a:xfrm xmlns:a="http://schemas.openxmlformats.org/drawingml/2006/main">
            <a:off x="609600" y="4114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이제 살펴볼 문제: 기준과 절차를 계속 맞게 유지하기">
            <a:extLst xmlns:a="http://schemas.openxmlformats.org/drawingml/2006/main">
              <a:ext uri="{FF2B5EF4-FFF2-40B4-BE49-F238E27FC236}">
                <a16:creationId xmlns:a16="http://schemas.microsoft.com/office/drawing/2014/main" id="{04F713C9-CE58-45FF-82BD-FDDCFE42C21C}"/>
              </a:ext>
            </a:extLst>
          </p:cNvPr>
          <p:cNvSpPr>
            <a:spLocks xmlns:a="http://schemas.openxmlformats.org/drawingml/2006/main" noGrp="1"/>
          </p:cNvSpPr>
          <p:nvPr/>
        </p:nvSpPr>
        <p:spPr>
          <a:xfrm xmlns:a="http://schemas.openxmlformats.org/drawingml/2006/main">
            <a:off x="609600" y="43243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이제 살펴볼 문제: 기준과 절차를 계속 맞게 유지하기</a:t>
            </a:r>
          </a:p>
        </p:txBody>
      </p:sp>
      <p:sp>
        <p:nvSpPr>
          <p:cNvPr id="19" name="어떤 변화가 생기면, 담당자가 다시 확인해야 할까?">
            <a:extLst xmlns:a="http://schemas.openxmlformats.org/drawingml/2006/main">
              <a:ext uri="{FF2B5EF4-FFF2-40B4-BE49-F238E27FC236}">
                <a16:creationId xmlns:a16="http://schemas.microsoft.com/office/drawing/2014/main" id="{BA9EBC7C-617C-4F52-8A54-AB78464FDD11}"/>
              </a:ext>
            </a:extLst>
          </p:cNvPr>
          <p:cNvSpPr>
            <a:spLocks xmlns:a="http://schemas.openxmlformats.org/drawingml/2006/main" noGrp="1"/>
          </p:cNvSpPr>
          <p:nvPr/>
        </p:nvSpPr>
        <p:spPr>
          <a:xfrm xmlns:a="http://schemas.openxmlformats.org/drawingml/2006/main">
            <a:off x="609600" y="50101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어떤 변화가 생기면, 담당자가 다시 확인해야 할까?</a:t>
            </a:r>
          </a:p>
        </p:txBody>
      </p:sp>
      <p:sp>
        <p:nvSpPr>
          <p:cNvPr id="20" name="Legacy module connection">
            <a:extLst xmlns:a="http://schemas.openxmlformats.org/drawingml/2006/main">
              <a:ext uri="{FF2B5EF4-FFF2-40B4-BE49-F238E27FC236}">
                <a16:creationId xmlns:a16="http://schemas.microsoft.com/office/drawing/2014/main" id="{5CDA7044-42EB-4762-A208-900E0EA23DE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846078527"/>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CONCEPTUAL / 별도 가상 사례의 출발점">
            <a:extLst xmlns:a="http://schemas.openxmlformats.org/drawingml/2006/main">
              <a:ext uri="{FF2B5EF4-FFF2-40B4-BE49-F238E27FC236}">
                <a16:creationId xmlns:a16="http://schemas.microsoft.com/office/drawing/2014/main" id="{DF5823A5-7D3C-4676-AECD-C5B848B950F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별도 가상 사례의 출발점</a:t>
            </a:r>
          </a:p>
        </p:txBody>
      </p:sp>
      <p:sp>
        <p:nvSpPr>
          <p:cNvPr id="2" name="S72">
            <a:extLst xmlns:a="http://schemas.openxmlformats.org/drawingml/2006/main">
              <a:ext uri="{FF2B5EF4-FFF2-40B4-BE49-F238E27FC236}">
                <a16:creationId xmlns:a16="http://schemas.microsoft.com/office/drawing/2014/main" id="{505764A1-4429-40B7-91A1-D59AFDA273E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S72</a:t>
            </a:r>
          </a:p>
        </p:txBody>
      </p:sp>
      <p:sp>
        <p:nvSpPr>
          <p:cNvPr id="3" name="처음에는 기준과 재사용 절차가 맞았다">
            <a:extLst xmlns:a="http://schemas.openxmlformats.org/drawingml/2006/main">
              <a:ext uri="{FF2B5EF4-FFF2-40B4-BE49-F238E27FC236}">
                <a16:creationId xmlns:a16="http://schemas.microsoft.com/office/drawing/2014/main" id="{3ADB406D-9DA5-46F5-9760-C5191792F3D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처음에는 기준과 재사용 절차가 맞았다</a:t>
            </a:r>
          </a:p>
        </p:txBody>
      </p:sp>
      <p:sp>
        <p:nvSpPr>
          <p:cNvPr id="4" name="">
            <a:extLst xmlns:a="http://schemas.openxmlformats.org/drawingml/2006/main">
              <a:ext uri="{FF2B5EF4-FFF2-40B4-BE49-F238E27FC236}">
                <a16:creationId xmlns:a16="http://schemas.microsoft.com/office/drawing/2014/main" id="{CA54FBC8-EDC0-4F2D-9B09-5EF4097DDF2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프로젝트 기준과 재사용 지침이 일치한다는 가정">
            <a:extLst xmlns:a="http://schemas.openxmlformats.org/drawingml/2006/main">
              <a:ext uri="{FF2B5EF4-FFF2-40B4-BE49-F238E27FC236}">
                <a16:creationId xmlns:a16="http://schemas.microsoft.com/office/drawing/2014/main" id="{013AB3D2-FFC6-4F26-898B-E7DB097D5D3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프로젝트 기준과 재사용 지침이 일치한다는 가정</a:t>
            </a:r>
          </a:p>
        </p:txBody>
      </p:sp>
      <p:sp>
        <p:nvSpPr>
          <p:cNvPr id="6" name="실제 graypipe 이력·Agent 실행·테스트 결과 아님 · 앞의 Skill과 같은 역할이며 같은 파일이">
            <a:extLst xmlns:a="http://schemas.openxmlformats.org/drawingml/2006/main">
              <a:ext uri="{FF2B5EF4-FFF2-40B4-BE49-F238E27FC236}">
                <a16:creationId xmlns:a16="http://schemas.microsoft.com/office/drawing/2014/main" id="{4C72DAC2-2A71-463C-89F9-B511065FB73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graypipe 이력·Agent 실행·테스트 결과 아님 · 앞의 Skill과 같은 역할이며 같은 파일이 아님</a:t>
            </a:r>
          </a:p>
        </p:txBody>
      </p:sp>
      <p:sp>
        <p:nvSpPr>
          <p:cNvPr id="7" name="Workflow = 재사용할 수행 절차 · 앞에서는 Skill로 관리">
            <a:extLst xmlns:a="http://schemas.openxmlformats.org/drawingml/2006/main">
              <a:ext uri="{FF2B5EF4-FFF2-40B4-BE49-F238E27FC236}">
                <a16:creationId xmlns:a16="http://schemas.microsoft.com/office/drawing/2014/main" id="{849546D3-A4B0-41B3-A43C-AE1A0C848C40}"/>
              </a:ext>
            </a:extLst>
          </p:cNvPr>
          <p:cNvSpPr>
            <a:spLocks xmlns:a="http://schemas.openxmlformats.org/drawingml/2006/main" noGrp="1"/>
          </p:cNvSpPr>
          <p:nvPr/>
        </p:nvSpPr>
        <p:spPr>
          <a:xfrm xmlns:a="http://schemas.openxmlformats.org/drawingml/2006/main">
            <a:off x="609600" y="17430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Workflow = 재사용할 수행 절차 · 앞에서는 Skill로 관리</a:t>
            </a:r>
          </a:p>
        </p:txBody>
      </p:sp>
      <p:sp>
        <p:nvSpPr>
          <p:cNvPr id="8" name="프로젝트의 현재 기준">
            <a:extLst xmlns:a="http://schemas.openxmlformats.org/drawingml/2006/main">
              <a:ext uri="{FF2B5EF4-FFF2-40B4-BE49-F238E27FC236}">
                <a16:creationId xmlns:a16="http://schemas.microsoft.com/office/drawing/2014/main" id="{74DF1056-3B86-48FA-8BAC-1DDCA344484F}"/>
              </a:ext>
            </a:extLst>
          </p:cNvPr>
          <p:cNvSpPr>
            <a:spLocks xmlns:a="http://schemas.openxmlformats.org/drawingml/2006/main" noGrp="1"/>
          </p:cNvSpPr>
          <p:nvPr/>
        </p:nvSpPr>
        <p:spPr>
          <a:xfrm xmlns:a="http://schemas.openxmlformats.org/drawingml/2006/main">
            <a:off x="609600" y="2619375"/>
            <a:ext cx="46863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프로젝트의 현재 기준</a:t>
            </a:r>
          </a:p>
        </p:txBody>
      </p:sp>
      <p:sp>
        <p:nvSpPr>
          <p:cNvPr id="9" name="">
            <a:extLst xmlns:a="http://schemas.openxmlformats.org/drawingml/2006/main">
              <a:ext uri="{FF2B5EF4-FFF2-40B4-BE49-F238E27FC236}">
                <a16:creationId xmlns:a16="http://schemas.microsoft.com/office/drawing/2014/main" id="{68B962F8-1596-48F9-B77F-DA2C2374C317}"/>
              </a:ext>
            </a:extLst>
          </p:cNvPr>
          <p:cNvSpPr>
            <a:spLocks xmlns:a="http://schemas.openxmlformats.org/drawingml/2006/main" noGrp="1"/>
          </p:cNvSpPr>
          <p:nvPr/>
        </p:nvSpPr>
        <p:spPr>
          <a:xfrm xmlns:a="http://schemas.openxmlformats.org/drawingml/2006/main">
            <a:off x="609600" y="3181350"/>
            <a:ext cx="46863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단위 테스트">
            <a:extLst xmlns:a="http://schemas.openxmlformats.org/drawingml/2006/main">
              <a:ext uri="{FF2B5EF4-FFF2-40B4-BE49-F238E27FC236}">
                <a16:creationId xmlns:a16="http://schemas.microsoft.com/office/drawing/2014/main" id="{44304074-8DF0-4AC7-BC72-E3456BEC1FD5}"/>
              </a:ext>
            </a:extLst>
          </p:cNvPr>
          <p:cNvSpPr>
            <a:spLocks xmlns:a="http://schemas.openxmlformats.org/drawingml/2006/main" noGrp="1"/>
          </p:cNvSpPr>
          <p:nvPr/>
        </p:nvSpPr>
        <p:spPr>
          <a:xfrm xmlns:a="http://schemas.openxmlformats.org/drawingml/2006/main">
            <a:off x="609600" y="3438525"/>
            <a:ext cx="46863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17212B"/>
                </a:solidFill>
                <a:latin typeface="Malgun Gothic"/>
                <a:ea typeface="Malgun Gothic"/>
                <a:cs typeface="Malgun Gothic"/>
              </a:defRPr>
            </a:defPPr>
            <a:lvl1pPr algn="l">
              <a:defRPr sz="3000" b="1">
                <a:solidFill>
                  <a:srgbClr val="17212B"/>
                </a:solidFill>
                <a:latin typeface="Malgun Gothic"/>
                <a:ea typeface="Malgun Gothic"/>
                <a:cs typeface="Malgun Gothic"/>
              </a:defRPr>
            </a:lvl1pPr>
            <a:lvl2pPr algn="l">
              <a:defRPr sz="3000" b="1">
                <a:solidFill>
                  <a:srgbClr val="17212B"/>
                </a:solidFill>
                <a:latin typeface="Malgun Gothic"/>
                <a:ea typeface="Malgun Gothic"/>
                <a:cs typeface="Malgun Gothic"/>
              </a:defRPr>
            </a:lvl2pPr>
            <a:lvl3pPr algn="l">
              <a:defRPr sz="3000" b="1">
                <a:solidFill>
                  <a:srgbClr val="17212B"/>
                </a:solidFill>
                <a:latin typeface="Malgun Gothic"/>
                <a:ea typeface="Malgun Gothic"/>
                <a:cs typeface="Malgun Gothic"/>
              </a:defRPr>
            </a:lvl3pPr>
            <a:lvl4pPr algn="l">
              <a:defRPr sz="3000" b="1">
                <a:solidFill>
                  <a:srgbClr val="17212B"/>
                </a:solidFill>
                <a:latin typeface="Malgun Gothic"/>
                <a:ea typeface="Malgun Gothic"/>
                <a:cs typeface="Malgun Gothic"/>
              </a:defRPr>
            </a:lvl4pPr>
            <a:lvl5pPr algn="l">
              <a:defRPr sz="3000" b="1">
                <a:solidFill>
                  <a:srgbClr val="17212B"/>
                </a:solidFill>
                <a:latin typeface="Malgun Gothic"/>
                <a:ea typeface="Malgun Gothic"/>
                <a:cs typeface="Malgun Gothic"/>
              </a:defRPr>
            </a:lvl5pPr>
            <a:lvl6pPr algn="l">
              <a:defRPr sz="3000" b="1">
                <a:solidFill>
                  <a:srgbClr val="17212B"/>
                </a:solidFill>
                <a:latin typeface="Malgun Gothic"/>
                <a:ea typeface="Malgun Gothic"/>
                <a:cs typeface="Malgun Gothic"/>
              </a:defRPr>
            </a:lvl6pPr>
            <a:lvl7pPr algn="l">
              <a:defRPr sz="3000" b="1">
                <a:solidFill>
                  <a:srgbClr val="17212B"/>
                </a:solidFill>
                <a:latin typeface="Malgun Gothic"/>
                <a:ea typeface="Malgun Gothic"/>
                <a:cs typeface="Malgun Gothic"/>
              </a:defRPr>
            </a:lvl7pPr>
            <a:lvl8pPr algn="l">
              <a:defRPr sz="3000" b="1">
                <a:solidFill>
                  <a:srgbClr val="17212B"/>
                </a:solidFill>
                <a:latin typeface="Malgun Gothic"/>
                <a:ea typeface="Malgun Gothic"/>
                <a:cs typeface="Malgun Gothic"/>
              </a:defRPr>
            </a:lvl8pPr>
            <a:lvl9pPr algn="l">
              <a:defRPr sz="3000" b="1">
                <a:solidFill>
                  <a:srgbClr val="17212B"/>
                </a:solidFill>
                <a:latin typeface="Malgun Gothic"/>
                <a:ea typeface="Malgun Gothic"/>
                <a:cs typeface="Malgun Gothic"/>
              </a:defRPr>
            </a:lvl9pPr>
          </a:lstStyle>
          <a:p xmlns:a="http://schemas.openxmlformats.org/drawingml/2006/main">
            <a:pPr algn="l">
              <a:defRPr sz="3000" b="1">
                <a:solidFill>
                  <a:srgbClr val="17212B"/>
                </a:solidFill>
                <a:latin typeface="Malgun Gothic"/>
                <a:ea typeface="Malgun Gothic"/>
                <a:cs typeface="Malgun Gothic"/>
              </a:defRPr>
            </a:pPr>
            <a:r>
              <a:rPr sz="3000" b="1">
                <a:solidFill>
                  <a:srgbClr val="17212B"/>
                </a:solidFill>
                <a:latin typeface="Malgun Gothic"/>
                <a:ea typeface="Malgun Gothic"/>
                <a:cs typeface="Malgun Gothic"/>
              </a:rPr>
              <a:t>단위 테스트</a:t>
            </a:r>
          </a:p>
        </p:txBody>
      </p:sp>
      <p:sp>
        <p:nvSpPr>
          <p:cNvPr id="11" name="프로젝트 문서에서 확인">
            <a:extLst xmlns:a="http://schemas.openxmlformats.org/drawingml/2006/main">
              <a:ext uri="{FF2B5EF4-FFF2-40B4-BE49-F238E27FC236}">
                <a16:creationId xmlns:a16="http://schemas.microsoft.com/office/drawing/2014/main" id="{E2E26723-2EC1-477F-B2A2-3B75553ECB7A}"/>
              </a:ext>
            </a:extLst>
          </p:cNvPr>
          <p:cNvSpPr>
            <a:spLocks xmlns:a="http://schemas.openxmlformats.org/drawingml/2006/main" noGrp="1"/>
          </p:cNvSpPr>
          <p:nvPr/>
        </p:nvSpPr>
        <p:spPr>
          <a:xfrm xmlns:a="http://schemas.openxmlformats.org/drawingml/2006/main">
            <a:off x="609600" y="4276725"/>
            <a:ext cx="4686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프로젝트 문서에서 확인</a:t>
            </a:r>
          </a:p>
        </p:txBody>
      </p:sp>
      <p:sp>
        <p:nvSpPr>
          <p:cNvPr id="12" name="Workflow · 재사용 지침">
            <a:extLst xmlns:a="http://schemas.openxmlformats.org/drawingml/2006/main">
              <a:ext uri="{FF2B5EF4-FFF2-40B4-BE49-F238E27FC236}">
                <a16:creationId xmlns:a16="http://schemas.microsoft.com/office/drawing/2014/main" id="{BD4087AE-320B-42B3-B9C5-7CAAF0856DAF}"/>
              </a:ext>
            </a:extLst>
          </p:cNvPr>
          <p:cNvSpPr>
            <a:spLocks xmlns:a="http://schemas.openxmlformats.org/drawingml/2006/main" noGrp="1"/>
          </p:cNvSpPr>
          <p:nvPr/>
        </p:nvSpPr>
        <p:spPr>
          <a:xfrm xmlns:a="http://schemas.openxmlformats.org/drawingml/2006/main">
            <a:off x="6896100" y="2619375"/>
            <a:ext cx="46863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Workflow · 재사용 지침</a:t>
            </a:r>
          </a:p>
        </p:txBody>
      </p:sp>
      <p:sp>
        <p:nvSpPr>
          <p:cNvPr id="13" name="">
            <a:extLst xmlns:a="http://schemas.openxmlformats.org/drawingml/2006/main">
              <a:ext uri="{FF2B5EF4-FFF2-40B4-BE49-F238E27FC236}">
                <a16:creationId xmlns:a16="http://schemas.microsoft.com/office/drawing/2014/main" id="{B3911A8D-730F-482B-AE44-750CB9987C77}"/>
              </a:ext>
            </a:extLst>
          </p:cNvPr>
          <p:cNvSpPr>
            <a:spLocks xmlns:a="http://schemas.openxmlformats.org/drawingml/2006/main" noGrp="1"/>
          </p:cNvSpPr>
          <p:nvPr/>
        </p:nvSpPr>
        <p:spPr>
          <a:xfrm xmlns:a="http://schemas.openxmlformats.org/drawingml/2006/main">
            <a:off x="6896100" y="3181350"/>
            <a:ext cx="46863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단위 테스트">
            <a:extLst xmlns:a="http://schemas.openxmlformats.org/drawingml/2006/main">
              <a:ext uri="{FF2B5EF4-FFF2-40B4-BE49-F238E27FC236}">
                <a16:creationId xmlns:a16="http://schemas.microsoft.com/office/drawing/2014/main" id="{E826F33A-6D43-4443-95BE-41F16015FE6B}"/>
              </a:ext>
            </a:extLst>
          </p:cNvPr>
          <p:cNvSpPr>
            <a:spLocks xmlns:a="http://schemas.openxmlformats.org/drawingml/2006/main" noGrp="1"/>
          </p:cNvSpPr>
          <p:nvPr/>
        </p:nvSpPr>
        <p:spPr>
          <a:xfrm xmlns:a="http://schemas.openxmlformats.org/drawingml/2006/main">
            <a:off x="6896100" y="3438525"/>
            <a:ext cx="46863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17212B"/>
                </a:solidFill>
                <a:latin typeface="Malgun Gothic"/>
                <a:ea typeface="Malgun Gothic"/>
                <a:cs typeface="Malgun Gothic"/>
              </a:defRPr>
            </a:defPPr>
            <a:lvl1pPr algn="l">
              <a:defRPr sz="3000" b="1">
                <a:solidFill>
                  <a:srgbClr val="17212B"/>
                </a:solidFill>
                <a:latin typeface="Malgun Gothic"/>
                <a:ea typeface="Malgun Gothic"/>
                <a:cs typeface="Malgun Gothic"/>
              </a:defRPr>
            </a:lvl1pPr>
            <a:lvl2pPr algn="l">
              <a:defRPr sz="3000" b="1">
                <a:solidFill>
                  <a:srgbClr val="17212B"/>
                </a:solidFill>
                <a:latin typeface="Malgun Gothic"/>
                <a:ea typeface="Malgun Gothic"/>
                <a:cs typeface="Malgun Gothic"/>
              </a:defRPr>
            </a:lvl2pPr>
            <a:lvl3pPr algn="l">
              <a:defRPr sz="3000" b="1">
                <a:solidFill>
                  <a:srgbClr val="17212B"/>
                </a:solidFill>
                <a:latin typeface="Malgun Gothic"/>
                <a:ea typeface="Malgun Gothic"/>
                <a:cs typeface="Malgun Gothic"/>
              </a:defRPr>
            </a:lvl3pPr>
            <a:lvl4pPr algn="l">
              <a:defRPr sz="3000" b="1">
                <a:solidFill>
                  <a:srgbClr val="17212B"/>
                </a:solidFill>
                <a:latin typeface="Malgun Gothic"/>
                <a:ea typeface="Malgun Gothic"/>
                <a:cs typeface="Malgun Gothic"/>
              </a:defRPr>
            </a:lvl4pPr>
            <a:lvl5pPr algn="l">
              <a:defRPr sz="3000" b="1">
                <a:solidFill>
                  <a:srgbClr val="17212B"/>
                </a:solidFill>
                <a:latin typeface="Malgun Gothic"/>
                <a:ea typeface="Malgun Gothic"/>
                <a:cs typeface="Malgun Gothic"/>
              </a:defRPr>
            </a:lvl5pPr>
            <a:lvl6pPr algn="l">
              <a:defRPr sz="3000" b="1">
                <a:solidFill>
                  <a:srgbClr val="17212B"/>
                </a:solidFill>
                <a:latin typeface="Malgun Gothic"/>
                <a:ea typeface="Malgun Gothic"/>
                <a:cs typeface="Malgun Gothic"/>
              </a:defRPr>
            </a:lvl6pPr>
            <a:lvl7pPr algn="l">
              <a:defRPr sz="3000" b="1">
                <a:solidFill>
                  <a:srgbClr val="17212B"/>
                </a:solidFill>
                <a:latin typeface="Malgun Gothic"/>
                <a:ea typeface="Malgun Gothic"/>
                <a:cs typeface="Malgun Gothic"/>
              </a:defRPr>
            </a:lvl7pPr>
            <a:lvl8pPr algn="l">
              <a:defRPr sz="3000" b="1">
                <a:solidFill>
                  <a:srgbClr val="17212B"/>
                </a:solidFill>
                <a:latin typeface="Malgun Gothic"/>
                <a:ea typeface="Malgun Gothic"/>
                <a:cs typeface="Malgun Gothic"/>
              </a:defRPr>
            </a:lvl8pPr>
            <a:lvl9pPr algn="l">
              <a:defRPr sz="3000" b="1">
                <a:solidFill>
                  <a:srgbClr val="17212B"/>
                </a:solidFill>
                <a:latin typeface="Malgun Gothic"/>
                <a:ea typeface="Malgun Gothic"/>
                <a:cs typeface="Malgun Gothic"/>
              </a:defRPr>
            </a:lvl9pPr>
          </a:lstStyle>
          <a:p xmlns:a="http://schemas.openxmlformats.org/drawingml/2006/main">
            <a:pPr algn="l">
              <a:defRPr sz="3000" b="1">
                <a:solidFill>
                  <a:srgbClr val="17212B"/>
                </a:solidFill>
                <a:latin typeface="Malgun Gothic"/>
                <a:ea typeface="Malgun Gothic"/>
                <a:cs typeface="Malgun Gothic"/>
              </a:defRPr>
            </a:pPr>
            <a:r>
              <a:rPr sz="3000" b="1">
                <a:solidFill>
                  <a:srgbClr val="17212B"/>
                </a:solidFill>
                <a:latin typeface="Malgun Gothic"/>
                <a:ea typeface="Malgun Gothic"/>
                <a:cs typeface="Malgun Gothic"/>
              </a:rPr>
              <a:t>단위 테스트</a:t>
            </a:r>
          </a:p>
        </p:txBody>
      </p:sp>
      <p:sp>
        <p:nvSpPr>
          <p:cNvPr id="15" name="다음 작업에서 다시 읽음">
            <a:extLst xmlns:a="http://schemas.openxmlformats.org/drawingml/2006/main">
              <a:ext uri="{FF2B5EF4-FFF2-40B4-BE49-F238E27FC236}">
                <a16:creationId xmlns:a16="http://schemas.microsoft.com/office/drawing/2014/main" id="{36FFF94B-5F89-4CAD-8012-FD93CBFA4889}"/>
              </a:ext>
            </a:extLst>
          </p:cNvPr>
          <p:cNvSpPr>
            <a:spLocks xmlns:a="http://schemas.openxmlformats.org/drawingml/2006/main" noGrp="1"/>
          </p:cNvSpPr>
          <p:nvPr/>
        </p:nvSpPr>
        <p:spPr>
          <a:xfrm xmlns:a="http://schemas.openxmlformats.org/drawingml/2006/main">
            <a:off x="6896100" y="4276725"/>
            <a:ext cx="4686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다음 작업에서 다시 읽음</a:t>
            </a:r>
          </a:p>
        </p:txBody>
      </p:sp>
      <p:sp>
        <p:nvSpPr>
          <p:cNvPr id="16" name="=">
            <a:extLst xmlns:a="http://schemas.openxmlformats.org/drawingml/2006/main">
              <a:ext uri="{FF2B5EF4-FFF2-40B4-BE49-F238E27FC236}">
                <a16:creationId xmlns:a16="http://schemas.microsoft.com/office/drawing/2014/main" id="{5F02352D-5832-4D29-9184-E42F69540BC9}"/>
              </a:ext>
            </a:extLst>
          </p:cNvPr>
          <p:cNvSpPr>
            <a:spLocks xmlns:a="http://schemas.openxmlformats.org/drawingml/2006/main" noGrp="1"/>
          </p:cNvSpPr>
          <p:nvPr/>
        </p:nvSpPr>
        <p:spPr>
          <a:xfrm xmlns:a="http://schemas.openxmlformats.org/drawingml/2006/main">
            <a:off x="5695950" y="3438525"/>
            <a:ext cx="8001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000" b="1">
                <a:solidFill>
                  <a:srgbClr val="0B6172"/>
                </a:solidFill>
                <a:latin typeface="Malgun Gothic"/>
                <a:ea typeface="Malgun Gothic"/>
                <a:cs typeface="Malgun Gothic"/>
              </a:defRPr>
            </a:defPPr>
            <a:lvl1pPr algn="ctr">
              <a:defRPr sz="3000" b="1">
                <a:solidFill>
                  <a:srgbClr val="0B6172"/>
                </a:solidFill>
                <a:latin typeface="Malgun Gothic"/>
                <a:ea typeface="Malgun Gothic"/>
                <a:cs typeface="Malgun Gothic"/>
              </a:defRPr>
            </a:lvl1pPr>
            <a:lvl2pPr algn="ctr">
              <a:defRPr sz="3000" b="1">
                <a:solidFill>
                  <a:srgbClr val="0B6172"/>
                </a:solidFill>
                <a:latin typeface="Malgun Gothic"/>
                <a:ea typeface="Malgun Gothic"/>
                <a:cs typeface="Malgun Gothic"/>
              </a:defRPr>
            </a:lvl2pPr>
            <a:lvl3pPr algn="ctr">
              <a:defRPr sz="3000" b="1">
                <a:solidFill>
                  <a:srgbClr val="0B6172"/>
                </a:solidFill>
                <a:latin typeface="Malgun Gothic"/>
                <a:ea typeface="Malgun Gothic"/>
                <a:cs typeface="Malgun Gothic"/>
              </a:defRPr>
            </a:lvl3pPr>
            <a:lvl4pPr algn="ctr">
              <a:defRPr sz="3000" b="1">
                <a:solidFill>
                  <a:srgbClr val="0B6172"/>
                </a:solidFill>
                <a:latin typeface="Malgun Gothic"/>
                <a:ea typeface="Malgun Gothic"/>
                <a:cs typeface="Malgun Gothic"/>
              </a:defRPr>
            </a:lvl4pPr>
            <a:lvl5pPr algn="ctr">
              <a:defRPr sz="3000" b="1">
                <a:solidFill>
                  <a:srgbClr val="0B6172"/>
                </a:solidFill>
                <a:latin typeface="Malgun Gothic"/>
                <a:ea typeface="Malgun Gothic"/>
                <a:cs typeface="Malgun Gothic"/>
              </a:defRPr>
            </a:lvl5pPr>
            <a:lvl6pPr algn="ctr">
              <a:defRPr sz="3000" b="1">
                <a:solidFill>
                  <a:srgbClr val="0B6172"/>
                </a:solidFill>
                <a:latin typeface="Malgun Gothic"/>
                <a:ea typeface="Malgun Gothic"/>
                <a:cs typeface="Malgun Gothic"/>
              </a:defRPr>
            </a:lvl6pPr>
            <a:lvl7pPr algn="ctr">
              <a:defRPr sz="3000" b="1">
                <a:solidFill>
                  <a:srgbClr val="0B6172"/>
                </a:solidFill>
                <a:latin typeface="Malgun Gothic"/>
                <a:ea typeface="Malgun Gothic"/>
                <a:cs typeface="Malgun Gothic"/>
              </a:defRPr>
            </a:lvl7pPr>
            <a:lvl8pPr algn="ctr">
              <a:defRPr sz="3000" b="1">
                <a:solidFill>
                  <a:srgbClr val="0B6172"/>
                </a:solidFill>
                <a:latin typeface="Malgun Gothic"/>
                <a:ea typeface="Malgun Gothic"/>
                <a:cs typeface="Malgun Gothic"/>
              </a:defRPr>
            </a:lvl8pPr>
            <a:lvl9pPr algn="ctr">
              <a:defRPr sz="3000" b="1">
                <a:solidFill>
                  <a:srgbClr val="0B6172"/>
                </a:solidFill>
                <a:latin typeface="Malgun Gothic"/>
                <a:ea typeface="Malgun Gothic"/>
                <a:cs typeface="Malgun Gothic"/>
              </a:defRPr>
            </a:lvl9pPr>
          </a:lstStyle>
          <a:p xmlns:a="http://schemas.openxmlformats.org/drawingml/2006/main">
            <a:pPr algn="ctr">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a:t>
            </a:r>
          </a:p>
        </p:txBody>
      </p:sp>
      <p:sp>
        <p:nvSpPr>
          <p:cNvPr id="17" name="가정: 현재 기준에 맞춰 검토해 둔 절차">
            <a:extLst xmlns:a="http://schemas.openxmlformats.org/drawingml/2006/main">
              <a:ext uri="{FF2B5EF4-FFF2-40B4-BE49-F238E27FC236}">
                <a16:creationId xmlns:a16="http://schemas.microsoft.com/office/drawing/2014/main" id="{54CA3C98-E787-44EC-A4B3-80996D101427}"/>
              </a:ext>
            </a:extLst>
          </p:cNvPr>
          <p:cNvSpPr>
            <a:spLocks xmlns:a="http://schemas.openxmlformats.org/drawingml/2006/main" noGrp="1"/>
          </p:cNvSpPr>
          <p:nvPr/>
        </p:nvSpPr>
        <p:spPr>
          <a:xfrm xmlns:a="http://schemas.openxmlformats.org/drawingml/2006/main">
            <a:off x="609600" y="51054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가정: 현재 기준에 맞춰 검토해 둔 절차</a:t>
            </a:r>
          </a:p>
        </p:txBody>
      </p:sp>
      <p:sp>
        <p:nvSpPr>
          <p:cNvPr id="18" name="Legacy module connection">
            <a:extLst xmlns:a="http://schemas.openxmlformats.org/drawingml/2006/main">
              <a:ext uri="{FF2B5EF4-FFF2-40B4-BE49-F238E27FC236}">
                <a16:creationId xmlns:a16="http://schemas.microsoft.com/office/drawing/2014/main" id="{6AF4D964-7C0F-474F-A007-AF72EE71C42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66692215"/>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4  ·  CONCEPTUAL / 가상 사례">
            <a:extLst xmlns:a="http://schemas.openxmlformats.org/drawingml/2006/main">
              <a:ext uri="{FF2B5EF4-FFF2-40B4-BE49-F238E27FC236}">
                <a16:creationId xmlns:a16="http://schemas.microsoft.com/office/drawing/2014/main" id="{44C487F7-797D-4F76-B75D-0B5655AF365C}"/>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73">
            <a:extLst xmlns:a="http://schemas.openxmlformats.org/drawingml/2006/main">
              <a:ext uri="{FF2B5EF4-FFF2-40B4-BE49-F238E27FC236}">
                <a16:creationId xmlns:a16="http://schemas.microsoft.com/office/drawing/2014/main" id="{F459D384-19CD-456E-A21D-265578D5CC92}"/>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S73</a:t>
            </a:r>
          </a:p>
        </p:txBody>
      </p:sp>
      <p:sp>
        <p:nvSpPr>
          <p:cNvPr id="3" name="Project는 바뀌고 Workflow는 남았다">
            <a:extLst xmlns:a="http://schemas.openxmlformats.org/drawingml/2006/main">
              <a:ext uri="{FF2B5EF4-FFF2-40B4-BE49-F238E27FC236}">
                <a16:creationId xmlns:a16="http://schemas.microsoft.com/office/drawing/2014/main" id="{83FD93BA-D7BA-4265-8629-3A63DDBB935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Project는 바뀌고 Workflow는 남았다</a:t>
            </a:r>
          </a:p>
        </p:txBody>
      </p:sp>
      <p:sp>
        <p:nvSpPr>
          <p:cNvPr id="4" name="가정: 모듈 연결 동작도 검증해야 하는 프로젝트가 됐다">
            <a:extLst xmlns:a="http://schemas.openxmlformats.org/drawingml/2006/main">
              <a:ext uri="{FF2B5EF4-FFF2-40B4-BE49-F238E27FC236}">
                <a16:creationId xmlns:a16="http://schemas.microsoft.com/office/drawing/2014/main" id="{BF1457E3-AFF8-4F38-851B-5D9773E4AC9E}"/>
              </a:ext>
            </a:extLst>
          </p:cNvPr>
          <p:cNvSpPr>
            <a:spLocks xmlns:a="http://schemas.openxmlformats.org/drawingml/2006/main" noGrp="1"/>
          </p:cNvSpPr>
          <p:nvPr/>
        </p:nvSpPr>
        <p:spPr>
          <a:xfrm xmlns:a="http://schemas.openxmlformats.org/drawingml/2006/main">
            <a:off x="609600" y="16097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가정: 모듈 연결 동작도 검증해야 하는 프로젝트가 됐다</a:t>
            </a:r>
          </a:p>
        </p:txBody>
      </p:sp>
      <p:sp>
        <p:nvSpPr>
          <p:cNvPr id="5" name="현재 프로젝트의 기준">
            <a:extLst xmlns:a="http://schemas.openxmlformats.org/drawingml/2006/main">
              <a:ext uri="{FF2B5EF4-FFF2-40B4-BE49-F238E27FC236}">
                <a16:creationId xmlns:a16="http://schemas.microsoft.com/office/drawing/2014/main" id="{8A86ACA2-1A71-406E-A0D3-CFB4F5C17255}"/>
              </a:ext>
            </a:extLst>
          </p:cNvPr>
          <p:cNvSpPr>
            <a:spLocks xmlns:a="http://schemas.openxmlformats.org/drawingml/2006/main" noGrp="1"/>
          </p:cNvSpPr>
          <p:nvPr/>
        </p:nvSpPr>
        <p:spPr>
          <a:xfrm xmlns:a="http://schemas.openxmlformats.org/drawingml/2006/main">
            <a:off x="609600" y="2276475"/>
            <a:ext cx="5238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프로젝트의 기준</a:t>
            </a:r>
          </a:p>
        </p:txBody>
      </p:sp>
      <p:sp>
        <p:nvSpPr>
          <p:cNvPr id="6" name="재사용 Workflow에 남은 지시">
            <a:extLst xmlns:a="http://schemas.openxmlformats.org/drawingml/2006/main">
              <a:ext uri="{FF2B5EF4-FFF2-40B4-BE49-F238E27FC236}">
                <a16:creationId xmlns:a16="http://schemas.microsoft.com/office/drawing/2014/main" id="{FB8E536E-C823-4AF5-99F2-895D452AFC50}"/>
              </a:ext>
            </a:extLst>
          </p:cNvPr>
          <p:cNvSpPr>
            <a:spLocks xmlns:a="http://schemas.openxmlformats.org/drawingml/2006/main" noGrp="1"/>
          </p:cNvSpPr>
          <p:nvPr/>
        </p:nvSpPr>
        <p:spPr>
          <a:xfrm xmlns:a="http://schemas.openxmlformats.org/drawingml/2006/main">
            <a:off x="6705600" y="22764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재사용 Workflow에 남은 지시</a:t>
            </a:r>
          </a:p>
        </p:txBody>
      </p:sp>
      <p:sp>
        <p:nvSpPr>
          <p:cNvPr id="7" name="">
            <a:extLst xmlns:a="http://schemas.openxmlformats.org/drawingml/2006/main">
              <a:ext uri="{FF2B5EF4-FFF2-40B4-BE49-F238E27FC236}">
                <a16:creationId xmlns:a16="http://schemas.microsoft.com/office/drawing/2014/main" id="{C92AF394-0468-4671-8C94-276439C65336}"/>
              </a:ext>
            </a:extLst>
          </p:cNvPr>
          <p:cNvSpPr>
            <a:spLocks xmlns:a="http://schemas.openxmlformats.org/drawingml/2006/main" noGrp="1"/>
          </p:cNvSpPr>
          <p:nvPr/>
        </p:nvSpPr>
        <p:spPr>
          <a:xfrm xmlns:a="http://schemas.openxmlformats.org/drawingml/2006/main">
            <a:off x="609600" y="2819400"/>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
            <a:extLst xmlns:a="http://schemas.openxmlformats.org/drawingml/2006/main">
              <a:ext uri="{FF2B5EF4-FFF2-40B4-BE49-F238E27FC236}">
                <a16:creationId xmlns:a16="http://schemas.microsoft.com/office/drawing/2014/main" id="{7CD90A7B-2464-4999-B394-131607A802B3}"/>
              </a:ext>
            </a:extLst>
          </p:cNvPr>
          <p:cNvSpPr>
            <a:spLocks xmlns:a="http://schemas.openxmlformats.org/drawingml/2006/main" noGrp="1"/>
          </p:cNvSpPr>
          <p:nvPr/>
        </p:nvSpPr>
        <p:spPr>
          <a:xfrm xmlns:a="http://schemas.openxmlformats.org/drawingml/2006/main">
            <a:off x="6705600" y="28194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9" name="단위 테스트 · 각 모듈">
            <a:extLst xmlns:a="http://schemas.openxmlformats.org/drawingml/2006/main">
              <a:ext uri="{FF2B5EF4-FFF2-40B4-BE49-F238E27FC236}">
                <a16:creationId xmlns:a16="http://schemas.microsoft.com/office/drawing/2014/main" id="{53085106-6004-457C-B280-7EFFDD16E4E1}"/>
              </a:ext>
            </a:extLst>
          </p:cNvPr>
          <p:cNvSpPr>
            <a:spLocks xmlns:a="http://schemas.openxmlformats.org/drawingml/2006/main" noGrp="1"/>
          </p:cNvSpPr>
          <p:nvPr/>
        </p:nvSpPr>
        <p:spPr>
          <a:xfrm xmlns:a="http://schemas.openxmlformats.org/drawingml/2006/main">
            <a:off x="609600" y="29718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0" name="단위 테스트 · 각 모듈">
            <a:extLst xmlns:a="http://schemas.openxmlformats.org/drawingml/2006/main">
              <a:ext uri="{FF2B5EF4-FFF2-40B4-BE49-F238E27FC236}">
                <a16:creationId xmlns:a16="http://schemas.microsoft.com/office/drawing/2014/main" id="{6D399AFE-5E60-4D0C-B6AB-565E7236A869}"/>
              </a:ext>
            </a:extLst>
          </p:cNvPr>
          <p:cNvSpPr>
            <a:spLocks xmlns:a="http://schemas.openxmlformats.org/drawingml/2006/main" noGrp="1"/>
          </p:cNvSpPr>
          <p:nvPr/>
        </p:nvSpPr>
        <p:spPr>
          <a:xfrm xmlns:a="http://schemas.openxmlformats.org/drawingml/2006/main">
            <a:off x="6705600" y="29718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1" name="">
            <a:extLst xmlns:a="http://schemas.openxmlformats.org/drawingml/2006/main">
              <a:ext uri="{FF2B5EF4-FFF2-40B4-BE49-F238E27FC236}">
                <a16:creationId xmlns:a16="http://schemas.microsoft.com/office/drawing/2014/main" id="{94DECE35-9EA5-4003-9CB2-78EACE65AF6A}"/>
              </a:ext>
            </a:extLst>
          </p:cNvPr>
          <p:cNvSpPr>
            <a:spLocks xmlns:a="http://schemas.openxmlformats.org/drawingml/2006/main" noGrp="1"/>
          </p:cNvSpPr>
          <p:nvPr/>
        </p:nvSpPr>
        <p:spPr>
          <a:xfrm xmlns:a="http://schemas.openxmlformats.org/drawingml/2006/main">
            <a:off x="609600" y="3371850"/>
            <a:ext cx="4953000" cy="120015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2" name="">
            <a:extLst xmlns:a="http://schemas.openxmlformats.org/drawingml/2006/main">
              <a:ext uri="{FF2B5EF4-FFF2-40B4-BE49-F238E27FC236}">
                <a16:creationId xmlns:a16="http://schemas.microsoft.com/office/drawing/2014/main" id="{18020D6C-2118-4DFB-987E-33FCE7ABFF55}"/>
              </a:ext>
            </a:extLst>
          </p:cNvPr>
          <p:cNvSpPr>
            <a:spLocks xmlns:a="http://schemas.openxmlformats.org/drawingml/2006/main" noGrp="1"/>
          </p:cNvSpPr>
          <p:nvPr/>
        </p:nvSpPr>
        <p:spPr>
          <a:xfrm xmlns:a="http://schemas.openxmlformats.org/drawingml/2006/main">
            <a:off x="800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3" name="모듈 A">
            <a:extLst xmlns:a="http://schemas.openxmlformats.org/drawingml/2006/main">
              <a:ext uri="{FF2B5EF4-FFF2-40B4-BE49-F238E27FC236}">
                <a16:creationId xmlns:a16="http://schemas.microsoft.com/office/drawing/2014/main" id="{5730B24C-8FC3-462E-A425-61C8CACED5E2}"/>
              </a:ext>
            </a:extLst>
          </p:cNvPr>
          <p:cNvSpPr>
            <a:spLocks xmlns:a="http://schemas.openxmlformats.org/drawingml/2006/main" noGrp="1"/>
          </p:cNvSpPr>
          <p:nvPr/>
        </p:nvSpPr>
        <p:spPr>
          <a:xfrm xmlns:a="http://schemas.openxmlformats.org/drawingml/2006/main">
            <a:off x="914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14" name="">
            <a:extLst xmlns:a="http://schemas.openxmlformats.org/drawingml/2006/main">
              <a:ext uri="{FF2B5EF4-FFF2-40B4-BE49-F238E27FC236}">
                <a16:creationId xmlns:a16="http://schemas.microsoft.com/office/drawing/2014/main" id="{56C86EC2-26C9-4162-90D1-43B9A9A9C9EA}"/>
              </a:ext>
            </a:extLst>
          </p:cNvPr>
          <p:cNvSpPr>
            <a:spLocks xmlns:a="http://schemas.openxmlformats.org/drawingml/2006/main" noGrp="1"/>
          </p:cNvSpPr>
          <p:nvPr/>
        </p:nvSpPr>
        <p:spPr>
          <a:xfrm xmlns:a="http://schemas.openxmlformats.org/drawingml/2006/main">
            <a:off x="36385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5" name="모듈 B">
            <a:extLst xmlns:a="http://schemas.openxmlformats.org/drawingml/2006/main">
              <a:ext uri="{FF2B5EF4-FFF2-40B4-BE49-F238E27FC236}">
                <a16:creationId xmlns:a16="http://schemas.microsoft.com/office/drawing/2014/main" id="{DE08AB54-245A-4BAD-BA1F-81CDA7835CD9}"/>
              </a:ext>
            </a:extLst>
          </p:cNvPr>
          <p:cNvSpPr>
            <a:spLocks xmlns:a="http://schemas.openxmlformats.org/drawingml/2006/main" noGrp="1"/>
          </p:cNvSpPr>
          <p:nvPr/>
        </p:nvSpPr>
        <p:spPr>
          <a:xfrm xmlns:a="http://schemas.openxmlformats.org/drawingml/2006/main">
            <a:off x="37528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16" name="">
            <a:extLst xmlns:a="http://schemas.openxmlformats.org/drawingml/2006/main">
              <a:ext uri="{FF2B5EF4-FFF2-40B4-BE49-F238E27FC236}">
                <a16:creationId xmlns:a16="http://schemas.microsoft.com/office/drawing/2014/main" id="{404C57F5-A1AC-4C9E-9E70-51A12531412F}"/>
              </a:ext>
            </a:extLst>
          </p:cNvPr>
          <p:cNvSpPr>
            <a:spLocks xmlns:a="http://schemas.openxmlformats.org/drawingml/2006/main" noGrp="1"/>
          </p:cNvSpPr>
          <p:nvPr/>
        </p:nvSpPr>
        <p:spPr>
          <a:xfrm xmlns:a="http://schemas.openxmlformats.org/drawingml/2006/main">
            <a:off x="2752725" y="3781425"/>
            <a:ext cx="666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통합 테스트 · 모듈 연결까지">
            <a:extLst xmlns:a="http://schemas.openxmlformats.org/drawingml/2006/main">
              <a:ext uri="{FF2B5EF4-FFF2-40B4-BE49-F238E27FC236}">
                <a16:creationId xmlns:a16="http://schemas.microsoft.com/office/drawing/2014/main" id="{67C31275-509C-44C3-B25B-2DB4347912FE}"/>
              </a:ext>
            </a:extLst>
          </p:cNvPr>
          <p:cNvSpPr>
            <a:spLocks xmlns:a="http://schemas.openxmlformats.org/drawingml/2006/main" noGrp="1"/>
          </p:cNvSpPr>
          <p:nvPr/>
        </p:nvSpPr>
        <p:spPr>
          <a:xfrm xmlns:a="http://schemas.openxmlformats.org/drawingml/2006/main">
            <a:off x="609600" y="4648200"/>
            <a:ext cx="495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 통합 테스트 · 모듈 연결까지</a:t>
            </a:r>
          </a:p>
        </p:txBody>
      </p:sp>
      <p:sp>
        <p:nvSpPr>
          <p:cNvPr id="18" name="">
            <a:extLst xmlns:a="http://schemas.openxmlformats.org/drawingml/2006/main">
              <a:ext uri="{FF2B5EF4-FFF2-40B4-BE49-F238E27FC236}">
                <a16:creationId xmlns:a16="http://schemas.microsoft.com/office/drawing/2014/main" id="{3C1E788A-EE8C-43BD-8EFF-E7D82F285DD9}"/>
              </a:ext>
            </a:extLst>
          </p:cNvPr>
          <p:cNvSpPr>
            <a:spLocks xmlns:a="http://schemas.openxmlformats.org/drawingml/2006/main" noGrp="1"/>
          </p:cNvSpPr>
          <p:nvPr/>
        </p:nvSpPr>
        <p:spPr>
          <a:xfrm xmlns:a="http://schemas.openxmlformats.org/drawingml/2006/main">
            <a:off x="6896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9" name="모듈 A">
            <a:extLst xmlns:a="http://schemas.openxmlformats.org/drawingml/2006/main">
              <a:ext uri="{FF2B5EF4-FFF2-40B4-BE49-F238E27FC236}">
                <a16:creationId xmlns:a16="http://schemas.microsoft.com/office/drawing/2014/main" id="{F6BB97DF-1A2E-465E-8F56-3FEA86539149}"/>
              </a:ext>
            </a:extLst>
          </p:cNvPr>
          <p:cNvSpPr>
            <a:spLocks xmlns:a="http://schemas.openxmlformats.org/drawingml/2006/main" noGrp="1"/>
          </p:cNvSpPr>
          <p:nvPr/>
        </p:nvSpPr>
        <p:spPr>
          <a:xfrm xmlns:a="http://schemas.openxmlformats.org/drawingml/2006/main">
            <a:off x="7010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20" name="">
            <a:extLst xmlns:a="http://schemas.openxmlformats.org/drawingml/2006/main">
              <a:ext uri="{FF2B5EF4-FFF2-40B4-BE49-F238E27FC236}">
                <a16:creationId xmlns:a16="http://schemas.microsoft.com/office/drawing/2014/main" id="{2EE1A75F-597D-4A20-AEF4-CD22A26E0E2E}"/>
              </a:ext>
            </a:extLst>
          </p:cNvPr>
          <p:cNvSpPr>
            <a:spLocks xmlns:a="http://schemas.openxmlformats.org/drawingml/2006/main" noGrp="1"/>
          </p:cNvSpPr>
          <p:nvPr/>
        </p:nvSpPr>
        <p:spPr>
          <a:xfrm xmlns:a="http://schemas.openxmlformats.org/drawingml/2006/main">
            <a:off x="96583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1" name="모듈 B">
            <a:extLst xmlns:a="http://schemas.openxmlformats.org/drawingml/2006/main">
              <a:ext uri="{FF2B5EF4-FFF2-40B4-BE49-F238E27FC236}">
                <a16:creationId xmlns:a16="http://schemas.microsoft.com/office/drawing/2014/main" id="{351071C1-3DA3-4D48-9EB1-12B25B68CE78}"/>
              </a:ext>
            </a:extLst>
          </p:cNvPr>
          <p:cNvSpPr>
            <a:spLocks xmlns:a="http://schemas.openxmlformats.org/drawingml/2006/main" noGrp="1"/>
          </p:cNvSpPr>
          <p:nvPr/>
        </p:nvSpPr>
        <p:spPr>
          <a:xfrm xmlns:a="http://schemas.openxmlformats.org/drawingml/2006/main">
            <a:off x="97726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22" name="">
            <a:extLst xmlns:a="http://schemas.openxmlformats.org/drawingml/2006/main">
              <a:ext uri="{FF2B5EF4-FFF2-40B4-BE49-F238E27FC236}">
                <a16:creationId xmlns:a16="http://schemas.microsoft.com/office/drawing/2014/main" id="{C51DDEA0-6D8C-4173-B406-2320C77E4DA4}"/>
              </a:ext>
            </a:extLst>
          </p:cNvPr>
          <p:cNvSpPr>
            <a:spLocks xmlns:a="http://schemas.openxmlformats.org/drawingml/2006/main" noGrp="1"/>
          </p:cNvSpPr>
          <p:nvPr/>
        </p:nvSpPr>
        <p:spPr>
          <a:xfrm xmlns:a="http://schemas.openxmlformats.org/drawingml/2006/main">
            <a:off x="8810625" y="3781425"/>
            <a:ext cx="647700" cy="2286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0D6B2098-7860-496B-83C5-0AFB1DE0CD21}"/>
              </a:ext>
            </a:extLst>
          </p:cNvPr>
          <p:cNvSpPr>
            <a:spLocks xmlns:a="http://schemas.openxmlformats.org/drawingml/2006/main" noGrp="1"/>
          </p:cNvSpPr>
          <p:nvPr/>
        </p:nvSpPr>
        <p:spPr>
          <a:xfrm xmlns:a="http://schemas.openxmlformats.org/drawingml/2006/main">
            <a:off x="6705600" y="4572000"/>
            <a:ext cx="4876800" cy="495300"/>
          </a:xfrm>
          <a:prstGeom xmlns:a="http://schemas.openxmlformats.org/drawingml/2006/main" prst="rect">
            <a:avLst/>
          </a:prstGeom>
          <a:noFill xmlns:a="http://schemas.openxmlformats.org/drawingml/2006/main"/>
          <a:ln xmlns:a="http://schemas.openxmlformats.org/drawingml/2006/main" w="19050">
            <a:solidFill>
              <a:srgbClr val="805400"/>
            </a:solidFill>
            <a:prstDash val="dash"/>
          </a:ln>
        </p:spPr>
      </p:sp>
      <p:sp>
        <p:nvSpPr>
          <p:cNvPr id="24" name="단위 테스트만 지시">
            <a:extLst xmlns:a="http://schemas.openxmlformats.org/drawingml/2006/main">
              <a:ext uri="{FF2B5EF4-FFF2-40B4-BE49-F238E27FC236}">
                <a16:creationId xmlns:a16="http://schemas.microsoft.com/office/drawing/2014/main" id="{F933BC21-CF05-4BD6-A552-DF0E8CD6FEC9}"/>
              </a:ext>
            </a:extLst>
          </p:cNvPr>
          <p:cNvSpPr>
            <a:spLocks xmlns:a="http://schemas.openxmlformats.org/drawingml/2006/main" noGrp="1"/>
          </p:cNvSpPr>
          <p:nvPr/>
        </p:nvSpPr>
        <p:spPr>
          <a:xfrm xmlns:a="http://schemas.openxmlformats.org/drawingml/2006/main">
            <a:off x="6934200" y="4638675"/>
            <a:ext cx="4419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단위 테스트만 지시</a:t>
            </a:r>
          </a:p>
        </p:txBody>
      </p:sp>
      <p:sp>
        <p:nvSpPr>
          <p:cNvPr id="25" name="검토·갱신 담당은 이 차이를 언제 확인할까?">
            <a:extLst xmlns:a="http://schemas.openxmlformats.org/drawingml/2006/main">
              <a:ext uri="{FF2B5EF4-FFF2-40B4-BE49-F238E27FC236}">
                <a16:creationId xmlns:a16="http://schemas.microsoft.com/office/drawing/2014/main" id="{E4B30408-14FD-43E5-BE10-BF703DD8D3A7}"/>
              </a:ext>
            </a:extLst>
          </p:cNvPr>
          <p:cNvSpPr>
            <a:spLocks xmlns:a="http://schemas.openxmlformats.org/drawingml/2006/main" noGrp="1"/>
          </p:cNvSpPr>
          <p:nvPr/>
        </p:nvSpPr>
        <p:spPr>
          <a:xfrm xmlns:a="http://schemas.openxmlformats.org/drawingml/2006/main">
            <a:off x="609600" y="52292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검토·갱신 담당은 이 차이를 언제 확인할까?</a:t>
            </a:r>
          </a:p>
        </p:txBody>
      </p:sp>
      <p:sp>
        <p:nvSpPr>
          <p:cNvPr id="26" name="">
            <a:extLst xmlns:a="http://schemas.openxmlformats.org/drawingml/2006/main">
              <a:ext uri="{FF2B5EF4-FFF2-40B4-BE49-F238E27FC236}">
                <a16:creationId xmlns:a16="http://schemas.microsoft.com/office/drawing/2014/main" id="{E1816F3A-7A4C-4822-BB21-C422883DAA8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7" name="DEMO-04A  |  가상 설정 · 실제 Repository 변경 이력이 아님">
            <a:extLst xmlns:a="http://schemas.openxmlformats.org/drawingml/2006/main">
              <a:ext uri="{FF2B5EF4-FFF2-40B4-BE49-F238E27FC236}">
                <a16:creationId xmlns:a16="http://schemas.microsoft.com/office/drawing/2014/main" id="{32261F7A-9734-4746-8E99-6C842209D47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가상 설정 · 실제 Repository 변경 이력이 아님</a:t>
            </a:r>
          </a:p>
        </p:txBody>
      </p:sp>
      <p:sp>
        <p:nvSpPr>
          <p:cNvPr id="28" name="두 지침의 범위 비교 · Agent 실행, 테스트 누락 또는 PASS / FAIL 결과를 뜻하지 않음">
            <a:extLst xmlns:a="http://schemas.openxmlformats.org/drawingml/2006/main">
              <a:ext uri="{FF2B5EF4-FFF2-40B4-BE49-F238E27FC236}">
                <a16:creationId xmlns:a16="http://schemas.microsoft.com/office/drawing/2014/main" id="{AFFC2DA9-E638-4D6C-814D-AC8479431B1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두 지침의 범위 비교 · Agent 실행, 테스트 누락 또는 PASS / FAIL 결과를 뜻하지 않음</a:t>
            </a:r>
          </a:p>
        </p:txBody>
      </p:sp>
      <p:sp>
        <p:nvSpPr>
          <p:cNvPr id="29" name="Legacy module connection">
            <a:extLst xmlns:a="http://schemas.openxmlformats.org/drawingml/2006/main">
              <a:ext uri="{FF2B5EF4-FFF2-40B4-BE49-F238E27FC236}">
                <a16:creationId xmlns:a16="http://schemas.microsoft.com/office/drawing/2014/main" id="{4877F8C1-5D6C-4CB3-BA72-17D940F8AF9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974164155"/>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4 · CONCEPTUAL / 요청 보정과 지침 유지">
            <a:extLst xmlns:a="http://schemas.openxmlformats.org/drawingml/2006/main">
              <a:ext uri="{FF2B5EF4-FFF2-40B4-BE49-F238E27FC236}">
                <a16:creationId xmlns:a16="http://schemas.microsoft.com/office/drawing/2014/main" id="{2BB4380C-8F9E-472E-A3EF-DD84C66F3FA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요청 보정과 지침 유지</a:t>
            </a:r>
          </a:p>
        </p:txBody>
      </p:sp>
      <p:sp>
        <p:nvSpPr>
          <p:cNvPr id="2" name="S74">
            <a:extLst xmlns:a="http://schemas.openxmlformats.org/drawingml/2006/main">
              <a:ext uri="{FF2B5EF4-FFF2-40B4-BE49-F238E27FC236}">
                <a16:creationId xmlns:a16="http://schemas.microsoft.com/office/drawing/2014/main" id="{E0BB6504-E9F5-4B5B-AAD6-B77EA016260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S74</a:t>
            </a:r>
          </a:p>
        </p:txBody>
      </p:sp>
      <p:sp>
        <p:nvSpPr>
          <p:cNvPr id="3" name="이번 요청과 다음 작업의 지침">
            <a:extLst xmlns:a="http://schemas.openxmlformats.org/drawingml/2006/main">
              <a:ext uri="{FF2B5EF4-FFF2-40B4-BE49-F238E27FC236}">
                <a16:creationId xmlns:a16="http://schemas.microsoft.com/office/drawing/2014/main" id="{44A9FC54-2274-4A19-BCFF-5CA5CE43528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요청과 다음 작업의 지침</a:t>
            </a:r>
          </a:p>
        </p:txBody>
      </p:sp>
      <p:sp>
        <p:nvSpPr>
          <p:cNvPr id="4" name="">
            <a:extLst xmlns:a="http://schemas.openxmlformats.org/drawingml/2006/main">
              <a:ext uri="{FF2B5EF4-FFF2-40B4-BE49-F238E27FC236}">
                <a16:creationId xmlns:a16="http://schemas.microsoft.com/office/drawing/2014/main" id="{455F7E1A-5D02-405F-9157-DD2E7215B20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이번 요청을 보정하는 경우와 남아 있는 재사용 지침">
            <a:extLst xmlns:a="http://schemas.openxmlformats.org/drawingml/2006/main">
              <a:ext uri="{FF2B5EF4-FFF2-40B4-BE49-F238E27FC236}">
                <a16:creationId xmlns:a16="http://schemas.microsoft.com/office/drawing/2014/main" id="{0738DB21-3567-4E58-B994-63BCCDA2A90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이번 요청을 보정하는 경우와 남아 있는 재사용 지침</a:t>
            </a:r>
          </a:p>
        </p:txBody>
      </p:sp>
      <p:sp>
        <p:nvSpPr>
          <p:cNvPr id="6" name="가능한 대응의 비교 · 실제 실행·복구 성공·검증 누락을 관찰한 결과 아님">
            <a:extLst xmlns:a="http://schemas.openxmlformats.org/drawingml/2006/main">
              <a:ext uri="{FF2B5EF4-FFF2-40B4-BE49-F238E27FC236}">
                <a16:creationId xmlns:a16="http://schemas.microsoft.com/office/drawing/2014/main" id="{C3F37B8B-FAEE-4DFE-814E-4EDE0E2A594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가능한 대응의 비교 · 실제 실행·복구 성공·검증 누락을 관찰한 결과 아님</a:t>
            </a:r>
          </a:p>
        </p:txBody>
      </p:sp>
      <p:sp>
        <p:nvSpPr>
          <p:cNvPr id="7" name="이번 요청에 통합 테스트를 더한다면?">
            <a:extLst xmlns:a="http://schemas.openxmlformats.org/drawingml/2006/main">
              <a:ext uri="{FF2B5EF4-FFF2-40B4-BE49-F238E27FC236}">
                <a16:creationId xmlns:a16="http://schemas.microsoft.com/office/drawing/2014/main" id="{B4BB3012-7FC3-4841-AAC4-9ACF9E14E85B}"/>
              </a:ext>
            </a:extLst>
          </p:cNvPr>
          <p:cNvSpPr>
            <a:spLocks xmlns:a="http://schemas.openxmlformats.org/drawingml/2006/main" noGrp="1"/>
          </p:cNvSpPr>
          <p:nvPr/>
        </p:nvSpPr>
        <p:spPr>
          <a:xfrm xmlns:a="http://schemas.openxmlformats.org/drawingml/2006/main">
            <a:off x="609600" y="18097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이번 요청에 통합 테스트를 더한다면?</a:t>
            </a:r>
          </a:p>
        </p:txBody>
      </p:sp>
      <p:sp>
        <p:nvSpPr>
          <p:cNvPr id="8" name="이번 요청">
            <a:extLst xmlns:a="http://schemas.openxmlformats.org/drawingml/2006/main">
              <a:ext uri="{FF2B5EF4-FFF2-40B4-BE49-F238E27FC236}">
                <a16:creationId xmlns:a16="http://schemas.microsoft.com/office/drawing/2014/main" id="{2A5946B7-07E6-4F21-82B7-20D64A7D97AE}"/>
              </a:ext>
            </a:extLst>
          </p:cNvPr>
          <p:cNvSpPr>
            <a:spLocks xmlns:a="http://schemas.openxmlformats.org/drawingml/2006/main" noGrp="1"/>
          </p:cNvSpPr>
          <p:nvPr/>
        </p:nvSpPr>
        <p:spPr>
          <a:xfrm xmlns:a="http://schemas.openxmlformats.org/drawingml/2006/main">
            <a:off x="609600" y="2562225"/>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요청</a:t>
            </a:r>
          </a:p>
        </p:txBody>
      </p:sp>
      <p:sp>
        <p:nvSpPr>
          <p:cNvPr id="9" name="">
            <a:extLst xmlns:a="http://schemas.openxmlformats.org/drawingml/2006/main">
              <a:ext uri="{FF2B5EF4-FFF2-40B4-BE49-F238E27FC236}">
                <a16:creationId xmlns:a16="http://schemas.microsoft.com/office/drawing/2014/main" id="{C5BE1A11-8AE7-4A92-8D96-AD7E98D26884}"/>
              </a:ext>
            </a:extLst>
          </p:cNvPr>
          <p:cNvSpPr>
            <a:spLocks xmlns:a="http://schemas.openxmlformats.org/drawingml/2006/main" noGrp="1"/>
          </p:cNvSpPr>
          <p:nvPr/>
        </p:nvSpPr>
        <p:spPr>
          <a:xfrm xmlns:a="http://schemas.openxmlformats.org/drawingml/2006/main">
            <a:off x="609600" y="3105150"/>
            <a:ext cx="4876800" cy="13239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통합 테스트도 확인해 줘.">
            <a:extLst xmlns:a="http://schemas.openxmlformats.org/drawingml/2006/main">
              <a:ext uri="{FF2B5EF4-FFF2-40B4-BE49-F238E27FC236}">
                <a16:creationId xmlns:a16="http://schemas.microsoft.com/office/drawing/2014/main" id="{826016CA-41CF-49D7-BCFF-C2383E57F069}"/>
              </a:ext>
            </a:extLst>
          </p:cNvPr>
          <p:cNvSpPr>
            <a:spLocks xmlns:a="http://schemas.openxmlformats.org/drawingml/2006/main" noGrp="1"/>
          </p:cNvSpPr>
          <p:nvPr/>
        </p:nvSpPr>
        <p:spPr>
          <a:xfrm xmlns:a="http://schemas.openxmlformats.org/drawingml/2006/main">
            <a:off x="819150" y="3371850"/>
            <a:ext cx="4457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통합 테스트도 확인해 줘.</a:t>
            </a:r>
          </a:p>
        </p:txBody>
      </p:sp>
      <p:sp>
        <p:nvSpPr>
          <p:cNvPr id="11" name="이번 Task의 범위를 보정">
            <a:extLst xmlns:a="http://schemas.openxmlformats.org/drawingml/2006/main">
              <a:ext uri="{FF2B5EF4-FFF2-40B4-BE49-F238E27FC236}">
                <a16:creationId xmlns:a16="http://schemas.microsoft.com/office/drawing/2014/main" id="{B0215063-0644-48A3-B126-A40FC4E09BC2}"/>
              </a:ext>
            </a:extLst>
          </p:cNvPr>
          <p:cNvSpPr>
            <a:spLocks xmlns:a="http://schemas.openxmlformats.org/drawingml/2006/main" noGrp="1"/>
          </p:cNvSpPr>
          <p:nvPr/>
        </p:nvSpPr>
        <p:spPr>
          <a:xfrm xmlns:a="http://schemas.openxmlformats.org/drawingml/2006/main">
            <a:off x="609600" y="4610100"/>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이번 Task의 범위를 보정</a:t>
            </a:r>
          </a:p>
        </p:txBody>
      </p:sp>
      <p:sp>
        <p:nvSpPr>
          <p:cNvPr id="12" name="다음 작업의 Workflow">
            <a:extLst xmlns:a="http://schemas.openxmlformats.org/drawingml/2006/main">
              <a:ext uri="{FF2B5EF4-FFF2-40B4-BE49-F238E27FC236}">
                <a16:creationId xmlns:a16="http://schemas.microsoft.com/office/drawing/2014/main" id="{715F51BB-F7AE-4374-B48C-D57BF6B8CDC7}"/>
              </a:ext>
            </a:extLst>
          </p:cNvPr>
          <p:cNvSpPr>
            <a:spLocks xmlns:a="http://schemas.openxmlformats.org/drawingml/2006/main" noGrp="1"/>
          </p:cNvSpPr>
          <p:nvPr/>
        </p:nvSpPr>
        <p:spPr>
          <a:xfrm xmlns:a="http://schemas.openxmlformats.org/drawingml/2006/main">
            <a:off x="6705600" y="2562225"/>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다음 작업의 Workflow</a:t>
            </a:r>
          </a:p>
        </p:txBody>
      </p:sp>
      <p:sp>
        <p:nvSpPr>
          <p:cNvPr id="13" name="">
            <a:extLst xmlns:a="http://schemas.openxmlformats.org/drawingml/2006/main">
              <a:ext uri="{FF2B5EF4-FFF2-40B4-BE49-F238E27FC236}">
                <a16:creationId xmlns:a16="http://schemas.microsoft.com/office/drawing/2014/main" id="{2570757F-27F6-4A76-B015-1EF3BFD497CF}"/>
              </a:ext>
            </a:extLst>
          </p:cNvPr>
          <p:cNvSpPr>
            <a:spLocks xmlns:a="http://schemas.openxmlformats.org/drawingml/2006/main" noGrp="1"/>
          </p:cNvSpPr>
          <p:nvPr/>
        </p:nvSpPr>
        <p:spPr>
          <a:xfrm xmlns:a="http://schemas.openxmlformats.org/drawingml/2006/main">
            <a:off x="6705600" y="3105150"/>
            <a:ext cx="4876800" cy="1323975"/>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dash"/>
          </a:ln>
        </p:spPr>
      </p:sp>
      <p:sp>
        <p:nvSpPr>
          <p:cNvPr id="14" name="여전히 단위 테스트만 지시">
            <a:extLst xmlns:a="http://schemas.openxmlformats.org/drawingml/2006/main">
              <a:ext uri="{FF2B5EF4-FFF2-40B4-BE49-F238E27FC236}">
                <a16:creationId xmlns:a16="http://schemas.microsoft.com/office/drawing/2014/main" id="{611BCD1F-689A-4F79-B540-75556B50F844}"/>
              </a:ext>
            </a:extLst>
          </p:cNvPr>
          <p:cNvSpPr>
            <a:spLocks xmlns:a="http://schemas.openxmlformats.org/drawingml/2006/main" noGrp="1"/>
          </p:cNvSpPr>
          <p:nvPr/>
        </p:nvSpPr>
        <p:spPr>
          <a:xfrm xmlns:a="http://schemas.openxmlformats.org/drawingml/2006/main">
            <a:off x="6915150" y="3371850"/>
            <a:ext cx="4457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여전히 단위 테스트만 지시</a:t>
            </a:r>
          </a:p>
        </p:txBody>
      </p:sp>
      <p:sp>
        <p:nvSpPr>
          <p:cNvPr id="15" name="재사용 지침은 별도 검토 필요">
            <a:extLst xmlns:a="http://schemas.openxmlformats.org/drawingml/2006/main">
              <a:ext uri="{FF2B5EF4-FFF2-40B4-BE49-F238E27FC236}">
                <a16:creationId xmlns:a16="http://schemas.microsoft.com/office/drawing/2014/main" id="{71E44ACC-7F9F-47D1-AC80-D9EA291969A1}"/>
              </a:ext>
            </a:extLst>
          </p:cNvPr>
          <p:cNvSpPr>
            <a:spLocks xmlns:a="http://schemas.openxmlformats.org/drawingml/2006/main" noGrp="1"/>
          </p:cNvSpPr>
          <p:nvPr/>
        </p:nvSpPr>
        <p:spPr>
          <a:xfrm xmlns:a="http://schemas.openxmlformats.org/drawingml/2006/main">
            <a:off x="6705600" y="4610100"/>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재사용 지침은 별도 검토 필요</a:t>
            </a:r>
          </a:p>
        </p:txBody>
      </p:sp>
      <p:sp>
        <p:nvSpPr>
          <p:cNvPr id="16" name="원인을 확인한 뒤, 다음 작업이 읽을 출처를 검토한다">
            <a:extLst xmlns:a="http://schemas.openxmlformats.org/drawingml/2006/main">
              <a:ext uri="{FF2B5EF4-FFF2-40B4-BE49-F238E27FC236}">
                <a16:creationId xmlns:a16="http://schemas.microsoft.com/office/drawing/2014/main" id="{8B1668C5-EBBE-434A-B764-4313D68EDAB7}"/>
              </a:ext>
            </a:extLst>
          </p:cNvPr>
          <p:cNvSpPr>
            <a:spLocks xmlns:a="http://schemas.openxmlformats.org/drawingml/2006/main" noGrp="1"/>
          </p:cNvSpPr>
          <p:nvPr/>
        </p:nvSpPr>
        <p:spPr>
          <a:xfrm xmlns:a="http://schemas.openxmlformats.org/drawingml/2006/main">
            <a:off x="609600" y="52387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원인을 확인한 뒤, 다음 작업이 읽을 출처를 검토한다</a:t>
            </a:r>
          </a:p>
        </p:txBody>
      </p:sp>
      <p:sp>
        <p:nvSpPr>
          <p:cNvPr id="17" name="Legacy module connection">
            <a:extLst xmlns:a="http://schemas.openxmlformats.org/drawingml/2006/main">
              <a:ext uri="{FF2B5EF4-FFF2-40B4-BE49-F238E27FC236}">
                <a16:creationId xmlns:a16="http://schemas.microsoft.com/office/drawing/2014/main" id="{B18293CB-4B3E-4DBA-8A1B-C2AAAB1EC7D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486782301"/>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CONCEPTUAL / 조사할 대상과 근거">
            <a:extLst xmlns:a="http://schemas.openxmlformats.org/drawingml/2006/main">
              <a:ext uri="{FF2B5EF4-FFF2-40B4-BE49-F238E27FC236}">
                <a16:creationId xmlns:a16="http://schemas.microsoft.com/office/drawing/2014/main" id="{33E3ACE2-5A5E-4235-A2C9-ECDB8AB4D8E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조사할 대상과 근거</a:t>
            </a:r>
          </a:p>
        </p:txBody>
      </p:sp>
      <p:sp>
        <p:nvSpPr>
          <p:cNvPr id="2" name="S75">
            <a:extLst xmlns:a="http://schemas.openxmlformats.org/drawingml/2006/main">
              <a:ext uri="{FF2B5EF4-FFF2-40B4-BE49-F238E27FC236}">
                <a16:creationId xmlns:a16="http://schemas.microsoft.com/office/drawing/2014/main" id="{2598CC9E-5CBD-4195-A027-4502F622B42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S75</a:t>
            </a:r>
          </a:p>
        </p:txBody>
      </p:sp>
      <p:sp>
        <p:nvSpPr>
          <p:cNvPr id="3" name="원인을 고르기 전에 확인할 기록">
            <a:extLst xmlns:a="http://schemas.openxmlformats.org/drawingml/2006/main">
              <a:ext uri="{FF2B5EF4-FFF2-40B4-BE49-F238E27FC236}">
                <a16:creationId xmlns:a16="http://schemas.microsoft.com/office/drawing/2014/main" id="{ACC1C865-367B-489C-9D1C-AA3967F8D33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원인을 고르기 전에 확인할 기록</a:t>
            </a:r>
          </a:p>
        </p:txBody>
      </p:sp>
      <p:sp>
        <p:nvSpPr>
          <p:cNvPr id="4" name="">
            <a:extLst xmlns:a="http://schemas.openxmlformats.org/drawingml/2006/main">
              <a:ext uri="{FF2B5EF4-FFF2-40B4-BE49-F238E27FC236}">
                <a16:creationId xmlns:a16="http://schemas.microsoft.com/office/drawing/2014/main" id="{BF68EF0B-A9B5-4D06-9745-5596F7E557E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1 · 실제 문제라면 확인할 기록을 설계한 교육용 도식">
            <a:extLst xmlns:a="http://schemas.openxmlformats.org/drawingml/2006/main">
              <a:ext uri="{FF2B5EF4-FFF2-40B4-BE49-F238E27FC236}">
                <a16:creationId xmlns:a16="http://schemas.microsoft.com/office/drawing/2014/main" id="{8DA45D5C-39A4-4934-B78B-E15C572BE3D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DEMO-11 · 실제 문제라면 확인할 기록을 설계한 교육용 도식</a:t>
            </a:r>
          </a:p>
        </p:txBody>
      </p:sp>
      <p:sp>
        <p:nvSpPr>
          <p:cNvPr id="6" name="아래는 확인 대상 · 실행 기록·실패 결과를 만든 것이 아니며 한 원인을 미리 확정하지 않음">
            <a:extLst xmlns:a="http://schemas.openxmlformats.org/drawingml/2006/main">
              <a:ext uri="{FF2B5EF4-FFF2-40B4-BE49-F238E27FC236}">
                <a16:creationId xmlns:a16="http://schemas.microsoft.com/office/drawing/2014/main" id="{50D4A7E5-A239-46D6-809F-070EFBC1B45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아래는 확인 대상 · 실행 기록·실패 결과를 만든 것이 아니며 한 원인을 미리 확정하지 않음</a:t>
            </a:r>
          </a:p>
        </p:txBody>
      </p:sp>
      <p:sp>
        <p:nvSpPr>
          <p:cNvPr id="7" name="검증이 충분한지&#10;무엇으로 판단할까?">
            <a:extLst xmlns:a="http://schemas.openxmlformats.org/drawingml/2006/main">
              <a:ext uri="{FF2B5EF4-FFF2-40B4-BE49-F238E27FC236}">
                <a16:creationId xmlns:a16="http://schemas.microsoft.com/office/drawing/2014/main" id="{92E52867-2F21-4177-A830-98BBE37E5DC8}"/>
              </a:ext>
            </a:extLst>
          </p:cNvPr>
          <p:cNvSpPr>
            <a:spLocks xmlns:a="http://schemas.openxmlformats.org/drawingml/2006/main" noGrp="1"/>
          </p:cNvSpPr>
          <p:nvPr/>
        </p:nvSpPr>
        <p:spPr>
          <a:xfrm xmlns:a="http://schemas.openxmlformats.org/drawingml/2006/main">
            <a:off x="609600" y="2533650"/>
            <a:ext cx="390525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검증이 충분한지</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무엇으로 판단할까?</a:t>
            </a:r>
          </a:p>
        </p:txBody>
      </p:sp>
      <p:sp>
        <p:nvSpPr>
          <p:cNvPr id="8" name="증상에서 곧바로&#10;수정 대상으로 가지 않는다">
            <a:extLst xmlns:a="http://schemas.openxmlformats.org/drawingml/2006/main">
              <a:ext uri="{FF2B5EF4-FFF2-40B4-BE49-F238E27FC236}">
                <a16:creationId xmlns:a16="http://schemas.microsoft.com/office/drawing/2014/main" id="{F70CBD6B-591B-4A53-B6F0-C608265D352E}"/>
              </a:ext>
            </a:extLst>
          </p:cNvPr>
          <p:cNvSpPr>
            <a:spLocks xmlns:a="http://schemas.openxmlformats.org/drawingml/2006/main" noGrp="1"/>
          </p:cNvSpPr>
          <p:nvPr/>
        </p:nvSpPr>
        <p:spPr>
          <a:xfrm xmlns:a="http://schemas.openxmlformats.org/drawingml/2006/main">
            <a:off x="609600" y="4019550"/>
            <a:ext cx="39052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증상에서 곧바로</a:t>
            </a:r>
          </a:p>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수정 대상으로 가지 않는다</a:t>
            </a:r>
          </a:p>
        </p:txBody>
      </p:sp>
      <p:sp>
        <p:nvSpPr>
          <p:cNvPr id="9" name="">
            <a:extLst xmlns:a="http://schemas.openxmlformats.org/drawingml/2006/main">
              <a:ext uri="{FF2B5EF4-FFF2-40B4-BE49-F238E27FC236}">
                <a16:creationId xmlns:a16="http://schemas.microsoft.com/office/drawing/2014/main" id="{4046C32A-B2C6-4367-AF76-6EB951872F72}"/>
              </a:ext>
            </a:extLst>
          </p:cNvPr>
          <p:cNvSpPr>
            <a:spLocks xmlns:a="http://schemas.openxmlformats.org/drawingml/2006/main" noGrp="1"/>
          </p:cNvSpPr>
          <p:nvPr/>
        </p:nvSpPr>
        <p:spPr>
          <a:xfrm xmlns:a="http://schemas.openxmlformats.org/drawingml/2006/main">
            <a:off x="5143500" y="2238375"/>
            <a:ext cx="64389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0" name="프로젝트 기준">
            <a:extLst xmlns:a="http://schemas.openxmlformats.org/drawingml/2006/main">
              <a:ext uri="{FF2B5EF4-FFF2-40B4-BE49-F238E27FC236}">
                <a16:creationId xmlns:a16="http://schemas.microsoft.com/office/drawing/2014/main" id="{508E41B3-50E3-42CC-A0B9-99A9798E893A}"/>
              </a:ext>
            </a:extLst>
          </p:cNvPr>
          <p:cNvSpPr>
            <a:spLocks xmlns:a="http://schemas.openxmlformats.org/drawingml/2006/main" noGrp="1"/>
          </p:cNvSpPr>
          <p:nvPr/>
        </p:nvSpPr>
        <p:spPr>
          <a:xfrm xmlns:a="http://schemas.openxmlformats.org/drawingml/2006/main">
            <a:off x="5143500" y="2352675"/>
            <a:ext cx="2095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프로젝트 기준</a:t>
            </a:r>
          </a:p>
        </p:txBody>
      </p:sp>
      <p:sp>
        <p:nvSpPr>
          <p:cNvPr id="11" name="현재 문서·명세">
            <a:extLst xmlns:a="http://schemas.openxmlformats.org/drawingml/2006/main">
              <a:ext uri="{FF2B5EF4-FFF2-40B4-BE49-F238E27FC236}">
                <a16:creationId xmlns:a16="http://schemas.microsoft.com/office/drawing/2014/main" id="{A4B15090-5E1E-4DA4-837E-468B8454F5FA}"/>
              </a:ext>
            </a:extLst>
          </p:cNvPr>
          <p:cNvSpPr>
            <a:spLocks xmlns:a="http://schemas.openxmlformats.org/drawingml/2006/main" noGrp="1"/>
          </p:cNvSpPr>
          <p:nvPr/>
        </p:nvSpPr>
        <p:spPr>
          <a:xfrm xmlns:a="http://schemas.openxmlformats.org/drawingml/2006/main">
            <a:off x="7524750" y="2352675"/>
            <a:ext cx="4057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현재 문서·명세</a:t>
            </a:r>
          </a:p>
        </p:txBody>
      </p:sp>
      <p:sp>
        <p:nvSpPr>
          <p:cNvPr id="12" name="">
            <a:extLst xmlns:a="http://schemas.openxmlformats.org/drawingml/2006/main">
              <a:ext uri="{FF2B5EF4-FFF2-40B4-BE49-F238E27FC236}">
                <a16:creationId xmlns:a16="http://schemas.microsoft.com/office/drawing/2014/main" id="{AB0587B8-4460-4AD4-96AB-CBD5008A5D8A}"/>
              </a:ext>
            </a:extLst>
          </p:cNvPr>
          <p:cNvSpPr>
            <a:spLocks xmlns:a="http://schemas.openxmlformats.org/drawingml/2006/main" noGrp="1"/>
          </p:cNvSpPr>
          <p:nvPr/>
        </p:nvSpPr>
        <p:spPr>
          <a:xfrm xmlns:a="http://schemas.openxmlformats.org/drawingml/2006/main">
            <a:off x="5143500" y="3000375"/>
            <a:ext cx="64389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3" name="재사용 절차">
            <a:extLst xmlns:a="http://schemas.openxmlformats.org/drawingml/2006/main">
              <a:ext uri="{FF2B5EF4-FFF2-40B4-BE49-F238E27FC236}">
                <a16:creationId xmlns:a16="http://schemas.microsoft.com/office/drawing/2014/main" id="{1B345F43-7AF3-4C1C-A6AD-AA751B319D61}"/>
              </a:ext>
            </a:extLst>
          </p:cNvPr>
          <p:cNvSpPr>
            <a:spLocks xmlns:a="http://schemas.openxmlformats.org/drawingml/2006/main" noGrp="1"/>
          </p:cNvSpPr>
          <p:nvPr/>
        </p:nvSpPr>
        <p:spPr>
          <a:xfrm xmlns:a="http://schemas.openxmlformats.org/drawingml/2006/main">
            <a:off x="5143500" y="3114675"/>
            <a:ext cx="2095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재사용 절차</a:t>
            </a:r>
          </a:p>
        </p:txBody>
      </p:sp>
      <p:sp>
        <p:nvSpPr>
          <p:cNvPr id="14" name="실제로 읽은 지침">
            <a:extLst xmlns:a="http://schemas.openxmlformats.org/drawingml/2006/main">
              <a:ext uri="{FF2B5EF4-FFF2-40B4-BE49-F238E27FC236}">
                <a16:creationId xmlns:a16="http://schemas.microsoft.com/office/drawing/2014/main" id="{D9AC45B1-1666-4BDD-8ADF-9A497CA5BFE9}"/>
              </a:ext>
            </a:extLst>
          </p:cNvPr>
          <p:cNvSpPr>
            <a:spLocks xmlns:a="http://schemas.openxmlformats.org/drawingml/2006/main" noGrp="1"/>
          </p:cNvSpPr>
          <p:nvPr/>
        </p:nvSpPr>
        <p:spPr>
          <a:xfrm xmlns:a="http://schemas.openxmlformats.org/drawingml/2006/main">
            <a:off x="7524750" y="3114675"/>
            <a:ext cx="4057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실제로 읽은 지침</a:t>
            </a:r>
          </a:p>
        </p:txBody>
      </p:sp>
      <p:sp>
        <p:nvSpPr>
          <p:cNvPr id="15" name="">
            <a:extLst xmlns:a="http://schemas.openxmlformats.org/drawingml/2006/main">
              <a:ext uri="{FF2B5EF4-FFF2-40B4-BE49-F238E27FC236}">
                <a16:creationId xmlns:a16="http://schemas.microsoft.com/office/drawing/2014/main" id="{1288C1C9-47E3-42DB-9D6F-D40AAD48C9D0}"/>
              </a:ext>
            </a:extLst>
          </p:cNvPr>
          <p:cNvSpPr>
            <a:spLocks xmlns:a="http://schemas.openxmlformats.org/drawingml/2006/main" noGrp="1"/>
          </p:cNvSpPr>
          <p:nvPr/>
        </p:nvSpPr>
        <p:spPr>
          <a:xfrm xmlns:a="http://schemas.openxmlformats.org/drawingml/2006/main">
            <a:off x="5143500" y="3762375"/>
            <a:ext cx="64389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6" name="환경 · 권한">
            <a:extLst xmlns:a="http://schemas.openxmlformats.org/drawingml/2006/main">
              <a:ext uri="{FF2B5EF4-FFF2-40B4-BE49-F238E27FC236}">
                <a16:creationId xmlns:a16="http://schemas.microsoft.com/office/drawing/2014/main" id="{28C78D64-D5FF-40E9-916A-A961B85F9E85}"/>
              </a:ext>
            </a:extLst>
          </p:cNvPr>
          <p:cNvSpPr>
            <a:spLocks xmlns:a="http://schemas.openxmlformats.org/drawingml/2006/main" noGrp="1"/>
          </p:cNvSpPr>
          <p:nvPr/>
        </p:nvSpPr>
        <p:spPr>
          <a:xfrm xmlns:a="http://schemas.openxmlformats.org/drawingml/2006/main">
            <a:off x="5143500" y="3876675"/>
            <a:ext cx="2095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환경 · 권한</a:t>
            </a:r>
          </a:p>
        </p:txBody>
      </p:sp>
      <p:sp>
        <p:nvSpPr>
          <p:cNvPr id="17" name="명령·허용 범위·실행 조건">
            <a:extLst xmlns:a="http://schemas.openxmlformats.org/drawingml/2006/main">
              <a:ext uri="{FF2B5EF4-FFF2-40B4-BE49-F238E27FC236}">
                <a16:creationId xmlns:a16="http://schemas.microsoft.com/office/drawing/2014/main" id="{BB53EA96-A189-45AE-AB0C-E54E65455C6D}"/>
              </a:ext>
            </a:extLst>
          </p:cNvPr>
          <p:cNvSpPr>
            <a:spLocks xmlns:a="http://schemas.openxmlformats.org/drawingml/2006/main" noGrp="1"/>
          </p:cNvSpPr>
          <p:nvPr/>
        </p:nvSpPr>
        <p:spPr>
          <a:xfrm xmlns:a="http://schemas.openxmlformats.org/drawingml/2006/main">
            <a:off x="7524750" y="3876675"/>
            <a:ext cx="4057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명령·허용 범위·실행 조건</a:t>
            </a:r>
          </a:p>
        </p:txBody>
      </p:sp>
      <p:sp>
        <p:nvSpPr>
          <p:cNvPr id="18" name="">
            <a:extLst xmlns:a="http://schemas.openxmlformats.org/drawingml/2006/main">
              <a:ext uri="{FF2B5EF4-FFF2-40B4-BE49-F238E27FC236}">
                <a16:creationId xmlns:a16="http://schemas.microsoft.com/office/drawing/2014/main" id="{4619DD7D-F129-486D-AFE9-837E96FB60EA}"/>
              </a:ext>
            </a:extLst>
          </p:cNvPr>
          <p:cNvSpPr>
            <a:spLocks xmlns:a="http://schemas.openxmlformats.org/drawingml/2006/main" noGrp="1"/>
          </p:cNvSpPr>
          <p:nvPr/>
        </p:nvSpPr>
        <p:spPr>
          <a:xfrm xmlns:a="http://schemas.openxmlformats.org/drawingml/2006/main">
            <a:off x="5143500" y="4524375"/>
            <a:ext cx="64389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9" name="제품 코드">
            <a:extLst xmlns:a="http://schemas.openxmlformats.org/drawingml/2006/main">
              <a:ext uri="{FF2B5EF4-FFF2-40B4-BE49-F238E27FC236}">
                <a16:creationId xmlns:a16="http://schemas.microsoft.com/office/drawing/2014/main" id="{CD7F7E39-62A5-4637-8895-65E0BB681720}"/>
              </a:ext>
            </a:extLst>
          </p:cNvPr>
          <p:cNvSpPr>
            <a:spLocks xmlns:a="http://schemas.openxmlformats.org/drawingml/2006/main" noGrp="1"/>
          </p:cNvSpPr>
          <p:nvPr/>
        </p:nvSpPr>
        <p:spPr>
          <a:xfrm xmlns:a="http://schemas.openxmlformats.org/drawingml/2006/main">
            <a:off x="5143500" y="4638675"/>
            <a:ext cx="2095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제품 코드</a:t>
            </a:r>
          </a:p>
        </p:txBody>
      </p:sp>
      <p:sp>
        <p:nvSpPr>
          <p:cNvPr id="20" name="변경 내용·검사 결과">
            <a:extLst xmlns:a="http://schemas.openxmlformats.org/drawingml/2006/main">
              <a:ext uri="{FF2B5EF4-FFF2-40B4-BE49-F238E27FC236}">
                <a16:creationId xmlns:a16="http://schemas.microsoft.com/office/drawing/2014/main" id="{F528E766-8E20-41C6-BB58-2749E3D3B5E4}"/>
              </a:ext>
            </a:extLst>
          </p:cNvPr>
          <p:cNvSpPr>
            <a:spLocks xmlns:a="http://schemas.openxmlformats.org/drawingml/2006/main" noGrp="1"/>
          </p:cNvSpPr>
          <p:nvPr/>
        </p:nvSpPr>
        <p:spPr>
          <a:xfrm xmlns:a="http://schemas.openxmlformats.org/drawingml/2006/main">
            <a:off x="7524750" y="4638675"/>
            <a:ext cx="4057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변경 내용·검사 결과</a:t>
            </a:r>
          </a:p>
        </p:txBody>
      </p:sp>
      <p:sp>
        <p:nvSpPr>
          <p:cNvPr id="21" name="실제 실행 경로와 현재 기준을 먼저 대조한다">
            <a:extLst xmlns:a="http://schemas.openxmlformats.org/drawingml/2006/main">
              <a:ext uri="{FF2B5EF4-FFF2-40B4-BE49-F238E27FC236}">
                <a16:creationId xmlns:a16="http://schemas.microsoft.com/office/drawing/2014/main" id="{DC95F8F6-465A-46E5-81A4-D1AB9E331E88}"/>
              </a:ext>
            </a:extLst>
          </p:cNvPr>
          <p:cNvSpPr>
            <a:spLocks xmlns:a="http://schemas.openxmlformats.org/drawingml/2006/main" noGrp="1"/>
          </p:cNvSpPr>
          <p:nvPr/>
        </p:nvSpPr>
        <p:spPr>
          <a:xfrm xmlns:a="http://schemas.openxmlformats.org/drawingml/2006/main">
            <a:off x="609600" y="539115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실제 실행 경로와 현재 기준을 먼저 대조한다</a:t>
            </a:r>
          </a:p>
        </p:txBody>
      </p:sp>
      <p:sp>
        <p:nvSpPr>
          <p:cNvPr id="22" name="">
            <a:extLst xmlns:a="http://schemas.openxmlformats.org/drawingml/2006/main">
              <a:ext uri="{FF2B5EF4-FFF2-40B4-BE49-F238E27FC236}">
                <a16:creationId xmlns:a16="http://schemas.microsoft.com/office/drawing/2014/main" id="{49AB60A5-76D7-435A-81D9-53D595502905}"/>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3" name="Practical application tip badge">
            <a:extLst xmlns:a="http://schemas.openxmlformats.org/drawingml/2006/main">
              <a:ext uri="{FF2B5EF4-FFF2-40B4-BE49-F238E27FC236}">
                <a16:creationId xmlns:a16="http://schemas.microsoft.com/office/drawing/2014/main" id="{C9991C84-8989-4C3E-9F31-A2AEF260CD75}"/>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24" name="Legacy module connection">
            <a:extLst xmlns:a="http://schemas.openxmlformats.org/drawingml/2006/main">
              <a:ext uri="{FF2B5EF4-FFF2-40B4-BE49-F238E27FC236}">
                <a16:creationId xmlns:a16="http://schemas.microsoft.com/office/drawing/2014/main" id="{DD1D482C-0102-44EF-B917-3F1AA362B79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368033772"/>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CONCEPTUAL / 사실과 원인 판단의 구분">
            <a:extLst xmlns:a="http://schemas.openxmlformats.org/drawingml/2006/main">
              <a:ext uri="{FF2B5EF4-FFF2-40B4-BE49-F238E27FC236}">
                <a16:creationId xmlns:a16="http://schemas.microsoft.com/office/drawing/2014/main" id="{D0D4B4B7-7415-4F2B-8F74-EABAD04CB8F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사실과 원인 판단의 구분</a:t>
            </a:r>
          </a:p>
        </p:txBody>
      </p:sp>
      <p:sp>
        <p:nvSpPr>
          <p:cNvPr id="2" name="S76">
            <a:extLst xmlns:a="http://schemas.openxmlformats.org/drawingml/2006/main">
              <a:ext uri="{FF2B5EF4-FFF2-40B4-BE49-F238E27FC236}">
                <a16:creationId xmlns:a16="http://schemas.microsoft.com/office/drawing/2014/main" id="{6B3DEDF1-C99A-49FD-94B9-63D8119B6E1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S76</a:t>
            </a:r>
          </a:p>
        </p:txBody>
      </p:sp>
      <p:sp>
        <p:nvSpPr>
          <p:cNvPr id="3" name="주어진 정보와 원인 가설을 나눈다">
            <a:extLst xmlns:a="http://schemas.openxmlformats.org/drawingml/2006/main">
              <a:ext uri="{FF2B5EF4-FFF2-40B4-BE49-F238E27FC236}">
                <a16:creationId xmlns:a16="http://schemas.microsoft.com/office/drawing/2014/main" id="{76DD19DF-A5BE-41BF-9143-DCAB152FB29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주어진 정보와 원인 가설을 나눈다</a:t>
            </a:r>
          </a:p>
        </p:txBody>
      </p:sp>
      <p:sp>
        <p:nvSpPr>
          <p:cNvPr id="4" name="">
            <a:extLst xmlns:a="http://schemas.openxmlformats.org/drawingml/2006/main">
              <a:ext uri="{FF2B5EF4-FFF2-40B4-BE49-F238E27FC236}">
                <a16:creationId xmlns:a16="http://schemas.microsoft.com/office/drawing/2014/main" id="{717757DC-2AC0-4548-BCD1-58C0F909B6E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DEMO-11 · 구성된 사례의 전제와 확인할 가설">
            <a:extLst xmlns:a="http://schemas.openxmlformats.org/drawingml/2006/main">
              <a:ext uri="{FF2B5EF4-FFF2-40B4-BE49-F238E27FC236}">
                <a16:creationId xmlns:a16="http://schemas.microsoft.com/office/drawing/2014/main" id="{60E52C9F-CDBD-492B-A10B-9D7A308E7D2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DEMO-11 · 구성된 사례의 전제와 확인할 가설</a:t>
            </a:r>
          </a:p>
        </p:txBody>
      </p:sp>
      <p:sp>
        <p:nvSpPr>
          <p:cNvPr id="6" name="가상 설정은 실제 Trial 관찰이 아님 · 실제 실행 경로와 참조 지침을 확인한 결과도 없음">
            <a:extLst xmlns:a="http://schemas.openxmlformats.org/drawingml/2006/main">
              <a:ext uri="{FF2B5EF4-FFF2-40B4-BE49-F238E27FC236}">
                <a16:creationId xmlns:a16="http://schemas.microsoft.com/office/drawing/2014/main" id="{3AE5F2DF-A0BC-4BD9-9539-C76E4257017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가상 설정은 실제 Trial 관찰이 아님 · 실제 실행 경로와 참조 지침을 확인한 결과도 없음</a:t>
            </a:r>
          </a:p>
        </p:txBody>
      </p:sp>
      <p:sp>
        <p:nvSpPr>
          <p:cNvPr id="7" name="가상 사례에 주어진 정보">
            <a:extLst xmlns:a="http://schemas.openxmlformats.org/drawingml/2006/main">
              <a:ext uri="{FF2B5EF4-FFF2-40B4-BE49-F238E27FC236}">
                <a16:creationId xmlns:a16="http://schemas.microsoft.com/office/drawing/2014/main" id="{F5477CCA-4793-4316-8438-C38C4C34A062}"/>
              </a:ext>
            </a:extLst>
          </p:cNvPr>
          <p:cNvSpPr>
            <a:spLocks xmlns:a="http://schemas.openxmlformats.org/drawingml/2006/main" noGrp="1"/>
          </p:cNvSpPr>
          <p:nvPr/>
        </p:nvSpPr>
        <p:spPr>
          <a:xfrm xmlns:a="http://schemas.openxmlformats.org/drawingml/2006/main">
            <a:off x="609600" y="23431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가상 사례에 주어진 정보</a:t>
            </a:r>
          </a:p>
        </p:txBody>
      </p:sp>
      <p:sp>
        <p:nvSpPr>
          <p:cNvPr id="8" name="추가로 확인할 원인 가설">
            <a:extLst xmlns:a="http://schemas.openxmlformats.org/drawingml/2006/main">
              <a:ext uri="{FF2B5EF4-FFF2-40B4-BE49-F238E27FC236}">
                <a16:creationId xmlns:a16="http://schemas.microsoft.com/office/drawing/2014/main" id="{DFE683E4-D7D3-4264-9B62-2692652B6411}"/>
              </a:ext>
            </a:extLst>
          </p:cNvPr>
          <p:cNvSpPr>
            <a:spLocks xmlns:a="http://schemas.openxmlformats.org/drawingml/2006/main" noGrp="1"/>
          </p:cNvSpPr>
          <p:nvPr/>
        </p:nvSpPr>
        <p:spPr>
          <a:xfrm xmlns:a="http://schemas.openxmlformats.org/drawingml/2006/main">
            <a:off x="6896100" y="2343150"/>
            <a:ext cx="46863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추가로 확인할 원인 가설</a:t>
            </a:r>
          </a:p>
        </p:txBody>
      </p:sp>
      <p:sp>
        <p:nvSpPr>
          <p:cNvPr id="9" name="">
            <a:extLst xmlns:a="http://schemas.openxmlformats.org/drawingml/2006/main">
              <a:ext uri="{FF2B5EF4-FFF2-40B4-BE49-F238E27FC236}">
                <a16:creationId xmlns:a16="http://schemas.microsoft.com/office/drawing/2014/main" id="{24CE1F34-4475-4988-B9C8-5065857247CF}"/>
              </a:ext>
            </a:extLst>
          </p:cNvPr>
          <p:cNvSpPr>
            <a:spLocks xmlns:a="http://schemas.openxmlformats.org/drawingml/2006/main" noGrp="1"/>
          </p:cNvSpPr>
          <p:nvPr/>
        </p:nvSpPr>
        <p:spPr>
          <a:xfrm xmlns:a="http://schemas.openxmlformats.org/drawingml/2006/main">
            <a:off x="609600" y="2952750"/>
            <a:ext cx="46863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E73897EA-8EFA-4159-963A-31817F1A1FC3}"/>
              </a:ext>
            </a:extLst>
          </p:cNvPr>
          <p:cNvSpPr>
            <a:spLocks xmlns:a="http://schemas.openxmlformats.org/drawingml/2006/main" noGrp="1"/>
          </p:cNvSpPr>
          <p:nvPr/>
        </p:nvSpPr>
        <p:spPr>
          <a:xfrm xmlns:a="http://schemas.openxmlformats.org/drawingml/2006/main">
            <a:off x="6896100" y="2952750"/>
            <a:ext cx="46863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현재 기준: 단위 + 통합&#10;재사용 지침: 단위만">
            <a:extLst xmlns:a="http://schemas.openxmlformats.org/drawingml/2006/main">
              <a:ext uri="{FF2B5EF4-FFF2-40B4-BE49-F238E27FC236}">
                <a16:creationId xmlns:a16="http://schemas.microsoft.com/office/drawing/2014/main" id="{60E3B0DE-B7EF-4CF3-899E-06EE054033D5}"/>
              </a:ext>
            </a:extLst>
          </p:cNvPr>
          <p:cNvSpPr>
            <a:spLocks xmlns:a="http://schemas.openxmlformats.org/drawingml/2006/main" noGrp="1"/>
          </p:cNvSpPr>
          <p:nvPr/>
        </p:nvSpPr>
        <p:spPr>
          <a:xfrm xmlns:a="http://schemas.openxmlformats.org/drawingml/2006/main">
            <a:off x="609600" y="3305175"/>
            <a:ext cx="46863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현재 기준: 단위 + 통합</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재사용 지침: 단위만</a:t>
            </a:r>
          </a:p>
        </p:txBody>
      </p:sp>
      <p:sp>
        <p:nvSpPr>
          <p:cNvPr id="12" name="오래된 지침이&#10;원인일 수 있다">
            <a:extLst xmlns:a="http://schemas.openxmlformats.org/drawingml/2006/main">
              <a:ext uri="{FF2B5EF4-FFF2-40B4-BE49-F238E27FC236}">
                <a16:creationId xmlns:a16="http://schemas.microsoft.com/office/drawing/2014/main" id="{9261DF0B-5199-49FF-93BB-69B778C42356}"/>
              </a:ext>
            </a:extLst>
          </p:cNvPr>
          <p:cNvSpPr>
            <a:spLocks xmlns:a="http://schemas.openxmlformats.org/drawingml/2006/main" noGrp="1"/>
          </p:cNvSpPr>
          <p:nvPr/>
        </p:nvSpPr>
        <p:spPr>
          <a:xfrm xmlns:a="http://schemas.openxmlformats.org/drawingml/2006/main">
            <a:off x="6896100" y="3305175"/>
            <a:ext cx="46863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오래된 지침이</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원인일 수 있다</a:t>
            </a:r>
          </a:p>
        </p:txBody>
      </p:sp>
      <p:sp>
        <p:nvSpPr>
          <p:cNvPr id="13" name="두 지침의 차이만으로, 실제 작업의 원인이 확정되지는 않는다">
            <a:extLst xmlns:a="http://schemas.openxmlformats.org/drawingml/2006/main">
              <a:ext uri="{FF2B5EF4-FFF2-40B4-BE49-F238E27FC236}">
                <a16:creationId xmlns:a16="http://schemas.microsoft.com/office/drawing/2014/main" id="{CE1954CB-E7FC-44C5-A8F8-435D08EB3146}"/>
              </a:ext>
            </a:extLst>
          </p:cNvPr>
          <p:cNvSpPr>
            <a:spLocks xmlns:a="http://schemas.openxmlformats.org/drawingml/2006/main" noGrp="1"/>
          </p:cNvSpPr>
          <p:nvPr/>
        </p:nvSpPr>
        <p:spPr>
          <a:xfrm xmlns:a="http://schemas.openxmlformats.org/drawingml/2006/main">
            <a:off x="609600" y="5000625"/>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두 지침의 차이만으로, 실제 작업의 원인이 확정되지는 않는다</a:t>
            </a:r>
          </a:p>
        </p:txBody>
      </p:sp>
      <p:sp>
        <p:nvSpPr>
          <p:cNvPr id="14" name="Legacy module connection">
            <a:extLst xmlns:a="http://schemas.openxmlformats.org/drawingml/2006/main">
              <a:ext uri="{FF2B5EF4-FFF2-40B4-BE49-F238E27FC236}">
                <a16:creationId xmlns:a16="http://schemas.microsoft.com/office/drawing/2014/main" id="{E46CA5CE-490F-4EDC-B823-49C33410181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415066928"/>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CONCEPTUAL / 원인 확인 뒤의 선택">
            <a:extLst xmlns:a="http://schemas.openxmlformats.org/drawingml/2006/main">
              <a:ext uri="{FF2B5EF4-FFF2-40B4-BE49-F238E27FC236}">
                <a16:creationId xmlns:a16="http://schemas.microsoft.com/office/drawing/2014/main" id="{870F1E45-C28A-4067-AC0D-BEEE5CD49E1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원인 확인 뒤의 선택</a:t>
            </a:r>
          </a:p>
        </p:txBody>
      </p:sp>
      <p:sp>
        <p:nvSpPr>
          <p:cNvPr id="2" name="S77">
            <a:extLst xmlns:a="http://schemas.openxmlformats.org/drawingml/2006/main">
              <a:ext uri="{FF2B5EF4-FFF2-40B4-BE49-F238E27FC236}">
                <a16:creationId xmlns:a16="http://schemas.microsoft.com/office/drawing/2014/main" id="{4FA4EEB7-B065-4D71-8CA5-1D38A09AB81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S77</a:t>
            </a:r>
          </a:p>
        </p:txBody>
      </p:sp>
      <p:sp>
        <p:nvSpPr>
          <p:cNvPr id="3" name="확인한 원인에 맞춰 변경 대상을 고른다">
            <a:extLst xmlns:a="http://schemas.openxmlformats.org/drawingml/2006/main">
              <a:ext uri="{FF2B5EF4-FFF2-40B4-BE49-F238E27FC236}">
                <a16:creationId xmlns:a16="http://schemas.microsoft.com/office/drawing/2014/main" id="{2B96A346-CE12-4875-9F0A-42A601CEADD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확인한 원인에 맞춰 변경 대상을 고른다</a:t>
            </a:r>
          </a:p>
        </p:txBody>
      </p:sp>
      <p:sp>
        <p:nvSpPr>
          <p:cNvPr id="4" name="">
            <a:extLst xmlns:a="http://schemas.openxmlformats.org/drawingml/2006/main">
              <a:ext uri="{FF2B5EF4-FFF2-40B4-BE49-F238E27FC236}">
                <a16:creationId xmlns:a16="http://schemas.microsoft.com/office/drawing/2014/main" id="{9A523115-9158-4CDC-9119-CD22527981A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원인이 확인됐다고 가정한 세 대응의 범위 비교">
            <a:extLst xmlns:a="http://schemas.openxmlformats.org/drawingml/2006/main">
              <a:ext uri="{FF2B5EF4-FFF2-40B4-BE49-F238E27FC236}">
                <a16:creationId xmlns:a16="http://schemas.microsoft.com/office/drawing/2014/main" id="{C3F15956-6B81-44A1-A106-8A378C6FF17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원인이 확인됐다고 가정한 세 대응의 범위 비교</a:t>
            </a:r>
          </a:p>
        </p:txBody>
      </p:sp>
      <p:sp>
        <p:nvSpPr>
          <p:cNvPr id="6" name="Workflow 원인이라는 조건 안의 판단 · 일반 정답·실제 Product 변경·새 실행 결과 아님">
            <a:extLst xmlns:a="http://schemas.openxmlformats.org/drawingml/2006/main">
              <a:ext uri="{FF2B5EF4-FFF2-40B4-BE49-F238E27FC236}">
                <a16:creationId xmlns:a16="http://schemas.microsoft.com/office/drawing/2014/main" id="{EECC8618-29B5-4410-B472-F0B353E3C9D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Workflow 원인이라는 조건 안의 판단 · 일반 정답·실제 Product 변경·새 실행 결과 아님</a:t>
            </a:r>
          </a:p>
        </p:txBody>
      </p:sp>
      <p:sp>
        <p:nvSpPr>
          <p:cNvPr id="7" name="가정: 재사용 Workflow가 원인으로 확인됐다면">
            <a:extLst xmlns:a="http://schemas.openxmlformats.org/drawingml/2006/main">
              <a:ext uri="{FF2B5EF4-FFF2-40B4-BE49-F238E27FC236}">
                <a16:creationId xmlns:a16="http://schemas.microsoft.com/office/drawing/2014/main" id="{580208C3-8297-4EF9-B52A-D394811421FD}"/>
              </a:ext>
            </a:extLst>
          </p:cNvPr>
          <p:cNvSpPr>
            <a:spLocks xmlns:a="http://schemas.openxmlformats.org/drawingml/2006/main" noGrp="1"/>
          </p:cNvSpPr>
          <p:nvPr/>
        </p:nvSpPr>
        <p:spPr>
          <a:xfrm xmlns:a="http://schemas.openxmlformats.org/drawingml/2006/main">
            <a:off x="609600" y="17716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가정: 재사용 Workflow가 원인으로 확인됐다면</a:t>
            </a:r>
          </a:p>
        </p:txBody>
      </p:sp>
      <p:sp>
        <p:nvSpPr>
          <p:cNvPr id="8" name="">
            <a:extLst xmlns:a="http://schemas.openxmlformats.org/drawingml/2006/main">
              <a:ext uri="{FF2B5EF4-FFF2-40B4-BE49-F238E27FC236}">
                <a16:creationId xmlns:a16="http://schemas.microsoft.com/office/drawing/2014/main" id="{EAAEF993-891F-4320-BEEA-646E66EF8B1B}"/>
              </a:ext>
            </a:extLst>
          </p:cNvPr>
          <p:cNvSpPr>
            <a:spLocks xmlns:a="http://schemas.openxmlformats.org/drawingml/2006/main" noGrp="1"/>
          </p:cNvSpPr>
          <p:nvPr/>
        </p:nvSpPr>
        <p:spPr>
          <a:xfrm xmlns:a="http://schemas.openxmlformats.org/drawingml/2006/main">
            <a:off x="609600" y="2600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이번 요청 보정">
            <a:extLst xmlns:a="http://schemas.openxmlformats.org/drawingml/2006/main">
              <a:ext uri="{FF2B5EF4-FFF2-40B4-BE49-F238E27FC236}">
                <a16:creationId xmlns:a16="http://schemas.microsoft.com/office/drawing/2014/main" id="{1F5DD76D-339D-4E46-8328-2EE8AD6F2789}"/>
              </a:ext>
            </a:extLst>
          </p:cNvPr>
          <p:cNvSpPr>
            <a:spLocks xmlns:a="http://schemas.openxmlformats.org/drawingml/2006/main" noGrp="1"/>
          </p:cNvSpPr>
          <p:nvPr/>
        </p:nvSpPr>
        <p:spPr>
          <a:xfrm xmlns:a="http://schemas.openxmlformats.org/drawingml/2006/main">
            <a:off x="762000" y="2724150"/>
            <a:ext cx="3714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요청 보정</a:t>
            </a:r>
          </a:p>
        </p:txBody>
      </p:sp>
      <p:sp>
        <p:nvSpPr>
          <p:cNvPr id="10" name="현재 Task의 요청 범위만 넓힘">
            <a:extLst xmlns:a="http://schemas.openxmlformats.org/drawingml/2006/main">
              <a:ext uri="{FF2B5EF4-FFF2-40B4-BE49-F238E27FC236}">
                <a16:creationId xmlns:a16="http://schemas.microsoft.com/office/drawing/2014/main" id="{D645F546-8A3B-4945-9369-D261F2618AF3}"/>
              </a:ext>
            </a:extLst>
          </p:cNvPr>
          <p:cNvSpPr>
            <a:spLocks xmlns:a="http://schemas.openxmlformats.org/drawingml/2006/main" noGrp="1"/>
          </p:cNvSpPr>
          <p:nvPr/>
        </p:nvSpPr>
        <p:spPr>
          <a:xfrm xmlns:a="http://schemas.openxmlformats.org/drawingml/2006/main">
            <a:off x="4762500" y="2724150"/>
            <a:ext cx="6629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현재 Task의 요청 범위만 넓힘</a:t>
            </a:r>
          </a:p>
        </p:txBody>
      </p:sp>
      <p:sp>
        <p:nvSpPr>
          <p:cNvPr id="11" name="">
            <a:extLst xmlns:a="http://schemas.openxmlformats.org/drawingml/2006/main">
              <a:ext uri="{FF2B5EF4-FFF2-40B4-BE49-F238E27FC236}">
                <a16:creationId xmlns:a16="http://schemas.microsoft.com/office/drawing/2014/main" id="{3A1C452E-21FD-465B-8C48-B3A5F33C7EB7}"/>
              </a:ext>
            </a:extLst>
          </p:cNvPr>
          <p:cNvSpPr>
            <a:spLocks xmlns:a="http://schemas.openxmlformats.org/drawingml/2006/main" noGrp="1"/>
          </p:cNvSpPr>
          <p:nvPr/>
        </p:nvSpPr>
        <p:spPr>
          <a:xfrm xmlns:a="http://schemas.openxmlformats.org/drawingml/2006/main">
            <a:off x="609600" y="3409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전역 규칙 추가">
            <a:extLst xmlns:a="http://schemas.openxmlformats.org/drawingml/2006/main">
              <a:ext uri="{FF2B5EF4-FFF2-40B4-BE49-F238E27FC236}">
                <a16:creationId xmlns:a16="http://schemas.microsoft.com/office/drawing/2014/main" id="{F330DCBA-8E2E-4093-B05F-7BA6EDBA0346}"/>
              </a:ext>
            </a:extLst>
          </p:cNvPr>
          <p:cNvSpPr>
            <a:spLocks xmlns:a="http://schemas.openxmlformats.org/drawingml/2006/main" noGrp="1"/>
          </p:cNvSpPr>
          <p:nvPr/>
        </p:nvSpPr>
        <p:spPr>
          <a:xfrm xmlns:a="http://schemas.openxmlformats.org/drawingml/2006/main">
            <a:off x="762000" y="3533775"/>
            <a:ext cx="3714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전역 규칙 추가</a:t>
            </a:r>
          </a:p>
        </p:txBody>
      </p:sp>
      <p:sp>
        <p:nvSpPr>
          <p:cNvPr id="13" name="다른 지침과 중복·충돌 가능">
            <a:extLst xmlns:a="http://schemas.openxmlformats.org/drawingml/2006/main">
              <a:ext uri="{FF2B5EF4-FFF2-40B4-BE49-F238E27FC236}">
                <a16:creationId xmlns:a16="http://schemas.microsoft.com/office/drawing/2014/main" id="{0523A679-C235-4556-85EC-C3CA1B401E7C}"/>
              </a:ext>
            </a:extLst>
          </p:cNvPr>
          <p:cNvSpPr>
            <a:spLocks xmlns:a="http://schemas.openxmlformats.org/drawingml/2006/main" noGrp="1"/>
          </p:cNvSpPr>
          <p:nvPr/>
        </p:nvSpPr>
        <p:spPr>
          <a:xfrm xmlns:a="http://schemas.openxmlformats.org/drawingml/2006/main">
            <a:off x="4762500" y="3533775"/>
            <a:ext cx="6629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다른 지침과 중복·충돌 가능</a:t>
            </a:r>
          </a:p>
        </p:txBody>
      </p:sp>
      <p:sp>
        <p:nvSpPr>
          <p:cNvPr id="14" name="">
            <a:extLst xmlns:a="http://schemas.openxmlformats.org/drawingml/2006/main">
              <a:ext uri="{FF2B5EF4-FFF2-40B4-BE49-F238E27FC236}">
                <a16:creationId xmlns:a16="http://schemas.microsoft.com/office/drawing/2014/main" id="{EB9001EC-159E-48FF-B6AE-184C5F340343}"/>
              </a:ext>
            </a:extLst>
          </p:cNvPr>
          <p:cNvSpPr>
            <a:spLocks xmlns:a="http://schemas.openxmlformats.org/drawingml/2006/main" noGrp="1"/>
          </p:cNvSpPr>
          <p:nvPr/>
        </p:nvSpPr>
        <p:spPr>
          <a:xfrm xmlns:a="http://schemas.openxmlformats.org/drawingml/2006/main">
            <a:off x="609600" y="4219575"/>
            <a:ext cx="10972800" cy="7143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36D9E146-D391-4EFF-AB46-731072C43885}"/>
              </a:ext>
            </a:extLst>
          </p:cNvPr>
          <p:cNvSpPr>
            <a:spLocks xmlns:a="http://schemas.openxmlformats.org/drawingml/2006/main" noGrp="1"/>
          </p:cNvSpPr>
          <p:nvPr/>
        </p:nvSpPr>
        <p:spPr>
          <a:xfrm xmlns:a="http://schemas.openxmlformats.org/drawingml/2006/main">
            <a:off x="609600" y="42195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원인인 Workflow 갱신">
            <a:extLst xmlns:a="http://schemas.openxmlformats.org/drawingml/2006/main">
              <a:ext uri="{FF2B5EF4-FFF2-40B4-BE49-F238E27FC236}">
                <a16:creationId xmlns:a16="http://schemas.microsoft.com/office/drawing/2014/main" id="{FB22BAD4-C758-4D22-8F63-B434071550E2}"/>
              </a:ext>
            </a:extLst>
          </p:cNvPr>
          <p:cNvSpPr>
            <a:spLocks xmlns:a="http://schemas.openxmlformats.org/drawingml/2006/main" noGrp="1"/>
          </p:cNvSpPr>
          <p:nvPr/>
        </p:nvSpPr>
        <p:spPr>
          <a:xfrm xmlns:a="http://schemas.openxmlformats.org/drawingml/2006/main">
            <a:off x="762000" y="4343400"/>
            <a:ext cx="3714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원인인 Workflow 갱신</a:t>
            </a:r>
          </a:p>
        </p:txBody>
      </p:sp>
      <p:sp>
        <p:nvSpPr>
          <p:cNvPr id="17" name="다음 작업이 읽는 절차를 변경">
            <a:extLst xmlns:a="http://schemas.openxmlformats.org/drawingml/2006/main">
              <a:ext uri="{FF2B5EF4-FFF2-40B4-BE49-F238E27FC236}">
                <a16:creationId xmlns:a16="http://schemas.microsoft.com/office/drawing/2014/main" id="{02A2EE91-1E0A-4050-A9EB-BEB495DEEA40}"/>
              </a:ext>
            </a:extLst>
          </p:cNvPr>
          <p:cNvSpPr>
            <a:spLocks xmlns:a="http://schemas.openxmlformats.org/drawingml/2006/main" noGrp="1"/>
          </p:cNvSpPr>
          <p:nvPr/>
        </p:nvSpPr>
        <p:spPr>
          <a:xfrm xmlns:a="http://schemas.openxmlformats.org/drawingml/2006/main">
            <a:off x="4762500" y="4343400"/>
            <a:ext cx="6629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다음 작업이 읽는 절차를 변경</a:t>
            </a:r>
          </a:p>
        </p:txBody>
      </p:sp>
      <p:sp>
        <p:nvSpPr>
          <p:cNvPr id="18" name="검토 담당: 확인한 원인과 변경할 위치가 맞는지 판단">
            <a:extLst xmlns:a="http://schemas.openxmlformats.org/drawingml/2006/main">
              <a:ext uri="{FF2B5EF4-FFF2-40B4-BE49-F238E27FC236}">
                <a16:creationId xmlns:a16="http://schemas.microsoft.com/office/drawing/2014/main" id="{26561A01-7113-4066-8ED3-FB163D77B15E}"/>
              </a:ext>
            </a:extLst>
          </p:cNvPr>
          <p:cNvSpPr>
            <a:spLocks xmlns:a="http://schemas.openxmlformats.org/drawingml/2006/main" noGrp="1"/>
          </p:cNvSpPr>
          <p:nvPr/>
        </p:nvSpPr>
        <p:spPr>
          <a:xfrm xmlns:a="http://schemas.openxmlformats.org/drawingml/2006/main">
            <a:off x="609600" y="532447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검토 담당: 확인한 원인과 변경할 위치가 맞는지 판단</a:t>
            </a:r>
          </a:p>
        </p:txBody>
      </p:sp>
      <p:sp>
        <p:nvSpPr>
          <p:cNvPr id="19" name="Legacy module connection">
            <a:extLst xmlns:a="http://schemas.openxmlformats.org/drawingml/2006/main">
              <a:ext uri="{FF2B5EF4-FFF2-40B4-BE49-F238E27FC236}">
                <a16:creationId xmlns:a16="http://schemas.microsoft.com/office/drawing/2014/main" id="{7B7C9687-5F6B-4F09-9589-156B5AE749C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2006958307"/>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4 · CONCEPTUAL / 유지 책임과 최소 변경">
            <a:extLst xmlns:a="http://schemas.openxmlformats.org/drawingml/2006/main">
              <a:ext uri="{FF2B5EF4-FFF2-40B4-BE49-F238E27FC236}">
                <a16:creationId xmlns:a16="http://schemas.microsoft.com/office/drawing/2014/main" id="{078271FF-4CF3-4FD4-8A6F-0C3D3FBCD06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유지 책임과 최소 변경</a:t>
            </a:r>
          </a:p>
        </p:txBody>
      </p:sp>
      <p:sp>
        <p:nvSpPr>
          <p:cNvPr id="2" name="S78">
            <a:extLst xmlns:a="http://schemas.openxmlformats.org/drawingml/2006/main">
              <a:ext uri="{FF2B5EF4-FFF2-40B4-BE49-F238E27FC236}">
                <a16:creationId xmlns:a16="http://schemas.microsoft.com/office/drawing/2014/main" id="{526DE4C7-B527-421A-84F0-10C8093A420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S78</a:t>
            </a:r>
          </a:p>
        </p:txBody>
      </p:sp>
      <p:sp>
        <p:nvSpPr>
          <p:cNvPr id="3" name="확인된 범위만 검토하고 갱신한다">
            <a:extLst xmlns:a="http://schemas.openxmlformats.org/drawingml/2006/main">
              <a:ext uri="{FF2B5EF4-FFF2-40B4-BE49-F238E27FC236}">
                <a16:creationId xmlns:a16="http://schemas.microsoft.com/office/drawing/2014/main" id="{4C755EF0-18E8-43AD-919B-D7E8A12ED38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확인된 범위만 검토하고 갱신한다</a:t>
            </a:r>
          </a:p>
        </p:txBody>
      </p:sp>
      <p:sp>
        <p:nvSpPr>
          <p:cNvPr id="4" name="">
            <a:extLst xmlns:a="http://schemas.openxmlformats.org/drawingml/2006/main">
              <a:ext uri="{FF2B5EF4-FFF2-40B4-BE49-F238E27FC236}">
                <a16:creationId xmlns:a16="http://schemas.microsoft.com/office/drawing/2014/main" id="{1678A308-D854-407D-9148-E40D76A8F14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Workflow 원인이 확인됐다는 가정에서의 변경 설계">
            <a:extLst xmlns:a="http://schemas.openxmlformats.org/drawingml/2006/main">
              <a:ext uri="{FF2B5EF4-FFF2-40B4-BE49-F238E27FC236}">
                <a16:creationId xmlns:a16="http://schemas.microsoft.com/office/drawing/2014/main" id="{D6599B36-49A1-433A-AE33-728ED2C228B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Workflow 원인이 확인됐다는 가정에서의 변경 설계</a:t>
            </a:r>
          </a:p>
        </p:txBody>
      </p:sp>
      <p:sp>
        <p:nvSpPr>
          <p:cNvPr id="6" name="역할의 교육용 예 · 실제 담당 배정·지침 수정·재평가 결과 아님 · 관련 없는 규칙은 유지">
            <a:extLst xmlns:a="http://schemas.openxmlformats.org/drawingml/2006/main">
              <a:ext uri="{FF2B5EF4-FFF2-40B4-BE49-F238E27FC236}">
                <a16:creationId xmlns:a16="http://schemas.microsoft.com/office/drawing/2014/main" id="{87E35CC8-1D5B-4667-9E53-C0FEC8B29D5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역할의 교육용 예 · 실제 담당 배정·지침 수정·재평가 결과 아님 · 관련 없는 규칙은 유지</a:t>
            </a:r>
          </a:p>
        </p:txBody>
      </p:sp>
      <p:sp>
        <p:nvSpPr>
          <p:cNvPr id="7" name="원인이 뒷받침하는 지침을 갱신한다">
            <a:extLst xmlns:a="http://schemas.openxmlformats.org/drawingml/2006/main">
              <a:ext uri="{FF2B5EF4-FFF2-40B4-BE49-F238E27FC236}">
                <a16:creationId xmlns:a16="http://schemas.microsoft.com/office/drawing/2014/main" id="{00526056-5F1F-4CCB-9D4D-71EC9E1C7207}"/>
              </a:ext>
            </a:extLst>
          </p:cNvPr>
          <p:cNvSpPr>
            <a:spLocks xmlns:a="http://schemas.openxmlformats.org/drawingml/2006/main" noGrp="1"/>
          </p:cNvSpPr>
          <p:nvPr/>
        </p:nvSpPr>
        <p:spPr>
          <a:xfrm xmlns:a="http://schemas.openxmlformats.org/drawingml/2006/main">
            <a:off x="609600" y="17907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원인이 뒷받침하는 지침을 갱신한다</a:t>
            </a:r>
          </a:p>
        </p:txBody>
      </p:sp>
      <p:sp>
        <p:nvSpPr>
          <p:cNvPr id="8" name="기존 재사용 지침">
            <a:extLst xmlns:a="http://schemas.openxmlformats.org/drawingml/2006/main">
              <a:ext uri="{FF2B5EF4-FFF2-40B4-BE49-F238E27FC236}">
                <a16:creationId xmlns:a16="http://schemas.microsoft.com/office/drawing/2014/main" id="{32683FA7-6C16-4108-AD6D-0537B7CBBEB2}"/>
              </a:ext>
            </a:extLst>
          </p:cNvPr>
          <p:cNvSpPr>
            <a:spLocks xmlns:a="http://schemas.openxmlformats.org/drawingml/2006/main" noGrp="1"/>
          </p:cNvSpPr>
          <p:nvPr/>
        </p:nvSpPr>
        <p:spPr>
          <a:xfrm xmlns:a="http://schemas.openxmlformats.org/drawingml/2006/main">
            <a:off x="609600" y="2619375"/>
            <a:ext cx="46863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기존 재사용 지침</a:t>
            </a:r>
          </a:p>
        </p:txBody>
      </p:sp>
      <p:sp>
        <p:nvSpPr>
          <p:cNvPr id="9" name="">
            <a:extLst xmlns:a="http://schemas.openxmlformats.org/drawingml/2006/main">
              <a:ext uri="{FF2B5EF4-FFF2-40B4-BE49-F238E27FC236}">
                <a16:creationId xmlns:a16="http://schemas.microsoft.com/office/drawing/2014/main" id="{047B3EE5-3A58-4E1A-8C25-04696143B432}"/>
              </a:ext>
            </a:extLst>
          </p:cNvPr>
          <p:cNvSpPr>
            <a:spLocks xmlns:a="http://schemas.openxmlformats.org/drawingml/2006/main" noGrp="1"/>
          </p:cNvSpPr>
          <p:nvPr/>
        </p:nvSpPr>
        <p:spPr>
          <a:xfrm xmlns:a="http://schemas.openxmlformats.org/drawingml/2006/main">
            <a:off x="609600" y="3105150"/>
            <a:ext cx="46863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10" name="단위 테스트 확인">
            <a:extLst xmlns:a="http://schemas.openxmlformats.org/drawingml/2006/main">
              <a:ext uri="{FF2B5EF4-FFF2-40B4-BE49-F238E27FC236}">
                <a16:creationId xmlns:a16="http://schemas.microsoft.com/office/drawing/2014/main" id="{2D5D60E7-CC0E-4B64-8C32-C38724E44AF0}"/>
              </a:ext>
            </a:extLst>
          </p:cNvPr>
          <p:cNvSpPr>
            <a:spLocks xmlns:a="http://schemas.openxmlformats.org/drawingml/2006/main" noGrp="1"/>
          </p:cNvSpPr>
          <p:nvPr/>
        </p:nvSpPr>
        <p:spPr>
          <a:xfrm xmlns:a="http://schemas.openxmlformats.org/drawingml/2006/main">
            <a:off x="609600" y="3305175"/>
            <a:ext cx="46863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테스트 확인</a:t>
            </a:r>
          </a:p>
        </p:txBody>
      </p:sp>
      <p:sp>
        <p:nvSpPr>
          <p:cNvPr id="11" name="갱신할 지침">
            <a:extLst xmlns:a="http://schemas.openxmlformats.org/drawingml/2006/main">
              <a:ext uri="{FF2B5EF4-FFF2-40B4-BE49-F238E27FC236}">
                <a16:creationId xmlns:a16="http://schemas.microsoft.com/office/drawing/2014/main" id="{6E8E8BEC-4FDA-4155-A4DC-B883E5DB8CD0}"/>
              </a:ext>
            </a:extLst>
          </p:cNvPr>
          <p:cNvSpPr>
            <a:spLocks xmlns:a="http://schemas.openxmlformats.org/drawingml/2006/main" noGrp="1"/>
          </p:cNvSpPr>
          <p:nvPr/>
        </p:nvSpPr>
        <p:spPr>
          <a:xfrm xmlns:a="http://schemas.openxmlformats.org/drawingml/2006/main">
            <a:off x="6896100" y="2619375"/>
            <a:ext cx="46863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갱신할 지침</a:t>
            </a:r>
          </a:p>
        </p:txBody>
      </p:sp>
      <p:sp>
        <p:nvSpPr>
          <p:cNvPr id="12" name="">
            <a:extLst xmlns:a="http://schemas.openxmlformats.org/drawingml/2006/main">
              <a:ext uri="{FF2B5EF4-FFF2-40B4-BE49-F238E27FC236}">
                <a16:creationId xmlns:a16="http://schemas.microsoft.com/office/drawing/2014/main" id="{F32FA4ED-A38C-495E-84A3-47860834FA25}"/>
              </a:ext>
            </a:extLst>
          </p:cNvPr>
          <p:cNvSpPr>
            <a:spLocks xmlns:a="http://schemas.openxmlformats.org/drawingml/2006/main" noGrp="1"/>
          </p:cNvSpPr>
          <p:nvPr/>
        </p:nvSpPr>
        <p:spPr>
          <a:xfrm xmlns:a="http://schemas.openxmlformats.org/drawingml/2006/main">
            <a:off x="6896100" y="3105150"/>
            <a:ext cx="46863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단위 + 통합 테스트 확인">
            <a:extLst xmlns:a="http://schemas.openxmlformats.org/drawingml/2006/main">
              <a:ext uri="{FF2B5EF4-FFF2-40B4-BE49-F238E27FC236}">
                <a16:creationId xmlns:a16="http://schemas.microsoft.com/office/drawing/2014/main" id="{BB6A5D57-A9C5-4A90-B118-9B87E9C491FE}"/>
              </a:ext>
            </a:extLst>
          </p:cNvPr>
          <p:cNvSpPr>
            <a:spLocks xmlns:a="http://schemas.openxmlformats.org/drawingml/2006/main" noGrp="1"/>
          </p:cNvSpPr>
          <p:nvPr/>
        </p:nvSpPr>
        <p:spPr>
          <a:xfrm xmlns:a="http://schemas.openxmlformats.org/drawingml/2006/main">
            <a:off x="6896100" y="3305175"/>
            <a:ext cx="46863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단위 + 통합 테스트 확인</a:t>
            </a:r>
          </a:p>
        </p:txBody>
      </p:sp>
      <p:cxnSp>
        <p:nvCxnSpPr>
          <p:cNvPr id="14" name="">
            <a:extLst xmlns:a="http://schemas.openxmlformats.org/drawingml/2006/main">
              <a:ext uri="{FF2B5EF4-FFF2-40B4-BE49-F238E27FC236}">
                <a16:creationId xmlns:a16="http://schemas.microsoft.com/office/drawing/2014/main" id="{5BA60773-9F26-4FDC-896A-E3523BFFDC97}"/>
              </a:ext>
            </a:extLst>
          </p:cNvPr>
          <p:cNvCxnSpPr/>
          <p:nvPr/>
        </p:nvCxnSpPr>
        <p:spPr>
          <a:xfrm xmlns:a="http://schemas.openxmlformats.org/drawingml/2006/main">
            <a:off x="5562600" y="3581400"/>
            <a:ext cx="9525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
            <a:extLst xmlns:a="http://schemas.openxmlformats.org/drawingml/2006/main">
              <a:ext uri="{FF2B5EF4-FFF2-40B4-BE49-F238E27FC236}">
                <a16:creationId xmlns:a16="http://schemas.microsoft.com/office/drawing/2014/main" id="{E5DD35E4-22F7-44E9-B420-18F1AB797566}"/>
              </a:ext>
            </a:extLst>
          </p:cNvPr>
          <p:cNvSpPr>
            <a:spLocks xmlns:a="http://schemas.openxmlformats.org/drawingml/2006/main" noGrp="1"/>
          </p:cNvSpPr>
          <p:nvPr/>
        </p:nvSpPr>
        <p:spPr>
          <a:xfrm xmlns:a="http://schemas.openxmlformats.org/drawingml/2006/main">
            <a:off x="609600" y="4352925"/>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6" name="갱신 담당">
            <a:extLst xmlns:a="http://schemas.openxmlformats.org/drawingml/2006/main">
              <a:ext uri="{FF2B5EF4-FFF2-40B4-BE49-F238E27FC236}">
                <a16:creationId xmlns:a16="http://schemas.microsoft.com/office/drawing/2014/main" id="{0D7DE0A5-80D9-4A21-80E0-3D738450AD19}"/>
              </a:ext>
            </a:extLst>
          </p:cNvPr>
          <p:cNvSpPr>
            <a:spLocks xmlns:a="http://schemas.openxmlformats.org/drawingml/2006/main" noGrp="1"/>
          </p:cNvSpPr>
          <p:nvPr/>
        </p:nvSpPr>
        <p:spPr>
          <a:xfrm xmlns:a="http://schemas.openxmlformats.org/drawingml/2006/main">
            <a:off x="609600" y="446722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갱신 담당</a:t>
            </a:r>
          </a:p>
        </p:txBody>
      </p:sp>
      <p:sp>
        <p:nvSpPr>
          <p:cNvPr id="17" name="확인된 지침 수정">
            <a:extLst xmlns:a="http://schemas.openxmlformats.org/drawingml/2006/main">
              <a:ext uri="{FF2B5EF4-FFF2-40B4-BE49-F238E27FC236}">
                <a16:creationId xmlns:a16="http://schemas.microsoft.com/office/drawing/2014/main" id="{8259B949-366E-4C5C-A015-9CDE55B1C444}"/>
              </a:ext>
            </a:extLst>
          </p:cNvPr>
          <p:cNvSpPr>
            <a:spLocks xmlns:a="http://schemas.openxmlformats.org/drawingml/2006/main" noGrp="1"/>
          </p:cNvSpPr>
          <p:nvPr/>
        </p:nvSpPr>
        <p:spPr>
          <a:xfrm xmlns:a="http://schemas.openxmlformats.org/drawingml/2006/main">
            <a:off x="609600" y="490537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확인된 지침 수정</a:t>
            </a:r>
          </a:p>
        </p:txBody>
      </p:sp>
      <p:sp>
        <p:nvSpPr>
          <p:cNvPr id="18" name="">
            <a:extLst xmlns:a="http://schemas.openxmlformats.org/drawingml/2006/main">
              <a:ext uri="{FF2B5EF4-FFF2-40B4-BE49-F238E27FC236}">
                <a16:creationId xmlns:a16="http://schemas.microsoft.com/office/drawing/2014/main" id="{C48D9B25-3604-4B8B-9298-1EFC15EFD960}"/>
              </a:ext>
            </a:extLst>
          </p:cNvPr>
          <p:cNvSpPr>
            <a:spLocks xmlns:a="http://schemas.openxmlformats.org/drawingml/2006/main" noGrp="1"/>
          </p:cNvSpPr>
          <p:nvPr/>
        </p:nvSpPr>
        <p:spPr>
          <a:xfrm xmlns:a="http://schemas.openxmlformats.org/drawingml/2006/main">
            <a:off x="4419600" y="4352925"/>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9" name="검토 담당">
            <a:extLst xmlns:a="http://schemas.openxmlformats.org/drawingml/2006/main">
              <a:ext uri="{FF2B5EF4-FFF2-40B4-BE49-F238E27FC236}">
                <a16:creationId xmlns:a16="http://schemas.microsoft.com/office/drawing/2014/main" id="{B83178D7-5583-451D-B4BF-0D381A13EC68}"/>
              </a:ext>
            </a:extLst>
          </p:cNvPr>
          <p:cNvSpPr>
            <a:spLocks xmlns:a="http://schemas.openxmlformats.org/drawingml/2006/main" noGrp="1"/>
          </p:cNvSpPr>
          <p:nvPr/>
        </p:nvSpPr>
        <p:spPr>
          <a:xfrm xmlns:a="http://schemas.openxmlformats.org/drawingml/2006/main">
            <a:off x="4419600" y="446722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검토 담당</a:t>
            </a:r>
          </a:p>
        </p:txBody>
      </p:sp>
      <p:sp>
        <p:nvSpPr>
          <p:cNvPr id="20" name="현재 기준·변경 범위 확인">
            <a:extLst xmlns:a="http://schemas.openxmlformats.org/drawingml/2006/main">
              <a:ext uri="{FF2B5EF4-FFF2-40B4-BE49-F238E27FC236}">
                <a16:creationId xmlns:a16="http://schemas.microsoft.com/office/drawing/2014/main" id="{2D21438C-7C32-4689-9DB5-22A17FEEA761}"/>
              </a:ext>
            </a:extLst>
          </p:cNvPr>
          <p:cNvSpPr>
            <a:spLocks xmlns:a="http://schemas.openxmlformats.org/drawingml/2006/main" noGrp="1"/>
          </p:cNvSpPr>
          <p:nvPr/>
        </p:nvSpPr>
        <p:spPr>
          <a:xfrm xmlns:a="http://schemas.openxmlformats.org/drawingml/2006/main">
            <a:off x="4419600" y="490537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기준·변경 범위 확인</a:t>
            </a:r>
          </a:p>
        </p:txBody>
      </p:sp>
      <p:sp>
        <p:nvSpPr>
          <p:cNvPr id="21" name="">
            <a:extLst xmlns:a="http://schemas.openxmlformats.org/drawingml/2006/main">
              <a:ext uri="{FF2B5EF4-FFF2-40B4-BE49-F238E27FC236}">
                <a16:creationId xmlns:a16="http://schemas.microsoft.com/office/drawing/2014/main" id="{7C992EAC-AD22-497D-9BA1-87B7EC59E511}"/>
              </a:ext>
            </a:extLst>
          </p:cNvPr>
          <p:cNvSpPr>
            <a:spLocks xmlns:a="http://schemas.openxmlformats.org/drawingml/2006/main" noGrp="1"/>
          </p:cNvSpPr>
          <p:nvPr/>
        </p:nvSpPr>
        <p:spPr>
          <a:xfrm xmlns:a="http://schemas.openxmlformats.org/drawingml/2006/main">
            <a:off x="8229600" y="4352925"/>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2" name="다음 확인">
            <a:extLst xmlns:a="http://schemas.openxmlformats.org/drawingml/2006/main">
              <a:ext uri="{FF2B5EF4-FFF2-40B4-BE49-F238E27FC236}">
                <a16:creationId xmlns:a16="http://schemas.microsoft.com/office/drawing/2014/main" id="{0C67D59F-0F2A-4AC9-B6CB-60006D7DE7A2}"/>
              </a:ext>
            </a:extLst>
          </p:cNvPr>
          <p:cNvSpPr>
            <a:spLocks xmlns:a="http://schemas.openxmlformats.org/drawingml/2006/main" noGrp="1"/>
          </p:cNvSpPr>
          <p:nvPr/>
        </p:nvSpPr>
        <p:spPr>
          <a:xfrm xmlns:a="http://schemas.openxmlformats.org/drawingml/2006/main">
            <a:off x="8229600" y="446722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확인</a:t>
            </a:r>
          </a:p>
        </p:txBody>
      </p:sp>
      <p:sp>
        <p:nvSpPr>
          <p:cNvPr id="23" name="같은 작업·대표 작업 평가">
            <a:extLst xmlns:a="http://schemas.openxmlformats.org/drawingml/2006/main">
              <a:ext uri="{FF2B5EF4-FFF2-40B4-BE49-F238E27FC236}">
                <a16:creationId xmlns:a16="http://schemas.microsoft.com/office/drawing/2014/main" id="{CA514815-8040-429D-A0F0-BE1C567D1DE1}"/>
              </a:ext>
            </a:extLst>
          </p:cNvPr>
          <p:cNvSpPr>
            <a:spLocks xmlns:a="http://schemas.openxmlformats.org/drawingml/2006/main" noGrp="1"/>
          </p:cNvSpPr>
          <p:nvPr/>
        </p:nvSpPr>
        <p:spPr>
          <a:xfrm xmlns:a="http://schemas.openxmlformats.org/drawingml/2006/main">
            <a:off x="8229600" y="490537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작업·대표 작업 평가</a:t>
            </a:r>
          </a:p>
        </p:txBody>
      </p:sp>
      <p:sp>
        <p:nvSpPr>
          <p:cNvPr id="24" name="검토·갱신은 같은 사람이 맡을 수도 있다">
            <a:extLst xmlns:a="http://schemas.openxmlformats.org/drawingml/2006/main">
              <a:ext uri="{FF2B5EF4-FFF2-40B4-BE49-F238E27FC236}">
                <a16:creationId xmlns:a16="http://schemas.microsoft.com/office/drawing/2014/main" id="{E60C8FE4-D027-4098-A46E-0FC0B016641E}"/>
              </a:ext>
            </a:extLst>
          </p:cNvPr>
          <p:cNvSpPr>
            <a:spLocks xmlns:a="http://schemas.openxmlformats.org/drawingml/2006/main" noGrp="1"/>
          </p:cNvSpPr>
          <p:nvPr/>
        </p:nvSpPr>
        <p:spPr>
          <a:xfrm xmlns:a="http://schemas.openxmlformats.org/drawingml/2006/main">
            <a:off x="609600" y="54292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검토·갱신은 같은 사람이 맡을 수도 있다</a:t>
            </a:r>
          </a:p>
        </p:txBody>
      </p:sp>
      <p:sp>
        <p:nvSpPr>
          <p:cNvPr id="25" name="Legacy module connection">
            <a:extLst xmlns:a="http://schemas.openxmlformats.org/drawingml/2006/main">
              <a:ext uri="{FF2B5EF4-FFF2-40B4-BE49-F238E27FC236}">
                <a16:creationId xmlns:a16="http://schemas.microsoft.com/office/drawing/2014/main" id="{8A7DD885-929F-48AA-A0BE-73FE4AD7B9B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465034728"/>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CONCEPTUAL / 평가 범위">
            <a:extLst xmlns:a="http://schemas.openxmlformats.org/drawingml/2006/main">
              <a:ext uri="{FF2B5EF4-FFF2-40B4-BE49-F238E27FC236}">
                <a16:creationId xmlns:a16="http://schemas.microsoft.com/office/drawing/2014/main" id="{7491530B-9FB7-4580-9CAF-5FEBCF5DA25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범위</a:t>
            </a:r>
          </a:p>
        </p:txBody>
      </p:sp>
      <p:sp>
        <p:nvSpPr>
          <p:cNvPr id="2" name="S79">
            <a:extLst xmlns:a="http://schemas.openxmlformats.org/drawingml/2006/main">
              <a:ext uri="{FF2B5EF4-FFF2-40B4-BE49-F238E27FC236}">
                <a16:creationId xmlns:a16="http://schemas.microsoft.com/office/drawing/2014/main" id="{3D3589A2-1859-4E65-8CC6-A464A0F6F38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S79</a:t>
            </a:r>
          </a:p>
        </p:txBody>
      </p:sp>
      <p:sp>
        <p:nvSpPr>
          <p:cNvPr id="3" name="지침을 고친 뒤, 무엇을 다시 확인할까?">
            <a:extLst xmlns:a="http://schemas.openxmlformats.org/drawingml/2006/main">
              <a:ext uri="{FF2B5EF4-FFF2-40B4-BE49-F238E27FC236}">
                <a16:creationId xmlns:a16="http://schemas.microsoft.com/office/drawing/2014/main" id="{ABA86847-9D93-47A0-826B-5CD4BC7DCFE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지침을 고친 뒤, 무엇을 다시 확인할까?</a:t>
            </a:r>
          </a:p>
        </p:txBody>
      </p:sp>
      <p:sp>
        <p:nvSpPr>
          <p:cNvPr id="4" name="">
            <a:extLst xmlns:a="http://schemas.openxmlformats.org/drawingml/2006/main">
              <a:ext uri="{FF2B5EF4-FFF2-40B4-BE49-F238E27FC236}">
                <a16:creationId xmlns:a16="http://schemas.microsoft.com/office/drawing/2014/main" id="{506A4E88-13CE-418B-9811-5A8647E205E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지침 변경 뒤 확인할 질문을 설계한 도식">
            <a:extLst xmlns:a="http://schemas.openxmlformats.org/drawingml/2006/main">
              <a:ext uri="{FF2B5EF4-FFF2-40B4-BE49-F238E27FC236}">
                <a16:creationId xmlns:a16="http://schemas.microsoft.com/office/drawing/2014/main" id="{361E3935-C33C-420C-8375-985927F316A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지침 변경 뒤 확인할 질문을 설계한 도식</a:t>
            </a:r>
          </a:p>
        </p:txBody>
      </p:sp>
      <p:sp>
        <p:nvSpPr>
          <p:cNvPr id="6" name="가상 사례 · 실제 변경·재실행·회귀 검증 결과는 없음">
            <a:extLst xmlns:a="http://schemas.openxmlformats.org/drawingml/2006/main">
              <a:ext uri="{FF2B5EF4-FFF2-40B4-BE49-F238E27FC236}">
                <a16:creationId xmlns:a16="http://schemas.microsoft.com/office/drawing/2014/main" id="{9D4DBBC3-D92B-41C0-8C2A-EB15BED6A59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가상 사례 · 실제 변경·재실행·회귀 검증 결과는 없음</a:t>
            </a:r>
          </a:p>
        </p:txBody>
      </p:sp>
      <p:sp>
        <p:nvSpPr>
          <p:cNvPr id="7" name="가정: 단위 테스트 지침을 단위 + 통합 테스트로 갱신했다면">
            <a:extLst xmlns:a="http://schemas.openxmlformats.org/drawingml/2006/main">
              <a:ext uri="{FF2B5EF4-FFF2-40B4-BE49-F238E27FC236}">
                <a16:creationId xmlns:a16="http://schemas.microsoft.com/office/drawing/2014/main" id="{84BAE115-9C20-4E8E-B8AA-A15A407A88E4}"/>
              </a:ext>
            </a:extLst>
          </p:cNvPr>
          <p:cNvSpPr>
            <a:spLocks xmlns:a="http://schemas.openxmlformats.org/drawingml/2006/main" noGrp="1"/>
          </p:cNvSpPr>
          <p:nvPr/>
        </p:nvSpPr>
        <p:spPr>
          <a:xfrm xmlns:a="http://schemas.openxmlformats.org/drawingml/2006/main">
            <a:off x="609600" y="18097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가정: 단위 테스트 지침을 단위 + 통합 테스트로 갱신했다면</a:t>
            </a:r>
          </a:p>
        </p:txBody>
      </p:sp>
      <p:sp>
        <p:nvSpPr>
          <p:cNvPr id="8" name="같은 작업 다시 확인">
            <a:extLst xmlns:a="http://schemas.openxmlformats.org/drawingml/2006/main">
              <a:ext uri="{FF2B5EF4-FFF2-40B4-BE49-F238E27FC236}">
                <a16:creationId xmlns:a16="http://schemas.microsoft.com/office/drawing/2014/main" id="{F3CCA1F9-9CEF-463A-B528-3B0CF253488F}"/>
              </a:ext>
            </a:extLst>
          </p:cNvPr>
          <p:cNvSpPr>
            <a:spLocks xmlns:a="http://schemas.openxmlformats.org/drawingml/2006/main" noGrp="1"/>
          </p:cNvSpPr>
          <p:nvPr/>
        </p:nvSpPr>
        <p:spPr>
          <a:xfrm xmlns:a="http://schemas.openxmlformats.org/drawingml/2006/main">
            <a:off x="609600" y="2714625"/>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같은 작업 다시 확인</a:t>
            </a:r>
          </a:p>
        </p:txBody>
      </p:sp>
      <p:sp>
        <p:nvSpPr>
          <p:cNvPr id="9" name="">
            <a:extLst xmlns:a="http://schemas.openxmlformats.org/drawingml/2006/main">
              <a:ext uri="{FF2B5EF4-FFF2-40B4-BE49-F238E27FC236}">
                <a16:creationId xmlns:a16="http://schemas.microsoft.com/office/drawing/2014/main" id="{A4098704-7BE0-4FFB-981E-B7FA16DF5DCA}"/>
              </a:ext>
            </a:extLst>
          </p:cNvPr>
          <p:cNvSpPr>
            <a:spLocks xmlns:a="http://schemas.openxmlformats.org/drawingml/2006/main" noGrp="1"/>
          </p:cNvSpPr>
          <p:nvPr/>
        </p:nvSpPr>
        <p:spPr>
          <a:xfrm xmlns:a="http://schemas.openxmlformats.org/drawingml/2006/main">
            <a:off x="609600" y="33051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필요한 단위·통합 검증을&#10;이제 다루는가?">
            <a:extLst xmlns:a="http://schemas.openxmlformats.org/drawingml/2006/main">
              <a:ext uri="{FF2B5EF4-FFF2-40B4-BE49-F238E27FC236}">
                <a16:creationId xmlns:a16="http://schemas.microsoft.com/office/drawing/2014/main" id="{E12E04BD-5877-41F2-A333-B08FB4B56C1C}"/>
              </a:ext>
            </a:extLst>
          </p:cNvPr>
          <p:cNvSpPr>
            <a:spLocks xmlns:a="http://schemas.openxmlformats.org/drawingml/2006/main" noGrp="1"/>
          </p:cNvSpPr>
          <p:nvPr/>
        </p:nvSpPr>
        <p:spPr>
          <a:xfrm xmlns:a="http://schemas.openxmlformats.org/drawingml/2006/main">
            <a:off x="609600" y="3562350"/>
            <a:ext cx="487680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필요한 단위·통합 검증을</a:t>
            </a:r>
          </a:p>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이제 다루는가?</a:t>
            </a:r>
          </a:p>
        </p:txBody>
      </p:sp>
      <p:sp>
        <p:nvSpPr>
          <p:cNvPr id="11" name="이번 변경이 문제를 다루는지">
            <a:extLst xmlns:a="http://schemas.openxmlformats.org/drawingml/2006/main">
              <a:ext uri="{FF2B5EF4-FFF2-40B4-BE49-F238E27FC236}">
                <a16:creationId xmlns:a16="http://schemas.microsoft.com/office/drawing/2014/main" id="{31637FA6-8CD5-4E0D-9382-113240333FBF}"/>
              </a:ext>
            </a:extLst>
          </p:cNvPr>
          <p:cNvSpPr>
            <a:spLocks xmlns:a="http://schemas.openxmlformats.org/drawingml/2006/main" noGrp="1"/>
          </p:cNvSpPr>
          <p:nvPr/>
        </p:nvSpPr>
        <p:spPr>
          <a:xfrm xmlns:a="http://schemas.openxmlformats.org/drawingml/2006/main">
            <a:off x="609600" y="48006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이번 변경이 문제를 다루는지</a:t>
            </a:r>
          </a:p>
        </p:txBody>
      </p:sp>
      <p:sp>
        <p:nvSpPr>
          <p:cNvPr id="12" name="다른 작업에 적용">
            <a:extLst xmlns:a="http://schemas.openxmlformats.org/drawingml/2006/main">
              <a:ext uri="{FF2B5EF4-FFF2-40B4-BE49-F238E27FC236}">
                <a16:creationId xmlns:a16="http://schemas.microsoft.com/office/drawing/2014/main" id="{15F4EE90-BE95-4487-9C36-6B5DEE237B70}"/>
              </a:ext>
            </a:extLst>
          </p:cNvPr>
          <p:cNvSpPr>
            <a:spLocks xmlns:a="http://schemas.openxmlformats.org/drawingml/2006/main" noGrp="1"/>
          </p:cNvSpPr>
          <p:nvPr/>
        </p:nvSpPr>
        <p:spPr>
          <a:xfrm xmlns:a="http://schemas.openxmlformats.org/drawingml/2006/main">
            <a:off x="6705600" y="2714625"/>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805400"/>
                </a:solidFill>
                <a:latin typeface="Malgun Gothic"/>
                <a:ea typeface="Malgun Gothic"/>
                <a:cs typeface="Malgun Gothic"/>
              </a:defRPr>
            </a:defPPr>
            <a:lvl1pPr algn="l">
              <a:defRPr sz="2400" b="1">
                <a:solidFill>
                  <a:srgbClr val="805400"/>
                </a:solidFill>
                <a:latin typeface="Malgun Gothic"/>
                <a:ea typeface="Malgun Gothic"/>
                <a:cs typeface="Malgun Gothic"/>
              </a:defRPr>
            </a:lvl1pPr>
            <a:lvl2pPr algn="l">
              <a:defRPr sz="2400" b="1">
                <a:solidFill>
                  <a:srgbClr val="805400"/>
                </a:solidFill>
                <a:latin typeface="Malgun Gothic"/>
                <a:ea typeface="Malgun Gothic"/>
                <a:cs typeface="Malgun Gothic"/>
              </a:defRPr>
            </a:lvl2pPr>
            <a:lvl3pPr algn="l">
              <a:defRPr sz="2400" b="1">
                <a:solidFill>
                  <a:srgbClr val="805400"/>
                </a:solidFill>
                <a:latin typeface="Malgun Gothic"/>
                <a:ea typeface="Malgun Gothic"/>
                <a:cs typeface="Malgun Gothic"/>
              </a:defRPr>
            </a:lvl3pPr>
            <a:lvl4pPr algn="l">
              <a:defRPr sz="2400" b="1">
                <a:solidFill>
                  <a:srgbClr val="805400"/>
                </a:solidFill>
                <a:latin typeface="Malgun Gothic"/>
                <a:ea typeface="Malgun Gothic"/>
                <a:cs typeface="Malgun Gothic"/>
              </a:defRPr>
            </a:lvl4pPr>
            <a:lvl5pPr algn="l">
              <a:defRPr sz="2400" b="1">
                <a:solidFill>
                  <a:srgbClr val="805400"/>
                </a:solidFill>
                <a:latin typeface="Malgun Gothic"/>
                <a:ea typeface="Malgun Gothic"/>
                <a:cs typeface="Malgun Gothic"/>
              </a:defRPr>
            </a:lvl5pPr>
            <a:lvl6pPr algn="l">
              <a:defRPr sz="2400" b="1">
                <a:solidFill>
                  <a:srgbClr val="805400"/>
                </a:solidFill>
                <a:latin typeface="Malgun Gothic"/>
                <a:ea typeface="Malgun Gothic"/>
                <a:cs typeface="Malgun Gothic"/>
              </a:defRPr>
            </a:lvl6pPr>
            <a:lvl7pPr algn="l">
              <a:defRPr sz="2400" b="1">
                <a:solidFill>
                  <a:srgbClr val="805400"/>
                </a:solidFill>
                <a:latin typeface="Malgun Gothic"/>
                <a:ea typeface="Malgun Gothic"/>
                <a:cs typeface="Malgun Gothic"/>
              </a:defRPr>
            </a:lvl7pPr>
            <a:lvl8pPr algn="l">
              <a:defRPr sz="2400" b="1">
                <a:solidFill>
                  <a:srgbClr val="805400"/>
                </a:solidFill>
                <a:latin typeface="Malgun Gothic"/>
                <a:ea typeface="Malgun Gothic"/>
                <a:cs typeface="Malgun Gothic"/>
              </a:defRPr>
            </a:lvl8pPr>
            <a:lvl9pPr algn="l">
              <a:defRPr sz="2400" b="1">
                <a:solidFill>
                  <a:srgbClr val="805400"/>
                </a:solidFill>
                <a:latin typeface="Malgun Gothic"/>
                <a:ea typeface="Malgun Gothic"/>
                <a:cs typeface="Malgun Gothic"/>
              </a:defRPr>
            </a:lvl9pPr>
          </a:lstStyle>
          <a:p xmlns:a="http://schemas.openxmlformats.org/drawingml/2006/main">
            <a:pPr algn="l">
              <a:defRPr sz="2400" b="1">
                <a:solidFill>
                  <a:srgbClr val="805400"/>
                </a:solidFill>
                <a:latin typeface="Malgun Gothic"/>
                <a:ea typeface="Malgun Gothic"/>
                <a:cs typeface="Malgun Gothic"/>
              </a:defRPr>
            </a:pPr>
            <a:r>
              <a:rPr sz="2400" b="1">
                <a:solidFill>
                  <a:srgbClr val="805400"/>
                </a:solidFill>
                <a:latin typeface="Malgun Gothic"/>
                <a:ea typeface="Malgun Gothic"/>
                <a:cs typeface="Malgun Gothic"/>
              </a:rPr>
              <a:t>다른 작업에 적용</a:t>
            </a:r>
          </a:p>
        </p:txBody>
      </p:sp>
      <p:sp>
        <p:nvSpPr>
          <p:cNvPr id="13" name="">
            <a:extLst xmlns:a="http://schemas.openxmlformats.org/drawingml/2006/main">
              <a:ext uri="{FF2B5EF4-FFF2-40B4-BE49-F238E27FC236}">
                <a16:creationId xmlns:a16="http://schemas.microsoft.com/office/drawing/2014/main" id="{DE9106D6-B34B-49C2-8F70-2F1E173878B2}"/>
              </a:ext>
            </a:extLst>
          </p:cNvPr>
          <p:cNvSpPr>
            <a:spLocks xmlns:a="http://schemas.openxmlformats.org/drawingml/2006/main" noGrp="1"/>
          </p:cNvSpPr>
          <p:nvPr/>
        </p:nvSpPr>
        <p:spPr>
          <a:xfrm xmlns:a="http://schemas.openxmlformats.org/drawingml/2006/main">
            <a:off x="6705600" y="330517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4" name="문서만 고치는 작업에도&#10;불필요한 검증을 강요하나?">
            <a:extLst xmlns:a="http://schemas.openxmlformats.org/drawingml/2006/main">
              <a:ext uri="{FF2B5EF4-FFF2-40B4-BE49-F238E27FC236}">
                <a16:creationId xmlns:a16="http://schemas.microsoft.com/office/drawing/2014/main" id="{AC7F28FC-69ED-4D53-AEA7-F81B97FB0432}"/>
              </a:ext>
            </a:extLst>
          </p:cNvPr>
          <p:cNvSpPr>
            <a:spLocks xmlns:a="http://schemas.openxmlformats.org/drawingml/2006/main" noGrp="1"/>
          </p:cNvSpPr>
          <p:nvPr/>
        </p:nvSpPr>
        <p:spPr>
          <a:xfrm xmlns:a="http://schemas.openxmlformats.org/drawingml/2006/main">
            <a:off x="6705600" y="3562350"/>
            <a:ext cx="487680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문서만 고치는 작업에도</a:t>
            </a:r>
          </a:p>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불필요한 검증을 강요하나?</a:t>
            </a:r>
          </a:p>
        </p:txBody>
      </p:sp>
      <p:sp>
        <p:nvSpPr>
          <p:cNvPr id="15" name="주변 작업을 방해하지 않는지">
            <a:extLst xmlns:a="http://schemas.openxmlformats.org/drawingml/2006/main">
              <a:ext uri="{FF2B5EF4-FFF2-40B4-BE49-F238E27FC236}">
                <a16:creationId xmlns:a16="http://schemas.microsoft.com/office/drawing/2014/main" id="{B01A392F-F3B1-4232-9AE7-511C1C811DA4}"/>
              </a:ext>
            </a:extLst>
          </p:cNvPr>
          <p:cNvSpPr>
            <a:spLocks xmlns:a="http://schemas.openxmlformats.org/drawingml/2006/main" noGrp="1"/>
          </p:cNvSpPr>
          <p:nvPr/>
        </p:nvSpPr>
        <p:spPr>
          <a:xfrm xmlns:a="http://schemas.openxmlformats.org/drawingml/2006/main">
            <a:off x="6705600" y="48006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주변 작업을 방해하지 않는지</a:t>
            </a:r>
          </a:p>
        </p:txBody>
      </p:sp>
      <p:sp>
        <p:nvSpPr>
          <p:cNvPr id="16" name="같은 작업의 재확인과, 다른 대표 작업의 영향 평가">
            <a:extLst xmlns:a="http://schemas.openxmlformats.org/drawingml/2006/main">
              <a:ext uri="{FF2B5EF4-FFF2-40B4-BE49-F238E27FC236}">
                <a16:creationId xmlns:a16="http://schemas.microsoft.com/office/drawing/2014/main" id="{F39E823D-C6F0-4CD1-B9E3-01AB5C108EE9}"/>
              </a:ext>
            </a:extLst>
          </p:cNvPr>
          <p:cNvSpPr>
            <a:spLocks xmlns:a="http://schemas.openxmlformats.org/drawingml/2006/main" noGrp="1"/>
          </p:cNvSpPr>
          <p:nvPr/>
        </p:nvSpPr>
        <p:spPr>
          <a:xfrm xmlns:a="http://schemas.openxmlformats.org/drawingml/2006/main">
            <a:off x="609600" y="536257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같은 작업의 재확인과, 다른 대표 작업의 영향 평가</a:t>
            </a:r>
          </a:p>
        </p:txBody>
      </p:sp>
      <p:sp>
        <p:nvSpPr>
          <p:cNvPr id="17" name="">
            <a:extLst xmlns:a="http://schemas.openxmlformats.org/drawingml/2006/main">
              <a:ext uri="{FF2B5EF4-FFF2-40B4-BE49-F238E27FC236}">
                <a16:creationId xmlns:a16="http://schemas.microsoft.com/office/drawing/2014/main" id="{82079618-9472-4A5C-9A14-88DD97325EEC}"/>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18" name="Practical application tip badge">
            <a:extLst xmlns:a="http://schemas.openxmlformats.org/drawingml/2006/main">
              <a:ext uri="{FF2B5EF4-FFF2-40B4-BE49-F238E27FC236}">
                <a16:creationId xmlns:a16="http://schemas.microsoft.com/office/drawing/2014/main" id="{DAE4DB01-882F-414C-8297-3CC4B6394B40}"/>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19" name="Legacy module connection">
            <a:extLst xmlns:a="http://schemas.openxmlformats.org/drawingml/2006/main">
              <a:ext uri="{FF2B5EF4-FFF2-40B4-BE49-F238E27FC236}">
                <a16:creationId xmlns:a16="http://schemas.microsoft.com/office/drawing/2014/main" id="{AF5AF09D-5515-415C-B6BF-60B0EE80452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973037873"/>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0" name="ACT 4 · CONCEPTUAL / 평가 작업의 선정">
            <a:extLst xmlns:a="http://schemas.openxmlformats.org/drawingml/2006/main">
              <a:ext uri="{FF2B5EF4-FFF2-40B4-BE49-F238E27FC236}">
                <a16:creationId xmlns:a16="http://schemas.microsoft.com/office/drawing/2014/main" id="{CCD90538-A36E-4D4F-B870-FF2E87B0AB4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작업의 선정</a:t>
            </a:r>
          </a:p>
        </p:txBody>
      </p:sp>
      <p:sp>
        <p:nvSpPr>
          <p:cNvPr id="2" name="S80">
            <a:extLst xmlns:a="http://schemas.openxmlformats.org/drawingml/2006/main">
              <a:ext uri="{FF2B5EF4-FFF2-40B4-BE49-F238E27FC236}">
                <a16:creationId xmlns:a16="http://schemas.microsoft.com/office/drawing/2014/main" id="{A746D742-3466-4E4E-95F7-206082386BE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S80</a:t>
            </a:r>
          </a:p>
        </p:txBody>
      </p:sp>
      <p:sp>
        <p:nvSpPr>
          <p:cNvPr id="3" name="대표 작업은 서로 다른 위험을 확인한다">
            <a:extLst xmlns:a="http://schemas.openxmlformats.org/drawingml/2006/main">
              <a:ext uri="{FF2B5EF4-FFF2-40B4-BE49-F238E27FC236}">
                <a16:creationId xmlns:a16="http://schemas.microsoft.com/office/drawing/2014/main" id="{22277140-7B33-4852-ADFB-3904661D2DB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대표 작업은 서로 다른 위험을 확인한다</a:t>
            </a:r>
          </a:p>
        </p:txBody>
      </p:sp>
      <p:sp>
        <p:nvSpPr>
          <p:cNvPr id="4" name="">
            <a:extLst xmlns:a="http://schemas.openxmlformats.org/drawingml/2006/main">
              <a:ext uri="{FF2B5EF4-FFF2-40B4-BE49-F238E27FC236}">
                <a16:creationId xmlns:a16="http://schemas.microsoft.com/office/drawing/2014/main" id="{BE50DD0A-5512-4B06-AA5C-D1C01EDF54B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0 · EVAL-01~04 평가 설계 · 네 작업 모두 변경 후 실행 결과 없음">
            <a:extLst xmlns:a="http://schemas.openxmlformats.org/drawingml/2006/main">
              <a:ext uri="{FF2B5EF4-FFF2-40B4-BE49-F238E27FC236}">
                <a16:creationId xmlns:a16="http://schemas.microsoft.com/office/drawing/2014/main" id="{D2D241B1-E583-48FA-8225-2FC48C8EEB8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DEMO-10 · EVAL-01~04 평가 설계 · 네 작업 모두 변경 후 실행 결과 없음</a:t>
            </a:r>
          </a:p>
        </p:txBody>
      </p:sp>
      <p:sp>
        <p:nvSpPr>
          <p:cNvPr id="6" name="버그·성능은 별도 과거 사례 참고 · 문서·리팩터링은 설계만 있음 · 새 실행·PASS/FAIL 없음">
            <a:extLst xmlns:a="http://schemas.openxmlformats.org/drawingml/2006/main">
              <a:ext uri="{FF2B5EF4-FFF2-40B4-BE49-F238E27FC236}">
                <a16:creationId xmlns:a16="http://schemas.microsoft.com/office/drawing/2014/main" id="{0656AA28-AF7B-4EA1-BF8A-E729089D621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버그·성능은 별도 과거 사례 참고 · 문서·리팩터링은 설계만 있음 · 새 실행·PASS/FAIL 없음</a:t>
            </a:r>
          </a:p>
        </p:txBody>
      </p:sp>
      <p:sp>
        <p:nvSpPr>
          <p:cNvPr id="7" name="지침을 바꿨다면, 서로 다른 작업에도 적용해 본다">
            <a:extLst xmlns:a="http://schemas.openxmlformats.org/drawingml/2006/main">
              <a:ext uri="{FF2B5EF4-FFF2-40B4-BE49-F238E27FC236}">
                <a16:creationId xmlns:a16="http://schemas.microsoft.com/office/drawing/2014/main" id="{4BC17AD0-CB26-4218-BDE7-9AD9D1E1840F}"/>
              </a:ext>
            </a:extLst>
          </p:cNvPr>
          <p:cNvSpPr>
            <a:spLocks xmlns:a="http://schemas.openxmlformats.org/drawingml/2006/main" noGrp="1"/>
          </p:cNvSpPr>
          <p:nvPr/>
        </p:nvSpPr>
        <p:spPr>
          <a:xfrm xmlns:a="http://schemas.openxmlformats.org/drawingml/2006/main">
            <a:off x="609600" y="18097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지침을 바꿨다면, 서로 다른 작업에도 적용해 본다</a:t>
            </a:r>
          </a:p>
        </p:txBody>
      </p:sp>
      <p:graphicFrame>
        <p:nvGraphicFramePr>
          <p:cNvPr id="8" name="">
            <a:extLst xmlns:a="http://schemas.openxmlformats.org/drawingml/2006/main">
              <a:ext uri="{FF2B5EF4-FFF2-40B4-BE49-F238E27FC236}">
                <a16:creationId xmlns:a16="http://schemas.microsoft.com/office/drawing/2014/main" id="{1D4BD268-646E-4B10-8FCD-84D109178007}"/>
              </a:ext>
            </a:extLst>
          </p:cNvPr>
          <p:cNvGraphicFramePr/>
          <p:nvPr/>
        </p:nvGraphicFramePr>
        <p:xfrm>
          <a:off xmlns:a="http://schemas.openxmlformats.org/drawingml/2006/main" x="609600" y="2514600"/>
          <a:ext xmlns:a="http://schemas.openxmlformats.org/drawingml/2006/main" cx="10972800" cy="2857500"/>
        </p:xfrm>
        <a:graphic xmlns:a="http://schemas.openxmlformats.org/drawingml/2006/main">
          <a:graphicData uri="http://schemas.openxmlformats.org/drawingml/2006/table">
            <a:tbl>
              <a:tblPr firstRow="0" bandRow="0"/>
              <a:tblGrid>
                <a:gridCol w="2286000"/>
                <a:gridCol w="5943600"/>
                <a:gridCol w="2743200"/>
              </a:tblGrid>
              <a:tr h="457200">
                <a:tc>
                  <a:txBody>
                    <a:bodyPr wrap="none">
                      <a:noAutofit/>
                    </a:bodyPr>
                    <a:lstStyle/>
                    <a:p>
                      <a:pPr algn="l"/>
                      <a:r>
                        <a:rPr sz="1875" b="1">
                          <a:solidFill>
                            <a:srgbClr val="0B6172"/>
                          </a:solidFill>
                          <a:latin typeface="Malgun Gothic"/>
                          <a:ea typeface="Malgun Gothic"/>
                          <a:cs typeface="Malgun Gothic"/>
                        </a:rPr>
                        <a:t>작업 종류</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확인하려는 위험</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기존 근거</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r>
              <a:tr h="600075">
                <a:tc>
                  <a:txBody>
                    <a:bodyPr wrap="none">
                      <a:noAutofit/>
                    </a:bodyPr>
                    <a:lstStyle/>
                    <a:p>
                      <a:pPr algn="l"/>
                      <a:r>
                        <a:rPr sz="1950" b="1">
                          <a:solidFill>
                            <a:srgbClr val="17212B"/>
                          </a:solidFill>
                          <a:latin typeface="Malgun Gothic"/>
                          <a:ea typeface="Malgun Gothic"/>
                          <a:cs typeface="Malgun Gothic"/>
                        </a:rPr>
                        <a:t>버그 수정</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950" b="0">
                          <a:solidFill>
                            <a:srgbClr val="17212B"/>
                          </a:solidFill>
                          <a:latin typeface="Malgun Gothic"/>
                          <a:ea typeface="Malgun Gothic"/>
                          <a:cs typeface="Malgun Gothic"/>
                        </a:rPr>
                        <a:t>동작 명세를 놓치지 않는가?</a:t>
                      </a:r>
                    </a:p>
                  </a:txBody>
                  <a:tcPr marL="91440" marR="91440" marT="45720" marB="45720" anchor="ctr">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800" b="0">
                          <a:solidFill>
                            <a:srgbClr val="0B6172"/>
                          </a:solidFill>
                          <a:latin typeface="Malgun Gothic"/>
                          <a:ea typeface="Malgun Gothic"/>
                          <a:cs typeface="Malgun Gothic"/>
                        </a:rPr>
                        <a:t>과거 사례 참고</a:t>
                      </a:r>
                    </a:p>
                  </a:txBody>
                  <a:tcPr marL="91440" marR="91440" marT="45720" marB="45720" anchor="ctr">
                    <a:lnR w="7620">
                      <a:solidFill>
                        <a:srgbClr val="C7D0DA"/>
                      </a:solidFill>
                      <a:prstDash val="solid"/>
                    </a:lnR>
                    <a:lnB w="7620">
                      <a:solidFill>
                        <a:srgbClr val="C7D0DA"/>
                      </a:solidFill>
                      <a:prstDash val="solid"/>
                    </a:lnB>
                    <a:solidFill>
                      <a:srgbClr val="F4F6F8"/>
                    </a:solidFill>
                  </a:tcPr>
                </a:tc>
              </a:tr>
              <a:tr h="600075">
                <a:tc>
                  <a:txBody>
                    <a:bodyPr wrap="none">
                      <a:noAutofit/>
                    </a:bodyPr>
                    <a:lstStyle/>
                    <a:p>
                      <a:pPr algn="l"/>
                      <a:r>
                        <a:rPr sz="1950" b="1">
                          <a:solidFill>
                            <a:srgbClr val="17212B"/>
                          </a:solidFill>
                          <a:latin typeface="Malgun Gothic"/>
                          <a:ea typeface="Malgun Gothic"/>
                          <a:cs typeface="Malgun Gothic"/>
                        </a:rPr>
                        <a:t>성능 변경</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950" b="0">
                          <a:solidFill>
                            <a:srgbClr val="17212B"/>
                          </a:solidFill>
                          <a:latin typeface="Malgun Gothic"/>
                          <a:ea typeface="Malgun Gothic"/>
                          <a:cs typeface="Malgun Gothic"/>
                        </a:rPr>
                        <a:t>측정·검증 범위를 지키는가?</a:t>
                      </a:r>
                    </a:p>
                  </a:txBody>
                  <a:tcPr marL="91440" marR="91440" marT="45720" marB="45720" anchor="ctr">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800" b="0">
                          <a:solidFill>
                            <a:srgbClr val="0B6172"/>
                          </a:solidFill>
                          <a:latin typeface="Malgun Gothic"/>
                          <a:ea typeface="Malgun Gothic"/>
                          <a:cs typeface="Malgun Gothic"/>
                        </a:rPr>
                        <a:t>과거 사례 참고</a:t>
                      </a:r>
                    </a:p>
                  </a:txBody>
                  <a:tcPr marL="91440" marR="91440" marT="45720" marB="45720" anchor="ctr">
                    <a:lnR w="7620">
                      <a:solidFill>
                        <a:srgbClr val="C7D0DA"/>
                      </a:solidFill>
                      <a:prstDash val="solid"/>
                    </a:lnR>
                    <a:lnB w="7620">
                      <a:solidFill>
                        <a:srgbClr val="C7D0DA"/>
                      </a:solidFill>
                      <a:prstDash val="solid"/>
                    </a:lnB>
                    <a:solidFill>
                      <a:srgbClr val="F4F6F8"/>
                    </a:solidFill>
                  </a:tcPr>
                </a:tc>
              </a:tr>
              <a:tr h="600075">
                <a:tc>
                  <a:txBody>
                    <a:bodyPr wrap="none">
                      <a:noAutofit/>
                    </a:bodyPr>
                    <a:lstStyle/>
                    <a:p>
                      <a:pPr algn="l"/>
                      <a:r>
                        <a:rPr sz="1950" b="1">
                          <a:solidFill>
                            <a:srgbClr val="17212B"/>
                          </a:solidFill>
                          <a:latin typeface="Malgun Gothic"/>
                          <a:ea typeface="Malgun Gothic"/>
                          <a:cs typeface="Malgun Gothic"/>
                        </a:rPr>
                        <a:t>문서만 수정</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950" b="0">
                          <a:solidFill>
                            <a:srgbClr val="17212B"/>
                          </a:solidFill>
                          <a:latin typeface="Malgun Gothic"/>
                          <a:ea typeface="Malgun Gothic"/>
                          <a:cs typeface="Malgun Gothic"/>
                        </a:rPr>
                        <a:t>불필요한 절차를 강요하는가?</a:t>
                      </a:r>
                    </a:p>
                  </a:txBody>
                  <a:tcPr marL="91440" marR="91440" marT="45720" marB="45720" anchor="ctr">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800" b="0">
                          <a:solidFill>
                            <a:srgbClr val="805400"/>
                          </a:solidFill>
                          <a:latin typeface="Malgun Gothic"/>
                          <a:ea typeface="Malgun Gothic"/>
                          <a:cs typeface="Malgun Gothic"/>
                        </a:rPr>
                        <a:t>평가 설계만 있음</a:t>
                      </a:r>
                    </a:p>
                  </a:txBody>
                  <a:tcPr marL="91440" marR="91440" marT="45720" marB="45720" anchor="ctr">
                    <a:lnR w="7620">
                      <a:solidFill>
                        <a:srgbClr val="C7D0DA"/>
                      </a:solidFill>
                      <a:prstDash val="solid"/>
                    </a:lnR>
                    <a:lnB w="7620">
                      <a:solidFill>
                        <a:srgbClr val="C7D0DA"/>
                      </a:solidFill>
                      <a:prstDash val="solid"/>
                    </a:lnB>
                    <a:solidFill>
                      <a:srgbClr val="F4F6F8"/>
                    </a:solidFill>
                  </a:tcPr>
                </a:tc>
              </a:tr>
              <a:tr h="600075">
                <a:tc>
                  <a:txBody>
                    <a:bodyPr wrap="none">
                      <a:noAutofit/>
                    </a:bodyPr>
                    <a:lstStyle/>
                    <a:p>
                      <a:pPr algn="l"/>
                      <a:r>
                        <a:rPr sz="1950" b="1">
                          <a:solidFill>
                            <a:srgbClr val="17212B"/>
                          </a:solidFill>
                          <a:latin typeface="Malgun Gothic"/>
                          <a:ea typeface="Malgun Gothic"/>
                          <a:cs typeface="Malgun Gothic"/>
                        </a:rPr>
                        <a:t>작은 리팩터링</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950" b="0">
                          <a:solidFill>
                            <a:srgbClr val="17212B"/>
                          </a:solidFill>
                          <a:latin typeface="Malgun Gothic"/>
                          <a:ea typeface="Malgun Gothic"/>
                          <a:cs typeface="Malgun Gothic"/>
                        </a:rPr>
                        <a:t>다른 유효한 작업을 방해하는가?</a:t>
                      </a:r>
                    </a:p>
                  </a:txBody>
                  <a:tcPr marL="91440" marR="91440" marT="45720" marB="45720" anchor="ctr">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800" b="0">
                          <a:solidFill>
                            <a:srgbClr val="805400"/>
                          </a:solidFill>
                          <a:latin typeface="Malgun Gothic"/>
                          <a:ea typeface="Malgun Gothic"/>
                          <a:cs typeface="Malgun Gothic"/>
                        </a:rPr>
                        <a:t>평가 설계만 있음</a:t>
                      </a:r>
                    </a:p>
                  </a:txBody>
                  <a:tcPr marL="91440" marR="91440" marT="45720" marB="45720" anchor="ctr">
                    <a:lnR w="7620">
                      <a:solidFill>
                        <a:srgbClr val="C7D0DA"/>
                      </a:solidFill>
                      <a:prstDash val="solid"/>
                    </a:lnR>
                    <a:lnB w="7620">
                      <a:solidFill>
                        <a:srgbClr val="C7D0DA"/>
                      </a:solidFill>
                      <a:prstDash val="solid"/>
                    </a:lnB>
                    <a:solidFill>
                      <a:srgbClr val="F4F6F8"/>
                    </a:solidFill>
                  </a:tcPr>
                </a:tc>
              </a:tr>
            </a:tbl>
          </a:graphicData>
        </a:graphic>
      </p:graphicFrame>
      <p:sp>
        <p:nvSpPr>
          <p:cNvPr id="9" name="Legacy module connection">
            <a:extLst xmlns:a="http://schemas.openxmlformats.org/drawingml/2006/main">
              <a:ext uri="{FF2B5EF4-FFF2-40B4-BE49-F238E27FC236}">
                <a16:creationId xmlns:a16="http://schemas.microsoft.com/office/drawing/2014/main" id="{AE891450-3692-4528-8DF2-8D2E3EB7B0A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34040025"/>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4 · CONCEPTUAL / 규칙의 영향과 유지 비용">
            <a:extLst xmlns:a="http://schemas.openxmlformats.org/drawingml/2006/main">
              <a:ext uri="{FF2B5EF4-FFF2-40B4-BE49-F238E27FC236}">
                <a16:creationId xmlns:a16="http://schemas.microsoft.com/office/drawing/2014/main" id="{2E1FC5D0-FFE0-4960-8E09-65A374B3F13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규칙의 영향과 유지 비용</a:t>
            </a:r>
          </a:p>
        </p:txBody>
      </p:sp>
      <p:sp>
        <p:nvSpPr>
          <p:cNvPr id="2" name="S81">
            <a:extLst xmlns:a="http://schemas.openxmlformats.org/drawingml/2006/main">
              <a:ext uri="{FF2B5EF4-FFF2-40B4-BE49-F238E27FC236}">
                <a16:creationId xmlns:a16="http://schemas.microsoft.com/office/drawing/2014/main" id="{74E4630A-619F-48B1-AD81-71647E2DF35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S81</a:t>
            </a:r>
          </a:p>
        </p:txBody>
      </p:sp>
      <p:sp>
        <p:nvSpPr>
          <p:cNvPr id="3" name="한 작업에 맞춘 규칙,&#10;다른 작업에도 맞을까?">
            <a:extLst xmlns:a="http://schemas.openxmlformats.org/drawingml/2006/main">
              <a:ext uri="{FF2B5EF4-FFF2-40B4-BE49-F238E27FC236}">
                <a16:creationId xmlns:a16="http://schemas.microsoft.com/office/drawing/2014/main" id="{6ED0ABB4-DD90-4165-8F2A-4697E5A2B64F}"/>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한 작업에 맞춘 규칙,</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다른 작업에도 맞을까?</a:t>
            </a:r>
          </a:p>
        </p:txBody>
      </p:sp>
      <p:sp>
        <p:nvSpPr>
          <p:cNvPr id="4" name="">
            <a:extLst xmlns:a="http://schemas.openxmlformats.org/drawingml/2006/main">
              <a:ext uri="{FF2B5EF4-FFF2-40B4-BE49-F238E27FC236}">
                <a16:creationId xmlns:a16="http://schemas.microsoft.com/office/drawing/2014/main" id="{A471D3E0-DB7D-4812-B1EB-A4B77F8ECA1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특정 작업에만 맞추는 과적합은 교육용 비유">
            <a:extLst xmlns:a="http://schemas.openxmlformats.org/drawingml/2006/main">
              <a:ext uri="{FF2B5EF4-FFF2-40B4-BE49-F238E27FC236}">
                <a16:creationId xmlns:a16="http://schemas.microsoft.com/office/drawing/2014/main" id="{92E752D1-208D-451C-9A0A-36D6DA54A38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특정 작업에만 맞추는 과적합은 교육용 비유</a:t>
            </a:r>
          </a:p>
        </p:txBody>
      </p:sp>
      <p:sp>
        <p:nvSpPr>
          <p:cNvPr id="6" name="아래는 가정의 비교 · 실제 실행·비용 측정 아님 · ML의 통계적 과적합과 동일시하지 않음">
            <a:extLst xmlns:a="http://schemas.openxmlformats.org/drawingml/2006/main">
              <a:ext uri="{FF2B5EF4-FFF2-40B4-BE49-F238E27FC236}">
                <a16:creationId xmlns:a16="http://schemas.microsoft.com/office/drawing/2014/main" id="{ABDA53E7-3356-4D7A-9DD7-2DF333EEC25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아래는 가정의 비교 · 실제 실행·비용 측정 아님 · ML의 통계적 과적합과 동일시하지 않음</a:t>
            </a:r>
          </a:p>
        </p:txBody>
      </p:sp>
      <p:sp>
        <p:nvSpPr>
          <p:cNvPr id="7" name="가정: 모든 작업에 통합 테스트를 요구하도록 넓힌다면">
            <a:extLst xmlns:a="http://schemas.openxmlformats.org/drawingml/2006/main">
              <a:ext uri="{FF2B5EF4-FFF2-40B4-BE49-F238E27FC236}">
                <a16:creationId xmlns:a16="http://schemas.microsoft.com/office/drawing/2014/main" id="{DF49B5A7-528D-402C-B8FE-CD519A9B2345}"/>
              </a:ext>
            </a:extLst>
          </p:cNvPr>
          <p:cNvSpPr>
            <a:spLocks xmlns:a="http://schemas.openxmlformats.org/drawingml/2006/main" noGrp="1"/>
          </p:cNvSpPr>
          <p:nvPr/>
        </p:nvSpPr>
        <p:spPr>
          <a:xfrm xmlns:a="http://schemas.openxmlformats.org/drawingml/2006/main">
            <a:off x="609600" y="20574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가정: 모든 작업에 통합 테스트를 요구하도록 넓힌다면</a:t>
            </a:r>
          </a:p>
        </p:txBody>
      </p:sp>
      <p:sp>
        <p:nvSpPr>
          <p:cNvPr id="8" name="전역 지침">
            <a:extLst xmlns:a="http://schemas.openxmlformats.org/drawingml/2006/main">
              <a:ext uri="{FF2B5EF4-FFF2-40B4-BE49-F238E27FC236}">
                <a16:creationId xmlns:a16="http://schemas.microsoft.com/office/drawing/2014/main" id="{148297D6-398E-4616-BE2C-154F6255F74C}"/>
              </a:ext>
            </a:extLst>
          </p:cNvPr>
          <p:cNvSpPr>
            <a:spLocks xmlns:a="http://schemas.openxmlformats.org/drawingml/2006/main" noGrp="1"/>
          </p:cNvSpPr>
          <p:nvPr/>
        </p:nvSpPr>
        <p:spPr>
          <a:xfrm xmlns:a="http://schemas.openxmlformats.org/drawingml/2006/main">
            <a:off x="609600" y="2914650"/>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전역 지침</a:t>
            </a:r>
          </a:p>
        </p:txBody>
      </p:sp>
      <p:sp>
        <p:nvSpPr>
          <p:cNvPr id="9" name="">
            <a:extLst xmlns:a="http://schemas.openxmlformats.org/drawingml/2006/main">
              <a:ext uri="{FF2B5EF4-FFF2-40B4-BE49-F238E27FC236}">
                <a16:creationId xmlns:a16="http://schemas.microsoft.com/office/drawing/2014/main" id="{9A23430B-2432-4EB5-B07D-4457388AC512}"/>
              </a:ext>
            </a:extLst>
          </p:cNvPr>
          <p:cNvSpPr>
            <a:spLocks xmlns:a="http://schemas.openxmlformats.org/drawingml/2006/main" noGrp="1"/>
          </p:cNvSpPr>
          <p:nvPr/>
        </p:nvSpPr>
        <p:spPr>
          <a:xfrm xmlns:a="http://schemas.openxmlformats.org/drawingml/2006/main">
            <a:off x="609600" y="3390900"/>
            <a:ext cx="335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10" name="모든 작업에&#10;통합 테스트">
            <a:extLst xmlns:a="http://schemas.openxmlformats.org/drawingml/2006/main">
              <a:ext uri="{FF2B5EF4-FFF2-40B4-BE49-F238E27FC236}">
                <a16:creationId xmlns:a16="http://schemas.microsoft.com/office/drawing/2014/main" id="{54CB33C8-3078-4E28-BC42-1E9A5260B279}"/>
              </a:ext>
            </a:extLst>
          </p:cNvPr>
          <p:cNvSpPr>
            <a:spLocks xmlns:a="http://schemas.openxmlformats.org/drawingml/2006/main" noGrp="1"/>
          </p:cNvSpPr>
          <p:nvPr/>
        </p:nvSpPr>
        <p:spPr>
          <a:xfrm xmlns:a="http://schemas.openxmlformats.org/drawingml/2006/main">
            <a:off x="609600" y="3629025"/>
            <a:ext cx="33528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모든 작업에</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통합 테스트</a:t>
            </a:r>
          </a:p>
        </p:txBody>
      </p:sp>
      <p:cxnSp>
        <p:nvCxnSpPr>
          <p:cNvPr id="11" name="">
            <a:extLst xmlns:a="http://schemas.openxmlformats.org/drawingml/2006/main">
              <a:ext uri="{FF2B5EF4-FFF2-40B4-BE49-F238E27FC236}">
                <a16:creationId xmlns:a16="http://schemas.microsoft.com/office/drawing/2014/main" id="{112160FB-BEA5-4E43-8C7A-40FCC8EA00AC}"/>
              </a:ext>
            </a:extLst>
          </p:cNvPr>
          <p:cNvCxnSpPr/>
          <p:nvPr/>
        </p:nvCxnSpPr>
        <p:spPr>
          <a:xfrm xmlns:a="http://schemas.openxmlformats.org/drawingml/2006/main">
            <a:off x="4171950" y="3933825"/>
            <a:ext cx="11811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024BF0A9-95CF-417C-9F8C-5E430AD4DAA5}"/>
              </a:ext>
            </a:extLst>
          </p:cNvPr>
          <p:cNvSpPr>
            <a:spLocks xmlns:a="http://schemas.openxmlformats.org/drawingml/2006/main" noGrp="1"/>
          </p:cNvSpPr>
          <p:nvPr/>
        </p:nvSpPr>
        <p:spPr>
          <a:xfrm xmlns:a="http://schemas.openxmlformats.org/drawingml/2006/main">
            <a:off x="5353050" y="3171825"/>
            <a:ext cx="0" cy="1524000"/>
          </a:xfrm>
          <a:prstGeom xmlns:a="http://schemas.openxmlformats.org/drawingml/2006/main" prst="line">
            <a:avLst/>
          </a:prstGeom>
          <a:ln xmlns:a="http://schemas.openxmlformats.org/drawingml/2006/main" w="23813">
            <a:solidFill>
              <a:srgbClr val="0B6172"/>
            </a:solidFill>
          </a:ln>
        </p:spPr>
      </p:sp>
      <p:cxnSp>
        <p:nvCxnSpPr>
          <p:cNvPr id="13" name="">
            <a:extLst xmlns:a="http://schemas.openxmlformats.org/drawingml/2006/main">
              <a:ext uri="{FF2B5EF4-FFF2-40B4-BE49-F238E27FC236}">
                <a16:creationId xmlns:a16="http://schemas.microsoft.com/office/drawing/2014/main" id="{01F09AB9-B965-485F-8189-4310D34FACB5}"/>
              </a:ext>
            </a:extLst>
          </p:cNvPr>
          <p:cNvCxnSpPr/>
          <p:nvPr/>
        </p:nvCxnSpPr>
        <p:spPr>
          <a:xfrm xmlns:a="http://schemas.openxmlformats.org/drawingml/2006/main">
            <a:off x="5353050" y="3171825"/>
            <a:ext cx="97155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4" name="">
            <a:extLst xmlns:a="http://schemas.openxmlformats.org/drawingml/2006/main">
              <a:ext uri="{FF2B5EF4-FFF2-40B4-BE49-F238E27FC236}">
                <a16:creationId xmlns:a16="http://schemas.microsoft.com/office/drawing/2014/main" id="{8AD3ED03-41F3-41ED-B9D4-3197EB1A3A8D}"/>
              </a:ext>
            </a:extLst>
          </p:cNvPr>
          <p:cNvCxnSpPr/>
          <p:nvPr/>
        </p:nvCxnSpPr>
        <p:spPr>
          <a:xfrm xmlns:a="http://schemas.openxmlformats.org/drawingml/2006/main">
            <a:off x="5353050" y="4695825"/>
            <a:ext cx="9715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코드 변경">
            <a:extLst xmlns:a="http://schemas.openxmlformats.org/drawingml/2006/main">
              <a:ext uri="{FF2B5EF4-FFF2-40B4-BE49-F238E27FC236}">
                <a16:creationId xmlns:a16="http://schemas.microsoft.com/office/drawing/2014/main" id="{DB8BCD5B-B33F-4BBC-A15E-655045D769CC}"/>
              </a:ext>
            </a:extLst>
          </p:cNvPr>
          <p:cNvSpPr>
            <a:spLocks xmlns:a="http://schemas.openxmlformats.org/drawingml/2006/main" noGrp="1"/>
          </p:cNvSpPr>
          <p:nvPr/>
        </p:nvSpPr>
        <p:spPr>
          <a:xfrm xmlns:a="http://schemas.openxmlformats.org/drawingml/2006/main">
            <a:off x="6705600" y="2733675"/>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코드 변경</a:t>
            </a:r>
          </a:p>
        </p:txBody>
      </p:sp>
      <p:sp>
        <p:nvSpPr>
          <p:cNvPr id="16" name="필요한 검증 범위를 확인">
            <a:extLst xmlns:a="http://schemas.openxmlformats.org/drawingml/2006/main">
              <a:ext uri="{FF2B5EF4-FFF2-40B4-BE49-F238E27FC236}">
                <a16:creationId xmlns:a16="http://schemas.microsoft.com/office/drawing/2014/main" id="{FF555FB0-4D90-41FC-BA88-978E18D1A100}"/>
              </a:ext>
            </a:extLst>
          </p:cNvPr>
          <p:cNvSpPr>
            <a:spLocks xmlns:a="http://schemas.openxmlformats.org/drawingml/2006/main" noGrp="1"/>
          </p:cNvSpPr>
          <p:nvPr/>
        </p:nvSpPr>
        <p:spPr>
          <a:xfrm xmlns:a="http://schemas.openxmlformats.org/drawingml/2006/main">
            <a:off x="6705600" y="3190875"/>
            <a:ext cx="4876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필요한 검증 범위를 확인</a:t>
            </a:r>
          </a:p>
        </p:txBody>
      </p:sp>
      <p:sp>
        <p:nvSpPr>
          <p:cNvPr id="17" name="문서만 수정">
            <a:extLst xmlns:a="http://schemas.openxmlformats.org/drawingml/2006/main">
              <a:ext uri="{FF2B5EF4-FFF2-40B4-BE49-F238E27FC236}">
                <a16:creationId xmlns:a16="http://schemas.microsoft.com/office/drawing/2014/main" id="{8E7403B7-2DA3-4105-BFC4-EFD25F6224DD}"/>
              </a:ext>
            </a:extLst>
          </p:cNvPr>
          <p:cNvSpPr>
            <a:spLocks xmlns:a="http://schemas.openxmlformats.org/drawingml/2006/main" noGrp="1"/>
          </p:cNvSpPr>
          <p:nvPr/>
        </p:nvSpPr>
        <p:spPr>
          <a:xfrm xmlns:a="http://schemas.openxmlformats.org/drawingml/2006/main">
            <a:off x="6705600" y="41910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문서만 수정</a:t>
            </a:r>
          </a:p>
        </p:txBody>
      </p:sp>
      <p:sp>
        <p:nvSpPr>
          <p:cNvPr id="18" name="불필요한 절차가 될 수 있음">
            <a:extLst xmlns:a="http://schemas.openxmlformats.org/drawingml/2006/main">
              <a:ext uri="{FF2B5EF4-FFF2-40B4-BE49-F238E27FC236}">
                <a16:creationId xmlns:a16="http://schemas.microsoft.com/office/drawing/2014/main" id="{AD5D73BF-9366-454D-AC51-6966ACAF1498}"/>
              </a:ext>
            </a:extLst>
          </p:cNvPr>
          <p:cNvSpPr>
            <a:spLocks xmlns:a="http://schemas.openxmlformats.org/drawingml/2006/main" noGrp="1"/>
          </p:cNvSpPr>
          <p:nvPr/>
        </p:nvSpPr>
        <p:spPr>
          <a:xfrm xmlns:a="http://schemas.openxmlformats.org/drawingml/2006/main">
            <a:off x="6705600" y="4648200"/>
            <a:ext cx="4876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불필요한 절차가 될 수 있음</a:t>
            </a:r>
          </a:p>
        </p:txBody>
      </p:sp>
      <p:sp>
        <p:nvSpPr>
          <p:cNvPr id="19" name="규칙 누적·충돌·특정 작업 편중을 보고, 원인과 범위에 맞춰 정리">
            <a:extLst xmlns:a="http://schemas.openxmlformats.org/drawingml/2006/main">
              <a:ext uri="{FF2B5EF4-FFF2-40B4-BE49-F238E27FC236}">
                <a16:creationId xmlns:a16="http://schemas.microsoft.com/office/drawing/2014/main" id="{A8B45B15-66A9-41C3-AFEA-D9BAB356036F}"/>
              </a:ext>
            </a:extLst>
          </p:cNvPr>
          <p:cNvSpPr>
            <a:spLocks xmlns:a="http://schemas.openxmlformats.org/drawingml/2006/main" noGrp="1"/>
          </p:cNvSpPr>
          <p:nvPr/>
        </p:nvSpPr>
        <p:spPr>
          <a:xfrm xmlns:a="http://schemas.openxmlformats.org/drawingml/2006/main">
            <a:off x="609600" y="536257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규칙 누적·충돌·특정 작업 편중을 보고, 원인과 범위에 맞춰 정리</a:t>
            </a:r>
          </a:p>
        </p:txBody>
      </p:sp>
      <p:sp>
        <p:nvSpPr>
          <p:cNvPr id="20" name="Legacy module connection">
            <a:extLst xmlns:a="http://schemas.openxmlformats.org/drawingml/2006/main">
              <a:ext uri="{FF2B5EF4-FFF2-40B4-BE49-F238E27FC236}">
                <a16:creationId xmlns:a16="http://schemas.microsoft.com/office/drawing/2014/main" id="{20BC5A5B-B929-44F3-BDE2-80FBFA43C68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106916339"/>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7" name="ACT 4 · 이 교육의 Loop 운영 모델">
            <a:extLst xmlns:a="http://schemas.openxmlformats.org/drawingml/2006/main">
              <a:ext uri="{FF2B5EF4-FFF2-40B4-BE49-F238E27FC236}">
                <a16:creationId xmlns:a16="http://schemas.microsoft.com/office/drawing/2014/main" id="{006995DD-638B-488A-85B6-CDE74E15DC0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이 교육의 Loop 운영 모델</a:t>
            </a:r>
          </a:p>
        </p:txBody>
      </p:sp>
      <p:sp>
        <p:nvSpPr>
          <p:cNvPr id="2" name="S82">
            <a:extLst xmlns:a="http://schemas.openxmlformats.org/drawingml/2006/main">
              <a:ext uri="{FF2B5EF4-FFF2-40B4-BE49-F238E27FC236}">
                <a16:creationId xmlns:a16="http://schemas.microsoft.com/office/drawing/2014/main" id="{C601447E-BE7C-41A7-AADE-1EED603052A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S82</a:t>
            </a:r>
          </a:p>
        </p:txBody>
      </p:sp>
      <p:sp>
        <p:nvSpPr>
          <p:cNvPr id="3" name="관찰을 시스템 개선으로 잇는 Loop">
            <a:extLst xmlns:a="http://schemas.openxmlformats.org/drawingml/2006/main">
              <a:ext uri="{FF2B5EF4-FFF2-40B4-BE49-F238E27FC236}">
                <a16:creationId xmlns:a16="http://schemas.microsoft.com/office/drawing/2014/main" id="{667C08DD-901D-4349-9C4E-18D286313AE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관찰을 시스템 개선으로 잇는 Loop</a:t>
            </a:r>
          </a:p>
        </p:txBody>
      </p:sp>
      <p:sp>
        <p:nvSpPr>
          <p:cNvPr id="4" name="">
            <a:extLst xmlns:a="http://schemas.openxmlformats.org/drawingml/2006/main">
              <a:ext uri="{FF2B5EF4-FFF2-40B4-BE49-F238E27FC236}">
                <a16:creationId xmlns:a16="http://schemas.microsoft.com/office/drawing/2014/main" id="{3C77942A-C189-48FF-859E-CF02DFBE6F5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앞선 가상 사례를 정리한 운영 모델">
            <a:extLst xmlns:a="http://schemas.openxmlformats.org/drawingml/2006/main">
              <a:ext uri="{FF2B5EF4-FFF2-40B4-BE49-F238E27FC236}">
                <a16:creationId xmlns:a16="http://schemas.microsoft.com/office/drawing/2014/main" id="{69AEF97D-516C-4864-9DB3-29883FA4E35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앞선 가상 사례를 정리한 운영 모델</a:t>
            </a:r>
          </a:p>
        </p:txBody>
      </p:sp>
      <p:sp>
        <p:nvSpPr>
          <p:cNvPr id="6" name="실제 실행·수정·평가 결과 없음 · 자동 학습이나 관찰된 Product Loop가 아님">
            <a:extLst xmlns:a="http://schemas.openxmlformats.org/drawingml/2006/main">
              <a:ext uri="{FF2B5EF4-FFF2-40B4-BE49-F238E27FC236}">
                <a16:creationId xmlns:a16="http://schemas.microsoft.com/office/drawing/2014/main" id="{DAE29BC3-DD32-4812-B996-71CBB748BAA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실행·수정·평가 결과 없음 · 자동 학습이나 관찰된 Product Loop가 아님</a:t>
            </a:r>
          </a:p>
        </p:txBody>
      </p:sp>
      <p:sp>
        <p:nvSpPr>
          <p:cNvPr id="7" name="앞 단계에서 얻은 근거로, 다음 단계의 판단을 한다">
            <a:extLst xmlns:a="http://schemas.openxmlformats.org/drawingml/2006/main">
              <a:ext uri="{FF2B5EF4-FFF2-40B4-BE49-F238E27FC236}">
                <a16:creationId xmlns:a16="http://schemas.microsoft.com/office/drawing/2014/main" id="{3C7E0B23-EBFA-40A6-86AB-A877E95EF231}"/>
              </a:ext>
            </a:extLst>
          </p:cNvPr>
          <p:cNvSpPr>
            <a:spLocks xmlns:a="http://schemas.openxmlformats.org/drawingml/2006/main" noGrp="1"/>
          </p:cNvSpPr>
          <p:nvPr/>
        </p:nvSpPr>
        <p:spPr>
          <a:xfrm xmlns:a="http://schemas.openxmlformats.org/drawingml/2006/main">
            <a:off x="609600" y="17811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앞 단계에서 얻은 근거로, 다음 단계의 판단을 한다</a:t>
            </a:r>
          </a:p>
        </p:txBody>
      </p:sp>
      <p:sp>
        <p:nvSpPr>
          <p:cNvPr id="8" name="01">
            <a:extLst xmlns:a="http://schemas.openxmlformats.org/drawingml/2006/main">
              <a:ext uri="{FF2B5EF4-FFF2-40B4-BE49-F238E27FC236}">
                <a16:creationId xmlns:a16="http://schemas.microsoft.com/office/drawing/2014/main" id="{5CB9740E-E980-47DB-95D2-B58BF503701C}"/>
              </a:ext>
            </a:extLst>
          </p:cNvPr>
          <p:cNvSpPr>
            <a:spLocks xmlns:a="http://schemas.openxmlformats.org/drawingml/2006/main" noGrp="1"/>
          </p:cNvSpPr>
          <p:nvPr/>
        </p:nvSpPr>
        <p:spPr>
          <a:xfrm xmlns:a="http://schemas.openxmlformats.org/drawingml/2006/main">
            <a:off x="609600" y="2409825"/>
            <a:ext cx="1981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01</a:t>
            </a:r>
          </a:p>
        </p:txBody>
      </p:sp>
      <p:sp>
        <p:nvSpPr>
          <p:cNvPr id="9" name="">
            <a:extLst xmlns:a="http://schemas.openxmlformats.org/drawingml/2006/main">
              <a:ext uri="{FF2B5EF4-FFF2-40B4-BE49-F238E27FC236}">
                <a16:creationId xmlns:a16="http://schemas.microsoft.com/office/drawing/2014/main" id="{4BB77E55-3AB5-4317-90FD-06E3EBB5C778}"/>
              </a:ext>
            </a:extLst>
          </p:cNvPr>
          <p:cNvSpPr>
            <a:spLocks xmlns:a="http://schemas.openxmlformats.org/drawingml/2006/main" noGrp="1"/>
          </p:cNvSpPr>
          <p:nvPr/>
        </p:nvSpPr>
        <p:spPr>
          <a:xfrm xmlns:a="http://schemas.openxmlformats.org/drawingml/2006/main">
            <a:off x="609600" y="282892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실행">
            <a:extLst xmlns:a="http://schemas.openxmlformats.org/drawingml/2006/main">
              <a:ext uri="{FF2B5EF4-FFF2-40B4-BE49-F238E27FC236}">
                <a16:creationId xmlns:a16="http://schemas.microsoft.com/office/drawing/2014/main" id="{96FDF344-3701-46A5-B8E5-3046002163A9}"/>
              </a:ext>
            </a:extLst>
          </p:cNvPr>
          <p:cNvSpPr>
            <a:spLocks xmlns:a="http://schemas.openxmlformats.org/drawingml/2006/main" noGrp="1"/>
          </p:cNvSpPr>
          <p:nvPr/>
        </p:nvSpPr>
        <p:spPr>
          <a:xfrm xmlns:a="http://schemas.openxmlformats.org/drawingml/2006/main">
            <a:off x="609600" y="2971800"/>
            <a:ext cx="1981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a:t>
            </a:r>
          </a:p>
        </p:txBody>
      </p:sp>
      <p:sp>
        <p:nvSpPr>
          <p:cNvPr id="11" name="요청·지침대로&#10;무엇을 했나?">
            <a:extLst xmlns:a="http://schemas.openxmlformats.org/drawingml/2006/main">
              <a:ext uri="{FF2B5EF4-FFF2-40B4-BE49-F238E27FC236}">
                <a16:creationId xmlns:a16="http://schemas.microsoft.com/office/drawing/2014/main" id="{7E340FE3-E429-45E1-904C-C5F900B9B701}"/>
              </a:ext>
            </a:extLst>
          </p:cNvPr>
          <p:cNvSpPr>
            <a:spLocks xmlns:a="http://schemas.openxmlformats.org/drawingml/2006/main" noGrp="1"/>
          </p:cNvSpPr>
          <p:nvPr/>
        </p:nvSpPr>
        <p:spPr>
          <a:xfrm xmlns:a="http://schemas.openxmlformats.org/drawingml/2006/main">
            <a:off x="609600" y="3457575"/>
            <a:ext cx="19812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요청·지침대로</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무엇을 했나?</a:t>
            </a:r>
          </a:p>
        </p:txBody>
      </p:sp>
      <p:sp>
        <p:nvSpPr>
          <p:cNvPr id="12" name="">
            <a:extLst xmlns:a="http://schemas.openxmlformats.org/drawingml/2006/main">
              <a:ext uri="{FF2B5EF4-FFF2-40B4-BE49-F238E27FC236}">
                <a16:creationId xmlns:a16="http://schemas.microsoft.com/office/drawing/2014/main" id="{1A381D1F-0B24-4E0E-B119-266D43DF2FE9}"/>
              </a:ext>
            </a:extLst>
          </p:cNvPr>
          <p:cNvSpPr>
            <a:spLocks xmlns:a="http://schemas.openxmlformats.org/drawingml/2006/main" noGrp="1"/>
          </p:cNvSpPr>
          <p:nvPr/>
        </p:nvSpPr>
        <p:spPr>
          <a:xfrm xmlns:a="http://schemas.openxmlformats.org/drawingml/2006/main">
            <a:off x="609600" y="4371975"/>
            <a:ext cx="1981200" cy="7143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수행한 작업의&#10;기록">
            <a:extLst xmlns:a="http://schemas.openxmlformats.org/drawingml/2006/main">
              <a:ext uri="{FF2B5EF4-FFF2-40B4-BE49-F238E27FC236}">
                <a16:creationId xmlns:a16="http://schemas.microsoft.com/office/drawing/2014/main" id="{9DEF4908-9C40-4877-90E4-3634E2B53AE6}"/>
              </a:ext>
            </a:extLst>
          </p:cNvPr>
          <p:cNvSpPr>
            <a:spLocks xmlns:a="http://schemas.openxmlformats.org/drawingml/2006/main" noGrp="1"/>
          </p:cNvSpPr>
          <p:nvPr/>
        </p:nvSpPr>
        <p:spPr>
          <a:xfrm xmlns:a="http://schemas.openxmlformats.org/drawingml/2006/main">
            <a:off x="704850" y="4438650"/>
            <a:ext cx="17907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수행한 작업의</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기록</a:t>
            </a:r>
          </a:p>
        </p:txBody>
      </p:sp>
      <p:cxnSp>
        <p:nvCxnSpPr>
          <p:cNvPr id="14" name="">
            <a:extLst xmlns:a="http://schemas.openxmlformats.org/drawingml/2006/main">
              <a:ext uri="{FF2B5EF4-FFF2-40B4-BE49-F238E27FC236}">
                <a16:creationId xmlns:a16="http://schemas.microsoft.com/office/drawing/2014/main" id="{E70D2B68-C424-4071-8DBD-D552E296AE69}"/>
              </a:ext>
            </a:extLst>
          </p:cNvPr>
          <p:cNvCxnSpPr/>
          <p:nvPr/>
        </p:nvCxnSpPr>
        <p:spPr>
          <a:xfrm xmlns:a="http://schemas.openxmlformats.org/drawingml/2006/main">
            <a:off x="2647950" y="31718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02">
            <a:extLst xmlns:a="http://schemas.openxmlformats.org/drawingml/2006/main">
              <a:ext uri="{FF2B5EF4-FFF2-40B4-BE49-F238E27FC236}">
                <a16:creationId xmlns:a16="http://schemas.microsoft.com/office/drawing/2014/main" id="{0E828AB2-D1B8-4DF3-92E5-4955C768DF57}"/>
              </a:ext>
            </a:extLst>
          </p:cNvPr>
          <p:cNvSpPr>
            <a:spLocks xmlns:a="http://schemas.openxmlformats.org/drawingml/2006/main" noGrp="1"/>
          </p:cNvSpPr>
          <p:nvPr/>
        </p:nvSpPr>
        <p:spPr>
          <a:xfrm xmlns:a="http://schemas.openxmlformats.org/drawingml/2006/main">
            <a:off x="2857500" y="2409825"/>
            <a:ext cx="1981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02</a:t>
            </a:r>
          </a:p>
        </p:txBody>
      </p:sp>
      <p:sp>
        <p:nvSpPr>
          <p:cNvPr id="16" name="">
            <a:extLst xmlns:a="http://schemas.openxmlformats.org/drawingml/2006/main">
              <a:ext uri="{FF2B5EF4-FFF2-40B4-BE49-F238E27FC236}">
                <a16:creationId xmlns:a16="http://schemas.microsoft.com/office/drawing/2014/main" id="{022D1F65-C68B-4D34-AD26-770ADE166A25}"/>
              </a:ext>
            </a:extLst>
          </p:cNvPr>
          <p:cNvSpPr>
            <a:spLocks xmlns:a="http://schemas.openxmlformats.org/drawingml/2006/main" noGrp="1"/>
          </p:cNvSpPr>
          <p:nvPr/>
        </p:nvSpPr>
        <p:spPr>
          <a:xfrm xmlns:a="http://schemas.openxmlformats.org/drawingml/2006/main">
            <a:off x="2857500" y="282892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관찰">
            <a:extLst xmlns:a="http://schemas.openxmlformats.org/drawingml/2006/main">
              <a:ext uri="{FF2B5EF4-FFF2-40B4-BE49-F238E27FC236}">
                <a16:creationId xmlns:a16="http://schemas.microsoft.com/office/drawing/2014/main" id="{E33C1ACB-C913-4BF7-AE28-14EE5144F1E6}"/>
              </a:ext>
            </a:extLst>
          </p:cNvPr>
          <p:cNvSpPr>
            <a:spLocks xmlns:a="http://schemas.openxmlformats.org/drawingml/2006/main" noGrp="1"/>
          </p:cNvSpPr>
          <p:nvPr/>
        </p:nvSpPr>
        <p:spPr>
          <a:xfrm xmlns:a="http://schemas.openxmlformats.org/drawingml/2006/main">
            <a:off x="2857500" y="2971800"/>
            <a:ext cx="1981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관찰</a:t>
            </a:r>
          </a:p>
        </p:txBody>
      </p:sp>
      <p:sp>
        <p:nvSpPr>
          <p:cNvPr id="18" name="기준과 무엇이&#10;달랐나?">
            <a:extLst xmlns:a="http://schemas.openxmlformats.org/drawingml/2006/main">
              <a:ext uri="{FF2B5EF4-FFF2-40B4-BE49-F238E27FC236}">
                <a16:creationId xmlns:a16="http://schemas.microsoft.com/office/drawing/2014/main" id="{094A88E1-73AE-4812-B5C1-F11D720C3002}"/>
              </a:ext>
            </a:extLst>
          </p:cNvPr>
          <p:cNvSpPr>
            <a:spLocks xmlns:a="http://schemas.openxmlformats.org/drawingml/2006/main" noGrp="1"/>
          </p:cNvSpPr>
          <p:nvPr/>
        </p:nvSpPr>
        <p:spPr>
          <a:xfrm xmlns:a="http://schemas.openxmlformats.org/drawingml/2006/main">
            <a:off x="2857500" y="3457575"/>
            <a:ext cx="19812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기준과 무엇이</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달랐나?</a:t>
            </a:r>
          </a:p>
        </p:txBody>
      </p:sp>
      <p:sp>
        <p:nvSpPr>
          <p:cNvPr id="19" name="">
            <a:extLst xmlns:a="http://schemas.openxmlformats.org/drawingml/2006/main">
              <a:ext uri="{FF2B5EF4-FFF2-40B4-BE49-F238E27FC236}">
                <a16:creationId xmlns:a16="http://schemas.microsoft.com/office/drawing/2014/main" id="{93E13AB5-3FAB-4141-AD81-3B1DEE1EF329}"/>
              </a:ext>
            </a:extLst>
          </p:cNvPr>
          <p:cNvSpPr>
            <a:spLocks xmlns:a="http://schemas.openxmlformats.org/drawingml/2006/main" noGrp="1"/>
          </p:cNvSpPr>
          <p:nvPr/>
        </p:nvSpPr>
        <p:spPr>
          <a:xfrm xmlns:a="http://schemas.openxmlformats.org/drawingml/2006/main">
            <a:off x="2857500" y="4371975"/>
            <a:ext cx="1981200" cy="7143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현재 기준과의&#10;차이">
            <a:extLst xmlns:a="http://schemas.openxmlformats.org/drawingml/2006/main">
              <a:ext uri="{FF2B5EF4-FFF2-40B4-BE49-F238E27FC236}">
                <a16:creationId xmlns:a16="http://schemas.microsoft.com/office/drawing/2014/main" id="{777F8753-91C2-4632-B194-8FCD72C56552}"/>
              </a:ext>
            </a:extLst>
          </p:cNvPr>
          <p:cNvSpPr>
            <a:spLocks xmlns:a="http://schemas.openxmlformats.org/drawingml/2006/main" noGrp="1"/>
          </p:cNvSpPr>
          <p:nvPr/>
        </p:nvSpPr>
        <p:spPr>
          <a:xfrm xmlns:a="http://schemas.openxmlformats.org/drawingml/2006/main">
            <a:off x="2952750" y="4438650"/>
            <a:ext cx="17907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현재 기준과의</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차이</a:t>
            </a:r>
          </a:p>
        </p:txBody>
      </p:sp>
      <p:cxnSp>
        <p:nvCxnSpPr>
          <p:cNvPr id="21" name="">
            <a:extLst xmlns:a="http://schemas.openxmlformats.org/drawingml/2006/main">
              <a:ext uri="{FF2B5EF4-FFF2-40B4-BE49-F238E27FC236}">
                <a16:creationId xmlns:a16="http://schemas.microsoft.com/office/drawing/2014/main" id="{52E5F777-FA81-4F1F-9682-28552F1E8B8D}"/>
              </a:ext>
            </a:extLst>
          </p:cNvPr>
          <p:cNvCxnSpPr/>
          <p:nvPr/>
        </p:nvCxnSpPr>
        <p:spPr>
          <a:xfrm xmlns:a="http://schemas.openxmlformats.org/drawingml/2006/main">
            <a:off x="4895850" y="31718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03">
            <a:extLst xmlns:a="http://schemas.openxmlformats.org/drawingml/2006/main">
              <a:ext uri="{FF2B5EF4-FFF2-40B4-BE49-F238E27FC236}">
                <a16:creationId xmlns:a16="http://schemas.microsoft.com/office/drawing/2014/main" id="{BD6F9D52-25E3-4E87-8EB1-D44A4C2EC3C8}"/>
              </a:ext>
            </a:extLst>
          </p:cNvPr>
          <p:cNvSpPr>
            <a:spLocks xmlns:a="http://schemas.openxmlformats.org/drawingml/2006/main" noGrp="1"/>
          </p:cNvSpPr>
          <p:nvPr/>
        </p:nvSpPr>
        <p:spPr>
          <a:xfrm xmlns:a="http://schemas.openxmlformats.org/drawingml/2006/main">
            <a:off x="5105400" y="2409825"/>
            <a:ext cx="1981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03</a:t>
            </a:r>
          </a:p>
        </p:txBody>
      </p:sp>
      <p:sp>
        <p:nvSpPr>
          <p:cNvPr id="23" name="">
            <a:extLst xmlns:a="http://schemas.openxmlformats.org/drawingml/2006/main">
              <a:ext uri="{FF2B5EF4-FFF2-40B4-BE49-F238E27FC236}">
                <a16:creationId xmlns:a16="http://schemas.microsoft.com/office/drawing/2014/main" id="{8338B119-29D6-4D0F-B9D5-2E93933B6A22}"/>
              </a:ext>
            </a:extLst>
          </p:cNvPr>
          <p:cNvSpPr>
            <a:spLocks xmlns:a="http://schemas.openxmlformats.org/drawingml/2006/main" noGrp="1"/>
          </p:cNvSpPr>
          <p:nvPr/>
        </p:nvSpPr>
        <p:spPr>
          <a:xfrm xmlns:a="http://schemas.openxmlformats.org/drawingml/2006/main">
            <a:off x="5105400" y="282892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4" name="원인 판단">
            <a:extLst xmlns:a="http://schemas.openxmlformats.org/drawingml/2006/main">
              <a:ext uri="{FF2B5EF4-FFF2-40B4-BE49-F238E27FC236}">
                <a16:creationId xmlns:a16="http://schemas.microsoft.com/office/drawing/2014/main" id="{4E1D486F-3A24-4775-A5E7-0C09138C68CB}"/>
              </a:ext>
            </a:extLst>
          </p:cNvPr>
          <p:cNvSpPr>
            <a:spLocks xmlns:a="http://schemas.openxmlformats.org/drawingml/2006/main" noGrp="1"/>
          </p:cNvSpPr>
          <p:nvPr/>
        </p:nvSpPr>
        <p:spPr>
          <a:xfrm xmlns:a="http://schemas.openxmlformats.org/drawingml/2006/main">
            <a:off x="5105400" y="2971800"/>
            <a:ext cx="1981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원인 판단</a:t>
            </a:r>
          </a:p>
        </p:txBody>
      </p:sp>
      <p:sp>
        <p:nvSpPr>
          <p:cNvPr id="25" name="무슨 근거로&#10;판단하나?">
            <a:extLst xmlns:a="http://schemas.openxmlformats.org/drawingml/2006/main">
              <a:ext uri="{FF2B5EF4-FFF2-40B4-BE49-F238E27FC236}">
                <a16:creationId xmlns:a16="http://schemas.microsoft.com/office/drawing/2014/main" id="{71AB464D-B120-46F6-ACF5-722A74CACFA9}"/>
              </a:ext>
            </a:extLst>
          </p:cNvPr>
          <p:cNvSpPr>
            <a:spLocks xmlns:a="http://schemas.openxmlformats.org/drawingml/2006/main" noGrp="1"/>
          </p:cNvSpPr>
          <p:nvPr/>
        </p:nvSpPr>
        <p:spPr>
          <a:xfrm xmlns:a="http://schemas.openxmlformats.org/drawingml/2006/main">
            <a:off x="5105400" y="3457575"/>
            <a:ext cx="19812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무슨 근거로</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판단하나?</a:t>
            </a:r>
          </a:p>
        </p:txBody>
      </p:sp>
      <p:sp>
        <p:nvSpPr>
          <p:cNvPr id="26" name="">
            <a:extLst xmlns:a="http://schemas.openxmlformats.org/drawingml/2006/main">
              <a:ext uri="{FF2B5EF4-FFF2-40B4-BE49-F238E27FC236}">
                <a16:creationId xmlns:a16="http://schemas.microsoft.com/office/drawing/2014/main" id="{1A9D7800-B3B3-4203-B47C-DAD49628BFBC}"/>
              </a:ext>
            </a:extLst>
          </p:cNvPr>
          <p:cNvSpPr>
            <a:spLocks xmlns:a="http://schemas.openxmlformats.org/drawingml/2006/main" noGrp="1"/>
          </p:cNvSpPr>
          <p:nvPr/>
        </p:nvSpPr>
        <p:spPr>
          <a:xfrm xmlns:a="http://schemas.openxmlformats.org/drawingml/2006/main">
            <a:off x="5105400" y="4371975"/>
            <a:ext cx="1981200" cy="7143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확인한 원인과&#10;남은 가설">
            <a:extLst xmlns:a="http://schemas.openxmlformats.org/drawingml/2006/main">
              <a:ext uri="{FF2B5EF4-FFF2-40B4-BE49-F238E27FC236}">
                <a16:creationId xmlns:a16="http://schemas.microsoft.com/office/drawing/2014/main" id="{FCF04CDA-9EC5-46CD-B275-5E335028D288}"/>
              </a:ext>
            </a:extLst>
          </p:cNvPr>
          <p:cNvSpPr>
            <a:spLocks xmlns:a="http://schemas.openxmlformats.org/drawingml/2006/main" noGrp="1"/>
          </p:cNvSpPr>
          <p:nvPr/>
        </p:nvSpPr>
        <p:spPr>
          <a:xfrm xmlns:a="http://schemas.openxmlformats.org/drawingml/2006/main">
            <a:off x="5200650" y="4438650"/>
            <a:ext cx="17907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확인한 원인과</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남은 가설</a:t>
            </a:r>
          </a:p>
        </p:txBody>
      </p:sp>
      <p:cxnSp>
        <p:nvCxnSpPr>
          <p:cNvPr id="28" name="">
            <a:extLst xmlns:a="http://schemas.openxmlformats.org/drawingml/2006/main">
              <a:ext uri="{FF2B5EF4-FFF2-40B4-BE49-F238E27FC236}">
                <a16:creationId xmlns:a16="http://schemas.microsoft.com/office/drawing/2014/main" id="{97CF5218-A7C0-4603-B6FE-9E6E819C3C0D}"/>
              </a:ext>
            </a:extLst>
          </p:cNvPr>
          <p:cNvCxnSpPr/>
          <p:nvPr/>
        </p:nvCxnSpPr>
        <p:spPr>
          <a:xfrm xmlns:a="http://schemas.openxmlformats.org/drawingml/2006/main">
            <a:off x="7143750" y="31718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9" name="04">
            <a:extLst xmlns:a="http://schemas.openxmlformats.org/drawingml/2006/main">
              <a:ext uri="{FF2B5EF4-FFF2-40B4-BE49-F238E27FC236}">
                <a16:creationId xmlns:a16="http://schemas.microsoft.com/office/drawing/2014/main" id="{17CEAE3B-968D-4844-B38C-1ED50CB0A2EB}"/>
              </a:ext>
            </a:extLst>
          </p:cNvPr>
          <p:cNvSpPr>
            <a:spLocks xmlns:a="http://schemas.openxmlformats.org/drawingml/2006/main" noGrp="1"/>
          </p:cNvSpPr>
          <p:nvPr/>
        </p:nvSpPr>
        <p:spPr>
          <a:xfrm xmlns:a="http://schemas.openxmlformats.org/drawingml/2006/main">
            <a:off x="7353300" y="2409825"/>
            <a:ext cx="1981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04</a:t>
            </a:r>
          </a:p>
        </p:txBody>
      </p:sp>
      <p:sp>
        <p:nvSpPr>
          <p:cNvPr id="30" name="">
            <a:extLst xmlns:a="http://schemas.openxmlformats.org/drawingml/2006/main">
              <a:ext uri="{FF2B5EF4-FFF2-40B4-BE49-F238E27FC236}">
                <a16:creationId xmlns:a16="http://schemas.microsoft.com/office/drawing/2014/main" id="{B0730DA2-82FA-4A5D-83C7-E61735C833AC}"/>
              </a:ext>
            </a:extLst>
          </p:cNvPr>
          <p:cNvSpPr>
            <a:spLocks xmlns:a="http://schemas.openxmlformats.org/drawingml/2006/main" noGrp="1"/>
          </p:cNvSpPr>
          <p:nvPr/>
        </p:nvSpPr>
        <p:spPr>
          <a:xfrm xmlns:a="http://schemas.openxmlformats.org/drawingml/2006/main">
            <a:off x="7353300" y="282892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1" name="시스템 변경">
            <a:extLst xmlns:a="http://schemas.openxmlformats.org/drawingml/2006/main">
              <a:ext uri="{FF2B5EF4-FFF2-40B4-BE49-F238E27FC236}">
                <a16:creationId xmlns:a16="http://schemas.microsoft.com/office/drawing/2014/main" id="{2C8EB5A3-A561-4C71-A976-FE8CD038FE17}"/>
              </a:ext>
            </a:extLst>
          </p:cNvPr>
          <p:cNvSpPr>
            <a:spLocks xmlns:a="http://schemas.openxmlformats.org/drawingml/2006/main" noGrp="1"/>
          </p:cNvSpPr>
          <p:nvPr/>
        </p:nvSpPr>
        <p:spPr>
          <a:xfrm xmlns:a="http://schemas.openxmlformats.org/drawingml/2006/main">
            <a:off x="7353300" y="2971800"/>
            <a:ext cx="1981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시스템 변경</a:t>
            </a:r>
          </a:p>
        </p:txBody>
      </p:sp>
      <p:sp>
        <p:nvSpPr>
          <p:cNvPr id="32" name="어느 출처를&#10;얼마나 바꾸나?">
            <a:extLst xmlns:a="http://schemas.openxmlformats.org/drawingml/2006/main">
              <a:ext uri="{FF2B5EF4-FFF2-40B4-BE49-F238E27FC236}">
                <a16:creationId xmlns:a16="http://schemas.microsoft.com/office/drawing/2014/main" id="{08851A43-D2E9-44BB-A888-92711B824B24}"/>
              </a:ext>
            </a:extLst>
          </p:cNvPr>
          <p:cNvSpPr>
            <a:spLocks xmlns:a="http://schemas.openxmlformats.org/drawingml/2006/main" noGrp="1"/>
          </p:cNvSpPr>
          <p:nvPr/>
        </p:nvSpPr>
        <p:spPr>
          <a:xfrm xmlns:a="http://schemas.openxmlformats.org/drawingml/2006/main">
            <a:off x="7353300" y="3457575"/>
            <a:ext cx="19812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어느 출처를</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얼마나 바꾸나?</a:t>
            </a:r>
          </a:p>
        </p:txBody>
      </p:sp>
      <p:sp>
        <p:nvSpPr>
          <p:cNvPr id="33" name="">
            <a:extLst xmlns:a="http://schemas.openxmlformats.org/drawingml/2006/main">
              <a:ext uri="{FF2B5EF4-FFF2-40B4-BE49-F238E27FC236}">
                <a16:creationId xmlns:a16="http://schemas.microsoft.com/office/drawing/2014/main" id="{281D763F-130A-446C-BF0F-FDF5D77D3685}"/>
              </a:ext>
            </a:extLst>
          </p:cNvPr>
          <p:cNvSpPr>
            <a:spLocks xmlns:a="http://schemas.openxmlformats.org/drawingml/2006/main" noGrp="1"/>
          </p:cNvSpPr>
          <p:nvPr/>
        </p:nvSpPr>
        <p:spPr>
          <a:xfrm xmlns:a="http://schemas.openxmlformats.org/drawingml/2006/main">
            <a:off x="7353300" y="4371975"/>
            <a:ext cx="1981200" cy="7143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4" name="사람이 검토한&#10;출처·변경 범위">
            <a:extLst xmlns:a="http://schemas.openxmlformats.org/drawingml/2006/main">
              <a:ext uri="{FF2B5EF4-FFF2-40B4-BE49-F238E27FC236}">
                <a16:creationId xmlns:a16="http://schemas.microsoft.com/office/drawing/2014/main" id="{EDAE8B72-7537-4FB3-AD32-96B77EEB0503}"/>
              </a:ext>
            </a:extLst>
          </p:cNvPr>
          <p:cNvSpPr>
            <a:spLocks xmlns:a="http://schemas.openxmlformats.org/drawingml/2006/main" noGrp="1"/>
          </p:cNvSpPr>
          <p:nvPr/>
        </p:nvSpPr>
        <p:spPr>
          <a:xfrm xmlns:a="http://schemas.openxmlformats.org/drawingml/2006/main">
            <a:off x="7448550" y="4438650"/>
            <a:ext cx="17907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사람이 검토한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출처·변경 범위</a:t>
            </a:r>
          </a:p>
        </p:txBody>
      </p:sp>
      <p:cxnSp>
        <p:nvCxnSpPr>
          <p:cNvPr id="35" name="">
            <a:extLst xmlns:a="http://schemas.openxmlformats.org/drawingml/2006/main">
              <a:ext uri="{FF2B5EF4-FFF2-40B4-BE49-F238E27FC236}">
                <a16:creationId xmlns:a16="http://schemas.microsoft.com/office/drawing/2014/main" id="{83E99DF2-018D-4B02-BC2F-96F452C4F61E}"/>
              </a:ext>
            </a:extLst>
          </p:cNvPr>
          <p:cNvCxnSpPr/>
          <p:nvPr/>
        </p:nvCxnSpPr>
        <p:spPr>
          <a:xfrm xmlns:a="http://schemas.openxmlformats.org/drawingml/2006/main">
            <a:off x="9391650" y="31718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6" name="05">
            <a:extLst xmlns:a="http://schemas.openxmlformats.org/drawingml/2006/main">
              <a:ext uri="{FF2B5EF4-FFF2-40B4-BE49-F238E27FC236}">
                <a16:creationId xmlns:a16="http://schemas.microsoft.com/office/drawing/2014/main" id="{002A245D-87B2-4722-963D-28A90745CF90}"/>
              </a:ext>
            </a:extLst>
          </p:cNvPr>
          <p:cNvSpPr>
            <a:spLocks xmlns:a="http://schemas.openxmlformats.org/drawingml/2006/main" noGrp="1"/>
          </p:cNvSpPr>
          <p:nvPr/>
        </p:nvSpPr>
        <p:spPr>
          <a:xfrm xmlns:a="http://schemas.openxmlformats.org/drawingml/2006/main">
            <a:off x="9601200" y="2409825"/>
            <a:ext cx="1981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05</a:t>
            </a:r>
          </a:p>
        </p:txBody>
      </p:sp>
      <p:sp>
        <p:nvSpPr>
          <p:cNvPr id="37" name="">
            <a:extLst xmlns:a="http://schemas.openxmlformats.org/drawingml/2006/main">
              <a:ext uri="{FF2B5EF4-FFF2-40B4-BE49-F238E27FC236}">
                <a16:creationId xmlns:a16="http://schemas.microsoft.com/office/drawing/2014/main" id="{0FC6E261-B855-48E4-97E5-F369AD43D281}"/>
              </a:ext>
            </a:extLst>
          </p:cNvPr>
          <p:cNvSpPr>
            <a:spLocks xmlns:a="http://schemas.openxmlformats.org/drawingml/2006/main" noGrp="1"/>
          </p:cNvSpPr>
          <p:nvPr/>
        </p:nvSpPr>
        <p:spPr>
          <a:xfrm xmlns:a="http://schemas.openxmlformats.org/drawingml/2006/main">
            <a:off x="9601200" y="282892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8" name="재평가">
            <a:extLst xmlns:a="http://schemas.openxmlformats.org/drawingml/2006/main">
              <a:ext uri="{FF2B5EF4-FFF2-40B4-BE49-F238E27FC236}">
                <a16:creationId xmlns:a16="http://schemas.microsoft.com/office/drawing/2014/main" id="{3CAC37C8-A74A-4095-9C6E-E64D2598E3A8}"/>
              </a:ext>
            </a:extLst>
          </p:cNvPr>
          <p:cNvSpPr>
            <a:spLocks xmlns:a="http://schemas.openxmlformats.org/drawingml/2006/main" noGrp="1"/>
          </p:cNvSpPr>
          <p:nvPr/>
        </p:nvSpPr>
        <p:spPr>
          <a:xfrm xmlns:a="http://schemas.openxmlformats.org/drawingml/2006/main">
            <a:off x="9601200" y="2971800"/>
            <a:ext cx="1981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재평가</a:t>
            </a:r>
          </a:p>
        </p:txBody>
      </p:sp>
      <p:sp>
        <p:nvSpPr>
          <p:cNvPr id="39" name="다른 작업에도&#10;괜찮나?">
            <a:extLst xmlns:a="http://schemas.openxmlformats.org/drawingml/2006/main">
              <a:ext uri="{FF2B5EF4-FFF2-40B4-BE49-F238E27FC236}">
                <a16:creationId xmlns:a16="http://schemas.microsoft.com/office/drawing/2014/main" id="{C890C12B-42DC-4850-ACAB-2D517A599C72}"/>
              </a:ext>
            </a:extLst>
          </p:cNvPr>
          <p:cNvSpPr>
            <a:spLocks xmlns:a="http://schemas.openxmlformats.org/drawingml/2006/main" noGrp="1"/>
          </p:cNvSpPr>
          <p:nvPr/>
        </p:nvSpPr>
        <p:spPr>
          <a:xfrm xmlns:a="http://schemas.openxmlformats.org/drawingml/2006/main">
            <a:off x="9601200" y="3457575"/>
            <a:ext cx="19812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다른 작업에도</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괜찮나?</a:t>
            </a:r>
          </a:p>
        </p:txBody>
      </p:sp>
      <p:sp>
        <p:nvSpPr>
          <p:cNvPr id="40" name="">
            <a:extLst xmlns:a="http://schemas.openxmlformats.org/drawingml/2006/main">
              <a:ext uri="{FF2B5EF4-FFF2-40B4-BE49-F238E27FC236}">
                <a16:creationId xmlns:a16="http://schemas.microsoft.com/office/drawing/2014/main" id="{EA49B310-EFF8-4272-87E3-1E93379E06E8}"/>
              </a:ext>
            </a:extLst>
          </p:cNvPr>
          <p:cNvSpPr>
            <a:spLocks xmlns:a="http://schemas.openxmlformats.org/drawingml/2006/main" noGrp="1"/>
          </p:cNvSpPr>
          <p:nvPr/>
        </p:nvSpPr>
        <p:spPr>
          <a:xfrm xmlns:a="http://schemas.openxmlformats.org/drawingml/2006/main">
            <a:off x="9601200" y="4371975"/>
            <a:ext cx="1981200" cy="7143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1" name="확인한 영향과&#10;남은 한계">
            <a:extLst xmlns:a="http://schemas.openxmlformats.org/drawingml/2006/main">
              <a:ext uri="{FF2B5EF4-FFF2-40B4-BE49-F238E27FC236}">
                <a16:creationId xmlns:a16="http://schemas.microsoft.com/office/drawing/2014/main" id="{48B5EEBC-2AAA-4416-8979-5FB93E9354BB}"/>
              </a:ext>
            </a:extLst>
          </p:cNvPr>
          <p:cNvSpPr>
            <a:spLocks xmlns:a="http://schemas.openxmlformats.org/drawingml/2006/main" noGrp="1"/>
          </p:cNvSpPr>
          <p:nvPr/>
        </p:nvSpPr>
        <p:spPr>
          <a:xfrm xmlns:a="http://schemas.openxmlformats.org/drawingml/2006/main">
            <a:off x="9696450" y="4438650"/>
            <a:ext cx="17907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확인한 영향과</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남은 한계</a:t>
            </a:r>
          </a:p>
        </p:txBody>
      </p:sp>
      <p:sp>
        <p:nvSpPr>
          <p:cNvPr id="42" name="">
            <a:extLst xmlns:a="http://schemas.openxmlformats.org/drawingml/2006/main">
              <a:ext uri="{FF2B5EF4-FFF2-40B4-BE49-F238E27FC236}">
                <a16:creationId xmlns:a16="http://schemas.microsoft.com/office/drawing/2014/main" id="{5339B21D-2D09-4234-A418-E5B5D1EB8EF0}"/>
              </a:ext>
            </a:extLst>
          </p:cNvPr>
          <p:cNvSpPr>
            <a:spLocks xmlns:a="http://schemas.openxmlformats.org/drawingml/2006/main" noGrp="1"/>
          </p:cNvSpPr>
          <p:nvPr/>
        </p:nvSpPr>
        <p:spPr>
          <a:xfrm xmlns:a="http://schemas.openxmlformats.org/drawingml/2006/main">
            <a:off x="10591800" y="5133975"/>
            <a:ext cx="0" cy="142875"/>
          </a:xfrm>
          <a:prstGeom xmlns:a="http://schemas.openxmlformats.org/drawingml/2006/main" prst="line">
            <a:avLst/>
          </a:prstGeom>
          <a:ln xmlns:a="http://schemas.openxmlformats.org/drawingml/2006/main" w="23813">
            <a:solidFill>
              <a:srgbClr val="0B6172"/>
            </a:solidFill>
          </a:ln>
        </p:spPr>
      </p:sp>
      <p:sp>
        <p:nvSpPr>
          <p:cNvPr id="43" name="">
            <a:extLst xmlns:a="http://schemas.openxmlformats.org/drawingml/2006/main">
              <a:ext uri="{FF2B5EF4-FFF2-40B4-BE49-F238E27FC236}">
                <a16:creationId xmlns:a16="http://schemas.microsoft.com/office/drawing/2014/main" id="{3C0A9DAA-AC6F-4D2E-A6FE-3391D0C09A04}"/>
              </a:ext>
            </a:extLst>
          </p:cNvPr>
          <p:cNvSpPr>
            <a:spLocks xmlns:a="http://schemas.openxmlformats.org/drawingml/2006/main" noGrp="1"/>
          </p:cNvSpPr>
          <p:nvPr/>
        </p:nvSpPr>
        <p:spPr>
          <a:xfrm xmlns:a="http://schemas.openxmlformats.org/drawingml/2006/main">
            <a:off x="1600200" y="5276850"/>
            <a:ext cx="89916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44" name="">
            <a:extLst xmlns:a="http://schemas.openxmlformats.org/drawingml/2006/main">
              <a:ext uri="{FF2B5EF4-FFF2-40B4-BE49-F238E27FC236}">
                <a16:creationId xmlns:a16="http://schemas.microsoft.com/office/drawing/2014/main" id="{B1DBA950-E022-4D54-95AD-C2676220DE34}"/>
              </a:ext>
            </a:extLst>
          </p:cNvPr>
          <p:cNvCxnSpPr/>
          <p:nvPr/>
        </p:nvCxnSpPr>
        <p:spPr>
          <a:xfrm xmlns:a="http://schemas.openxmlformats.org/drawingml/2006/main">
            <a:off x="1600200" y="5133975"/>
            <a:ext cx="0" cy="142875"/>
          </a:xfrm>
          <a:prstGeom xmlns:a="http://schemas.openxmlformats.org/drawingml/2006/main" prst="straightConnector1">
            <a:avLst/>
          </a:prstGeom>
          <a:ln xmlns:a="http://schemas.openxmlformats.org/drawingml/2006/main" w="23813">
            <a:solidFill>
              <a:srgbClr val="0B6172"/>
            </a:solidFill>
            <a:headEnd type="triangle" w="sm" len="sm"/>
          </a:ln>
        </p:spPr>
      </p:cxnSp>
      <p:sp>
        <p:nvSpPr>
          <p:cNvPr id="45" name="다음 작업에서도, 기록과 근거로 다시 확인">
            <a:extLst xmlns:a="http://schemas.openxmlformats.org/drawingml/2006/main">
              <a:ext uri="{FF2B5EF4-FFF2-40B4-BE49-F238E27FC236}">
                <a16:creationId xmlns:a16="http://schemas.microsoft.com/office/drawing/2014/main" id="{8DFD583A-4A53-4837-8CD4-E66DDF025577}"/>
              </a:ext>
            </a:extLst>
          </p:cNvPr>
          <p:cNvSpPr>
            <a:spLocks xmlns:a="http://schemas.openxmlformats.org/drawingml/2006/main" noGrp="1"/>
          </p:cNvSpPr>
          <p:nvPr/>
        </p:nvSpPr>
        <p:spPr>
          <a:xfrm xmlns:a="http://schemas.openxmlformats.org/drawingml/2006/main">
            <a:off x="609600" y="540067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다음 작업에서도, 기록과 근거로 다시 확인</a:t>
            </a:r>
          </a:p>
        </p:txBody>
      </p:sp>
      <p:sp>
        <p:nvSpPr>
          <p:cNvPr id="46" name="Legacy module connection">
            <a:extLst xmlns:a="http://schemas.openxmlformats.org/drawingml/2006/main">
              <a:ext uri="{FF2B5EF4-FFF2-40B4-BE49-F238E27FC236}">
                <a16:creationId xmlns:a16="http://schemas.microsoft.com/office/drawing/2014/main" id="{9EDA13CF-4811-4EF6-8F71-028D929C92D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867660512"/>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실제 교육 Demo 제작 기록 / OBSERVED_META">
            <a:extLst xmlns:a="http://schemas.openxmlformats.org/drawingml/2006/main">
              <a:ext uri="{FF2B5EF4-FFF2-40B4-BE49-F238E27FC236}">
                <a16:creationId xmlns:a16="http://schemas.microsoft.com/office/drawing/2014/main" id="{39D68279-244C-4A56-AE54-92A9C5E9812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실제 교육 Demo 제작 기록 / OBSERVED_META</a:t>
            </a:r>
          </a:p>
        </p:txBody>
      </p:sp>
      <p:sp>
        <p:nvSpPr>
          <p:cNvPr id="2" name="S83">
            <a:extLst xmlns:a="http://schemas.openxmlformats.org/drawingml/2006/main">
              <a:ext uri="{FF2B5EF4-FFF2-40B4-BE49-F238E27FC236}">
                <a16:creationId xmlns:a16="http://schemas.microsoft.com/office/drawing/2014/main" id="{B5C78863-E368-4C5A-84DD-95FD09D045B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S83</a:t>
            </a:r>
          </a:p>
        </p:txBody>
      </p:sp>
      <p:sp>
        <p:nvSpPr>
          <p:cNvPr id="3" name="평가·보고 기준도 개선 대상이다">
            <a:extLst xmlns:a="http://schemas.openxmlformats.org/drawingml/2006/main">
              <a:ext uri="{FF2B5EF4-FFF2-40B4-BE49-F238E27FC236}">
                <a16:creationId xmlns:a16="http://schemas.microsoft.com/office/drawing/2014/main" id="{C690F0A7-9710-472A-8BF2-B0EAF97EE91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평가·보고 기준도 개선 대상이다</a:t>
            </a:r>
          </a:p>
        </p:txBody>
      </p:sp>
      <p:sp>
        <p:nvSpPr>
          <p:cNvPr id="4" name="">
            <a:extLst xmlns:a="http://schemas.openxmlformats.org/drawingml/2006/main">
              <a:ext uri="{FF2B5EF4-FFF2-40B4-BE49-F238E27FC236}">
                <a16:creationId xmlns:a16="http://schemas.microsoft.com/office/drawing/2014/main" id="{D4C36FA6-F00E-42BA-90B0-2422EBFC44A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AE03076E-D90C-4F4F-B344-2C3621CE3B96}"/>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과거 Codex CLI의 Resize 성능 조사 · 기록 재구성">
            <a:extLst xmlns:a="http://schemas.openxmlformats.org/drawingml/2006/main">
              <a:ext uri="{FF2B5EF4-FFF2-40B4-BE49-F238E27FC236}">
                <a16:creationId xmlns:a16="http://schemas.microsoft.com/office/drawing/2014/main" id="{E065E91A-57AC-4F21-BF5C-95AC4978FBD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과거 Codex CLI의 Resize 성능 조사 · 기록 재구성</a:t>
            </a:r>
          </a:p>
        </p:txBody>
      </p:sp>
      <p:sp>
        <p:nvSpPr>
          <p:cNvPr id="7" name="앞의 가상 지침과 별개 사건 · 개선 대상은 평가·보고 기준 · 제품 코드·Demo Skill 복구 아님">
            <a:extLst xmlns:a="http://schemas.openxmlformats.org/drawingml/2006/main">
              <a:ext uri="{FF2B5EF4-FFF2-40B4-BE49-F238E27FC236}">
                <a16:creationId xmlns:a16="http://schemas.microsoft.com/office/drawing/2014/main" id="{DF736FD3-C81E-453D-9FAF-083E101E901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가상 지침과 별개 사건 · 개선 대상은 평가·보고 기준 · 제품 코드·Demo Skill 복구 아님</a:t>
            </a:r>
          </a:p>
        </p:txBody>
      </p:sp>
      <p:sp>
        <p:nvSpPr>
          <p:cNvPr id="8" name="이번에는 성능 조사 결과를 평가·보고하던 방식을 본다">
            <a:extLst xmlns:a="http://schemas.openxmlformats.org/drawingml/2006/main">
              <a:ext uri="{FF2B5EF4-FFF2-40B4-BE49-F238E27FC236}">
                <a16:creationId xmlns:a16="http://schemas.microsoft.com/office/drawing/2014/main" id="{603804F3-B46B-4F36-82C2-D44A45D07BF4}"/>
              </a:ext>
            </a:extLst>
          </p:cNvPr>
          <p:cNvSpPr>
            <a:spLocks xmlns:a="http://schemas.openxmlformats.org/drawingml/2006/main" noGrp="1"/>
          </p:cNvSpPr>
          <p:nvPr/>
        </p:nvSpPr>
        <p:spPr>
          <a:xfrm xmlns:a="http://schemas.openxmlformats.org/drawingml/2006/main">
            <a:off x="609600" y="178117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이번에는 성능 조사 결과를 평가·보고하던 방식을 본다</a:t>
            </a:r>
          </a:p>
        </p:txBody>
      </p:sp>
      <p:sp>
        <p:nvSpPr>
          <p:cNvPr id="9" name="당시 작업: 이미지 크기 변경 성능 조사 (Resize)">
            <a:extLst xmlns:a="http://schemas.openxmlformats.org/drawingml/2006/main">
              <a:ext uri="{FF2B5EF4-FFF2-40B4-BE49-F238E27FC236}">
                <a16:creationId xmlns:a16="http://schemas.microsoft.com/office/drawing/2014/main" id="{BCC49EC4-0FE9-4FB0-BF36-C624C297B0B6}"/>
              </a:ext>
            </a:extLst>
          </p:cNvPr>
          <p:cNvSpPr>
            <a:spLocks xmlns:a="http://schemas.openxmlformats.org/drawingml/2006/main" noGrp="1"/>
          </p:cNvSpPr>
          <p:nvPr/>
        </p:nvSpPr>
        <p:spPr>
          <a:xfrm xmlns:a="http://schemas.openxmlformats.org/drawingml/2006/main">
            <a:off x="609600" y="240030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당시 작업: 이미지 크기 변경 성능 조사 (Resize)</a:t>
            </a:r>
          </a:p>
        </p:txBody>
      </p:sp>
      <p:sp>
        <p:nvSpPr>
          <p:cNvPr id="10" name="관찰한 조건">
            <a:extLst xmlns:a="http://schemas.openxmlformats.org/drawingml/2006/main">
              <a:ext uri="{FF2B5EF4-FFF2-40B4-BE49-F238E27FC236}">
                <a16:creationId xmlns:a16="http://schemas.microsoft.com/office/drawing/2014/main" id="{7DC4B1C9-2367-4C14-8E9F-DD2147B7D14B}"/>
              </a:ext>
            </a:extLst>
          </p:cNvPr>
          <p:cNvSpPr>
            <a:spLocks xmlns:a="http://schemas.openxmlformats.org/drawingml/2006/main" noGrp="1"/>
          </p:cNvSpPr>
          <p:nvPr/>
        </p:nvSpPr>
        <p:spPr>
          <a:xfrm xmlns:a="http://schemas.openxmlformats.org/drawingml/2006/main">
            <a:off x="609600" y="32575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관찰한 조건</a:t>
            </a:r>
          </a:p>
        </p:txBody>
      </p:sp>
      <p:sp>
        <p:nvSpPr>
          <p:cNvPr id="11" name="">
            <a:extLst xmlns:a="http://schemas.openxmlformats.org/drawingml/2006/main">
              <a:ext uri="{FF2B5EF4-FFF2-40B4-BE49-F238E27FC236}">
                <a16:creationId xmlns:a16="http://schemas.microsoft.com/office/drawing/2014/main" id="{4B80CA03-70E9-4EB8-A8F0-FCDD54BB2ADC}"/>
              </a:ext>
            </a:extLst>
          </p:cNvPr>
          <p:cNvSpPr>
            <a:spLocks xmlns:a="http://schemas.openxmlformats.org/drawingml/2006/main" noGrp="1"/>
          </p:cNvSpPr>
          <p:nvPr/>
        </p:nvSpPr>
        <p:spPr>
          <a:xfrm xmlns:a="http://schemas.openxmlformats.org/drawingml/2006/main">
            <a:off x="609600" y="38290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전역 Skill 포함&#10;시작 단계 경고">
            <a:extLst xmlns:a="http://schemas.openxmlformats.org/drawingml/2006/main">
              <a:ext uri="{FF2B5EF4-FFF2-40B4-BE49-F238E27FC236}">
                <a16:creationId xmlns:a16="http://schemas.microsoft.com/office/drawing/2014/main" id="{E5DD81A7-3797-4FCE-9936-441666FC61CF}"/>
              </a:ext>
            </a:extLst>
          </p:cNvPr>
          <p:cNvSpPr>
            <a:spLocks xmlns:a="http://schemas.openxmlformats.org/drawingml/2006/main" noGrp="1"/>
          </p:cNvSpPr>
          <p:nvPr/>
        </p:nvSpPr>
        <p:spPr>
          <a:xfrm xmlns:a="http://schemas.openxmlformats.org/drawingml/2006/main">
            <a:off x="609600" y="40576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전역 Skill 포함</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시작 단계 경고</a:t>
            </a:r>
          </a:p>
        </p:txBody>
      </p:sp>
      <p:cxnSp>
        <p:nvCxnSpPr>
          <p:cNvPr id="13" name="">
            <a:extLst xmlns:a="http://schemas.openxmlformats.org/drawingml/2006/main">
              <a:ext uri="{FF2B5EF4-FFF2-40B4-BE49-F238E27FC236}">
                <a16:creationId xmlns:a16="http://schemas.microsoft.com/office/drawing/2014/main" id="{5DD31CFA-BD83-4CE3-A044-987B2FF63024}"/>
              </a:ext>
            </a:extLst>
          </p:cNvPr>
          <p:cNvCxnSpPr/>
          <p:nvPr/>
        </p:nvCxnSpPr>
        <p:spPr>
          <a:xfrm xmlns:a="http://schemas.openxmlformats.org/drawingml/2006/main">
            <a:off x="4038600" y="3552825"/>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4" name="판단의 한계">
            <a:extLst xmlns:a="http://schemas.openxmlformats.org/drawingml/2006/main">
              <a:ext uri="{FF2B5EF4-FFF2-40B4-BE49-F238E27FC236}">
                <a16:creationId xmlns:a16="http://schemas.microsoft.com/office/drawing/2014/main" id="{63BC02CE-FF5D-42E6-97F6-47CCE65163FC}"/>
              </a:ext>
            </a:extLst>
          </p:cNvPr>
          <p:cNvSpPr>
            <a:spLocks xmlns:a="http://schemas.openxmlformats.org/drawingml/2006/main" noGrp="1"/>
          </p:cNvSpPr>
          <p:nvPr/>
        </p:nvSpPr>
        <p:spPr>
          <a:xfrm xmlns:a="http://schemas.openxmlformats.org/drawingml/2006/main">
            <a:off x="4419600" y="32575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판단의 한계</a:t>
            </a:r>
          </a:p>
        </p:txBody>
      </p:sp>
      <p:sp>
        <p:nvSpPr>
          <p:cNvPr id="15" name="">
            <a:extLst xmlns:a="http://schemas.openxmlformats.org/drawingml/2006/main">
              <a:ext uri="{FF2B5EF4-FFF2-40B4-BE49-F238E27FC236}">
                <a16:creationId xmlns:a16="http://schemas.microsoft.com/office/drawing/2014/main" id="{98A59C27-248A-4EFF-9CFD-0037600839B0}"/>
              </a:ext>
            </a:extLst>
          </p:cNvPr>
          <p:cNvSpPr>
            <a:spLocks xmlns:a="http://schemas.openxmlformats.org/drawingml/2006/main" noGrp="1"/>
          </p:cNvSpPr>
          <p:nvPr/>
        </p:nvSpPr>
        <p:spPr>
          <a:xfrm xmlns:a="http://schemas.openxmlformats.org/drawingml/2006/main">
            <a:off x="4419600" y="38290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결과 전체를 Prompt의&#10;효과로 분리 못함">
            <a:extLst xmlns:a="http://schemas.openxmlformats.org/drawingml/2006/main">
              <a:ext uri="{FF2B5EF4-FFF2-40B4-BE49-F238E27FC236}">
                <a16:creationId xmlns:a16="http://schemas.microsoft.com/office/drawing/2014/main" id="{137880FE-CBDC-4F37-B63F-5F3F2F2A45C8}"/>
              </a:ext>
            </a:extLst>
          </p:cNvPr>
          <p:cNvSpPr>
            <a:spLocks xmlns:a="http://schemas.openxmlformats.org/drawingml/2006/main" noGrp="1"/>
          </p:cNvSpPr>
          <p:nvPr/>
        </p:nvSpPr>
        <p:spPr>
          <a:xfrm xmlns:a="http://schemas.openxmlformats.org/drawingml/2006/main">
            <a:off x="4419600" y="40576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결과 전체를 Prompt의</a:t>
            </a:r>
          </a:p>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효과로 분리 못함</a:t>
            </a:r>
          </a:p>
        </p:txBody>
      </p:sp>
      <p:cxnSp>
        <p:nvCxnSpPr>
          <p:cNvPr id="17" name="">
            <a:extLst xmlns:a="http://schemas.openxmlformats.org/drawingml/2006/main">
              <a:ext uri="{FF2B5EF4-FFF2-40B4-BE49-F238E27FC236}">
                <a16:creationId xmlns:a16="http://schemas.microsoft.com/office/drawing/2014/main" id="{E3666C04-06BF-44F7-AF51-62881817A364}"/>
              </a:ext>
            </a:extLst>
          </p:cNvPr>
          <p:cNvCxnSpPr/>
          <p:nvPr/>
        </p:nvCxnSpPr>
        <p:spPr>
          <a:xfrm xmlns:a="http://schemas.openxmlformats.org/drawingml/2006/main">
            <a:off x="7848600" y="3552825"/>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바꿀 대상">
            <a:extLst xmlns:a="http://schemas.openxmlformats.org/drawingml/2006/main">
              <a:ext uri="{FF2B5EF4-FFF2-40B4-BE49-F238E27FC236}">
                <a16:creationId xmlns:a16="http://schemas.microsoft.com/office/drawing/2014/main" id="{572F6B41-A7E0-4721-8C44-A5BE7F31A4B8}"/>
              </a:ext>
            </a:extLst>
          </p:cNvPr>
          <p:cNvSpPr>
            <a:spLocks xmlns:a="http://schemas.openxmlformats.org/drawingml/2006/main" noGrp="1"/>
          </p:cNvSpPr>
          <p:nvPr/>
        </p:nvSpPr>
        <p:spPr>
          <a:xfrm xmlns:a="http://schemas.openxmlformats.org/drawingml/2006/main">
            <a:off x="8229600" y="32575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바꿀 대상</a:t>
            </a:r>
          </a:p>
        </p:txBody>
      </p:sp>
      <p:sp>
        <p:nvSpPr>
          <p:cNvPr id="19" name="">
            <a:extLst xmlns:a="http://schemas.openxmlformats.org/drawingml/2006/main">
              <a:ext uri="{FF2B5EF4-FFF2-40B4-BE49-F238E27FC236}">
                <a16:creationId xmlns:a16="http://schemas.microsoft.com/office/drawing/2014/main" id="{8181A96C-07D3-4F53-9BBE-22464EB68D66}"/>
              </a:ext>
            </a:extLst>
          </p:cNvPr>
          <p:cNvSpPr>
            <a:spLocks xmlns:a="http://schemas.openxmlformats.org/drawingml/2006/main" noGrp="1"/>
          </p:cNvSpPr>
          <p:nvPr/>
        </p:nvSpPr>
        <p:spPr>
          <a:xfrm xmlns:a="http://schemas.openxmlformats.org/drawingml/2006/main">
            <a:off x="8229600" y="38290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0" name="평가·보고에&#10;무엇을 남길까?">
            <a:extLst xmlns:a="http://schemas.openxmlformats.org/drawingml/2006/main">
              <a:ext uri="{FF2B5EF4-FFF2-40B4-BE49-F238E27FC236}">
                <a16:creationId xmlns:a16="http://schemas.microsoft.com/office/drawing/2014/main" id="{5C367A7B-8F42-461C-9F41-E1A30D3124B3}"/>
              </a:ext>
            </a:extLst>
          </p:cNvPr>
          <p:cNvSpPr>
            <a:spLocks xmlns:a="http://schemas.openxmlformats.org/drawingml/2006/main" noGrp="1"/>
          </p:cNvSpPr>
          <p:nvPr/>
        </p:nvSpPr>
        <p:spPr>
          <a:xfrm xmlns:a="http://schemas.openxmlformats.org/drawingml/2006/main">
            <a:off x="8229600" y="40576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평가·보고에</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무엇을 남길까?</a:t>
            </a:r>
          </a:p>
        </p:txBody>
      </p:sp>
      <p:sp>
        <p:nvSpPr>
          <p:cNvPr id="21" name="지침의 유지에서, 결과를 판단·보고하는 기준의 유지로">
            <a:extLst xmlns:a="http://schemas.openxmlformats.org/drawingml/2006/main">
              <a:ext uri="{FF2B5EF4-FFF2-40B4-BE49-F238E27FC236}">
                <a16:creationId xmlns:a16="http://schemas.microsoft.com/office/drawing/2014/main" id="{C6148916-C83D-4B5C-8124-FF3BBE41DACA}"/>
              </a:ext>
            </a:extLst>
          </p:cNvPr>
          <p:cNvSpPr>
            <a:spLocks xmlns:a="http://schemas.openxmlformats.org/drawingml/2006/main" noGrp="1"/>
          </p:cNvSpPr>
          <p:nvPr/>
        </p:nvSpPr>
        <p:spPr>
          <a:xfrm xmlns:a="http://schemas.openxmlformats.org/drawingml/2006/main">
            <a:off x="609600" y="532447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지침의 유지에서, 결과를 판단·보고하는 기준의 유지로</a:t>
            </a:r>
          </a:p>
        </p:txBody>
      </p:sp>
      <p:sp>
        <p:nvSpPr>
          <p:cNvPr id="22" name="Legacy module connection">
            <a:extLst xmlns:a="http://schemas.openxmlformats.org/drawingml/2006/main">
              <a:ext uri="{FF2B5EF4-FFF2-40B4-BE49-F238E27FC236}">
                <a16:creationId xmlns:a16="http://schemas.microsoft.com/office/drawing/2014/main" id="{B4F86FA8-8130-4973-B0AD-5BFFD06C96D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2068542993"/>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실제 제작 기록 / 확인 범위와 해석의 한계">
            <a:extLst xmlns:a="http://schemas.openxmlformats.org/drawingml/2006/main">
              <a:ext uri="{FF2B5EF4-FFF2-40B4-BE49-F238E27FC236}">
                <a16:creationId xmlns:a16="http://schemas.microsoft.com/office/drawing/2014/main" id="{FC576A4D-A10C-468C-924C-6538F992B03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실제 제작 기록 / 확인 범위와 해석의 한계</a:t>
            </a:r>
          </a:p>
        </p:txBody>
      </p:sp>
      <p:sp>
        <p:nvSpPr>
          <p:cNvPr id="2" name="S84">
            <a:extLst xmlns:a="http://schemas.openxmlformats.org/drawingml/2006/main">
              <a:ext uri="{FF2B5EF4-FFF2-40B4-BE49-F238E27FC236}">
                <a16:creationId xmlns:a16="http://schemas.microsoft.com/office/drawing/2014/main" id="{07A683CD-9911-46CE-A323-75035FC04C1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S84</a:t>
            </a:r>
          </a:p>
        </p:txBody>
      </p:sp>
      <p:sp>
        <p:nvSpPr>
          <p:cNvPr id="3" name="결과 확인과 원인 해석을 따로 기록한다">
            <a:extLst xmlns:a="http://schemas.openxmlformats.org/drawingml/2006/main">
              <a:ext uri="{FF2B5EF4-FFF2-40B4-BE49-F238E27FC236}">
                <a16:creationId xmlns:a16="http://schemas.microsoft.com/office/drawing/2014/main" id="{5E79C885-D89A-46AD-8EF9-5A9ABBE3B38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 확인과 원인 해석을 따로 기록한다</a:t>
            </a:r>
          </a:p>
        </p:txBody>
      </p:sp>
      <p:sp>
        <p:nvSpPr>
          <p:cNvPr id="4" name="">
            <a:extLst xmlns:a="http://schemas.openxmlformats.org/drawingml/2006/main">
              <a:ext uri="{FF2B5EF4-FFF2-40B4-BE49-F238E27FC236}">
                <a16:creationId xmlns:a16="http://schemas.microsoft.com/office/drawing/2014/main" id="{22E339ED-1369-4902-A330-E3A269B5904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65063AC5-F032-4E87-9679-DB04255EC295}"/>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resize_nearest · 같은 조건의 7 one-call samples · 기록 ">
            <a:extLst xmlns:a="http://schemas.openxmlformats.org/drawingml/2006/main">
              <a:ext uri="{FF2B5EF4-FFF2-40B4-BE49-F238E27FC236}">
                <a16:creationId xmlns:a16="http://schemas.microsoft.com/office/drawing/2014/main" id="{F1C84ACB-3278-4328-B0EF-AD06057AF7B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resize_nearest · 같은 조건의 7 one-call samples · 기록 재구성</a:t>
            </a:r>
          </a:p>
        </p:txBody>
      </p:sp>
      <p:sp>
        <p:nvSpPr>
          <p:cNvPr id="7" name="기록된 합성 입력·CPython 3.9.6·macOS arm64 범위 · 현재 Desktop·일반 효과로 확">
            <a:extLst xmlns:a="http://schemas.openxmlformats.org/drawingml/2006/main">
              <a:ext uri="{FF2B5EF4-FFF2-40B4-BE49-F238E27FC236}">
                <a16:creationId xmlns:a16="http://schemas.microsoft.com/office/drawing/2014/main" id="{505C14BC-9897-47D0-A227-EB8A9AEB914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합성 입력·CPython 3.9.6·macOS arm64 범위 · 현재 Desktop·일반 효과로 확대하지 않음</a:t>
            </a:r>
          </a:p>
        </p:txBody>
      </p:sp>
      <p:sp>
        <p:nvSpPr>
          <p:cNvPr id="8" name="Resize 성능 조사 · 앞의 밝기 통계 Benchmark와 별도 기록">
            <a:extLst xmlns:a="http://schemas.openxmlformats.org/drawingml/2006/main">
              <a:ext uri="{FF2B5EF4-FFF2-40B4-BE49-F238E27FC236}">
                <a16:creationId xmlns:a16="http://schemas.microsoft.com/office/drawing/2014/main" id="{1E005BD6-25B5-4863-A425-6AFA58BB0DAE}"/>
              </a:ext>
            </a:extLst>
          </p:cNvPr>
          <p:cNvSpPr>
            <a:spLocks xmlns:a="http://schemas.openxmlformats.org/drawingml/2006/main" noGrp="1"/>
          </p:cNvSpPr>
          <p:nvPr/>
        </p:nvSpPr>
        <p:spPr>
          <a:xfrm xmlns:a="http://schemas.openxmlformats.org/drawingml/2006/main">
            <a:off x="609600" y="18097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Resize 성능 조사 · 앞의 밝기 통계 Benchmark와 별도 기록</a:t>
            </a:r>
          </a:p>
        </p:txBody>
      </p:sp>
      <p:sp>
        <p:nvSpPr>
          <p:cNvPr id="9" name="측정 결과를 확인했나?">
            <a:extLst xmlns:a="http://schemas.openxmlformats.org/drawingml/2006/main">
              <a:ext uri="{FF2B5EF4-FFF2-40B4-BE49-F238E27FC236}">
                <a16:creationId xmlns:a16="http://schemas.microsoft.com/office/drawing/2014/main" id="{7ABA020D-5DD3-436B-957F-9B13136BC2A5}"/>
              </a:ext>
            </a:extLst>
          </p:cNvPr>
          <p:cNvSpPr>
            <a:spLocks xmlns:a="http://schemas.openxmlformats.org/drawingml/2006/main" noGrp="1"/>
          </p:cNvSpPr>
          <p:nvPr/>
        </p:nvSpPr>
        <p:spPr>
          <a:xfrm xmlns:a="http://schemas.openxmlformats.org/drawingml/2006/main">
            <a:off x="609600" y="2638425"/>
            <a:ext cx="4876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측정 결과를 확인했나?</a:t>
            </a:r>
          </a:p>
        </p:txBody>
      </p:sp>
      <p:sp>
        <p:nvSpPr>
          <p:cNvPr id="10" name="무엇의 효과인지 아는가?">
            <a:extLst xmlns:a="http://schemas.openxmlformats.org/drawingml/2006/main">
              <a:ext uri="{FF2B5EF4-FFF2-40B4-BE49-F238E27FC236}">
                <a16:creationId xmlns:a16="http://schemas.microsoft.com/office/drawing/2014/main" id="{62535815-41D2-4D14-B187-52F1E464772F}"/>
              </a:ext>
            </a:extLst>
          </p:cNvPr>
          <p:cNvSpPr>
            <a:spLocks xmlns:a="http://schemas.openxmlformats.org/drawingml/2006/main" noGrp="1"/>
          </p:cNvSpPr>
          <p:nvPr/>
        </p:nvSpPr>
        <p:spPr>
          <a:xfrm xmlns:a="http://schemas.openxmlformats.org/drawingml/2006/main">
            <a:off x="6705600" y="2638425"/>
            <a:ext cx="4876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805400"/>
                </a:solidFill>
                <a:latin typeface="Malgun Gothic"/>
                <a:ea typeface="Malgun Gothic"/>
                <a:cs typeface="Malgun Gothic"/>
              </a:defRPr>
            </a:defPPr>
            <a:lvl1pPr algn="l">
              <a:defRPr sz="2400" b="1">
                <a:solidFill>
                  <a:srgbClr val="805400"/>
                </a:solidFill>
                <a:latin typeface="Malgun Gothic"/>
                <a:ea typeface="Malgun Gothic"/>
                <a:cs typeface="Malgun Gothic"/>
              </a:defRPr>
            </a:lvl1pPr>
            <a:lvl2pPr algn="l">
              <a:defRPr sz="2400" b="1">
                <a:solidFill>
                  <a:srgbClr val="805400"/>
                </a:solidFill>
                <a:latin typeface="Malgun Gothic"/>
                <a:ea typeface="Malgun Gothic"/>
                <a:cs typeface="Malgun Gothic"/>
              </a:defRPr>
            </a:lvl2pPr>
            <a:lvl3pPr algn="l">
              <a:defRPr sz="2400" b="1">
                <a:solidFill>
                  <a:srgbClr val="805400"/>
                </a:solidFill>
                <a:latin typeface="Malgun Gothic"/>
                <a:ea typeface="Malgun Gothic"/>
                <a:cs typeface="Malgun Gothic"/>
              </a:defRPr>
            </a:lvl3pPr>
            <a:lvl4pPr algn="l">
              <a:defRPr sz="2400" b="1">
                <a:solidFill>
                  <a:srgbClr val="805400"/>
                </a:solidFill>
                <a:latin typeface="Malgun Gothic"/>
                <a:ea typeface="Malgun Gothic"/>
                <a:cs typeface="Malgun Gothic"/>
              </a:defRPr>
            </a:lvl4pPr>
            <a:lvl5pPr algn="l">
              <a:defRPr sz="2400" b="1">
                <a:solidFill>
                  <a:srgbClr val="805400"/>
                </a:solidFill>
                <a:latin typeface="Malgun Gothic"/>
                <a:ea typeface="Malgun Gothic"/>
                <a:cs typeface="Malgun Gothic"/>
              </a:defRPr>
            </a:lvl5pPr>
            <a:lvl6pPr algn="l">
              <a:defRPr sz="2400" b="1">
                <a:solidFill>
                  <a:srgbClr val="805400"/>
                </a:solidFill>
                <a:latin typeface="Malgun Gothic"/>
                <a:ea typeface="Malgun Gothic"/>
                <a:cs typeface="Malgun Gothic"/>
              </a:defRPr>
            </a:lvl6pPr>
            <a:lvl7pPr algn="l">
              <a:defRPr sz="2400" b="1">
                <a:solidFill>
                  <a:srgbClr val="805400"/>
                </a:solidFill>
                <a:latin typeface="Malgun Gothic"/>
                <a:ea typeface="Malgun Gothic"/>
                <a:cs typeface="Malgun Gothic"/>
              </a:defRPr>
            </a:lvl7pPr>
            <a:lvl8pPr algn="l">
              <a:defRPr sz="2400" b="1">
                <a:solidFill>
                  <a:srgbClr val="805400"/>
                </a:solidFill>
                <a:latin typeface="Malgun Gothic"/>
                <a:ea typeface="Malgun Gothic"/>
                <a:cs typeface="Malgun Gothic"/>
              </a:defRPr>
            </a:lvl8pPr>
            <a:lvl9pPr algn="l">
              <a:defRPr sz="2400" b="1">
                <a:solidFill>
                  <a:srgbClr val="805400"/>
                </a:solidFill>
                <a:latin typeface="Malgun Gothic"/>
                <a:ea typeface="Malgun Gothic"/>
                <a:cs typeface="Malgun Gothic"/>
              </a:defRPr>
            </a:lvl9pPr>
          </a:lstStyle>
          <a:p xmlns:a="http://schemas.openxmlformats.org/drawingml/2006/main">
            <a:pPr algn="l">
              <a:defRPr sz="2400" b="1">
                <a:solidFill>
                  <a:srgbClr val="805400"/>
                </a:solidFill>
                <a:latin typeface="Malgun Gothic"/>
                <a:ea typeface="Malgun Gothic"/>
                <a:cs typeface="Malgun Gothic"/>
              </a:defRPr>
            </a:pPr>
            <a:r>
              <a:rPr sz="2400" b="1">
                <a:solidFill>
                  <a:srgbClr val="805400"/>
                </a:solidFill>
                <a:latin typeface="Malgun Gothic"/>
                <a:ea typeface="Malgun Gothic"/>
                <a:cs typeface="Malgun Gothic"/>
              </a:rPr>
              <a:t>무엇의 효과인지 아는가?</a:t>
            </a:r>
          </a:p>
        </p:txBody>
      </p:sp>
      <p:sp>
        <p:nvSpPr>
          <p:cNvPr id="11" name="">
            <a:extLst xmlns:a="http://schemas.openxmlformats.org/drawingml/2006/main">
              <a:ext uri="{FF2B5EF4-FFF2-40B4-BE49-F238E27FC236}">
                <a16:creationId xmlns:a16="http://schemas.microsoft.com/office/drawing/2014/main" id="{0E49A888-AC53-44CC-8A54-03CB03E41259}"/>
              </a:ext>
            </a:extLst>
          </p:cNvPr>
          <p:cNvSpPr>
            <a:spLocks xmlns:a="http://schemas.openxmlformats.org/drawingml/2006/main" noGrp="1"/>
          </p:cNvSpPr>
          <p:nvPr/>
        </p:nvSpPr>
        <p:spPr>
          <a:xfrm xmlns:a="http://schemas.openxmlformats.org/drawingml/2006/main">
            <a:off x="609600" y="33051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
            <a:extLst xmlns:a="http://schemas.openxmlformats.org/drawingml/2006/main">
              <a:ext uri="{FF2B5EF4-FFF2-40B4-BE49-F238E27FC236}">
                <a16:creationId xmlns:a16="http://schemas.microsoft.com/office/drawing/2014/main" id="{F3E41F1E-3ABC-49EE-9EAB-CF32BD310B12}"/>
              </a:ext>
            </a:extLst>
          </p:cNvPr>
          <p:cNvSpPr>
            <a:spLocks xmlns:a="http://schemas.openxmlformats.org/drawingml/2006/main" noGrp="1"/>
          </p:cNvSpPr>
          <p:nvPr/>
        </p:nvSpPr>
        <p:spPr>
          <a:xfrm xmlns:a="http://schemas.openxmlformats.org/drawingml/2006/main">
            <a:off x="6705600" y="330517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3" name="입력·출력 hash 일치&#10;같은 조건의 7회 측정">
            <a:extLst xmlns:a="http://schemas.openxmlformats.org/drawingml/2006/main">
              <a:ext uri="{FF2B5EF4-FFF2-40B4-BE49-F238E27FC236}">
                <a16:creationId xmlns:a16="http://schemas.microsoft.com/office/drawing/2014/main" id="{F8E3CE08-EAF8-4B1B-9B5B-402DFF9FA941}"/>
              </a:ext>
            </a:extLst>
          </p:cNvPr>
          <p:cNvSpPr>
            <a:spLocks xmlns:a="http://schemas.openxmlformats.org/drawingml/2006/main" noGrp="1"/>
          </p:cNvSpPr>
          <p:nvPr/>
        </p:nvSpPr>
        <p:spPr>
          <a:xfrm xmlns:a="http://schemas.openxmlformats.org/drawingml/2006/main">
            <a:off x="609600" y="3552825"/>
            <a:ext cx="48768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입력·출력 hash 일치</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조건의 7회 측정</a:t>
            </a:r>
          </a:p>
        </p:txBody>
      </p:sp>
      <p:sp>
        <p:nvSpPr>
          <p:cNvPr id="14" name="전역 Skill이 평가 절차에 관여&#10;Prompt만의 효과는 분리 못함">
            <a:extLst xmlns:a="http://schemas.openxmlformats.org/drawingml/2006/main">
              <a:ext uri="{FF2B5EF4-FFF2-40B4-BE49-F238E27FC236}">
                <a16:creationId xmlns:a16="http://schemas.microsoft.com/office/drawing/2014/main" id="{D9BD18F7-CF29-4127-AD83-14DFD0CFDF24}"/>
              </a:ext>
            </a:extLst>
          </p:cNvPr>
          <p:cNvSpPr>
            <a:spLocks xmlns:a="http://schemas.openxmlformats.org/drawingml/2006/main" noGrp="1"/>
          </p:cNvSpPr>
          <p:nvPr/>
        </p:nvSpPr>
        <p:spPr>
          <a:xfrm xmlns:a="http://schemas.openxmlformats.org/drawingml/2006/main">
            <a:off x="6705600" y="3552825"/>
            <a:ext cx="48768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전역 Skill이 평가 절차에 관여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Prompt만의 효과는 분리 못함</a:t>
            </a:r>
          </a:p>
        </p:txBody>
      </p:sp>
      <p:sp>
        <p:nvSpPr>
          <p:cNvPr id="15" name="144.2 → 33.5 ms/call median">
            <a:extLst xmlns:a="http://schemas.openxmlformats.org/drawingml/2006/main">
              <a:ext uri="{FF2B5EF4-FFF2-40B4-BE49-F238E27FC236}">
                <a16:creationId xmlns:a16="http://schemas.microsoft.com/office/drawing/2014/main" id="{78503A1A-E9FB-42F2-A87C-84D2586F3EAD}"/>
              </a:ext>
            </a:extLst>
          </p:cNvPr>
          <p:cNvSpPr>
            <a:spLocks xmlns:a="http://schemas.openxmlformats.org/drawingml/2006/main" noGrp="1"/>
          </p:cNvSpPr>
          <p:nvPr/>
        </p:nvSpPr>
        <p:spPr>
          <a:xfrm xmlns:a="http://schemas.openxmlformats.org/drawingml/2006/main">
            <a:off x="609600" y="4648200"/>
            <a:ext cx="4876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144.2 → 33.5 ms/call median</a:t>
            </a:r>
          </a:p>
        </p:txBody>
      </p:sp>
      <p:sp>
        <p:nvSpPr>
          <p:cNvPr id="16" name="원인 해석: PARTIAL">
            <a:extLst xmlns:a="http://schemas.openxmlformats.org/drawingml/2006/main">
              <a:ext uri="{FF2B5EF4-FFF2-40B4-BE49-F238E27FC236}">
                <a16:creationId xmlns:a16="http://schemas.microsoft.com/office/drawing/2014/main" id="{3F7C1F7F-469C-4F9F-B610-90257518A213}"/>
              </a:ext>
            </a:extLst>
          </p:cNvPr>
          <p:cNvSpPr>
            <a:spLocks xmlns:a="http://schemas.openxmlformats.org/drawingml/2006/main" noGrp="1"/>
          </p:cNvSpPr>
          <p:nvPr/>
        </p:nvSpPr>
        <p:spPr>
          <a:xfrm xmlns:a="http://schemas.openxmlformats.org/drawingml/2006/main">
            <a:off x="6705600" y="4648200"/>
            <a:ext cx="4876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원인 해석: PARTIAL</a:t>
            </a:r>
          </a:p>
        </p:txBody>
      </p:sp>
      <p:sp>
        <p:nvSpPr>
          <p:cNvPr id="17" name="수치의 확인 범위와, 원인 해석의 한계를 함께 남긴다">
            <a:extLst xmlns:a="http://schemas.openxmlformats.org/drawingml/2006/main">
              <a:ext uri="{FF2B5EF4-FFF2-40B4-BE49-F238E27FC236}">
                <a16:creationId xmlns:a16="http://schemas.microsoft.com/office/drawing/2014/main" id="{7847F28C-3BCF-4A53-AEB9-496373BFB252}"/>
              </a:ext>
            </a:extLst>
          </p:cNvPr>
          <p:cNvSpPr>
            <a:spLocks xmlns:a="http://schemas.openxmlformats.org/drawingml/2006/main" noGrp="1"/>
          </p:cNvSpPr>
          <p:nvPr/>
        </p:nvSpPr>
        <p:spPr>
          <a:xfrm xmlns:a="http://schemas.openxmlformats.org/drawingml/2006/main">
            <a:off x="609600" y="5343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수치의 확인 범위와, 원인 해석의 한계를 함께 남긴다</a:t>
            </a:r>
          </a:p>
        </p:txBody>
      </p:sp>
      <p:sp>
        <p:nvSpPr>
          <p:cNvPr id="18" name="Legacy module connection">
            <a:extLst xmlns:a="http://schemas.openxmlformats.org/drawingml/2006/main">
              <a:ext uri="{FF2B5EF4-FFF2-40B4-BE49-F238E27FC236}">
                <a16:creationId xmlns:a16="http://schemas.microsoft.com/office/drawing/2014/main" id="{E88D7A15-B64C-48FD-AA61-B6044284BED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742862025"/>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4 · 실제 제작 기록 / 평가·보고 기준의 변경">
            <a:extLst xmlns:a="http://schemas.openxmlformats.org/drawingml/2006/main">
              <a:ext uri="{FF2B5EF4-FFF2-40B4-BE49-F238E27FC236}">
                <a16:creationId xmlns:a16="http://schemas.microsoft.com/office/drawing/2014/main" id="{C7DAD471-73FF-4950-9D3B-34F516F120D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실제 제작 기록 / 평가·보고 기준의 변경</a:t>
            </a:r>
          </a:p>
        </p:txBody>
      </p:sp>
      <p:sp>
        <p:nvSpPr>
          <p:cNvPr id="2" name="S85">
            <a:extLst xmlns:a="http://schemas.openxmlformats.org/drawingml/2006/main">
              <a:ext uri="{FF2B5EF4-FFF2-40B4-BE49-F238E27FC236}">
                <a16:creationId xmlns:a16="http://schemas.microsoft.com/office/drawing/2014/main" id="{CCCEB55A-625B-43A4-AC30-ED240E16A9A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S85</a:t>
            </a:r>
          </a:p>
        </p:txBody>
      </p:sp>
      <p:sp>
        <p:nvSpPr>
          <p:cNvPr id="3" name="다음 조사에 남길 기록을 바꿨다">
            <a:extLst xmlns:a="http://schemas.openxmlformats.org/drawingml/2006/main">
              <a:ext uri="{FF2B5EF4-FFF2-40B4-BE49-F238E27FC236}">
                <a16:creationId xmlns:a16="http://schemas.microsoft.com/office/drawing/2014/main" id="{E7C4A637-D99F-4104-B079-7E9C702CE6F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조사에 남길 기록을 바꿨다</a:t>
            </a:r>
          </a:p>
        </p:txBody>
      </p:sp>
      <p:sp>
        <p:nvSpPr>
          <p:cNvPr id="4" name="">
            <a:extLst xmlns:a="http://schemas.openxmlformats.org/drawingml/2006/main">
              <a:ext uri="{FF2B5EF4-FFF2-40B4-BE49-F238E27FC236}">
                <a16:creationId xmlns:a16="http://schemas.microsoft.com/office/drawing/2014/main" id="{9ACE801F-5DD0-4FF9-A2E2-1D86E3CDA91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1144F7AA-3FD2-4E3D-B33E-E1870BEF9032}"/>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DEC-0016 · TRIAL-006 판정 보존과 후속 기록 기준 변경 · 의미 요약">
            <a:extLst xmlns:a="http://schemas.openxmlformats.org/drawingml/2006/main">
              <a:ext uri="{FF2B5EF4-FFF2-40B4-BE49-F238E27FC236}">
                <a16:creationId xmlns:a16="http://schemas.microsoft.com/office/drawing/2014/main" id="{C237127B-FE84-4802-BD38-68FE58F0EA5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DEC-0016 · TRIAL-006 판정 보존과 후속 기록 기준 변경 · 의미 요약</a:t>
            </a:r>
          </a:p>
        </p:txBody>
      </p:sp>
      <p:sp>
        <p:nvSpPr>
          <p:cNvPr id="7" name="제품 코드·Demo Skill 수정 아님 · 격리 실험이나 Prompt 인과 검증을 완료한 것도 아님">
            <a:extLst xmlns:a="http://schemas.openxmlformats.org/drawingml/2006/main">
              <a:ext uri="{FF2B5EF4-FFF2-40B4-BE49-F238E27FC236}">
                <a16:creationId xmlns:a16="http://schemas.microsoft.com/office/drawing/2014/main" id="{9048082C-A9A5-4403-A9B2-FFDD1EE0626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코드·Demo Skill 수정 아님 · 격리 실험이나 Prompt 인과 검증을 완료한 것도 아님</a:t>
            </a:r>
          </a:p>
        </p:txBody>
      </p:sp>
      <p:sp>
        <p:nvSpPr>
          <p:cNvPr id="8" name="기존: 작업·저장소 중심의 보고">
            <a:extLst xmlns:a="http://schemas.openxmlformats.org/drawingml/2006/main">
              <a:ext uri="{FF2B5EF4-FFF2-40B4-BE49-F238E27FC236}">
                <a16:creationId xmlns:a16="http://schemas.microsoft.com/office/drawing/2014/main" id="{20FEBA1F-0EFC-4ECF-83DD-9757D2E29670}"/>
              </a:ext>
            </a:extLst>
          </p:cNvPr>
          <p:cNvSpPr>
            <a:spLocks xmlns:a="http://schemas.openxmlformats.org/drawingml/2006/main" noGrp="1"/>
          </p:cNvSpPr>
          <p:nvPr/>
        </p:nvSpPr>
        <p:spPr>
          <a:xfrm xmlns:a="http://schemas.openxmlformats.org/drawingml/2006/main">
            <a:off x="609600" y="18192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기존: 작업·저장소 중심의 보고</a:t>
            </a:r>
          </a:p>
        </p:txBody>
      </p:sp>
      <p:sp>
        <p:nvSpPr>
          <p:cNvPr id="9" name="변경: 실행 조건과 결과의 해석 범위도 함께 기록">
            <a:extLst xmlns:a="http://schemas.openxmlformats.org/drawingml/2006/main">
              <a:ext uri="{FF2B5EF4-FFF2-40B4-BE49-F238E27FC236}">
                <a16:creationId xmlns:a16="http://schemas.microsoft.com/office/drawing/2014/main" id="{4E9CCC93-17C3-4EAA-BC80-6815C76502F7}"/>
              </a:ext>
            </a:extLst>
          </p:cNvPr>
          <p:cNvSpPr>
            <a:spLocks xmlns:a="http://schemas.openxmlformats.org/drawingml/2006/main" noGrp="1"/>
          </p:cNvSpPr>
          <p:nvPr/>
        </p:nvSpPr>
        <p:spPr>
          <a:xfrm xmlns:a="http://schemas.openxmlformats.org/drawingml/2006/main">
            <a:off x="609600" y="23526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변경: 실행 조건과 결과의 해석 범위도 함께 기록</a:t>
            </a:r>
          </a:p>
        </p:txBody>
      </p:sp>
      <p:sp>
        <p:nvSpPr>
          <p:cNvPr id="10" name="">
            <a:extLst xmlns:a="http://schemas.openxmlformats.org/drawingml/2006/main">
              <a:ext uri="{FF2B5EF4-FFF2-40B4-BE49-F238E27FC236}">
                <a16:creationId xmlns:a16="http://schemas.microsoft.com/office/drawing/2014/main" id="{834D4E70-1D2F-47AB-BF1F-05D5B70B0C3C}"/>
              </a:ext>
            </a:extLst>
          </p:cNvPr>
          <p:cNvSpPr>
            <a:spLocks xmlns:a="http://schemas.openxmlformats.org/drawingml/2006/main" noGrp="1"/>
          </p:cNvSpPr>
          <p:nvPr/>
        </p:nvSpPr>
        <p:spPr>
          <a:xfrm xmlns:a="http://schemas.openxmlformats.org/drawingml/2006/main">
            <a:off x="609600" y="30003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적용된 지침">
            <a:extLst xmlns:a="http://schemas.openxmlformats.org/drawingml/2006/main">
              <a:ext uri="{FF2B5EF4-FFF2-40B4-BE49-F238E27FC236}">
                <a16:creationId xmlns:a16="http://schemas.microsoft.com/office/drawing/2014/main" id="{2C1DF4A4-CDD3-43B0-B924-482138B09455}"/>
              </a:ext>
            </a:extLst>
          </p:cNvPr>
          <p:cNvSpPr>
            <a:spLocks xmlns:a="http://schemas.openxmlformats.org/drawingml/2006/main" noGrp="1"/>
          </p:cNvSpPr>
          <p:nvPr/>
        </p:nvSpPr>
        <p:spPr>
          <a:xfrm xmlns:a="http://schemas.openxmlformats.org/drawingml/2006/main">
            <a:off x="609600" y="3114675"/>
            <a:ext cx="2895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적용된 지침</a:t>
            </a:r>
          </a:p>
        </p:txBody>
      </p:sp>
      <p:sp>
        <p:nvSpPr>
          <p:cNvPr id="12" name="어떤 Skill·환경 조건이 관찰됐나?">
            <a:extLst xmlns:a="http://schemas.openxmlformats.org/drawingml/2006/main">
              <a:ext uri="{FF2B5EF4-FFF2-40B4-BE49-F238E27FC236}">
                <a16:creationId xmlns:a16="http://schemas.microsoft.com/office/drawing/2014/main" id="{2C682ED8-48B9-47B5-982A-0D68EB241478}"/>
              </a:ext>
            </a:extLst>
          </p:cNvPr>
          <p:cNvSpPr>
            <a:spLocks xmlns:a="http://schemas.openxmlformats.org/drawingml/2006/main" noGrp="1"/>
          </p:cNvSpPr>
          <p:nvPr/>
        </p:nvSpPr>
        <p:spPr>
          <a:xfrm xmlns:a="http://schemas.openxmlformats.org/drawingml/2006/main">
            <a:off x="3848100" y="3114675"/>
            <a:ext cx="77343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어떤 Skill·환경 조건이 관찰됐나?</a:t>
            </a:r>
          </a:p>
        </p:txBody>
      </p:sp>
      <p:sp>
        <p:nvSpPr>
          <p:cNvPr id="13" name="">
            <a:extLst xmlns:a="http://schemas.openxmlformats.org/drawingml/2006/main">
              <a:ext uri="{FF2B5EF4-FFF2-40B4-BE49-F238E27FC236}">
                <a16:creationId xmlns:a16="http://schemas.microsoft.com/office/drawing/2014/main" id="{88C2DC9B-597D-409C-80BA-785BB6DE62EF}"/>
              </a:ext>
            </a:extLst>
          </p:cNvPr>
          <p:cNvSpPr>
            <a:spLocks xmlns:a="http://schemas.openxmlformats.org/drawingml/2006/main" noGrp="1"/>
          </p:cNvSpPr>
          <p:nvPr/>
        </p:nvSpPr>
        <p:spPr>
          <a:xfrm xmlns:a="http://schemas.openxmlformats.org/drawingml/2006/main">
            <a:off x="609600" y="36957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경고와 실제 사용">
            <a:extLst xmlns:a="http://schemas.openxmlformats.org/drawingml/2006/main">
              <a:ext uri="{FF2B5EF4-FFF2-40B4-BE49-F238E27FC236}">
                <a16:creationId xmlns:a16="http://schemas.microsoft.com/office/drawing/2014/main" id="{AD67AABF-F1BC-4E5D-8F5C-49D4FA873539}"/>
              </a:ext>
            </a:extLst>
          </p:cNvPr>
          <p:cNvSpPr>
            <a:spLocks xmlns:a="http://schemas.openxmlformats.org/drawingml/2006/main" noGrp="1"/>
          </p:cNvSpPr>
          <p:nvPr/>
        </p:nvSpPr>
        <p:spPr>
          <a:xfrm xmlns:a="http://schemas.openxmlformats.org/drawingml/2006/main">
            <a:off x="609600" y="3810000"/>
            <a:ext cx="2895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경고와 실제 사용</a:t>
            </a:r>
          </a:p>
        </p:txBody>
      </p:sp>
      <p:sp>
        <p:nvSpPr>
          <p:cNvPr id="15" name="시작 경고와 도구의 실제 실행·결과를 구분">
            <a:extLst xmlns:a="http://schemas.openxmlformats.org/drawingml/2006/main">
              <a:ext uri="{FF2B5EF4-FFF2-40B4-BE49-F238E27FC236}">
                <a16:creationId xmlns:a16="http://schemas.microsoft.com/office/drawing/2014/main" id="{AD156309-F00E-4EAF-9DED-3F0C85A73C66}"/>
              </a:ext>
            </a:extLst>
          </p:cNvPr>
          <p:cNvSpPr>
            <a:spLocks xmlns:a="http://schemas.openxmlformats.org/drawingml/2006/main" noGrp="1"/>
          </p:cNvSpPr>
          <p:nvPr/>
        </p:nvSpPr>
        <p:spPr>
          <a:xfrm xmlns:a="http://schemas.openxmlformats.org/drawingml/2006/main">
            <a:off x="3848100" y="3810000"/>
            <a:ext cx="77343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시작 경고와 도구의 실제 실행·결과를 구분</a:t>
            </a:r>
          </a:p>
        </p:txBody>
      </p:sp>
      <p:sp>
        <p:nvSpPr>
          <p:cNvPr id="16" name="">
            <a:extLst xmlns:a="http://schemas.openxmlformats.org/drawingml/2006/main">
              <a:ext uri="{FF2B5EF4-FFF2-40B4-BE49-F238E27FC236}">
                <a16:creationId xmlns:a16="http://schemas.microsoft.com/office/drawing/2014/main" id="{1B08BCB6-D57E-4A00-8AA8-84937FEF9066}"/>
              </a:ext>
            </a:extLst>
          </p:cNvPr>
          <p:cNvSpPr>
            <a:spLocks xmlns:a="http://schemas.openxmlformats.org/drawingml/2006/main" noGrp="1"/>
          </p:cNvSpPr>
          <p:nvPr/>
        </p:nvSpPr>
        <p:spPr>
          <a:xfrm xmlns:a="http://schemas.openxmlformats.org/drawingml/2006/main">
            <a:off x="609600" y="43910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해석 가능한 범위">
            <a:extLst xmlns:a="http://schemas.openxmlformats.org/drawingml/2006/main">
              <a:ext uri="{FF2B5EF4-FFF2-40B4-BE49-F238E27FC236}">
                <a16:creationId xmlns:a16="http://schemas.microsoft.com/office/drawing/2014/main" id="{A0BCA301-F0E7-443D-98C5-A0822771A5FF}"/>
              </a:ext>
            </a:extLst>
          </p:cNvPr>
          <p:cNvSpPr>
            <a:spLocks xmlns:a="http://schemas.openxmlformats.org/drawingml/2006/main" noGrp="1"/>
          </p:cNvSpPr>
          <p:nvPr/>
        </p:nvSpPr>
        <p:spPr>
          <a:xfrm xmlns:a="http://schemas.openxmlformats.org/drawingml/2006/main">
            <a:off x="609600" y="4505325"/>
            <a:ext cx="2895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해석 가능한 범위</a:t>
            </a:r>
          </a:p>
        </p:txBody>
      </p:sp>
      <p:sp>
        <p:nvSpPr>
          <p:cNvPr id="18" name="확인된 결과와 원인 불확실성을 구분">
            <a:extLst xmlns:a="http://schemas.openxmlformats.org/drawingml/2006/main">
              <a:ext uri="{FF2B5EF4-FFF2-40B4-BE49-F238E27FC236}">
                <a16:creationId xmlns:a16="http://schemas.microsoft.com/office/drawing/2014/main" id="{E46B3592-0966-48EE-956D-DFC4F6969ED4}"/>
              </a:ext>
            </a:extLst>
          </p:cNvPr>
          <p:cNvSpPr>
            <a:spLocks xmlns:a="http://schemas.openxmlformats.org/drawingml/2006/main" noGrp="1"/>
          </p:cNvSpPr>
          <p:nvPr/>
        </p:nvSpPr>
        <p:spPr>
          <a:xfrm xmlns:a="http://schemas.openxmlformats.org/drawingml/2006/main">
            <a:off x="3848100" y="4505325"/>
            <a:ext cx="77343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확인된 결과와 원인 불확실성을 구분</a:t>
            </a:r>
          </a:p>
        </p:txBody>
      </p:sp>
      <p:sp>
        <p:nvSpPr>
          <p:cNvPr id="19" name="당시 결정: PARTIAL 보존 · 환경 격리를 진행 조건으로 두지 않음">
            <a:extLst xmlns:a="http://schemas.openxmlformats.org/drawingml/2006/main">
              <a:ext uri="{FF2B5EF4-FFF2-40B4-BE49-F238E27FC236}">
                <a16:creationId xmlns:a16="http://schemas.microsoft.com/office/drawing/2014/main" id="{FEC63E4B-9251-4ACF-824B-332050CA63D1}"/>
              </a:ext>
            </a:extLst>
          </p:cNvPr>
          <p:cNvSpPr>
            <a:spLocks xmlns:a="http://schemas.openxmlformats.org/drawingml/2006/main" noGrp="1"/>
          </p:cNvSpPr>
          <p:nvPr/>
        </p:nvSpPr>
        <p:spPr>
          <a:xfrm xmlns:a="http://schemas.openxmlformats.org/drawingml/2006/main">
            <a:off x="609600" y="53149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당시 결정: PARTIAL 보존 · 환경 격리를 진행 조건으로 두지 않음</a:t>
            </a:r>
          </a:p>
        </p:txBody>
      </p:sp>
      <p:sp>
        <p:nvSpPr>
          <p:cNvPr id="20" name="Legacy module connection">
            <a:extLst xmlns:a="http://schemas.openxmlformats.org/drawingml/2006/main">
              <a:ext uri="{FF2B5EF4-FFF2-40B4-BE49-F238E27FC236}">
                <a16:creationId xmlns:a16="http://schemas.microsoft.com/office/drawing/2014/main" id="{C6A0BB7C-8676-4ADB-B278-0843E421F7E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93575467"/>
      </p:ext>
    </p:extLst>
  </p:cSld>
</p:sld>
</file>

<file path=ppt/slides/slide1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실제 제작 기록 / 후속 적용과 남은 불일치">
            <a:extLst xmlns:a="http://schemas.openxmlformats.org/drawingml/2006/main">
              <a:ext uri="{FF2B5EF4-FFF2-40B4-BE49-F238E27FC236}">
                <a16:creationId xmlns:a16="http://schemas.microsoft.com/office/drawing/2014/main" id="{98FD594C-CAB7-41AB-BDF6-6723CA19FC9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실제 제작 기록 / 후속 적용과 남은 불일치</a:t>
            </a:r>
          </a:p>
        </p:txBody>
      </p:sp>
      <p:sp>
        <p:nvSpPr>
          <p:cNvPr id="2" name="S86">
            <a:extLst xmlns:a="http://schemas.openxmlformats.org/drawingml/2006/main">
              <a:ext uri="{FF2B5EF4-FFF2-40B4-BE49-F238E27FC236}">
                <a16:creationId xmlns:a16="http://schemas.microsoft.com/office/drawing/2014/main" id="{9F6134BC-7216-4D33-A636-3B3E1637C9E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S86</a:t>
            </a:r>
          </a:p>
        </p:txBody>
      </p:sp>
      <p:sp>
        <p:nvSpPr>
          <p:cNvPr id="3" name="후속 기록도 원문과 다시 대조했다">
            <a:extLst xmlns:a="http://schemas.openxmlformats.org/drawingml/2006/main">
              <a:ext uri="{FF2B5EF4-FFF2-40B4-BE49-F238E27FC236}">
                <a16:creationId xmlns:a16="http://schemas.microsoft.com/office/drawing/2014/main" id="{5762EEBC-A4A8-40DD-919A-883F56CEEEA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후속 기록도 원문과 다시 대조했다</a:t>
            </a:r>
          </a:p>
        </p:txBody>
      </p:sp>
      <p:sp>
        <p:nvSpPr>
          <p:cNvPr id="4" name="">
            <a:extLst xmlns:a="http://schemas.openxmlformats.org/drawingml/2006/main">
              <a:ext uri="{FF2B5EF4-FFF2-40B4-BE49-F238E27FC236}">
                <a16:creationId xmlns:a16="http://schemas.microsoft.com/office/drawing/2014/main" id="{15B6E9B5-5656-43E4-8E82-EC08350A454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DE6FF827-2C46-4F7F-94EA-1E78155B1FF7}"/>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7/008 · 보고·원문 대조와 지침 사용 경로를 요약한 도식">
            <a:extLst xmlns:a="http://schemas.openxmlformats.org/drawingml/2006/main">
              <a:ext uri="{FF2B5EF4-FFF2-40B4-BE49-F238E27FC236}">
                <a16:creationId xmlns:a16="http://schemas.microsoft.com/office/drawing/2014/main" id="{D394AA2C-C919-40DD-8438-730F48D2FD9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TRIAL-007/008 · 보고·원문 대조와 지침 사용 경로를 요약한 도식</a:t>
            </a:r>
          </a:p>
        </p:txBody>
      </p:sp>
      <p:sp>
        <p:nvSpPr>
          <p:cNvPr id="7" name="MCP 작업 결과 없음 · 두 기록의 서로 다른 확인 내용 · 완전한 환경 목록·품질 향상 미입증">
            <a:extLst xmlns:a="http://schemas.openxmlformats.org/drawingml/2006/main">
              <a:ext uri="{FF2B5EF4-FFF2-40B4-BE49-F238E27FC236}">
                <a16:creationId xmlns:a16="http://schemas.microsoft.com/office/drawing/2014/main" id="{8F99B656-FA3D-4D07-917C-F9C89BDB93E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MCP 작업 결과 없음 · 두 기록의 서로 다른 확인 내용 · 완전한 환경 목록·품질 향상 미입증</a:t>
            </a:r>
          </a:p>
        </p:txBody>
      </p:sp>
      <p:sp>
        <p:nvSpPr>
          <p:cNvPr id="8" name="보고와 원문에 남은 차이">
            <a:extLst xmlns:a="http://schemas.openxmlformats.org/drawingml/2006/main">
              <a:ext uri="{FF2B5EF4-FFF2-40B4-BE49-F238E27FC236}">
                <a16:creationId xmlns:a16="http://schemas.microsoft.com/office/drawing/2014/main" id="{A7E3E386-3F31-4179-A7DC-69DE156180FE}"/>
              </a:ext>
            </a:extLst>
          </p:cNvPr>
          <p:cNvSpPr>
            <a:spLocks xmlns:a="http://schemas.openxmlformats.org/drawingml/2006/main" noGrp="1"/>
          </p:cNvSpPr>
          <p:nvPr/>
        </p:nvSpPr>
        <p:spPr>
          <a:xfrm xmlns:a="http://schemas.openxmlformats.org/drawingml/2006/main">
            <a:off x="609600" y="2105025"/>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보고와 원문에 남은 차이</a:t>
            </a:r>
          </a:p>
        </p:txBody>
      </p:sp>
      <p:sp>
        <p:nvSpPr>
          <p:cNvPr id="9" name="구분해서 남긴 사용 경로">
            <a:extLst xmlns:a="http://schemas.openxmlformats.org/drawingml/2006/main">
              <a:ext uri="{FF2B5EF4-FFF2-40B4-BE49-F238E27FC236}">
                <a16:creationId xmlns:a16="http://schemas.microsoft.com/office/drawing/2014/main" id="{10C4F8AF-FDC2-44F3-9208-81D2C6EC1376}"/>
              </a:ext>
            </a:extLst>
          </p:cNvPr>
          <p:cNvSpPr>
            <a:spLocks xmlns:a="http://schemas.openxmlformats.org/drawingml/2006/main" noGrp="1"/>
          </p:cNvSpPr>
          <p:nvPr/>
        </p:nvSpPr>
        <p:spPr>
          <a:xfrm xmlns:a="http://schemas.openxmlformats.org/drawingml/2006/main">
            <a:off x="6705600" y="2105025"/>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구분해서 남긴 사용 경로</a:t>
            </a:r>
          </a:p>
        </p:txBody>
      </p:sp>
      <p:sp>
        <p:nvSpPr>
          <p:cNvPr id="10" name="후속 기록 · TRIAL-007">
            <a:extLst xmlns:a="http://schemas.openxmlformats.org/drawingml/2006/main">
              <a:ext uri="{FF2B5EF4-FFF2-40B4-BE49-F238E27FC236}">
                <a16:creationId xmlns:a16="http://schemas.microsoft.com/office/drawing/2014/main" id="{153D8161-EB0A-4DCD-9E61-47CA26C80572}"/>
              </a:ext>
            </a:extLst>
          </p:cNvPr>
          <p:cNvSpPr>
            <a:spLocks xmlns:a="http://schemas.openxmlformats.org/drawingml/2006/main" noGrp="1"/>
          </p:cNvSpPr>
          <p:nvPr/>
        </p:nvSpPr>
        <p:spPr>
          <a:xfrm xmlns:a="http://schemas.openxmlformats.org/drawingml/2006/main">
            <a:off x="609600" y="2619375"/>
            <a:ext cx="5181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후속 기록 · TRIAL-007</a:t>
            </a:r>
          </a:p>
        </p:txBody>
      </p:sp>
      <p:sp>
        <p:nvSpPr>
          <p:cNvPr id="11" name="후속 기록 · TRIAL-008">
            <a:extLst xmlns:a="http://schemas.openxmlformats.org/drawingml/2006/main">
              <a:ext uri="{FF2B5EF4-FFF2-40B4-BE49-F238E27FC236}">
                <a16:creationId xmlns:a16="http://schemas.microsoft.com/office/drawing/2014/main" id="{5632BA09-CE43-4B2E-9D83-EE8BA6E6F2A3}"/>
              </a:ext>
            </a:extLst>
          </p:cNvPr>
          <p:cNvSpPr>
            <a:spLocks xmlns:a="http://schemas.openxmlformats.org/drawingml/2006/main" noGrp="1"/>
          </p:cNvSpPr>
          <p:nvPr/>
        </p:nvSpPr>
        <p:spPr>
          <a:xfrm xmlns:a="http://schemas.openxmlformats.org/drawingml/2006/main">
            <a:off x="6705600" y="2619375"/>
            <a:ext cx="4876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후속 기록 · TRIAL-008</a:t>
            </a:r>
          </a:p>
        </p:txBody>
      </p:sp>
      <p:sp>
        <p:nvSpPr>
          <p:cNvPr id="12" name="">
            <a:extLst xmlns:a="http://schemas.openxmlformats.org/drawingml/2006/main">
              <a:ext uri="{FF2B5EF4-FFF2-40B4-BE49-F238E27FC236}">
                <a16:creationId xmlns:a16="http://schemas.microsoft.com/office/drawing/2014/main" id="{E9345A72-54B3-46CD-A0E7-CE3B5FAC40BC}"/>
              </a:ext>
            </a:extLst>
          </p:cNvPr>
          <p:cNvSpPr>
            <a:spLocks xmlns:a="http://schemas.openxmlformats.org/drawingml/2006/main" noGrp="1"/>
          </p:cNvSpPr>
          <p:nvPr/>
        </p:nvSpPr>
        <p:spPr>
          <a:xfrm xmlns:a="http://schemas.openxmlformats.org/drawingml/2006/main">
            <a:off x="609600" y="3076575"/>
            <a:ext cx="51816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
            <a:extLst xmlns:a="http://schemas.openxmlformats.org/drawingml/2006/main">
              <a:ext uri="{FF2B5EF4-FFF2-40B4-BE49-F238E27FC236}">
                <a16:creationId xmlns:a16="http://schemas.microsoft.com/office/drawing/2014/main" id="{7FD4EA23-028C-4314-A981-395A3AE441F8}"/>
              </a:ext>
            </a:extLst>
          </p:cNvPr>
          <p:cNvSpPr>
            <a:spLocks xmlns:a="http://schemas.openxmlformats.org/drawingml/2006/main" noGrp="1"/>
          </p:cNvSpPr>
          <p:nvPr/>
        </p:nvSpPr>
        <p:spPr>
          <a:xfrm xmlns:a="http://schemas.openxmlformats.org/drawingml/2006/main">
            <a:off x="6705600" y="30765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보고서">
            <a:extLst xmlns:a="http://schemas.openxmlformats.org/drawingml/2006/main">
              <a:ext uri="{FF2B5EF4-FFF2-40B4-BE49-F238E27FC236}">
                <a16:creationId xmlns:a16="http://schemas.microsoft.com/office/drawing/2014/main" id="{6FAB0F3F-1819-457B-BA7A-BF7A4A0CCF17}"/>
              </a:ext>
            </a:extLst>
          </p:cNvPr>
          <p:cNvSpPr>
            <a:spLocks xmlns:a="http://schemas.openxmlformats.org/drawingml/2006/main" noGrp="1"/>
          </p:cNvSpPr>
          <p:nvPr/>
        </p:nvSpPr>
        <p:spPr>
          <a:xfrm xmlns:a="http://schemas.openxmlformats.org/drawingml/2006/main">
            <a:off x="609600" y="3295650"/>
            <a:ext cx="5181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보고서</a:t>
            </a:r>
          </a:p>
        </p:txBody>
      </p:sp>
      <p:sp>
        <p:nvSpPr>
          <p:cNvPr id="15" name="MCP 경고 없음">
            <a:extLst xmlns:a="http://schemas.openxmlformats.org/drawingml/2006/main">
              <a:ext uri="{FF2B5EF4-FFF2-40B4-BE49-F238E27FC236}">
                <a16:creationId xmlns:a16="http://schemas.microsoft.com/office/drawing/2014/main" id="{FC73E0B8-FD80-480F-AEBB-25EB63CAAE9A}"/>
              </a:ext>
            </a:extLst>
          </p:cNvPr>
          <p:cNvSpPr>
            <a:spLocks xmlns:a="http://schemas.openxmlformats.org/drawingml/2006/main" noGrp="1"/>
          </p:cNvSpPr>
          <p:nvPr/>
        </p:nvSpPr>
        <p:spPr>
          <a:xfrm xmlns:a="http://schemas.openxmlformats.org/drawingml/2006/main">
            <a:off x="609600" y="3705225"/>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MCP 경고 없음</a:t>
            </a:r>
          </a:p>
        </p:txBody>
      </p:sp>
      <p:sp>
        <p:nvSpPr>
          <p:cNvPr id="16" name="원문 진단 기록">
            <a:extLst xmlns:a="http://schemas.openxmlformats.org/drawingml/2006/main">
              <a:ext uri="{FF2B5EF4-FFF2-40B4-BE49-F238E27FC236}">
                <a16:creationId xmlns:a16="http://schemas.microsoft.com/office/drawing/2014/main" id="{931489CC-0873-450A-B105-14009E214AE0}"/>
              </a:ext>
            </a:extLst>
          </p:cNvPr>
          <p:cNvSpPr>
            <a:spLocks xmlns:a="http://schemas.openxmlformats.org/drawingml/2006/main" noGrp="1"/>
          </p:cNvSpPr>
          <p:nvPr/>
        </p:nvSpPr>
        <p:spPr>
          <a:xfrm xmlns:a="http://schemas.openxmlformats.org/drawingml/2006/main">
            <a:off x="609600" y="4343400"/>
            <a:ext cx="5181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원문 진단 기록</a:t>
            </a:r>
          </a:p>
        </p:txBody>
      </p:sp>
      <p:sp>
        <p:nvSpPr>
          <p:cNvPr id="17" name="인증 필요 경고가 남음">
            <a:extLst xmlns:a="http://schemas.openxmlformats.org/drawingml/2006/main">
              <a:ext uri="{FF2B5EF4-FFF2-40B4-BE49-F238E27FC236}">
                <a16:creationId xmlns:a16="http://schemas.microsoft.com/office/drawing/2014/main" id="{846375C2-3256-4124-87A9-1778F3FD18F7}"/>
              </a:ext>
            </a:extLst>
          </p:cNvPr>
          <p:cNvSpPr>
            <a:spLocks xmlns:a="http://schemas.openxmlformats.org/drawingml/2006/main" noGrp="1"/>
          </p:cNvSpPr>
          <p:nvPr/>
        </p:nvSpPr>
        <p:spPr>
          <a:xfrm xmlns:a="http://schemas.openxmlformats.org/drawingml/2006/main">
            <a:off x="609600" y="4762500"/>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인증 필요 경고가 남음</a:t>
            </a:r>
          </a:p>
        </p:txBody>
      </p:sp>
      <p:sp>
        <p:nvSpPr>
          <p:cNvPr id="18" name="원문: Nimble AuthRequired">
            <a:extLst xmlns:a="http://schemas.openxmlformats.org/drawingml/2006/main">
              <a:ext uri="{FF2B5EF4-FFF2-40B4-BE49-F238E27FC236}">
                <a16:creationId xmlns:a16="http://schemas.microsoft.com/office/drawing/2014/main" id="{0CEB006F-2453-46BE-AEFE-D2291FEB808C}"/>
              </a:ext>
            </a:extLst>
          </p:cNvPr>
          <p:cNvSpPr>
            <a:spLocks xmlns:a="http://schemas.openxmlformats.org/drawingml/2006/main" noGrp="1"/>
          </p:cNvSpPr>
          <p:nvPr/>
        </p:nvSpPr>
        <p:spPr>
          <a:xfrm xmlns:a="http://schemas.openxmlformats.org/drawingml/2006/main">
            <a:off x="609600" y="5286375"/>
            <a:ext cx="5181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Consolas"/>
                <a:ea typeface="Consolas"/>
                <a:cs typeface="Consolas"/>
              </a:defRPr>
            </a:defPPr>
            <a:lvl1pPr algn="l">
              <a:defRPr sz="1650" b="0">
                <a:solidFill>
                  <a:srgbClr val="4D5A68"/>
                </a:solidFill>
                <a:latin typeface="Consolas"/>
                <a:ea typeface="Consolas"/>
                <a:cs typeface="Consolas"/>
              </a:defRPr>
            </a:lvl1pPr>
            <a:lvl2pPr algn="l">
              <a:defRPr sz="1650" b="0">
                <a:solidFill>
                  <a:srgbClr val="4D5A68"/>
                </a:solidFill>
                <a:latin typeface="Consolas"/>
                <a:ea typeface="Consolas"/>
                <a:cs typeface="Consolas"/>
              </a:defRPr>
            </a:lvl2pPr>
            <a:lvl3pPr algn="l">
              <a:defRPr sz="1650" b="0">
                <a:solidFill>
                  <a:srgbClr val="4D5A68"/>
                </a:solidFill>
                <a:latin typeface="Consolas"/>
                <a:ea typeface="Consolas"/>
                <a:cs typeface="Consolas"/>
              </a:defRPr>
            </a:lvl3pPr>
            <a:lvl4pPr algn="l">
              <a:defRPr sz="1650" b="0">
                <a:solidFill>
                  <a:srgbClr val="4D5A68"/>
                </a:solidFill>
                <a:latin typeface="Consolas"/>
                <a:ea typeface="Consolas"/>
                <a:cs typeface="Consolas"/>
              </a:defRPr>
            </a:lvl4pPr>
            <a:lvl5pPr algn="l">
              <a:defRPr sz="1650" b="0">
                <a:solidFill>
                  <a:srgbClr val="4D5A68"/>
                </a:solidFill>
                <a:latin typeface="Consolas"/>
                <a:ea typeface="Consolas"/>
                <a:cs typeface="Consolas"/>
              </a:defRPr>
            </a:lvl5pPr>
            <a:lvl6pPr algn="l">
              <a:defRPr sz="1650" b="0">
                <a:solidFill>
                  <a:srgbClr val="4D5A68"/>
                </a:solidFill>
                <a:latin typeface="Consolas"/>
                <a:ea typeface="Consolas"/>
                <a:cs typeface="Consolas"/>
              </a:defRPr>
            </a:lvl6pPr>
            <a:lvl7pPr algn="l">
              <a:defRPr sz="1650" b="0">
                <a:solidFill>
                  <a:srgbClr val="4D5A68"/>
                </a:solidFill>
                <a:latin typeface="Consolas"/>
                <a:ea typeface="Consolas"/>
                <a:cs typeface="Consolas"/>
              </a:defRPr>
            </a:lvl7pPr>
            <a:lvl8pPr algn="l">
              <a:defRPr sz="1650" b="0">
                <a:solidFill>
                  <a:srgbClr val="4D5A68"/>
                </a:solidFill>
                <a:latin typeface="Consolas"/>
                <a:ea typeface="Consolas"/>
                <a:cs typeface="Consolas"/>
              </a:defRPr>
            </a:lvl8pPr>
            <a:lvl9pPr algn="l">
              <a:defRPr sz="1650" b="0">
                <a:solidFill>
                  <a:srgbClr val="4D5A68"/>
                </a:solidFill>
                <a:latin typeface="Consolas"/>
                <a:ea typeface="Consolas"/>
                <a:cs typeface="Consolas"/>
              </a:defRPr>
            </a:lvl9pPr>
          </a:lstStyle>
          <a:p xmlns:a="http://schemas.openxmlformats.org/drawingml/2006/main">
            <a:pPr algn="l">
              <a:defRPr sz="1650" b="0">
                <a:solidFill>
                  <a:srgbClr val="4D5A68"/>
                </a:solidFill>
                <a:latin typeface="Consolas"/>
                <a:ea typeface="Consolas"/>
                <a:cs typeface="Consolas"/>
              </a:defRPr>
            </a:pPr>
            <a:r>
              <a:rPr sz="1650" b="0">
                <a:solidFill>
                  <a:srgbClr val="4D5A68"/>
                </a:solidFill>
                <a:latin typeface="Consolas"/>
                <a:ea typeface="Consolas"/>
                <a:cs typeface="Consolas"/>
              </a:rPr>
              <a:t>원문: Nimble AuthRequired</a:t>
            </a:r>
          </a:p>
        </p:txBody>
      </p:sp>
      <p:sp>
        <p:nvSpPr>
          <p:cNvPr id="19" name="저장소 Skill의 명시 호출">
            <a:extLst xmlns:a="http://schemas.openxmlformats.org/drawingml/2006/main">
              <a:ext uri="{FF2B5EF4-FFF2-40B4-BE49-F238E27FC236}">
                <a16:creationId xmlns:a16="http://schemas.microsoft.com/office/drawing/2014/main" id="{4E7E4703-7A5C-4727-B232-8E493356C85F}"/>
              </a:ext>
            </a:extLst>
          </p:cNvPr>
          <p:cNvSpPr>
            <a:spLocks xmlns:a="http://schemas.openxmlformats.org/drawingml/2006/main" noGrp="1"/>
          </p:cNvSpPr>
          <p:nvPr/>
        </p:nvSpPr>
        <p:spPr>
          <a:xfrm xmlns:a="http://schemas.openxmlformats.org/drawingml/2006/main">
            <a:off x="6705600" y="3476625"/>
            <a:ext cx="48768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저장소 Skill의 명시 호출</a:t>
            </a:r>
          </a:p>
        </p:txBody>
      </p:sp>
      <p:sp>
        <p:nvSpPr>
          <p:cNvPr id="20" name="서로 구분해 기록">
            <a:extLst xmlns:a="http://schemas.openxmlformats.org/drawingml/2006/main">
              <a:ext uri="{FF2B5EF4-FFF2-40B4-BE49-F238E27FC236}">
                <a16:creationId xmlns:a16="http://schemas.microsoft.com/office/drawing/2014/main" id="{07812813-3C63-47B9-84F8-98F8B629F389}"/>
              </a:ext>
            </a:extLst>
          </p:cNvPr>
          <p:cNvSpPr>
            <a:spLocks xmlns:a="http://schemas.openxmlformats.org/drawingml/2006/main" noGrp="1"/>
          </p:cNvSpPr>
          <p:nvPr/>
        </p:nvSpPr>
        <p:spPr>
          <a:xfrm xmlns:a="http://schemas.openxmlformats.org/drawingml/2006/main">
            <a:off x="6705600" y="4219575"/>
            <a:ext cx="4876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서로 구분해 기록</a:t>
            </a:r>
          </a:p>
        </p:txBody>
      </p:sp>
      <p:sp>
        <p:nvSpPr>
          <p:cNvPr id="21" name="전역 지침·Skill의 영향">
            <a:extLst xmlns:a="http://schemas.openxmlformats.org/drawingml/2006/main">
              <a:ext uri="{FF2B5EF4-FFF2-40B4-BE49-F238E27FC236}">
                <a16:creationId xmlns:a16="http://schemas.microsoft.com/office/drawing/2014/main" id="{1CF4CC44-C8D8-40FE-BD71-702DC0C63A6C}"/>
              </a:ext>
            </a:extLst>
          </p:cNvPr>
          <p:cNvSpPr>
            <a:spLocks xmlns:a="http://schemas.openxmlformats.org/drawingml/2006/main" noGrp="1"/>
          </p:cNvSpPr>
          <p:nvPr/>
        </p:nvSpPr>
        <p:spPr>
          <a:xfrm xmlns:a="http://schemas.openxmlformats.org/drawingml/2006/main">
            <a:off x="6705600" y="4819650"/>
            <a:ext cx="48768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전역 지침·Skill의 영향</a:t>
            </a:r>
          </a:p>
        </p:txBody>
      </p:sp>
      <p:sp>
        <p:nvSpPr>
          <p:cNvPr id="22" name="Legacy module connection">
            <a:extLst xmlns:a="http://schemas.openxmlformats.org/drawingml/2006/main">
              <a:ext uri="{FF2B5EF4-FFF2-40B4-BE49-F238E27FC236}">
                <a16:creationId xmlns:a16="http://schemas.microsoft.com/office/drawing/2014/main" id="{E119C8D3-39DE-4CFB-92E0-F2D1A6BF276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534329707"/>
      </p:ext>
    </p:extLst>
  </p:cSld>
</p:sld>
</file>

<file path=ppt/slides/slide1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4 · 실제 제작 기록 / 운영 모델과의 대응">
            <a:extLst xmlns:a="http://schemas.openxmlformats.org/drawingml/2006/main">
              <a:ext uri="{FF2B5EF4-FFF2-40B4-BE49-F238E27FC236}">
                <a16:creationId xmlns:a16="http://schemas.microsoft.com/office/drawing/2014/main" id="{C928BB92-12B7-4101-9B67-771069F992B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실제 제작 기록 / 운영 모델과의 대응</a:t>
            </a:r>
          </a:p>
        </p:txBody>
      </p:sp>
      <p:sp>
        <p:nvSpPr>
          <p:cNvPr id="2" name="S87">
            <a:extLst xmlns:a="http://schemas.openxmlformats.org/drawingml/2006/main">
              <a:ext uri="{FF2B5EF4-FFF2-40B4-BE49-F238E27FC236}">
                <a16:creationId xmlns:a16="http://schemas.microsoft.com/office/drawing/2014/main" id="{24412B76-1269-42D0-9778-310996994FA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S87</a:t>
            </a:r>
          </a:p>
        </p:txBody>
      </p:sp>
      <p:sp>
        <p:nvSpPr>
          <p:cNvPr id="3" name="실제 기록을 Loop의 단계에 대응하면">
            <a:extLst xmlns:a="http://schemas.openxmlformats.org/drawingml/2006/main">
              <a:ext uri="{FF2B5EF4-FFF2-40B4-BE49-F238E27FC236}">
                <a16:creationId xmlns:a16="http://schemas.microsoft.com/office/drawing/2014/main" id="{C835A99B-2D19-418B-8031-2E9A4B7A05E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기록을 Loop의 단계에 대응하면</a:t>
            </a:r>
          </a:p>
        </p:txBody>
      </p:sp>
      <p:sp>
        <p:nvSpPr>
          <p:cNvPr id="4" name="">
            <a:extLst xmlns:a="http://schemas.openxmlformats.org/drawingml/2006/main">
              <a:ext uri="{FF2B5EF4-FFF2-40B4-BE49-F238E27FC236}">
                <a16:creationId xmlns:a16="http://schemas.microsoft.com/office/drawing/2014/main" id="{463ECA48-25C2-475F-BB4E-A67E0EB34B2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0F1EC6CB-E018-430E-8781-68B34055CEF4}"/>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DEC-0016 → TRIAL-007/008 · 보존된 평가·보고 기록">
            <a:extLst xmlns:a="http://schemas.openxmlformats.org/drawingml/2006/main">
              <a:ext uri="{FF2B5EF4-FFF2-40B4-BE49-F238E27FC236}">
                <a16:creationId xmlns:a16="http://schemas.microsoft.com/office/drawing/2014/main" id="{8A48AACB-8E1E-453E-A9C0-E3D4582974E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DEC-0016 → TRIAL-007/008 · 보존된 평가·보고 기록</a:t>
            </a:r>
          </a:p>
        </p:txBody>
      </p:sp>
      <p:sp>
        <p:nvSpPr>
          <p:cNvPr id="7" name="후속 대조는 부분적 확인 · 제품 코드·가상 Workflow 복구 아님 · 품질 향상은 미측정">
            <a:extLst xmlns:a="http://schemas.openxmlformats.org/drawingml/2006/main">
              <a:ext uri="{FF2B5EF4-FFF2-40B4-BE49-F238E27FC236}">
                <a16:creationId xmlns:a16="http://schemas.microsoft.com/office/drawing/2014/main" id="{A7D08B2B-DA14-44F4-B8DE-DC84E9D2513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후속 대조는 부분적 확인 · 제품 코드·가상 Workflow 복구 아님 · 품질 향상은 미측정</a:t>
            </a:r>
          </a:p>
        </p:txBody>
      </p:sp>
      <p:sp>
        <p:nvSpPr>
          <p:cNvPr id="8" name="성능 조사에서 얻은 관찰이 평가·보고 기준을 바꿨다">
            <a:extLst xmlns:a="http://schemas.openxmlformats.org/drawingml/2006/main">
              <a:ext uri="{FF2B5EF4-FFF2-40B4-BE49-F238E27FC236}">
                <a16:creationId xmlns:a16="http://schemas.microsoft.com/office/drawing/2014/main" id="{15741A33-4C9B-46E1-94FE-BC1C8DD1CBC1}"/>
              </a:ext>
            </a:extLst>
          </p:cNvPr>
          <p:cNvSpPr>
            <a:spLocks xmlns:a="http://schemas.openxmlformats.org/drawingml/2006/main" noGrp="1"/>
          </p:cNvSpPr>
          <p:nvPr/>
        </p:nvSpPr>
        <p:spPr>
          <a:xfrm xmlns:a="http://schemas.openxmlformats.org/drawingml/2006/main">
            <a:off x="609600" y="18002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성능 조사에서 얻은 관찰이 평가·보고 기준을 바꿨다</a:t>
            </a:r>
          </a:p>
        </p:txBody>
      </p:sp>
      <p:sp>
        <p:nvSpPr>
          <p:cNvPr id="9" name="01">
            <a:extLst xmlns:a="http://schemas.openxmlformats.org/drawingml/2006/main">
              <a:ext uri="{FF2B5EF4-FFF2-40B4-BE49-F238E27FC236}">
                <a16:creationId xmlns:a16="http://schemas.microsoft.com/office/drawing/2014/main" id="{D196AFED-4B29-4E8C-A051-B57F7683C564}"/>
              </a:ext>
            </a:extLst>
          </p:cNvPr>
          <p:cNvSpPr>
            <a:spLocks xmlns:a="http://schemas.openxmlformats.org/drawingml/2006/main" noGrp="1"/>
          </p:cNvSpPr>
          <p:nvPr/>
        </p:nvSpPr>
        <p:spPr>
          <a:xfrm xmlns:a="http://schemas.openxmlformats.org/drawingml/2006/main">
            <a:off x="609600" y="2571750"/>
            <a:ext cx="1981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01</a:t>
            </a:r>
          </a:p>
        </p:txBody>
      </p:sp>
      <p:sp>
        <p:nvSpPr>
          <p:cNvPr id="10" name="">
            <a:extLst xmlns:a="http://schemas.openxmlformats.org/drawingml/2006/main">
              <a:ext uri="{FF2B5EF4-FFF2-40B4-BE49-F238E27FC236}">
                <a16:creationId xmlns:a16="http://schemas.microsoft.com/office/drawing/2014/main" id="{BAFD73A9-041B-4CA8-B42E-ED1364EB5015}"/>
              </a:ext>
            </a:extLst>
          </p:cNvPr>
          <p:cNvSpPr>
            <a:spLocks xmlns:a="http://schemas.openxmlformats.org/drawingml/2006/main" noGrp="1"/>
          </p:cNvSpPr>
          <p:nvPr/>
        </p:nvSpPr>
        <p:spPr>
          <a:xfrm xmlns:a="http://schemas.openxmlformats.org/drawingml/2006/main">
            <a:off x="609600" y="30003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실행">
            <a:extLst xmlns:a="http://schemas.openxmlformats.org/drawingml/2006/main">
              <a:ext uri="{FF2B5EF4-FFF2-40B4-BE49-F238E27FC236}">
                <a16:creationId xmlns:a16="http://schemas.microsoft.com/office/drawing/2014/main" id="{D19F9A5F-B49F-4042-B1DF-1E3C6DED2146}"/>
              </a:ext>
            </a:extLst>
          </p:cNvPr>
          <p:cNvSpPr>
            <a:spLocks xmlns:a="http://schemas.openxmlformats.org/drawingml/2006/main" noGrp="1"/>
          </p:cNvSpPr>
          <p:nvPr/>
        </p:nvSpPr>
        <p:spPr>
          <a:xfrm xmlns:a="http://schemas.openxmlformats.org/drawingml/2006/main">
            <a:off x="609600" y="3143250"/>
            <a:ext cx="1981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a:t>
            </a:r>
          </a:p>
        </p:txBody>
      </p:sp>
      <p:sp>
        <p:nvSpPr>
          <p:cNvPr id="12" name="Resize 성능&#10;조사">
            <a:extLst xmlns:a="http://schemas.openxmlformats.org/drawingml/2006/main">
              <a:ext uri="{FF2B5EF4-FFF2-40B4-BE49-F238E27FC236}">
                <a16:creationId xmlns:a16="http://schemas.microsoft.com/office/drawing/2014/main" id="{95E61F9C-A11E-437B-A634-89682A77FFCD}"/>
              </a:ext>
            </a:extLst>
          </p:cNvPr>
          <p:cNvSpPr>
            <a:spLocks xmlns:a="http://schemas.openxmlformats.org/drawingml/2006/main" noGrp="1"/>
          </p:cNvSpPr>
          <p:nvPr/>
        </p:nvSpPr>
        <p:spPr>
          <a:xfrm xmlns:a="http://schemas.openxmlformats.org/drawingml/2006/main">
            <a:off x="609600" y="3714750"/>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Resize 성능</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조사</a:t>
            </a:r>
          </a:p>
        </p:txBody>
      </p:sp>
      <p:cxnSp>
        <p:nvCxnSpPr>
          <p:cNvPr id="13" name="">
            <a:extLst xmlns:a="http://schemas.openxmlformats.org/drawingml/2006/main">
              <a:ext uri="{FF2B5EF4-FFF2-40B4-BE49-F238E27FC236}">
                <a16:creationId xmlns:a16="http://schemas.microsoft.com/office/drawing/2014/main" id="{F5BC6CF5-8915-4B6A-ACAB-EAC4BF838EEC}"/>
              </a:ext>
            </a:extLst>
          </p:cNvPr>
          <p:cNvCxnSpPr/>
          <p:nvPr/>
        </p:nvCxnSpPr>
        <p:spPr>
          <a:xfrm xmlns:a="http://schemas.openxmlformats.org/drawingml/2006/main">
            <a:off x="26479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4" name="02">
            <a:extLst xmlns:a="http://schemas.openxmlformats.org/drawingml/2006/main">
              <a:ext uri="{FF2B5EF4-FFF2-40B4-BE49-F238E27FC236}">
                <a16:creationId xmlns:a16="http://schemas.microsoft.com/office/drawing/2014/main" id="{537F65B3-7D3A-466B-A323-C53E3F5AACEC}"/>
              </a:ext>
            </a:extLst>
          </p:cNvPr>
          <p:cNvSpPr>
            <a:spLocks xmlns:a="http://schemas.openxmlformats.org/drawingml/2006/main" noGrp="1"/>
          </p:cNvSpPr>
          <p:nvPr/>
        </p:nvSpPr>
        <p:spPr>
          <a:xfrm xmlns:a="http://schemas.openxmlformats.org/drawingml/2006/main">
            <a:off x="2857500" y="2571750"/>
            <a:ext cx="1981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02</a:t>
            </a:r>
          </a:p>
        </p:txBody>
      </p:sp>
      <p:sp>
        <p:nvSpPr>
          <p:cNvPr id="15" name="">
            <a:extLst xmlns:a="http://schemas.openxmlformats.org/drawingml/2006/main">
              <a:ext uri="{FF2B5EF4-FFF2-40B4-BE49-F238E27FC236}">
                <a16:creationId xmlns:a16="http://schemas.microsoft.com/office/drawing/2014/main" id="{8C653351-D6DA-46EA-883D-022B8F43A066}"/>
              </a:ext>
            </a:extLst>
          </p:cNvPr>
          <p:cNvSpPr>
            <a:spLocks xmlns:a="http://schemas.openxmlformats.org/drawingml/2006/main" noGrp="1"/>
          </p:cNvSpPr>
          <p:nvPr/>
        </p:nvSpPr>
        <p:spPr>
          <a:xfrm xmlns:a="http://schemas.openxmlformats.org/drawingml/2006/main">
            <a:off x="2857500" y="30003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관찰">
            <a:extLst xmlns:a="http://schemas.openxmlformats.org/drawingml/2006/main">
              <a:ext uri="{FF2B5EF4-FFF2-40B4-BE49-F238E27FC236}">
                <a16:creationId xmlns:a16="http://schemas.microsoft.com/office/drawing/2014/main" id="{84E39729-05D9-497E-A04B-C70E29541A44}"/>
              </a:ext>
            </a:extLst>
          </p:cNvPr>
          <p:cNvSpPr>
            <a:spLocks xmlns:a="http://schemas.openxmlformats.org/drawingml/2006/main" noGrp="1"/>
          </p:cNvSpPr>
          <p:nvPr/>
        </p:nvSpPr>
        <p:spPr>
          <a:xfrm xmlns:a="http://schemas.openxmlformats.org/drawingml/2006/main">
            <a:off x="2857500" y="3143250"/>
            <a:ext cx="1981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관찰</a:t>
            </a:r>
          </a:p>
        </p:txBody>
      </p:sp>
      <p:sp>
        <p:nvSpPr>
          <p:cNvPr id="17" name="전역 Skill과&#10;시작 경고">
            <a:extLst xmlns:a="http://schemas.openxmlformats.org/drawingml/2006/main">
              <a:ext uri="{FF2B5EF4-FFF2-40B4-BE49-F238E27FC236}">
                <a16:creationId xmlns:a16="http://schemas.microsoft.com/office/drawing/2014/main" id="{EDEE8ECA-695F-4E62-8281-D7E35A7CD0C2}"/>
              </a:ext>
            </a:extLst>
          </p:cNvPr>
          <p:cNvSpPr>
            <a:spLocks xmlns:a="http://schemas.openxmlformats.org/drawingml/2006/main" noGrp="1"/>
          </p:cNvSpPr>
          <p:nvPr/>
        </p:nvSpPr>
        <p:spPr>
          <a:xfrm xmlns:a="http://schemas.openxmlformats.org/drawingml/2006/main">
            <a:off x="2857500" y="3714750"/>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전역 Skill과</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시작 경고</a:t>
            </a:r>
          </a:p>
        </p:txBody>
      </p:sp>
      <p:cxnSp>
        <p:nvCxnSpPr>
          <p:cNvPr id="18" name="">
            <a:extLst xmlns:a="http://schemas.openxmlformats.org/drawingml/2006/main">
              <a:ext uri="{FF2B5EF4-FFF2-40B4-BE49-F238E27FC236}">
                <a16:creationId xmlns:a16="http://schemas.microsoft.com/office/drawing/2014/main" id="{C131020D-6438-431D-AC60-F8D22C6DD36F}"/>
              </a:ext>
            </a:extLst>
          </p:cNvPr>
          <p:cNvCxnSpPr/>
          <p:nvPr/>
        </p:nvCxnSpPr>
        <p:spPr>
          <a:xfrm xmlns:a="http://schemas.openxmlformats.org/drawingml/2006/main">
            <a:off x="48958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03">
            <a:extLst xmlns:a="http://schemas.openxmlformats.org/drawingml/2006/main">
              <a:ext uri="{FF2B5EF4-FFF2-40B4-BE49-F238E27FC236}">
                <a16:creationId xmlns:a16="http://schemas.microsoft.com/office/drawing/2014/main" id="{6A5A8BEC-DCA2-42BB-8786-D22D6C36CE2A}"/>
              </a:ext>
            </a:extLst>
          </p:cNvPr>
          <p:cNvSpPr>
            <a:spLocks xmlns:a="http://schemas.openxmlformats.org/drawingml/2006/main" noGrp="1"/>
          </p:cNvSpPr>
          <p:nvPr/>
        </p:nvSpPr>
        <p:spPr>
          <a:xfrm xmlns:a="http://schemas.openxmlformats.org/drawingml/2006/main">
            <a:off x="5105400" y="2571750"/>
            <a:ext cx="1981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03</a:t>
            </a:r>
          </a:p>
        </p:txBody>
      </p:sp>
      <p:sp>
        <p:nvSpPr>
          <p:cNvPr id="20" name="">
            <a:extLst xmlns:a="http://schemas.openxmlformats.org/drawingml/2006/main">
              <a:ext uri="{FF2B5EF4-FFF2-40B4-BE49-F238E27FC236}">
                <a16:creationId xmlns:a16="http://schemas.microsoft.com/office/drawing/2014/main" id="{A9D75FBF-447C-40E2-AF42-943F44206FFD}"/>
              </a:ext>
            </a:extLst>
          </p:cNvPr>
          <p:cNvSpPr>
            <a:spLocks xmlns:a="http://schemas.openxmlformats.org/drawingml/2006/main" noGrp="1"/>
          </p:cNvSpPr>
          <p:nvPr/>
        </p:nvSpPr>
        <p:spPr>
          <a:xfrm xmlns:a="http://schemas.openxmlformats.org/drawingml/2006/main">
            <a:off x="5105400" y="30003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1" name="원인 판단">
            <a:extLst xmlns:a="http://schemas.openxmlformats.org/drawingml/2006/main">
              <a:ext uri="{FF2B5EF4-FFF2-40B4-BE49-F238E27FC236}">
                <a16:creationId xmlns:a16="http://schemas.microsoft.com/office/drawing/2014/main" id="{D9F734C5-60D0-4E93-BE9D-0FE03BD053F0}"/>
              </a:ext>
            </a:extLst>
          </p:cNvPr>
          <p:cNvSpPr>
            <a:spLocks xmlns:a="http://schemas.openxmlformats.org/drawingml/2006/main" noGrp="1"/>
          </p:cNvSpPr>
          <p:nvPr/>
        </p:nvSpPr>
        <p:spPr>
          <a:xfrm xmlns:a="http://schemas.openxmlformats.org/drawingml/2006/main">
            <a:off x="5105400" y="3143250"/>
            <a:ext cx="1981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원인 판단</a:t>
            </a:r>
          </a:p>
        </p:txBody>
      </p:sp>
      <p:sp>
        <p:nvSpPr>
          <p:cNvPr id="22" name="Prompt만의&#10;효과 분리 불가">
            <a:extLst xmlns:a="http://schemas.openxmlformats.org/drawingml/2006/main">
              <a:ext uri="{FF2B5EF4-FFF2-40B4-BE49-F238E27FC236}">
                <a16:creationId xmlns:a16="http://schemas.microsoft.com/office/drawing/2014/main" id="{8E98E275-7F39-4AE2-BA81-DF1CE87B51B9}"/>
              </a:ext>
            </a:extLst>
          </p:cNvPr>
          <p:cNvSpPr>
            <a:spLocks xmlns:a="http://schemas.openxmlformats.org/drawingml/2006/main" noGrp="1"/>
          </p:cNvSpPr>
          <p:nvPr/>
        </p:nvSpPr>
        <p:spPr>
          <a:xfrm xmlns:a="http://schemas.openxmlformats.org/drawingml/2006/main">
            <a:off x="5105400" y="3714750"/>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Prompt만의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효과 분리 불가</a:t>
            </a:r>
          </a:p>
        </p:txBody>
      </p:sp>
      <p:cxnSp>
        <p:nvCxnSpPr>
          <p:cNvPr id="23" name="">
            <a:extLst xmlns:a="http://schemas.openxmlformats.org/drawingml/2006/main">
              <a:ext uri="{FF2B5EF4-FFF2-40B4-BE49-F238E27FC236}">
                <a16:creationId xmlns:a16="http://schemas.microsoft.com/office/drawing/2014/main" id="{F7D68E9A-25ED-4E94-996B-82F409085E3D}"/>
              </a:ext>
            </a:extLst>
          </p:cNvPr>
          <p:cNvCxnSpPr/>
          <p:nvPr/>
        </p:nvCxnSpPr>
        <p:spPr>
          <a:xfrm xmlns:a="http://schemas.openxmlformats.org/drawingml/2006/main">
            <a:off x="71437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4" name="04">
            <a:extLst xmlns:a="http://schemas.openxmlformats.org/drawingml/2006/main">
              <a:ext uri="{FF2B5EF4-FFF2-40B4-BE49-F238E27FC236}">
                <a16:creationId xmlns:a16="http://schemas.microsoft.com/office/drawing/2014/main" id="{0455D32D-2310-4EDD-9A00-A2361A0D625A}"/>
              </a:ext>
            </a:extLst>
          </p:cNvPr>
          <p:cNvSpPr>
            <a:spLocks xmlns:a="http://schemas.openxmlformats.org/drawingml/2006/main" noGrp="1"/>
          </p:cNvSpPr>
          <p:nvPr/>
        </p:nvSpPr>
        <p:spPr>
          <a:xfrm xmlns:a="http://schemas.openxmlformats.org/drawingml/2006/main">
            <a:off x="7353300" y="2571750"/>
            <a:ext cx="1981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04</a:t>
            </a:r>
          </a:p>
        </p:txBody>
      </p:sp>
      <p:sp>
        <p:nvSpPr>
          <p:cNvPr id="25" name="">
            <a:extLst xmlns:a="http://schemas.openxmlformats.org/drawingml/2006/main">
              <a:ext uri="{FF2B5EF4-FFF2-40B4-BE49-F238E27FC236}">
                <a16:creationId xmlns:a16="http://schemas.microsoft.com/office/drawing/2014/main" id="{FB3E667F-D602-4F6D-83EE-43605BC37EF0}"/>
              </a:ext>
            </a:extLst>
          </p:cNvPr>
          <p:cNvSpPr>
            <a:spLocks xmlns:a="http://schemas.openxmlformats.org/drawingml/2006/main" noGrp="1"/>
          </p:cNvSpPr>
          <p:nvPr/>
        </p:nvSpPr>
        <p:spPr>
          <a:xfrm xmlns:a="http://schemas.openxmlformats.org/drawingml/2006/main">
            <a:off x="7353300" y="30003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6" name="시스템 변경">
            <a:extLst xmlns:a="http://schemas.openxmlformats.org/drawingml/2006/main">
              <a:ext uri="{FF2B5EF4-FFF2-40B4-BE49-F238E27FC236}">
                <a16:creationId xmlns:a16="http://schemas.microsoft.com/office/drawing/2014/main" id="{F6D4B7F8-7274-42AE-99C6-A89CF6C89D6C}"/>
              </a:ext>
            </a:extLst>
          </p:cNvPr>
          <p:cNvSpPr>
            <a:spLocks xmlns:a="http://schemas.openxmlformats.org/drawingml/2006/main" noGrp="1"/>
          </p:cNvSpPr>
          <p:nvPr/>
        </p:nvSpPr>
        <p:spPr>
          <a:xfrm xmlns:a="http://schemas.openxmlformats.org/drawingml/2006/main">
            <a:off x="7353300" y="3143250"/>
            <a:ext cx="1981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시스템 변경</a:t>
            </a:r>
          </a:p>
        </p:txBody>
      </p:sp>
      <p:sp>
        <p:nvSpPr>
          <p:cNvPr id="27" name="평가·보고&#10;기준 변경">
            <a:extLst xmlns:a="http://schemas.openxmlformats.org/drawingml/2006/main">
              <a:ext uri="{FF2B5EF4-FFF2-40B4-BE49-F238E27FC236}">
                <a16:creationId xmlns:a16="http://schemas.microsoft.com/office/drawing/2014/main" id="{32371C62-484C-4444-83A0-696DB3EC6FD5}"/>
              </a:ext>
            </a:extLst>
          </p:cNvPr>
          <p:cNvSpPr>
            <a:spLocks xmlns:a="http://schemas.openxmlformats.org/drawingml/2006/main" noGrp="1"/>
          </p:cNvSpPr>
          <p:nvPr/>
        </p:nvSpPr>
        <p:spPr>
          <a:xfrm xmlns:a="http://schemas.openxmlformats.org/drawingml/2006/main">
            <a:off x="7353300" y="3714750"/>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평가·보고</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기준 변경</a:t>
            </a:r>
          </a:p>
        </p:txBody>
      </p:sp>
      <p:cxnSp>
        <p:nvCxnSpPr>
          <p:cNvPr id="28" name="">
            <a:extLst xmlns:a="http://schemas.openxmlformats.org/drawingml/2006/main">
              <a:ext uri="{FF2B5EF4-FFF2-40B4-BE49-F238E27FC236}">
                <a16:creationId xmlns:a16="http://schemas.microsoft.com/office/drawing/2014/main" id="{02BD1AFF-AAED-4B6C-B482-59ABFD13ADA2}"/>
              </a:ext>
            </a:extLst>
          </p:cNvPr>
          <p:cNvCxnSpPr/>
          <p:nvPr/>
        </p:nvCxnSpPr>
        <p:spPr>
          <a:xfrm xmlns:a="http://schemas.openxmlformats.org/drawingml/2006/main">
            <a:off x="93916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9" name="05">
            <a:extLst xmlns:a="http://schemas.openxmlformats.org/drawingml/2006/main">
              <a:ext uri="{FF2B5EF4-FFF2-40B4-BE49-F238E27FC236}">
                <a16:creationId xmlns:a16="http://schemas.microsoft.com/office/drawing/2014/main" id="{8CC8DECB-5C69-43DA-BF36-701925DC26B0}"/>
              </a:ext>
            </a:extLst>
          </p:cNvPr>
          <p:cNvSpPr>
            <a:spLocks xmlns:a="http://schemas.openxmlformats.org/drawingml/2006/main" noGrp="1"/>
          </p:cNvSpPr>
          <p:nvPr/>
        </p:nvSpPr>
        <p:spPr>
          <a:xfrm xmlns:a="http://schemas.openxmlformats.org/drawingml/2006/main">
            <a:off x="9601200" y="2571750"/>
            <a:ext cx="1981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05</a:t>
            </a:r>
          </a:p>
        </p:txBody>
      </p:sp>
      <p:sp>
        <p:nvSpPr>
          <p:cNvPr id="30" name="">
            <a:extLst xmlns:a="http://schemas.openxmlformats.org/drawingml/2006/main">
              <a:ext uri="{FF2B5EF4-FFF2-40B4-BE49-F238E27FC236}">
                <a16:creationId xmlns:a16="http://schemas.microsoft.com/office/drawing/2014/main" id="{F3591B29-AC88-4461-8CD7-C4FD32D31000}"/>
              </a:ext>
            </a:extLst>
          </p:cNvPr>
          <p:cNvSpPr>
            <a:spLocks xmlns:a="http://schemas.openxmlformats.org/drawingml/2006/main" noGrp="1"/>
          </p:cNvSpPr>
          <p:nvPr/>
        </p:nvSpPr>
        <p:spPr>
          <a:xfrm xmlns:a="http://schemas.openxmlformats.org/drawingml/2006/main">
            <a:off x="9601200" y="30003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1" name="재평가">
            <a:extLst xmlns:a="http://schemas.openxmlformats.org/drawingml/2006/main">
              <a:ext uri="{FF2B5EF4-FFF2-40B4-BE49-F238E27FC236}">
                <a16:creationId xmlns:a16="http://schemas.microsoft.com/office/drawing/2014/main" id="{5C69AAFE-BFDA-4291-8E99-AF78CAAB6BA3}"/>
              </a:ext>
            </a:extLst>
          </p:cNvPr>
          <p:cNvSpPr>
            <a:spLocks xmlns:a="http://schemas.openxmlformats.org/drawingml/2006/main" noGrp="1"/>
          </p:cNvSpPr>
          <p:nvPr/>
        </p:nvSpPr>
        <p:spPr>
          <a:xfrm xmlns:a="http://schemas.openxmlformats.org/drawingml/2006/main">
            <a:off x="9601200" y="3143250"/>
            <a:ext cx="1981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재평가</a:t>
            </a:r>
          </a:p>
        </p:txBody>
      </p:sp>
      <p:sp>
        <p:nvSpPr>
          <p:cNvPr id="32" name="후속 기록 대조&#10;불일치도 남음">
            <a:extLst xmlns:a="http://schemas.openxmlformats.org/drawingml/2006/main">
              <a:ext uri="{FF2B5EF4-FFF2-40B4-BE49-F238E27FC236}">
                <a16:creationId xmlns:a16="http://schemas.microsoft.com/office/drawing/2014/main" id="{743B0CA1-7070-484E-A63B-4378240A3393}"/>
              </a:ext>
            </a:extLst>
          </p:cNvPr>
          <p:cNvSpPr>
            <a:spLocks xmlns:a="http://schemas.openxmlformats.org/drawingml/2006/main" noGrp="1"/>
          </p:cNvSpPr>
          <p:nvPr/>
        </p:nvSpPr>
        <p:spPr>
          <a:xfrm xmlns:a="http://schemas.openxmlformats.org/drawingml/2006/main">
            <a:off x="9601200" y="3714750"/>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후속 기록 대조</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불일치도 남음</a:t>
            </a:r>
          </a:p>
        </p:txBody>
      </p:sp>
      <p:sp>
        <p:nvSpPr>
          <p:cNvPr id="33" name="바뀐 것: 평가·보고 기준">
            <a:extLst xmlns:a="http://schemas.openxmlformats.org/drawingml/2006/main">
              <a:ext uri="{FF2B5EF4-FFF2-40B4-BE49-F238E27FC236}">
                <a16:creationId xmlns:a16="http://schemas.microsoft.com/office/drawing/2014/main" id="{B2000990-F9A4-4254-BDB0-FE61E49BFFC8}"/>
              </a:ext>
            </a:extLst>
          </p:cNvPr>
          <p:cNvSpPr>
            <a:spLocks xmlns:a="http://schemas.openxmlformats.org/drawingml/2006/main" noGrp="1"/>
          </p:cNvSpPr>
          <p:nvPr/>
        </p:nvSpPr>
        <p:spPr>
          <a:xfrm xmlns:a="http://schemas.openxmlformats.org/drawingml/2006/main">
            <a:off x="609600" y="48291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바뀐 것: 평가·보고 기준</a:t>
            </a:r>
          </a:p>
        </p:txBody>
      </p:sp>
      <p:sp>
        <p:nvSpPr>
          <p:cNvPr id="34" name="미확인: 원인별 효과 · 환경 목록의 완전성 · Trial 품질 향상">
            <a:extLst xmlns:a="http://schemas.openxmlformats.org/drawingml/2006/main">
              <a:ext uri="{FF2B5EF4-FFF2-40B4-BE49-F238E27FC236}">
                <a16:creationId xmlns:a16="http://schemas.microsoft.com/office/drawing/2014/main" id="{D906F50B-7C38-4F18-84D6-CB19FF10311B}"/>
              </a:ext>
            </a:extLst>
          </p:cNvPr>
          <p:cNvSpPr>
            <a:spLocks xmlns:a="http://schemas.openxmlformats.org/drawingml/2006/main" noGrp="1"/>
          </p:cNvSpPr>
          <p:nvPr/>
        </p:nvSpPr>
        <p:spPr>
          <a:xfrm xmlns:a="http://schemas.openxmlformats.org/drawingml/2006/main">
            <a:off x="609600" y="5343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미확인: 원인별 효과 · 환경 목록의 완전성 · Trial 품질 향상</a:t>
            </a:r>
          </a:p>
        </p:txBody>
      </p:sp>
      <p:sp>
        <p:nvSpPr>
          <p:cNvPr id="35" name="Legacy module connection">
            <a:extLst xmlns:a="http://schemas.openxmlformats.org/drawingml/2006/main">
              <a:ext uri="{FF2B5EF4-FFF2-40B4-BE49-F238E27FC236}">
                <a16:creationId xmlns:a16="http://schemas.microsoft.com/office/drawing/2014/main" id="{72428B24-6147-43AC-A734-170C48A7238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141545916"/>
      </p:ext>
    </p:extLst>
  </p:cSld>
</p:sld>
</file>

<file path=ppt/slides/slide1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4 · C++ VISION / 적용을 위한 가상 질문">
            <a:extLst xmlns:a="http://schemas.openxmlformats.org/drawingml/2006/main">
              <a:ext uri="{FF2B5EF4-FFF2-40B4-BE49-F238E27FC236}">
                <a16:creationId xmlns:a16="http://schemas.microsoft.com/office/drawing/2014/main" id="{B29C23FE-4991-46A5-AD74-981597E20D1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 VISION / 적용을 위한 가상 질문</a:t>
            </a:r>
          </a:p>
        </p:txBody>
      </p:sp>
      <p:sp>
        <p:nvSpPr>
          <p:cNvPr id="2" name="S88">
            <a:extLst xmlns:a="http://schemas.openxmlformats.org/drawingml/2006/main">
              <a:ext uri="{FF2B5EF4-FFF2-40B4-BE49-F238E27FC236}">
                <a16:creationId xmlns:a16="http://schemas.microsoft.com/office/drawing/2014/main" id="{343EEBB2-7476-4E2F-9332-3FB3B9AAE49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S88</a:t>
            </a:r>
          </a:p>
        </p:txBody>
      </p:sp>
      <p:sp>
        <p:nvSpPr>
          <p:cNvPr id="3" name="Project와 환경이 바뀌면&#10;검증도 다시 본다">
            <a:extLst xmlns:a="http://schemas.openxmlformats.org/drawingml/2006/main">
              <a:ext uri="{FF2B5EF4-FFF2-40B4-BE49-F238E27FC236}">
                <a16:creationId xmlns:a16="http://schemas.microsoft.com/office/drawing/2014/main" id="{AF5DBCBD-C594-4FB6-8594-4F5196CBCB1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GPU 변경 뒤, 검증 조건을 다시 본다</a:t>
            </a:r>
          </a:p>
        </p:txBody>
      </p:sp>
      <p:sp>
        <p:nvSpPr>
          <p:cNvPr id="4" name="">
            <a:extLst xmlns:a="http://schemas.openxmlformats.org/drawingml/2006/main">
              <a:ext uri="{FF2B5EF4-FFF2-40B4-BE49-F238E27FC236}">
                <a16:creationId xmlns:a16="http://schemas.microsoft.com/office/drawing/2014/main" id="{D7B28886-FCEE-4346-A416-7195FD6F4E0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BEAT-059 · TRANS-012 · 교육용 전이 모델 · AI 생성 설명용 삽화">
            <a:extLst xmlns:a="http://schemas.openxmlformats.org/drawingml/2006/main">
              <a:ext uri="{FF2B5EF4-FFF2-40B4-BE49-F238E27FC236}">
                <a16:creationId xmlns:a16="http://schemas.microsoft.com/office/drawing/2014/main" id="{9A65461C-D49B-4C28-BE0E-D435367C03B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BEAT-059 · TRANS-012 · 교육용 전이 모델 · AI 생성 설명용 삽화</a:t>
            </a:r>
          </a:p>
        </p:txBody>
      </p:sp>
      <p:sp>
        <p:nvSpPr>
          <p:cNvPr id="6" name="실제 C++ 사건·성능 결과가 아닙니다. 변경 표시는 확인할 조건을 뜻하며 원인이나 결과를 단정하지 않습니다">
            <a:extLst xmlns:a="http://schemas.openxmlformats.org/drawingml/2006/main">
              <a:ext uri="{FF2B5EF4-FFF2-40B4-BE49-F238E27FC236}">
                <a16:creationId xmlns:a16="http://schemas.microsoft.com/office/drawing/2014/main" id="{544D399A-B4D7-4040-BA95-0A50FFE3421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사건·성능 결과가 아닙니다. 변경 표시는 확인할 조건을 뜻하며 원인이나 결과를 단정하지 않습니다.</a:t>
            </a:r>
          </a:p>
        </p:txBody>
      </p:sp>
      <p:sp>
        <p:nvSpPr>
          <p:cNvPr id="7" name="GPU · 빌드 · 측정 조건이 달라졌다면?">
            <a:extLst xmlns:a="http://schemas.openxmlformats.org/drawingml/2006/main">
              <a:ext uri="{FF2B5EF4-FFF2-40B4-BE49-F238E27FC236}">
                <a16:creationId xmlns:a16="http://schemas.microsoft.com/office/drawing/2014/main" id="{3B5A0968-2BA9-4342-874F-763172C4BB99}"/>
              </a:ext>
            </a:extLst>
          </p:cNvPr>
          <p:cNvSpPr>
            <a:spLocks xmlns:a="http://schemas.openxmlformats.org/drawingml/2006/main" noGrp="1"/>
          </p:cNvSpPr>
          <p:nvPr/>
        </p:nvSpPr>
        <p:spPr>
          <a:xfrm xmlns:a="http://schemas.openxmlformats.org/drawingml/2006/main">
            <a:off x="609600" y="19526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가정: 같은 검사 코드가 새 GPU에서 실행된다</a:t>
            </a:r>
          </a:p>
        </p:txBody>
      </p:sp>
      <p:pic>
        <p:nvPicPr>
          <p:cNvPr id="8" name="">
            <a:extLst xmlns:a="http://schemas.openxmlformats.org/drawingml/2006/main">
              <a:ext uri="{FF2B5EF4-FFF2-40B4-BE49-F238E27FC236}">
                <a16:creationId xmlns:a16="http://schemas.microsoft.com/office/drawing/2014/main" id="{A5A42CD0-37B3-4AB4-B1B9-8E475D4CECFC}"/>
              </a:ext>
            </a:extLst>
          </p:cNvPr>
          <p:cNvPicPr>
            <a:picLocks xmlns:a="http://schemas.openxmlformats.org/drawingml/2006/main" noChangeAspect="1"/>
          </p:cNvPicPr>
          <p:nvPr/>
        </p:nvPicPr>
        <p:blipFill>
          <a:blip xmlns:r="http://schemas.openxmlformats.org/officeDocument/2006/relationships" xmlns:a="http://schemas.openxmlformats.org/drawingml/2006/main" r:embed="Rf6bb589c73114189"/>
          <a:srcRect xmlns:a="http://schemas.openxmlformats.org/drawingml/2006/main" l="0" t="6000" r="0" b="10000"/>
          <a:stretch xmlns:a="http://schemas.openxmlformats.org/drawingml/2006/main"/>
        </p:blipFill>
        <p:spPr>
          <a:xfrm xmlns:a="http://schemas.openxmlformats.org/drawingml/2006/main">
            <a:off x="609600" y="2676525"/>
            <a:ext cx="6858000" cy="1924050"/>
          </a:xfrm>
          <a:prstGeom xmlns:a="http://schemas.openxmlformats.org/drawingml/2006/main" prst="rect">
            <a:avLst/>
          </a:prstGeom>
        </p:spPr>
      </p:pic>
      <p:sp>
        <p:nvSpPr>
          <p:cNvPr id="9" name="입력">
            <a:extLst xmlns:a="http://schemas.openxmlformats.org/drawingml/2006/main">
              <a:ext uri="{FF2B5EF4-FFF2-40B4-BE49-F238E27FC236}">
                <a16:creationId xmlns:a16="http://schemas.microsoft.com/office/drawing/2014/main" id="{C9DB38F2-C815-4F4A-BB68-21920CB94E99}"/>
              </a:ext>
            </a:extLst>
          </p:cNvPr>
          <p:cNvSpPr>
            <a:spLocks xmlns:a="http://schemas.openxmlformats.org/drawingml/2006/main" noGrp="1"/>
          </p:cNvSpPr>
          <p:nvPr/>
        </p:nvSpPr>
        <p:spPr>
          <a:xfrm xmlns:a="http://schemas.openxmlformats.org/drawingml/2006/main">
            <a:off x="609600" y="4676775"/>
            <a:ext cx="152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입력</a:t>
            </a:r>
          </a:p>
        </p:txBody>
      </p:sp>
      <p:sp>
        <p:nvSpPr>
          <p:cNvPr id="10" name="처리 코드">
            <a:extLst xmlns:a="http://schemas.openxmlformats.org/drawingml/2006/main">
              <a:ext uri="{FF2B5EF4-FFF2-40B4-BE49-F238E27FC236}">
                <a16:creationId xmlns:a16="http://schemas.microsoft.com/office/drawing/2014/main" id="{7AAF3D38-BB20-468A-BA58-DCC520D129B7}"/>
              </a:ext>
            </a:extLst>
          </p:cNvPr>
          <p:cNvSpPr>
            <a:spLocks xmlns:a="http://schemas.openxmlformats.org/drawingml/2006/main" noGrp="1"/>
          </p:cNvSpPr>
          <p:nvPr/>
        </p:nvSpPr>
        <p:spPr>
          <a:xfrm xmlns:a="http://schemas.openxmlformats.org/drawingml/2006/main">
            <a:off x="2324100" y="4676775"/>
            <a:ext cx="171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처리 코드</a:t>
            </a:r>
          </a:p>
        </p:txBody>
      </p:sp>
      <p:sp>
        <p:nvSpPr>
          <p:cNvPr id="11" name="실행 장치 · 변경 조건">
            <a:extLst xmlns:a="http://schemas.openxmlformats.org/drawingml/2006/main">
              <a:ext uri="{FF2B5EF4-FFF2-40B4-BE49-F238E27FC236}">
                <a16:creationId xmlns:a16="http://schemas.microsoft.com/office/drawing/2014/main" id="{740042A3-50CF-486C-9976-A616807EC263}"/>
              </a:ext>
            </a:extLst>
          </p:cNvPr>
          <p:cNvSpPr>
            <a:spLocks xmlns:a="http://schemas.openxmlformats.org/drawingml/2006/main" noGrp="1"/>
          </p:cNvSpPr>
          <p:nvPr/>
        </p:nvSpPr>
        <p:spPr>
          <a:xfrm xmlns:a="http://schemas.openxmlformats.org/drawingml/2006/main">
            <a:off x="4038600" y="4676775"/>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실행 장치 · 변경 조건</a:t>
            </a:r>
          </a:p>
        </p:txBody>
      </p:sp>
      <p:sp>
        <p:nvSpPr>
          <p:cNvPr id="12" name="출력">
            <a:extLst xmlns:a="http://schemas.openxmlformats.org/drawingml/2006/main">
              <a:ext uri="{FF2B5EF4-FFF2-40B4-BE49-F238E27FC236}">
                <a16:creationId xmlns:a16="http://schemas.microsoft.com/office/drawing/2014/main" id="{6129DA19-E4D5-4056-9FCB-149D1DF02CE5}"/>
              </a:ext>
            </a:extLst>
          </p:cNvPr>
          <p:cNvSpPr>
            <a:spLocks xmlns:a="http://schemas.openxmlformats.org/drawingml/2006/main" noGrp="1"/>
          </p:cNvSpPr>
          <p:nvPr/>
        </p:nvSpPr>
        <p:spPr>
          <a:xfrm xmlns:a="http://schemas.openxmlformats.org/drawingml/2006/main">
            <a:off x="6419850" y="46767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출력</a:t>
            </a:r>
          </a:p>
        </p:txBody>
      </p:sp>
      <p:sp>
        <p:nvSpPr>
          <p:cNvPr id="13" name="01">
            <a:extLst xmlns:a="http://schemas.openxmlformats.org/drawingml/2006/main">
              <a:ext uri="{FF2B5EF4-FFF2-40B4-BE49-F238E27FC236}">
                <a16:creationId xmlns:a16="http://schemas.microsoft.com/office/drawing/2014/main" id="{2D00658D-1B49-46E7-9A96-DC3B0633E01D}"/>
              </a:ext>
            </a:extLst>
          </p:cNvPr>
          <p:cNvSpPr>
            <a:spLocks xmlns:a="http://schemas.openxmlformats.org/drawingml/2006/main" noGrp="1"/>
          </p:cNvSpPr>
          <p:nvPr/>
        </p:nvSpPr>
        <p:spPr>
          <a:xfrm xmlns:a="http://schemas.openxmlformats.org/drawingml/2006/main">
            <a:off x="7620000" y="239077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01</a:t>
            </a:r>
          </a:p>
        </p:txBody>
      </p:sp>
      <p:sp>
        <p:nvSpPr>
          <p:cNvPr id="14" name="기존 가정">
            <a:extLst xmlns:a="http://schemas.openxmlformats.org/drawingml/2006/main">
              <a:ext uri="{FF2B5EF4-FFF2-40B4-BE49-F238E27FC236}">
                <a16:creationId xmlns:a16="http://schemas.microsoft.com/office/drawing/2014/main" id="{CF146ACA-8A51-497A-BBD3-EA9C1A73DE9D}"/>
              </a:ext>
            </a:extLst>
          </p:cNvPr>
          <p:cNvSpPr>
            <a:spLocks xmlns:a="http://schemas.openxmlformats.org/drawingml/2006/main" noGrp="1"/>
          </p:cNvSpPr>
          <p:nvPr/>
        </p:nvSpPr>
        <p:spPr>
          <a:xfrm xmlns:a="http://schemas.openxmlformats.org/drawingml/2006/main">
            <a:off x="8077200" y="2390775"/>
            <a:ext cx="3505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기존 가정</a:t>
            </a:r>
          </a:p>
        </p:txBody>
      </p:sp>
      <p:sp>
        <p:nvSpPr>
          <p:cNvPr id="15" name="어떤 조건에서&#10;맞던 판단인가?">
            <a:extLst xmlns:a="http://schemas.openxmlformats.org/drawingml/2006/main">
              <a:ext uri="{FF2B5EF4-FFF2-40B4-BE49-F238E27FC236}">
                <a16:creationId xmlns:a16="http://schemas.microsoft.com/office/drawing/2014/main" id="{3770D1CA-C22E-4D24-B3E4-137039540006}"/>
              </a:ext>
            </a:extLst>
          </p:cNvPr>
          <p:cNvSpPr>
            <a:spLocks xmlns:a="http://schemas.openxmlformats.org/drawingml/2006/main" noGrp="1"/>
          </p:cNvSpPr>
          <p:nvPr/>
        </p:nvSpPr>
        <p:spPr>
          <a:xfrm xmlns:a="http://schemas.openxmlformats.org/drawingml/2006/main">
            <a:off x="8077200" y="2714625"/>
            <a:ext cx="35052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예전 판단은 어떤</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장치·조건에서 유효했나?</a:t>
            </a:r>
          </a:p>
        </p:txBody>
      </p:sp>
      <p:sp>
        <p:nvSpPr>
          <p:cNvPr id="16" name="02">
            <a:extLst xmlns:a="http://schemas.openxmlformats.org/drawingml/2006/main">
              <a:ext uri="{FF2B5EF4-FFF2-40B4-BE49-F238E27FC236}">
                <a16:creationId xmlns:a16="http://schemas.microsoft.com/office/drawing/2014/main" id="{1404021C-DE21-48ED-8C67-207D149A969C}"/>
              </a:ext>
            </a:extLst>
          </p:cNvPr>
          <p:cNvSpPr>
            <a:spLocks xmlns:a="http://schemas.openxmlformats.org/drawingml/2006/main" noGrp="1"/>
          </p:cNvSpPr>
          <p:nvPr/>
        </p:nvSpPr>
        <p:spPr>
          <a:xfrm xmlns:a="http://schemas.openxmlformats.org/drawingml/2006/main">
            <a:off x="7620000" y="3352800"/>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02</a:t>
            </a:r>
          </a:p>
        </p:txBody>
      </p:sp>
      <p:sp>
        <p:nvSpPr>
          <p:cNvPr id="17" name="측정 조건">
            <a:extLst xmlns:a="http://schemas.openxmlformats.org/drawingml/2006/main">
              <a:ext uri="{FF2B5EF4-FFF2-40B4-BE49-F238E27FC236}">
                <a16:creationId xmlns:a16="http://schemas.microsoft.com/office/drawing/2014/main" id="{200C82AC-FCA4-440C-BDF0-4824D7E5C459}"/>
              </a:ext>
            </a:extLst>
          </p:cNvPr>
          <p:cNvSpPr>
            <a:spLocks xmlns:a="http://schemas.openxmlformats.org/drawingml/2006/main" noGrp="1"/>
          </p:cNvSpPr>
          <p:nvPr/>
        </p:nvSpPr>
        <p:spPr>
          <a:xfrm xmlns:a="http://schemas.openxmlformats.org/drawingml/2006/main">
            <a:off x="8077200" y="3352800"/>
            <a:ext cx="3505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측정 조건</a:t>
            </a:r>
          </a:p>
        </p:txBody>
      </p:sp>
      <p:sp>
        <p:nvSpPr>
          <p:cNvPr id="18" name="입력과 실행 조건은&#10;비교 가능한가?">
            <a:extLst xmlns:a="http://schemas.openxmlformats.org/drawingml/2006/main">
              <a:ext uri="{FF2B5EF4-FFF2-40B4-BE49-F238E27FC236}">
                <a16:creationId xmlns:a16="http://schemas.microsoft.com/office/drawing/2014/main" id="{FFD82AB3-C066-484F-AA4F-F8822A4F6AC9}"/>
              </a:ext>
            </a:extLst>
          </p:cNvPr>
          <p:cNvSpPr>
            <a:spLocks xmlns:a="http://schemas.openxmlformats.org/drawingml/2006/main" noGrp="1"/>
          </p:cNvSpPr>
          <p:nvPr/>
        </p:nvSpPr>
        <p:spPr>
          <a:xfrm xmlns:a="http://schemas.openxmlformats.org/drawingml/2006/main">
            <a:off x="8077200" y="3676650"/>
            <a:ext cx="35052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입력·빌드·측정 조건을</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다시 맞췄나?</a:t>
            </a:r>
          </a:p>
        </p:txBody>
      </p:sp>
      <p:sp>
        <p:nvSpPr>
          <p:cNvPr id="19" name="03">
            <a:extLst xmlns:a="http://schemas.openxmlformats.org/drawingml/2006/main">
              <a:ext uri="{FF2B5EF4-FFF2-40B4-BE49-F238E27FC236}">
                <a16:creationId xmlns:a16="http://schemas.microsoft.com/office/drawing/2014/main" id="{3D08C752-2E4B-4DEE-81F2-45521D0DEEE0}"/>
              </a:ext>
            </a:extLst>
          </p:cNvPr>
          <p:cNvSpPr>
            <a:spLocks xmlns:a="http://schemas.openxmlformats.org/drawingml/2006/main" noGrp="1"/>
          </p:cNvSpPr>
          <p:nvPr/>
        </p:nvSpPr>
        <p:spPr>
          <a:xfrm xmlns:a="http://schemas.openxmlformats.org/drawingml/2006/main">
            <a:off x="7620000" y="431482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03</a:t>
            </a:r>
          </a:p>
        </p:txBody>
      </p:sp>
      <p:sp>
        <p:nvSpPr>
          <p:cNvPr id="20" name="기능 계약">
            <a:extLst xmlns:a="http://schemas.openxmlformats.org/drawingml/2006/main">
              <a:ext uri="{FF2B5EF4-FFF2-40B4-BE49-F238E27FC236}">
                <a16:creationId xmlns:a16="http://schemas.microsoft.com/office/drawing/2014/main" id="{4C3A6583-EE57-4175-B1BF-32E283129337}"/>
              </a:ext>
            </a:extLst>
          </p:cNvPr>
          <p:cNvSpPr>
            <a:spLocks xmlns:a="http://schemas.openxmlformats.org/drawingml/2006/main" noGrp="1"/>
          </p:cNvSpPr>
          <p:nvPr/>
        </p:nvSpPr>
        <p:spPr>
          <a:xfrm xmlns:a="http://schemas.openxmlformats.org/drawingml/2006/main">
            <a:off x="8077200" y="4314825"/>
            <a:ext cx="3505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동작 명세</a:t>
            </a:r>
          </a:p>
        </p:txBody>
      </p:sp>
      <p:sp>
        <p:nvSpPr>
          <p:cNvPr id="21" name="함께 다시 확인할&#10;동작은?">
            <a:extLst xmlns:a="http://schemas.openxmlformats.org/drawingml/2006/main">
              <a:ext uri="{FF2B5EF4-FFF2-40B4-BE49-F238E27FC236}">
                <a16:creationId xmlns:a16="http://schemas.microsoft.com/office/drawing/2014/main" id="{65CE2008-81AF-4A3F-B18D-76DB8C02BE5F}"/>
              </a:ext>
            </a:extLst>
          </p:cNvPr>
          <p:cNvSpPr>
            <a:spLocks xmlns:a="http://schemas.openxmlformats.org/drawingml/2006/main" noGrp="1"/>
          </p:cNvSpPr>
          <p:nvPr/>
        </p:nvSpPr>
        <p:spPr>
          <a:xfrm xmlns:a="http://schemas.openxmlformats.org/drawingml/2006/main">
            <a:off x="8077200" y="4638675"/>
            <a:ext cx="35052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장치가 달라도 지킬</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출력·동작은 무엇인가?</a:t>
            </a:r>
          </a:p>
        </p:txBody>
      </p:sp>
      <p:sp>
        <p:nvSpPr>
          <p:cNvPr id="22" name="같은 문제가 반복될 때, 어느 Layer를 먼저 살펴볼까?">
            <a:extLst xmlns:a="http://schemas.openxmlformats.org/drawingml/2006/main">
              <a:ext uri="{FF2B5EF4-FFF2-40B4-BE49-F238E27FC236}">
                <a16:creationId xmlns:a16="http://schemas.microsoft.com/office/drawing/2014/main" id="{541009EC-F9C5-45E9-B999-DAD85598EFD2}"/>
              </a:ext>
            </a:extLst>
          </p:cNvPr>
          <p:cNvSpPr>
            <a:spLocks xmlns:a="http://schemas.openxmlformats.org/drawingml/2006/main" noGrp="1"/>
          </p:cNvSpPr>
          <p:nvPr/>
        </p:nvSpPr>
        <p:spPr>
          <a:xfrm xmlns:a="http://schemas.openxmlformats.org/drawingml/2006/main">
            <a:off x="609600" y="53435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근거를 확인한 뒤, 어떤 지침·검증 기준을 다시 볼까?</a:t>
            </a:r>
          </a:p>
        </p:txBody>
      </p:sp>
      <p:sp>
        <p:nvSpPr>
          <p:cNvPr id="23" name="Legacy module connection">
            <a:extLst xmlns:a="http://schemas.openxmlformats.org/drawingml/2006/main">
              <a:ext uri="{FF2B5EF4-FFF2-40B4-BE49-F238E27FC236}">
                <a16:creationId xmlns:a16="http://schemas.microsoft.com/office/drawing/2014/main" id="{A8836A74-A605-46AC-A645-4B9A60CF5FF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88873147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2026-10-25T09:03:49.5710000Z</dcterms:created>
  <dcterms:modified xsi:type="dcterms:W3CDTF">2026-10-25T09:03:49.5710000Z</dcterms:modified>
</coreProperties>
</file>