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8e5177c27c41af" /><Relationship Type="http://schemas.openxmlformats.org/officeDocument/2006/relationships/extended-properties" Target="/docProps/app.xml" Id="R54e725b532e44cca" /><Relationship Type="http://schemas.openxmlformats.org/officeDocument/2006/relationships/officeDocument" Target="/ppt/presentation.xml" Id="R05b477a0382140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e4a6eb2bf44ab8"/>
  </p:sldMasterIdLst>
  <p:notesMasterIdLst>
    <p:notesMasterId xmlns:r="http://schemas.openxmlformats.org/officeDocument/2006/relationships" r:id="R5bd8755c8d094b83"/>
  </p:notesMasterIdLst>
  <p:sldIdLst>
    <p:sldId xmlns:r="http://schemas.openxmlformats.org/officeDocument/2006/relationships" id="256" r:id="R1b7821dd86614524"/>
    <p:sldId xmlns:r="http://schemas.openxmlformats.org/officeDocument/2006/relationships" id="257" r:id="R129e460c13b3461a"/>
    <p:sldId xmlns:r="http://schemas.openxmlformats.org/officeDocument/2006/relationships" id="258" r:id="R3739047ed5bf4f07"/>
    <p:sldId xmlns:r="http://schemas.openxmlformats.org/officeDocument/2006/relationships" id="259" r:id="Raf4b53a0b25048b3"/>
    <p:sldId xmlns:r="http://schemas.openxmlformats.org/officeDocument/2006/relationships" id="260" r:id="Rbc4c31d82adc449c"/>
    <p:sldId xmlns:r="http://schemas.openxmlformats.org/officeDocument/2006/relationships" id="261" r:id="R6efbfbbfad0a4d27"/>
    <p:sldId xmlns:r="http://schemas.openxmlformats.org/officeDocument/2006/relationships" id="262" r:id="Rad574245ee024e5d"/>
    <p:sldId xmlns:r="http://schemas.openxmlformats.org/officeDocument/2006/relationships" id="263" r:id="Ra2c30397942143e1"/>
    <p:sldId xmlns:r="http://schemas.openxmlformats.org/officeDocument/2006/relationships" id="264" r:id="Ra20586ee666c4413"/>
    <p:sldId xmlns:r="http://schemas.openxmlformats.org/officeDocument/2006/relationships" id="265" r:id="R0650bc4e3d734489"/>
    <p:sldId xmlns:r="http://schemas.openxmlformats.org/officeDocument/2006/relationships" id="266" r:id="Rb66f5132e2c3430b"/>
    <p:sldId xmlns:r="http://schemas.openxmlformats.org/officeDocument/2006/relationships" id="267" r:id="R8f6ae74e95034278"/>
    <p:sldId xmlns:r="http://schemas.openxmlformats.org/officeDocument/2006/relationships" id="268" r:id="R91f2ef62328d48ad"/>
    <p:sldId xmlns:r="http://schemas.openxmlformats.org/officeDocument/2006/relationships" id="269" r:id="R2af7f64879924453"/>
    <p:sldId xmlns:r="http://schemas.openxmlformats.org/officeDocument/2006/relationships" id="270" r:id="R28696dee3388424f"/>
    <p:sldId xmlns:r="http://schemas.openxmlformats.org/officeDocument/2006/relationships" id="271" r:id="R2c9ddb38c0e140d1"/>
    <p:sldId xmlns:r="http://schemas.openxmlformats.org/officeDocument/2006/relationships" id="272" r:id="Rf80c7d1219434af9"/>
    <p:sldId xmlns:r="http://schemas.openxmlformats.org/officeDocument/2006/relationships" id="273" r:id="R366bf3298cab4d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2f649fb7f74f42" /><Relationship Type="http://schemas.openxmlformats.org/officeDocument/2006/relationships/slideMaster" Target="/ppt/slideMasters/slideMaster1.xml" Id="R11e4a6eb2bf44ab8" /><Relationship Type="http://schemas.openxmlformats.org/officeDocument/2006/relationships/notesMaster" Target="/ppt/notesMasters/notesMaster1.xml" Id="R5bd8755c8d094b83" /><Relationship Type="http://schemas.openxmlformats.org/officeDocument/2006/relationships/presProps" Target="/ppt/presProps.xml" Id="Rcbb53ed61d444f39" /><Relationship Type="http://schemas.openxmlformats.org/officeDocument/2006/relationships/tableStyles" Target="/ppt/tableStyles.xml" Id="R7b0b1484910d41e8" /><Relationship Type="http://schemas.openxmlformats.org/officeDocument/2006/relationships/slide" Target="/ppt/slides/slide1.xml" Id="R1b7821dd86614524" /><Relationship Type="http://schemas.openxmlformats.org/officeDocument/2006/relationships/slide" Target="/ppt/slides/slide2.xml" Id="R129e460c13b3461a" /><Relationship Type="http://schemas.openxmlformats.org/officeDocument/2006/relationships/slide" Target="/ppt/slides/slide3.xml" Id="R3739047ed5bf4f07" /><Relationship Type="http://schemas.openxmlformats.org/officeDocument/2006/relationships/slide" Target="/ppt/slides/slide4.xml" Id="Raf4b53a0b25048b3" /><Relationship Type="http://schemas.openxmlformats.org/officeDocument/2006/relationships/slide" Target="/ppt/slides/slide5.xml" Id="Rbc4c31d82adc449c" /><Relationship Type="http://schemas.openxmlformats.org/officeDocument/2006/relationships/slide" Target="/ppt/slides/slide6.xml" Id="R6efbfbbfad0a4d27" /><Relationship Type="http://schemas.openxmlformats.org/officeDocument/2006/relationships/slide" Target="/ppt/slides/slide7.xml" Id="Rad574245ee024e5d" /><Relationship Type="http://schemas.openxmlformats.org/officeDocument/2006/relationships/slide" Target="/ppt/slides/slide8.xml" Id="Ra2c30397942143e1" /><Relationship Type="http://schemas.openxmlformats.org/officeDocument/2006/relationships/slide" Target="/ppt/slides/slide9.xml" Id="Ra20586ee666c4413" /><Relationship Type="http://schemas.openxmlformats.org/officeDocument/2006/relationships/slide" Target="/ppt/slides/slide10.xml" Id="R0650bc4e3d734489" /><Relationship Type="http://schemas.openxmlformats.org/officeDocument/2006/relationships/slide" Target="/ppt/slides/slide11.xml" Id="Rb66f5132e2c3430b" /><Relationship Type="http://schemas.openxmlformats.org/officeDocument/2006/relationships/slide" Target="/ppt/slides/slide12.xml" Id="R8f6ae74e95034278" /><Relationship Type="http://schemas.openxmlformats.org/officeDocument/2006/relationships/slide" Target="/ppt/slides/slide13.xml" Id="R91f2ef62328d48ad" /><Relationship Type="http://schemas.openxmlformats.org/officeDocument/2006/relationships/slide" Target="/ppt/slides/slide14.xml" Id="R2af7f64879924453" /><Relationship Type="http://schemas.openxmlformats.org/officeDocument/2006/relationships/slide" Target="/ppt/slides/slide15.xml" Id="R28696dee3388424f" /><Relationship Type="http://schemas.openxmlformats.org/officeDocument/2006/relationships/slide" Target="/ppt/slides/slide16.xml" Id="R2c9ddb38c0e140d1" /><Relationship Type="http://schemas.openxmlformats.org/officeDocument/2006/relationships/slide" Target="/ppt/slides/slide17.xml" Id="Rf80c7d1219434af9" /><Relationship Type="http://schemas.openxmlformats.org/officeDocument/2006/relationships/slide" Target="/ppt/slides/slide18.xml" Id="R366bf3298cab4d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d58940e4c148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241dfe31f749ee" /><Relationship Type="http://schemas.openxmlformats.org/officeDocument/2006/relationships/notesMaster" Target="/ppt/notesMasters/notesMaster1.xml" Id="R94046a9ffa254e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8c4474627a4ef4" /><Relationship Type="http://schemas.openxmlformats.org/officeDocument/2006/relationships/notesMaster" Target="/ppt/notesMasters/notesMaster1.xml" Id="R10e90e08740946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21226f01aa4f61" /><Relationship Type="http://schemas.openxmlformats.org/officeDocument/2006/relationships/notesMaster" Target="/ppt/notesMasters/notesMaster1.xml" Id="R9729cb5b100948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655acbb7ff4239" /><Relationship Type="http://schemas.openxmlformats.org/officeDocument/2006/relationships/notesMaster" Target="/ppt/notesMasters/notesMaster1.xml" Id="Rd582c025dee243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2c6e2746624119" /><Relationship Type="http://schemas.openxmlformats.org/officeDocument/2006/relationships/notesMaster" Target="/ppt/notesMasters/notesMaster1.xml" Id="Rbf7ae64ae0b24f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e2d2cc820384b7c" /><Relationship Type="http://schemas.openxmlformats.org/officeDocument/2006/relationships/notesMaster" Target="/ppt/notesMasters/notesMaster1.xml" Id="R5134fa214c794c0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f052997191f4132" /><Relationship Type="http://schemas.openxmlformats.org/officeDocument/2006/relationships/notesMaster" Target="/ppt/notesMasters/notesMaster1.xml" Id="Re9b7b53a0d7c40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84d1d0519e49bc" /><Relationship Type="http://schemas.openxmlformats.org/officeDocument/2006/relationships/notesMaster" Target="/ppt/notesMasters/notesMaster1.xml" Id="R35b657017ef04b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b26ea9e5644b5c" /><Relationship Type="http://schemas.openxmlformats.org/officeDocument/2006/relationships/notesMaster" Target="/ppt/notesMasters/notesMaster1.xml" Id="R16f3bdee092045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ddf23a1a524d5f" /><Relationship Type="http://schemas.openxmlformats.org/officeDocument/2006/relationships/notesMaster" Target="/ppt/notesMasters/notesMaster1.xml" Id="Rdd92a6a12e8e46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e6f0bf1aa84ef3" /><Relationship Type="http://schemas.openxmlformats.org/officeDocument/2006/relationships/notesMaster" Target="/ppt/notesMasters/notesMaster1.xml" Id="R256534ad526c41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55bc737ec743cc" /><Relationship Type="http://schemas.openxmlformats.org/officeDocument/2006/relationships/notesMaster" Target="/ppt/notesMasters/notesMaster1.xml" Id="R25d9aec411cd4a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39d6b22bd84005" /><Relationship Type="http://schemas.openxmlformats.org/officeDocument/2006/relationships/notesMaster" Target="/ppt/notesMasters/notesMaster1.xml" Id="R58356a4450ee488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636a5ac5cb54178" /><Relationship Type="http://schemas.openxmlformats.org/officeDocument/2006/relationships/notesMaster" Target="/ppt/notesMasters/notesMaster1.xml" Id="R9eb645151583420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56306d8ec94a45" /><Relationship Type="http://schemas.openxmlformats.org/officeDocument/2006/relationships/notesMaster" Target="/ppt/notesMasters/notesMaster1.xml" Id="R30b785d641ae4d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a18531c78245d1" /><Relationship Type="http://schemas.openxmlformats.org/officeDocument/2006/relationships/notesMaster" Target="/ppt/notesMasters/notesMaster1.xml" Id="R566e472e8863440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02e0b110821483d" /><Relationship Type="http://schemas.openxmlformats.org/officeDocument/2006/relationships/notesMaster" Target="/ppt/notesMasters/notesMaster1.xml" Id="R7155041c31e7453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e1f44e425c24049" /><Relationship Type="http://schemas.openxmlformats.org/officeDocument/2006/relationships/notesMaster" Target="/ppt/notesMasters/notesMaster1.xml" Id="Ra2b6aa37131f47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S82 — 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목표를 이룰 때까지 수정하고 검토하기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Transition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수정과 검토까지 작업 시스템이 이어가려면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Transition) ACT3의 마지막 질문을 받아 제목과 부제만 안내한다. 목표·완료 기준이 반복을 이끈다는 관점을 예고하고 S83으로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Loop Engineering은 같은 목표의 구현·검토·수정을 피드백으로 연결하는 시스템 설계다.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이번 교육의 운영 정의다. 특정 제품의 기능명이나 보편 표준 분류로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ACT 제목 안내.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다음 수정도 사람이 매번 이어줘야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Transition 1분 = 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S82; production/preview/act4/S82.png 및 production/preview/full/S82.png.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S83 — 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수정도 사람이 매번 이어줘야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4R1 Goal-loop entry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작업 방법이 있어도 다음 단계는 매번 사람이 다시 요청해야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S81의 질문을 회수한다. 앞 ACT의 Harness는 수행 방법과 도구를 제공한다. 이 장의 세 요청은 실제 Trial이 아닌 가상 상황이며 같은 목표 안의 연속 단계라고 설명한다.</a:t>
            </a:r>
          </a:p>
          <a:p xmlns:a="http://schemas.openxmlformats.org/drawingml/2006/main">
            <a:r>
              <a:t>2. (2:00–4:00 / Case) ACT3의 세 요청을 다시 나열하지 않고, 사람이 모아 전달하던 검토 의견이 다음 수정의 입력으로 들어가는 두 영역을 짚는다. 목표는 유지하고 남은 문제를 시스템 안에서 넘길 수 있겠다는 질문으로 S84의 완료 기준을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한 목표를 마치는 동안 사람이 검토·수정·재확인의 다음 요청을 계속 연결하는 문제를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Harness와 Loop를 배타적인 제품 단계로 구분하지 않는다. 여기서는 반복의 상태·피드백·다음 행동 제어라는 추가 설계 책임을 드러낸다.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먼저, 무엇이 되면 완료인지 정한다의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S83; production/preview/act4/S83.png 및 production/preview/full/S83.png.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S84 — 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먼저, 무엇이 되면 완료인지 정한다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이 최적화 작업은 무엇을 확인하면 완료라고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별도 교육용 최적화 상황임을 먼저 밝힌다. 실제 명세의 여섯 출력은 width, height, pixel_count, minimum, maximum, mean이다. 기능 보존과 자원 조건을 함께 제시한다.</a:t>
            </a:r>
          </a:p>
          <a:p xmlns:a="http://schemas.openxmlformats.org/drawingml/2006/main">
            <a:r>
              <a:t>2. (2:00–4:00 / Case) 반복할 때에도 같은 입력·환경·측정 기준을 사용한다. 수치·대표 입력은 실행 전에 확정해야 하며 현재 TBD다. 과거 측정값을 새 완료 기준이나 새 결과로 가져오지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BEAT-074; CASE-LOOP-01; existing six-field specification in DEMO_MATRIX.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밝기 통계의 출력·동작, 임시 할당, 실행시간 조건을 처음부터 완료 기준으로 두고 반복 중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모델의 판단에 따라 목표나 테스트 기대값을 낮추지 않는다. 요구 변경이 필요하면 사람이 명시적으로 승인한다.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A가 첫 변경 후보를 만든다의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S84; production/preview/act4/S84.png 및 production/preview/full/S84.png.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S85 — 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A가 첫 변경 후보를 만든다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 초안이 나왔다는 사실만으로 할당량 목표를 이뤘다고 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고정된 목표 띠를 다시 짚고 모델 A가 첫 후보를 만드는 단계임을 보인다. 실제 STATE-04-PERF 이후의 회귀나 새 코드 실행이 아니다.</a:t>
            </a:r>
          </a:p>
          <a:p xmlns:a="http://schemas.openxmlformats.org/drawingml/2006/main">
            <a:r>
              <a:t>2. (1:00–3:00 / Case) 가정한 v1의 전체 값 복사를 짚는다. 통계 결과가 맞아 보이는 것과 임시 할당 감소를 확인하는 것은 별개다. 실제 메모리·시간 수치를 표시하지 않는다.</a:t>
            </a:r>
          </a:p>
          <a:p xmlns:a="http://schemas.openxmlformats.org/drawingml/2006/main">
            <a:r>
              <a:t>3. (3:00–4:00 / Case) 후보가 나온 시점에서 확인할 자료가 필요하다고 닫는다. 다음 장은 검사할 항목이며 실제 PASS/FAIL을 보여주는 장이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첫 구현은 검토할 후보이며 완료가 아니다. 가상 v1은 전체 값 복사가 남아 있는 계산 방식이다.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후보 생성·실제 동작·자원 측정을 서로 다른 사건으로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실제 동작과 비용은 도구로 확인한다의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S85; production/preview/act4/S85.png 및 production/preview/full/S85.png.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S86 — 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동작과 비용은 도구로 확인한다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완료 기준의 각 항목을 어떤 자료로 확인해야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출력과 동작은 명세를 확인하는 테스트, 할당량은 대표 입력의 측정, 시간은 같은 환경에서의 반복 측정으로 확인한다고 연결한다.</a:t>
            </a:r>
          </a:p>
          <a:p xmlns:a="http://schemas.openxmlformats.org/drawingml/2006/main">
            <a:r>
              <a:t>2. (2:00–5:00 / Case) 검사를 계획했다는 것과 실행 결과를 얻었다는 것을 구분한다. 이 장에는 실행 결과가 없다. 실제 운영에서는 입력·환경·명령·결과·미확인을 검토 모델에게 함께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BEAT-075;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모델의 설명을 실제 검사·측정 기록으로 대조하도록 검증을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테스트 통과도 확인한 범위의 근거다. 모든 결함 부재나 숨은 요구 충족을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모델 B는 무엇을 근거로 검토할까?의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3분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S86; production/preview/act4/S86.png 및 production/preview/full/S86.png.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S87 — 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모델 B는 무엇을 근거로 검토할까?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5분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잘 검토해 달라는 말에 무엇을 함께 전달해야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왼쪽의 명세·완료 기준, 후보 변경, 검사 기록을 짚는다. 모델 A가 잘 됐다고 요약한 말만 넘기는 대신 검토 가능한 원자료를 제공한다.</a:t>
            </a:r>
          </a:p>
          <a:p xmlns:a="http://schemas.openxmlformats.org/drawingml/2006/main">
            <a:r>
              <a:t>2. (2:00–4:00 / Case) 가상 v1에서 임시 목록이 남았다는 지적과 대표 입력의 확인 자료가 없다는 지적을 구분한다. 두 번째는 동작 실패가 관찰됐다는 뜻이 아니다.</a:t>
            </a:r>
          </a:p>
          <a:p xmlns:a="http://schemas.openxmlformats.org/drawingml/2006/main">
            <a:r>
              <a:t>3. (4:00–5:00 / Case) 검토 결과에는 파일·위치, 위반 기준, 근거와 다음에 확인할 것을 담는다. 모델 B는 다른 모델 역할의 설계이며 실제 조합이나 실행 기록은 아직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BEAT-076;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다른 모델 B는 목표·명세·diff·검사 기록을 근거로 구체적인 검토 지적을 만든다.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검토자는 구현 모델의 결론을 반복하는 대신 명세와 변경·검사 기록을 독립적으로 대조하도록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지적이 다음 수정으로 이어진다의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5분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S87; production/preview/act4/S87.png 및 production/preview/full/S87.png.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S88 — 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지적이 다음 수정으로 이어진다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검토에서 찾은 문제는 다음 변경의 어느 부분으로 이어졌을까?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앞 장의 지적 ①과 ②를 같은 번호로 이어 받는다. 새 목표를 추가하는 장이 아니다.</a:t>
            </a:r>
          </a:p>
          <a:p xmlns:a="http://schemas.openxmlformats.org/drawingml/2006/main">
            <a:r>
              <a:t>2. (1:00–3:00 / Case) ① 전체 값 복사 제거, ② 같은 결과 검사 추가라는 후보 변경을 각각 연결한다. 실행하지 않은 수정·테스트를 실제 이력으로 말하지 않는다.</a:t>
            </a:r>
          </a:p>
          <a:p xmlns:a="http://schemas.openxmlformats.org/drawingml/2006/main">
            <a:r>
              <a:t>3. (3:00–4:00 / Case) 지적은 검증 후 수용·기각할 수 있다. 지금 그림은 지적이 타당하다고 가정한 설계이며 수정 후에는 같은 기준으로 다시 확인해야 한다고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BEAT-077;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지적의 번호를 유지해 다음 변경 후보가 무엇을 고치는지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각 변경의 이유와 검토 항목을 연결하면 다음 검토자가 해결·미해결 여부를 추적할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고쳤다면, 같은 기준으로 다시 본다의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S88; production/preview/act4/S88.png 및 production/preview/full/S88.png.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S89 — 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고쳤다면, 같은 기준으로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4R2 One-goal 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지적한 부분을 고쳤다면 바로 끝내도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후보 v2와 갱신된 기록을 같은 목표 띠 아래에서 보여준다. 출력·할당량·시간 조건을 다시 대조하며 기존 동작의 회귀도 확인한다.</a:t>
            </a:r>
          </a:p>
          <a:p xmlns:a="http://schemas.openxmlformats.org/drawingml/2006/main">
            <a:r>
              <a:t>2. (2:00–3:00 / Case) 조건을 충족했다는 근거가 있으면 완료 판단으로, 남은 문제가 있으면 다음 후보로 이어지는 분기를 짚는다. 실제 v2 성공·v3 실행은 관찰하지 않았다.</a:t>
            </a:r>
          </a:p>
          <a:p xmlns:a="http://schemas.openxmlformats.org/drawingml/2006/main">
            <a:r>
              <a:t>3. (3:00–4:00 / Case) 완료 기준을 낮춰서 끝내지 않는다고 회수한다. 지금까지 단계별로 본 연결을 다음 장에서 하나의 루프로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BEAT-078;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후보 v2를 같은 기준으로 재검증·재검토하고 남은 지적은 다음 수정으로 되돌린다.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새 수정이 이전의 유효한 동작을 깨뜨릴 수 있다. 확인된 후보와 시도 이력을 남겨 되돌릴 수 있도록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같은 목표의 구현·검토 루프의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S89; production/preview/act4/S89.png 및 production/preview/full/S89.png.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S90 — 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목표의 구현·검토 루프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지금 본 여러 단계가 어떻게 하나의 시스템으로 연결될까?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위쪽의 구현·검사·검토를 따라간 뒤 아래쪽의 판단·피드백을 통해 같은 목표의 구현으로 돌아간다. Loop는 Harness의 방법·도구를 활용하며 가중치를 학습한다는 뜻이 아니다.</a:t>
            </a:r>
          </a:p>
          <a:p xmlns:a="http://schemas.openxmlformats.org/drawingml/2006/main">
            <a:r>
              <a:t>2. (3:00–5:00 / Case) 앞의 지적 ①을 한 번만 전체 경로에 대응시킨다. 도구와 모델 검토의 선후·병렬 여부는 작업 의존관계에 따라 정하며 이 그림은 성능·병렬 실행의 실측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목표·완료 기준 아래 구현, 도구 근거, 다른 모델의 검토와 다음 수정 판단을 하나의 닫힌 경로로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반복의 제어는 반드시 별도 모델이 맡아야 하는 것은 아니다. 목표·상태·피드백 전달·다음 행동을 정하는 운영 로직이 핵심이다.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언제 계속하고, 언제 끝낼까?의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S90; production/preview/act4/S90.png 및 production/preview/full/S90.png.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S91 — 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언제 계속하고, 언제 끝낼까?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4R3 Feedback and control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계속 돌리고 있다는 사실과 목표를 달성했다는 사실은 어떻게 구분할까?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세 갈래를 조건부터 읽는다. 기준 충족은 확인 범위를 보고하고 완료한다. 수정 가능하면 남은 문제를 전달한다. 근거 부족·정체·한도 도달은 미완료 상태를 보존해 사람에게 묻는다.</a:t>
            </a:r>
          </a:p>
          <a:p xmlns:a="http://schemas.openxmlformats.org/drawingml/2006/main">
            <a:r>
              <a:t>2. (3:00–5:00 / Reflection) 우리 작업의 완료 근거와 중단 뒤 사람에게 넘길 질문 하나를 마음속으로 생각하게 한다. 공유·실습은 요구하지 않으며 숫자 한도는 실행 환경에 맞춰 정한다고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BEAT-079;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근거에 따라 완료, 다음 수정, 미완료 중단·사람 확인을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회수 제한이나 예산 소진은 성공 판정이 아니다. 검토 항목의 해결 여부와 명세·검사 결과를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Reflection: 계속 돌리고 있다는 사실과 목표를 달성했다는 사실은 어떻게 구분할까? 공유·기록·실습은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구현한 모델에게 다시 물으면 충분할까?의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S91; production/preview/act4/S91.png 및 production/preview/full/S91.png.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S92 — 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구현한 모델에게 다시 물으면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모델에게 다시 생각해 달라고 하면 언제나 좋아질까?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Self-Refine은 같은 LLM이 생성·피드백·수정을 반복하고 여러 과제에서 개선을 보고했다. 다중 모델 비교 연구가 아니라는 점을 명시한다.</a:t>
            </a:r>
          </a:p>
          <a:p xmlns:a="http://schemas.openxmlformats.org/drawingml/2006/main">
            <a:r>
              <a:t>2. (2:00–4:00 / Lecture) Huang 등의 ICLR 2024 연구는 대상 추론 과제에서 외부 피드백 없는 자기 교정의 어려움과 악화 사례를 보고했다. 서로 다른 실험을 모순으로 단순화하지 않고 피드백의 근거·방법을 설계할 필요로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BEAT-080; SRC-0223; SRC-0239; CLM-0045. Primary sources checked 2026-10-25: https://arxiv.org/abs/2303.17651; https://arxiv.org/abs/2310.01798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자기 피드백으로 개선된 연구와 외부 근거 없는 자기 교정의 한계 연구를 조건과 함께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2023–2024년의 특정 모델·과제·방법에 관한 결과다. 현재 모든 모델이 자기 교정에 실패한다는 일반화는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다른 모델의 관점이 도움이 된 실험의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S92; production/preview/act4/S92.png 및 production/preview/full/S92.png.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S93 — 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다른 모델의 관점이 도움이 된 실험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같은 모델을 여러 번 쓰는 것과 다른 모델을 조합하는 것은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ReConcile은 여러 모델의 토론과 합의를 평가한 연구다. Table 7에서 StrategyQA 정확도는 여러 모델 구성 79.0±1.6, ChatGPT만 사용하는 세 Agent 구성 72.2±2.1이다. 화면의 막대는 평균이고 ±값은 원문의 함께 보고된 값으로 Notes에서 보존한다.</a:t>
            </a:r>
          </a:p>
          <a:p xmlns:a="http://schemas.openxmlformats.org/drawingml/2006/main">
            <a:r>
              <a:t>2. (3:00–5:00 / Case) 차이는 6.8 percentage points다. 모델 구성 변경에는 모델별 능력 차이도 포함된다. 코딩 반복 작업이나 현재 Codex에서 같은 향상·비용 절감이 입증됐다고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SRC-0237; CLM-0043; ReConcile Table 7. Primary sources checked 2026-10-25: https://aclanthology.org/2024.acl-long.381.pdf (Table 7)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ReConcile의 StrategyQA 실험에서 여러 모델 조합과 같은 ChatGPT 세 Agent 구성을 비교한 결과를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모델 다양성의 가능성을 보여주는 제한된 근거다. 토론·합의 프로토콜 전체와 모델 조합의 영향을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잘 만드는 능력과 잘 검토하는 능력의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2분 = 5분.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S93; production/preview/act4/S93.png 및 production/preview/full/S93.png.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S94 — 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잘 만드는 능력과 잘 검토하는 능력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4R4 Research and model choice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코드를 잘 생성하는 모델이 그 결과의 가장 좋은 검토자일까?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(0:00–3:00 / Lecture) CriticBench는 수학·상식·기호·코딩·알고리즘의 다섯 영역에서 17개 모델의 생성·검토·수정을 평가했다. 세 능력이 항상 일치하지 않았고 §4.2.5는 일부 다른 모델의 검토가 대상 모델의 자기 검토보다 나은 경우를 보고한다.</a:t>
            </a:r>
          </a:p>
          <a:p xmlns:a="http://schemas.openxmlformats.org/drawingml/2006/main">
            <a:r>
              <a:t>2. (3:00–4:00 / Case) 약한 모델이 언제나 더 좋은 검토자라는 뜻은 아니다. 이 결과로 검토자 역할을 따로 평가할 이유를 설명하고 다음 장의 모델 배치 설계로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BEAT-081; SRC-0238; CLM-0044; CriticBench section 4.2.5. Primary sources checked 2026-10-25: https://aclanthology.org/2024.findings-acl.91.pdf (section 4.2.5)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FROZEN WITH SCOPE — 해당 연구의 모델·과제·방법과 조건에 한정. 현재 Codex의 일반 성능·비용이나 새 코드 루프 성과로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CriticBench의 생성·검토·수정 능력과 교차 모델 검토 결과를 근거로 검토자 선택을 따로 평가할 이유를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검토 정확도와 전체 개발 루프의 완료율·코스트는 다른 평가다. 이 교육의 모델 조합을 검증한 수치로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구현과 검토에 모델을 어떻게 나눌까?의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Case 1분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S94; production/preview/act4/S94.png 및 production/preview/full/S94.png.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S95 — 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구현과 검토에 모델을 어떻게 나눌까?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역할을 두 개 만들면 서로 다른 모델을 사용하는 셈일까?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같은 모델의 두 세션·Agent에 다른 역할을 주는 것과 서로 다른 모델을 선택하는 것은 다르다. 오른쪽 A/B 구성이 이번 교육에서 검토하는 다중 모델 설계라고 설명한다.</a:t>
            </a:r>
          </a:p>
          <a:p xmlns:a="http://schemas.openxmlformats.org/drawingml/2006/main">
            <a:r>
              <a:t>2. (2:00–4:00 / Case) 실제로는 역할별 오류 탐지, 최종 동작, 지연·비용을 확인해야 한다. 모델·계정·실행 표면은 TBD이며 자동 연결 기능이나 성능 향상을 이미 확인한 것처럼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CLM-0043; CLM-0044; CASE-LOOP-01.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모델의 역할 분리와 다른 모델의 구현·검토 조합을 구분하고 실제 작업에서 효과를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Reviewer에게 구현 모델의 자신감만 전달하지 않고 독립적으로 대조할 명세·diff·원래 검사 기록을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검토 모델의 말도 확인해야 한다의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S95; production/preview/act4/S95.png 및 production/preview/full/S95.png.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S96 — 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검토 모델의 말도 확인해야 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검토 모델이 고치라고 하면 무조건 따라야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검토 모델도 틀릴 수 있다. 지적의 위치·위반 기준·근거가 실제 변경과 맞는지 대조하고, 동의만으로 완료하지 않는다고 설명한다.</a:t>
            </a:r>
          </a:p>
          <a:p xmlns:a="http://schemas.openxmlformats.org/drawingml/2006/main">
            <a:r>
              <a:t>2. (2:00–4:00 / Case) 지적이 타당하면 수정, 틀리면 기각 이유를 남긴다. 명세가 모호하거나 검증이 불가능하면 사람에게 판단을 요청한다. 모델 다수결을 객관적 정답으로 대체하지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검토 모델의 지적도 명세와 검사 근거로 대조해 수용·기각·추가 확인을 결정한다.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잘못된 지적을 반복 반영해 정상 동작을 깨뜨리는 회귀와 무한 수정을 막는 제어도 Loop 설계의 일부다.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반복하려면 무엇을 이어받아야 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S96; production/preview/act4/S96.png 및 production/preview/full/S96.png.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S97 — 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반복하려면 무엇을 이어받아야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4R5 Engineering the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다음 시도가 처음부터 다시 시작하지 않게 하려면 무엇을 남길까?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목표·완료 기준은 고정하고 후보 버전·지적·검사 결과를 갱신한다. 검토 항목의 수용·기각, 현재 남은 문제와 시도 기록을 보존한다.</a:t>
            </a:r>
          </a:p>
          <a:p xmlns:a="http://schemas.openxmlformats.org/drawingml/2006/main">
            <a:r>
              <a:t>2. (2:00–4:00 / Case) 반복·시간·비용 한도, 같은 실패의 정체, 회귀를 만나면 어떻게 멈추고 재개할지 정한다. 별도 Memory·프레임워크가 필수라는 주장이나 숫자 기본값을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BEAT-082;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고정 목표, 현재 후보·검토·검사, 남은 문제와 한도를 다음 시도가 이어받도록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목표의 상태와 실행의 상태를 분리한다. 실행이 중단됐다는 이유로 목표가 완료된 것으로 기록하지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확인한 근거와 아직 실행하지 않은 설계의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S97; production/preview/act4/S97.png 및 production/preview/full/S97.png.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S98 — 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확인한 근거와 아직 실행하지 않은 설계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우리가 실제로 확인한 것은 어디까지일까?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실제 밝기 통계의 변경·출력·측정 근거는 기존 코드·입력·환경에 한정한다. 논문은 연구된 모델·과제·방법의 결과다.</a:t>
            </a:r>
          </a:p>
          <a:p xmlns:a="http://schemas.openxmlformats.org/drawingml/2006/main">
            <a:r>
              <a:t>2. (2:00–4:00 / Case) 이번 A/B 루프는 설계이며 새 실행·완료율·시간·비용을 측정하지 않았다. 과거 평가·보고 기준 Meta 기록도 다중 모델 구현·검토의 실측 성과로 바꾸지 않는다. 실제 운영 확인은 별도 검증 대상으로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STATE-04-PERF; TRIAL-008; SRC-0237; SRC-0238; CASE-LOOP-01. Primary sources checked 2026-10-25: https://aclanthology.org/2024.acl-long.381.pdf (Table 7); https://aclanthology.org/2024.findings-acl.91.pdf (section 4.2.5)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기존 제품 Trial, 인용 연구, 이번 루프 설계의 세 근거 범위를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설계의 타당성, 실행의 존재, 결과의 품질, 비교 효과를 서로 다른 근거 단계로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N/A — 필수 응답·실습 없이 관찰할 질문만 제시한다.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다음은 우리 작업에는 어떤 루프가 필요할까?의 질문으로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Case 2분 = 4분.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S98; production/preview/act4/S98.png 및 production/preview/full/S98.png.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S99 — 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S99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우리 작업에는 어떤 루프가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4R6 Evidence and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Reflection 2분 + Q&amp;A 7분 +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내 업무의 목표·피드백·운영 판단을 떠올리고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내 작업에서 검토 결과가 다음 수정으로 돌아가려면 무엇이 필요할까?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Reflection) 목표 하나와 완료를 판단할 근거를 마음속으로 고른다. 어떤 검토 지적이 다음 수정으로 이어져야 하는지 생각하게 하며 기록·발표·실습은 요구하지 않는다.</a:t>
            </a:r>
          </a:p>
          <a:p xmlns:a="http://schemas.openxmlformats.org/drawingml/2006/main">
            <a:r>
              <a:t>2. (2:00–9:00 / Q&amp;A) 질문을 받되 제품 기능·실측 효과는 확인 범위 안에서 답한다. 질문이 없으면 “두 모델이 동의했지만 테스트가 실패했다면?”, “계속 같은 지적이면 언제 사람에게 넘길까?”를 사용한다. 마지막 1분에는 남은 질문을 정리하고 새 사례를 열지 않는다.</a:t>
            </a:r>
          </a:p>
          <a:p xmlns:a="http://schemas.openxmlformats.org/drawingml/2006/main">
            <a:r>
              <a:t>3. (9:00–11:00 / Transition) 요청·Context·방법·검증·반복 판단이 어떻게 이어졌는지 한 문장으로 회수한다. 모든 작업에 두 모델·모든 단계를 추가하는 것이 목표는 아니라고 연결하고 S100의 ACT5 제목으로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DEC-0097; BEAT-083; CASE-LOOP-01; CLM-0021. CASE-LOOP-01의 교육용 설계. 실제 자료와 설계를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TEACHING_MODEL — 교육용 설계이며 실제 구현·검토·재실행·측정·완료 결과가 없다. 기존 Product/Meta Trial을 이 루프의 실행 증거로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내 업무의 목표·피드백·운영 판단을 떠올리고 ACT5의 조합·통합·제거로 이어간다.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ACT5에서 현재 문제와 비용·효과를 보고 필요한 구성을 유지·통합·제거할 수 있게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 — 같은 명세·검사·검토 원리를 적용할 수 있으나 별도 GPU 사례나 미실행 C++ 코드를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화면을 위에서 아래, 왼쪽에서 오른쪽으로 짚는다. 교육용 진행 예/논문/실제 과거 기록의 표시를 먼저 확인한다. 새 명령·모델 호출·Live Trial은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Reflection2분 → Q&amp;A7분 → Transition2분. 질문이 없으면 “두 모델은 동의했는데 테스트가 실패했다면?”, “같은 지적이 반복되면 언제 사람에게 넘길까?”를 사용한다. Q&amp;A 마지막1분에 새 질문을 묶고, 9분에 전환으로 들어간다.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S100의 ACT5 제목을 거쳐 S101에서 전체 여정을 회수하고 필요한 조합·통합·제거를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Reflection 2분 + Q&amp;A 7분 + Transition 2분 = 11분. 위 Speaker Flow의 Mode 경계를 유지한다. 초과 시 Advanced Insight를 줄이고 핵심 그림·근거 범위·다음 전환은 보존한다. 실제 리허설은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S99; production/preview/act4/S99.png 및 production/preview/full/S99.png. 이 구간은 Live 실행을 전제하지 않는다. 실제 발표 PC 재생은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DEC-0097의 내용·근거 정렬. 최종 로컬 구조·렌더·Notes 검사는 production/evaluation/ACT_4_GOAL_LOOP_REVISION.md에 기록. Windows/교육장/제품·계정/실측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6566f1bcd40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94ac482b2e41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01f4143ef444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59d3a059774e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9f29f2f18e4d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c94d653681448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8FB2E3-27B8-48F4-8198-49F607959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4853E61-8EAE-43AA-9EEC-3821F0C26D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659F342-1AED-4203-B406-2795D04BB2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E906A0A-FA7E-454C-BB64-109392CF93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FFA0C0-CC45-40F7-B87E-96B8103E1E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1C4D71-95CA-4943-B6A5-7C5F39BF2E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C54B8AC-EB1E-4980-9D53-B2B7CFF28D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B16A297-9385-4282-A069-1C587B18E8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581DD3-DF48-4694-A989-07D4FCF2AB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E819810-9EE6-42B3-9E89-6375633866F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32dc22358e4e6c" /><Relationship Type="http://schemas.openxmlformats.org/officeDocument/2006/relationships/slideLayout" Target="/ppt/slideLayouts/slideLayout1.xml" Id="Rcd5b614135b64a87" /><Relationship Type="http://schemas.openxmlformats.org/officeDocument/2006/relationships/slideLayout" Target="/ppt/slideLayouts/slideLayout2.xml" Id="R55f864cd59ec46a1" /><Relationship Type="http://schemas.openxmlformats.org/officeDocument/2006/relationships/slideLayout" Target="/ppt/slideLayouts/slideLayout3.xml" Id="Rf9eeb490f7854f38" /><Relationship Type="http://schemas.openxmlformats.org/officeDocument/2006/relationships/slideLayout" Target="/ppt/slideLayouts/slideLayout4.xml" Id="Rd21f15db678f4b25" /><Relationship Type="http://schemas.openxmlformats.org/officeDocument/2006/relationships/slideLayout" Target="/ppt/slideLayouts/slideLayout5.xml" Id="Rd6b986f09496427b" /><Relationship Type="http://schemas.openxmlformats.org/officeDocument/2006/relationships/slideLayout" Target="/ppt/slideLayouts/slideLayout6.xml" Id="Ra13f37663a3b4d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5b614135b64a87"/>
    <p:sldLayoutId xmlns:r="http://schemas.openxmlformats.org/officeDocument/2006/relationships" id="2147483650" r:id="R55f864cd59ec46a1"/>
    <p:sldLayoutId xmlns:r="http://schemas.openxmlformats.org/officeDocument/2006/relationships" id="2147483651" r:id="Rf9eeb490f7854f38"/>
    <p:sldLayoutId xmlns:r="http://schemas.openxmlformats.org/officeDocument/2006/relationships" id="2147483652" r:id="Rd21f15db678f4b25"/>
    <p:sldLayoutId xmlns:r="http://schemas.openxmlformats.org/officeDocument/2006/relationships" id="2147483653" r:id="Rd6b986f09496427b"/>
    <p:sldLayoutId xmlns:r="http://schemas.openxmlformats.org/officeDocument/2006/relationships" id="2147483654" r:id="Ra13f37663a3b4d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e6df4250cd42c3" /><Relationship Type="http://schemas.openxmlformats.org/officeDocument/2006/relationships/notesSlide" Target="/ppt/notesSlides/notesSlide1.xml" Id="R0a3f3c70d03b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0c3258be0a4e05" /><Relationship Type="http://schemas.openxmlformats.org/officeDocument/2006/relationships/notesSlide" Target="/ppt/notesSlides/notesSlide2.xml" Id="R9492ba57f1384e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91dc8dd314192" /><Relationship Type="http://schemas.openxmlformats.org/officeDocument/2006/relationships/notesSlide" Target="/ppt/notesSlides/notesSlide3.xml" Id="Rcca16929324a47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622202041b49cd" /><Relationship Type="http://schemas.openxmlformats.org/officeDocument/2006/relationships/notesSlide" Target="/ppt/notesSlides/notesSlide4.xml" Id="Raddc1bc4cf8144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0b28df0c644f55" /><Relationship Type="http://schemas.openxmlformats.org/officeDocument/2006/relationships/notesSlide" Target="/ppt/notesSlides/notesSlide5.xml" Id="Rf38138d56a724d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f86e9d7ca5433a" /><Relationship Type="http://schemas.openxmlformats.org/officeDocument/2006/relationships/notesSlide" Target="/ppt/notesSlides/notesSlide6.xml" Id="R15b56e9104e54f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02326858904967" /><Relationship Type="http://schemas.openxmlformats.org/officeDocument/2006/relationships/notesSlide" Target="/ppt/notesSlides/notesSlide7.xml" Id="R5dff8abbf2ac4c9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345aeeacef4d4f" /><Relationship Type="http://schemas.openxmlformats.org/officeDocument/2006/relationships/notesSlide" Target="/ppt/notesSlides/notesSlide8.xml" Id="R2d916b5e66fa44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e836c76c204e27" /><Relationship Type="http://schemas.openxmlformats.org/officeDocument/2006/relationships/notesSlide" Target="/ppt/notesSlides/notesSlide9.xml" Id="R48ae7795970044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4fe92778e94e2c" /><Relationship Type="http://schemas.openxmlformats.org/officeDocument/2006/relationships/notesSlide" Target="/ppt/notesSlides/notesSlide10.xml" Id="R56b3aff8059846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42de288c9d40ca" /><Relationship Type="http://schemas.openxmlformats.org/officeDocument/2006/relationships/notesSlide" Target="/ppt/notesSlides/notesSlide11.xml" Id="R4dbd7d4f44e94a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bdc5ac047a433e" /><Relationship Type="http://schemas.openxmlformats.org/officeDocument/2006/relationships/chart" Target="/ppt/slides/charts/chart1.xml" Id="R3c9bc28ec6c1489f" /><Relationship Type="http://schemas.openxmlformats.org/officeDocument/2006/relationships/notesSlide" Target="/ppt/notesSlides/notesSlide12.xml" Id="R9edd2dae5bca43e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3ec97a51914616" /><Relationship Type="http://schemas.openxmlformats.org/officeDocument/2006/relationships/notesSlide" Target="/ppt/notesSlides/notesSlide13.xml" Id="Rfeefdb131cd84f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13224a4d084c71" /><Relationship Type="http://schemas.openxmlformats.org/officeDocument/2006/relationships/notesSlide" Target="/ppt/notesSlides/notesSlide14.xml" Id="R0a6ed008c8054e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515e19bcb843e5" /><Relationship Type="http://schemas.openxmlformats.org/officeDocument/2006/relationships/notesSlide" Target="/ppt/notesSlides/notesSlide15.xml" Id="R0c4b5c2b1cff4cb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008b0b92e94a28" /><Relationship Type="http://schemas.openxmlformats.org/officeDocument/2006/relationships/notesSlide" Target="/ppt/notesSlides/notesSlide16.xml" Id="R59a7158aa8c6424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cc5dd3fe3f483d" /><Relationship Type="http://schemas.openxmlformats.org/officeDocument/2006/relationships/notesSlide" Target="/ppt/notesSlides/notesSlide17.xml" Id="Ra767e92f498748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4d0bfe70de4ea4" /><Relationship Type="http://schemas.openxmlformats.org/officeDocument/2006/relationships/notesSlide" Target="/ppt/notesSlides/notesSlide18.xml" Id="Rf5abca56f5d345d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Accuracy (%)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여러 모델 조합</c:v>
                </c:pt>
                <c:pt idx="1">
                  <c:v>ChatGPT 3개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79</c:v>
                </c:pt>
                <c:pt idx="1">
                  <c:v>72.2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7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4">
            <a:extLst xmlns:a="http://schemas.openxmlformats.org/drawingml/2006/main">
              <a:ext uri="{FF2B5EF4-FFF2-40B4-BE49-F238E27FC236}">
                <a16:creationId xmlns:a16="http://schemas.microsoft.com/office/drawing/2014/main" id="{6B4E127E-8C5E-4F0C-8B25-4FF440D2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F037C703-9D7C-4B66-A7D5-AEF6942C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AAD1E-FF84-4F55-90A3-B9F1FEEA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목표를 이룰 때까지&#10;수정하고 검토하기">
            <a:extLst xmlns:a="http://schemas.openxmlformats.org/drawingml/2006/main">
              <a:ext uri="{FF2B5EF4-FFF2-40B4-BE49-F238E27FC236}">
                <a16:creationId xmlns:a16="http://schemas.microsoft.com/office/drawing/2014/main" id="{924F0FD1-F2D1-4E07-92EE-7743103A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목표를 이룰 때까지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수정하고 검토하기</a:t>
            </a:r>
          </a:p>
        </p:txBody>
      </p:sp>
      <p:sp>
        <p:nvSpPr>
          <p:cNvPr id="5" name="Loop Engineering · 목표 기반 실행·검토 시스템">
            <a:extLst xmlns:a="http://schemas.openxmlformats.org/drawingml/2006/main">
              <a:ext uri="{FF2B5EF4-FFF2-40B4-BE49-F238E27FC236}">
                <a16:creationId xmlns:a16="http://schemas.microsoft.com/office/drawing/2014/main" id="{5D8E0906-F44C-4857-A9EF-FC5D6C74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 Engineering · 목표 기반 실행·검토 시스템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F34F22DE-7510-4F77-9B28-9F713F24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39F655D-D8A2-41B9-93E2-FCA38813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20766598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266CAE76-4EFA-48D4-9545-84D43419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3">
            <a:extLst xmlns:a="http://schemas.openxmlformats.org/drawingml/2006/main">
              <a:ext uri="{FF2B5EF4-FFF2-40B4-BE49-F238E27FC236}">
                <a16:creationId xmlns:a16="http://schemas.microsoft.com/office/drawing/2014/main" id="{59EA888B-3298-4630-A608-89F93DCE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S83</a:t>
            </a:r>
          </a:p>
        </p:txBody>
      </p:sp>
      <p:sp>
        <p:nvSpPr>
          <p:cNvPr id="3" name="다음 수정도 사람이 매번 이어줘야 할까?">
            <a:extLst xmlns:a="http://schemas.openxmlformats.org/drawingml/2006/main">
              <a:ext uri="{FF2B5EF4-FFF2-40B4-BE49-F238E27FC236}">
                <a16:creationId xmlns:a16="http://schemas.microsoft.com/office/drawing/2014/main" id="{CA74E785-33B6-46B4-8390-F303AA15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수정도 사람이 매번 이어줘야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8C770B-0EF8-4DAE-A769-85BE9EF4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B15AD7EF-E00F-4FB6-97C1-90AF6C6F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C358DCD1-E2F6-45FF-9DCF-20AD0336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E88CE-64F5-435C-B5B4-5C7EF2A6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사람이 연결하던 다음 요청을, 시스템의 다음 입력으로">
            <a:extLst xmlns:a="http://schemas.openxmlformats.org/drawingml/2006/main">
              <a:ext uri="{FF2B5EF4-FFF2-40B4-BE49-F238E27FC236}">
                <a16:creationId xmlns:a16="http://schemas.microsoft.com/office/drawing/2014/main" id="{192679DA-C71D-45C6-90D1-1FD7285A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연결하던 다음 요청을, 시스템의 다음 입력으로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E4807-09F5-486B-B9CE-12E02F1E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4419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사람이 보내던 다음 요청">
            <a:extLst xmlns:a="http://schemas.openxmlformats.org/drawingml/2006/main">
              <a:ext uri="{FF2B5EF4-FFF2-40B4-BE49-F238E27FC236}">
                <a16:creationId xmlns:a16="http://schemas.microsoft.com/office/drawing/2014/main" id="{88BB196F-459B-4CFA-9C89-39EE17D6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4038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보내던 다음 요청</a:t>
            </a:r>
          </a:p>
        </p:txBody>
      </p:sp>
      <p:sp>
        <p:nvSpPr>
          <p:cNvPr id="11" name="검토 의견을 모아 다시 전달">
            <a:extLst xmlns:a="http://schemas.openxmlformats.org/drawingml/2006/main">
              <a:ext uri="{FF2B5EF4-FFF2-40B4-BE49-F238E27FC236}">
                <a16:creationId xmlns:a16="http://schemas.microsoft.com/office/drawing/2014/main" id="{08954929-1253-47F4-83AC-C27AEE6F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4038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의견을 모아 다시 전달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0B640-498C-49B8-B987-25170FB4FF4F}"/>
              </a:ext>
            </a:extLst>
          </p:cNvPr>
          <p:cNvCxnSpPr/>
          <p:nvPr/>
        </p:nvCxnSpPr>
        <p:spPr>
          <a:xfrm xmlns:a="http://schemas.openxmlformats.org/drawingml/2006/main">
            <a:off x="5257800" y="34956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CE2E2-1EA9-425E-9F7E-ED15C0D7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76550"/>
            <a:ext cx="4876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4" name="다음 수정이 받을 입력">
            <a:extLst xmlns:a="http://schemas.openxmlformats.org/drawingml/2006/main">
              <a:ext uri="{FF2B5EF4-FFF2-40B4-BE49-F238E27FC236}">
                <a16:creationId xmlns:a16="http://schemas.microsoft.com/office/drawing/2014/main" id="{A36D92E8-5C5A-490D-B087-7548C637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90850"/>
            <a:ext cx="4495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수정이 받을 입력</a:t>
            </a:r>
          </a:p>
        </p:txBody>
      </p:sp>
      <p:sp>
        <p:nvSpPr>
          <p:cNvPr id="15" name="남은 지적 + 근거 + 현재 후보">
            <a:extLst xmlns:a="http://schemas.openxmlformats.org/drawingml/2006/main">
              <a:ext uri="{FF2B5EF4-FFF2-40B4-BE49-F238E27FC236}">
                <a16:creationId xmlns:a16="http://schemas.microsoft.com/office/drawing/2014/main" id="{B06DCB0F-2094-427A-90BB-7EB3EFD0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05200"/>
            <a:ext cx="449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지적 + 근거 + 현재 후보</a:t>
            </a:r>
          </a:p>
        </p:txBody>
      </p:sp>
      <p:sp>
        <p:nvSpPr>
          <p:cNvPr id="16" name="목표는 유지하고, 남은 문제를 다음 수정에 넘긴다">
            <a:extLst xmlns:a="http://schemas.openxmlformats.org/drawingml/2006/main">
              <a:ext uri="{FF2B5EF4-FFF2-40B4-BE49-F238E27FC236}">
                <a16:creationId xmlns:a16="http://schemas.microsoft.com/office/drawing/2014/main" id="{19D02F54-6451-4169-BE02-AB13BB93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목표는 유지하고, 남은 문제를 다음 수정에 넘긴다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5090167-2CF2-492F-992E-3004801C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1956629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C549FC27-9742-4836-B0CA-D1EE74B0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4">
            <a:extLst xmlns:a="http://schemas.openxmlformats.org/drawingml/2006/main">
              <a:ext uri="{FF2B5EF4-FFF2-40B4-BE49-F238E27FC236}">
                <a16:creationId xmlns:a16="http://schemas.microsoft.com/office/drawing/2014/main" id="{88F7D528-5906-44A9-AB7F-5C6F7B915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S84</a:t>
            </a:r>
          </a:p>
        </p:txBody>
      </p:sp>
      <p:sp>
        <p:nvSpPr>
          <p:cNvPr id="3" name="먼저, 무엇이 되면 완료인지 정한다">
            <a:extLst xmlns:a="http://schemas.openxmlformats.org/drawingml/2006/main">
              <a:ext uri="{FF2B5EF4-FFF2-40B4-BE49-F238E27FC236}">
                <a16:creationId xmlns:a16="http://schemas.microsoft.com/office/drawing/2014/main" id="{DED8990D-E940-4CC8-97CF-C5C0A68D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먼저, 무엇이 되면 완료인지 정한다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844B6-1D89-497C-A07F-1AEDAFB1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2105937B-7AED-4DF6-A692-5659CDB4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할당량 목표·실행시간 상한·대표 입력은 실행 전에 확정 · 현재 수치는 TBD">
            <a:extLst xmlns:a="http://schemas.openxmlformats.org/drawingml/2006/main">
              <a:ext uri="{FF2B5EF4-FFF2-40B4-BE49-F238E27FC236}">
                <a16:creationId xmlns:a16="http://schemas.microsoft.com/office/drawing/2014/main" id="{A3978218-CC61-4C10-B1BB-E0D4DE15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목표·실행시간 상한·대표 입력은 실행 전에 확정 · 현재 수치는 TBD</a:t>
            </a:r>
          </a:p>
        </p:txBody>
      </p:sp>
      <p:sp>
        <p:nvSpPr>
          <p:cNvPr id="7" name="밝기 통계 계산의 불필요한 임시 할당을 줄인다">
            <a:extLst xmlns:a="http://schemas.openxmlformats.org/drawingml/2006/main">
              <a:ext uri="{FF2B5EF4-FFF2-40B4-BE49-F238E27FC236}">
                <a16:creationId xmlns:a16="http://schemas.microsoft.com/office/drawing/2014/main" id="{8B2873B7-D454-4109-BE1F-EB6DE4B5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밝기 통계 계산의 불필요한 임시 할당을 줄인다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E12B945C-31DA-4F9E-A182-220938A4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B9CE40-E371-445C-8B7D-CC2DDFF0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 유지">
            <a:extLst xmlns:a="http://schemas.openxmlformats.org/drawingml/2006/main">
              <a:ext uri="{FF2B5EF4-FFF2-40B4-BE49-F238E27FC236}">
                <a16:creationId xmlns:a16="http://schemas.microsoft.com/office/drawing/2014/main" id="{21538903-1317-433E-A938-67971803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 유지</a:t>
            </a:r>
          </a:p>
        </p:txBody>
      </p:sp>
      <p:sp>
        <p:nvSpPr>
          <p:cNvPr id="11" name="기존 6개 출력과 명세">
            <a:extLst xmlns:a="http://schemas.openxmlformats.org/drawingml/2006/main">
              <a:ext uri="{FF2B5EF4-FFF2-40B4-BE49-F238E27FC236}">
                <a16:creationId xmlns:a16="http://schemas.microsoft.com/office/drawing/2014/main" id="{07D4AE51-B070-4D45-8B16-CBB64234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6개 출력과 명세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6A4E5914-DC56-40ED-A4D1-5C6B763CA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4F71E-7002-4761-B2A4-9C50DB7B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 줄이기">
            <a:extLst xmlns:a="http://schemas.openxmlformats.org/drawingml/2006/main">
              <a:ext uri="{FF2B5EF4-FFF2-40B4-BE49-F238E27FC236}">
                <a16:creationId xmlns:a16="http://schemas.microsoft.com/office/drawing/2014/main" id="{74466DAC-2597-4098-A114-76E2FC81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 줄이기</a:t>
            </a:r>
          </a:p>
        </p:txBody>
      </p:sp>
      <p:sp>
        <p:nvSpPr>
          <p:cNvPr id="15" name="같은 입력의 할당량 확인">
            <a:extLst xmlns:a="http://schemas.openxmlformats.org/drawingml/2006/main">
              <a:ext uri="{FF2B5EF4-FFF2-40B4-BE49-F238E27FC236}">
                <a16:creationId xmlns:a16="http://schemas.microsoft.com/office/drawing/2014/main" id="{A48B3383-E081-42A9-8C12-FA91A1B7A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입력의 할당량 확인</a:t>
            </a:r>
          </a:p>
        </p:txBody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BBD125D3-EE7C-4D6A-B2BC-7143F1FB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33675"/>
            <a:ext cx="335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32D2CB-9320-4ED8-8673-CB5C92DD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6707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897AECD3-F907-4529-BBA0-1EE17606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95675"/>
            <a:ext cx="335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 조건 지키기</a:t>
            </a:r>
          </a:p>
        </p:txBody>
      </p:sp>
      <p:sp>
        <p:nvSpPr>
          <p:cNvPr id="19" name="같은 환경·측정 기준">
            <a:extLst xmlns:a="http://schemas.openxmlformats.org/drawingml/2006/main">
              <a:ext uri="{FF2B5EF4-FFF2-40B4-BE49-F238E27FC236}">
                <a16:creationId xmlns:a16="http://schemas.microsoft.com/office/drawing/2014/main" id="{46705860-0D93-40DB-AF1F-BA9DEC21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291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환경·측정 기준</a:t>
            </a:r>
          </a:p>
        </p:txBody>
      </p:sp>
      <p:sp>
        <p:nvSpPr>
          <p:cNvPr id="20" name="반복 중에도 목표와 기준은 그대로">
            <a:extLst xmlns:a="http://schemas.openxmlformats.org/drawingml/2006/main">
              <a:ext uri="{FF2B5EF4-FFF2-40B4-BE49-F238E27FC236}">
                <a16:creationId xmlns:a16="http://schemas.microsoft.com/office/drawing/2014/main" id="{CC726AFB-2AE1-4923-8F79-6E88039C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 중에도 목표와 기준은 그대로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5291A77-A482-458E-9B29-206841A2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549705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35249338-28D5-4C7B-9923-28ECE601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5">
            <a:extLst xmlns:a="http://schemas.openxmlformats.org/drawingml/2006/main">
              <a:ext uri="{FF2B5EF4-FFF2-40B4-BE49-F238E27FC236}">
                <a16:creationId xmlns:a16="http://schemas.microsoft.com/office/drawing/2014/main" id="{DBBFFC11-8799-4E9A-BD2C-DFECC5C9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S85</a:t>
            </a:r>
          </a:p>
        </p:txBody>
      </p:sp>
      <p:sp>
        <p:nvSpPr>
          <p:cNvPr id="3" name="모델 A가 첫 변경 후보를 만든다">
            <a:extLst xmlns:a="http://schemas.openxmlformats.org/drawingml/2006/main">
              <a:ext uri="{FF2B5EF4-FFF2-40B4-BE49-F238E27FC236}">
                <a16:creationId xmlns:a16="http://schemas.microsoft.com/office/drawing/2014/main" id="{D57DF7F7-CB34-4B9B-9A77-BEFE97F6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A가 첫 변경 후보를 만든다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2DD3B-0976-4B01-901C-FBED0A34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3BA476CA-691D-4A1F-A508-F0D3AD98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6F975C07-82FA-4728-9D40-CE9065F9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8D95A7-CC63-4764-894E-2D267E34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B8670D44-5625-4A83-8149-35ECE26D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A · 구현">
            <a:extLst xmlns:a="http://schemas.openxmlformats.org/drawingml/2006/main">
              <a:ext uri="{FF2B5EF4-FFF2-40B4-BE49-F238E27FC236}">
                <a16:creationId xmlns:a16="http://schemas.microsoft.com/office/drawing/2014/main" id="{2E7577D2-1F9B-431F-8A64-FADF1089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 · 구현</a:t>
            </a:r>
          </a:p>
        </p:txBody>
      </p:sp>
      <p:sp>
        <p:nvSpPr>
          <p:cNvPr id="10" name="후보 v1 · 가정한 계산 방식">
            <a:extLst xmlns:a="http://schemas.openxmlformats.org/drawingml/2006/main">
              <a:ext uri="{FF2B5EF4-FFF2-40B4-BE49-F238E27FC236}">
                <a16:creationId xmlns:a16="http://schemas.microsoft.com/office/drawing/2014/main" id="{6D9450BB-5FA7-4840-8B4E-C3009D91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14625"/>
            <a:ext cx="701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 · 가정한 계산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C0BF67-5D8E-4C2A-A3EB-0ED96F9B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목표와 명세">
            <a:extLst xmlns:a="http://schemas.openxmlformats.org/drawingml/2006/main">
              <a:ext uri="{FF2B5EF4-FFF2-40B4-BE49-F238E27FC236}">
                <a16:creationId xmlns:a16="http://schemas.microsoft.com/office/drawing/2014/main" id="{DF3BAEF9-89D9-406D-BD44-C2D35C03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00450"/>
            <a:ext cx="285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목표와 명세</a:t>
            </a:r>
          </a:p>
        </p:txBody>
      </p:sp>
      <p:sp>
        <p:nvSpPr>
          <p:cNvPr id="13" name="조건에 맞는 변경 초안">
            <a:extLst xmlns:a="http://schemas.openxmlformats.org/drawingml/2006/main">
              <a:ext uri="{FF2B5EF4-FFF2-40B4-BE49-F238E27FC236}">
                <a16:creationId xmlns:a16="http://schemas.microsoft.com/office/drawing/2014/main" id="{BF8D6EA4-ABD0-4690-96CD-1E93251C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148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조건에 맞는 변경 초안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A5BE68-3C3F-4938-A3E4-077DCB573859}"/>
              </a:ext>
            </a:extLst>
          </p:cNvPr>
          <p:cNvCxnSpPr/>
          <p:nvPr/>
        </p:nvCxnSpPr>
        <p:spPr>
          <a:xfrm xmlns:a="http://schemas.openxmlformats.org/drawingml/2006/main">
            <a:off x="4010025" y="410527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D64F8-E297-4BC1-9BE3-2D845408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71875"/>
            <a:ext cx="16764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6" name="입력">
            <a:extLst xmlns:a="http://schemas.openxmlformats.org/drawingml/2006/main">
              <a:ext uri="{FF2B5EF4-FFF2-40B4-BE49-F238E27FC236}">
                <a16:creationId xmlns:a16="http://schemas.microsoft.com/office/drawing/2014/main" id="{7EF47928-8FEF-4D1F-9176-D4404B36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57625"/>
            <a:ext cx="144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64E9CE-F3A3-4D59-8D98-819204AC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71875"/>
            <a:ext cx="2590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8" name="전체 값 복사">
            <a:extLst xmlns:a="http://schemas.openxmlformats.org/drawingml/2006/main">
              <a:ext uri="{FF2B5EF4-FFF2-40B4-BE49-F238E27FC236}">
                <a16:creationId xmlns:a16="http://schemas.microsoft.com/office/drawing/2014/main" id="{2430DEBF-9DC7-4E69-87AE-90BF9535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5762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전체 값 복사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34BC66-32B5-447E-85DA-51659E82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71875"/>
            <a:ext cx="18288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0" name="통계 계산">
            <a:extLst xmlns:a="http://schemas.openxmlformats.org/drawingml/2006/main">
              <a:ext uri="{FF2B5EF4-FFF2-40B4-BE49-F238E27FC236}">
                <a16:creationId xmlns:a16="http://schemas.microsoft.com/office/drawing/2014/main" id="{797DF833-CE61-4E7F-8669-3EC37F8D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857625"/>
            <a:ext cx="1600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통계 계산</a:t>
            </a:r>
          </a:p>
        </p:txBody>
      </p: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7BFD51-A2B3-4356-B1FB-4F664BCBF3CF}"/>
              </a:ext>
            </a:extLst>
          </p:cNvPr>
          <p:cNvCxnSpPr/>
          <p:nvPr/>
        </p:nvCxnSpPr>
        <p:spPr>
          <a:xfrm xmlns:a="http://schemas.openxmlformats.org/drawingml/2006/main">
            <a:off x="6324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97881E-C84C-4062-8824-345D52895315}"/>
              </a:ext>
            </a:extLst>
          </p:cNvPr>
          <p:cNvCxnSpPr/>
          <p:nvPr/>
        </p:nvCxnSpPr>
        <p:spPr>
          <a:xfrm xmlns:a="http://schemas.openxmlformats.org/drawingml/2006/main">
            <a:off x="9372600" y="4105275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초안이 나왔다. 완료 기준을 만족하는지는 아직 확인 전이다">
            <a:extLst xmlns:a="http://schemas.openxmlformats.org/drawingml/2006/main">
              <a:ext uri="{FF2B5EF4-FFF2-40B4-BE49-F238E27FC236}">
                <a16:creationId xmlns:a16="http://schemas.microsoft.com/office/drawing/2014/main" id="{FB81599C-900B-4222-A03A-28EF3E67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초안이 나왔다. 완료 기준을 만족하는지는 아직 확인 전이다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EFADCE8-87C0-479F-91BB-5E3B2D5A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9441348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A1DE51F4-74C8-4120-86D2-17829A48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6">
            <a:extLst xmlns:a="http://schemas.openxmlformats.org/drawingml/2006/main">
              <a:ext uri="{FF2B5EF4-FFF2-40B4-BE49-F238E27FC236}">
                <a16:creationId xmlns:a16="http://schemas.microsoft.com/office/drawing/2014/main" id="{FB947945-EC0C-4F6E-8D40-20AC992E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S86</a:t>
            </a:r>
          </a:p>
        </p:txBody>
      </p:sp>
      <p:sp>
        <p:nvSpPr>
          <p:cNvPr id="3" name="실제 동작과 비용은 도구로 확인한다">
            <a:extLst xmlns:a="http://schemas.openxmlformats.org/drawingml/2006/main">
              <a:ext uri="{FF2B5EF4-FFF2-40B4-BE49-F238E27FC236}">
                <a16:creationId xmlns:a16="http://schemas.microsoft.com/office/drawing/2014/main" id="{3163E763-1082-4F87-9AD2-5467241D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동작과 비용은 도구로 확인한다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ED2321-CB60-4E17-8B00-631E5D4D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1BA7A761-2B43-4C39-AAE6-95DE51B5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검사할 항목의 설계 · 실제 명령 실행·측정값·통과 결과를 제시하는 장이 아님">
            <a:extLst xmlns:a="http://schemas.openxmlformats.org/drawingml/2006/main">
              <a:ext uri="{FF2B5EF4-FFF2-40B4-BE49-F238E27FC236}">
                <a16:creationId xmlns:a16="http://schemas.microsoft.com/office/drawing/2014/main" id="{151FD7EA-44E8-42C7-A6E3-11368904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검사할 항목의 설계 · 실제 명령 실행·측정값·통과 결과를 제시하는 장이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77B0B-06A2-4659-9895-42DD3258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1A2892B8-11F3-4487-B6EA-BC19F240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663FA-C549-456C-A343-BF0FCB38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출력·동작">
            <a:extLst xmlns:a="http://schemas.openxmlformats.org/drawingml/2006/main">
              <a:ext uri="{FF2B5EF4-FFF2-40B4-BE49-F238E27FC236}">
                <a16:creationId xmlns:a16="http://schemas.microsoft.com/office/drawing/2014/main" id="{5B1514BD-2140-4603-9836-89A89308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출력·동작</a:t>
            </a:r>
          </a:p>
        </p:txBody>
      </p:sp>
      <p:sp>
        <p:nvSpPr>
          <p:cNvPr id="11" name="명세에 맞는 테스트">
            <a:extLst xmlns:a="http://schemas.openxmlformats.org/drawingml/2006/main">
              <a:ext uri="{FF2B5EF4-FFF2-40B4-BE49-F238E27FC236}">
                <a16:creationId xmlns:a16="http://schemas.microsoft.com/office/drawing/2014/main" id="{25CBF86C-6BA3-4422-A231-27B3EFDA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명세에 맞는 테스트</a:t>
            </a:r>
          </a:p>
        </p:txBody>
      </p:sp>
      <p:sp>
        <p:nvSpPr>
          <p:cNvPr id="12" name="동작·값 보존">
            <a:extLst xmlns:a="http://schemas.openxmlformats.org/drawingml/2006/main">
              <a:ext uri="{FF2B5EF4-FFF2-40B4-BE49-F238E27FC236}">
                <a16:creationId xmlns:a16="http://schemas.microsoft.com/office/drawing/2014/main" id="{6C46CE42-8F59-464B-9DFD-299E4B16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동작·값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70920-3BA3-4413-92BA-98F4CDA7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임시 할당">
            <a:extLst xmlns:a="http://schemas.openxmlformats.org/drawingml/2006/main">
              <a:ext uri="{FF2B5EF4-FFF2-40B4-BE49-F238E27FC236}">
                <a16:creationId xmlns:a16="http://schemas.microsoft.com/office/drawing/2014/main" id="{8243F87B-96CE-4151-9FE6-1025EA4A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임시 할당</a:t>
            </a:r>
          </a:p>
        </p:txBody>
      </p:sp>
      <p:sp>
        <p:nvSpPr>
          <p:cNvPr id="15" name="대표 입력의 할당량 측정">
            <a:extLst xmlns:a="http://schemas.openxmlformats.org/drawingml/2006/main">
              <a:ext uri="{FF2B5EF4-FFF2-40B4-BE49-F238E27FC236}">
                <a16:creationId xmlns:a16="http://schemas.microsoft.com/office/drawing/2014/main" id="{39E56B84-42B3-4F23-A34A-E4B335F2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대표 입력의 할당량 측정</a:t>
            </a:r>
          </a:p>
        </p:txBody>
      </p:sp>
      <p:sp>
        <p:nvSpPr>
          <p:cNvPr id="16" name="할당량 목표">
            <a:extLst xmlns:a="http://schemas.openxmlformats.org/drawingml/2006/main">
              <a:ext uri="{FF2B5EF4-FFF2-40B4-BE49-F238E27FC236}">
                <a16:creationId xmlns:a16="http://schemas.microsoft.com/office/drawing/2014/main" id="{73D76BD3-DCED-4B0A-A08D-0BC9E7F6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할당량 목표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5DF5E-6514-43D2-AD45-C2688C65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실행시간">
            <a:extLst xmlns:a="http://schemas.openxmlformats.org/drawingml/2006/main">
              <a:ext uri="{FF2B5EF4-FFF2-40B4-BE49-F238E27FC236}">
                <a16:creationId xmlns:a16="http://schemas.microsoft.com/office/drawing/2014/main" id="{17D38D4A-96C4-4990-8E69-859F0568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</a:t>
            </a:r>
          </a:p>
        </p:txBody>
      </p:sp>
      <p:sp>
        <p:nvSpPr>
          <p:cNvPr id="19" name="같은 환경에서 반복 측정">
            <a:extLst xmlns:a="http://schemas.openxmlformats.org/drawingml/2006/main">
              <a:ext uri="{FF2B5EF4-FFF2-40B4-BE49-F238E27FC236}">
                <a16:creationId xmlns:a16="http://schemas.microsoft.com/office/drawing/2014/main" id="{042B27F9-465B-459E-AC78-2A7566DB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781425"/>
            <a:ext cx="335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환경에서 반복 측정</a:t>
            </a:r>
          </a:p>
        </p:txBody>
      </p:sp>
      <p:sp>
        <p:nvSpPr>
          <p:cNvPr id="20" name="시간 허용 범위">
            <a:extLst xmlns:a="http://schemas.openxmlformats.org/drawingml/2006/main">
              <a:ext uri="{FF2B5EF4-FFF2-40B4-BE49-F238E27FC236}">
                <a16:creationId xmlns:a16="http://schemas.microsoft.com/office/drawing/2014/main" id="{8F1B718B-1B07-476F-9F19-20283526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7200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시간 허용 범위</a:t>
            </a:r>
          </a:p>
        </p:txBody>
      </p:sp>
      <p:sp>
        <p:nvSpPr>
          <p:cNvPr id="21" name="“확인했다”는 말 대신, 검사·측정 기록을 남긴다">
            <a:extLst xmlns:a="http://schemas.openxmlformats.org/drawingml/2006/main">
              <a:ext uri="{FF2B5EF4-FFF2-40B4-BE49-F238E27FC236}">
                <a16:creationId xmlns:a16="http://schemas.microsoft.com/office/drawing/2014/main" id="{7A1A0498-9FB9-4CCD-A49E-9B56B3E0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“확인했다”는 말 대신, 검사·측정 기록을 남긴다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8946870-C348-433F-BE57-C1DFCDE0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8676493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B73499F6-345E-4796-B9FD-B5F05878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7">
            <a:extLst xmlns:a="http://schemas.openxmlformats.org/drawingml/2006/main">
              <a:ext uri="{FF2B5EF4-FFF2-40B4-BE49-F238E27FC236}">
                <a16:creationId xmlns:a16="http://schemas.microsoft.com/office/drawing/2014/main" id="{D59F038F-F57A-422D-A505-7A2E419B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S87</a:t>
            </a:r>
          </a:p>
        </p:txBody>
      </p:sp>
      <p:sp>
        <p:nvSpPr>
          <p:cNvPr id="3" name="모델 B는 무엇을 근거로 검토할까?">
            <a:extLst xmlns:a="http://schemas.openxmlformats.org/drawingml/2006/main">
              <a:ext uri="{FF2B5EF4-FFF2-40B4-BE49-F238E27FC236}">
                <a16:creationId xmlns:a16="http://schemas.microsoft.com/office/drawing/2014/main" id="{5E486DEF-8EF2-4929-A0FE-C35F9CF4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 B는 무엇을 근거로 검토할까?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FD961-7754-4DD2-BEB3-D28C2B2F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8222F81A-37AC-4C90-86FF-60B30234F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5183864B-0D32-47A4-9592-B4AE240B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59D767-4E75-43C7-B046-463248CF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F5F4F52B-94BF-4185-B47B-87B7962C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검토 입력">
            <a:extLst xmlns:a="http://schemas.openxmlformats.org/drawingml/2006/main">
              <a:ext uri="{FF2B5EF4-FFF2-40B4-BE49-F238E27FC236}">
                <a16:creationId xmlns:a16="http://schemas.microsoft.com/office/drawing/2014/main" id="{E30002DD-DBCB-4B8E-85B6-062FBDA0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415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입력</a:t>
            </a:r>
          </a:p>
        </p:txBody>
      </p:sp>
      <p:sp>
        <p:nvSpPr>
          <p:cNvPr id="10" name="명세·완료 기준&#10;후보 v1의 변경 내용&#10;검사·측정 기록 또는 미확인">
            <a:extLst xmlns:a="http://schemas.openxmlformats.org/drawingml/2006/main">
              <a:ext uri="{FF2B5EF4-FFF2-40B4-BE49-F238E27FC236}">
                <a16:creationId xmlns:a16="http://schemas.microsoft.com/office/drawing/2014/main" id="{E466E549-14FF-4EAE-A989-6F54CA00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1529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명세·완료 기준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v1의 변경 내용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검사·측정 기록 또는 미확인</a:t>
            </a:r>
          </a:p>
        </p:txBody>
      </p: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FC9094-F782-4FDE-890D-1116BB2A5F6F}"/>
              </a:ext>
            </a:extLst>
          </p:cNvPr>
          <p:cNvCxnSpPr/>
          <p:nvPr/>
        </p:nvCxnSpPr>
        <p:spPr>
          <a:xfrm xmlns:a="http://schemas.openxmlformats.org/drawingml/2006/main">
            <a:off x="4991100" y="38576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2" name="다른 모델 B · 검토">
            <a:extLst xmlns:a="http://schemas.openxmlformats.org/drawingml/2006/main">
              <a:ext uri="{FF2B5EF4-FFF2-40B4-BE49-F238E27FC236}">
                <a16:creationId xmlns:a16="http://schemas.microsoft.com/office/drawing/2014/main" id="{42D50109-5E60-4DE2-BD02-1ECA06E4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모델 B · 검토</a:t>
            </a:r>
          </a:p>
        </p:txBody>
      </p:sp>
      <p:sp>
        <p:nvSpPr>
          <p:cNvPr id="13" name="① 임시 목록이 남아 있다&#10;② 대표 입력의 확인 자료가 없다">
            <a:extLst xmlns:a="http://schemas.openxmlformats.org/drawingml/2006/main">
              <a:ext uri="{FF2B5EF4-FFF2-40B4-BE49-F238E27FC236}">
                <a16:creationId xmlns:a16="http://schemas.microsoft.com/office/drawing/2014/main" id="{91013B91-85F5-436A-87F8-95913D50C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86125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임시 목록이 남아 있다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대표 입력의 확인 자료가 없다</a:t>
            </a:r>
          </a:p>
        </p:txBody>
      </p:sp>
      <p:sp>
        <p:nvSpPr>
          <p:cNvPr id="14" name="위치 · 위반 기준 · 근거를 함께 제시">
            <a:extLst xmlns:a="http://schemas.openxmlformats.org/drawingml/2006/main">
              <a:ext uri="{FF2B5EF4-FFF2-40B4-BE49-F238E27FC236}">
                <a16:creationId xmlns:a16="http://schemas.microsoft.com/office/drawing/2014/main" id="{331FE2BF-4BDC-4AFA-995B-78B0B2A1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5334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위치 · 위반 기준 · 근거를 함께 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3F5444-AB4C-45BE-9ED8-5CB1CD56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7CC03207-35BA-496B-B2C2-9FE6917F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8903296-140F-468D-933C-4AFEF607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227229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41811204-94C2-4FE3-A1B9-6863C4B2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8">
            <a:extLst xmlns:a="http://schemas.openxmlformats.org/drawingml/2006/main">
              <a:ext uri="{FF2B5EF4-FFF2-40B4-BE49-F238E27FC236}">
                <a16:creationId xmlns:a16="http://schemas.microsoft.com/office/drawing/2014/main" id="{58545528-13AD-40E8-A19E-2DC74932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S88</a:t>
            </a:r>
          </a:p>
        </p:txBody>
      </p:sp>
      <p:sp>
        <p:nvSpPr>
          <p:cNvPr id="3" name="지적이 다음 수정으로 이어진다">
            <a:extLst xmlns:a="http://schemas.openxmlformats.org/drawingml/2006/main">
              <a:ext uri="{FF2B5EF4-FFF2-40B4-BE49-F238E27FC236}">
                <a16:creationId xmlns:a16="http://schemas.microsoft.com/office/drawing/2014/main" id="{C3B119C0-B3B5-43C2-BA3D-73CDABED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지적이 다음 수정으로 이어진다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8E2A3-9D3D-446C-8932-524EB197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FD0B7989-5A0D-4083-82AD-746BC425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후보·지적·수정은 설명용 설계 · 실제 실행·측정·PASS/FAIL 결과 없음">
            <a:extLst xmlns:a="http://schemas.openxmlformats.org/drawingml/2006/main">
              <a:ext uri="{FF2B5EF4-FFF2-40B4-BE49-F238E27FC236}">
                <a16:creationId xmlns:a16="http://schemas.microsoft.com/office/drawing/2014/main" id="{19A1FE8B-92D7-4992-88C9-20241C92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후보·지적·수정은 설명용 설계 · 실제 실행·측정·PASS/FAIL 결과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DCEAA-9404-416E-91F3-1043D026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E6168C2E-ED40-4B86-A3BB-CECD7A4D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모델 B의 검토 지적">
            <a:extLst xmlns:a="http://schemas.openxmlformats.org/drawingml/2006/main">
              <a:ext uri="{FF2B5EF4-FFF2-40B4-BE49-F238E27FC236}">
                <a16:creationId xmlns:a16="http://schemas.microsoft.com/office/drawing/2014/main" id="{C30AA639-24FA-4984-AAE9-11896A4F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B의 검토 지적</a:t>
            </a:r>
          </a:p>
        </p:txBody>
      </p:sp>
      <p:sp>
        <p:nvSpPr>
          <p:cNvPr id="10" name="모델 A의 다음 후보 v2">
            <a:extLst xmlns:a="http://schemas.openxmlformats.org/drawingml/2006/main">
              <a:ext uri="{FF2B5EF4-FFF2-40B4-BE49-F238E27FC236}">
                <a16:creationId xmlns:a16="http://schemas.microsoft.com/office/drawing/2014/main" id="{BAEB8689-F3BF-4224-9A92-4FEB09CC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724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A의 다음 후보 v2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90CB9D-5703-4A13-9466-B6C8C76B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B17226-8686-4F60-AF62-9CE7F118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①  임시 목록이 남음">
            <a:extLst xmlns:a="http://schemas.openxmlformats.org/drawingml/2006/main">
              <a:ext uri="{FF2B5EF4-FFF2-40B4-BE49-F238E27FC236}">
                <a16:creationId xmlns:a16="http://schemas.microsoft.com/office/drawing/2014/main" id="{D0A44494-439A-456F-8D16-DF531A23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임시 목록이 남음</a:t>
            </a:r>
          </a:p>
        </p:txBody>
      </p:sp>
      <p:sp>
        <p:nvSpPr>
          <p:cNvPr id="14" name="①  전체 값 복사 제거">
            <a:extLst xmlns:a="http://schemas.openxmlformats.org/drawingml/2006/main">
              <a:ext uri="{FF2B5EF4-FFF2-40B4-BE49-F238E27FC236}">
                <a16:creationId xmlns:a16="http://schemas.microsoft.com/office/drawing/2014/main" id="{0A876A8B-9E0C-4CA5-BDF0-D6478C83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004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①  전체 값 복사 제거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8903C-4636-45E6-A66B-24CF482692B5}"/>
              </a:ext>
            </a:extLst>
          </p:cNvPr>
          <p:cNvCxnSpPr/>
          <p:nvPr/>
        </p:nvCxnSpPr>
        <p:spPr>
          <a:xfrm xmlns:a="http://schemas.openxmlformats.org/drawingml/2006/main">
            <a:off x="5619750" y="38766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800EFE-50FB-426E-8F36-3926B4B5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67754B-5C1A-47D5-B5B3-D96DEA201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472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②  확인 자료가 없음">
            <a:extLst xmlns:a="http://schemas.openxmlformats.org/drawingml/2006/main">
              <a:ext uri="{FF2B5EF4-FFF2-40B4-BE49-F238E27FC236}">
                <a16:creationId xmlns:a16="http://schemas.microsoft.com/office/drawing/2014/main" id="{AC6B926A-8E35-4B58-9E07-20F7C3B5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확인 자료가 없음</a:t>
            </a:r>
          </a:p>
        </p:txBody>
      </p:sp>
      <p:sp>
        <p:nvSpPr>
          <p:cNvPr id="19" name="②  같은 결과 검사 추가">
            <a:extLst xmlns:a="http://schemas.openxmlformats.org/drawingml/2006/main">
              <a:ext uri="{FF2B5EF4-FFF2-40B4-BE49-F238E27FC236}">
                <a16:creationId xmlns:a16="http://schemas.microsoft.com/office/drawing/2014/main" id="{60E8C432-EBDF-465F-A77D-B4D70D70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724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②  같은 결과 검사 추가</a:t>
            </a:r>
          </a:p>
        </p:txBody>
      </p: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8209C5-1521-483C-9F00-55A47689FE85}"/>
              </a:ext>
            </a:extLst>
          </p:cNvPr>
          <p:cNvCxnSpPr/>
          <p:nvPr/>
        </p:nvCxnSpPr>
        <p:spPr>
          <a:xfrm xmlns:a="http://schemas.openxmlformats.org/drawingml/2006/main">
            <a:off x="5619750" y="4981575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C5E6F4C-150F-479C-86E8-815CB834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706261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4 · 같은 목표의 구현·검토 · 교육용 사례">
            <a:extLst xmlns:a="http://schemas.openxmlformats.org/drawingml/2006/main">
              <a:ext uri="{FF2B5EF4-FFF2-40B4-BE49-F238E27FC236}">
                <a16:creationId xmlns:a16="http://schemas.microsoft.com/office/drawing/2014/main" id="{3D178686-FA5F-4E58-8781-599D9FD9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같은 목표의 구현·검토 · 교육용 사례</a:t>
            </a:r>
          </a:p>
        </p:txBody>
      </p:sp>
      <p:sp>
        <p:nvSpPr>
          <p:cNvPr id="2" name="S89">
            <a:extLst xmlns:a="http://schemas.openxmlformats.org/drawingml/2006/main">
              <a:ext uri="{FF2B5EF4-FFF2-40B4-BE49-F238E27FC236}">
                <a16:creationId xmlns:a16="http://schemas.microsoft.com/office/drawing/2014/main" id="{7221CA0A-DBA0-4D11-BB0D-3BBC7874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S89</a:t>
            </a:r>
          </a:p>
        </p:txBody>
      </p:sp>
      <p:sp>
        <p:nvSpPr>
          <p:cNvPr id="3" name="고쳤다면, 같은 기준으로 다시 본다">
            <a:extLst xmlns:a="http://schemas.openxmlformats.org/drawingml/2006/main">
              <a:ext uri="{FF2B5EF4-FFF2-40B4-BE49-F238E27FC236}">
                <a16:creationId xmlns:a16="http://schemas.microsoft.com/office/drawing/2014/main" id="{15A8206D-6F31-4B3E-8132-F6EF0965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고쳤다면, 같은 기준으로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D38E3D-24C6-48AA-A76F-574FAE87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밝기 통계 최적화의 가상 진행 예 · 실제 Trial 또는 실행 캡처 아님">
            <a:extLst xmlns:a="http://schemas.openxmlformats.org/drawingml/2006/main">
              <a:ext uri="{FF2B5EF4-FFF2-40B4-BE49-F238E27FC236}">
                <a16:creationId xmlns:a16="http://schemas.microsoft.com/office/drawing/2014/main" id="{E5FB1AE7-1341-4093-B53B-23D29484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밝기 통계 최적화의 가상 진행 예 · 실제 Trial 또는 실행 캡처 아님</a:t>
            </a:r>
          </a:p>
        </p:txBody>
      </p:sp>
      <p:sp>
        <p:nvSpPr>
          <p:cNvPr id="6" name="재검증·재검토의 운영 설계 · 후보 v2가 성공했다는 실제 결과는 없음">
            <a:extLst xmlns:a="http://schemas.openxmlformats.org/drawingml/2006/main">
              <a:ext uri="{FF2B5EF4-FFF2-40B4-BE49-F238E27FC236}">
                <a16:creationId xmlns:a16="http://schemas.microsoft.com/office/drawing/2014/main" id="{DF98C6E9-6F50-4533-8288-4C609E0E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재검증·재검토의 운영 설계 · 후보 v2가 성공했다는 실제 결과는 없음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EA1D1A-0313-44F0-8E28-0BC74C1D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같은 목표: 출력·동작 유지 / 임시 할당 줄이기 / 실행시간 조건 지키기">
            <a:extLst xmlns:a="http://schemas.openxmlformats.org/drawingml/2006/main">
              <a:ext uri="{FF2B5EF4-FFF2-40B4-BE49-F238E27FC236}">
                <a16:creationId xmlns:a16="http://schemas.microsoft.com/office/drawing/2014/main" id="{01131826-178B-46F8-A693-68D47253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목표: 출력·동작 유지 / 임시 할당 줄이기 / 실행시간 조건 지키기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09ABDC-459F-41B5-B718-A0DA7D23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2971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후보 v2">
            <a:extLst xmlns:a="http://schemas.openxmlformats.org/drawingml/2006/main">
              <a:ext uri="{FF2B5EF4-FFF2-40B4-BE49-F238E27FC236}">
                <a16:creationId xmlns:a16="http://schemas.microsoft.com/office/drawing/2014/main" id="{157877B1-FDD2-4254-A2F1-48A03327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2590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 v2</a:t>
            </a:r>
          </a:p>
        </p:txBody>
      </p:sp>
      <p:sp>
        <p:nvSpPr>
          <p:cNvPr id="11" name="수정한 변경과 기록">
            <a:extLst xmlns:a="http://schemas.openxmlformats.org/drawingml/2006/main">
              <a:ext uri="{FF2B5EF4-FFF2-40B4-BE49-F238E27FC236}">
                <a16:creationId xmlns:a16="http://schemas.microsoft.com/office/drawing/2014/main" id="{937CBD69-DA9A-4E86-8186-FF2CD5262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590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수정한 변경과 기록</a:t>
            </a:r>
          </a:p>
        </p:txBody>
      </p: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032C50-FC2E-41E9-AB37-12D69CAB95E4}"/>
              </a:ext>
            </a:extLst>
          </p:cNvPr>
          <p:cNvCxnSpPr/>
          <p:nvPr/>
        </p:nvCxnSpPr>
        <p:spPr>
          <a:xfrm xmlns:a="http://schemas.openxmlformats.org/drawingml/2006/main">
            <a:off x="375285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36F70E-C29B-4C5A-A24E-FBDB8027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4" name="도구 + 모델 B">
            <a:extLst xmlns:a="http://schemas.openxmlformats.org/drawingml/2006/main">
              <a:ext uri="{FF2B5EF4-FFF2-40B4-BE49-F238E27FC236}">
                <a16:creationId xmlns:a16="http://schemas.microsoft.com/office/drawing/2014/main" id="{8DE1D68D-4E75-4D0D-AB4D-B0216CF1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도구 + 모델 B</a:t>
            </a:r>
          </a:p>
        </p:txBody>
      </p:sp>
      <p:sp>
        <p:nvSpPr>
          <p:cNvPr id="15" name="같은 기준으로 재확인">
            <a:extLst xmlns:a="http://schemas.openxmlformats.org/drawingml/2006/main">
              <a:ext uri="{FF2B5EF4-FFF2-40B4-BE49-F238E27FC236}">
                <a16:creationId xmlns:a16="http://schemas.microsoft.com/office/drawing/2014/main" id="{C9142EE0-44D3-42CF-B98A-6E98FCDD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4805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기준으로 재확인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1673A-003D-452C-B7A2-876DDDC4C9DE}"/>
              </a:ext>
            </a:extLst>
          </p:cNvPr>
          <p:cNvCxnSpPr/>
          <p:nvPr/>
        </p:nvCxnSpPr>
        <p:spPr>
          <a:xfrm xmlns:a="http://schemas.openxmlformats.org/drawingml/2006/main">
            <a:off x="7962900" y="3438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5EB3B90B-6EAA-4367-93E3-67D2BA31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857500"/>
            <a:ext cx="2819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18" name="완료 판단">
            <a:extLst xmlns:a="http://schemas.openxmlformats.org/drawingml/2006/main">
              <a:ext uri="{FF2B5EF4-FFF2-40B4-BE49-F238E27FC236}">
                <a16:creationId xmlns:a16="http://schemas.microsoft.com/office/drawing/2014/main" id="{01941E75-EBC9-45C8-BA68-75AB1129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6232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</a:t>
            </a:r>
          </a:p>
        </p:txBody>
      </p:sp>
      <p:sp>
        <p:nvSpPr>
          <p:cNvPr id="19" name="남은 지적">
            <a:extLst xmlns:a="http://schemas.openxmlformats.org/drawingml/2006/main">
              <a:ext uri="{FF2B5EF4-FFF2-40B4-BE49-F238E27FC236}">
                <a16:creationId xmlns:a16="http://schemas.microsoft.com/office/drawing/2014/main" id="{8C99F689-7298-41A2-88ED-531A5AD7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4815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지적</a:t>
            </a:r>
          </a:p>
        </p:txBody>
      </p:sp>
      <p:sp>
        <p:nvSpPr>
          <p:cNvPr id="20" name="후보 v3로 수정 계속">
            <a:extLst xmlns:a="http://schemas.openxmlformats.org/drawingml/2006/main">
              <a:ext uri="{FF2B5EF4-FFF2-40B4-BE49-F238E27FC236}">
                <a16:creationId xmlns:a16="http://schemas.microsoft.com/office/drawing/2014/main" id="{2AC72D12-3CEF-4179-B260-06F27F98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14875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v3로 수정 계속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406354-1E25-47AF-9016-7CF587F3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91100"/>
            <a:ext cx="6229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8054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423172-1F5A-421B-BD70-3600F07A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0" cy="933450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E0571F-E15D-4050-BC2B-24C03C67B027}"/>
              </a:ext>
            </a:extLst>
          </p:cNvPr>
          <p:cNvCxnSpPr/>
          <p:nvPr/>
        </p:nvCxnSpPr>
        <p:spPr>
          <a:xfrm xmlns:a="http://schemas.openxmlformats.org/drawingml/2006/main">
            <a:off x="2076450" y="4057650"/>
            <a:ext cx="0" cy="9334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4" name="완료 기준을 낮춰서 끝내지 않는다">
            <a:extLst xmlns:a="http://schemas.openxmlformats.org/drawingml/2006/main">
              <a:ext uri="{FF2B5EF4-FFF2-40B4-BE49-F238E27FC236}">
                <a16:creationId xmlns:a16="http://schemas.microsoft.com/office/drawing/2014/main" id="{E980C984-38FD-4D47-87E1-A49DB0D8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742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기준을 낮춰서 끝내지 않는다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A539355-A9B1-4A38-A501-918EE37F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5823512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3F9AE4FA-FE69-4C9E-97F2-4273033D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0">
            <a:extLst xmlns:a="http://schemas.openxmlformats.org/drawingml/2006/main">
              <a:ext uri="{FF2B5EF4-FFF2-40B4-BE49-F238E27FC236}">
                <a16:creationId xmlns:a16="http://schemas.microsoft.com/office/drawing/2014/main" id="{DF042EBD-669B-461E-BB66-73C81BA6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S90</a:t>
            </a:r>
          </a:p>
        </p:txBody>
      </p:sp>
      <p:sp>
        <p:nvSpPr>
          <p:cNvPr id="3" name="같은 목표의 구현·검토 루프">
            <a:extLst xmlns:a="http://schemas.openxmlformats.org/drawingml/2006/main">
              <a:ext uri="{FF2B5EF4-FFF2-40B4-BE49-F238E27FC236}">
                <a16:creationId xmlns:a16="http://schemas.microsoft.com/office/drawing/2014/main" id="{51A12ED2-D7A7-4EA4-8954-5D98EC06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목표의 구현·검토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E93B3-EE49-4E16-BF74-4ACA3973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목표와 근거를 다음 수정에 연결하는 시스템">
            <a:extLst xmlns:a="http://schemas.openxmlformats.org/drawingml/2006/main">
              <a:ext uri="{FF2B5EF4-FFF2-40B4-BE49-F238E27FC236}">
                <a16:creationId xmlns:a16="http://schemas.microsoft.com/office/drawing/2014/main" id="{A2AC6EEC-E230-466E-9E0A-9F7A22AF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목표와 근거를 다음 수정에 연결하는 시스템</a:t>
            </a:r>
          </a:p>
        </p:txBody>
      </p:sp>
      <p:sp>
        <p:nvSpPr>
          <p:cNvPr id="6" name="구체적 제품 기능·자동 실행 이력·모델 학습·완료 성과를 관찰한 결과가 아님">
            <a:extLst xmlns:a="http://schemas.openxmlformats.org/drawingml/2006/main">
              <a:ext uri="{FF2B5EF4-FFF2-40B4-BE49-F238E27FC236}">
                <a16:creationId xmlns:a16="http://schemas.microsoft.com/office/drawing/2014/main" id="{5FACA7D9-F37C-4954-A011-FC3B8943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구체적 제품 기능·자동 실행 이력·모델 학습·완료 성과를 관찰한 결과가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756CDD-A545-4256-A46B-33837991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8" name="목표·완료 기준은 유지하고, 현재 후보와 남은 문제를 갱신한다">
            <a:extLst xmlns:a="http://schemas.openxmlformats.org/drawingml/2006/main">
              <a:ext uri="{FF2B5EF4-FFF2-40B4-BE49-F238E27FC236}">
                <a16:creationId xmlns:a16="http://schemas.microsoft.com/office/drawing/2014/main" id="{60AE5845-2497-4B7D-BB0B-D8729E2A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목표·완료 기준은 유지하고, 현재 후보와 남은 문제를 갱신한다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688F5-A6C9-4A0A-A94C-2A257001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532A0D21-6AF4-471E-8F51-ACAC6732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 / 수정">
            <a:extLst xmlns:a="http://schemas.openxmlformats.org/drawingml/2006/main">
              <a:ext uri="{FF2B5EF4-FFF2-40B4-BE49-F238E27FC236}">
                <a16:creationId xmlns:a16="http://schemas.microsoft.com/office/drawing/2014/main" id="{192B2FD3-4B5D-42BC-AACB-CA9A2F98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/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36D60-D6D4-442C-B03B-91E55117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검증 도구">
            <a:extLst xmlns:a="http://schemas.openxmlformats.org/drawingml/2006/main">
              <a:ext uri="{FF2B5EF4-FFF2-40B4-BE49-F238E27FC236}">
                <a16:creationId xmlns:a16="http://schemas.microsoft.com/office/drawing/2014/main" id="{5AA0FFC9-C85C-40D4-8F05-FA5C380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도구</a:t>
            </a:r>
          </a:p>
        </p:txBody>
      </p:sp>
      <p:sp>
        <p:nvSpPr>
          <p:cNvPr id="14" name="테스트 / 측정">
            <a:extLst xmlns:a="http://schemas.openxmlformats.org/drawingml/2006/main">
              <a:ext uri="{FF2B5EF4-FFF2-40B4-BE49-F238E27FC236}">
                <a16:creationId xmlns:a16="http://schemas.microsoft.com/office/drawing/2014/main" id="{D35A29B3-14CC-40BA-AAE4-A435698B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/ 측정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3055B8-88C7-4282-9412-781C06B0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24150"/>
            <a:ext cx="3048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16" name="모델 B">
            <a:extLst xmlns:a="http://schemas.openxmlformats.org/drawingml/2006/main">
              <a:ext uri="{FF2B5EF4-FFF2-40B4-BE49-F238E27FC236}">
                <a16:creationId xmlns:a16="http://schemas.microsoft.com/office/drawing/2014/main" id="{62C0D7AA-6F9B-40B9-BD01-7D7AA06BF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38450"/>
            <a:ext cx="2667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17" name="변경과 근거 검토">
            <a:extLst xmlns:a="http://schemas.openxmlformats.org/drawingml/2006/main">
              <a:ext uri="{FF2B5EF4-FFF2-40B4-BE49-F238E27FC236}">
                <a16:creationId xmlns:a16="http://schemas.microsoft.com/office/drawing/2014/main" id="{5A2ED066-0486-4B51-85AB-DF4799E0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528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변경과 근거 검토</a:t>
            </a:r>
          </a:p>
        </p:txBody>
      </p: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722832-126B-4C35-9620-EEB4CA29C10D}"/>
              </a:ext>
            </a:extLst>
          </p:cNvPr>
          <p:cNvCxnSpPr/>
          <p:nvPr/>
        </p:nvCxnSpPr>
        <p:spPr>
          <a:xfrm xmlns:a="http://schemas.openxmlformats.org/drawingml/2006/main">
            <a:off x="38100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DC2982-2B9E-419D-AE65-FF4EB0A01463}"/>
              </a:ext>
            </a:extLst>
          </p:cNvPr>
          <p:cNvCxnSpPr/>
          <p:nvPr/>
        </p:nvCxnSpPr>
        <p:spPr>
          <a:xfrm xmlns:a="http://schemas.openxmlformats.org/drawingml/2006/main">
            <a:off x="7772400" y="3343275"/>
            <a:ext cx="609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6986F5-BB06-447B-AD5C-30C33C50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962400"/>
            <a:ext cx="0" cy="466725"/>
          </a:xfrm>
          <a:prstGeom xmlns:a="http://schemas.openxmlformats.org/drawingml/2006/main" prst="line">
            <a:avLst/>
          </a:prstGeom>
          <a:ln xmlns:a="http://schemas.openxmlformats.org/drawingml/2006/main" w="23813">
            <a:solidFill>
              <a:srgbClr val="805400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30A3A2-B61F-418F-ACFA-3EED696C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54864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2" name="근거를 보고 다음 행동 판단">
            <a:extLst xmlns:a="http://schemas.openxmlformats.org/drawingml/2006/main">
              <a:ext uri="{FF2B5EF4-FFF2-40B4-BE49-F238E27FC236}">
                <a16:creationId xmlns:a16="http://schemas.microsoft.com/office/drawing/2014/main" id="{822D9904-6825-41FF-87EF-EF6DFE5E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720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근거를 보고 다음 행동 판단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9500A9-D2FF-4E4D-BD30-30BBE735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572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4" name="남은 문제 + 수정 요청">
            <a:extLst xmlns:a="http://schemas.openxmlformats.org/drawingml/2006/main">
              <a:ext uri="{FF2B5EF4-FFF2-40B4-BE49-F238E27FC236}">
                <a16:creationId xmlns:a16="http://schemas.microsoft.com/office/drawing/2014/main" id="{8EA44110-AF55-4AA5-9F27-F008768E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남은 문제 + 수정 요청</a:t>
            </a:r>
          </a:p>
        </p:txBody>
      </p: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24C146-1A8F-4EDE-BBDD-87CACA887DFB}"/>
              </a:ext>
            </a:extLst>
          </p:cNvPr>
          <p:cNvCxnSpPr/>
          <p:nvPr/>
        </p:nvCxnSpPr>
        <p:spPr>
          <a:xfrm xmlns:a="http://schemas.openxmlformats.org/drawingml/2006/main">
            <a:off x="5257800" y="479107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1D1B2C-3BB5-47B4-9CF6-2A81116C0F1E}"/>
              </a:ext>
            </a:extLst>
          </p:cNvPr>
          <p:cNvCxnSpPr/>
          <p:nvPr/>
        </p:nvCxnSpPr>
        <p:spPr>
          <a:xfrm xmlns:a="http://schemas.openxmlformats.org/drawingml/2006/main">
            <a:off x="2133600" y="39624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805400"/>
            </a:solidFill>
            <a:headEnd type="triangle" w="sm" len="sm"/>
          </a:ln>
        </p:spPr>
      </p:cxnSp>
      <p:sp>
        <p:nvSpPr>
          <p:cNvPr id="27" name="미충족이면, 검토 결과를 같은 목표의 다음 수정으로">
            <a:extLst xmlns:a="http://schemas.openxmlformats.org/drawingml/2006/main">
              <a:ext uri="{FF2B5EF4-FFF2-40B4-BE49-F238E27FC236}">
                <a16:creationId xmlns:a16="http://schemas.microsoft.com/office/drawing/2014/main" id="{6699DB32-4F13-48AB-98AC-D31A419F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미충족이면, 검토 결과를 같은 목표의 다음 수정으로</a:t>
            </a:r>
          </a:p>
        </p:txBody>
      </p:sp>
      <p:sp>
        <p:nvSpPr>
          <p:cNvPr id="2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1D4151A-1970-476A-84FB-33DF943F9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9849225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04D8BEAB-CCAC-4EBD-A466-EAA47F46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1">
            <a:extLst xmlns:a="http://schemas.openxmlformats.org/drawingml/2006/main">
              <a:ext uri="{FF2B5EF4-FFF2-40B4-BE49-F238E27FC236}">
                <a16:creationId xmlns:a16="http://schemas.microsoft.com/office/drawing/2014/main" id="{85F064F8-B133-433E-87CB-FD7C957B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S91</a:t>
            </a:r>
          </a:p>
        </p:txBody>
      </p:sp>
      <p:sp>
        <p:nvSpPr>
          <p:cNvPr id="3" name="언제 계속하고, 언제 끝낼까?">
            <a:extLst xmlns:a="http://schemas.openxmlformats.org/drawingml/2006/main">
              <a:ext uri="{FF2B5EF4-FFF2-40B4-BE49-F238E27FC236}">
                <a16:creationId xmlns:a16="http://schemas.microsoft.com/office/drawing/2014/main" id="{8F8EBDAC-0D3D-4920-9B88-5CBF1025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계속하고, 언제 끝낼까?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B11F7E-03BC-455C-BA97-19DB2307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반복의 종료와 다음 행동을 정하는 기준">
            <a:extLst xmlns:a="http://schemas.openxmlformats.org/drawingml/2006/main">
              <a:ext uri="{FF2B5EF4-FFF2-40B4-BE49-F238E27FC236}">
                <a16:creationId xmlns:a16="http://schemas.microsoft.com/office/drawing/2014/main" id="{C891D18B-5F27-4B62-814E-1B82E57A9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반복의 종료와 다음 행동을 정하는 기준</a:t>
            </a:r>
          </a:p>
        </p:txBody>
      </p:sp>
      <p:sp>
        <p:nvSpPr>
          <p:cNvPr id="6" name="미완료 중단은 목표 달성과 다름 · 반복·시간·비용 한도 수치는 실행 전에 정함">
            <a:extLst xmlns:a="http://schemas.openxmlformats.org/drawingml/2006/main">
              <a:ext uri="{FF2B5EF4-FFF2-40B4-BE49-F238E27FC236}">
                <a16:creationId xmlns:a16="http://schemas.microsoft.com/office/drawing/2014/main" id="{7200BF47-CABD-4F78-8160-821FD4D2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미완료 중단은 목표 달성과 다름 · 반복·시간·비용 한도 수치는 실행 전에 정함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7755C-8C0F-4757-BDBC-1F551413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기준 충족">
            <a:extLst xmlns:a="http://schemas.openxmlformats.org/drawingml/2006/main">
              <a:ext uri="{FF2B5EF4-FFF2-40B4-BE49-F238E27FC236}">
                <a16:creationId xmlns:a16="http://schemas.microsoft.com/office/drawing/2014/main" id="{62DF7DE3-4731-419A-8861-42209D3BA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기준 충족</a:t>
            </a:r>
          </a:p>
        </p:txBody>
      </p:sp>
      <p:sp>
        <p:nvSpPr>
          <p:cNvPr id="9" name="완료">
            <a:extLst xmlns:a="http://schemas.openxmlformats.org/drawingml/2006/main">
              <a:ext uri="{FF2B5EF4-FFF2-40B4-BE49-F238E27FC236}">
                <a16:creationId xmlns:a16="http://schemas.microsoft.com/office/drawing/2014/main" id="{6F52031E-2BB3-4EC0-A973-B3860E9A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10" name="확인 범위와 남은 한계 보고">
            <a:extLst xmlns:a="http://schemas.openxmlformats.org/drawingml/2006/main">
              <a:ext uri="{FF2B5EF4-FFF2-40B4-BE49-F238E27FC236}">
                <a16:creationId xmlns:a16="http://schemas.microsoft.com/office/drawing/2014/main" id="{B46F7053-5DDE-434C-ABCB-BE5A8188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범위와 남은 한계 보고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A12F91-62B0-45C7-BA96-F8373432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미충족 · 수정 가능">
            <a:extLst xmlns:a="http://schemas.openxmlformats.org/drawingml/2006/main">
              <a:ext uri="{FF2B5EF4-FFF2-40B4-BE49-F238E27FC236}">
                <a16:creationId xmlns:a16="http://schemas.microsoft.com/office/drawing/2014/main" id="{7DEAE143-4D87-4F37-8BEB-A129FED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미충족 · 수정 가능</a:t>
            </a:r>
          </a:p>
        </p:txBody>
      </p:sp>
      <p:sp>
        <p:nvSpPr>
          <p:cNvPr id="13" name="다음 수정">
            <a:extLst xmlns:a="http://schemas.openxmlformats.org/drawingml/2006/main">
              <a:ext uri="{FF2B5EF4-FFF2-40B4-BE49-F238E27FC236}">
                <a16:creationId xmlns:a16="http://schemas.microsoft.com/office/drawing/2014/main" id="{8F27560A-3B8C-4348-91E5-B84328ED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수정</a:t>
            </a:r>
          </a:p>
        </p:txBody>
      </p:sp>
      <p:sp>
        <p:nvSpPr>
          <p:cNvPr id="14" name="남은 지적과 근거 전달">
            <a:extLst xmlns:a="http://schemas.openxmlformats.org/drawingml/2006/main">
              <a:ext uri="{FF2B5EF4-FFF2-40B4-BE49-F238E27FC236}">
                <a16:creationId xmlns:a16="http://schemas.microsoft.com/office/drawing/2014/main" id="{60D8EBCD-1961-47E5-8C11-34AB1A2D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남은 지적과 근거 전달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6EA5A-EC1E-40C8-A988-B00E660E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86025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2318"/>
            </a:solidFill>
            <a:prstDash val="solid"/>
          </a:ln>
        </p:spPr>
      </p:sp>
      <p:sp>
        <p:nvSpPr>
          <p:cNvPr id="16" name="막힘 · 한도 도달">
            <a:extLst xmlns:a="http://schemas.openxmlformats.org/drawingml/2006/main">
              <a:ext uri="{FF2B5EF4-FFF2-40B4-BE49-F238E27FC236}">
                <a16:creationId xmlns:a16="http://schemas.microsoft.com/office/drawing/2014/main" id="{3199F086-CDBA-4EBA-A305-3F9F73EC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막힘 · 한도 도달</a:t>
            </a:r>
          </a:p>
        </p:txBody>
      </p:sp>
      <p:sp>
        <p:nvSpPr>
          <p:cNvPr id="17" name="사람에게 확인">
            <a:extLst xmlns:a="http://schemas.openxmlformats.org/drawingml/2006/main">
              <a:ext uri="{FF2B5EF4-FFF2-40B4-BE49-F238E27FC236}">
                <a16:creationId xmlns:a16="http://schemas.microsoft.com/office/drawing/2014/main" id="{4F621E94-2C8C-4BE1-9B6D-4895E761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76625"/>
            <a:ext cx="335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사람에게 확인</a:t>
            </a:r>
          </a:p>
        </p:txBody>
      </p:sp>
      <p:sp>
        <p:nvSpPr>
          <p:cNvPr id="18" name="현재 상태와 미해결 문제 보존">
            <a:extLst xmlns:a="http://schemas.openxmlformats.org/drawingml/2006/main">
              <a:ext uri="{FF2B5EF4-FFF2-40B4-BE49-F238E27FC236}">
                <a16:creationId xmlns:a16="http://schemas.microsoft.com/office/drawing/2014/main" id="{E94045F7-8A0A-461B-8EF1-B82434DB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5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상태와 미해결 문제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E6A2BA-23F9-4CEF-9FB8-BEF665A6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585D795-12E4-4217-BAB0-C83C50DD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검증·개선</a:t>
            </a:r>
          </a:p>
        </p:txBody>
      </p:sp>
      <p:sp>
        <p:nvSpPr>
          <p:cNvPr id="2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4E1D75A-8E18-42EB-86A2-67C19A7D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9105833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564F16FF-1740-4EC1-9507-B32F5048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2">
            <a:extLst xmlns:a="http://schemas.openxmlformats.org/drawingml/2006/main">
              <a:ext uri="{FF2B5EF4-FFF2-40B4-BE49-F238E27FC236}">
                <a16:creationId xmlns:a16="http://schemas.microsoft.com/office/drawing/2014/main" id="{6362FC75-F681-4DC5-9E41-C597C268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S92</a:t>
            </a:r>
          </a:p>
        </p:txBody>
      </p:sp>
      <p:sp>
        <p:nvSpPr>
          <p:cNvPr id="3" name="구현한 모델에게 다시 물으면 충분할까?">
            <a:extLst xmlns:a="http://schemas.openxmlformats.org/drawingml/2006/main">
              <a:ext uri="{FF2B5EF4-FFF2-40B4-BE49-F238E27FC236}">
                <a16:creationId xmlns:a16="http://schemas.microsoft.com/office/drawing/2014/main" id="{6CCE4925-7338-4851-95F6-16B0BD8F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구현한 모델에게 다시 물으면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D2113-C105-4ECF-8B96-0032A90C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elf-Refine (2023) / Huang et al., ICLR 2024 · 서로 다른 실험 조건의 ">
            <a:extLst xmlns:a="http://schemas.openxmlformats.org/drawingml/2006/main">
              <a:ext uri="{FF2B5EF4-FFF2-40B4-BE49-F238E27FC236}">
                <a16:creationId xmlns:a16="http://schemas.microsoft.com/office/drawing/2014/main" id="{115F0981-FB63-4137-9133-68E0F8BF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Self-Refine (2023) / Huang et al., ICLR 2024 · 서로 다른 실험 조건의 연구</a:t>
            </a:r>
          </a:p>
        </p:txBody>
      </p:sp>
      <p:sp>
        <p:nvSpPr>
          <p:cNvPr id="6" name="과거 연구 대상의 결과 · 현재 모든 모델의 자기 검토 능력이나 다중 모델 우월성을 뜻하지 않음">
            <a:extLst xmlns:a="http://schemas.openxmlformats.org/drawingml/2006/main">
              <a:ext uri="{FF2B5EF4-FFF2-40B4-BE49-F238E27FC236}">
                <a16:creationId xmlns:a16="http://schemas.microsoft.com/office/drawing/2014/main" id="{A58DE8A8-2323-40B4-8AB3-88922D13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과거 연구 대상의 결과 · 현재 모든 모델의 자기 검토 능력이나 다중 모델 우월성을 뜻하지 않음</a:t>
            </a:r>
          </a:p>
        </p:txBody>
      </p:sp>
      <p:sp>
        <p:nvSpPr>
          <p:cNvPr id="7" name="같은 모델의 피드백·수정">
            <a:extLst xmlns:a="http://schemas.openxmlformats.org/drawingml/2006/main">
              <a:ext uri="{FF2B5EF4-FFF2-40B4-BE49-F238E27FC236}">
                <a16:creationId xmlns:a16="http://schemas.microsoft.com/office/drawing/2014/main" id="{FC76163E-6359-4783-A5F6-F915515A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모델의 피드백·수정</a:t>
            </a:r>
          </a:p>
        </p:txBody>
      </p:sp>
      <p:sp>
        <p:nvSpPr>
          <p:cNvPr id="8" name="근거 없이 다시 생각하기">
            <a:extLst xmlns:a="http://schemas.openxmlformats.org/drawingml/2006/main">
              <a:ext uri="{FF2B5EF4-FFF2-40B4-BE49-F238E27FC236}">
                <a16:creationId xmlns:a16="http://schemas.microsoft.com/office/drawing/2014/main" id="{1D96F8F0-E5D5-4E4D-8719-67E3BA14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336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근거 없이 다시 생각하기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B73874-DA78-4440-AAD5-3F3DD901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5EB62-F50E-4A92-B687-DF953DC2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1" name="Self-Refine&#10;여러 과제에서 개선 보고">
            <a:extLst xmlns:a="http://schemas.openxmlformats.org/drawingml/2006/main">
              <a:ext uri="{FF2B5EF4-FFF2-40B4-BE49-F238E27FC236}">
                <a16:creationId xmlns:a16="http://schemas.microsoft.com/office/drawing/2014/main" id="{E5A4AB03-CF06-4400-9551-8CCF2801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Self-Refine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여러 과제에서 개선 보고</a:t>
            </a:r>
          </a:p>
        </p:txBody>
      </p:sp>
      <p:sp>
        <p:nvSpPr>
          <p:cNvPr id="12" name="추론 자기 교정 연구&#10;악화되는 경우도 보고">
            <a:extLst xmlns:a="http://schemas.openxmlformats.org/drawingml/2006/main">
              <a:ext uri="{FF2B5EF4-FFF2-40B4-BE49-F238E27FC236}">
                <a16:creationId xmlns:a16="http://schemas.microsoft.com/office/drawing/2014/main" id="{C8F65246-C9DD-4F45-9AD9-053F7ED93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4876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추론 자기 교정 연구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악화되는 경우도 보고</a:t>
            </a:r>
          </a:p>
        </p:txBody>
      </p:sp>
      <p:sp>
        <p:nvSpPr>
          <p:cNvPr id="13" name="검토 방식과 피드백의 근거를 설계해야 한다">
            <a:extLst xmlns:a="http://schemas.openxmlformats.org/drawingml/2006/main">
              <a:ext uri="{FF2B5EF4-FFF2-40B4-BE49-F238E27FC236}">
                <a16:creationId xmlns:a16="http://schemas.microsoft.com/office/drawing/2014/main" id="{D03EFACC-AD79-4327-AE2D-119B3D39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방식과 피드백의 근거를 설계해야 한다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92C05DE-E3FC-4867-84DC-8E173962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1495173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51993B69-EF22-467B-BC3A-610EE20A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3">
            <a:extLst xmlns:a="http://schemas.openxmlformats.org/drawingml/2006/main">
              <a:ext uri="{FF2B5EF4-FFF2-40B4-BE49-F238E27FC236}">
                <a16:creationId xmlns:a16="http://schemas.microsoft.com/office/drawing/2014/main" id="{305085B9-3ADB-4A67-930F-0986214E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S93</a:t>
            </a:r>
          </a:p>
        </p:txBody>
      </p:sp>
      <p:sp>
        <p:nvSpPr>
          <p:cNvPr id="3" name="다른 모델의 관점이 도움이 된 실험">
            <a:extLst xmlns:a="http://schemas.openxmlformats.org/drawingml/2006/main">
              <a:ext uri="{FF2B5EF4-FFF2-40B4-BE49-F238E27FC236}">
                <a16:creationId xmlns:a16="http://schemas.microsoft.com/office/drawing/2014/main" id="{CAA9B5CA-6AF7-4802-B01C-AA0831F2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모델의 관점이 도움이 된 실험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FA9EA-C1F1-4940-A388-75ED09AE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ReConcile · ACL 2024 · Table 7 · StrategyQA의 토론·합의 실험">
            <a:extLst xmlns:a="http://schemas.openxmlformats.org/drawingml/2006/main">
              <a:ext uri="{FF2B5EF4-FFF2-40B4-BE49-F238E27FC236}">
                <a16:creationId xmlns:a16="http://schemas.microsoft.com/office/drawing/2014/main" id="{421C3D97-6DF0-4D1C-A9D4-0D553B66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ReConcile · ACL 2024 · Table 7 · StrategyQA의 토론·합의 실험</a:t>
            </a:r>
          </a:p>
        </p:txBody>
      </p:sp>
      <p:sp>
        <p:nvSpPr>
          <p:cNvPr id="6" name="코드 수정 실험이 아님 · 현재 모델의 일반 성능·비용 개선으로 확대하지 않음">
            <a:extLst xmlns:a="http://schemas.openxmlformats.org/drawingml/2006/main">
              <a:ext uri="{FF2B5EF4-FFF2-40B4-BE49-F238E27FC236}">
                <a16:creationId xmlns:a16="http://schemas.microsoft.com/office/drawing/2014/main" id="{119BFAC1-A6EC-478E-AEB3-99D54793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코드 수정 실험이 아님 · 현재 모델의 일반 성능·비용 개선으로 확대하지 않음</a:t>
            </a:r>
          </a:p>
        </p:txBody>
      </p:sp>
      <p:sp>
        <p:nvSpPr>
          <p:cNvPr id="7" name="정확도 (%) · 같은 토론 방식에서 모델 구성을 비교">
            <a:extLst xmlns:a="http://schemas.openxmlformats.org/drawingml/2006/main">
              <a:ext uri="{FF2B5EF4-FFF2-40B4-BE49-F238E27FC236}">
                <a16:creationId xmlns:a16="http://schemas.microsoft.com/office/drawing/2014/main" id="{82128AE2-32B7-49F6-B1EE-2730BF3C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정확도 (%) · 같은 토론 방식에서 모델 구성을 비교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0981462A-9E93-48E4-9847-933D249007D2}"/>
              </a:ext>
            </a:extLst>
          </p:cNvPr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7429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9bc28ec6c1489f"/>
          </a:graphicData>
        </a:graphic>
      </p:graphicFrame>
      <p:sp>
        <p:nvSpPr>
          <p:cNvPr id="9" name="+6.8%p">
            <a:extLst xmlns:a="http://schemas.openxmlformats.org/drawingml/2006/main">
              <a:ext uri="{FF2B5EF4-FFF2-40B4-BE49-F238E27FC236}">
                <a16:creationId xmlns:a16="http://schemas.microsoft.com/office/drawing/2014/main" id="{05FA0D16-84B6-4C40-85FF-61ECECCD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30099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+6.8%p</a:t>
            </a:r>
          </a:p>
        </p:txBody>
      </p:sp>
      <p:sp>
        <p:nvSpPr>
          <p:cNvPr id="10" name="연구된 조합에서의 차이">
            <a:extLst xmlns:a="http://schemas.openxmlformats.org/drawingml/2006/main">
              <a:ext uri="{FF2B5EF4-FFF2-40B4-BE49-F238E27FC236}">
                <a16:creationId xmlns:a16="http://schemas.microsoft.com/office/drawing/2014/main" id="{E685E8C2-1797-4FE7-B60F-D270A5BF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86200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연구된 조합에서의 차이</a:t>
            </a:r>
          </a:p>
        </p:txBody>
      </p:sp>
      <p:sp>
        <p:nvSpPr>
          <p:cNvPr id="11" name="“다른 모델이면 항상 좋다”는 결론은 아니다">
            <a:extLst xmlns:a="http://schemas.openxmlformats.org/drawingml/2006/main">
              <a:ext uri="{FF2B5EF4-FFF2-40B4-BE49-F238E27FC236}">
                <a16:creationId xmlns:a16="http://schemas.microsoft.com/office/drawing/2014/main" id="{A3983536-F835-4BAF-B010-98AA00CD8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“다른 모델이면 항상 좋다”는 결론은 아니다</a:t>
            </a:r>
          </a:p>
        </p:txBody>
      </p:sp>
      <p:sp>
        <p:nvSpPr>
          <p:cNvPr id="1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61E4CE7-2571-4AF8-ADC1-7490943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153135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연구 근거">
            <a:extLst xmlns:a="http://schemas.openxmlformats.org/drawingml/2006/main">
              <a:ext uri="{FF2B5EF4-FFF2-40B4-BE49-F238E27FC236}">
                <a16:creationId xmlns:a16="http://schemas.microsoft.com/office/drawing/2014/main" id="{E4E1F018-5AFC-4713-BE27-13E52108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연구 근거</a:t>
            </a:r>
          </a:p>
        </p:txBody>
      </p:sp>
      <p:sp>
        <p:nvSpPr>
          <p:cNvPr id="2" name="S94">
            <a:extLst xmlns:a="http://schemas.openxmlformats.org/drawingml/2006/main">
              <a:ext uri="{FF2B5EF4-FFF2-40B4-BE49-F238E27FC236}">
                <a16:creationId xmlns:a16="http://schemas.microsoft.com/office/drawing/2014/main" id="{223EBA71-65AE-4D28-B366-166042D3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S94</a:t>
            </a:r>
          </a:p>
        </p:txBody>
      </p:sp>
      <p:sp>
        <p:nvSpPr>
          <p:cNvPr id="3" name="잘 만드는 능력과 잘 검토하는 능력">
            <a:extLst xmlns:a="http://schemas.openxmlformats.org/drawingml/2006/main">
              <a:ext uri="{FF2B5EF4-FFF2-40B4-BE49-F238E27FC236}">
                <a16:creationId xmlns:a16="http://schemas.microsoft.com/office/drawing/2014/main" id="{19958F0C-B24F-40E7-A2E5-362DE6BA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잘 만드는 능력과 잘 검토하는 능력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1308B-5438-46BC-9B97-00E49454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riticBench · Findings of ACL 2024 · 17개 모델 / §4.2.5 교차 모델 검">
            <a:extLst xmlns:a="http://schemas.openxmlformats.org/drawingml/2006/main">
              <a:ext uri="{FF2B5EF4-FFF2-40B4-BE49-F238E27FC236}">
                <a16:creationId xmlns:a16="http://schemas.microsoft.com/office/drawing/2014/main" id="{ABA6DCE8-54C3-4444-A6EC-EE79BB47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CriticBench · Findings of ACL 2024 · 17개 모델 / §4.2.5 교차 모델 검토</a:t>
            </a:r>
          </a:p>
        </p:txBody>
      </p:sp>
      <p:sp>
        <p:nvSpPr>
          <p:cNvPr id="6" name="일부 모델·과제에서의 결과 · 이 교육의 코드 루프 완료율·비용 개선을 측정한 연구가 아님">
            <a:extLst xmlns:a="http://schemas.openxmlformats.org/drawingml/2006/main">
              <a:ext uri="{FF2B5EF4-FFF2-40B4-BE49-F238E27FC236}">
                <a16:creationId xmlns:a16="http://schemas.microsoft.com/office/drawing/2014/main" id="{828779AB-CDD0-4B7A-8D71-68F975EF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일부 모델·과제에서의 결과 · 이 교육의 코드 루프 완료율·비용 개선을 측정한 연구가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E6DB7-8A5E-4BD0-A006-72359E4F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생성">
            <a:extLst xmlns:a="http://schemas.openxmlformats.org/drawingml/2006/main">
              <a:ext uri="{FF2B5EF4-FFF2-40B4-BE49-F238E27FC236}">
                <a16:creationId xmlns:a16="http://schemas.microsoft.com/office/drawing/2014/main" id="{6438E9AF-7FA5-4C81-80F7-E031AC02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9" name="답을 만든다">
            <a:extLst xmlns:a="http://schemas.openxmlformats.org/drawingml/2006/main">
              <a:ext uri="{FF2B5EF4-FFF2-40B4-BE49-F238E27FC236}">
                <a16:creationId xmlns:a16="http://schemas.microsoft.com/office/drawing/2014/main" id="{06CC09EA-B4B4-404E-90B2-4F5E2D88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만든다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C8591-4673-4F56-B3C5-0E230592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검토">
            <a:extLst xmlns:a="http://schemas.openxmlformats.org/drawingml/2006/main">
              <a:ext uri="{FF2B5EF4-FFF2-40B4-BE49-F238E27FC236}">
                <a16:creationId xmlns:a16="http://schemas.microsoft.com/office/drawing/2014/main" id="{2CCCD197-35FA-43F7-A30C-E061D36F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sp>
        <p:nvSpPr>
          <p:cNvPr id="12" name="문제를 찾는다">
            <a:extLst xmlns:a="http://schemas.openxmlformats.org/drawingml/2006/main">
              <a:ext uri="{FF2B5EF4-FFF2-40B4-BE49-F238E27FC236}">
                <a16:creationId xmlns:a16="http://schemas.microsoft.com/office/drawing/2014/main" id="{8C45075D-D896-40FA-BB9D-0EA8F7A13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문제를 찾는다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D7EB6-1271-42FD-B58E-5FFCBA64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수정">
            <a:extLst xmlns:a="http://schemas.openxmlformats.org/drawingml/2006/main">
              <a:ext uri="{FF2B5EF4-FFF2-40B4-BE49-F238E27FC236}">
                <a16:creationId xmlns:a16="http://schemas.microsoft.com/office/drawing/2014/main" id="{2548C6F0-C4F0-4420-8366-AF035246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7652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5" name="답을 고친다">
            <a:extLst xmlns:a="http://schemas.openxmlformats.org/drawingml/2006/main">
              <a:ext uri="{FF2B5EF4-FFF2-40B4-BE49-F238E27FC236}">
                <a16:creationId xmlns:a16="http://schemas.microsoft.com/office/drawing/2014/main" id="{BADD466E-F3A3-485C-8DD5-92D58A8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335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고친다</a:t>
            </a:r>
          </a:p>
        </p:txBody>
      </p:sp>
      <p:sp>
        <p:nvSpPr>
          <p:cNvPr id="16" name="모델의 세 능력이 항상 일치하지 않았다">
            <a:extLst xmlns:a="http://schemas.openxmlformats.org/drawingml/2006/main">
              <a:ext uri="{FF2B5EF4-FFF2-40B4-BE49-F238E27FC236}">
                <a16:creationId xmlns:a16="http://schemas.microsoft.com/office/drawing/2014/main" id="{9FF90008-16C3-491C-B3D4-81D744C7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모델의 세 능력이 항상 일치하지 않았다</a:t>
            </a:r>
          </a:p>
        </p:txBody>
      </p:sp>
      <p:sp>
        <p:nvSpPr>
          <p:cNvPr id="17" name="일부 다른 모델의 검토가, 자기 검토보다 나은 경우를 보고">
            <a:extLst xmlns:a="http://schemas.openxmlformats.org/drawingml/2006/main">
              <a:ext uri="{FF2B5EF4-FFF2-40B4-BE49-F238E27FC236}">
                <a16:creationId xmlns:a16="http://schemas.microsoft.com/office/drawing/2014/main" id="{8B52EBD0-20C6-4E31-9865-2D7068E6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일부 다른 모델의 검토가, 자기 검토보다 나은 경우를 보고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D3DE31A-60CA-48C0-852D-6722332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4923864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1AF2229-CE28-450E-9E3C-A872F4D2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5">
            <a:extLst xmlns:a="http://schemas.openxmlformats.org/drawingml/2006/main">
              <a:ext uri="{FF2B5EF4-FFF2-40B4-BE49-F238E27FC236}">
                <a16:creationId xmlns:a16="http://schemas.microsoft.com/office/drawing/2014/main" id="{CD3A3902-EE8D-46BC-80D9-C7A5A82B9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S95</a:t>
            </a:r>
          </a:p>
        </p:txBody>
      </p:sp>
      <p:sp>
        <p:nvSpPr>
          <p:cNvPr id="3" name="구현과 검토에 모델을 어떻게 나눌까?">
            <a:extLst xmlns:a="http://schemas.openxmlformats.org/drawingml/2006/main">
              <a:ext uri="{FF2B5EF4-FFF2-40B4-BE49-F238E27FC236}">
                <a16:creationId xmlns:a16="http://schemas.microsoft.com/office/drawing/2014/main" id="{5A0B5D83-959F-49B2-8F05-615EF37A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구현과 검토에 모델을 어떻게 나눌까?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16C3C-A389-4244-8DC7-0E587AE5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연구를 참고한 개발 작업의 역할 배치 제안 · 현재 제품의 자동 배치 기능 설명 아님">
            <a:extLst xmlns:a="http://schemas.openxmlformats.org/drawingml/2006/main">
              <a:ext uri="{FF2B5EF4-FFF2-40B4-BE49-F238E27FC236}">
                <a16:creationId xmlns:a16="http://schemas.microsoft.com/office/drawing/2014/main" id="{C099ECDB-E420-4397-A141-CF4E05EA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연구를 참고한 개발 작업의 역할 배치 제안 · 현재 제품의 자동 배치 기능 설명 아님</a:t>
            </a:r>
          </a:p>
        </p:txBody>
      </p:sp>
      <p:sp>
        <p:nvSpPr>
          <p:cNvPr id="6" name="같은 모델의 역할 분리와 서로 다른 모델 조합을 구분 · 실제 조합의 효과는 별도 평가">
            <a:extLst xmlns:a="http://schemas.openxmlformats.org/drawingml/2006/main">
              <a:ext uri="{FF2B5EF4-FFF2-40B4-BE49-F238E27FC236}">
                <a16:creationId xmlns:a16="http://schemas.microsoft.com/office/drawing/2014/main" id="{192A5E6A-E777-4225-AE7D-0F6608B0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모델의 역할 분리와 서로 다른 모델 조합을 구분 · 실제 조합의 효과는 별도 평가</a:t>
            </a:r>
          </a:p>
        </p:txBody>
      </p:sp>
      <p:sp>
        <p:nvSpPr>
          <p:cNvPr id="7" name="역할만 나누는 구성">
            <a:extLst xmlns:a="http://schemas.openxmlformats.org/drawingml/2006/main">
              <a:ext uri="{FF2B5EF4-FFF2-40B4-BE49-F238E27FC236}">
                <a16:creationId xmlns:a16="http://schemas.microsoft.com/office/drawing/2014/main" id="{3F458E15-1129-4298-86DD-0FBB59D4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역할만 나누는 구성</a:t>
            </a:r>
          </a:p>
        </p:txBody>
      </p:sp>
      <p:sp>
        <p:nvSpPr>
          <p:cNvPr id="8" name="다른 모델로 나누는 구성">
            <a:extLst xmlns:a="http://schemas.openxmlformats.org/drawingml/2006/main">
              <a:ext uri="{FF2B5EF4-FFF2-40B4-BE49-F238E27FC236}">
                <a16:creationId xmlns:a16="http://schemas.microsoft.com/office/drawing/2014/main" id="{5C117BE1-1DF6-4CAE-9FC8-5F57768A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다른 모델로 나누는 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C3A16-82DF-4974-9D86-06418958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0" name="모델 A">
            <a:extLst xmlns:a="http://schemas.openxmlformats.org/drawingml/2006/main">
              <a:ext uri="{FF2B5EF4-FFF2-40B4-BE49-F238E27FC236}">
                <a16:creationId xmlns:a16="http://schemas.microsoft.com/office/drawing/2014/main" id="{B100F792-BEA5-4FAF-8E7C-3C9CBE84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1" name="구현">
            <a:extLst xmlns:a="http://schemas.openxmlformats.org/drawingml/2006/main">
              <a:ext uri="{FF2B5EF4-FFF2-40B4-BE49-F238E27FC236}">
                <a16:creationId xmlns:a16="http://schemas.microsoft.com/office/drawing/2014/main" id="{3FF9A067-8632-45FE-96D7-A3091393D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E1B96-A8AE-487D-BC62-8624F4B6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3" name="모델 A">
            <a:extLst xmlns:a="http://schemas.openxmlformats.org/drawingml/2006/main">
              <a:ext uri="{FF2B5EF4-FFF2-40B4-BE49-F238E27FC236}">
                <a16:creationId xmlns:a16="http://schemas.microsoft.com/office/drawing/2014/main" id="{EE445C25-F8D0-48CA-8185-93BA8B1F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4" name="검토">
            <a:extLst xmlns:a="http://schemas.openxmlformats.org/drawingml/2006/main">
              <a:ext uri="{FF2B5EF4-FFF2-40B4-BE49-F238E27FC236}">
                <a16:creationId xmlns:a16="http://schemas.microsoft.com/office/drawing/2014/main" id="{83307FB2-4638-4031-B8C4-932862D8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14100-B615-49FA-8B3E-BA2C38053941}"/>
              </a:ext>
            </a:extLst>
          </p:cNvPr>
          <p:cNvCxnSpPr/>
          <p:nvPr/>
        </p:nvCxnSpPr>
        <p:spPr>
          <a:xfrm xmlns:a="http://schemas.openxmlformats.org/drawingml/2006/main">
            <a:off x="2914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7BE1BA-C476-4656-93F1-705C198A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7" name="모델 A">
            <a:extLst xmlns:a="http://schemas.openxmlformats.org/drawingml/2006/main">
              <a:ext uri="{FF2B5EF4-FFF2-40B4-BE49-F238E27FC236}">
                <a16:creationId xmlns:a16="http://schemas.microsoft.com/office/drawing/2014/main" id="{482251DD-CF45-4B19-86B2-D275E6E5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A</a:t>
            </a:r>
          </a:p>
        </p:txBody>
      </p:sp>
      <p:sp>
        <p:nvSpPr>
          <p:cNvPr id="18" name="구현">
            <a:extLst xmlns:a="http://schemas.openxmlformats.org/drawingml/2006/main">
              <a:ext uri="{FF2B5EF4-FFF2-40B4-BE49-F238E27FC236}">
                <a16:creationId xmlns:a16="http://schemas.microsoft.com/office/drawing/2014/main" id="{FB3E4985-B954-48A8-BF18-011FC4D8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F50BED-064C-468E-AA0A-F509E92CA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2190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20" name="모델 B">
            <a:extLst xmlns:a="http://schemas.openxmlformats.org/drawingml/2006/main">
              <a:ext uri="{FF2B5EF4-FFF2-40B4-BE49-F238E27FC236}">
                <a16:creationId xmlns:a16="http://schemas.microsoft.com/office/drawing/2014/main" id="{2DD4513D-29CB-41CA-AB33-5620C114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004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모델 B</a:t>
            </a:r>
          </a:p>
        </p:txBody>
      </p:sp>
      <p:sp>
        <p:nvSpPr>
          <p:cNvPr id="21" name="검토">
            <a:extLst xmlns:a="http://schemas.openxmlformats.org/drawingml/2006/main">
              <a:ext uri="{FF2B5EF4-FFF2-40B4-BE49-F238E27FC236}">
                <a16:creationId xmlns:a16="http://schemas.microsoft.com/office/drawing/2014/main" id="{CD0550B2-3469-4DEC-8EE5-2EF06276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</a:t>
            </a:r>
          </a:p>
        </p:txBody>
      </p: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8BF3A5-9B49-46C2-AFEA-B34574D40CA3}"/>
              </a:ext>
            </a:extLst>
          </p:cNvPr>
          <p:cNvCxnSpPr/>
          <p:nvPr/>
        </p:nvCxnSpPr>
        <p:spPr>
          <a:xfrm xmlns:a="http://schemas.openxmlformats.org/drawingml/2006/main">
            <a:off x="9010650" y="37052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23" name="이번 작업의 결과·오류 탐지·비용을 보고 조합을 평가한다">
            <a:extLst xmlns:a="http://schemas.openxmlformats.org/drawingml/2006/main">
              <a:ext uri="{FF2B5EF4-FFF2-40B4-BE49-F238E27FC236}">
                <a16:creationId xmlns:a16="http://schemas.microsoft.com/office/drawing/2014/main" id="{8FB64233-99FC-4DF4-BAFB-403D259E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작업의 결과·오류 탐지·비용을 보고 조합을 평가한다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60AA233-9087-4A30-8AB7-B5660A9C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827281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5972E30C-9DAD-4750-ADAD-FEACDEF0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6">
            <a:extLst xmlns:a="http://schemas.openxmlformats.org/drawingml/2006/main">
              <a:ext uri="{FF2B5EF4-FFF2-40B4-BE49-F238E27FC236}">
                <a16:creationId xmlns:a16="http://schemas.microsoft.com/office/drawing/2014/main" id="{F96A17F8-5DD9-414B-B662-282DDEFB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S96</a:t>
            </a:r>
          </a:p>
        </p:txBody>
      </p:sp>
      <p:sp>
        <p:nvSpPr>
          <p:cNvPr id="3" name="검토 모델의 말도 확인해야 한다">
            <a:extLst xmlns:a="http://schemas.openxmlformats.org/drawingml/2006/main">
              <a:ext uri="{FF2B5EF4-FFF2-40B4-BE49-F238E27FC236}">
                <a16:creationId xmlns:a16="http://schemas.microsoft.com/office/drawing/2014/main" id="{B38FB2D4-276B-4ADB-891B-EEEF601F4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 모델의 말도 확인해야 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0FEB9-9A70-46A7-AA5F-201320BE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검토 지적의 수용·기각과 추가 확인">
            <a:extLst xmlns:a="http://schemas.openxmlformats.org/drawingml/2006/main">
              <a:ext uri="{FF2B5EF4-FFF2-40B4-BE49-F238E27FC236}">
                <a16:creationId xmlns:a16="http://schemas.microsoft.com/office/drawing/2014/main" id="{FA5F2758-62ED-4912-B10D-C45A65FA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검토 지적의 수용·기각과 추가 확인</a:t>
            </a:r>
          </a:p>
        </p:txBody>
      </p:sp>
      <p:sp>
        <p:nvSpPr>
          <p:cNvPr id="6" name="모델 동의·다수결만으로 완료하지 않음 · 검토 모델도 틀릴 수 있음">
            <a:extLst xmlns:a="http://schemas.openxmlformats.org/drawingml/2006/main">
              <a:ext uri="{FF2B5EF4-FFF2-40B4-BE49-F238E27FC236}">
                <a16:creationId xmlns:a16="http://schemas.microsoft.com/office/drawing/2014/main" id="{2D31B9E6-921B-4AC6-B18E-D514E291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 동의·다수결만으로 완료하지 않음 · 검토 모델도 틀릴 수 있음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F6CCD-9381-4ACC-8732-EC4FAB03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95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8" name="모델 B의 지적">
            <a:extLst xmlns:a="http://schemas.openxmlformats.org/drawingml/2006/main">
              <a:ext uri="{FF2B5EF4-FFF2-40B4-BE49-F238E27FC236}">
                <a16:creationId xmlns:a16="http://schemas.microsoft.com/office/drawing/2014/main" id="{5E2D6690-9E93-4C6A-ABF7-F622369E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2514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 B의 지적</a:t>
            </a:r>
          </a:p>
        </p:txBody>
      </p:sp>
      <p:sp>
        <p:nvSpPr>
          <p:cNvPr id="9" name="위치 · 기준 · 근거">
            <a:extLst xmlns:a="http://schemas.openxmlformats.org/drawingml/2006/main">
              <a:ext uri="{FF2B5EF4-FFF2-40B4-BE49-F238E27FC236}">
                <a16:creationId xmlns:a16="http://schemas.microsoft.com/office/drawing/2014/main" id="{6DE5192E-F278-45ED-A812-6A6B1FAC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기준 · 근거</a:t>
            </a:r>
          </a:p>
        </p:txBody>
      </p: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14260-1841-4AC6-82C8-19A24240CA64}"/>
              </a:ext>
            </a:extLst>
          </p:cNvPr>
          <p:cNvCxnSpPr/>
          <p:nvPr/>
        </p:nvCxnSpPr>
        <p:spPr>
          <a:xfrm xmlns:a="http://schemas.openxmlformats.org/drawingml/2006/main">
            <a:off x="3695700" y="34956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665CF0-A951-4886-98DD-68B5B9EB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33528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12" name="명세·검사와 대조">
            <a:extLst xmlns:a="http://schemas.openxmlformats.org/drawingml/2006/main">
              <a:ext uri="{FF2B5EF4-FFF2-40B4-BE49-F238E27FC236}">
                <a16:creationId xmlns:a16="http://schemas.microsoft.com/office/drawing/2014/main" id="{EB11D476-D15B-45E2-9AB5-C38C03A2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971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명세·검사와 대조</a:t>
            </a:r>
          </a:p>
        </p:txBody>
      </p:sp>
      <p:sp>
        <p:nvSpPr>
          <p:cNvPr id="13" name="수정 필요성이 맞는가?">
            <a:extLst xmlns:a="http://schemas.openxmlformats.org/drawingml/2006/main">
              <a:ext uri="{FF2B5EF4-FFF2-40B4-BE49-F238E27FC236}">
                <a16:creationId xmlns:a16="http://schemas.microsoft.com/office/drawing/2014/main" id="{5F2C3995-8A36-4444-B2D0-58D194CF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필요성이 맞는가?</a:t>
            </a:r>
          </a:p>
        </p:txBody>
      </p: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3A5A35-0AC2-40AD-8BE1-4D13E85F9209}"/>
              </a:ext>
            </a:extLst>
          </p:cNvPr>
          <p:cNvCxnSpPr/>
          <p:nvPr/>
        </p:nvCxnSpPr>
        <p:spPr>
          <a:xfrm xmlns:a="http://schemas.openxmlformats.org/drawingml/2006/main">
            <a:off x="7962900" y="34956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5" name="근거가 맞으면 수정">
            <a:extLst xmlns:a="http://schemas.openxmlformats.org/drawingml/2006/main">
              <a:ext uri="{FF2B5EF4-FFF2-40B4-BE49-F238E27FC236}">
                <a16:creationId xmlns:a16="http://schemas.microsoft.com/office/drawing/2014/main" id="{A979DEF4-CBB3-41C1-A49F-D01E890D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765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근거가 맞으면 수정</a:t>
            </a:r>
          </a:p>
        </p:txBody>
      </p:sp>
      <p:sp>
        <p:nvSpPr>
          <p:cNvPr id="16" name="맞지 않으면 기각">
            <a:extLst xmlns:a="http://schemas.openxmlformats.org/drawingml/2006/main">
              <a:ext uri="{FF2B5EF4-FFF2-40B4-BE49-F238E27FC236}">
                <a16:creationId xmlns:a16="http://schemas.microsoft.com/office/drawing/2014/main" id="{68ED4032-0374-4B3A-AA72-BFB36D1D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0997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맞지 않으면 기각</a:t>
            </a:r>
          </a:p>
        </p:txBody>
      </p:sp>
      <p:sp>
        <p:nvSpPr>
          <p:cNvPr id="17" name="모호하면 사람 확인">
            <a:extLst xmlns:a="http://schemas.openxmlformats.org/drawingml/2006/main">
              <a:ext uri="{FF2B5EF4-FFF2-40B4-BE49-F238E27FC236}">
                <a16:creationId xmlns:a16="http://schemas.microsoft.com/office/drawing/2014/main" id="{D50790E7-F8AA-4063-86C9-C54CE1E8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819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모호하면 사람 확인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EE90DD1-FE09-4479-A99A-56D62142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8733352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290FFCDB-5FFF-4D36-B74E-4706B368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7">
            <a:extLst xmlns:a="http://schemas.openxmlformats.org/drawingml/2006/main">
              <a:ext uri="{FF2B5EF4-FFF2-40B4-BE49-F238E27FC236}">
                <a16:creationId xmlns:a16="http://schemas.microsoft.com/office/drawing/2014/main" id="{7A7E60CB-A56A-4E9B-9D0E-35D0C11D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S97</a:t>
            </a:r>
          </a:p>
        </p:txBody>
      </p:sp>
      <p:sp>
        <p:nvSpPr>
          <p:cNvPr id="3" name="반복하려면 무엇을 이어받아야 할까?">
            <a:extLst xmlns:a="http://schemas.openxmlformats.org/drawingml/2006/main">
              <a:ext uri="{FF2B5EF4-FFF2-40B4-BE49-F238E27FC236}">
                <a16:creationId xmlns:a16="http://schemas.microsoft.com/office/drawing/2014/main" id="{420E8542-9CF2-4A2E-9E0F-5EAF935D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반복하려면 무엇을 이어받아야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FBBB2-69F2-42DA-995A-11036253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EACHING_MODEL · 같은 목표의 다음 시도를 위한 최소 기록">
            <a:extLst xmlns:a="http://schemas.openxmlformats.org/drawingml/2006/main">
              <a:ext uri="{FF2B5EF4-FFF2-40B4-BE49-F238E27FC236}">
                <a16:creationId xmlns:a16="http://schemas.microsoft.com/office/drawing/2014/main" id="{01FFB501-372B-4F08-97C5-1443552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TEACHING_MODEL · 같은 목표의 다음 시도를 위한 최소 기록</a:t>
            </a:r>
          </a:p>
        </p:txBody>
      </p:sp>
      <p:sp>
        <p:nvSpPr>
          <p:cNvPr id="6" name="새 Memory·프레임워크가 필수인 것은 아님 · 한도와 중단 후 재개는 별도 운영 기준">
            <a:extLst xmlns:a="http://schemas.openxmlformats.org/drawingml/2006/main">
              <a:ext uri="{FF2B5EF4-FFF2-40B4-BE49-F238E27FC236}">
                <a16:creationId xmlns:a16="http://schemas.microsoft.com/office/drawing/2014/main" id="{C69D75DB-AEEE-456D-B76E-5A5B3FD2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Memory·프레임워크가 필수인 것은 아님 · 한도와 중단 후 재개는 별도 운영 기준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18E52-86EF-45D7-BC61-9423BFCE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고정할 것">
            <a:extLst xmlns:a="http://schemas.openxmlformats.org/drawingml/2006/main">
              <a:ext uri="{FF2B5EF4-FFF2-40B4-BE49-F238E27FC236}">
                <a16:creationId xmlns:a16="http://schemas.microsoft.com/office/drawing/2014/main" id="{DB56622A-4644-49E3-A7D0-2B4716E5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고정할 것</a:t>
            </a:r>
          </a:p>
        </p:txBody>
      </p:sp>
      <p:sp>
        <p:nvSpPr>
          <p:cNvPr id="9" name="목표 · 완료 기준">
            <a:extLst xmlns:a="http://schemas.openxmlformats.org/drawingml/2006/main">
              <a:ext uri="{FF2B5EF4-FFF2-40B4-BE49-F238E27FC236}">
                <a16:creationId xmlns:a16="http://schemas.microsoft.com/office/drawing/2014/main" id="{FF31AE82-BDFA-4E1D-8A63-017D42D0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14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· 완료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1889F7-805C-42E8-BDBD-EE894B6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갱신할 것">
            <a:extLst xmlns:a="http://schemas.openxmlformats.org/drawingml/2006/main">
              <a:ext uri="{FF2B5EF4-FFF2-40B4-BE49-F238E27FC236}">
                <a16:creationId xmlns:a16="http://schemas.microsoft.com/office/drawing/2014/main" id="{ED1D8CE9-0864-4FFF-9369-E8BDEF54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것</a:t>
            </a:r>
          </a:p>
        </p:txBody>
      </p:sp>
      <p:sp>
        <p:nvSpPr>
          <p:cNvPr id="12" name="후보 · 검토 지적 · 검사 기록">
            <a:extLst xmlns:a="http://schemas.openxmlformats.org/drawingml/2006/main">
              <a:ext uri="{FF2B5EF4-FFF2-40B4-BE49-F238E27FC236}">
                <a16:creationId xmlns:a16="http://schemas.microsoft.com/office/drawing/2014/main" id="{4430793F-B4B4-4D2A-B01D-BACFE5D0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671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후보 · 검토 지적 · 검사 기록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50AF5F-9781-4606-8713-69258F22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784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제어할 것">
            <a:extLst xmlns:a="http://schemas.openxmlformats.org/drawingml/2006/main">
              <a:ext uri="{FF2B5EF4-FFF2-40B4-BE49-F238E27FC236}">
                <a16:creationId xmlns:a16="http://schemas.microsoft.com/office/drawing/2014/main" id="{F015B33C-2DCF-48DC-BF31-27588748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2343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제어할 것</a:t>
            </a:r>
          </a:p>
        </p:txBody>
      </p:sp>
      <p:sp>
        <p:nvSpPr>
          <p:cNvPr id="15" name="남은 문제 · 반복·시간·비용 한도">
            <a:extLst xmlns:a="http://schemas.openxmlformats.org/drawingml/2006/main">
              <a:ext uri="{FF2B5EF4-FFF2-40B4-BE49-F238E27FC236}">
                <a16:creationId xmlns:a16="http://schemas.microsoft.com/office/drawing/2014/main" id="{A4F1DFCF-23CD-4DFC-8A28-40882598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529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문제 · 반복·시간·비용 한도</a:t>
            </a:r>
          </a:p>
        </p:txBody>
      </p: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E964C2-8F58-434F-B1DD-CEED4B128494}"/>
              </a:ext>
            </a:extLst>
          </p:cNvPr>
          <p:cNvCxnSpPr/>
          <p:nvPr/>
        </p:nvCxnSpPr>
        <p:spPr>
          <a:xfrm xmlns:a="http://schemas.openxmlformats.org/drawingml/2006/main">
            <a:off x="8648700" y="3762375"/>
            <a:ext cx="819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B6172"/>
            </a:solidFill>
            <a:tailEnd type="triangle" w="sm" len="sm"/>
          </a:ln>
        </p:spPr>
      </p:cxnSp>
      <p:sp>
        <p:nvSpPr>
          <p:cNvPr id="17" name="다음&#10;시도">
            <a:extLst xmlns:a="http://schemas.openxmlformats.org/drawingml/2006/main">
              <a:ext uri="{FF2B5EF4-FFF2-40B4-BE49-F238E27FC236}">
                <a16:creationId xmlns:a16="http://schemas.microsoft.com/office/drawing/2014/main" id="{42BEC5B5-6B74-4E8F-9028-D585DE07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48025"/>
            <a:ext cx="18478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</a:t>
            </a:r>
          </a:p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시도</a:t>
            </a:r>
          </a:p>
        </p:txBody>
      </p:sp>
      <p:sp>
        <p:nvSpPr>
          <p:cNvPr id="18" name="같은 실패가 반복되거나 회귀하면, 계속 돌리기보다 원인을 확인한다">
            <a:extLst xmlns:a="http://schemas.openxmlformats.org/drawingml/2006/main">
              <a:ext uri="{FF2B5EF4-FFF2-40B4-BE49-F238E27FC236}">
                <a16:creationId xmlns:a16="http://schemas.microsoft.com/office/drawing/2014/main" id="{1D150242-F2EF-432F-9721-6FD2FC33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반복되거나 회귀하면, 계속 돌리기보다 원인을 확인한다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157C36C-2905-4BED-A667-0DBD1104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28349774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9F506754-D00D-44A9-8EC4-A9273983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8">
            <a:extLst xmlns:a="http://schemas.openxmlformats.org/drawingml/2006/main">
              <a:ext uri="{FF2B5EF4-FFF2-40B4-BE49-F238E27FC236}">
                <a16:creationId xmlns:a16="http://schemas.microsoft.com/office/drawing/2014/main" id="{5C9BB1BA-F5B1-4CDA-81FB-4A44B6B5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S98</a:t>
            </a:r>
          </a:p>
        </p:txBody>
      </p:sp>
      <p:sp>
        <p:nvSpPr>
          <p:cNvPr id="3" name="확인한 근거와 아직 실행하지 않은 설계">
            <a:extLst xmlns:a="http://schemas.openxmlformats.org/drawingml/2006/main">
              <a:ext uri="{FF2B5EF4-FFF2-40B4-BE49-F238E27FC236}">
                <a16:creationId xmlns:a16="http://schemas.microsoft.com/office/drawing/2014/main" id="{181EA684-988C-4CA5-9A65-987DFD8EF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확인한 근거와 아직 실행하지 않은 설계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863A2-4066-4C66-BD77-FCD0153A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기존 Product Trial / 인용한 연구 / CASE-LOOP-01 설계의 근거 경계">
            <a:extLst xmlns:a="http://schemas.openxmlformats.org/drawingml/2006/main">
              <a:ext uri="{FF2B5EF4-FFF2-40B4-BE49-F238E27FC236}">
                <a16:creationId xmlns:a16="http://schemas.microsoft.com/office/drawing/2014/main" id="{C7906F3F-C709-4027-A80C-B7F75A85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Product Trial / 인용한 연구 / CASE-LOOP-01 설계의 근거 경계</a:t>
            </a:r>
          </a:p>
        </p:txBody>
      </p:sp>
      <p:sp>
        <p:nvSpPr>
          <p:cNvPr id="6" name="기존 Trial을 다중 모델 루프의 실행 증거로 사용하지 않음 · 새 모델 조합·완료 성과 미검증">
            <a:extLst xmlns:a="http://schemas.openxmlformats.org/drawingml/2006/main">
              <a:ext uri="{FF2B5EF4-FFF2-40B4-BE49-F238E27FC236}">
                <a16:creationId xmlns:a16="http://schemas.microsoft.com/office/drawing/2014/main" id="{3FA29A62-C1BE-4133-957E-61428FBA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Trial을 다중 모델 루프의 실행 증거로 사용하지 않음 · 새 모델 조합·완료 성과 미검증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427A1-BE73-4AA5-98F2-AA65309F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제 Demo">
            <a:extLst xmlns:a="http://schemas.openxmlformats.org/drawingml/2006/main">
              <a:ext uri="{FF2B5EF4-FFF2-40B4-BE49-F238E27FC236}">
                <a16:creationId xmlns:a16="http://schemas.microsoft.com/office/drawing/2014/main" id="{78BE2581-3D38-4B7C-908C-78121755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 Demo</a:t>
            </a:r>
          </a:p>
        </p:txBody>
      </p:sp>
      <p:sp>
        <p:nvSpPr>
          <p:cNvPr id="9" name="관찰 기록">
            <a:extLst xmlns:a="http://schemas.openxmlformats.org/drawingml/2006/main">
              <a:ext uri="{FF2B5EF4-FFF2-40B4-BE49-F238E27FC236}">
                <a16:creationId xmlns:a16="http://schemas.microsoft.com/office/drawing/2014/main" id="{128D664C-A47B-4876-B225-758B98A8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 기록</a:t>
            </a:r>
          </a:p>
        </p:txBody>
      </p:sp>
      <p:sp>
        <p:nvSpPr>
          <p:cNvPr id="10" name="제품 변경·출력·측정 확인">
            <a:extLst xmlns:a="http://schemas.openxmlformats.org/drawingml/2006/main">
              <a:ext uri="{FF2B5EF4-FFF2-40B4-BE49-F238E27FC236}">
                <a16:creationId xmlns:a16="http://schemas.microsoft.com/office/drawing/2014/main" id="{ECC48352-8342-4A72-8654-8EEFA58EC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변경·출력·측정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7A445-6EDC-4CB0-BF1D-00DCC10D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212B"/>
            </a:solidFill>
            <a:prstDash val="solid"/>
          </a:ln>
        </p:spPr>
      </p:sp>
      <p:sp>
        <p:nvSpPr>
          <p:cNvPr id="12" name="논문">
            <a:extLst xmlns:a="http://schemas.openxmlformats.org/drawingml/2006/main">
              <a:ext uri="{FF2B5EF4-FFF2-40B4-BE49-F238E27FC236}">
                <a16:creationId xmlns:a16="http://schemas.microsoft.com/office/drawing/2014/main" id="{022B2D04-8EAD-40A4-815D-7B4ECF23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논문</a:t>
            </a:r>
          </a:p>
        </p:txBody>
      </p:sp>
      <p:sp>
        <p:nvSpPr>
          <p:cNvPr id="13" name="연구 결과">
            <a:extLst xmlns:a="http://schemas.openxmlformats.org/drawingml/2006/main">
              <a:ext uri="{FF2B5EF4-FFF2-40B4-BE49-F238E27FC236}">
                <a16:creationId xmlns:a16="http://schemas.microsoft.com/office/drawing/2014/main" id="{8C78616B-6D94-4A2F-AF80-110B3E08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연구 결과</a:t>
            </a:r>
          </a:p>
        </p:txBody>
      </p:sp>
      <p:sp>
        <p:nvSpPr>
          <p:cNvPr id="14" name="해당 모델·과제·조건의 결과">
            <a:extLst xmlns:a="http://schemas.openxmlformats.org/drawingml/2006/main">
              <a:ext uri="{FF2B5EF4-FFF2-40B4-BE49-F238E27FC236}">
                <a16:creationId xmlns:a16="http://schemas.microsoft.com/office/drawing/2014/main" id="{CA497D3E-7FA7-472A-99B9-6003BBEE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모델·과제·조건의 결과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0CD3AE-F864-45A9-8472-74DBA884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33650"/>
            <a:ext cx="335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6" name="이번 루프">
            <a:extLst xmlns:a="http://schemas.openxmlformats.org/drawingml/2006/main">
              <a:ext uri="{FF2B5EF4-FFF2-40B4-BE49-F238E27FC236}">
                <a16:creationId xmlns:a16="http://schemas.microsoft.com/office/drawing/2014/main" id="{A55308D6-C03F-4956-986A-8599E5B8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4320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 루프</a:t>
            </a:r>
          </a:p>
        </p:txBody>
      </p:sp>
      <p:sp>
        <p:nvSpPr>
          <p:cNvPr id="17" name="교육용 설계">
            <a:extLst xmlns:a="http://schemas.openxmlformats.org/drawingml/2006/main">
              <a:ext uri="{FF2B5EF4-FFF2-40B4-BE49-F238E27FC236}">
                <a16:creationId xmlns:a16="http://schemas.microsoft.com/office/drawing/2014/main" id="{B0B33E60-30D6-441F-886E-1B27AA61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335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교육용 설계</a:t>
            </a:r>
          </a:p>
        </p:txBody>
      </p:sp>
      <p:sp>
        <p:nvSpPr>
          <p:cNvPr id="18" name="새 실행·효과 검증 전">
            <a:extLst xmlns:a="http://schemas.openxmlformats.org/drawingml/2006/main">
              <a:ext uri="{FF2B5EF4-FFF2-40B4-BE49-F238E27FC236}">
                <a16:creationId xmlns:a16="http://schemas.microsoft.com/office/drawing/2014/main" id="{3003C4F7-C8DE-4AC9-83F7-180CFA87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10075"/>
            <a:ext cx="335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실행·효과 검증 전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65409BB-69FA-4382-A20D-7D770AF4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78962205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루프 운영 설계">
            <a:extLst xmlns:a="http://schemas.openxmlformats.org/drawingml/2006/main">
              <a:ext uri="{FF2B5EF4-FFF2-40B4-BE49-F238E27FC236}">
                <a16:creationId xmlns:a16="http://schemas.microsoft.com/office/drawing/2014/main" id="{20835221-D805-424A-8C3D-CB0E0F7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루프 운영 설계</a:t>
            </a:r>
          </a:p>
        </p:txBody>
      </p:sp>
      <p:sp>
        <p:nvSpPr>
          <p:cNvPr id="2" name="S99">
            <a:extLst xmlns:a="http://schemas.openxmlformats.org/drawingml/2006/main">
              <a:ext uri="{FF2B5EF4-FFF2-40B4-BE49-F238E27FC236}">
                <a16:creationId xmlns:a16="http://schemas.microsoft.com/office/drawing/2014/main" id="{D33071A7-F984-4C5D-9B11-2F1621F2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S99</a:t>
            </a:r>
          </a:p>
        </p:txBody>
      </p:sp>
      <p:sp>
        <p:nvSpPr>
          <p:cNvPr id="3" name="우리 작업에는 어떤 루프가 필요할까?">
            <a:extLst xmlns:a="http://schemas.openxmlformats.org/drawingml/2006/main">
              <a:ext uri="{FF2B5EF4-FFF2-40B4-BE49-F238E27FC236}">
                <a16:creationId xmlns:a16="http://schemas.microsoft.com/office/drawing/2014/main" id="{AB8BFE6F-FE3C-4E6D-87BF-87E86B46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작업에는 어떤 루프가 필요할까?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2592A8-687D-4247-9F50-255A96E5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개인 성찰과 Q&amp;A · 실습·제출·구현 요구 없음">
            <a:extLst xmlns:a="http://schemas.openxmlformats.org/drawingml/2006/main">
              <a:ext uri="{FF2B5EF4-FFF2-40B4-BE49-F238E27FC236}">
                <a16:creationId xmlns:a16="http://schemas.microsoft.com/office/drawing/2014/main" id="{2C813A1A-AABB-4A71-BE03-7694F6C9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개인 성찰과 Q&amp;A · 실습·제출·구현 요구 없음</a:t>
            </a:r>
          </a:p>
        </p:txBody>
      </p:sp>
      <p:sp>
        <p:nvSpPr>
          <p:cNvPr id="6" name="목표·판단·검증·책임은 유지 · 다음 ACT에서 조합·통합·제거를 검토">
            <a:extLst xmlns:a="http://schemas.openxmlformats.org/drawingml/2006/main">
              <a:ext uri="{FF2B5EF4-FFF2-40B4-BE49-F238E27FC236}">
                <a16:creationId xmlns:a16="http://schemas.microsoft.com/office/drawing/2014/main" id="{25A448A7-52FC-49F6-A7D7-AB0F2893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목표·판단·검증·책임은 유지 · 다음 ACT에서 조합·통합·제거를 검토</a:t>
            </a:r>
          </a:p>
        </p:txBody>
      </p:sp>
      <p:sp>
        <p:nvSpPr>
          <p:cNvPr id="7" name="목표">
            <a:extLst xmlns:a="http://schemas.openxmlformats.org/drawingml/2006/main">
              <a:ext uri="{FF2B5EF4-FFF2-40B4-BE49-F238E27FC236}">
                <a16:creationId xmlns:a16="http://schemas.microsoft.com/office/drawing/2014/main" id="{EFFFDCB6-6EC0-4AE5-B626-61C7DCC7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FEAA5-7F9D-480D-BA67-40556B7AB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9" name="무엇이 되면 완료인가?">
            <a:extLst xmlns:a="http://schemas.openxmlformats.org/drawingml/2006/main">
              <a:ext uri="{FF2B5EF4-FFF2-40B4-BE49-F238E27FC236}">
                <a16:creationId xmlns:a16="http://schemas.microsoft.com/office/drawing/2014/main" id="{85343D4E-6153-499F-91A4-6CF233FD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2955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되면 완료인가?</a:t>
            </a:r>
          </a:p>
        </p:txBody>
      </p:sp>
      <p:sp>
        <p:nvSpPr>
          <p:cNvPr id="10" name="피드백">
            <a:extLst xmlns:a="http://schemas.openxmlformats.org/drawingml/2006/main">
              <a:ext uri="{FF2B5EF4-FFF2-40B4-BE49-F238E27FC236}">
                <a16:creationId xmlns:a16="http://schemas.microsoft.com/office/drawing/2014/main" id="{DB64F9E8-8B46-40F0-9BEB-DCEACC7E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피드백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B96CE7-54CE-4159-9B67-A9D49414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7662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2" name="어떤 지적을 다음 수정에 넘길까?">
            <a:extLst xmlns:a="http://schemas.openxmlformats.org/drawingml/2006/main">
              <a:ext uri="{FF2B5EF4-FFF2-40B4-BE49-F238E27FC236}">
                <a16:creationId xmlns:a16="http://schemas.microsoft.com/office/drawing/2014/main" id="{79377368-8AD9-4B72-8E8E-18909049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2897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지적을 다음 수정에 넘길까?</a:t>
            </a:r>
          </a:p>
        </p:txBody>
      </p:sp>
      <p:sp>
        <p:nvSpPr>
          <p:cNvPr id="13" name="운영">
            <a:extLst xmlns:a="http://schemas.openxmlformats.org/drawingml/2006/main">
              <a:ext uri="{FF2B5EF4-FFF2-40B4-BE49-F238E27FC236}">
                <a16:creationId xmlns:a16="http://schemas.microsoft.com/office/drawing/2014/main" id="{D2567838-A6E6-4FF9-9126-B200E114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000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운영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01D318-18D0-4A5C-8665-EC664ECDC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10075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0B6172"/>
            </a:solidFill>
            <a:prstDash val="solid"/>
          </a:ln>
        </p:spPr>
      </p:sp>
      <p:sp>
        <p:nvSpPr>
          <p:cNvPr id="15" name="누가 검토하고 언제 멈출까?">
            <a:extLst xmlns:a="http://schemas.openxmlformats.org/drawingml/2006/main">
              <a:ext uri="{FF2B5EF4-FFF2-40B4-BE49-F238E27FC236}">
                <a16:creationId xmlns:a16="http://schemas.microsoft.com/office/drawing/2014/main" id="{BA0A0FB8-68AE-4981-8F97-FFB0965B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62425"/>
            <a:ext cx="7715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누가 검토하고 언제 멈출까?</a:t>
            </a:r>
          </a:p>
        </p:txBody>
      </p:sp>
      <p:sp>
        <p:nvSpPr>
          <p:cNvPr id="16" name="내 업무에 필요한 만큼 조합하고, 불필요한 구조는 덜어낸다">
            <a:extLst xmlns:a="http://schemas.openxmlformats.org/drawingml/2006/main">
              <a:ext uri="{FF2B5EF4-FFF2-40B4-BE49-F238E27FC236}">
                <a16:creationId xmlns:a16="http://schemas.microsoft.com/office/drawing/2014/main" id="{5849F088-9E69-4F4A-A444-11959951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 필요한 만큼 조합하고, 불필요한 구조는 덜어낸다</a:t>
            </a:r>
          </a:p>
        </p:txBody>
      </p:sp>
      <p:sp>
        <p:nvSpPr>
          <p:cNvPr id="1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38D2457-BADA-4119-86D2-5EA4E916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8915489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2026-10-25T12:52:03.4430000Z</dcterms:created>
  <dcterms:modified xsi:type="dcterms:W3CDTF">2026-10-25T12:52:03.4430000Z</dcterms:modified>
</coreProperties>
</file>