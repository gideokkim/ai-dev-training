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4ea292effe4026" /><Relationship Type="http://schemas.openxmlformats.org/officeDocument/2006/relationships/extended-properties" Target="/docProps/app.xml" Id="Rd198ab133ff945c2" /><Relationship Type="http://schemas.openxmlformats.org/officeDocument/2006/relationships/officeDocument" Target="/ppt/presentation.xml" Id="R95ed1957d79e44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46545cf15f4ab2"/>
  </p:sldMasterIdLst>
  <p:notesMasterIdLst>
    <p:notesMasterId xmlns:r="http://schemas.openxmlformats.org/officeDocument/2006/relationships" r:id="Rf77dd53b77ce4224"/>
  </p:notesMasterIdLst>
  <p:sldIdLst>
    <p:sldId xmlns:r="http://schemas.openxmlformats.org/officeDocument/2006/relationships" id="256" r:id="R6005bd1297d64b3f"/>
    <p:sldId xmlns:r="http://schemas.openxmlformats.org/officeDocument/2006/relationships" id="257" r:id="R3952c759466d4b4e"/>
    <p:sldId xmlns:r="http://schemas.openxmlformats.org/officeDocument/2006/relationships" id="258" r:id="R1fe0d57a49864791"/>
    <p:sldId xmlns:r="http://schemas.openxmlformats.org/officeDocument/2006/relationships" id="259" r:id="R5d34e064377b473f"/>
    <p:sldId xmlns:r="http://schemas.openxmlformats.org/officeDocument/2006/relationships" id="260" r:id="Rfe3fdf109cb24e12"/>
    <p:sldId xmlns:r="http://schemas.openxmlformats.org/officeDocument/2006/relationships" id="261" r:id="Rd2701fd6c0f7422e"/>
    <p:sldId xmlns:r="http://schemas.openxmlformats.org/officeDocument/2006/relationships" id="262" r:id="R0e09033f2d75474e"/>
    <p:sldId xmlns:r="http://schemas.openxmlformats.org/officeDocument/2006/relationships" id="263" r:id="Rc1bbcf492a4b4bed"/>
    <p:sldId xmlns:r="http://schemas.openxmlformats.org/officeDocument/2006/relationships" id="264" r:id="R7b621bfdd97f4f0c"/>
    <p:sldId xmlns:r="http://schemas.openxmlformats.org/officeDocument/2006/relationships" id="265" r:id="Rd4a391ee317a4c44"/>
    <p:sldId xmlns:r="http://schemas.openxmlformats.org/officeDocument/2006/relationships" id="266" r:id="R5592c7ba3a664040"/>
    <p:sldId xmlns:r="http://schemas.openxmlformats.org/officeDocument/2006/relationships" id="267" r:id="Raec5ea9bb54744c0"/>
    <p:sldId xmlns:r="http://schemas.openxmlformats.org/officeDocument/2006/relationships" id="268" r:id="R8f4d7b22dacf4977"/>
    <p:sldId xmlns:r="http://schemas.openxmlformats.org/officeDocument/2006/relationships" id="269" r:id="R0f580771af4a4b7b"/>
    <p:sldId xmlns:r="http://schemas.openxmlformats.org/officeDocument/2006/relationships" id="270" r:id="Re731544880464779"/>
    <p:sldId xmlns:r="http://schemas.openxmlformats.org/officeDocument/2006/relationships" id="271" r:id="Ra8e707ca2b084283"/>
    <p:sldId xmlns:r="http://schemas.openxmlformats.org/officeDocument/2006/relationships" id="272" r:id="R5af8b1f850364453"/>
    <p:sldId xmlns:r="http://schemas.openxmlformats.org/officeDocument/2006/relationships" id="273" r:id="R2a0804f956504565"/>
    <p:sldId xmlns:r="http://schemas.openxmlformats.org/officeDocument/2006/relationships" id="274" r:id="R85a438a6c9e04d42"/>
    <p:sldId xmlns:r="http://schemas.openxmlformats.org/officeDocument/2006/relationships" id="275" r:id="Rfe76dfe1c3b346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0012802e1a4374" /><Relationship Type="http://schemas.openxmlformats.org/officeDocument/2006/relationships/slideMaster" Target="/ppt/slideMasters/slideMaster1.xml" Id="R6446545cf15f4ab2" /><Relationship Type="http://schemas.openxmlformats.org/officeDocument/2006/relationships/notesMaster" Target="/ppt/notesMasters/notesMaster1.xml" Id="Rf77dd53b77ce4224" /><Relationship Type="http://schemas.openxmlformats.org/officeDocument/2006/relationships/presProps" Target="/ppt/presProps.xml" Id="R02198e9e59944cce" /><Relationship Type="http://schemas.openxmlformats.org/officeDocument/2006/relationships/tableStyles" Target="/ppt/tableStyles.xml" Id="R7af326d5c2614e24" /><Relationship Type="http://schemas.openxmlformats.org/officeDocument/2006/relationships/slide" Target="/ppt/slides/slide1.xml" Id="R6005bd1297d64b3f" /><Relationship Type="http://schemas.openxmlformats.org/officeDocument/2006/relationships/slide" Target="/ppt/slides/slide2.xml" Id="R3952c759466d4b4e" /><Relationship Type="http://schemas.openxmlformats.org/officeDocument/2006/relationships/slide" Target="/ppt/slides/slide3.xml" Id="R1fe0d57a49864791" /><Relationship Type="http://schemas.openxmlformats.org/officeDocument/2006/relationships/slide" Target="/ppt/slides/slide4.xml" Id="R5d34e064377b473f" /><Relationship Type="http://schemas.openxmlformats.org/officeDocument/2006/relationships/slide" Target="/ppt/slides/slide5.xml" Id="Rfe3fdf109cb24e12" /><Relationship Type="http://schemas.openxmlformats.org/officeDocument/2006/relationships/slide" Target="/ppt/slides/slide6.xml" Id="Rd2701fd6c0f7422e" /><Relationship Type="http://schemas.openxmlformats.org/officeDocument/2006/relationships/slide" Target="/ppt/slides/slide7.xml" Id="R0e09033f2d75474e" /><Relationship Type="http://schemas.openxmlformats.org/officeDocument/2006/relationships/slide" Target="/ppt/slides/slide8.xml" Id="Rc1bbcf492a4b4bed" /><Relationship Type="http://schemas.openxmlformats.org/officeDocument/2006/relationships/slide" Target="/ppt/slides/slide9.xml" Id="R7b621bfdd97f4f0c" /><Relationship Type="http://schemas.openxmlformats.org/officeDocument/2006/relationships/slide" Target="/ppt/slides/slide10.xml" Id="Rd4a391ee317a4c44" /><Relationship Type="http://schemas.openxmlformats.org/officeDocument/2006/relationships/slide" Target="/ppt/slides/slide11.xml" Id="R5592c7ba3a664040" /><Relationship Type="http://schemas.openxmlformats.org/officeDocument/2006/relationships/slide" Target="/ppt/slides/slide12.xml" Id="Raec5ea9bb54744c0" /><Relationship Type="http://schemas.openxmlformats.org/officeDocument/2006/relationships/slide" Target="/ppt/slides/slide13.xml" Id="R8f4d7b22dacf4977" /><Relationship Type="http://schemas.openxmlformats.org/officeDocument/2006/relationships/slide" Target="/ppt/slides/slide14.xml" Id="R0f580771af4a4b7b" /><Relationship Type="http://schemas.openxmlformats.org/officeDocument/2006/relationships/slide" Target="/ppt/slides/slide15.xml" Id="Re731544880464779" /><Relationship Type="http://schemas.openxmlformats.org/officeDocument/2006/relationships/slide" Target="/ppt/slides/slide16.xml" Id="Ra8e707ca2b084283" /><Relationship Type="http://schemas.openxmlformats.org/officeDocument/2006/relationships/slide" Target="/ppt/slides/slide17.xml" Id="R5af8b1f850364453" /><Relationship Type="http://schemas.openxmlformats.org/officeDocument/2006/relationships/slide" Target="/ppt/slides/slide18.xml" Id="R2a0804f956504565" /><Relationship Type="http://schemas.openxmlformats.org/officeDocument/2006/relationships/slide" Target="/ppt/slides/slide19.xml" Id="R85a438a6c9e04d42" /><Relationship Type="http://schemas.openxmlformats.org/officeDocument/2006/relationships/slide" Target="/ppt/slides/slide20.xml" Id="Rfe76dfe1c3b346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73811639e443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66ce6143e54570" /><Relationship Type="http://schemas.openxmlformats.org/officeDocument/2006/relationships/notesMaster" Target="/ppt/notesMasters/notesMaster1.xml" Id="Rcc0c7bac20e249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45b415495d476a" /><Relationship Type="http://schemas.openxmlformats.org/officeDocument/2006/relationships/notesMaster" Target="/ppt/notesMasters/notesMaster1.xml" Id="R698aa51a46534f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d9aac4fd6f4bf9" /><Relationship Type="http://schemas.openxmlformats.org/officeDocument/2006/relationships/notesMaster" Target="/ppt/notesMasters/notesMaster1.xml" Id="R78a1b1f7481f41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58ee71c0594c60" /><Relationship Type="http://schemas.openxmlformats.org/officeDocument/2006/relationships/notesMaster" Target="/ppt/notesMasters/notesMaster1.xml" Id="Re2872aa8e8e741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8984626f7c49df" /><Relationship Type="http://schemas.openxmlformats.org/officeDocument/2006/relationships/notesMaster" Target="/ppt/notesMasters/notesMaster1.xml" Id="R21ebbc1f980040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cd28ff980c48c0" /><Relationship Type="http://schemas.openxmlformats.org/officeDocument/2006/relationships/notesMaster" Target="/ppt/notesMasters/notesMaster1.xml" Id="Rd69a3bd32f024d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39e90d51254837" /><Relationship Type="http://schemas.openxmlformats.org/officeDocument/2006/relationships/notesMaster" Target="/ppt/notesMasters/notesMaster1.xml" Id="Rcc00fafbfa4841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74c800288d4f8d" /><Relationship Type="http://schemas.openxmlformats.org/officeDocument/2006/relationships/notesMaster" Target="/ppt/notesMasters/notesMaster1.xml" Id="Rb63e9d450d5445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b9652b7a1e4499" /><Relationship Type="http://schemas.openxmlformats.org/officeDocument/2006/relationships/notesMaster" Target="/ppt/notesMasters/notesMaster1.xml" Id="R6024b3a8031c453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6bb062f72d141f4" /><Relationship Type="http://schemas.openxmlformats.org/officeDocument/2006/relationships/notesMaster" Target="/ppt/notesMasters/notesMaster1.xml" Id="Rda10d92add0b401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b58c39e4a1e4721" /><Relationship Type="http://schemas.openxmlformats.org/officeDocument/2006/relationships/notesMaster" Target="/ppt/notesMasters/notesMaster1.xml" Id="R12af9b2a7f09459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57adff0f1cd4b30" /><Relationship Type="http://schemas.openxmlformats.org/officeDocument/2006/relationships/notesMaster" Target="/ppt/notesMasters/notesMaster1.xml" Id="Raaeca5b0db5e446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d60463890304eed" /><Relationship Type="http://schemas.openxmlformats.org/officeDocument/2006/relationships/notesMaster" Target="/ppt/notesMasters/notesMaster1.xml" Id="R9fd7a71517224e4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ea24b550c1b40d0" /><Relationship Type="http://schemas.openxmlformats.org/officeDocument/2006/relationships/notesMaster" Target="/ppt/notesMasters/notesMaster1.xml" Id="Rcd5aaa9d78d449d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be440ad2ffc401d" /><Relationship Type="http://schemas.openxmlformats.org/officeDocument/2006/relationships/notesMaster" Target="/ppt/notesMasters/notesMaster1.xml" Id="Rd2fc37c043f8404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fcccf90f6a0477b" /><Relationship Type="http://schemas.openxmlformats.org/officeDocument/2006/relationships/notesMaster" Target="/ppt/notesMasters/notesMaster1.xml" Id="R61a2e6b341a9475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d47f4b187b44f79" /><Relationship Type="http://schemas.openxmlformats.org/officeDocument/2006/relationships/notesMaster" Target="/ppt/notesMasters/notesMaster1.xml" Id="R2e3237e3d7e6426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7672e749639451b" /><Relationship Type="http://schemas.openxmlformats.org/officeDocument/2006/relationships/notesMaster" Target="/ppt/notesMasters/notesMaster1.xml" Id="Rf4f4c5fc499c46c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c8a6d34ef574008" /><Relationship Type="http://schemas.openxmlformats.org/officeDocument/2006/relationships/notesMaster" Target="/ppt/notesMasters/notesMaster1.xml" Id="R0334c67c0f0640e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85315ab692945cc" /><Relationship Type="http://schemas.openxmlformats.org/officeDocument/2006/relationships/notesMaster" Target="/ppt/notesMasters/notesMaster1.xml" Id="Rd2ab5b2b00ad4573" 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 xml:space="preserve">## S85 — 목표를 이룰 때까지 수정하고 검토하기</a:t>
            </a:r>
          </a:p>
          <a:p>
            <a:r>
              <a:t xml:space="preserve"/>
            </a:r>
          </a:p>
          <a:p>
            <a:r>
              <a:t xml:space="preserve">**Slide ID:**</a:t>
            </a:r>
          </a:p>
          <a:p>
            <a:r>
              <a:t xml:space="preserve">S85</a:t>
            </a:r>
          </a:p>
          <a:p>
            <a:r>
              <a:t xml:space="preserve"/>
            </a:r>
          </a:p>
          <a:p>
            <a:r>
              <a:t xml:space="preserve">**Working Title:**</a:t>
            </a:r>
          </a:p>
          <a:p>
            <a:r>
              <a:t xml:space="preserve">목표를 이룰 때까지 수정하고 검토하기</a:t>
            </a:r>
          </a:p>
          <a:p>
            <a:r>
              <a:t xml:space="preserve"/>
            </a:r>
          </a:p>
          <a:p>
            <a:r>
              <a:t xml:space="preserve">**ACT / Section:**</a:t>
            </a:r>
          </a:p>
          <a:p>
            <a:r>
              <a:t xml:space="preserve">ACT 4 / 4R1 Goal-loop entry</a:t>
            </a:r>
          </a:p>
          <a:p>
            <a:r>
              <a:t xml:space="preserve"/>
            </a:r>
          </a:p>
          <a:p>
            <a:r>
              <a:t xml:space="preserve">**Allocated Time:**</a:t>
            </a:r>
          </a:p>
          <a:p>
            <a:r>
              <a:t xml:space="preserve">1 minutes</a:t>
            </a:r>
          </a:p>
          <a:p>
            <a:r>
              <a:t xml:space="preserve"/>
            </a:r>
          </a:p>
          <a:p>
            <a:r>
              <a:t xml:space="preserve">**Mode Split:**</a:t>
            </a:r>
          </a:p>
          <a:p>
            <a:r>
              <a:t xml:space="preserve">Transition 1분</a:t>
            </a:r>
          </a:p>
          <a:p>
            <a:r>
              <a:t xml:space="preserve"/>
            </a:r>
          </a:p>
          <a:p>
            <a:r>
              <a:t xml:space="preserve">**Primary Message:**</a:t>
            </a:r>
          </a:p>
          <a:p>
            <a:r>
              <a:t xml:space="preserve">Loop Engineering은 같은 목표의 구현·검토·수정을 피드백으로 연결하는 시스템 설계다.</a:t>
            </a:r>
          </a:p>
          <a:p>
            <a:r>
              <a:t xml:space="preserve"/>
            </a:r>
          </a:p>
          <a:p>
            <a:r>
              <a:t xml:space="preserve">**Opening Question:**</a:t>
            </a:r>
          </a:p>
          <a:p>
            <a:r>
              <a:t xml:space="preserve">다음 수정과 검토까지 작업 시스템이 이어가려면 무엇이 필요할까?</a:t>
            </a:r>
          </a:p>
          <a:p>
            <a:r>
              <a:t xml:space="preserve"/>
            </a:r>
          </a:p>
          <a:p>
            <a:r>
              <a:t xml:space="preserve">**Speaker Flow:**</a:t>
            </a:r>
          </a:p>
          <a:p>
            <a:r>
              <a:t xml:space="preserve">1. (0:00–1:00 / Transition) ACT3의 마지막 질문을 받아 제목과 부제만 안내한다. 목표·완료 기준이 반복을 이끈다는 관점을 예고하고 S86으로 넘긴다.</a:t>
            </a:r>
          </a:p>
          <a:p>
            <a:r>
              <a:t xml:space="preserve"/>
            </a:r>
          </a:p>
          <a:p>
            <a:r>
              <a:t xml:space="preserve">**Evidence / Source:**</a:t>
            </a:r>
          </a:p>
          <a:p>
            <a:r>
              <a:t xml:space="preserve">DEC-0097; BEAT-072; CASE-LOOP-01; CLM-0021. CASE-LOOP-01의 교육용 설계. 실제 자료와 설계를 구분한다.</a:t>
            </a:r>
          </a:p>
          <a:p>
            <a:r>
              <a:t xml:space="preserve"/>
            </a:r>
          </a:p>
          <a:p>
            <a:r>
              <a:t xml:space="preserve">**Claim Boundary:**</a:t>
            </a:r>
          </a:p>
          <a:p>
            <a:r>
              <a:t xml:space="preserve">TEACHING_MODEL — 교육용 설계이며 실제 구현·검토·재실행·측정·완료 결과가 없다. 기존 Product/Meta Trial을 이 루프의 실행 증거로 바꾸지 않는다.</a:t>
            </a:r>
          </a:p>
          <a:p>
            <a:r>
              <a:t xml:space="preserve"/>
            </a:r>
          </a:p>
          <a:p>
            <a:r>
              <a:t xml:space="preserve">**Beginner Explanation:**</a:t>
            </a:r>
          </a:p>
          <a:p>
            <a:r>
              <a:t xml:space="preserve">Loop Engineering은 같은 목표의 구현·검토·수정을 피드백으로 연결하는 시스템 설계다.</a:t>
            </a:r>
          </a:p>
          <a:p>
            <a:r>
              <a:t xml:space="preserve"/>
            </a:r>
          </a:p>
          <a:p>
            <a:r>
              <a:t xml:space="preserve">**Advanced Insight:**</a:t>
            </a:r>
          </a:p>
          <a:p>
            <a:r>
              <a:t xml:space="preserve">이번 교육의 운영 정의다. 특정 제품의 기능명이나 보편 표준 분류로 주장하지 않는다.</a:t>
            </a:r>
          </a:p>
          <a:p>
            <a:r>
              <a:t xml:space="preserve"/>
            </a:r>
          </a:p>
          <a:p>
            <a:r>
              <a:t xml:space="preserve">**C++ Vision Bridge:**</a:t>
            </a:r>
          </a:p>
          <a:p>
            <a:r>
              <a:t xml:space="preserve">N/A — 같은 명세·검사·검토 원리를 적용할 수 있으나 별도 GPU 사례나 미실행 C++ 코드를 추가하지 않는다.</a:t>
            </a:r>
          </a:p>
          <a:p>
            <a:r>
              <a:t xml:space="preserve"/>
            </a:r>
          </a:p>
          <a:p>
            <a:r>
              <a:t xml:space="preserve">**Demo Operation:**</a:t>
            </a:r>
          </a:p>
          <a:p>
            <a:r>
              <a:t xml:space="preserve">N/A — ACT 제목 안내.</a:t>
            </a:r>
          </a:p>
          <a:p>
            <a:r>
              <a:t xml:space="preserve"/>
            </a:r>
          </a:p>
          <a:p>
            <a:r>
              <a:t xml:space="preserve">**Audience Interaction:**</a:t>
            </a:r>
          </a:p>
          <a:p>
            <a:r>
              <a:t xml:space="preserve">N/A — 필수 응답·실습 없이 관찰할 질문만 제시한다.</a:t>
            </a:r>
          </a:p>
          <a:p>
            <a:r>
              <a:t xml:space="preserve"/>
            </a:r>
          </a:p>
          <a:p>
            <a:r>
              <a:t xml:space="preserve">**Transition:**</a:t>
            </a:r>
          </a:p>
          <a:p>
            <a:r>
              <a:t xml:space="preserve">다음은 다음 수정도 사람이 매번 이어줘야 할까?의 질문으로 이어간다.</a:t>
            </a:r>
          </a:p>
          <a:p>
            <a:r>
              <a:t xml:space="preserve"/>
            </a:r>
          </a:p>
          <a:p>
            <a:r>
              <a:t xml:space="preserve">**Time Management:**</a:t>
            </a:r>
          </a:p>
          <a:p>
            <a:r>
              <a:t xml:space="preserve">Transition 1분 = 1분. 위 Speaker Flow의 Mode 경계를 유지한다. 초과 시 Advanced Insight를 줄이고 핵심 그림·근거 범위·다음 전환은 보존한다. 실제 리허설은 UNVERIFIED다.</a:t>
            </a:r>
          </a:p>
          <a:p>
            <a:r>
              <a:t xml:space="preserve"/>
            </a:r>
          </a:p>
          <a:p>
            <a:r>
              <a:t xml:space="preserve">**Fallback:**</a:t>
            </a:r>
          </a:p>
          <a:p>
            <a:r>
              <a:t xml:space="preserve">LOCAL STATIC ARTIFACT — production/ACT_4.pptx의 S85; production/preview/act4/S85.png 및 production/preview/full/S85.png. 이 구간은 Live 실행을 전제하지 않는다. 실제 발표 PC 재생은 UNVERIFIED다.</a:t>
            </a:r>
          </a:p>
          <a:p>
            <a:r>
              <a:t xml:space="preserve"/>
            </a:r>
          </a:p>
          <a:p>
            <a:r>
              <a:t xml:space="preserve">**Validation Status:**</a:t>
            </a:r>
          </a:p>
          <a:p>
            <a:r>
              <a:t xml:space="preserve">REVIEWED — DEC-0097의 내용·근거 정렬. 최종 로컬 구조·렌더·Notes 검사는 production/evaluation/ACT_4_GOAL_LOOP_REVISION.md에 기록. Windows/교육장/제품·계정/실측 리허설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 xml:space="preserve">## S86 — 다음 수정도 사람이 매번 이어줘야 할까?</a:t>
            </a:r>
          </a:p>
          <a:p>
            <a:r>
              <a:t xml:space="preserve"/>
            </a:r>
          </a:p>
          <a:p>
            <a:r>
              <a:t xml:space="preserve">**Slide ID:**</a:t>
            </a:r>
          </a:p>
          <a:p>
            <a:r>
              <a:t xml:space="preserve">S86</a:t>
            </a:r>
          </a:p>
          <a:p>
            <a:r>
              <a:t xml:space="preserve"/>
            </a:r>
          </a:p>
          <a:p>
            <a:r>
              <a:t xml:space="preserve">**Working Title:**</a:t>
            </a:r>
          </a:p>
          <a:p>
            <a:r>
              <a:t xml:space="preserve">다음 수정도 사람이 매번 이어줘야 할까?</a:t>
            </a:r>
          </a:p>
          <a:p>
            <a:r>
              <a:t xml:space="preserve"/>
            </a:r>
          </a:p>
          <a:p>
            <a:r>
              <a:t xml:space="preserve">**ACT / Section:**</a:t>
            </a:r>
          </a:p>
          <a:p>
            <a:r>
              <a:t xml:space="preserve">ACT 4 / 4R1 Goal-loop entry</a:t>
            </a:r>
          </a:p>
          <a:p>
            <a:r>
              <a:t xml:space="preserve"/>
            </a:r>
          </a:p>
          <a:p>
            <a:r>
              <a:t xml:space="preserve">**Allocated Time:**</a:t>
            </a:r>
          </a:p>
          <a:p>
            <a:r>
              <a:t xml:space="preserve">4 minutes</a:t>
            </a:r>
          </a:p>
          <a:p>
            <a:r>
              <a:t xml:space="preserve"/>
            </a:r>
          </a:p>
          <a:p>
            <a:r>
              <a:t xml:space="preserve">**Mode Split:**</a:t>
            </a:r>
          </a:p>
          <a:p>
            <a:r>
              <a:t xml:space="preserve">Lecture 2분 + Case 2분</a:t>
            </a:r>
          </a:p>
          <a:p>
            <a:r>
              <a:t xml:space="preserve"/>
            </a:r>
          </a:p>
          <a:p>
            <a:r>
              <a:t xml:space="preserve">**Primary Message:**</a:t>
            </a:r>
          </a:p>
          <a:p>
            <a:r>
              <a:t xml:space="preserve">한 목표를 마치는 동안 사람이 검토·수정·재확인의 다음 요청을 계속 연결하는 문제를 드러낸다.</a:t>
            </a:r>
          </a:p>
          <a:p>
            <a:r>
              <a:t xml:space="preserve"/>
            </a:r>
          </a:p>
          <a:p>
            <a:r>
              <a:t xml:space="preserve">**Opening Question:**</a:t>
            </a:r>
          </a:p>
          <a:p>
            <a:r>
              <a:t xml:space="preserve">작업 방법이 있어도 다음 단계는 매번 사람이 다시 요청해야 할까?</a:t>
            </a:r>
          </a:p>
          <a:p>
            <a:r>
              <a:t xml:space="preserve"/>
            </a:r>
          </a:p>
          <a:p>
            <a:r>
              <a:t xml:space="preserve">**Speaker Flow:**</a:t>
            </a:r>
          </a:p>
          <a:p>
            <a:r>
              <a:t xml:space="preserve">1. (0:00–2:00 / Lecture) S84의 질문을 회수한다. 앞 ACT의 Harness는 수행 방법과 도구를 제공한다. 이 장의 세 요청은 실제 Trial이 아닌 가상 상황이며 같은 목표 안의 연속 단계라고 설명한다.</a:t>
            </a:r>
          </a:p>
          <a:p>
            <a:r>
              <a:t xml:space="preserve">2. (2:00–4:00 / Case) ACT3의 세 요청을 다시 나열하지 않고, 사람이 모아 전달하던 검토 의견이 다음 수정의 입력으로 들어가는 두 영역을 짚는다. 목표는 유지하고 남은 문제를 시스템 안에서 넘길 수 있겠다는 질문으로 S87의 완료 기준을 연다.</a:t>
            </a:r>
          </a:p>
          <a:p>
            <a:r>
              <a:t xml:space="preserve"/>
            </a:r>
          </a:p>
          <a:p>
            <a:r>
              <a:t xml:space="preserve">**Evidence / Source:**</a:t>
            </a:r>
          </a:p>
          <a:p>
            <a:r>
              <a:t xml:space="preserve">DEC-0097; BEAT-073; CASE-LOOP-01; CLM-0021. CASE-LOOP-01의 교육용 설계. 실제 자료와 설계를 구분한다.</a:t>
            </a:r>
          </a:p>
          <a:p>
            <a:r>
              <a:t xml:space="preserve"/>
            </a:r>
          </a:p>
          <a:p>
            <a:r>
              <a:t xml:space="preserve">보존된 상세 출처: 밝기 통계 최적화의 가상 진행 예 · 실제 Trial 또는 실행 캡처 아님</a:t>
            </a:r>
          </a:p>
          <a:p>
            <a:r>
              <a:t xml:space="preserve"/>
            </a:r>
          </a:p>
          <a:p>
            <a:r>
              <a:t xml:space="preserve">**Claim Boundary:**</a:t>
            </a:r>
          </a:p>
          <a:p>
            <a:r>
              <a:t xml:space="preserve">CONCEPTUAL — 교육용 설계이며 실제 구현·검토·재실행·측정·완료 결과가 없다. 기존 Product/Meta Trial을 이 루프의 실행 증거로 바꾸지 않는다.</a:t>
            </a:r>
          </a:p>
          <a:p>
            <a:r>
              <a:t xml:space="preserve"/>
            </a:r>
          </a:p>
          <a:p>
            <a:r>
              <a:t xml:space="preserve">보존된 상세 범위: 후보·지적·수정은 설명용 설계 · 실제 실행·측정·PASS/FAIL 결과 없음</a:t>
            </a:r>
          </a:p>
          <a:p>
            <a:r>
              <a:t xml:space="preserve"/>
            </a:r>
          </a:p>
          <a:p>
            <a:r>
              <a:t xml:space="preserve">**Beginner Explanation:**</a:t>
            </a:r>
          </a:p>
          <a:p>
            <a:r>
              <a:t xml:space="preserve">한 목표를 마치는 동안 사람이 검토·수정·재확인의 다음 요청을 계속 연결하는 문제를 드러낸다.</a:t>
            </a:r>
          </a:p>
          <a:p>
            <a:r>
              <a:t xml:space="preserve"/>
            </a:r>
          </a:p>
          <a:p>
            <a:r>
              <a:t xml:space="preserve">**Advanced Insight:**</a:t>
            </a:r>
          </a:p>
          <a:p>
            <a:r>
              <a:t xml:space="preserve">Harness와 Loop를 배타적인 제품 단계로 구분하지 않는다. 여기서는 반복의 상태·피드백·다음 행동 제어라는 추가 설계 책임을 드러낸다.</a:t>
            </a:r>
          </a:p>
          <a:p>
            <a:r>
              <a:t xml:space="preserve"/>
            </a:r>
          </a:p>
          <a:p>
            <a:r>
              <a:t xml:space="preserve">**C++ Vision Bridge:**</a:t>
            </a:r>
          </a:p>
          <a:p>
            <a:r>
              <a:t xml:space="preserve">N/A — 같은 명세·검사·검토 원리를 적용할 수 있으나 별도 GPU 사례나 미실행 C++ 코드를 추가하지 않는다.</a:t>
            </a:r>
          </a:p>
          <a:p>
            <a:r>
              <a:t xml:space="preserve"/>
            </a:r>
          </a:p>
          <a:p>
            <a:r>
              <a:t xml:space="preserve">**Demo Operation:**</a:t>
            </a:r>
          </a:p>
          <a:p>
            <a:r>
              <a:t xml:space="preserve">정적 화면을 위에서 아래, 왼쪽에서 오른쪽으로 짚는다. 교육용 진행 예/논문/실제 과거 기록의 표시를 먼저 확인한다. 새 명령·모델 호출·Live Trial은 실행하지 않는다.</a:t>
            </a:r>
          </a:p>
          <a:p>
            <a:r>
              <a:t xml:space="preserve"/>
            </a:r>
          </a:p>
          <a:p>
            <a:r>
              <a:t xml:space="preserve">**Audience Interaction:**</a:t>
            </a:r>
          </a:p>
          <a:p>
            <a:r>
              <a:t xml:space="preserve">N/A — 필수 응답·실습 없이 관찰할 질문만 제시한다.</a:t>
            </a:r>
          </a:p>
          <a:p>
            <a:r>
              <a:t xml:space="preserve"/>
            </a:r>
          </a:p>
          <a:p>
            <a:r>
              <a:t xml:space="preserve">**Transition:**</a:t>
            </a:r>
          </a:p>
          <a:p>
            <a:r>
              <a:t xml:space="preserve">다음은 먼저, 무엇이 되면 완료인지 정한다의 질문으로 이어간다.</a:t>
            </a:r>
          </a:p>
          <a:p>
            <a:r>
              <a:t xml:space="preserve"/>
            </a:r>
          </a:p>
          <a:p>
            <a:r>
              <a:t xml:space="preserve">**Time Management:**</a:t>
            </a:r>
          </a:p>
          <a:p>
            <a:r>
              <a:t xml:space="preserve">Lecture 2분 + Case 2분 = 4분. 위 Speaker Flow의 Mode 경계를 유지한다. 초과 시 Advanced Insight를 줄이고 핵심 그림·근거 범위·다음 전환은 보존한다. 실제 리허설은 UNVERIFIED다.</a:t>
            </a:r>
          </a:p>
          <a:p>
            <a:r>
              <a:t xml:space="preserve"/>
            </a:r>
          </a:p>
          <a:p>
            <a:r>
              <a:t xml:space="preserve">**Fallback:**</a:t>
            </a:r>
          </a:p>
          <a:p>
            <a:r>
              <a:t xml:space="preserve">LOCAL STATIC ARTIFACT — production/ACT_4.pptx의 S86; production/preview/act4/S86.png 및 production/preview/full/S86.png. 이 구간은 Live 실행을 전제하지 않는다. 실제 발표 PC 재생은 UNVERIFIED다.</a:t>
            </a:r>
          </a:p>
          <a:p>
            <a:r>
              <a:t xml:space="preserve"/>
            </a:r>
          </a:p>
          <a:p>
            <a:r>
              <a:t xml:space="preserve">**Validation Status:**</a:t>
            </a:r>
          </a:p>
          <a:p>
            <a:r>
              <a:t xml:space="preserve">REVIEWED — DEC-0097의 내용·근거 정렬. 최종 로컬 구조·렌더·Notes 검사는 production/evaluation/ACT_4_GOAL_LOOP_REVISION.md에 기록. Windows/교육장/제품·계정/실측 리허설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 xml:space="preserve">## S87 — 먼저, 무엇이 되면 완료인지 정한다</a:t>
            </a:r>
          </a:p>
          <a:p>
            <a:r>
              <a:t xml:space="preserve"/>
            </a:r>
          </a:p>
          <a:p>
            <a:r>
              <a:t xml:space="preserve">**Slide ID:**</a:t>
            </a:r>
          </a:p>
          <a:p>
            <a:r>
              <a:t xml:space="preserve">S87</a:t>
            </a:r>
          </a:p>
          <a:p>
            <a:r>
              <a:t xml:space="preserve"/>
            </a:r>
          </a:p>
          <a:p>
            <a:r>
              <a:t xml:space="preserve">**Working Title:**</a:t>
            </a:r>
          </a:p>
          <a:p>
            <a:r>
              <a:t xml:space="preserve">먼저, 무엇이 되면 완료인지 정한다</a:t>
            </a:r>
          </a:p>
          <a:p>
            <a:r>
              <a:t xml:space="preserve"/>
            </a:r>
          </a:p>
          <a:p>
            <a:r>
              <a:t xml:space="preserve">**ACT / Section:**</a:t>
            </a:r>
          </a:p>
          <a:p>
            <a:r>
              <a:t xml:space="preserve">ACT 4 / 4R2 One-goal walkthrough</a:t>
            </a:r>
          </a:p>
          <a:p>
            <a:r>
              <a:t xml:space="preserve"/>
            </a:r>
          </a:p>
          <a:p>
            <a:r>
              <a:t xml:space="preserve">**Allocated Time:**</a:t>
            </a:r>
          </a:p>
          <a:p>
            <a:r>
              <a:t xml:space="preserve">4 minutes</a:t>
            </a:r>
          </a:p>
          <a:p>
            <a:r>
              <a:t xml:space="preserve"/>
            </a:r>
          </a:p>
          <a:p>
            <a:r>
              <a:t xml:space="preserve">**Mode Split:**</a:t>
            </a:r>
          </a:p>
          <a:p>
            <a:r>
              <a:t xml:space="preserve">Lecture 2분 + Case 2분</a:t>
            </a:r>
          </a:p>
          <a:p>
            <a:r>
              <a:t xml:space="preserve"/>
            </a:r>
          </a:p>
          <a:p>
            <a:r>
              <a:t xml:space="preserve">**Primary Message:**</a:t>
            </a:r>
          </a:p>
          <a:p>
            <a:r>
              <a:t xml:space="preserve">밝기 통계의 출력·동작, 임시 할당, 실행시간 조건을 처음부터 완료 기준으로 두고 반복 중 유지한다.</a:t>
            </a:r>
          </a:p>
          <a:p>
            <a:r>
              <a:t xml:space="preserve"/>
            </a:r>
          </a:p>
          <a:p>
            <a:r>
              <a:t xml:space="preserve">**Opening Question:**</a:t>
            </a:r>
          </a:p>
          <a:p>
            <a:r>
              <a:t xml:space="preserve">이 최적화 작업은 무엇을 확인하면 완료라고 할 수 있을까?</a:t>
            </a:r>
          </a:p>
          <a:p>
            <a:r>
              <a:t xml:space="preserve"/>
            </a:r>
          </a:p>
          <a:p>
            <a:r>
              <a:t xml:space="preserve">**Speaker Flow:**</a:t>
            </a:r>
          </a:p>
          <a:p>
            <a:r>
              <a:t xml:space="preserve">1. (0:00–2:00 / Lecture) 별도 교육용 최적화 상황임을 먼저 밝힌다. 실제 명세의 여섯 출력은 width, height, pixel_count, minimum, maximum, mean이다. 기능 보존과 자원 조건을 함께 제시한다.</a:t>
            </a:r>
          </a:p>
          <a:p>
            <a:r>
              <a:t xml:space="preserve">2. (2:00–4:00 / Case) 반복할 때에도 같은 입력·환경·측정 기준을 사용한다. 수치·대표 입력은 실행 전에 확정해야 하며 현재 TBD다. 과거 측정값을 새 완료 기준이나 새 결과로 가져오지 않는다.</a:t>
            </a:r>
          </a:p>
          <a:p>
            <a:r>
              <a:t xml:space="preserve"/>
            </a:r>
          </a:p>
          <a:p>
            <a:r>
              <a:t xml:space="preserve">**Evidence / Source:**</a:t>
            </a:r>
          </a:p>
          <a:p>
            <a:r>
              <a:t xml:space="preserve">DEC-0097; BEAT-074; CASE-LOOP-01; existing six-field specification in DEMO_MATRIX. CASE-LOOP-01의 교육용 설계. 실제 자료와 설계를 구분한다.</a:t>
            </a:r>
          </a:p>
          <a:p>
            <a:r>
              <a:t xml:space="preserve"/>
            </a:r>
          </a:p>
          <a:p>
            <a:r>
              <a:t xml:space="preserve">보존된 상세 출처: 밝기 통계 최적화의 가상 진행 예 · 실제 Trial 또는 실행 캡처 아님</a:t>
            </a:r>
          </a:p>
          <a:p>
            <a:r>
              <a:t xml:space="preserve"/>
            </a:r>
          </a:p>
          <a:p>
            <a:r>
              <a:t xml:space="preserve">**Claim Boundary:**</a:t>
            </a:r>
          </a:p>
          <a:p>
            <a:r>
              <a:t xml:space="preserve">CONCEPTUAL — 교육용 설계이며 실제 구현·검토·재실행·측정·완료 결과가 없다. 기존 Product/Meta Trial을 이 루프의 실행 증거로 바꾸지 않는다.</a:t>
            </a:r>
          </a:p>
          <a:p>
            <a:r>
              <a:t xml:space="preserve"/>
            </a:r>
          </a:p>
          <a:p>
            <a:r>
              <a:t xml:space="preserve">보존된 상세 범위: 할당량 목표·실행시간 상한·대표 입력은 실행 전에 확정 · 현재 수치는 TBD</a:t>
            </a:r>
          </a:p>
          <a:p>
            <a:r>
              <a:t xml:space="preserve"/>
            </a:r>
          </a:p>
          <a:p>
            <a:r>
              <a:t xml:space="preserve">**Beginner Explanation:**</a:t>
            </a:r>
          </a:p>
          <a:p>
            <a:r>
              <a:t xml:space="preserve">밝기 통계의 출력·동작, 임시 할당, 실행시간 조건을 처음부터 완료 기준으로 두고 반복 중 유지한다.</a:t>
            </a:r>
          </a:p>
          <a:p>
            <a:r>
              <a:t xml:space="preserve"/>
            </a:r>
          </a:p>
          <a:p>
            <a:r>
              <a:t xml:space="preserve">**Advanced Insight:**</a:t>
            </a:r>
          </a:p>
          <a:p>
            <a:r>
              <a:t xml:space="preserve">모델의 판단에 따라 목표나 테스트 기대값을 낮추지 않는다. 요구 변경이 필요하면 사람이 명시적으로 승인한다.</a:t>
            </a:r>
          </a:p>
          <a:p>
            <a:r>
              <a:t xml:space="preserve"/>
            </a:r>
          </a:p>
          <a:p>
            <a:r>
              <a:t xml:space="preserve">**C++ Vision Bridge:**</a:t>
            </a:r>
          </a:p>
          <a:p>
            <a:r>
              <a:t xml:space="preserve">N/A — 같은 명세·검사·검토 원리를 적용할 수 있으나 별도 GPU 사례나 미실행 C++ 코드를 추가하지 않는다.</a:t>
            </a:r>
          </a:p>
          <a:p>
            <a:r>
              <a:t xml:space="preserve"/>
            </a:r>
          </a:p>
          <a:p>
            <a:r>
              <a:t xml:space="preserve">**Demo Operation:**</a:t>
            </a:r>
          </a:p>
          <a:p>
            <a:r>
              <a:t xml:space="preserve">정적 화면을 위에서 아래, 왼쪽에서 오른쪽으로 짚는다. 교육용 진행 예/논문/실제 과거 기록의 표시를 먼저 확인한다. 새 명령·모델 호출·Live Trial은 실행하지 않는다.</a:t>
            </a:r>
          </a:p>
          <a:p>
            <a:r>
              <a:t xml:space="preserve"/>
            </a:r>
          </a:p>
          <a:p>
            <a:r>
              <a:t xml:space="preserve">**Audience Interaction:**</a:t>
            </a:r>
          </a:p>
          <a:p>
            <a:r>
              <a:t xml:space="preserve">N/A — 필수 응답·실습 없이 관찰할 질문만 제시한다.</a:t>
            </a:r>
          </a:p>
          <a:p>
            <a:r>
              <a:t xml:space="preserve"/>
            </a:r>
          </a:p>
          <a:p>
            <a:r>
              <a:t xml:space="preserve">**Transition:**</a:t>
            </a:r>
          </a:p>
          <a:p>
            <a:r>
              <a:t xml:space="preserve">다음은 모델 A가 첫 변경 후보를 만든다의 질문으로 이어간다.</a:t>
            </a:r>
          </a:p>
          <a:p>
            <a:r>
              <a:t xml:space="preserve"/>
            </a:r>
          </a:p>
          <a:p>
            <a:r>
              <a:t xml:space="preserve">**Time Management:**</a:t>
            </a:r>
          </a:p>
          <a:p>
            <a:r>
              <a:t xml:space="preserve">Lecture 2분 + Case 2분 = 4분. 위 Speaker Flow의 Mode 경계를 유지한다. 초과 시 Advanced Insight를 줄이고 핵심 그림·근거 범위·다음 전환은 보존한다. 실제 리허설은 UNVERIFIED다.</a:t>
            </a:r>
          </a:p>
          <a:p>
            <a:r>
              <a:t xml:space="preserve"/>
            </a:r>
          </a:p>
          <a:p>
            <a:r>
              <a:t xml:space="preserve">**Fallback:**</a:t>
            </a:r>
          </a:p>
          <a:p>
            <a:r>
              <a:t xml:space="preserve">LOCAL STATIC ARTIFACT — production/ACT_4.pptx의 S87; production/preview/act4/S87.png 및 production/preview/full/S87.png. 이 구간은 Live 실행을 전제하지 않는다. 실제 발표 PC 재생은 UNVERIFIED다.</a:t>
            </a:r>
          </a:p>
          <a:p>
            <a:r>
              <a:t xml:space="preserve"/>
            </a:r>
          </a:p>
          <a:p>
            <a:r>
              <a:t xml:space="preserve">**Validation Status:**</a:t>
            </a:r>
          </a:p>
          <a:p>
            <a:r>
              <a:t xml:space="preserve">REVIEWED — DEC-0097의 내용·근거 정렬. 최종 로컬 구조·렌더·Notes 검사는 production/evaluation/ACT_4_GOAL_LOOP_REVISION.md에 기록. Windows/교육장/제품·계정/실측 리허설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 xml:space="preserve">## S88 — 모델 A가 첫 변경 후보를 만든다</a:t>
            </a:r>
          </a:p>
          <a:p>
            <a:r>
              <a:t xml:space="preserve"/>
            </a:r>
          </a:p>
          <a:p>
            <a:r>
              <a:t xml:space="preserve">**Slide ID:**</a:t>
            </a:r>
          </a:p>
          <a:p>
            <a:r>
              <a:t xml:space="preserve">S88</a:t>
            </a:r>
          </a:p>
          <a:p>
            <a:r>
              <a:t xml:space="preserve"/>
            </a:r>
          </a:p>
          <a:p>
            <a:r>
              <a:t xml:space="preserve">**Working Title:**</a:t>
            </a:r>
          </a:p>
          <a:p>
            <a:r>
              <a:t xml:space="preserve">모델 A가 첫 변경 후보를 만든다</a:t>
            </a:r>
          </a:p>
          <a:p>
            <a:r>
              <a:t xml:space="preserve"/>
            </a:r>
          </a:p>
          <a:p>
            <a:r>
              <a:t xml:space="preserve">**ACT / Section:**</a:t>
            </a:r>
          </a:p>
          <a:p>
            <a:r>
              <a:t xml:space="preserve">ACT 4 / 4R2 One-goal walkthrough</a:t>
            </a:r>
          </a:p>
          <a:p>
            <a:r>
              <a:t xml:space="preserve"/>
            </a:r>
          </a:p>
          <a:p>
            <a:r>
              <a:t xml:space="preserve">**Allocated Time:**</a:t>
            </a:r>
          </a:p>
          <a:p>
            <a:r>
              <a:t xml:space="preserve">4 minutes</a:t>
            </a:r>
          </a:p>
          <a:p>
            <a:r>
              <a:t xml:space="preserve"/>
            </a:r>
          </a:p>
          <a:p>
            <a:r>
              <a:t xml:space="preserve">**Mode Split:**</a:t>
            </a:r>
          </a:p>
          <a:p>
            <a:r>
              <a:t xml:space="preserve">Case 4분</a:t>
            </a:r>
          </a:p>
          <a:p>
            <a:r>
              <a:t xml:space="preserve"/>
            </a:r>
          </a:p>
          <a:p>
            <a:r>
              <a:t xml:space="preserve">**Primary Message:**</a:t>
            </a:r>
          </a:p>
          <a:p>
            <a:r>
              <a:t xml:space="preserve">첫 구현은 검토할 후보이며 완료가 아니다. 가상 v1은 전체 값 복사가 남아 있는 계산 방식이다.</a:t>
            </a:r>
          </a:p>
          <a:p>
            <a:r>
              <a:t xml:space="preserve"/>
            </a:r>
          </a:p>
          <a:p>
            <a:r>
              <a:t xml:space="preserve">**Opening Question:**</a:t>
            </a:r>
          </a:p>
          <a:p>
            <a:r>
              <a:t xml:space="preserve">코드 초안이 나왔다는 사실만으로 할당량 목표를 이뤘다고 할 수 있을까?</a:t>
            </a:r>
          </a:p>
          <a:p>
            <a:r>
              <a:t xml:space="preserve"/>
            </a:r>
          </a:p>
          <a:p>
            <a:r>
              <a:t xml:space="preserve">**Speaker Flow:**</a:t>
            </a:r>
          </a:p>
          <a:p>
            <a:r>
              <a:t xml:space="preserve">1. (0:00–1:00 / Case) 고정된 목표 띠를 다시 짚고 모델 A가 첫 후보를 만드는 단계임을 보인다. 실제 STATE-04-PERF 이후의 회귀나 새 코드 실행이 아니다.</a:t>
            </a:r>
          </a:p>
          <a:p>
            <a:r>
              <a:t xml:space="preserve">2. (1:00–3:00 / Case) 가정한 v1의 전체 값 복사를 짚는다. 통계 결과가 맞아 보이는 것과 임시 할당 감소를 확인하는 것은 별개다. 실제 메모리·시간 수치를 표시하지 않는다.</a:t>
            </a:r>
          </a:p>
          <a:p>
            <a:r>
              <a:t xml:space="preserve">3. (3:00–4:00 / Case) 후보가 나온 시점에서 확인할 자료가 필요하다고 닫는다. 다음 장은 검사할 항목이며 실제 PASS/FAIL을 보여주는 장이 아니다.</a:t>
            </a:r>
          </a:p>
          <a:p>
            <a:r>
              <a:t xml:space="preserve"/>
            </a:r>
          </a:p>
          <a:p>
            <a:r>
              <a:t xml:space="preserve">**Evidence / Source:**</a:t>
            </a:r>
          </a:p>
          <a:p>
            <a:r>
              <a:t xml:space="preserve">DEC-0097; BEAT-075; CASE-LOOP-01; CLM-0021. CASE-LOOP-01의 교육용 설계. 실제 자료와 설계를 구분한다.</a:t>
            </a:r>
          </a:p>
          <a:p>
            <a:r>
              <a:t xml:space="preserve"/>
            </a:r>
          </a:p>
          <a:p>
            <a:r>
              <a:t xml:space="preserve">보존된 상세 출처: 밝기 통계 최적화의 가상 진행 예 · 실제 Trial 또는 실행 캡처 아님</a:t>
            </a:r>
          </a:p>
          <a:p>
            <a:r>
              <a:t xml:space="preserve"/>
            </a:r>
          </a:p>
          <a:p>
            <a:r>
              <a:t xml:space="preserve">**Claim Boundary:**</a:t>
            </a:r>
          </a:p>
          <a:p>
            <a:r>
              <a:t xml:space="preserve">CONCEPTUAL — 교육용 설계이며 실제 구현·검토·재실행·측정·완료 결과가 없다. 기존 Product/Meta Trial을 이 루프의 실행 증거로 바꾸지 않는다.</a:t>
            </a:r>
          </a:p>
          <a:p>
            <a:r>
              <a:t xml:space="preserve"/>
            </a:r>
          </a:p>
          <a:p>
            <a:r>
              <a:t xml:space="preserve">보존된 상세 범위: 후보·지적·수정은 설명용 설계 · 실제 실행·측정·PASS/FAIL 결과 없음</a:t>
            </a:r>
          </a:p>
          <a:p>
            <a:r>
              <a:t xml:space="preserve"/>
            </a:r>
          </a:p>
          <a:p>
            <a:r>
              <a:t xml:space="preserve">**Beginner Explanation:**</a:t>
            </a:r>
          </a:p>
          <a:p>
            <a:r>
              <a:t xml:space="preserve">첫 구현은 검토할 후보이며 완료가 아니다. 가상 v1은 전체 값 복사가 남아 있는 계산 방식이다.</a:t>
            </a:r>
          </a:p>
          <a:p>
            <a:r>
              <a:t xml:space="preserve"/>
            </a:r>
          </a:p>
          <a:p>
            <a:r>
              <a:t xml:space="preserve">**Advanced Insight:**</a:t>
            </a:r>
          </a:p>
          <a:p>
            <a:r>
              <a:t xml:space="preserve">후보 생성·실제 동작·자원 측정을 서로 다른 사건으로 구분한다.</a:t>
            </a:r>
          </a:p>
          <a:p>
            <a:r>
              <a:t xml:space="preserve"/>
            </a:r>
          </a:p>
          <a:p>
            <a:r>
              <a:t xml:space="preserve">**C++ Vision Bridge:**</a:t>
            </a:r>
          </a:p>
          <a:p>
            <a:r>
              <a:t xml:space="preserve">N/A — 같은 명세·검사·검토 원리를 적용할 수 있으나 별도 GPU 사례나 미실행 C++ 코드를 추가하지 않는다.</a:t>
            </a:r>
          </a:p>
          <a:p>
            <a:r>
              <a:t xml:space="preserve"/>
            </a:r>
          </a:p>
          <a:p>
            <a:r>
              <a:t xml:space="preserve">**Demo Operation:**</a:t>
            </a:r>
          </a:p>
          <a:p>
            <a:r>
              <a:t xml:space="preserve">정적 화면을 위에서 아래, 왼쪽에서 오른쪽으로 짚는다. 교육용 진행 예/논문/실제 과거 기록의 표시를 먼저 확인한다. 새 명령·모델 호출·Live Trial은 실행하지 않는다.</a:t>
            </a:r>
          </a:p>
          <a:p>
            <a:r>
              <a:t xml:space="preserve"/>
            </a:r>
          </a:p>
          <a:p>
            <a:r>
              <a:t xml:space="preserve">**Audience Interaction:**</a:t>
            </a:r>
          </a:p>
          <a:p>
            <a:r>
              <a:t xml:space="preserve">N/A — 필수 응답·실습 없이 관찰할 질문만 제시한다.</a:t>
            </a:r>
          </a:p>
          <a:p>
            <a:r>
              <a:t xml:space="preserve"/>
            </a:r>
          </a:p>
          <a:p>
            <a:r>
              <a:t xml:space="preserve">**Transition:**</a:t>
            </a:r>
          </a:p>
          <a:p>
            <a:r>
              <a:t xml:space="preserve">다음은 실제 동작과 비용은 도구로 확인한다의 질문으로 이어간다.</a:t>
            </a:r>
          </a:p>
          <a:p>
            <a:r>
              <a:t xml:space="preserve"/>
            </a:r>
          </a:p>
          <a:p>
            <a:r>
              <a:t xml:space="preserve">**Time Management:**</a:t>
            </a:r>
          </a:p>
          <a:p>
            <a:r>
              <a:t xml:space="preserve">Case 4분 = 4분. 위 Speaker Flow의 Mode 경계를 유지한다. 초과 시 Advanced Insight를 줄이고 핵심 그림·근거 범위·다음 전환은 보존한다. 실제 리허설은 UNVERIFIED다.</a:t>
            </a:r>
          </a:p>
          <a:p>
            <a:r>
              <a:t xml:space="preserve"/>
            </a:r>
          </a:p>
          <a:p>
            <a:r>
              <a:t xml:space="preserve">**Fallback:**</a:t>
            </a:r>
          </a:p>
          <a:p>
            <a:r>
              <a:t xml:space="preserve">LOCAL STATIC ARTIFACT — production/ACT_4.pptx의 S88; production/preview/act4/S88.png 및 production/preview/full/S88.png. 이 구간은 Live 실행을 전제하지 않는다. 실제 발표 PC 재생은 UNVERIFIED다.</a:t>
            </a:r>
          </a:p>
          <a:p>
            <a:r>
              <a:t xml:space="preserve"/>
            </a:r>
          </a:p>
          <a:p>
            <a:r>
              <a:t xml:space="preserve">**Validation Status:**</a:t>
            </a:r>
          </a:p>
          <a:p>
            <a:r>
              <a:t xml:space="preserve">REVIEWED — DEC-0097의 내용·근거 정렬. 최종 로컬 구조·렌더·Notes 검사는 production/evaluation/ACT_4_GOAL_LOOP_REVISION.md에 기록. Windows/교육장/제품·계정/실측 리허설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 xml:space="preserve">## S89 — 실제 동작과 비용은 도구로 확인한다</a:t>
            </a:r>
          </a:p>
          <a:p>
            <a:r>
              <a:t xml:space="preserve"/>
            </a:r>
          </a:p>
          <a:p>
            <a:r>
              <a:t xml:space="preserve">**Slide ID:**</a:t>
            </a:r>
          </a:p>
          <a:p>
            <a:r>
              <a:t xml:space="preserve">S89</a:t>
            </a:r>
          </a:p>
          <a:p>
            <a:r>
              <a:t xml:space="preserve"/>
            </a:r>
          </a:p>
          <a:p>
            <a:r>
              <a:t xml:space="preserve">**Working Title:**</a:t>
            </a:r>
          </a:p>
          <a:p>
            <a:r>
              <a:t xml:space="preserve">실제 동작과 비용은 도구로 확인한다</a:t>
            </a:r>
          </a:p>
          <a:p>
            <a:r>
              <a:t xml:space="preserve"/>
            </a:r>
          </a:p>
          <a:p>
            <a:r>
              <a:t xml:space="preserve">**ACT / Section:**</a:t>
            </a:r>
          </a:p>
          <a:p>
            <a:r>
              <a:t xml:space="preserve">ACT 4 / 4R2 One-goal walkthrough</a:t>
            </a:r>
          </a:p>
          <a:p>
            <a:r>
              <a:t xml:space="preserve"/>
            </a:r>
          </a:p>
          <a:p>
            <a:r>
              <a:t xml:space="preserve">**Allocated Time:**</a:t>
            </a:r>
          </a:p>
          <a:p>
            <a:r>
              <a:t xml:space="preserve">5 minutes</a:t>
            </a:r>
          </a:p>
          <a:p>
            <a:r>
              <a:t xml:space="preserve"/>
            </a:r>
          </a:p>
          <a:p>
            <a:r>
              <a:t xml:space="preserve">**Mode Split:**</a:t>
            </a:r>
          </a:p>
          <a:p>
            <a:r>
              <a:t xml:space="preserve">Lecture 2분 + Case 3분</a:t>
            </a:r>
          </a:p>
          <a:p>
            <a:r>
              <a:t xml:space="preserve"/>
            </a:r>
          </a:p>
          <a:p>
            <a:r>
              <a:t xml:space="preserve">**Primary Message:**</a:t>
            </a:r>
          </a:p>
          <a:p>
            <a:r>
              <a:t xml:space="preserve">모델의 설명을 실제 검사·측정 기록으로 대조하도록 검증을 설계한다.</a:t>
            </a:r>
          </a:p>
          <a:p>
            <a:r>
              <a:t xml:space="preserve"/>
            </a:r>
          </a:p>
          <a:p>
            <a:r>
              <a:t xml:space="preserve">**Opening Question:**</a:t>
            </a:r>
          </a:p>
          <a:p>
            <a:r>
              <a:t xml:space="preserve">완료 기준의 각 항목을 어떤 자료로 확인해야 할까?</a:t>
            </a:r>
          </a:p>
          <a:p>
            <a:r>
              <a:t xml:space="preserve"/>
            </a:r>
          </a:p>
          <a:p>
            <a:r>
              <a:t xml:space="preserve">**Speaker Flow:**</a:t>
            </a:r>
          </a:p>
          <a:p>
            <a:r>
              <a:t xml:space="preserve">1. (0:00–2:00 / Lecture) 출력과 동작은 명세를 확인하는 테스트, 할당량은 대표 입력의 측정, 시간은 같은 환경에서의 반복 측정으로 확인한다고 연결한다.</a:t>
            </a:r>
          </a:p>
          <a:p>
            <a:r>
              <a:t xml:space="preserve">2. (2:00–5:00 / Case) 검사를 계획했다는 것과 실행 결과를 얻었다는 것을 구분한다. 이 장에는 실행 결과가 없다. 실제 운영에서는 입력·환경·명령·결과·미확인을 검토 모델에게 함께 넘긴다.</a:t>
            </a:r>
          </a:p>
          <a:p>
            <a:r>
              <a:t xml:space="preserve"/>
            </a:r>
          </a:p>
          <a:p>
            <a:r>
              <a:t xml:space="preserve">**Evidence / Source:**</a:t>
            </a:r>
          </a:p>
          <a:p>
            <a:r>
              <a:t xml:space="preserve">DEC-0097; BEAT-075; CASE-LOOP-01; CLM-0021. CASE-LOOP-01의 교육용 설계. 실제 자료와 설계를 구분한다.</a:t>
            </a:r>
          </a:p>
          <a:p>
            <a:r>
              <a:t xml:space="preserve"/>
            </a:r>
          </a:p>
          <a:p>
            <a:r>
              <a:t xml:space="preserve">보존된 상세 출처: 밝기 통계 최적화의 가상 진행 예 · 실제 Trial 또는 실행 캡처 아님</a:t>
            </a:r>
          </a:p>
          <a:p>
            <a:r>
              <a:t xml:space="preserve"/>
            </a:r>
          </a:p>
          <a:p>
            <a:r>
              <a:t xml:space="preserve">**Claim Boundary:**</a:t>
            </a:r>
          </a:p>
          <a:p>
            <a:r>
              <a:t xml:space="preserve">CONCEPTUAL — 교육용 설계이며 실제 구현·검토·재실행·측정·완료 결과가 없다. 기존 Product/Meta Trial을 이 루프의 실행 증거로 바꾸지 않는다.</a:t>
            </a:r>
          </a:p>
          <a:p>
            <a:r>
              <a:t xml:space="preserve"/>
            </a:r>
          </a:p>
          <a:p>
            <a:r>
              <a:t xml:space="preserve">보존된 상세 범위: 검사할 항목의 설계 · 실제 명령 실행·측정값·통과 결과를 제시하는 장이 아님</a:t>
            </a:r>
          </a:p>
          <a:p>
            <a:r>
              <a:t xml:space="preserve"/>
            </a:r>
          </a:p>
          <a:p>
            <a:r>
              <a:t xml:space="preserve">**Beginner Explanation:**</a:t>
            </a:r>
          </a:p>
          <a:p>
            <a:r>
              <a:t xml:space="preserve">모델의 설명을 실제 검사·측정 기록으로 대조하도록 검증을 설계한다.</a:t>
            </a:r>
          </a:p>
          <a:p>
            <a:r>
              <a:t xml:space="preserve"/>
            </a:r>
          </a:p>
          <a:p>
            <a:r>
              <a:t xml:space="preserve">**Advanced Insight:**</a:t>
            </a:r>
          </a:p>
          <a:p>
            <a:r>
              <a:t xml:space="preserve">테스트 통과도 확인한 범위의 근거다. 모든 결함 부재나 숨은 요구 충족을 보장하지 않는다.</a:t>
            </a:r>
          </a:p>
          <a:p>
            <a:r>
              <a:t xml:space="preserve"/>
            </a:r>
          </a:p>
          <a:p>
            <a:r>
              <a:t xml:space="preserve">**C++ Vision Bridge:**</a:t>
            </a:r>
          </a:p>
          <a:p>
            <a:r>
              <a:t xml:space="preserve">N/A — 같은 명세·검사·검토 원리를 적용할 수 있으나 별도 GPU 사례나 미실행 C++ 코드를 추가하지 않는다.</a:t>
            </a:r>
          </a:p>
          <a:p>
            <a:r>
              <a:t xml:space="preserve"/>
            </a:r>
          </a:p>
          <a:p>
            <a:r>
              <a:t xml:space="preserve">**Demo Operation:**</a:t>
            </a:r>
          </a:p>
          <a:p>
            <a:r>
              <a:t xml:space="preserve">정적 화면을 위에서 아래, 왼쪽에서 오른쪽으로 짚는다. 교육용 진행 예/논문/실제 과거 기록의 표시를 먼저 확인한다. 새 명령·모델 호출·Live Trial은 실행하지 않는다.</a:t>
            </a:r>
          </a:p>
          <a:p>
            <a:r>
              <a:t xml:space="preserve"/>
            </a:r>
          </a:p>
          <a:p>
            <a:r>
              <a:t xml:space="preserve">**Audience Interaction:**</a:t>
            </a:r>
          </a:p>
          <a:p>
            <a:r>
              <a:t xml:space="preserve">N/A — 필수 응답·실습 없이 관찰할 질문만 제시한다.</a:t>
            </a:r>
          </a:p>
          <a:p>
            <a:r>
              <a:t xml:space="preserve"/>
            </a:r>
          </a:p>
          <a:p>
            <a:r>
              <a:t xml:space="preserve">**Transition:**</a:t>
            </a:r>
          </a:p>
          <a:p>
            <a:r>
              <a:t xml:space="preserve">다음은 모델 B는 무엇을 근거로 검토할까?의 질문으로 이어간다.</a:t>
            </a:r>
          </a:p>
          <a:p>
            <a:r>
              <a:t xml:space="preserve"/>
            </a:r>
          </a:p>
          <a:p>
            <a:r>
              <a:t xml:space="preserve">**Time Management:**</a:t>
            </a:r>
          </a:p>
          <a:p>
            <a:r>
              <a:t xml:space="preserve">Lecture 2분 + Case 3분 = 5분. 위 Speaker Flow의 Mode 경계를 유지한다. 초과 시 Advanced Insight를 줄이고 핵심 그림·근거 범위·다음 전환은 보존한다. 실제 리허설은 UNVERIFIED다.</a:t>
            </a:r>
          </a:p>
          <a:p>
            <a:r>
              <a:t xml:space="preserve"/>
            </a:r>
          </a:p>
          <a:p>
            <a:r>
              <a:t xml:space="preserve">**Fallback:**</a:t>
            </a:r>
          </a:p>
          <a:p>
            <a:r>
              <a:t xml:space="preserve">LOCAL STATIC ARTIFACT — production/ACT_4.pptx의 S89; production/preview/act4/S89.png 및 production/preview/full/S89.png. 이 구간은 Live 실행을 전제하지 않는다. 실제 발표 PC 재생은 UNVERIFIED다.</a:t>
            </a:r>
          </a:p>
          <a:p>
            <a:r>
              <a:t xml:space="preserve"/>
            </a:r>
          </a:p>
          <a:p>
            <a:r>
              <a:t xml:space="preserve">**Validation Status:**</a:t>
            </a:r>
          </a:p>
          <a:p>
            <a:r>
              <a:t xml:space="preserve">REVIEWED — DEC-0097의 내용·근거 정렬. 최종 로컬 구조·렌더·Notes 검사는 production/evaluation/ACT_4_GOAL_LOOP_REVISION.md에 기록. Windows/교육장/제품·계정/실측 리허설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 xml:space="preserve">## S90 — 모델 B는 무엇을 근거로 검토할까?</a:t>
            </a:r>
          </a:p>
          <a:p>
            <a:r>
              <a:t xml:space="preserve"/>
            </a:r>
          </a:p>
          <a:p>
            <a:r>
              <a:t xml:space="preserve">**Slide ID:**</a:t>
            </a:r>
          </a:p>
          <a:p>
            <a:r>
              <a:t xml:space="preserve">S90</a:t>
            </a:r>
          </a:p>
          <a:p>
            <a:r>
              <a:t xml:space="preserve"/>
            </a:r>
          </a:p>
          <a:p>
            <a:r>
              <a:t xml:space="preserve">**Working Title:**</a:t>
            </a:r>
          </a:p>
          <a:p>
            <a:r>
              <a:t xml:space="preserve">모델 B는 무엇을 근거로 검토할까?</a:t>
            </a:r>
          </a:p>
          <a:p>
            <a:r>
              <a:t xml:space="preserve"/>
            </a:r>
          </a:p>
          <a:p>
            <a:r>
              <a:t xml:space="preserve">**ACT / Section:**</a:t>
            </a:r>
          </a:p>
          <a:p>
            <a:r>
              <a:t xml:space="preserve">ACT 4 / 4R2 One-goal walkthrough</a:t>
            </a:r>
          </a:p>
          <a:p>
            <a:r>
              <a:t xml:space="preserve"/>
            </a:r>
          </a:p>
          <a:p>
            <a:r>
              <a:t xml:space="preserve">**Allocated Time:**</a:t>
            </a:r>
          </a:p>
          <a:p>
            <a:r>
              <a:t xml:space="preserve">5 minutes</a:t>
            </a:r>
          </a:p>
          <a:p>
            <a:r>
              <a:t xml:space="preserve"/>
            </a:r>
          </a:p>
          <a:p>
            <a:r>
              <a:t xml:space="preserve">**Mode Split:**</a:t>
            </a:r>
          </a:p>
          <a:p>
            <a:r>
              <a:t xml:space="preserve">Case 5분</a:t>
            </a:r>
          </a:p>
          <a:p>
            <a:r>
              <a:t xml:space="preserve"/>
            </a:r>
          </a:p>
          <a:p>
            <a:r>
              <a:t xml:space="preserve">**Primary Message:**</a:t>
            </a:r>
          </a:p>
          <a:p>
            <a:r>
              <a:t xml:space="preserve">다른 모델 B는 목표·명세·diff·검사 기록을 근거로 구체적인 검토 지적을 만든다.</a:t>
            </a:r>
          </a:p>
          <a:p>
            <a:r>
              <a:t xml:space="preserve"/>
            </a:r>
          </a:p>
          <a:p>
            <a:r>
              <a:t xml:space="preserve">**Opening Question:**</a:t>
            </a:r>
          </a:p>
          <a:p>
            <a:r>
              <a:t xml:space="preserve">잘 검토해 달라는 말에 무엇을 함께 전달해야 할까?</a:t>
            </a:r>
          </a:p>
          <a:p>
            <a:r>
              <a:t xml:space="preserve"/>
            </a:r>
          </a:p>
          <a:p>
            <a:r>
              <a:t xml:space="preserve">**Speaker Flow:**</a:t>
            </a:r>
          </a:p>
          <a:p>
            <a:r>
              <a:t xml:space="preserve">1. (0:00–2:00 / Case) 왼쪽의 명세·완료 기준, 후보 변경, 검사 기록을 짚는다. 모델 A가 잘 됐다고 요약한 말만 넘기는 대신 검토 가능한 원자료를 제공한다.</a:t>
            </a:r>
          </a:p>
          <a:p>
            <a:r>
              <a:t xml:space="preserve">2. (2:00–4:00 / Case) 가상 v1에서 임시 목록이 남았다는 지적과 대표 입력의 확인 자료가 없다는 지적을 구분한다. 두 번째는 동작 실패가 관찰됐다는 뜻이 아니다.</a:t>
            </a:r>
          </a:p>
          <a:p>
            <a:r>
              <a:t xml:space="preserve">3. (4:00–5:00 / Case) 검토 결과에는 파일·위치, 위반 기준, 근거와 다음에 확인할 것을 담는다. 모델 B는 다른 모델 역할의 설계이며 실제 조합이나 실행 기록은 아직 없다.</a:t>
            </a:r>
          </a:p>
          <a:p>
            <a:r>
              <a:t xml:space="preserve"/>
            </a:r>
          </a:p>
          <a:p>
            <a:r>
              <a:t xml:space="preserve">**Evidence / Source:**</a:t>
            </a:r>
          </a:p>
          <a:p>
            <a:r>
              <a:t xml:space="preserve">DEC-0097; BEAT-076; CASE-LOOP-01; CLM-0021. CASE-LOOP-01의 교육용 설계. 실제 자료와 설계를 구분한다.</a:t>
            </a:r>
          </a:p>
          <a:p>
            <a:r>
              <a:t xml:space="preserve"/>
            </a:r>
          </a:p>
          <a:p>
            <a:r>
              <a:t xml:space="preserve">보존된 상세 출처: 밝기 통계 최적화의 가상 진행 예 · 실제 Trial 또는 실행 캡처 아님</a:t>
            </a:r>
          </a:p>
          <a:p>
            <a:r>
              <a:t xml:space="preserve"/>
            </a:r>
          </a:p>
          <a:p>
            <a:r>
              <a:t xml:space="preserve">**Claim Boundary:**</a:t>
            </a:r>
          </a:p>
          <a:p>
            <a:r>
              <a:t xml:space="preserve">CONCEPTUAL — 교육용 설계이며 실제 구현·검토·재실행·측정·완료 결과가 없다. 기존 Product/Meta Trial을 이 루프의 실행 증거로 바꾸지 않는다.</a:t>
            </a:r>
          </a:p>
          <a:p>
            <a:r>
              <a:t xml:space="preserve"/>
            </a:r>
          </a:p>
          <a:p>
            <a:r>
              <a:t xml:space="preserve">보존된 상세 범위: 후보·지적·수정은 설명용 설계 · 실제 실행·측정·PASS/FAIL 결과 없음</a:t>
            </a:r>
          </a:p>
          <a:p>
            <a:r>
              <a:t xml:space="preserve"/>
            </a:r>
          </a:p>
          <a:p>
            <a:r>
              <a:t xml:space="preserve">**Beginner Explanation:**</a:t>
            </a:r>
          </a:p>
          <a:p>
            <a:r>
              <a:t xml:space="preserve">다른 모델 B는 목표·명세·diff·검사 기록을 근거로 구체적인 검토 지적을 만든다.</a:t>
            </a:r>
          </a:p>
          <a:p>
            <a:r>
              <a:t xml:space="preserve"/>
            </a:r>
          </a:p>
          <a:p>
            <a:r>
              <a:t xml:space="preserve">**Advanced Insight:**</a:t>
            </a:r>
          </a:p>
          <a:p>
            <a:r>
              <a:t xml:space="preserve">검토자는 구현 모델의 결론을 반복하는 대신 명세와 변경·검사 기록을 독립적으로 대조하도록 설계한다.</a:t>
            </a:r>
          </a:p>
          <a:p>
            <a:r>
              <a:t xml:space="preserve"/>
            </a:r>
          </a:p>
          <a:p>
            <a:r>
              <a:t xml:space="preserve">**C++ Vision Bridge:**</a:t>
            </a:r>
          </a:p>
          <a:p>
            <a:r>
              <a:t xml:space="preserve">N/A — 같은 명세·검사·검토 원리를 적용할 수 있으나 별도 GPU 사례나 미실행 C++ 코드를 추가하지 않는다.</a:t>
            </a:r>
          </a:p>
          <a:p>
            <a:r>
              <a:t xml:space="preserve"/>
            </a:r>
          </a:p>
          <a:p>
            <a:r>
              <a:t xml:space="preserve">**Demo Operation:**</a:t>
            </a:r>
          </a:p>
          <a:p>
            <a:r>
              <a:t xml:space="preserve">정적 화면을 위에서 아래, 왼쪽에서 오른쪽으로 짚는다. 교육용 진행 예/논문/실제 과거 기록의 표시를 먼저 확인한다. 새 명령·모델 호출·Live Trial은 실행하지 않는다.</a:t>
            </a:r>
          </a:p>
          <a:p>
            <a:r>
              <a:t xml:space="preserve"/>
            </a:r>
          </a:p>
          <a:p>
            <a:r>
              <a:t xml:space="preserve">**Audience Interaction:**</a:t>
            </a:r>
          </a:p>
          <a:p>
            <a:r>
              <a:t xml:space="preserve">N/A — 필수 응답·실습 없이 관찰할 질문만 제시한다.</a:t>
            </a:r>
          </a:p>
          <a:p>
            <a:r>
              <a:t xml:space="preserve"/>
            </a:r>
          </a:p>
          <a:p>
            <a:r>
              <a:t xml:space="preserve">**Transition:**</a:t>
            </a:r>
          </a:p>
          <a:p>
            <a:r>
              <a:t xml:space="preserve">다음은 지적이 다음 수정으로 이어진다의 질문으로 이어간다.</a:t>
            </a:r>
          </a:p>
          <a:p>
            <a:r>
              <a:t xml:space="preserve"/>
            </a:r>
          </a:p>
          <a:p>
            <a:r>
              <a:t xml:space="preserve">**Time Management:**</a:t>
            </a:r>
          </a:p>
          <a:p>
            <a:r>
              <a:t xml:space="preserve">Case 5분 = 5분. 위 Speaker Flow의 Mode 경계를 유지한다. 초과 시 Advanced Insight를 줄이고 핵심 그림·근거 범위·다음 전환은 보존한다. 실제 리허설은 UNVERIFIED다.</a:t>
            </a:r>
          </a:p>
          <a:p>
            <a:r>
              <a:t xml:space="preserve"/>
            </a:r>
          </a:p>
          <a:p>
            <a:r>
              <a:t xml:space="preserve">**Fallback:**</a:t>
            </a:r>
          </a:p>
          <a:p>
            <a:r>
              <a:t xml:space="preserve">LOCAL STATIC ARTIFACT — production/ACT_4.pptx의 S90; production/preview/act4/S90.png 및 production/preview/full/S90.png. 이 구간은 Live 실행을 전제하지 않는다. 실제 발표 PC 재생은 UNVERIFIED다.</a:t>
            </a:r>
          </a:p>
          <a:p>
            <a:r>
              <a:t xml:space="preserve"/>
            </a:r>
          </a:p>
          <a:p>
            <a:r>
              <a:t xml:space="preserve">**Validation Status:**</a:t>
            </a:r>
          </a:p>
          <a:p>
            <a:r>
              <a:t xml:space="preserve">REVIEWED — DEC-0097의 내용·근거 정렬. 최종 로컬 구조·렌더·Notes 검사는 production/evaluation/ACT_4_GOAL_LOOP_REVISION.md에 기록. Windows/교육장/제품·계정/실측 리허설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 xml:space="preserve">## S91 — 지적이 다음 수정으로 이어진다</a:t>
            </a:r>
          </a:p>
          <a:p>
            <a:r>
              <a:t xml:space="preserve"/>
            </a:r>
          </a:p>
          <a:p>
            <a:r>
              <a:t xml:space="preserve">**Slide ID:**</a:t>
            </a:r>
          </a:p>
          <a:p>
            <a:r>
              <a:t xml:space="preserve">S91</a:t>
            </a:r>
          </a:p>
          <a:p>
            <a:r>
              <a:t xml:space="preserve"/>
            </a:r>
          </a:p>
          <a:p>
            <a:r>
              <a:t xml:space="preserve">**Working Title:**</a:t>
            </a:r>
          </a:p>
          <a:p>
            <a:r>
              <a:t xml:space="preserve">지적이 다음 수정으로 이어진다</a:t>
            </a:r>
          </a:p>
          <a:p>
            <a:r>
              <a:t xml:space="preserve"/>
            </a:r>
          </a:p>
          <a:p>
            <a:r>
              <a:t xml:space="preserve">**ACT / Section:**</a:t>
            </a:r>
          </a:p>
          <a:p>
            <a:r>
              <a:t xml:space="preserve">ACT 4 / 4R2 One-goal walkthrough</a:t>
            </a:r>
          </a:p>
          <a:p>
            <a:r>
              <a:t xml:space="preserve"/>
            </a:r>
          </a:p>
          <a:p>
            <a:r>
              <a:t xml:space="preserve">**Allocated Time:**</a:t>
            </a:r>
          </a:p>
          <a:p>
            <a:r>
              <a:t xml:space="preserve">4 minutes</a:t>
            </a:r>
          </a:p>
          <a:p>
            <a:r>
              <a:t xml:space="preserve"/>
            </a:r>
          </a:p>
          <a:p>
            <a:r>
              <a:t xml:space="preserve">**Mode Split:**</a:t>
            </a:r>
          </a:p>
          <a:p>
            <a:r>
              <a:t xml:space="preserve">Case 4분</a:t>
            </a:r>
          </a:p>
          <a:p>
            <a:r>
              <a:t xml:space="preserve"/>
            </a:r>
          </a:p>
          <a:p>
            <a:r>
              <a:t xml:space="preserve">**Primary Message:**</a:t>
            </a:r>
          </a:p>
          <a:p>
            <a:r>
              <a:t xml:space="preserve">검토 지적의 번호를 유지해 다음 변경 후보가 무엇을 고치는지 연결한다.</a:t>
            </a:r>
          </a:p>
          <a:p>
            <a:r>
              <a:t xml:space="preserve"/>
            </a:r>
          </a:p>
          <a:p>
            <a:r>
              <a:t xml:space="preserve">**Opening Question:**</a:t>
            </a:r>
          </a:p>
          <a:p>
            <a:r>
              <a:t xml:space="preserve">검토에서 찾은 문제는 다음 변경의 어느 부분으로 이어졌을까?</a:t>
            </a:r>
          </a:p>
          <a:p>
            <a:r>
              <a:t xml:space="preserve"/>
            </a:r>
          </a:p>
          <a:p>
            <a:r>
              <a:t xml:space="preserve">**Speaker Flow:**</a:t>
            </a:r>
          </a:p>
          <a:p>
            <a:r>
              <a:t xml:space="preserve">1. (0:00–1:00 / Case) 앞 장의 지적 ①과 ②를 같은 번호로 이어 받는다. 새 목표를 추가하는 장이 아니다.</a:t>
            </a:r>
          </a:p>
          <a:p>
            <a:r>
              <a:t xml:space="preserve">2. (1:00–3:00 / Case) ① 전체 값 복사 제거, ② 같은 결과 검사 추가라는 후보 변경을 각각 연결한다. 실행하지 않은 수정·테스트를 실제 이력으로 말하지 않는다.</a:t>
            </a:r>
          </a:p>
          <a:p>
            <a:r>
              <a:t xml:space="preserve">3. (3:00–4:00 / Case) 지적은 검증 후 수용·기각할 수 있다. 지금 그림은 지적이 타당하다고 가정한 설계이며 수정 후에는 같은 기준으로 다시 확인해야 한다고 넘긴다.</a:t>
            </a:r>
          </a:p>
          <a:p>
            <a:r>
              <a:t xml:space="preserve"/>
            </a:r>
          </a:p>
          <a:p>
            <a:r>
              <a:t xml:space="preserve">**Evidence / Source:**</a:t>
            </a:r>
          </a:p>
          <a:p>
            <a:r>
              <a:t xml:space="preserve">DEC-0097; BEAT-077; CASE-LOOP-01; CLM-0021. CASE-LOOP-01의 교육용 설계. 실제 자료와 설계를 구분한다.</a:t>
            </a:r>
          </a:p>
          <a:p>
            <a:r>
              <a:t xml:space="preserve"/>
            </a:r>
          </a:p>
          <a:p>
            <a:r>
              <a:t xml:space="preserve">보존된 상세 출처: 밝기 통계 최적화의 가상 진행 예 · 실제 Trial 또는 실행 캡처 아님</a:t>
            </a:r>
          </a:p>
          <a:p>
            <a:r>
              <a:t xml:space="preserve"/>
            </a:r>
          </a:p>
          <a:p>
            <a:r>
              <a:t xml:space="preserve">**Claim Boundary:**</a:t>
            </a:r>
          </a:p>
          <a:p>
            <a:r>
              <a:t xml:space="preserve">CONCEPTUAL — 교육용 설계이며 실제 구현·검토·재실행·측정·완료 결과가 없다. 기존 Product/Meta Trial을 이 루프의 실행 증거로 바꾸지 않는다.</a:t>
            </a:r>
          </a:p>
          <a:p>
            <a:r>
              <a:t xml:space="preserve"/>
            </a:r>
          </a:p>
          <a:p>
            <a:r>
              <a:t xml:space="preserve">보존된 상세 범위: 후보·지적·수정은 설명용 설계 · 실제 실행·측정·PASS/FAIL 결과 없음</a:t>
            </a:r>
          </a:p>
          <a:p>
            <a:r>
              <a:t xml:space="preserve"/>
            </a:r>
          </a:p>
          <a:p>
            <a:r>
              <a:t xml:space="preserve">**Beginner Explanation:**</a:t>
            </a:r>
          </a:p>
          <a:p>
            <a:r>
              <a:t xml:space="preserve">검토 지적의 번호를 유지해 다음 변경 후보가 무엇을 고치는지 연결한다.</a:t>
            </a:r>
          </a:p>
          <a:p>
            <a:r>
              <a:t xml:space="preserve"/>
            </a:r>
          </a:p>
          <a:p>
            <a:r>
              <a:t xml:space="preserve">**Advanced Insight:**</a:t>
            </a:r>
          </a:p>
          <a:p>
            <a:r>
              <a:t xml:space="preserve">각 변경의 이유와 검토 항목을 연결하면 다음 검토자가 해결·미해결 여부를 추적할 수 있다.</a:t>
            </a:r>
          </a:p>
          <a:p>
            <a:r>
              <a:t xml:space="preserve"/>
            </a:r>
          </a:p>
          <a:p>
            <a:r>
              <a:t xml:space="preserve">**C++ Vision Bridge:**</a:t>
            </a:r>
          </a:p>
          <a:p>
            <a:r>
              <a:t xml:space="preserve">N/A — 같은 명세·검사·검토 원리를 적용할 수 있으나 별도 GPU 사례나 미실행 C++ 코드를 추가하지 않는다.</a:t>
            </a:r>
          </a:p>
          <a:p>
            <a:r>
              <a:t xml:space="preserve"/>
            </a:r>
          </a:p>
          <a:p>
            <a:r>
              <a:t xml:space="preserve">**Demo Operation:**</a:t>
            </a:r>
          </a:p>
          <a:p>
            <a:r>
              <a:t xml:space="preserve">정적 화면을 위에서 아래, 왼쪽에서 오른쪽으로 짚는다. 교육용 진행 예/논문/실제 과거 기록의 표시를 먼저 확인한다. 새 명령·모델 호출·Live Trial은 실행하지 않는다.</a:t>
            </a:r>
          </a:p>
          <a:p>
            <a:r>
              <a:t xml:space="preserve"/>
            </a:r>
          </a:p>
          <a:p>
            <a:r>
              <a:t xml:space="preserve">**Audience Interaction:**</a:t>
            </a:r>
          </a:p>
          <a:p>
            <a:r>
              <a:t xml:space="preserve">N/A — 필수 응답·실습 없이 관찰할 질문만 제시한다.</a:t>
            </a:r>
          </a:p>
          <a:p>
            <a:r>
              <a:t xml:space="preserve"/>
            </a:r>
          </a:p>
          <a:p>
            <a:r>
              <a:t xml:space="preserve">**Transition:**</a:t>
            </a:r>
          </a:p>
          <a:p>
            <a:r>
              <a:t xml:space="preserve">다음은 고쳤다면, 같은 기준으로 다시 본다의 질문으로 이어간다.</a:t>
            </a:r>
          </a:p>
          <a:p>
            <a:r>
              <a:t xml:space="preserve"/>
            </a:r>
          </a:p>
          <a:p>
            <a:r>
              <a:t xml:space="preserve">**Time Management:**</a:t>
            </a:r>
          </a:p>
          <a:p>
            <a:r>
              <a:t xml:space="preserve">Case 4분 = 4분. 위 Speaker Flow의 Mode 경계를 유지한다. 초과 시 Advanced Insight를 줄이고 핵심 그림·근거 범위·다음 전환은 보존한다. 실제 리허설은 UNVERIFIED다.</a:t>
            </a:r>
          </a:p>
          <a:p>
            <a:r>
              <a:t xml:space="preserve"/>
            </a:r>
          </a:p>
          <a:p>
            <a:r>
              <a:t xml:space="preserve">**Fallback:**</a:t>
            </a:r>
          </a:p>
          <a:p>
            <a:r>
              <a:t xml:space="preserve">LOCAL STATIC ARTIFACT — production/ACT_4.pptx의 S91; production/preview/act4/S91.png 및 production/preview/full/S91.png. 이 구간은 Live 실행을 전제하지 않는다. 실제 발표 PC 재생은 UNVERIFIED다.</a:t>
            </a:r>
          </a:p>
          <a:p>
            <a:r>
              <a:t xml:space="preserve"/>
            </a:r>
          </a:p>
          <a:p>
            <a:r>
              <a:t xml:space="preserve">**Validation Status:**</a:t>
            </a:r>
          </a:p>
          <a:p>
            <a:r>
              <a:t xml:space="preserve">REVIEWED — DEC-0097의 내용·근거 정렬. 최종 로컬 구조·렌더·Notes 검사는 production/evaluation/ACT_4_GOAL_LOOP_REVISION.md에 기록. Windows/교육장/제품·계정/실측 리허설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 xml:space="preserve">## S92 — 고쳤다면, 같은 기준으로 다시 본다</a:t>
            </a:r>
          </a:p>
          <a:p>
            <a:r>
              <a:t xml:space="preserve"/>
            </a:r>
          </a:p>
          <a:p>
            <a:r>
              <a:t xml:space="preserve">**Slide ID:**</a:t>
            </a:r>
          </a:p>
          <a:p>
            <a:r>
              <a:t xml:space="preserve">S92</a:t>
            </a:r>
          </a:p>
          <a:p>
            <a:r>
              <a:t xml:space="preserve"/>
            </a:r>
          </a:p>
          <a:p>
            <a:r>
              <a:t xml:space="preserve">**Working Title:**</a:t>
            </a:r>
          </a:p>
          <a:p>
            <a:r>
              <a:t xml:space="preserve">고쳤다면, 같은 기준으로 다시 본다</a:t>
            </a:r>
          </a:p>
          <a:p>
            <a:r>
              <a:t xml:space="preserve"/>
            </a:r>
          </a:p>
          <a:p>
            <a:r>
              <a:t xml:space="preserve">**ACT / Section:**</a:t>
            </a:r>
          </a:p>
          <a:p>
            <a:r>
              <a:t xml:space="preserve">ACT 4 / 4R2 One-goal walkthrough</a:t>
            </a:r>
          </a:p>
          <a:p>
            <a:r>
              <a:t xml:space="preserve"/>
            </a:r>
          </a:p>
          <a:p>
            <a:r>
              <a:t xml:space="preserve">**Allocated Time:**</a:t>
            </a:r>
          </a:p>
          <a:p>
            <a:r>
              <a:t xml:space="preserve">4 minutes</a:t>
            </a:r>
          </a:p>
          <a:p>
            <a:r>
              <a:t xml:space="preserve"/>
            </a:r>
          </a:p>
          <a:p>
            <a:r>
              <a:t xml:space="preserve">**Mode Split:**</a:t>
            </a:r>
          </a:p>
          <a:p>
            <a:r>
              <a:t xml:space="preserve">Case 4분</a:t>
            </a:r>
          </a:p>
          <a:p>
            <a:r>
              <a:t xml:space="preserve"/>
            </a:r>
          </a:p>
          <a:p>
            <a:r>
              <a:t xml:space="preserve">**Primary Message:**</a:t>
            </a:r>
          </a:p>
          <a:p>
            <a:r>
              <a:t xml:space="preserve">후보 v2를 같은 기준으로 재검증·재검토하고 남은 지적은 다음 수정으로 되돌린다.</a:t>
            </a:r>
          </a:p>
          <a:p>
            <a:r>
              <a:t xml:space="preserve"/>
            </a:r>
          </a:p>
          <a:p>
            <a:r>
              <a:t xml:space="preserve">**Opening Question:**</a:t>
            </a:r>
          </a:p>
          <a:p>
            <a:r>
              <a:t xml:space="preserve">지적한 부분을 고쳤다면 바로 끝내도 될까?</a:t>
            </a:r>
          </a:p>
          <a:p>
            <a:r>
              <a:t xml:space="preserve"/>
            </a:r>
          </a:p>
          <a:p>
            <a:r>
              <a:t xml:space="preserve">**Speaker Flow:**</a:t>
            </a:r>
          </a:p>
          <a:p>
            <a:r>
              <a:t xml:space="preserve">1. (0:00–2:00 / Case) 후보 v2와 갱신된 기록을 같은 목표 띠 아래에서 보여준다. 출력·할당량·시간 조건을 다시 대조하며 기존 동작의 회귀도 확인한다.</a:t>
            </a:r>
          </a:p>
          <a:p>
            <a:r>
              <a:t xml:space="preserve">2. (2:00–3:00 / Case) 조건을 충족했다는 근거가 있으면 완료 판단으로, 남은 문제가 있으면 다음 후보로 이어지는 분기를 짚는다. 실제 v2 성공·v3 실행은 관찰하지 않았다.</a:t>
            </a:r>
          </a:p>
          <a:p>
            <a:r>
              <a:t xml:space="preserve">3. (3:00–4:00 / Case) 완료 기준을 낮춰서 끝내지 않는다고 회수한다. 지금까지 단계별로 본 연결을 다음 장에서 하나의 루프로 묶는다.</a:t>
            </a:r>
          </a:p>
          <a:p>
            <a:r>
              <a:t xml:space="preserve"/>
            </a:r>
          </a:p>
          <a:p>
            <a:r>
              <a:t xml:space="preserve">**Evidence / Source:**</a:t>
            </a:r>
          </a:p>
          <a:p>
            <a:r>
              <a:t xml:space="preserve">DEC-0097; BEAT-078; CASE-LOOP-01; CLM-0021. CASE-LOOP-01의 교육용 설계. 실제 자료와 설계를 구분한다.</a:t>
            </a:r>
          </a:p>
          <a:p>
            <a:r>
              <a:t xml:space="preserve"/>
            </a:r>
          </a:p>
          <a:p>
            <a:r>
              <a:t xml:space="preserve">보존된 상세 출처: 밝기 통계 최적화의 가상 진행 예 · 실제 Trial 또는 실행 캡처 아님</a:t>
            </a:r>
          </a:p>
          <a:p>
            <a:r>
              <a:t xml:space="preserve"/>
            </a:r>
          </a:p>
          <a:p>
            <a:r>
              <a:t xml:space="preserve">**Claim Boundary:**</a:t>
            </a:r>
          </a:p>
          <a:p>
            <a:r>
              <a:t xml:space="preserve">CONCEPTUAL — 교육용 설계이며 실제 구현·검토·재실행·측정·완료 결과가 없다. 기존 Product/Meta Trial을 이 루프의 실행 증거로 바꾸지 않는다.</a:t>
            </a:r>
          </a:p>
          <a:p>
            <a:r>
              <a:t xml:space="preserve"/>
            </a:r>
          </a:p>
          <a:p>
            <a:r>
              <a:t xml:space="preserve">보존된 상세 범위: 재검증·재검토의 운영 설계 · 후보 v2가 성공했다는 실제 결과는 없음</a:t>
            </a:r>
          </a:p>
          <a:p>
            <a:r>
              <a:t xml:space="preserve"/>
            </a:r>
          </a:p>
          <a:p>
            <a:r>
              <a:t xml:space="preserve">**Beginner Explanation:**</a:t>
            </a:r>
          </a:p>
          <a:p>
            <a:r>
              <a:t xml:space="preserve">후보 v2를 같은 기준으로 재검증·재검토하고 남은 지적은 다음 수정으로 되돌린다.</a:t>
            </a:r>
          </a:p>
          <a:p>
            <a:r>
              <a:t xml:space="preserve"/>
            </a:r>
          </a:p>
          <a:p>
            <a:r>
              <a:t xml:space="preserve">**Advanced Insight:**</a:t>
            </a:r>
          </a:p>
          <a:p>
            <a:r>
              <a:t xml:space="preserve">새 수정이 이전의 유효한 동작을 깨뜨릴 수 있다. 확인된 후보와 시도 이력을 남겨 되돌릴 수 있도록 설계한다.</a:t>
            </a:r>
          </a:p>
          <a:p>
            <a:r>
              <a:t xml:space="preserve"/>
            </a:r>
          </a:p>
          <a:p>
            <a:r>
              <a:t xml:space="preserve">**C++ Vision Bridge:**</a:t>
            </a:r>
          </a:p>
          <a:p>
            <a:r>
              <a:t xml:space="preserve">N/A — 같은 명세·검사·검토 원리를 적용할 수 있으나 별도 GPU 사례나 미실행 C++ 코드를 추가하지 않는다.</a:t>
            </a:r>
          </a:p>
          <a:p>
            <a:r>
              <a:t xml:space="preserve"/>
            </a:r>
          </a:p>
          <a:p>
            <a:r>
              <a:t xml:space="preserve">**Demo Operation:**</a:t>
            </a:r>
          </a:p>
          <a:p>
            <a:r>
              <a:t xml:space="preserve">정적 화면을 위에서 아래, 왼쪽에서 오른쪽으로 짚는다. 교육용 진행 예/논문/실제 과거 기록의 표시를 먼저 확인한다. 새 명령·모델 호출·Live Trial은 실행하지 않는다.</a:t>
            </a:r>
          </a:p>
          <a:p>
            <a:r>
              <a:t xml:space="preserve"/>
            </a:r>
          </a:p>
          <a:p>
            <a:r>
              <a:t xml:space="preserve">**Audience Interaction:**</a:t>
            </a:r>
          </a:p>
          <a:p>
            <a:r>
              <a:t xml:space="preserve">N/A — 필수 응답·실습 없이 관찰할 질문만 제시한다.</a:t>
            </a:r>
          </a:p>
          <a:p>
            <a:r>
              <a:t xml:space="preserve"/>
            </a:r>
          </a:p>
          <a:p>
            <a:r>
              <a:t xml:space="preserve">**Transition:**</a:t>
            </a:r>
          </a:p>
          <a:p>
            <a:r>
              <a:t xml:space="preserve">다음은 같은 목표의 구현·검토 루프의 질문으로 이어간다.</a:t>
            </a:r>
          </a:p>
          <a:p>
            <a:r>
              <a:t xml:space="preserve"/>
            </a:r>
          </a:p>
          <a:p>
            <a:r>
              <a:t xml:space="preserve">**Time Management:**</a:t>
            </a:r>
          </a:p>
          <a:p>
            <a:r>
              <a:t xml:space="preserve">Case 4분 = 4분. 위 Speaker Flow의 Mode 경계를 유지한다. 초과 시 Advanced Insight를 줄이고 핵심 그림·근거 범위·다음 전환은 보존한다. 실제 리허설은 UNVERIFIED다.</a:t>
            </a:r>
          </a:p>
          <a:p>
            <a:r>
              <a:t xml:space="preserve"/>
            </a:r>
          </a:p>
          <a:p>
            <a:r>
              <a:t xml:space="preserve">**Fallback:**</a:t>
            </a:r>
          </a:p>
          <a:p>
            <a:r>
              <a:t xml:space="preserve">LOCAL STATIC ARTIFACT — production/ACT_4.pptx의 S92; production/preview/act4/S92.png 및 production/preview/full/S92.png. 이 구간은 Live 실행을 전제하지 않는다. 실제 발표 PC 재생은 UNVERIFIED다.</a:t>
            </a:r>
          </a:p>
          <a:p>
            <a:r>
              <a:t xml:space="preserve"/>
            </a:r>
          </a:p>
          <a:p>
            <a:r>
              <a:t xml:space="preserve">**Validation Status:**</a:t>
            </a:r>
          </a:p>
          <a:p>
            <a:r>
              <a:t xml:space="preserve">REVIEWED — DEC-0097의 내용·근거 정렬. 최종 로컬 구조·렌더·Notes 검사는 production/evaluation/ACT_4_GOAL_LOOP_REVISION.md에 기록. Windows/교육장/제품·계정/실측 리허설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 xml:space="preserve">## S93 — 같은 목표의 구현·검토 루프</a:t>
            </a:r>
          </a:p>
          <a:p>
            <a:r>
              <a:t xml:space="preserve"/>
            </a:r>
          </a:p>
          <a:p>
            <a:r>
              <a:t xml:space="preserve">**Slide ID:**</a:t>
            </a:r>
          </a:p>
          <a:p>
            <a:r>
              <a:t xml:space="preserve">S93</a:t>
            </a:r>
          </a:p>
          <a:p>
            <a:r>
              <a:t xml:space="preserve"/>
            </a:r>
          </a:p>
          <a:p>
            <a:r>
              <a:t xml:space="preserve">**Working Title:**</a:t>
            </a:r>
          </a:p>
          <a:p>
            <a:r>
              <a:t xml:space="preserve">같은 목표의 구현·검토 루프</a:t>
            </a:r>
          </a:p>
          <a:p>
            <a:r>
              <a:t xml:space="preserve"/>
            </a:r>
          </a:p>
          <a:p>
            <a:r>
              <a:t xml:space="preserve">**ACT / Section:**</a:t>
            </a:r>
          </a:p>
          <a:p>
            <a:r>
              <a:t xml:space="preserve">ACT 4 / 4R3 Feedback and control</a:t>
            </a:r>
          </a:p>
          <a:p>
            <a:r>
              <a:t xml:space="preserve"/>
            </a:r>
          </a:p>
          <a:p>
            <a:r>
              <a:t xml:space="preserve">**Allocated Time:**</a:t>
            </a:r>
          </a:p>
          <a:p>
            <a:r>
              <a:t xml:space="preserve">5 minutes</a:t>
            </a:r>
          </a:p>
          <a:p>
            <a:r>
              <a:t xml:space="preserve"/>
            </a:r>
          </a:p>
          <a:p>
            <a:r>
              <a:t xml:space="preserve">**Mode Split:**</a:t>
            </a:r>
          </a:p>
          <a:p>
            <a:r>
              <a:t xml:space="preserve">Lecture 3분 + Case 2분</a:t>
            </a:r>
          </a:p>
          <a:p>
            <a:r>
              <a:t xml:space="preserve"/>
            </a:r>
          </a:p>
          <a:p>
            <a:r>
              <a:t xml:space="preserve">**Primary Message:**</a:t>
            </a:r>
          </a:p>
          <a:p>
            <a:r>
              <a:t xml:space="preserve">목표·완료 기준 아래 구현, 도구 근거, 다른 모델의 검토와 다음 수정 판단을 하나의 닫힌 경로로 설계한다.</a:t>
            </a:r>
          </a:p>
          <a:p>
            <a:r>
              <a:t xml:space="preserve"/>
            </a:r>
          </a:p>
          <a:p>
            <a:r>
              <a:t xml:space="preserve">**Opening Question:**</a:t>
            </a:r>
          </a:p>
          <a:p>
            <a:r>
              <a:t xml:space="preserve">지금 본 여러 단계가 어떻게 하나의 시스템으로 연결될까?</a:t>
            </a:r>
          </a:p>
          <a:p>
            <a:r>
              <a:t xml:space="preserve"/>
            </a:r>
          </a:p>
          <a:p>
            <a:r>
              <a:t xml:space="preserve">**Speaker Flow:**</a:t>
            </a:r>
          </a:p>
          <a:p>
            <a:r>
              <a:t xml:space="preserve">1. (0:00–3:00 / Lecture) 위쪽의 구현·검사·검토를 따라간 뒤 아래쪽의 판단·피드백을 통해 같은 목표의 구현으로 돌아간다. Loop는 Harness의 방법·도구를 활용하며 가중치를 학습한다는 뜻이 아니다.</a:t>
            </a:r>
          </a:p>
          <a:p>
            <a:r>
              <a:t xml:space="preserve">2. (3:00–5:00 / Case) 앞의 지적 ①을 한 번만 전체 경로에 대응시킨다. 도구와 모델 검토의 선후·병렬 여부는 작업 의존관계에 따라 정하며 이 그림은 성능·병렬 실행의 실측 기록이 아니다.</a:t>
            </a:r>
          </a:p>
          <a:p>
            <a:r>
              <a:t xml:space="preserve"/>
            </a:r>
          </a:p>
          <a:p>
            <a:r>
              <a:t xml:space="preserve">**Evidence / Source:**</a:t>
            </a:r>
          </a:p>
          <a:p>
            <a:r>
              <a:t xml:space="preserve">DEC-0097; BEAT-079; CASE-LOOP-01; CLM-0021. CASE-LOOP-01의 교육용 설계. 실제 자료와 설계를 구분한다.</a:t>
            </a:r>
          </a:p>
          <a:p>
            <a:r>
              <a:t xml:space="preserve"/>
            </a:r>
          </a:p>
          <a:p>
            <a:r>
              <a:t xml:space="preserve">보존된 상세 출처: TEACHING_MODEL · 목표와 근거를 다음 수정에 연결하는 시스템</a:t>
            </a:r>
          </a:p>
          <a:p>
            <a:r>
              <a:t xml:space="preserve"/>
            </a:r>
          </a:p>
          <a:p>
            <a:r>
              <a:t xml:space="preserve">**Claim Boundary:**</a:t>
            </a:r>
          </a:p>
          <a:p>
            <a:r>
              <a:t xml:space="preserve">TEACHING_MODEL — 교육용 설계이며 실제 구현·검토·재실행·측정·완료 결과가 없다. 기존 Product/Meta Trial을 이 루프의 실행 증거로 바꾸지 않는다.</a:t>
            </a:r>
          </a:p>
          <a:p>
            <a:r>
              <a:t xml:space="preserve"/>
            </a:r>
          </a:p>
          <a:p>
            <a:r>
              <a:t xml:space="preserve">보존된 상세 범위: 구체적 제품 기능·자동 실행 이력·모델 학습·완료 성과를 관찰한 결과가 아님</a:t>
            </a:r>
          </a:p>
          <a:p>
            <a:r>
              <a:t xml:space="preserve"/>
            </a:r>
          </a:p>
          <a:p>
            <a:r>
              <a:t xml:space="preserve">**Beginner Explanation:**</a:t>
            </a:r>
          </a:p>
          <a:p>
            <a:r>
              <a:t xml:space="preserve">목표·완료 기준 아래 구현, 도구 근거, 다른 모델의 검토와 다음 수정 판단을 하나의 닫힌 경로로 설계한다.</a:t>
            </a:r>
          </a:p>
          <a:p>
            <a:r>
              <a:t xml:space="preserve"/>
            </a:r>
          </a:p>
          <a:p>
            <a:r>
              <a:t xml:space="preserve">**Advanced Insight:**</a:t>
            </a:r>
          </a:p>
          <a:p>
            <a:r>
              <a:t xml:space="preserve">반복의 제어는 반드시 별도 모델이 맡아야 하는 것은 아니다. 목표·상태·피드백 전달·다음 행동을 정하는 운영 로직이 핵심이다.</a:t>
            </a:r>
          </a:p>
          <a:p>
            <a:r>
              <a:t xml:space="preserve"/>
            </a:r>
          </a:p>
          <a:p>
            <a:r>
              <a:t xml:space="preserve">**C++ Vision Bridge:**</a:t>
            </a:r>
          </a:p>
          <a:p>
            <a:r>
              <a:t xml:space="preserve">N/A — 같은 명세·검사·검토 원리를 적용할 수 있으나 별도 GPU 사례나 미실행 C++ 코드를 추가하지 않는다.</a:t>
            </a:r>
          </a:p>
          <a:p>
            <a:r>
              <a:t xml:space="preserve"/>
            </a:r>
          </a:p>
          <a:p>
            <a:r>
              <a:t xml:space="preserve">**Demo Operation:**</a:t>
            </a:r>
          </a:p>
          <a:p>
            <a:r>
              <a:t xml:space="preserve">정적 화면을 위에서 아래, 왼쪽에서 오른쪽으로 짚는다. 교육용 진행 예/논문/실제 과거 기록의 표시를 먼저 확인한다. 새 명령·모델 호출·Live Trial은 실행하지 않는다.</a:t>
            </a:r>
          </a:p>
          <a:p>
            <a:r>
              <a:t xml:space="preserve"/>
            </a:r>
          </a:p>
          <a:p>
            <a:r>
              <a:t xml:space="preserve">**Audience Interaction:**</a:t>
            </a:r>
          </a:p>
          <a:p>
            <a:r>
              <a:t xml:space="preserve">N/A — 필수 응답·실습 없이 관찰할 질문만 제시한다.</a:t>
            </a:r>
          </a:p>
          <a:p>
            <a:r>
              <a:t xml:space="preserve"/>
            </a:r>
          </a:p>
          <a:p>
            <a:r>
              <a:t xml:space="preserve">**Transition:**</a:t>
            </a:r>
          </a:p>
          <a:p>
            <a:r>
              <a:t xml:space="preserve">다음은 언제 계속하고, 언제 끝낼까?의 질문으로 이어간다.</a:t>
            </a:r>
          </a:p>
          <a:p>
            <a:r>
              <a:t xml:space="preserve"/>
            </a:r>
          </a:p>
          <a:p>
            <a:r>
              <a:t xml:space="preserve">**Time Management:**</a:t>
            </a:r>
          </a:p>
          <a:p>
            <a:r>
              <a:t xml:space="preserve">Lecture 3분 + Case 2분 = 5분. 위 Speaker Flow의 Mode 경계를 유지한다. 초과 시 Advanced Insight를 줄이고 핵심 그림·근거 범위·다음 전환은 보존한다. 실제 리허설은 UNVERIFIED다.</a:t>
            </a:r>
          </a:p>
          <a:p>
            <a:r>
              <a:t xml:space="preserve"/>
            </a:r>
          </a:p>
          <a:p>
            <a:r>
              <a:t xml:space="preserve">**Fallback:**</a:t>
            </a:r>
          </a:p>
          <a:p>
            <a:r>
              <a:t xml:space="preserve">LOCAL STATIC ARTIFACT — production/ACT_4.pptx의 S93; production/preview/act4/S93.png 및 production/preview/full/S93.png. 이 구간은 Live 실행을 전제하지 않는다. 실제 발표 PC 재생은 UNVERIFIED다.</a:t>
            </a:r>
          </a:p>
          <a:p>
            <a:r>
              <a:t xml:space="preserve"/>
            </a:r>
          </a:p>
          <a:p>
            <a:r>
              <a:t xml:space="preserve">**Validation Status:**</a:t>
            </a:r>
          </a:p>
          <a:p>
            <a:r>
              <a:t xml:space="preserve">REVIEWED — DEC-0097의 내용·근거 정렬. 최종 로컬 구조·렌더·Notes 검사는 production/evaluation/ACT_4_GOAL_LOOP_REVISION.md에 기록. Windows/교육장/제품·계정/실측 리허설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 xml:space="preserve">## S94 — 언제 계속하고, 언제 끝낼까?</a:t>
            </a:r>
          </a:p>
          <a:p>
            <a:r>
              <a:t xml:space="preserve"/>
            </a:r>
          </a:p>
          <a:p>
            <a:r>
              <a:t xml:space="preserve">**Slide ID:**</a:t>
            </a:r>
          </a:p>
          <a:p>
            <a:r>
              <a:t xml:space="preserve">S94</a:t>
            </a:r>
          </a:p>
          <a:p>
            <a:r>
              <a:t xml:space="preserve"/>
            </a:r>
          </a:p>
          <a:p>
            <a:r>
              <a:t xml:space="preserve">**Working Title:**</a:t>
            </a:r>
          </a:p>
          <a:p>
            <a:r>
              <a:t xml:space="preserve">언제 계속하고, 언제 끝낼까?</a:t>
            </a:r>
          </a:p>
          <a:p>
            <a:r>
              <a:t xml:space="preserve"/>
            </a:r>
          </a:p>
          <a:p>
            <a:r>
              <a:t xml:space="preserve">**ACT / Section:**</a:t>
            </a:r>
          </a:p>
          <a:p>
            <a:r>
              <a:t xml:space="preserve">ACT 4 / 4R3 Feedback and control</a:t>
            </a:r>
          </a:p>
          <a:p>
            <a:r>
              <a:t xml:space="preserve"/>
            </a:r>
          </a:p>
          <a:p>
            <a:r>
              <a:t xml:space="preserve">**Allocated Time:**</a:t>
            </a:r>
          </a:p>
          <a:p>
            <a:r>
              <a:t xml:space="preserve">5 minutes</a:t>
            </a:r>
          </a:p>
          <a:p>
            <a:r>
              <a:t xml:space="preserve"/>
            </a:r>
          </a:p>
          <a:p>
            <a:r>
              <a:t xml:space="preserve">**Mode Split:**</a:t>
            </a:r>
          </a:p>
          <a:p>
            <a:r>
              <a:t xml:space="preserve">Lecture 3분 + Reflection 2분</a:t>
            </a:r>
          </a:p>
          <a:p>
            <a:r>
              <a:t xml:space="preserve"/>
            </a:r>
          </a:p>
          <a:p>
            <a:r>
              <a:t xml:space="preserve">**Primary Message:**</a:t>
            </a:r>
          </a:p>
          <a:p>
            <a:r>
              <a:t xml:space="preserve">근거에 따라 완료, 다음 수정, 미완료 중단·사람 확인을 구분한다.</a:t>
            </a:r>
          </a:p>
          <a:p>
            <a:r>
              <a:t xml:space="preserve"/>
            </a:r>
          </a:p>
          <a:p>
            <a:r>
              <a:t xml:space="preserve">**Opening Question:**</a:t>
            </a:r>
          </a:p>
          <a:p>
            <a:r>
              <a:t xml:space="preserve">계속 돌리고 있다는 사실과 목표를 달성했다는 사실은 어떻게 구분할까?</a:t>
            </a:r>
          </a:p>
          <a:p>
            <a:r>
              <a:t xml:space="preserve"/>
            </a:r>
          </a:p>
          <a:p>
            <a:r>
              <a:t xml:space="preserve">**Speaker Flow:**</a:t>
            </a:r>
          </a:p>
          <a:p>
            <a:r>
              <a:t xml:space="preserve">1. (0:00–3:00 / Lecture) 세 갈래를 조건부터 읽는다. 기준 충족은 확인 범위를 보고하고 완료한다. 수정 가능하면 남은 문제를 전달한다. 근거 부족·정체·한도 도달은 미완료 상태를 보존해 사람에게 묻는다.</a:t>
            </a:r>
          </a:p>
          <a:p>
            <a:r>
              <a:t xml:space="preserve">2. (3:00–5:00 / Reflection) 우리 작업의 완료 근거와 중단 뒤 사람에게 넘길 질문 하나를 마음속으로 생각하게 한다. 공유·실습은 요구하지 않으며 숫자 한도는 실행 환경에 맞춰 정한다고 닫는다.</a:t>
            </a:r>
          </a:p>
          <a:p>
            <a:r>
              <a:t xml:space="preserve"/>
            </a:r>
          </a:p>
          <a:p>
            <a:r>
              <a:t xml:space="preserve">**Evidence / Source:**</a:t>
            </a:r>
          </a:p>
          <a:p>
            <a:r>
              <a:t xml:space="preserve">DEC-0097; BEAT-079; CASE-LOOP-01; CLM-0021. CASE-LOOP-01의 교육용 설계. 실제 자료와 설계를 구분한다.</a:t>
            </a:r>
          </a:p>
          <a:p>
            <a:r>
              <a:t xml:space="preserve"/>
            </a:r>
          </a:p>
          <a:p>
            <a:r>
              <a:t xml:space="preserve">보존된 상세 출처: TEACHING_MODEL · 반복의 종료와 다음 행동을 정하는 기준</a:t>
            </a:r>
          </a:p>
          <a:p>
            <a:r>
              <a:t xml:space="preserve"/>
            </a:r>
          </a:p>
          <a:p>
            <a:r>
              <a:t xml:space="preserve">**Claim Boundary:**</a:t>
            </a:r>
          </a:p>
          <a:p>
            <a:r>
              <a:t xml:space="preserve">TEACHING_MODEL — 교육용 설계이며 실제 구현·검토·재실행·측정·완료 결과가 없다. 기존 Product/Meta Trial을 이 루프의 실행 증거로 바꾸지 않는다.</a:t>
            </a:r>
          </a:p>
          <a:p>
            <a:r>
              <a:t xml:space="preserve"/>
            </a:r>
          </a:p>
          <a:p>
            <a:r>
              <a:t xml:space="preserve">보존된 상세 범위: 미완료 중단은 목표 달성과 다름 · 반복·시간·비용 한도 수치는 실행 전에 정함</a:t>
            </a:r>
          </a:p>
          <a:p>
            <a:r>
              <a:t xml:space="preserve"/>
            </a:r>
          </a:p>
          <a:p>
            <a:r>
              <a:t xml:space="preserve">**Beginner Explanation:**</a:t>
            </a:r>
          </a:p>
          <a:p>
            <a:r>
              <a:t xml:space="preserve">근거에 따라 완료, 다음 수정, 미완료 중단·사람 확인을 구분한다.</a:t>
            </a:r>
          </a:p>
          <a:p>
            <a:r>
              <a:t xml:space="preserve"/>
            </a:r>
          </a:p>
          <a:p>
            <a:r>
              <a:t xml:space="preserve">**Advanced Insight:**</a:t>
            </a:r>
          </a:p>
          <a:p>
            <a:r>
              <a:t xml:space="preserve">회수 제한이나 예산 소진은 성공 판정이 아니다. 검토 항목의 해결 여부와 명세·검사 결과를 함께 확인한다.</a:t>
            </a:r>
          </a:p>
          <a:p>
            <a:r>
              <a:t xml:space="preserve"/>
            </a:r>
          </a:p>
          <a:p>
            <a:r>
              <a:t xml:space="preserve">**C++ Vision Bridge:**</a:t>
            </a:r>
          </a:p>
          <a:p>
            <a:r>
              <a:t xml:space="preserve">N/A — 같은 명세·검사·검토 원리를 적용할 수 있으나 별도 GPU 사례나 미실행 C++ 코드를 추가하지 않는다.</a:t>
            </a:r>
          </a:p>
          <a:p>
            <a:r>
              <a:t xml:space="preserve"/>
            </a:r>
          </a:p>
          <a:p>
            <a:r>
              <a:t xml:space="preserve">**Demo Operation:**</a:t>
            </a:r>
          </a:p>
          <a:p>
            <a:r>
              <a:t xml:space="preserve">정적 화면을 위에서 아래, 왼쪽에서 오른쪽으로 짚는다. 교육용 진행 예/논문/실제 과거 기록의 표시를 먼저 확인한다. 새 명령·모델 호출·Live Trial은 실행하지 않는다.</a:t>
            </a:r>
          </a:p>
          <a:p>
            <a:r>
              <a:t xml:space="preserve"/>
            </a:r>
          </a:p>
          <a:p>
            <a:r>
              <a:t xml:space="preserve">**Audience Interaction:**</a:t>
            </a:r>
          </a:p>
          <a:p>
            <a:r>
              <a:t xml:space="preserve">Reflection: 계속 돌리고 있다는 사실과 목표를 달성했다는 사실은 어떻게 구분할까? 공유·기록·실습은 요구하지 않는다.</a:t>
            </a:r>
          </a:p>
          <a:p>
            <a:r>
              <a:t xml:space="preserve"/>
            </a:r>
          </a:p>
          <a:p>
            <a:r>
              <a:t xml:space="preserve">**Transition:**</a:t>
            </a:r>
          </a:p>
          <a:p>
            <a:r>
              <a:t xml:space="preserve">다음은 구현한 모델에게 다시 물으면 충분할까?의 질문으로 이어간다.</a:t>
            </a:r>
          </a:p>
          <a:p>
            <a:r>
              <a:t xml:space="preserve"/>
            </a:r>
          </a:p>
          <a:p>
            <a:r>
              <a:t xml:space="preserve">**Time Management:**</a:t>
            </a:r>
          </a:p>
          <a:p>
            <a:r>
              <a:t xml:space="preserve">Lecture 3분 + Reflection 2분 = 5분. 위 Speaker Flow의 Mode 경계를 유지한다. 초과 시 Advanced Insight를 줄이고 핵심 그림·근거 범위·다음 전환은 보존한다. 실제 리허설은 UNVERIFIED다.</a:t>
            </a:r>
          </a:p>
          <a:p>
            <a:r>
              <a:t xml:space="preserve"/>
            </a:r>
          </a:p>
          <a:p>
            <a:r>
              <a:t xml:space="preserve">**Fallback:**</a:t>
            </a:r>
          </a:p>
          <a:p>
            <a:r>
              <a:t xml:space="preserve">LOCAL STATIC ARTIFACT — production/ACT_4.pptx의 S94; production/preview/act4/S94.png 및 production/preview/full/S94.png. 이 구간은 Live 실행을 전제하지 않는다. 실제 발표 PC 재생은 UNVERIFIED다.</a:t>
            </a:r>
          </a:p>
          <a:p>
            <a:r>
              <a:t xml:space="preserve"/>
            </a:r>
          </a:p>
          <a:p>
            <a:r>
              <a:t xml:space="preserve">**Validation Status:**</a:t>
            </a:r>
          </a:p>
          <a:p>
            <a:r>
              <a:t xml:space="preserve">REVIEWED — DEC-0097의 내용·근거 정렬. 최종 로컬 구조·렌더·Notes 검사는 production/evaluation/ACT_4_GOAL_LOOP_REVISION.md에 기록. Windows/교육장/제품·계정/실측 리허설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 xml:space="preserve">## S95 — 구현한 모델에게 다시 물으면 충분할까?</a:t>
            </a:r>
          </a:p>
          <a:p>
            <a:r>
              <a:t xml:space="preserve"/>
            </a:r>
          </a:p>
          <a:p>
            <a:r>
              <a:t xml:space="preserve">**Slide ID:**</a:t>
            </a:r>
          </a:p>
          <a:p>
            <a:r>
              <a:t xml:space="preserve">S95</a:t>
            </a:r>
          </a:p>
          <a:p>
            <a:r>
              <a:t xml:space="preserve"/>
            </a:r>
          </a:p>
          <a:p>
            <a:r>
              <a:t xml:space="preserve">**Working Title:**</a:t>
            </a:r>
          </a:p>
          <a:p>
            <a:r>
              <a:t xml:space="preserve">구현한 모델에게 다시 물으면 충분할까?</a:t>
            </a:r>
          </a:p>
          <a:p>
            <a:r>
              <a:t xml:space="preserve"/>
            </a:r>
          </a:p>
          <a:p>
            <a:r>
              <a:t xml:space="preserve">**ACT / Section:**</a:t>
            </a:r>
          </a:p>
          <a:p>
            <a:r>
              <a:t xml:space="preserve">ACT 4 / 4R4 Research and model choice</a:t>
            </a:r>
          </a:p>
          <a:p>
            <a:r>
              <a:t xml:space="preserve"/>
            </a:r>
          </a:p>
          <a:p>
            <a:r>
              <a:t xml:space="preserve">**Allocated Time:**</a:t>
            </a:r>
          </a:p>
          <a:p>
            <a:r>
              <a:t xml:space="preserve">4 minutes</a:t>
            </a:r>
          </a:p>
          <a:p>
            <a:r>
              <a:t xml:space="preserve"/>
            </a:r>
          </a:p>
          <a:p>
            <a:r>
              <a:t xml:space="preserve">**Mode Split:**</a:t>
            </a:r>
          </a:p>
          <a:p>
            <a:r>
              <a:t xml:space="preserve">Lecture 4분</a:t>
            </a:r>
          </a:p>
          <a:p>
            <a:r>
              <a:t xml:space="preserve"/>
            </a:r>
          </a:p>
          <a:p>
            <a:r>
              <a:t xml:space="preserve">**Primary Message:**</a:t>
            </a:r>
          </a:p>
          <a:p>
            <a:r>
              <a:t xml:space="preserve">자기 피드백으로 개선된 연구와 외부 근거 없는 자기 교정의 한계 연구를 조건과 함께 설명한다.</a:t>
            </a:r>
          </a:p>
          <a:p>
            <a:r>
              <a:t xml:space="preserve"/>
            </a:r>
          </a:p>
          <a:p>
            <a:r>
              <a:t xml:space="preserve">**Opening Question:**</a:t>
            </a:r>
          </a:p>
          <a:p>
            <a:r>
              <a:t xml:space="preserve">같은 모델에게 다시 생각해 달라고 하면 언제나 좋아질까?</a:t>
            </a:r>
          </a:p>
          <a:p>
            <a:r>
              <a:t xml:space="preserve"/>
            </a:r>
          </a:p>
          <a:p>
            <a:r>
              <a:t xml:space="preserve">**Speaker Flow:**</a:t>
            </a:r>
          </a:p>
          <a:p>
            <a:r>
              <a:t xml:space="preserve">1. (0:00–2:00 / Lecture) Self-Refine은 같은 LLM이 생성·피드백·수정을 반복하고 여러 과제에서 개선을 보고했다. 다중 모델 비교 연구가 아니라는 점을 명시한다.</a:t>
            </a:r>
          </a:p>
          <a:p>
            <a:r>
              <a:t xml:space="preserve">2. (2:00–4:00 / Lecture) Huang 등의 ICLR 2024 연구는 대상 추론 과제에서 외부 피드백 없는 자기 교정의 어려움과 악화 사례를 보고했다. 서로 다른 실험을 모순으로 단순화하지 않고 피드백의 근거·방법을 설계할 필요로 연결한다.</a:t>
            </a:r>
          </a:p>
          <a:p>
            <a:r>
              <a:t xml:space="preserve"/>
            </a:r>
          </a:p>
          <a:p>
            <a:r>
              <a:t xml:space="preserve">**Evidence / Source:**</a:t>
            </a:r>
          </a:p>
          <a:p>
            <a:r>
              <a:t xml:space="preserve">DEC-0097; BEAT-080; SRC-0223; SRC-0239; CLM-0045. Primary sources checked 2026-10-25: https://arxiv.org/abs/2303.17651; https://arxiv.org/abs/2310.01798</a:t>
            </a:r>
          </a:p>
          <a:p>
            <a:r>
              <a:t xml:space="preserve"/>
            </a:r>
          </a:p>
          <a:p>
            <a:r>
              <a:t xml:space="preserve">보존된 상세 출처: Self-Refine (2023) / Huang et al., ICLR 2024 · 서로 다른 실험 조건의 연구</a:t>
            </a:r>
          </a:p>
          <a:p>
            <a:r>
              <a:t xml:space="preserve"/>
            </a:r>
          </a:p>
          <a:p>
            <a:r>
              <a:t xml:space="preserve">**Claim Boundary:**</a:t>
            </a:r>
          </a:p>
          <a:p>
            <a:r>
              <a:t xml:space="preserve">FROZEN WITH SCOPE — 해당 연구의 모델·과제·방법과 조건에 한정. 현재 Codex의 일반 성능·비용이나 새 코드 루프 성과로 확장하지 않는다.</a:t>
            </a:r>
          </a:p>
          <a:p>
            <a:r>
              <a:t xml:space="preserve"/>
            </a:r>
          </a:p>
          <a:p>
            <a:r>
              <a:t xml:space="preserve">보존된 상세 범위: 과거 연구 대상의 결과 · 현재 모든 모델의 자기 검토 능력이나 다중 모델 우월성을 뜻하지 않음</a:t>
            </a:r>
          </a:p>
          <a:p>
            <a:r>
              <a:t xml:space="preserve"/>
            </a:r>
          </a:p>
          <a:p>
            <a:r>
              <a:t xml:space="preserve">**Beginner Explanation:**</a:t>
            </a:r>
          </a:p>
          <a:p>
            <a:r>
              <a:t xml:space="preserve">자기 피드백으로 개선된 연구와 외부 근거 없는 자기 교정의 한계 연구를 조건과 함께 설명한다.</a:t>
            </a:r>
          </a:p>
          <a:p>
            <a:r>
              <a:t xml:space="preserve"/>
            </a:r>
          </a:p>
          <a:p>
            <a:r>
              <a:t xml:space="preserve">**Advanced Insight:**</a:t>
            </a:r>
          </a:p>
          <a:p>
            <a:r>
              <a:t xml:space="preserve">2023–2024년의 특정 모델·과제·방법에 관한 결과다. 현재 모든 모델이 자기 교정에 실패한다는 일반화는 하지 않는다.</a:t>
            </a:r>
          </a:p>
          <a:p>
            <a:r>
              <a:t xml:space="preserve"/>
            </a:r>
          </a:p>
          <a:p>
            <a:r>
              <a:t xml:space="preserve">**C++ Vision Bridge:**</a:t>
            </a:r>
          </a:p>
          <a:p>
            <a:r>
              <a:t xml:space="preserve">N/A — 같은 명세·검사·검토 원리를 적용할 수 있으나 별도 GPU 사례나 미실행 C++ 코드를 추가하지 않는다.</a:t>
            </a:r>
          </a:p>
          <a:p>
            <a:r>
              <a:t xml:space="preserve"/>
            </a:r>
          </a:p>
          <a:p>
            <a:r>
              <a:t xml:space="preserve">**Demo Operation:**</a:t>
            </a:r>
          </a:p>
          <a:p>
            <a:r>
              <a:t xml:space="preserve">정적 화면을 위에서 아래, 왼쪽에서 오른쪽으로 짚는다. 교육용 진행 예/논문/실제 과거 기록의 표시를 먼저 확인한다. 새 명령·모델 호출·Live Trial은 실행하지 않는다.</a:t>
            </a:r>
          </a:p>
          <a:p>
            <a:r>
              <a:t xml:space="preserve"/>
            </a:r>
          </a:p>
          <a:p>
            <a:r>
              <a:t xml:space="preserve">**Audience Interaction:**</a:t>
            </a:r>
          </a:p>
          <a:p>
            <a:r>
              <a:t xml:space="preserve">N/A — 필수 응답·실습 없이 관찰할 질문만 제시한다.</a:t>
            </a:r>
          </a:p>
          <a:p>
            <a:r>
              <a:t xml:space="preserve"/>
            </a:r>
          </a:p>
          <a:p>
            <a:r>
              <a:t xml:space="preserve">**Transition:**</a:t>
            </a:r>
          </a:p>
          <a:p>
            <a:r>
              <a:t xml:space="preserve">다음은 다른 모델의 관점이 도움이 된 실험의 질문으로 이어간다.</a:t>
            </a:r>
          </a:p>
          <a:p>
            <a:r>
              <a:t xml:space="preserve"/>
            </a:r>
          </a:p>
          <a:p>
            <a:r>
              <a:t xml:space="preserve">**Time Management:**</a:t>
            </a:r>
          </a:p>
          <a:p>
            <a:r>
              <a:t xml:space="preserve">Lecture 4분 = 4분. 위 Speaker Flow의 Mode 경계를 유지한다. 초과 시 Advanced Insight를 줄이고 핵심 그림·근거 범위·다음 전환은 보존한다. 실제 리허설은 UNVERIFIED다.</a:t>
            </a:r>
          </a:p>
          <a:p>
            <a:r>
              <a:t xml:space="preserve"/>
            </a:r>
          </a:p>
          <a:p>
            <a:r>
              <a:t xml:space="preserve">**Fallback:**</a:t>
            </a:r>
          </a:p>
          <a:p>
            <a:r>
              <a:t xml:space="preserve">LOCAL STATIC ARTIFACT — production/ACT_4.pptx의 S95; production/preview/act4/S95.png 및 production/preview/full/S95.png. 이 구간은 Live 실행을 전제하지 않는다. 실제 발표 PC 재생은 UNVERIFIED다.</a:t>
            </a:r>
          </a:p>
          <a:p>
            <a:r>
              <a:t xml:space="preserve"/>
            </a:r>
          </a:p>
          <a:p>
            <a:r>
              <a:t xml:space="preserve">**Validation Status:**</a:t>
            </a:r>
          </a:p>
          <a:p>
            <a:r>
              <a:t xml:space="preserve">REVIEWED — DEC-0097의 내용·근거 정렬. 최종 로컬 구조·렌더·Notes 검사는 production/evaluation/ACT_4_GOAL_LOOP_REVISION.md에 기록. Windows/교육장/제품·계정/실측 리허설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 xml:space="preserve">## S96 — 다른 모델의 관점이 도움이 된 실험</a:t>
            </a:r>
          </a:p>
          <a:p>
            <a:r>
              <a:t xml:space="preserve"/>
            </a:r>
          </a:p>
          <a:p>
            <a:r>
              <a:t xml:space="preserve">**Slide ID:**</a:t>
            </a:r>
          </a:p>
          <a:p>
            <a:r>
              <a:t xml:space="preserve">S96</a:t>
            </a:r>
          </a:p>
          <a:p>
            <a:r>
              <a:t xml:space="preserve"/>
            </a:r>
          </a:p>
          <a:p>
            <a:r>
              <a:t xml:space="preserve">**Working Title:**</a:t>
            </a:r>
          </a:p>
          <a:p>
            <a:r>
              <a:t xml:space="preserve">다른 모델의 관점이 도움이 된 실험</a:t>
            </a:r>
          </a:p>
          <a:p>
            <a:r>
              <a:t xml:space="preserve"/>
            </a:r>
          </a:p>
          <a:p>
            <a:r>
              <a:t xml:space="preserve">**ACT / Section:**</a:t>
            </a:r>
          </a:p>
          <a:p>
            <a:r>
              <a:t xml:space="preserve">ACT 4 / 4R4 Research and model choice</a:t>
            </a:r>
          </a:p>
          <a:p>
            <a:r>
              <a:t xml:space="preserve"/>
            </a:r>
          </a:p>
          <a:p>
            <a:r>
              <a:t xml:space="preserve">**Allocated Time:**</a:t>
            </a:r>
          </a:p>
          <a:p>
            <a:r>
              <a:t xml:space="preserve">5 minutes</a:t>
            </a:r>
          </a:p>
          <a:p>
            <a:r>
              <a:t xml:space="preserve"/>
            </a:r>
          </a:p>
          <a:p>
            <a:r>
              <a:t xml:space="preserve">**Mode Split:**</a:t>
            </a:r>
          </a:p>
          <a:p>
            <a:r>
              <a:t xml:space="preserve">Lecture 3분 + Case 2분</a:t>
            </a:r>
          </a:p>
          <a:p>
            <a:r>
              <a:t xml:space="preserve"/>
            </a:r>
          </a:p>
          <a:p>
            <a:r>
              <a:t xml:space="preserve">**Primary Message:**</a:t>
            </a:r>
          </a:p>
          <a:p>
            <a:r>
              <a:t xml:space="preserve">ReConcile의 StrategyQA 실험에서 여러 모델 조합과 같은 ChatGPT 세 Agent 구성을 비교한 결과를 설명한다.</a:t>
            </a:r>
          </a:p>
          <a:p>
            <a:r>
              <a:t xml:space="preserve"/>
            </a:r>
          </a:p>
          <a:p>
            <a:r>
              <a:t xml:space="preserve">**Opening Question:**</a:t>
            </a:r>
          </a:p>
          <a:p>
            <a:r>
              <a:t xml:space="preserve">같은 모델을 여러 번 쓰는 것과 다른 모델을 조합하는 것은 같을까?</a:t>
            </a:r>
          </a:p>
          <a:p>
            <a:r>
              <a:t xml:space="preserve"/>
            </a:r>
          </a:p>
          <a:p>
            <a:r>
              <a:t xml:space="preserve">**Speaker Flow:**</a:t>
            </a:r>
          </a:p>
          <a:p>
            <a:r>
              <a:t xml:space="preserve">1. (0:00–3:00 / Lecture) ReConcile은 여러 모델의 토론과 합의를 평가한 연구다. Table 7에서 StrategyQA 정확도는 여러 모델 구성 79.0±1.6, ChatGPT만 사용하는 세 Agent 구성 72.2±2.1이다. 화면의 막대는 평균이고 ±값은 원문의 함께 보고된 값으로 Notes에서 보존한다.</a:t>
            </a:r>
          </a:p>
          <a:p>
            <a:r>
              <a:t xml:space="preserve">2. (3:00–5:00 / Case) 차이는 6.8 percentage points다. 모델 구성 변경에는 모델별 능력 차이도 포함된다. 코딩 반복 작업이나 현재 Codex에서 같은 향상·비용 절감이 입증됐다고 말하지 않는다.</a:t>
            </a:r>
          </a:p>
          <a:p>
            <a:r>
              <a:t xml:space="preserve"/>
            </a:r>
          </a:p>
          <a:p>
            <a:r>
              <a:t xml:space="preserve">**Evidence / Source:**</a:t>
            </a:r>
          </a:p>
          <a:p>
            <a:r>
              <a:t xml:space="preserve">DEC-0097; BEAT-081; SRC-0237; CLM-0043; ReConcile Table 7. Primary sources checked 2026-10-25: https://aclanthology.org/2024.acl-long.381.pdf (Table 7)</a:t>
            </a:r>
          </a:p>
          <a:p>
            <a:r>
              <a:t xml:space="preserve"/>
            </a:r>
          </a:p>
          <a:p>
            <a:r>
              <a:t xml:space="preserve">보존된 상세 출처: ReConcile · ACL 2024 · Table 7 · StrategyQA의 토론·합의 실험</a:t>
            </a:r>
          </a:p>
          <a:p>
            <a:r>
              <a:t xml:space="preserve"/>
            </a:r>
          </a:p>
          <a:p>
            <a:r>
              <a:t xml:space="preserve">**Claim Boundary:**</a:t>
            </a:r>
          </a:p>
          <a:p>
            <a:r>
              <a:t xml:space="preserve">FROZEN WITH SCOPE — 해당 연구의 모델·과제·방법과 조건에 한정. 현재 Codex의 일반 성능·비용이나 새 코드 루프 성과로 확장하지 않는다.</a:t>
            </a:r>
          </a:p>
          <a:p>
            <a:r>
              <a:t xml:space="preserve"/>
            </a:r>
          </a:p>
          <a:p>
            <a:r>
              <a:t xml:space="preserve">보존된 상세 범위: 코드 수정 실험이 아님 · 현재 모델의 일반 성능·비용 개선으로 확대하지 않음</a:t>
            </a:r>
          </a:p>
          <a:p>
            <a:r>
              <a:t xml:space="preserve"/>
            </a:r>
          </a:p>
          <a:p>
            <a:r>
              <a:t xml:space="preserve">**Beginner Explanation:**</a:t>
            </a:r>
          </a:p>
          <a:p>
            <a:r>
              <a:t xml:space="preserve">ReConcile의 StrategyQA 실험에서 여러 모델 조합과 같은 ChatGPT 세 Agent 구성을 비교한 결과를 설명한다.</a:t>
            </a:r>
          </a:p>
          <a:p>
            <a:r>
              <a:t xml:space="preserve"/>
            </a:r>
          </a:p>
          <a:p>
            <a:r>
              <a:t xml:space="preserve">**Advanced Insight:**</a:t>
            </a:r>
          </a:p>
          <a:p>
            <a:r>
              <a:t xml:space="preserve">모델 다양성의 가능성을 보여주는 제한된 근거다. 토론·합의 프로토콜 전체와 모델 조합의 영향을 구분한다.</a:t>
            </a:r>
          </a:p>
          <a:p>
            <a:r>
              <a:t xml:space="preserve"/>
            </a:r>
          </a:p>
          <a:p>
            <a:r>
              <a:t xml:space="preserve">**C++ Vision Bridge:**</a:t>
            </a:r>
          </a:p>
          <a:p>
            <a:r>
              <a:t xml:space="preserve">N/A — 같은 명세·검사·검토 원리를 적용할 수 있으나 별도 GPU 사례나 미실행 C++ 코드를 추가하지 않는다.</a:t>
            </a:r>
          </a:p>
          <a:p>
            <a:r>
              <a:t xml:space="preserve"/>
            </a:r>
          </a:p>
          <a:p>
            <a:r>
              <a:t xml:space="preserve">**Demo Operation:**</a:t>
            </a:r>
          </a:p>
          <a:p>
            <a:r>
              <a:t xml:space="preserve">정적 화면을 위에서 아래, 왼쪽에서 오른쪽으로 짚는다. 교육용 진행 예/논문/실제 과거 기록의 표시를 먼저 확인한다. 새 명령·모델 호출·Live Trial은 실행하지 않는다.</a:t>
            </a:r>
          </a:p>
          <a:p>
            <a:r>
              <a:t xml:space="preserve"/>
            </a:r>
          </a:p>
          <a:p>
            <a:r>
              <a:t xml:space="preserve">**Audience Interaction:**</a:t>
            </a:r>
          </a:p>
          <a:p>
            <a:r>
              <a:t xml:space="preserve">N/A — 필수 응답·실습 없이 관찰할 질문만 제시한다.</a:t>
            </a:r>
          </a:p>
          <a:p>
            <a:r>
              <a:t xml:space="preserve"/>
            </a:r>
          </a:p>
          <a:p>
            <a:r>
              <a:t xml:space="preserve">**Transition:**</a:t>
            </a:r>
          </a:p>
          <a:p>
            <a:r>
              <a:t xml:space="preserve">다음은 잘 만드는 능력과 잘 검토하는 능력의 질문으로 이어간다.</a:t>
            </a:r>
          </a:p>
          <a:p>
            <a:r>
              <a:t xml:space="preserve"/>
            </a:r>
          </a:p>
          <a:p>
            <a:r>
              <a:t xml:space="preserve">**Time Management:**</a:t>
            </a:r>
          </a:p>
          <a:p>
            <a:r>
              <a:t xml:space="preserve">Lecture 3분 + Case 2분 = 5분. 위 Speaker Flow의 Mode 경계를 유지한다. 초과 시 Advanced Insight를 줄이고 핵심 그림·근거 범위·다음 전환은 보존한다. 실제 리허설은 UNVERIFIED다.</a:t>
            </a:r>
          </a:p>
          <a:p>
            <a:r>
              <a:t xml:space="preserve"/>
            </a:r>
          </a:p>
          <a:p>
            <a:r>
              <a:t xml:space="preserve">**Fallback:**</a:t>
            </a:r>
          </a:p>
          <a:p>
            <a:r>
              <a:t xml:space="preserve">LOCAL STATIC ARTIFACT — production/ACT_4.pptx의 S96; production/preview/act4/S96.png 및 production/preview/full/S96.png. 이 구간은 Live 실행을 전제하지 않는다. 실제 발표 PC 재생은 UNVERIFIED다.</a:t>
            </a:r>
          </a:p>
          <a:p>
            <a:r>
              <a:t xml:space="preserve"/>
            </a:r>
          </a:p>
          <a:p>
            <a:r>
              <a:t xml:space="preserve">**Validation Status:**</a:t>
            </a:r>
          </a:p>
          <a:p>
            <a:r>
              <a:t xml:space="preserve">REVIEWED — DEC-0097의 내용·근거 정렬. 최종 로컬 구조·렌더·Notes 검사는 production/evaluation/ACT_4_GOAL_LOOP_REVISION.md에 기록. Windows/교육장/제품·계정/실측 리허설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 xml:space="preserve">## S97 — 잘 만드는 능력과 잘 검토하는 능력</a:t>
            </a:r>
          </a:p>
          <a:p>
            <a:r>
              <a:t xml:space="preserve"/>
            </a:r>
          </a:p>
          <a:p>
            <a:r>
              <a:t xml:space="preserve">**Slide ID:**</a:t>
            </a:r>
          </a:p>
          <a:p>
            <a:r>
              <a:t xml:space="preserve">S97</a:t>
            </a:r>
          </a:p>
          <a:p>
            <a:r>
              <a:t xml:space="preserve"/>
            </a:r>
          </a:p>
          <a:p>
            <a:r>
              <a:t xml:space="preserve">**Working Title:**</a:t>
            </a:r>
          </a:p>
          <a:p>
            <a:r>
              <a:t xml:space="preserve">잘 만드는 능력과 잘 검토하는 능력</a:t>
            </a:r>
          </a:p>
          <a:p>
            <a:r>
              <a:t xml:space="preserve"/>
            </a:r>
          </a:p>
          <a:p>
            <a:r>
              <a:t xml:space="preserve">**ACT / Section:**</a:t>
            </a:r>
          </a:p>
          <a:p>
            <a:r>
              <a:t xml:space="preserve">ACT 4 / 4R4 Research and model choice</a:t>
            </a:r>
          </a:p>
          <a:p>
            <a:r>
              <a:t xml:space="preserve"/>
            </a:r>
          </a:p>
          <a:p>
            <a:r>
              <a:t xml:space="preserve">**Allocated Time:**</a:t>
            </a:r>
          </a:p>
          <a:p>
            <a:r>
              <a:t xml:space="preserve">4 minutes</a:t>
            </a:r>
          </a:p>
          <a:p>
            <a:r>
              <a:t xml:space="preserve"/>
            </a:r>
          </a:p>
          <a:p>
            <a:r>
              <a:t xml:space="preserve">**Mode Split:**</a:t>
            </a:r>
          </a:p>
          <a:p>
            <a:r>
              <a:t xml:space="preserve">Lecture 3분 + Case 1분</a:t>
            </a:r>
          </a:p>
          <a:p>
            <a:r>
              <a:t xml:space="preserve"/>
            </a:r>
          </a:p>
          <a:p>
            <a:r>
              <a:t xml:space="preserve">**Primary Message:**</a:t>
            </a:r>
          </a:p>
          <a:p>
            <a:r>
              <a:t xml:space="preserve">CriticBench의 생성·검토·수정 능력과 교차 모델 검토 결과를 근거로 검토자 선택을 따로 평가할 이유를 설명한다.</a:t>
            </a:r>
          </a:p>
          <a:p>
            <a:r>
              <a:t xml:space="preserve"/>
            </a:r>
          </a:p>
          <a:p>
            <a:r>
              <a:t xml:space="preserve">**Opening Question:**</a:t>
            </a:r>
          </a:p>
          <a:p>
            <a:r>
              <a:t xml:space="preserve">코드를 잘 생성하는 모델이 그 결과의 가장 좋은 검토자일까?</a:t>
            </a:r>
          </a:p>
          <a:p>
            <a:r>
              <a:t xml:space="preserve"/>
            </a:r>
          </a:p>
          <a:p>
            <a:r>
              <a:t xml:space="preserve">**Speaker Flow:**</a:t>
            </a:r>
          </a:p>
          <a:p>
            <a:r>
              <a:t xml:space="preserve">1. (0:00–3:00 / Lecture) CriticBench는 수학·상식·기호·코딩·알고리즘의 다섯 영역에서 17개 모델의 생성·검토·수정을 평가했다. 세 능력이 항상 일치하지 않았고 §4.2.5는 일부 다른 모델의 검토가 대상 모델의 자기 검토보다 나은 경우를 보고한다.</a:t>
            </a:r>
          </a:p>
          <a:p>
            <a:r>
              <a:t xml:space="preserve">2. (3:00–4:00 / Case) 약한 모델이 언제나 더 좋은 검토자라는 뜻은 아니다. 이 결과로 검토자 역할을 따로 평가할 이유를 설명하고 다음 장의 모델 배치 설계로 연결한다.</a:t>
            </a:r>
          </a:p>
          <a:p>
            <a:r>
              <a:t xml:space="preserve"/>
            </a:r>
          </a:p>
          <a:p>
            <a:r>
              <a:t xml:space="preserve">**Evidence / Source:**</a:t>
            </a:r>
          </a:p>
          <a:p>
            <a:r>
              <a:t xml:space="preserve">DEC-0097; BEAT-081; SRC-0238; CLM-0044; CriticBench section 4.2.5. Primary sources checked 2026-10-25: https://aclanthology.org/2024.findings-acl.91.pdf (section 4.2.5)</a:t>
            </a:r>
          </a:p>
          <a:p>
            <a:r>
              <a:t xml:space="preserve"/>
            </a:r>
          </a:p>
          <a:p>
            <a:r>
              <a:t xml:space="preserve">보존된 상세 출처: CriticBench · Findings of ACL 2024 · 17개 모델 / §4.2.5 교차 모델 검토</a:t>
            </a:r>
          </a:p>
          <a:p>
            <a:r>
              <a:t xml:space="preserve"/>
            </a:r>
          </a:p>
          <a:p>
            <a:r>
              <a:t xml:space="preserve">**Claim Boundary:**</a:t>
            </a:r>
          </a:p>
          <a:p>
            <a:r>
              <a:t xml:space="preserve">FROZEN WITH SCOPE — 해당 연구의 모델·과제·방법과 조건에 한정. 현재 Codex의 일반 성능·비용이나 새 코드 루프 성과로 확장하지 않는다.</a:t>
            </a:r>
          </a:p>
          <a:p>
            <a:r>
              <a:t xml:space="preserve"/>
            </a:r>
          </a:p>
          <a:p>
            <a:r>
              <a:t xml:space="preserve">보존된 상세 범위: 일부 모델·과제에서의 결과 · 이 교육의 코드 루프 완료율·비용 개선을 측정한 연구가 아님</a:t>
            </a:r>
          </a:p>
          <a:p>
            <a:r>
              <a:t xml:space="preserve"/>
            </a:r>
          </a:p>
          <a:p>
            <a:r>
              <a:t xml:space="preserve">**Beginner Explanation:**</a:t>
            </a:r>
          </a:p>
          <a:p>
            <a:r>
              <a:t xml:space="preserve">CriticBench의 생성·검토·수정 능력과 교차 모델 검토 결과를 근거로 검토자 선택을 따로 평가할 이유를 설명한다.</a:t>
            </a:r>
          </a:p>
          <a:p>
            <a:r>
              <a:t xml:space="preserve"/>
            </a:r>
          </a:p>
          <a:p>
            <a:r>
              <a:t xml:space="preserve">**Advanced Insight:**</a:t>
            </a:r>
          </a:p>
          <a:p>
            <a:r>
              <a:t xml:space="preserve">검토 정확도와 전체 개발 루프의 완료율·코스트는 다른 평가다. 이 교육의 모델 조합을 검증한 수치로 쓰지 않는다.</a:t>
            </a:r>
          </a:p>
          <a:p>
            <a:r>
              <a:t xml:space="preserve"/>
            </a:r>
          </a:p>
          <a:p>
            <a:r>
              <a:t xml:space="preserve">**C++ Vision Bridge:**</a:t>
            </a:r>
          </a:p>
          <a:p>
            <a:r>
              <a:t xml:space="preserve">N/A — 같은 명세·검사·검토 원리를 적용할 수 있으나 별도 GPU 사례나 미실행 C++ 코드를 추가하지 않는다.</a:t>
            </a:r>
          </a:p>
          <a:p>
            <a:r>
              <a:t xml:space="preserve"/>
            </a:r>
          </a:p>
          <a:p>
            <a:r>
              <a:t xml:space="preserve">**Demo Operation:**</a:t>
            </a:r>
          </a:p>
          <a:p>
            <a:r>
              <a:t xml:space="preserve">정적 화면을 위에서 아래, 왼쪽에서 오른쪽으로 짚는다. 교육용 진행 예/논문/실제 과거 기록의 표시를 먼저 확인한다. 새 명령·모델 호출·Live Trial은 실행하지 않는다.</a:t>
            </a:r>
          </a:p>
          <a:p>
            <a:r>
              <a:t xml:space="preserve"/>
            </a:r>
          </a:p>
          <a:p>
            <a:r>
              <a:t xml:space="preserve">**Audience Interaction:**</a:t>
            </a:r>
          </a:p>
          <a:p>
            <a:r>
              <a:t xml:space="preserve">N/A — 필수 응답·실습 없이 관찰할 질문만 제시한다.</a:t>
            </a:r>
          </a:p>
          <a:p>
            <a:r>
              <a:t xml:space="preserve"/>
            </a:r>
          </a:p>
          <a:p>
            <a:r>
              <a:t xml:space="preserve">**Transition:**</a:t>
            </a:r>
          </a:p>
          <a:p>
            <a:r>
              <a:t xml:space="preserve">다음은 구현과 검토에 모델을 어떻게 나눌까?의 질문으로 이어간다.</a:t>
            </a:r>
          </a:p>
          <a:p>
            <a:r>
              <a:t xml:space="preserve"/>
            </a:r>
          </a:p>
          <a:p>
            <a:r>
              <a:t xml:space="preserve">**Time Management:**</a:t>
            </a:r>
          </a:p>
          <a:p>
            <a:r>
              <a:t xml:space="preserve">Lecture 3분 + Case 1분 = 4분. 위 Speaker Flow의 Mode 경계를 유지한다. 초과 시 Advanced Insight를 줄이고 핵심 그림·근거 범위·다음 전환은 보존한다. 실제 리허설은 UNVERIFIED다.</a:t>
            </a:r>
          </a:p>
          <a:p>
            <a:r>
              <a:t xml:space="preserve"/>
            </a:r>
          </a:p>
          <a:p>
            <a:r>
              <a:t xml:space="preserve">**Fallback:**</a:t>
            </a:r>
          </a:p>
          <a:p>
            <a:r>
              <a:t xml:space="preserve">LOCAL STATIC ARTIFACT — production/ACT_4.pptx의 S97; production/preview/act4/S97.png 및 production/preview/full/S97.png. 이 구간은 Live 실행을 전제하지 않는다. 실제 발표 PC 재생은 UNVERIFIED다.</a:t>
            </a:r>
          </a:p>
          <a:p>
            <a:r>
              <a:t xml:space="preserve"/>
            </a:r>
          </a:p>
          <a:p>
            <a:r>
              <a:t xml:space="preserve">**Validation Status:**</a:t>
            </a:r>
          </a:p>
          <a:p>
            <a:r>
              <a:t xml:space="preserve">REVIEWED — DEC-0097의 내용·근거 정렬. 최종 로컬 구조·렌더·Notes 검사는 production/evaluation/ACT_4_GOAL_LOOP_REVISION.md에 기록. Windows/교육장/제품·계정/실측 리허설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 xml:space="preserve">## S98 — 구현과 검토에 모델을 어떻게 나눌까?</a:t>
            </a:r>
          </a:p>
          <a:p>
            <a:r>
              <a:t xml:space="preserve"/>
            </a:r>
          </a:p>
          <a:p>
            <a:r>
              <a:t xml:space="preserve">**Slide ID:**</a:t>
            </a:r>
          </a:p>
          <a:p>
            <a:r>
              <a:t xml:space="preserve">S98</a:t>
            </a:r>
          </a:p>
          <a:p>
            <a:r>
              <a:t xml:space="preserve"/>
            </a:r>
          </a:p>
          <a:p>
            <a:r>
              <a:t xml:space="preserve">**Working Title:**</a:t>
            </a:r>
          </a:p>
          <a:p>
            <a:r>
              <a:t xml:space="preserve">구현과 검토에 모델을 어떻게 나눌까?</a:t>
            </a:r>
          </a:p>
          <a:p>
            <a:r>
              <a:t xml:space="preserve"/>
            </a:r>
          </a:p>
          <a:p>
            <a:r>
              <a:t xml:space="preserve">**ACT / Section:**</a:t>
            </a:r>
          </a:p>
          <a:p>
            <a:r>
              <a:t xml:space="preserve">ACT 4 / 4R5 Engineering the loop</a:t>
            </a:r>
          </a:p>
          <a:p>
            <a:r>
              <a:t xml:space="preserve"/>
            </a:r>
          </a:p>
          <a:p>
            <a:r>
              <a:t xml:space="preserve">**Allocated Time:**</a:t>
            </a:r>
          </a:p>
          <a:p>
            <a:r>
              <a:t xml:space="preserve">4 minutes</a:t>
            </a:r>
          </a:p>
          <a:p>
            <a:r>
              <a:t xml:space="preserve"/>
            </a:r>
          </a:p>
          <a:p>
            <a:r>
              <a:t xml:space="preserve">**Mode Split:**</a:t>
            </a:r>
          </a:p>
          <a:p>
            <a:r>
              <a:t xml:space="preserve">Lecture 2분 + Case 2분</a:t>
            </a:r>
          </a:p>
          <a:p>
            <a:r>
              <a:t xml:space="preserve"/>
            </a:r>
          </a:p>
          <a:p>
            <a:r>
              <a:t xml:space="preserve">**Primary Message:**</a:t>
            </a:r>
          </a:p>
          <a:p>
            <a:r>
              <a:t xml:space="preserve">같은 모델의 역할 분리와 다른 모델의 구현·검토 조합을 구분하고 실제 작업에서 효과를 평가한다.</a:t>
            </a:r>
          </a:p>
          <a:p>
            <a:r>
              <a:t xml:space="preserve"/>
            </a:r>
          </a:p>
          <a:p>
            <a:r>
              <a:t xml:space="preserve">**Opening Question:**</a:t>
            </a:r>
          </a:p>
          <a:p>
            <a:r>
              <a:t xml:space="preserve">역할을 두 개 만들면 서로 다른 모델을 사용하는 셈일까?</a:t>
            </a:r>
          </a:p>
          <a:p>
            <a:r>
              <a:t xml:space="preserve"/>
            </a:r>
          </a:p>
          <a:p>
            <a:r>
              <a:t xml:space="preserve">**Speaker Flow:**</a:t>
            </a:r>
          </a:p>
          <a:p>
            <a:r>
              <a:t xml:space="preserve">1. (0:00–2:00 / Lecture) 같은 모델의 두 세션·Agent에 다른 역할을 주는 것과 서로 다른 모델을 선택하는 것은 다르다. 오른쪽 A/B 구성이 이번 교육에서 검토하는 다중 모델 설계라고 설명한다.</a:t>
            </a:r>
          </a:p>
          <a:p>
            <a:r>
              <a:t xml:space="preserve">2. (2:00–4:00 / Case) 실제로는 역할별 오류 탐지, 최종 동작, 지연·비용을 확인해야 한다. 모델·계정·실행 표면은 TBD이며 자동 연결 기능이나 성능 향상을 이미 확인한 것처럼 말하지 않는다.</a:t>
            </a:r>
          </a:p>
          <a:p>
            <a:r>
              <a:t xml:space="preserve"/>
            </a:r>
          </a:p>
          <a:p>
            <a:r>
              <a:t xml:space="preserve">**Evidence / Source:**</a:t>
            </a:r>
          </a:p>
          <a:p>
            <a:r>
              <a:t xml:space="preserve">DEC-0097; BEAT-082; CLM-0043; CLM-0044; CASE-LOOP-01. CASE-LOOP-01의 교육용 설계. 실제 자료와 설계를 구분한다.</a:t>
            </a:r>
          </a:p>
          <a:p>
            <a:r>
              <a:t xml:space="preserve"/>
            </a:r>
          </a:p>
          <a:p>
            <a:r>
              <a:t xml:space="preserve">보존된 상세 출처: 연구를 참고한 개발 작업의 역할 배치 제안 · 현재 제품의 자동 배치 기능 설명 아님</a:t>
            </a:r>
          </a:p>
          <a:p>
            <a:r>
              <a:t xml:space="preserve"/>
            </a:r>
          </a:p>
          <a:p>
            <a:r>
              <a:t xml:space="preserve">**Claim Boundary:**</a:t>
            </a:r>
          </a:p>
          <a:p>
            <a:r>
              <a:t xml:space="preserve">TEACHING_MODEL — 교육용 설계이며 실제 구현·검토·재실행·측정·완료 결과가 없다. 기존 Product/Meta Trial을 이 루프의 실행 증거로 바꾸지 않는다.</a:t>
            </a:r>
          </a:p>
          <a:p>
            <a:r>
              <a:t xml:space="preserve"/>
            </a:r>
          </a:p>
          <a:p>
            <a:r>
              <a:t xml:space="preserve">보존된 상세 범위: 같은 모델의 역할 분리와 서로 다른 모델 조합을 구분 · 실제 조합의 효과는 별도 평가</a:t>
            </a:r>
          </a:p>
          <a:p>
            <a:r>
              <a:t xml:space="preserve"/>
            </a:r>
          </a:p>
          <a:p>
            <a:r>
              <a:t xml:space="preserve">**Beginner Explanation:**</a:t>
            </a:r>
          </a:p>
          <a:p>
            <a:r>
              <a:t xml:space="preserve">같은 모델의 역할 분리와 다른 모델의 구현·검토 조합을 구분하고 실제 작업에서 효과를 평가한다.</a:t>
            </a:r>
          </a:p>
          <a:p>
            <a:r>
              <a:t xml:space="preserve"/>
            </a:r>
          </a:p>
          <a:p>
            <a:r>
              <a:t xml:space="preserve">**Advanced Insight:**</a:t>
            </a:r>
          </a:p>
          <a:p>
            <a:r>
              <a:t xml:space="preserve">Reviewer에게 구현 모델의 자신감만 전달하지 않고 독립적으로 대조할 명세·diff·원래 검사 기록을 제공한다.</a:t>
            </a:r>
          </a:p>
          <a:p>
            <a:r>
              <a:t xml:space="preserve"/>
            </a:r>
          </a:p>
          <a:p>
            <a:r>
              <a:t xml:space="preserve">**C++ Vision Bridge:**</a:t>
            </a:r>
          </a:p>
          <a:p>
            <a:r>
              <a:t xml:space="preserve">N/A — 같은 명세·검사·검토 원리를 적용할 수 있으나 별도 GPU 사례나 미실행 C++ 코드를 추가하지 않는다.</a:t>
            </a:r>
          </a:p>
          <a:p>
            <a:r>
              <a:t xml:space="preserve"/>
            </a:r>
          </a:p>
          <a:p>
            <a:r>
              <a:t xml:space="preserve">**Demo Operation:**</a:t>
            </a:r>
          </a:p>
          <a:p>
            <a:r>
              <a:t xml:space="preserve">정적 화면을 위에서 아래, 왼쪽에서 오른쪽으로 짚는다. 교육용 진행 예/논문/실제 과거 기록의 표시를 먼저 확인한다. 새 명령·모델 호출·Live Trial은 실행하지 않는다.</a:t>
            </a:r>
          </a:p>
          <a:p>
            <a:r>
              <a:t xml:space="preserve"/>
            </a:r>
          </a:p>
          <a:p>
            <a:r>
              <a:t xml:space="preserve">**Audience Interaction:**</a:t>
            </a:r>
          </a:p>
          <a:p>
            <a:r>
              <a:t xml:space="preserve">N/A — 필수 응답·실습 없이 관찰할 질문만 제시한다.</a:t>
            </a:r>
          </a:p>
          <a:p>
            <a:r>
              <a:t xml:space="preserve"/>
            </a:r>
          </a:p>
          <a:p>
            <a:r>
              <a:t xml:space="preserve">**Transition:**</a:t>
            </a:r>
          </a:p>
          <a:p>
            <a:r>
              <a:t xml:space="preserve">다음은 검토 모델의 말도 확인해야 한다의 질문으로 이어간다.</a:t>
            </a:r>
          </a:p>
          <a:p>
            <a:r>
              <a:t xml:space="preserve"/>
            </a:r>
          </a:p>
          <a:p>
            <a:r>
              <a:t xml:space="preserve">**Time Management:**</a:t>
            </a:r>
          </a:p>
          <a:p>
            <a:r>
              <a:t xml:space="preserve">Lecture 2분 + Case 2분 = 4분. 위 Speaker Flow의 Mode 경계를 유지한다. 초과 시 Advanced Insight를 줄이고 핵심 그림·근거 범위·다음 전환은 보존한다. 실제 리허설은 UNVERIFIED다.</a:t>
            </a:r>
          </a:p>
          <a:p>
            <a:r>
              <a:t xml:space="preserve"/>
            </a:r>
          </a:p>
          <a:p>
            <a:r>
              <a:t xml:space="preserve">**Fallback:**</a:t>
            </a:r>
          </a:p>
          <a:p>
            <a:r>
              <a:t xml:space="preserve">LOCAL STATIC ARTIFACT — production/ACT_4.pptx의 S98; production/preview/act4/S98.png 및 production/preview/full/S98.png. 이 구간은 Live 실행을 전제하지 않는다. 실제 발표 PC 재생은 UNVERIFIED다.</a:t>
            </a:r>
          </a:p>
          <a:p>
            <a:r>
              <a:t xml:space="preserve"/>
            </a:r>
          </a:p>
          <a:p>
            <a:r>
              <a:t xml:space="preserve">**Validation Status:**</a:t>
            </a:r>
          </a:p>
          <a:p>
            <a:r>
              <a:t xml:space="preserve">REVIEWED — DEC-0097의 내용·근거 정렬. 최종 로컬 구조·렌더·Notes 검사는 production/evaluation/ACT_4_GOAL_LOOP_REVISION.md에 기록. Windows/교육장/제품·계정/실측 리허설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 xml:space="preserve">## S99 — 검토 모델의 말도 확인해야 한다</a:t>
            </a:r>
          </a:p>
          <a:p>
            <a:r>
              <a:t xml:space="preserve"/>
            </a:r>
          </a:p>
          <a:p>
            <a:r>
              <a:t xml:space="preserve">**Slide ID:**</a:t>
            </a:r>
          </a:p>
          <a:p>
            <a:r>
              <a:t xml:space="preserve">S99</a:t>
            </a:r>
          </a:p>
          <a:p>
            <a:r>
              <a:t xml:space="preserve"/>
            </a:r>
          </a:p>
          <a:p>
            <a:r>
              <a:t xml:space="preserve">**Working Title:**</a:t>
            </a:r>
          </a:p>
          <a:p>
            <a:r>
              <a:t xml:space="preserve">검토 모델의 말도 확인해야 한다</a:t>
            </a:r>
          </a:p>
          <a:p>
            <a:r>
              <a:t xml:space="preserve"/>
            </a:r>
          </a:p>
          <a:p>
            <a:r>
              <a:t xml:space="preserve">**ACT / Section:**</a:t>
            </a:r>
          </a:p>
          <a:p>
            <a:r>
              <a:t xml:space="preserve">ACT 4 / 4R5 Engineering the loop</a:t>
            </a:r>
          </a:p>
          <a:p>
            <a:r>
              <a:t xml:space="preserve"/>
            </a:r>
          </a:p>
          <a:p>
            <a:r>
              <a:t xml:space="preserve">**Allocated Time:**</a:t>
            </a:r>
          </a:p>
          <a:p>
            <a:r>
              <a:t xml:space="preserve">4 minutes</a:t>
            </a:r>
          </a:p>
          <a:p>
            <a:r>
              <a:t xml:space="preserve"/>
            </a:r>
          </a:p>
          <a:p>
            <a:r>
              <a:t xml:space="preserve">**Mode Split:**</a:t>
            </a:r>
          </a:p>
          <a:p>
            <a:r>
              <a:t xml:space="preserve">Lecture 2분 + Case 2분</a:t>
            </a:r>
          </a:p>
          <a:p>
            <a:r>
              <a:t xml:space="preserve"/>
            </a:r>
          </a:p>
          <a:p>
            <a:r>
              <a:t xml:space="preserve">**Primary Message:**</a:t>
            </a:r>
          </a:p>
          <a:p>
            <a:r>
              <a:t xml:space="preserve">검토 모델의 지적도 명세와 검사 근거로 대조해 수용·기각·추가 확인을 결정한다.</a:t>
            </a:r>
          </a:p>
          <a:p>
            <a:r>
              <a:t xml:space="preserve"/>
            </a:r>
          </a:p>
          <a:p>
            <a:r>
              <a:t xml:space="preserve">**Opening Question:**</a:t>
            </a:r>
          </a:p>
          <a:p>
            <a:r>
              <a:t xml:space="preserve">검토 모델이 고치라고 하면 무조건 따라야 할까?</a:t>
            </a:r>
          </a:p>
          <a:p>
            <a:r>
              <a:t xml:space="preserve"/>
            </a:r>
          </a:p>
          <a:p>
            <a:r>
              <a:t xml:space="preserve">**Speaker Flow:**</a:t>
            </a:r>
          </a:p>
          <a:p>
            <a:r>
              <a:t xml:space="preserve">1. (0:00–2:00 / Lecture) 검토 모델도 틀릴 수 있다. 지적의 위치·위반 기준·근거가 실제 변경과 맞는지 대조하고, 동의만으로 완료하지 않는다고 설명한다.</a:t>
            </a:r>
          </a:p>
          <a:p>
            <a:r>
              <a:t xml:space="preserve">2. (2:00–4:00 / Case) 지적이 타당하면 수정, 틀리면 기각 이유를 남긴다. 명세가 모호하거나 검증이 불가능하면 사람에게 판단을 요청한다. 모델 다수결을 객관적 정답으로 대체하지 않는다.</a:t>
            </a:r>
          </a:p>
          <a:p>
            <a:r>
              <a:t xml:space="preserve"/>
            </a:r>
          </a:p>
          <a:p>
            <a:r>
              <a:t xml:space="preserve">**Evidence / Source:**</a:t>
            </a:r>
          </a:p>
          <a:p>
            <a:r>
              <a:t xml:space="preserve">DEC-0097; BEAT-082; CASE-LOOP-01; CLM-0021. CASE-LOOP-01의 교육용 설계. 실제 자료와 설계를 구분한다.</a:t>
            </a:r>
          </a:p>
          <a:p>
            <a:r>
              <a:t xml:space="preserve"/>
            </a:r>
          </a:p>
          <a:p>
            <a:r>
              <a:t xml:space="preserve">보존된 상세 출처: TEACHING_MODEL · 검토 지적의 수용·기각과 추가 확인</a:t>
            </a:r>
          </a:p>
          <a:p>
            <a:r>
              <a:t xml:space="preserve"/>
            </a:r>
          </a:p>
          <a:p>
            <a:r>
              <a:t xml:space="preserve">**Claim Boundary:**</a:t>
            </a:r>
          </a:p>
          <a:p>
            <a:r>
              <a:t xml:space="preserve">TEACHING_MODEL — 교육용 설계이며 실제 구현·검토·재실행·측정·완료 결과가 없다. 기존 Product/Meta Trial을 이 루프의 실행 증거로 바꾸지 않는다.</a:t>
            </a:r>
          </a:p>
          <a:p>
            <a:r>
              <a:t xml:space="preserve"/>
            </a:r>
          </a:p>
          <a:p>
            <a:r>
              <a:t xml:space="preserve">보존된 상세 범위: 모델 동의·다수결만으로 완료하지 않음 · 검토 모델도 틀릴 수 있음</a:t>
            </a:r>
          </a:p>
          <a:p>
            <a:r>
              <a:t xml:space="preserve"/>
            </a:r>
          </a:p>
          <a:p>
            <a:r>
              <a:t xml:space="preserve">**Beginner Explanation:**</a:t>
            </a:r>
          </a:p>
          <a:p>
            <a:r>
              <a:t xml:space="preserve">검토 모델의 지적도 명세와 검사 근거로 대조해 수용·기각·추가 확인을 결정한다.</a:t>
            </a:r>
          </a:p>
          <a:p>
            <a:r>
              <a:t xml:space="preserve"/>
            </a:r>
          </a:p>
          <a:p>
            <a:r>
              <a:t xml:space="preserve">**Advanced Insight:**</a:t>
            </a:r>
          </a:p>
          <a:p>
            <a:r>
              <a:t xml:space="preserve">잘못된 지적을 반복 반영해 정상 동작을 깨뜨리는 회귀와 무한 수정을 막는 제어도 Loop 설계의 일부다.</a:t>
            </a:r>
          </a:p>
          <a:p>
            <a:r>
              <a:t xml:space="preserve"/>
            </a:r>
          </a:p>
          <a:p>
            <a:r>
              <a:t xml:space="preserve">**C++ Vision Bridge:**</a:t>
            </a:r>
          </a:p>
          <a:p>
            <a:r>
              <a:t xml:space="preserve">N/A — 같은 명세·검사·검토 원리를 적용할 수 있으나 별도 GPU 사례나 미실행 C++ 코드를 추가하지 않는다.</a:t>
            </a:r>
          </a:p>
          <a:p>
            <a:r>
              <a:t xml:space="preserve"/>
            </a:r>
          </a:p>
          <a:p>
            <a:r>
              <a:t xml:space="preserve">**Demo Operation:**</a:t>
            </a:r>
          </a:p>
          <a:p>
            <a:r>
              <a:t xml:space="preserve">정적 화면을 위에서 아래, 왼쪽에서 오른쪽으로 짚는다. 교육용 진행 예/논문/실제 과거 기록의 표시를 먼저 확인한다. 새 명령·모델 호출·Live Trial은 실행하지 않는다.</a:t>
            </a:r>
          </a:p>
          <a:p>
            <a:r>
              <a:t xml:space="preserve"/>
            </a:r>
          </a:p>
          <a:p>
            <a:r>
              <a:t xml:space="preserve">**Audience Interaction:**</a:t>
            </a:r>
          </a:p>
          <a:p>
            <a:r>
              <a:t xml:space="preserve">N/A — 필수 응답·실습 없이 관찰할 질문만 제시한다.</a:t>
            </a:r>
          </a:p>
          <a:p>
            <a:r>
              <a:t xml:space="preserve"/>
            </a:r>
          </a:p>
          <a:p>
            <a:r>
              <a:t xml:space="preserve">**Transition:**</a:t>
            </a:r>
          </a:p>
          <a:p>
            <a:r>
              <a:t xml:space="preserve">다음은 반복하려면 무엇을 이어받아야 할까?의 질문으로 이어간다.</a:t>
            </a:r>
          </a:p>
          <a:p>
            <a:r>
              <a:t xml:space="preserve"/>
            </a:r>
          </a:p>
          <a:p>
            <a:r>
              <a:t xml:space="preserve">**Time Management:**</a:t>
            </a:r>
          </a:p>
          <a:p>
            <a:r>
              <a:t xml:space="preserve">Lecture 2분 + Case 2분 = 4분. 위 Speaker Flow의 Mode 경계를 유지한다. 초과 시 Advanced Insight를 줄이고 핵심 그림·근거 범위·다음 전환은 보존한다. 실제 리허설은 UNVERIFIED다.</a:t>
            </a:r>
          </a:p>
          <a:p>
            <a:r>
              <a:t xml:space="preserve"/>
            </a:r>
          </a:p>
          <a:p>
            <a:r>
              <a:t xml:space="preserve">**Fallback:**</a:t>
            </a:r>
          </a:p>
          <a:p>
            <a:r>
              <a:t xml:space="preserve">LOCAL STATIC ARTIFACT — production/ACT_4.pptx의 S99; production/preview/act4/S99.png 및 production/preview/full/S99.png. 이 구간은 Live 실행을 전제하지 않는다. 실제 발표 PC 재생은 UNVERIFIED다.</a:t>
            </a:r>
          </a:p>
          <a:p>
            <a:r>
              <a:t xml:space="preserve"/>
            </a:r>
          </a:p>
          <a:p>
            <a:r>
              <a:t xml:space="preserve">**Validation Status:**</a:t>
            </a:r>
          </a:p>
          <a:p>
            <a:r>
              <a:t xml:space="preserve">REVIEWED — DEC-0097의 내용·근거 정렬. 최종 로컬 구조·렌더·Notes 검사는 production/evaluation/ACT_4_GOAL_LOOP_REVISION.md에 기록. Windows/교육장/제품·계정/실측 리허설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 xml:space="preserve">## S100 — 반복하려면 무엇을 이어받아야 할까?</a:t>
            </a:r>
          </a:p>
          <a:p>
            <a:r>
              <a:t xml:space="preserve"/>
            </a:r>
          </a:p>
          <a:p>
            <a:r>
              <a:t xml:space="preserve">**Slide ID:**</a:t>
            </a:r>
          </a:p>
          <a:p>
            <a:r>
              <a:t xml:space="preserve">S100</a:t>
            </a:r>
          </a:p>
          <a:p>
            <a:r>
              <a:t xml:space="preserve"/>
            </a:r>
          </a:p>
          <a:p>
            <a:r>
              <a:t xml:space="preserve">**Working Title:**</a:t>
            </a:r>
          </a:p>
          <a:p>
            <a:r>
              <a:t xml:space="preserve">반복하려면 무엇을 이어받아야 할까?</a:t>
            </a:r>
          </a:p>
          <a:p>
            <a:r>
              <a:t xml:space="preserve"/>
            </a:r>
          </a:p>
          <a:p>
            <a:r>
              <a:t xml:space="preserve">**ACT / Section:**</a:t>
            </a:r>
          </a:p>
          <a:p>
            <a:r>
              <a:t xml:space="preserve">ACT 4 / 4R5 Engineering the loop</a:t>
            </a:r>
          </a:p>
          <a:p>
            <a:r>
              <a:t xml:space="preserve"/>
            </a:r>
          </a:p>
          <a:p>
            <a:r>
              <a:t xml:space="preserve">**Allocated Time:**</a:t>
            </a:r>
          </a:p>
          <a:p>
            <a:r>
              <a:t xml:space="preserve">4 minutes</a:t>
            </a:r>
          </a:p>
          <a:p>
            <a:r>
              <a:t xml:space="preserve"/>
            </a:r>
          </a:p>
          <a:p>
            <a:r>
              <a:t xml:space="preserve">**Mode Split:**</a:t>
            </a:r>
          </a:p>
          <a:p>
            <a:r>
              <a:t xml:space="preserve">Lecture 2분 + Case 2분</a:t>
            </a:r>
          </a:p>
          <a:p>
            <a:r>
              <a:t xml:space="preserve"/>
            </a:r>
          </a:p>
          <a:p>
            <a:r>
              <a:t xml:space="preserve">**Primary Message:**</a:t>
            </a:r>
          </a:p>
          <a:p>
            <a:r>
              <a:t xml:space="preserve">고정 목표, 현재 후보·검토·검사, 남은 문제와 한도를 다음 시도가 이어받도록 설계한다.</a:t>
            </a:r>
          </a:p>
          <a:p>
            <a:r>
              <a:t xml:space="preserve"/>
            </a:r>
          </a:p>
          <a:p>
            <a:r>
              <a:t xml:space="preserve">**Opening Question:**</a:t>
            </a:r>
          </a:p>
          <a:p>
            <a:r>
              <a:t xml:space="preserve">다음 시도가 처음부터 다시 시작하지 않게 하려면 무엇을 남길까?</a:t>
            </a:r>
          </a:p>
          <a:p>
            <a:r>
              <a:t xml:space="preserve"/>
            </a:r>
          </a:p>
          <a:p>
            <a:r>
              <a:t xml:space="preserve">**Speaker Flow:**</a:t>
            </a:r>
          </a:p>
          <a:p>
            <a:r>
              <a:t xml:space="preserve">1. (0:00–2:00 / Lecture) 목표·완료 기준은 고정하고 후보 버전·지적·검사 결과를 갱신한다. 검토 항목의 수용·기각, 현재 남은 문제와 시도 기록을 보존한다.</a:t>
            </a:r>
          </a:p>
          <a:p>
            <a:r>
              <a:t xml:space="preserve">2. (2:00–4:00 / Case) 반복·시간·비용 한도, 같은 실패의 정체, 회귀를 만나면 어떻게 멈추고 재개할지 정한다. 별도 Memory·프레임워크가 필수라는 주장이나 숫자 기본값을 만들지 않는다.</a:t>
            </a:r>
          </a:p>
          <a:p>
            <a:r>
              <a:t xml:space="preserve"/>
            </a:r>
          </a:p>
          <a:p>
            <a:r>
              <a:t xml:space="preserve">**Evidence / Source:**</a:t>
            </a:r>
          </a:p>
          <a:p>
            <a:r>
              <a:t xml:space="preserve">DEC-0097; BEAT-082; CASE-LOOP-01; CLM-0021. CASE-LOOP-01의 교육용 설계. 실제 자료와 설계를 구분한다.</a:t>
            </a:r>
          </a:p>
          <a:p>
            <a:r>
              <a:t xml:space="preserve"/>
            </a:r>
          </a:p>
          <a:p>
            <a:r>
              <a:t xml:space="preserve">보존된 상세 출처: TEACHING_MODEL · 같은 목표의 다음 시도를 위한 최소 기록</a:t>
            </a:r>
          </a:p>
          <a:p>
            <a:r>
              <a:t xml:space="preserve"/>
            </a:r>
          </a:p>
          <a:p>
            <a:r>
              <a:t xml:space="preserve">**Claim Boundary:**</a:t>
            </a:r>
          </a:p>
          <a:p>
            <a:r>
              <a:t xml:space="preserve">TEACHING_MODEL — 교육용 설계이며 실제 구현·검토·재실행·측정·완료 결과가 없다. 기존 Product/Meta Trial을 이 루프의 실행 증거로 바꾸지 않는다.</a:t>
            </a:r>
          </a:p>
          <a:p>
            <a:r>
              <a:t xml:space="preserve"/>
            </a:r>
          </a:p>
          <a:p>
            <a:r>
              <a:t xml:space="preserve">보존된 상세 범위: 새 Memory·프레임워크가 필수인 것은 아님 · 한도와 중단 후 재개는 별도 운영 기준</a:t>
            </a:r>
          </a:p>
          <a:p>
            <a:r>
              <a:t xml:space="preserve"/>
            </a:r>
          </a:p>
          <a:p>
            <a:r>
              <a:t xml:space="preserve">**Beginner Explanation:**</a:t>
            </a:r>
          </a:p>
          <a:p>
            <a:r>
              <a:t xml:space="preserve">고정 목표, 현재 후보·검토·검사, 남은 문제와 한도를 다음 시도가 이어받도록 설계한다.</a:t>
            </a:r>
          </a:p>
          <a:p>
            <a:r>
              <a:t xml:space="preserve"/>
            </a:r>
          </a:p>
          <a:p>
            <a:r>
              <a:t xml:space="preserve">**Advanced Insight:**</a:t>
            </a:r>
          </a:p>
          <a:p>
            <a:r>
              <a:t xml:space="preserve">목표의 상태와 실행의 상태를 분리한다. 실행이 중단됐다는 이유로 목표가 완료된 것으로 기록하지 않는다.</a:t>
            </a:r>
          </a:p>
          <a:p>
            <a:r>
              <a:t xml:space="preserve"/>
            </a:r>
          </a:p>
          <a:p>
            <a:r>
              <a:t xml:space="preserve">**C++ Vision Bridge:**</a:t>
            </a:r>
          </a:p>
          <a:p>
            <a:r>
              <a:t xml:space="preserve">N/A — 같은 명세·검사·검토 원리를 적용할 수 있으나 별도 GPU 사례나 미실행 C++ 코드를 추가하지 않는다.</a:t>
            </a:r>
          </a:p>
          <a:p>
            <a:r>
              <a:t xml:space="preserve"/>
            </a:r>
          </a:p>
          <a:p>
            <a:r>
              <a:t xml:space="preserve">**Demo Operation:**</a:t>
            </a:r>
          </a:p>
          <a:p>
            <a:r>
              <a:t xml:space="preserve">정적 화면을 위에서 아래, 왼쪽에서 오른쪽으로 짚는다. 교육용 진행 예/논문/실제 과거 기록의 표시를 먼저 확인한다. 새 명령·모델 호출·Live Trial은 실행하지 않는다.</a:t>
            </a:r>
          </a:p>
          <a:p>
            <a:r>
              <a:t xml:space="preserve"/>
            </a:r>
          </a:p>
          <a:p>
            <a:r>
              <a:t xml:space="preserve">**Audience Interaction:**</a:t>
            </a:r>
          </a:p>
          <a:p>
            <a:r>
              <a:t xml:space="preserve">N/A — 필수 응답·실습 없이 관찰할 질문만 제시한다.</a:t>
            </a:r>
          </a:p>
          <a:p>
            <a:r>
              <a:t xml:space="preserve"/>
            </a:r>
          </a:p>
          <a:p>
            <a:r>
              <a:t xml:space="preserve">**Transition:**</a:t>
            </a:r>
          </a:p>
          <a:p>
            <a:r>
              <a:t xml:space="preserve">다음은 확인한 근거와 아직 실행하지 않은 설계의 질문으로 이어간다.</a:t>
            </a:r>
          </a:p>
          <a:p>
            <a:r>
              <a:t xml:space="preserve"/>
            </a:r>
          </a:p>
          <a:p>
            <a:r>
              <a:t xml:space="preserve">**Time Management:**</a:t>
            </a:r>
          </a:p>
          <a:p>
            <a:r>
              <a:t xml:space="preserve">Lecture 2분 + Case 2분 = 4분. 위 Speaker Flow의 Mode 경계를 유지한다. 초과 시 Advanced Insight를 줄이고 핵심 그림·근거 범위·다음 전환은 보존한다. 실제 리허설은 UNVERIFIED다.</a:t>
            </a:r>
          </a:p>
          <a:p>
            <a:r>
              <a:t xml:space="preserve"/>
            </a:r>
          </a:p>
          <a:p>
            <a:r>
              <a:t xml:space="preserve">**Fallback:**</a:t>
            </a:r>
          </a:p>
          <a:p>
            <a:r>
              <a:t xml:space="preserve">LOCAL STATIC ARTIFACT — production/ACT_4.pptx의 S100; production/preview/act4/S100.png 및 production/preview/full/S100.png. 이 구간은 Live 실행을 전제하지 않는다. 실제 발표 PC 재생은 UNVERIFIED다.</a:t>
            </a:r>
          </a:p>
          <a:p>
            <a:r>
              <a:t xml:space="preserve"/>
            </a:r>
          </a:p>
          <a:p>
            <a:r>
              <a:t xml:space="preserve">**Validation Status:**</a:t>
            </a:r>
          </a:p>
          <a:p>
            <a:r>
              <a:t xml:space="preserve">REVIEWED — DEC-0097의 내용·근거 정렬. 최종 로컬 구조·렌더·Notes 검사는 production/evaluation/ACT_4_GOAL_LOOP_REVISION.md에 기록. Windows/교육장/제품·계정/실측 리허설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 xml:space="preserve">## S101 — 확인한 근거와 아직 실행하지 않은 설계</a:t>
            </a:r>
          </a:p>
          <a:p>
            <a:r>
              <a:t xml:space="preserve"/>
            </a:r>
          </a:p>
          <a:p>
            <a:r>
              <a:t xml:space="preserve">**Slide ID:**</a:t>
            </a:r>
          </a:p>
          <a:p>
            <a:r>
              <a:t xml:space="preserve">S101</a:t>
            </a:r>
          </a:p>
          <a:p>
            <a:r>
              <a:t xml:space="preserve"/>
            </a:r>
          </a:p>
          <a:p>
            <a:r>
              <a:t xml:space="preserve">**Working Title:**</a:t>
            </a:r>
          </a:p>
          <a:p>
            <a:r>
              <a:t xml:space="preserve">확인한 근거와 아직 실행하지 않은 설계</a:t>
            </a:r>
          </a:p>
          <a:p>
            <a:r>
              <a:t xml:space="preserve"/>
            </a:r>
          </a:p>
          <a:p>
            <a:r>
              <a:t xml:space="preserve">**ACT / Section:**</a:t>
            </a:r>
          </a:p>
          <a:p>
            <a:r>
              <a:t xml:space="preserve">ACT 4 / 4R6 Evidence and transfer</a:t>
            </a:r>
          </a:p>
          <a:p>
            <a:r>
              <a:t xml:space="preserve"/>
            </a:r>
          </a:p>
          <a:p>
            <a:r>
              <a:t xml:space="preserve">**Allocated Time:**</a:t>
            </a:r>
          </a:p>
          <a:p>
            <a:r>
              <a:t xml:space="preserve">4 minutes</a:t>
            </a:r>
          </a:p>
          <a:p>
            <a:r>
              <a:t xml:space="preserve"/>
            </a:r>
          </a:p>
          <a:p>
            <a:r>
              <a:t xml:space="preserve">**Mode Split:**</a:t>
            </a:r>
          </a:p>
          <a:p>
            <a:r>
              <a:t xml:space="preserve">Lecture 2분 + Case 2분</a:t>
            </a:r>
          </a:p>
          <a:p>
            <a:r>
              <a:t xml:space="preserve"/>
            </a:r>
          </a:p>
          <a:p>
            <a:r>
              <a:t xml:space="preserve">**Primary Message:**</a:t>
            </a:r>
          </a:p>
          <a:p>
            <a:r>
              <a:t xml:space="preserve">기존 제품 Trial, 인용 연구, 이번 루프 설계의 세 근거 범위를 구분한다.</a:t>
            </a:r>
          </a:p>
          <a:p>
            <a:r>
              <a:t xml:space="preserve"/>
            </a:r>
          </a:p>
          <a:p>
            <a:r>
              <a:t xml:space="preserve">**Opening Question:**</a:t>
            </a:r>
          </a:p>
          <a:p>
            <a:r>
              <a:t xml:space="preserve">우리가 실제로 확인한 것은 어디까지일까?</a:t>
            </a:r>
          </a:p>
          <a:p>
            <a:r>
              <a:t xml:space="preserve"/>
            </a:r>
          </a:p>
          <a:p>
            <a:r>
              <a:t xml:space="preserve">**Speaker Flow:**</a:t>
            </a:r>
          </a:p>
          <a:p>
            <a:r>
              <a:t xml:space="preserve">1. (0:00–2:00 / Lecture) 실제 밝기 통계의 변경·출력·측정 근거는 기존 코드·입력·환경에 한정한다. 논문은 연구된 모델·과제·방법의 결과다.</a:t>
            </a:r>
          </a:p>
          <a:p>
            <a:r>
              <a:t xml:space="preserve">2. (2:00–4:00 / Case) 이번 A/B 루프는 설계이며 새 실행·완료율·시간·비용을 측정하지 않았다. 과거 평가·보고 기준 Meta 기록도 다중 모델 구현·검토의 실측 성과로 바꾸지 않는다. 실제 운영 확인은 별도 검증 대상으로 유지한다.</a:t>
            </a:r>
          </a:p>
          <a:p>
            <a:r>
              <a:t xml:space="preserve"/>
            </a:r>
          </a:p>
          <a:p>
            <a:r>
              <a:t xml:space="preserve">**Evidence / Source:**</a:t>
            </a:r>
          </a:p>
          <a:p>
            <a:r>
              <a:t xml:space="preserve">DEC-0097; BEAT-083; STATE-04-PERF; TRIAL-008; SRC-0237; SRC-0238; CASE-LOOP-01. Primary sources checked 2026-10-25: https://aclanthology.org/2024.acl-long.381.pdf (Table 7); https://aclanthology.org/2024.findings-acl.91.pdf (section 4.2.5)</a:t>
            </a:r>
          </a:p>
          <a:p>
            <a:r>
              <a:t xml:space="preserve"/>
            </a:r>
          </a:p>
          <a:p>
            <a:r>
              <a:t xml:space="preserve">보존된 상세 출처: 기존 Product Trial / 인용한 연구 / CASE-LOOP-01 설계의 근거 경계</a:t>
            </a:r>
          </a:p>
          <a:p>
            <a:r>
              <a:t xml:space="preserve"/>
            </a:r>
          </a:p>
          <a:p>
            <a:r>
              <a:t xml:space="preserve">**Claim Boundary:**</a:t>
            </a:r>
          </a:p>
          <a:p>
            <a:r>
              <a:t xml:space="preserve">TEACHING_MODEL — 교육용 설계이며 실제 구현·검토·재실행·측정·완료 결과가 없다. 기존 Product/Meta Trial을 이 루프의 실행 증거로 바꾸지 않는다.</a:t>
            </a:r>
          </a:p>
          <a:p>
            <a:r>
              <a:t xml:space="preserve"/>
            </a:r>
          </a:p>
          <a:p>
            <a:r>
              <a:t xml:space="preserve">보존된 상세 범위: 기존 Trial을 다중 모델 루프의 실행 증거로 사용하지 않음 · 새 모델 조합·완료 성과 미검증</a:t>
            </a:r>
          </a:p>
          <a:p>
            <a:r>
              <a:t xml:space="preserve"/>
            </a:r>
          </a:p>
          <a:p>
            <a:r>
              <a:t xml:space="preserve">**Beginner Explanation:**</a:t>
            </a:r>
          </a:p>
          <a:p>
            <a:r>
              <a:t xml:space="preserve">기존 제품 Trial, 인용 연구, 이번 루프 설계의 세 근거 범위를 구분한다.</a:t>
            </a:r>
          </a:p>
          <a:p>
            <a:r>
              <a:t xml:space="preserve"/>
            </a:r>
          </a:p>
          <a:p>
            <a:r>
              <a:t xml:space="preserve">**Advanced Insight:**</a:t>
            </a:r>
          </a:p>
          <a:p>
            <a:r>
              <a:t xml:space="preserve">설계의 타당성, 실행의 존재, 결과의 품질, 비교 효과를 서로 다른 근거 단계로 평가한다.</a:t>
            </a:r>
          </a:p>
          <a:p>
            <a:r>
              <a:t xml:space="preserve"/>
            </a:r>
          </a:p>
          <a:p>
            <a:r>
              <a:t xml:space="preserve">**C++ Vision Bridge:**</a:t>
            </a:r>
          </a:p>
          <a:p>
            <a:r>
              <a:t xml:space="preserve">N/A — 같은 명세·검사·검토 원리를 적용할 수 있으나 별도 GPU 사례나 미실행 C++ 코드를 추가하지 않는다.</a:t>
            </a:r>
          </a:p>
          <a:p>
            <a:r>
              <a:t xml:space="preserve"/>
            </a:r>
          </a:p>
          <a:p>
            <a:r>
              <a:t xml:space="preserve">**Demo Operation:**</a:t>
            </a:r>
          </a:p>
          <a:p>
            <a:r>
              <a:t xml:space="preserve">정적 화면을 위에서 아래, 왼쪽에서 오른쪽으로 짚는다. 교육용 진행 예/논문/실제 과거 기록의 표시를 먼저 확인한다. 새 명령·모델 호출·Live Trial은 실행하지 않는다.</a:t>
            </a:r>
          </a:p>
          <a:p>
            <a:r>
              <a:t xml:space="preserve"/>
            </a:r>
          </a:p>
          <a:p>
            <a:r>
              <a:t xml:space="preserve">**Audience Interaction:**</a:t>
            </a:r>
          </a:p>
          <a:p>
            <a:r>
              <a:t xml:space="preserve">N/A — 필수 응답·실습 없이 관찰할 질문만 제시한다.</a:t>
            </a:r>
          </a:p>
          <a:p>
            <a:r>
              <a:t xml:space="preserve"/>
            </a:r>
          </a:p>
          <a:p>
            <a:r>
              <a:t xml:space="preserve">**Transition:**</a:t>
            </a:r>
          </a:p>
          <a:p>
            <a:r>
              <a:t xml:space="preserve">설계·논문·실제 기록을 구분했습니다. 이어서 목표를 유지하며 작업을 계속하는 공식 Goal 기능을 실무 팁으로 살펴봅니다.</a:t>
            </a:r>
          </a:p>
          <a:p>
            <a:r>
              <a:t xml:space="preserve"/>
            </a:r>
          </a:p>
          <a:p>
            <a:r>
              <a:t xml:space="preserve">**Time Management:**</a:t>
            </a:r>
          </a:p>
          <a:p>
            <a:r>
              <a:t xml:space="preserve">Lecture 2분 + Case 2분 = 4분. 위 Speaker Flow의 Mode 경계를 유지한다. 초과 시 Advanced Insight를 줄이고 핵심 그림·근거 범위·다음 전환은 보존한다. 실제 리허설은 UNVERIFIED다.</a:t>
            </a:r>
          </a:p>
          <a:p>
            <a:r>
              <a:t xml:space="preserve"/>
            </a:r>
          </a:p>
          <a:p>
            <a:r>
              <a:t xml:space="preserve">**Fallback:**</a:t>
            </a:r>
          </a:p>
          <a:p>
            <a:r>
              <a:t xml:space="preserve">LOCAL STATIC ARTIFACT — production/ACT_4.pptx의 S101; production/preview/act4/S101.png 및 production/preview/full/S101.png. 이 구간은 Live 실행을 전제하지 않는다. 실제 발표 PC 재생은 UNVERIFIED다.</a:t>
            </a:r>
          </a:p>
          <a:p>
            <a:r>
              <a:t xml:space="preserve"/>
            </a:r>
          </a:p>
          <a:p>
            <a:r>
              <a:t xml:space="preserve">**Validation Status:**</a:t>
            </a:r>
          </a:p>
          <a:p>
            <a:r>
              <a:t xml:space="preserve">REVIEWED — DEC-0097의 내용·근거 정렬. 최종 로컬 구조·렌더·Notes 검사는 production/evaluation/ACT_4_GOAL_LOOP_REVISION.md에 기록. Windows/교육장/제품·계정/실측 리허설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 xml:space="preserve">## S102 — Goal이 목표와 다음 작업을 이어준다</a:t>
            </a:r>
          </a:p>
          <a:p>
            <a:r>
              <a:t xml:space="preserve"/>
            </a:r>
          </a:p>
          <a:p>
            <a:r>
              <a:t xml:space="preserve">**Slide ID:**</a:t>
            </a:r>
          </a:p>
          <a:p>
            <a:r>
              <a:t xml:space="preserve">S102</a:t>
            </a:r>
          </a:p>
          <a:p>
            <a:r>
              <a:t xml:space="preserve"/>
            </a:r>
          </a:p>
          <a:p>
            <a:r>
              <a:t xml:space="preserve">**Working Title:**</a:t>
            </a:r>
          </a:p>
          <a:p>
            <a:r>
              <a:t xml:space="preserve">Goal이 목표와 다음 작업을 이어준다</a:t>
            </a:r>
          </a:p>
          <a:p>
            <a:r>
              <a:t xml:space="preserve"/>
            </a:r>
          </a:p>
          <a:p>
            <a:r>
              <a:t xml:space="preserve">**ACT / Section:**</a:t>
            </a:r>
          </a:p>
          <a:p>
            <a:r>
              <a:t xml:space="preserve">ACT 4 / 4T1 Goal continuation</a:t>
            </a:r>
          </a:p>
          <a:p>
            <a:r>
              <a:t xml:space="preserve"/>
            </a:r>
          </a:p>
          <a:p>
            <a:r>
              <a:t xml:space="preserve">**Allocated Time:**</a:t>
            </a:r>
          </a:p>
          <a:p>
            <a:r>
              <a:t xml:space="preserve">2 minutes</a:t>
            </a:r>
          </a:p>
          <a:p>
            <a:r>
              <a:t xml:space="preserve"/>
            </a:r>
          </a:p>
          <a:p>
            <a:r>
              <a:t xml:space="preserve">**Mode Split:**</a:t>
            </a:r>
          </a:p>
          <a:p>
            <a:r>
              <a:t xml:space="preserve">Lecture 2분</a:t>
            </a:r>
          </a:p>
          <a:p>
            <a:r>
              <a:t xml:space="preserve"/>
            </a:r>
          </a:p>
          <a:p>
            <a:r>
              <a:t xml:space="preserve">**Primary Message:**</a:t>
            </a:r>
          </a:p>
          <a:p>
            <a:r>
              <a:t xml:space="preserve">Goal은 턴을 넘어 목표·상태를 유지하고 근거 확인 뒤 계속 수행을 연결한다. 완료 기준과 검증·검토 역할은 작업에 맞게 설계한다.</a:t>
            </a:r>
          </a:p>
          <a:p>
            <a:r>
              <a:t xml:space="preserve"/>
            </a:r>
          </a:p>
          <a:p>
            <a:r>
              <a:t xml:space="preserve">**Opening Question:**</a:t>
            </a:r>
          </a:p>
          <a:p>
            <a:r>
              <a:t xml:space="preserve">매번 계속하라고 요청하지 않고, 같은 목표를 이어갈 수 있을까?</a:t>
            </a:r>
          </a:p>
          <a:p>
            <a:r>
              <a:t xml:space="preserve"/>
            </a:r>
          </a:p>
          <a:p>
            <a:r>
              <a:t xml:space="preserve">**Speaker Flow:**</a:t>
            </a:r>
          </a:p>
          <a:p>
            <a:r>
              <a:t xml:space="preserve">1. (0:00–0:35 / Lecture) ChatGPT 데스크톱의 /goal 입력 경로를 짚는다. 현재 화면은 사용법을 설명하는 도식이고 실행 캡처가 아님을 확인한다.</a:t>
            </a:r>
          </a:p>
          <a:p>
            <a:r>
              <a:t xml:space="preserve">2. (0:35–1:20 / Lecture) 목표가 턴을 넘어 유지되고 작업 뒤 근거를 보아 계속/완료를 판단하는 경로를 읽는다. 실제 제어는 앱의 안전한 작업 경계에서 이루어지며 무한 실행·목표 달성 보장을 뜻하지 않는다.</a:t>
            </a:r>
          </a:p>
          <a:p>
            <a:r>
              <a:t xml:space="preserve">3. (1:20–2:00 / Lecture) Goal의 계속 수행 기능과 별도 검증·다른 모델 검토 역할을 구분한다. 교육 계정의 기능 노출과 실행 환경은 후속 확인 대상으로 남긴다.</a:t>
            </a:r>
          </a:p>
          <a:p>
            <a:r>
              <a:t xml:space="preserve"/>
            </a:r>
          </a:p>
          <a:p>
            <a:r>
              <a:t xml:space="preserve">**Evidence / Source:**</a:t>
            </a:r>
          </a:p>
          <a:p>
            <a:r>
              <a:t xml:space="preserve">SRC-0240; SRC-0241; SRC-0242; CLM-0046; DEC-0098. Official pages checked2026-10-25: https://learn.chatgpt.com/docs/long-running-work; https://developers.openai.com/cookbook/examples/codex/using_goals_in_codex; https://learn.chatgpt.com/docs/reference/slash-commands. 교육용 요청·도식이며 실행 캡처나 기존 Trial의 생성 이력이 아니다.</a:t>
            </a:r>
          </a:p>
          <a:p>
            <a:r>
              <a:t xml:space="preserve"/>
            </a:r>
          </a:p>
          <a:p>
            <a:r>
              <a:t xml:space="preserve">보존된 상세 출처: OpenAI 공식 Goal 안내 · 2026-10-25 확인 · 사용법을 설명하는 도식</a:t>
            </a:r>
          </a:p>
          <a:p>
            <a:r>
              <a:t xml:space="preserve"/>
            </a:r>
          </a:p>
          <a:p>
            <a:r>
              <a:t xml:space="preserve">**Claim Boundary:**</a:t>
            </a:r>
          </a:p>
          <a:p>
            <a:r>
              <a:t xml:space="preserve">FROZEN WITH SCOPE — 공식 문서로 확인한 기능·안내와 교육용 도식. 사내 계정/버전/설정의 사용 가능 여부는 REQUIRES PRODUCT CHECK. 자동 다중 모델 배정·완료 보장·시간/비용 절감을 주장하지 않는다.</a:t>
            </a:r>
          </a:p>
          <a:p>
            <a:r>
              <a:t xml:space="preserve"/>
            </a:r>
          </a:p>
          <a:p>
            <a:r>
              <a:t xml:space="preserve">보존된 상세 범위: 실제 화면·실행 결과 아님 · 다른 모델 검토자는 별도 설계 · 사내 환경에서 사용 가능 여부 확인</a:t>
            </a:r>
          </a:p>
          <a:p>
            <a:r>
              <a:t xml:space="preserve"/>
            </a:r>
          </a:p>
          <a:p>
            <a:r>
              <a:t xml:space="preserve">**Beginner Explanation:**</a:t>
            </a:r>
          </a:p>
          <a:p>
            <a:r>
              <a:t xml:space="preserve">Goal은 턴을 넘어 목표·상태를 유지하고 근거 확인 뒤 계속 수행을 연결한다. 완료 기준과 검증·검토 역할은 작업에 맞게 설계한다.</a:t>
            </a:r>
          </a:p>
          <a:p>
            <a:r>
              <a:t xml:space="preserve"/>
            </a:r>
          </a:p>
          <a:p>
            <a:r>
              <a:t xml:space="preserve">**Advanced Insight:**</a:t>
            </a:r>
          </a:p>
          <a:p>
            <a:r>
              <a:t xml:space="preserve">Goal은 대화 범위의 목표·상태와 계속 수행 제어다. 권한을 확대하지 않으며 다른 모델의 코드 검토자를 자동 배정한다는 근거로 쓰지 않는다. 일반 요청 안에서도 수정·테스트가 반복될 수 있다.</a:t>
            </a:r>
          </a:p>
          <a:p>
            <a:r>
              <a:t xml:space="preserve"/>
            </a:r>
          </a:p>
          <a:p>
            <a:r>
              <a:t xml:space="preserve">**C++ Vision Bridge:**</a:t>
            </a:r>
          </a:p>
          <a:p>
            <a:r>
              <a:t xml:space="preserve">N/A — C++ 명령·새 사례를 추가하지 않는다.</a:t>
            </a:r>
          </a:p>
          <a:p>
            <a:r>
              <a:t xml:space="preserve"/>
            </a:r>
          </a:p>
          <a:p>
            <a:r>
              <a:t xml:space="preserve">**Demo Operation:**</a:t>
            </a:r>
          </a:p>
          <a:p>
            <a:r>
              <a:t xml:space="preserve">N/A — 정적 제품 안내 도식. 명령을 입력하거나 Goal을 활성화하지 않는다. 사내 환경의 기능 노출·계정·권한·실행 상태는 후속 확인 대상이다.</a:t>
            </a:r>
          </a:p>
          <a:p>
            <a:r>
              <a:t xml:space="preserve"/>
            </a:r>
          </a:p>
          <a:p>
            <a:r>
              <a:t xml:space="preserve">**Audience Interaction:**</a:t>
            </a:r>
          </a:p>
          <a:p>
            <a:r>
              <a:t xml:space="preserve">필수 응답·실습 없음. 예시에서 완료 근거와 미완료 보고 조건을 눈으로 확인하게 한다.</a:t>
            </a:r>
          </a:p>
          <a:p>
            <a:r>
              <a:t xml:space="preserve"/>
            </a:r>
          </a:p>
          <a:p>
            <a:r>
              <a:t xml:space="preserve">**Transition:**</a:t>
            </a:r>
          </a:p>
          <a:p>
            <a:r>
              <a:t xml:space="preserve">기능이 계속 수행을 연결하더라도, 무엇이 완료인지 요청에 적어야 합니다. 다음은 Goal 작성 예시입니다.</a:t>
            </a:r>
          </a:p>
          <a:p>
            <a:r>
              <a:t xml:space="preserve"/>
            </a:r>
          </a:p>
          <a:p>
            <a:r>
              <a:t xml:space="preserve">**Time Management:**</a:t>
            </a:r>
          </a:p>
          <a:p>
            <a:r>
              <a:t xml:space="preserve">Lecture2분. 제품 설정 강의나 실제 실행으로 확장하지 않는다. 초과 시 부가 설명을 줄이고 기능/검증의 구분과 다음 전환을 유지한다. 실제 리허설 UNVERIFIED.</a:t>
            </a:r>
          </a:p>
          <a:p>
            <a:r>
              <a:t xml:space="preserve"/>
            </a:r>
          </a:p>
          <a:p>
            <a:r>
              <a:t xml:space="preserve">**Fallback:**</a:t>
            </a:r>
          </a:p>
          <a:p>
            <a:r>
              <a:t xml:space="preserve">LOCAL STATIC ARTIFACT — production/ACT_4.pptx의 S102, production/preview/full/S102.png. 설명용 도식이며 원본 제품 캡처로 표현하지 않는다. 실제 발표 PC 재생은 UNVERIFIED.</a:t>
            </a:r>
          </a:p>
          <a:p>
            <a:r>
              <a:t xml:space="preserve"/>
            </a:r>
          </a:p>
          <a:p>
            <a:r>
              <a:t xml:space="preserve">**Validation Status:**</a:t>
            </a:r>
          </a:p>
          <a:p>
            <a:r>
              <a:t xml:space="preserve">CONTENT ALIGNED — DEC-0098. 문서 근거 확인과 로컬 제작 검토는 별개이며 최종 렌더·Notes 대조 결과는 GOAL_TIPS_AND_ACT5_HANDOFF.md에 기록한다. Windows/교육장/제품·계정/실측 리허설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 xml:space="preserve">## S103 — Goal에는 완료 근거와 멈출 조건을 담는다</a:t>
            </a:r>
          </a:p>
          <a:p>
            <a:r>
              <a:t xml:space="preserve"/>
            </a:r>
          </a:p>
          <a:p>
            <a:r>
              <a:t xml:space="preserve">**Slide ID:**</a:t>
            </a:r>
          </a:p>
          <a:p>
            <a:r>
              <a:t xml:space="preserve">S103</a:t>
            </a:r>
          </a:p>
          <a:p>
            <a:r>
              <a:t xml:space="preserve"/>
            </a:r>
          </a:p>
          <a:p>
            <a:r>
              <a:t xml:space="preserve">**Working Title:**</a:t>
            </a:r>
          </a:p>
          <a:p>
            <a:r>
              <a:t xml:space="preserve">Goal에는 완료 근거와 멈출 조건을 담는다</a:t>
            </a:r>
          </a:p>
          <a:p>
            <a:r>
              <a:t xml:space="preserve"/>
            </a:r>
          </a:p>
          <a:p>
            <a:r>
              <a:t xml:space="preserve">**ACT / Section:**</a:t>
            </a:r>
          </a:p>
          <a:p>
            <a:r>
              <a:t xml:space="preserve">ACT 4 / 4T2 Goal request</a:t>
            </a:r>
          </a:p>
          <a:p>
            <a:r>
              <a:t xml:space="preserve"/>
            </a:r>
          </a:p>
          <a:p>
            <a:r>
              <a:t xml:space="preserve">**Allocated Time:**</a:t>
            </a:r>
          </a:p>
          <a:p>
            <a:r>
              <a:t xml:space="preserve">2 minutes</a:t>
            </a:r>
          </a:p>
          <a:p>
            <a:r>
              <a:t xml:space="preserve"/>
            </a:r>
          </a:p>
          <a:p>
            <a:r>
              <a:t xml:space="preserve">**Mode Split:**</a:t>
            </a:r>
          </a:p>
          <a:p>
            <a:r>
              <a:t xml:space="preserve">Lecture 2분</a:t>
            </a:r>
          </a:p>
          <a:p>
            <a:r>
              <a:t xml:space="preserve"/>
            </a:r>
          </a:p>
          <a:p>
            <a:r>
              <a:t xml:space="preserve">**Primary Message:**</a:t>
            </a:r>
          </a:p>
          <a:p>
            <a:r>
              <a:t xml:space="preserve">Goal 요청에는 원하는 변화, 보존 조건, 완료를 확인할 근거와 막혔을 때 보고할 조건을 담는다. 같은 기준으로 진행을 판단한다.</a:t>
            </a:r>
          </a:p>
          <a:p>
            <a:r>
              <a:t xml:space="preserve"/>
            </a:r>
          </a:p>
          <a:p>
            <a:r>
              <a:t xml:space="preserve">**Opening Question:**</a:t>
            </a:r>
          </a:p>
          <a:p>
            <a:r>
              <a:t xml:space="preserve">언제 끝내고 언제 미완료를 보고할지, Goal에 무엇을 적을까?</a:t>
            </a:r>
          </a:p>
          <a:p>
            <a:r>
              <a:t xml:space="preserve"/>
            </a:r>
          </a:p>
          <a:p>
            <a:r>
              <a:t xml:space="preserve">**Speaker Flow:**</a:t>
            </a:r>
          </a:p>
          <a:p>
            <a:r>
              <a:t xml:space="preserve">1. (0:00–0:25 / Lecture) 막연한 성능 개선 Goal에는 완료 근거가 없음을 짚는다.</a:t>
            </a:r>
          </a:p>
          <a:p>
            <a:r>
              <a:t xml:space="preserve">2. (0:25–1:30 / Lecture) 요청창을 위에서 아래로 읽는다. 할당량 감소 목표와 출력 보존, 같은 입력의 테스트·벤치마크, 실행시간 회귀 조건을 대응시킨다. 기준판·대표 입력·측정 방법은 실행 전에 확정하고 승인받을 범위 안에서 사용한다.</a:t>
            </a:r>
          </a:p>
          <a:p>
            <a:r>
              <a:t xml:space="preserve">3. (1:30–2:00 / Lecture) 검증 불가·반복 실패는 미완료 사유와 필요한 판단을 보고하도록 요청한다. 다른 모델 검토가 필요한지는 별도로 설계하며 이 예시를 실행하지 않는다.</a:t>
            </a:r>
          </a:p>
          <a:p>
            <a:r>
              <a:t xml:space="preserve"/>
            </a:r>
          </a:p>
          <a:p>
            <a:r>
              <a:t xml:space="preserve">**Evidence / Source:**</a:t>
            </a:r>
          </a:p>
          <a:p>
            <a:r>
              <a:t xml:space="preserve">SRC-0240; SRC-0241; CLM-0047; DEC-0098. Official pages checked2026-10-25: https://learn.chatgpt.com/docs/long-running-work; https://developers.openai.com/cookbook/examples/codex/using_goals_in_codex; https://learn.chatgpt.com/docs/reference/slash-commands. 교육용 요청·도식이며 실행 캡처나 기존 Trial의 생성 이력이 아니다.</a:t>
            </a:r>
          </a:p>
          <a:p>
            <a:r>
              <a:t xml:space="preserve"/>
            </a:r>
          </a:p>
          <a:p>
            <a:r>
              <a:t xml:space="preserve">보존된 상세 출처: OpenAI Goals 작성 안내를 밝기 통계 작업으로 각색 · 실제 실행 요청·결과 아님</a:t>
            </a:r>
          </a:p>
          <a:p>
            <a:r>
              <a:t xml:space="preserve"/>
            </a:r>
          </a:p>
          <a:p>
            <a:r>
              <a:t xml:space="preserve">**Claim Boundary:**</a:t>
            </a:r>
          </a:p>
          <a:p>
            <a:r>
              <a:t xml:space="preserve">FROZEN WITH SCOPE — 공식 작성 안내를 각색한 교육용 Goal 예시이며 활성화·명령 실행·측정·완료 결과가 아니다. 기준판·대표 입력·측정 방법을 실제 사용 전에 확정한다. 현재 다중 모델 조합의 성과를 증명하지 않는다.</a:t>
            </a:r>
          </a:p>
          <a:p>
            <a:r>
              <a:t xml:space="preserve"/>
            </a:r>
          </a:p>
          <a:p>
            <a:r>
              <a:t xml:space="preserve">보존된 상세 범위: 기준판·대표 입력·측정 방법을 먼저 확정 · 완료 보장 없음 · 다중 모델 검토를 자동 구성한다는 뜻 아님</a:t>
            </a:r>
          </a:p>
          <a:p>
            <a:r>
              <a:t xml:space="preserve"/>
            </a:r>
          </a:p>
          <a:p>
            <a:r>
              <a:t xml:space="preserve">**Beginner Explanation:**</a:t>
            </a:r>
          </a:p>
          <a:p>
            <a:r>
              <a:t xml:space="preserve">Goal 요청에는 원하는 변화, 보존 조건, 완료를 확인할 근거와 막혔을 때 보고할 조건을 담는다. 같은 기준으로 진행을 판단한다.</a:t>
            </a:r>
          </a:p>
          <a:p>
            <a:r>
              <a:t xml:space="preserve"/>
            </a:r>
          </a:p>
          <a:p>
            <a:r>
              <a:t xml:space="preserve">**Advanced Insight:**</a:t>
            </a:r>
          </a:p>
          <a:p>
            <a:r>
              <a:t xml:space="preserve">측정값 자체보다 어떤 기준판·대표 입력·환경·측정 방법을 고정할지가 중요하다. 검토 모델의 동의나 Goal의 완료 표시가 도구 근거와 최종 수용을 대신하지 않는다.</a:t>
            </a:r>
          </a:p>
          <a:p>
            <a:r>
              <a:t xml:space="preserve"/>
            </a:r>
          </a:p>
          <a:p>
            <a:r>
              <a:t xml:space="preserve">**C++ Vision Bridge:**</a:t>
            </a:r>
          </a:p>
          <a:p>
            <a:r>
              <a:t xml:space="preserve">N/A — C++ 명령·새 사례를 추가하지 않는다.</a:t>
            </a:r>
          </a:p>
          <a:p>
            <a:r>
              <a:t xml:space="preserve"/>
            </a:r>
          </a:p>
          <a:p>
            <a:r>
              <a:t xml:space="preserve">**Demo Operation:**</a:t>
            </a:r>
          </a:p>
          <a:p>
            <a:r>
              <a:t xml:space="preserve">N/A — 정적 제품 안내 도식. 명령을 입력하거나 Goal을 활성화하지 않는다. 사내 환경의 기능 노출·계정·권한·실행 상태는 후속 확인 대상이다.</a:t>
            </a:r>
          </a:p>
          <a:p>
            <a:r>
              <a:t xml:space="preserve"/>
            </a:r>
          </a:p>
          <a:p>
            <a:r>
              <a:t xml:space="preserve">**Audience Interaction:**</a:t>
            </a:r>
          </a:p>
          <a:p>
            <a:r>
              <a:t xml:space="preserve">필수 응답·실습 없음. 예시에서 완료 근거와 미완료 보고 조건을 눈으로 확인하게 한다.</a:t>
            </a:r>
          </a:p>
          <a:p>
            <a:r>
              <a:t xml:space="preserve"/>
            </a:r>
          </a:p>
          <a:p>
            <a:r>
              <a:t xml:space="preserve">**Transition:**</a:t>
            </a:r>
          </a:p>
          <a:p>
            <a:r>
              <a:t xml:space="preserve">이 기능을 활용하더라도 우리 작업의 목표·검증·검토 판단은 남습니다. S104에서 필요한 루프를 정리한 뒤 ACT5의 조합과 덜어내기로 넘어갑니다.</a:t>
            </a:r>
          </a:p>
          <a:p>
            <a:r>
              <a:t xml:space="preserve"/>
            </a:r>
          </a:p>
          <a:p>
            <a:r>
              <a:t xml:space="preserve">**Time Management:**</a:t>
            </a:r>
          </a:p>
          <a:p>
            <a:r>
              <a:t xml:space="preserve">Lecture2분. 제품 설정 강의나 실제 실행으로 확장하지 않는다. 초과 시 부가 설명을 줄이고 기능/검증의 구분과 다음 전환을 유지한다. 실제 리허설 UNVERIFIED.</a:t>
            </a:r>
          </a:p>
          <a:p>
            <a:r>
              <a:t xml:space="preserve"/>
            </a:r>
          </a:p>
          <a:p>
            <a:r>
              <a:t xml:space="preserve">**Fallback:**</a:t>
            </a:r>
          </a:p>
          <a:p>
            <a:r>
              <a:t xml:space="preserve">LOCAL STATIC ARTIFACT — production/ACT_4.pptx의 S103, production/preview/full/S103.png. 설명용 도식이며 원본 제품 캡처로 표현하지 않는다. 실제 발표 PC 재생은 UNVERIFIED.</a:t>
            </a:r>
          </a:p>
          <a:p>
            <a:r>
              <a:t xml:space="preserve"/>
            </a:r>
          </a:p>
          <a:p>
            <a:r>
              <a:t xml:space="preserve">**Validation Status:**</a:t>
            </a:r>
          </a:p>
          <a:p>
            <a:r>
              <a:t xml:space="preserve">CONTENT ALIGNED — DEC-0098. 문서 근거 확인과 로컬 제작 검토는 별개이며 최종 렌더·Notes 대조 결과는 GOAL_TIPS_AND_ACT5_HANDOFF.md에 기록한다. Windows/교육장/제품·계정/실측 리허설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 xml:space="preserve">## S104 — 우리 작업에는 어떤 루프가 필요할까?</a:t>
            </a:r>
          </a:p>
          <a:p>
            <a:r>
              <a:t xml:space="preserve"/>
            </a:r>
          </a:p>
          <a:p>
            <a:r>
              <a:t xml:space="preserve">**Slide ID:**</a:t>
            </a:r>
          </a:p>
          <a:p>
            <a:r>
              <a:t xml:space="preserve">S104</a:t>
            </a:r>
          </a:p>
          <a:p>
            <a:r>
              <a:t xml:space="preserve"/>
            </a:r>
          </a:p>
          <a:p>
            <a:r>
              <a:t xml:space="preserve">**Working Title:**</a:t>
            </a:r>
          </a:p>
          <a:p>
            <a:r>
              <a:t xml:space="preserve">우리 작업에는 어떤 루프가 필요할까?</a:t>
            </a:r>
          </a:p>
          <a:p>
            <a:r>
              <a:t xml:space="preserve"/>
            </a:r>
          </a:p>
          <a:p>
            <a:r>
              <a:t xml:space="preserve">**ACT / Section:**</a:t>
            </a:r>
          </a:p>
          <a:p>
            <a:r>
              <a:t xml:space="preserve">ACT 4 / 4R6 Evidence and transfer</a:t>
            </a:r>
          </a:p>
          <a:p>
            <a:r>
              <a:t xml:space="preserve"/>
            </a:r>
          </a:p>
          <a:p>
            <a:r>
              <a:t xml:space="preserve">**Allocated Time:**</a:t>
            </a:r>
          </a:p>
          <a:p>
            <a:r>
              <a:t xml:space="preserve">11 minutes</a:t>
            </a:r>
          </a:p>
          <a:p>
            <a:r>
              <a:t xml:space="preserve"/>
            </a:r>
          </a:p>
          <a:p>
            <a:r>
              <a:t xml:space="preserve">**Mode Split:**</a:t>
            </a:r>
          </a:p>
          <a:p>
            <a:r>
              <a:t xml:space="preserve">Reflection 2분 + Q&amp;A 7분 + Transition 2분</a:t>
            </a:r>
          </a:p>
          <a:p>
            <a:r>
              <a:t xml:space="preserve"/>
            </a:r>
          </a:p>
          <a:p>
            <a:r>
              <a:t xml:space="preserve">**Primary Message:**</a:t>
            </a:r>
          </a:p>
          <a:p>
            <a:r>
              <a:t xml:space="preserve">Goal의 계속 수행 기능을 활용하되 내 업무에 필요한 목표·근거·검토 역할을 정리하고 ACT5의 조합·통합·제거로 이어간다.</a:t>
            </a:r>
          </a:p>
          <a:p>
            <a:r>
              <a:t xml:space="preserve"/>
            </a:r>
          </a:p>
          <a:p>
            <a:r>
              <a:t xml:space="preserve">**Opening Question:**</a:t>
            </a:r>
          </a:p>
          <a:p>
            <a:r>
              <a:t xml:space="preserve">내 작업에서 검토 결과가 다음 수정으로 돌아가려면 무엇이 필요할까?</a:t>
            </a:r>
          </a:p>
          <a:p>
            <a:r>
              <a:t xml:space="preserve"/>
            </a:r>
          </a:p>
          <a:p>
            <a:r>
              <a:t xml:space="preserve">**Speaker Flow:**</a:t>
            </a:r>
          </a:p>
          <a:p>
            <a:r>
              <a:t xml:space="preserve">1. (0:00–2:00 / Reflection) Goal이 맡는 계속 수행과, 내 업무에서 여전히 정할 목표·검증·검토를 구분해 생각하게 한다. 기존 목표·피드백·운영의 세 질문을 한 번씩 가리킨다.</a:t>
            </a:r>
          </a:p>
          <a:p>
            <a:r>
              <a:t xml:space="preserve">2. (2:00–9:00 / Q&amp;A) 질문을 받는다. 무질문이면 두 모델의 동의와 테스트 실패가 충돌할 때의 판단 또는 Goal이 완료를 보고했지만 측정이 빠진 상황을 묻는다. 새 기능 실행이나 정답 발표는 요구하지 않는다.</a:t>
            </a:r>
          </a:p>
          <a:p>
            <a:r>
              <a:t xml:space="preserve">3. (9:00–11:00 / Transition) 플랫폼 기능을 활용하되 필요한 기준과 검토를 조합한다는 문장으로 회수한다. S105의 ACT5 제목을 거쳐 S106의 대응 선택으로 넘긴다.</a:t>
            </a:r>
          </a:p>
          <a:p>
            <a:r>
              <a:t xml:space="preserve"/>
            </a:r>
          </a:p>
          <a:p>
            <a:r>
              <a:t xml:space="preserve">**Evidence / Source:**</a:t>
            </a:r>
          </a:p>
          <a:p>
            <a:r>
              <a:t xml:space="preserve">DEC-0097; BEAT-083; CASE-LOOP-01; CLM-0021. CASE-LOOP-01의 교육용 설계. 실제 자료와 설계를 구분한다.</a:t>
            </a:r>
          </a:p>
          <a:p>
            <a:r>
              <a:t xml:space="preserve"/>
            </a:r>
          </a:p>
          <a:p>
            <a:r>
              <a:t xml:space="preserve">보존된 상세 출처: 개인 성찰과 Q&amp;A · 실습·제출·구현 요구 없음</a:t>
            </a:r>
          </a:p>
          <a:p>
            <a:r>
              <a:t xml:space="preserve"/>
            </a:r>
          </a:p>
          <a:p>
            <a:r>
              <a:t xml:space="preserve">**Claim Boundary:**</a:t>
            </a:r>
          </a:p>
          <a:p>
            <a:r>
              <a:t xml:space="preserve">TEACHING_MODEL — 교육용 설계이며 실제 구현·검토·재실행·측정·완료 결과가 없다. 기존 Product/Meta Trial을 이 루프의 실행 증거로 바꾸지 않는다.</a:t>
            </a:r>
          </a:p>
          <a:p>
            <a:r>
              <a:t xml:space="preserve"/>
            </a:r>
          </a:p>
          <a:p>
            <a:r>
              <a:t xml:space="preserve">보존된 상세 범위: 목표·판단·검증·책임은 유지 · 다음 ACT에서 조합·통합·제거를 검토</a:t>
            </a:r>
          </a:p>
          <a:p>
            <a:r>
              <a:t xml:space="preserve"/>
            </a:r>
          </a:p>
          <a:p>
            <a:r>
              <a:t xml:space="preserve">**Beginner Explanation:**</a:t>
            </a:r>
          </a:p>
          <a:p>
            <a:r>
              <a:t xml:space="preserve">내 업무의 목표·피드백·운영 판단을 떠올리고 ACT5의 조합·통합·제거로 이어간다.</a:t>
            </a:r>
          </a:p>
          <a:p>
            <a:r>
              <a:t xml:space="preserve"/>
            </a:r>
          </a:p>
          <a:p>
            <a:r>
              <a:t xml:space="preserve">**Advanced Insight:**</a:t>
            </a:r>
          </a:p>
          <a:p>
            <a:r>
              <a:t xml:space="preserve">ACT5에서 현재 문제와 비용·효과를 보고 필요한 구성을 유지·통합·제거할 수 있게 한다.</a:t>
            </a:r>
          </a:p>
          <a:p>
            <a:r>
              <a:t xml:space="preserve"/>
            </a:r>
          </a:p>
          <a:p>
            <a:r>
              <a:t xml:space="preserve">**C++ Vision Bridge:**</a:t>
            </a:r>
          </a:p>
          <a:p>
            <a:r>
              <a:t xml:space="preserve">N/A — 같은 명세·검사·검토 원리를 적용할 수 있으나 별도 GPU 사례나 미실행 C++ 코드를 추가하지 않는다.</a:t>
            </a:r>
          </a:p>
          <a:p>
            <a:r>
              <a:t xml:space="preserve"/>
            </a:r>
          </a:p>
          <a:p>
            <a:r>
              <a:t xml:space="preserve">**Demo Operation:**</a:t>
            </a:r>
          </a:p>
          <a:p>
            <a:r>
              <a:t xml:space="preserve">정적 화면을 위에서 아래, 왼쪽에서 오른쪽으로 짚는다. 교육용 진행 예/논문/실제 과거 기록의 표시를 먼저 확인한다. 새 명령·모델 호출·Live Trial은 실행하지 않는다.</a:t>
            </a:r>
          </a:p>
          <a:p>
            <a:r>
              <a:t xml:space="preserve"/>
            </a:r>
          </a:p>
          <a:p>
            <a:r>
              <a:t xml:space="preserve">**Audience Interaction:**</a:t>
            </a:r>
          </a:p>
          <a:p>
            <a:r>
              <a:t xml:space="preserve">Reflection2분→Q&amp;A7분→Transition2분. 무질문이면 “Goal은 완료라고 했는데 측정 근거가 없다면?”을 사용한다. 9분에 전환으로 들어가고 11분에 마친다.</a:t>
            </a:r>
          </a:p>
          <a:p>
            <a:r>
              <a:t xml:space="preserve"/>
            </a:r>
          </a:p>
          <a:p>
            <a:r>
              <a:t xml:space="preserve">**Transition:**</a:t>
            </a:r>
          </a:p>
          <a:p>
            <a:r>
              <a:t xml:space="preserve">Goal의 계속 수행을 활용해도 검증과 역할을 모두 직접 구현할 필요는 없습니다. S105의 ACT5 제목을 거쳐 S106에서 필요한 대응의 조합을 생각합니다.</a:t>
            </a:r>
          </a:p>
          <a:p>
            <a:r>
              <a:t xml:space="preserve"/>
            </a:r>
          </a:p>
          <a:p>
            <a:r>
              <a:t xml:space="preserve">**Time Management:**</a:t>
            </a:r>
          </a:p>
          <a:p>
            <a:r>
              <a:t xml:space="preserve">Reflection 2분 + Q&amp;A 7분 + Transition 2분 = 11분. 위 Speaker Flow의 Mode 경계를 유지한다. 초과 시 Advanced Insight를 줄이고 핵심 그림·근거 범위·다음 전환은 보존한다. 실제 리허설은 UNVERIFIED다.</a:t>
            </a:r>
          </a:p>
          <a:p>
            <a:r>
              <a:t xml:space="preserve"/>
            </a:r>
          </a:p>
          <a:p>
            <a:r>
              <a:t xml:space="preserve">**Fallback:**</a:t>
            </a:r>
          </a:p>
          <a:p>
            <a:r>
              <a:t xml:space="preserve">LOCAL STATIC ARTIFACT — production/ACT_4.pptx의 S104; production/preview/act4/S104.png 및 production/preview/full/S104.png. 이 구간은 Live 실행을 전제하지 않는다. 실제 발표 PC 재생은 UNVERIFIED다.</a:t>
            </a:r>
          </a:p>
          <a:p>
            <a:r>
              <a:t xml:space="preserve"/>
            </a:r>
          </a:p>
          <a:p>
            <a:r>
              <a:t xml:space="preserve">**Validation Status:**</a:t>
            </a:r>
          </a:p>
          <a:p>
            <a:r>
              <a:t xml:space="preserve">REVIEWED — DEC-0097의 내용·근거 정렬. 최종 로컬 구조·렌더·Notes 검사는 production/evaluation/ACT_4_GOAL_LOOP_REVISION.md에 기록. Windows/교육장/제품·계정/실측 리허설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f5ce42e883470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598ded7b93432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845fdf7054480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5bda5310cc4a5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9b7a67625b4ad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f7b4e5061a4b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43126F5-F1BD-443E-8ED5-4155814A3E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094E0F1-4409-455D-88E8-ACAB4063DBF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02A4B3F-D1EB-4304-B60B-E8F48C219F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1334346-98A4-45A3-8944-53D9A38A81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0F85A56-D6B8-48A8-95EA-368C142458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12143D7-D948-40B7-AF8B-8616F853B6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48912B6-FC7A-4C6E-9784-67504BC6AA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D05BC56-62F9-4081-A85E-69B96727F9F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B1B9494-B431-4D2E-BAF3-F9DA68AA19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B9403F5-2FFC-462E-8F5C-0FB43D0618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75c89d77674a09" /><Relationship Type="http://schemas.openxmlformats.org/officeDocument/2006/relationships/slideLayout" Target="/ppt/slideLayouts/slideLayout1.xml" Id="R8f60b95115f7454a" /><Relationship Type="http://schemas.openxmlformats.org/officeDocument/2006/relationships/slideLayout" Target="/ppt/slideLayouts/slideLayout2.xml" Id="R9a95d90c9e4b4f50" /><Relationship Type="http://schemas.openxmlformats.org/officeDocument/2006/relationships/slideLayout" Target="/ppt/slideLayouts/slideLayout3.xml" Id="Rda9a125b96634248" /><Relationship Type="http://schemas.openxmlformats.org/officeDocument/2006/relationships/slideLayout" Target="/ppt/slideLayouts/slideLayout4.xml" Id="Rbf7313ce3010432a" /><Relationship Type="http://schemas.openxmlformats.org/officeDocument/2006/relationships/slideLayout" Target="/ppt/slideLayouts/slideLayout5.xml" Id="Ra534b1ec069943f2" /><Relationship Type="http://schemas.openxmlformats.org/officeDocument/2006/relationships/slideLayout" Target="/ppt/slideLayouts/slideLayout6.xml" Id="R8f99f483d41d44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60b95115f7454a"/>
    <p:sldLayoutId xmlns:r="http://schemas.openxmlformats.org/officeDocument/2006/relationships" id="2147483650" r:id="R9a95d90c9e4b4f50"/>
    <p:sldLayoutId xmlns:r="http://schemas.openxmlformats.org/officeDocument/2006/relationships" id="2147483651" r:id="Rda9a125b96634248"/>
    <p:sldLayoutId xmlns:r="http://schemas.openxmlformats.org/officeDocument/2006/relationships" id="2147483652" r:id="Rbf7313ce3010432a"/>
    <p:sldLayoutId xmlns:r="http://schemas.openxmlformats.org/officeDocument/2006/relationships" id="2147483653" r:id="Ra534b1ec069943f2"/>
    <p:sldLayoutId xmlns:r="http://schemas.openxmlformats.org/officeDocument/2006/relationships" id="2147483654" r:id="R8f99f483d41d44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9156999b824be6" /><Relationship Type="http://schemas.openxmlformats.org/officeDocument/2006/relationships/notesSlide" Target="/ppt/notesSlides/notesSlide1.xml" Id="R6d5ebd7472a542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787cdcbf5a4417" /><Relationship Type="http://schemas.openxmlformats.org/officeDocument/2006/relationships/notesSlide" Target="/ppt/notesSlides/notesSlide2.xml" Id="R0bbea91bf31643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e653532ce14b7d" /><Relationship Type="http://schemas.openxmlformats.org/officeDocument/2006/relationships/notesSlide" Target="/ppt/notesSlides/notesSlide3.xml" Id="R3647fe7024fc48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89be1977234461" /><Relationship Type="http://schemas.openxmlformats.org/officeDocument/2006/relationships/notesSlide" Target="/ppt/notesSlides/notesSlide4.xml" Id="Rf47c821cfefb48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f7d537d3844143" /><Relationship Type="http://schemas.openxmlformats.org/officeDocument/2006/relationships/notesSlide" Target="/ppt/notesSlides/notesSlide5.xml" Id="R9628cd8addb54b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720d5dc2db41a7" /><Relationship Type="http://schemas.openxmlformats.org/officeDocument/2006/relationships/notesSlide" Target="/ppt/notesSlides/notesSlide6.xml" Id="R1b884fe6129646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32979e0b1f470b" /><Relationship Type="http://schemas.openxmlformats.org/officeDocument/2006/relationships/notesSlide" Target="/ppt/notesSlides/notesSlide7.xml" Id="Rc457126c3d99459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779bb95a29430a" /><Relationship Type="http://schemas.openxmlformats.org/officeDocument/2006/relationships/notesSlide" Target="/ppt/notesSlides/notesSlide8.xml" Id="R224df9c62d8e4a9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966369e7534e9e" /><Relationship Type="http://schemas.openxmlformats.org/officeDocument/2006/relationships/notesSlide" Target="/ppt/notesSlides/notesSlide9.xml" Id="Re695d478af084fa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61c38c65b24198" /><Relationship Type="http://schemas.openxmlformats.org/officeDocument/2006/relationships/notesSlide" Target="/ppt/notesSlides/notesSlide10.xml" Id="R024d855e62d1423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ac60e2ba5c46e2" /><Relationship Type="http://schemas.openxmlformats.org/officeDocument/2006/relationships/notesSlide" Target="/ppt/notesSlides/notesSlide11.xml" Id="Rba4771d817fc487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379861b7734ad6" /><Relationship Type="http://schemas.openxmlformats.org/officeDocument/2006/relationships/chart" Target="/ppt/slides/charts/chart1.xml" Id="R8426dc99ff94401e" /><Relationship Type="http://schemas.openxmlformats.org/officeDocument/2006/relationships/notesSlide" Target="/ppt/notesSlides/notesSlide12.xml" Id="Ree1437f018e3459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09c46394094076" /><Relationship Type="http://schemas.openxmlformats.org/officeDocument/2006/relationships/notesSlide" Target="/ppt/notesSlides/notesSlide13.xml" Id="R047e643b27d74dd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35bade9efb4522" /><Relationship Type="http://schemas.openxmlformats.org/officeDocument/2006/relationships/notesSlide" Target="/ppt/notesSlides/notesSlide14.xml" Id="R015f41470072480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fdd5f9a5324d29" /><Relationship Type="http://schemas.openxmlformats.org/officeDocument/2006/relationships/notesSlide" Target="/ppt/notesSlides/notesSlide15.xml" Id="R1e53d127b9f5421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1f584ae4194b1f" /><Relationship Type="http://schemas.openxmlformats.org/officeDocument/2006/relationships/notesSlide" Target="/ppt/notesSlides/notesSlide16.xml" Id="Rbb69750aa8ed40b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9524addba34f9b" /><Relationship Type="http://schemas.openxmlformats.org/officeDocument/2006/relationships/notesSlide" Target="/ppt/notesSlides/notesSlide17.xml" Id="Rdf999986c9a9403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ef1425af45418a" /><Relationship Type="http://schemas.openxmlformats.org/officeDocument/2006/relationships/notesSlide" Target="/ppt/notesSlides/notesSlide18.xml" Id="Rea1dda0c990c43b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2788d77ef14978" /><Relationship Type="http://schemas.openxmlformats.org/officeDocument/2006/relationships/notesSlide" Target="/ppt/notesSlides/notesSlide19.xml" Id="R7b6a1d4ad3fa402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10aec628154aa2" /><Relationship Type="http://schemas.openxmlformats.org/officeDocument/2006/relationships/notesSlide" Target="/ppt/notesSlides/notesSlide20.xml" Id="R7cbe94a5d0e2408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1"/>
        <c:ser>
          <c:idx val="0"/>
          <c:order val="0"/>
          <c:tx>
            <c:v>Accuracy (%)</c:v>
          </c:tx>
          <c:invertIfNegative val="0"/>
          <c:dPt>
            <c:idx val="0"/>
            <c:invertIfNegative val="0"/>
            <c:spPr>
              <a:solidFill xmlns:a="http://schemas.openxmlformats.org/drawingml/2006/main">
                <a:srgbClr val="0B6172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9BA8B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여러 모델 조합</c:v>
                </c:pt>
                <c:pt idx="1">
                  <c:v>ChatGPT 3개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79</c:v>
                </c:pt>
                <c:pt idx="1">
                  <c:v>72.2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 b="1">
                  <a:solidFill>
                    <a:srgbClr val="17212B"/>
                  </a:solidFill>
                  <a:latin typeface="Malgun Gothic"/>
                  <a:ea typeface="Malgun Gothic"/>
                  <a:cs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7D0DA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C7D0D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4F6F8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4F6F8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CT 4">
            <a:extLst xmlns:a="http://schemas.openxmlformats.org/drawingml/2006/main">
              <a:ext uri="{FF2B5EF4-FFF2-40B4-BE49-F238E27FC236}">
                <a16:creationId xmlns:a16="http://schemas.microsoft.com/office/drawing/2014/main" id="{31C8F5A4-5A9D-49D8-AD2C-BB1F56EF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ACT 4</a:t>
            </a:r>
          </a:p>
        </p:txBody>
      </p:sp>
      <p:sp>
        <p:nvSpPr>
          <p:cNvPr id="2" name="S85">
            <a:extLst xmlns:a="http://schemas.openxmlformats.org/drawingml/2006/main">
              <a:ext uri="{FF2B5EF4-FFF2-40B4-BE49-F238E27FC236}">
                <a16:creationId xmlns:a16="http://schemas.microsoft.com/office/drawing/2014/main" id="{C1B3AA57-94A1-43F9-B834-46C14AA5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S85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A2A0B7-D77A-4AB1-80F3-F8D8B335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6172"/>
            </a:solidFill>
            <a:prstDash val="solid"/>
          </a:ln>
        </p:spPr>
      </p:sp>
      <p:sp>
        <p:nvSpPr>
          <p:cNvPr id="4" name="목표를 이룰 때까지&#10;수정하고 검토하기">
            <a:extLst xmlns:a="http://schemas.openxmlformats.org/drawingml/2006/main">
              <a:ext uri="{FF2B5EF4-FFF2-40B4-BE49-F238E27FC236}">
                <a16:creationId xmlns:a16="http://schemas.microsoft.com/office/drawing/2014/main" id="{591BB01C-03F3-458F-BB8D-A242FCDA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09728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8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48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48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48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48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48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48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48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48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48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목표를 이룰 때까지</a:t>
            </a:r>
          </a:p>
          <a:p xmlns:a="http://schemas.openxmlformats.org/drawingml/2006/main">
            <a:pPr algn="l">
              <a:defRPr sz="48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수정하고 검토하기</a:t>
            </a:r>
          </a:p>
        </p:txBody>
      </p:sp>
      <p:sp>
        <p:nvSpPr>
          <p:cNvPr id="5" name="Loop Engineering · 목표 기반 실행·검토 시스템">
            <a:extLst xmlns:a="http://schemas.openxmlformats.org/drawingml/2006/main">
              <a:ext uri="{FF2B5EF4-FFF2-40B4-BE49-F238E27FC236}">
                <a16:creationId xmlns:a16="http://schemas.microsoft.com/office/drawing/2014/main" id="{E4AFD00D-1A21-49F2-948F-506B41A7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Loop Engineering · 목표 기반 실행·검토 시스템</a:t>
            </a:r>
          </a:p>
        </p:txBody>
      </p:sp>
      <p:sp>
        <p:nvSpPr>
          <p:cNvPr id="6" name="ChatGPT &amp; Codex · 개발자 교육">
            <a:extLst xmlns:a="http://schemas.openxmlformats.org/drawingml/2006/main">
              <a:ext uri="{FF2B5EF4-FFF2-40B4-BE49-F238E27FC236}">
                <a16:creationId xmlns:a16="http://schemas.microsoft.com/office/drawing/2014/main" id="{B71E4A15-C176-4B3F-A4AD-81642276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731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ChatGPT &amp; Codex · 개발자 교육</a:t>
            </a:r>
          </a:p>
        </p:txBody>
      </p:sp>
      <p:sp>
        <p:nvSpPr>
          <p:cNvPr id="7" name="Legacy module connection">
            <a:extLst xmlns:a="http://schemas.openxmlformats.org/drawingml/2006/main">
              <a:ext uri="{FF2B5EF4-FFF2-40B4-BE49-F238E27FC236}">
                <a16:creationId xmlns:a16="http://schemas.microsoft.com/office/drawing/2014/main" id="{A0ED4887-CBBB-4EE7-9E30-70527FCD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M 연계 · ACT 안내</a:t>
            </a:r>
          </a:p>
        </p:txBody>
      </p:sp>
    </p:spTree>
    <p:extLst>
      <p:ext uri="{BB962C8B-B14F-4D97-AF65-F5344CB8AC3E}">
        <p14:creationId xmlns:p14="http://schemas.microsoft.com/office/powerpoint/2010/main" val="1302864445"/>
      </p:ext>
    </p:extLst>
  </p:cSld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ACT 4 · 같은 목표의 구현·검토 · 교육용 사례">
            <a:extLst xmlns:a="http://schemas.openxmlformats.org/drawingml/2006/main">
              <a:ext uri="{FF2B5EF4-FFF2-40B4-BE49-F238E27FC236}">
                <a16:creationId xmlns:a16="http://schemas.microsoft.com/office/drawing/2014/main" id="{6DB1C63C-283C-4957-B54E-600741D1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ACT 4 · 같은 목표의 구현·검토 · 교육용 사례</a:t>
            </a:r>
          </a:p>
        </p:txBody>
      </p:sp>
      <p:sp>
        <p:nvSpPr>
          <p:cNvPr id="2" name="S86">
            <a:extLst xmlns:a="http://schemas.openxmlformats.org/drawingml/2006/main">
              <a:ext uri="{FF2B5EF4-FFF2-40B4-BE49-F238E27FC236}">
                <a16:creationId xmlns:a16="http://schemas.microsoft.com/office/drawing/2014/main" id="{AD3F86DE-AC36-4FEA-9940-5E9E657F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S86</a:t>
            </a:r>
          </a:p>
        </p:txBody>
      </p:sp>
      <p:sp>
        <p:nvSpPr>
          <p:cNvPr id="3" name="다음 수정도 사람이 매번 이어줘야 할까?">
            <a:extLst xmlns:a="http://schemas.openxmlformats.org/drawingml/2006/main">
              <a:ext uri="{FF2B5EF4-FFF2-40B4-BE49-F238E27FC236}">
                <a16:creationId xmlns:a16="http://schemas.microsoft.com/office/drawing/2014/main" id="{19C992C4-BE34-4068-B9DC-5532EA44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다음 수정도 사람이 매번 이어줘야 할까?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0599BD-4194-4287-9E3A-02BCFE19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5400"/>
            </a:solidFill>
            <a:prstDash val="dash"/>
          </a:ln>
        </p:spPr>
      </p:sp>
      <p:sp>
        <p:nvSpPr>
          <p:cNvPr id="5" name="Audience footer 1">
            <a:extLst xmlns:a="http://schemas.openxmlformats.org/drawingml/2006/main">
              <a:ext uri="{FF2B5EF4-FFF2-40B4-BE49-F238E27FC236}">
                <a16:creationId xmlns:a16="http://schemas.microsoft.com/office/drawing/2014/main" id="{B56D9F37-81C3-4A5C-8664-5670764F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r>
              <a: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 xml:space="preserve">가상 진행 예시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9EA260-9542-41DC-B520-E996BEE1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6172"/>
            </a:solidFill>
            <a:prstDash val="solid"/>
          </a:ln>
        </p:spPr>
      </p:sp>
      <p:sp>
        <p:nvSpPr>
          <p:cNvPr id="8" name="사람이 연결하던 다음 요청을, 시스템의 다음 입력으로">
            <a:extLst xmlns:a="http://schemas.openxmlformats.org/drawingml/2006/main">
              <a:ext uri="{FF2B5EF4-FFF2-40B4-BE49-F238E27FC236}">
                <a16:creationId xmlns:a16="http://schemas.microsoft.com/office/drawing/2014/main" id="{6347F0D2-1CBA-4D23-B5FA-E559DBCB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사람이 연결하던 다음 요청을, 시스템의 다음 입력으로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D0689E-5873-4FD4-B33D-B871CC54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44196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6172"/>
            </a:solidFill>
            <a:prstDash val="solid"/>
          </a:ln>
        </p:spPr>
      </p:sp>
      <p:sp>
        <p:nvSpPr>
          <p:cNvPr id="10" name="사람이 보내던 다음 요청">
            <a:extLst xmlns:a="http://schemas.openxmlformats.org/drawingml/2006/main">
              <a:ext uri="{FF2B5EF4-FFF2-40B4-BE49-F238E27FC236}">
                <a16:creationId xmlns:a16="http://schemas.microsoft.com/office/drawing/2014/main" id="{2824035E-A252-4644-A14D-5199D35C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4038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사람이 보내던 다음 요청</a:t>
            </a:r>
          </a:p>
        </p:txBody>
      </p:sp>
      <p:sp>
        <p:nvSpPr>
          <p:cNvPr id="11" name="검토 의견을 모아 다시 전달">
            <a:extLst xmlns:a="http://schemas.openxmlformats.org/drawingml/2006/main">
              <a:ext uri="{FF2B5EF4-FFF2-40B4-BE49-F238E27FC236}">
                <a16:creationId xmlns:a16="http://schemas.microsoft.com/office/drawing/2014/main" id="{F9E3AF9E-123D-4542-9AC0-A4D7D332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05200"/>
            <a:ext cx="4038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검토 의견을 모아 다시 전달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9C6EF1-5F92-4934-A315-FF6F6D34DDE9}"/>
              </a:ext>
            </a:extLst>
          </p:cNvPr>
          <p:cNvCxnSpPr/>
          <p:nvPr/>
        </p:nvCxnSpPr>
        <p:spPr>
          <a:xfrm xmlns:a="http://schemas.openxmlformats.org/drawingml/2006/main">
            <a:off x="5257800" y="3495675"/>
            <a:ext cx="10668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B6172"/>
            </a:solidFill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4F3BB3-D0E7-4A07-9317-25E3352A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76550"/>
            <a:ext cx="48768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05400"/>
            </a:solidFill>
            <a:prstDash val="solid"/>
          </a:ln>
        </p:spPr>
      </p:sp>
      <p:sp>
        <p:nvSpPr>
          <p:cNvPr id="14" name="다음 수정이 받을 입력">
            <a:extLst xmlns:a="http://schemas.openxmlformats.org/drawingml/2006/main">
              <a:ext uri="{FF2B5EF4-FFF2-40B4-BE49-F238E27FC236}">
                <a16:creationId xmlns:a16="http://schemas.microsoft.com/office/drawing/2014/main" id="{C569F594-6B96-4F23-96A7-D76875D7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90850"/>
            <a:ext cx="4495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rPr>
              <a:t>다음 수정이 받을 입력</a:t>
            </a:r>
          </a:p>
        </p:txBody>
      </p:sp>
      <p:sp>
        <p:nvSpPr>
          <p:cNvPr id="15" name="남은 지적 + 근거 + 현재 후보">
            <a:extLst xmlns:a="http://schemas.openxmlformats.org/drawingml/2006/main">
              <a:ext uri="{FF2B5EF4-FFF2-40B4-BE49-F238E27FC236}">
                <a16:creationId xmlns:a16="http://schemas.microsoft.com/office/drawing/2014/main" id="{33BEC89F-40BE-41B8-8B93-66A47CE0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05200"/>
            <a:ext cx="449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남은 지적 + 근거 + 현재 후보</a:t>
            </a:r>
          </a:p>
        </p:txBody>
      </p:sp>
      <p:sp>
        <p:nvSpPr>
          <p:cNvPr id="16" name="목표는 유지하고, 남은 문제를 다음 수정에 넘긴다">
            <a:extLst xmlns:a="http://schemas.openxmlformats.org/drawingml/2006/main">
              <a:ext uri="{FF2B5EF4-FFF2-40B4-BE49-F238E27FC236}">
                <a16:creationId xmlns:a16="http://schemas.microsoft.com/office/drawing/2014/main" id="{34FC70F0-F8F9-434D-84A3-07D99DA4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5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5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5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5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5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5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5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5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5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목표는 유지하고, 남은 문제를 다음 수정에 넘긴다</a:t>
            </a:r>
          </a:p>
        </p:txBody>
      </p:sp>
      <p:sp>
        <p:nvSpPr>
          <p:cNvPr id="17" name="Legacy module connection">
            <a:extLst xmlns:a="http://schemas.openxmlformats.org/drawingml/2006/main">
              <a:ext uri="{FF2B5EF4-FFF2-40B4-BE49-F238E27FC236}">
                <a16:creationId xmlns:a16="http://schemas.microsoft.com/office/drawing/2014/main" id="{4A1EB2BD-242B-4DE7-B300-E780FF85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M 연계 · 신규 확장</a:t>
            </a:r>
          </a:p>
        </p:txBody>
      </p:sp>
    </p:spTree>
    <p:extLst>
      <p:ext uri="{BB962C8B-B14F-4D97-AF65-F5344CB8AC3E}">
        <p14:creationId xmlns:p14="http://schemas.microsoft.com/office/powerpoint/2010/main" val="1312870736"/>
      </p:ext>
    </p:extLst>
  </p:cSld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ACT 4 · 같은 목표의 구현·검토 · 교육용 사례">
            <a:extLst xmlns:a="http://schemas.openxmlformats.org/drawingml/2006/main">
              <a:ext uri="{FF2B5EF4-FFF2-40B4-BE49-F238E27FC236}">
                <a16:creationId xmlns:a16="http://schemas.microsoft.com/office/drawing/2014/main" id="{D2BCD200-79F7-42B5-9563-87F6669B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ACT 4 · 같은 목표의 구현·검토 · 교육용 사례</a:t>
            </a:r>
          </a:p>
        </p:txBody>
      </p:sp>
      <p:sp>
        <p:nvSpPr>
          <p:cNvPr id="2" name="S87">
            <a:extLst xmlns:a="http://schemas.openxmlformats.org/drawingml/2006/main">
              <a:ext uri="{FF2B5EF4-FFF2-40B4-BE49-F238E27FC236}">
                <a16:creationId xmlns:a16="http://schemas.microsoft.com/office/drawing/2014/main" id="{821AF866-EB59-414F-B754-9DFEF36B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S87</a:t>
            </a:r>
          </a:p>
        </p:txBody>
      </p:sp>
      <p:sp>
        <p:nvSpPr>
          <p:cNvPr id="3" name="먼저, 무엇이 되면 완료인지 정한다">
            <a:extLst xmlns:a="http://schemas.openxmlformats.org/drawingml/2006/main">
              <a:ext uri="{FF2B5EF4-FFF2-40B4-BE49-F238E27FC236}">
                <a16:creationId xmlns:a16="http://schemas.microsoft.com/office/drawing/2014/main" id="{C1E87ECA-634E-4289-BA1D-2274CE7E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먼저, 무엇이 되면 완료인지 정한다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3D3442-3732-42E0-81AB-A9756D34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5400"/>
            </a:solidFill>
            <a:prstDash val="dash"/>
          </a:ln>
        </p:spPr>
      </p:sp>
      <p:sp>
        <p:nvSpPr>
          <p:cNvPr id="5" name="Audience footer 1">
            <a:extLst xmlns:a="http://schemas.openxmlformats.org/drawingml/2006/main">
              <a:ext uri="{FF2B5EF4-FFF2-40B4-BE49-F238E27FC236}">
                <a16:creationId xmlns:a16="http://schemas.microsoft.com/office/drawing/2014/main" id="{BC1454CC-431C-4D59-B2FB-64B355F5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r>
              <a: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 xml:space="preserve">가상 진행 예시 · 완료 기준은 실행 전에 정한다</a:t>
            </a:r>
          </a:p>
        </p:txBody>
      </p:sp>
      <p:sp>
        <p:nvSpPr>
          <p:cNvPr id="7" name="밝기 통계 계산의 불필요한 임시 할당을 줄인다">
            <a:extLst xmlns:a="http://schemas.openxmlformats.org/drawingml/2006/main">
              <a:ext uri="{FF2B5EF4-FFF2-40B4-BE49-F238E27FC236}">
                <a16:creationId xmlns:a16="http://schemas.microsoft.com/office/drawing/2014/main" id="{C728F5D1-1B39-4708-9141-39545BC5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밝기 통계 계산의 불필요한 임시 할당을 줄인다</a:t>
            </a:r>
          </a:p>
        </p:txBody>
      </p:sp>
      <p:sp>
        <p:nvSpPr>
          <p:cNvPr id="8" name="01">
            <a:extLst xmlns:a="http://schemas.openxmlformats.org/drawingml/2006/main">
              <a:ext uri="{FF2B5EF4-FFF2-40B4-BE49-F238E27FC236}">
                <a16:creationId xmlns:a16="http://schemas.microsoft.com/office/drawing/2014/main" id="{7CFA16C2-7FF3-4B63-8AAD-B89F9B64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35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B6172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875" b="1">
                <a:solidFill>
                  <a:srgbClr val="0B6172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875" b="1">
                <a:solidFill>
                  <a:srgbClr val="0B6172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875" b="1">
                <a:solidFill>
                  <a:srgbClr val="0B6172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875" b="1">
                <a:solidFill>
                  <a:srgbClr val="0B6172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875" b="1">
                <a:solidFill>
                  <a:srgbClr val="0B6172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875" b="1">
                <a:solidFill>
                  <a:srgbClr val="0B6172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875" b="1">
                <a:solidFill>
                  <a:srgbClr val="0B6172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875" b="1">
                <a:solidFill>
                  <a:srgbClr val="0B6172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875" b="1">
                <a:solidFill>
                  <a:srgbClr val="0B617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B6172"/>
                </a:solidFill>
                <a:latin typeface="Consolas"/>
                <a:ea typeface="Consolas"/>
                <a:cs typeface="Consolas"/>
              </a:defRPr>
            </a:pPr>
            <a:r>
              <a:rPr sz="1875" b="1">
                <a:solidFill>
                  <a:srgbClr val="0B6172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87A181-D61C-44E1-BDD4-6A46041B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335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6172"/>
            </a:solidFill>
            <a:prstDash val="solid"/>
          </a:ln>
        </p:spPr>
      </p:sp>
      <p:sp>
        <p:nvSpPr>
          <p:cNvPr id="10" name="출력·동작 유지">
            <a:extLst xmlns:a="http://schemas.openxmlformats.org/drawingml/2006/main">
              <a:ext uri="{FF2B5EF4-FFF2-40B4-BE49-F238E27FC236}">
                <a16:creationId xmlns:a16="http://schemas.microsoft.com/office/drawing/2014/main" id="{A599BBE3-F4DB-441F-BD45-BFC271D2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5675"/>
            <a:ext cx="335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출력·동작 유지</a:t>
            </a:r>
          </a:p>
        </p:txBody>
      </p:sp>
      <p:sp>
        <p:nvSpPr>
          <p:cNvPr id="11" name="기존 6개 출력과 명세">
            <a:extLst xmlns:a="http://schemas.openxmlformats.org/drawingml/2006/main">
              <a:ext uri="{FF2B5EF4-FFF2-40B4-BE49-F238E27FC236}">
                <a16:creationId xmlns:a16="http://schemas.microsoft.com/office/drawing/2014/main" id="{B15F920A-C0E2-41EF-8922-BAA9B55C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335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기존 6개 출력과 명세</a:t>
            </a:r>
          </a:p>
        </p:txBody>
      </p:sp>
      <p:sp>
        <p:nvSpPr>
          <p:cNvPr id="12" name="02">
            <a:extLst xmlns:a="http://schemas.openxmlformats.org/drawingml/2006/main">
              <a:ext uri="{FF2B5EF4-FFF2-40B4-BE49-F238E27FC236}">
                <a16:creationId xmlns:a16="http://schemas.microsoft.com/office/drawing/2014/main" id="{C76D3DE3-34E4-4693-9B49-BF25A982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33675"/>
            <a:ext cx="335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B6172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875" b="1">
                <a:solidFill>
                  <a:srgbClr val="0B6172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875" b="1">
                <a:solidFill>
                  <a:srgbClr val="0B6172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875" b="1">
                <a:solidFill>
                  <a:srgbClr val="0B6172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875" b="1">
                <a:solidFill>
                  <a:srgbClr val="0B6172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875" b="1">
                <a:solidFill>
                  <a:srgbClr val="0B6172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875" b="1">
                <a:solidFill>
                  <a:srgbClr val="0B6172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875" b="1">
                <a:solidFill>
                  <a:srgbClr val="0B6172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875" b="1">
                <a:solidFill>
                  <a:srgbClr val="0B6172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875" b="1">
                <a:solidFill>
                  <a:srgbClr val="0B617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B6172"/>
                </a:solidFill>
                <a:latin typeface="Consolas"/>
                <a:ea typeface="Consolas"/>
                <a:cs typeface="Consolas"/>
              </a:defRPr>
            </a:pPr>
            <a:r>
              <a:rPr sz="1875" b="1">
                <a:solidFill>
                  <a:srgbClr val="0B6172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6A8CB0-3A21-4F1F-BF08-005D6583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67075"/>
            <a:ext cx="335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6172"/>
            </a:solidFill>
            <a:prstDash val="solid"/>
          </a:ln>
        </p:spPr>
      </p:sp>
      <p:sp>
        <p:nvSpPr>
          <p:cNvPr id="14" name="임시 할당 줄이기">
            <a:extLst xmlns:a="http://schemas.openxmlformats.org/drawingml/2006/main">
              <a:ext uri="{FF2B5EF4-FFF2-40B4-BE49-F238E27FC236}">
                <a16:creationId xmlns:a16="http://schemas.microsoft.com/office/drawing/2014/main" id="{D663135E-6C7D-4593-8490-BE0D4471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95675"/>
            <a:ext cx="335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임시 할당 줄이기</a:t>
            </a:r>
          </a:p>
        </p:txBody>
      </p:sp>
      <p:sp>
        <p:nvSpPr>
          <p:cNvPr id="15" name="같은 입력의 할당량 확인">
            <a:extLst xmlns:a="http://schemas.openxmlformats.org/drawingml/2006/main">
              <a:ext uri="{FF2B5EF4-FFF2-40B4-BE49-F238E27FC236}">
                <a16:creationId xmlns:a16="http://schemas.microsoft.com/office/drawing/2014/main" id="{528ED8D5-2A3D-466A-B95E-95C04388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29100"/>
            <a:ext cx="335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같은 입력의 할당량 확인</a:t>
            </a:r>
          </a:p>
        </p:txBody>
      </p:sp>
      <p:sp>
        <p:nvSpPr>
          <p:cNvPr id="16" name="03">
            <a:extLst xmlns:a="http://schemas.openxmlformats.org/drawingml/2006/main">
              <a:ext uri="{FF2B5EF4-FFF2-40B4-BE49-F238E27FC236}">
                <a16:creationId xmlns:a16="http://schemas.microsoft.com/office/drawing/2014/main" id="{6C6E0B5B-16C1-4350-BE27-37566678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33675"/>
            <a:ext cx="335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B6172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875" b="1">
                <a:solidFill>
                  <a:srgbClr val="0B6172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875" b="1">
                <a:solidFill>
                  <a:srgbClr val="0B6172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875" b="1">
                <a:solidFill>
                  <a:srgbClr val="0B6172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875" b="1">
                <a:solidFill>
                  <a:srgbClr val="0B6172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875" b="1">
                <a:solidFill>
                  <a:srgbClr val="0B6172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875" b="1">
                <a:solidFill>
                  <a:srgbClr val="0B6172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875" b="1">
                <a:solidFill>
                  <a:srgbClr val="0B6172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875" b="1">
                <a:solidFill>
                  <a:srgbClr val="0B6172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875" b="1">
                <a:solidFill>
                  <a:srgbClr val="0B617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B6172"/>
                </a:solidFill>
                <a:latin typeface="Consolas"/>
                <a:ea typeface="Consolas"/>
                <a:cs typeface="Consolas"/>
              </a:defRPr>
            </a:pPr>
            <a:r>
              <a:rPr sz="1875" b="1">
                <a:solidFill>
                  <a:srgbClr val="0B6172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D2AF7C-7E18-49C6-98FE-5E9EC86E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67075"/>
            <a:ext cx="335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6172"/>
            </a:solidFill>
            <a:prstDash val="solid"/>
          </a:ln>
        </p:spPr>
      </p:sp>
      <p:sp>
        <p:nvSpPr>
          <p:cNvPr id="18" name="실행시간 조건 지키기">
            <a:extLst xmlns:a="http://schemas.openxmlformats.org/drawingml/2006/main">
              <a:ext uri="{FF2B5EF4-FFF2-40B4-BE49-F238E27FC236}">
                <a16:creationId xmlns:a16="http://schemas.microsoft.com/office/drawing/2014/main" id="{DBB8205A-C2A3-44F8-B2EC-C5804245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95675"/>
            <a:ext cx="335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실행시간 조건 지키기</a:t>
            </a:r>
          </a:p>
        </p:txBody>
      </p:sp>
      <p:sp>
        <p:nvSpPr>
          <p:cNvPr id="19" name="같은 환경·측정 기준">
            <a:extLst xmlns:a="http://schemas.openxmlformats.org/drawingml/2006/main">
              <a:ext uri="{FF2B5EF4-FFF2-40B4-BE49-F238E27FC236}">
                <a16:creationId xmlns:a16="http://schemas.microsoft.com/office/drawing/2014/main" id="{26D2BD61-465F-47E7-A292-7A7F4086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29100"/>
            <a:ext cx="335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같은 환경·측정 기준</a:t>
            </a:r>
          </a:p>
        </p:txBody>
      </p:sp>
      <p:sp>
        <p:nvSpPr>
          <p:cNvPr id="20" name="반복 중에도 목표와 기준은 그대로">
            <a:extLst xmlns:a="http://schemas.openxmlformats.org/drawingml/2006/main">
              <a:ext uri="{FF2B5EF4-FFF2-40B4-BE49-F238E27FC236}">
                <a16:creationId xmlns:a16="http://schemas.microsoft.com/office/drawing/2014/main" id="{E2CA7F28-C39A-4B2D-ABD5-6152A8CC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반복 중에도 목표와 기준은 그대로</a:t>
            </a:r>
          </a:p>
        </p:txBody>
      </p:sp>
      <p:sp>
        <p:nvSpPr>
          <p:cNvPr id="21" name="Legacy module connection">
            <a:extLst xmlns:a="http://schemas.openxmlformats.org/drawingml/2006/main">
              <a:ext uri="{FF2B5EF4-FFF2-40B4-BE49-F238E27FC236}">
                <a16:creationId xmlns:a16="http://schemas.microsoft.com/office/drawing/2014/main" id="{8FF6A3EB-4460-4CC1-9B62-3D9BC93A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M 연계 · 신규 확장</a:t>
            </a:r>
          </a:p>
        </p:txBody>
      </p:sp>
    </p:spTree>
    <p:extLst>
      <p:ext uri="{BB962C8B-B14F-4D97-AF65-F5344CB8AC3E}">
        <p14:creationId xmlns:p14="http://schemas.microsoft.com/office/powerpoint/2010/main" val="793565016"/>
      </p:ext>
    </p:extLst>
  </p:cSld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ACT 4 · 같은 목표의 구현·검토 · 교육용 사례">
            <a:extLst xmlns:a="http://schemas.openxmlformats.org/drawingml/2006/main">
              <a:ext uri="{FF2B5EF4-FFF2-40B4-BE49-F238E27FC236}">
                <a16:creationId xmlns:a16="http://schemas.microsoft.com/office/drawing/2014/main" id="{4ED0CE9E-94A4-467B-A6E4-5D43492D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ACT 4 · 같은 목표의 구현·검토 · 교육용 사례</a:t>
            </a:r>
          </a:p>
        </p:txBody>
      </p:sp>
      <p:sp>
        <p:nvSpPr>
          <p:cNvPr id="2" name="S88">
            <a:extLst xmlns:a="http://schemas.openxmlformats.org/drawingml/2006/main">
              <a:ext uri="{FF2B5EF4-FFF2-40B4-BE49-F238E27FC236}">
                <a16:creationId xmlns:a16="http://schemas.microsoft.com/office/drawing/2014/main" id="{FBC52E6E-4D4F-4E2B-8963-A01B9971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S88</a:t>
            </a:r>
          </a:p>
        </p:txBody>
      </p:sp>
      <p:sp>
        <p:nvSpPr>
          <p:cNvPr id="3" name="모델 A가 첫 변경 후보를 만든다">
            <a:extLst xmlns:a="http://schemas.openxmlformats.org/drawingml/2006/main">
              <a:ext uri="{FF2B5EF4-FFF2-40B4-BE49-F238E27FC236}">
                <a16:creationId xmlns:a16="http://schemas.microsoft.com/office/drawing/2014/main" id="{B3768EC8-15F5-47C9-AF30-0E2BB6DC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모델 A가 첫 변경 후보를 만든다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3945B8-3FD8-416A-ADA6-C9688508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5400"/>
            </a:solidFill>
            <a:prstDash val="dash"/>
          </a:ln>
        </p:spPr>
      </p:sp>
      <p:sp>
        <p:nvSpPr>
          <p:cNvPr id="5" name="Audience footer 1">
            <a:extLst xmlns:a="http://schemas.openxmlformats.org/drawingml/2006/main">
              <a:ext uri="{FF2B5EF4-FFF2-40B4-BE49-F238E27FC236}">
                <a16:creationId xmlns:a16="http://schemas.microsoft.com/office/drawing/2014/main" id="{3459FB0A-FEE9-4905-9393-121DEE94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r>
              <a: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 xml:space="preserve">가상 진행 예시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1B826C-0DB8-42B3-8011-9BB7B11F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6172"/>
            </a:solidFill>
            <a:prstDash val="solid"/>
          </a:ln>
        </p:spPr>
      </p:sp>
      <p:sp>
        <p:nvSpPr>
          <p:cNvPr id="8" name="같은 목표: 출력·동작 유지 / 임시 할당 줄이기 / 실행시간 조건 지키기">
            <a:extLst xmlns:a="http://schemas.openxmlformats.org/drawingml/2006/main">
              <a:ext uri="{FF2B5EF4-FFF2-40B4-BE49-F238E27FC236}">
                <a16:creationId xmlns:a16="http://schemas.microsoft.com/office/drawing/2014/main" id="{1369B2E4-7D22-4876-A134-E30975C7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같은 목표: 출력·동작 유지 / 임시 할당 줄이기 / 실행시간 조건 지키기</a:t>
            </a:r>
          </a:p>
        </p:txBody>
      </p:sp>
      <p:sp>
        <p:nvSpPr>
          <p:cNvPr id="9" name="모델 A · 구현">
            <a:extLst xmlns:a="http://schemas.openxmlformats.org/drawingml/2006/main">
              <a:ext uri="{FF2B5EF4-FFF2-40B4-BE49-F238E27FC236}">
                <a16:creationId xmlns:a16="http://schemas.microsoft.com/office/drawing/2014/main" id="{A69A75E6-D9C7-484D-B13C-5B6F10DD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모델 A · 구현</a:t>
            </a:r>
          </a:p>
        </p:txBody>
      </p:sp>
      <p:sp>
        <p:nvSpPr>
          <p:cNvPr id="10" name="후보 v1 · 가정한 계산 방식">
            <a:extLst xmlns:a="http://schemas.openxmlformats.org/drawingml/2006/main">
              <a:ext uri="{FF2B5EF4-FFF2-40B4-BE49-F238E27FC236}">
                <a16:creationId xmlns:a16="http://schemas.microsoft.com/office/drawing/2014/main" id="{835C6944-A8DD-47A8-A759-818DE848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14625"/>
            <a:ext cx="701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후보 v1 · 가정한 계산 방식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58DEC4-9532-4109-9025-87372158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3238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6172"/>
            </a:solidFill>
            <a:prstDash val="solid"/>
          </a:ln>
        </p:spPr>
      </p:sp>
      <p:sp>
        <p:nvSpPr>
          <p:cNvPr id="12" name="목표와 명세">
            <a:extLst xmlns:a="http://schemas.openxmlformats.org/drawingml/2006/main">
              <a:ext uri="{FF2B5EF4-FFF2-40B4-BE49-F238E27FC236}">
                <a16:creationId xmlns:a16="http://schemas.microsoft.com/office/drawing/2014/main" id="{481F4B08-A0BE-4114-A410-E5AD9C2F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285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목표와 명세</a:t>
            </a:r>
          </a:p>
        </p:txBody>
      </p:sp>
      <p:sp>
        <p:nvSpPr>
          <p:cNvPr id="13" name="조건에 맞는 변경 초안">
            <a:extLst xmlns:a="http://schemas.openxmlformats.org/drawingml/2006/main">
              <a:ext uri="{FF2B5EF4-FFF2-40B4-BE49-F238E27FC236}">
                <a16:creationId xmlns:a16="http://schemas.microsoft.com/office/drawing/2014/main" id="{321C21D7-27E8-4A16-92BD-DC80CE6E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148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조건에 맞는 변경 초안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3FBB4D-9BF0-44DB-8832-32B6506CB8D6}"/>
              </a:ext>
            </a:extLst>
          </p:cNvPr>
          <p:cNvCxnSpPr/>
          <p:nvPr/>
        </p:nvCxnSpPr>
        <p:spPr>
          <a:xfrm xmlns:a="http://schemas.openxmlformats.org/drawingml/2006/main">
            <a:off x="4010025" y="410527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B6172"/>
            </a:solidFill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1E2F1E-1FD5-434C-ADD9-82088668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71875"/>
            <a:ext cx="16764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0DA"/>
            </a:solidFill>
            <a:prstDash val="solid"/>
          </a:ln>
        </p:spPr>
      </p:sp>
      <p:sp>
        <p:nvSpPr>
          <p:cNvPr id="16" name="입력">
            <a:extLst xmlns:a="http://schemas.openxmlformats.org/drawingml/2006/main">
              <a:ext uri="{FF2B5EF4-FFF2-40B4-BE49-F238E27FC236}">
                <a16:creationId xmlns:a16="http://schemas.microsoft.com/office/drawing/2014/main" id="{77C27EF3-EE08-4F1B-A1D6-9B452422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57625"/>
            <a:ext cx="144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2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2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2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2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2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2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2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2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2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8DA2AF-33F6-4AA9-963F-4591ACD1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71875"/>
            <a:ext cx="25908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AC9"/>
          </a:solidFill>
          <a:ln xmlns:a="http://schemas.openxmlformats.org/drawingml/2006/main" w="14288">
            <a:solidFill>
              <a:srgbClr val="805400"/>
            </a:solidFill>
            <a:prstDash val="solid"/>
          </a:ln>
        </p:spPr>
      </p:sp>
      <p:sp>
        <p:nvSpPr>
          <p:cNvPr id="18" name="전체 값 복사">
            <a:extLst xmlns:a="http://schemas.openxmlformats.org/drawingml/2006/main">
              <a:ext uri="{FF2B5EF4-FFF2-40B4-BE49-F238E27FC236}">
                <a16:creationId xmlns:a16="http://schemas.microsoft.com/office/drawing/2014/main" id="{D879E64C-946E-4093-B855-6460D5C4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57625"/>
            <a:ext cx="2362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rPr>
              <a:t>전체 값 복사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744B13-2EF9-4350-B1ED-5357BF3A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571875"/>
            <a:ext cx="18288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0DA"/>
            </a:solidFill>
            <a:prstDash val="solid"/>
          </a:ln>
        </p:spPr>
      </p:sp>
      <p:sp>
        <p:nvSpPr>
          <p:cNvPr id="20" name="통계 계산">
            <a:extLst xmlns:a="http://schemas.openxmlformats.org/drawingml/2006/main">
              <a:ext uri="{FF2B5EF4-FFF2-40B4-BE49-F238E27FC236}">
                <a16:creationId xmlns:a16="http://schemas.microsoft.com/office/drawing/2014/main" id="{6FCB4D87-86B9-4429-A148-5C0E5CC1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857625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2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2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2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2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2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2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2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2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2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통계 계산</a:t>
            </a:r>
          </a:p>
        </p:txBody>
      </p: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79E516-9F63-49E1-8EE7-4BB173D05AAF}"/>
              </a:ext>
            </a:extLst>
          </p:cNvPr>
          <p:cNvCxnSpPr/>
          <p:nvPr/>
        </p:nvCxnSpPr>
        <p:spPr>
          <a:xfrm xmlns:a="http://schemas.openxmlformats.org/drawingml/2006/main">
            <a:off x="6324600" y="41052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B6172"/>
            </a:solidFill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621B68-A340-4F13-97DA-7D54D147D577}"/>
              </a:ext>
            </a:extLst>
          </p:cNvPr>
          <p:cNvCxnSpPr/>
          <p:nvPr/>
        </p:nvCxnSpPr>
        <p:spPr>
          <a:xfrm xmlns:a="http://schemas.openxmlformats.org/drawingml/2006/main">
            <a:off x="9372600" y="41052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B6172"/>
            </a:solidFill>
            <a:tailEnd type="triangle" w="sm" len="sm"/>
          </a:ln>
        </p:spPr>
      </p:cxnSp>
      <p:sp>
        <p:nvSpPr>
          <p:cNvPr id="23" name="초안이 나왔다. 완료 기준을 만족하는지는 아직 확인 전이다">
            <a:extLst xmlns:a="http://schemas.openxmlformats.org/drawingml/2006/main">
              <a:ext uri="{FF2B5EF4-FFF2-40B4-BE49-F238E27FC236}">
                <a16:creationId xmlns:a16="http://schemas.microsoft.com/office/drawing/2014/main" id="{8119E55A-7518-422E-8770-ACC68017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초안이 나왔다. 완료 기준을 만족하는지는 아직 확인 전이다</a:t>
            </a:r>
          </a:p>
        </p:txBody>
      </p:sp>
      <p:sp>
        <p:nvSpPr>
          <p:cNvPr id="24" name="Legacy module connection">
            <a:extLst xmlns:a="http://schemas.openxmlformats.org/drawingml/2006/main">
              <a:ext uri="{FF2B5EF4-FFF2-40B4-BE49-F238E27FC236}">
                <a16:creationId xmlns:a16="http://schemas.microsoft.com/office/drawing/2014/main" id="{EB083C2E-B90B-4673-879F-1D70F3C5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M 연계 · M5 · M6</a:t>
            </a:r>
          </a:p>
        </p:txBody>
      </p:sp>
    </p:spTree>
    <p:extLst>
      <p:ext uri="{BB962C8B-B14F-4D97-AF65-F5344CB8AC3E}">
        <p14:creationId xmlns:p14="http://schemas.microsoft.com/office/powerpoint/2010/main" val="1153345098"/>
      </p:ext>
    </p:extLst>
  </p:cSld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ACT 4 · 같은 목표의 구현·검토 · 교육용 사례">
            <a:extLst xmlns:a="http://schemas.openxmlformats.org/drawingml/2006/main">
              <a:ext uri="{FF2B5EF4-FFF2-40B4-BE49-F238E27FC236}">
                <a16:creationId xmlns:a16="http://schemas.microsoft.com/office/drawing/2014/main" id="{73A07B6E-296F-4162-A311-D7E2EDF2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ACT 4 · 같은 목표의 구현·검토 · 교육용 사례</a:t>
            </a:r>
          </a:p>
        </p:txBody>
      </p:sp>
      <p:sp>
        <p:nvSpPr>
          <p:cNvPr id="2" name="S89">
            <a:extLst xmlns:a="http://schemas.openxmlformats.org/drawingml/2006/main">
              <a:ext uri="{FF2B5EF4-FFF2-40B4-BE49-F238E27FC236}">
                <a16:creationId xmlns:a16="http://schemas.microsoft.com/office/drawing/2014/main" id="{CA32EB57-95AC-401F-8A3D-59A5377A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S89</a:t>
            </a:r>
          </a:p>
        </p:txBody>
      </p:sp>
      <p:sp>
        <p:nvSpPr>
          <p:cNvPr id="3" name="실제 동작과 비용은 도구로 확인한다">
            <a:extLst xmlns:a="http://schemas.openxmlformats.org/drawingml/2006/main">
              <a:ext uri="{FF2B5EF4-FFF2-40B4-BE49-F238E27FC236}">
                <a16:creationId xmlns:a16="http://schemas.microsoft.com/office/drawing/2014/main" id="{5BD148F7-070F-4D1E-92B9-1BC05769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실제 동작과 비용은 도구로 확인한다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43D593-A8E1-4B3F-B7C0-7E55625F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5400"/>
            </a:solidFill>
            <a:prstDash val="dash"/>
          </a:ln>
        </p:spPr>
      </p:sp>
      <p:sp>
        <p:nvSpPr>
          <p:cNvPr id="5" name="Audience footer 1">
            <a:extLst xmlns:a="http://schemas.openxmlformats.org/drawingml/2006/main">
              <a:ext uri="{FF2B5EF4-FFF2-40B4-BE49-F238E27FC236}">
                <a16:creationId xmlns:a16="http://schemas.microsoft.com/office/drawing/2014/main" id="{6FDD3E1D-A6A2-4669-9B43-A2B414ED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r>
              <a: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 xml:space="preserve">가상 진행 예시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9B79AC-2181-47F2-BA61-5C628BC8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6172"/>
            </a:solidFill>
            <a:prstDash val="solid"/>
          </a:ln>
        </p:spPr>
      </p:sp>
      <p:sp>
        <p:nvSpPr>
          <p:cNvPr id="8" name="같은 목표: 출력·동작 유지 / 임시 할당 줄이기 / 실행시간 조건 지키기">
            <a:extLst xmlns:a="http://schemas.openxmlformats.org/drawingml/2006/main">
              <a:ext uri="{FF2B5EF4-FFF2-40B4-BE49-F238E27FC236}">
                <a16:creationId xmlns:a16="http://schemas.microsoft.com/office/drawing/2014/main" id="{D84C022B-A5B2-42BC-86B7-2C98D1AA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같은 목표: 출력·동작 유지 / 임시 할당 줄이기 / 실행시간 조건 지키기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E7E923-AB0B-49D3-B356-8BFB5D68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335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6172"/>
            </a:solidFill>
            <a:prstDash val="solid"/>
          </a:ln>
        </p:spPr>
      </p:sp>
      <p:sp>
        <p:nvSpPr>
          <p:cNvPr id="10" name="출력·동작">
            <a:extLst xmlns:a="http://schemas.openxmlformats.org/drawingml/2006/main">
              <a:ext uri="{FF2B5EF4-FFF2-40B4-BE49-F238E27FC236}">
                <a16:creationId xmlns:a16="http://schemas.microsoft.com/office/drawing/2014/main" id="{53A83986-4CB7-42F4-8F39-6DF18E6D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5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5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5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5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5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5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5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5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5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출력·동작</a:t>
            </a:r>
          </a:p>
        </p:txBody>
      </p:sp>
      <p:sp>
        <p:nvSpPr>
          <p:cNvPr id="11" name="명세에 맞는 테스트">
            <a:extLst xmlns:a="http://schemas.openxmlformats.org/drawingml/2006/main">
              <a:ext uri="{FF2B5EF4-FFF2-40B4-BE49-F238E27FC236}">
                <a16:creationId xmlns:a16="http://schemas.microsoft.com/office/drawing/2014/main" id="{DAEAFB9D-75A8-48A2-93E8-9030E708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335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명세에 맞는 테스트</a:t>
            </a:r>
          </a:p>
        </p:txBody>
      </p:sp>
      <p:sp>
        <p:nvSpPr>
          <p:cNvPr id="12" name="동작·값 보존">
            <a:extLst xmlns:a="http://schemas.openxmlformats.org/drawingml/2006/main">
              <a:ext uri="{FF2B5EF4-FFF2-40B4-BE49-F238E27FC236}">
                <a16:creationId xmlns:a16="http://schemas.microsoft.com/office/drawing/2014/main" id="{32FFC804-F947-4D2D-9666-CC3CE770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335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9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9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9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9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9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9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9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9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9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동작·값 보존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873DE0-7295-489B-BC4F-C4642FD4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335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6172"/>
            </a:solidFill>
            <a:prstDash val="solid"/>
          </a:ln>
        </p:spPr>
      </p:sp>
      <p:sp>
        <p:nvSpPr>
          <p:cNvPr id="14" name="임시 할당">
            <a:extLst xmlns:a="http://schemas.openxmlformats.org/drawingml/2006/main">
              <a:ext uri="{FF2B5EF4-FFF2-40B4-BE49-F238E27FC236}">
                <a16:creationId xmlns:a16="http://schemas.microsoft.com/office/drawing/2014/main" id="{3A70C5B8-2A7B-4BB7-800E-3D6115C7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62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5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5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5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5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5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5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5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5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5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임시 할당</a:t>
            </a:r>
          </a:p>
        </p:txBody>
      </p:sp>
      <p:sp>
        <p:nvSpPr>
          <p:cNvPr id="15" name="대표 입력의 할당량 측정">
            <a:extLst xmlns:a="http://schemas.openxmlformats.org/drawingml/2006/main">
              <a:ext uri="{FF2B5EF4-FFF2-40B4-BE49-F238E27FC236}">
                <a16:creationId xmlns:a16="http://schemas.microsoft.com/office/drawing/2014/main" id="{45205044-C0BC-46FE-9D1F-4D810123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81425"/>
            <a:ext cx="335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대표 입력의 할당량 측정</a:t>
            </a:r>
          </a:p>
        </p:txBody>
      </p:sp>
      <p:sp>
        <p:nvSpPr>
          <p:cNvPr id="16" name="할당량 목표">
            <a:extLst xmlns:a="http://schemas.openxmlformats.org/drawingml/2006/main">
              <a:ext uri="{FF2B5EF4-FFF2-40B4-BE49-F238E27FC236}">
                <a16:creationId xmlns:a16="http://schemas.microsoft.com/office/drawing/2014/main" id="{162E2741-E16A-414E-9DF9-305DFC78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72000"/>
            <a:ext cx="335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9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9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9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9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9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9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9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9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9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할당량 목표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9CC709-113B-4601-BC5E-CC7B1145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81300"/>
            <a:ext cx="335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6172"/>
            </a:solidFill>
            <a:prstDash val="solid"/>
          </a:ln>
        </p:spPr>
      </p:sp>
      <p:sp>
        <p:nvSpPr>
          <p:cNvPr id="18" name="실행시간">
            <a:extLst xmlns:a="http://schemas.openxmlformats.org/drawingml/2006/main">
              <a:ext uri="{FF2B5EF4-FFF2-40B4-BE49-F238E27FC236}">
                <a16:creationId xmlns:a16="http://schemas.microsoft.com/office/drawing/2014/main" id="{32684F00-155A-4B20-8570-9A5E4E95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62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5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5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5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5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5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5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5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5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5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실행시간</a:t>
            </a:r>
          </a:p>
        </p:txBody>
      </p:sp>
      <p:sp>
        <p:nvSpPr>
          <p:cNvPr id="19" name="같은 환경에서 반복 측정">
            <a:extLst xmlns:a="http://schemas.openxmlformats.org/drawingml/2006/main">
              <a:ext uri="{FF2B5EF4-FFF2-40B4-BE49-F238E27FC236}">
                <a16:creationId xmlns:a16="http://schemas.microsoft.com/office/drawing/2014/main" id="{8AC8FC7A-4FC9-4B96-B6B1-7BB3E704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81425"/>
            <a:ext cx="335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같은 환경에서 반복 측정</a:t>
            </a:r>
          </a:p>
        </p:txBody>
      </p:sp>
      <p:sp>
        <p:nvSpPr>
          <p:cNvPr id="20" name="시간 허용 범위">
            <a:extLst xmlns:a="http://schemas.openxmlformats.org/drawingml/2006/main">
              <a:ext uri="{FF2B5EF4-FFF2-40B4-BE49-F238E27FC236}">
                <a16:creationId xmlns:a16="http://schemas.microsoft.com/office/drawing/2014/main" id="{AE19D934-BBD5-4615-A202-6BFD85AB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72000"/>
            <a:ext cx="335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9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9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9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9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9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9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9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9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9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시간 허용 범위</a:t>
            </a:r>
          </a:p>
        </p:txBody>
      </p:sp>
      <p:sp>
        <p:nvSpPr>
          <p:cNvPr id="21" name="“확인했다”는 말 대신, 검사·측정 기록을 남긴다">
            <a:extLst xmlns:a="http://schemas.openxmlformats.org/drawingml/2006/main">
              <a:ext uri="{FF2B5EF4-FFF2-40B4-BE49-F238E27FC236}">
                <a16:creationId xmlns:a16="http://schemas.microsoft.com/office/drawing/2014/main" id="{655A42B2-EF73-4480-9A73-DF180895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“확인했다”는 말 대신, 검사·측정 기록을 남긴다</a:t>
            </a:r>
          </a:p>
        </p:txBody>
      </p:sp>
      <p:sp>
        <p:nvSpPr>
          <p:cNvPr id="22" name="Legacy module connection">
            <a:extLst xmlns:a="http://schemas.openxmlformats.org/drawingml/2006/main">
              <a:ext uri="{FF2B5EF4-FFF2-40B4-BE49-F238E27FC236}">
                <a16:creationId xmlns:a16="http://schemas.microsoft.com/office/drawing/2014/main" id="{6DF39B80-9DD2-4FDA-82B9-2FE9E4F2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M 연계 · M5 · M6</a:t>
            </a:r>
          </a:p>
        </p:txBody>
      </p:sp>
    </p:spTree>
    <p:extLst>
      <p:ext uri="{BB962C8B-B14F-4D97-AF65-F5344CB8AC3E}">
        <p14:creationId xmlns:p14="http://schemas.microsoft.com/office/powerpoint/2010/main" val="940186535"/>
      </p:ext>
    </p:extLst>
  </p:cSld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ACT 4 · 같은 목표의 구현·검토 · 교육용 사례">
            <a:extLst xmlns:a="http://schemas.openxmlformats.org/drawingml/2006/main">
              <a:ext uri="{FF2B5EF4-FFF2-40B4-BE49-F238E27FC236}">
                <a16:creationId xmlns:a16="http://schemas.microsoft.com/office/drawing/2014/main" id="{5781CA33-6988-4AD4-9B6E-53C73D95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ACT 4 · 같은 목표의 구현·검토 · 교육용 사례</a:t>
            </a:r>
          </a:p>
        </p:txBody>
      </p:sp>
      <p:sp>
        <p:nvSpPr>
          <p:cNvPr id="2" name="S90">
            <a:extLst xmlns:a="http://schemas.openxmlformats.org/drawingml/2006/main">
              <a:ext uri="{FF2B5EF4-FFF2-40B4-BE49-F238E27FC236}">
                <a16:creationId xmlns:a16="http://schemas.microsoft.com/office/drawing/2014/main" id="{2FC21F4F-C807-4540-B2E4-185B4D04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S90</a:t>
            </a:r>
          </a:p>
        </p:txBody>
      </p:sp>
      <p:sp>
        <p:nvSpPr>
          <p:cNvPr id="3" name="모델 B는 무엇을 근거로 검토할까?">
            <a:extLst xmlns:a="http://schemas.openxmlformats.org/drawingml/2006/main">
              <a:ext uri="{FF2B5EF4-FFF2-40B4-BE49-F238E27FC236}">
                <a16:creationId xmlns:a16="http://schemas.microsoft.com/office/drawing/2014/main" id="{DF17122C-50FE-433B-8B9E-D765A191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모델 B는 무엇을 근거로 검토할까?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443063-3996-4F73-B527-195E327C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5400"/>
            </a:solidFill>
            <a:prstDash val="dash"/>
          </a:ln>
        </p:spPr>
      </p:sp>
      <p:sp>
        <p:nvSpPr>
          <p:cNvPr id="5" name="Audience footer 1">
            <a:extLst xmlns:a="http://schemas.openxmlformats.org/drawingml/2006/main">
              <a:ext uri="{FF2B5EF4-FFF2-40B4-BE49-F238E27FC236}">
                <a16:creationId xmlns:a16="http://schemas.microsoft.com/office/drawing/2014/main" id="{8E07318A-B96B-4171-A4A9-5997A017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r>
              <a: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 xml:space="preserve">가상 진행 예시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28473-0D97-4F47-AB25-6183B2A9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6172"/>
            </a:solidFill>
            <a:prstDash val="solid"/>
          </a:ln>
        </p:spPr>
      </p:sp>
      <p:sp>
        <p:nvSpPr>
          <p:cNvPr id="8" name="같은 목표: 출력·동작 유지 / 임시 할당 줄이기 / 실행시간 조건 지키기">
            <a:extLst xmlns:a="http://schemas.openxmlformats.org/drawingml/2006/main">
              <a:ext uri="{FF2B5EF4-FFF2-40B4-BE49-F238E27FC236}">
                <a16:creationId xmlns:a16="http://schemas.microsoft.com/office/drawing/2014/main" id="{B3404CAC-39B5-408D-8B64-E62230B4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같은 목표: 출력·동작 유지 / 임시 할당 줄이기 / 실행시간 조건 지키기</a:t>
            </a:r>
          </a:p>
        </p:txBody>
      </p:sp>
      <p:sp>
        <p:nvSpPr>
          <p:cNvPr id="9" name="검토 입력">
            <a:extLst xmlns:a="http://schemas.openxmlformats.org/drawingml/2006/main">
              <a:ext uri="{FF2B5EF4-FFF2-40B4-BE49-F238E27FC236}">
                <a16:creationId xmlns:a16="http://schemas.microsoft.com/office/drawing/2014/main" id="{9DA1CA36-6E8E-479C-A658-AD375A63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415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검토 입력</a:t>
            </a:r>
          </a:p>
        </p:txBody>
      </p:sp>
      <p:sp>
        <p:nvSpPr>
          <p:cNvPr id="10" name="명세·완료 기준&#10;후보 v1의 변경 내용&#10;검사·측정 기록 또는 미확인">
            <a:extLst xmlns:a="http://schemas.openxmlformats.org/drawingml/2006/main">
              <a:ext uri="{FF2B5EF4-FFF2-40B4-BE49-F238E27FC236}">
                <a16:creationId xmlns:a16="http://schemas.microsoft.com/office/drawing/2014/main" id="{710C973C-C89C-4D84-92F0-C59F4FD8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41529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명세·완료 기준</a:t>
            </a:r>
          </a:p>
          <a:p xmlns:a="http://schemas.openxmlformats.org/drawingml/2006/main">
            <a:pPr algn="l">
              <a:defRPr sz="22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후보 v1의 변경 내용</a:t>
            </a:r>
          </a:p>
          <a:p xmlns:a="http://schemas.openxmlformats.org/drawingml/2006/main">
            <a:pPr algn="l">
              <a:defRPr sz="22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검사·측정 기록 또는 미확인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D5520E-9A17-49BC-99A6-6C1157E7FE2A}"/>
              </a:ext>
            </a:extLst>
          </p:cNvPr>
          <p:cNvCxnSpPr/>
          <p:nvPr/>
        </p:nvCxnSpPr>
        <p:spPr>
          <a:xfrm xmlns:a="http://schemas.openxmlformats.org/drawingml/2006/main">
            <a:off x="4991100" y="3857625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B6172"/>
            </a:solidFill>
            <a:tailEnd type="triangle" w="sm" len="sm"/>
          </a:ln>
        </p:spPr>
      </p:cxnSp>
      <p:sp>
        <p:nvSpPr>
          <p:cNvPr id="12" name="다른 모델 B · 검토">
            <a:extLst xmlns:a="http://schemas.openxmlformats.org/drawingml/2006/main">
              <a:ext uri="{FF2B5EF4-FFF2-40B4-BE49-F238E27FC236}">
                <a16:creationId xmlns:a16="http://schemas.microsoft.com/office/drawing/2014/main" id="{F9A7E073-E6FD-48A1-9A3D-F3E63A8B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479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rPr>
              <a:t>다른 모델 B · 검토</a:t>
            </a:r>
          </a:p>
        </p:txBody>
      </p:sp>
      <p:sp>
        <p:nvSpPr>
          <p:cNvPr id="13" name="① 임시 목록이 남아 있다&#10;② 대표 입력의 확인 자료가 없다">
            <a:extLst xmlns:a="http://schemas.openxmlformats.org/drawingml/2006/main">
              <a:ext uri="{FF2B5EF4-FFF2-40B4-BE49-F238E27FC236}">
                <a16:creationId xmlns:a16="http://schemas.microsoft.com/office/drawing/2014/main" id="{51C40BC4-EA84-4014-9AA1-74D7B482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86125"/>
            <a:ext cx="533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① 임시 목록이 남아 있다</a:t>
            </a:r>
          </a:p>
          <a:p xmlns:a="http://schemas.openxmlformats.org/drawingml/2006/main">
            <a: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② 대표 입력의 확인 자료가 없다</a:t>
            </a:r>
          </a:p>
        </p:txBody>
      </p:sp>
      <p:sp>
        <p:nvSpPr>
          <p:cNvPr id="14" name="위치 · 위반 기준 · 근거를 함께 제시">
            <a:extLst xmlns:a="http://schemas.openxmlformats.org/drawingml/2006/main">
              <a:ext uri="{FF2B5EF4-FFF2-40B4-BE49-F238E27FC236}">
                <a16:creationId xmlns:a16="http://schemas.microsoft.com/office/drawing/2014/main" id="{260101E8-45AF-4189-9769-A598DD7A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38700"/>
            <a:ext cx="5334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rPr>
              <a:t>위치 · 위반 기준 · 근거를 함께 제시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CCEB16-F930-4E57-BBEB-A1DCAC29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91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3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6" name="Practical application tip badge">
            <a:extLst xmlns:a="http://schemas.openxmlformats.org/drawingml/2006/main">
              <a:ext uri="{FF2B5EF4-FFF2-40B4-BE49-F238E27FC236}">
                <a16:creationId xmlns:a16="http://schemas.microsoft.com/office/drawing/2014/main" id="{6133C6E3-1F11-4E58-842E-7B48A1E3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9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실무 적용 팁 · 검증·개선</a:t>
            </a:r>
          </a:p>
        </p:txBody>
      </p:sp>
      <p:sp>
        <p:nvSpPr>
          <p:cNvPr id="17" name="Legacy module connection">
            <a:extLst xmlns:a="http://schemas.openxmlformats.org/drawingml/2006/main">
              <a:ext uri="{FF2B5EF4-FFF2-40B4-BE49-F238E27FC236}">
                <a16:creationId xmlns:a16="http://schemas.microsoft.com/office/drawing/2014/main" id="{CB6744EB-5E32-422F-BD9C-21F60D30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M 연계 · M5 · M6</a:t>
            </a:r>
          </a:p>
        </p:txBody>
      </p:sp>
    </p:spTree>
    <p:extLst>
      <p:ext uri="{BB962C8B-B14F-4D97-AF65-F5344CB8AC3E}">
        <p14:creationId xmlns:p14="http://schemas.microsoft.com/office/powerpoint/2010/main" val="1226252650"/>
      </p:ext>
    </p:extLst>
  </p:cSld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ACT 4 · 같은 목표의 구현·검토 · 교육용 사례">
            <a:extLst xmlns:a="http://schemas.openxmlformats.org/drawingml/2006/main">
              <a:ext uri="{FF2B5EF4-FFF2-40B4-BE49-F238E27FC236}">
                <a16:creationId xmlns:a16="http://schemas.microsoft.com/office/drawing/2014/main" id="{423892EE-D786-4D64-BC0E-783B1476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ACT 4 · 같은 목표의 구현·검토 · 교육용 사례</a:t>
            </a:r>
          </a:p>
        </p:txBody>
      </p:sp>
      <p:sp>
        <p:nvSpPr>
          <p:cNvPr id="2" name="S91">
            <a:extLst xmlns:a="http://schemas.openxmlformats.org/drawingml/2006/main">
              <a:ext uri="{FF2B5EF4-FFF2-40B4-BE49-F238E27FC236}">
                <a16:creationId xmlns:a16="http://schemas.microsoft.com/office/drawing/2014/main" id="{B9F2C3F7-9D16-4FC6-9954-6882547F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S91</a:t>
            </a:r>
          </a:p>
        </p:txBody>
      </p:sp>
      <p:sp>
        <p:nvSpPr>
          <p:cNvPr id="3" name="지적이 다음 수정으로 이어진다">
            <a:extLst xmlns:a="http://schemas.openxmlformats.org/drawingml/2006/main">
              <a:ext uri="{FF2B5EF4-FFF2-40B4-BE49-F238E27FC236}">
                <a16:creationId xmlns:a16="http://schemas.microsoft.com/office/drawing/2014/main" id="{051F8DD1-B2EA-41BA-8DD0-1FC55B68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지적이 다음 수정으로 이어진다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DF8AC6-6AB2-44AB-A4ED-B7A45402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5400"/>
            </a:solidFill>
            <a:prstDash val="dash"/>
          </a:ln>
        </p:spPr>
      </p:sp>
      <p:sp>
        <p:nvSpPr>
          <p:cNvPr id="5" name="Audience footer 1">
            <a:extLst xmlns:a="http://schemas.openxmlformats.org/drawingml/2006/main">
              <a:ext uri="{FF2B5EF4-FFF2-40B4-BE49-F238E27FC236}">
                <a16:creationId xmlns:a16="http://schemas.microsoft.com/office/drawing/2014/main" id="{5D587948-B634-4D2E-B4AD-137CBFFA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r>
              <a: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 xml:space="preserve">가상 진행 예시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5B4A1A-A1A8-44AF-AFD3-5F67B2F6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6172"/>
            </a:solidFill>
            <a:prstDash val="solid"/>
          </a:ln>
        </p:spPr>
      </p:sp>
      <p:sp>
        <p:nvSpPr>
          <p:cNvPr id="8" name="같은 목표: 출력·동작 유지 / 임시 할당 줄이기 / 실행시간 조건 지키기">
            <a:extLst xmlns:a="http://schemas.openxmlformats.org/drawingml/2006/main">
              <a:ext uri="{FF2B5EF4-FFF2-40B4-BE49-F238E27FC236}">
                <a16:creationId xmlns:a16="http://schemas.microsoft.com/office/drawing/2014/main" id="{129D9617-DA05-445B-A275-7ABEB32C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같은 목표: 출력·동작 유지 / 임시 할당 줄이기 / 실행시간 조건 지키기</a:t>
            </a:r>
          </a:p>
        </p:txBody>
      </p:sp>
      <p:sp>
        <p:nvSpPr>
          <p:cNvPr id="9" name="모델 B의 검토 지적">
            <a:extLst xmlns:a="http://schemas.openxmlformats.org/drawingml/2006/main">
              <a:ext uri="{FF2B5EF4-FFF2-40B4-BE49-F238E27FC236}">
                <a16:creationId xmlns:a16="http://schemas.microsoft.com/office/drawing/2014/main" id="{279DF84B-CDB0-4B54-8108-4B83318F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4724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rPr>
              <a:t>모델 B의 검토 지적</a:t>
            </a:r>
          </a:p>
        </p:txBody>
      </p:sp>
      <p:sp>
        <p:nvSpPr>
          <p:cNvPr id="10" name="모델 A의 다음 후보 v2">
            <a:extLst xmlns:a="http://schemas.openxmlformats.org/drawingml/2006/main">
              <a:ext uri="{FF2B5EF4-FFF2-40B4-BE49-F238E27FC236}">
                <a16:creationId xmlns:a16="http://schemas.microsoft.com/office/drawing/2014/main" id="{E778BE80-F04F-4A31-A78E-EDA43B35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86050"/>
            <a:ext cx="4724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모델 A의 다음 후보 v2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1EDC45-7497-4D73-9C95-D07708FA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472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47482F-B7FF-4F81-9980-C661AB70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48050"/>
            <a:ext cx="472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3" name="①  임시 목록이 남음">
            <a:extLst xmlns:a="http://schemas.openxmlformats.org/drawingml/2006/main">
              <a:ext uri="{FF2B5EF4-FFF2-40B4-BE49-F238E27FC236}">
                <a16:creationId xmlns:a16="http://schemas.microsoft.com/office/drawing/2014/main" id="{5937CFB6-B5ED-49D8-BEB7-AA71831A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4724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①  임시 목록이 남음</a:t>
            </a:r>
          </a:p>
        </p:txBody>
      </p:sp>
      <p:sp>
        <p:nvSpPr>
          <p:cNvPr id="14" name="①  전체 값 복사 제거">
            <a:extLst xmlns:a="http://schemas.openxmlformats.org/drawingml/2006/main">
              <a:ext uri="{FF2B5EF4-FFF2-40B4-BE49-F238E27FC236}">
                <a16:creationId xmlns:a16="http://schemas.microsoft.com/office/drawing/2014/main" id="{D914FB0C-A5DF-4608-8E60-D2475CA8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00450"/>
            <a:ext cx="4724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①  전체 값 복사 제거</a:t>
            </a:r>
          </a:p>
        </p:txBody>
      </p: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2EDE2C-5016-43A0-B567-E6006260A279}"/>
              </a:ext>
            </a:extLst>
          </p:cNvPr>
          <p:cNvCxnSpPr/>
          <p:nvPr/>
        </p:nvCxnSpPr>
        <p:spPr>
          <a:xfrm xmlns:a="http://schemas.openxmlformats.org/drawingml/2006/main">
            <a:off x="5619750" y="3876675"/>
            <a:ext cx="8953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B6172"/>
            </a:solidFill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112BC9-6337-446A-BD0F-B6DC5DE7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472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A84F9E-3A9D-47BC-976E-0790EF12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52950"/>
            <a:ext cx="472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8" name="②  확인 자료가 없음">
            <a:extLst xmlns:a="http://schemas.openxmlformats.org/drawingml/2006/main">
              <a:ext uri="{FF2B5EF4-FFF2-40B4-BE49-F238E27FC236}">
                <a16:creationId xmlns:a16="http://schemas.microsoft.com/office/drawing/2014/main" id="{6D1ECB59-58A3-4411-88EC-6D3244ED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4724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②  확인 자료가 없음</a:t>
            </a:r>
          </a:p>
        </p:txBody>
      </p:sp>
      <p:sp>
        <p:nvSpPr>
          <p:cNvPr id="19" name="②  같은 결과 검사 추가">
            <a:extLst xmlns:a="http://schemas.openxmlformats.org/drawingml/2006/main">
              <a:ext uri="{FF2B5EF4-FFF2-40B4-BE49-F238E27FC236}">
                <a16:creationId xmlns:a16="http://schemas.microsoft.com/office/drawing/2014/main" id="{EABFD344-D936-4B09-BF0F-0D947CB1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05350"/>
            <a:ext cx="4724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②  같은 결과 검사 추가</a:t>
            </a:r>
          </a:p>
        </p:txBody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372A8C-B4C3-46A7-A682-5613F31C24D7}"/>
              </a:ext>
            </a:extLst>
          </p:cNvPr>
          <p:cNvCxnSpPr/>
          <p:nvPr/>
        </p:nvCxnSpPr>
        <p:spPr>
          <a:xfrm xmlns:a="http://schemas.openxmlformats.org/drawingml/2006/main">
            <a:off x="5619750" y="4981575"/>
            <a:ext cx="8953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B6172"/>
            </a:solidFill>
            <a:tailEnd type="triangle" w="sm" len="sm"/>
          </a:ln>
        </p:spPr>
      </p:cxnSp>
      <p:sp>
        <p:nvSpPr>
          <p:cNvPr id="21" name="Legacy module connection">
            <a:extLst xmlns:a="http://schemas.openxmlformats.org/drawingml/2006/main">
              <a:ext uri="{FF2B5EF4-FFF2-40B4-BE49-F238E27FC236}">
                <a16:creationId xmlns:a16="http://schemas.microsoft.com/office/drawing/2014/main" id="{DB7D5ED6-B9B1-4115-88F2-F22BB6B2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M 연계 · M5 · M6</a:t>
            </a:r>
          </a:p>
        </p:txBody>
      </p:sp>
    </p:spTree>
    <p:extLst>
      <p:ext uri="{BB962C8B-B14F-4D97-AF65-F5344CB8AC3E}">
        <p14:creationId xmlns:p14="http://schemas.microsoft.com/office/powerpoint/2010/main" val="114511855"/>
      </p:ext>
    </p:extLst>
  </p:cSld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ACT 4 · 같은 목표의 구현·검토 · 교육용 사례">
            <a:extLst xmlns:a="http://schemas.openxmlformats.org/drawingml/2006/main">
              <a:ext uri="{FF2B5EF4-FFF2-40B4-BE49-F238E27FC236}">
                <a16:creationId xmlns:a16="http://schemas.microsoft.com/office/drawing/2014/main" id="{80A3C7AE-9E62-4B57-9D0D-3FF00FC7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ACT 4 · 같은 목표의 구현·검토 · 교육용 사례</a:t>
            </a:r>
          </a:p>
        </p:txBody>
      </p:sp>
      <p:sp>
        <p:nvSpPr>
          <p:cNvPr id="2" name="S92">
            <a:extLst xmlns:a="http://schemas.openxmlformats.org/drawingml/2006/main">
              <a:ext uri="{FF2B5EF4-FFF2-40B4-BE49-F238E27FC236}">
                <a16:creationId xmlns:a16="http://schemas.microsoft.com/office/drawing/2014/main" id="{769F9B5F-609E-4011-88A4-60485F93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S92</a:t>
            </a:r>
          </a:p>
        </p:txBody>
      </p:sp>
      <p:sp>
        <p:nvSpPr>
          <p:cNvPr id="3" name="고쳤다면, 같은 기준으로 다시 본다">
            <a:extLst xmlns:a="http://schemas.openxmlformats.org/drawingml/2006/main">
              <a:ext uri="{FF2B5EF4-FFF2-40B4-BE49-F238E27FC236}">
                <a16:creationId xmlns:a16="http://schemas.microsoft.com/office/drawing/2014/main" id="{8818F878-2EEB-43AC-A76D-41FEAF16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고쳤다면, 같은 기준으로 다시 본다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4BC323-9D41-492B-8264-428F2B8C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5400"/>
            </a:solidFill>
            <a:prstDash val="dash"/>
          </a:ln>
        </p:spPr>
      </p:sp>
      <p:sp>
        <p:nvSpPr>
          <p:cNvPr id="5" name="Audience footer 1">
            <a:extLst xmlns:a="http://schemas.openxmlformats.org/drawingml/2006/main">
              <a:ext uri="{FF2B5EF4-FFF2-40B4-BE49-F238E27FC236}">
                <a16:creationId xmlns:a16="http://schemas.microsoft.com/office/drawing/2014/main" id="{A68F0DF1-58F2-4D73-BB48-9F145D38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r>
              <a: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 xml:space="preserve">가상 진행 예시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7D280C-F318-46D8-AEAB-CF3E29BA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6172"/>
            </a:solidFill>
            <a:prstDash val="solid"/>
          </a:ln>
        </p:spPr>
      </p:sp>
      <p:sp>
        <p:nvSpPr>
          <p:cNvPr id="8" name="같은 목표: 출력·동작 유지 / 임시 할당 줄이기 / 실행시간 조건 지키기">
            <a:extLst xmlns:a="http://schemas.openxmlformats.org/drawingml/2006/main">
              <a:ext uri="{FF2B5EF4-FFF2-40B4-BE49-F238E27FC236}">
                <a16:creationId xmlns:a16="http://schemas.microsoft.com/office/drawing/2014/main" id="{D2F9BA90-BD28-484D-AA26-A59F192F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같은 목표: 출력·동작 유지 / 임시 할당 줄이기 / 실행시간 조건 지키기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A53824-0EF2-4027-B3EA-22167DC2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29718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6172"/>
            </a:solidFill>
            <a:prstDash val="solid"/>
          </a:ln>
        </p:spPr>
      </p:sp>
      <p:sp>
        <p:nvSpPr>
          <p:cNvPr id="10" name="후보 v2">
            <a:extLst xmlns:a="http://schemas.openxmlformats.org/drawingml/2006/main">
              <a:ext uri="{FF2B5EF4-FFF2-40B4-BE49-F238E27FC236}">
                <a16:creationId xmlns:a16="http://schemas.microsoft.com/office/drawing/2014/main" id="{4B7250B2-757F-4D75-95DA-9D8E8591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33700"/>
            <a:ext cx="2590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후보 v2</a:t>
            </a:r>
          </a:p>
        </p:txBody>
      </p:sp>
      <p:sp>
        <p:nvSpPr>
          <p:cNvPr id="11" name="수정한 변경과 기록">
            <a:extLst xmlns:a="http://schemas.openxmlformats.org/drawingml/2006/main">
              <a:ext uri="{FF2B5EF4-FFF2-40B4-BE49-F238E27FC236}">
                <a16:creationId xmlns:a16="http://schemas.microsoft.com/office/drawing/2014/main" id="{091AB40B-5057-4D08-B29A-318194BE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2590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수정한 변경과 기록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4E01D1-EDA0-4901-AEC5-F908B690F66A}"/>
              </a:ext>
            </a:extLst>
          </p:cNvPr>
          <p:cNvCxnSpPr/>
          <p:nvPr/>
        </p:nvCxnSpPr>
        <p:spPr>
          <a:xfrm xmlns:a="http://schemas.openxmlformats.org/drawingml/2006/main">
            <a:off x="3752850" y="34385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B6172"/>
            </a:solidFill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F86476-9B87-4698-A282-86C988FC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19400"/>
            <a:ext cx="33528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6172"/>
            </a:solidFill>
            <a:prstDash val="solid"/>
          </a:ln>
        </p:spPr>
      </p:sp>
      <p:sp>
        <p:nvSpPr>
          <p:cNvPr id="14" name="도구 + 모델 B">
            <a:extLst xmlns:a="http://schemas.openxmlformats.org/drawingml/2006/main">
              <a:ext uri="{FF2B5EF4-FFF2-40B4-BE49-F238E27FC236}">
                <a16:creationId xmlns:a16="http://schemas.microsoft.com/office/drawing/2014/main" id="{3FBAD0D5-4D3E-4524-8DBD-A6F7C120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33700"/>
            <a:ext cx="2971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도구 + 모델 B</a:t>
            </a:r>
          </a:p>
        </p:txBody>
      </p:sp>
      <p:sp>
        <p:nvSpPr>
          <p:cNvPr id="15" name="같은 기준으로 재확인">
            <a:extLst xmlns:a="http://schemas.openxmlformats.org/drawingml/2006/main">
              <a:ext uri="{FF2B5EF4-FFF2-40B4-BE49-F238E27FC236}">
                <a16:creationId xmlns:a16="http://schemas.microsoft.com/office/drawing/2014/main" id="{8315B8A7-EB1E-4193-A63E-ED3487A7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448050"/>
            <a:ext cx="297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같은 기준으로 재확인</a:t>
            </a:r>
          </a:p>
        </p:txBody>
      </p: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01876A-770B-4E5F-82B3-D2713504745A}"/>
              </a:ext>
            </a:extLst>
          </p:cNvPr>
          <p:cNvCxnSpPr/>
          <p:nvPr/>
        </p:nvCxnSpPr>
        <p:spPr>
          <a:xfrm xmlns:a="http://schemas.openxmlformats.org/drawingml/2006/main">
            <a:off x="7962900" y="34385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B6172"/>
            </a:solidFill>
            <a:tailEnd type="triangle" w="sm" len="sm"/>
          </a:ln>
        </p:spPr>
      </p:cxnSp>
      <p:sp>
        <p:nvSpPr>
          <p:cNvPr id="17" name="기준 충족">
            <a:extLst xmlns:a="http://schemas.openxmlformats.org/drawingml/2006/main">
              <a:ext uri="{FF2B5EF4-FFF2-40B4-BE49-F238E27FC236}">
                <a16:creationId xmlns:a16="http://schemas.microsoft.com/office/drawing/2014/main" id="{9F1F188A-A3AB-4BC1-A0B1-430B3260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57500"/>
            <a:ext cx="2819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기준 충족</a:t>
            </a:r>
          </a:p>
        </p:txBody>
      </p:sp>
      <p:sp>
        <p:nvSpPr>
          <p:cNvPr id="18" name="완료 판단">
            <a:extLst xmlns:a="http://schemas.openxmlformats.org/drawingml/2006/main">
              <a:ext uri="{FF2B5EF4-FFF2-40B4-BE49-F238E27FC236}">
                <a16:creationId xmlns:a16="http://schemas.microsoft.com/office/drawing/2014/main" id="{8DC92A8A-7733-4E78-9764-1FEFE4E6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62325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완료 판단</a:t>
            </a:r>
          </a:p>
        </p:txBody>
      </p:sp>
      <p:sp>
        <p:nvSpPr>
          <p:cNvPr id="19" name="남은 지적">
            <a:extLst xmlns:a="http://schemas.openxmlformats.org/drawingml/2006/main">
              <a:ext uri="{FF2B5EF4-FFF2-40B4-BE49-F238E27FC236}">
                <a16:creationId xmlns:a16="http://schemas.microsoft.com/office/drawing/2014/main" id="{62470A04-15E5-45EE-A5FE-E2CB58BF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48150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rPr>
              <a:t>남은 지적</a:t>
            </a:r>
          </a:p>
        </p:txBody>
      </p:sp>
      <p:sp>
        <p:nvSpPr>
          <p:cNvPr id="20" name="후보 v3로 수정 계속">
            <a:extLst xmlns:a="http://schemas.openxmlformats.org/drawingml/2006/main">
              <a:ext uri="{FF2B5EF4-FFF2-40B4-BE49-F238E27FC236}">
                <a16:creationId xmlns:a16="http://schemas.microsoft.com/office/drawing/2014/main" id="{CEC81F9B-5127-45F0-9C48-5C827150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14875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후보 v3로 수정 계속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938DC1-6D0C-4BCA-BC3E-57B11B12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991100"/>
            <a:ext cx="6229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8054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F159ED-E66F-4CD3-9831-F7968DBF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57650"/>
            <a:ext cx="0" cy="933450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805400"/>
            </a:solidFill>
          </a:ln>
        </p:spPr>
      </p: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F46F81-6BE8-4EC7-AE66-6CA24F99E80E}"/>
              </a:ext>
            </a:extLst>
          </p:cNvPr>
          <p:cNvCxnSpPr/>
          <p:nvPr/>
        </p:nvCxnSpPr>
        <p:spPr>
          <a:xfrm xmlns:a="http://schemas.openxmlformats.org/drawingml/2006/main">
            <a:off x="2076450" y="4057650"/>
            <a:ext cx="0" cy="9334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805400"/>
            </a:solidFill>
            <a:headEnd type="triangle" w="sm" len="sm"/>
          </a:ln>
        </p:spPr>
      </p:cxnSp>
      <p:sp>
        <p:nvSpPr>
          <p:cNvPr id="24" name="완료 기준을 낮춰서 끝내지 않는다">
            <a:extLst xmlns:a="http://schemas.openxmlformats.org/drawingml/2006/main">
              <a:ext uri="{FF2B5EF4-FFF2-40B4-BE49-F238E27FC236}">
                <a16:creationId xmlns:a16="http://schemas.microsoft.com/office/drawing/2014/main" id="{C73E6757-9F29-46F7-A608-159D3F03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7429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완료 기준을 낮춰서 끝내지 않는다</a:t>
            </a:r>
          </a:p>
        </p:txBody>
      </p:sp>
      <p:sp>
        <p:nvSpPr>
          <p:cNvPr id="25" name="Legacy module connection">
            <a:extLst xmlns:a="http://schemas.openxmlformats.org/drawingml/2006/main">
              <a:ext uri="{FF2B5EF4-FFF2-40B4-BE49-F238E27FC236}">
                <a16:creationId xmlns:a16="http://schemas.microsoft.com/office/drawing/2014/main" id="{47F97326-BABC-486E-A286-D0AB7796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M 연계 · M5 · M6</a:t>
            </a:r>
          </a:p>
        </p:txBody>
      </p:sp>
    </p:spTree>
    <p:extLst>
      <p:ext uri="{BB962C8B-B14F-4D97-AF65-F5344CB8AC3E}">
        <p14:creationId xmlns:p14="http://schemas.microsoft.com/office/powerpoint/2010/main" val="1573951011"/>
      </p:ext>
    </p:extLst>
  </p:cSld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ACT 4 · 루프 운영 설계">
            <a:extLst xmlns:a="http://schemas.openxmlformats.org/drawingml/2006/main">
              <a:ext uri="{FF2B5EF4-FFF2-40B4-BE49-F238E27FC236}">
                <a16:creationId xmlns:a16="http://schemas.microsoft.com/office/drawing/2014/main" id="{156A2CE1-FF9A-4505-BF6E-610D78C5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ACT 4 · 루프 운영 설계</a:t>
            </a:r>
          </a:p>
        </p:txBody>
      </p:sp>
      <p:sp>
        <p:nvSpPr>
          <p:cNvPr id="2" name="S93">
            <a:extLst xmlns:a="http://schemas.openxmlformats.org/drawingml/2006/main">
              <a:ext uri="{FF2B5EF4-FFF2-40B4-BE49-F238E27FC236}">
                <a16:creationId xmlns:a16="http://schemas.microsoft.com/office/drawing/2014/main" id="{8D05B0BE-1BE8-49F6-9C5F-E9DD9F80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S93</a:t>
            </a:r>
          </a:p>
        </p:txBody>
      </p:sp>
      <p:sp>
        <p:nvSpPr>
          <p:cNvPr id="3" name="같은 목표의 구현·검토 루프">
            <a:extLst xmlns:a="http://schemas.openxmlformats.org/drawingml/2006/main">
              <a:ext uri="{FF2B5EF4-FFF2-40B4-BE49-F238E27FC236}">
                <a16:creationId xmlns:a16="http://schemas.microsoft.com/office/drawing/2014/main" id="{348300DA-78B3-4AC5-AC48-D71F8264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같은 목표의 구현·검토 루프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5DEA4-8BB1-4F71-AF93-4349781E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561401-3AA8-4DBA-A6C6-99F85C9F6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6172"/>
            </a:solidFill>
            <a:prstDash val="solid"/>
          </a:ln>
        </p:spPr>
      </p:sp>
      <p:sp>
        <p:nvSpPr>
          <p:cNvPr id="8" name="목표·완료 기준은 유지하고, 현재 후보와 남은 문제를 갱신한다">
            <a:extLst xmlns:a="http://schemas.openxmlformats.org/drawingml/2006/main">
              <a:ext uri="{FF2B5EF4-FFF2-40B4-BE49-F238E27FC236}">
                <a16:creationId xmlns:a16="http://schemas.microsoft.com/office/drawing/2014/main" id="{E85C913D-5BD8-4D14-9505-0DF07A74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목표·완료 기준은 유지하고, 현재 후보와 남은 문제를 갱신한다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A72BAF-C25D-4EA1-97C5-3D1ACE70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3048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6172"/>
            </a:solidFill>
            <a:prstDash val="solid"/>
          </a:ln>
        </p:spPr>
      </p:sp>
      <p:sp>
        <p:nvSpPr>
          <p:cNvPr id="10" name="모델 A">
            <a:extLst xmlns:a="http://schemas.openxmlformats.org/drawingml/2006/main">
              <a:ext uri="{FF2B5EF4-FFF2-40B4-BE49-F238E27FC236}">
                <a16:creationId xmlns:a16="http://schemas.microsoft.com/office/drawing/2014/main" id="{398B5331-5048-40CC-AADE-336E73A6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38450"/>
            <a:ext cx="2667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모델 A</a:t>
            </a:r>
          </a:p>
        </p:txBody>
      </p:sp>
      <p:sp>
        <p:nvSpPr>
          <p:cNvPr id="11" name="구현 / 수정">
            <a:extLst xmlns:a="http://schemas.openxmlformats.org/drawingml/2006/main">
              <a:ext uri="{FF2B5EF4-FFF2-40B4-BE49-F238E27FC236}">
                <a16:creationId xmlns:a16="http://schemas.microsoft.com/office/drawing/2014/main" id="{A283184D-938C-4404-86BD-B7273692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구현 / 수정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7B9431-647E-4249-BCEA-EE207C1B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24150"/>
            <a:ext cx="3048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6172"/>
            </a:solidFill>
            <a:prstDash val="solid"/>
          </a:ln>
        </p:spPr>
      </p:sp>
      <p:sp>
        <p:nvSpPr>
          <p:cNvPr id="13" name="검증 도구">
            <a:extLst xmlns:a="http://schemas.openxmlformats.org/drawingml/2006/main">
              <a:ext uri="{FF2B5EF4-FFF2-40B4-BE49-F238E27FC236}">
                <a16:creationId xmlns:a16="http://schemas.microsoft.com/office/drawing/2014/main" id="{439EE3EE-3B4E-4F1A-B2F3-542A67FF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38450"/>
            <a:ext cx="2667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검증 도구</a:t>
            </a:r>
          </a:p>
        </p:txBody>
      </p:sp>
      <p:sp>
        <p:nvSpPr>
          <p:cNvPr id="14" name="테스트 / 측정">
            <a:extLst xmlns:a="http://schemas.openxmlformats.org/drawingml/2006/main">
              <a:ext uri="{FF2B5EF4-FFF2-40B4-BE49-F238E27FC236}">
                <a16:creationId xmlns:a16="http://schemas.microsoft.com/office/drawing/2014/main" id="{F5A4602F-55CD-4FCB-A4A3-6AA68EB7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528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테스트 / 측정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51F43E-7A53-4054-8D6B-402649A4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24150"/>
            <a:ext cx="3048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05400"/>
            </a:solidFill>
            <a:prstDash val="solid"/>
          </a:ln>
        </p:spPr>
      </p:sp>
      <p:sp>
        <p:nvSpPr>
          <p:cNvPr id="16" name="모델 B">
            <a:extLst xmlns:a="http://schemas.openxmlformats.org/drawingml/2006/main">
              <a:ext uri="{FF2B5EF4-FFF2-40B4-BE49-F238E27FC236}">
                <a16:creationId xmlns:a16="http://schemas.microsoft.com/office/drawing/2014/main" id="{72160707-CDC3-4AAA-86F1-A74756AC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38450"/>
            <a:ext cx="2667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rPr>
              <a:t>모델 B</a:t>
            </a:r>
          </a:p>
        </p:txBody>
      </p:sp>
      <p:sp>
        <p:nvSpPr>
          <p:cNvPr id="17" name="변경과 근거 검토">
            <a:extLst xmlns:a="http://schemas.openxmlformats.org/drawingml/2006/main">
              <a:ext uri="{FF2B5EF4-FFF2-40B4-BE49-F238E27FC236}">
                <a16:creationId xmlns:a16="http://schemas.microsoft.com/office/drawing/2014/main" id="{3814B76F-E82A-4F70-94A6-D4AC6584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528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변경과 근거 검토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5C21F5-53B7-4212-A9DF-8097821F3CD9}"/>
              </a:ext>
            </a:extLst>
          </p:cNvPr>
          <p:cNvCxnSpPr/>
          <p:nvPr/>
        </p:nvCxnSpPr>
        <p:spPr>
          <a:xfrm xmlns:a="http://schemas.openxmlformats.org/drawingml/2006/main">
            <a:off x="3810000" y="334327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B6172"/>
            </a:solidFill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E90915-0946-4EB7-8AAE-8289C0F3B4E3}"/>
              </a:ext>
            </a:extLst>
          </p:cNvPr>
          <p:cNvCxnSpPr/>
          <p:nvPr/>
        </p:nvCxnSpPr>
        <p:spPr>
          <a:xfrm xmlns:a="http://schemas.openxmlformats.org/drawingml/2006/main">
            <a:off x="7772400" y="334327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B6172"/>
            </a:solidFill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1A617F-259E-4C7D-A66B-0B409CB5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962400"/>
            <a:ext cx="0" cy="466725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80540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C9F751-FFBA-42B9-A39F-C5DFF126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29125"/>
            <a:ext cx="54864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FF0"/>
          </a:solidFill>
          <a:ln xmlns:a="http://schemas.openxmlformats.org/drawingml/2006/main" w="14288">
            <a:solidFill>
              <a:srgbClr val="0B6172"/>
            </a:solidFill>
            <a:prstDash val="solid"/>
          </a:ln>
        </p:spPr>
      </p:sp>
      <p:sp>
        <p:nvSpPr>
          <p:cNvPr id="22" name="근거를 보고 다음 행동 판단">
            <a:extLst xmlns:a="http://schemas.openxmlformats.org/drawingml/2006/main">
              <a:ext uri="{FF2B5EF4-FFF2-40B4-BE49-F238E27FC236}">
                <a16:creationId xmlns:a16="http://schemas.microsoft.com/office/drawing/2014/main" id="{D5327F28-5186-46B6-B1DE-E9EA49AF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72000"/>
            <a:ext cx="510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근거를 보고 다음 행동 판단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19372A-7B79-44E9-BE43-70304AAD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4572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AC9"/>
          </a:solidFill>
          <a:ln xmlns:a="http://schemas.openxmlformats.org/drawingml/2006/main" w="14288">
            <a:solidFill>
              <a:srgbClr val="805400"/>
            </a:solidFill>
            <a:prstDash val="solid"/>
          </a:ln>
        </p:spPr>
      </p:sp>
      <p:sp>
        <p:nvSpPr>
          <p:cNvPr id="24" name="남은 문제 + 수정 요청">
            <a:extLst xmlns:a="http://schemas.openxmlformats.org/drawingml/2006/main">
              <a:ext uri="{FF2B5EF4-FFF2-40B4-BE49-F238E27FC236}">
                <a16:creationId xmlns:a16="http://schemas.microsoft.com/office/drawing/2014/main" id="{22EC32B1-E3E9-4D7D-BF3B-34AC5970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rPr>
              <a:t>남은 문제 + 수정 요청</a:t>
            </a:r>
          </a:p>
        </p:txBody>
      </p: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92FE3C-2E63-425A-8195-E64F7FA1B074}"/>
              </a:ext>
            </a:extLst>
          </p:cNvPr>
          <p:cNvCxnSpPr/>
          <p:nvPr/>
        </p:nvCxnSpPr>
        <p:spPr>
          <a:xfrm xmlns:a="http://schemas.openxmlformats.org/drawingml/2006/main">
            <a:off x="5257800" y="479107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805400"/>
            </a:solidFill>
            <a:head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3EA356-5200-4FB7-A3D0-FA9EBFD28B8E}"/>
              </a:ext>
            </a:extLst>
          </p:cNvPr>
          <p:cNvCxnSpPr/>
          <p:nvPr/>
        </p:nvCxnSpPr>
        <p:spPr>
          <a:xfrm xmlns:a="http://schemas.openxmlformats.org/drawingml/2006/main">
            <a:off x="2133600" y="3962400"/>
            <a:ext cx="0" cy="4667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805400"/>
            </a:solidFill>
            <a:headEnd type="triangle" w="sm" len="sm"/>
          </a:ln>
        </p:spPr>
      </p:cxnSp>
      <p:sp>
        <p:nvSpPr>
          <p:cNvPr id="27" name="미충족이면, 검토 결과를 같은 목표의 다음 수정으로">
            <a:extLst xmlns:a="http://schemas.openxmlformats.org/drawingml/2006/main">
              <a:ext uri="{FF2B5EF4-FFF2-40B4-BE49-F238E27FC236}">
                <a16:creationId xmlns:a16="http://schemas.microsoft.com/office/drawing/2014/main" id="{2DCF002C-4099-48E6-81D6-EEB0A2F1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미충족이면, 검토 결과를 같은 목표의 다음 수정으로</a:t>
            </a:r>
          </a:p>
        </p:txBody>
      </p:sp>
      <p:sp>
        <p:nvSpPr>
          <p:cNvPr id="28" name="Legacy module connection">
            <a:extLst xmlns:a="http://schemas.openxmlformats.org/drawingml/2006/main">
              <a:ext uri="{FF2B5EF4-FFF2-40B4-BE49-F238E27FC236}">
                <a16:creationId xmlns:a16="http://schemas.microsoft.com/office/drawing/2014/main" id="{F788B098-7C4D-4B48-9F05-340AC279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M 연계 · 신규 확장</a:t>
            </a:r>
          </a:p>
        </p:txBody>
      </p:sp>
    </p:spTree>
    <p:extLst>
      <p:ext uri="{BB962C8B-B14F-4D97-AF65-F5344CB8AC3E}">
        <p14:creationId xmlns:p14="http://schemas.microsoft.com/office/powerpoint/2010/main" val="1325392683"/>
      </p:ext>
    </p:extLst>
  </p:cSld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ACT 4 · 루프 운영 설계">
            <a:extLst xmlns:a="http://schemas.openxmlformats.org/drawingml/2006/main">
              <a:ext uri="{FF2B5EF4-FFF2-40B4-BE49-F238E27FC236}">
                <a16:creationId xmlns:a16="http://schemas.microsoft.com/office/drawing/2014/main" id="{BBB60E07-B303-4D54-8664-76AF2008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ACT 4 · 루프 운영 설계</a:t>
            </a:r>
          </a:p>
        </p:txBody>
      </p:sp>
      <p:sp>
        <p:nvSpPr>
          <p:cNvPr id="2" name="S94">
            <a:extLst xmlns:a="http://schemas.openxmlformats.org/drawingml/2006/main">
              <a:ext uri="{FF2B5EF4-FFF2-40B4-BE49-F238E27FC236}">
                <a16:creationId xmlns:a16="http://schemas.microsoft.com/office/drawing/2014/main" id="{301944C4-B45C-466B-A97D-17F9B53A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S94</a:t>
            </a:r>
          </a:p>
        </p:txBody>
      </p:sp>
      <p:sp>
        <p:nvSpPr>
          <p:cNvPr id="3" name="언제 계속하고, 언제 끝낼까?">
            <a:extLst xmlns:a="http://schemas.openxmlformats.org/drawingml/2006/main">
              <a:ext uri="{FF2B5EF4-FFF2-40B4-BE49-F238E27FC236}">
                <a16:creationId xmlns:a16="http://schemas.microsoft.com/office/drawing/2014/main" id="{E5921805-5DFF-4EC0-98E0-D907321F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언제 계속하고, 언제 끝낼까?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A74407-6448-4862-8454-BEF6B70E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5" name="Audience footer 1">
            <a:extLst xmlns:a="http://schemas.openxmlformats.org/drawingml/2006/main">
              <a:ext uri="{FF2B5EF4-FFF2-40B4-BE49-F238E27FC236}">
                <a16:creationId xmlns:a16="http://schemas.microsoft.com/office/drawing/2014/main" id="{C5B64415-E8D7-4794-BF7B-4CFB1EC9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r>
              <a: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 xml:space="preserve">목표 미달 중단은 완료와 다름 · 반복·시간·비용 한도는 미리 정한다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9663EC-C856-4663-846A-D38F9C44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6025"/>
            <a:ext cx="335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6172"/>
            </a:solidFill>
            <a:prstDash val="solid"/>
          </a:ln>
        </p:spPr>
      </p:sp>
      <p:sp>
        <p:nvSpPr>
          <p:cNvPr id="8" name="기준 충족">
            <a:extLst xmlns:a="http://schemas.openxmlformats.org/drawingml/2006/main">
              <a:ext uri="{FF2B5EF4-FFF2-40B4-BE49-F238E27FC236}">
                <a16:creationId xmlns:a16="http://schemas.microsoft.com/office/drawing/2014/main" id="{FDAE921F-C897-4EA6-886C-C98517D0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기준 충족</a:t>
            </a:r>
          </a:p>
        </p:txBody>
      </p:sp>
      <p:sp>
        <p:nvSpPr>
          <p:cNvPr id="9" name="완료">
            <a:extLst xmlns:a="http://schemas.openxmlformats.org/drawingml/2006/main">
              <a:ext uri="{FF2B5EF4-FFF2-40B4-BE49-F238E27FC236}">
                <a16:creationId xmlns:a16="http://schemas.microsoft.com/office/drawing/2014/main" id="{4753A6FE-1AD2-495D-B190-EF298F32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335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0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0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0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0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0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0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0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0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0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10" name="확인 범위와 남은 한계 보고">
            <a:extLst xmlns:a="http://schemas.openxmlformats.org/drawingml/2006/main">
              <a:ext uri="{FF2B5EF4-FFF2-40B4-BE49-F238E27FC236}">
                <a16:creationId xmlns:a16="http://schemas.microsoft.com/office/drawing/2014/main" id="{567C8ED0-F9DC-4D4A-BE92-0B52C1FD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335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확인 범위와 남은 한계 보고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34C998-1608-4D4C-8C6E-DD9AC3E6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86025"/>
            <a:ext cx="335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5400"/>
            </a:solidFill>
            <a:prstDash val="solid"/>
          </a:ln>
        </p:spPr>
      </p:sp>
      <p:sp>
        <p:nvSpPr>
          <p:cNvPr id="12" name="미충족 · 수정 가능">
            <a:extLst xmlns:a="http://schemas.openxmlformats.org/drawingml/2006/main">
              <a:ext uri="{FF2B5EF4-FFF2-40B4-BE49-F238E27FC236}">
                <a16:creationId xmlns:a16="http://schemas.microsoft.com/office/drawing/2014/main" id="{240AA2B0-EF1C-4FBB-AF4F-33432C24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860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rPr>
              <a:t>미충족 · 수정 가능</a:t>
            </a:r>
          </a:p>
        </p:txBody>
      </p:sp>
      <p:sp>
        <p:nvSpPr>
          <p:cNvPr id="13" name="다음 수정">
            <a:extLst xmlns:a="http://schemas.openxmlformats.org/drawingml/2006/main">
              <a:ext uri="{FF2B5EF4-FFF2-40B4-BE49-F238E27FC236}">
                <a16:creationId xmlns:a16="http://schemas.microsoft.com/office/drawing/2014/main" id="{8C3BFAB1-4308-45EC-8F0D-BC9F6D8F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76625"/>
            <a:ext cx="335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0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0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0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0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0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0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0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0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0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다음 수정</a:t>
            </a:r>
          </a:p>
        </p:txBody>
      </p:sp>
      <p:sp>
        <p:nvSpPr>
          <p:cNvPr id="14" name="남은 지적과 근거 전달">
            <a:extLst xmlns:a="http://schemas.openxmlformats.org/drawingml/2006/main">
              <a:ext uri="{FF2B5EF4-FFF2-40B4-BE49-F238E27FC236}">
                <a16:creationId xmlns:a16="http://schemas.microsoft.com/office/drawing/2014/main" id="{6D087AC8-BDE0-49BA-8A96-4594C845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24375"/>
            <a:ext cx="335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남은 지적과 근거 전달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8D7652-95B7-4639-8A93-24644E3E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86025"/>
            <a:ext cx="335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42318"/>
            </a:solidFill>
            <a:prstDash val="solid"/>
          </a:ln>
        </p:spPr>
      </p:sp>
      <p:sp>
        <p:nvSpPr>
          <p:cNvPr id="16" name="막힘 · 한도 도달">
            <a:extLst xmlns:a="http://schemas.openxmlformats.org/drawingml/2006/main">
              <a:ext uri="{FF2B5EF4-FFF2-40B4-BE49-F238E27FC236}">
                <a16:creationId xmlns:a16="http://schemas.microsoft.com/office/drawing/2014/main" id="{83ECCC93-7EC5-401A-BE8B-FCA6B285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860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막힘 · 한도 도달</a:t>
            </a:r>
          </a:p>
        </p:txBody>
      </p:sp>
      <p:sp>
        <p:nvSpPr>
          <p:cNvPr id="17" name="사람에게 확인">
            <a:extLst xmlns:a="http://schemas.openxmlformats.org/drawingml/2006/main">
              <a:ext uri="{FF2B5EF4-FFF2-40B4-BE49-F238E27FC236}">
                <a16:creationId xmlns:a16="http://schemas.microsoft.com/office/drawing/2014/main" id="{07582AF4-FA14-46DA-83C8-BEC08AA4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76625"/>
            <a:ext cx="335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0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0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0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0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0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0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0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0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0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사람에게 확인</a:t>
            </a:r>
          </a:p>
        </p:txBody>
      </p:sp>
      <p:sp>
        <p:nvSpPr>
          <p:cNvPr id="18" name="현재 상태와 미해결 문제 보존">
            <a:extLst xmlns:a="http://schemas.openxmlformats.org/drawingml/2006/main">
              <a:ext uri="{FF2B5EF4-FFF2-40B4-BE49-F238E27FC236}">
                <a16:creationId xmlns:a16="http://schemas.microsoft.com/office/drawing/2014/main" id="{1EE2EB55-808C-4919-ABAC-1F800BF2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24375"/>
            <a:ext cx="335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현재 상태와 미해결 문제 보존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4CC75D-4C3C-4FB4-8B93-8782E6EF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91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3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20" name="Practical application tip badge">
            <a:extLst xmlns:a="http://schemas.openxmlformats.org/drawingml/2006/main">
              <a:ext uri="{FF2B5EF4-FFF2-40B4-BE49-F238E27FC236}">
                <a16:creationId xmlns:a16="http://schemas.microsoft.com/office/drawing/2014/main" id="{40FFA611-5E30-4397-8F34-BB6208A1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9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실무 적용 팁 · 검증·개선</a:t>
            </a:r>
          </a:p>
        </p:txBody>
      </p:sp>
      <p:sp>
        <p:nvSpPr>
          <p:cNvPr id="21" name="Legacy module connection">
            <a:extLst xmlns:a="http://schemas.openxmlformats.org/drawingml/2006/main">
              <a:ext uri="{FF2B5EF4-FFF2-40B4-BE49-F238E27FC236}">
                <a16:creationId xmlns:a16="http://schemas.microsoft.com/office/drawing/2014/main" id="{1386A8A4-1BC3-42A6-8D9E-5359DD3E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M 연계 · 신규 확장</a:t>
            </a:r>
          </a:p>
        </p:txBody>
      </p:sp>
    </p:spTree>
    <p:extLst>
      <p:ext uri="{BB962C8B-B14F-4D97-AF65-F5344CB8AC3E}">
        <p14:creationId xmlns:p14="http://schemas.microsoft.com/office/powerpoint/2010/main" val="78498350"/>
      </p:ext>
    </p:extLst>
  </p:cSld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CT 4 · 연구 근거">
            <a:extLst xmlns:a="http://schemas.openxmlformats.org/drawingml/2006/main">
              <a:ext uri="{FF2B5EF4-FFF2-40B4-BE49-F238E27FC236}">
                <a16:creationId xmlns:a16="http://schemas.microsoft.com/office/drawing/2014/main" id="{A8E63A20-8BDE-4DB7-8282-F17AD599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ACT 4 · 연구 근거</a:t>
            </a:r>
          </a:p>
        </p:txBody>
      </p:sp>
      <p:sp>
        <p:nvSpPr>
          <p:cNvPr id="2" name="S95">
            <a:extLst xmlns:a="http://schemas.openxmlformats.org/drawingml/2006/main">
              <a:ext uri="{FF2B5EF4-FFF2-40B4-BE49-F238E27FC236}">
                <a16:creationId xmlns:a16="http://schemas.microsoft.com/office/drawing/2014/main" id="{ECBB2BCE-7529-4402-B048-BC81FFBB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S95</a:t>
            </a:r>
          </a:p>
        </p:txBody>
      </p:sp>
      <p:sp>
        <p:nvSpPr>
          <p:cNvPr id="3" name="구현한 모델에게 다시 물으면 충분할까?">
            <a:extLst xmlns:a="http://schemas.openxmlformats.org/drawingml/2006/main">
              <a:ext uri="{FF2B5EF4-FFF2-40B4-BE49-F238E27FC236}">
                <a16:creationId xmlns:a16="http://schemas.microsoft.com/office/drawing/2014/main" id="{39930669-1D38-498E-AC8E-B69F5905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구현한 모델에게 다시 물으면 충분할까?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738220-15E2-464B-9D55-AAE0567E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5" name="Audience footer 1">
            <a:extLst xmlns:a="http://schemas.openxmlformats.org/drawingml/2006/main">
              <a:ext uri="{FF2B5EF4-FFF2-40B4-BE49-F238E27FC236}">
                <a16:creationId xmlns:a16="http://schemas.microsoft.com/office/drawing/2014/main" id="{0058A341-4CC2-4E73-AE9C-466EC7A4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r>
              <a: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 xml:space="preserve">Self-Refine(2023) / Huang et al.(2024)</a:t>
            </a:r>
          </a:p>
        </p:txBody>
      </p:sp>
      <p:sp>
        <p:nvSpPr>
          <p:cNvPr id="6" name="Audience footer 2">
            <a:extLst xmlns:a="http://schemas.openxmlformats.org/drawingml/2006/main">
              <a:ext uri="{FF2B5EF4-FFF2-40B4-BE49-F238E27FC236}">
                <a16:creationId xmlns:a16="http://schemas.microsoft.com/office/drawing/2014/main" id="{C2AA630C-C731-41BA-B25F-391912FF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 xml:space="preserve">과제·모델 조건이 서로 다른 연구 결과</a:t>
            </a:r>
          </a:p>
        </p:txBody>
      </p:sp>
      <p:sp>
        <p:nvSpPr>
          <p:cNvPr id="7" name="같은 모델의 피드백·수정">
            <a:extLst xmlns:a="http://schemas.openxmlformats.org/drawingml/2006/main">
              <a:ext uri="{FF2B5EF4-FFF2-40B4-BE49-F238E27FC236}">
                <a16:creationId xmlns:a16="http://schemas.microsoft.com/office/drawing/2014/main" id="{0A41C143-7BB3-4C90-B632-82E5640F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4876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같은 모델의 피드백·수정</a:t>
            </a:r>
          </a:p>
        </p:txBody>
      </p:sp>
      <p:sp>
        <p:nvSpPr>
          <p:cNvPr id="8" name="근거 없이 다시 생각하기">
            <a:extLst xmlns:a="http://schemas.openxmlformats.org/drawingml/2006/main">
              <a:ext uri="{FF2B5EF4-FFF2-40B4-BE49-F238E27FC236}">
                <a16:creationId xmlns:a16="http://schemas.microsoft.com/office/drawing/2014/main" id="{ACACB20E-2490-42FF-9926-7451214D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33625"/>
            <a:ext cx="4876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0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0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0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0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0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0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0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0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0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rPr>
              <a:t>근거 없이 다시 생각하기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0A3FC5-6464-4BAE-87B4-37124EF9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617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63FF4B-5666-4976-A0F0-A1A082C9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5275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5400"/>
            </a:solidFill>
            <a:prstDash val="solid"/>
          </a:ln>
        </p:spPr>
      </p:sp>
      <p:sp>
        <p:nvSpPr>
          <p:cNvPr id="11" name="Self-Refine&#10;여러 과제에서 개선 보고">
            <a:extLst xmlns:a="http://schemas.openxmlformats.org/drawingml/2006/main">
              <a:ext uri="{FF2B5EF4-FFF2-40B4-BE49-F238E27FC236}">
                <a16:creationId xmlns:a16="http://schemas.microsoft.com/office/drawing/2014/main" id="{3EE589C9-CE36-49C5-B064-7F2B111B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4876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Self-Refine</a:t>
            </a:r>
          </a:p>
          <a:p xmlns:a="http://schemas.openxmlformats.org/drawingml/2006/main">
            <a: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여러 과제에서 개선 보고</a:t>
            </a:r>
          </a:p>
        </p:txBody>
      </p:sp>
      <p:sp>
        <p:nvSpPr>
          <p:cNvPr id="12" name="추론 자기 교정 연구&#10;악화되는 경우도 보고">
            <a:extLst xmlns:a="http://schemas.openxmlformats.org/drawingml/2006/main">
              <a:ext uri="{FF2B5EF4-FFF2-40B4-BE49-F238E27FC236}">
                <a16:creationId xmlns:a16="http://schemas.microsoft.com/office/drawing/2014/main" id="{EA39D173-648F-4431-90EF-8FCEF229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52800"/>
            <a:ext cx="4876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추론 자기 교정 연구</a:t>
            </a:r>
          </a:p>
          <a:p xmlns:a="http://schemas.openxmlformats.org/drawingml/2006/main">
            <a: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악화되는 경우도 보고</a:t>
            </a:r>
          </a:p>
        </p:txBody>
      </p:sp>
      <p:sp>
        <p:nvSpPr>
          <p:cNvPr id="13" name="검토 방식과 피드백의 근거를 설계해야 한다">
            <a:extLst xmlns:a="http://schemas.openxmlformats.org/drawingml/2006/main">
              <a:ext uri="{FF2B5EF4-FFF2-40B4-BE49-F238E27FC236}">
                <a16:creationId xmlns:a16="http://schemas.microsoft.com/office/drawing/2014/main" id="{F8BFB656-B081-487E-9B2F-FA8EDD06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5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5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5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5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5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5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5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5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5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검토 방식과 피드백의 근거를 설계해야 한다</a:t>
            </a:r>
          </a:p>
        </p:txBody>
      </p:sp>
      <p:sp>
        <p:nvSpPr>
          <p:cNvPr id="14" name="Legacy module connection">
            <a:extLst xmlns:a="http://schemas.openxmlformats.org/drawingml/2006/main">
              <a:ext uri="{FF2B5EF4-FFF2-40B4-BE49-F238E27FC236}">
                <a16:creationId xmlns:a16="http://schemas.microsoft.com/office/drawing/2014/main" id="{D48BA209-83A6-4310-AF2A-7077FA66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M 연계 · 신규 확장</a:t>
            </a:r>
          </a:p>
        </p:txBody>
      </p:sp>
    </p:spTree>
    <p:extLst>
      <p:ext uri="{BB962C8B-B14F-4D97-AF65-F5344CB8AC3E}">
        <p14:creationId xmlns:p14="http://schemas.microsoft.com/office/powerpoint/2010/main" val="231055247"/>
      </p:ext>
    </p:extLst>
  </p:cSld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ACT 4 · 연구 근거">
            <a:extLst xmlns:a="http://schemas.openxmlformats.org/drawingml/2006/main">
              <a:ext uri="{FF2B5EF4-FFF2-40B4-BE49-F238E27FC236}">
                <a16:creationId xmlns:a16="http://schemas.microsoft.com/office/drawing/2014/main" id="{71B597B6-4981-470D-97F0-F8349A12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ACT 4 · 연구 근거</a:t>
            </a:r>
          </a:p>
        </p:txBody>
      </p:sp>
      <p:sp>
        <p:nvSpPr>
          <p:cNvPr id="2" name="S96">
            <a:extLst xmlns:a="http://schemas.openxmlformats.org/drawingml/2006/main">
              <a:ext uri="{FF2B5EF4-FFF2-40B4-BE49-F238E27FC236}">
                <a16:creationId xmlns:a16="http://schemas.microsoft.com/office/drawing/2014/main" id="{BCF9C930-2C50-48E0-B65B-546121CC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S96</a:t>
            </a:r>
          </a:p>
        </p:txBody>
      </p:sp>
      <p:sp>
        <p:nvSpPr>
          <p:cNvPr id="3" name="다른 모델의 관점이 도움이 된 실험">
            <a:extLst xmlns:a="http://schemas.openxmlformats.org/drawingml/2006/main">
              <a:ext uri="{FF2B5EF4-FFF2-40B4-BE49-F238E27FC236}">
                <a16:creationId xmlns:a16="http://schemas.microsoft.com/office/drawing/2014/main" id="{348618B2-8FA4-401F-8BB7-40BF7C91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다른 모델의 관점이 도움이 된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57AAC7-D6F5-4140-BDD4-7546781F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5" name="Audience footer 1">
            <a:extLst xmlns:a="http://schemas.openxmlformats.org/drawingml/2006/main">
              <a:ext uri="{FF2B5EF4-FFF2-40B4-BE49-F238E27FC236}">
                <a16:creationId xmlns:a16="http://schemas.microsoft.com/office/drawing/2014/main" id="{61163733-9F8B-4C09-8A68-016EE938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r>
              <a: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 xml:space="preserve">ReConcile(2024) · StrategyQA 질의응답 실험</a:t>
            </a:r>
          </a:p>
        </p:txBody>
      </p:sp>
      <p:sp>
        <p:nvSpPr>
          <p:cNvPr id="7" name="정확도 (%) · 같은 토론 방식에서 모델 구성을 비교">
            <a:extLst xmlns:a="http://schemas.openxmlformats.org/drawingml/2006/main">
              <a:ext uri="{FF2B5EF4-FFF2-40B4-BE49-F238E27FC236}">
                <a16:creationId xmlns:a16="http://schemas.microsoft.com/office/drawing/2014/main" id="{FE358860-83A9-4BFF-865C-6846F4B3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정확도 (%) · 같은 토론 방식에서 모델 구성을 비교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8994F83C-05A8-44DB-AB4B-FC74CE3D66AD}"/>
              </a:ext>
            </a:extLst>
          </p:cNvPr>
          <p:cNvGraphicFramePr/>
          <p:nvPr/>
        </p:nvGraphicFramePr>
        <p:xfrm>
          <a:off xmlns:a="http://schemas.openxmlformats.org/drawingml/2006/main" x="609600" y="2571750"/>
          <a:ext xmlns:a="http://schemas.openxmlformats.org/drawingml/2006/main" cx="742950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426dc99ff94401e"/>
          </a:graphicData>
        </a:graphic>
      </p:graphicFrame>
      <p:sp>
        <p:nvSpPr>
          <p:cNvPr id="9" name="+6.8%p">
            <a:extLst xmlns:a="http://schemas.openxmlformats.org/drawingml/2006/main">
              <a:ext uri="{FF2B5EF4-FFF2-40B4-BE49-F238E27FC236}">
                <a16:creationId xmlns:a16="http://schemas.microsoft.com/office/drawing/2014/main" id="{1988106C-5811-42A4-8690-133AF995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95600"/>
            <a:ext cx="30099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3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43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43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43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43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43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43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43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43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43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+6.8%p</a:t>
            </a:r>
          </a:p>
        </p:txBody>
      </p:sp>
      <p:sp>
        <p:nvSpPr>
          <p:cNvPr id="10" name="연구된 조합에서의 차이">
            <a:extLst xmlns:a="http://schemas.openxmlformats.org/drawingml/2006/main">
              <a:ext uri="{FF2B5EF4-FFF2-40B4-BE49-F238E27FC236}">
                <a16:creationId xmlns:a16="http://schemas.microsoft.com/office/drawing/2014/main" id="{F79403D1-1E2A-46EB-9D4F-395A7570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86200"/>
            <a:ext cx="3009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연구된 조합에서의 차이</a:t>
            </a:r>
          </a:p>
        </p:txBody>
      </p:sp>
      <p:sp>
        <p:nvSpPr>
          <p:cNvPr id="11" name="“다른 모델이면 항상 좋다”는 결론은 아니다">
            <a:extLst xmlns:a="http://schemas.openxmlformats.org/drawingml/2006/main">
              <a:ext uri="{FF2B5EF4-FFF2-40B4-BE49-F238E27FC236}">
                <a16:creationId xmlns:a16="http://schemas.microsoft.com/office/drawing/2014/main" id="{61BCA6EC-919A-4EA9-80BF-F7B18B4E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“다른 모델이면 항상 좋다”는 결론은 아니다</a:t>
            </a:r>
          </a:p>
        </p:txBody>
      </p:sp>
      <p:sp>
        <p:nvSpPr>
          <p:cNvPr id="12" name="Legacy module connection">
            <a:extLst xmlns:a="http://schemas.openxmlformats.org/drawingml/2006/main">
              <a:ext uri="{FF2B5EF4-FFF2-40B4-BE49-F238E27FC236}">
                <a16:creationId xmlns:a16="http://schemas.microsoft.com/office/drawing/2014/main" id="{26DFD19A-5EF2-40EB-988C-C09EBB9A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M 연계 · 신규 확장</a:t>
            </a:r>
          </a:p>
        </p:txBody>
      </p:sp>
    </p:spTree>
    <p:extLst>
      <p:ext uri="{BB962C8B-B14F-4D97-AF65-F5344CB8AC3E}">
        <p14:creationId xmlns:p14="http://schemas.microsoft.com/office/powerpoint/2010/main" val="398623293"/>
      </p:ext>
    </p:extLst>
  </p:cSld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ACT 4 · 연구 근거">
            <a:extLst xmlns:a="http://schemas.openxmlformats.org/drawingml/2006/main">
              <a:ext uri="{FF2B5EF4-FFF2-40B4-BE49-F238E27FC236}">
                <a16:creationId xmlns:a16="http://schemas.microsoft.com/office/drawing/2014/main" id="{33CAA73C-6DD4-4245-8C53-B7039D44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ACT 4 · 연구 근거</a:t>
            </a:r>
          </a:p>
        </p:txBody>
      </p:sp>
      <p:sp>
        <p:nvSpPr>
          <p:cNvPr id="2" name="S97">
            <a:extLst xmlns:a="http://schemas.openxmlformats.org/drawingml/2006/main">
              <a:ext uri="{FF2B5EF4-FFF2-40B4-BE49-F238E27FC236}">
                <a16:creationId xmlns:a16="http://schemas.microsoft.com/office/drawing/2014/main" id="{AD503DE7-81A8-4D9B-A14B-D3497CC0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S97</a:t>
            </a:r>
          </a:p>
        </p:txBody>
      </p:sp>
      <p:sp>
        <p:nvSpPr>
          <p:cNvPr id="3" name="잘 만드는 능력과 잘 검토하는 능력">
            <a:extLst xmlns:a="http://schemas.openxmlformats.org/drawingml/2006/main">
              <a:ext uri="{FF2B5EF4-FFF2-40B4-BE49-F238E27FC236}">
                <a16:creationId xmlns:a16="http://schemas.microsoft.com/office/drawing/2014/main" id="{C4EDE421-0BC5-4F9C-B481-24E8CBDA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잘 만드는 능력과 잘 검토하는 능력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40AA5F-DC6A-41F3-B406-FC121091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5" name="Audience footer 1">
            <a:extLst xmlns:a="http://schemas.openxmlformats.org/drawingml/2006/main">
              <a:ext uri="{FF2B5EF4-FFF2-40B4-BE49-F238E27FC236}">
                <a16:creationId xmlns:a16="http://schemas.microsoft.com/office/drawing/2014/main" id="{E15E4797-0076-4E9B-8E8E-BB04085C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r>
              <a: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 xml:space="preserve">CriticBench(2024) · 생성·검토 능력 평가</a:t>
            </a:r>
          </a:p>
        </p:txBody>
      </p:sp>
      <p:sp>
        <p:nvSpPr>
          <p:cNvPr id="6" name="Audience footer 2">
            <a:extLst xmlns:a="http://schemas.openxmlformats.org/drawingml/2006/main">
              <a:ext uri="{FF2B5EF4-FFF2-40B4-BE49-F238E27FC236}">
                <a16:creationId xmlns:a16="http://schemas.microsoft.com/office/drawing/2014/main" id="{3564FC21-5145-4FF0-85FA-2FCFF063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 xml:space="preserve">연구에 포함된 모델·과제 범위의 결과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88BDD1-3645-41AF-BEB3-1B70940E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335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6172"/>
            </a:solidFill>
            <a:prstDash val="solid"/>
          </a:ln>
        </p:spPr>
      </p:sp>
      <p:sp>
        <p:nvSpPr>
          <p:cNvPr id="8" name="생성">
            <a:extLst xmlns:a="http://schemas.openxmlformats.org/drawingml/2006/main">
              <a:ext uri="{FF2B5EF4-FFF2-40B4-BE49-F238E27FC236}">
                <a16:creationId xmlns:a16="http://schemas.microsoft.com/office/drawing/2014/main" id="{708FFF67-6D1C-4C1E-AA7E-EF94D80F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335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6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6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6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6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6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6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6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6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6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6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생성</a:t>
            </a:r>
          </a:p>
        </p:txBody>
      </p:sp>
      <p:sp>
        <p:nvSpPr>
          <p:cNvPr id="9" name="답을 만든다">
            <a:extLst xmlns:a="http://schemas.openxmlformats.org/drawingml/2006/main">
              <a:ext uri="{FF2B5EF4-FFF2-40B4-BE49-F238E27FC236}">
                <a16:creationId xmlns:a16="http://schemas.microsoft.com/office/drawing/2014/main" id="{64B777EE-23FB-4154-958E-70B33284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335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답을 만든다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0483B9-560B-46AB-B323-79B9704A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76500"/>
            <a:ext cx="335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6172"/>
            </a:solidFill>
            <a:prstDash val="solid"/>
          </a:ln>
        </p:spPr>
      </p:sp>
      <p:sp>
        <p:nvSpPr>
          <p:cNvPr id="11" name="검토">
            <a:extLst xmlns:a="http://schemas.openxmlformats.org/drawingml/2006/main">
              <a:ext uri="{FF2B5EF4-FFF2-40B4-BE49-F238E27FC236}">
                <a16:creationId xmlns:a16="http://schemas.microsoft.com/office/drawing/2014/main" id="{2D94E11D-A6A8-4C61-95A6-BA8188F9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76525"/>
            <a:ext cx="335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6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6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6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6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6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6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6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6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6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6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검토</a:t>
            </a:r>
          </a:p>
        </p:txBody>
      </p:sp>
      <p:sp>
        <p:nvSpPr>
          <p:cNvPr id="12" name="문제를 찾는다">
            <a:extLst xmlns:a="http://schemas.openxmlformats.org/drawingml/2006/main">
              <a:ext uri="{FF2B5EF4-FFF2-40B4-BE49-F238E27FC236}">
                <a16:creationId xmlns:a16="http://schemas.microsoft.com/office/drawing/2014/main" id="{C03AF70A-CE21-4B5C-8CDC-C55DC3CA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05175"/>
            <a:ext cx="335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문제를 찾는다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17DD5A-D8CC-4EE0-9C65-ED1854DC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76500"/>
            <a:ext cx="335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6172"/>
            </a:solidFill>
            <a:prstDash val="solid"/>
          </a:ln>
        </p:spPr>
      </p:sp>
      <p:sp>
        <p:nvSpPr>
          <p:cNvPr id="14" name="수정">
            <a:extLst xmlns:a="http://schemas.openxmlformats.org/drawingml/2006/main">
              <a:ext uri="{FF2B5EF4-FFF2-40B4-BE49-F238E27FC236}">
                <a16:creationId xmlns:a16="http://schemas.microsoft.com/office/drawing/2014/main" id="{850953B2-B4AE-434F-B173-AE2E3F5A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76525"/>
            <a:ext cx="335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6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6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6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6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6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6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6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6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6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6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수정</a:t>
            </a:r>
          </a:p>
        </p:txBody>
      </p:sp>
      <p:sp>
        <p:nvSpPr>
          <p:cNvPr id="15" name="답을 고친다">
            <a:extLst xmlns:a="http://schemas.openxmlformats.org/drawingml/2006/main">
              <a:ext uri="{FF2B5EF4-FFF2-40B4-BE49-F238E27FC236}">
                <a16:creationId xmlns:a16="http://schemas.microsoft.com/office/drawing/2014/main" id="{4E87A776-016D-4833-9820-A46853F9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05175"/>
            <a:ext cx="335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답을 고친다</a:t>
            </a:r>
          </a:p>
        </p:txBody>
      </p:sp>
      <p:sp>
        <p:nvSpPr>
          <p:cNvPr id="16" name="모델의 세 능력이 항상 일치하지 않았다">
            <a:extLst xmlns:a="http://schemas.openxmlformats.org/drawingml/2006/main">
              <a:ext uri="{FF2B5EF4-FFF2-40B4-BE49-F238E27FC236}">
                <a16:creationId xmlns:a16="http://schemas.microsoft.com/office/drawing/2014/main" id="{6FD5F2F3-31DD-46DD-8995-25010893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모델의 세 능력이 항상 일치하지 않았다</a:t>
            </a:r>
          </a:p>
        </p:txBody>
      </p:sp>
      <p:sp>
        <p:nvSpPr>
          <p:cNvPr id="17" name="일부 다른 모델의 검토가, 자기 검토보다 나은 경우를 보고">
            <a:extLst xmlns:a="http://schemas.openxmlformats.org/drawingml/2006/main">
              <a:ext uri="{FF2B5EF4-FFF2-40B4-BE49-F238E27FC236}">
                <a16:creationId xmlns:a16="http://schemas.microsoft.com/office/drawing/2014/main" id="{8C082910-40D3-4885-A3D7-B2E26D78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일부 다른 모델의 검토가, 자기 검토보다 나은 경우를 보고</a:t>
            </a:r>
          </a:p>
        </p:txBody>
      </p:sp>
      <p:sp>
        <p:nvSpPr>
          <p:cNvPr id="18" name="Legacy module connection">
            <a:extLst xmlns:a="http://schemas.openxmlformats.org/drawingml/2006/main">
              <a:ext uri="{FF2B5EF4-FFF2-40B4-BE49-F238E27FC236}">
                <a16:creationId xmlns:a16="http://schemas.microsoft.com/office/drawing/2014/main" id="{D4690D70-21C6-4171-B070-5DE5B0CA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M 연계 · 신규 확장</a:t>
            </a:r>
          </a:p>
        </p:txBody>
      </p:sp>
    </p:spTree>
    <p:extLst>
      <p:ext uri="{BB962C8B-B14F-4D97-AF65-F5344CB8AC3E}">
        <p14:creationId xmlns:p14="http://schemas.microsoft.com/office/powerpoint/2010/main" val="661687674"/>
      </p:ext>
    </p:extLst>
  </p:cSld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ACT 4 · 루프 운영 설계">
            <a:extLst xmlns:a="http://schemas.openxmlformats.org/drawingml/2006/main">
              <a:ext uri="{FF2B5EF4-FFF2-40B4-BE49-F238E27FC236}">
                <a16:creationId xmlns:a16="http://schemas.microsoft.com/office/drawing/2014/main" id="{CA7416F0-952F-4753-934F-0E3AEAAE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ACT 4 · 루프 운영 설계</a:t>
            </a:r>
          </a:p>
        </p:txBody>
      </p:sp>
      <p:sp>
        <p:nvSpPr>
          <p:cNvPr id="2" name="S98">
            <a:extLst xmlns:a="http://schemas.openxmlformats.org/drawingml/2006/main">
              <a:ext uri="{FF2B5EF4-FFF2-40B4-BE49-F238E27FC236}">
                <a16:creationId xmlns:a16="http://schemas.microsoft.com/office/drawing/2014/main" id="{1C9215A4-C5E9-4B3C-AD38-705C9CAC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S98</a:t>
            </a:r>
          </a:p>
        </p:txBody>
      </p:sp>
      <p:sp>
        <p:nvSpPr>
          <p:cNvPr id="3" name="구현과 검토에 모델을 어떻게 나눌까?">
            <a:extLst xmlns:a="http://schemas.openxmlformats.org/drawingml/2006/main">
              <a:ext uri="{FF2B5EF4-FFF2-40B4-BE49-F238E27FC236}">
                <a16:creationId xmlns:a16="http://schemas.microsoft.com/office/drawing/2014/main" id="{F736B2BF-0601-4EA3-98D5-3C441385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구현과 검토에 모델을 어떻게 나눌까?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BAB979-CE49-4CB2-B8E0-27511EFE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5" name="Audience footer 1">
            <a:extLst xmlns:a="http://schemas.openxmlformats.org/drawingml/2006/main">
              <a:ext uri="{FF2B5EF4-FFF2-40B4-BE49-F238E27FC236}">
                <a16:creationId xmlns:a16="http://schemas.microsoft.com/office/drawing/2014/main" id="{ACF2B65E-1757-4B59-A9ED-87DB43B6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r>
              <a: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 xml:space="preserve">역할 배치 예시 · 실제 조합의 효과는 별도 평가</a:t>
            </a:r>
          </a:p>
        </p:txBody>
      </p:sp>
      <p:sp>
        <p:nvSpPr>
          <p:cNvPr id="7" name="역할만 나누는 구성">
            <a:extLst xmlns:a="http://schemas.openxmlformats.org/drawingml/2006/main">
              <a:ext uri="{FF2B5EF4-FFF2-40B4-BE49-F238E27FC236}">
                <a16:creationId xmlns:a16="http://schemas.microsoft.com/office/drawing/2014/main" id="{E2E0651F-F36E-40B3-AA51-BB908F72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487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역할만 나누는 구성</a:t>
            </a:r>
          </a:p>
        </p:txBody>
      </p:sp>
      <p:sp>
        <p:nvSpPr>
          <p:cNvPr id="8" name="다른 모델로 나누는 구성">
            <a:extLst xmlns:a="http://schemas.openxmlformats.org/drawingml/2006/main">
              <a:ext uri="{FF2B5EF4-FFF2-40B4-BE49-F238E27FC236}">
                <a16:creationId xmlns:a16="http://schemas.microsoft.com/office/drawing/2014/main" id="{CE2F77E4-42A1-4510-87B1-A90A13C7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76475"/>
            <a:ext cx="487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다른 모델로 나누는 구성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746E51-24B9-48F3-A6C1-D7EF8D2F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6172"/>
            </a:solidFill>
            <a:prstDash val="solid"/>
          </a:ln>
        </p:spPr>
      </p:sp>
      <p:sp>
        <p:nvSpPr>
          <p:cNvPr id="10" name="모델 A">
            <a:extLst xmlns:a="http://schemas.openxmlformats.org/drawingml/2006/main">
              <a:ext uri="{FF2B5EF4-FFF2-40B4-BE49-F238E27FC236}">
                <a16:creationId xmlns:a16="http://schemas.microsoft.com/office/drawing/2014/main" id="{CD8BF5E4-95DE-4860-A418-C0CF98A3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1809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모델 A</a:t>
            </a:r>
          </a:p>
        </p:txBody>
      </p:sp>
      <p:sp>
        <p:nvSpPr>
          <p:cNvPr id="11" name="구현">
            <a:extLst xmlns:a="http://schemas.openxmlformats.org/drawingml/2006/main">
              <a:ext uri="{FF2B5EF4-FFF2-40B4-BE49-F238E27FC236}">
                <a16:creationId xmlns:a16="http://schemas.microsoft.com/office/drawing/2014/main" id="{1D986E50-509E-460D-8BBC-5C8CF8F1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구현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2D90F5-5396-4A85-91E7-F25E3803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086100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6172"/>
            </a:solidFill>
            <a:prstDash val="solid"/>
          </a:ln>
        </p:spPr>
      </p:sp>
      <p:sp>
        <p:nvSpPr>
          <p:cNvPr id="13" name="모델 A">
            <a:extLst xmlns:a="http://schemas.openxmlformats.org/drawingml/2006/main">
              <a:ext uri="{FF2B5EF4-FFF2-40B4-BE49-F238E27FC236}">
                <a16:creationId xmlns:a16="http://schemas.microsoft.com/office/drawing/2014/main" id="{AA258C45-FBF2-4559-B1D4-747107CE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00400"/>
            <a:ext cx="1809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모델 A</a:t>
            </a:r>
          </a:p>
        </p:txBody>
      </p:sp>
      <p:sp>
        <p:nvSpPr>
          <p:cNvPr id="14" name="검토">
            <a:extLst xmlns:a="http://schemas.openxmlformats.org/drawingml/2006/main">
              <a:ext uri="{FF2B5EF4-FFF2-40B4-BE49-F238E27FC236}">
                <a16:creationId xmlns:a16="http://schemas.microsoft.com/office/drawing/2014/main" id="{CC9FC000-AA48-4D51-BDE5-C8EFB5F5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7147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검토</a:t>
            </a:r>
          </a:p>
        </p:txBody>
      </p: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0521D0-0B91-4077-91BD-94D159E6FC93}"/>
              </a:ext>
            </a:extLst>
          </p:cNvPr>
          <p:cNvCxnSpPr/>
          <p:nvPr/>
        </p:nvCxnSpPr>
        <p:spPr>
          <a:xfrm xmlns:a="http://schemas.openxmlformats.org/drawingml/2006/main">
            <a:off x="2914650" y="37052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B6172"/>
            </a:solidFill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F041F4-2E3A-429C-984E-79E7C7B7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86100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6172"/>
            </a:solidFill>
            <a:prstDash val="solid"/>
          </a:ln>
        </p:spPr>
      </p:sp>
      <p:sp>
        <p:nvSpPr>
          <p:cNvPr id="17" name="모델 A">
            <a:extLst xmlns:a="http://schemas.openxmlformats.org/drawingml/2006/main">
              <a:ext uri="{FF2B5EF4-FFF2-40B4-BE49-F238E27FC236}">
                <a16:creationId xmlns:a16="http://schemas.microsoft.com/office/drawing/2014/main" id="{3AFD0336-E8AD-4980-A907-1EC8943A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00400"/>
            <a:ext cx="1809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모델 A</a:t>
            </a:r>
          </a:p>
        </p:txBody>
      </p:sp>
      <p:sp>
        <p:nvSpPr>
          <p:cNvPr id="18" name="구현">
            <a:extLst xmlns:a="http://schemas.openxmlformats.org/drawingml/2006/main">
              <a:ext uri="{FF2B5EF4-FFF2-40B4-BE49-F238E27FC236}">
                <a16:creationId xmlns:a16="http://schemas.microsoft.com/office/drawing/2014/main" id="{A398961C-54E5-4D83-8788-6C221F13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7147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구현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3DE494-EC76-4CA3-9CDE-542EA54F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86100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05400"/>
            </a:solidFill>
            <a:prstDash val="solid"/>
          </a:ln>
        </p:spPr>
      </p:sp>
      <p:sp>
        <p:nvSpPr>
          <p:cNvPr id="20" name="모델 B">
            <a:extLst xmlns:a="http://schemas.openxmlformats.org/drawingml/2006/main">
              <a:ext uri="{FF2B5EF4-FFF2-40B4-BE49-F238E27FC236}">
                <a16:creationId xmlns:a16="http://schemas.microsoft.com/office/drawing/2014/main" id="{2B5771E2-AB8E-4A62-AC43-0ECCAE7E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00400"/>
            <a:ext cx="1809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rPr>
              <a:t>모델 B</a:t>
            </a:r>
          </a:p>
        </p:txBody>
      </p:sp>
      <p:sp>
        <p:nvSpPr>
          <p:cNvPr id="21" name="검토">
            <a:extLst xmlns:a="http://schemas.openxmlformats.org/drawingml/2006/main">
              <a:ext uri="{FF2B5EF4-FFF2-40B4-BE49-F238E27FC236}">
                <a16:creationId xmlns:a16="http://schemas.microsoft.com/office/drawing/2014/main" id="{2F37EA6C-D964-4044-B938-0BF52F10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7147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검토</a:t>
            </a:r>
          </a:p>
        </p:txBody>
      </p: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E89DCA-73B1-4A7F-BC6F-50A4FFA6EB6E}"/>
              </a:ext>
            </a:extLst>
          </p:cNvPr>
          <p:cNvCxnSpPr/>
          <p:nvPr/>
        </p:nvCxnSpPr>
        <p:spPr>
          <a:xfrm xmlns:a="http://schemas.openxmlformats.org/drawingml/2006/main">
            <a:off x="9010650" y="37052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B6172"/>
            </a:solidFill>
            <a:tailEnd type="triangle" w="sm" len="sm"/>
          </a:ln>
        </p:spPr>
      </p:cxnSp>
      <p:sp>
        <p:nvSpPr>
          <p:cNvPr id="23" name="이번 작업의 결과·오류 탐지·비용을 보고 조합을 평가한다">
            <a:extLst xmlns:a="http://schemas.openxmlformats.org/drawingml/2006/main">
              <a:ext uri="{FF2B5EF4-FFF2-40B4-BE49-F238E27FC236}">
                <a16:creationId xmlns:a16="http://schemas.microsoft.com/office/drawing/2014/main" id="{73CF3E6A-3B38-484F-91D8-7076DE64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이번 작업의 결과·오류 탐지·비용을 보고 조합을 평가한다</a:t>
            </a:r>
          </a:p>
        </p:txBody>
      </p:sp>
      <p:sp>
        <p:nvSpPr>
          <p:cNvPr id="24" name="Legacy module connection">
            <a:extLst xmlns:a="http://schemas.openxmlformats.org/drawingml/2006/main">
              <a:ext uri="{FF2B5EF4-FFF2-40B4-BE49-F238E27FC236}">
                <a16:creationId xmlns:a16="http://schemas.microsoft.com/office/drawing/2014/main" id="{7418384C-8A88-45CB-8870-AB2AFD5B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M 연계 · 신규 확장</a:t>
            </a:r>
          </a:p>
        </p:txBody>
      </p:sp>
    </p:spTree>
    <p:extLst>
      <p:ext uri="{BB962C8B-B14F-4D97-AF65-F5344CB8AC3E}">
        <p14:creationId xmlns:p14="http://schemas.microsoft.com/office/powerpoint/2010/main" val="1936289158"/>
      </p:ext>
    </p:extLst>
  </p:cSld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ACT 4 · 루프 운영 설계">
            <a:extLst xmlns:a="http://schemas.openxmlformats.org/drawingml/2006/main">
              <a:ext uri="{FF2B5EF4-FFF2-40B4-BE49-F238E27FC236}">
                <a16:creationId xmlns:a16="http://schemas.microsoft.com/office/drawing/2014/main" id="{99E3D35F-3B7F-4042-9AB5-A0901D77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ACT 4 · 루프 운영 설계</a:t>
            </a:r>
          </a:p>
        </p:txBody>
      </p:sp>
      <p:sp>
        <p:nvSpPr>
          <p:cNvPr id="2" name="S99">
            <a:extLst xmlns:a="http://schemas.openxmlformats.org/drawingml/2006/main">
              <a:ext uri="{FF2B5EF4-FFF2-40B4-BE49-F238E27FC236}">
                <a16:creationId xmlns:a16="http://schemas.microsoft.com/office/drawing/2014/main" id="{351776DF-32DF-4B24-ADF1-7D3C0589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S99</a:t>
            </a:r>
          </a:p>
        </p:txBody>
      </p:sp>
      <p:sp>
        <p:nvSpPr>
          <p:cNvPr id="3" name="검토 모델의 말도 확인해야 한다">
            <a:extLst xmlns:a="http://schemas.openxmlformats.org/drawingml/2006/main">
              <a:ext uri="{FF2B5EF4-FFF2-40B4-BE49-F238E27FC236}">
                <a16:creationId xmlns:a16="http://schemas.microsoft.com/office/drawing/2014/main" id="{9281E004-BBC6-4606-A4B3-93B57A44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검토 모델의 말도 확인해야 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664B94-1202-448C-8B40-FE436885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5" name="Audience footer 1">
            <a:extLst xmlns:a="http://schemas.openxmlformats.org/drawingml/2006/main">
              <a:ext uri="{FF2B5EF4-FFF2-40B4-BE49-F238E27FC236}">
                <a16:creationId xmlns:a16="http://schemas.microsoft.com/office/drawing/2014/main" id="{5A9D7127-5EDA-49F0-9C2B-42FFD91E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r>
              <a: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 xml:space="preserve">모델 동의·다수결만으로 완료하지 않는다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2A1376-AB48-451D-8A45-578FB9DA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28956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6172"/>
            </a:solidFill>
            <a:prstDash val="solid"/>
          </a:ln>
        </p:spPr>
      </p:sp>
      <p:sp>
        <p:nvSpPr>
          <p:cNvPr id="8" name="모델 B의 지적">
            <a:extLst xmlns:a="http://schemas.openxmlformats.org/drawingml/2006/main">
              <a:ext uri="{FF2B5EF4-FFF2-40B4-BE49-F238E27FC236}">
                <a16:creationId xmlns:a16="http://schemas.microsoft.com/office/drawing/2014/main" id="{19561EAC-7830-4F9A-B5F1-D841BAEC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2514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모델 B의 지적</a:t>
            </a:r>
          </a:p>
        </p:txBody>
      </p:sp>
      <p:sp>
        <p:nvSpPr>
          <p:cNvPr id="9" name="위치 · 기준 · 근거">
            <a:extLst xmlns:a="http://schemas.openxmlformats.org/drawingml/2006/main">
              <a:ext uri="{FF2B5EF4-FFF2-40B4-BE49-F238E27FC236}">
                <a16:creationId xmlns:a16="http://schemas.microsoft.com/office/drawing/2014/main" id="{D5E68C0D-5380-4AD1-BB4A-7134024E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0520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위치 · 기준 · 근거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12DA6C-9C41-493F-9FF4-E6D810E83323}"/>
              </a:ext>
            </a:extLst>
          </p:cNvPr>
          <p:cNvCxnSpPr/>
          <p:nvPr/>
        </p:nvCxnSpPr>
        <p:spPr>
          <a:xfrm xmlns:a="http://schemas.openxmlformats.org/drawingml/2006/main">
            <a:off x="3695700" y="349567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B6172"/>
            </a:solidFill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DCC548-F6AE-4E4E-82AB-31BFCB08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76550"/>
            <a:ext cx="33528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6172"/>
            </a:solidFill>
            <a:prstDash val="solid"/>
          </a:ln>
        </p:spPr>
      </p:sp>
      <p:sp>
        <p:nvSpPr>
          <p:cNvPr id="12" name="명세·검사와 대조">
            <a:extLst xmlns:a="http://schemas.openxmlformats.org/drawingml/2006/main">
              <a:ext uri="{FF2B5EF4-FFF2-40B4-BE49-F238E27FC236}">
                <a16:creationId xmlns:a16="http://schemas.microsoft.com/office/drawing/2014/main" id="{8575D1F1-F143-4612-9D8C-43F7F3B0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90850"/>
            <a:ext cx="2971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명세·검사와 대조</a:t>
            </a:r>
          </a:p>
        </p:txBody>
      </p:sp>
      <p:sp>
        <p:nvSpPr>
          <p:cNvPr id="13" name="수정 필요성이 맞는가?">
            <a:extLst xmlns:a="http://schemas.openxmlformats.org/drawingml/2006/main">
              <a:ext uri="{FF2B5EF4-FFF2-40B4-BE49-F238E27FC236}">
                <a16:creationId xmlns:a16="http://schemas.microsoft.com/office/drawing/2014/main" id="{B1AE4C57-8A8D-4C60-AA4A-69568CD0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05200"/>
            <a:ext cx="297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수정 필요성이 맞는가?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E6F284-CE05-424F-96B3-A318B073CEE3}"/>
              </a:ext>
            </a:extLst>
          </p:cNvPr>
          <p:cNvCxnSpPr/>
          <p:nvPr/>
        </p:nvCxnSpPr>
        <p:spPr>
          <a:xfrm xmlns:a="http://schemas.openxmlformats.org/drawingml/2006/main">
            <a:off x="7962900" y="34956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B6172"/>
            </a:solidFill>
            <a:tailEnd type="triangle" w="sm" len="sm"/>
          </a:ln>
        </p:spPr>
      </p:cxnSp>
      <p:sp>
        <p:nvSpPr>
          <p:cNvPr id="15" name="근거가 맞으면 수정">
            <a:extLst xmlns:a="http://schemas.openxmlformats.org/drawingml/2006/main">
              <a:ext uri="{FF2B5EF4-FFF2-40B4-BE49-F238E27FC236}">
                <a16:creationId xmlns:a16="http://schemas.microsoft.com/office/drawing/2014/main" id="{4E1E62C8-742E-4ACE-8881-74C8385B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76525"/>
            <a:ext cx="2819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근거가 맞으면 수정</a:t>
            </a:r>
          </a:p>
        </p:txBody>
      </p:sp>
      <p:sp>
        <p:nvSpPr>
          <p:cNvPr id="16" name="맞지 않으면 기각">
            <a:extLst xmlns:a="http://schemas.openxmlformats.org/drawingml/2006/main">
              <a:ext uri="{FF2B5EF4-FFF2-40B4-BE49-F238E27FC236}">
                <a16:creationId xmlns:a16="http://schemas.microsoft.com/office/drawing/2014/main" id="{E61E575F-62A7-4D20-820C-4F64F1AD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09975"/>
            <a:ext cx="2819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맞지 않으면 기각</a:t>
            </a:r>
          </a:p>
        </p:txBody>
      </p:sp>
      <p:sp>
        <p:nvSpPr>
          <p:cNvPr id="17" name="모호하면 사람 확인">
            <a:extLst xmlns:a="http://schemas.openxmlformats.org/drawingml/2006/main">
              <a:ext uri="{FF2B5EF4-FFF2-40B4-BE49-F238E27FC236}">
                <a16:creationId xmlns:a16="http://schemas.microsoft.com/office/drawing/2014/main" id="{3CC161C3-3A0A-4721-B524-07ED1839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43425"/>
            <a:ext cx="2819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rPr>
              <a:t>모호하면 사람 확인</a:t>
            </a:r>
          </a:p>
        </p:txBody>
      </p:sp>
      <p:sp>
        <p:nvSpPr>
          <p:cNvPr id="18" name="Legacy module connection">
            <a:extLst xmlns:a="http://schemas.openxmlformats.org/drawingml/2006/main">
              <a:ext uri="{FF2B5EF4-FFF2-40B4-BE49-F238E27FC236}">
                <a16:creationId xmlns:a16="http://schemas.microsoft.com/office/drawing/2014/main" id="{10FDFA2D-493C-4F66-94AA-0AF6E8F8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M 연계 · M5 · M6</a:t>
            </a:r>
          </a:p>
        </p:txBody>
      </p:sp>
    </p:spTree>
    <p:extLst>
      <p:ext uri="{BB962C8B-B14F-4D97-AF65-F5344CB8AC3E}">
        <p14:creationId xmlns:p14="http://schemas.microsoft.com/office/powerpoint/2010/main" val="2031549273"/>
      </p:ext>
    </p:extLst>
  </p:cSld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ACT 4 · 루프 운영 설계">
            <a:extLst xmlns:a="http://schemas.openxmlformats.org/drawingml/2006/main">
              <a:ext uri="{FF2B5EF4-FFF2-40B4-BE49-F238E27FC236}">
                <a16:creationId xmlns:a16="http://schemas.microsoft.com/office/drawing/2014/main" id="{853DE563-3B70-4D2F-AA51-20F1CE01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ACT 4 · 루프 운영 설계</a:t>
            </a:r>
          </a:p>
        </p:txBody>
      </p:sp>
      <p:sp>
        <p:nvSpPr>
          <p:cNvPr id="2" name="S100">
            <a:extLst xmlns:a="http://schemas.openxmlformats.org/drawingml/2006/main">
              <a:ext uri="{FF2B5EF4-FFF2-40B4-BE49-F238E27FC236}">
                <a16:creationId xmlns:a16="http://schemas.microsoft.com/office/drawing/2014/main" id="{DF35E01B-CF21-4E4E-A1B5-4D2D0D5B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S100</a:t>
            </a:r>
          </a:p>
        </p:txBody>
      </p:sp>
      <p:sp>
        <p:nvSpPr>
          <p:cNvPr id="3" name="반복하려면 무엇을 이어받아야 할까?">
            <a:extLst xmlns:a="http://schemas.openxmlformats.org/drawingml/2006/main">
              <a:ext uri="{FF2B5EF4-FFF2-40B4-BE49-F238E27FC236}">
                <a16:creationId xmlns:a16="http://schemas.microsoft.com/office/drawing/2014/main" id="{CDD99ACC-6469-48B7-BFAD-6FAB8003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반복하려면 무엇을 이어받아야 할까?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62B1AF-948F-4F1C-B232-36DD9DE7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5" name="Audience footer 1">
            <a:extLst xmlns:a="http://schemas.openxmlformats.org/drawingml/2006/main">
              <a:ext uri="{FF2B5EF4-FFF2-40B4-BE49-F238E27FC236}">
                <a16:creationId xmlns:a16="http://schemas.microsoft.com/office/drawing/2014/main" id="{D359557C-951E-403F-9FE7-6696E683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r>
              <a: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 xml:space="preserve">별도 Memory나 프레임워크가 필수인 것은 아니다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FF1C61-6059-4BD4-957E-CB79B605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784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8" name="고정할 것">
            <a:extLst xmlns:a="http://schemas.openxmlformats.org/drawingml/2006/main">
              <a:ext uri="{FF2B5EF4-FFF2-40B4-BE49-F238E27FC236}">
                <a16:creationId xmlns:a16="http://schemas.microsoft.com/office/drawing/2014/main" id="{64B90A4F-D62E-498D-A524-BA4B3444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2343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고정할 것</a:t>
            </a:r>
          </a:p>
        </p:txBody>
      </p:sp>
      <p:sp>
        <p:nvSpPr>
          <p:cNvPr id="9" name="목표 · 완료 기준">
            <a:extLst xmlns:a="http://schemas.openxmlformats.org/drawingml/2006/main">
              <a:ext uri="{FF2B5EF4-FFF2-40B4-BE49-F238E27FC236}">
                <a16:creationId xmlns:a16="http://schemas.microsoft.com/office/drawing/2014/main" id="{5085DD4B-103C-4868-B149-17293AB6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14600"/>
            <a:ext cx="529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목표 · 완료 기준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E88121-6317-4C1A-B690-DCD8C254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784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1" name="갱신할 것">
            <a:extLst xmlns:a="http://schemas.openxmlformats.org/drawingml/2006/main">
              <a:ext uri="{FF2B5EF4-FFF2-40B4-BE49-F238E27FC236}">
                <a16:creationId xmlns:a16="http://schemas.microsoft.com/office/drawing/2014/main" id="{FC64821F-B98D-46A7-B7BE-19EFC1C0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2343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갱신할 것</a:t>
            </a:r>
          </a:p>
        </p:txBody>
      </p:sp>
      <p:sp>
        <p:nvSpPr>
          <p:cNvPr id="12" name="후보 · 검토 지적 · 검사 기록">
            <a:extLst xmlns:a="http://schemas.openxmlformats.org/drawingml/2006/main">
              <a:ext uri="{FF2B5EF4-FFF2-40B4-BE49-F238E27FC236}">
                <a16:creationId xmlns:a16="http://schemas.microsoft.com/office/drawing/2014/main" id="{6ABB56E8-92D4-46FF-8E2A-6273C519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67100"/>
            <a:ext cx="529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후보 · 검토 지적 · 검사 기록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AB8486-6FAD-4125-92AF-60E2151F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784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4" name="제어할 것">
            <a:extLst xmlns:a="http://schemas.openxmlformats.org/drawingml/2006/main">
              <a:ext uri="{FF2B5EF4-FFF2-40B4-BE49-F238E27FC236}">
                <a16:creationId xmlns:a16="http://schemas.microsoft.com/office/drawing/2014/main" id="{D5A26F35-5D44-4F6C-BDE4-EBAF35BA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2343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제어할 것</a:t>
            </a:r>
          </a:p>
        </p:txBody>
      </p:sp>
      <p:sp>
        <p:nvSpPr>
          <p:cNvPr id="15" name="남은 문제 · 반복·시간·비용 한도">
            <a:extLst xmlns:a="http://schemas.openxmlformats.org/drawingml/2006/main">
              <a:ext uri="{FF2B5EF4-FFF2-40B4-BE49-F238E27FC236}">
                <a16:creationId xmlns:a16="http://schemas.microsoft.com/office/drawing/2014/main" id="{DFEDB03A-53B9-4227-A800-99F5219F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419600"/>
            <a:ext cx="529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남은 문제 · 반복·시간·비용 한도</a:t>
            </a:r>
          </a:p>
        </p:txBody>
      </p: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BE5689-7771-4FCD-BC99-FCAFA699C3B0}"/>
              </a:ext>
            </a:extLst>
          </p:cNvPr>
          <p:cNvCxnSpPr/>
          <p:nvPr/>
        </p:nvCxnSpPr>
        <p:spPr>
          <a:xfrm xmlns:a="http://schemas.openxmlformats.org/drawingml/2006/main">
            <a:off x="8648700" y="3762375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B6172"/>
            </a:solidFill>
            <a:tailEnd type="triangle" w="sm" len="sm"/>
          </a:ln>
        </p:spPr>
      </p:cxnSp>
      <p:sp>
        <p:nvSpPr>
          <p:cNvPr id="17" name="다음&#10;시도">
            <a:extLst xmlns:a="http://schemas.openxmlformats.org/drawingml/2006/main">
              <a:ext uri="{FF2B5EF4-FFF2-40B4-BE49-F238E27FC236}">
                <a16:creationId xmlns:a16="http://schemas.microsoft.com/office/drawing/2014/main" id="{A9EF8944-75B1-460B-A1AC-5889E262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248025"/>
            <a:ext cx="1847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8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8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8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8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8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8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8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8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8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다음</a:t>
            </a:r>
          </a:p>
          <a:p xmlns:a="http://schemas.openxmlformats.org/drawingml/2006/main">
            <a:pPr algn="l">
              <a:defRPr sz="28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시도</a:t>
            </a:r>
          </a:p>
        </p:txBody>
      </p:sp>
      <p:sp>
        <p:nvSpPr>
          <p:cNvPr id="18" name="같은 실패가 반복되거나 회귀하면, 계속 돌리기보다 원인을 확인한다">
            <a:extLst xmlns:a="http://schemas.openxmlformats.org/drawingml/2006/main">
              <a:ext uri="{FF2B5EF4-FFF2-40B4-BE49-F238E27FC236}">
                <a16:creationId xmlns:a16="http://schemas.microsoft.com/office/drawing/2014/main" id="{3AF467EF-AE7C-4E88-B26C-46A477A4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같은 실패가 반복되거나 회귀하면, 계속 돌리기보다 원인을 확인한다</a:t>
            </a:r>
          </a:p>
        </p:txBody>
      </p:sp>
      <p:sp>
        <p:nvSpPr>
          <p:cNvPr id="19" name="Legacy module connection">
            <a:extLst xmlns:a="http://schemas.openxmlformats.org/drawingml/2006/main">
              <a:ext uri="{FF2B5EF4-FFF2-40B4-BE49-F238E27FC236}">
                <a16:creationId xmlns:a16="http://schemas.microsoft.com/office/drawing/2014/main" id="{511B450C-E25B-4456-8EDE-52E4531D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M 연계 · 신규 확장</a:t>
            </a:r>
          </a:p>
        </p:txBody>
      </p:sp>
    </p:spTree>
    <p:extLst>
      <p:ext uri="{BB962C8B-B14F-4D97-AF65-F5344CB8AC3E}">
        <p14:creationId xmlns:p14="http://schemas.microsoft.com/office/powerpoint/2010/main" val="1451718841"/>
      </p:ext>
    </p:extLst>
  </p:cSld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ACT 4 · 루프 운영 설계">
            <a:extLst xmlns:a="http://schemas.openxmlformats.org/drawingml/2006/main">
              <a:ext uri="{FF2B5EF4-FFF2-40B4-BE49-F238E27FC236}">
                <a16:creationId xmlns:a16="http://schemas.microsoft.com/office/drawing/2014/main" id="{DB66D6E8-0EB8-4CB9-A929-FCEEBA0E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ACT 4 · 루프 운영 설계</a:t>
            </a:r>
          </a:p>
        </p:txBody>
      </p:sp>
      <p:sp>
        <p:nvSpPr>
          <p:cNvPr id="2" name="S101">
            <a:extLst xmlns:a="http://schemas.openxmlformats.org/drawingml/2006/main">
              <a:ext uri="{FF2B5EF4-FFF2-40B4-BE49-F238E27FC236}">
                <a16:creationId xmlns:a16="http://schemas.microsoft.com/office/drawing/2014/main" id="{CF724F86-68E9-4806-A27F-96C3B6BF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S101</a:t>
            </a:r>
          </a:p>
        </p:txBody>
      </p:sp>
      <p:sp>
        <p:nvSpPr>
          <p:cNvPr id="3" name="확인한 근거와 아직 실행하지 않은 설계">
            <a:extLst xmlns:a="http://schemas.openxmlformats.org/drawingml/2006/main">
              <a:ext uri="{FF2B5EF4-FFF2-40B4-BE49-F238E27FC236}">
                <a16:creationId xmlns:a16="http://schemas.microsoft.com/office/drawing/2014/main" id="{4BC5776A-8BE5-4D01-B46A-3395EF12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확인한 근거와 아직 실행하지 않은 설계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7B52D1-B506-42EF-8048-937AA3B0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4832E7-D69D-4A9B-870E-1D895063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335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6172"/>
            </a:solidFill>
            <a:prstDash val="solid"/>
          </a:ln>
        </p:spPr>
      </p:sp>
      <p:sp>
        <p:nvSpPr>
          <p:cNvPr id="8" name="실제 Demo">
            <a:extLst xmlns:a="http://schemas.openxmlformats.org/drawingml/2006/main">
              <a:ext uri="{FF2B5EF4-FFF2-40B4-BE49-F238E27FC236}">
                <a16:creationId xmlns:a16="http://schemas.microsoft.com/office/drawing/2014/main" id="{B44C9416-6E16-4DA6-AD67-056DB922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335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6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6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6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6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6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6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6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6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6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6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실제 Demo</a:t>
            </a:r>
          </a:p>
        </p:txBody>
      </p:sp>
      <p:sp>
        <p:nvSpPr>
          <p:cNvPr id="9" name="관찰 기록">
            <a:extLst xmlns:a="http://schemas.openxmlformats.org/drawingml/2006/main">
              <a:ext uri="{FF2B5EF4-FFF2-40B4-BE49-F238E27FC236}">
                <a16:creationId xmlns:a16="http://schemas.microsoft.com/office/drawing/2014/main" id="{49FE3F8A-04E0-4399-9B40-14FF3C88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335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관찰 기록</a:t>
            </a:r>
          </a:p>
        </p:txBody>
      </p:sp>
      <p:sp>
        <p:nvSpPr>
          <p:cNvPr id="10" name="제품 변경·출력·측정 확인">
            <a:extLst xmlns:a="http://schemas.openxmlformats.org/drawingml/2006/main">
              <a:ext uri="{FF2B5EF4-FFF2-40B4-BE49-F238E27FC236}">
                <a16:creationId xmlns:a16="http://schemas.microsoft.com/office/drawing/2014/main" id="{D1525446-FA04-4438-8083-4BF0B2C8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335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제품 변경·출력·측정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0F0F27-CEF4-46AF-8C38-FF13110D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33650"/>
            <a:ext cx="335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212B"/>
            </a:solidFill>
            <a:prstDash val="solid"/>
          </a:ln>
        </p:spPr>
      </p:sp>
      <p:sp>
        <p:nvSpPr>
          <p:cNvPr id="12" name="논문">
            <a:extLst xmlns:a="http://schemas.openxmlformats.org/drawingml/2006/main">
              <a:ext uri="{FF2B5EF4-FFF2-40B4-BE49-F238E27FC236}">
                <a16:creationId xmlns:a16="http://schemas.microsoft.com/office/drawing/2014/main" id="{31997879-78AD-4AA5-8863-7FA35A38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43200"/>
            <a:ext cx="335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6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6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6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6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6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6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6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6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6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6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논문</a:t>
            </a:r>
          </a:p>
        </p:txBody>
      </p:sp>
      <p:sp>
        <p:nvSpPr>
          <p:cNvPr id="13" name="연구 결과">
            <a:extLst xmlns:a="http://schemas.openxmlformats.org/drawingml/2006/main">
              <a:ext uri="{FF2B5EF4-FFF2-40B4-BE49-F238E27FC236}">
                <a16:creationId xmlns:a16="http://schemas.microsoft.com/office/drawing/2014/main" id="{56368278-A997-4D20-A95C-DBEA5A34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62350"/>
            <a:ext cx="335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연구 결과</a:t>
            </a:r>
          </a:p>
        </p:txBody>
      </p:sp>
      <p:sp>
        <p:nvSpPr>
          <p:cNvPr id="14" name="해당 모델·과제·조건의 결과">
            <a:extLst xmlns:a="http://schemas.openxmlformats.org/drawingml/2006/main">
              <a:ext uri="{FF2B5EF4-FFF2-40B4-BE49-F238E27FC236}">
                <a16:creationId xmlns:a16="http://schemas.microsoft.com/office/drawing/2014/main" id="{4D11DC04-494F-4484-8418-67CF5338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10075"/>
            <a:ext cx="335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해당 모델·과제·조건의 결과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EBCAD2-C60C-45E0-87E2-DB6F046A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33650"/>
            <a:ext cx="335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5400"/>
            </a:solidFill>
            <a:prstDash val="solid"/>
          </a:ln>
        </p:spPr>
      </p:sp>
      <p:sp>
        <p:nvSpPr>
          <p:cNvPr id="16" name="이번 루프">
            <a:extLst xmlns:a="http://schemas.openxmlformats.org/drawingml/2006/main">
              <a:ext uri="{FF2B5EF4-FFF2-40B4-BE49-F238E27FC236}">
                <a16:creationId xmlns:a16="http://schemas.microsoft.com/office/drawing/2014/main" id="{38F8F21E-8F82-4B93-8052-DEDF5E94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43200"/>
            <a:ext cx="335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6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6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6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6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6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6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6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6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6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6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rPr>
              <a:t>이번 루프</a:t>
            </a:r>
          </a:p>
        </p:txBody>
      </p:sp>
      <p:sp>
        <p:nvSpPr>
          <p:cNvPr id="17" name="교육용 설계">
            <a:extLst xmlns:a="http://schemas.openxmlformats.org/drawingml/2006/main">
              <a:ext uri="{FF2B5EF4-FFF2-40B4-BE49-F238E27FC236}">
                <a16:creationId xmlns:a16="http://schemas.microsoft.com/office/drawing/2014/main" id="{73EF6761-A6A2-4282-8774-4BAED508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62350"/>
            <a:ext cx="335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교육용 설계</a:t>
            </a:r>
          </a:p>
        </p:txBody>
      </p:sp>
      <p:sp>
        <p:nvSpPr>
          <p:cNvPr id="18" name="새 실행·효과 검증 전">
            <a:extLst xmlns:a="http://schemas.openxmlformats.org/drawingml/2006/main">
              <a:ext uri="{FF2B5EF4-FFF2-40B4-BE49-F238E27FC236}">
                <a16:creationId xmlns:a16="http://schemas.microsoft.com/office/drawing/2014/main" id="{9F695A4F-3D4A-44DE-A1D6-12447BD4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10075"/>
            <a:ext cx="335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새 실행·효과 검증 전</a:t>
            </a:r>
          </a:p>
        </p:txBody>
      </p:sp>
      <p:sp>
        <p:nvSpPr>
          <p:cNvPr id="19" name="Legacy module connection">
            <a:extLst xmlns:a="http://schemas.openxmlformats.org/drawingml/2006/main">
              <a:ext uri="{FF2B5EF4-FFF2-40B4-BE49-F238E27FC236}">
                <a16:creationId xmlns:a16="http://schemas.microsoft.com/office/drawing/2014/main" id="{80B706C0-3106-48F5-B0E6-5C392F79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M 연계 · 신규 확장</a:t>
            </a:r>
          </a:p>
        </p:txBody>
      </p:sp>
    </p:spTree>
    <p:extLst>
      <p:ext uri="{BB962C8B-B14F-4D97-AF65-F5344CB8AC3E}">
        <p14:creationId xmlns:p14="http://schemas.microsoft.com/office/powerpoint/2010/main" val="311750265"/>
      </p:ext>
    </p:extLst>
  </p:cSld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ACT 4 · 제품 기능으로 이어가는 루프">
            <a:extLst xmlns:a="http://schemas.openxmlformats.org/drawingml/2006/main">
              <a:ext uri="{FF2B5EF4-FFF2-40B4-BE49-F238E27FC236}">
                <a16:creationId xmlns:a16="http://schemas.microsoft.com/office/drawing/2014/main" id="{9C452B2E-3A5D-49D0-BF57-F79AF285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ACT 4 · 제품 기능으로 이어가는 루프</a:t>
            </a:r>
          </a:p>
        </p:txBody>
      </p:sp>
      <p:sp>
        <p:nvSpPr>
          <p:cNvPr id="2" name="S102">
            <a:extLst xmlns:a="http://schemas.openxmlformats.org/drawingml/2006/main">
              <a:ext uri="{FF2B5EF4-FFF2-40B4-BE49-F238E27FC236}">
                <a16:creationId xmlns:a16="http://schemas.microsoft.com/office/drawing/2014/main" id="{F73D8DBE-13EF-49C2-B613-01715369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S102</a:t>
            </a:r>
          </a:p>
        </p:txBody>
      </p:sp>
      <p:sp>
        <p:nvSpPr>
          <p:cNvPr id="3" name="Goal이 목표와 다음 작업을 이어준다">
            <a:extLst xmlns:a="http://schemas.openxmlformats.org/drawingml/2006/main">
              <a:ext uri="{FF2B5EF4-FFF2-40B4-BE49-F238E27FC236}">
                <a16:creationId xmlns:a16="http://schemas.microsoft.com/office/drawing/2014/main" id="{CB174D33-F0DC-4B2A-BA3B-AE885DEF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Goal이 목표와 다음 작업을 이어준다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F835E6-1A76-484B-BF29-E2F90688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5" name="Audience footer 1">
            <a:extLst xmlns:a="http://schemas.openxmlformats.org/drawingml/2006/main">
              <a:ext uri="{FF2B5EF4-FFF2-40B4-BE49-F238E27FC236}">
                <a16:creationId xmlns:a16="http://schemas.microsoft.com/office/drawing/2014/main" id="{29B5CC22-3F96-413C-ABDD-33DFD488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r>
              <a: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 xml:space="preserve">사용 예시 · 다른 모델의 검토 역할은 별도 설계</a:t>
            </a:r>
          </a:p>
        </p:txBody>
      </p:sp>
      <p:sp>
        <p:nvSpPr>
          <p:cNvPr id="7" name="ChatGPT 데스크톱에서 /goal로 목표를 설정한다">
            <a:extLst xmlns:a="http://schemas.openxmlformats.org/drawingml/2006/main">
              <a:ext uri="{FF2B5EF4-FFF2-40B4-BE49-F238E27FC236}">
                <a16:creationId xmlns:a16="http://schemas.microsoft.com/office/drawing/2014/main" id="{70352B4C-D6D4-4B69-84F7-7E488942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ChatGPT 데스크톱에서 /goal로 목표를 설정한다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A81037-04AE-43E6-9D6F-FB541FBF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320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0DA"/>
            </a:solidFill>
            <a:prstDash val="solid"/>
          </a:ln>
        </p:spPr>
      </p:sp>
      <p:sp>
        <p:nvSpPr>
          <p:cNvPr id="9" name="목표 설정">
            <a:extLst xmlns:a="http://schemas.openxmlformats.org/drawingml/2006/main">
              <a:ext uri="{FF2B5EF4-FFF2-40B4-BE49-F238E27FC236}">
                <a16:creationId xmlns:a16="http://schemas.microsoft.com/office/drawing/2014/main" id="{6713A60D-9C76-41DC-AB1B-6BAA030D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57475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목표 설정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2393F4-6C93-4730-92D5-AE409D38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52775"/>
            <a:ext cx="281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1" name="/goal">
            <a:extLst xmlns:a="http://schemas.openxmlformats.org/drawingml/2006/main">
              <a:ext uri="{FF2B5EF4-FFF2-40B4-BE49-F238E27FC236}">
                <a16:creationId xmlns:a16="http://schemas.microsoft.com/office/drawing/2014/main" id="{2BA2D3F8-3BB9-4415-A144-90970015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05175"/>
            <a:ext cx="2781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0B6172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3150" b="1">
                <a:solidFill>
                  <a:srgbClr val="0B6172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3150" b="1">
                <a:solidFill>
                  <a:srgbClr val="0B6172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3150" b="1">
                <a:solidFill>
                  <a:srgbClr val="0B6172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3150" b="1">
                <a:solidFill>
                  <a:srgbClr val="0B6172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3150" b="1">
                <a:solidFill>
                  <a:srgbClr val="0B6172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3150" b="1">
                <a:solidFill>
                  <a:srgbClr val="0B6172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3150" b="1">
                <a:solidFill>
                  <a:srgbClr val="0B6172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3150" b="1">
                <a:solidFill>
                  <a:srgbClr val="0B6172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3150" b="1">
                <a:solidFill>
                  <a:srgbClr val="0B617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B6172"/>
                </a:solidFill>
                <a:latin typeface="Consolas"/>
                <a:ea typeface="Consolas"/>
                <a:cs typeface="Consolas"/>
              </a:defRPr>
            </a:pPr>
            <a:r>
              <a:rPr sz="3150" b="1">
                <a:solidFill>
                  <a:srgbClr val="0B6172"/>
                </a:solidFill>
                <a:latin typeface="Consolas"/>
                <a:ea typeface="Consolas"/>
                <a:cs typeface="Consolas"/>
              </a:rPr>
              <a:t>/goal</a:t>
            </a:r>
          </a:p>
        </p:txBody>
      </p:sp>
      <p:sp>
        <p:nvSpPr>
          <p:cNvPr id="12" name="목표와 완료 기준을&#10;턴이 끝나도 유지">
            <a:extLst xmlns:a="http://schemas.openxmlformats.org/drawingml/2006/main">
              <a:ext uri="{FF2B5EF4-FFF2-40B4-BE49-F238E27FC236}">
                <a16:creationId xmlns:a16="http://schemas.microsoft.com/office/drawing/2014/main" id="{109C923B-9E52-4943-AB25-C1430C34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2781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목표와 완료 기준을</a:t>
            </a:r>
          </a:p>
          <a:p xmlns:a="http://schemas.openxmlformats.org/drawingml/2006/main">
            <a: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턴이 끝나도 유지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495AD6-BE3C-4E89-A739-2B32DDB5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003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6172"/>
            </a:solidFill>
            <a:prstDash val="solid"/>
          </a:ln>
        </p:spPr>
      </p:sp>
      <p:sp>
        <p:nvSpPr>
          <p:cNvPr id="14" name="작업">
            <a:extLst xmlns:a="http://schemas.openxmlformats.org/drawingml/2006/main">
              <a:ext uri="{FF2B5EF4-FFF2-40B4-BE49-F238E27FC236}">
                <a16:creationId xmlns:a16="http://schemas.microsoft.com/office/drawing/2014/main" id="{0A45FC49-D30C-49CC-ABE2-E89C8425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1942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작업</a:t>
            </a:r>
          </a:p>
        </p:txBody>
      </p:sp>
      <p:sp>
        <p:nvSpPr>
          <p:cNvPr id="15" name="구현 · 수정">
            <a:extLst xmlns:a="http://schemas.openxmlformats.org/drawingml/2006/main">
              <a:ext uri="{FF2B5EF4-FFF2-40B4-BE49-F238E27FC236}">
                <a16:creationId xmlns:a16="http://schemas.microsoft.com/office/drawing/2014/main" id="{01D02128-05CC-4615-A966-2F6552A2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7665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9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9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9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9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9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9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9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9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9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구현 · 수정</a:t>
            </a:r>
          </a:p>
        </p:txBody>
      </p: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259216-1C1D-46C4-8124-823FB53E6EF4}"/>
              </a:ext>
            </a:extLst>
          </p:cNvPr>
          <p:cNvCxnSpPr/>
          <p:nvPr/>
        </p:nvCxnSpPr>
        <p:spPr>
          <a:xfrm xmlns:a="http://schemas.openxmlformats.org/drawingml/2006/main">
            <a:off x="6467475" y="3514725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B6172"/>
            </a:solidFill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9F7497-C9C4-4AC8-8BF2-79989480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003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6172"/>
            </a:solidFill>
            <a:prstDash val="solid"/>
          </a:ln>
        </p:spPr>
      </p:sp>
      <p:sp>
        <p:nvSpPr>
          <p:cNvPr id="18" name="근거 확인">
            <a:extLst xmlns:a="http://schemas.openxmlformats.org/drawingml/2006/main">
              <a:ext uri="{FF2B5EF4-FFF2-40B4-BE49-F238E27FC236}">
                <a16:creationId xmlns:a16="http://schemas.microsoft.com/office/drawing/2014/main" id="{D7B1BC0C-7963-42F5-8C52-F63F0B2D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1942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근거 확인</a:t>
            </a:r>
          </a:p>
        </p:txBody>
      </p:sp>
      <p:sp>
        <p:nvSpPr>
          <p:cNvPr id="19" name="테스트 · 검토">
            <a:extLst xmlns:a="http://schemas.openxmlformats.org/drawingml/2006/main">
              <a:ext uri="{FF2B5EF4-FFF2-40B4-BE49-F238E27FC236}">
                <a16:creationId xmlns:a16="http://schemas.microsoft.com/office/drawing/2014/main" id="{41AFA463-4D52-452D-9280-C63C22B0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7665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9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9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9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9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9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9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9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9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9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테스트 · 검토</a:t>
            </a:r>
          </a:p>
        </p:txBody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6916C3-ECA0-4F67-8B2A-F5B81554DAC2}"/>
              </a:ext>
            </a:extLst>
          </p:cNvPr>
          <p:cNvCxnSpPr/>
          <p:nvPr/>
        </p:nvCxnSpPr>
        <p:spPr>
          <a:xfrm xmlns:a="http://schemas.openxmlformats.org/drawingml/2006/main">
            <a:off x="9115425" y="3514725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B6172"/>
            </a:solidFill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1538A3-85AA-4B09-A1E6-EE0B3692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8003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6172"/>
            </a:solidFill>
            <a:prstDash val="solid"/>
          </a:ln>
        </p:spPr>
      </p:sp>
      <p:sp>
        <p:nvSpPr>
          <p:cNvPr id="22" name="다음 판단">
            <a:extLst xmlns:a="http://schemas.openxmlformats.org/drawingml/2006/main">
              <a:ext uri="{FF2B5EF4-FFF2-40B4-BE49-F238E27FC236}">
                <a16:creationId xmlns:a16="http://schemas.microsoft.com/office/drawing/2014/main" id="{A03BB8D5-4C05-46CD-8EE9-7CBB3AE9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1942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다음 판단</a:t>
            </a:r>
          </a:p>
        </p:txBody>
      </p:sp>
      <p:sp>
        <p:nvSpPr>
          <p:cNvPr id="23" name="계속 / 완료">
            <a:extLst xmlns:a="http://schemas.openxmlformats.org/drawingml/2006/main">
              <a:ext uri="{FF2B5EF4-FFF2-40B4-BE49-F238E27FC236}">
                <a16:creationId xmlns:a16="http://schemas.microsoft.com/office/drawing/2014/main" id="{06EB829D-523C-4557-8CBA-1AC4DDAD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67665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9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9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9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9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9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9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9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9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9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계속 / 완료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137E0A-23CA-40EF-BFC9-02715604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4267200"/>
            <a:ext cx="0" cy="561975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0B6172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91DFEE-F42E-4211-976F-37092F6B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829175"/>
            <a:ext cx="529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B6172"/>
            </a:solidFill>
            <a:prstDash val="solid"/>
          </a:ln>
        </p:spPr>
      </p: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840F4B-B021-4B77-B964-56811333408B}"/>
              </a:ext>
            </a:extLst>
          </p:cNvPr>
          <p:cNvCxnSpPr/>
          <p:nvPr/>
        </p:nvCxnSpPr>
        <p:spPr>
          <a:xfrm xmlns:a="http://schemas.openxmlformats.org/drawingml/2006/main">
            <a:off x="5381625" y="4276725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B6172"/>
            </a:solidFill>
            <a:headEnd type="triangle" w="sm" len="sm"/>
          </a:ln>
        </p:spPr>
      </p:cxnSp>
      <p:sp>
        <p:nvSpPr>
          <p:cNvPr id="27" name="남은 문제가 있으면 다음 작업으로">
            <a:extLst xmlns:a="http://schemas.openxmlformats.org/drawingml/2006/main">
              <a:ext uri="{FF2B5EF4-FFF2-40B4-BE49-F238E27FC236}">
                <a16:creationId xmlns:a16="http://schemas.microsoft.com/office/drawing/2014/main" id="{57AD3E36-ADA5-42DE-BF94-DAF08A58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00550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남은 문제가 있으면 다음 작업으로</a:t>
            </a:r>
          </a:p>
        </p:txBody>
      </p:sp>
      <p:sp>
        <p:nvSpPr>
          <p:cNvPr id="28" name="Goal은 계속 수행을 연결하고, 완료는 근거로 판단한다">
            <a:extLst xmlns:a="http://schemas.openxmlformats.org/drawingml/2006/main">
              <a:ext uri="{FF2B5EF4-FFF2-40B4-BE49-F238E27FC236}">
                <a16:creationId xmlns:a16="http://schemas.microsoft.com/office/drawing/2014/main" id="{B6441D07-35F7-4B40-BF5B-9AF52ACE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Goal은 계속 수행을 연결하고, 완료는 근거로 판단한다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9DA453-6160-490D-9A5A-19437328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91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3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30" name="Practical application tip badge">
            <a:extLst xmlns:a="http://schemas.openxmlformats.org/drawingml/2006/main">
              <a:ext uri="{FF2B5EF4-FFF2-40B4-BE49-F238E27FC236}">
                <a16:creationId xmlns:a16="http://schemas.microsoft.com/office/drawing/2014/main" id="{061CCDF9-0075-4A40-A963-D62564EA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9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실무 적용 팁 · 수행 방법</a:t>
            </a:r>
          </a:p>
        </p:txBody>
      </p:sp>
      <p:sp>
        <p:nvSpPr>
          <p:cNvPr id="31" name="Legacy module connection">
            <a:extLst xmlns:a="http://schemas.openxmlformats.org/drawingml/2006/main">
              <a:ext uri="{FF2B5EF4-FFF2-40B4-BE49-F238E27FC236}">
                <a16:creationId xmlns:a16="http://schemas.microsoft.com/office/drawing/2014/main" id="{62C94178-B97E-4C4B-982E-04B4D6A8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M 연계 · 신규 확장</a:t>
            </a:r>
          </a:p>
        </p:txBody>
      </p:sp>
    </p:spTree>
    <p:extLst>
      <p:ext uri="{BB962C8B-B14F-4D97-AF65-F5344CB8AC3E}">
        <p14:creationId xmlns:p14="http://schemas.microsoft.com/office/powerpoint/2010/main" val="349383585"/>
      </p:ext>
    </p:extLst>
  </p:cSld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ACT 4 · Goal 요청 작성 예시">
            <a:extLst xmlns:a="http://schemas.openxmlformats.org/drawingml/2006/main">
              <a:ext uri="{FF2B5EF4-FFF2-40B4-BE49-F238E27FC236}">
                <a16:creationId xmlns:a16="http://schemas.microsoft.com/office/drawing/2014/main" id="{E581D3F9-9C7B-4954-976F-F3B09E84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ACT 4 · Goal 요청 작성 예시</a:t>
            </a:r>
          </a:p>
        </p:txBody>
      </p:sp>
      <p:sp>
        <p:nvSpPr>
          <p:cNvPr id="2" name="S103">
            <a:extLst xmlns:a="http://schemas.openxmlformats.org/drawingml/2006/main">
              <a:ext uri="{FF2B5EF4-FFF2-40B4-BE49-F238E27FC236}">
                <a16:creationId xmlns:a16="http://schemas.microsoft.com/office/drawing/2014/main" id="{6029A176-4FA7-4B1A-8320-F6188684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S103</a:t>
            </a:r>
          </a:p>
        </p:txBody>
      </p:sp>
      <p:sp>
        <p:nvSpPr>
          <p:cNvPr id="3" name="Goal에는 완료 근거와 멈출 조건을 담는다">
            <a:extLst xmlns:a="http://schemas.openxmlformats.org/drawingml/2006/main">
              <a:ext uri="{FF2B5EF4-FFF2-40B4-BE49-F238E27FC236}">
                <a16:creationId xmlns:a16="http://schemas.microsoft.com/office/drawing/2014/main" id="{DCBDADA7-9F97-4B64-A716-14327E69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Goal에는 완료 근거와 멈출 조건을 담는다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E75BBB-75A5-49E8-B311-E1A36E03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5" name="Audience footer 1">
            <a:extLst xmlns:a="http://schemas.openxmlformats.org/drawingml/2006/main">
              <a:ext uri="{FF2B5EF4-FFF2-40B4-BE49-F238E27FC236}">
                <a16:creationId xmlns:a16="http://schemas.microsoft.com/office/drawing/2014/main" id="{3D131012-545E-4E2C-B055-BE779575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r>
              <a: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 xml:space="preserve">요청 예시 · 완료 기준과 중단 조건은 직접 지정</a:t>
            </a:r>
          </a:p>
        </p:txBody>
      </p:sp>
      <p:sp>
        <p:nvSpPr>
          <p:cNvPr id="7" name="막연한 목표: /goal 성능을 개선해 줘.">
            <a:extLst xmlns:a="http://schemas.openxmlformats.org/drawingml/2006/main">
              <a:ext uri="{FF2B5EF4-FFF2-40B4-BE49-F238E27FC236}">
                <a16:creationId xmlns:a16="http://schemas.microsoft.com/office/drawing/2014/main" id="{2134FF67-7E3E-426F-97DF-B6A399BB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막연한 목표: /goal 성능을 개선해 줘.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A13355-FAC4-4B02-AF0E-E138B326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20000" cy="3228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0DA"/>
            </a:solidFill>
            <a:prstDash val="solid"/>
          </a:ln>
        </p:spPr>
      </p:sp>
      <p:sp>
        <p:nvSpPr>
          <p:cNvPr id="9" name="완료를 확인할 수 있는 요청 예시">
            <a:extLst xmlns:a="http://schemas.openxmlformats.org/drawingml/2006/main">
              <a:ext uri="{FF2B5EF4-FFF2-40B4-BE49-F238E27FC236}">
                <a16:creationId xmlns:a16="http://schemas.microsoft.com/office/drawing/2014/main" id="{5A3CC7BB-272E-4782-9CDA-9A3918D9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7200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완료를 확인할 수 있는 요청 예시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718E21-7CD2-41B2-9AB8-88AE4DA2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81325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1" name="/goal 밝기 통계의 임시 할당을 기준판보다 줄여줘.">
            <a:extLst xmlns:a="http://schemas.openxmlformats.org/drawingml/2006/main">
              <a:ext uri="{FF2B5EF4-FFF2-40B4-BE49-F238E27FC236}">
                <a16:creationId xmlns:a16="http://schemas.microsoft.com/office/drawing/2014/main" id="{4DDDD857-10B5-4108-A3FD-32BF0595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33725"/>
            <a:ext cx="720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/goal 밝기 통계의 임시 할당을 기준판보다 줄여줘.</a:t>
            </a:r>
          </a:p>
        </p:txBody>
      </p:sp>
      <p:sp>
        <p:nvSpPr>
          <p:cNvPr id="12" name="기존 6개 출력과 동작은 유지해.">
            <a:extLst xmlns:a="http://schemas.openxmlformats.org/drawingml/2006/main">
              <a:ext uri="{FF2B5EF4-FFF2-40B4-BE49-F238E27FC236}">
                <a16:creationId xmlns:a16="http://schemas.microsoft.com/office/drawing/2014/main" id="{0495CF2A-A036-4C3D-B08F-93517689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14725"/>
            <a:ext cx="720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기존 6개 출력과 동작은 유지해.</a:t>
            </a:r>
          </a:p>
        </p:txBody>
      </p:sp>
      <p:sp>
        <p:nvSpPr>
          <p:cNvPr id="13" name="같은 대표 입력의 테스트·벤치마크로 확인해.">
            <a:extLst xmlns:a="http://schemas.openxmlformats.org/drawingml/2006/main">
              <a:ext uri="{FF2B5EF4-FFF2-40B4-BE49-F238E27FC236}">
                <a16:creationId xmlns:a16="http://schemas.microsoft.com/office/drawing/2014/main" id="{CFA4D317-B066-4211-BBA8-114ED233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95725"/>
            <a:ext cx="720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같은 대표 입력의 테스트·벤치마크로 확인해.</a:t>
            </a:r>
          </a:p>
        </p:txBody>
      </p:sp>
      <p:sp>
        <p:nvSpPr>
          <p:cNvPr id="14" name="실행시간이 기준판보다 나빠지면 완료로 처리하지 마.">
            <a:extLst xmlns:a="http://schemas.openxmlformats.org/drawingml/2006/main">
              <a:ext uri="{FF2B5EF4-FFF2-40B4-BE49-F238E27FC236}">
                <a16:creationId xmlns:a16="http://schemas.microsoft.com/office/drawing/2014/main" id="{EAC74E03-6C03-453D-B06E-C71CBFD6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76725"/>
            <a:ext cx="720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실행시간이 기준판보다 나빠지면 완료로 처리하지 마.</a:t>
            </a:r>
          </a:p>
        </p:txBody>
      </p:sp>
      <p:sp>
        <p:nvSpPr>
          <p:cNvPr id="15" name="검증할 수 없거나 같은 실패가 반복되면,">
            <a:extLst xmlns:a="http://schemas.openxmlformats.org/drawingml/2006/main">
              <a:ext uri="{FF2B5EF4-FFF2-40B4-BE49-F238E27FC236}">
                <a16:creationId xmlns:a16="http://schemas.microsoft.com/office/drawing/2014/main" id="{709C771C-C3E0-44CB-B345-20BFB677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57725"/>
            <a:ext cx="720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검증할 수 없거나 같은 실패가 반복되면,</a:t>
            </a:r>
          </a:p>
        </p:txBody>
      </p:sp>
      <p:sp>
        <p:nvSpPr>
          <p:cNvPr id="16" name="미완료 사유와 필요한 판단을 보고해.">
            <a:extLst xmlns:a="http://schemas.openxmlformats.org/drawingml/2006/main">
              <a:ext uri="{FF2B5EF4-FFF2-40B4-BE49-F238E27FC236}">
                <a16:creationId xmlns:a16="http://schemas.microsoft.com/office/drawing/2014/main" id="{B056D842-5322-4C0D-98F5-74DCD882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38725"/>
            <a:ext cx="720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미완료 사유와 필요한 판단을 보고해.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2A0CA3-7BAE-43C8-AF76-2AE0AC45C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19375"/>
            <a:ext cx="2914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6172"/>
            </a:solidFill>
            <a:prstDash val="solid"/>
          </a:ln>
        </p:spPr>
      </p:sp>
      <p:sp>
        <p:nvSpPr>
          <p:cNvPr id="18" name="목표와 보존">
            <a:extLst xmlns:a="http://schemas.openxmlformats.org/drawingml/2006/main">
              <a:ext uri="{FF2B5EF4-FFF2-40B4-BE49-F238E27FC236}">
                <a16:creationId xmlns:a16="http://schemas.microsoft.com/office/drawing/2014/main" id="{2FF1DA08-1297-4854-AC8A-A353EFA9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622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목표와 보존</a:t>
            </a:r>
          </a:p>
        </p:txBody>
      </p:sp>
      <p:sp>
        <p:nvSpPr>
          <p:cNvPr id="19" name="할당량 감소 / 출력 유지">
            <a:extLst xmlns:a="http://schemas.openxmlformats.org/drawingml/2006/main">
              <a:ext uri="{FF2B5EF4-FFF2-40B4-BE49-F238E27FC236}">
                <a16:creationId xmlns:a16="http://schemas.microsoft.com/office/drawing/2014/main" id="{1BA4A3F9-245C-4BF4-A05D-6B4D7EE5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81350"/>
            <a:ext cx="2914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할당량 감소 / 출력 유지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7A6C1C-DC58-4A05-B32B-BCE97177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48075"/>
            <a:ext cx="2914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6172"/>
            </a:solidFill>
            <a:prstDash val="solid"/>
          </a:ln>
        </p:spPr>
      </p:sp>
      <p:sp>
        <p:nvSpPr>
          <p:cNvPr id="21" name="완료 근거">
            <a:extLst xmlns:a="http://schemas.openxmlformats.org/drawingml/2006/main">
              <a:ext uri="{FF2B5EF4-FFF2-40B4-BE49-F238E27FC236}">
                <a16:creationId xmlns:a16="http://schemas.microsoft.com/office/drawing/2014/main" id="{3617C5C0-2CF1-4A10-9D2B-611E130E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909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완료 근거</a:t>
            </a:r>
          </a:p>
        </p:txBody>
      </p:sp>
      <p:sp>
        <p:nvSpPr>
          <p:cNvPr id="22" name="동작·할당량·시간 확인">
            <a:extLst xmlns:a="http://schemas.openxmlformats.org/drawingml/2006/main">
              <a:ext uri="{FF2B5EF4-FFF2-40B4-BE49-F238E27FC236}">
                <a16:creationId xmlns:a16="http://schemas.microsoft.com/office/drawing/2014/main" id="{5E3EF7AB-E6C0-465A-B580-FAD3777C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10050"/>
            <a:ext cx="2914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동작·할당량·시간 확인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F98A2A-4091-4227-A5E6-AADE3052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76775"/>
            <a:ext cx="2914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6172"/>
            </a:solidFill>
            <a:prstDash val="solid"/>
          </a:ln>
        </p:spPr>
      </p:sp>
      <p:sp>
        <p:nvSpPr>
          <p:cNvPr id="24" name="멈출 조건">
            <a:extLst xmlns:a="http://schemas.openxmlformats.org/drawingml/2006/main">
              <a:ext uri="{FF2B5EF4-FFF2-40B4-BE49-F238E27FC236}">
                <a16:creationId xmlns:a16="http://schemas.microsoft.com/office/drawing/2014/main" id="{54D51E42-D39F-4AFC-9750-F61EE949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8196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멈출 조건</a:t>
            </a:r>
          </a:p>
        </p:txBody>
      </p:sp>
      <p:sp>
        <p:nvSpPr>
          <p:cNvPr id="25" name="막힘을 완료와 구분">
            <a:extLst xmlns:a="http://schemas.openxmlformats.org/drawingml/2006/main">
              <a:ext uri="{FF2B5EF4-FFF2-40B4-BE49-F238E27FC236}">
                <a16:creationId xmlns:a16="http://schemas.microsoft.com/office/drawing/2014/main" id="{56896F2D-0935-451E-A8C4-CAA397DA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238750"/>
            <a:ext cx="2914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막힘을 완료와 구분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94C7C3-EFD6-4CCB-AA98-E47034B1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91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3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27" name="Practical application tip badge">
            <a:extLst xmlns:a="http://schemas.openxmlformats.org/drawingml/2006/main">
              <a:ext uri="{FF2B5EF4-FFF2-40B4-BE49-F238E27FC236}">
                <a16:creationId xmlns:a16="http://schemas.microsoft.com/office/drawing/2014/main" id="{7DD4E54E-CE3C-4900-A312-B2A3CC20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9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실무 적용 팁 · 검증·개선</a:t>
            </a:r>
          </a:p>
        </p:txBody>
      </p:sp>
      <p:sp>
        <p:nvSpPr>
          <p:cNvPr id="28" name="Legacy module connection">
            <a:extLst xmlns:a="http://schemas.openxmlformats.org/drawingml/2006/main">
              <a:ext uri="{FF2B5EF4-FFF2-40B4-BE49-F238E27FC236}">
                <a16:creationId xmlns:a16="http://schemas.microsoft.com/office/drawing/2014/main" id="{7C2D4AAF-5B56-4F88-9C03-05059F8E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M 연계 · 신규 확장</a:t>
            </a:r>
          </a:p>
        </p:txBody>
      </p:sp>
    </p:spTree>
    <p:extLst>
      <p:ext uri="{BB962C8B-B14F-4D97-AF65-F5344CB8AC3E}">
        <p14:creationId xmlns:p14="http://schemas.microsoft.com/office/powerpoint/2010/main" val="2092685812"/>
      </p:ext>
    </p:extLst>
  </p:cSld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ACT 4 · 루프 운영 설계">
            <a:extLst xmlns:a="http://schemas.openxmlformats.org/drawingml/2006/main">
              <a:ext uri="{FF2B5EF4-FFF2-40B4-BE49-F238E27FC236}">
                <a16:creationId xmlns:a16="http://schemas.microsoft.com/office/drawing/2014/main" id="{95F16F99-3414-4BC7-83EC-ED264502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ACT 4 · 루프 운영 설계</a:t>
            </a:r>
          </a:p>
        </p:txBody>
      </p:sp>
      <p:sp>
        <p:nvSpPr>
          <p:cNvPr id="2" name="S104">
            <a:extLst xmlns:a="http://schemas.openxmlformats.org/drawingml/2006/main">
              <a:ext uri="{FF2B5EF4-FFF2-40B4-BE49-F238E27FC236}">
                <a16:creationId xmlns:a16="http://schemas.microsoft.com/office/drawing/2014/main" id="{BF7EA512-E858-493D-97E1-29927D24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S104</a:t>
            </a:r>
          </a:p>
        </p:txBody>
      </p:sp>
      <p:sp>
        <p:nvSpPr>
          <p:cNvPr id="3" name="우리 작업에는 어떤 루프가 필요할까?">
            <a:extLst xmlns:a="http://schemas.openxmlformats.org/drawingml/2006/main">
              <a:ext uri="{FF2B5EF4-FFF2-40B4-BE49-F238E27FC236}">
                <a16:creationId xmlns:a16="http://schemas.microsoft.com/office/drawing/2014/main" id="{E9A59BBB-61FC-423A-B41B-450C2293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우리 작업에는 어떤 루프가 필요할까?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4F6159-C814-4593-BE3E-AB56809E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5" name="Audience footer 1">
            <a:extLst xmlns:a="http://schemas.openxmlformats.org/drawingml/2006/main">
              <a:ext uri="{FF2B5EF4-FFF2-40B4-BE49-F238E27FC236}">
                <a16:creationId xmlns:a16="http://schemas.microsoft.com/office/drawing/2014/main" id="{AF867D5B-001B-47D6-84D9-352BE787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r>
              <a: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 xml:space="preserve">개인 성찰 · 공유는 선택</a:t>
            </a:r>
          </a:p>
        </p:txBody>
      </p:sp>
      <p:sp>
        <p:nvSpPr>
          <p:cNvPr id="7" name="목표">
            <a:extLst xmlns:a="http://schemas.openxmlformats.org/drawingml/2006/main">
              <a:ext uri="{FF2B5EF4-FFF2-40B4-BE49-F238E27FC236}">
                <a16:creationId xmlns:a16="http://schemas.microsoft.com/office/drawing/2014/main" id="{F5EAF430-777A-4DB3-8644-5B258224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2000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59C823-2498-45D1-9D3D-A5FEDF0A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43175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B6172"/>
            </a:solidFill>
            <a:prstDash val="solid"/>
          </a:ln>
        </p:spPr>
      </p:sp>
      <p:sp>
        <p:nvSpPr>
          <p:cNvPr id="9" name="무엇이 되면 완료인가?">
            <a:extLst xmlns:a="http://schemas.openxmlformats.org/drawingml/2006/main">
              <a:ext uri="{FF2B5EF4-FFF2-40B4-BE49-F238E27FC236}">
                <a16:creationId xmlns:a16="http://schemas.microsoft.com/office/drawing/2014/main" id="{2BA4B96C-4D24-4222-9ACC-323B53A0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295525"/>
            <a:ext cx="7715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무엇이 되면 완료인가?</a:t>
            </a:r>
          </a:p>
        </p:txBody>
      </p:sp>
      <p:sp>
        <p:nvSpPr>
          <p:cNvPr id="10" name="피드백">
            <a:extLst xmlns:a="http://schemas.openxmlformats.org/drawingml/2006/main">
              <a:ext uri="{FF2B5EF4-FFF2-40B4-BE49-F238E27FC236}">
                <a16:creationId xmlns:a16="http://schemas.microsoft.com/office/drawing/2014/main" id="{06DA5278-59CB-47B5-B246-13EAB262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2000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피드백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19CD41-4462-48A3-8551-61AA05D3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76625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B6172"/>
            </a:solidFill>
            <a:prstDash val="solid"/>
          </a:ln>
        </p:spPr>
      </p:sp>
      <p:sp>
        <p:nvSpPr>
          <p:cNvPr id="12" name="어떤 지적을 다음 수정에 넘길까?">
            <a:extLst xmlns:a="http://schemas.openxmlformats.org/drawingml/2006/main">
              <a:ext uri="{FF2B5EF4-FFF2-40B4-BE49-F238E27FC236}">
                <a16:creationId xmlns:a16="http://schemas.microsoft.com/office/drawing/2014/main" id="{8D558925-8C4D-4227-8BBF-A42311C5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28975"/>
            <a:ext cx="7715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어떤 지적을 다음 수정에 넘길까?</a:t>
            </a:r>
          </a:p>
        </p:txBody>
      </p:sp>
      <p:sp>
        <p:nvSpPr>
          <p:cNvPr id="13" name="운영">
            <a:extLst xmlns:a="http://schemas.openxmlformats.org/drawingml/2006/main">
              <a:ext uri="{FF2B5EF4-FFF2-40B4-BE49-F238E27FC236}">
                <a16:creationId xmlns:a16="http://schemas.microsoft.com/office/drawing/2014/main" id="{6CCC3500-212E-4229-82C3-AB23129F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2000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운영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B15FE8-744D-40FA-AB50-6CA7A571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410075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B6172"/>
            </a:solidFill>
            <a:prstDash val="solid"/>
          </a:ln>
        </p:spPr>
      </p:sp>
      <p:sp>
        <p:nvSpPr>
          <p:cNvPr id="15" name="누가 검토하고 언제 멈출까?">
            <a:extLst xmlns:a="http://schemas.openxmlformats.org/drawingml/2006/main">
              <a:ext uri="{FF2B5EF4-FFF2-40B4-BE49-F238E27FC236}">
                <a16:creationId xmlns:a16="http://schemas.microsoft.com/office/drawing/2014/main" id="{0C0295AF-48B7-43C5-9369-8C567E37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162425"/>
            <a:ext cx="7715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누가 검토하고 언제 멈출까?</a:t>
            </a:r>
          </a:p>
        </p:txBody>
      </p:sp>
      <p:sp>
        <p:nvSpPr>
          <p:cNvPr id="16" name="제품 기능을 활용하고, 내 업무의 검증·검토를 조합한다">
            <a:extLst xmlns:a="http://schemas.openxmlformats.org/drawingml/2006/main">
              <a:ext uri="{FF2B5EF4-FFF2-40B4-BE49-F238E27FC236}">
                <a16:creationId xmlns:a16="http://schemas.microsoft.com/office/drawing/2014/main" id="{F2C07C86-D387-48FB-B13C-968D2A3E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제품 기능을 활용하고, 내 업무의 검증·검토를 조합한다</a:t>
            </a:r>
          </a:p>
        </p:txBody>
      </p:sp>
      <p:sp>
        <p:nvSpPr>
          <p:cNvPr id="17" name="Legacy module connection">
            <a:extLst xmlns:a="http://schemas.openxmlformats.org/drawingml/2006/main">
              <a:ext uri="{FF2B5EF4-FFF2-40B4-BE49-F238E27FC236}">
                <a16:creationId xmlns:a16="http://schemas.microsoft.com/office/drawing/2014/main" id="{AFEDB20F-205F-4B0A-B676-923F112F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M 연계 · 신규 확장</a:t>
            </a:r>
          </a:p>
        </p:txBody>
      </p:sp>
    </p:spTree>
    <p:extLst>
      <p:ext uri="{BB962C8B-B14F-4D97-AF65-F5344CB8AC3E}">
        <p14:creationId xmlns:p14="http://schemas.microsoft.com/office/powerpoint/2010/main" val="5015149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20</ap:Slides>
  <ap:Notes>20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2026-10-25T13:24:54.3720000Z</dcterms:created>
  <dcterms:modified xsi:type="dcterms:W3CDTF">2026-10-25T13:24:54.3720000Z</dcterms:modified>
</coreProperties>
</file>