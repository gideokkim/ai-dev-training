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ffea1f68c5458f" /><Relationship Type="http://schemas.openxmlformats.org/officeDocument/2006/relationships/extended-properties" Target="/docProps/app.xml" Id="R53628da663c246e8" /><Relationship Type="http://schemas.openxmlformats.org/officeDocument/2006/relationships/officeDocument" Target="/ppt/presentation.xml" Id="R91b9865378254d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4c7edb6c3d4778"/>
  </p:sldMasterIdLst>
  <p:notesMasterIdLst>
    <p:notesMasterId xmlns:r="http://schemas.openxmlformats.org/officeDocument/2006/relationships" r:id="R329a86beb9254fbb"/>
  </p:notesMasterIdLst>
  <p:sldIdLst>
    <p:sldId xmlns:r="http://schemas.openxmlformats.org/officeDocument/2006/relationships" id="256" r:id="R84800f04cfea4e53"/>
    <p:sldId xmlns:r="http://schemas.openxmlformats.org/officeDocument/2006/relationships" id="257" r:id="Re3793c16d0814631"/>
    <p:sldId xmlns:r="http://schemas.openxmlformats.org/officeDocument/2006/relationships" id="258" r:id="Re54d7245166648a1"/>
    <p:sldId xmlns:r="http://schemas.openxmlformats.org/officeDocument/2006/relationships" id="259" r:id="Rda047fa102bd4f7f"/>
    <p:sldId xmlns:r="http://schemas.openxmlformats.org/officeDocument/2006/relationships" id="260" r:id="Rbcf42973c78e4a4d"/>
    <p:sldId xmlns:r="http://schemas.openxmlformats.org/officeDocument/2006/relationships" id="261" r:id="R8b6fa8daa92e4fce"/>
    <p:sldId xmlns:r="http://schemas.openxmlformats.org/officeDocument/2006/relationships" id="262" r:id="R68601d22eb244760"/>
    <p:sldId xmlns:r="http://schemas.openxmlformats.org/officeDocument/2006/relationships" id="263" r:id="Rfddb2ecb05864d22"/>
    <p:sldId xmlns:r="http://schemas.openxmlformats.org/officeDocument/2006/relationships" id="264" r:id="R04afcd9ceb6b4721"/>
    <p:sldId xmlns:r="http://schemas.openxmlformats.org/officeDocument/2006/relationships" id="265" r:id="R8827d8d95b904bb6"/>
    <p:sldId xmlns:r="http://schemas.openxmlformats.org/officeDocument/2006/relationships" id="266" r:id="Rfdc6724b73c54fcc"/>
    <p:sldId xmlns:r="http://schemas.openxmlformats.org/officeDocument/2006/relationships" id="267" r:id="R37ca6b339f984a89"/>
    <p:sldId xmlns:r="http://schemas.openxmlformats.org/officeDocument/2006/relationships" id="268" r:id="R7c2ea31be6c84d80"/>
    <p:sldId xmlns:r="http://schemas.openxmlformats.org/officeDocument/2006/relationships" id="269" r:id="R6618c666c0f74165"/>
    <p:sldId xmlns:r="http://schemas.openxmlformats.org/officeDocument/2006/relationships" id="270" r:id="R67fc406c37d94da5"/>
    <p:sldId xmlns:r="http://schemas.openxmlformats.org/officeDocument/2006/relationships" id="271" r:id="Ra2123cca344042e4"/>
    <p:sldId xmlns:r="http://schemas.openxmlformats.org/officeDocument/2006/relationships" id="272" r:id="R58e731d6f15a4289"/>
    <p:sldId xmlns:r="http://schemas.openxmlformats.org/officeDocument/2006/relationships" id="273" r:id="Reb84970f3ae84a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d7ee7a5f624aa9" /><Relationship Type="http://schemas.openxmlformats.org/officeDocument/2006/relationships/slideMaster" Target="/ppt/slideMasters/slideMaster1.xml" Id="Rd84c7edb6c3d4778" /><Relationship Type="http://schemas.openxmlformats.org/officeDocument/2006/relationships/notesMaster" Target="/ppt/notesMasters/notesMaster1.xml" Id="R329a86beb9254fbb" /><Relationship Type="http://schemas.openxmlformats.org/officeDocument/2006/relationships/presProps" Target="/ppt/presProps.xml" Id="Re6f66599a56f4095" /><Relationship Type="http://schemas.openxmlformats.org/officeDocument/2006/relationships/tableStyles" Target="/ppt/tableStyles.xml" Id="R8b7f711a13e146af" /><Relationship Type="http://schemas.openxmlformats.org/officeDocument/2006/relationships/slide" Target="/ppt/slides/slide1.xml" Id="R84800f04cfea4e53" /><Relationship Type="http://schemas.openxmlformats.org/officeDocument/2006/relationships/slide" Target="/ppt/slides/slide2.xml" Id="Re3793c16d0814631" /><Relationship Type="http://schemas.openxmlformats.org/officeDocument/2006/relationships/slide" Target="/ppt/slides/slide3.xml" Id="Re54d7245166648a1" /><Relationship Type="http://schemas.openxmlformats.org/officeDocument/2006/relationships/slide" Target="/ppt/slides/slide4.xml" Id="Rda047fa102bd4f7f" /><Relationship Type="http://schemas.openxmlformats.org/officeDocument/2006/relationships/slide" Target="/ppt/slides/slide5.xml" Id="Rbcf42973c78e4a4d" /><Relationship Type="http://schemas.openxmlformats.org/officeDocument/2006/relationships/slide" Target="/ppt/slides/slide6.xml" Id="R8b6fa8daa92e4fce" /><Relationship Type="http://schemas.openxmlformats.org/officeDocument/2006/relationships/slide" Target="/ppt/slides/slide7.xml" Id="R68601d22eb244760" /><Relationship Type="http://schemas.openxmlformats.org/officeDocument/2006/relationships/slide" Target="/ppt/slides/slide8.xml" Id="Rfddb2ecb05864d22" /><Relationship Type="http://schemas.openxmlformats.org/officeDocument/2006/relationships/slide" Target="/ppt/slides/slide9.xml" Id="R04afcd9ceb6b4721" /><Relationship Type="http://schemas.openxmlformats.org/officeDocument/2006/relationships/slide" Target="/ppt/slides/slide10.xml" Id="R8827d8d95b904bb6" /><Relationship Type="http://schemas.openxmlformats.org/officeDocument/2006/relationships/slide" Target="/ppt/slides/slide11.xml" Id="Rfdc6724b73c54fcc" /><Relationship Type="http://schemas.openxmlformats.org/officeDocument/2006/relationships/slide" Target="/ppt/slides/slide12.xml" Id="R37ca6b339f984a89" /><Relationship Type="http://schemas.openxmlformats.org/officeDocument/2006/relationships/slide" Target="/ppt/slides/slide13.xml" Id="R7c2ea31be6c84d80" /><Relationship Type="http://schemas.openxmlformats.org/officeDocument/2006/relationships/slide" Target="/ppt/slides/slide14.xml" Id="R6618c666c0f74165" /><Relationship Type="http://schemas.openxmlformats.org/officeDocument/2006/relationships/slide" Target="/ppt/slides/slide15.xml" Id="R67fc406c37d94da5" /><Relationship Type="http://schemas.openxmlformats.org/officeDocument/2006/relationships/slide" Target="/ppt/slides/slide16.xml" Id="Ra2123cca344042e4" /><Relationship Type="http://schemas.openxmlformats.org/officeDocument/2006/relationships/slide" Target="/ppt/slides/slide17.xml" Id="R58e731d6f15a4289" /><Relationship Type="http://schemas.openxmlformats.org/officeDocument/2006/relationships/slide" Target="/ppt/slides/slide18.xml" Id="Reb84970f3ae84a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63302b9b674b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5deb62bab04739" /><Relationship Type="http://schemas.openxmlformats.org/officeDocument/2006/relationships/notesMaster" Target="/ppt/notesMasters/notesMaster1.xml" Id="R3723ee57cf1b49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022f46533b420b" /><Relationship Type="http://schemas.openxmlformats.org/officeDocument/2006/relationships/notesMaster" Target="/ppt/notesMasters/notesMaster1.xml" Id="R440dfbcea2b643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9448ddc20c4336" /><Relationship Type="http://schemas.openxmlformats.org/officeDocument/2006/relationships/notesMaster" Target="/ppt/notesMasters/notesMaster1.xml" Id="Rc9a7161f95884d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5f3fdb3b204c25" /><Relationship Type="http://schemas.openxmlformats.org/officeDocument/2006/relationships/notesMaster" Target="/ppt/notesMasters/notesMaster1.xml" Id="R02e0672d21ad43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b27f75114b40ca" /><Relationship Type="http://schemas.openxmlformats.org/officeDocument/2006/relationships/notesMaster" Target="/ppt/notesMasters/notesMaster1.xml" Id="Rf1181c187a874d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9b45b3c67c4714" /><Relationship Type="http://schemas.openxmlformats.org/officeDocument/2006/relationships/notesMaster" Target="/ppt/notesMasters/notesMaster1.xml" Id="R9ded48b40ee243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88ae339a064eb8" /><Relationship Type="http://schemas.openxmlformats.org/officeDocument/2006/relationships/notesMaster" Target="/ppt/notesMasters/notesMaster1.xml" Id="R3a7c587ec7db40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c4c048438f42ca" /><Relationship Type="http://schemas.openxmlformats.org/officeDocument/2006/relationships/notesMaster" Target="/ppt/notesMasters/notesMaster1.xml" Id="Reee6b0fa7857437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eefcea942748b9" /><Relationship Type="http://schemas.openxmlformats.org/officeDocument/2006/relationships/notesMaster" Target="/ppt/notesMasters/notesMaster1.xml" Id="R181b3134e4c04d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838b654a764b5b" /><Relationship Type="http://schemas.openxmlformats.org/officeDocument/2006/relationships/notesMaster" Target="/ppt/notesMasters/notesMaster1.xml" Id="Rfa7395f151d1459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10458a513c48bb" /><Relationship Type="http://schemas.openxmlformats.org/officeDocument/2006/relationships/notesMaster" Target="/ppt/notesMasters/notesMaster1.xml" Id="Re9c26068b9394c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e2f7aa6d934043" /><Relationship Type="http://schemas.openxmlformats.org/officeDocument/2006/relationships/notesMaster" Target="/ppt/notesMasters/notesMaster1.xml" Id="R7aeb373ed8494ae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0f96b9b14454fcb" /><Relationship Type="http://schemas.openxmlformats.org/officeDocument/2006/relationships/notesMaster" Target="/ppt/notesMasters/notesMaster1.xml" Id="R3729d461097f4d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1049e8d43a248a6" /><Relationship Type="http://schemas.openxmlformats.org/officeDocument/2006/relationships/notesMaster" Target="/ppt/notesMasters/notesMaster1.xml" Id="Rf847caf98b6e4e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4ef3041e094600" /><Relationship Type="http://schemas.openxmlformats.org/officeDocument/2006/relationships/notesMaster" Target="/ppt/notesMasters/notesMaster1.xml" Id="R60c189dea7904c7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2ddb18d8c0484a" /><Relationship Type="http://schemas.openxmlformats.org/officeDocument/2006/relationships/notesMaster" Target="/ppt/notesMasters/notesMaster1.xml" Id="R938412e2a698472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b4008e9b44c41d5" /><Relationship Type="http://schemas.openxmlformats.org/officeDocument/2006/relationships/notesMaster" Target="/ppt/notesMasters/notesMaster1.xml" Id="Re2f2d56bbfd743a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9daf5fa208c40de" /><Relationship Type="http://schemas.openxmlformats.org/officeDocument/2006/relationships/notesMaster" Target="/ppt/notesMasters/notesMaster1.xml" Id="Re66efd9321ca45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확인한 성공을 유지하려면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확인한 성공을 유지하려면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“앞서 정리한 정보와 절차는, 어떤 변화가 생겼을 때 다시 검토해야 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 / Lecture) S67에서 위치·검토/갱신 역할을 생각했다는 점을 회수한다. 실제 밝기 통계는 출력6항목·전체 테스트11/11·같은 조건의 측정/guard를 확인한 성공으로 마쳤다고 짧게 남긴다. S58의 수치나 명령을 다시 풀어 설명하지 않는다.</a:t>
            </a:r>
          </a:p>
          <a:p xmlns:a="http://schemas.openxmlformats.org/drawingml/2006/main">
            <a:r>
              <a:t>2. (0:45–2:15 / Lecture) 기록된 성공은 그 입력·코드·환경과 검증 조건의 기준점이다. 이후 다른 조건에서도 맞는지까지 검증한 것은 아니다. 현재 성공을 실제 실패나 stale Harness 이력으로 바꾸지 않는다.</a:t>
            </a:r>
          </a:p>
          <a:p xmlns:a="http://schemas.openxmlformats.org/drawingml/2006/main">
            <a:r>
              <a:t>3. (2:15–3:00 / Lecture) 이번 ACT는 현재 기준과 재사용 지침을 계속 맞게 유지하고, 바꿨다면 다시 확인하는 문제를 다룬다고 안내한다. 완성 Loop나 가상 사례의 답을 먼저 제시하지 않는다.</a:t>
            </a:r>
          </a:p>
          <a:p xmlns:a="http://schemas.openxmlformats.org/drawingml/2006/main">
            <a:r>
              <a:t>4. (3:00–4:00 / Reflection) S67에서 떠올린 한 가지에 대해 어떤 기준/환경 변화가 담당자의 재검토를 요구할지 조용히 생각하게 한다. 앞 장의 위치·담당 선택을 다시 시키거나 답변/산출물을 요구하지 않는다. 다음 S69부터 별도 가상 사례가 시작된다.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STATE-04-PERF / bounded image_statistics evidence; DEC-0021/0062/0080; BEAT-037/038.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OBSERVED_PRODUCT callback이다. 기록된 task·코드·입력·runtime·host·검증 조건에 한정한다. 이후 변화/실패를 관찰한 것이 아니며 유지 문제의 질문과 실제 결과를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작업의 성공을 기준으로 남기고, 어떤 조건 변화가 다시 확인할 신호가 되는지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검증된 한 상태와 지속적인 유효성은 다르다. 이 차이가 별도 개념 사례를 여는 이유이며 실제 Product history는 연장하지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추가 실행 없이 세 성공 근거를 짧게 회수하고 유지 문제로 이동한다. 과거 수치를 성과 발표처럼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Reflection1분: 앞에서 고른 자료에 어떤 변화가 생기면 다시 확인할지 생각한다. 기록·공개 답변은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성공은 그대로 남기겠습니다. 별도의 가상 프로젝트에서 기준과 재사용 절차가 처음에는 맞았던 상태부터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Lecture3분(성공 회수0.75, 적용 범위1.5, 유지 문제0.75) + Reflection1분. 실제4분 운영은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S68, production/preview/act4/S68.png 및 production/preview/full/S68.png. 표시된 실제/가상/교육용 모델의 경계를 유지한다. 최종 파일·fallback 확인은 production/evaluation/ACT3_ACT4_HANDOFF_REVISION.md를 따른다.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시간/Mode·운영 순서를 정렬했다. 최종 패키지·PNG·내장 Notes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처음에는 기준과 재사용 절차가 맞았다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처음에는 기준과 재사용 절차가 맞았다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“프로젝트 기준과 다시 읽을 작업 지침은 현재 같은 범위를 말하고 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 / VISUAL Demo) 실제 graypipe 이력과 별개인 가상 사례를 시작한다. Workflow는 재사용할 수행 절차이며 앞에서는 그 역할을 Skill로 관리했다고 연결한다. 같은 graypipe Skill 파일이나 같은 사건이라는 뜻은 아니다.</a:t>
            </a:r>
          </a:p>
          <a:p xmlns:a="http://schemas.openxmlformats.org/drawingml/2006/main">
            <a:r>
              <a:t>2. (0:30–1:30 / VISUAL Demo) 왼쪽 프로젝트 문서의 현재 기준과 오른쪽 다음 작업이 읽을 재사용 지침을 각각 짚는다. 둘 다 단위 테스트를 대상으로 한다는 정상 출발 가정이다. 두 소제목은 서로 다른 출처이며 하나의 문장으로 읽지 않는다.</a:t>
            </a:r>
          </a:p>
          <a:p xmlns:a="http://schemas.openxmlformats.org/drawingml/2006/main">
            <a:r>
              <a:t>3. (1:30–2:00 / VISUAL Demo) 현재 기준에 맞춰 검토해 둔 절차라는 가정을 남긴다. 누가 실제로 파일을 검토했다는 사건을 만들어 넣지 않고 다음 프로젝트 변화로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constructed starting condition / DEC-0021/0027/0080 / BEAT-038; no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CONCEPTUAL. 앞선 Skill과 역할을 연결한 설명이며 동일 파일·동일 사건·실제 검토/실행/테스트 결과가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프로젝트에서 지금 요구하는 범위와 다음 작업에 다시 쓸 지침을 나란히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구현으로서의 Skill과 일반적인 재사용 Workflow를 구분한다. 원래 맞던 지침도 프로젝트 기준이 바뀌면 다시 검토해야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실제 C++ 프로젝트에서도 검증 기준/구조가 바뀔 수 있다는 맥락만 유지한다. 별도 구현/명령을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CONCEPTUAL 정적 도식. 용어 연결 한 줄→왼쪽 현재 기준→오른쪽 지침→같다는 관계 순으로 가리킨다. 명령·실행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범위의 일치만 눈으로 비교한다. 응답·실습을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“현재 기준에 맞춰 둔 절차입니다. 프로젝트의 검증 기준이 넓어지면, 검토·갱신 담당은 무엇을 다시 봐야 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VISUAL Demo2분: 사례/용어0.5, 두 출처와 범위1, 정상 출발/변화 질문0.5.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S69, production/preview/act4/S69.png 및 production/preview/full/S69.png. 표시된 실제/가상/교육용 모델의 경계를 유지한다. 최종 파일·fallback 확인은 production/evaluation/ACT3_ACT4_HANDOFF_REVISION.md를 따른다.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시간/Mode·운영 순서를 정렬했다. 최종 패키지·PNG·내장 Notes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“프로젝트 기준이 바뀌면, 검토·갱신 담당은 어떤 지침을 다시 확인해야 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정당한 요구 변화와 재사용 지침의 미갱신을 구분한다. S67의 검토·갱신 역할을 회수한다. 기준이 바뀌었다는 신호를 받은 담당이 원래 프로젝트 문서와 이 지침을 대조해야 하는 상황을 생각한다. 실제 회사의 담당자나 발생 사건을 확정하지 않는다.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않는다.;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S70와 production/preview/act4/S70.png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“차이는 확인했습니다. 이번 요청만 보정하는 것과, 다음 작업이 읽을 지침까지 바꾸는 것은 어떻게 다를까요?”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시간/Mode·현재 화면/운영 역할을 정렬했다. 최종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이번 요청과 다음 작업의 지침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요청과 다음 작업의 지침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요청을 보정하면, 다음 작업이 읽을 지침까지 달라질까요?”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Case) 왼쪽 이번 요청에 ‘통합 테스트도 확인해 줘’를 적는 가능한 대응을 읽는다. 실제 실행이나 복구 성공을 보여주는 프롬프트 캡처가 아니다.</a:t>
            </a:r>
          </a:p>
          <a:p xmlns:a="http://schemas.openxmlformats.org/drawingml/2006/main">
            <a:r>
              <a:t>2. (1:00–2:00 / Case) 오른쪽 다음 작업이 읽을 Workflow에는 단위 테스트 지시만 남을 수 있음을 비교한다. 요청 보정과 지침의 검토·갱신은 서로 다른 출처에 대한 조치다.</a:t>
            </a:r>
          </a:p>
          <a:p xmlns:a="http://schemas.openxmlformats.org/drawingml/2006/main">
            <a:r>
              <a:t>3. (2:00–3:00 / Case) 다음 작업까지 바꾸려면 재사용 출처를 검토해야 하지만 어떤 것을 수정할지는 원인을 확인한 뒤 판단한다고 회수한다. S72에서 확인할 기록을 먼저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conceptual response comparison / DEC-0080; no execution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가능한 요청 보정과 남아 있는 지침의 가상 비교다. 실제 실행·복구·누락·PASS/FAIL 결과가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요청에 더 쓴 내용은 다른 작업의 기본 지침을 자동으로 고치지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Task-level workaround와 durable instruction change를 구분하고, 원인 확인 없이 파일을 고치지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요청 상자와 별도 재사용 지침 상자를 비교한다. 실제 제품 입력창 캡처나 Agent 실행이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이번 요청과 다음 지침의 차이를 눈으로 비교한다. 별도 응답·실습은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“어디를 고치기 전에, 실제로 어떤 기준과 지침을 썼는지부터 확인하겠습니다.”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Case3분: 요청1, 남은 지침1, 원인 확인으로 연결1.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S71, production/preview/act4/S71.png 및 production/preview/full/S71.png. 표시된 실제/가상/교육용 모델의 경계를 유지한다. 최종 파일·fallback 확인은 production/evaluation/ACT3_ACT4_HANDOFF_REVISION.md를 따른다.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시간/Mode·운영 순서를 정렬했다. 최종 패키지·PNG·내장 Notes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원인을 고르기 전에 확인할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원인을 고르기 전에 확인할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프로젝트 기준·참조한 재사용 지침·실행 환경/권한·제품 코드/검사 기록을 먼저 확인하고 원인을 선택한다. 증상만으로 수정 대상을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“검증이 충분한지 판단하려면 어떤 기록이 필요할까요?”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 / CAPTURED Demo) S71의 요청 보정에서 원인 확인으로 이동한다. 화면은 실제 문제라면 확인할 기록을 설계한 개념 도식이며 실행 증거가 아니다.</a:t>
            </a:r>
          </a:p>
          <a:p xmlns:a="http://schemas.openxmlformats.org/drawingml/2006/main">
            <a:r>
              <a:t>2. (0:30–1:30 / CAPTURED Demo) 현재 프로젝트 문서/명세, 실제로 읽은 재사용 지침, 명령·권한·실행 조건, 코드 변경과 검사 결과를 네 조사 대상으로 짚는다. Tool의 실행·실패 여부도 실제 기록이 있어야 판단한다. 고정 진단표나 한 증상/한 원인의 대응표가 아니다.</a:t>
            </a:r>
          </a:p>
          <a:p xmlns:a="http://schemas.openxmlformats.org/drawingml/2006/main">
            <a:r>
              <a:t>3. (1:30–2:00 / CAPTURED Demo) 현재 기준과 실제 실행 경로를 대조해야 한다고 회수한다. 원인이나 변경 대상을 선택하지 않고 S73에서 가정과 원인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DEMO-11 / DEMO-04A; BEAT-043/044; CLM-0020/0029; INV-LOOP-001;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/ TEACHING_MODEL. 확인 대상의 설계이며 실제 실패·실행 로그·관찰 결과가 아니다. 원인은 기록을 대조해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어디를 고칠지 먼저 고르지 않고, 현재 기준과 실제 작업이 참고한 것을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Context·Workflow·Environment/Permission·Tool·Product code가 각각 원인 후보일 수 있다. 목록 자체가 원인을 판정하지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빌드·환경·권한·프로젝트 코드도 서로 다른 조사 대상으로 확인하는 맥락만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DEMO-11의2분 정적 설명이다. 왼쪽 판단 질문에서 오른쪽 확인 대상 네 행으로 이동한다. CAPTURED는 보존된 교육용 설명 화면이며 raw execution capture가 아니다. 새 실행은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발표자가 질문을 회수한다. 추가 Q&amp;A·실습 시간을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“확인할 대상은 정했습니다. 이제 사례에 주어진 정보와 아직 확인하지 않은 원인 가설을 나누겠습니다.”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Demo2분: 조사로 전환0.5, 확인할 네 대상1, 정보/가설 구분으로 연결0.5. 기존 Demo 배정을 유지하며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S72, production/preview/act4/S72.png 및 production/preview/full/S72.png. 표시된 실제/가상/교육용 모델의 경계를 유지한다. 최종 파일·fallback 확인은 production/evaluation/ACT3_ACT4_HANDOFF_REVISION.md를 따른다.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시간/Mode·운영 순서를 정렬했다. 최종 패키지·PNG·내장 Notes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주어진 정보와 원인 가설을 나눈다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주어진 정보와 원인 가설을 나눈다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가상 사례의 현재 기준과 재사용 지침 차이는 주어진 정보다. 그것이 실제 작업의 원인이라는 가설은 실행 경로와 참조 지침을 대조해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“지침이 다르다는 사실만으로 실제 문제의 원인까지 알 수 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S72의 확인 대상 중 현재 기준과 재사용 지침을 사례에 대입한다. 왼쪽 단위+통합 기준과 단위만 지시하는 Workflow는 가상 설정에 주어진 정보다. 실제 Trial을 관찰한 결과가 아니다. 오른쪽 오래된 지침이 원인일 수 있다는 말은 아직 확인할 가설이다.</a:t>
            </a:r>
          </a:p>
          <a:p xmlns:a="http://schemas.openxmlformats.org/drawingml/2006/main">
            <a:r>
              <a:t>2. (1:00–2:00 / CAPTURED Demo) 두 출처의 차이와 원인 판단을 좌우로 분리해 짚는다. 실제 문제에서는 실행 경로와 실제로 읽은 지침을 대조해야 한다. 이 사례의 실행 기록을 만들거나 원인 확인이 끝났다고 주장하지 않는다. 다음 장은 원인이 확인됐다고 가정했을 때의 선택이다.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DEMO-11; BEAT-043/044; CLM-0020/0029; INV-LOOP-001;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/ TEACHING_MODEL. 가상 전제·원인 가설·실제 확인을 분리한다. 원인 확인 결과나 확정 실패는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기준이 다르다는 것과, 그것이 이번 작업의 원인이라는 것은 다른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증상·출처 간 차이·실제 선택된 instruction의 실행 기여를 구분한다. 확신 수준을 근거에 맞춰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환경/권한/코드 문제도 별도 후보로 남긴다. 회사 장비나 제품의 원인을 판정하지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Lecture1분 뒤 같은 정적 화면에서 DEMO-11의1분을 사용한다. 원인 확인을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발표자가 왼쪽 정보와 오른쪽 가설의 차이를 짧게 묻고 회수한다. 응답/실습은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“실제로 조사해 Workflow가 원인임을 확인했다고 가정하면, 어느 출처를 바꾸는 편이 맞을까요?”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Lecture1분 + Demo1분(CAPTURED 정적 도식).2분에 다음 Case로 이동하며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S73, production/preview/act4/S73.png 및 production/preview/full/S73.png. 표시된 실제/가상/교육용 모델의 경계를 유지한다. 최종 파일·fallback 확인은 production/evaluation/ACT3_ACT4_HANDOFF_REVISION.md를 따른다.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시간/Mode·운영 순서를 정렬했다. 최종 패키지·PNG·내장 Notes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확인한 원인에 맞춰 변경 대상을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확인한 원인에 맞춰 변경 대상을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Workflow가 원인으로 확인됐다고 가정한 경우, 이번 요청 보정·전역 규칙 추가·원인 Workflow 갱신의 영향 범위를 비교해 원인에 맞는 출처를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“원인이 확인됐다면, 어느 위치를 바꿔야 다음 작업에도 반영될까요?”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 / Case) ‘재사용 Workflow가 원인으로 확인됐다면’이라는 조건을 먼저 읽는다. 앞 장에서 실제 확인 결과를 얻었다는 뜻이 아니며 확인됐다는 조건의 대응 설계다.</a:t>
            </a:r>
          </a:p>
          <a:p xmlns:a="http://schemas.openxmlformats.org/drawingml/2006/main">
            <a:r>
              <a:t>2. (0:30–1:30 / Case) 이번 요청 보정은 현재 Task의 범위, 전역 규칙 추가는 넓은 중복/충돌 가능성, 원인 Workflow 갱신은 다음 작업이 읽을 절차를 바꾸는 조치임을 비교한다. Workflow가 항상 정답이라는 규칙을 만들지 않는다.</a:t>
            </a:r>
          </a:p>
          <a:p xmlns:a="http://schemas.openxmlformats.org/drawingml/2006/main">
            <a:r>
              <a:t>3. (1:30–2:00 / Case) 검토 담당은 확인한 원인과 수정 위치가 맞는지 본다. 그 조건이 지지하는 범위를 S75에서 구체적으로 검토·갱신한다.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DEMO-11 teaching context outside its3 Demo minutes; BEAT-044/045; INV-LOOP-001; CLM-0020/0029;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/ TEACHING_MODEL. 조건부 대응의 선택 논리다. 실제 Product 수정·원인 확인·일반 정답이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요청만 고칠지, 다음 작업도 읽는 지침을 고칠지 수정의 위치를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최소한의 원인 일치 변경을 선택한다. 전역 규칙과 stale 지침의 중복은 원인이 지지할 때만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기존 세 대응 비교를 Case2분으로 설명한다. DEMO-11은 S72 2분/S73 1분 그대로이며 S74는 추가 Demo가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가정과 영향 범위를 가리킨다. 공개 답변이나 실제 수정은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“바꿀 출처를 골랐다면, 담당자는 어떤 범위까지 수정하고 검토해야 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Case2분: 원인 확인 조건0.5, 세 대응 범위1, 검토/갱신 책임0.5.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S74, production/preview/act4/S74.png 및 production/preview/full/S74.png. 표시된 실제/가상/교육용 모델의 경계를 유지한다. 최종 파일·fallback 확인은 production/evaluation/ACT3_ACT4_HANDOFF_REVISION.md를 따른다.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시간/Mode·운영 순서를 정렬했다. 최종 패키지·PNG·내장 Notes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확인된 범위만 검토하고 갱신한다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확인된 범위만 검토하고 갱신한다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“갱신 담당과 검토 담당은 무엇을 확인해야 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Workflow가 원인으로 확인됐다는 가정 안에서 기존 단위 테스트 지시를 현재 기준인 단위+통합으로 갱신하는 범위를 짚는다. ‘최소’는 무조건 적게 고치는 뜻이 아니라 원인이 지지하는 범위다. 오래된 중복 지침도 원인일 때만 정리하고 관련 없는 규칙은 임의로 바꾸지 않는다.</a:t>
            </a:r>
          </a:p>
          <a:p xmlns:a="http://schemas.openxmlformats.org/drawingml/2006/main">
            <a:r>
              <a:t>2. (1:00–1:40 / Case) 아래 세 역할을 가리킨다. 갱신 담당은 확인된 지침을 수정하고, 검토 담당은 현재 기준·변경 범위가 맞는지 확인하며, 이후 같은 작업과 대표 작업으로 다시 평가한다. 담당은 예시 역할이고 실제 팀 구성원을 배정한 것이 아니다. 검토·갱신을 같은 사람이 맡을 수도 있으며 자동 자기 수정으로 설명하지 않는다.</a:t>
            </a:r>
          </a:p>
          <a:p xmlns:a="http://schemas.openxmlformats.org/drawingml/2006/main">
            <a:r>
              <a:t>3. (1:40–2:00 / Case) S67의 ‘어디에 두고 누가 유지할까’를 이 가상 유지 문제에서 회수했다고 정리한다. 실제 수정/재평가 결과는 없으며 S76에서 무엇을 확인해야 하는지로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BEAT-045/046 / INV-LOOP-001 / CLM-0020/0029 /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/ TEACHING_MODEL. 원인 확인을 가정한 지침 갱신과 역할의 예시다. 실제 담당 배정·Product/Skill 변경·재평가 성공을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바꿀 지침과 바꿀 범위를 정하고, 누가 수정·검토하며 무엇으로 다시 확인할지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원인과 변경 범위를 일치시키며 사람의 유지 책임을 남긴다. 도구가 수정에 도움을 주더라도 갱신·검토·수용 책임이 자동으로 사라지지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전후 지침과 아래 역할을 가리킨다. 실제 diff·Agent 실행·테스트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담당을 직접 정하거나 문서를 작성하게 하지 않는다. 역할 관계만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지침을 바꿨다면, 같은 작업을 다시 확인하는 것만으로 충분할까요?”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Lecture1분(원인/범위·전후 지침) + Case1분(역할0.67, 재평가 질문0.33).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S75, production/preview/act4/S75.png 및 production/preview/full/S75.png. 표시된 실제/가상/교육용 모델의 경계를 유지한다. 최종 파일·fallback 확인은 production/evaluation/ACT3_ACT4_HANDOFF_REVISION.md를 따른다.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시간/Mode·운영 순서를 정렬했다. 최종 패키지·PNG·내장 Notes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S75의 검토·갱신 뒤 무엇을 확인할지로 이동한다.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 ·  designed rerun and system evaluation path;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S76와 production/preview/act4/S76.png를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시간/Mode·현재 화면/운영 역할을 정렬했다. 최종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각 행의 상태를 먼저 읽는다. EVAL-01/02의 과거 관찰 참고는 새 Workflow 평가 결과가 아니며 EVAL-03/04는 설계 사례다. 네 행 모두 변경 후 평가 PASS/FAIL이나 완료 결과를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S77와 production/preview/act4/S77.png를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“지금까지 따로 본 관찰·원인 판단·변경·평가를, 다음 작업까지 이어지는 하나의 운영 순서로 묶겠습니다.” S79으로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S78와 production/preview/act4/S78.png를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관찰을 시스템 개선으로 잇는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관찰을 시스템 개선으로 잇는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“앞에서 나누어 본 판단을 어떤 순서로 이어야 다음 작업도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Lecture, R1/R2) 앞선 가상 사례를 다섯 단계의 운영 모델로 정리한다. 실행은 실제 경로를 확인할 대상, 관찰은 현재 기준과 선택된 지침을 대조할 대상이다. 지금 사례에는 실제 실행 결과가 없음을 유지한다. 위 번호와 질문을 각각 한 열씩 가리킨다.</a:t>
            </a:r>
          </a:p>
          <a:p xmlns:a="http://schemas.openxmlformats.org/drawingml/2006/main">
            <a:r>
              <a:t>2. (2:00–5:00 / Lecture, R3) 원인 판단은 출처 간 차이만으로 끝나지 않고 실제 실행 경로와 읽은 지침 같은 추가 근거를 요구한다. S72/S73에서 본 정보와 가설의 구분을 짧게 회수한다. 가능한 가설이 실제 확인 결과로 바뀌었다고 말하지 않는다.</a:t>
            </a:r>
          </a:p>
          <a:p xmlns:a="http://schemas.openxmlformats.org/drawingml/2006/main">
            <a:r>
              <a:t>3. (5:00–7:00 / Lecture, R4) 원인이 확인됐다면 적절한 출처를 사람이 검토·갱신하는 것이 시스템 변경이다. S74/S75의 변경 위치·범위·유지 책임을 연결한다. 특정 도구의 자동 학습이나 자율 수정이 아니다.</a:t>
            </a:r>
          </a:p>
          <a:p xmlns:a="http://schemas.openxmlformats.org/drawingml/2006/main">
            <a:r>
              <a:t>4. (7:00–9:00 / Lecture, R5) 재평가는 같은 작업과 다른 대표 작업이 각각 어떤 질문에 답하는지 본다. S76–S78의 설명을 다시 전부 강의하지 않는다. 결과를 확인한 뒤 다음 작업에서도 관찰을 이어간다는 아래 되돌림 선을 읽는다.</a:t>
            </a:r>
          </a:p>
          <a:p xmlns:a="http://schemas.openxmlformats.org/drawingml/2006/main">
            <a:r>
              <a:t>5. (9:00–11:00 / VISUAL Demo) 정적 화면에서01→05→다음 작업을 한 번 가리킨다. 숫자·단계·짧은 질문·가상 예시는 같은 열이며 두 열을 이어 읽지 않는다. 가상 지침 사례를 닫고 S80의 실제 Trial 평가·보고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DEC-0023  ·  course operational model  ·  no product loop;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LOOP-VISUAL 기존2분이다. 전체 내용이 항상 보이는 정적 화면에서 발표자가 초점을 옮긴다. Native animation/숨김 내용은 없으며 실제 실행·원인 확인·수정·재평가 성공을 채우지 않는다. 아래 선은 다음 작업으로 이어지는 운영 관계다.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“앞의 가상 지침 사례는 여기서 닫겠습니다. 이제 S65에서 봤던 실제 환경 관찰이, 교육 제작의 평가·보고 기준을 어떻게 돌아보게 했는지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Lecture9분(실행/관찰2, 원인 판단3, 사람의 시스템 변경2, 재평가2) + VISUAL Demo2분. R1–R5는 정적 화면의 발표 초점이며 실제11분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S79와 production/preview/act4/S79.png를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시간/Mode·현재 화면/운영 역할을 정렬했다. 최종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평가에서 놓친 실행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평가에서 놓친 실행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“S65에서 본 실행 조건을, 당시 평가와 보고는 충분히 설명하고 있었을까요?”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 / CAPTURED Demo) 앞의 가상 사례를 닫고 OBSERVED_META 표식·이중선으로 실제 교육 제작 기록을 연다. S65에서는 외부 조건의 존재를 봤고, 여기서는 그 관찰이 드러낸 평가·보고의 빈틈을 본다고 질문의 변화를 명시한다.</a:t>
            </a:r>
          </a:p>
          <a:p xmlns:a="http://schemas.openxmlformats.org/drawingml/2006/main">
            <a:r>
              <a:t>2. (0:30–1:15 / CAPTURED Demo) TRIAL-006 성능 조사에서 전역 Skill 포함과 시작 경고가 보존됐음을 첫 열로 짧게 회수한다. 두 번째 열은 전체 결과를 Prompt만의 효과로 분리할 수 없다는 한계다. 경고가 도구 실행이나 결과 기여를 증명한다는 뜻은 아니다. 기술적 오류 목록이나 이전 Harness 설명을 다시 열지 않는다.</a:t>
            </a:r>
          </a:p>
          <a:p xmlns:a="http://schemas.openxmlformats.org/drawingml/2006/main">
            <a:r>
              <a:t>3. (1:15–2:00 / CAPTURED Demo) 세 번째 열의 평가 질문으로 이동한다. 결과의 확인과 원인 해석을 어떻게 나눠 남길지가 이번 실제 사례에서 바꿀 평가·보고 체계의 문제다. S81은 그 두 질문, S82는 실제 기록 기준 변경을 맡는다. 실제 Product 코드·Demo Skill 복구 사건으로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  ·  DEC-0016  ·  TRIAL-007/008;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LOCAL STATIC META RECORD. 관찰 조건→평가의 빈틈→기록할 질문 순으로 읽는다. S65와 같은 관찰을 다른 평가/보고 질문으로 회수하며 새 제품 실행·실제 환경 비교를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“측정 결과가 유효한지와, 무엇이 그 결과에 기여했는지는 어떻게 따로 기록해야 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S80와 production/preview/act4/S80.png를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시간/Mode·현재 화면/운영 역할을 정렬했다. 최종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S81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S81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CAPTURED Demo) S80의 기록 질문을 받아 결과 타당성과 원인 해석을 분리한다. S65의 환경 목록을 재설명하지 않는다. 이번 수치는 S58의 image_statistics Benchmark와 별개인 TRIAL-006 resize_nearest 기록임을 먼저 짚는다.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왼쪽의 결과 타당성과 오른쪽의 원인 귀속을 각각 별도 질문으로 읽는다. 실제 hash와 측정 범위는 왼쪽에, Global 영향과 PARTIAL은 오른쪽에 대응한다. 수치를 새로운 실행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  ·  7 one-call samples  ·  disposable worktree; DEC-0080.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S81와 production/preview/act4/S81.png를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DEC-0080의19필드·기존 시간/Mode·현재 화면/운영 역할을 정렬했다. 최종 대조는 production/evaluation/ACT3_ACT4_HANDOFF_REVISION.md에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S82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DEC-0016에서 바뀐 평가·보고 기준에 집중한다. 이전 기록의 빈틈→이후에 남길 환경 관찰 순서로 읽고 제품 코드나 Demo Skill 변경과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S82와 production/preview/act4/S82.png를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S83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TRIAL-007 최종 보고와 보존된 stderr를 대조한다. Nimble AuthRequired는 인증 필요 경고라는 뜻으로만 풀고 MCP 작업 결과나 도구 사용 성공으로 확대하지 않는다. 이후 TRIAL-008에서 호출과 Global influence를 따로 기록한 사실을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S84에서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S83와 production/preview/act4/S83.png를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S84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Meta 사례의 남은 한계를 닫는다. 실제 바뀐 평가·보고 기준과 여전히 미확인인 원인별 효과·환경 목록·품질 향상을 나누고 S85의 적용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“평가 체계를 바꾼 뒤에도 확인할 것이 남았습니다. 이 원리를 C++ Vision 업무로 옮겨, 환경이 달라졌을 때 검증 조건을 어떻게 다시 볼지 생각해 보겠습니다.” S85로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S84와 production/preview/act4/S84.png를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S85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S85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앞의 평가 원리를 업무의 검증 조건에 적용해 본다고 안내하고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S86의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 그림에서 조건 변화만 확인하고 오른쪽 01 기존 가정→02 측정 조건→03 기능 계약을 위에서 아래로 짚는다. 마지막에만 하단 큰 질문으로 시선을 옮긴다. 7–9분 Reflection, 9–16분 Q&amp;A, 16–20분 Transition은 그대로이며 정적 화면을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처음의 질문부터 Task·Context·Harness·Loop까지, 어떤 문제에 대응해 왔는지 전체 Story를 다시 연결하겠습니다.” ACT 5 S86으로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production/preview/act4/S85.png 및 production/preview/full/S85.png.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2dbf39c64e43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00785ce76e4d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53bd6b205941e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6663dd7ecf460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92c0b06e9842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599e5f10734e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F94038-8AB8-4430-9252-6490D9161E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75C41C4-2425-4971-84F1-2F698CE3B26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3D65C53-8211-4EC5-BFA0-6EA672DC49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5837EB-CB1A-487B-94BF-3238BA7658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591187A-F0F5-40B8-B4A8-42E9EA44F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D4367F7-3FBE-4436-BA80-F848A91F5D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17A600C-9718-450F-A364-E4C0E37D2F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F6A4D2A-D849-4478-82DF-119706E845E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741E974-C3B6-4B43-B301-626F823A4A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726B52E-AEC0-40A7-81C5-A792AA7338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9fd0123e664e70" /><Relationship Type="http://schemas.openxmlformats.org/officeDocument/2006/relationships/slideLayout" Target="/ppt/slideLayouts/slideLayout1.xml" Id="R828df92cf8f64ead" /><Relationship Type="http://schemas.openxmlformats.org/officeDocument/2006/relationships/slideLayout" Target="/ppt/slideLayouts/slideLayout2.xml" Id="Rf9bdb07300c14cc4" /><Relationship Type="http://schemas.openxmlformats.org/officeDocument/2006/relationships/slideLayout" Target="/ppt/slideLayouts/slideLayout3.xml" Id="Reddbc180b1314bee" /><Relationship Type="http://schemas.openxmlformats.org/officeDocument/2006/relationships/slideLayout" Target="/ppt/slideLayouts/slideLayout4.xml" Id="Rbd0a08e80cee4fcf" /><Relationship Type="http://schemas.openxmlformats.org/officeDocument/2006/relationships/slideLayout" Target="/ppt/slideLayouts/slideLayout5.xml" Id="Rdf1596d7a26b4c17" /><Relationship Type="http://schemas.openxmlformats.org/officeDocument/2006/relationships/slideLayout" Target="/ppt/slideLayouts/slideLayout6.xml" Id="R2b367bce7c5d42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8df92cf8f64ead"/>
    <p:sldLayoutId xmlns:r="http://schemas.openxmlformats.org/officeDocument/2006/relationships" id="2147483650" r:id="Rf9bdb07300c14cc4"/>
    <p:sldLayoutId xmlns:r="http://schemas.openxmlformats.org/officeDocument/2006/relationships" id="2147483651" r:id="Reddbc180b1314bee"/>
    <p:sldLayoutId xmlns:r="http://schemas.openxmlformats.org/officeDocument/2006/relationships" id="2147483652" r:id="Rbd0a08e80cee4fcf"/>
    <p:sldLayoutId xmlns:r="http://schemas.openxmlformats.org/officeDocument/2006/relationships" id="2147483653" r:id="Rdf1596d7a26b4c17"/>
    <p:sldLayoutId xmlns:r="http://schemas.openxmlformats.org/officeDocument/2006/relationships" id="2147483654" r:id="R2b367bce7c5d42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bade5427394b36" /><Relationship Type="http://schemas.openxmlformats.org/officeDocument/2006/relationships/notesSlide" Target="/ppt/notesSlides/notesSlide1.xml" Id="R529a0f557ad348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03c018d26c4241" /><Relationship Type="http://schemas.openxmlformats.org/officeDocument/2006/relationships/notesSlide" Target="/ppt/notesSlides/notesSlide2.xml" Id="R40362ff8ebeb49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5243a689ed418e" /><Relationship Type="http://schemas.openxmlformats.org/officeDocument/2006/relationships/notesSlide" Target="/ppt/notesSlides/notesSlide3.xml" Id="R5355b9c28e7144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ddbfc5aacf4356" /><Relationship Type="http://schemas.openxmlformats.org/officeDocument/2006/relationships/notesSlide" Target="/ppt/notesSlides/notesSlide4.xml" Id="Rbcb6c48099204a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5da709de954574" /><Relationship Type="http://schemas.openxmlformats.org/officeDocument/2006/relationships/notesSlide" Target="/ppt/notesSlides/notesSlide5.xml" Id="R1e259d5c6bb849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e6abce83f14b6e" /><Relationship Type="http://schemas.openxmlformats.org/officeDocument/2006/relationships/notesSlide" Target="/ppt/notesSlides/notesSlide6.xml" Id="R12605d8921354f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8a6ce0246246d5" /><Relationship Type="http://schemas.openxmlformats.org/officeDocument/2006/relationships/notesSlide" Target="/ppt/notesSlides/notesSlide7.xml" Id="R9f6ccaba09e44e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3c895e7145478e" /><Relationship Type="http://schemas.openxmlformats.org/officeDocument/2006/relationships/notesSlide" Target="/ppt/notesSlides/notesSlide8.xml" Id="R847a1923c91a43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13a2e6df90497d" /><Relationship Type="http://schemas.openxmlformats.org/officeDocument/2006/relationships/notesSlide" Target="/ppt/notesSlides/notesSlide9.xml" Id="R84e4bbd5dde843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ce893237954a9c" /><Relationship Type="http://schemas.openxmlformats.org/officeDocument/2006/relationships/notesSlide" Target="/ppt/notesSlides/notesSlide10.xml" Id="R23c8380a974e47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1ca26b45ad4f0b" /><Relationship Type="http://schemas.openxmlformats.org/officeDocument/2006/relationships/notesSlide" Target="/ppt/notesSlides/notesSlide11.xml" Id="Rbc1605358ef647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5d7e27e41d410e" /><Relationship Type="http://schemas.openxmlformats.org/officeDocument/2006/relationships/notesSlide" Target="/ppt/notesSlides/notesSlide12.xml" Id="R8a9580ac0fc640f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c43d858efb4d97" /><Relationship Type="http://schemas.openxmlformats.org/officeDocument/2006/relationships/notesSlide" Target="/ppt/notesSlides/notesSlide13.xml" Id="Rd38f37dbbb2a4b8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9718ca2de1406a" /><Relationship Type="http://schemas.openxmlformats.org/officeDocument/2006/relationships/notesSlide" Target="/ppt/notesSlides/notesSlide14.xml" Id="R8839e0d73a98435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3479fe34af44d8" /><Relationship Type="http://schemas.openxmlformats.org/officeDocument/2006/relationships/notesSlide" Target="/ppt/notesSlides/notesSlide15.xml" Id="R27232084227b4bd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e28b4821fb4e7c" /><Relationship Type="http://schemas.openxmlformats.org/officeDocument/2006/relationships/notesSlide" Target="/ppt/notesSlides/notesSlide16.xml" Id="R6e626f6a115f44a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1b0ad6ec07426f" /><Relationship Type="http://schemas.openxmlformats.org/officeDocument/2006/relationships/notesSlide" Target="/ppt/notesSlides/notesSlide17.xml" Id="R33ec22ab018d4f4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f71af654314e3e" /><Relationship Type="http://schemas.openxmlformats.org/officeDocument/2006/relationships/image" Target="/ppt/media/image.png" Id="Rb6d3cde3b1fb4e1d" /><Relationship Type="http://schemas.openxmlformats.org/officeDocument/2006/relationships/notesSlide" Target="/ppt/notesSlides/notesSlide18.xml" Id="R4d696c050a2841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4 · 성공한 작업 환경의 유지와 개선">
            <a:extLst xmlns:a="http://schemas.openxmlformats.org/drawingml/2006/main">
              <a:ext uri="{FF2B5EF4-FFF2-40B4-BE49-F238E27FC236}">
                <a16:creationId xmlns:a16="http://schemas.microsoft.com/office/drawing/2014/main" id="{4ABF84E1-3AA3-4A33-B2E8-1A1D2201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성공한 작업 환경의 유지와 개선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F6F1E3D0-832A-4455-8A21-DE1982A2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확인한 성공을 유지하려면">
            <a:extLst xmlns:a="http://schemas.openxmlformats.org/drawingml/2006/main">
              <a:ext uri="{FF2B5EF4-FFF2-40B4-BE49-F238E27FC236}">
                <a16:creationId xmlns:a16="http://schemas.microsoft.com/office/drawing/2014/main" id="{5BF0FBE0-3111-433E-8BA1-2FEC700C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성공을 유지하려면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81CB3-0420-4D4A-BDF9-80254244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밝기 통계의 실제 성공을 기준점으로 보존">
            <a:extLst xmlns:a="http://schemas.openxmlformats.org/drawingml/2006/main">
              <a:ext uri="{FF2B5EF4-FFF2-40B4-BE49-F238E27FC236}">
                <a16:creationId xmlns:a16="http://schemas.microsoft.com/office/drawing/2014/main" id="{8B418DD3-0331-46B6-9D3B-A4EEDD35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밝기 통계의 실제 성공을 기준점으로 보존</a:t>
            </a:r>
          </a:p>
        </p:txBody>
      </p:sp>
      <p:sp>
        <p:nvSpPr>
          <p:cNvPr id="6" name="기록된 입력·코드·환경의 결과 · 다음 가상 사례는 별개이며 실제 실패 이력이 아님">
            <a:extLst xmlns:a="http://schemas.openxmlformats.org/drawingml/2006/main">
              <a:ext uri="{FF2B5EF4-FFF2-40B4-BE49-F238E27FC236}">
                <a16:creationId xmlns:a16="http://schemas.microsoft.com/office/drawing/2014/main" id="{1DF0E303-83D5-48AE-B51C-418A4D26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 · 다음 가상 사례는 별개이며 실제 실패 이력이 아님</a:t>
            </a:r>
          </a:p>
        </p:txBody>
      </p:sp>
      <p:sp>
        <p:nvSpPr>
          <p:cNvPr id="7" name="밝기 통계 작업은 검증된 결과로 마쳤다">
            <a:extLst xmlns:a="http://schemas.openxmlformats.org/drawingml/2006/main">
              <a:ext uri="{FF2B5EF4-FFF2-40B4-BE49-F238E27FC236}">
                <a16:creationId xmlns:a16="http://schemas.microsoft.com/office/drawing/2014/main" id="{F99AE054-E6CF-4413-A440-E292B728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작업은 검증된 결과로 마쳤다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6D19F0-7DBD-4D13-A040-FB0ECD12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명세">
            <a:extLst xmlns:a="http://schemas.openxmlformats.org/drawingml/2006/main">
              <a:ext uri="{FF2B5EF4-FFF2-40B4-BE49-F238E27FC236}">
                <a16:creationId xmlns:a16="http://schemas.microsoft.com/office/drawing/2014/main" id="{A58630A4-AA7D-49BB-94F1-ADBF86F4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명세</a:t>
            </a:r>
          </a:p>
        </p:txBody>
      </p:sp>
      <p:sp>
        <p:nvSpPr>
          <p:cNvPr id="10" name="출력 6항목 동일">
            <a:extLst xmlns:a="http://schemas.openxmlformats.org/drawingml/2006/main">
              <a:ext uri="{FF2B5EF4-FFF2-40B4-BE49-F238E27FC236}">
                <a16:creationId xmlns:a16="http://schemas.microsoft.com/office/drawing/2014/main" id="{94A25E7A-4D62-455E-A987-775FD7C4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 6항목 동일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9DB243-9090-4353-8E5F-B0B460C4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테스트">
            <a:extLst xmlns:a="http://schemas.openxmlformats.org/drawingml/2006/main">
              <a:ext uri="{FF2B5EF4-FFF2-40B4-BE49-F238E27FC236}">
                <a16:creationId xmlns:a16="http://schemas.microsoft.com/office/drawing/2014/main" id="{B2C3A752-BB3F-4770-9A04-C75B918D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2892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3" name="전체 11/11 통과">
            <a:extLst xmlns:a="http://schemas.openxmlformats.org/drawingml/2006/main">
              <a:ext uri="{FF2B5EF4-FFF2-40B4-BE49-F238E27FC236}">
                <a16:creationId xmlns:a16="http://schemas.microsoft.com/office/drawing/2014/main" id="{3E0EC19B-4608-49C6-BB16-B6B48F04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11/11 통과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4443F-C71C-4F2A-B24F-EF197F55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670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FEBD4636-D7EC-4386-924B-2A8F8527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2892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6" name="같은 조건 · 결과 guard">
            <a:extLst xmlns:a="http://schemas.openxmlformats.org/drawingml/2006/main">
              <a:ext uri="{FF2B5EF4-FFF2-40B4-BE49-F238E27FC236}">
                <a16:creationId xmlns:a16="http://schemas.microsoft.com/office/drawing/2014/main" id="{3CEE56D0-4128-4ADF-8F5D-D382DFBF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337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조건 · 결과 guard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5D7D1-CFF8-458D-A823-AF34D9A2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이제 살펴볼 문제: 기준과 절차를 계속 맞게 유지하기">
            <a:extLst xmlns:a="http://schemas.openxmlformats.org/drawingml/2006/main">
              <a:ext uri="{FF2B5EF4-FFF2-40B4-BE49-F238E27FC236}">
                <a16:creationId xmlns:a16="http://schemas.microsoft.com/office/drawing/2014/main" id="{67A3B36C-7B2F-4BC2-AC73-CA18914A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살펴볼 문제: 기준과 절차를 계속 맞게 유지하기</a:t>
            </a:r>
          </a:p>
        </p:txBody>
      </p:sp>
      <p:sp>
        <p:nvSpPr>
          <p:cNvPr id="19" name="어떤 변화가 생기면, 담당자가 다시 확인해야 할까?">
            <a:extLst xmlns:a="http://schemas.openxmlformats.org/drawingml/2006/main">
              <a:ext uri="{FF2B5EF4-FFF2-40B4-BE49-F238E27FC236}">
                <a16:creationId xmlns:a16="http://schemas.microsoft.com/office/drawing/2014/main" id="{B9A5EBE4-25B0-424C-9C26-967A0C22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변화가 생기면, 담당자가 다시 확인해야 할까?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5EC6CA9-5E91-4519-AE3F-98B8506D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5484577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별도 가상 사례의 출발점">
            <a:extLst xmlns:a="http://schemas.openxmlformats.org/drawingml/2006/main">
              <a:ext uri="{FF2B5EF4-FFF2-40B4-BE49-F238E27FC236}">
                <a16:creationId xmlns:a16="http://schemas.microsoft.com/office/drawing/2014/main" id="{6E5471D2-C50F-4393-835C-F1211BF4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별도 가상 사례의 출발점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9D352D19-2E4B-4399-94EE-C6346493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처음에는 기준과 재사용 절차가 맞았다">
            <a:extLst xmlns:a="http://schemas.openxmlformats.org/drawingml/2006/main">
              <a:ext uri="{FF2B5EF4-FFF2-40B4-BE49-F238E27FC236}">
                <a16:creationId xmlns:a16="http://schemas.microsoft.com/office/drawing/2014/main" id="{F7CE0451-E340-4CF2-A92E-EDFA533F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처음에는 기준과 재사용 절차가 맞았다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E2553F-5C83-483B-AE11-48CF31A4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기준과 재사용 지침이 일치한다는 가정">
            <a:extLst xmlns:a="http://schemas.openxmlformats.org/drawingml/2006/main">
              <a:ext uri="{FF2B5EF4-FFF2-40B4-BE49-F238E27FC236}">
                <a16:creationId xmlns:a16="http://schemas.microsoft.com/office/drawing/2014/main" id="{A9C68BC4-89BD-4E9D-B891-DAE9C932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기준과 재사용 지침이 일치한다는 가정</a:t>
            </a:r>
          </a:p>
        </p:txBody>
      </p:sp>
      <p:sp>
        <p:nvSpPr>
          <p:cNvPr id="6" name="실제 graypipe 이력·Agent 실행·테스트 결과 아님 · 앞의 Skill과 같은 역할이며 같은 파일이">
            <a:extLst xmlns:a="http://schemas.openxmlformats.org/drawingml/2006/main">
              <a:ext uri="{FF2B5EF4-FFF2-40B4-BE49-F238E27FC236}">
                <a16:creationId xmlns:a16="http://schemas.microsoft.com/office/drawing/2014/main" id="{669C92F3-838F-4102-B8B5-89920437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graypipe 이력·Agent 실행·테스트 결과 아님 · 앞의 Skill과 같은 역할이며 같은 파일이 아님</a:t>
            </a:r>
          </a:p>
        </p:txBody>
      </p:sp>
      <p:sp>
        <p:nvSpPr>
          <p:cNvPr id="7" name="Workflow = 재사용할 수행 절차 · 앞에서는 Skill로 관리">
            <a:extLst xmlns:a="http://schemas.openxmlformats.org/drawingml/2006/main">
              <a:ext uri="{FF2B5EF4-FFF2-40B4-BE49-F238E27FC236}">
                <a16:creationId xmlns:a16="http://schemas.microsoft.com/office/drawing/2014/main" id="{FDF269DF-0431-42AE-8C21-007138C4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 = 재사용할 수행 절차 · 앞에서는 Skill로 관리</a:t>
            </a:r>
          </a:p>
        </p:txBody>
      </p:sp>
      <p:sp>
        <p:nvSpPr>
          <p:cNvPr id="8" name="프로젝트의 현재 기준">
            <a:extLst xmlns:a="http://schemas.openxmlformats.org/drawingml/2006/main">
              <a:ext uri="{FF2B5EF4-FFF2-40B4-BE49-F238E27FC236}">
                <a16:creationId xmlns:a16="http://schemas.microsoft.com/office/drawing/2014/main" id="{EC22F5BD-11C3-4B30-AC91-19FC32D8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686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현재 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5C3DEF-4B69-4A10-9512-CD94EF85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68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E33ED627-2C92-4FF2-9F6C-97E44F32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4686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1" name="프로젝트 문서에서 확인">
            <a:extLst xmlns:a="http://schemas.openxmlformats.org/drawingml/2006/main">
              <a:ext uri="{FF2B5EF4-FFF2-40B4-BE49-F238E27FC236}">
                <a16:creationId xmlns:a16="http://schemas.microsoft.com/office/drawing/2014/main" id="{4E758AB6-3693-4DB9-A28B-41D5D52F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468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문서에서 확인</a:t>
            </a:r>
          </a:p>
        </p:txBody>
      </p:sp>
      <p:sp>
        <p:nvSpPr>
          <p:cNvPr id="12" name="Workflow · 재사용 지침">
            <a:extLst xmlns:a="http://schemas.openxmlformats.org/drawingml/2006/main">
              <a:ext uri="{FF2B5EF4-FFF2-40B4-BE49-F238E27FC236}">
                <a16:creationId xmlns:a16="http://schemas.microsoft.com/office/drawing/2014/main" id="{D2BA8881-E71C-4C1E-B5AC-7AB68396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19375"/>
            <a:ext cx="4686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 · 재사용 지침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7B8C8-837E-475C-8868-FF369BFE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81350"/>
            <a:ext cx="468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8A8037A3-C70C-4D66-A14D-B32AADBA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38525"/>
            <a:ext cx="4686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5" name="다음 작업에서 다시 읽음">
            <a:extLst xmlns:a="http://schemas.openxmlformats.org/drawingml/2006/main">
              <a:ext uri="{FF2B5EF4-FFF2-40B4-BE49-F238E27FC236}">
                <a16:creationId xmlns:a16="http://schemas.microsoft.com/office/drawing/2014/main" id="{D7E46C76-8E8F-4014-95E1-396B3C2A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76725"/>
            <a:ext cx="468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작업에서 다시 읽음</a:t>
            </a:r>
          </a:p>
        </p:txBody>
      </p:sp>
      <p:sp>
        <p:nvSpPr>
          <p:cNvPr id="16" name="=">
            <a:extLst xmlns:a="http://schemas.openxmlformats.org/drawingml/2006/main">
              <a:ext uri="{FF2B5EF4-FFF2-40B4-BE49-F238E27FC236}">
                <a16:creationId xmlns:a16="http://schemas.microsoft.com/office/drawing/2014/main" id="{4E9FC68E-1132-4AD4-A047-AD230184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38525"/>
            <a:ext cx="8001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7" name="가정: 현재 기준에 맞춰 검토해 둔 절차">
            <a:extLst xmlns:a="http://schemas.openxmlformats.org/drawingml/2006/main">
              <a:ext uri="{FF2B5EF4-FFF2-40B4-BE49-F238E27FC236}">
                <a16:creationId xmlns:a16="http://schemas.microsoft.com/office/drawing/2014/main" id="{2AF71B10-7DAF-4C67-BEA2-03EF83E8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현재 기준에 맞춰 검토해 둔 절차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BC4DC18-26DF-45BC-8D23-12B1049F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0211951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D092799A-8879-43D8-B1F4-C4D817DB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D6945E21-CD4A-4921-AC21-8E6E12DD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12FD59A7-2C3C-4254-9620-079DCF9E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1190D8B5-1853-4851-862F-446AB584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6401A341-71A3-41C7-AD88-94758E09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1E07E329-A587-4C2D-964E-50820E56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3F697-00D4-4608-8077-60A1336B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63D1C7-C507-43FD-982B-460243DB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C48D7ACB-24AC-4C69-8B43-BF524EAF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38743D39-EA7F-4A0C-91E2-071BE5B3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8D16E-4450-4C6C-8F50-AFAB194D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93512-05FC-490D-ADA0-D115D96A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523D4B21-179B-46C9-B4B5-F14E152F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EF0AB9-A98C-4B4E-AE7B-EB98A82A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FBCDC7AF-620F-4AA5-B6AF-092A6D21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648A6F-3211-4E63-A680-7AC8A7C9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E9F746E6-5F10-4525-8AAB-FB586306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9AB847-6087-45A3-971F-75E123D6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5ED17D72-BF12-42E6-91BC-59CB7AB2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96E3D6-8C73-421E-ADB1-B0B88849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ABD5DFE9-F023-47F8-97A6-D86AAD55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AA88EE-8CA6-4A74-BA55-7A85C56F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6D2D8A-CC6C-4EDD-92B2-D2D56EBF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A73659CD-B348-4B41-8C2B-2853F6C2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검토·갱신 담당은 이 차이를 언제 확인할까?">
            <a:extLst xmlns:a="http://schemas.openxmlformats.org/drawingml/2006/main">
              <a:ext uri="{FF2B5EF4-FFF2-40B4-BE49-F238E27FC236}">
                <a16:creationId xmlns:a16="http://schemas.microsoft.com/office/drawing/2014/main" id="{56F6BED6-2907-4267-AC78-460FBB6F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검토·갱신 담당은 이 차이를 언제 확인할까?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20B2F5-AD00-45F9-863F-62634750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79267C57-55A4-4399-A026-B3BCC506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A2E5C9A6-638D-44B0-84E7-C8E0447D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E13DD2B-3B56-40DF-83C7-0BAB4D6B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8115839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요청 보정과 지침 유지">
            <a:extLst xmlns:a="http://schemas.openxmlformats.org/drawingml/2006/main">
              <a:ext uri="{FF2B5EF4-FFF2-40B4-BE49-F238E27FC236}">
                <a16:creationId xmlns:a16="http://schemas.microsoft.com/office/drawing/2014/main" id="{919B4409-EF34-4408-9D62-1AB546B8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요청 보정과 지침 유지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459F5B19-6891-4A44-A6A2-B4D7F956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이번 요청과 다음 작업의 지침">
            <a:extLst xmlns:a="http://schemas.openxmlformats.org/drawingml/2006/main">
              <a:ext uri="{FF2B5EF4-FFF2-40B4-BE49-F238E27FC236}">
                <a16:creationId xmlns:a16="http://schemas.microsoft.com/office/drawing/2014/main" id="{3D500BC5-CC4A-4B73-A211-BB356A27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요청과 다음 작업의 지침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B71BAD-384A-4F93-B3CA-83350706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을 보정하는 경우와 남아 있는 재사용 지침">
            <a:extLst xmlns:a="http://schemas.openxmlformats.org/drawingml/2006/main">
              <a:ext uri="{FF2B5EF4-FFF2-40B4-BE49-F238E27FC236}">
                <a16:creationId xmlns:a16="http://schemas.microsoft.com/office/drawing/2014/main" id="{803AC018-1839-4062-BCA4-745E658F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요청을 보정하는 경우와 남아 있는 재사용 지침</a:t>
            </a:r>
          </a:p>
        </p:txBody>
      </p:sp>
      <p:sp>
        <p:nvSpPr>
          <p:cNvPr id="6" name="가능한 대응의 비교 · 실제 실행·복구 성공·검증 누락을 관찰한 결과 아님">
            <a:extLst xmlns:a="http://schemas.openxmlformats.org/drawingml/2006/main">
              <a:ext uri="{FF2B5EF4-FFF2-40B4-BE49-F238E27FC236}">
                <a16:creationId xmlns:a16="http://schemas.microsoft.com/office/drawing/2014/main" id="{36037AEC-3FCC-4957-9DCA-68034630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대응의 비교 · 실제 실행·복구 성공·검증 누락을 관찰한 결과 아님</a:t>
            </a:r>
          </a:p>
        </p:txBody>
      </p:sp>
      <p:sp>
        <p:nvSpPr>
          <p:cNvPr id="7" name="이번 요청에 통합 테스트를 더한다면?">
            <a:extLst xmlns:a="http://schemas.openxmlformats.org/drawingml/2006/main">
              <a:ext uri="{FF2B5EF4-FFF2-40B4-BE49-F238E27FC236}">
                <a16:creationId xmlns:a16="http://schemas.microsoft.com/office/drawing/2014/main" id="{D94709F3-117E-4C75-AB0C-6758B391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통합 테스트를 더한다면?</a:t>
            </a:r>
          </a:p>
        </p:txBody>
      </p:sp>
      <p:sp>
        <p:nvSpPr>
          <p:cNvPr id="8" name="이번 요청">
            <a:extLst xmlns:a="http://schemas.openxmlformats.org/drawingml/2006/main">
              <a:ext uri="{FF2B5EF4-FFF2-40B4-BE49-F238E27FC236}">
                <a16:creationId xmlns:a16="http://schemas.microsoft.com/office/drawing/2014/main" id="{3576782A-B59B-41FE-9172-AF50B1F3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01058-A42B-4DDB-9DC9-5306F465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87680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통합 테스트도 확인해 줘.">
            <a:extLst xmlns:a="http://schemas.openxmlformats.org/drawingml/2006/main">
              <a:ext uri="{FF2B5EF4-FFF2-40B4-BE49-F238E27FC236}">
                <a16:creationId xmlns:a16="http://schemas.microsoft.com/office/drawing/2014/main" id="{F00DC38A-3071-4554-9619-2B80355C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445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통합 테스트도 확인해 줘.</a:t>
            </a:r>
          </a:p>
        </p:txBody>
      </p:sp>
      <p:sp>
        <p:nvSpPr>
          <p:cNvPr id="11" name="이번 Task의 범위를 보정">
            <a:extLst xmlns:a="http://schemas.openxmlformats.org/drawingml/2006/main">
              <a:ext uri="{FF2B5EF4-FFF2-40B4-BE49-F238E27FC236}">
                <a16:creationId xmlns:a16="http://schemas.microsoft.com/office/drawing/2014/main" id="{8D3D526D-90FD-4E63-8E61-6F10BF7F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Task의 범위를 보정</a:t>
            </a:r>
          </a:p>
        </p:txBody>
      </p:sp>
      <p:sp>
        <p:nvSpPr>
          <p:cNvPr id="12" name="다음 작업의 Workflow">
            <a:extLst xmlns:a="http://schemas.openxmlformats.org/drawingml/2006/main">
              <a:ext uri="{FF2B5EF4-FFF2-40B4-BE49-F238E27FC236}">
                <a16:creationId xmlns:a16="http://schemas.microsoft.com/office/drawing/2014/main" id="{ECEC3055-ECF3-47A7-9F5F-E2740545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6222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작업의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60FFF-323E-41DB-A617-664E32A6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05150"/>
            <a:ext cx="487680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dash"/>
          </a:ln>
        </p:spPr>
      </p:sp>
      <p:sp>
        <p:nvSpPr>
          <p:cNvPr id="14" name="여전히 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4E450804-1EFD-42D1-86FD-D2CD2F96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71850"/>
            <a:ext cx="445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 단위 테스트만 지시</a:t>
            </a:r>
          </a:p>
        </p:txBody>
      </p:sp>
      <p:sp>
        <p:nvSpPr>
          <p:cNvPr id="15" name="재사용 지침은 별도 검토 필요">
            <a:extLst xmlns:a="http://schemas.openxmlformats.org/drawingml/2006/main">
              <a:ext uri="{FF2B5EF4-FFF2-40B4-BE49-F238E27FC236}">
                <a16:creationId xmlns:a16="http://schemas.microsoft.com/office/drawing/2014/main" id="{CF888E61-AD7F-4682-B8EA-1402D9A5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재사용 지침은 별도 검토 필요</a:t>
            </a:r>
          </a:p>
        </p:txBody>
      </p:sp>
      <p:sp>
        <p:nvSpPr>
          <p:cNvPr id="16" name="원인을 확인한 뒤, 다음 작업이 읽을 출처를 검토한다">
            <a:extLst xmlns:a="http://schemas.openxmlformats.org/drawingml/2006/main">
              <a:ext uri="{FF2B5EF4-FFF2-40B4-BE49-F238E27FC236}">
                <a16:creationId xmlns:a16="http://schemas.microsoft.com/office/drawing/2014/main" id="{18060304-4CFE-429D-9B4A-1A0A9852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확인한 뒤, 다음 작업이 읽을 출처를 검토한다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FB2AF40-E988-4276-9EDE-C2604564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3060304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CONCEPTUAL / 조사할 대상과 근거">
            <a:extLst xmlns:a="http://schemas.openxmlformats.org/drawingml/2006/main">
              <a:ext uri="{FF2B5EF4-FFF2-40B4-BE49-F238E27FC236}">
                <a16:creationId xmlns:a16="http://schemas.microsoft.com/office/drawing/2014/main" id="{C0FA3259-1529-4FC1-AF0A-0CFB7F24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조사할 대상과 근거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0213A5D3-6FA2-42F7-8DBC-CCE15AF7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원인을 고르기 전에 확인할 기록">
            <a:extLst xmlns:a="http://schemas.openxmlformats.org/drawingml/2006/main">
              <a:ext uri="{FF2B5EF4-FFF2-40B4-BE49-F238E27FC236}">
                <a16:creationId xmlns:a16="http://schemas.microsoft.com/office/drawing/2014/main" id="{7CECF0FD-F7B1-4161-A1C0-B73B69B6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원인을 고르기 전에 확인할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174A4-4903-4C4F-A9B3-2C61304B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실제 문제라면 확인할 기록을 설계한 교육용 도식">
            <a:extLst xmlns:a="http://schemas.openxmlformats.org/drawingml/2006/main">
              <a:ext uri="{FF2B5EF4-FFF2-40B4-BE49-F238E27FC236}">
                <a16:creationId xmlns:a16="http://schemas.microsoft.com/office/drawing/2014/main" id="{7B9723AB-4818-4F6A-8645-5BA55CC9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실제 문제라면 확인할 기록을 설계한 교육용 도식</a:t>
            </a:r>
          </a:p>
        </p:txBody>
      </p:sp>
      <p:sp>
        <p:nvSpPr>
          <p:cNvPr id="6" name="아래는 확인 대상 · 실행 기록·실패 결과를 만든 것이 아니며 한 원인을 미리 확정하지 않음">
            <a:extLst xmlns:a="http://schemas.openxmlformats.org/drawingml/2006/main">
              <a:ext uri="{FF2B5EF4-FFF2-40B4-BE49-F238E27FC236}">
                <a16:creationId xmlns:a16="http://schemas.microsoft.com/office/drawing/2014/main" id="{46AA94DC-3E9C-4894-BDA0-0480BBED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확인 대상 · 실행 기록·실패 결과를 만든 것이 아니며 한 원인을 미리 확정하지 않음</a:t>
            </a:r>
          </a:p>
        </p:txBody>
      </p:sp>
      <p:sp>
        <p:nvSpPr>
          <p:cNvPr id="7" name="검증이 충분한지&#10;무엇으로 판단할까?">
            <a:extLst xmlns:a="http://schemas.openxmlformats.org/drawingml/2006/main">
              <a:ext uri="{FF2B5EF4-FFF2-40B4-BE49-F238E27FC236}">
                <a16:creationId xmlns:a16="http://schemas.microsoft.com/office/drawing/2014/main" id="{7B9ABE34-ECB4-4394-9C6D-E817FFB5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905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검증이 충분한지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판단할까?</a:t>
            </a:r>
          </a:p>
        </p:txBody>
      </p:sp>
      <p:sp>
        <p:nvSpPr>
          <p:cNvPr id="8" name="증상에서 곧바로&#10;수정 대상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E534EDE9-744E-4231-A614-B2DADBA9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90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곧바로</a:t>
            </a:r>
          </a:p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대상으로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05EFA-A9B1-4D65-AC4B-13C2C37E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38375"/>
            <a:ext cx="643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프로젝트 기준">
            <a:extLst xmlns:a="http://schemas.openxmlformats.org/drawingml/2006/main">
              <a:ext uri="{FF2B5EF4-FFF2-40B4-BE49-F238E27FC236}">
                <a16:creationId xmlns:a16="http://schemas.microsoft.com/office/drawing/2014/main" id="{987648A9-0B25-4B26-8B8F-B7D41DB1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5267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프로젝트 기준</a:t>
            </a:r>
          </a:p>
        </p:txBody>
      </p:sp>
      <p:sp>
        <p:nvSpPr>
          <p:cNvPr id="11" name="현재 문서·명세">
            <a:extLst xmlns:a="http://schemas.openxmlformats.org/drawingml/2006/main">
              <a:ext uri="{FF2B5EF4-FFF2-40B4-BE49-F238E27FC236}">
                <a16:creationId xmlns:a16="http://schemas.microsoft.com/office/drawing/2014/main" id="{5518D4A2-5B8B-4BF3-B8DF-9DE52A59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52675"/>
            <a:ext cx="4057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문서·명세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64441A-E8FA-4852-9611-A74BA2B3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00375"/>
            <a:ext cx="643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재사용 절차">
            <a:extLst xmlns:a="http://schemas.openxmlformats.org/drawingml/2006/main">
              <a:ext uri="{FF2B5EF4-FFF2-40B4-BE49-F238E27FC236}">
                <a16:creationId xmlns:a16="http://schemas.microsoft.com/office/drawing/2014/main" id="{F8896C86-7525-475A-A82E-FEBE4F31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1467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절차</a:t>
            </a:r>
          </a:p>
        </p:txBody>
      </p:sp>
      <p:sp>
        <p:nvSpPr>
          <p:cNvPr id="14" name="실제로 읽은 지침">
            <a:extLst xmlns:a="http://schemas.openxmlformats.org/drawingml/2006/main">
              <a:ext uri="{FF2B5EF4-FFF2-40B4-BE49-F238E27FC236}">
                <a16:creationId xmlns:a16="http://schemas.microsoft.com/office/drawing/2014/main" id="{39FCB273-5148-4C58-98B2-59F9259C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14675"/>
            <a:ext cx="4057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실제로 읽은 지침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D76D92-F59D-4395-AFE7-FBA76740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62375"/>
            <a:ext cx="643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83B62C72-7423-4A92-A6F6-7FA835C1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7667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명령·허용 범위·실행 조건">
            <a:extLst xmlns:a="http://schemas.openxmlformats.org/drawingml/2006/main">
              <a:ext uri="{FF2B5EF4-FFF2-40B4-BE49-F238E27FC236}">
                <a16:creationId xmlns:a16="http://schemas.microsoft.com/office/drawing/2014/main" id="{A560818B-FF22-4EB0-99D6-E69D523A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76675"/>
            <a:ext cx="4057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명령·허용 범위·실행 조건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25EE0F-67C4-4345-9F38-57C36CD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24375"/>
            <a:ext cx="643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018218C9-2998-442E-8BFB-8E60A76B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38675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변경 내용·검사 결과">
            <a:extLst xmlns:a="http://schemas.openxmlformats.org/drawingml/2006/main">
              <a:ext uri="{FF2B5EF4-FFF2-40B4-BE49-F238E27FC236}">
                <a16:creationId xmlns:a16="http://schemas.microsoft.com/office/drawing/2014/main" id="{4243D78A-4274-4287-847D-427136DE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38675"/>
            <a:ext cx="4057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내용·검사 결과</a:t>
            </a:r>
          </a:p>
        </p:txBody>
      </p:sp>
      <p:sp>
        <p:nvSpPr>
          <p:cNvPr id="21" name="실제 실행 경로와 현재 기준을 먼저 대조한다">
            <a:extLst xmlns:a="http://schemas.openxmlformats.org/drawingml/2006/main">
              <a:ext uri="{FF2B5EF4-FFF2-40B4-BE49-F238E27FC236}">
                <a16:creationId xmlns:a16="http://schemas.microsoft.com/office/drawing/2014/main" id="{BF4B1453-EA3A-4723-B7DF-F2DD5E17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 실행 경로와 현재 기준을 먼저 대조한다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B290D98-EEED-49C0-8106-BD331157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901741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사실과 원인 판단의 구분">
            <a:extLst xmlns:a="http://schemas.openxmlformats.org/drawingml/2006/main">
              <a:ext uri="{FF2B5EF4-FFF2-40B4-BE49-F238E27FC236}">
                <a16:creationId xmlns:a16="http://schemas.microsoft.com/office/drawing/2014/main" id="{D9B85B3C-1A23-4ECC-B3D7-0F316346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사실과 원인 판단의 구분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377FEC36-FC9F-4F57-A89D-BFB2E2B4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주어진 정보와 원인 가설을 나눈다">
            <a:extLst xmlns:a="http://schemas.openxmlformats.org/drawingml/2006/main">
              <a:ext uri="{FF2B5EF4-FFF2-40B4-BE49-F238E27FC236}">
                <a16:creationId xmlns:a16="http://schemas.microsoft.com/office/drawing/2014/main" id="{B1272309-64DD-4C2A-8269-8FA6943E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주어진 정보와 원인 가설을 나눈다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06887-DB7C-477B-86C7-14D2C9D2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구성된 사례의 전제와 확인할 가설">
            <a:extLst xmlns:a="http://schemas.openxmlformats.org/drawingml/2006/main">
              <a:ext uri="{FF2B5EF4-FFF2-40B4-BE49-F238E27FC236}">
                <a16:creationId xmlns:a16="http://schemas.microsoft.com/office/drawing/2014/main" id="{6F489824-3D8A-4C95-8874-C84C75C9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구성된 사례의 전제와 확인할 가설</a:t>
            </a:r>
          </a:p>
        </p:txBody>
      </p:sp>
      <p:sp>
        <p:nvSpPr>
          <p:cNvPr id="6" name="가상 설정은 실제 Trial 관찰이 아님 · 실제 실행 경로와 참조 지침을 확인한 결과도 없음">
            <a:extLst xmlns:a="http://schemas.openxmlformats.org/drawingml/2006/main">
              <a:ext uri="{FF2B5EF4-FFF2-40B4-BE49-F238E27FC236}">
                <a16:creationId xmlns:a16="http://schemas.microsoft.com/office/drawing/2014/main" id="{8D3F139B-1FC4-4266-AF31-E22F91F6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설정은 실제 Trial 관찰이 아님 · 실제 실행 경로와 참조 지침을 확인한 결과도 없음</a:t>
            </a:r>
          </a:p>
        </p:txBody>
      </p:sp>
      <p:sp>
        <p:nvSpPr>
          <p:cNvPr id="7" name="가상 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F8E07815-1293-44C5-BC7B-D644BD67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가상 사례에 주어진 정보</a:t>
            </a:r>
          </a:p>
        </p:txBody>
      </p:sp>
      <p:sp>
        <p:nvSpPr>
          <p:cNvPr id="8" name="추가로 확인할 원인 가설">
            <a:extLst xmlns:a="http://schemas.openxmlformats.org/drawingml/2006/main">
              <a:ext uri="{FF2B5EF4-FFF2-40B4-BE49-F238E27FC236}">
                <a16:creationId xmlns:a16="http://schemas.microsoft.com/office/drawing/2014/main" id="{C2349E46-B4EC-4E59-A210-BFD5F97C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43150"/>
            <a:ext cx="4686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추가로 확인할 원인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6BC1A6-F7F0-4A09-AF9A-53136E51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68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5771A-BD76-4C5F-9B60-6809B7EF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52750"/>
            <a:ext cx="468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1C82F5BE-FF7F-4E4A-8405-8B8A195B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46863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지침이&#10;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B0F4769E-D2B6-4125-AF38-D77EF61C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05175"/>
            <a:ext cx="46863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원인일 수 있다</a:t>
            </a:r>
          </a:p>
        </p:txBody>
      </p:sp>
      <p:sp>
        <p:nvSpPr>
          <p:cNvPr id="13" name="두 지침의 차이만으로, 실제 작업의 원인이 확정되지는 않는다">
            <a:extLst xmlns:a="http://schemas.openxmlformats.org/drawingml/2006/main">
              <a:ext uri="{FF2B5EF4-FFF2-40B4-BE49-F238E27FC236}">
                <a16:creationId xmlns:a16="http://schemas.microsoft.com/office/drawing/2014/main" id="{C1686FF7-79DD-4122-A89C-F659DE8A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지침의 차이만으로, 실제 작업의 원인이 확정되지는 않는다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5641A2F-7E68-4A95-AD20-41AA4928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962632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CONCEPTUAL / 원인 확인 뒤의 선택">
            <a:extLst xmlns:a="http://schemas.openxmlformats.org/drawingml/2006/main">
              <a:ext uri="{FF2B5EF4-FFF2-40B4-BE49-F238E27FC236}">
                <a16:creationId xmlns:a16="http://schemas.microsoft.com/office/drawing/2014/main" id="{BC27F4DE-1022-4263-80BE-36A80294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확인 뒤의 선택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6BCFDB3E-9CA5-4AD1-89FD-8614F861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확인한 원인에 맞춰 변경 대상을 고른다">
            <a:extLst xmlns:a="http://schemas.openxmlformats.org/drawingml/2006/main">
              <a:ext uri="{FF2B5EF4-FFF2-40B4-BE49-F238E27FC236}">
                <a16:creationId xmlns:a16="http://schemas.microsoft.com/office/drawing/2014/main" id="{96086A24-63E2-4392-8333-AA834F20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원인에 맞춰 변경 대상을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1F3DD-E540-482F-A48B-F9D39EF3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세 대응의 범위 비교">
            <a:extLst xmlns:a="http://schemas.openxmlformats.org/drawingml/2006/main">
              <a:ext uri="{FF2B5EF4-FFF2-40B4-BE49-F238E27FC236}">
                <a16:creationId xmlns:a16="http://schemas.microsoft.com/office/drawing/2014/main" id="{EE065B0D-21DB-4A53-85E9-6C94219C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세 대응의 범위 비교</a:t>
            </a:r>
          </a:p>
        </p:txBody>
      </p:sp>
      <p:sp>
        <p:nvSpPr>
          <p:cNvPr id="6" name="Workflow 원인이라는 조건 안의 판단 · 일반 정답·실제 Product 변경·새 실행 결과 아님">
            <a:extLst xmlns:a="http://schemas.openxmlformats.org/drawingml/2006/main">
              <a:ext uri="{FF2B5EF4-FFF2-40B4-BE49-F238E27FC236}">
                <a16:creationId xmlns:a16="http://schemas.microsoft.com/office/drawing/2014/main" id="{C9AC07A3-2072-434B-B390-759ECFE3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 원인이라는 조건 안의 판단 · 일반 정답·실제 Product 변경·새 실행 결과 아님</a:t>
            </a:r>
          </a:p>
        </p:txBody>
      </p:sp>
      <p:sp>
        <p:nvSpPr>
          <p:cNvPr id="7" name="가정: 재사용 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506A16E7-3F09-4CB6-A7ED-78836531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가정: 재사용 Workflow가 원인으로 확인됐다면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6D2A45-AE77-4ACE-B9AE-0AE38A99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요청 보정">
            <a:extLst xmlns:a="http://schemas.openxmlformats.org/drawingml/2006/main">
              <a:ext uri="{FF2B5EF4-FFF2-40B4-BE49-F238E27FC236}">
                <a16:creationId xmlns:a16="http://schemas.microsoft.com/office/drawing/2014/main" id="{F72FBAEA-141E-43FA-AADD-18FD6A7D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요청 보정</a:t>
            </a:r>
          </a:p>
        </p:txBody>
      </p:sp>
      <p:sp>
        <p:nvSpPr>
          <p:cNvPr id="10" name="현재 Task의 요청 범위만 넓힘">
            <a:extLst xmlns:a="http://schemas.openxmlformats.org/drawingml/2006/main">
              <a:ext uri="{FF2B5EF4-FFF2-40B4-BE49-F238E27FC236}">
                <a16:creationId xmlns:a16="http://schemas.microsoft.com/office/drawing/2014/main" id="{05C48190-DA8A-434B-87AB-B1A0200B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24150"/>
            <a:ext cx="662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범위만 넓힘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C7737B-56FF-4AD5-978E-7CE96FE6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416FCB17-6179-4F18-86B1-479C4CF6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33775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 가능">
            <a:extLst xmlns:a="http://schemas.openxmlformats.org/drawingml/2006/main">
              <a:ext uri="{FF2B5EF4-FFF2-40B4-BE49-F238E27FC236}">
                <a16:creationId xmlns:a16="http://schemas.microsoft.com/office/drawing/2014/main" id="{EFDE1E79-989E-44AF-96BE-3544E081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33775"/>
            <a:ext cx="662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D5F4AF-924B-448A-BFA3-E7262C37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972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3358F6-6980-4DCC-BD96-BF7BA856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A783DA0A-A5BF-4D04-A7BB-3A266A47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7" name="다음 작업이 읽는 절차를 변경">
            <a:extLst xmlns:a="http://schemas.openxmlformats.org/drawingml/2006/main">
              <a:ext uri="{FF2B5EF4-FFF2-40B4-BE49-F238E27FC236}">
                <a16:creationId xmlns:a16="http://schemas.microsoft.com/office/drawing/2014/main" id="{A2D53E01-5579-4357-9BE2-F5BC4B2A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43400"/>
            <a:ext cx="662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작업이 읽는 절차를 변경</a:t>
            </a:r>
          </a:p>
        </p:txBody>
      </p:sp>
      <p:sp>
        <p:nvSpPr>
          <p:cNvPr id="18" name="검토 담당: 확인한 원인과 변경할 위치가 맞는지 판단">
            <a:extLst xmlns:a="http://schemas.openxmlformats.org/drawingml/2006/main">
              <a:ext uri="{FF2B5EF4-FFF2-40B4-BE49-F238E27FC236}">
                <a16:creationId xmlns:a16="http://schemas.microsoft.com/office/drawing/2014/main" id="{E76C3624-CE3F-41E5-B7EC-C32F655E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담당: 확인한 원인과 변경할 위치가 맞는지 판단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64BA8F7-BC65-4293-91E7-F0490454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925119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4 · CONCEPTUAL / 유지 책임과 최소 변경">
            <a:extLst xmlns:a="http://schemas.openxmlformats.org/drawingml/2006/main">
              <a:ext uri="{FF2B5EF4-FFF2-40B4-BE49-F238E27FC236}">
                <a16:creationId xmlns:a16="http://schemas.microsoft.com/office/drawing/2014/main" id="{3DB07FE2-E0A5-4DCD-80C3-D2CE932C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유지 책임과 최소 변경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D63B4F1F-ABC3-4CB6-8733-F1ABBFDA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확인된 범위만 검토하고 갱신한다">
            <a:extLst xmlns:a="http://schemas.openxmlformats.org/drawingml/2006/main">
              <a:ext uri="{FF2B5EF4-FFF2-40B4-BE49-F238E27FC236}">
                <a16:creationId xmlns:a16="http://schemas.microsoft.com/office/drawing/2014/main" id="{0782114B-5610-4B6E-BA2E-A482909A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확인된 범위만 검토하고 갱신한다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9C822-8ACF-45FA-BBEC-3B07D9ED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Workflow 원인이 확인됐다는 가정에서의 변경 설계">
            <a:extLst xmlns:a="http://schemas.openxmlformats.org/drawingml/2006/main">
              <a:ext uri="{FF2B5EF4-FFF2-40B4-BE49-F238E27FC236}">
                <a16:creationId xmlns:a16="http://schemas.microsoft.com/office/drawing/2014/main" id="{29BE6271-23A7-4F6A-943F-8353CF63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Workflow 원인이 확인됐다는 가정에서의 변경 설계</a:t>
            </a:r>
          </a:p>
        </p:txBody>
      </p:sp>
      <p:sp>
        <p:nvSpPr>
          <p:cNvPr id="6" name="역할의 교육용 예 · 실제 담당 배정·지침 수정·재평가 결과 아님 · 관련 없는 규칙은 유지">
            <a:extLst xmlns:a="http://schemas.openxmlformats.org/drawingml/2006/main">
              <a:ext uri="{FF2B5EF4-FFF2-40B4-BE49-F238E27FC236}">
                <a16:creationId xmlns:a16="http://schemas.microsoft.com/office/drawing/2014/main" id="{EB6746EC-199E-455D-A026-52C7D6BF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역할의 교육용 예 · 실제 담당 배정·지침 수정·재평가 결과 아님 · 관련 없는 규칙은 유지</a:t>
            </a:r>
          </a:p>
        </p:txBody>
      </p:sp>
      <p:sp>
        <p:nvSpPr>
          <p:cNvPr id="7" name="원인이 뒷받침하는 지침을 갱신한다">
            <a:extLst xmlns:a="http://schemas.openxmlformats.org/drawingml/2006/main">
              <a:ext uri="{FF2B5EF4-FFF2-40B4-BE49-F238E27FC236}">
                <a16:creationId xmlns:a16="http://schemas.microsoft.com/office/drawing/2014/main" id="{350E8A5C-B960-49FE-8FA3-98E35BA3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원인이 뒷받침하는 지침을 갱신한다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EAB4A94C-F8CB-4C54-9F0B-F0DD90F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686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57161D-1200-414D-90D4-7CED8EDB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68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10" name="단위 테스트 확인">
            <a:extLst xmlns:a="http://schemas.openxmlformats.org/drawingml/2006/main">
              <a:ext uri="{FF2B5EF4-FFF2-40B4-BE49-F238E27FC236}">
                <a16:creationId xmlns:a16="http://schemas.microsoft.com/office/drawing/2014/main" id="{0065DA0A-376C-4183-B42F-F8350CFB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확인</a:t>
            </a:r>
          </a:p>
        </p:txBody>
      </p:sp>
      <p:sp>
        <p:nvSpPr>
          <p:cNvPr id="11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8C0D9C78-1A7F-4CE9-98D2-4CAC898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19375"/>
            <a:ext cx="4686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D42DC0-CB75-426A-A982-E930B140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468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DE023B99-A470-40C8-8A38-689E6891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05175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4EC3BB-2B96-4D28-8D92-9E7F59257646}"/>
              </a:ext>
            </a:extLst>
          </p:cNvPr>
          <p:cNvCxnSpPr/>
          <p:nvPr/>
        </p:nvCxnSpPr>
        <p:spPr>
          <a:xfrm xmlns:a="http://schemas.openxmlformats.org/drawingml/2006/main">
            <a:off x="5562600" y="35814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BC43E7-7062-48A3-8D93-8FAF9890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6" name="갱신 담당">
            <a:extLst xmlns:a="http://schemas.openxmlformats.org/drawingml/2006/main">
              <a:ext uri="{FF2B5EF4-FFF2-40B4-BE49-F238E27FC236}">
                <a16:creationId xmlns:a16="http://schemas.microsoft.com/office/drawing/2014/main" id="{20604FF9-38A4-478F-A0FD-ADF467C1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 담당</a:t>
            </a:r>
          </a:p>
        </p:txBody>
      </p:sp>
      <p:sp>
        <p:nvSpPr>
          <p:cNvPr id="17" name="확인된 지침 수정">
            <a:extLst xmlns:a="http://schemas.openxmlformats.org/drawingml/2006/main">
              <a:ext uri="{FF2B5EF4-FFF2-40B4-BE49-F238E27FC236}">
                <a16:creationId xmlns:a16="http://schemas.microsoft.com/office/drawing/2014/main" id="{3C10AB74-B756-47A0-BA4B-3C8C636E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확인된 지침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27888A-8A57-4B44-9FD5-585A162A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529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검토 담당">
            <a:extLst xmlns:a="http://schemas.openxmlformats.org/drawingml/2006/main">
              <a:ext uri="{FF2B5EF4-FFF2-40B4-BE49-F238E27FC236}">
                <a16:creationId xmlns:a16="http://schemas.microsoft.com/office/drawing/2014/main" id="{4ADC61FD-D353-43CD-924A-3CC3A437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6722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담당</a:t>
            </a:r>
          </a:p>
        </p:txBody>
      </p:sp>
      <p:sp>
        <p:nvSpPr>
          <p:cNvPr id="20" name="현재 기준·변경 범위 확인">
            <a:extLst xmlns:a="http://schemas.openxmlformats.org/drawingml/2006/main">
              <a:ext uri="{FF2B5EF4-FFF2-40B4-BE49-F238E27FC236}">
                <a16:creationId xmlns:a16="http://schemas.microsoft.com/office/drawing/2014/main" id="{684B2C0B-96B1-4CCD-B108-BB0C9E29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9053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기준·변경 범위 확인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CAA25D-743F-49F1-B52F-AFCDC670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529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2" name="다음 확인">
            <a:extLst xmlns:a="http://schemas.openxmlformats.org/drawingml/2006/main">
              <a:ext uri="{FF2B5EF4-FFF2-40B4-BE49-F238E27FC236}">
                <a16:creationId xmlns:a16="http://schemas.microsoft.com/office/drawing/2014/main" id="{2AA7DE65-9BAA-48EE-A656-4A6BF8BB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6722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확인</a:t>
            </a:r>
          </a:p>
        </p:txBody>
      </p:sp>
      <p:sp>
        <p:nvSpPr>
          <p:cNvPr id="23" name="같은 작업·대표 작업 평가">
            <a:extLst xmlns:a="http://schemas.openxmlformats.org/drawingml/2006/main">
              <a:ext uri="{FF2B5EF4-FFF2-40B4-BE49-F238E27FC236}">
                <a16:creationId xmlns:a16="http://schemas.microsoft.com/office/drawing/2014/main" id="{E4B2AF77-7ED5-4ED2-90E7-B1EBFD81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9053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작업·대표 작업 평가</a:t>
            </a:r>
          </a:p>
        </p:txBody>
      </p:sp>
      <p:sp>
        <p:nvSpPr>
          <p:cNvPr id="24" name="검토·갱신은 같은 사람이 맡을 수도 있다">
            <a:extLst xmlns:a="http://schemas.openxmlformats.org/drawingml/2006/main">
              <a:ext uri="{FF2B5EF4-FFF2-40B4-BE49-F238E27FC236}">
                <a16:creationId xmlns:a16="http://schemas.microsoft.com/office/drawing/2014/main" id="{3DCA27A2-B93E-4BF5-8FBD-75C9462C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검토·갱신은 같은 사람이 맡을 수도 있다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16489A7-6A26-45FC-8F1F-63FD8BAD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431560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40BBF047-57F7-4BB5-943C-1721BA18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7747AE9A-6CCE-4CFB-AD79-86BC4985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3DC1712A-1AAF-4BAC-AFE6-5614180B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B09B17-9F18-4EA6-9461-5501E9FD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12E0BDEF-E63B-4777-84BF-C41AB773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E891EE17-DCDA-443B-BC18-9B4FE102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2FFD70DA-AFD0-4563-A635-74EA70BE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33B644D2-A664-4E0B-8B10-D651F72C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2751FC-E213-4727-8FE2-9D49A693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F2AE90-CEEE-4CB1-8E8A-8788C7C6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502BFBD4-0D98-42D9-B38A-CAEDD392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CE10B82F-F3B6-4053-A394-F7744AA5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2C78406A-DA10-473A-BEEF-CB662B1D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ECF5874-40C1-4A3C-92C0-86DEEFC4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9093198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22F7F3E7-FFFF-4CE8-9E2B-A84C544A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AF06B84A-2068-4DE8-B17E-F828259C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9B170838-6803-4805-B5F4-5EA6A4A0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C32C1-D8C3-4E7A-A1F2-C07E6D86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F985F30D-5ACD-436D-8804-D838F34C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033E1E21-5A6D-4D03-AA78-D32BF85A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F2054F4F-E2BA-424D-BD81-81259B55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268F8-1433-4E53-B39D-AB6B0F73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평가 설계 · 네 작업 모두 이 Workflow 변경 뒤의 실행 결과는 없음">
            <a:extLst xmlns:a="http://schemas.openxmlformats.org/drawingml/2006/main">
              <a:ext uri="{FF2B5EF4-FFF2-40B4-BE49-F238E27FC236}">
                <a16:creationId xmlns:a16="http://schemas.microsoft.com/office/drawing/2014/main" id="{3F5C7B09-B811-481B-8D91-F85D5AE9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평가 설계 · 네 작업 모두 이 Workflow 변경 뒤의 실행 결과는 없음</a:t>
            </a:r>
          </a:p>
        </p:txBody>
      </p:sp>
      <p:sp>
        <p:nvSpPr>
          <p:cNvPr id="10" name="대표 작업">
            <a:extLst xmlns:a="http://schemas.openxmlformats.org/drawingml/2006/main">
              <a:ext uri="{FF2B5EF4-FFF2-40B4-BE49-F238E27FC236}">
                <a16:creationId xmlns:a16="http://schemas.microsoft.com/office/drawing/2014/main" id="{A398283F-09A2-432A-A640-607AE2E5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대표 작업</a:t>
            </a:r>
          </a:p>
        </p:txBody>
      </p:sp>
      <p:sp>
        <p:nvSpPr>
          <p:cNvPr id="11" name="무엇을 확인하기 위한 설계인가?">
            <a:extLst xmlns:a="http://schemas.openxmlformats.org/drawingml/2006/main">
              <a:ext uri="{FF2B5EF4-FFF2-40B4-BE49-F238E27FC236}">
                <a16:creationId xmlns:a16="http://schemas.microsoft.com/office/drawing/2014/main" id="{532B7924-5B3D-448E-A23B-E1799AA1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확인하기 위한 설계인가?</a:t>
            </a:r>
          </a:p>
        </p:txBody>
      </p:sp>
      <p:sp>
        <p:nvSpPr>
          <p:cNvPr id="12" name="현재 근거 상태">
            <a:extLst xmlns:a="http://schemas.openxmlformats.org/drawingml/2006/main">
              <a:ext uri="{FF2B5EF4-FFF2-40B4-BE49-F238E27FC236}">
                <a16:creationId xmlns:a16="http://schemas.microsoft.com/office/drawing/2014/main" id="{8245312B-D1F0-4ECE-8D88-926B5088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2417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근거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A55F50-88C6-4006-AD23-BD64F361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4" name="EVAL-01">
            <a:extLst xmlns:a="http://schemas.openxmlformats.org/drawingml/2006/main">
              <a:ext uri="{FF2B5EF4-FFF2-40B4-BE49-F238E27FC236}">
                <a16:creationId xmlns:a16="http://schemas.microsoft.com/office/drawing/2014/main" id="{E906A086-304B-41D7-816C-1AD6C922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EVAL-01</a:t>
            </a:r>
          </a:p>
        </p:txBody>
      </p:sp>
      <p:sp>
        <p:nvSpPr>
          <p:cNvPr id="15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D6FC2708-7532-4188-AAA0-939A74F5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3528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6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85F8086A-8B9B-4B3F-A108-1BF72557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7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588855C7-D2D7-4EF1-8902-689EA5D5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18" name="TRIAL-002">
            <a:extLst xmlns:a="http://schemas.openxmlformats.org/drawingml/2006/main">
              <a:ext uri="{FF2B5EF4-FFF2-40B4-BE49-F238E27FC236}">
                <a16:creationId xmlns:a16="http://schemas.microsoft.com/office/drawing/2014/main" id="{90E090E9-5A65-4D3F-A04A-9BB218A1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17FB9-676A-41CF-9A96-02869721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0" name="EVAL-02">
            <a:extLst xmlns:a="http://schemas.openxmlformats.org/drawingml/2006/main">
              <a:ext uri="{FF2B5EF4-FFF2-40B4-BE49-F238E27FC236}">
                <a16:creationId xmlns:a16="http://schemas.microsoft.com/office/drawing/2014/main" id="{371D9327-70D6-4509-BCA7-E306F706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EVAL-02</a:t>
            </a:r>
          </a:p>
        </p:txBody>
      </p:sp>
      <p:sp>
        <p:nvSpPr>
          <p:cNvPr id="21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71CB4CD6-D643-47B1-9CC3-AFC70869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22" name="측정·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22F8895D-3686-4FF2-970B-CE230B45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측정·검증 범위를 유지하는가?</a:t>
            </a:r>
          </a:p>
        </p:txBody>
      </p:sp>
      <p:sp>
        <p:nvSpPr>
          <p:cNvPr id="23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9BB0DE22-9B53-4C94-B9C6-97879ABE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24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CC7E5B02-2966-4FD6-A40E-3FA98AC0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1C9724-DB79-4B44-B317-C36FC6AD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6" name="EVAL-03">
            <a:extLst xmlns:a="http://schemas.openxmlformats.org/drawingml/2006/main">
              <a:ext uri="{FF2B5EF4-FFF2-40B4-BE49-F238E27FC236}">
                <a16:creationId xmlns:a16="http://schemas.microsoft.com/office/drawing/2014/main" id="{5D17EDA0-0C5B-49B9-A1DF-88E6BE63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EVAL-03</a:t>
            </a:r>
          </a:p>
        </p:txBody>
      </p:sp>
      <p:sp>
        <p:nvSpPr>
          <p:cNvPr id="2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282B31DD-2702-476C-805A-889A41B0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2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72571A87-8874-474F-BA16-E9C1D524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339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29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75FDB9C9-299B-483D-B835-5D631019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0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699560E7-614D-4880-8BA5-0BC6F5E3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CF717E-F096-4BA5-BE0B-BF73606B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32" name="EVAL-04">
            <a:extLst xmlns:a="http://schemas.openxmlformats.org/drawingml/2006/main">
              <a:ext uri="{FF2B5EF4-FFF2-40B4-BE49-F238E27FC236}">
                <a16:creationId xmlns:a16="http://schemas.microsoft.com/office/drawing/2014/main" id="{25115ACD-3FA3-418F-B8B8-B054A0EC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EVAL-04</a:t>
            </a:r>
          </a:p>
        </p:txBody>
      </p:sp>
      <p:sp>
        <p:nvSpPr>
          <p:cNvPr id="33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A70F10E1-9483-4B2C-856E-B3593C37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34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B3B3CC31-7D1C-4248-8D37-C522F732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35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4326DEA7-DBC2-4EA8-B311-81DB6B3F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054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6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11884C34-4D92-4ECA-BC85-7F2A0A9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530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2D0B677-ED09-4D3B-9C01-2CB46934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7889591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B843565F-C7F1-4F07-9F1B-857F5375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09D809C8-EAD3-4093-A544-8530E287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9537F96E-E9E3-4663-BD90-8520F140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F9F375-B567-4D0D-9D10-55D28A3E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B3ABA66E-C37A-4016-B706-474C2724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4ACFDEA3-B60D-49F4-8289-7411119C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B2094A19-0503-444B-B66D-02CB0BE0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B9760-7B00-446E-91D2-7D49F06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C45D8D56-971E-4653-8E31-E5591823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E88631BE-65F2-48F5-83D1-0DAA4E36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4B7B29-B6D4-4866-A2E4-39C9152D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8A50B808-60F7-4D71-97E2-DC78738F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3E055C6E-7797-4464-B2B0-8992575D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3CA2D-04B3-45BF-9E41-7AA0020B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044F5DB2-8A0D-4F9F-BA04-67B03D9A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130EB840-94F0-4511-A827-7F99F8EF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995116EF-4353-467E-8AD4-CAA62042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7CB7EE9-624E-4788-8AF8-D1F1C304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74287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ACT 4 · 이 교육의 Loop 운영 모델">
            <a:extLst xmlns:a="http://schemas.openxmlformats.org/drawingml/2006/main">
              <a:ext uri="{FF2B5EF4-FFF2-40B4-BE49-F238E27FC236}">
                <a16:creationId xmlns:a16="http://schemas.microsoft.com/office/drawing/2014/main" id="{C573198C-A6EA-49D9-9FEC-D7267973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운영 모델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F0DFBE85-E6B9-4F79-8179-2E1BBA1B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관찰을 시스템 개선으로 잇는 Loop">
            <a:extLst xmlns:a="http://schemas.openxmlformats.org/drawingml/2006/main">
              <a:ext uri="{FF2B5EF4-FFF2-40B4-BE49-F238E27FC236}">
                <a16:creationId xmlns:a16="http://schemas.microsoft.com/office/drawing/2014/main" id="{28720E5A-EC63-4375-89B3-2C58C786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관찰을 시스템 개선으로 잇는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76D0C-E8BA-4E3F-8CF4-04FCEC0C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가상 사례를 5단계로 정리한 교육용 모델">
            <a:extLst xmlns:a="http://schemas.openxmlformats.org/drawingml/2006/main">
              <a:ext uri="{FF2B5EF4-FFF2-40B4-BE49-F238E27FC236}">
                <a16:creationId xmlns:a16="http://schemas.microsoft.com/office/drawing/2014/main" id="{D24C5E9C-995D-4A04-8DB5-DDE8F9F7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가상 사례를 5단계로 정리한 교육용 모델</a:t>
            </a:r>
          </a:p>
        </p:txBody>
      </p:sp>
      <p:sp>
        <p:nvSpPr>
          <p:cNvPr id="6" name="실제 실행·수정·평가 결과 없음 · 모델의 자동 학습이나 관찰된 Product Loop가 아님">
            <a:extLst xmlns:a="http://schemas.openxmlformats.org/drawingml/2006/main">
              <a:ext uri="{FF2B5EF4-FFF2-40B4-BE49-F238E27FC236}">
                <a16:creationId xmlns:a16="http://schemas.microsoft.com/office/drawing/2014/main" id="{F0B53DD6-5DC8-4833-82F9-63677662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실행·수정·평가 결과 없음 · 모델의 자동 학습이나 관찰된 Product Loop가 아님</a:t>
            </a:r>
          </a:p>
        </p:txBody>
      </p:sp>
      <p:sp>
        <p:nvSpPr>
          <p:cNvPr id="7" name="실행·관찰·원인 판단을 거쳐, 변경과 재평가로 연결한다">
            <a:extLst xmlns:a="http://schemas.openxmlformats.org/drawingml/2006/main">
              <a:ext uri="{FF2B5EF4-FFF2-40B4-BE49-F238E27FC236}">
                <a16:creationId xmlns:a16="http://schemas.microsoft.com/office/drawing/2014/main" id="{1E40AE39-AD26-4364-900C-E2DBE112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실행·관찰·원인 판단을 거쳐, 변경과 재평가로 연결한다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CCF25332-B39A-4EAE-829F-D95166F3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8FE5C4-0038-42E4-9FC2-D66C04C9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실행">
            <a:extLst xmlns:a="http://schemas.openxmlformats.org/drawingml/2006/main">
              <a:ext uri="{FF2B5EF4-FFF2-40B4-BE49-F238E27FC236}">
                <a16:creationId xmlns:a16="http://schemas.microsoft.com/office/drawing/2014/main" id="{C2D911DF-942C-46A4-A195-DFA483E2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1" name="무엇을&#10;했나?">
            <a:extLst xmlns:a="http://schemas.openxmlformats.org/drawingml/2006/main">
              <a:ext uri="{FF2B5EF4-FFF2-40B4-BE49-F238E27FC236}">
                <a16:creationId xmlns:a16="http://schemas.microsoft.com/office/drawing/2014/main" id="{76D2C9FC-162C-4D41-B083-C8651D5E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</a:t>
            </a:r>
          </a:p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42BBBD-8B76-427E-B85B-18377C85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19812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가상 작업의&#10;실행 경로 확인">
            <a:extLst xmlns:a="http://schemas.openxmlformats.org/drawingml/2006/main">
              <a:ext uri="{FF2B5EF4-FFF2-40B4-BE49-F238E27FC236}">
                <a16:creationId xmlns:a16="http://schemas.microsoft.com/office/drawing/2014/main" id="{57B72909-0FEC-478C-B09A-FE9A90F9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17907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가상 작업의</a:t>
            </a:r>
          </a:p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경로 확인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C4E532-0A91-440A-B3C6-A1B948FD5429}"/>
              </a:ext>
            </a:extLst>
          </p:cNvPr>
          <p:cNvCxnSpPr/>
          <p:nvPr/>
        </p:nvCxnSpPr>
        <p:spPr>
          <a:xfrm xmlns:a="http://schemas.openxmlformats.org/drawingml/2006/main">
            <a:off x="2647950" y="31432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02">
            <a:extLst xmlns:a="http://schemas.openxmlformats.org/drawingml/2006/main">
              <a:ext uri="{FF2B5EF4-FFF2-40B4-BE49-F238E27FC236}">
                <a16:creationId xmlns:a16="http://schemas.microsoft.com/office/drawing/2014/main" id="{1233ABCD-7BD0-46C8-9501-3000E294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812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E80253-81B6-4536-98A4-7E59A27E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194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찰">
            <a:extLst xmlns:a="http://schemas.openxmlformats.org/drawingml/2006/main">
              <a:ext uri="{FF2B5EF4-FFF2-40B4-BE49-F238E27FC236}">
                <a16:creationId xmlns:a16="http://schemas.microsoft.com/office/drawing/2014/main" id="{2A67EBBA-6597-4D77-994A-30D022FE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62275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8" name="무엇이&#10;보였나?">
            <a:extLst xmlns:a="http://schemas.openxmlformats.org/drawingml/2006/main">
              <a:ext uri="{FF2B5EF4-FFF2-40B4-BE49-F238E27FC236}">
                <a16:creationId xmlns:a16="http://schemas.microsoft.com/office/drawing/2014/main" id="{518652C1-397F-4942-AA0E-CD0B8195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766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</a:t>
            </a:r>
          </a:p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보였나?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4B55A5-386A-45CA-B7B1-123A648A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05300"/>
            <a:ext cx="19812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현재 기준과&#10;읽은 지침 대조">
            <a:extLst xmlns:a="http://schemas.openxmlformats.org/drawingml/2006/main">
              <a:ext uri="{FF2B5EF4-FFF2-40B4-BE49-F238E27FC236}">
                <a16:creationId xmlns:a16="http://schemas.microsoft.com/office/drawing/2014/main" id="{67352841-DBEA-4F46-B0B2-CDEED135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62450"/>
            <a:ext cx="17907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기준과</a:t>
            </a:r>
          </a:p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읽은 지침 대조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58038B-3DFE-4529-B59C-F8197EF4DFF5}"/>
              </a:ext>
            </a:extLst>
          </p:cNvPr>
          <p:cNvCxnSpPr/>
          <p:nvPr/>
        </p:nvCxnSpPr>
        <p:spPr>
          <a:xfrm xmlns:a="http://schemas.openxmlformats.org/drawingml/2006/main">
            <a:off x="4895850" y="31432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2" name="03">
            <a:extLst xmlns:a="http://schemas.openxmlformats.org/drawingml/2006/main">
              <a:ext uri="{FF2B5EF4-FFF2-40B4-BE49-F238E27FC236}">
                <a16:creationId xmlns:a16="http://schemas.microsoft.com/office/drawing/2014/main" id="{D1464320-A1AE-492F-9EAD-154BA881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812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E06C89-61AF-47BB-B7FA-8354ABE9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194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FCE730AC-EC2C-4F93-B06B-4B8608A2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62275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25" name="무슨 근거로&#10;판단하나?">
            <a:extLst xmlns:a="http://schemas.openxmlformats.org/drawingml/2006/main">
              <a:ext uri="{FF2B5EF4-FFF2-40B4-BE49-F238E27FC236}">
                <a16:creationId xmlns:a16="http://schemas.microsoft.com/office/drawing/2014/main" id="{DA96894A-EF99-411E-A35E-5D479F22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4766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무슨 근거로</a:t>
            </a:r>
          </a:p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판단하나?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BE862-727D-45FC-8623-547C9AF4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05300"/>
            <a:ext cx="19812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오래된 지침이&#10;원인인지 확인">
            <a:extLst xmlns:a="http://schemas.openxmlformats.org/drawingml/2006/main">
              <a:ext uri="{FF2B5EF4-FFF2-40B4-BE49-F238E27FC236}">
                <a16:creationId xmlns:a16="http://schemas.microsoft.com/office/drawing/2014/main" id="{E49D71E3-0593-41C4-B40B-D3F481FA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62450"/>
            <a:ext cx="17907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원인인지 확인</a:t>
            </a:r>
          </a:p>
        </p:txBody>
      </p: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B475AF-37E0-42E5-A1E2-B41B174DFE67}"/>
              </a:ext>
            </a:extLst>
          </p:cNvPr>
          <p:cNvCxnSpPr/>
          <p:nvPr/>
        </p:nvCxnSpPr>
        <p:spPr>
          <a:xfrm xmlns:a="http://schemas.openxmlformats.org/drawingml/2006/main">
            <a:off x="7143750" y="31432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9" name="04">
            <a:extLst xmlns:a="http://schemas.openxmlformats.org/drawingml/2006/main">
              <a:ext uri="{FF2B5EF4-FFF2-40B4-BE49-F238E27FC236}">
                <a16:creationId xmlns:a16="http://schemas.microsoft.com/office/drawing/2014/main" id="{A17CF26E-9977-4C5A-A092-9C856630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812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DC32E8-6FD3-40DF-9712-D8EA20E1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194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1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ED28A44C-C3C6-4BC0-9FCC-7B45CE15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62275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32" name="어디를&#10;바꾸나?">
            <a:extLst xmlns:a="http://schemas.openxmlformats.org/drawingml/2006/main">
              <a:ext uri="{FF2B5EF4-FFF2-40B4-BE49-F238E27FC236}">
                <a16:creationId xmlns:a16="http://schemas.microsoft.com/office/drawing/2014/main" id="{7B0A538A-C4A9-4CB9-BBC5-3D974472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766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</a:t>
            </a:r>
          </a:p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바꾸나?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07EC4E-B771-4BFE-A86F-078F5177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05300"/>
            <a:ext cx="19812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확인됐다면&#10;사람이 지침 갱신">
            <a:extLst xmlns:a="http://schemas.openxmlformats.org/drawingml/2006/main">
              <a:ext uri="{FF2B5EF4-FFF2-40B4-BE49-F238E27FC236}">
                <a16:creationId xmlns:a16="http://schemas.microsoft.com/office/drawing/2014/main" id="{E5CB1765-C6AC-451F-B0C7-A22B01CC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362450"/>
            <a:ext cx="17907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확인됐다면</a:t>
            </a:r>
          </a:p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사람이 지침 갱신</a:t>
            </a:r>
          </a:p>
        </p:txBody>
      </p: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DF2EB85-30FA-4F5F-9003-B8304F6EE741}"/>
              </a:ext>
            </a:extLst>
          </p:cNvPr>
          <p:cNvCxnSpPr/>
          <p:nvPr/>
        </p:nvCxnSpPr>
        <p:spPr>
          <a:xfrm xmlns:a="http://schemas.openxmlformats.org/drawingml/2006/main">
            <a:off x="9391650" y="31432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36" name="05">
            <a:extLst xmlns:a="http://schemas.openxmlformats.org/drawingml/2006/main">
              <a:ext uri="{FF2B5EF4-FFF2-40B4-BE49-F238E27FC236}">
                <a16:creationId xmlns:a16="http://schemas.microsoft.com/office/drawing/2014/main" id="{65C857B6-4819-4159-93BD-ED0A7946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41E99B-86D4-4B94-B5D6-C725C644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8194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8" name="재평가">
            <a:extLst xmlns:a="http://schemas.openxmlformats.org/drawingml/2006/main">
              <a:ext uri="{FF2B5EF4-FFF2-40B4-BE49-F238E27FC236}">
                <a16:creationId xmlns:a16="http://schemas.microsoft.com/office/drawing/2014/main" id="{35A16C03-4B9E-4530-8A1C-BDD2A794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62275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39" name="다른 작업도&#10;괜찮나?">
            <a:extLst xmlns:a="http://schemas.openxmlformats.org/drawingml/2006/main">
              <a:ext uri="{FF2B5EF4-FFF2-40B4-BE49-F238E27FC236}">
                <a16:creationId xmlns:a16="http://schemas.microsoft.com/office/drawing/2014/main" id="{99705AF5-FDB8-4299-857F-6076A888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766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</a:t>
            </a:r>
          </a:p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괜찮나?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C86478-82FF-4044-8407-23D7DFE5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305300"/>
            <a:ext cx="19812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같은 작업과&#10;대표 작업 평가">
            <a:extLst xmlns:a="http://schemas.openxmlformats.org/drawingml/2006/main">
              <a:ext uri="{FF2B5EF4-FFF2-40B4-BE49-F238E27FC236}">
                <a16:creationId xmlns:a16="http://schemas.microsoft.com/office/drawing/2014/main" id="{1DFD212B-78EF-4A28-A5AE-4C268371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362450"/>
            <a:ext cx="17907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작업과</a:t>
            </a:r>
          </a:p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 평가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107D1D-8605-47C2-B294-4A5EAA41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991100"/>
            <a:ext cx="0" cy="2571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0B6172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7CF641-97A6-40DD-9B0D-F83EFA3B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48275"/>
            <a:ext cx="899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0A0435-9B58-48D3-845A-85872A5B66EF}"/>
              </a:ext>
            </a:extLst>
          </p:cNvPr>
          <p:cNvCxnSpPr/>
          <p:nvPr/>
        </p:nvCxnSpPr>
        <p:spPr>
          <a:xfrm xmlns:a="http://schemas.openxmlformats.org/drawingml/2006/main">
            <a:off x="1600200" y="4991100"/>
            <a:ext cx="0" cy="2571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headEnd type="triangle" w="sm" len="sm"/>
          </a:ln>
        </p:spPr>
      </p:cxnSp>
      <p:sp>
        <p:nvSpPr>
          <p:cNvPr id="45" name="다음 작업에서 다시 확인">
            <a:extLst xmlns:a="http://schemas.openxmlformats.org/drawingml/2006/main">
              <a:ext uri="{FF2B5EF4-FFF2-40B4-BE49-F238E27FC236}">
                <a16:creationId xmlns:a16="http://schemas.microsoft.com/office/drawing/2014/main" id="{26BCAA20-ED49-4B1B-A001-04059A05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작업에서 다시 확인</a:t>
            </a:r>
          </a:p>
        </p:txBody>
      </p:sp>
      <p:sp>
        <p:nvSpPr>
          <p:cNvPr id="4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8364C28-1319-491A-9B2B-EC2E6254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5633236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평가·보고의 빈틈">
            <a:extLst xmlns:a="http://schemas.openxmlformats.org/drawingml/2006/main">
              <a:ext uri="{FF2B5EF4-FFF2-40B4-BE49-F238E27FC236}">
                <a16:creationId xmlns:a16="http://schemas.microsoft.com/office/drawing/2014/main" id="{266CF36E-144F-4063-9241-1C1DED68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평가·보고의 빈틈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AA5EED98-D7B2-401C-98E4-0C616446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평가에서 놓친 실행 조건">
            <a:extLst xmlns:a="http://schemas.openxmlformats.org/drawingml/2006/main">
              <a:ext uri="{FF2B5EF4-FFF2-40B4-BE49-F238E27FC236}">
                <a16:creationId xmlns:a16="http://schemas.microsoft.com/office/drawing/2014/main" id="{B2FACA71-311D-4C91-8BA5-28B0BAD5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평가에서 놓친 실행 조건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77D54-6064-4D66-B0BC-E997552C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AC9B0-1546-46FD-9D6E-C0256733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성능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B144D6FC-8E79-40B8-BAA4-9AFC93E7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성능 조사 기록의 재구성</a:t>
            </a:r>
          </a:p>
        </p:txBody>
      </p:sp>
      <p:sp>
        <p:nvSpPr>
          <p:cNvPr id="7" name="앞의 가상 Workflow와 별개 사건 · 실제 변경 대상은 평가·보고 기준이며 제품 코드·Demo Skil">
            <a:extLst xmlns:a="http://schemas.openxmlformats.org/drawingml/2006/main">
              <a:ext uri="{FF2B5EF4-FFF2-40B4-BE49-F238E27FC236}">
                <a16:creationId xmlns:a16="http://schemas.microsoft.com/office/drawing/2014/main" id="{0864EB7B-B759-4A60-A914-9F0C0FFA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 · 실제 변경 대상은 평가·보고 기준이며 제품 코드·Demo Skill이 아님</a:t>
            </a:r>
          </a:p>
        </p:txBody>
      </p:sp>
      <p:sp>
        <p:nvSpPr>
          <p:cNvPr id="8" name="앞서 본 환경 관찰을, 평가·보고 관점으로 돌아본다">
            <a:extLst xmlns:a="http://schemas.openxmlformats.org/drawingml/2006/main">
              <a:ext uri="{FF2B5EF4-FFF2-40B4-BE49-F238E27FC236}">
                <a16:creationId xmlns:a16="http://schemas.microsoft.com/office/drawing/2014/main" id="{AA4070F5-439F-467C-991A-802212CD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앞서 본 환경 관찰을, 평가·보고 관점으로 돌아본다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CACED5F8-D840-4D99-8A5F-0762ABC7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35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관찰된 조건">
            <a:extLst xmlns:a="http://schemas.openxmlformats.org/drawingml/2006/main">
              <a:ext uri="{FF2B5EF4-FFF2-40B4-BE49-F238E27FC236}">
                <a16:creationId xmlns:a16="http://schemas.microsoft.com/office/drawing/2014/main" id="{AD6607B8-8C99-41ED-9ECF-7060607E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35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조건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05C529-C413-4D59-BF4F-05A20E67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전역 Skill 포함&#10;시작 단계 경고">
            <a:extLst xmlns:a="http://schemas.openxmlformats.org/drawingml/2006/main">
              <a:ext uri="{FF2B5EF4-FFF2-40B4-BE49-F238E27FC236}">
                <a16:creationId xmlns:a16="http://schemas.microsoft.com/office/drawing/2014/main" id="{A0593377-D629-4247-A282-18AF9C27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35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전역 Skill 포함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단계 경고</a:t>
            </a:r>
          </a:p>
        </p:txBody>
      </p: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D8E1A0-F6D8-4DA0-8D49-DDD55AD62586}"/>
              </a:ext>
            </a:extLst>
          </p:cNvPr>
          <p:cNvCxnSpPr/>
          <p:nvPr/>
        </p:nvCxnSpPr>
        <p:spPr>
          <a:xfrm xmlns:a="http://schemas.openxmlformats.org/drawingml/2006/main">
            <a:off x="4038600" y="35242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ADAE4CD1-4940-4BAA-9AE1-2B95939B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33675"/>
            <a:ext cx="335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평가의 빈틈">
            <a:extLst xmlns:a="http://schemas.openxmlformats.org/drawingml/2006/main">
              <a:ext uri="{FF2B5EF4-FFF2-40B4-BE49-F238E27FC236}">
                <a16:creationId xmlns:a16="http://schemas.microsoft.com/office/drawing/2014/main" id="{B198C26E-C2A9-44B9-AA2B-2F589E41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81350"/>
            <a:ext cx="335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평가의 빈틈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6A9E08-F8FB-422C-B64B-AEA602B6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433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Prompt만의 효과는&#10;분리하지 못함">
            <a:extLst xmlns:a="http://schemas.openxmlformats.org/drawingml/2006/main">
              <a:ext uri="{FF2B5EF4-FFF2-40B4-BE49-F238E27FC236}">
                <a16:creationId xmlns:a16="http://schemas.microsoft.com/office/drawing/2014/main" id="{8DBD69AE-14AF-4AE4-8B0C-076F069F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81450"/>
            <a:ext cx="335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효과는</a:t>
            </a:r>
          </a:p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분리하지 못함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D69A5-26B0-4BB4-91C7-6F23D89D2E6B}"/>
              </a:ext>
            </a:extLst>
          </p:cNvPr>
          <p:cNvCxnSpPr/>
          <p:nvPr/>
        </p:nvCxnSpPr>
        <p:spPr>
          <a:xfrm xmlns:a="http://schemas.openxmlformats.org/drawingml/2006/main">
            <a:off x="7848600" y="35242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E4D0C927-31B6-4496-A500-6863687E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35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후속 질문">
            <a:extLst xmlns:a="http://schemas.openxmlformats.org/drawingml/2006/main">
              <a:ext uri="{FF2B5EF4-FFF2-40B4-BE49-F238E27FC236}">
                <a16:creationId xmlns:a16="http://schemas.microsoft.com/office/drawing/2014/main" id="{FA0A9222-0849-4DA5-B94A-60FC6A20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335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5D0BCA-BE25-4F52-9E1D-26D1869E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결과 확인과 원인 판단을&#10;어떻게 나눠 기록할까?">
            <a:extLst xmlns:a="http://schemas.openxmlformats.org/drawingml/2006/main">
              <a:ext uri="{FF2B5EF4-FFF2-40B4-BE49-F238E27FC236}">
                <a16:creationId xmlns:a16="http://schemas.microsoft.com/office/drawing/2014/main" id="{1E9C2FC6-E39E-440C-916A-849626F3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81450"/>
            <a:ext cx="335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확인과 원인 판단을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나눠 기록할까?</a:t>
            </a:r>
          </a:p>
        </p:txBody>
      </p:sp>
      <p:sp>
        <p:nvSpPr>
          <p:cNvPr id="23" name="같은 사건에서, 이번에는 평가 기준을 바꿀 필요를 살핀다">
            <a:extLst xmlns:a="http://schemas.openxmlformats.org/drawingml/2006/main">
              <a:ext uri="{FF2B5EF4-FFF2-40B4-BE49-F238E27FC236}">
                <a16:creationId xmlns:a16="http://schemas.microsoft.com/office/drawing/2014/main" id="{D237DBEA-FA16-4F03-BBBF-37F28D3E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사건에서, 이번에는 평가 기준을 바꿀 필요를 살핀다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5B8FB4D-300F-4A6F-B09E-0CA41593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4336176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FBDAEFB9-6600-43B0-8C26-DD43B266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81">
            <a:extLst xmlns:a="http://schemas.openxmlformats.org/drawingml/2006/main">
              <a:ext uri="{FF2B5EF4-FFF2-40B4-BE49-F238E27FC236}">
                <a16:creationId xmlns:a16="http://schemas.microsoft.com/office/drawing/2014/main" id="{9816B9CB-A962-4B99-A8C2-FE4FCB21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S81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444A2D5F-324D-4322-89DE-9C95FF03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39890-71E8-49CA-8E57-5D19EBA0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453D4-88BE-454A-96CA-BD2E7896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764BDBEB-65AE-4732-B7B8-4E35C134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9391F2CA-FD77-4A95-B393-8EC99915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4412E46E-4D6D-4E46-8B74-0FC0CF17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CF6D793A-8A50-4652-B152-5DD861C8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E8AC460E-BA48-42AC-9740-65C4B2DE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E4248FD1-BFDE-414D-88A3-57F004E3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D9D85D-4B55-4EA2-9B0D-CD64A44B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1589E-753E-4D80-AC56-ADED3331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4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16EB8F02-2698-4E0A-90AC-65013787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5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AF1073B3-DDDF-49A4-82FB-E3D898F7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6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90712117-9D78-4C89-9E96-F6D6C875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7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04D7EB88-DE17-4F53-B31E-321EACED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8" name="결과에 대한 확인과,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E063888C-B4AF-493B-93ED-83709767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결과에 대한 확인과, 원인에 대한 확신을 따로 기록한다.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C91B18E-4E25-405B-A406-70CCB92E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0553335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2D09E499-DB88-48EB-987F-F37CD88F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DC92AFCC-49EA-47EC-809F-A6C8DA16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S82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84C7162C-F6ED-4C92-8F59-0BB74519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326FE-5AC6-4F40-90AC-A75E30E9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A31CB-FEE9-43E0-9BE8-4285EB29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38BF1199-A3BE-4D48-A69A-A7A9C8B6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BC37A9DE-B938-49EB-956E-54C5E872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DEC-0016 · 바뀐 것은 후속 Trial을 기록하는 기준">
            <a:extLst xmlns:a="http://schemas.openxmlformats.org/drawingml/2006/main">
              <a:ext uri="{FF2B5EF4-FFF2-40B4-BE49-F238E27FC236}">
                <a16:creationId xmlns:a16="http://schemas.microsoft.com/office/drawing/2014/main" id="{58D83B03-F487-4F81-8930-9214868F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DEC-0016 · 바뀐 것은 후속 Trial을 기록하는 기준</a:t>
            </a:r>
          </a:p>
        </p:txBody>
      </p:sp>
      <p:sp>
        <p:nvSpPr>
          <p:cNvPr id="9" name="기존 빈틈: 작업·Repository 중심으로 보고 주변 Harness 영향 설명이 부족했다.">
            <a:extLst xmlns:a="http://schemas.openxmlformats.org/drawingml/2006/main">
              <a:ext uri="{FF2B5EF4-FFF2-40B4-BE49-F238E27FC236}">
                <a16:creationId xmlns:a16="http://schemas.microsoft.com/office/drawing/2014/main" id="{88EC4121-B30C-49A3-AE96-26CF0452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빈틈: 작업·Repository 중심으로 보고 주변 Harness 영향 설명이 부족했다.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5E82E-1077-4102-BC83-31ECB08C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기존 결과 보존">
            <a:extLst xmlns:a="http://schemas.openxmlformats.org/drawingml/2006/main">
              <a:ext uri="{FF2B5EF4-FFF2-40B4-BE49-F238E27FC236}">
                <a16:creationId xmlns:a16="http://schemas.microsoft.com/office/drawing/2014/main" id="{B8F83735-17B4-42E7-9FBD-33B0D473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 보존</a:t>
            </a:r>
          </a:p>
        </p:txBody>
      </p:sp>
      <p:sp>
        <p:nvSpPr>
          <p:cNvPr id="12" name="TRIAL-006&#10;PARTIAL로 남김">
            <a:extLst xmlns:a="http://schemas.openxmlformats.org/drawingml/2006/main">
              <a:ext uri="{FF2B5EF4-FFF2-40B4-BE49-F238E27FC236}">
                <a16:creationId xmlns:a16="http://schemas.microsoft.com/office/drawing/2014/main" id="{4F230FC5-81B0-4689-BD8B-26091694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TRIAL-006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PARTIAL로 남김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2E6D1E-1B1F-48CB-9421-3CE56B06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2C94CD-83E9-4C64-B376-5B0FB6D5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진행 조건 명시">
            <a:extLst xmlns:a="http://schemas.openxmlformats.org/drawingml/2006/main">
              <a:ext uri="{FF2B5EF4-FFF2-40B4-BE49-F238E27FC236}">
                <a16:creationId xmlns:a16="http://schemas.microsoft.com/office/drawing/2014/main" id="{DD51F282-6968-4E4F-A307-20B5559B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진행 조건 명시</a:t>
            </a:r>
          </a:p>
        </p:txBody>
      </p:sp>
      <p:sp>
        <p:nvSpPr>
          <p:cNvPr id="16" name="clean isolation을&#10;진행 조건으로 두지 않음">
            <a:extLst xmlns:a="http://schemas.openxmlformats.org/drawingml/2006/main">
              <a:ext uri="{FF2B5EF4-FFF2-40B4-BE49-F238E27FC236}">
                <a16:creationId xmlns:a16="http://schemas.microsoft.com/office/drawing/2014/main" id="{26E237C5-AC77-49E0-81B9-A9271927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clean isolation을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진행 조건으로 두지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7D42AE-8D05-4EFB-A53F-16A3CD71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992DCA-0861-4521-B0E3-0BFBE3D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후속 기록 변경">
            <a:extLst xmlns:a="http://schemas.openxmlformats.org/drawingml/2006/main">
              <a:ext uri="{FF2B5EF4-FFF2-40B4-BE49-F238E27FC236}">
                <a16:creationId xmlns:a16="http://schemas.microsoft.com/office/drawing/2014/main" id="{BB7A53FA-94AB-4E49-9D68-A20711EE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변경</a:t>
            </a:r>
          </a:p>
        </p:txBody>
      </p:sp>
      <p:sp>
        <p:nvSpPr>
          <p:cNvPr id="20" name="관찰된 환경 영향을&#10;다음 Trial에 함께 기록">
            <a:extLst xmlns:a="http://schemas.openxmlformats.org/drawingml/2006/main">
              <a:ext uri="{FF2B5EF4-FFF2-40B4-BE49-F238E27FC236}">
                <a16:creationId xmlns:a16="http://schemas.microsoft.com/office/drawing/2014/main" id="{D6C4F92F-0CB1-4649-9AC5-F78F975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환경 영향을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Trial에 함께 기록</a:t>
            </a:r>
          </a:p>
        </p:txBody>
      </p:sp>
      <p:sp>
        <p:nvSpPr>
          <p:cNvPr id="21" name="기록 대상: Skills · 경고 / 실행·사용 여부 · 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F16E5C04-F6A6-4458-9243-1CBC802C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대상: Skills · 경고 / 실행·사용 여부 · 결과를 설명할 수 있는 범위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7438F12-A091-4782-B2F5-FAA0EE05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8105030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4AD8C5DF-77E3-440D-B595-9802A24E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83">
            <a:extLst xmlns:a="http://schemas.openxmlformats.org/drawingml/2006/main">
              <a:ext uri="{FF2B5EF4-FFF2-40B4-BE49-F238E27FC236}">
                <a16:creationId xmlns:a16="http://schemas.microsoft.com/office/drawing/2014/main" id="{2CA9A7D5-873A-4567-99E6-2489E0C0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S83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112B2EB8-5494-4CB0-808C-C68E50AB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B673E-A04B-4580-BEB0-622C553E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45379-B423-4F2E-A32F-01477784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3FC7075B-7A83-49F2-93F5-A38F1BB1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C9E9A1AC-71E7-42D8-9DB1-45DA17E8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">
            <a:extLst xmlns:a="http://schemas.openxmlformats.org/drawingml/2006/main">
              <a:ext uri="{FF2B5EF4-FFF2-40B4-BE49-F238E27FC236}">
                <a16:creationId xmlns:a16="http://schemas.microsoft.com/office/drawing/2014/main" id="{D815C03E-825D-4F68-B035-49FDEC92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TRIAL-007</a:t>
            </a:r>
          </a:p>
        </p:txBody>
      </p:sp>
      <p:sp>
        <p:nvSpPr>
          <p:cNvPr id="9" name="보고와 원문을 대조">
            <a:extLst xmlns:a="http://schemas.openxmlformats.org/drawingml/2006/main">
              <a:ext uri="{FF2B5EF4-FFF2-40B4-BE49-F238E27FC236}">
                <a16:creationId xmlns:a16="http://schemas.microsoft.com/office/drawing/2014/main" id="{A4683D12-7285-467D-86B5-29C23BA8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518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보고와 원문을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75C005-9AEF-4E4A-9B1C-AB5211FB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6AECE623-9AD0-4FD1-8DF5-6A0768CF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2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1864F742-C985-41BF-BE4E-F0022D4E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3" name="보존된 stderr · 진단 메시지 출력">
            <a:extLst xmlns:a="http://schemas.openxmlformats.org/drawingml/2006/main">
              <a:ext uri="{FF2B5EF4-FFF2-40B4-BE49-F238E27FC236}">
                <a16:creationId xmlns:a16="http://schemas.microsoft.com/office/drawing/2014/main" id="{F1857EC4-81C2-43A9-8C57-3C04D4AD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stderr · 진단 메시지 출력</a:t>
            </a:r>
          </a:p>
        </p:txBody>
      </p:sp>
      <p:sp>
        <p:nvSpPr>
          <p:cNvPr id="14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BA03380D-5C74-4826-8655-469FAEA6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5" name="인증 필요 경고">
            <a:extLst xmlns:a="http://schemas.openxmlformats.org/drawingml/2006/main">
              <a:ext uri="{FF2B5EF4-FFF2-40B4-BE49-F238E27FC236}">
                <a16:creationId xmlns:a16="http://schemas.microsoft.com/office/drawing/2014/main" id="{9B8434D4-1321-4FDA-8A72-685295BB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인증 필요 경고</a:t>
            </a:r>
          </a:p>
        </p:txBody>
      </p:sp>
      <p:sp>
        <p:nvSpPr>
          <p:cNvPr id="16" name="TRIAL-008">
            <a:extLst xmlns:a="http://schemas.openxmlformats.org/drawingml/2006/main">
              <a:ext uri="{FF2B5EF4-FFF2-40B4-BE49-F238E27FC236}">
                <a16:creationId xmlns:a16="http://schemas.microsoft.com/office/drawing/2014/main" id="{4A6792EE-A56E-4A1C-9F1E-445712DC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7" name="사용 경로를 구분해 기록">
            <a:extLst xmlns:a="http://schemas.openxmlformats.org/drawingml/2006/main">
              <a:ext uri="{FF2B5EF4-FFF2-40B4-BE49-F238E27FC236}">
                <a16:creationId xmlns:a16="http://schemas.microsoft.com/office/drawing/2014/main" id="{F952E0AC-AECF-411F-A625-E5254A09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사용 경로를 구분해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F68A14-DFF9-4BBF-AA8D-3AB566AF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3911C4-2F94-4EA0-AA9C-B245467A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pository Skill 호출">
            <a:extLst xmlns:a="http://schemas.openxmlformats.org/drawingml/2006/main">
              <a:ext uri="{FF2B5EF4-FFF2-40B4-BE49-F238E27FC236}">
                <a16:creationId xmlns:a16="http://schemas.microsoft.com/office/drawing/2014/main" id="{2954086A-C1CB-4CB4-916F-E641706E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337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</a:t>
            </a:r>
          </a:p>
        </p:txBody>
      </p:sp>
      <p:sp>
        <p:nvSpPr>
          <p:cNvPr id="21" name="별도 기록">
            <a:extLst xmlns:a="http://schemas.openxmlformats.org/drawingml/2006/main">
              <a:ext uri="{FF2B5EF4-FFF2-40B4-BE49-F238E27FC236}">
                <a16:creationId xmlns:a16="http://schemas.microsoft.com/office/drawing/2014/main" id="{ECE89827-5E92-40CE-82B9-C69DE376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76725"/>
            <a:ext cx="487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A8BBED-51E2-480C-9B3C-23F1D80A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14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Global influence">
            <a:extLst xmlns:a="http://schemas.openxmlformats.org/drawingml/2006/main">
              <a:ext uri="{FF2B5EF4-FFF2-40B4-BE49-F238E27FC236}">
                <a16:creationId xmlns:a16="http://schemas.microsoft.com/office/drawing/2014/main" id="{C45A4F98-262D-4094-84A6-A482F41A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influence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A879648-5E6A-4AFD-AD2C-811D3F8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4965172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2290D2E7-9981-4D23-9212-C333381E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84">
            <a:extLst xmlns:a="http://schemas.openxmlformats.org/drawingml/2006/main">
              <a:ext uri="{FF2B5EF4-FFF2-40B4-BE49-F238E27FC236}">
                <a16:creationId xmlns:a16="http://schemas.microsoft.com/office/drawing/2014/main" id="{3A6896F5-1224-4C34-9AEA-B4AD74B5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S84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B8E5067A-06FD-4963-81AC-D673548F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CAD74-6BE5-4AAC-A050-ECD1FD2D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D13D3-4CAF-43D0-BC62-00FE0709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A07D2E90-9F82-4EA1-AC2F-DBE77A66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36AFC4B3-7A80-4E13-B29C-372B882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바뀐 대상">
            <a:extLst xmlns:a="http://schemas.openxmlformats.org/drawingml/2006/main">
              <a:ext uri="{FF2B5EF4-FFF2-40B4-BE49-F238E27FC236}">
                <a16:creationId xmlns:a16="http://schemas.microsoft.com/office/drawing/2014/main" id="{125D5114-B4DA-416C-AFB5-A6DC26AA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바뀐 대상</a:t>
            </a:r>
          </a:p>
        </p:txBody>
      </p:sp>
      <p:sp>
        <p:nvSpPr>
          <p:cNvPr id="9" name="Trial을 평가하고 보고하는 기준">
            <a:extLst xmlns:a="http://schemas.openxmlformats.org/drawingml/2006/main">
              <a:ext uri="{FF2B5EF4-FFF2-40B4-BE49-F238E27FC236}">
                <a16:creationId xmlns:a16="http://schemas.microsoft.com/office/drawing/2014/main" id="{D8689392-392F-40F3-ACEE-AA9AA5B3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Trial을 평가하고 보고하는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496D4-7892-4CD9-95FA-6F4ECBCF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남아 있는 확인 과제">
            <a:extLst xmlns:a="http://schemas.openxmlformats.org/drawingml/2006/main">
              <a:ext uri="{FF2B5EF4-FFF2-40B4-BE49-F238E27FC236}">
                <a16:creationId xmlns:a16="http://schemas.microsoft.com/office/drawing/2014/main" id="{C6010026-2FD8-4D23-A5C6-F397B3E8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남아 있는 확인 과제</a:t>
            </a:r>
          </a:p>
        </p:txBody>
      </p:sp>
      <p:sp>
        <p:nvSpPr>
          <p:cNvPr id="12" name="원인별 효과">
            <a:extLst xmlns:a="http://schemas.openxmlformats.org/drawingml/2006/main">
              <a:ext uri="{FF2B5EF4-FFF2-40B4-BE49-F238E27FC236}">
                <a16:creationId xmlns:a16="http://schemas.microsoft.com/office/drawing/2014/main" id="{A28F83F4-1E52-44F5-9726-C6D274DC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</p:txBody>
      </p:sp>
      <p:sp>
        <p:nvSpPr>
          <p:cNvPr id="13" name="무엇이 기여했는가?">
            <a:extLst xmlns:a="http://schemas.openxmlformats.org/drawingml/2006/main">
              <a:ext uri="{FF2B5EF4-FFF2-40B4-BE49-F238E27FC236}">
                <a16:creationId xmlns:a16="http://schemas.microsoft.com/office/drawing/2014/main" id="{1C3BEEC0-8114-4F96-9654-4594FA4E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기여했는가?</a:t>
            </a:r>
          </a:p>
        </p:txBody>
      </p:sp>
      <p:sp>
        <p:nvSpPr>
          <p:cNvPr id="14" name="환경 목록의 완전성">
            <a:extLst xmlns:a="http://schemas.openxmlformats.org/drawingml/2006/main">
              <a:ext uri="{FF2B5EF4-FFF2-40B4-BE49-F238E27FC236}">
                <a16:creationId xmlns:a16="http://schemas.microsoft.com/office/drawing/2014/main" id="{1C7F7F4C-5352-4D41-8A98-F248D7FC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</p:txBody>
      </p:sp>
      <p:sp>
        <p:nvSpPr>
          <p:cNvPr id="15" name="빠진 조건은 없는가?">
            <a:extLst xmlns:a="http://schemas.openxmlformats.org/drawingml/2006/main">
              <a:ext uri="{FF2B5EF4-FFF2-40B4-BE49-F238E27FC236}">
                <a16:creationId xmlns:a16="http://schemas.microsoft.com/office/drawing/2014/main" id="{6D81A6B5-8F93-4913-9128-0D2F6333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빠진 조건은 없는가?</a:t>
            </a:r>
          </a:p>
        </p:txBody>
      </p:sp>
      <p:sp>
        <p:nvSpPr>
          <p:cNvPr id="16" name="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CC356527-151D-48AC-8166-36B7DCE6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7" name="실제로 더 좋아졌는가?">
            <a:extLst xmlns:a="http://schemas.openxmlformats.org/drawingml/2006/main">
              <a:ext uri="{FF2B5EF4-FFF2-40B4-BE49-F238E27FC236}">
                <a16:creationId xmlns:a16="http://schemas.microsoft.com/office/drawing/2014/main" id="{A7079223-F40D-4BAC-82D4-F6349D20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실제로 더 좋아졌는가?</a:t>
            </a:r>
          </a:p>
        </p:txBody>
      </p:sp>
      <p:sp>
        <p:nvSpPr>
          <p:cNvPr id="18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2800DF3B-CD95-4C5C-BEDE-B8EDF65A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6A3C567-0C3F-40AE-BC34-F34835A5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20137683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584B39B6-2074-478C-9BF6-F73C83D2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85">
            <a:extLst xmlns:a="http://schemas.openxmlformats.org/drawingml/2006/main">
              <a:ext uri="{FF2B5EF4-FFF2-40B4-BE49-F238E27FC236}">
                <a16:creationId xmlns:a16="http://schemas.microsoft.com/office/drawing/2014/main" id="{30305D8E-386E-4736-9015-5A23AA95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S85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283D0A3E-5310-4A27-B675-AE9D55B4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AF7EB-B263-4C98-97A9-68B3EF06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D37D5FBD-7E5F-466F-8D20-252C290D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6F142360-09D7-4203-A2C9-D2EC6F4E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8999D233-B0C0-489F-B7E0-4DF122E2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57FBB-B8B9-4971-892D-0C59432E53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d3cde3b1fb4e1d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609600" y="2676525"/>
            <a:ext cx="6858000" cy="1924050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954B4839-5217-41E4-8B04-9F058FAA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0D52DB3E-B744-4434-A44B-74943659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76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59EED30F-65A1-477F-A3F7-B7160E57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767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89236331-74C0-4AC2-8938-5D94CAD9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59B00542-CDC2-442B-BC2D-53D5A5FC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860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03E397A1-87B3-4F0D-BA1B-EBCE2CF3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5" name="어떤 조건에서&#10;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8A5B341D-147E-48AB-8BBD-F0B5C4C0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987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맞던 판단인가?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F5DB065A-2CAA-40B2-853C-6C398286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927FE324-E962-46D6-9844-92B1C145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71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입력과 실행 조건은&#10;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66B77995-603C-4A5B-BABC-820EFD9C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비교 가능한가?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FCFE374A-9E1D-4A9C-9949-798E4664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6FF4A8A7-9353-4EB9-8F77-A06EB7C7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576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21" name="함께 다시 확인할&#10;동작은?">
            <a:extLst xmlns:a="http://schemas.openxmlformats.org/drawingml/2006/main">
              <a:ext uri="{FF2B5EF4-FFF2-40B4-BE49-F238E27FC236}">
                <a16:creationId xmlns:a16="http://schemas.microsoft.com/office/drawing/2014/main" id="{5FE36B1E-9979-4A7C-9B38-F2D29697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동작은?</a:t>
            </a:r>
          </a:p>
        </p:txBody>
      </p:sp>
      <p:sp>
        <p:nvSpPr>
          <p:cNvPr id="22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A115DD58-8A30-4196-9C1A-2DACA972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D7EBF9F-8E84-44E8-A07B-09A294C3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4973575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2026-10-24T07:30:53.8870000Z</dcterms:created>
  <dcterms:modified xsi:type="dcterms:W3CDTF">2026-10-24T07:30:53.8870000Z</dcterms:modified>
</coreProperties>
</file>