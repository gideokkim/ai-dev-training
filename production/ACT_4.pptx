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57b69a5c794ab6" /><Relationship Type="http://schemas.openxmlformats.org/officeDocument/2006/relationships/extended-properties" Target="/docProps/app.xml" Id="R4ffe919b939344fa" /><Relationship Type="http://schemas.openxmlformats.org/officeDocument/2006/relationships/officeDocument" Target="/ppt/presentation.xml" Id="Rbfcd6e24fb3d47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1afd79f6b34a69"/>
  </p:sldMasterIdLst>
  <p:notesMasterIdLst>
    <p:notesMasterId xmlns:r="http://schemas.openxmlformats.org/officeDocument/2006/relationships" r:id="R0bcf3075b1524d5c"/>
  </p:notesMasterIdLst>
  <p:sldIdLst>
    <p:sldId xmlns:r="http://schemas.openxmlformats.org/officeDocument/2006/relationships" id="256" r:id="Raf599b59e2604b68"/>
    <p:sldId xmlns:r="http://schemas.openxmlformats.org/officeDocument/2006/relationships" id="257" r:id="Rab2de803d4ee4449"/>
    <p:sldId xmlns:r="http://schemas.openxmlformats.org/officeDocument/2006/relationships" id="258" r:id="R58502b2867494a7d"/>
    <p:sldId xmlns:r="http://schemas.openxmlformats.org/officeDocument/2006/relationships" id="259" r:id="R375b3fdc151e4ea2"/>
    <p:sldId xmlns:r="http://schemas.openxmlformats.org/officeDocument/2006/relationships" id="260" r:id="R95b115e7b3144966"/>
    <p:sldId xmlns:r="http://schemas.openxmlformats.org/officeDocument/2006/relationships" id="261" r:id="Rce2b2a98fed04e6c"/>
    <p:sldId xmlns:r="http://schemas.openxmlformats.org/officeDocument/2006/relationships" id="262" r:id="Re59e451444f84464"/>
    <p:sldId xmlns:r="http://schemas.openxmlformats.org/officeDocument/2006/relationships" id="263" r:id="Rcc0819d45b29483f"/>
    <p:sldId xmlns:r="http://schemas.openxmlformats.org/officeDocument/2006/relationships" id="264" r:id="R0be51d155cf14fe1"/>
    <p:sldId xmlns:r="http://schemas.openxmlformats.org/officeDocument/2006/relationships" id="265" r:id="Rfa2f5bc39e3841de"/>
    <p:sldId xmlns:r="http://schemas.openxmlformats.org/officeDocument/2006/relationships" id="266" r:id="R1fc0998cb8084ba3"/>
    <p:sldId xmlns:r="http://schemas.openxmlformats.org/officeDocument/2006/relationships" id="267" r:id="Rc18eb8e351fc4476"/>
    <p:sldId xmlns:r="http://schemas.openxmlformats.org/officeDocument/2006/relationships" id="268" r:id="Rde6fdeed403b4253"/>
    <p:sldId xmlns:r="http://schemas.openxmlformats.org/officeDocument/2006/relationships" id="269" r:id="R7f16530b4631411e"/>
    <p:sldId xmlns:r="http://schemas.openxmlformats.org/officeDocument/2006/relationships" id="270" r:id="R991f86860fed4aa2"/>
    <p:sldId xmlns:r="http://schemas.openxmlformats.org/officeDocument/2006/relationships" id="271" r:id="R91fbf276382f4cb4"/>
    <p:sldId xmlns:r="http://schemas.openxmlformats.org/officeDocument/2006/relationships" id="272" r:id="R8786192e9821402f"/>
    <p:sldId xmlns:r="http://schemas.openxmlformats.org/officeDocument/2006/relationships" id="273" r:id="Rd0bdec7ccad141b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9aca4138574278" /><Relationship Type="http://schemas.openxmlformats.org/officeDocument/2006/relationships/slideMaster" Target="/ppt/slideMasters/slideMaster1.xml" Id="R421afd79f6b34a69" /><Relationship Type="http://schemas.openxmlformats.org/officeDocument/2006/relationships/notesMaster" Target="/ppt/notesMasters/notesMaster1.xml" Id="R0bcf3075b1524d5c" /><Relationship Type="http://schemas.openxmlformats.org/officeDocument/2006/relationships/presProps" Target="/ppt/presProps.xml" Id="R88f78d157c364592" /><Relationship Type="http://schemas.openxmlformats.org/officeDocument/2006/relationships/tableStyles" Target="/ppt/tableStyles.xml" Id="Rd27b3e5b7f9f473a" /><Relationship Type="http://schemas.openxmlformats.org/officeDocument/2006/relationships/slide" Target="/ppt/slides/slide1.xml" Id="Raf599b59e2604b68" /><Relationship Type="http://schemas.openxmlformats.org/officeDocument/2006/relationships/slide" Target="/ppt/slides/slide2.xml" Id="Rab2de803d4ee4449" /><Relationship Type="http://schemas.openxmlformats.org/officeDocument/2006/relationships/slide" Target="/ppt/slides/slide3.xml" Id="R58502b2867494a7d" /><Relationship Type="http://schemas.openxmlformats.org/officeDocument/2006/relationships/slide" Target="/ppt/slides/slide4.xml" Id="R375b3fdc151e4ea2" /><Relationship Type="http://schemas.openxmlformats.org/officeDocument/2006/relationships/slide" Target="/ppt/slides/slide5.xml" Id="R95b115e7b3144966" /><Relationship Type="http://schemas.openxmlformats.org/officeDocument/2006/relationships/slide" Target="/ppt/slides/slide6.xml" Id="Rce2b2a98fed04e6c" /><Relationship Type="http://schemas.openxmlformats.org/officeDocument/2006/relationships/slide" Target="/ppt/slides/slide7.xml" Id="Re59e451444f84464" /><Relationship Type="http://schemas.openxmlformats.org/officeDocument/2006/relationships/slide" Target="/ppt/slides/slide8.xml" Id="Rcc0819d45b29483f" /><Relationship Type="http://schemas.openxmlformats.org/officeDocument/2006/relationships/slide" Target="/ppt/slides/slide9.xml" Id="R0be51d155cf14fe1" /><Relationship Type="http://schemas.openxmlformats.org/officeDocument/2006/relationships/slide" Target="/ppt/slides/slide10.xml" Id="Rfa2f5bc39e3841de" /><Relationship Type="http://schemas.openxmlformats.org/officeDocument/2006/relationships/slide" Target="/ppt/slides/slide11.xml" Id="R1fc0998cb8084ba3" /><Relationship Type="http://schemas.openxmlformats.org/officeDocument/2006/relationships/slide" Target="/ppt/slides/slide12.xml" Id="Rc18eb8e351fc4476" /><Relationship Type="http://schemas.openxmlformats.org/officeDocument/2006/relationships/slide" Target="/ppt/slides/slide13.xml" Id="Rde6fdeed403b4253" /><Relationship Type="http://schemas.openxmlformats.org/officeDocument/2006/relationships/slide" Target="/ppt/slides/slide14.xml" Id="R7f16530b4631411e" /><Relationship Type="http://schemas.openxmlformats.org/officeDocument/2006/relationships/slide" Target="/ppt/slides/slide15.xml" Id="R991f86860fed4aa2" /><Relationship Type="http://schemas.openxmlformats.org/officeDocument/2006/relationships/slide" Target="/ppt/slides/slide16.xml" Id="R91fbf276382f4cb4" /><Relationship Type="http://schemas.openxmlformats.org/officeDocument/2006/relationships/slide" Target="/ppt/slides/slide17.xml" Id="R8786192e9821402f" /><Relationship Type="http://schemas.openxmlformats.org/officeDocument/2006/relationships/slide" Target="/ppt/slides/slide18.xml" Id="Rd0bdec7ccad141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971ae152d042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12f0d9977c4089" /><Relationship Type="http://schemas.openxmlformats.org/officeDocument/2006/relationships/notesMaster" Target="/ppt/notesMasters/notesMaster1.xml" Id="Re7a20759f95949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f4009325834a36" /><Relationship Type="http://schemas.openxmlformats.org/officeDocument/2006/relationships/notesMaster" Target="/ppt/notesMasters/notesMaster1.xml" Id="R886579aff0db44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c22d00cec5475e" /><Relationship Type="http://schemas.openxmlformats.org/officeDocument/2006/relationships/notesMaster" Target="/ppt/notesMasters/notesMaster1.xml" Id="R42c814d356e04a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29ffe463944492" /><Relationship Type="http://schemas.openxmlformats.org/officeDocument/2006/relationships/notesMaster" Target="/ppt/notesMasters/notesMaster1.xml" Id="R87a2c4f5a88f4b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61019dcabe41fe" /><Relationship Type="http://schemas.openxmlformats.org/officeDocument/2006/relationships/notesMaster" Target="/ppt/notesMasters/notesMaster1.xml" Id="R29e94d3b33ba4f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addac78e504a5c" /><Relationship Type="http://schemas.openxmlformats.org/officeDocument/2006/relationships/notesMaster" Target="/ppt/notesMasters/notesMaster1.xml" Id="R5cca9b27b392413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5ecf6c29554988" /><Relationship Type="http://schemas.openxmlformats.org/officeDocument/2006/relationships/notesMaster" Target="/ppt/notesMasters/notesMaster1.xml" Id="Rf4ac318fb2dd4f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5a76ed263c40a1" /><Relationship Type="http://schemas.openxmlformats.org/officeDocument/2006/relationships/notesMaster" Target="/ppt/notesMasters/notesMaster1.xml" Id="Ra9bdf2a889e74d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7f8086f658462b" /><Relationship Type="http://schemas.openxmlformats.org/officeDocument/2006/relationships/notesMaster" Target="/ppt/notesMasters/notesMaster1.xml" Id="R3fed447e6adc41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bab0484cff4747" /><Relationship Type="http://schemas.openxmlformats.org/officeDocument/2006/relationships/notesMaster" Target="/ppt/notesMasters/notesMaster1.xml" Id="R314dcf9d3d3545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7d86761207c4e09" /><Relationship Type="http://schemas.openxmlformats.org/officeDocument/2006/relationships/notesMaster" Target="/ppt/notesMasters/notesMaster1.xml" Id="R8c1cc80d853c4a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14d7d8fcef645ca" /><Relationship Type="http://schemas.openxmlformats.org/officeDocument/2006/relationships/notesMaster" Target="/ppt/notesMasters/notesMaster1.xml" Id="R58551f02f0c240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3a51409791d462e" /><Relationship Type="http://schemas.openxmlformats.org/officeDocument/2006/relationships/notesMaster" Target="/ppt/notesMasters/notesMaster1.xml" Id="R3a204d68f2b24fd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5de609aa9e43af" /><Relationship Type="http://schemas.openxmlformats.org/officeDocument/2006/relationships/notesMaster" Target="/ppt/notesMasters/notesMaster1.xml" Id="Rac8d943b0a474cd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98fed8328d4e40" /><Relationship Type="http://schemas.openxmlformats.org/officeDocument/2006/relationships/notesMaster" Target="/ppt/notesMasters/notesMaster1.xml" Id="R929ba9c9d28b4b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bdfc8ff11be4bbb" /><Relationship Type="http://schemas.openxmlformats.org/officeDocument/2006/relationships/notesMaster" Target="/ppt/notesMasters/notesMaster1.xml" Id="R3a46f08617b146c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ebff859f6324c9d" /><Relationship Type="http://schemas.openxmlformats.org/officeDocument/2006/relationships/notesMaster" Target="/ppt/notesMasters/notesMaster1.xml" Id="R4c1368b73e3e436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390508d75a44b42" /><Relationship Type="http://schemas.openxmlformats.org/officeDocument/2006/relationships/notesMaster" Target="/ppt/notesMasters/notesMaster1.xml" Id="Rbdf30e7f2bcb4a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S55 — 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“잘 동작하는 System도 계속 맞는 상태로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(0:00–1:30 / Lecture) ACT 3의 STATE-04-PERF가 기록된 범위에서 성공한 endpoint임을 회수한다.</a:t>
            </a:r>
          </a:p>
          <a:p xmlns:a="http://schemas.openxmlformats.org/drawingml/2006/main">
            <a:r>
              <a:t>2. (1:30–3:00 / Lecture) 화면의 동작 계약, 전체 테스트 11/11, Benchmark guard 세 근거를 차례로 가리킨다. 새 실행이나 인과 비교는 하지 않는다.</a:t>
            </a:r>
          </a:p>
          <a:p xmlns:a="http://schemas.openxmlformats.org/drawingml/2006/main">
            <a:r>
              <a:t>3. (3:00–4:00 / Reflection) “프로젝트가 바뀐 뒤에도 맞을까?”를 개인적으로 생각하게 하고 다음 가상 사례로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STATE-00 → STATE-04-PERF  ·  bounded image_statistics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STATE-04-PERF의 기록된 task, 코드 경로, 입력, runtime, host 및 검증 조건에 한정한다. 이 결과는 실제 stale Harness나 Product failure를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먼저 잘 동작했던 현재 시스템을 기준점으로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성공한 Product State와 뒤의 Conceptual Case를 별도 Evidence frame으로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기존 ACT 3에서 승인된 STATE-04-PERF 결과를 짧게 회수한다. 수치는 현재 범위와 함께 보이고 일반 성과로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1분 Reflection: “성공한 현재 상태도 Project 변화 뒤 다시 확인해야 할까?” 개인 생각만 하고 응답을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정당한 이유로 바뀌면 작업 Workflow도 함께 바뀔까?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1분. 기존 ACT 3 설명을 다시 길게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S55와 production/preview/act4/S55.png를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S56 — 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“지금 맞는 Project Workflow는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VISUAL Demo) 실제 graypipe 이력과 별개인 가상 사례임을 먼저 말한다.</a:t>
            </a:r>
          </a:p>
          <a:p xmlns:a="http://schemas.openxmlformats.org/drawingml/2006/main">
            <a:r>
              <a:t>2. (0:30–1:30 / VISUAL Demo) 왼쪽 프로젝트 기준과 오른쪽 재사용 지침이 모두 단위 테스트를 가리키는 모습을 비교한다.</a:t>
            </a:r>
          </a:p>
          <a:p xmlns:a="http://schemas.openxmlformats.org/drawingml/2006/main">
            <a:r>
              <a:t>3. (1:30–2:00 / VISUAL Demo) 당시 기준에는 일치하는 절차였다는 출발점을 남긴다. 다음 장의 변경을 미리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constructed starting condition  ·  no Trial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CASE. `ai-dev-training-demo`의 기록, Trial 또는 Product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처음에는 현재 지침과 재사용 절차가 서로 맞아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당시에 올바른 절차도 Project 변화 이후 stale해질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선택적 맥락: 실제 Project에서도 build/test structure가 바뀔 수 있다. 별도 C++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CONCEPTUAL 정적 도식. 두 단위 테스트 범위와 가운데 등호를 가리킨다. 실행 캡처·명령·결과 badge는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지시의 범위가 같은지 눈으로 비교한다. 답변이나 실행은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바뀌었는데 재사용 Workflow가 그대로라면 어떻게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VISUAL Demo 2분. 첫 장면은 정상 상태로 두고 Project 변경을 앞당겨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S56와 production/preview/act4/S56.png를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Task에서 old workflow를 따르면 누가 틀린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A/B 각각의 박스와 둘 사이 연결까지 감싼 통합 범위를 가리킨다. 오른쪽에는 같은 모듈과 연결이 있지만 재사용 지시는 단위 테스트만 요구한다. 두 그림은 실행 결과가 아니라 지시 범위의 차이다.</a:t>
            </a:r>
          </a:p>
          <a:p xmlns:a="http://schemas.openxmlformats.org/drawingml/2006/main">
            <a:r>
              <a:t>3. (2:00–3:00 / Case) Project의 요구 변화와 재사용 지침의 미갱신을 구분한다.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DEC-0021 / BEAT-038–039 / CONCEPTUAL. 단위+통합 테스트 가상 설정은 발표용 Pilot에 대한 최신 사용자 승인으로 확정됐다. 실제 Repository 이력이나 Trial 근거가 추가된 것은 아니다. 편집 가능한 native 범위 도식: production/source/presentation-revision/test-scope-visual.mjs. 모듈 A/B는 사례를 설명하는 일반 표기이며 실제 graypipe 모듈을 식별하지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production/ACT_4.pptx의 S57와 production/preview/act4/S57.png 개념 도식을 사용한다. 구체적 명령·Runner 구현·테스트 수·실행 캡처를 추가하지 않는다. 각 모듈의 범위→왼쪽의 연결을 포함한 통합 범위→오른쪽에 남은 단위 테스트 지시를 차례로 가리킨다. 모듈의 실제 테스트가 실행됐거나 통합 테스트를 누락했다고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요청에 통합 테스트도 확인해 달라고 쓰면, 다음 작업이 읽을 Workflow까지 바뀔까요?” S58로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S57와 production/preview/act4/S57.png를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승인된 전체 이미지 후보의 반영과 로컬 렌더링 결과는 production/evaluation/FULL_DECK_IMAGE_EXPANSION.md에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“Prompt를 더 자세히 쓰면 이번 Task는 해결될까?”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이번 Prompt에 “통합 테스트도 확인해 줘”를 더하는 가능성을 소개한다.</a:t>
            </a:r>
          </a:p>
          <a:p xmlns:a="http://schemas.openxmlformats.org/drawingml/2006/main">
            <a:r>
              <a:t>2. (1:00–2:00 / Case) 왼쪽 이번 Task 요청은 넓힐 수 있지만 오른쪽 재사용 지침은 단위 테스트에 머무는 차이를 가리킨다.</a:t>
            </a:r>
          </a:p>
          <a:p xmlns:a="http://schemas.openxmlformats.org/drawingml/2006/main">
            <a:r>
              <a:t>3. (2:00–3:00 / Case) 요청 보정이 실제 성공을 입증하지 않으며 다음 Task의 절차까지 갱신하는 조치와 다르다고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consequence  ·  no execution result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가능성만 제시한다. 구체적인 실패, 실행 결과, PASS/FAIL 또는 실제 Demo 이력은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답을 고치는 것과 다음 작업의 절차까지 바꾸는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Task-level workaround와 durable system correction을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승인된 가상 설정에서 가능한 Task 보정과 재사용 지침을 비교한다. 실행 결과·누락·복구 성공을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“이번 Task가 풀려도 다음 Task의 지침은 달라졌나?”를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그럼 Prompt, global rule, stale Workflow 중 어느 Layer를 살펴볼까?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3분. 가능한 대응과 지시 범위에 머물고 실제 command 실패나 성공 결과를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S58와 production/preview/act4/S58.png를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Prompt patch는 현재 Task만 풀 수 있고 global rule은 중복·충돌을 만들 수 있다. Workflow가 원인으로 확인된 사례라면 그 source를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“어디를 고치면 현재 Task와 다음 Task가 함께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Prompt, 전역 규칙, 원인 Workflow의 세 행을 읽는다.</a:t>
            </a:r>
          </a:p>
          <a:p xmlns:a="http://schemas.openxmlformats.org/drawingml/2006/main">
            <a:r>
              <a:t>2. (0:30–1:15 / CAPTURED Demo) 각각 이번 요청만 바꾸는지, 넓은 곳에 새 규칙을 더하는지, 재사용 절차를 바꾸는지 비교한다.</a:t>
            </a:r>
          </a:p>
          <a:p xmlns:a="http://schemas.openxmlformats.org/drawingml/2006/main">
            <a:r>
              <a:t>3. (1:15–2:00 / CAPTURED Demo) Workflow가 원인으로 확인된 경우에만 마지막 선택이 맞다고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layer-selection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 안의 선택 논리다. C는 workflow 원인이 확인된 경우에 맞으며 일반적인 정답이나 Product modification이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Prompt에 한 줄 더하기 전에 반복되는 원인이 있는 곳을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원인이 뒷받침하는 좁은 layer를 선택하고 중복 지침 가능성을 따진다.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Context, workflow, toolchain 또는 test environment 중 원인이 있는 layer를 살핀다는 정도의 pattern transfer만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실행 캡처가 아닌 가상 선택지의 정적 재구성이다. 세 행의 변경 범위를 비교하고 실제 Product 수정 diff처럼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A/B/C의 효과 범위를 소리 없이 비교하게 한다. 원인이 정해졌다고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보이는 실패 지점과 실제 원인 Layer는 항상 같을까?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Visual matrix만 설명하고 새 Product 근거를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S59와 production/preview/act4/S59.png를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증상은 Prompt나 실행 지점에 보일 수 있지만 원인은 Context, Workflow, Environment, Tool/Permission, Product code 등 다른 층에 있을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“실패가 보인 Layer와 원인이 있는 Layer는 항상 같을까?”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Lecture) “요청한 검증이 충분한가?”라는 증상만으로 원인을 정할 수 없다고 설명한다.</a:t>
            </a:r>
          </a:p>
          <a:p xmlns:a="http://schemas.openxmlformats.org/drawingml/2006/main">
            <a:r>
              <a:t>2. (0:45–1:00 / Lecture) 현재 기준, 작업 절차, 실행 조건, 코드 동작을 다른 조사 대상으로 분리한다.</a:t>
            </a:r>
          </a:p>
          <a:p xmlns:a="http://schemas.openxmlformats.org/drawingml/2006/main">
            <a:r>
              <a:t>3. (1:00–2:00 / CAPTURED Demo) 오른쪽의 Context, Workflow, 환경·권한, 제품 코드 질문을 차례로 가리킨다. 어느 하나를 원인으로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cause/layer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교육용 debugging heuristic이다. 고정 진단표나 단일 원인 mapping이 아니며, 가상 사례의 원인은 조사로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실패 메시지만 보고 Prompt나 Agent를 탓하지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Observation, cause hypothesis, system change, rerun, evaluation을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Build, environment, permission, project code를 후보로 분리하는 pattern만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가상 원인 후보의 정적 도식이다. 왼쪽 질문에서 오른쪽 점선 후보 목록으로 시선을 옮긴다. 단일 인과 화살표나 실행 결과가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증상이 보여도 원인이 아직 미확정일 수 있음을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S61에서 이 사례의 가정과 확인할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관점을 설명하고 CAPTURED visual 1분은 후보 layer만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S60와 production/preview/act4/S60.png를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실행된 절차, 현재 Project 문서, 재사용 Workflow, 실패가 나타난 위치를 먼저 살핀다. 관찰한 사실과 원인 판단은 별개다.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“원인을 추측하기 전에 무엇부터 확인해야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Case) 왼쪽의 현재 기준 단위+통합, 재사용 지침 단위만은 가상 설정에 주어진 정보라고 밝힌다.</a:t>
            </a:r>
          </a:p>
          <a:p xmlns:a="http://schemas.openxmlformats.org/drawingml/2006/main">
            <a:r>
              <a:t>2. (0:45–1:30 / Case) 오른쪽의 “오래된 Workflow가 원인일 수 있다”는 원인 가설로 구분한다.</a:t>
            </a:r>
          </a:p>
          <a:p xmlns:a="http://schemas.openxmlformats.org/drawingml/2006/main">
            <a:r>
              <a:t>3. (1:30–2:00 / Case) 실제 문제라면 실행 경로와 실제 읽은 지침을 대조해야 한다고 정리한다. 이 사례의 실제 실행 기록은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scenario assumptions and inference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화면의 “scenario assumption”도 실제 Trial 관찰이 아니다. stale Workflow는 점검할 가설이지 확정 사실이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원인을 정하기 전 현재 지침과 따라간 절차를 맞춰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증거와 cause hypothesis의 확신 수준을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왼쪽 가상 설정과 오른쪽 확인할 가설을 비교한다. OBSERVED 제품 기록이나 실제 실행 경로처럼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칸을 읽고 어떤 문장이 가정이며 어떤 문장이 추론인지 구분해 본다. 답변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Workflow 원인이 확인됐다면 어느 범위까지 바꿔야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2분. 가상 전제와 실제 Evidence를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S61와 production/preview/act4/S61.png를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“얼마나 바꿔야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“Workflow가 원인으로 확인됐다면”이라는 조건을 먼저 읽고, 원인과 변경 범위를 맞추는 원칙을 설명한다.</a:t>
            </a:r>
          </a:p>
          <a:p xmlns:a="http://schemas.openxmlformats.org/drawingml/2006/main">
            <a:r>
              <a:t>2. (1:00–2:00 / Case) 가상 Workflow의 검증 대상 지시를 단위에서 단위+통합으로 갱신하는 설계를 가리킨다. 불필요한 전역 규칙이나 다른 파일을 함께 바꿀 이유는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cause-to-change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사례의 조건부 대응이다. 실제 Product 변경이나 Trial 결과가 아니며, “최소”는 무조건 적게 바꾸라는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새 규칙을 더하기 전에 실제 원인이 있는 곳을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Cause가 지지하는 가장 작은 durable change를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화면의 두 지침은 가상 Before/After 설계다. 실제 변경 diff나 실행 결과가 아니다. 원인 확인 조건을 계속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조건이 바뀌면 수정 대상도 바뀔 수 있음을 잠시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 뒤 같은 Task를 다시 통과하면 Harness는 충분히 검증된 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원칙, Case 1분은 가상 workflow 변화에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S62와 production/preview/act4/S62.png를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designed rerun and system evaluation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S63와 production/preview/act4/S63.png를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각 행의 상태를 먼저 읽는다. EVAL-01/02의 과거 관찰 참고는 새 Workflow 평가 결과가 아니며 EVAL-03/04는 설계 사례다. 네 행 모두 변경 후 평가 PASS/FAIL이나 완료 결과를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S64와 production/preview/act4/S64.png를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관찰·원인·변경·평가가 연결될 때 이를 어떤 Engineering 관점으로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S65와 production/preview/act4/S65.png를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“Feedback이 언제 Engineering이 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실행과 관찰의 질문을 구분한다. 앞의 가상 사례에서 지시 범위 비교가 실행 결과와 다름을 짚는다.</a:t>
            </a:r>
          </a:p>
          <a:p xmlns:a="http://schemas.openxmlformats.org/drawingml/2006/main">
            <a:r>
              <a:t>2. (2:00–5:00 / Lecture) 원인 판단에는 실행 경로·선택한 지침 등 추가 확인이 필요함을 S61의 논리로 회수한다.</a:t>
            </a:r>
          </a:p>
          <a:p xmlns:a="http://schemas.openxmlformats.org/drawingml/2006/main">
            <a:r>
              <a:t>3. (5:00–7:00 / Lecture) 시스템 변경은 원인 Layer를 바꾸는 일이며, Prompt 보정과 재사용 Workflow 갱신의 범위가 다름을 회수한다.</a:t>
            </a:r>
          </a:p>
          <a:p xmlns:a="http://schemas.openxmlformats.org/drawingml/2006/main">
            <a:r>
              <a:t>4. (7:00–9:00 / Lecture) 같은 작업과 다른 대표 작업의 재평가가 답하는 질문을 비교한다. 새 결과는 제시하지 않는다.</a:t>
            </a:r>
          </a:p>
          <a:p xmlns:a="http://schemas.openxmlformats.org/drawingml/2006/main">
            <a:r>
              <a:t>5. (9:00–11:00 / VISUAL Demo) 정적 도식의 실행→관찰→원인 판단→시스템 변경→재평가를 순서대로 가리킨다. 자동 학습을 뜻하지 않는 교육용 운영 모델임을 닫고 실제 Meta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기존 가상 단위/통합 사례를 다섯 단계에 대응한다. 실행 범위 확인→현재 지시와 기준 비교→Workflow 원인 가설 확인→확인된 원인 Layer의 지시 갱신→같은/다른 대표 작업 재평가 순서다. 단계별 질문만 가리키며 실제 실행·변경 성공·새 평가 결과를 채우지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DEC-0023  ·  course operational model  ·  no product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5단계 도식과 발표자 지목을 사용한다. R1–R5 내부 번호나 운영 시간은 청중 화면에 표시하지 않는다. 자동 애니메이션·실행·모델 학습 주장은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표기를 바꾸어 실제 교육 제작 기록에서의 별도 Loop를 살펴본다.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9분, 마지막 VISUAL Demo 2분. R1–R5는 approximate reveal cue이며 전체가 항상 표시되는 정적 도식으로 진행 가능.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S66와 production/preview/act4/S66.png를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“이번에는 실제 제작 과정에서 무슨 일이 있었나?”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OBSERVED META 표식과 이중선을 가리키며 앞의 가상 사례를 닫고 실제 교육 제작 기록으로 전환한다.</a:t>
            </a:r>
          </a:p>
          <a:p xmlns:a="http://schemas.openxmlformats.org/drawingml/2006/main">
            <a:r>
              <a:t>2. (0:30–1:15 / CAPTURED Demo) 성능 작업 요청, Global Skill이 관여한 실행 환경, Prompt만의 효과로 분리하기 어려운 결과 해석의 세 영역을 짚는다.</a:t>
            </a:r>
          </a:p>
          <a:p xmlns:a="http://schemas.openxmlformats.org/drawingml/2006/main">
            <a:r>
              <a:t>3. (1:15–2:00 / CAPTURED Demo) PARTIAL은 결과가 없다는 뜻이 아니라 원인 귀속의 한계라고 열고 다음 장에서 두 질문을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실제 사건을 여는 화면이다. TRIAL-006 요청과 함께 관찰된 Global Skill/시작 경고를 먼저 짚고, 인과 해석의 두 질문은 다음 장으로 넘긴다. 앞의 가상 stale 사례와 별개임을 이중선과 표식으로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DEC-0016  ·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TRIAL-006 기록을 재구성한 native 도식이다. 작업 요청→실행 환경→결과 해석을 차례로 읽는다. 실제 terminal screenshot이 아니며 현재 Desktop 동작을 주장하지 않는다. Hook 경고는 효과 관찰을 뜻하지 않고 MCP 시작 경고는 작업 결과를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결과를 Task Prompt만의 효과라고 말할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S67와 production/preview/act4/S67.png를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CAPTURED Demo)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왼쪽의 결과 타당성과 오른쪽의 원인 귀속을 각각 별도 질문으로 읽는다. 실제 hash와 측정 범위는 왼쪽에, Global 영향과 PARTIAL은 오른쪽에 대응한다. 수치를 새로운 실행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7 one-call samples  ·  disposable worktree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S68와 production/preview/act4/S68.png를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DEC-0016에서 바뀐 평가·보고 기준에 집중한다. 이전 기록의 빈틈→이후에 남길 환경 관찰 순서로 읽고 제품 코드나 Demo Skill 변경과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S69와 production/preview/act4/S69.png를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TRIAL-007 최종 보고와 보존된 stderr를 대조한다. Nimble AuthRequired는 인증 필요 경고라는 뜻으로만 풀고 MCP 작업 결과나 도구 사용 성공으로 확대하지 않는다. 이후 TRIAL-008에서 호출과 Global influence를 따로 기록한 사실을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S71에서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Meta 사례의 남은 한계를 닫는다. 실제 바뀐 평가·보고 기준과 여전히 미확인인 원인별 효과·환경 목록·품질 향상을 나누고 S72의 적용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원리를 C++ Vision Project에 옮기면 무엇을 확인할까?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S71와 production/preview/act4/S71.png를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Case)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그림의 입력·코드·장치와 기존 가정·측정 조건 질문을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출력 그림과 기능 계약 질문에서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질문을 전체 Story의 Context→Harness→Loop와 연결하고 S73의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 그림에서 조건 변화만 확인하고 오른쪽 01 기존 가정→02 측정 조건→03 기능 계약을 위에서 아래로 짚는다. 마지막에만 하단 큰 질문으로 시선을 옮긴다. 7–9분 Reflection, 9–16분 Q&amp;A, 16–20분 Transition은 그대로이며 정적 화면을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BEAT-059 / TRANS-012  ·  teaching transfer, not observed C++ incident 삽화 출처: prototype/image-illustration-pilot/assets/S72.png,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화면과 speaker-led highlighting을 사용한다. 화면에는 세 확인 대상과 성찰 질문을 두고, 20분 운영표는 Notes에만 둔다. Live 프로젝트·제품 실행·애니메이션 의존 없음. 정적 삽화의 입력→처리 코드→실행 장치→출력을 차례로 가리킨다. 황색 장치·설정 표시는 검토할 조건의 변화이며 실패 원인이 확정됐다는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기능이 아니라, 처음의 문제에서 Loop까지 이어진 Story를 다시 연결해 보겠습니다.” ACT 5 S73으로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 0–2분 전체 그림/변경 표식, 2–4:30분 입력·코드·장치의 가정과 비교 조건, 4:30–7분 출력·기능 계약을 설명한다. 이후 7–9분 Reflection, 9–16분 Q&amp;A, 16–20분 Transition을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질문의 범위에서 강사가 짧게 해설한다. 정적 파일: production/preview/act4/S72.png 및 production/preview/full/S72.png.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9edf2496fe43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8446449a8246b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4fa17a666248e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07dd6716b04f4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d4de25d5c64f3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d4d537fbe742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5285393-D142-4BAF-80FB-3E384CBDB6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594CC41-853E-4D2E-BD15-7B60583961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B9B62E7-9AA7-449E-B983-52D97523E6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0DC800-42CF-4E9F-A57E-404523F83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F5BCD52-172F-4D15-87D2-38B75884AD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2397C49-E0B2-4E1F-AE41-2F59E4A707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7777FEB-40A3-40A2-A7A2-2CD2D931BC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DCEC3BB-AB8B-4497-B61F-442250EF8AB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FB4BBF7-145D-4733-BA8F-AADAD7A402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64E1E2-B374-4994-AEFF-13F08E553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b857c71f384553" /><Relationship Type="http://schemas.openxmlformats.org/officeDocument/2006/relationships/slideLayout" Target="/ppt/slideLayouts/slideLayout1.xml" Id="Rb9b0c1176f1045aa" /><Relationship Type="http://schemas.openxmlformats.org/officeDocument/2006/relationships/slideLayout" Target="/ppt/slideLayouts/slideLayout2.xml" Id="R92a4d04cfc0a4da1" /><Relationship Type="http://schemas.openxmlformats.org/officeDocument/2006/relationships/slideLayout" Target="/ppt/slideLayouts/slideLayout3.xml" Id="Rbe4f6c8c0c0642f9" /><Relationship Type="http://schemas.openxmlformats.org/officeDocument/2006/relationships/slideLayout" Target="/ppt/slideLayouts/slideLayout4.xml" Id="R9083f0be4eb94fa2" /><Relationship Type="http://schemas.openxmlformats.org/officeDocument/2006/relationships/slideLayout" Target="/ppt/slideLayouts/slideLayout5.xml" Id="R80c2b18471424a2c" /><Relationship Type="http://schemas.openxmlformats.org/officeDocument/2006/relationships/slideLayout" Target="/ppt/slideLayouts/slideLayout6.xml" Id="R79666aa047a24a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b0c1176f1045aa"/>
    <p:sldLayoutId xmlns:r="http://schemas.openxmlformats.org/officeDocument/2006/relationships" id="2147483650" r:id="R92a4d04cfc0a4da1"/>
    <p:sldLayoutId xmlns:r="http://schemas.openxmlformats.org/officeDocument/2006/relationships" id="2147483651" r:id="Rbe4f6c8c0c0642f9"/>
    <p:sldLayoutId xmlns:r="http://schemas.openxmlformats.org/officeDocument/2006/relationships" id="2147483652" r:id="R9083f0be4eb94fa2"/>
    <p:sldLayoutId xmlns:r="http://schemas.openxmlformats.org/officeDocument/2006/relationships" id="2147483653" r:id="R80c2b18471424a2c"/>
    <p:sldLayoutId xmlns:r="http://schemas.openxmlformats.org/officeDocument/2006/relationships" id="2147483654" r:id="R79666aa047a24a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1b4e6a3eb747ff" /><Relationship Type="http://schemas.openxmlformats.org/officeDocument/2006/relationships/notesSlide" Target="/ppt/notesSlides/notesSlide1.xml" Id="Rfbc03c57257341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8b26122cbf4af7" /><Relationship Type="http://schemas.openxmlformats.org/officeDocument/2006/relationships/notesSlide" Target="/ppt/notesSlides/notesSlide2.xml" Id="R642e5dad13c94b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92405fc02c4e3a" /><Relationship Type="http://schemas.openxmlformats.org/officeDocument/2006/relationships/notesSlide" Target="/ppt/notesSlides/notesSlide3.xml" Id="R9c84d6663cb144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eed1bf3bac40ee" /><Relationship Type="http://schemas.openxmlformats.org/officeDocument/2006/relationships/notesSlide" Target="/ppt/notesSlides/notesSlide4.xml" Id="Rd7743f524d7e4a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3983853555472c" /><Relationship Type="http://schemas.openxmlformats.org/officeDocument/2006/relationships/notesSlide" Target="/ppt/notesSlides/notesSlide5.xml" Id="R7e93e19d368e41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4e2c3522bc4c33" /><Relationship Type="http://schemas.openxmlformats.org/officeDocument/2006/relationships/notesSlide" Target="/ppt/notesSlides/notesSlide6.xml" Id="Rbb6ed7b83cc243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70600c2c8c4c54" /><Relationship Type="http://schemas.openxmlformats.org/officeDocument/2006/relationships/notesSlide" Target="/ppt/notesSlides/notesSlide7.xml" Id="R542753085f174d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9256bfc7ab452a" /><Relationship Type="http://schemas.openxmlformats.org/officeDocument/2006/relationships/notesSlide" Target="/ppt/notesSlides/notesSlide8.xml" Id="Re6f920880b0944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6650d68f0a4715" /><Relationship Type="http://schemas.openxmlformats.org/officeDocument/2006/relationships/notesSlide" Target="/ppt/notesSlides/notesSlide9.xml" Id="R9a36f421ba9741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38e03603a442b9" /><Relationship Type="http://schemas.openxmlformats.org/officeDocument/2006/relationships/notesSlide" Target="/ppt/notesSlides/notesSlide10.xml" Id="Rbee340afc8594c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b15fd5184c4c4b" /><Relationship Type="http://schemas.openxmlformats.org/officeDocument/2006/relationships/notesSlide" Target="/ppt/notesSlides/notesSlide11.xml" Id="Rd0355b2cf5b14c4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6b5ba83ac84522" /><Relationship Type="http://schemas.openxmlformats.org/officeDocument/2006/relationships/notesSlide" Target="/ppt/notesSlides/notesSlide12.xml" Id="R1eca5e979193484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4e7c531c984c35" /><Relationship Type="http://schemas.openxmlformats.org/officeDocument/2006/relationships/notesSlide" Target="/ppt/notesSlides/notesSlide13.xml" Id="Rd848e1cae30b44d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0b820ab5da495c" /><Relationship Type="http://schemas.openxmlformats.org/officeDocument/2006/relationships/notesSlide" Target="/ppt/notesSlides/notesSlide14.xml" Id="R75598f0fd2ad4a7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c30050be6f4cd3" /><Relationship Type="http://schemas.openxmlformats.org/officeDocument/2006/relationships/notesSlide" Target="/ppt/notesSlides/notesSlide15.xml" Id="R7a0d64bff61a442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d6522fb0024e18" /><Relationship Type="http://schemas.openxmlformats.org/officeDocument/2006/relationships/notesSlide" Target="/ppt/notesSlides/notesSlide16.xml" Id="R14962e73ae054d0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f32a0bb55f4bb7" /><Relationship Type="http://schemas.openxmlformats.org/officeDocument/2006/relationships/notesSlide" Target="/ppt/notesSlides/notesSlide17.xml" Id="R71f967edecc444f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82dc1e040049df" /><Relationship Type="http://schemas.openxmlformats.org/officeDocument/2006/relationships/image" Target="/ppt/media/image.png" Id="R8faa40fa1c7b4cd3" /><Relationship Type="http://schemas.openxmlformats.org/officeDocument/2006/relationships/notesSlide" Target="/ppt/notesSlides/notesSlide18.xml" Id="R3b97836bee5b4b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확인된 제품 결과">
            <a:extLst xmlns:a="http://schemas.openxmlformats.org/drawingml/2006/main">
              <a:ext uri="{FF2B5EF4-FFF2-40B4-BE49-F238E27FC236}">
                <a16:creationId xmlns:a16="http://schemas.microsoft.com/office/drawing/2014/main" id="{27814F23-AC3A-41F9-A7ED-8FE87224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확인된 제품 결과</a:t>
            </a:r>
          </a:p>
        </p:txBody>
      </p:sp>
      <p:sp>
        <p:nvSpPr>
          <p:cNvPr id="2" name="S55">
            <a:extLst xmlns:a="http://schemas.openxmlformats.org/drawingml/2006/main">
              <a:ext uri="{FF2B5EF4-FFF2-40B4-BE49-F238E27FC236}">
                <a16:creationId xmlns:a16="http://schemas.microsoft.com/office/drawing/2014/main" id="{F25F2E5B-0382-4DB8-B214-3D371567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S55</a:t>
            </a:r>
          </a:p>
        </p:txBody>
      </p:sp>
      <p:sp>
        <p:nvSpPr>
          <p:cNvPr id="3" name="여기까지는 잘 동작했다">
            <a:extLst xmlns:a="http://schemas.openxmlformats.org/drawingml/2006/main">
              <a:ext uri="{FF2B5EF4-FFF2-40B4-BE49-F238E27FC236}">
                <a16:creationId xmlns:a16="http://schemas.microsoft.com/office/drawing/2014/main" id="{A5083109-CB53-4AD6-9E0D-22A9EBB3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여기까지는 잘 동작했다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ABC587-4376-4F30-B403-05D55FC4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image_statistics · 실제 기록 요약">
            <a:extLst xmlns:a="http://schemas.openxmlformats.org/drawingml/2006/main">
              <a:ext uri="{FF2B5EF4-FFF2-40B4-BE49-F238E27FC236}">
                <a16:creationId xmlns:a16="http://schemas.microsoft.com/office/drawing/2014/main" id="{42574A24-8076-409B-B79B-FF6B3C55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image_statistics · 실제 기록 요약</a:t>
            </a:r>
          </a:p>
        </p:txBody>
      </p:sp>
      <p:sp>
        <p:nvSpPr>
          <p:cNvPr id="6" name="기록된 입력·코드·환경의 결과이며, 뒤의 가상 사례와 별개다.">
            <a:extLst xmlns:a="http://schemas.openxmlformats.org/drawingml/2006/main">
              <a:ext uri="{FF2B5EF4-FFF2-40B4-BE49-F238E27FC236}">
                <a16:creationId xmlns:a16="http://schemas.microsoft.com/office/drawing/2014/main" id="{3547AAE3-EAE9-48CE-897A-F9C2FACD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결과이며, 뒤의 가상 사례와 별개다.</a:t>
            </a:r>
          </a:p>
        </p:txBody>
      </p:sp>
      <p:sp>
        <p:nvSpPr>
          <p:cNvPr id="7" name="작업을 맡기고, 결과를 확인할 수 있었다">
            <a:extLst xmlns:a="http://schemas.openxmlformats.org/drawingml/2006/main">
              <a:ext uri="{FF2B5EF4-FFF2-40B4-BE49-F238E27FC236}">
                <a16:creationId xmlns:a16="http://schemas.microsoft.com/office/drawing/2014/main" id="{BF0C3DEC-A65C-4671-996E-0988B4E1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작업을 맡기고, 결과를 확인할 수 있었다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F54ED-508E-41EB-A0B0-85361F6B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계약">
            <a:extLst xmlns:a="http://schemas.openxmlformats.org/drawingml/2006/main">
              <a:ext uri="{FF2B5EF4-FFF2-40B4-BE49-F238E27FC236}">
                <a16:creationId xmlns:a16="http://schemas.microsoft.com/office/drawing/2014/main" id="{1D7E776E-E84A-4C6A-9979-C7012607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0A150-D87F-4B84-9E3D-8839CD93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테스트">
            <a:extLst xmlns:a="http://schemas.openxmlformats.org/drawingml/2006/main">
              <a:ext uri="{FF2B5EF4-FFF2-40B4-BE49-F238E27FC236}">
                <a16:creationId xmlns:a16="http://schemas.microsoft.com/office/drawing/2014/main" id="{24CFBA6B-F08A-4BD6-A7D9-92163D04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C5990C-C626-4D73-AEF2-A2346ABA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99E3D1D3-57BA-4FC5-866F-BDCFB842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4" name="입력·출력 조건 확인">
            <a:extLst xmlns:a="http://schemas.openxmlformats.org/drawingml/2006/main">
              <a:ext uri="{FF2B5EF4-FFF2-40B4-BE49-F238E27FC236}">
                <a16:creationId xmlns:a16="http://schemas.microsoft.com/office/drawing/2014/main" id="{C0002643-8915-428A-B138-757663D8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조건 확인</a:t>
            </a:r>
          </a:p>
        </p:txBody>
      </p:sp>
      <p:sp>
        <p:nvSpPr>
          <p:cNvPr id="15" name="전체 테스트 11/11">
            <a:extLst xmlns:a="http://schemas.openxmlformats.org/drawingml/2006/main">
              <a:ext uri="{FF2B5EF4-FFF2-40B4-BE49-F238E27FC236}">
                <a16:creationId xmlns:a16="http://schemas.microsoft.com/office/drawing/2014/main" id="{0AC4F57F-D6D2-4BA5-8410-12097719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 11/11</a:t>
            </a:r>
          </a:p>
        </p:txBody>
      </p:sp>
      <p:sp>
        <p:nvSpPr>
          <p:cNvPr id="16" name="Benchmark guard 확인">
            <a:extLst xmlns:a="http://schemas.openxmlformats.org/drawingml/2006/main">
              <a:ext uri="{FF2B5EF4-FFF2-40B4-BE49-F238E27FC236}">
                <a16:creationId xmlns:a16="http://schemas.microsoft.com/office/drawing/2014/main" id="{8ABB0505-B722-4C28-936B-88AB4A0C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Benchmark guard 확인</a:t>
            </a:r>
          </a:p>
        </p:txBody>
      </p:sp>
      <p:sp>
        <p:nvSpPr>
          <p:cNvPr id="17" name="그렇다면 프로젝트가 바뀐 뒤에도 맞을까?">
            <a:extLst xmlns:a="http://schemas.openxmlformats.org/drawingml/2006/main">
              <a:ext uri="{FF2B5EF4-FFF2-40B4-BE49-F238E27FC236}">
                <a16:creationId xmlns:a16="http://schemas.microsoft.com/office/drawing/2014/main" id="{095A51CB-377D-4DC4-A0F5-0942773A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그렇다면 프로젝트가 바뀐 뒤에도 맞을까?</a:t>
            </a:r>
          </a:p>
        </p:txBody>
      </p:sp>
    </p:spTree>
    <p:extLst>
      <p:ext uri="{BB962C8B-B14F-4D97-AF65-F5344CB8AC3E}">
        <p14:creationId xmlns:p14="http://schemas.microsoft.com/office/powerpoint/2010/main" val="462961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8C83901A-6160-46F4-A31E-1E290296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6">
            <a:extLst xmlns:a="http://schemas.openxmlformats.org/drawingml/2006/main">
              <a:ext uri="{FF2B5EF4-FFF2-40B4-BE49-F238E27FC236}">
                <a16:creationId xmlns:a16="http://schemas.microsoft.com/office/drawing/2014/main" id="{979FD386-96EA-4740-A978-F3B056E4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S56</a:t>
            </a:r>
          </a:p>
        </p:txBody>
      </p:sp>
      <p:sp>
        <p:nvSpPr>
          <p:cNvPr id="3" name="개념 사례: Project와 Workflow는 현재 맞다">
            <a:extLst xmlns:a="http://schemas.openxmlformats.org/drawingml/2006/main">
              <a:ext uri="{FF2B5EF4-FFF2-40B4-BE49-F238E27FC236}">
                <a16:creationId xmlns:a16="http://schemas.microsoft.com/office/drawing/2014/main" id="{AD5488EF-AA09-4ED0-ADFC-70A8D3F2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개념 사례: Project와 Workflow는 현재 맞다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0FA9F-04A2-4BF1-88EC-7D763440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변화 전의 가상 설정">
            <a:extLst xmlns:a="http://schemas.openxmlformats.org/drawingml/2006/main">
              <a:ext uri="{FF2B5EF4-FFF2-40B4-BE49-F238E27FC236}">
                <a16:creationId xmlns:a16="http://schemas.microsoft.com/office/drawing/2014/main" id="{EA084858-72B5-46C4-938F-CFDEA990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변화 전의 가상 설정</a:t>
            </a:r>
          </a:p>
        </p:txBody>
      </p:sp>
      <p:sp>
        <p:nvSpPr>
          <p:cNvPr id="6" name="실제 Repository 변경 이력, Agent 실행 또는 테스트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6435A9F0-33B5-480C-B8CD-E923B0EE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Repository 변경 이력, Agent 실행 또는 테스트 결과가 아니다.</a:t>
            </a:r>
          </a:p>
        </p:txBody>
      </p:sp>
      <p:sp>
        <p:nvSpPr>
          <p:cNvPr id="7" name="처음에는 두 기준이 같았다">
            <a:extLst xmlns:a="http://schemas.openxmlformats.org/drawingml/2006/main">
              <a:ext uri="{FF2B5EF4-FFF2-40B4-BE49-F238E27FC236}">
                <a16:creationId xmlns:a16="http://schemas.microsoft.com/office/drawing/2014/main" id="{33348D87-C16A-4CD5-9501-E6529305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처음에는 두 기준이 같았다</a:t>
            </a:r>
          </a:p>
        </p:txBody>
      </p:sp>
      <p:sp>
        <p:nvSpPr>
          <p:cNvPr id="8" name="프로젝트의 검증 기준">
            <a:extLst xmlns:a="http://schemas.openxmlformats.org/drawingml/2006/main">
              <a:ext uri="{FF2B5EF4-FFF2-40B4-BE49-F238E27FC236}">
                <a16:creationId xmlns:a16="http://schemas.microsoft.com/office/drawing/2014/main" id="{F5CA89C6-E18F-4C16-A9A2-7BEA318B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검증 기준</a:t>
            </a:r>
          </a:p>
        </p:txBody>
      </p:sp>
      <p:sp>
        <p:nvSpPr>
          <p:cNvPr id="9" name="재사용 Workflow의 지시">
            <a:extLst xmlns:a="http://schemas.openxmlformats.org/drawingml/2006/main">
              <a:ext uri="{FF2B5EF4-FFF2-40B4-BE49-F238E27FC236}">
                <a16:creationId xmlns:a16="http://schemas.microsoft.com/office/drawing/2014/main" id="{F28E3975-6506-49DA-B607-7ADB9CDF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 Workflow의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D9B13-D667-4E6B-8297-85E56F3F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EB74A7-D2D9-428F-9203-5C6BF49D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8796C165-4B14-4B5C-82C5-B4195ECA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8A67EB71-CE12-4DBE-B629-85D8D967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=">
            <a:extLst xmlns:a="http://schemas.openxmlformats.org/drawingml/2006/main">
              <a:ext uri="{FF2B5EF4-FFF2-40B4-BE49-F238E27FC236}">
                <a16:creationId xmlns:a16="http://schemas.microsoft.com/office/drawing/2014/main" id="{9B13B6D2-0D77-4B3B-939A-5FA2FDF8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86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5" name="현재 프로젝트에 맞춰 만들어 둔 절차">
            <a:extLst xmlns:a="http://schemas.openxmlformats.org/drawingml/2006/main">
              <a:ext uri="{FF2B5EF4-FFF2-40B4-BE49-F238E27FC236}">
                <a16:creationId xmlns:a16="http://schemas.microsoft.com/office/drawing/2014/main" id="{4CBC4EC0-CBBF-40B0-B893-A8EB3966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프로젝트에 맞춰 만들어 둔 절차</a:t>
            </a:r>
          </a:p>
        </p:txBody>
      </p:sp>
    </p:spTree>
    <p:extLst>
      <p:ext uri="{BB962C8B-B14F-4D97-AF65-F5344CB8AC3E}">
        <p14:creationId xmlns:p14="http://schemas.microsoft.com/office/powerpoint/2010/main" val="20962663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836DC77A-2CF9-4D38-AF31-E580E3B5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EA0CAE9B-F4E9-4D6C-AECA-276733F7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B9824C0E-C8AB-4DE5-A8E0-211B0D14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4F2646FE-B416-4884-B16B-8908EB86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5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5425129B-4E9C-4B2E-ABDB-577D3ABD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6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79D51360-C137-41BE-BB9B-E13A5245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98EA1-591E-4144-BF3C-1BE61C04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4D993B-B1AA-46D6-9CBD-41428A73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19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2783C057-6FD1-46EF-91BC-9D190ADF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0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EFC93C36-0AC4-4E40-8811-870C3EEF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2B5FDB-BF13-44D5-BD23-653B271E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4C5A69-F6B4-4526-99A4-CE4BA03A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모듈 A">
            <a:extLst xmlns:a="http://schemas.openxmlformats.org/drawingml/2006/main">
              <a:ext uri="{FF2B5EF4-FFF2-40B4-BE49-F238E27FC236}">
                <a16:creationId xmlns:a16="http://schemas.microsoft.com/office/drawing/2014/main" id="{548568EF-7C27-40A1-AD72-B2454FCC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8543C3-4FCE-470E-8121-59D07DD7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5" name="모듈 B">
            <a:extLst xmlns:a="http://schemas.openxmlformats.org/drawingml/2006/main">
              <a:ext uri="{FF2B5EF4-FFF2-40B4-BE49-F238E27FC236}">
                <a16:creationId xmlns:a16="http://schemas.microsoft.com/office/drawing/2014/main" id="{81500AC5-B86E-4C12-83BD-5A098657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B99DC5-BAEC-437D-89E5-B78D9FF1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81425"/>
            <a:ext cx="666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+ 통합 테스트 · 모듈 연결까지">
            <a:extLst xmlns:a="http://schemas.openxmlformats.org/drawingml/2006/main">
              <a:ext uri="{FF2B5EF4-FFF2-40B4-BE49-F238E27FC236}">
                <a16:creationId xmlns:a16="http://schemas.microsoft.com/office/drawing/2014/main" id="{8491C4EB-849A-47B9-B0B2-A4E038A6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 · 모듈 연결까지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DCF045-0817-4673-8E12-7625DACA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모듈 A">
            <a:extLst xmlns:a="http://schemas.openxmlformats.org/drawingml/2006/main">
              <a:ext uri="{FF2B5EF4-FFF2-40B4-BE49-F238E27FC236}">
                <a16:creationId xmlns:a16="http://schemas.microsoft.com/office/drawing/2014/main" id="{467E6A38-624F-4B40-8D83-83C545E9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E0BA37-2DE0-49CC-B468-6DF0741B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모듈 B">
            <a:extLst xmlns:a="http://schemas.openxmlformats.org/drawingml/2006/main">
              <a:ext uri="{FF2B5EF4-FFF2-40B4-BE49-F238E27FC236}">
                <a16:creationId xmlns:a16="http://schemas.microsoft.com/office/drawing/2014/main" id="{697C0229-8D79-48E5-BDC9-275C9F76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B13DB3-4EA3-40D2-A1CD-53C823A5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81425"/>
            <a:ext cx="647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4585AD-9CB1-40A4-8974-B5307309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4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000A56B8-3277-4889-AC18-90B66668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38675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25" name="프로젝트의 기준이 바뀌었을 때, 재사용 지침도 함께 바뀌었을까?">
            <a:extLst xmlns:a="http://schemas.openxmlformats.org/drawingml/2006/main">
              <a:ext uri="{FF2B5EF4-FFF2-40B4-BE49-F238E27FC236}">
                <a16:creationId xmlns:a16="http://schemas.microsoft.com/office/drawing/2014/main" id="{96CEFDBA-B9D3-4CC2-A76E-DCDAB987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기준이 바뀌었을 때, 재사용 지침도 함께 바뀌었을까?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C6218B-BE28-4A56-8361-9950C461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7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6BA755AE-86A8-42B1-9A11-895331AB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28" name="두 지침의 범위 비교 · Agent 실행, 테스트 누락 또는 PASS / FAIL 결과를 뜻하지 않음">
            <a:extLst xmlns:a="http://schemas.openxmlformats.org/drawingml/2006/main">
              <a:ext uri="{FF2B5EF4-FFF2-40B4-BE49-F238E27FC236}">
                <a16:creationId xmlns:a16="http://schemas.microsoft.com/office/drawing/2014/main" id="{84D172A9-1746-468D-ABE7-3A300CAE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 비교 · Agent 실행, 테스트 누락 또는 PASS / FAIL 결과를 뜻하지 않음</a:t>
            </a:r>
          </a:p>
        </p:txBody>
      </p:sp>
    </p:spTree>
    <p:extLst>
      <p:ext uri="{BB962C8B-B14F-4D97-AF65-F5344CB8AC3E}">
        <p14:creationId xmlns:p14="http://schemas.microsoft.com/office/powerpoint/2010/main" val="367116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B2F50EE2-7F79-42D1-8E12-00D957D3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42984841-3C9C-4020-8CA6-89F70F1D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Task 해결과 System 문제는 다르다">
            <a:extLst xmlns:a="http://schemas.openxmlformats.org/drawingml/2006/main">
              <a:ext uri="{FF2B5EF4-FFF2-40B4-BE49-F238E27FC236}">
                <a16:creationId xmlns:a16="http://schemas.microsoft.com/office/drawing/2014/main" id="{479A5431-0E2F-4CF1-A437-72BCE87E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해결과 System 문제는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6812DD-B576-4465-9A2A-75839681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과 재사용 지침의 범위 비교">
            <a:extLst xmlns:a="http://schemas.openxmlformats.org/drawingml/2006/main">
              <a:ext uri="{FF2B5EF4-FFF2-40B4-BE49-F238E27FC236}">
                <a16:creationId xmlns:a16="http://schemas.microsoft.com/office/drawing/2014/main" id="{B9EC40D7-9944-4ADC-82A7-D7A7DEF4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요청과 재사용 지침의 범위 비교</a:t>
            </a:r>
          </a:p>
        </p:txBody>
      </p:sp>
      <p:sp>
        <p:nvSpPr>
          <p:cNvPr id="6" name="아래는 가능한 대응이다. 실제 실행·복구 성공·검증 누락을 관찰한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882EA83E-8569-4896-A535-7A412A25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가능한 대응이다. 실제 실행·복구 성공·검증 누락을 관찰한 결과가 아니다.</a:t>
            </a:r>
          </a:p>
        </p:txBody>
      </p:sp>
      <p:sp>
        <p:nvSpPr>
          <p:cNvPr id="7" name="이번 요청에 “통합 테스트도 확인해 줘”를 더한다면?">
            <a:extLst xmlns:a="http://schemas.openxmlformats.org/drawingml/2006/main">
              <a:ext uri="{FF2B5EF4-FFF2-40B4-BE49-F238E27FC236}">
                <a16:creationId xmlns:a16="http://schemas.microsoft.com/office/drawing/2014/main" id="{2CCBC213-A160-4C13-94FC-E5FD330C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“통합 테스트도 확인해 줘”를 더한다면?</a:t>
            </a:r>
          </a:p>
        </p:txBody>
      </p:sp>
      <p:sp>
        <p:nvSpPr>
          <p:cNvPr id="8" name="이번 Task">
            <a:extLst xmlns:a="http://schemas.openxmlformats.org/drawingml/2006/main">
              <a:ext uri="{FF2B5EF4-FFF2-40B4-BE49-F238E27FC236}">
                <a16:creationId xmlns:a16="http://schemas.microsoft.com/office/drawing/2014/main" id="{26B01F6E-0348-45A8-AE9D-93FDECB2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9" name="다음 Task가 읽을 Workflow">
            <a:extLst xmlns:a="http://schemas.openxmlformats.org/drawingml/2006/main">
              <a:ext uri="{FF2B5EF4-FFF2-40B4-BE49-F238E27FC236}">
                <a16:creationId xmlns:a16="http://schemas.microsoft.com/office/drawing/2014/main" id="{BC17A8D2-A2EA-49FD-B249-CFC8F544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Task가 읽을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DA594F-966B-4EA6-B0C8-98FBAC73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F941C0-408B-4240-9631-C9D9359E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+ 통합 테스트를&#10;확인하도록 요청 가능">
            <a:extLst xmlns:a="http://schemas.openxmlformats.org/drawingml/2006/main">
              <a:ext uri="{FF2B5EF4-FFF2-40B4-BE49-F238E27FC236}">
                <a16:creationId xmlns:a16="http://schemas.microsoft.com/office/drawing/2014/main" id="{70B5F7D5-0270-44A3-8C32-E2FF5145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테스트를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확인하도록 요청 가능</a:t>
            </a:r>
          </a:p>
        </p:txBody>
      </p:sp>
      <p:sp>
        <p:nvSpPr>
          <p:cNvPr id="13" name="여전히&#10;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E4772C1C-1A66-41B4-BFB0-5A5AC5BB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4" name="이번 답을 보정해도, 재사용 절차는 그대로일 수 있다.">
            <a:extLst xmlns:a="http://schemas.openxmlformats.org/drawingml/2006/main">
              <a:ext uri="{FF2B5EF4-FFF2-40B4-BE49-F238E27FC236}">
                <a16:creationId xmlns:a16="http://schemas.microsoft.com/office/drawing/2014/main" id="{BDF95B84-0B8B-48D5-AC55-305FDE73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답을 보정해도, 재사용 절차는 그대로일 수 있다.</a:t>
            </a:r>
          </a:p>
        </p:txBody>
      </p:sp>
    </p:spTree>
    <p:extLst>
      <p:ext uri="{BB962C8B-B14F-4D97-AF65-F5344CB8AC3E}">
        <p14:creationId xmlns:p14="http://schemas.microsoft.com/office/powerpoint/2010/main" val="21095500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대응 범위 비교">
            <a:extLst xmlns:a="http://schemas.openxmlformats.org/drawingml/2006/main">
              <a:ext uri="{FF2B5EF4-FFF2-40B4-BE49-F238E27FC236}">
                <a16:creationId xmlns:a16="http://schemas.microsoft.com/office/drawing/2014/main" id="{78531D47-0B77-4AF1-85F6-90028C28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대응 범위 비교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2ECB82A0-205B-4023-AE4E-8EB9B122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원인에 맞는 Layer를 고르기">
            <a:extLst xmlns:a="http://schemas.openxmlformats.org/drawingml/2006/main">
              <a:ext uri="{FF2B5EF4-FFF2-40B4-BE49-F238E27FC236}">
                <a16:creationId xmlns:a16="http://schemas.microsoft.com/office/drawing/2014/main" id="{85FE4C25-DF7D-4A2A-B40A-5DBE586B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원인에 맞는 Layer를 고르기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8F5C8-3764-43A5-A9EB-4E9E6D20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가상 사례의 선택지">
            <a:extLst xmlns:a="http://schemas.openxmlformats.org/drawingml/2006/main">
              <a:ext uri="{FF2B5EF4-FFF2-40B4-BE49-F238E27FC236}">
                <a16:creationId xmlns:a16="http://schemas.microsoft.com/office/drawing/2014/main" id="{9C0C5DF5-A9EB-402B-A815-1629EA64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가상 사례의 선택지</a:t>
            </a:r>
          </a:p>
        </p:txBody>
      </p:sp>
      <p:sp>
        <p:nvSpPr>
          <p:cNvPr id="6" name="Workflow가 원인으로 확인된 경우의 판단이며, 모든 문제의 정답은 아니다.">
            <a:extLst xmlns:a="http://schemas.openxmlformats.org/drawingml/2006/main">
              <a:ext uri="{FF2B5EF4-FFF2-40B4-BE49-F238E27FC236}">
                <a16:creationId xmlns:a16="http://schemas.microsoft.com/office/drawing/2014/main" id="{397CFBA3-8460-477D-85D8-6DC11B3B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Workflow가 원인으로 확인된 경우의 판단이며, 모든 문제의 정답은 아니다.</a:t>
            </a:r>
          </a:p>
        </p:txBody>
      </p:sp>
      <p:sp>
        <p:nvSpPr>
          <p:cNvPr id="7" name="무엇을 바꾸면 다음 작업에도 반영될까?">
            <a:extLst xmlns:a="http://schemas.openxmlformats.org/drawingml/2006/main">
              <a:ext uri="{FF2B5EF4-FFF2-40B4-BE49-F238E27FC236}">
                <a16:creationId xmlns:a16="http://schemas.microsoft.com/office/drawing/2014/main" id="{B5CF7890-F44E-436A-9281-B322C989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바꾸면 다음 작업에도 반영될까?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F8AFB-B087-44E8-A9F6-218A7BE9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Prompt 보정">
            <a:extLst xmlns:a="http://schemas.openxmlformats.org/drawingml/2006/main">
              <a:ext uri="{FF2B5EF4-FFF2-40B4-BE49-F238E27FC236}">
                <a16:creationId xmlns:a16="http://schemas.microsoft.com/office/drawing/2014/main" id="{29D8C289-4F0B-4FAD-8903-2B0B850E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Prompt 보정</a:t>
            </a:r>
          </a:p>
        </p:txBody>
      </p:sp>
      <p:sp>
        <p:nvSpPr>
          <p:cNvPr id="10" name="현재 Task의 요청 범위를 넓힌다">
            <a:extLst xmlns:a="http://schemas.openxmlformats.org/drawingml/2006/main">
              <a:ext uri="{FF2B5EF4-FFF2-40B4-BE49-F238E27FC236}">
                <a16:creationId xmlns:a16="http://schemas.microsoft.com/office/drawing/2014/main" id="{9D33639B-7048-4A69-B193-E0C80976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범위를 넓힌다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42749-B6DD-490D-8D49-DAA5DE2E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D89A1DE5-7BA7-4FB4-805D-5653DD5A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할 수 있다">
            <a:extLst xmlns:a="http://schemas.openxmlformats.org/drawingml/2006/main">
              <a:ext uri="{FF2B5EF4-FFF2-40B4-BE49-F238E27FC236}">
                <a16:creationId xmlns:a16="http://schemas.microsoft.com/office/drawing/2014/main" id="{D2BA5909-96A1-4364-BBBD-99846854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4810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01C83-73C1-46F2-A54B-621719EF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5B0993D4-5AB8-4993-A11B-C4E8E178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6" name="다음 Task가 재사용할 절차를 바꾼다">
            <a:extLst xmlns:a="http://schemas.openxmlformats.org/drawingml/2006/main">
              <a:ext uri="{FF2B5EF4-FFF2-40B4-BE49-F238E27FC236}">
                <a16:creationId xmlns:a16="http://schemas.microsoft.com/office/drawing/2014/main" id="{4A32FBF8-C5B4-4D54-BF62-324D55FA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Task가 재사용할 절차를 바꾼다</a:t>
            </a:r>
          </a:p>
        </p:txBody>
      </p:sp>
      <p:sp>
        <p:nvSpPr>
          <p:cNvPr id="17" name="선택 기준: 원인이 있는 곳과 변경할 곳이 맞는가?">
            <a:extLst xmlns:a="http://schemas.openxmlformats.org/drawingml/2006/main">
              <a:ext uri="{FF2B5EF4-FFF2-40B4-BE49-F238E27FC236}">
                <a16:creationId xmlns:a16="http://schemas.microsoft.com/office/drawing/2014/main" id="{4F0F8AFD-BDBC-410F-88B9-450A40F5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 기준: 원인이 있는 곳과 변경할 곳이 맞는가?</a:t>
            </a:r>
          </a:p>
        </p:txBody>
      </p:sp>
    </p:spTree>
    <p:extLst>
      <p:ext uri="{BB962C8B-B14F-4D97-AF65-F5344CB8AC3E}">
        <p14:creationId xmlns:p14="http://schemas.microsoft.com/office/powerpoint/2010/main" val="19484393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CONCEPTUAL / 원인 후보">
            <a:extLst xmlns:a="http://schemas.openxmlformats.org/drawingml/2006/main">
              <a:ext uri="{FF2B5EF4-FFF2-40B4-BE49-F238E27FC236}">
                <a16:creationId xmlns:a16="http://schemas.microsoft.com/office/drawing/2014/main" id="{96FA1793-2727-4AD3-8746-C16CAE80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후보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CB1C7059-6152-438F-B270-CE452794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실패 지점과 원인 Layer 구분하기">
            <a:extLst xmlns:a="http://schemas.openxmlformats.org/drawingml/2006/main">
              <a:ext uri="{FF2B5EF4-FFF2-40B4-BE49-F238E27FC236}">
                <a16:creationId xmlns:a16="http://schemas.microsoft.com/office/drawing/2014/main" id="{9259DF61-C8D7-4CCA-8BD8-A0E68814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 지점과 원인 Layer 구분하기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B3CD9-193C-4FD2-B2F4-DBB95DE2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원인을 찾기 위한 교육용 관점">
            <a:extLst xmlns:a="http://schemas.openxmlformats.org/drawingml/2006/main">
              <a:ext uri="{FF2B5EF4-FFF2-40B4-BE49-F238E27FC236}">
                <a16:creationId xmlns:a16="http://schemas.microsoft.com/office/drawing/2014/main" id="{9C4C21C0-E51D-4260-9A85-84908ADE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원인을 찾기 위한 교육용 관점</a:t>
            </a:r>
          </a:p>
        </p:txBody>
      </p:sp>
      <p:sp>
        <p:nvSpPr>
          <p:cNvPr id="6" name="가능한 원인 후보이며, 증상만으로 한 원인을 확정하지 않는다.">
            <a:extLst xmlns:a="http://schemas.openxmlformats.org/drawingml/2006/main">
              <a:ext uri="{FF2B5EF4-FFF2-40B4-BE49-F238E27FC236}">
                <a16:creationId xmlns:a16="http://schemas.microsoft.com/office/drawing/2014/main" id="{810C0F8E-F252-4278-A981-A9A87AF0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원인 후보이며, 증상만으로 한 원인을 확정하지 않는다.</a:t>
            </a:r>
          </a:p>
        </p:txBody>
      </p:sp>
      <p:sp>
        <p:nvSpPr>
          <p:cNvPr id="7" name="“요청한 검증이 충분한가?”">
            <a:extLst xmlns:a="http://schemas.openxmlformats.org/drawingml/2006/main">
              <a:ext uri="{FF2B5EF4-FFF2-40B4-BE49-F238E27FC236}">
                <a16:creationId xmlns:a16="http://schemas.microsoft.com/office/drawing/2014/main" id="{E668A7E7-BD2B-4186-A804-45AD6B31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“요청한 검증이 충분한가?”</a:t>
            </a:r>
          </a:p>
        </p:txBody>
      </p:sp>
      <p:sp>
        <p:nvSpPr>
          <p:cNvPr id="8" name="증상에서 바로 결론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37F8167D-BC76-40B7-93D3-3ABFB59C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바로 결론으로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B2D1E-A18B-43AB-900F-4D9E3596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Context">
            <a:extLst xmlns:a="http://schemas.openxmlformats.org/drawingml/2006/main">
              <a:ext uri="{FF2B5EF4-FFF2-40B4-BE49-F238E27FC236}">
                <a16:creationId xmlns:a16="http://schemas.microsoft.com/office/drawing/2014/main" id="{58CBE4F1-B39D-498D-907D-495EB4ED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1" name="현재 기준이 맞는가?">
            <a:extLst xmlns:a="http://schemas.openxmlformats.org/drawingml/2006/main">
              <a:ext uri="{FF2B5EF4-FFF2-40B4-BE49-F238E27FC236}">
                <a16:creationId xmlns:a16="http://schemas.microsoft.com/office/drawing/2014/main" id="{57159F24-96A9-49D4-9138-CDBC422B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62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기준이 맞는가?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73963-7725-42BA-A90B-3FCB2D13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Workflow">
            <a:extLst xmlns:a="http://schemas.openxmlformats.org/drawingml/2006/main">
              <a:ext uri="{FF2B5EF4-FFF2-40B4-BE49-F238E27FC236}">
                <a16:creationId xmlns:a16="http://schemas.microsoft.com/office/drawing/2014/main" id="{70539A87-F057-4E2F-8E42-BF87CFBE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4" name="어떤 절차를 지시하는가?">
            <a:extLst xmlns:a="http://schemas.openxmlformats.org/drawingml/2006/main">
              <a:ext uri="{FF2B5EF4-FFF2-40B4-BE49-F238E27FC236}">
                <a16:creationId xmlns:a16="http://schemas.microsoft.com/office/drawing/2014/main" id="{40024C35-AF79-48B6-AB11-C826FCD2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432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절차를 지시하는가?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98EF6B-9F98-4A4E-8169-792E9B39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F6A99350-3D03-4A80-BA99-D684D369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실행 조건이 맞는가?">
            <a:extLst xmlns:a="http://schemas.openxmlformats.org/drawingml/2006/main">
              <a:ext uri="{FF2B5EF4-FFF2-40B4-BE49-F238E27FC236}">
                <a16:creationId xmlns:a16="http://schemas.microsoft.com/office/drawing/2014/main" id="{948BA614-39A2-4834-9817-3E93C0B2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243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조건이 맞는가?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F42096-25C6-47C1-841A-0D004544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6858CF91-9F97-4E2B-A0C6-EF207C34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동작 자체의 문제인가?">
            <a:extLst xmlns:a="http://schemas.openxmlformats.org/drawingml/2006/main">
              <a:ext uri="{FF2B5EF4-FFF2-40B4-BE49-F238E27FC236}">
                <a16:creationId xmlns:a16="http://schemas.microsoft.com/office/drawing/2014/main" id="{3CB03A39-56E6-4485-BBA8-421959FE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053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자체의 문제인가?</a:t>
            </a:r>
          </a:p>
        </p:txBody>
      </p:sp>
      <p:sp>
        <p:nvSpPr>
          <p:cNvPr id="21" name="확인할 기록부터 찾는다">
            <a:extLst xmlns:a="http://schemas.openxmlformats.org/drawingml/2006/main">
              <a:ext uri="{FF2B5EF4-FFF2-40B4-BE49-F238E27FC236}">
                <a16:creationId xmlns:a16="http://schemas.microsoft.com/office/drawing/2014/main" id="{4C7D5A02-AA8C-45DC-939A-42AD9D14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기록부터 찾는다</a:t>
            </a:r>
          </a:p>
        </p:txBody>
      </p:sp>
    </p:spTree>
    <p:extLst>
      <p:ext uri="{BB962C8B-B14F-4D97-AF65-F5344CB8AC3E}">
        <p14:creationId xmlns:p14="http://schemas.microsoft.com/office/powerpoint/2010/main" val="12655648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4 · CONCEPTUAL / 가정과 추론">
            <a:extLst xmlns:a="http://schemas.openxmlformats.org/drawingml/2006/main">
              <a:ext uri="{FF2B5EF4-FFF2-40B4-BE49-F238E27FC236}">
                <a16:creationId xmlns:a16="http://schemas.microsoft.com/office/drawing/2014/main" id="{8ADE81F4-3D80-49DD-80FD-2EACA5C2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가정과 추론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B8E32829-5C04-43FD-8D25-7880A7BF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먼저 관찰하고, 그다음 가설을 세운다">
            <a:extLst xmlns:a="http://schemas.openxmlformats.org/drawingml/2006/main">
              <a:ext uri="{FF2B5EF4-FFF2-40B4-BE49-F238E27FC236}">
                <a16:creationId xmlns:a16="http://schemas.microsoft.com/office/drawing/2014/main" id="{6A322342-6F8A-4DA8-84B4-9E9966B8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관찰하고, 그다음 가설을 세운다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FF36E-386D-4639-B7A2-040CC49B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구성된 사례의 전제와 원인 가설">
            <a:extLst xmlns:a="http://schemas.openxmlformats.org/drawingml/2006/main">
              <a:ext uri="{FF2B5EF4-FFF2-40B4-BE49-F238E27FC236}">
                <a16:creationId xmlns:a16="http://schemas.microsoft.com/office/drawing/2014/main" id="{F6135675-8C5D-4AAA-AD33-09117B79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구성된 사례의 전제와 원인 가설</a:t>
            </a:r>
          </a:p>
        </p:txBody>
      </p:sp>
      <p:sp>
        <p:nvSpPr>
          <p:cNvPr id="6" name="가상 설정을 실제 Trial 관찰로 표현하지 않는다. 실행 결과는 아직 없다.">
            <a:extLst xmlns:a="http://schemas.openxmlformats.org/drawingml/2006/main">
              <a:ext uri="{FF2B5EF4-FFF2-40B4-BE49-F238E27FC236}">
                <a16:creationId xmlns:a16="http://schemas.microsoft.com/office/drawing/2014/main" id="{61FA9C7F-2D88-43A0-AE0A-4DD469A0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설정을 실제 Trial 관찰로 표현하지 않는다. 실행 결과는 아직 없다.</a:t>
            </a:r>
          </a:p>
        </p:txBody>
      </p:sp>
      <p:sp>
        <p:nvSpPr>
          <p:cNvPr id="7" name="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75CCAA26-5F8A-4DEE-9512-C08391C2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사례에 주어진 정보</a:t>
            </a:r>
          </a:p>
        </p:txBody>
      </p:sp>
      <p:sp>
        <p:nvSpPr>
          <p:cNvPr id="8" name="확인해야 할 가설">
            <a:extLst xmlns:a="http://schemas.openxmlformats.org/drawingml/2006/main">
              <a:ext uri="{FF2B5EF4-FFF2-40B4-BE49-F238E27FC236}">
                <a16:creationId xmlns:a16="http://schemas.microsoft.com/office/drawing/2014/main" id="{7D8D4529-79C4-4C53-BBB3-2BA1E25D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288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확인해야 할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1E1C2B-4CDF-4D8A-99A1-83F51690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6940C3-2593-46CA-85B7-28A650EF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8BF65D62-B08B-4FCB-A4EF-2A7D985D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Workflow가&#10;문제의 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95254B10-319D-4CE2-8F4D-B4D27B66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Workflow가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문제의 원인일 수 있다</a:t>
            </a:r>
          </a:p>
        </p:txBody>
      </p:sp>
      <p:sp>
        <p:nvSpPr>
          <p:cNvPr id="13" name="실행 경로와 실제로 읽은 지침을 대조해야 원인을 판단할 수 있다.">
            <a:extLst xmlns:a="http://schemas.openxmlformats.org/drawingml/2006/main">
              <a:ext uri="{FF2B5EF4-FFF2-40B4-BE49-F238E27FC236}">
                <a16:creationId xmlns:a16="http://schemas.microsoft.com/office/drawing/2014/main" id="{A8C71090-152D-4B5D-B36B-97FD3D83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경로와 실제로 읽은 지침을 대조해야 원인을 판단할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2779825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원인에 맞는 수정">
            <a:extLst xmlns:a="http://schemas.openxmlformats.org/drawingml/2006/main">
              <a:ext uri="{FF2B5EF4-FFF2-40B4-BE49-F238E27FC236}">
                <a16:creationId xmlns:a16="http://schemas.microsoft.com/office/drawing/2014/main" id="{79232A60-5F52-4C13-BE5D-C00BA148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원인에 맞는 수정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EF391018-33CC-45A6-A094-E6F7347B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Cause가 지지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D5875804-980C-49D3-A8F1-2C0FB19D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Cause가 지지하는 최소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3D448-DB3B-40E3-B433-6B4B9469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변경 설계">
            <a:extLst xmlns:a="http://schemas.openxmlformats.org/drawingml/2006/main">
              <a:ext uri="{FF2B5EF4-FFF2-40B4-BE49-F238E27FC236}">
                <a16:creationId xmlns:a16="http://schemas.microsoft.com/office/drawing/2014/main" id="{DDADE5D2-67B3-4149-BF91-4546C90F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변경 설계</a:t>
            </a:r>
          </a:p>
        </p:txBody>
      </p:sp>
      <p:sp>
        <p:nvSpPr>
          <p:cNvPr id="6" name="실제 코드·Skill 수정 또는 실행 결과가 아니다. 관련 없는 규칙은 임의로 바꾸지 않는다.">
            <a:extLst xmlns:a="http://schemas.openxmlformats.org/drawingml/2006/main">
              <a:ext uri="{FF2B5EF4-FFF2-40B4-BE49-F238E27FC236}">
                <a16:creationId xmlns:a16="http://schemas.microsoft.com/office/drawing/2014/main" id="{62F19D10-17AD-48ED-A9DC-FA932A5B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코드·Skill 수정 또는 실행 결과가 아니다. 관련 없는 규칙은 임의로 바꾸지 않는다.</a:t>
            </a:r>
          </a:p>
        </p:txBody>
      </p:sp>
      <p:sp>
        <p:nvSpPr>
          <p:cNvPr id="7" name="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BC404F47-DCE2-4482-8033-76C27741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Workflow가 원인으로 확인됐다면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E106D26D-0308-4A5B-8039-5A42305D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5BBD7345-ECDC-4FB8-84F7-30EF989C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C8C16C-AB03-4FBF-9747-D3FADD2D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7AB59-27C5-4B71-AEFA-04E0310C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를 확인">
            <a:extLst xmlns:a="http://schemas.openxmlformats.org/drawingml/2006/main">
              <a:ext uri="{FF2B5EF4-FFF2-40B4-BE49-F238E27FC236}">
                <a16:creationId xmlns:a16="http://schemas.microsoft.com/office/drawing/2014/main" id="{F1F9F3BE-6C7A-457A-B438-E8A3339C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테스트를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172AF8-1DCE-4B1D-9285-15911591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0025"/>
            <a:ext cx="609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3BE2A03C-8295-4305-A5EA-C1B4FA31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sp>
        <p:nvSpPr>
          <p:cNvPr id="15" name="원인이 뒷받침하는 범위까지 바꾼다.">
            <a:extLst xmlns:a="http://schemas.openxmlformats.org/drawingml/2006/main">
              <a:ext uri="{FF2B5EF4-FFF2-40B4-BE49-F238E27FC236}">
                <a16:creationId xmlns:a16="http://schemas.microsoft.com/office/drawing/2014/main" id="{35B2BB34-F4F7-4683-AB17-B1D37B2F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원인이 뒷받침하는 범위까지 바꾼다.</a:t>
            </a:r>
          </a:p>
        </p:txBody>
      </p:sp>
    </p:spTree>
    <p:extLst>
      <p:ext uri="{BB962C8B-B14F-4D97-AF65-F5344CB8AC3E}">
        <p14:creationId xmlns:p14="http://schemas.microsoft.com/office/powerpoint/2010/main" val="9597895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170071D7-A65B-4EAA-BDFA-4AE0682D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965A05C6-ADA7-475E-9F3E-CAC7C0E6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10F1F531-B837-4355-9814-5AD65D54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655FDB-6CF1-4BB4-A1E8-9B016F92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B9A745BE-97E6-48A0-B974-6ABDE8DD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2B014AA0-A196-47F2-A339-0A2D4FF6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6C4C307B-504C-4205-B8B9-3ED87F6C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605B0A26-4FB4-41FC-8832-64B86BED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56D159-7494-4C3D-A0FD-88009F53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14C11A-BAD4-4A90-AD08-E775361D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F0E89833-1D40-471C-94BD-788C233F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483A9E4F-3E96-4D9A-9B11-C15B5871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0417F83F-8071-477A-9A86-EFB727EA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780478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E44D91EE-48D0-4833-8CE4-7E441049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06D0CECD-2570-4D07-ADFF-27F41CAA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CD0B74BB-B1B2-4239-838F-0006D084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5F507D-94E5-419E-BDE2-F5396C86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5CD13CAC-58EC-4A5A-8B22-391CDECB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BB9C19D4-91DF-48B1-B425-BFF66DFD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D7C0190A-E7EF-4AB1-A669-27C94E37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59E13A-0D4C-42F3-99D8-E97F2D41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평가 설계 · 네 작업 모두 이 Workflow 변경 뒤의 실행 결과는 없음">
            <a:extLst xmlns:a="http://schemas.openxmlformats.org/drawingml/2006/main">
              <a:ext uri="{FF2B5EF4-FFF2-40B4-BE49-F238E27FC236}">
                <a16:creationId xmlns:a16="http://schemas.microsoft.com/office/drawing/2014/main" id="{8693BD2A-BEDF-4E1F-8B1C-5A6FA83D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평가 설계 · 네 작업 모두 이 Workflow 변경 뒤의 실행 결과는 없음</a:t>
            </a:r>
          </a:p>
        </p:txBody>
      </p:sp>
      <p:sp>
        <p:nvSpPr>
          <p:cNvPr id="10" name="대표 작업">
            <a:extLst xmlns:a="http://schemas.openxmlformats.org/drawingml/2006/main">
              <a:ext uri="{FF2B5EF4-FFF2-40B4-BE49-F238E27FC236}">
                <a16:creationId xmlns:a16="http://schemas.microsoft.com/office/drawing/2014/main" id="{DDC272BC-5FE3-4A67-8FDB-5D8E5284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대표 작업</a:t>
            </a:r>
          </a:p>
        </p:txBody>
      </p:sp>
      <p:sp>
        <p:nvSpPr>
          <p:cNvPr id="11" name="무엇을 확인하기 위한 설계인가?">
            <a:extLst xmlns:a="http://schemas.openxmlformats.org/drawingml/2006/main">
              <a:ext uri="{FF2B5EF4-FFF2-40B4-BE49-F238E27FC236}">
                <a16:creationId xmlns:a16="http://schemas.microsoft.com/office/drawing/2014/main" id="{2D8F3519-49E5-4A94-8179-586AC6A5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24175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확인하기 위한 설계인가?</a:t>
            </a:r>
          </a:p>
        </p:txBody>
      </p:sp>
      <p:sp>
        <p:nvSpPr>
          <p:cNvPr id="12" name="현재 근거 상태">
            <a:extLst xmlns:a="http://schemas.openxmlformats.org/drawingml/2006/main">
              <a:ext uri="{FF2B5EF4-FFF2-40B4-BE49-F238E27FC236}">
                <a16:creationId xmlns:a16="http://schemas.microsoft.com/office/drawing/2014/main" id="{71349D16-72B9-4522-B15B-5B2A89A2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24175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근거 상태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6722C8-4273-4263-A910-C4CAF063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4" name="EVAL-01">
            <a:extLst xmlns:a="http://schemas.openxmlformats.org/drawingml/2006/main">
              <a:ext uri="{FF2B5EF4-FFF2-40B4-BE49-F238E27FC236}">
                <a16:creationId xmlns:a16="http://schemas.microsoft.com/office/drawing/2014/main" id="{C9E4E6D8-C7EC-4206-96A1-E2B73A05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EVAL-01</a:t>
            </a:r>
          </a:p>
        </p:txBody>
      </p:sp>
      <p:sp>
        <p:nvSpPr>
          <p:cNvPr id="15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DCA48E28-0A37-4782-BECD-6C6AF182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3528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6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D704CE2F-6F85-43EC-B101-1CCF41F7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7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1FC11955-D506-406E-92FC-6152F925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18" name="TRIAL-002">
            <a:extLst xmlns:a="http://schemas.openxmlformats.org/drawingml/2006/main">
              <a:ext uri="{FF2B5EF4-FFF2-40B4-BE49-F238E27FC236}">
                <a16:creationId xmlns:a16="http://schemas.microsoft.com/office/drawing/2014/main" id="{6EF8779E-EAFE-44C2-8FAD-11BBAC82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4D3550-59AA-4F83-BE33-1A6BDF5F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0" name="EVAL-02">
            <a:extLst xmlns:a="http://schemas.openxmlformats.org/drawingml/2006/main">
              <a:ext uri="{FF2B5EF4-FFF2-40B4-BE49-F238E27FC236}">
                <a16:creationId xmlns:a16="http://schemas.microsoft.com/office/drawing/2014/main" id="{A02BB619-EEA0-4FBC-8CA7-064C4E58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EVAL-02</a:t>
            </a:r>
          </a:p>
        </p:txBody>
      </p:sp>
      <p:sp>
        <p:nvSpPr>
          <p:cNvPr id="21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2CAAA964-9F1A-455F-9B56-C5186249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22" name="측정·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39716F0C-124F-458B-B3AB-579F18B4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433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측정·검증 범위를 유지하는가?</a:t>
            </a:r>
          </a:p>
        </p:txBody>
      </p:sp>
      <p:sp>
        <p:nvSpPr>
          <p:cNvPr id="23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3DF73E2B-68FA-457C-9543-F0AA5638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24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9BA03D0D-21A5-4A40-8E0E-29AA1E9B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65CD02-FB90-4A4E-9715-7D3E6193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6" name="EVAL-03">
            <a:extLst xmlns:a="http://schemas.openxmlformats.org/drawingml/2006/main">
              <a:ext uri="{FF2B5EF4-FFF2-40B4-BE49-F238E27FC236}">
                <a16:creationId xmlns:a16="http://schemas.microsoft.com/office/drawing/2014/main" id="{7B410B86-5211-4B1C-BA5B-BCC9804D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EVAL-03</a:t>
            </a:r>
          </a:p>
        </p:txBody>
      </p:sp>
      <p:sp>
        <p:nvSpPr>
          <p:cNvPr id="2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BF1AA43C-6FDB-4E4A-827B-5E5AC917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339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2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0E0BE896-34FD-4519-803B-3AA142FE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5339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29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7E4AEBBF-E30E-4AB4-884E-BBB74413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148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0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FFE6E0C7-62F1-4467-8CED-BE7090C0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6DAB51-C6B5-4D23-B142-8D772E42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32" name="EVAL-04">
            <a:extLst xmlns:a="http://schemas.openxmlformats.org/drawingml/2006/main">
              <a:ext uri="{FF2B5EF4-FFF2-40B4-BE49-F238E27FC236}">
                <a16:creationId xmlns:a16="http://schemas.microsoft.com/office/drawing/2014/main" id="{C343317F-83D6-42B5-96E2-4F3A2402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EVAL-04</a:t>
            </a:r>
          </a:p>
        </p:txBody>
      </p:sp>
      <p:sp>
        <p:nvSpPr>
          <p:cNvPr id="33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B346B032-3D0F-4259-A2D7-6EDB022A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244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34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AC946AE6-714C-4B41-A1EF-A811F70C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244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35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C24F119D-8E56-41BD-8587-4D152E3C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054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6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087818FC-36BE-4437-8692-59276AC1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530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</p:spTree>
    <p:extLst>
      <p:ext uri="{BB962C8B-B14F-4D97-AF65-F5344CB8AC3E}">
        <p14:creationId xmlns:p14="http://schemas.microsoft.com/office/powerpoint/2010/main" val="3297934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A651882B-1B2F-4278-832C-290BD5BD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76365C6C-9CAE-43DD-8256-A2737B75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EAB1A327-DD01-4434-A199-7EA3B71F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AD1D6-EBEC-4D3E-95FC-7D115571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5B40C4EE-6BEA-4D09-9DFD-54CB7905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7B67C0B5-C30D-4D70-96BB-8FE88CEC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A4A7AF06-20DB-4DC1-A0C7-55320308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440BD-09BB-42AC-861C-9A339D5D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B2232A6F-6F2E-458A-B71A-E091E937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3E8B36AF-7E73-4BEA-A374-1C09E307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BC1CEA-350B-4824-9385-5C08E323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A9B9ECF8-AF89-49BB-92DF-3D444BAB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E21ADCFF-19AD-44F9-891D-F06B65F7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939C2B-FAE9-4636-9833-5232AB5F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55B8C026-EB34-4964-9905-439ACD1C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51B22150-AFC9-470C-A013-623D0E21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48E19317-C519-4306-B827-7811A542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</p:spTree>
    <p:extLst>
      <p:ext uri="{BB962C8B-B14F-4D97-AF65-F5344CB8AC3E}">
        <p14:creationId xmlns:p14="http://schemas.microsoft.com/office/powerpoint/2010/main" val="41082143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ACT 4 · 이 교육의 Loop 모델">
            <a:extLst xmlns:a="http://schemas.openxmlformats.org/drawingml/2006/main">
              <a:ext uri="{FF2B5EF4-FFF2-40B4-BE49-F238E27FC236}">
                <a16:creationId xmlns:a16="http://schemas.microsoft.com/office/drawing/2014/main" id="{E83F4E41-0FF7-4677-A709-C25D80F6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모델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BBB66CF5-5318-4C17-9AA4-475EC351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Feedback을 System Change와&#10;Evaluation으로 잇기">
            <a:extLst xmlns:a="http://schemas.openxmlformats.org/drawingml/2006/main">
              <a:ext uri="{FF2B5EF4-FFF2-40B4-BE49-F238E27FC236}">
                <a16:creationId xmlns:a16="http://schemas.microsoft.com/office/drawing/2014/main" id="{2FCEE0E8-F895-47E9-B0D5-5F306ECB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Feedback을 System Change와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Evaluation으로 잇기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8743D-8B36-4F2E-A452-19D0F1BB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교육용 운영 모델">
            <a:extLst xmlns:a="http://schemas.openxmlformats.org/drawingml/2006/main">
              <a:ext uri="{FF2B5EF4-FFF2-40B4-BE49-F238E27FC236}">
                <a16:creationId xmlns:a16="http://schemas.microsoft.com/office/drawing/2014/main" id="{4DA7A1AF-D130-46F1-8962-DC4E89B7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교육용 운영 모델</a:t>
            </a:r>
          </a:p>
        </p:txBody>
      </p:sp>
      <p:sp>
        <p:nvSpPr>
          <p:cNvPr id="6" name="모델의 자동 학습이나 실제 Product Loop를 관찰했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A613130D-036A-4C3E-9F8C-0423D8CF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모델의 자동 학습이나 실제 Product Loop를 관찰했다는 뜻은 아니다.</a:t>
            </a:r>
          </a:p>
        </p:txBody>
      </p:sp>
      <p:sp>
        <p:nvSpPr>
          <p:cNvPr id="7" name="앞선 단위 / 통합 테스트 가상 사례를 따라가면">
            <a:extLst xmlns:a="http://schemas.openxmlformats.org/drawingml/2006/main">
              <a:ext uri="{FF2B5EF4-FFF2-40B4-BE49-F238E27FC236}">
                <a16:creationId xmlns:a16="http://schemas.microsoft.com/office/drawing/2014/main" id="{827C61D6-B512-40DB-92B4-D5AC32AB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앞선 단위 / 통합 테스트 가상 사례를 따라가면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BEA3C820-81B8-45DB-9410-BD03BEFE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AD719A-62A0-461F-A454-01CE5A16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실행">
            <a:extLst xmlns:a="http://schemas.openxmlformats.org/drawingml/2006/main">
              <a:ext uri="{FF2B5EF4-FFF2-40B4-BE49-F238E27FC236}">
                <a16:creationId xmlns:a16="http://schemas.microsoft.com/office/drawing/2014/main" id="{C3A1525B-7E26-4D13-8915-6D21C520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1" name="무엇을 했나?">
            <a:extLst xmlns:a="http://schemas.openxmlformats.org/drawingml/2006/main">
              <a:ext uri="{FF2B5EF4-FFF2-40B4-BE49-F238E27FC236}">
                <a16:creationId xmlns:a16="http://schemas.microsoft.com/office/drawing/2014/main" id="{29686563-4453-47FC-A9F3-404B58A8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027F11-5A08-4A62-AF1A-FDA2BA42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가상 Task&#10;현재 기준은&#10;단위 + 통합">
            <a:extLst xmlns:a="http://schemas.openxmlformats.org/drawingml/2006/main">
              <a:ext uri="{FF2B5EF4-FFF2-40B4-BE49-F238E27FC236}">
                <a16:creationId xmlns:a16="http://schemas.microsoft.com/office/drawing/2014/main" id="{D5C56240-DF56-45B1-84D7-12706F4F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가상 Task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기준은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A4A07A-9A5D-4B4C-8D13-8B46D2BE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02">
            <a:extLst xmlns:a="http://schemas.openxmlformats.org/drawingml/2006/main">
              <a:ext uri="{FF2B5EF4-FFF2-40B4-BE49-F238E27FC236}">
                <a16:creationId xmlns:a16="http://schemas.microsoft.com/office/drawing/2014/main" id="{A0ECBA8B-A0C5-4936-ADED-F29B4AC2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65C49D-A488-4563-A5E6-56DE5D06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찰">
            <a:extLst xmlns:a="http://schemas.openxmlformats.org/drawingml/2006/main">
              <a:ext uri="{FF2B5EF4-FFF2-40B4-BE49-F238E27FC236}">
                <a16:creationId xmlns:a16="http://schemas.microsoft.com/office/drawing/2014/main" id="{EE12E1D3-0184-4DCC-800B-62C83097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8" name="무엇이 보였나?">
            <a:extLst xmlns:a="http://schemas.openxmlformats.org/drawingml/2006/main">
              <a:ext uri="{FF2B5EF4-FFF2-40B4-BE49-F238E27FC236}">
                <a16:creationId xmlns:a16="http://schemas.microsoft.com/office/drawing/2014/main" id="{7EC152F5-D06C-4F49-98B6-5812C971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보였나?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188A1A-EF09-4E16-A477-C6DFAA29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지침은 단위만&#10;검증 범위가 다름">
            <a:extLst xmlns:a="http://schemas.openxmlformats.org/drawingml/2006/main">
              <a:ext uri="{FF2B5EF4-FFF2-40B4-BE49-F238E27FC236}">
                <a16:creationId xmlns:a16="http://schemas.microsoft.com/office/drawing/2014/main" id="{2F14552B-AFD2-4818-96A0-22684717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지침은 단위만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범위가 다름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398860-D60D-4BED-AEBA-6B8B2DE3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03">
            <a:extLst xmlns:a="http://schemas.openxmlformats.org/drawingml/2006/main">
              <a:ext uri="{FF2B5EF4-FFF2-40B4-BE49-F238E27FC236}">
                <a16:creationId xmlns:a16="http://schemas.microsoft.com/office/drawing/2014/main" id="{EA1B0E5D-3D7E-4E1A-898E-4B272736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947BFB-BCE2-4E3F-A8EF-1AC8F55D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8D308971-2231-48E8-A927-C0457BFB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25" name="왜 생겼나?">
            <a:extLst xmlns:a="http://schemas.openxmlformats.org/drawingml/2006/main">
              <a:ext uri="{FF2B5EF4-FFF2-40B4-BE49-F238E27FC236}">
                <a16:creationId xmlns:a16="http://schemas.microsoft.com/office/drawing/2014/main" id="{ECB428B1-ECBB-47E4-95EF-EA4F9AB5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왜 생겼나?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A5C4EF-0F55-4EDF-8894-8484413F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오래된 지침이&#10;원인인지 확인">
            <a:extLst xmlns:a="http://schemas.openxmlformats.org/drawingml/2006/main">
              <a:ext uri="{FF2B5EF4-FFF2-40B4-BE49-F238E27FC236}">
                <a16:creationId xmlns:a16="http://schemas.microsoft.com/office/drawing/2014/main" id="{1757FAF6-8C73-4002-BCE2-3014827F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지침이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원인인지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E5D96F-2034-42C0-8E50-AAE0738D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9" name="04">
            <a:extLst xmlns:a="http://schemas.openxmlformats.org/drawingml/2006/main">
              <a:ext uri="{FF2B5EF4-FFF2-40B4-BE49-F238E27FC236}">
                <a16:creationId xmlns:a16="http://schemas.microsoft.com/office/drawing/2014/main" id="{182F7AF2-1986-41E8-B32A-A4E6FA0C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E4507B-D82E-4F14-B719-8C3FF68C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1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FB56FA7E-5252-4EE9-93F7-1A27C58E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32" name="어디를 바꾸나?">
            <a:extLst xmlns:a="http://schemas.openxmlformats.org/drawingml/2006/main">
              <a:ext uri="{FF2B5EF4-FFF2-40B4-BE49-F238E27FC236}">
                <a16:creationId xmlns:a16="http://schemas.microsoft.com/office/drawing/2014/main" id="{5B7A7513-CD95-40C2-BCDD-FCB7DA22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 바꾸나?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63C172-6BFA-4694-98D5-58EE4A25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확인됐다면&#10;Workflow 갱신">
            <a:extLst xmlns:a="http://schemas.openxmlformats.org/drawingml/2006/main">
              <a:ext uri="{FF2B5EF4-FFF2-40B4-BE49-F238E27FC236}">
                <a16:creationId xmlns:a16="http://schemas.microsoft.com/office/drawing/2014/main" id="{8A297FB5-55F8-496A-87BE-BC80915B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확인됐다면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Workflow 갱신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1D7B0A-AC74-4968-AB7B-F2C19DE9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05">
            <a:extLst xmlns:a="http://schemas.openxmlformats.org/drawingml/2006/main">
              <a:ext uri="{FF2B5EF4-FFF2-40B4-BE49-F238E27FC236}">
                <a16:creationId xmlns:a16="http://schemas.microsoft.com/office/drawing/2014/main" id="{10A6F2BC-0A7C-419C-9B5D-098619FD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4B4BDA-D4C9-46B5-8CE3-782E94CB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8" name="재평가">
            <a:extLst xmlns:a="http://schemas.openxmlformats.org/drawingml/2006/main">
              <a:ext uri="{FF2B5EF4-FFF2-40B4-BE49-F238E27FC236}">
                <a16:creationId xmlns:a16="http://schemas.microsoft.com/office/drawing/2014/main" id="{4AE5C859-CA1E-4755-9BE4-3876202A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39" name="다른 작업도 괜찮나?">
            <a:extLst xmlns:a="http://schemas.openxmlformats.org/drawingml/2006/main">
              <a:ext uri="{FF2B5EF4-FFF2-40B4-BE49-F238E27FC236}">
                <a16:creationId xmlns:a16="http://schemas.microsoft.com/office/drawing/2014/main" id="{57B8CEBB-6441-4A70-BABA-38100E57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 괜찮나?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7A028C-C2A8-4E17-8381-65CB8CD8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재실행 +&#10;다른 대표 작업">
            <a:extLst xmlns:a="http://schemas.openxmlformats.org/drawingml/2006/main">
              <a:ext uri="{FF2B5EF4-FFF2-40B4-BE49-F238E27FC236}">
                <a16:creationId xmlns:a16="http://schemas.microsoft.com/office/drawing/2014/main" id="{B5A0130B-D559-4209-9B95-0A67FC17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재실행 +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대표 작업</a:t>
            </a:r>
          </a:p>
        </p:txBody>
      </p:sp>
      <p:sp>
        <p:nvSpPr>
          <p:cNvPr id="42" name="다음 작업에도 영향을 주는 변경으로 연결한다.">
            <a:extLst xmlns:a="http://schemas.openxmlformats.org/drawingml/2006/main">
              <a:ext uri="{FF2B5EF4-FFF2-40B4-BE49-F238E27FC236}">
                <a16:creationId xmlns:a16="http://schemas.microsoft.com/office/drawing/2014/main" id="{7C4E178B-82C2-4B70-A58F-895A741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영향을 주는 변경으로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121439629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OBSERVED META / 교육자료 제작 기록">
            <a:extLst xmlns:a="http://schemas.openxmlformats.org/drawingml/2006/main">
              <a:ext uri="{FF2B5EF4-FFF2-40B4-BE49-F238E27FC236}">
                <a16:creationId xmlns:a16="http://schemas.microsoft.com/office/drawing/2014/main" id="{9FAF2872-0518-400F-9025-D58A53E7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교육자료 제작 기록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529F21C3-6DE7-49D9-AC93-C19CEFD9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실제 제작 기록: TRIAL-006">
            <a:extLst xmlns:a="http://schemas.openxmlformats.org/drawingml/2006/main">
              <a:ext uri="{FF2B5EF4-FFF2-40B4-BE49-F238E27FC236}">
                <a16:creationId xmlns:a16="http://schemas.microsoft.com/office/drawing/2014/main" id="{0C873CCA-3073-4422-B18E-8743E651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제작 기록: TRIAL-006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0FDAC-AF5D-49C7-BD3E-3B4CDF48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71DE1-628A-45ED-AD93-203E87E3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EEEE800A-651C-4CBC-8B0F-7894BD9D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조사 기록의 재구성</a:t>
            </a:r>
          </a:p>
        </p:txBody>
      </p:sp>
      <p:sp>
        <p:nvSpPr>
          <p:cNvPr id="7" name="앞의 가상 Workflow와 별개 사건이다. 제품 코드·Demo Skill의 수정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2BA67EAB-42B5-4E43-A12C-33979903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사건이다. 제품 코드·Demo Skill의 수정 사례가 아니다.</a:t>
            </a:r>
          </a:p>
        </p:txBody>
      </p:sp>
      <p:sp>
        <p:nvSpPr>
          <p:cNvPr id="8" name="성능 조사에 Prompt 밖의 환경도 함께 관여했다.">
            <a:extLst xmlns:a="http://schemas.openxmlformats.org/drawingml/2006/main">
              <a:ext uri="{FF2B5EF4-FFF2-40B4-BE49-F238E27FC236}">
                <a16:creationId xmlns:a16="http://schemas.microsoft.com/office/drawing/2014/main" id="{EAFD90DD-D826-44F4-9C2F-CEE32240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조사에 Prompt 밖의 환경도 함께 관여했다.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46ADCC26-1E35-43A4-A1DE-6A99B524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작업 요청">
            <a:extLst xmlns:a="http://schemas.openxmlformats.org/drawingml/2006/main">
              <a:ext uri="{FF2B5EF4-FFF2-40B4-BE49-F238E27FC236}">
                <a16:creationId xmlns:a16="http://schemas.microsoft.com/office/drawing/2014/main" id="{C4B72F98-8A86-43B0-A71F-A1D5B65F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B3953B-B641-443E-BC52-9AECF6DB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성능 개선 작업">
            <a:extLst xmlns:a="http://schemas.openxmlformats.org/drawingml/2006/main">
              <a:ext uri="{FF2B5EF4-FFF2-40B4-BE49-F238E27FC236}">
                <a16:creationId xmlns:a16="http://schemas.microsoft.com/office/drawing/2014/main" id="{9D65D43B-5E57-4F87-A846-C9AA0DC8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개선 작업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FB89E6-980C-470F-8F7F-6758DAC5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02">
            <a:extLst xmlns:a="http://schemas.openxmlformats.org/drawingml/2006/main">
              <a:ext uri="{FF2B5EF4-FFF2-40B4-BE49-F238E27FC236}">
                <a16:creationId xmlns:a16="http://schemas.microsoft.com/office/drawing/2014/main" id="{8D13FE6D-8551-4EB6-9D4B-81C009BC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5" name="함께 관찰된 조건">
            <a:extLst xmlns:a="http://schemas.openxmlformats.org/drawingml/2006/main">
              <a:ext uri="{FF2B5EF4-FFF2-40B4-BE49-F238E27FC236}">
                <a16:creationId xmlns:a16="http://schemas.microsoft.com/office/drawing/2014/main" id="{D9B6813F-B1A9-420E-8D20-A103BEEB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함께 관찰된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E834CD-F81C-4F20-B6DB-2334D884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Global Skill 관여&#10;시작 경고도 기록">
            <a:extLst xmlns:a="http://schemas.openxmlformats.org/drawingml/2006/main">
              <a:ext uri="{FF2B5EF4-FFF2-40B4-BE49-F238E27FC236}">
                <a16:creationId xmlns:a16="http://schemas.microsoft.com/office/drawing/2014/main" id="{0ADD935A-DF70-4898-83E5-A5564D60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 관여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경고도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3F5030-C980-4BA4-BE88-EF00B421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F7A149AD-0412-4990-B13A-2CBFAFCB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결과 해석의 질문">
            <a:extLst xmlns:a="http://schemas.openxmlformats.org/drawingml/2006/main">
              <a:ext uri="{FF2B5EF4-FFF2-40B4-BE49-F238E27FC236}">
                <a16:creationId xmlns:a16="http://schemas.microsoft.com/office/drawing/2014/main" id="{F7F682DA-4FE7-452A-BE40-FB64966B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해석의 질문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488A8B-8BB7-4D86-B3D1-402130D1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Prompt만의 효과?&#10;귀속은 PARTIAL">
            <a:extLst xmlns:a="http://schemas.openxmlformats.org/drawingml/2006/main">
              <a:ext uri="{FF2B5EF4-FFF2-40B4-BE49-F238E27FC236}">
                <a16:creationId xmlns:a16="http://schemas.microsoft.com/office/drawing/2014/main" id="{A2F24FFE-EEB6-46F0-B577-1E607256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효과?</a:t>
            </a:r>
          </a:p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귀속은 PARTIAL</a:t>
            </a:r>
          </a:p>
        </p:txBody>
      </p:sp>
      <p:sp>
        <p:nvSpPr>
          <p:cNvPr id="23" name="좋은 결과가 있다는 것과 원인을 안다는 것은 별개다.">
            <a:extLst xmlns:a="http://schemas.openxmlformats.org/drawingml/2006/main">
              <a:ext uri="{FF2B5EF4-FFF2-40B4-BE49-F238E27FC236}">
                <a16:creationId xmlns:a16="http://schemas.microsoft.com/office/drawing/2014/main" id="{DAD0FC41-1B10-4C17-939E-E4F1755E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좋은 결과가 있다는 것과 원인을 안다는 것은 별개다.</a:t>
            </a:r>
          </a:p>
        </p:txBody>
      </p:sp>
    </p:spTree>
    <p:extLst>
      <p:ext uri="{BB962C8B-B14F-4D97-AF65-F5344CB8AC3E}">
        <p14:creationId xmlns:p14="http://schemas.microsoft.com/office/powerpoint/2010/main" val="13033697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FEF90728-676C-4DDA-8CE5-BE09751F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4B638E2D-4E59-4E53-ACC0-C928EDC5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827DEE08-8493-40CC-B5CC-5761D880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E6349-508D-4170-89D6-6E249E4C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96774-01B5-43F0-A47E-EFD21857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3A3B06E7-D0F2-4B4A-9949-172D9D03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184EEFDB-99AE-4F1B-B487-16BF5C4B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4F2E1954-1175-4F86-8BA3-784CA147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EA43DF9C-6257-4B52-804D-95E6E6B4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2EBFB668-3CE8-431A-BE66-1527808A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17226913-00DB-45D0-A698-09B4EDD1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2CC6B4-60E5-45CF-8E02-77F91431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E257B-34CB-4CF9-BDBE-C42DD694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4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C7350D95-8CFB-44EB-95A0-1FDA2907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5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947116BE-C786-4BA2-9C1A-5F18EA29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6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462D20EC-42BA-4E8B-9F3B-FE8285D0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7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D4971B62-D5BF-447E-AA60-67495CEB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8" name="결과에 대한 확인과,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746C84D3-C6FD-497F-956A-E134C4A5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결과에 대한 확인과, 원인에 대한 확신을 따로 기록한다.</a:t>
            </a:r>
          </a:p>
        </p:txBody>
      </p:sp>
    </p:spTree>
    <p:extLst>
      <p:ext uri="{BB962C8B-B14F-4D97-AF65-F5344CB8AC3E}">
        <p14:creationId xmlns:p14="http://schemas.microsoft.com/office/powerpoint/2010/main" val="8587382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85110D50-E6AD-4E5C-BFC2-B34B4623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872610EF-E5D4-4195-A8F5-40CC6E52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C45C7ACF-E6AB-4600-92B0-C90A7FB7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2CD1C-A170-494C-B83B-DF148F39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ADEA6-700F-4CCB-B967-BE0BE499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BD3BC383-7C81-49AC-B676-2E1F49AD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9DECFD6D-D8B4-4BC9-8C15-03C95A13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DEC-0016 · 바뀐 것은 후속 Trial을 기록하는 기준">
            <a:extLst xmlns:a="http://schemas.openxmlformats.org/drawingml/2006/main">
              <a:ext uri="{FF2B5EF4-FFF2-40B4-BE49-F238E27FC236}">
                <a16:creationId xmlns:a16="http://schemas.microsoft.com/office/drawing/2014/main" id="{CC98D3B9-E13D-42DE-90CB-C296F052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DEC-0016 · 바뀐 것은 후속 Trial을 기록하는 기준</a:t>
            </a:r>
          </a:p>
        </p:txBody>
      </p:sp>
      <p:sp>
        <p:nvSpPr>
          <p:cNvPr id="9" name="기존 빈틈: 작업·Repository 중심으로 보고 주변 Harness 영향 설명이 부족했다.">
            <a:extLst xmlns:a="http://schemas.openxmlformats.org/drawingml/2006/main">
              <a:ext uri="{FF2B5EF4-FFF2-40B4-BE49-F238E27FC236}">
                <a16:creationId xmlns:a16="http://schemas.microsoft.com/office/drawing/2014/main" id="{E2FB87E5-4DFA-400A-AE9A-A92B3192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빈틈: 작업·Repository 중심으로 보고 주변 Harness 영향 설명이 부족했다.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F9BE0B-F4CE-4705-AF67-F6258655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기존 결과 보존">
            <a:extLst xmlns:a="http://schemas.openxmlformats.org/drawingml/2006/main">
              <a:ext uri="{FF2B5EF4-FFF2-40B4-BE49-F238E27FC236}">
                <a16:creationId xmlns:a16="http://schemas.microsoft.com/office/drawing/2014/main" id="{339FA380-62CE-497B-8302-4E0A6E14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 보존</a:t>
            </a:r>
          </a:p>
        </p:txBody>
      </p:sp>
      <p:sp>
        <p:nvSpPr>
          <p:cNvPr id="12" name="TRIAL-006&#10;PARTIAL로 남김">
            <a:extLst xmlns:a="http://schemas.openxmlformats.org/drawingml/2006/main">
              <a:ext uri="{FF2B5EF4-FFF2-40B4-BE49-F238E27FC236}">
                <a16:creationId xmlns:a16="http://schemas.microsoft.com/office/drawing/2014/main" id="{D16B3135-F3E9-4B64-B581-A4A79B9F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TRIAL-006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PARTIAL로 남김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8C9C1-6833-42B3-AAC9-4AE0A3CB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8EE6C7-89FB-4B78-83DF-05BB1C59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진행 조건 명시">
            <a:extLst xmlns:a="http://schemas.openxmlformats.org/drawingml/2006/main">
              <a:ext uri="{FF2B5EF4-FFF2-40B4-BE49-F238E27FC236}">
                <a16:creationId xmlns:a16="http://schemas.microsoft.com/office/drawing/2014/main" id="{2072D1DA-8DD2-4DD7-AB03-F27BBA50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진행 조건 명시</a:t>
            </a:r>
          </a:p>
        </p:txBody>
      </p:sp>
      <p:sp>
        <p:nvSpPr>
          <p:cNvPr id="16" name="clean isolation을&#10;진행 조건으로 두지 않음">
            <a:extLst xmlns:a="http://schemas.openxmlformats.org/drawingml/2006/main">
              <a:ext uri="{FF2B5EF4-FFF2-40B4-BE49-F238E27FC236}">
                <a16:creationId xmlns:a16="http://schemas.microsoft.com/office/drawing/2014/main" id="{02D490E3-322B-4AED-8002-ED8CDBE4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clean isolation을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진행 조건으로 두지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B525D6-7140-48E7-896A-55AE0767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EA0B0-0BCC-42BD-BC96-C4DCDAEA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후속 기록 변경">
            <a:extLst xmlns:a="http://schemas.openxmlformats.org/drawingml/2006/main">
              <a:ext uri="{FF2B5EF4-FFF2-40B4-BE49-F238E27FC236}">
                <a16:creationId xmlns:a16="http://schemas.microsoft.com/office/drawing/2014/main" id="{52661729-4698-46F5-AD10-10E450E6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변경</a:t>
            </a:r>
          </a:p>
        </p:txBody>
      </p:sp>
      <p:sp>
        <p:nvSpPr>
          <p:cNvPr id="20" name="관찰된 환경 영향을&#10;다음 Trial에 함께 기록">
            <a:extLst xmlns:a="http://schemas.openxmlformats.org/drawingml/2006/main">
              <a:ext uri="{FF2B5EF4-FFF2-40B4-BE49-F238E27FC236}">
                <a16:creationId xmlns:a16="http://schemas.microsoft.com/office/drawing/2014/main" id="{538A952C-5F9E-4805-A15F-2D0E2DC8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환경 영향을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Trial에 함께 기록</a:t>
            </a:r>
          </a:p>
        </p:txBody>
      </p:sp>
      <p:sp>
        <p:nvSpPr>
          <p:cNvPr id="21" name="기록 대상: Skills · 경고 / 실행·사용 여부 · 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3D9917C8-D168-460D-AE69-379DC108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대상: Skills · 경고 / 실행·사용 여부 · 결과를 설명할 수 있는 범위</a:t>
            </a:r>
          </a:p>
        </p:txBody>
      </p:sp>
    </p:spTree>
    <p:extLst>
      <p:ext uri="{BB962C8B-B14F-4D97-AF65-F5344CB8AC3E}">
        <p14:creationId xmlns:p14="http://schemas.microsoft.com/office/powerpoint/2010/main" val="26385661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0C539C83-C397-4775-B872-6B4B3F09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54DC5894-5D7A-42F6-9DDB-0EE1BED8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65CBD63E-D932-48C9-BD72-B20CC8A1F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75617-F5A5-400D-A747-AF4B9E97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8B0E2-FBAE-4BFC-BC3F-E7EF5912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6F108F98-BC23-4809-B414-49133860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4C96B858-CB9E-427B-8E33-26EB3E17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">
            <a:extLst xmlns:a="http://schemas.openxmlformats.org/drawingml/2006/main">
              <a:ext uri="{FF2B5EF4-FFF2-40B4-BE49-F238E27FC236}">
                <a16:creationId xmlns:a16="http://schemas.microsoft.com/office/drawing/2014/main" id="{E0AFFBF6-B9D2-4855-80C0-0A2EDC16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TRIAL-007</a:t>
            </a:r>
          </a:p>
        </p:txBody>
      </p:sp>
      <p:sp>
        <p:nvSpPr>
          <p:cNvPr id="9" name="보고와 원문을 대조">
            <a:extLst xmlns:a="http://schemas.openxmlformats.org/drawingml/2006/main">
              <a:ext uri="{FF2B5EF4-FFF2-40B4-BE49-F238E27FC236}">
                <a16:creationId xmlns:a16="http://schemas.microsoft.com/office/drawing/2014/main" id="{DF99544D-591D-45E6-9B2A-062C29C2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518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보고와 원문을 대조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D1A2C6-7A7C-4C30-AA60-CEE8CB76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2109B74A-50ED-4270-94AA-BA136AC4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2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60AB9D95-7BE0-4C44-8CDE-651251EE2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3" name="보존된 stderr · 진단 메시지 출력">
            <a:extLst xmlns:a="http://schemas.openxmlformats.org/drawingml/2006/main">
              <a:ext uri="{FF2B5EF4-FFF2-40B4-BE49-F238E27FC236}">
                <a16:creationId xmlns:a16="http://schemas.microsoft.com/office/drawing/2014/main" id="{7ABB2E8C-1DB4-4D6F-BAD6-2FC41B34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stderr · 진단 메시지 출력</a:t>
            </a:r>
          </a:p>
        </p:txBody>
      </p:sp>
      <p:sp>
        <p:nvSpPr>
          <p:cNvPr id="14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2D3FE04E-B912-4B95-A47F-84D768B6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5" name="인증 필요 경고">
            <a:extLst xmlns:a="http://schemas.openxmlformats.org/drawingml/2006/main">
              <a:ext uri="{FF2B5EF4-FFF2-40B4-BE49-F238E27FC236}">
                <a16:creationId xmlns:a16="http://schemas.microsoft.com/office/drawing/2014/main" id="{423B52BA-4A1D-4BA4-8067-E4392BB55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5181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인증 필요 경고</a:t>
            </a:r>
          </a:p>
        </p:txBody>
      </p:sp>
      <p:sp>
        <p:nvSpPr>
          <p:cNvPr id="16" name="TRIAL-008">
            <a:extLst xmlns:a="http://schemas.openxmlformats.org/drawingml/2006/main">
              <a:ext uri="{FF2B5EF4-FFF2-40B4-BE49-F238E27FC236}">
                <a16:creationId xmlns:a16="http://schemas.microsoft.com/office/drawing/2014/main" id="{466ACF7A-1B1A-45E1-84D7-F04F892E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7" name="사용 경로를 구분해 기록">
            <a:extLst xmlns:a="http://schemas.openxmlformats.org/drawingml/2006/main">
              <a:ext uri="{FF2B5EF4-FFF2-40B4-BE49-F238E27FC236}">
                <a16:creationId xmlns:a16="http://schemas.microsoft.com/office/drawing/2014/main" id="{3E481517-8CBB-4C6E-9310-A4E7E7FC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사용 경로를 구분해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867DE0-9569-4C9F-BB3C-4F80567F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A342A-38B2-4204-AFB3-9DEB8CAA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432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pository Skill 호출">
            <a:extLst xmlns:a="http://schemas.openxmlformats.org/drawingml/2006/main">
              <a:ext uri="{FF2B5EF4-FFF2-40B4-BE49-F238E27FC236}">
                <a16:creationId xmlns:a16="http://schemas.microsoft.com/office/drawing/2014/main" id="{0CD73D36-C0BE-42C1-B5EF-F536B0C9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337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</a:t>
            </a:r>
          </a:p>
        </p:txBody>
      </p:sp>
      <p:sp>
        <p:nvSpPr>
          <p:cNvPr id="21" name="별도 기록">
            <a:extLst xmlns:a="http://schemas.openxmlformats.org/drawingml/2006/main">
              <a:ext uri="{FF2B5EF4-FFF2-40B4-BE49-F238E27FC236}">
                <a16:creationId xmlns:a16="http://schemas.microsoft.com/office/drawing/2014/main" id="{899E9A5C-CCD9-49A4-8AA9-91B05ACC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76725"/>
            <a:ext cx="487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별도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8AAA8D-F8B8-4522-9ADC-7720E476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148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Global influence">
            <a:extLst xmlns:a="http://schemas.openxmlformats.org/drawingml/2006/main">
              <a:ext uri="{FF2B5EF4-FFF2-40B4-BE49-F238E27FC236}">
                <a16:creationId xmlns:a16="http://schemas.microsoft.com/office/drawing/2014/main" id="{CAA10E33-FBD3-4740-91DD-8AEBC656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053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influence</a:t>
            </a:r>
          </a:p>
        </p:txBody>
      </p:sp>
    </p:spTree>
    <p:extLst>
      <p:ext uri="{BB962C8B-B14F-4D97-AF65-F5344CB8AC3E}">
        <p14:creationId xmlns:p14="http://schemas.microsoft.com/office/powerpoint/2010/main" val="19301375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3A27E8F6-B896-4A8A-904A-17BF52A3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828DC86D-A697-4EAB-BC12-3D2A3EA7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A4BF95B1-C8B9-4EB3-9FA7-6E00C8C5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FA8992-5563-4370-9D71-11AFD123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4D0CB-EC8A-4104-86E0-48FC75A6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CE56BCD1-F601-40FB-9CF7-63029EB8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4DCB8A8B-CDF8-47CC-A972-A4AE41B6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바뀐 대상">
            <a:extLst xmlns:a="http://schemas.openxmlformats.org/drawingml/2006/main">
              <a:ext uri="{FF2B5EF4-FFF2-40B4-BE49-F238E27FC236}">
                <a16:creationId xmlns:a16="http://schemas.microsoft.com/office/drawing/2014/main" id="{C5BE8B32-4FFB-45E4-B8E0-B923CDB8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바뀐 대상</a:t>
            </a:r>
          </a:p>
        </p:txBody>
      </p:sp>
      <p:sp>
        <p:nvSpPr>
          <p:cNvPr id="9" name="Trial을 평가하고 보고하는 기준">
            <a:extLst xmlns:a="http://schemas.openxmlformats.org/drawingml/2006/main">
              <a:ext uri="{FF2B5EF4-FFF2-40B4-BE49-F238E27FC236}">
                <a16:creationId xmlns:a16="http://schemas.microsoft.com/office/drawing/2014/main" id="{359575B7-112C-40D8-B797-E9A36EA5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Trial을 평가하고 보고하는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A5AF7-2993-4FD1-98C1-E1E43D12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남아 있는 확인 과제">
            <a:extLst xmlns:a="http://schemas.openxmlformats.org/drawingml/2006/main">
              <a:ext uri="{FF2B5EF4-FFF2-40B4-BE49-F238E27FC236}">
                <a16:creationId xmlns:a16="http://schemas.microsoft.com/office/drawing/2014/main" id="{AF2C1696-BD5C-4694-A6FE-A5D2BB57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남아 있는 확인 과제</a:t>
            </a:r>
          </a:p>
        </p:txBody>
      </p:sp>
      <p:sp>
        <p:nvSpPr>
          <p:cNvPr id="12" name="원인별 효과">
            <a:extLst xmlns:a="http://schemas.openxmlformats.org/drawingml/2006/main">
              <a:ext uri="{FF2B5EF4-FFF2-40B4-BE49-F238E27FC236}">
                <a16:creationId xmlns:a16="http://schemas.microsoft.com/office/drawing/2014/main" id="{F7486156-8E98-4458-8742-B914B8B5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</p:txBody>
      </p:sp>
      <p:sp>
        <p:nvSpPr>
          <p:cNvPr id="13" name="무엇이 기여했는가?">
            <a:extLst xmlns:a="http://schemas.openxmlformats.org/drawingml/2006/main">
              <a:ext uri="{FF2B5EF4-FFF2-40B4-BE49-F238E27FC236}">
                <a16:creationId xmlns:a16="http://schemas.microsoft.com/office/drawing/2014/main" id="{7EDCCDF4-C32D-47A4-8A7C-428343DD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기여했는가?</a:t>
            </a:r>
          </a:p>
        </p:txBody>
      </p:sp>
      <p:sp>
        <p:nvSpPr>
          <p:cNvPr id="14" name="환경 목록의 완전성">
            <a:extLst xmlns:a="http://schemas.openxmlformats.org/drawingml/2006/main">
              <a:ext uri="{FF2B5EF4-FFF2-40B4-BE49-F238E27FC236}">
                <a16:creationId xmlns:a16="http://schemas.microsoft.com/office/drawing/2014/main" id="{16B156AC-870D-4ED1-9780-11632671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</p:txBody>
      </p:sp>
      <p:sp>
        <p:nvSpPr>
          <p:cNvPr id="15" name="빠진 조건은 없는가?">
            <a:extLst xmlns:a="http://schemas.openxmlformats.org/drawingml/2006/main">
              <a:ext uri="{FF2B5EF4-FFF2-40B4-BE49-F238E27FC236}">
                <a16:creationId xmlns:a16="http://schemas.microsoft.com/office/drawing/2014/main" id="{952581E8-447C-4699-A61D-CACA8A94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빠진 조건은 없는가?</a:t>
            </a:r>
          </a:p>
        </p:txBody>
      </p:sp>
      <p:sp>
        <p:nvSpPr>
          <p:cNvPr id="16" name="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AA652C24-65C5-471D-9DD5-F24DC7C3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7" name="실제로 더 좋아졌는가?">
            <a:extLst xmlns:a="http://schemas.openxmlformats.org/drawingml/2006/main">
              <a:ext uri="{FF2B5EF4-FFF2-40B4-BE49-F238E27FC236}">
                <a16:creationId xmlns:a16="http://schemas.microsoft.com/office/drawing/2014/main" id="{58FB3F97-0EF7-4C27-B61B-9622CB27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실제로 더 좋아졌는가?</a:t>
            </a:r>
          </a:p>
        </p:txBody>
      </p:sp>
      <p:sp>
        <p:nvSpPr>
          <p:cNvPr id="18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0ACB2655-FF19-4B5E-9DD4-DBF51D67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6343432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A4EBFC11-BD33-4EB8-8151-C53E54FC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9D8C8B9B-817B-403E-A887-313E2698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B8D8C870-DA6E-410F-8E31-CD7E15FD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AB2EE-4C50-405E-A6A6-75FD5E19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717D36A8-AF51-4037-98D7-07239BB8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 · AI 생성 설명용 삽화</a:t>
            </a:r>
          </a:p>
        </p:txBody>
      </p:sp>
      <p:sp>
        <p:nvSpPr>
          <p:cNvPr id="6" name="실제 C++ 사건·성능 결과가 아닙니다. 변경 표시는 확인할 조건을 뜻하며 원인이나 결과를 단정하지 않습니다">
            <a:extLst xmlns:a="http://schemas.openxmlformats.org/drawingml/2006/main">
              <a:ext uri="{FF2B5EF4-FFF2-40B4-BE49-F238E27FC236}">
                <a16:creationId xmlns:a16="http://schemas.microsoft.com/office/drawing/2014/main" id="{40C9489F-8180-439D-A3F7-DD719CBB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결과가 아닙니다. 변경 표시는 확인할 조건을 뜻하며 원인이나 결과를 단정하지 않습니다.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904CFAA0-4BD9-495A-8EEC-6E520E29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36253-9072-4498-94A8-D5D818B00C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aa40fa1c7b4cd3"/>
          <a:srcRect xmlns:a="http://schemas.openxmlformats.org/drawingml/2006/main" l="0" t="6000" r="0" b="10000"/>
          <a:stretch xmlns:a="http://schemas.openxmlformats.org/drawingml/2006/main"/>
        </p:blipFill>
        <p:spPr>
          <a:xfrm xmlns:a="http://schemas.openxmlformats.org/drawingml/2006/main">
            <a:off x="609600" y="2676525"/>
            <a:ext cx="6858000" cy="1924050"/>
          </a:xfrm>
          <a:prstGeom xmlns:a="http://schemas.openxmlformats.org/drawingml/2006/main" prst="rect">
            <a:avLst/>
          </a:prstGeom>
        </p:spPr>
      </p:pic>
      <p:sp>
        <p:nvSpPr>
          <p:cNvPr id="9" name="입력">
            <a:extLst xmlns:a="http://schemas.openxmlformats.org/drawingml/2006/main">
              <a:ext uri="{FF2B5EF4-FFF2-40B4-BE49-F238E27FC236}">
                <a16:creationId xmlns:a16="http://schemas.microsoft.com/office/drawing/2014/main" id="{72D8DBB4-9DDA-4602-8444-B0A513F8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0" name="처리 코드">
            <a:extLst xmlns:a="http://schemas.openxmlformats.org/drawingml/2006/main">
              <a:ext uri="{FF2B5EF4-FFF2-40B4-BE49-F238E27FC236}">
                <a16:creationId xmlns:a16="http://schemas.microsoft.com/office/drawing/2014/main" id="{DC1EF9D5-2ED8-4CEC-94D8-14534550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76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처리 코드</a:t>
            </a:r>
          </a:p>
        </p:txBody>
      </p:sp>
      <p:sp>
        <p:nvSpPr>
          <p:cNvPr id="11" name="실행 장치 · 변경 조건">
            <a:extLst xmlns:a="http://schemas.openxmlformats.org/drawingml/2006/main">
              <a:ext uri="{FF2B5EF4-FFF2-40B4-BE49-F238E27FC236}">
                <a16:creationId xmlns:a16="http://schemas.microsoft.com/office/drawing/2014/main" id="{B98FB6D4-8E20-4DF3-9BB7-18AE677E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767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장치 · 변경 조건</a:t>
            </a:r>
          </a:p>
        </p:txBody>
      </p:sp>
      <p:sp>
        <p:nvSpPr>
          <p:cNvPr id="12" name="출력">
            <a:extLst xmlns:a="http://schemas.openxmlformats.org/drawingml/2006/main">
              <a:ext uri="{FF2B5EF4-FFF2-40B4-BE49-F238E27FC236}">
                <a16:creationId xmlns:a16="http://schemas.microsoft.com/office/drawing/2014/main" id="{F31F4F3F-D7F8-4787-947B-7EF741B7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767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EF90D0CF-2A13-466F-B46A-D7EA6DCB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860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FA454924-33FD-43F6-95C6-055A8FCE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860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5" name="어떤 조건에서&#10;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99376BAB-BE9A-4B42-A791-80B48A78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0987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조건에서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맞던 판단인가?</a:t>
            </a:r>
          </a:p>
        </p:txBody>
      </p:sp>
      <p:sp>
        <p:nvSpPr>
          <p:cNvPr id="16" name="02">
            <a:extLst xmlns:a="http://schemas.openxmlformats.org/drawingml/2006/main">
              <a:ext uri="{FF2B5EF4-FFF2-40B4-BE49-F238E27FC236}">
                <a16:creationId xmlns:a16="http://schemas.microsoft.com/office/drawing/2014/main" id="{4A226573-9E8E-43FC-A7A9-9974DA8C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69E8701A-A85A-42E7-BE2C-ED35AC14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71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8" name="입력과 실행 조건은&#10;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BDD1760F-A05E-43DF-B9A3-03727651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957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입력과 실행 조건은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비교 가능한가?</a:t>
            </a:r>
          </a:p>
        </p:txBody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D11E3ADE-1D69-4F8D-9840-4485A44E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69AE0952-1D87-46A4-B8D2-7EE803BD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5767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21" name="함께 다시 확인할&#10;동작은?">
            <a:extLst xmlns:a="http://schemas.openxmlformats.org/drawingml/2006/main">
              <a:ext uri="{FF2B5EF4-FFF2-40B4-BE49-F238E27FC236}">
                <a16:creationId xmlns:a16="http://schemas.microsoft.com/office/drawing/2014/main" id="{A921924A-B382-4A7D-8E70-C723EFC4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8152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다시 확인할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동작은?</a:t>
            </a:r>
          </a:p>
        </p:txBody>
      </p:sp>
      <p:sp>
        <p:nvSpPr>
          <p:cNvPr id="22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ACBC8C0D-594F-45FC-B3D1-1184F180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</p:spTree>
    <p:extLst>
      <p:ext uri="{BB962C8B-B14F-4D97-AF65-F5344CB8AC3E}">
        <p14:creationId xmlns:p14="http://schemas.microsoft.com/office/powerpoint/2010/main" val="17736358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2026-10-18T14:59:48.7880000Z</dcterms:created>
  <dcterms:modified xsi:type="dcterms:W3CDTF">2026-10-18T14:59:48.7880000Z</dcterms:modified>
</coreProperties>
</file>