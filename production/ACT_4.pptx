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0a0cd91495741b1" /><Relationship Type="http://schemas.openxmlformats.org/officeDocument/2006/relationships/extended-properties" Target="/docProps/app.xml" Id="R86f23c6fb9a64878" /><Relationship Type="http://schemas.openxmlformats.org/officeDocument/2006/relationships/officeDocument" Target="/ppt/presentation.xml" Id="R9aa222242fea441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801101bc62748ed"/>
  </p:sldMasterIdLst>
  <p:notesMasterIdLst>
    <p:notesMasterId xmlns:r="http://schemas.openxmlformats.org/officeDocument/2006/relationships" r:id="Rd9f8202b01c84825"/>
  </p:notesMasterIdLst>
  <p:sldIdLst>
    <p:sldId xmlns:r="http://schemas.openxmlformats.org/officeDocument/2006/relationships" id="256" r:id="Rc46d2f32c98e421a"/>
    <p:sldId xmlns:r="http://schemas.openxmlformats.org/officeDocument/2006/relationships" id="257" r:id="R72839e41335a4501"/>
    <p:sldId xmlns:r="http://schemas.openxmlformats.org/officeDocument/2006/relationships" id="258" r:id="R209af195c56d4636"/>
    <p:sldId xmlns:r="http://schemas.openxmlformats.org/officeDocument/2006/relationships" id="259" r:id="Rda1c106d8e794b9f"/>
    <p:sldId xmlns:r="http://schemas.openxmlformats.org/officeDocument/2006/relationships" id="260" r:id="R23b871ae2fef4aa8"/>
    <p:sldId xmlns:r="http://schemas.openxmlformats.org/officeDocument/2006/relationships" id="261" r:id="R30543185195b41be"/>
    <p:sldId xmlns:r="http://schemas.openxmlformats.org/officeDocument/2006/relationships" id="262" r:id="R25d09608aa1d47f2"/>
    <p:sldId xmlns:r="http://schemas.openxmlformats.org/officeDocument/2006/relationships" id="263" r:id="R1478d0ab3df24f46"/>
    <p:sldId xmlns:r="http://schemas.openxmlformats.org/officeDocument/2006/relationships" id="264" r:id="Raba57a0d64ef4b0c"/>
    <p:sldId xmlns:r="http://schemas.openxmlformats.org/officeDocument/2006/relationships" id="265" r:id="R34705033bfc34d2b"/>
    <p:sldId xmlns:r="http://schemas.openxmlformats.org/officeDocument/2006/relationships" id="266" r:id="R8a8cc5ff11bd4da8"/>
    <p:sldId xmlns:r="http://schemas.openxmlformats.org/officeDocument/2006/relationships" id="267" r:id="R7eb23d38d264489f"/>
    <p:sldId xmlns:r="http://schemas.openxmlformats.org/officeDocument/2006/relationships" id="268" r:id="R26c0965859a64729"/>
    <p:sldId xmlns:r="http://schemas.openxmlformats.org/officeDocument/2006/relationships" id="269" r:id="Re5d21fc2b30d4a12"/>
    <p:sldId xmlns:r="http://schemas.openxmlformats.org/officeDocument/2006/relationships" id="270" r:id="R5f7f62a30dc2450e"/>
    <p:sldId xmlns:r="http://schemas.openxmlformats.org/officeDocument/2006/relationships" id="271" r:id="Rdef955a4c29a4da7"/>
    <p:sldId xmlns:r="http://schemas.openxmlformats.org/officeDocument/2006/relationships" id="272" r:id="R9e5f8137815641d1"/>
    <p:sldId xmlns:r="http://schemas.openxmlformats.org/officeDocument/2006/relationships" id="273" r:id="Rf3ea59f2ea7449e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09bf449cdd64f47" /><Relationship Type="http://schemas.openxmlformats.org/officeDocument/2006/relationships/slideMaster" Target="/ppt/slideMasters/slideMaster1.xml" Id="Ra801101bc62748ed" /><Relationship Type="http://schemas.openxmlformats.org/officeDocument/2006/relationships/notesMaster" Target="/ppt/notesMasters/notesMaster1.xml" Id="Rd9f8202b01c84825" /><Relationship Type="http://schemas.openxmlformats.org/officeDocument/2006/relationships/presProps" Target="/ppt/presProps.xml" Id="R2da8d5a1665444cb" /><Relationship Type="http://schemas.openxmlformats.org/officeDocument/2006/relationships/tableStyles" Target="/ppt/tableStyles.xml" Id="Ra443839031c74669" /><Relationship Type="http://schemas.openxmlformats.org/officeDocument/2006/relationships/slide" Target="/ppt/slides/slide1.xml" Id="Rc46d2f32c98e421a" /><Relationship Type="http://schemas.openxmlformats.org/officeDocument/2006/relationships/slide" Target="/ppt/slides/slide2.xml" Id="R72839e41335a4501" /><Relationship Type="http://schemas.openxmlformats.org/officeDocument/2006/relationships/slide" Target="/ppt/slides/slide3.xml" Id="R209af195c56d4636" /><Relationship Type="http://schemas.openxmlformats.org/officeDocument/2006/relationships/slide" Target="/ppt/slides/slide4.xml" Id="Rda1c106d8e794b9f" /><Relationship Type="http://schemas.openxmlformats.org/officeDocument/2006/relationships/slide" Target="/ppt/slides/slide5.xml" Id="R23b871ae2fef4aa8" /><Relationship Type="http://schemas.openxmlformats.org/officeDocument/2006/relationships/slide" Target="/ppt/slides/slide6.xml" Id="R30543185195b41be" /><Relationship Type="http://schemas.openxmlformats.org/officeDocument/2006/relationships/slide" Target="/ppt/slides/slide7.xml" Id="R25d09608aa1d47f2" /><Relationship Type="http://schemas.openxmlformats.org/officeDocument/2006/relationships/slide" Target="/ppt/slides/slide8.xml" Id="R1478d0ab3df24f46" /><Relationship Type="http://schemas.openxmlformats.org/officeDocument/2006/relationships/slide" Target="/ppt/slides/slide9.xml" Id="Raba57a0d64ef4b0c" /><Relationship Type="http://schemas.openxmlformats.org/officeDocument/2006/relationships/slide" Target="/ppt/slides/slide10.xml" Id="R34705033bfc34d2b" /><Relationship Type="http://schemas.openxmlformats.org/officeDocument/2006/relationships/slide" Target="/ppt/slides/slide11.xml" Id="R8a8cc5ff11bd4da8" /><Relationship Type="http://schemas.openxmlformats.org/officeDocument/2006/relationships/slide" Target="/ppt/slides/slide12.xml" Id="R7eb23d38d264489f" /><Relationship Type="http://schemas.openxmlformats.org/officeDocument/2006/relationships/slide" Target="/ppt/slides/slide13.xml" Id="R26c0965859a64729" /><Relationship Type="http://schemas.openxmlformats.org/officeDocument/2006/relationships/slide" Target="/ppt/slides/slide14.xml" Id="Re5d21fc2b30d4a12" /><Relationship Type="http://schemas.openxmlformats.org/officeDocument/2006/relationships/slide" Target="/ppt/slides/slide15.xml" Id="R5f7f62a30dc2450e" /><Relationship Type="http://schemas.openxmlformats.org/officeDocument/2006/relationships/slide" Target="/ppt/slides/slide16.xml" Id="Rdef955a4c29a4da7" /><Relationship Type="http://schemas.openxmlformats.org/officeDocument/2006/relationships/slide" Target="/ppt/slides/slide17.xml" Id="R9e5f8137815641d1" /><Relationship Type="http://schemas.openxmlformats.org/officeDocument/2006/relationships/slide" Target="/ppt/slides/slide18.xml" Id="Rf3ea59f2ea7449e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d56c729d637474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3b995e4ed744ffd" /><Relationship Type="http://schemas.openxmlformats.org/officeDocument/2006/relationships/notesMaster" Target="/ppt/notesMasters/notesMaster1.xml" Id="R598f91dee34a464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b1655c3085947cf" /><Relationship Type="http://schemas.openxmlformats.org/officeDocument/2006/relationships/notesMaster" Target="/ppt/notesMasters/notesMaster1.xml" Id="Re14f56d26496428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e583526aaa74e93" /><Relationship Type="http://schemas.openxmlformats.org/officeDocument/2006/relationships/notesMaster" Target="/ppt/notesMasters/notesMaster1.xml" Id="Rbcdab13cf44f443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61463d4e1994558" /><Relationship Type="http://schemas.openxmlformats.org/officeDocument/2006/relationships/notesMaster" Target="/ppt/notesMasters/notesMaster1.xml" Id="Rec689b2908274b1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23386a918134c63" /><Relationship Type="http://schemas.openxmlformats.org/officeDocument/2006/relationships/notesMaster" Target="/ppt/notesMasters/notesMaster1.xml" Id="R499a53fdde99488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9b6a19e2ab64a3b" /><Relationship Type="http://schemas.openxmlformats.org/officeDocument/2006/relationships/notesMaster" Target="/ppt/notesMasters/notesMaster1.xml" Id="R6d91024cf1ab4e4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36fd02cc4d3491a" /><Relationship Type="http://schemas.openxmlformats.org/officeDocument/2006/relationships/notesMaster" Target="/ppt/notesMasters/notesMaster1.xml" Id="R9659ea97f0754e4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dead99ca1cc4adb" /><Relationship Type="http://schemas.openxmlformats.org/officeDocument/2006/relationships/notesMaster" Target="/ppt/notesMasters/notesMaster1.xml" Id="Red50eb6b5a444a7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df3dde3d1d6405a" /><Relationship Type="http://schemas.openxmlformats.org/officeDocument/2006/relationships/notesMaster" Target="/ppt/notesMasters/notesMaster1.xml" Id="Rfa20456d0f1840f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7d5aad8769c44fa" /><Relationship Type="http://schemas.openxmlformats.org/officeDocument/2006/relationships/notesMaster" Target="/ppt/notesMasters/notesMaster1.xml" Id="R7784d4a40834469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585017d3c924328" /><Relationship Type="http://schemas.openxmlformats.org/officeDocument/2006/relationships/notesMaster" Target="/ppt/notesMasters/notesMaster1.xml" Id="R806a6ec3225c42e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0ea90e134a3483b" /><Relationship Type="http://schemas.openxmlformats.org/officeDocument/2006/relationships/notesMaster" Target="/ppt/notesMasters/notesMaster1.xml" Id="R0af86867a25846d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de17510cc1940d7" /><Relationship Type="http://schemas.openxmlformats.org/officeDocument/2006/relationships/notesMaster" Target="/ppt/notesMasters/notesMaster1.xml" Id="Rc80a967680a6495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cc5be9e6aac49b4" /><Relationship Type="http://schemas.openxmlformats.org/officeDocument/2006/relationships/notesMaster" Target="/ppt/notesMasters/notesMaster1.xml" Id="R1f9dd461d6be499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92d6709768a448e" /><Relationship Type="http://schemas.openxmlformats.org/officeDocument/2006/relationships/notesMaster" Target="/ppt/notesMasters/notesMaster1.xml" Id="R08c0af045f0c491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ae6e22b8a5c4708" /><Relationship Type="http://schemas.openxmlformats.org/officeDocument/2006/relationships/notesMaster" Target="/ppt/notesMasters/notesMaster1.xml" Id="R85238236712b44c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894733c1da344d6" /><Relationship Type="http://schemas.openxmlformats.org/officeDocument/2006/relationships/notesMaster" Target="/ppt/notesMasters/notesMaster1.xml" Id="R1def4700dcb64dc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f8713dda93748a7" /><Relationship Type="http://schemas.openxmlformats.org/officeDocument/2006/relationships/notesMaster" Target="/ppt/notesMasters/notesMaster1.xml" Id="R37b8ad9ce16b4e8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S57 — 여기까지는 잘 동작했다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S57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여기까지는 잘 동작했다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4A  WORKING HARNESS CALLBACK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3분 + Reflection 1분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STATE-04-PERF는 bounded task에서 검증된 성공이다. 뒤에 나올 stale 사례는 별도의 개념 사례다.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“잘 동작하는 System도 계속 맞는 상태로 남아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(0:00–1:30 / Lecture) ACT 3의 STATE-04-PERF가 기록된 범위에서 성공한 endpoint임을 회수한다.</a:t>
            </a:r>
          </a:p>
          <a:p xmlns:a="http://schemas.openxmlformats.org/drawingml/2006/main">
            <a:r>
              <a:t>2. (1:30–3:00 / Lecture) 화면의 동작 계약, 전체 테스트 11/11, Benchmark guard 세 근거를 차례로 가리킨다. 새 실행이나 인과 비교는 하지 않는다.</a:t>
            </a:r>
          </a:p>
          <a:p xmlns:a="http://schemas.openxmlformats.org/drawingml/2006/main">
            <a:r>
              <a:t>3. (3:00–4:00 / Reflection) “프로젝트가 바뀐 뒤에도 맞을까?”를 개인적으로 생각하게 하고 다음 가상 사례로 넘어간다.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STATE-00 → STATE-04-PERF  ·  bounded image_statistics evidence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STATE-04-PERF의 기록된 task, 코드 경로, 입력, runtime, host 및 검증 조건에 한정한다. 이 결과는 실제 stale Harness나 Product failure를 뜻하지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먼저 잘 동작했던 현재 시스템을 기준점으로 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성공한 Product State와 뒤의 Conceptual Case를 별도 Evidence frame으로 읽는다.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추가 실행 없음. 기존 ACT 3에서 승인된 STATE-04-PERF 결과를 짧게 회수한다. 수치는 현재 범위와 함께 보이고 일반 성과로 확대하지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1분 Reflection: “성공한 현재 상태도 Project 변화 뒤 다시 확인해야 할까?” 개인 생각만 하고 응답을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“이 실제 성공은 기준점으로 남기고, 별개의 가상 사례에서 Project와 Workflow가 어떻게 어긋날 수 있는지 보겠습니다.” S58으로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3분 + Reflection 1분. 기존 ACT 3 설명을 다시 길게 열지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S57와 production/preview/act4/S57.png를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S58 — 개념 사례: Project와 Workflow는 현재 맞다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S58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개념 사례: Project와 Workflow는 현재 맞다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4B  CONCEPTUAL STALE HARNESS / DEMO-04A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Demo 2분 (VISUAL)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가상 사례의 시작에서는 프로젝트의 검증 기준과 재사용 Workflow의 지시가 모두 단위 테스트를 대상으로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“지금 맞는 Project Workflow는 계속 맞을까?”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(0:00–0:30 / VISUAL Demo) S57의 실제 성공을 기준점으로 남기고, 여기서부터 실제 graypipe 이력과 별개인 가상 사례를 시작한다고 말한다.</a:t>
            </a:r>
          </a:p>
          <a:p xmlns:a="http://schemas.openxmlformats.org/drawingml/2006/main">
            <a:r>
              <a:t>2. (0:30–1:30 / VISUAL Demo) 왼쪽 프로젝트 기준과 오른쪽 재사용 지침이 모두 단위 테스트를 가리키는 모습을 비교한다.</a:t>
            </a:r>
          </a:p>
          <a:p xmlns:a="http://schemas.openxmlformats.org/drawingml/2006/main">
            <a:r>
              <a:t>3. (1:30–2:00 / VISUAL Demo) 당시 기준에는 일치하는 절차였다는 출발점을 남긴다. 다음 장의 변경을 미리 설명하지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 ·  constructed starting condition  ·  no Trial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CONCEPTUAL CASE. `ai-dev-training-demo`의 기록, Trial 또는 Product State가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처음에는 현재 지침과 재사용 절차가 서로 맞아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당시에 올바른 절차도 Project 변화 이후 stale해질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선택적 맥락: 실제 Project에서도 build/test structure가 바뀔 수 있다. 별도 C++ 사례로 확장하지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CONCEPTUAL 정적 도식. 두 단위 테스트 범위와 가운데 등호를 가리킨다. 실행 캡처·명령·결과 badge는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두 지시의 범위가 같은지 눈으로 비교한다. 답변이나 실행은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Project가 바뀌었는데 재사용 Workflow가 그대로라면 어떻게 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VISUAL Demo 2분. 첫 장면은 정상 상태로 두고 Project 변경을 앞당겨 보여주지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S58와 production/preview/act4/S58.png를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S59 — Project는 바뀌고 Workflow는 남았다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S59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Project는 바뀌고 Workflow는 남았다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4 / 4B  CONCEPTUAL STALE HARNESS / DEMO-04A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2분 (VISUAL)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모듈 연결 동작까지 검증해야 하는 가상 프로젝트에서 공식 기준은 단위+통합 테스트로 넓어졌지만 재사용 Workflow에는 단위 테스트 지시가 남아 있다. 이는 지시 범위의 차이다.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“다음 Task에서 old workflow를 따르면 누가 틀린 걸까?”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 / Demo) 실제 Trial과 별개인 가상 사례임을 밝힌다. 모듈 연결 동작까지 검증할 필요가 생겨 공식 범위에 통합 테스트를 추가한 사례다.</a:t>
            </a:r>
          </a:p>
          <a:p xmlns:a="http://schemas.openxmlformats.org/drawingml/2006/main">
            <a:r>
              <a:t>2. (1:00–2:00 / Demo) 왼쪽 A/B 각각의 박스와 둘 사이 연결까지 감싼 통합 범위를 가리킨다. 오른쪽에는 같은 모듈과 연결이 있지만 재사용 지시는 단위 테스트만 요구한다. 두 그림은 실행 결과가 아니라 지시 범위의 차이다.</a:t>
            </a:r>
          </a:p>
          <a:p xmlns:a="http://schemas.openxmlformats.org/drawingml/2006/main">
            <a:r>
              <a:t>3. (2:00–3:00 / Case) Project의 요구 변화와 재사용 지침의 미갱신을 구분한다.</a:t>
            </a:r>
          </a:p>
          <a:p xmlns:a="http://schemas.openxmlformats.org/drawingml/2006/main">
            <a:r>
              <a:t>4. (3:00–4:00 / Case) Agent가 실제로 무엇을 실행했는지 아직 보여주지 않았음을 짧게 알리고, 다음 요청을 보정해도 재사용 지침이 남는 질문으로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DEMO-04A / DEC-0021 / BEAT-038–039 / CONCEPTUAL. 단위+통합 테스트 가상 설정은 발표용 Pilot에 대한 최신 사용자 승인으로 확정됐다. 실제 Repository 이력이나 Trial 근거가 추가된 것은 아니다. 편집 가능한 native 범위 도식: production/source/presentation-revision/test-scope-visual.mjs. 모듈 A/B는 사례를 설명하는 일반 표기이며 실제 graypipe 모듈을 식별하지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승인된 가상 설정이다. 실제 Repository migration, 기존 graypipe Skill, Agent 실행, 테스트 누락 또는 PASS/FAIL 결과를 뜻하지 않는다. 지시의 범위를 비교하며 실제 실행 결과는 보여주지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Agent가 따르는 지침이 Project의 현재 절차와 맞는지 살핀다.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Project source의 변화와 stale artifact의 위치를 분리해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production/ACT_4.pptx의 S59와 production/preview/act4/S59.png 개념 도식을 사용한다. 구체적 명령·Runner 구현·테스트 수·실행 캡처를 추가하지 않는다. 각 모듈의 범위→왼쪽의 연결을 포함한 통합 범위→오른쪽에 남은 단위 테스트 지시를 차례로 가리킨다. 모듈의 실제 테스트가 실행됐거나 통합 테스트를 누락했다고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무엇이 바뀌었고 무엇이 남았는지 잠시 비교한다. Agent 탓이나 특정 실패를 가정하지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“이번 요청에 통합 테스트도 확인해 달라고 쓰면, 다음 작업이 읽을 Workflow까지 바뀔까요?” S60로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Demo 2분은 도식 공개에, Case 2분은 stale 간극을 해석하는 데 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production/ACT_4.pptx의 S59와 production/preview/act4/S59.png를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승인된 전체 이미지 후보의 반영과 로컬 렌더링 결과는 production/evaluation/FULL_DECK_IMAGE_EXPANSION.md에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S60 — Task 해결과 System 문제는 다르다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Task 해결과 System 문제는 다르다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4B  CONCEPTUAL STALE HARNESS / DEMO-04A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Case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이번 요청을 단위+통합 검증으로 보정할 수 있어도 재사용 Workflow의 단위 테스트 지시는 그대로 남을 수 있다. 현재 Task의 요청 범위와 재사용 절차의 변경을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“Prompt를 더 자세히 쓰면 이번 Task는 해결될까?”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Case) 이번 Prompt에 “통합 테스트도 확인해 줘”를 더하는 가능성을 소개한다.</a:t>
            </a:r>
          </a:p>
          <a:p xmlns:a="http://schemas.openxmlformats.org/drawingml/2006/main">
            <a:r>
              <a:t>2. (1:00–2:00 / Case) 왼쪽 이번 Task 요청은 넓힐 수 있지만 오른쪽 재사용 지침은 단위 테스트에 머무는 차이를 가리킨다.</a:t>
            </a:r>
          </a:p>
          <a:p xmlns:a="http://schemas.openxmlformats.org/drawingml/2006/main">
            <a:r>
              <a:t>3. (2:00–3:00 / Case) 요청 보정이 실제 성공을 입증하지 않으며 다음 Task의 절차까지 갱신하는 조치와 다르다고 정리한다.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 ·  conceptual consequence  ·  no execution result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가상 가능성만 제시한다. 구체적인 실패, 실행 결과, PASS/FAIL 또는 실제 Demo 이력은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이번 답을 고치는 것과 다음 작업의 절차까지 바꾸는 것은 다르다.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Task-level workaround와 durable system correction을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승인된 가상 설정에서 가능한 Task 보정과 재사용 지침을 비교한다. 실행 결과·누락·복구 성공을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“이번 Task가 풀려도 다음 Task의 지침은 달라졌나?”를 생각하게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그럼 Prompt, global rule, stale Workflow 중 어느 Layer를 살펴볼까?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Case 3분. 가능한 대응과 지시 범위에 머물고 실제 command 실패나 성공 결과를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S60와 production/preview/act4/S60.png를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S61 — 원인에 맞는 Layer를 고르기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원인에 맞는 Layer를 고르기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4C  FIX THE RIGHT LAYER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Demo 2분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Prompt patch는 현재 Task만 풀 수 있고 global rule은 중복·충돌을 만들 수 있다. Workflow가 원인으로 확인된 사례라면 그 source를 고친다.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“어디를 고치면 현재 Task와 다음 Task가 함께 달라질까?”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(0:00–0:30 / CAPTURED Demo) Prompt, 전역 규칙, 원인 Workflow의 세 행을 읽는다.</a:t>
            </a:r>
          </a:p>
          <a:p xmlns:a="http://schemas.openxmlformats.org/drawingml/2006/main">
            <a:r>
              <a:t>2. (0:30–1:15 / CAPTURED Demo) 각각 이번 요청만 바꾸는지, 넓은 곳에 새 규칙을 더하는지, 재사용 절차를 바꾸는지 비교한다.</a:t>
            </a:r>
          </a:p>
          <a:p xmlns:a="http://schemas.openxmlformats.org/drawingml/2006/main">
            <a:r>
              <a:t>3. (1:15–2:00 / CAPTURED Demo) Workflow가 원인으로 확인된 경우에만 마지막 선택이 맞다고 한정한다.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DEMO-11  ·  conceptual layer-selection synthesis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가상 사례 안의 선택 논리다. C는 workflow 원인이 확인된 경우에 맞으며 일반적인 정답이나 Product modification이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Prompt에 한 줄 더하기 전에 반복되는 원인이 있는 곳을 찾는다.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원인이 뒷받침하는 좁은 layer를 선택하고 중복 지침 가능성을 따진다.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Context, workflow, toolchain 또는 test environment 중 원인이 있는 layer를 살핀다는 정도의 pattern transfer만 가능하다.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실제 실행 캡처가 아닌 가상 선택지의 정적 재구성이다. 세 행의 변경 범위를 비교하고 실제 Product 수정 diff처럼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A/B/C의 효과 범위를 소리 없이 비교하게 한다. 원인이 정해졌다고 일반화하지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“앞에서는 원인이 확인됐을 때의 대응을 봤습니다. 이제 그 원인을 어떻게 확인할지 보겠습니다.” S62으로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CAPTURED 2분. Visual matrix만 설명하고 새 Product 근거를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S61와 production/preview/act4/S61.png를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S62 — 실패 지점과 원인 Layer 구분하기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실패 지점과 원인 Layer 구분하기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4C  FIX THE RIGHT LAYER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Demo 1분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증상은 Prompt나 실행 지점에 보일 수 있지만 원인은 Context, Workflow, Environment, Tool/Permission, Product code 등 다른 층에 있을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“실패가 보인 Layer와 원인이 있는 Layer는 항상 같을까?”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(0:00–0:45 / Lecture) S61의 선택은 원인 확인을 전제로 했음을 짚고, 이제 그 전제를 확인하는 방법을 본다고 안내한다. “요청한 검증이 충분한가?”라는 증상만으로 원인을 정할 수 없다고 설명한다.</a:t>
            </a:r>
          </a:p>
          <a:p xmlns:a="http://schemas.openxmlformats.org/drawingml/2006/main">
            <a:r>
              <a:t>2. (0:45–1:00 / Lecture) 현재 기준, 작업 절차, 실행 조건, 코드 동작을 다른 조사 대상으로 분리한다.</a:t>
            </a:r>
          </a:p>
          <a:p xmlns:a="http://schemas.openxmlformats.org/drawingml/2006/main">
            <a:r>
              <a:t>3. (1:00–2:00 / CAPTURED Demo) 오른쪽의 Context, Workflow, 환경·권한, 제품 코드 질문을 차례로 가리킨다. 어느 하나를 원인으로 확정하지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DEMO-11  ·  conceptual cause/layer synthesis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교육용 debugging heuristic이다. 고정 진단표나 단일 원인 mapping이 아니며, 가상 사례의 원인은 조사로 확인해야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실패 메시지만 보고 Prompt나 Agent를 탓하지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Observation, cause hypothesis, system change, rerun, evaluation을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Build, environment, permission, project code를 후보로 분리하는 pattern만 제공한다.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가상 원인 후보의 정적 도식이다. 왼쪽 질문에서 오른쪽 점선 후보 목록으로 시선을 옮긴다. 단일 인과 화살표나 실행 결과가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증상이 보여도 원인이 아직 미확정일 수 있음을 함께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S63에서 이 사례의 가정과 확인할 가설을 분리한다.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1분은 관점을 설명하고 CAPTURED visual 1분은 후보 layer만 보여준다.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S62와 production/preview/act4/S62.png를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S63 — 먼저 관찰하고, 그다음 가설을 세운다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먼저 관찰하고, 그다음 가설을 세운다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4C  CAUSE / CHANGE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실행된 절차, 현재 Project 문서, 재사용 Workflow, 실패가 나타난 위치를 먼저 살핀다. 관찰한 사실과 원인 판단은 별개다.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“원인을 추측하기 전에 무엇부터 확인해야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(0:00–0:45 / Case) 왼쪽의 현재 기준 단위+통합, 재사용 지침 단위만은 가상 설정에 주어진 정보라고 밝힌다.</a:t>
            </a:r>
          </a:p>
          <a:p xmlns:a="http://schemas.openxmlformats.org/drawingml/2006/main">
            <a:r>
              <a:t>2. (0:45–1:30 / Case) 오른쪽의 “오래된 Workflow가 원인일 수 있다”는 원인 가설로 구분한다.</a:t>
            </a:r>
          </a:p>
          <a:p xmlns:a="http://schemas.openxmlformats.org/drawingml/2006/main">
            <a:r>
              <a:t>3. (1:30–2:00 / Case) 실제 문제라면 실행 경로와 실제 읽은 지침을 대조해야 한다고 정리한다. 이 사례의 실제 실행 기록은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 ·  scenario assumptions and inference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화면의 “scenario assumption”도 실제 Trial 관찰이 아니다. stale Workflow는 점검할 가설이지 확정 사실이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원인을 정하기 전 현재 지침과 따라간 절차를 맞춰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증거와 cause hypothesis의 확신 수준을 분리한다.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왼쪽 가상 설정과 오른쪽 확인할 가설을 비교한다. OBSERVED 제품 기록이나 실제 실행 경로처럼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두 칸을 읽고 어떤 문장이 가정이며 어떤 문장이 추론인지 구분해 본다. 답변 제출은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Workflow 원인이 확인됐다면 어느 범위까지 바꿔야 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Case 2분. 가상 전제와 실제 Evidence를 구별한다.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S63와 production/preview/act4/S63.png를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S64 — Cause가 지지하는 최소 변경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Cause가 지지하는 최소 변경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4C  CAUSE / CHANGE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Case 1분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이 사례에서 stale Workflow가 원인으로 확인됐다고 가정하면 우선 그 Workflow를 갱신한다. 중복된 오래된 지침은 원인일 때만 제거한다.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“얼마나 바꿔야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“Workflow가 원인으로 확인됐다면”이라는 조건을 먼저 읽고, 원인과 변경 범위를 맞추는 원칙을 설명한다.</a:t>
            </a:r>
          </a:p>
          <a:p xmlns:a="http://schemas.openxmlformats.org/drawingml/2006/main">
            <a:r>
              <a:t>2. (1:00–2:00 / Case) 가상 Workflow의 검증 대상 지시를 단위에서 단위+통합으로 갱신하는 설계를 가리킨다. 불필요한 전역 규칙이나 다른 파일을 함께 바꿀 이유는 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 ·  conceptual cause-to-change path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가상 사례의 조건부 대응이다. 실제 Product 변경이나 Trial 결과가 아니며, “최소”는 무조건 적게 바꾸라는 뜻이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새 규칙을 더하기 전에 실제 원인이 있는 곳을 고친다.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Cause가 지지하는 가장 작은 durable change를 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화면의 두 지침은 가상 Before/After 설계다. 실제 변경 diff나 실행 결과가 아니다. 원인 확인 조건을 계속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조건이 바뀌면 수정 대상도 바뀔 수 있음을 잠시 생각하게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변경 뒤 같은 Task를 다시 통과하면 Harness는 충분히 검증된 걸까?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1분은 원칙, Case 1분은 가상 workflow 변화에 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S64와 production/preview/act4/S64.png를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S65 — 같은 Task의 재실행만으로 충분할까?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같은 Task의 재실행만으로 충분할까?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4D  EVALUATION &amp; REGRESSION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Case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같은 Task의 재실행은 필요하지만 그것만으로 변경이 인접 작업에 영향을 주지 않는지는 알 수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“Failure가 사라졌으면 Harness fix가 끝난 걸까?”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왼쪽은 이번 작업의 요청 범위를 다시 다루는지 묻는 검증이라고 설명한다.</a:t>
            </a:r>
          </a:p>
          <a:p xmlns:a="http://schemas.openxmlformats.org/drawingml/2006/main">
            <a:r>
              <a:t>2. (1:00–2:30 / Case) 오른쪽은 바뀐 지침이 다른 유효한 작업을 방해하는지 묻는 질문임을 비교한다.</a:t>
            </a:r>
          </a:p>
          <a:p xmlns:a="http://schemas.openxmlformats.org/drawingml/2006/main">
            <a:r>
              <a:t>3. (2:30–4:00 / Case) 두 질문의 범위가 다르므로 대표 작업을 고르는 평가 설계가 필요하다고 연결한다. 어느 결과도 통과했다고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 ·  designed rerun and system evaluation path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이 재실행과 확장 검증은 conceptual design이다. 실행 결과, pass count, regression success를 보여주지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이번 작업이 다시 되는지와 다른 작업도 안전한지는 별도 질문이다.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Task recovery는 필요 조건일 수 있어도 Harness-level validation을 대신하지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같은 build/test 시나리오 재실행은 필요하지만 전체 회귀 위험을 모두 해소하지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이번 작업과 다른 작업의 검증 질문 두 영역을 비교한다. 실제 재실행이나 회귀 성공 결과는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두 확인 질문의 범위가 다른 점을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변경이 닿는 다른 작업 표면은 어떤 대표 Task로 볼까?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 + Case 3분. 구체적인 pass/fail을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S65와 production/preview/act4/S65.png를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S66 — 대표 작업으로 변경 범위를 확인하기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대표 작업으로 변경 범위를 확인하기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4D  EVALUATION &amp; REGRESSION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Demo 5분 (VISUAL / CAPTURED conceptual matrix)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평가 작업의 수보다 서로 다른 사용 표면과 회귀 위험을 대표하는지가 중요하다. EVAL-01/02의 별도 과거 관찰 참고와 EVAL-03/04의 설계 사례를 구분하며, 이 Workflow 변경 뒤의 실행 결과는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“무엇을 대표 Task로 고를까?”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VISUAL Demo) “작업 수보다 서로 다른 위험을 덮는가?”라는 기준을 연다.</a:t>
            </a:r>
          </a:p>
          <a:p xmlns:a="http://schemas.openxmlformats.org/drawingml/2006/main">
            <a:r>
              <a:t>2. (1:00–2:00 / VISUAL Demo) 버그 수정은 동작 계약, 성능 변경은 측정과 검증 범위를 확인하기 위한 선택임을 짚는다. 우측 실선의 TRIAL-002와 STATE-04-PERF는 별도 과거 관찰 참고다.</a:t>
            </a:r>
          </a:p>
          <a:p xmlns:a="http://schemas.openxmlformats.org/drawingml/2006/main">
            <a:r>
              <a:t>3. (2:00–4:00 / VISUAL Demo) 문서만 수정하는 작업에는 불필요한 절차가 강요되지 않는지, 작은 리팩터링에는 유효한 다른 작업이 방해받지 않는지 묻는다. 두 행은 점선의 설계 사례이며 결과가 없다.</a:t>
            </a:r>
          </a:p>
          <a:p xmlns:a="http://schemas.openxmlformats.org/drawingml/2006/main">
            <a:r>
              <a:t>4. (4:00–5:00 / VISUAL Demo) 네 작업 모두 이번 가상 Workflow 변경 후 수행된 평가가 아님을 말하고 대표성을 기준으로 회수한다.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각 행의 상태를 먼저 읽는다. EVAL-01/02의 과거 관찰 참고는 새 Workflow 평가 결과가 아니며 EVAL-03/04는 설계 사례다. 네 행 모두 변경 후 평가 PASS/FAIL이나 완료 결과를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DEMO-10  ·  EVAL-01/02 prior Product references; EVAL-03/04 designed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EVAL-01/02는 별도 Product task chain의 기존 참고 Evidence다. EVAL-03/04는 설계 사례이며 결과가 없다. 이번 stale-Workflow 변경 뒤의 PASS/FAIL 또는 새 Trial은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대표 작업은 다른 사용 방식을 확인하도록 골라야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변경이 닿는 흔한 표면, 알려진 회귀 위험, 비교 대상이 없을 수 있는 task를 나눠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Contextual only: 대표 작업 선택은 Vision build, benchmark, docs 같은 surface에 적용할 수 있지만 별도 C++ case는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중앙은 네 평가 작업의 선정 이유, 우측은 분리된 참고 근거/설계 상태다. EVAL-01/02의 과거 관찰 참고와 EVAL-03/04의 설계를 선과 색으로 구분한다. 새 실행·PASS/FAIL 결과는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작업 이름보다 가운데 확인 질문을 읽도록 유도한다. 평가 작업을 많이 모으는 대신 어떤 위험을 보려는지 생각하게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실패마다 규칙을 하나씩 더하면 평가 범위가 커지기만 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Demo 5분은 static matrix 설명에 사용한다. 네 EVAL을 실제로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S66와 production/preview/act4/S66.png를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S67 — Harness도 특정 실패에 맞춰 과적합될 수 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Harness도 특정 실패에 맞춰 과적합될 수 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4D  EVALUATION &amp; REGRESSION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4분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실패마다 전역 규칙을 덧붙이면 Harness가 비대해지거나 충돌하고 특정 Task에만 좁게 맞춰질 수 있다. 원인을 확인하고 대표 작업을 평가하며 불필요한 규칙은 정리한다.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“한 번 실패했다고 규칙을 계속 추가하면 어떻게 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실패마다 규칙을 더하는 상황을 가정한다.</a:t>
            </a:r>
          </a:p>
          <a:p xmlns:a="http://schemas.openxmlformats.org/drawingml/2006/main">
            <a:r>
              <a:t>2. (1:00–2:30 / Lecture) 규칙 누적, 충돌, 특정 작업에만 맞춤 세 비용을 짚는다. 통계적 ML 과적합과 동일한 현상이라고 말하지 않는다.</a:t>
            </a:r>
          </a:p>
          <a:p xmlns:a="http://schemas.openxmlformats.org/drawingml/2006/main">
            <a:r>
              <a:t>3. (2:30–4:00 / Lecture) 원인 확인, 대표 작업 평가, 불필요한 규칙 정리라는 하단 판단 기준으로 돌아온다.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 ·  conceptual regression / maintenance model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“Overfit”은 교육용 비유다. ML 통계적 overfitting과 같은 현상이라고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규칙 수를 늘리기보다 반복 원인을 살핀다.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대표 task에서의 효과와 유지 비용을 같이 평가하고 obsolete rule을 제거한다.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없음. 반복 실패→규칙 누적 도식은 teaching model이며 실제 history가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누적 규칙이 낳을 수 있는 bloat, conflict, narrow fit을 같이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“지금까지 따로 본 관찰·원인 판단·변경·평가를, 다음 작업까지 이어지는 하나의 운영 순서로 묶겠습니다.” S68으로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4분. 통계적 ML overfitting과 동일시하거나 보편 법칙으로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S67와 production/preview/act4/S67.png를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S68 — Feedback을 System Change와 Evaluation으로 잇기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Feedback을 System Change와 Evaluation으로 잇기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4E  LOOP MENTAL MODEL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11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9분 + Demo 2분 (VISUAL)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실행 결과와 반복되는 마찰을 관찰하고 원인과 재발 가능성을 판단한 뒤 적절한 System을 바꾸고 결과를 다시 평가할 때 Feedback은 System Improvement로 이어진다.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“앞에서 나누어 본 판단을 어떤 순서로 이어야 다음 작업도 달라질까?”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(0:00–2:00 / Lecture) 앞에서 따로 본 판단을 다섯 단계 운영 순서로 통합한다고 안내한다. 실행과 관찰의 질문을 구분하고, 가상 사례의 지시 범위 비교가 실행 결과와 다름을 짚는다.</a:t>
            </a:r>
          </a:p>
          <a:p xmlns:a="http://schemas.openxmlformats.org/drawingml/2006/main">
            <a:r>
              <a:t>2. (2:00–5:00 / Lecture) 원인 판단에는 실행 경로·선택한 지침 등 추가 확인이 필요함을 S63의 논리로 회수한다.</a:t>
            </a:r>
          </a:p>
          <a:p xmlns:a="http://schemas.openxmlformats.org/drawingml/2006/main">
            <a:r>
              <a:t>3. (5:00–7:00 / Lecture) 시스템 변경은 원인 Layer를 바꾸는 일이며, Prompt 보정과 재사용 Workflow 갱신의 범위가 다름을 회수한다.</a:t>
            </a:r>
          </a:p>
          <a:p xmlns:a="http://schemas.openxmlformats.org/drawingml/2006/main">
            <a:r>
              <a:t>4. (7:00–9:00 / Lecture) 같은 작업과 다른 대표 작업의 재평가가 답하는 질문을 비교한다. 새 결과는 제시하지 않는다.</a:t>
            </a:r>
          </a:p>
          <a:p xmlns:a="http://schemas.openxmlformats.org/drawingml/2006/main">
            <a:r>
              <a:t>5. (9:00–11:00 / VISUAL Demo) 정적 도식의 실행→관찰→원인 판단→시스템 변경→재평가를 순서대로 가리킨다. 자동 학습을 뜻하지 않는 교육용 운영 모델임을 닫고 실제 Meta 기록으로 전환한다.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기존 가상 단위/통합 사례를 다섯 단계에 대응한다. 실행 범위 확인→현재 지시와 기준 비교→Workflow 원인 가설 확인→확인된 원인 Layer의 지시 갱신→같은/다른 대표 작업 재평가 순서다. 단계별 질문만 가리키며 실제 실행·변경 성공·새 평가 결과를 채우지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DEC-0023  ·  course operational model  ·  no product loop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이 교육의 operational model이다. 자동 학습, Agent self-learning, 무한 반복, observed Product loop를 뜻하지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같은 수정을 되풀이하는 대신 다음 작업에도 영향을 주는 System을 살핀다.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자동화와 별개로 cause, recurrence, change layer, evaluation을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5단계 도식과 발표자 지목을 사용한다. R1–R5 내부 번호나 운영 시간은 청중 화면에 표시하지 않는다. 자동 애니메이션·실행·모델 학습 주장은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“Feedback은 어느 순간 System change가 되는가?”를 생각하게 하고, 응답 제출은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“이번에는 실제 교육 제작 기록에서 Trial의 평가·보고 기준을 살펴보겠습니다. 어떤 관찰이 그 기준을 돌아보게 했는지부터 보겠습니다.” S69로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9분, 마지막 VISUAL Demo 2분. R1–R5는 approximate reveal cue이며 전체가 항상 표시되는 정적 도식으로 진행 가능.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S68와 production/preview/act4/S68.png를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S69 — 실제 제작 기록: TRIAL-006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실제 제작 기록: TRIAL-006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4F  OBSERVED META LOOP / DEMO-04B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Demo 2분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TRIAL-006은 Codex CLI에서 수행한 실제 성능 조사다. Global Skills와 시작 경고가 함께 관찰되어 Prompt-only attribution은 PARTIAL이다.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“실제 제작 과정에서 Trial의 평가·보고 기준을 돌아보게 한 관찰은 무엇이었나?”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(0:00–0:30 / CAPTURED Demo) OBSERVED META 표식과 이중선을 가리키며 앞의 가상 사례를 닫고 실제 교육 제작 기록으로 전환한다. 이번에 살펴볼 System은 Trial의 평가·보고 기준이라고 안내하고, 그 기준을 돌아보게 한 TRIAL-006의 관찰부터 연다.</a:t>
            </a:r>
          </a:p>
          <a:p xmlns:a="http://schemas.openxmlformats.org/drawingml/2006/main">
            <a:r>
              <a:t>2. (0:30–1:15 / CAPTURED Demo) 성능 작업 요청, Global Skill이 관여한 실행 환경, Prompt만의 효과로 분리하기 어려운 결과 해석의 세 영역을 짚는다.</a:t>
            </a:r>
          </a:p>
          <a:p xmlns:a="http://schemas.openxmlformats.org/drawingml/2006/main">
            <a:r>
              <a:t>3. (1:15–2:00 / CAPTURED Demo) PARTIAL은 결과가 없다는 뜻이 아니라 원인 귀속의 한계라고 열고 다음 장에서 두 질문을 나눈다.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상단의 Trial 평가·보고 기준은 이번 실제 사례에서 살펴볼 대상을 안내한다. 이 장은 실제 사건을 여는 화면으로, TRIAL-006 요청과 함께 관찰된 Global Skill/시작 경고를 먼저 짚고 인과 해석의 두 질문은 다음 장으로 넘긴다. 앞의 가상 stale 사례와 별개임을 이중선과 표식으로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TRIAL-006  ·  DEC-0016  ·  TRIAL-007/008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OBSERVED_META: 교육자료 제작·Trial 평가 기록이다. Demo Product change나 DEMO-04A 원인/수정 사례가 아니다. Codex CLI evidence를 현재 Desktop으로 일반화하지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결과가 있다는 사실과 그 원인을 안다는 것은 다르다.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ambient global environment가 있는 실행에서 attribution boundary를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TRIAL-006 기록을 재구성한 native 도식이다. 작업 요청→실행 환경→결과 해석을 차례로 읽는다. 실제 terminal screenshot이 아니며 현재 Desktop 동작을 주장하지 않는다. Hook 경고는 효과 관찰을 뜻하지 않고 MCP 시작 경고는 작업 결과를 뜻하지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이 시점에 Evidence grammar가 바뀌었음을 보고 Conceptual case와 구별한다.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이 결과를 Task Prompt만의 효과라고 말할 수 있을까?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CAPTURED 2분. 실제 기록의 정적 요약을 사용하고 새 제품 실행은 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S69와 production/preview/act4/S69.png를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S70 — 결과의 타당성과 원인 귀속은 별개다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결과의 타당성과 원인 귀속은 별개다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4F  OBSERVED META LOOP / DEMO-04B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Demo 4분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resize_nearest 측정은 기록된 코드·입력·runtime·host 범위에서 유효하지만, global Harness 영향 때문에 전체 workflow를 Prompt 하나의 효과로 분리할 수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“측정 결과가 유효해도 원인을 Prompt 하나로 좁힐 수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CAPTURED Demo) 이번 수치는 S47의 image_statistics Benchmark와 별개인 TRIAL-006 resize_nearest 기록임을 먼저 짚는다. 왼쪽 “측정 결과는 유효한가?”와 오른쪽 “무엇이 결과를 만들었나?”를 독립된 질문으로 읽는다.</a:t>
            </a:r>
          </a:p>
          <a:p xmlns:a="http://schemas.openxmlformats.org/drawingml/2006/main">
            <a:r>
              <a:t>2. (1:00–2:00 / CAPTURED Demo) input/output hash와 같은 조건의 7회 one-call 측정 기록을 확인한다. 144.2→33.5 ms/call median은 작은 보조정보다. 합성 640×480 gray(max4095)→960×720, CPython 3.9.6, macOS 26.6.2 arm64 범위를 말한다.</a:t>
            </a:r>
          </a:p>
          <a:p xmlns:a="http://schemas.openxmlformats.org/drawingml/2006/main">
            <a:r>
              <a:t>3. (2:00–3:15 / CAPTURED Demo) performance-goal Global Skill이 evaluator·ledger·threshold에 관여한 기록을 설명한다. 수치 변화의 직접 원인이라고 단정하지 않는다.</a:t>
            </a:r>
          </a:p>
          <a:p xmlns:a="http://schemas.openxmlformats.org/drawingml/2006/main">
            <a:r>
              <a:t>4. (3:15–4:00 / CAPTURED Demo) Hook 경고와 효과, MCP 시작 오류와 작업 결과를 구분하고, 결과와 원인 해석을 별도로 기록해야 한다고 닫는다.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왼쪽의 결과 타당성과 오른쪽의 원인 귀속을 각각 별도 질문으로 읽는다. 실제 hash와 측정 범위는 왼쪽에, Global 영향과 PARTIAL은 오른쪽에 대응한다. 수치를 새로운 실행 결과로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TRIAL-006  ·  7 one-call samples  ·  disposable worktree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144.2 → 33.5 ms/call median은 기록된 synthetic 640×480 grayscale input (max 4095) → 960×720, CPython 3.9.6, macOS 26.6.2 arm64에 한정한다. Prompt-only attribution은 PARTIAL. 4.30×/76.8% hero metric은 사용하지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숫자가 있어도 무엇이 결과를 만들었는지 자동으로 알 수는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Result validity와 causal attribution의 확신 수준을 따로 보고한다.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필요하면 같은 원리를 C++ benchmark의 입력, compiler, host, toolchain 범위로 transfer하되 새 사례로 확장하지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CAPTURED trial summary. Input/output SHA-256 guards matched; seven one-call samples. `performance-goal` global Skill influenced evaluator/ledger/threshold, but is not proven the direct cause of the metric. Hook warnings do not prove hook effect; MCP startup error does not evidence task result.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왼쪽은 확인된 result validity, 오른쪽은 남은 attribution uncertainty를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이 한계가 후속 Trial의 평가 방식에 어떤 변경을 만들었을까?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CAPTURED Demo 4분. 성능 숫자를 성과 발표처럼 연출하거나 일반화하지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S70와 production/preview/act4/S70.png를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S71 — 평가와 보고 규칙을 Evidence에 맞추다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평가와 보고 규칙을 Evidence에 맞추다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4F  OBSERVED META LOOP / DEMO-04B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Demo 2분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DEC-0016은 TRIAL-006을 PARTIAL로 보존하고 clean isolation을 진행 조건으로 요구하지 않으며, 후속 CLI Trial에서 관찰된 global influence를 기록하도록 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“Prompt 효과를 분리할 수 없다면 다음 Trial은 어떻게 기록해야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기존 평가가 작업·Repository 중심이어서 주변 Harness 영향 설명이 충분하지 않았다고 짚는다.</a:t>
            </a:r>
          </a:p>
          <a:p xmlns:a="http://schemas.openxmlformats.org/drawingml/2006/main">
            <a:r>
              <a:t>2. (1:00–2:15 / CAPTURED Demo) 우측 후속 기록 기준에서 관찰한 Skill, 경고와 실제 사용 여부, 결과의 해석 범위를 차례로 가리킨다.</a:t>
            </a:r>
          </a:p>
          <a:p xmlns:a="http://schemas.openxmlformats.org/drawingml/2006/main">
            <a:r>
              <a:t>3. (2:15–3:00 / CAPTURED Demo) DEC-0016은 기존 결과를 PARTIAL로 보존하고 관찰된 조건을 함께 남기는 결정이었다고 정리한다. Product 코드/Skill 수정이나 격리 환경 구축은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 장은 DEC-0016에서 바뀐 평가·보고 기준에 집중한다. 이전 기록의 빈틈→이후에 남길 환경 관찰 순서로 읽고 제품 코드나 Demo Skill 변경과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TRIAL-006  →  DEC-0016  ·  evaluation / reporting policy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실제 Training Production evaluation/reporting governance 변화다. Product code 또는 Demo Skill을 수정하지 않았고 clean isolation을 구축했다고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환경 조건과 수행 도구가 다르면 결과 설명도 그 경계를 밝혀야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미통제 조건을 숨기지 않고 Trial 결과의 사용 범위를 제한한다.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실제 평가·보고 결정의 의미를 Before/After로 재구성했다. 원문 직접 인용이나 Product diff로 표현하지 않는다. PARTIAL 보존과 관찰된 Global influence 기록을 변경 내용으로 한정한다.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무엇이 바뀌었는지와 무엇이 바뀌지 않았는지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이 기준은 TRIAL-007/008에 어떻게 적용됐을까?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 + CAPTURED 2분. Trial/reporting boundary에만 머문다.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S71와 production/preview/act4/S71.png를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S72 — 후속 기록은 개선됐지만 완전하지 않았다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후속 기록은 개선됐지만 완전하지 않았다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4F  OBSERVED META LOOP / DEMO-04B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TRIAL-007은 global influence를 기록했지만 MCP report와 stderr가 불일치한다. TRIAL-008은 repository Skill 호출과 global influence를 별도로 기록했다. 품질 향상은 측정되지 않았다.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“새로운 기록 규칙이 모든 불확실성을 해결했을까?”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TRIAL-007의 최종 보고 “MCP 경고 없음”과 보존된 stderr의 Nimble AuthRequired가 서로 맞지 않는 점을 가리킨다. 화면 문구는 원문 의미의 요약이다.</a:t>
            </a:r>
          </a:p>
          <a:p xmlns:a="http://schemas.openxmlformats.org/drawingml/2006/main">
            <a:r>
              <a:t>2. (1:00–2:00 / Case) 오류 표시는 MCP 작업 결과를 뜻하지 않음을 명확히 한다. TRIAL-008은 Repository Skill 발견·명시 호출과 Global influence를 따로 기록한 Codex CLI 0.154.0 사례다.</a:t>
            </a:r>
          </a:p>
          <a:p xmlns:a="http://schemas.openxmlformats.org/drawingml/2006/main">
            <a:r>
              <a:t>3. (2:00–3:00 / Case) 기록 경계가 명확해진 부분과 남은 불일치를 함께 보존한다. 완전한 목록이나 측정된 품질 개선이라고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TRIAL-007 최종 보고와 보존된 stderr를 대조한다. Nimble AuthRequired는 인증 필요 경고라는 뜻으로만 풀고 MCP 작업 결과나 도구 사용 성공으로 확대하지 않는다. 이후 TRIAL-008에서 호출과 Global influence를 따로 기록한 사실을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TRIAL-007 / TRIAL-008  ·  DEC-0016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적용은 부분적이다. 완전한 environment inventory, 완벽한 report, 측정된 Trial-quality improvement를 주장하지 않는다. TRIAL-007의 stderr에는 Nimble AuthRequired가 있으나 MCP task result는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개선된 기록도 빠진 점과 불일치가 있는지 다시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보고, stderr, global influence inventory를 서로 대조하고 claim boundary를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위쪽 두 행은 TRIAL-007 보고/stderr의 의미 대조이고, 아래 행은 TRIAL-008의 별도 기록을 요약한다. 실제 로그 캡처로 위장하지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후속 기록이 무엇을 명확히 했고 무엇을 남겼는지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S73에서 실제로 바뀐 System과 미확정 사항을 한 번에 회수한다.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 + Case 2분. 불일치와 unknown을 숨기지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S72와 production/preview/act4/S72.png를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S73 — 실제 Meta Loop에서 바뀐 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실제 Meta Loop에서 바뀐 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4F  OBSERVED META LOOP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TRIAL-006의 ambient influence 및 PARTIAL attribution은 DEC-0016의 Trial evaluation/reporting 변경으로 이어졌고 TRIAL-007/008에서 기록 경계가 부분적으로 적용됐다. Product code가 바뀐 것은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“무엇이 바뀌었고, 무엇은 아직 모르는가?”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TRIAL-006의 관찰→DEC-0016→후속 TRIAL-007/008이라는 실제 흐름을 한 문장으로 회수한다.</a:t>
            </a:r>
          </a:p>
          <a:p xmlns:a="http://schemas.openxmlformats.org/drawingml/2006/main">
            <a:r>
              <a:t>2. (1:00–2:00 / Case) 왼쪽에서 바뀐 대상이 교육 제작의 평가·보고 기준임을 짚는다.</a:t>
            </a:r>
          </a:p>
          <a:p xmlns:a="http://schemas.openxmlformats.org/drawingml/2006/main">
            <a:r>
              <a:t>3. (2:00–3:00 / Case) 오른쪽의 원인별 효과, 환경 목록의 완전성, Trial 품질 향상은 미확인이라고 남기고 C++ 전이로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 장은 Meta 사례의 남은 한계를 닫는다. 실제 바뀐 평가·보고 기준과 여전히 미확인인 원인별 효과·환경 목록·품질 향상을 나누고 S74의 적용 질문으로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TRIAL-006  →  DEC-0016  →  TRIAL-007/008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후속 report에는 불일치가 남고 quality effect는 미측정이다. DEMO-04A conceptual stale workflow와 합치지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실제로 바뀐 것과 아직 모르는 점을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Loop의 system change는 평가·보고 거버넌스일 수 있으나 outcome은 재평가해야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실제로 바뀐 것과 아직 확인 못한 것의 두 영역을 비교한다. 앞의 Timeline을 다시 길게 강의하거나 가상 Workflow의 실제 복구로 합치지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Changed/Unknown 두 칸을 비교하며 Meta case를 정리한다.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“평가 체계를 바꾼 뒤에도 확인할 것이 남았습니다. 이 원리를 C++ Vision 업무로 옮겨, 환경이 달라졌을 때 검증 조건을 어떻게 다시 볼지 생각해 보겠습니다.” S74로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 + Case 2분. preceding slides를 다시 풀어 설명하지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S73와 production/preview/act4/S73.png를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S74 — Project와 환경이 바뀌면 검증도 다시 본다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S74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Project와 환경이 바뀌면 검증도 다시 본다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4 / 4G  C++ VISION TRANSFER  /  4H DISCUSSION &amp; TRANSITION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20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7분 + Reflection 2분 + Q&amp;A 7분 + Transition 4분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Project나 환경이 바뀌면 기존 performance 가정과 verification 절차가 여전히 맞는지 다시 확인한다. 반복되는 마찰은 관찰하고 원인을 찾아 관련 layer를 바꾼 뒤 benchmark와 regression으로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“같은 문제가 두 번째로 생기면 다시 Prompt를 고칠까, System을 살펴볼까?”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(0:00–2:00 / Case) 앞의 평가 원리를 업무의 검증 조건에 적용해 본다고 안내하고 GPU·빌드·측정 조건이 달라진 상황을 가정한다. 실제 C++ 사건이나 구체적 버전 조합을 주장하지 않는다.</a:t>
            </a:r>
          </a:p>
          <a:p xmlns:a="http://schemas.openxmlformats.org/drawingml/2006/main">
            <a:r>
              <a:t>2. (2:00–4:30 / Case) 그림의 입력·코드·장치와 기존 가정·측정 조건 질문을 가리킨다. 기존 판단이 어떤 조건에서 맞았는지, 입력과 실행 조건이 비교 가능한지 묻는다. 관찰된 성능 저하나 숫자를 만들지 않는다.</a:t>
            </a:r>
          </a:p>
          <a:p xmlns:a="http://schemas.openxmlformats.org/drawingml/2006/main">
            <a:r>
              <a:t>3. (4:30–7:00 / Case) 출력 그림과 기능 계약 질문에서 성능과 함께 다시 확인할 동작 범위를 살핀다. 반복 신호→원인 Layer 조사→관련 시스템 변경→Benchmark/Regression 재확인으로 연결한다.</a:t>
            </a:r>
          </a:p>
          <a:p xmlns:a="http://schemas.openxmlformats.org/drawingml/2006/main">
            <a:r>
              <a:t>4. (7:00–9:00 / Reflection) 하단 질문을 가리켜 자기 업무의 반복 마찰 하나를 마음속으로 떠올리게 한다. 기록·답변·발표는 요구하지 않는다.</a:t>
            </a:r>
          </a:p>
          <a:p xmlns:a="http://schemas.openxmlformats.org/drawingml/2006/main">
            <a:r>
              <a:t>5. (9:00–16:00 / Q&amp;A) 질문을 받는다. 질문이 없으면 아래 Fallback 질문을 하나씩 골라 강사가 짧게 해설한다. 새로운 기술 사례나 제품 설정 강의를 열지 않는다.</a:t>
            </a:r>
          </a:p>
          <a:p xmlns:a="http://schemas.openxmlformats.org/drawingml/2006/main">
            <a:r>
              <a:t>6. (16:00–20:00 / Transition) 16분에 질문을 마감한다. 가정→측정 조건→기능 계약 세 질문을 전체 Story의 Context→Harness→Loop와 연결하고 S75의 여정 회수로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왼쪽 그림에서 조건 변화만 확인하고 오른쪽 01 기존 가정→02 측정 조건→03 기능 계약을 위에서 아래로 짚는다. 마지막에만 하단 큰 질문으로 시선을 옮긴다. 7–9분 Reflection, 9–16분 Q&amp;A, 16–20분 Transition은 그대로이며 정적 화면을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BEAT-059 / TRANS-012  ·  teaching transfer, not observed C++ incident 삽화 출처: prototype/image-illustration-pilot/assets/S72.png, built-in image_gen, 2026-10-18. 생성 프롬프트: prototype/image-illustration-pilot/PROMPTS.md. 실제 화면·현장 사진·관찰 자료가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COURSE MODEL / C++ VISION TRANSFER. Toolchain, CUDA/GPU architecture, build/benchmark configuration은 hypothetical teaching context이며 실제 Demo history가 아니다. 구체적인 Windows/shell/IDE/hardware setup을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같은 문제가 반복되면 Prompt 외에도 Project와 workflow를 살핀다.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Project/environment 변화가 verification assumptions에 미치는 영향을 평가한다.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Primary bridge. 변화한 조건에서 기존 tuning 가정과 benchmark/regression 조건을 다시 확인하는 engineering pattern만 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화면과 speaker-led highlighting을 사용한다. 화면에는 세 확인 대상과 성찰 질문을 두고, 20분 운영표는 Notes에만 둔다. Live 프로젝트·제품 실행·애니메이션 의존 없음. 정적 삽화의 입력→처리 코드→실행 장치→출력을 차례로 가리킨다. 황색 장치·설정 표시는 검토할 조건의 변화이며 실패 원인이 확정됐다는 뜻이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7–9분 개인 Reflection은 답변·공유 없이 진행한다. 9–16분 Q&amp;A에서는 실제 회사 환경의 검증되지 않은 해결책을 단정하지 않고 어떤 조건을 확인해야 하는지로 답한다.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“이제 처음의 질문부터 Task·Context·Harness·Loop까지, 어떤 문제에 대응해 왔는지 전체 Story를 다시 연결하겠습니다.” ACT 5 S75으로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0–7 Case 7분, 7–9 Reflection 2분, 9–16 Q&amp;A 7분, 16–20 Transition 4분으로 20분을 유지한다. Cutoff cue: “이 질문은 여기까지 정리하고, 이제 처음 문제부터 지금의 Loop까지 연결해 보겠습니다.” 실제 20분 리허설은 수행하지 않았다. 0–2분 전체 그림/변경 표식, 2–4:30분 입력·코드·장치의 가정과 비교 조건, 4:30–7분 출력·기능 계약을 설명한다. 이후 7–9분 Reflection, 9–16분 Q&amp;A, 16–20분 Transition을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PPT/PNG를 기본 경로로 사용한다. Q&amp;A가 없으면 ①“예전 Benchmark와 비교하기 전에 어떤 조건을 맞춰야 할까요?” ②“성능이 달라졌을 때 기능 계약은 무엇으로 다시 확인할까요?” ③“두 번째로 같은 문제가 생기면 Prompt 외에 무엇을 살펴볼까요?” 중 하나씩 선택한다. 응답을 요구하지 않고 기존 세 질문의 범위에서 강사가 짧게 해설한다. 정적 파일: production/preview/act4/S74.png 및 production/preview/full/S74.png.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20478a25d646a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cb9a6b60dd4a5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fefd523deb468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b4f5ee172648b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a83cbd9c6d4a4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cc4b29b9f1643a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0E9C35A-0CCA-4301-A780-087CA33AC1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FE0CF2A3-6E80-42A0-8524-9AF1F818F2C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C5E0F6A-D332-4B7E-B132-76951491014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A216DF1-4CE1-4F76-B2E3-152AD27DC39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D3A9EBB-B057-4EB8-8B02-1BC4D8A2F83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7D79E1C-7ED2-4261-9D98-6D4C90DB176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56E197D-ED57-4B4C-80A2-D78CAC40EF3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0D864DA4-03F1-4420-9E97-02CD081C32E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44DF33F-EB15-4CD3-AFAD-089A53065F9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AD5000C-0788-4EC0-B2F5-340E009B513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69204ad506449f5" /><Relationship Type="http://schemas.openxmlformats.org/officeDocument/2006/relationships/slideLayout" Target="/ppt/slideLayouts/slideLayout1.xml" Id="R34ae9f016f074ebd" /><Relationship Type="http://schemas.openxmlformats.org/officeDocument/2006/relationships/slideLayout" Target="/ppt/slideLayouts/slideLayout2.xml" Id="Rfb9b1bd7e9b145bc" /><Relationship Type="http://schemas.openxmlformats.org/officeDocument/2006/relationships/slideLayout" Target="/ppt/slideLayouts/slideLayout3.xml" Id="Re243dac9eb154711" /><Relationship Type="http://schemas.openxmlformats.org/officeDocument/2006/relationships/slideLayout" Target="/ppt/slideLayouts/slideLayout4.xml" Id="R73cd2f71494e4d51" /><Relationship Type="http://schemas.openxmlformats.org/officeDocument/2006/relationships/slideLayout" Target="/ppt/slideLayouts/slideLayout5.xml" Id="R1df1ed80d553437e" /><Relationship Type="http://schemas.openxmlformats.org/officeDocument/2006/relationships/slideLayout" Target="/ppt/slideLayouts/slideLayout6.xml" Id="R4105721c7bbc4ae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4ae9f016f074ebd"/>
    <p:sldLayoutId xmlns:r="http://schemas.openxmlformats.org/officeDocument/2006/relationships" id="2147483650" r:id="Rfb9b1bd7e9b145bc"/>
    <p:sldLayoutId xmlns:r="http://schemas.openxmlformats.org/officeDocument/2006/relationships" id="2147483651" r:id="Re243dac9eb154711"/>
    <p:sldLayoutId xmlns:r="http://schemas.openxmlformats.org/officeDocument/2006/relationships" id="2147483652" r:id="R73cd2f71494e4d51"/>
    <p:sldLayoutId xmlns:r="http://schemas.openxmlformats.org/officeDocument/2006/relationships" id="2147483653" r:id="R1df1ed80d553437e"/>
    <p:sldLayoutId xmlns:r="http://schemas.openxmlformats.org/officeDocument/2006/relationships" id="2147483654" r:id="R4105721c7bbc4ae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42425df153a4f8d" /><Relationship Type="http://schemas.openxmlformats.org/officeDocument/2006/relationships/notesSlide" Target="/ppt/notesSlides/notesSlide1.xml" Id="R1d926ee94f8b497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4becd05d3c644ef" /><Relationship Type="http://schemas.openxmlformats.org/officeDocument/2006/relationships/notesSlide" Target="/ppt/notesSlides/notesSlide2.xml" Id="R8bcf94d23a9a4aa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6f60fb0f5ba4356" /><Relationship Type="http://schemas.openxmlformats.org/officeDocument/2006/relationships/notesSlide" Target="/ppt/notesSlides/notesSlide3.xml" Id="Rd3f14aac3d4c4e2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70b5961b55a4bab" /><Relationship Type="http://schemas.openxmlformats.org/officeDocument/2006/relationships/notesSlide" Target="/ppt/notesSlides/notesSlide4.xml" Id="R82100c987031493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11ac61f9f6447c9" /><Relationship Type="http://schemas.openxmlformats.org/officeDocument/2006/relationships/notesSlide" Target="/ppt/notesSlides/notesSlide5.xml" Id="Re9ff15dc5252464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cba473241b1476e" /><Relationship Type="http://schemas.openxmlformats.org/officeDocument/2006/relationships/notesSlide" Target="/ppt/notesSlides/notesSlide6.xml" Id="R93ac15d6b7b14da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eb364a1b0ad4dbc" /><Relationship Type="http://schemas.openxmlformats.org/officeDocument/2006/relationships/notesSlide" Target="/ppt/notesSlides/notesSlide7.xml" Id="Radeb8e1c16604b2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d0ed854b4e9425f" /><Relationship Type="http://schemas.openxmlformats.org/officeDocument/2006/relationships/notesSlide" Target="/ppt/notesSlides/notesSlide8.xml" Id="R545f8492dc284e6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a917d622f9e4f0b" /><Relationship Type="http://schemas.openxmlformats.org/officeDocument/2006/relationships/notesSlide" Target="/ppt/notesSlides/notesSlide9.xml" Id="R5ec730116dc949e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afa8033d5234212" /><Relationship Type="http://schemas.openxmlformats.org/officeDocument/2006/relationships/notesSlide" Target="/ppt/notesSlides/notesSlide10.xml" Id="R20f1718d242846b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826e84a7c7c4762" /><Relationship Type="http://schemas.openxmlformats.org/officeDocument/2006/relationships/notesSlide" Target="/ppt/notesSlides/notesSlide11.xml" Id="R4d5016f31273497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bfe8ff0296e448a" /><Relationship Type="http://schemas.openxmlformats.org/officeDocument/2006/relationships/notesSlide" Target="/ppt/notesSlides/notesSlide12.xml" Id="R9bdb01985c11466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4ef05654b6c4e35" /><Relationship Type="http://schemas.openxmlformats.org/officeDocument/2006/relationships/notesSlide" Target="/ppt/notesSlides/notesSlide13.xml" Id="R05b424544cba4bf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235998f58c342c3" /><Relationship Type="http://schemas.openxmlformats.org/officeDocument/2006/relationships/notesSlide" Target="/ppt/notesSlides/notesSlide14.xml" Id="Rb51dbf634fb647a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0fb4f27ee904285" /><Relationship Type="http://schemas.openxmlformats.org/officeDocument/2006/relationships/notesSlide" Target="/ppt/notesSlides/notesSlide15.xml" Id="Rf5c65e106feb42e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591e2c1585b4c3f" /><Relationship Type="http://schemas.openxmlformats.org/officeDocument/2006/relationships/notesSlide" Target="/ppt/notesSlides/notesSlide16.xml" Id="R5c6c3b0ea9b94d1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1b2c7c76804fee" /><Relationship Type="http://schemas.openxmlformats.org/officeDocument/2006/relationships/notesSlide" Target="/ppt/notesSlides/notesSlide17.xml" Id="R6ad69eb31291448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568fc3b02bc4210" /><Relationship Type="http://schemas.openxmlformats.org/officeDocument/2006/relationships/image" Target="/ppt/media/image.png" Id="Rbaa3861063274013" /><Relationship Type="http://schemas.openxmlformats.org/officeDocument/2006/relationships/notesSlide" Target="/ppt/notesSlides/notesSlide18.xml" Id="R3eb2ef77d36643d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ACT 4 · 확인된 제품 결과">
            <a:extLst xmlns:a="http://schemas.openxmlformats.org/drawingml/2006/main">
              <a:ext uri="{FF2B5EF4-FFF2-40B4-BE49-F238E27FC236}">
                <a16:creationId xmlns:a16="http://schemas.microsoft.com/office/drawing/2014/main" id="{BE9DB1C1-CCF4-4BA7-92AE-07F818CA5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확인된 제품 결과</a:t>
            </a:r>
          </a:p>
        </p:txBody>
      </p:sp>
      <p:sp>
        <p:nvSpPr>
          <p:cNvPr id="2" name="S57">
            <a:extLst xmlns:a="http://schemas.openxmlformats.org/drawingml/2006/main">
              <a:ext uri="{FF2B5EF4-FFF2-40B4-BE49-F238E27FC236}">
                <a16:creationId xmlns:a16="http://schemas.microsoft.com/office/drawing/2014/main" id="{43F5ABA7-C84B-4FEA-815C-A2EE0E13F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S57</a:t>
            </a:r>
          </a:p>
        </p:txBody>
      </p:sp>
      <p:sp>
        <p:nvSpPr>
          <p:cNvPr id="3" name="여기까지는 잘 동작했다">
            <a:extLst xmlns:a="http://schemas.openxmlformats.org/drawingml/2006/main">
              <a:ext uri="{FF2B5EF4-FFF2-40B4-BE49-F238E27FC236}">
                <a16:creationId xmlns:a16="http://schemas.microsoft.com/office/drawing/2014/main" id="{D2782F02-5498-4BE0-BBC6-B08D164FD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여기까지는 잘 동작했다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D139CE-9A9D-4B9D-91CF-D5D0DF0D3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STATE-04-PERF · image_statistics · 실제 기록 요약">
            <a:extLst xmlns:a="http://schemas.openxmlformats.org/drawingml/2006/main">
              <a:ext uri="{FF2B5EF4-FFF2-40B4-BE49-F238E27FC236}">
                <a16:creationId xmlns:a16="http://schemas.microsoft.com/office/drawing/2014/main" id="{155EC450-1B64-478D-AEE0-8FC441C03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STATE-04-PERF · image_statistics · 실제 기록 요약</a:t>
            </a:r>
          </a:p>
        </p:txBody>
      </p:sp>
      <p:sp>
        <p:nvSpPr>
          <p:cNvPr id="6" name="기록된 입력·코드·환경의 결과이며, 뒤의 가상 사례와 별개다.">
            <a:extLst xmlns:a="http://schemas.openxmlformats.org/drawingml/2006/main">
              <a:ext uri="{FF2B5EF4-FFF2-40B4-BE49-F238E27FC236}">
                <a16:creationId xmlns:a16="http://schemas.microsoft.com/office/drawing/2014/main" id="{16C86BE9-9400-40B5-B2E2-EFB072875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기록된 입력·코드·환경의 결과이며, 뒤의 가상 사례와 별개다.</a:t>
            </a:r>
          </a:p>
        </p:txBody>
      </p:sp>
      <p:sp>
        <p:nvSpPr>
          <p:cNvPr id="7" name="작업을 맡기고, 결과를 확인할 수 있었다">
            <a:extLst xmlns:a="http://schemas.openxmlformats.org/drawingml/2006/main">
              <a:ext uri="{FF2B5EF4-FFF2-40B4-BE49-F238E27FC236}">
                <a16:creationId xmlns:a16="http://schemas.microsoft.com/office/drawing/2014/main" id="{4B098494-275F-4E24-A8F7-754D9D92A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작업을 맡기고, 결과를 확인할 수 있었다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264795-7463-4353-AE38-1EA8E37A9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9" name="동작 계약">
            <a:extLst xmlns:a="http://schemas.openxmlformats.org/drawingml/2006/main">
              <a:ext uri="{FF2B5EF4-FFF2-40B4-BE49-F238E27FC236}">
                <a16:creationId xmlns:a16="http://schemas.microsoft.com/office/drawing/2014/main" id="{849D09FA-5BD0-4C2D-B229-4A9DD77C6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323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동작 계약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DA2B00-90D6-4D12-921F-7AE3EB457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95275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테스트">
            <a:extLst xmlns:a="http://schemas.openxmlformats.org/drawingml/2006/main">
              <a:ext uri="{FF2B5EF4-FFF2-40B4-BE49-F238E27FC236}">
                <a16:creationId xmlns:a16="http://schemas.microsoft.com/office/drawing/2014/main" id="{008BCE73-9DD6-44D6-B830-26158CF78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143250"/>
            <a:ext cx="323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6E5642-0ED5-47A8-B934-E4C08CB15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95275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3" name="성능 측정">
            <a:extLst xmlns:a="http://schemas.openxmlformats.org/drawingml/2006/main">
              <a:ext uri="{FF2B5EF4-FFF2-40B4-BE49-F238E27FC236}">
                <a16:creationId xmlns:a16="http://schemas.microsoft.com/office/drawing/2014/main" id="{DE5D3616-339F-4EAD-B8A2-015F4834C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43250"/>
            <a:ext cx="323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성능 측정</a:t>
            </a:r>
          </a:p>
        </p:txBody>
      </p:sp>
      <p:sp>
        <p:nvSpPr>
          <p:cNvPr id="14" name="입력·출력 조건 확인">
            <a:extLst xmlns:a="http://schemas.openxmlformats.org/drawingml/2006/main">
              <a:ext uri="{FF2B5EF4-FFF2-40B4-BE49-F238E27FC236}">
                <a16:creationId xmlns:a16="http://schemas.microsoft.com/office/drawing/2014/main" id="{FBD88513-9998-4146-A1B7-51711F22D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3286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입력·출력 조건 확인</a:t>
            </a:r>
          </a:p>
        </p:txBody>
      </p:sp>
      <p:sp>
        <p:nvSpPr>
          <p:cNvPr id="15" name="전체 테스트 11/11">
            <a:extLst xmlns:a="http://schemas.openxmlformats.org/drawingml/2006/main">
              <a:ext uri="{FF2B5EF4-FFF2-40B4-BE49-F238E27FC236}">
                <a16:creationId xmlns:a16="http://schemas.microsoft.com/office/drawing/2014/main" id="{7ABDFF29-526A-40EC-9C40-B0AEDC906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771900"/>
            <a:ext cx="3286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전체 테스트 11/11</a:t>
            </a:r>
          </a:p>
        </p:txBody>
      </p:sp>
      <p:sp>
        <p:nvSpPr>
          <p:cNvPr id="16" name="Benchmark guard 확인">
            <a:extLst xmlns:a="http://schemas.openxmlformats.org/drawingml/2006/main">
              <a:ext uri="{FF2B5EF4-FFF2-40B4-BE49-F238E27FC236}">
                <a16:creationId xmlns:a16="http://schemas.microsoft.com/office/drawing/2014/main" id="{2AB9885E-BC18-44C7-94F6-0312FEE36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771900"/>
            <a:ext cx="333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Benchmark guard 확인</a:t>
            </a:r>
          </a:p>
        </p:txBody>
      </p:sp>
      <p:sp>
        <p:nvSpPr>
          <p:cNvPr id="17" name="그렇다면 프로젝트가 바뀐 뒤에도 맞을까?">
            <a:extLst xmlns:a="http://schemas.openxmlformats.org/drawingml/2006/main">
              <a:ext uri="{FF2B5EF4-FFF2-40B4-BE49-F238E27FC236}">
                <a16:creationId xmlns:a16="http://schemas.microsoft.com/office/drawing/2014/main" id="{8BEBCEDE-78AF-4407-B94D-FA1EDD62D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958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그렇다면 프로젝트가 바뀐 뒤에도 맞을까?</a:t>
            </a:r>
          </a:p>
        </p:txBody>
      </p:sp>
      <p:sp>
        <p:nvSpPr>
          <p:cNvPr id="18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9ADADD1F-78CC-49D3-8190-A290C1BB2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143959348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ACT 4 · CONCEPTUAL / 가상 사례">
            <a:extLst xmlns:a="http://schemas.openxmlformats.org/drawingml/2006/main">
              <a:ext uri="{FF2B5EF4-FFF2-40B4-BE49-F238E27FC236}">
                <a16:creationId xmlns:a16="http://schemas.microsoft.com/office/drawing/2014/main" id="{D7901970-1549-460C-85CB-ADC6AF420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가상 사례</a:t>
            </a:r>
          </a:p>
        </p:txBody>
      </p:sp>
      <p:sp>
        <p:nvSpPr>
          <p:cNvPr id="2" name="S58">
            <a:extLst xmlns:a="http://schemas.openxmlformats.org/drawingml/2006/main">
              <a:ext uri="{FF2B5EF4-FFF2-40B4-BE49-F238E27FC236}">
                <a16:creationId xmlns:a16="http://schemas.microsoft.com/office/drawing/2014/main" id="{5D267DB6-07DA-45D1-AC25-EAC420DEA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S58</a:t>
            </a:r>
          </a:p>
        </p:txBody>
      </p:sp>
      <p:sp>
        <p:nvSpPr>
          <p:cNvPr id="3" name="개념 사례: Project와 Workflow는 현재 맞다">
            <a:extLst xmlns:a="http://schemas.openxmlformats.org/drawingml/2006/main">
              <a:ext uri="{FF2B5EF4-FFF2-40B4-BE49-F238E27FC236}">
                <a16:creationId xmlns:a16="http://schemas.microsoft.com/office/drawing/2014/main" id="{02CD7C88-E1CE-4B37-A08F-D6CC2C680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개념 사례: Project와 Workflow는 현재 맞다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BD7F82-0FDA-4217-B64C-89532E06E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프로젝트 변화 전의 가상 설정">
            <a:extLst xmlns:a="http://schemas.openxmlformats.org/drawingml/2006/main">
              <a:ext uri="{FF2B5EF4-FFF2-40B4-BE49-F238E27FC236}">
                <a16:creationId xmlns:a16="http://schemas.microsoft.com/office/drawing/2014/main" id="{29CE548B-27A4-4A9C-B562-ACD9FC82B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프로젝트 변화 전의 가상 설정</a:t>
            </a:r>
          </a:p>
        </p:txBody>
      </p:sp>
      <p:sp>
        <p:nvSpPr>
          <p:cNvPr id="6" name="실제 Repository 변경 이력, Agent 실행 또는 테스트 결과가 아니다.">
            <a:extLst xmlns:a="http://schemas.openxmlformats.org/drawingml/2006/main">
              <a:ext uri="{FF2B5EF4-FFF2-40B4-BE49-F238E27FC236}">
                <a16:creationId xmlns:a16="http://schemas.microsoft.com/office/drawing/2014/main" id="{20F657F1-E46A-471F-9301-3C6DBC394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실제 Repository 변경 이력, Agent 실행 또는 테스트 결과가 아니다.</a:t>
            </a:r>
          </a:p>
        </p:txBody>
      </p:sp>
      <p:sp>
        <p:nvSpPr>
          <p:cNvPr id="7" name="처음에는 두 기준이 같았다">
            <a:extLst xmlns:a="http://schemas.openxmlformats.org/drawingml/2006/main">
              <a:ext uri="{FF2B5EF4-FFF2-40B4-BE49-F238E27FC236}">
                <a16:creationId xmlns:a16="http://schemas.microsoft.com/office/drawing/2014/main" id="{F6CE2AEE-809B-455E-B60E-08B31AFF3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처음에는 두 기준이 같았다</a:t>
            </a:r>
          </a:p>
        </p:txBody>
      </p:sp>
      <p:sp>
        <p:nvSpPr>
          <p:cNvPr id="8" name="프로젝트의 검증 기준">
            <a:extLst xmlns:a="http://schemas.openxmlformats.org/drawingml/2006/main">
              <a:ext uri="{FF2B5EF4-FFF2-40B4-BE49-F238E27FC236}">
                <a16:creationId xmlns:a16="http://schemas.microsoft.com/office/drawing/2014/main" id="{DB160CBB-FC55-4E4C-80E9-EC84DC0B2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프로젝트의 검증 기준</a:t>
            </a:r>
          </a:p>
        </p:txBody>
      </p:sp>
      <p:sp>
        <p:nvSpPr>
          <p:cNvPr id="9" name="재사용 Workflow의 지시">
            <a:extLst xmlns:a="http://schemas.openxmlformats.org/drawingml/2006/main">
              <a:ext uri="{FF2B5EF4-FFF2-40B4-BE49-F238E27FC236}">
                <a16:creationId xmlns:a16="http://schemas.microsoft.com/office/drawing/2014/main" id="{9A77FB7F-F8D7-4539-9505-1822DC9BB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52750"/>
            <a:ext cx="4857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재사용 Workflow의 지시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2E99D9-B69F-4F86-A708-88BD8F9FF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052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9C0AFC-3FD2-40D3-8BB1-F08BA5496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5052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2" name="단위 테스트">
            <a:extLst xmlns:a="http://schemas.openxmlformats.org/drawingml/2006/main">
              <a:ext uri="{FF2B5EF4-FFF2-40B4-BE49-F238E27FC236}">
                <a16:creationId xmlns:a16="http://schemas.microsoft.com/office/drawing/2014/main" id="{88F0CF6C-371B-44B4-9CE0-562BC4E85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4876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</a:t>
            </a:r>
          </a:p>
        </p:txBody>
      </p:sp>
      <p:sp>
        <p:nvSpPr>
          <p:cNvPr id="13" name="단위 테스트">
            <a:extLst xmlns:a="http://schemas.openxmlformats.org/drawingml/2006/main">
              <a:ext uri="{FF2B5EF4-FFF2-40B4-BE49-F238E27FC236}">
                <a16:creationId xmlns:a16="http://schemas.microsoft.com/office/drawing/2014/main" id="{3A8AB291-44BE-41B1-965D-83548691E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57625"/>
            <a:ext cx="4876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</a:t>
            </a:r>
          </a:p>
        </p:txBody>
      </p:sp>
      <p:sp>
        <p:nvSpPr>
          <p:cNvPr id="14" name="=">
            <a:extLst xmlns:a="http://schemas.openxmlformats.org/drawingml/2006/main">
              <a:ext uri="{FF2B5EF4-FFF2-40B4-BE49-F238E27FC236}">
                <a16:creationId xmlns:a16="http://schemas.microsoft.com/office/drawing/2014/main" id="{64D0E728-A557-4B93-B43A-55D55C28C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886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=</a:t>
            </a:r>
          </a:p>
        </p:txBody>
      </p:sp>
      <p:sp>
        <p:nvSpPr>
          <p:cNvPr id="15" name="현재 프로젝트에 맞춰 만들어 둔 절차">
            <a:extLst xmlns:a="http://schemas.openxmlformats.org/drawingml/2006/main">
              <a:ext uri="{FF2B5EF4-FFF2-40B4-BE49-F238E27FC236}">
                <a16:creationId xmlns:a16="http://schemas.microsoft.com/office/drawing/2014/main" id="{3D8AA950-2A0F-4AAB-88AF-A0EEF641D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프로젝트에 맞춰 만들어 둔 절차</a:t>
            </a:r>
          </a:p>
        </p:txBody>
      </p:sp>
      <p:sp>
        <p:nvSpPr>
          <p:cNvPr id="16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7A4D02B2-BC7B-4DE0-B106-3391F31F1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M6</a:t>
            </a:r>
          </a:p>
        </p:txBody>
      </p:sp>
    </p:spTree>
    <p:extLst>
      <p:ext uri="{BB962C8B-B14F-4D97-AF65-F5344CB8AC3E}">
        <p14:creationId xmlns:p14="http://schemas.microsoft.com/office/powerpoint/2010/main" val="42706955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ACT 4  ·  CONCEPTUAL / 가상 사례">
            <a:extLst xmlns:a="http://schemas.openxmlformats.org/drawingml/2006/main">
              <a:ext uri="{FF2B5EF4-FFF2-40B4-BE49-F238E27FC236}">
                <a16:creationId xmlns:a16="http://schemas.microsoft.com/office/drawing/2014/main" id="{2D3980F4-177B-4266-AD7D-F3CDB5B63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 ·  CONCEPTUAL / 가상 사례</a:t>
            </a:r>
          </a:p>
        </p:txBody>
      </p:sp>
      <p:sp>
        <p:nvSpPr>
          <p:cNvPr id="2" name="S59">
            <a:extLst xmlns:a="http://schemas.openxmlformats.org/drawingml/2006/main">
              <a:ext uri="{FF2B5EF4-FFF2-40B4-BE49-F238E27FC236}">
                <a16:creationId xmlns:a16="http://schemas.microsoft.com/office/drawing/2014/main" id="{91C96990-6987-49B3-B10E-B21FF4E72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S59</a:t>
            </a:r>
          </a:p>
        </p:txBody>
      </p:sp>
      <p:sp>
        <p:nvSpPr>
          <p:cNvPr id="3" name="Project는 바뀌고 Workflow는 남았다">
            <a:extLst xmlns:a="http://schemas.openxmlformats.org/drawingml/2006/main">
              <a:ext uri="{FF2B5EF4-FFF2-40B4-BE49-F238E27FC236}">
                <a16:creationId xmlns:a16="http://schemas.microsoft.com/office/drawing/2014/main" id="{A3E79362-7C47-4CD3-A47D-CF79C4745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Project는 바뀌고 Workflow는 남았다</a:t>
            </a:r>
          </a:p>
        </p:txBody>
      </p:sp>
      <p:sp>
        <p:nvSpPr>
          <p:cNvPr id="4" name="가정: 모듈 연결 동작도 검증해야 하는 프로젝트가 됐다">
            <a:extLst xmlns:a="http://schemas.openxmlformats.org/drawingml/2006/main">
              <a:ext uri="{FF2B5EF4-FFF2-40B4-BE49-F238E27FC236}">
                <a16:creationId xmlns:a16="http://schemas.microsoft.com/office/drawing/2014/main" id="{9DC5E03F-5821-4662-A8D8-990827D95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972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가정: 모듈 연결 동작도 검증해야 하는 프로젝트가 됐다</a:t>
            </a:r>
          </a:p>
        </p:txBody>
      </p:sp>
      <p:sp>
        <p:nvSpPr>
          <p:cNvPr id="5" name="현재 프로젝트의 기준">
            <a:extLst xmlns:a="http://schemas.openxmlformats.org/drawingml/2006/main">
              <a:ext uri="{FF2B5EF4-FFF2-40B4-BE49-F238E27FC236}">
                <a16:creationId xmlns:a16="http://schemas.microsoft.com/office/drawing/2014/main" id="{D910A40B-71FF-4065-875F-5DE76F8F8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76475"/>
            <a:ext cx="523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현재 프로젝트의 기준</a:t>
            </a:r>
          </a:p>
        </p:txBody>
      </p:sp>
      <p:sp>
        <p:nvSpPr>
          <p:cNvPr id="6" name="재사용 Workflow에 남은 지시">
            <a:extLst xmlns:a="http://schemas.openxmlformats.org/drawingml/2006/main">
              <a:ext uri="{FF2B5EF4-FFF2-40B4-BE49-F238E27FC236}">
                <a16:creationId xmlns:a16="http://schemas.microsoft.com/office/drawing/2014/main" id="{3F25CF67-C0DC-4012-8E6A-A92F63016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76475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재사용 Workflow에 남은 지시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CEF6C3-E7AD-4DE6-9ADA-B8D3C9E26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194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BF833E-8300-46AF-8CE7-11FF03403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194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9" name="단위 테스트 · 각 모듈">
            <a:extLst xmlns:a="http://schemas.openxmlformats.org/drawingml/2006/main">
              <a:ext uri="{FF2B5EF4-FFF2-40B4-BE49-F238E27FC236}">
                <a16:creationId xmlns:a16="http://schemas.microsoft.com/office/drawing/2014/main" id="{C1CE9930-4228-4F4C-A57D-5CC1C37EF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 · 각 모듈</a:t>
            </a:r>
          </a:p>
        </p:txBody>
      </p:sp>
      <p:sp>
        <p:nvSpPr>
          <p:cNvPr id="10" name="단위 테스트 · 각 모듈">
            <a:extLst xmlns:a="http://schemas.openxmlformats.org/drawingml/2006/main">
              <a:ext uri="{FF2B5EF4-FFF2-40B4-BE49-F238E27FC236}">
                <a16:creationId xmlns:a16="http://schemas.microsoft.com/office/drawing/2014/main" id="{0FEB4343-C2DA-4098-8CB5-75559A5B8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71800"/>
            <a:ext cx="4876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 · 각 모듈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3479E8-7F2F-425B-81DB-499710106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4953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44B272-760B-4672-AC88-4518F10F9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62350"/>
            <a:ext cx="17335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3" name="모듈 A">
            <a:extLst xmlns:a="http://schemas.openxmlformats.org/drawingml/2006/main">
              <a:ext uri="{FF2B5EF4-FFF2-40B4-BE49-F238E27FC236}">
                <a16:creationId xmlns:a16="http://schemas.microsoft.com/office/drawing/2014/main" id="{F8C05E78-C343-4CA1-88F0-61BB4D747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24275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모듈 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4E329E-5B9C-4DC2-AC53-48C649FEC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562350"/>
            <a:ext cx="17335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5" name="모듈 B">
            <a:extLst xmlns:a="http://schemas.openxmlformats.org/drawingml/2006/main">
              <a:ext uri="{FF2B5EF4-FFF2-40B4-BE49-F238E27FC236}">
                <a16:creationId xmlns:a16="http://schemas.microsoft.com/office/drawing/2014/main" id="{AF73FB5F-BD7E-413D-B1FB-A390EFDAE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724275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모듈 B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4907EA-A2EF-4302-97E7-F71F4F5C5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3781425"/>
            <a:ext cx="6667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7" name="+ 통합 테스트 · 모듈 연결까지">
            <a:extLst xmlns:a="http://schemas.openxmlformats.org/drawingml/2006/main">
              <a:ext uri="{FF2B5EF4-FFF2-40B4-BE49-F238E27FC236}">
                <a16:creationId xmlns:a16="http://schemas.microsoft.com/office/drawing/2014/main" id="{64DF50AA-3CB9-4A09-B80F-623FC2426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48200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+ 통합 테스트 · 모듈 연결까지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38126D-3302-4097-B893-8A96B9870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562350"/>
            <a:ext cx="17335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9" name="모듈 A">
            <a:extLst xmlns:a="http://schemas.openxmlformats.org/drawingml/2006/main">
              <a:ext uri="{FF2B5EF4-FFF2-40B4-BE49-F238E27FC236}">
                <a16:creationId xmlns:a16="http://schemas.microsoft.com/office/drawing/2014/main" id="{74EF59BE-B0F6-4017-9F2A-8A0DD3673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724275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모듈 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EBA08C-FDB6-4F07-9741-93C3ACD71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562350"/>
            <a:ext cx="17335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21" name="모듈 B">
            <a:extLst xmlns:a="http://schemas.openxmlformats.org/drawingml/2006/main">
              <a:ext uri="{FF2B5EF4-FFF2-40B4-BE49-F238E27FC236}">
                <a16:creationId xmlns:a16="http://schemas.microsoft.com/office/drawing/2014/main" id="{755941E9-5EF8-4519-BCCF-F04455A37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724275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모듈 B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3EA086B-2E18-42B2-8D92-E349CE59D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781425"/>
            <a:ext cx="6477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D5A68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0C3059-937B-4B71-BCCE-46A219017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572000"/>
            <a:ext cx="4876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24" name="단위 테스트만 지시">
            <a:extLst xmlns:a="http://schemas.openxmlformats.org/drawingml/2006/main">
              <a:ext uri="{FF2B5EF4-FFF2-40B4-BE49-F238E27FC236}">
                <a16:creationId xmlns:a16="http://schemas.microsoft.com/office/drawing/2014/main" id="{E517AAF8-7233-438A-B7E9-1E1866286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638675"/>
            <a:ext cx="441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단위 테스트만 지시</a:t>
            </a:r>
          </a:p>
        </p:txBody>
      </p:sp>
      <p:sp>
        <p:nvSpPr>
          <p:cNvPr id="25" name="프로젝트의 기준이 바뀌었을 때, 재사용 지침도 함께 바뀌었을까?">
            <a:extLst xmlns:a="http://schemas.openxmlformats.org/drawingml/2006/main">
              <a:ext uri="{FF2B5EF4-FFF2-40B4-BE49-F238E27FC236}">
                <a16:creationId xmlns:a16="http://schemas.microsoft.com/office/drawing/2014/main" id="{B026A4B1-C68B-437A-ACEA-39528DA27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292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프로젝트의 기준이 바뀌었을 때, 재사용 지침도 함께 바뀌었을까?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3CB9887-BBEE-42C3-81EA-AD71558FE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27" name="DEMO-04A  |  가상 설정 · 실제 Repository 변경 이력이 아님">
            <a:extLst xmlns:a="http://schemas.openxmlformats.org/drawingml/2006/main">
              <a:ext uri="{FF2B5EF4-FFF2-40B4-BE49-F238E27FC236}">
                <a16:creationId xmlns:a16="http://schemas.microsoft.com/office/drawing/2014/main" id="{50D15E9A-B795-492E-A88C-6C7C6B37F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 |  가상 설정 · 실제 Repository 변경 이력이 아님</a:t>
            </a:r>
          </a:p>
        </p:txBody>
      </p:sp>
      <p:sp>
        <p:nvSpPr>
          <p:cNvPr id="28" name="두 지침의 범위 비교 · Agent 실행, 테스트 누락 또는 PASS / FAIL 결과를 뜻하지 않음">
            <a:extLst xmlns:a="http://schemas.openxmlformats.org/drawingml/2006/main">
              <a:ext uri="{FF2B5EF4-FFF2-40B4-BE49-F238E27FC236}">
                <a16:creationId xmlns:a16="http://schemas.microsoft.com/office/drawing/2014/main" id="{91736802-C64E-46D5-AD74-665046298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두 지침의 범위 비교 · Agent 실행, 테스트 누락 또는 PASS / FAIL 결과를 뜻하지 않음</a:t>
            </a:r>
          </a:p>
        </p:txBody>
      </p:sp>
      <p:sp>
        <p:nvSpPr>
          <p:cNvPr id="29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7BB85BEA-C145-433F-AEBD-9BD5F7B24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M6</a:t>
            </a:r>
          </a:p>
        </p:txBody>
      </p:sp>
    </p:spTree>
    <p:extLst>
      <p:ext uri="{BB962C8B-B14F-4D97-AF65-F5344CB8AC3E}">
        <p14:creationId xmlns:p14="http://schemas.microsoft.com/office/powerpoint/2010/main" val="138748421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ACT 4 · CONCEPTUAL / 가상 사례">
            <a:extLst xmlns:a="http://schemas.openxmlformats.org/drawingml/2006/main">
              <a:ext uri="{FF2B5EF4-FFF2-40B4-BE49-F238E27FC236}">
                <a16:creationId xmlns:a16="http://schemas.microsoft.com/office/drawing/2014/main" id="{665749A7-5EFA-48FF-B536-0DD31CBF2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가상 사례</a:t>
            </a:r>
          </a:p>
        </p:txBody>
      </p:sp>
      <p:sp>
        <p:nvSpPr>
          <p:cNvPr id="2" name="S60">
            <a:extLst xmlns:a="http://schemas.openxmlformats.org/drawingml/2006/main">
              <a:ext uri="{FF2B5EF4-FFF2-40B4-BE49-F238E27FC236}">
                <a16:creationId xmlns:a16="http://schemas.microsoft.com/office/drawing/2014/main" id="{7A492A75-2A7D-44B4-B1E3-10313BBB3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S60</a:t>
            </a:r>
          </a:p>
        </p:txBody>
      </p:sp>
      <p:sp>
        <p:nvSpPr>
          <p:cNvPr id="3" name="Task 해결과 System 문제는 다르다">
            <a:extLst xmlns:a="http://schemas.openxmlformats.org/drawingml/2006/main">
              <a:ext uri="{FF2B5EF4-FFF2-40B4-BE49-F238E27FC236}">
                <a16:creationId xmlns:a16="http://schemas.microsoft.com/office/drawing/2014/main" id="{2F552A16-C8C7-49CB-A30F-4D1944660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 해결과 System 문제는 다르다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8609D6-E4AF-48ED-B584-26EEA785F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이번 요청과 재사용 지침의 범위 비교">
            <a:extLst xmlns:a="http://schemas.openxmlformats.org/drawingml/2006/main">
              <a:ext uri="{FF2B5EF4-FFF2-40B4-BE49-F238E27FC236}">
                <a16:creationId xmlns:a16="http://schemas.microsoft.com/office/drawing/2014/main" id="{B6EDF76A-D0FF-48CE-A768-1FCC962A4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이번 요청과 재사용 지침의 범위 비교</a:t>
            </a:r>
          </a:p>
        </p:txBody>
      </p:sp>
      <p:sp>
        <p:nvSpPr>
          <p:cNvPr id="6" name="아래는 가능한 대응이다. 실제 실행·복구 성공·검증 누락을 관찰한 결과가 아니다.">
            <a:extLst xmlns:a="http://schemas.openxmlformats.org/drawingml/2006/main">
              <a:ext uri="{FF2B5EF4-FFF2-40B4-BE49-F238E27FC236}">
                <a16:creationId xmlns:a16="http://schemas.microsoft.com/office/drawing/2014/main" id="{D7639537-1FA6-4A16-8F05-11F6435D5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아래는 가능한 대응이다. 실제 실행·복구 성공·검증 누락을 관찰한 결과가 아니다.</a:t>
            </a:r>
          </a:p>
        </p:txBody>
      </p:sp>
      <p:sp>
        <p:nvSpPr>
          <p:cNvPr id="7" name="이번 요청에 “통합 테스트도 확인해 줘”를 더한다면?">
            <a:extLst xmlns:a="http://schemas.openxmlformats.org/drawingml/2006/main">
              <a:ext uri="{FF2B5EF4-FFF2-40B4-BE49-F238E27FC236}">
                <a16:creationId xmlns:a16="http://schemas.microsoft.com/office/drawing/2014/main" id="{85198141-3E98-433A-B10B-EA77BF63E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 요청에 “통합 테스트도 확인해 줘”를 더한다면?</a:t>
            </a:r>
          </a:p>
        </p:txBody>
      </p:sp>
      <p:sp>
        <p:nvSpPr>
          <p:cNvPr id="8" name="이번 Task">
            <a:extLst xmlns:a="http://schemas.openxmlformats.org/drawingml/2006/main">
              <a:ext uri="{FF2B5EF4-FFF2-40B4-BE49-F238E27FC236}">
                <a16:creationId xmlns:a16="http://schemas.microsoft.com/office/drawing/2014/main" id="{342EA1C2-488D-4EC7-AD29-5EE8CF01A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Task</a:t>
            </a:r>
          </a:p>
        </p:txBody>
      </p:sp>
      <p:sp>
        <p:nvSpPr>
          <p:cNvPr id="9" name="다음 Task가 읽을 Workflow">
            <a:extLst xmlns:a="http://schemas.openxmlformats.org/drawingml/2006/main">
              <a:ext uri="{FF2B5EF4-FFF2-40B4-BE49-F238E27FC236}">
                <a16:creationId xmlns:a16="http://schemas.microsoft.com/office/drawing/2014/main" id="{EF49A22A-299B-413E-8588-A12DA897E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67050"/>
            <a:ext cx="487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다음 Task가 읽을 Workflow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096D60-DF66-4462-BD98-D6C07864C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04F725-04EA-444D-944D-D6C908B24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195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2" name="단위 + 통합 테스트를&#10;확인하도록 요청 가능">
            <a:extLst xmlns:a="http://schemas.openxmlformats.org/drawingml/2006/main">
              <a:ext uri="{FF2B5EF4-FFF2-40B4-BE49-F238E27FC236}">
                <a16:creationId xmlns:a16="http://schemas.microsoft.com/office/drawing/2014/main" id="{06EEE3AD-9C32-4089-ACEC-415868892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4876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+ 통합 테스트를</a:t>
            </a:r>
          </a:p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확인하도록 요청 가능</a:t>
            </a:r>
          </a:p>
        </p:txBody>
      </p:sp>
      <p:sp>
        <p:nvSpPr>
          <p:cNvPr id="13" name="여전히&#10;단위 테스트만 지시">
            <a:extLst xmlns:a="http://schemas.openxmlformats.org/drawingml/2006/main">
              <a:ext uri="{FF2B5EF4-FFF2-40B4-BE49-F238E27FC236}">
                <a16:creationId xmlns:a16="http://schemas.microsoft.com/office/drawing/2014/main" id="{EEC86C6B-5839-473A-B22B-32D2905B0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10000"/>
            <a:ext cx="4876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여전히</a:t>
            </a:r>
          </a:p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테스트만 지시</a:t>
            </a:r>
          </a:p>
        </p:txBody>
      </p:sp>
      <p:sp>
        <p:nvSpPr>
          <p:cNvPr id="14" name="이번 답을 보정해도, 재사용 절차는 그대로일 수 있다.">
            <a:extLst xmlns:a="http://schemas.openxmlformats.org/drawingml/2006/main">
              <a:ext uri="{FF2B5EF4-FFF2-40B4-BE49-F238E27FC236}">
                <a16:creationId xmlns:a16="http://schemas.microsoft.com/office/drawing/2014/main" id="{071C0138-C056-4FC2-8A95-213EC027B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답을 보정해도, 재사용 절차는 그대로일 수 있다.</a:t>
            </a:r>
          </a:p>
        </p:txBody>
      </p:sp>
      <p:sp>
        <p:nvSpPr>
          <p:cNvPr id="15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5299D153-6AFB-47F2-A8E1-FDD1D9131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M6</a:t>
            </a:r>
          </a:p>
        </p:txBody>
      </p:sp>
    </p:spTree>
    <p:extLst>
      <p:ext uri="{BB962C8B-B14F-4D97-AF65-F5344CB8AC3E}">
        <p14:creationId xmlns:p14="http://schemas.microsoft.com/office/powerpoint/2010/main" val="44147779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ACT 4 · CONCEPTUAL / 대응 범위 비교">
            <a:extLst xmlns:a="http://schemas.openxmlformats.org/drawingml/2006/main">
              <a:ext uri="{FF2B5EF4-FFF2-40B4-BE49-F238E27FC236}">
                <a16:creationId xmlns:a16="http://schemas.microsoft.com/office/drawing/2014/main" id="{8BC00ACE-1F6D-42B1-9A75-2E6DE05A9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대응 범위 비교</a:t>
            </a:r>
          </a:p>
        </p:txBody>
      </p:sp>
      <p:sp>
        <p:nvSpPr>
          <p:cNvPr id="2" name="S61">
            <a:extLst xmlns:a="http://schemas.openxmlformats.org/drawingml/2006/main">
              <a:ext uri="{FF2B5EF4-FFF2-40B4-BE49-F238E27FC236}">
                <a16:creationId xmlns:a16="http://schemas.microsoft.com/office/drawing/2014/main" id="{D36632E6-28EC-4020-A747-2B26366D7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S61</a:t>
            </a:r>
          </a:p>
        </p:txBody>
      </p:sp>
      <p:sp>
        <p:nvSpPr>
          <p:cNvPr id="3" name="원인에 맞는 Layer를 고르기">
            <a:extLst xmlns:a="http://schemas.openxmlformats.org/drawingml/2006/main">
              <a:ext uri="{FF2B5EF4-FFF2-40B4-BE49-F238E27FC236}">
                <a16:creationId xmlns:a16="http://schemas.microsoft.com/office/drawing/2014/main" id="{14100E22-01DE-4F2B-AD60-43B923A29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원인에 맞는 Layer를 고르기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D1B776-2825-4829-9A34-5C286C600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DEMO-11 · 가상 사례의 선택지">
            <a:extLst xmlns:a="http://schemas.openxmlformats.org/drawingml/2006/main">
              <a:ext uri="{FF2B5EF4-FFF2-40B4-BE49-F238E27FC236}">
                <a16:creationId xmlns:a16="http://schemas.microsoft.com/office/drawing/2014/main" id="{988984EE-5644-4850-9B3F-E9B80A2EB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DEMO-11 · 가상 사례의 선택지</a:t>
            </a:r>
          </a:p>
        </p:txBody>
      </p:sp>
      <p:sp>
        <p:nvSpPr>
          <p:cNvPr id="6" name="Workflow가 원인으로 확인된 경우의 판단이며, 모든 문제의 정답은 아니다.">
            <a:extLst xmlns:a="http://schemas.openxmlformats.org/drawingml/2006/main">
              <a:ext uri="{FF2B5EF4-FFF2-40B4-BE49-F238E27FC236}">
                <a16:creationId xmlns:a16="http://schemas.microsoft.com/office/drawing/2014/main" id="{FE948218-4D00-42DF-8D69-1669BD883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Workflow가 원인으로 확인된 경우의 판단이며, 모든 문제의 정답은 아니다.</a:t>
            </a:r>
          </a:p>
        </p:txBody>
      </p:sp>
      <p:sp>
        <p:nvSpPr>
          <p:cNvPr id="7" name="무엇을 바꾸면 다음 작업에도 반영될까?">
            <a:extLst xmlns:a="http://schemas.openxmlformats.org/drawingml/2006/main">
              <a:ext uri="{FF2B5EF4-FFF2-40B4-BE49-F238E27FC236}">
                <a16:creationId xmlns:a16="http://schemas.microsoft.com/office/drawing/2014/main" id="{6A7490EB-6B14-451A-97FD-1DA1BBC83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바꾸면 다음 작업에도 반영될까?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13E454-35E3-40C5-A3F7-B9B8ABB7D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이번 Prompt 보정">
            <a:extLst xmlns:a="http://schemas.openxmlformats.org/drawingml/2006/main">
              <a:ext uri="{FF2B5EF4-FFF2-40B4-BE49-F238E27FC236}">
                <a16:creationId xmlns:a16="http://schemas.microsoft.com/office/drawing/2014/main" id="{8B15C32A-F3AA-406E-AB67-CC91774F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320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Prompt 보정</a:t>
            </a:r>
          </a:p>
        </p:txBody>
      </p:sp>
      <p:sp>
        <p:nvSpPr>
          <p:cNvPr id="10" name="현재 Task의 요청 범위를 넓힌다">
            <a:extLst xmlns:a="http://schemas.openxmlformats.org/drawingml/2006/main">
              <a:ext uri="{FF2B5EF4-FFF2-40B4-BE49-F238E27FC236}">
                <a16:creationId xmlns:a16="http://schemas.microsoft.com/office/drawing/2014/main" id="{B68B6003-4511-44B8-A7BB-E35F42908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067050"/>
            <a:ext cx="7543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Task의 요청 범위를 넓힌다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8256DB-1DDE-4BF8-924C-5EF7F2B17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전역 규칙 추가">
            <a:extLst xmlns:a="http://schemas.openxmlformats.org/drawingml/2006/main">
              <a:ext uri="{FF2B5EF4-FFF2-40B4-BE49-F238E27FC236}">
                <a16:creationId xmlns:a16="http://schemas.microsoft.com/office/drawing/2014/main" id="{1E48D4CD-616E-4A35-8199-912EEFF92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320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전역 규칙 추가</a:t>
            </a:r>
          </a:p>
        </p:txBody>
      </p:sp>
      <p:sp>
        <p:nvSpPr>
          <p:cNvPr id="13" name="다른 지침과 중복·충돌할 수 있다">
            <a:extLst xmlns:a="http://schemas.openxmlformats.org/drawingml/2006/main">
              <a:ext uri="{FF2B5EF4-FFF2-40B4-BE49-F238E27FC236}">
                <a16:creationId xmlns:a16="http://schemas.microsoft.com/office/drawing/2014/main" id="{DDFF3CD2-2237-4546-8996-7B139F1FE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848100"/>
            <a:ext cx="7543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다른 지침과 중복·충돌할 수 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9AE403-C975-4394-894D-CDE10DFCF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원인인 Workflow 갱신">
            <a:extLst xmlns:a="http://schemas.openxmlformats.org/drawingml/2006/main">
              <a:ext uri="{FF2B5EF4-FFF2-40B4-BE49-F238E27FC236}">
                <a16:creationId xmlns:a16="http://schemas.microsoft.com/office/drawing/2014/main" id="{12519C68-D81F-4505-AEC8-585596BBC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29150"/>
            <a:ext cx="320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원인인 Workflow 갱신</a:t>
            </a:r>
          </a:p>
        </p:txBody>
      </p:sp>
      <p:sp>
        <p:nvSpPr>
          <p:cNvPr id="16" name="다음 Task가 재사용할 절차를 바꾼다">
            <a:extLst xmlns:a="http://schemas.openxmlformats.org/drawingml/2006/main">
              <a:ext uri="{FF2B5EF4-FFF2-40B4-BE49-F238E27FC236}">
                <a16:creationId xmlns:a16="http://schemas.microsoft.com/office/drawing/2014/main" id="{30D089EE-8690-45A1-8134-338E81DAE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629150"/>
            <a:ext cx="7543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Task가 재사용할 절차를 바꾼다</a:t>
            </a:r>
          </a:p>
        </p:txBody>
      </p:sp>
      <p:sp>
        <p:nvSpPr>
          <p:cNvPr id="17" name="선택 기준: 원인이 있는 곳과 변경할 곳이 맞는가?">
            <a:extLst xmlns:a="http://schemas.openxmlformats.org/drawingml/2006/main">
              <a:ext uri="{FF2B5EF4-FFF2-40B4-BE49-F238E27FC236}">
                <a16:creationId xmlns:a16="http://schemas.microsoft.com/office/drawing/2014/main" id="{1C78DE17-09A1-4B67-A64E-4BDC51A32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6257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선택 기준: 원인이 있는 곳과 변경할 곳이 맞는가?</a:t>
            </a:r>
          </a:p>
        </p:txBody>
      </p:sp>
      <p:sp>
        <p:nvSpPr>
          <p:cNvPr id="18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C33E6E09-69CC-45C1-88D5-36849822E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M6</a:t>
            </a:r>
          </a:p>
        </p:txBody>
      </p:sp>
    </p:spTree>
    <p:extLst>
      <p:ext uri="{BB962C8B-B14F-4D97-AF65-F5344CB8AC3E}">
        <p14:creationId xmlns:p14="http://schemas.microsoft.com/office/powerpoint/2010/main" val="33536837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4 · CONCEPTUAL / 원인 후보">
            <a:extLst xmlns:a="http://schemas.openxmlformats.org/drawingml/2006/main">
              <a:ext uri="{FF2B5EF4-FFF2-40B4-BE49-F238E27FC236}">
                <a16:creationId xmlns:a16="http://schemas.microsoft.com/office/drawing/2014/main" id="{9DF11D66-5CD0-4FA8-BB37-3E9ACBF09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원인 후보</a:t>
            </a:r>
          </a:p>
        </p:txBody>
      </p:sp>
      <p:sp>
        <p:nvSpPr>
          <p:cNvPr id="2" name="S62">
            <a:extLst xmlns:a="http://schemas.openxmlformats.org/drawingml/2006/main">
              <a:ext uri="{FF2B5EF4-FFF2-40B4-BE49-F238E27FC236}">
                <a16:creationId xmlns:a16="http://schemas.microsoft.com/office/drawing/2014/main" id="{AFB74E64-3590-4B0F-96F7-146CA67FB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S62</a:t>
            </a:r>
          </a:p>
        </p:txBody>
      </p:sp>
      <p:sp>
        <p:nvSpPr>
          <p:cNvPr id="3" name="실패 지점과 원인 Layer 구분하기">
            <a:extLst xmlns:a="http://schemas.openxmlformats.org/drawingml/2006/main">
              <a:ext uri="{FF2B5EF4-FFF2-40B4-BE49-F238E27FC236}">
                <a16:creationId xmlns:a16="http://schemas.microsoft.com/office/drawing/2014/main" id="{926B543D-5E28-4534-9CF1-A4EC989ED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실패 지점과 원인 Layer 구분하기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C4483B-B810-4D26-97D6-F0A1DD8A7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11 · 원인을 찾기 위한 교육용 관점">
            <a:extLst xmlns:a="http://schemas.openxmlformats.org/drawingml/2006/main">
              <a:ext uri="{FF2B5EF4-FFF2-40B4-BE49-F238E27FC236}">
                <a16:creationId xmlns:a16="http://schemas.microsoft.com/office/drawing/2014/main" id="{4FABA4CC-CB4F-4F07-9D88-5D41F9F51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DEMO-11 · 원인을 찾기 위한 교육용 관점</a:t>
            </a:r>
          </a:p>
        </p:txBody>
      </p:sp>
      <p:sp>
        <p:nvSpPr>
          <p:cNvPr id="6" name="가능한 원인 후보이며, 증상만으로 한 원인을 확정하지 않는다.">
            <a:extLst xmlns:a="http://schemas.openxmlformats.org/drawingml/2006/main">
              <a:ext uri="{FF2B5EF4-FFF2-40B4-BE49-F238E27FC236}">
                <a16:creationId xmlns:a16="http://schemas.microsoft.com/office/drawing/2014/main" id="{82B894C2-78DD-4BEA-83AD-64AF92E25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가능한 원인 후보이며, 증상만으로 한 원인을 확정하지 않는다.</a:t>
            </a:r>
          </a:p>
        </p:txBody>
      </p:sp>
      <p:sp>
        <p:nvSpPr>
          <p:cNvPr id="7" name="“요청한 검증이 충분한가?”">
            <a:extLst xmlns:a="http://schemas.openxmlformats.org/drawingml/2006/main">
              <a:ext uri="{FF2B5EF4-FFF2-40B4-BE49-F238E27FC236}">
                <a16:creationId xmlns:a16="http://schemas.microsoft.com/office/drawing/2014/main" id="{B826AD79-9C79-4A95-B4F1-055B8604F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5334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“요청한 검증이 충분한가?”</a:t>
            </a:r>
          </a:p>
        </p:txBody>
      </p:sp>
      <p:sp>
        <p:nvSpPr>
          <p:cNvPr id="8" name="증상에서 바로 결론으로 가지 않는다">
            <a:extLst xmlns:a="http://schemas.openxmlformats.org/drawingml/2006/main">
              <a:ext uri="{FF2B5EF4-FFF2-40B4-BE49-F238E27FC236}">
                <a16:creationId xmlns:a16="http://schemas.microsoft.com/office/drawing/2014/main" id="{8E31FE82-2C07-46AE-9A4C-481C9BB6B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5334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증상에서 바로 결론으로 가지 않는다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A1EFD6-3901-4890-8BFE-415361604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669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10" name="Context">
            <a:extLst xmlns:a="http://schemas.openxmlformats.org/drawingml/2006/main">
              <a:ext uri="{FF2B5EF4-FFF2-40B4-BE49-F238E27FC236}">
                <a16:creationId xmlns:a16="http://schemas.microsoft.com/office/drawing/2014/main" id="{8D6DEE60-F39F-4226-9E05-B359FB8E7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3622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Context</a:t>
            </a:r>
          </a:p>
        </p:txBody>
      </p:sp>
      <p:sp>
        <p:nvSpPr>
          <p:cNvPr id="11" name="현재 기준이 맞는가?">
            <a:extLst xmlns:a="http://schemas.openxmlformats.org/drawingml/2006/main">
              <a:ext uri="{FF2B5EF4-FFF2-40B4-BE49-F238E27FC236}">
                <a16:creationId xmlns:a16="http://schemas.microsoft.com/office/drawing/2014/main" id="{EB5EF581-1477-4DB0-AD39-DE5280D2A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362200"/>
            <a:ext cx="2971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기준이 맞는가?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E42FC4-E987-4D7F-9322-4DEFDD3E7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480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13" name="Workflow">
            <a:extLst xmlns:a="http://schemas.openxmlformats.org/drawingml/2006/main">
              <a:ext uri="{FF2B5EF4-FFF2-40B4-BE49-F238E27FC236}">
                <a16:creationId xmlns:a16="http://schemas.microsoft.com/office/drawing/2014/main" id="{D0882E12-85D6-4CCC-BE67-BEA7A599F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432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Workflow</a:t>
            </a:r>
          </a:p>
        </p:txBody>
      </p:sp>
      <p:sp>
        <p:nvSpPr>
          <p:cNvPr id="14" name="어떤 절차를 지시하는가?">
            <a:extLst xmlns:a="http://schemas.openxmlformats.org/drawingml/2006/main">
              <a:ext uri="{FF2B5EF4-FFF2-40B4-BE49-F238E27FC236}">
                <a16:creationId xmlns:a16="http://schemas.microsoft.com/office/drawing/2014/main" id="{11398E2B-7D8B-415E-B10A-210D21CDE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143250"/>
            <a:ext cx="2971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절차를 지시하는가?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B9A67A-83EE-4120-9614-9DC1B12C7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290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16" name="환경 · 권한">
            <a:extLst xmlns:a="http://schemas.openxmlformats.org/drawingml/2006/main">
              <a:ext uri="{FF2B5EF4-FFF2-40B4-BE49-F238E27FC236}">
                <a16:creationId xmlns:a16="http://schemas.microsoft.com/office/drawing/2014/main" id="{1E368970-0B60-45DC-B477-82020E51C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243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환경 · 권한</a:t>
            </a:r>
          </a:p>
        </p:txBody>
      </p:sp>
      <p:sp>
        <p:nvSpPr>
          <p:cNvPr id="17" name="실행 조건이 맞는가?">
            <a:extLst xmlns:a="http://schemas.openxmlformats.org/drawingml/2006/main">
              <a:ext uri="{FF2B5EF4-FFF2-40B4-BE49-F238E27FC236}">
                <a16:creationId xmlns:a16="http://schemas.microsoft.com/office/drawing/2014/main" id="{7A0646BE-FB34-4644-BB8C-3953EE451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924300"/>
            <a:ext cx="2971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 조건이 맞는가?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67CDEB-9494-430D-A8CC-AFC1152D4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6101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19" name="제품 코드">
            <a:extLst xmlns:a="http://schemas.openxmlformats.org/drawingml/2006/main">
              <a:ext uri="{FF2B5EF4-FFF2-40B4-BE49-F238E27FC236}">
                <a16:creationId xmlns:a16="http://schemas.microsoft.com/office/drawing/2014/main" id="{1BE15B46-90B9-47DA-8E90-199C0301A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7053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제품 코드</a:t>
            </a:r>
          </a:p>
        </p:txBody>
      </p:sp>
      <p:sp>
        <p:nvSpPr>
          <p:cNvPr id="20" name="동작 자체의 문제인가?">
            <a:extLst xmlns:a="http://schemas.openxmlformats.org/drawingml/2006/main">
              <a:ext uri="{FF2B5EF4-FFF2-40B4-BE49-F238E27FC236}">
                <a16:creationId xmlns:a16="http://schemas.microsoft.com/office/drawing/2014/main" id="{125A5865-2C46-41E6-B7B9-DA523F577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705350"/>
            <a:ext cx="2971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동작 자체의 문제인가?</a:t>
            </a:r>
          </a:p>
        </p:txBody>
      </p:sp>
      <p:sp>
        <p:nvSpPr>
          <p:cNvPr id="21" name="확인할 기록부터 찾는다">
            <a:extLst xmlns:a="http://schemas.openxmlformats.org/drawingml/2006/main">
              <a:ext uri="{FF2B5EF4-FFF2-40B4-BE49-F238E27FC236}">
                <a16:creationId xmlns:a16="http://schemas.microsoft.com/office/drawing/2014/main" id="{7540BEEB-25F6-4275-B4A9-6FAFCD8B8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5238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확인할 기록부터 찾는다</a:t>
            </a:r>
          </a:p>
        </p:txBody>
      </p:sp>
      <p:sp>
        <p:nvSpPr>
          <p:cNvPr id="22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8CE26676-F6AB-4771-8C20-6995D05ED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M6</a:t>
            </a:r>
          </a:p>
        </p:txBody>
      </p:sp>
    </p:spTree>
    <p:extLst>
      <p:ext uri="{BB962C8B-B14F-4D97-AF65-F5344CB8AC3E}">
        <p14:creationId xmlns:p14="http://schemas.microsoft.com/office/powerpoint/2010/main" val="21378429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ACT 4 · CONCEPTUAL / 가정과 추론">
            <a:extLst xmlns:a="http://schemas.openxmlformats.org/drawingml/2006/main">
              <a:ext uri="{FF2B5EF4-FFF2-40B4-BE49-F238E27FC236}">
                <a16:creationId xmlns:a16="http://schemas.microsoft.com/office/drawing/2014/main" id="{343ADFA3-84DA-413C-A169-B02091C26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가정과 추론</a:t>
            </a:r>
          </a:p>
        </p:txBody>
      </p:sp>
      <p:sp>
        <p:nvSpPr>
          <p:cNvPr id="2" name="S63">
            <a:extLst xmlns:a="http://schemas.openxmlformats.org/drawingml/2006/main">
              <a:ext uri="{FF2B5EF4-FFF2-40B4-BE49-F238E27FC236}">
                <a16:creationId xmlns:a16="http://schemas.microsoft.com/office/drawing/2014/main" id="{18206022-9559-44B4-B823-EEF093B96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S63</a:t>
            </a:r>
          </a:p>
        </p:txBody>
      </p:sp>
      <p:sp>
        <p:nvSpPr>
          <p:cNvPr id="3" name="먼저 관찰하고, 그다음 가설을 세운다">
            <a:extLst xmlns:a="http://schemas.openxmlformats.org/drawingml/2006/main">
              <a:ext uri="{FF2B5EF4-FFF2-40B4-BE49-F238E27FC236}">
                <a16:creationId xmlns:a16="http://schemas.microsoft.com/office/drawing/2014/main" id="{74CBC231-B79A-45CC-BE85-7B4D43191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먼저 관찰하고, 그다음 가설을 세운다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81730D-76A0-4AD2-8B09-6DBD38025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구성된 사례의 전제와 원인 가설">
            <a:extLst xmlns:a="http://schemas.openxmlformats.org/drawingml/2006/main">
              <a:ext uri="{FF2B5EF4-FFF2-40B4-BE49-F238E27FC236}">
                <a16:creationId xmlns:a16="http://schemas.microsoft.com/office/drawing/2014/main" id="{37A9D2A8-3913-4025-A9DE-DDE3599F2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구성된 사례의 전제와 원인 가설</a:t>
            </a:r>
          </a:p>
        </p:txBody>
      </p:sp>
      <p:sp>
        <p:nvSpPr>
          <p:cNvPr id="6" name="가상 설정을 실제 Trial 관찰로 표현하지 않는다. 실행 결과는 아직 없다.">
            <a:extLst xmlns:a="http://schemas.openxmlformats.org/drawingml/2006/main">
              <a:ext uri="{FF2B5EF4-FFF2-40B4-BE49-F238E27FC236}">
                <a16:creationId xmlns:a16="http://schemas.microsoft.com/office/drawing/2014/main" id="{C1E429F2-92C6-49FA-81BE-A6CCAC8B4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가상 설정을 실제 Trial 관찰로 표현하지 않는다. 실행 결과는 아직 없다.</a:t>
            </a:r>
          </a:p>
        </p:txBody>
      </p:sp>
      <p:sp>
        <p:nvSpPr>
          <p:cNvPr id="7" name="사례에 주어진 정보">
            <a:extLst xmlns:a="http://schemas.openxmlformats.org/drawingml/2006/main">
              <a:ext uri="{FF2B5EF4-FFF2-40B4-BE49-F238E27FC236}">
                <a16:creationId xmlns:a16="http://schemas.microsoft.com/office/drawing/2014/main" id="{84694361-8B01-402F-8209-BD202A1EE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28850"/>
            <a:ext cx="495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사례에 주어진 정보</a:t>
            </a:r>
          </a:p>
        </p:txBody>
      </p:sp>
      <p:sp>
        <p:nvSpPr>
          <p:cNvPr id="8" name="확인해야 할 가설">
            <a:extLst xmlns:a="http://schemas.openxmlformats.org/drawingml/2006/main">
              <a:ext uri="{FF2B5EF4-FFF2-40B4-BE49-F238E27FC236}">
                <a16:creationId xmlns:a16="http://schemas.microsoft.com/office/drawing/2014/main" id="{7C7D6573-E313-44C9-A0CD-BB5C0746C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28850"/>
            <a:ext cx="4876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확인해야 할 가설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68F909-08E1-4425-97B9-2C90A823C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860B37-9041-463F-8B5B-1C5930F5F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575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1" name="현재 기준: 단위 + 통합&#10;재사용 지침: 단위만">
            <a:extLst xmlns:a="http://schemas.openxmlformats.org/drawingml/2006/main">
              <a:ext uri="{FF2B5EF4-FFF2-40B4-BE49-F238E27FC236}">
                <a16:creationId xmlns:a16="http://schemas.microsoft.com/office/drawing/2014/main" id="{F0F8D7E3-5C18-435E-8089-23EB5D87D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48768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기준: 단위 + 통합</a:t>
            </a:r>
          </a:p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재사용 지침: 단위만</a:t>
            </a:r>
          </a:p>
        </p:txBody>
      </p:sp>
      <p:sp>
        <p:nvSpPr>
          <p:cNvPr id="12" name="오래된 Workflow가&#10;문제의 원인일 수 있다">
            <a:extLst xmlns:a="http://schemas.openxmlformats.org/drawingml/2006/main">
              <a:ext uri="{FF2B5EF4-FFF2-40B4-BE49-F238E27FC236}">
                <a16:creationId xmlns:a16="http://schemas.microsoft.com/office/drawing/2014/main" id="{2D84259E-2FD8-46D5-B79A-3439BE458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14675"/>
            <a:ext cx="48768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오래된 Workflow가</a:t>
            </a:r>
          </a:p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문제의 원인일 수 있다</a:t>
            </a:r>
          </a:p>
        </p:txBody>
      </p:sp>
      <p:sp>
        <p:nvSpPr>
          <p:cNvPr id="13" name="실행 경로와 실제로 읽은 지침을 대조해야 원인을 판단할 수 있다.">
            <a:extLst xmlns:a="http://schemas.openxmlformats.org/drawingml/2006/main">
              <a:ext uri="{FF2B5EF4-FFF2-40B4-BE49-F238E27FC236}">
                <a16:creationId xmlns:a16="http://schemas.microsoft.com/office/drawing/2014/main" id="{B826F0FD-5BEC-4586-AD5C-3770C2CEF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1490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실행 경로와 실제로 읽은 지침을 대조해야 원인을 판단할 수 있다.</a:t>
            </a:r>
          </a:p>
        </p:txBody>
      </p:sp>
      <p:sp>
        <p:nvSpPr>
          <p:cNvPr id="1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A187C707-4637-4A3F-80CF-9D0FAE13E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M6</a:t>
            </a:r>
          </a:p>
        </p:txBody>
      </p:sp>
    </p:spTree>
    <p:extLst>
      <p:ext uri="{BB962C8B-B14F-4D97-AF65-F5344CB8AC3E}">
        <p14:creationId xmlns:p14="http://schemas.microsoft.com/office/powerpoint/2010/main" val="132150017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ACT 4 · CONCEPTUAL / 원인에 맞는 수정">
            <a:extLst xmlns:a="http://schemas.openxmlformats.org/drawingml/2006/main">
              <a:ext uri="{FF2B5EF4-FFF2-40B4-BE49-F238E27FC236}">
                <a16:creationId xmlns:a16="http://schemas.microsoft.com/office/drawing/2014/main" id="{53F1BC21-1EBF-46E2-8119-AAA4E75E9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원인에 맞는 수정</a:t>
            </a:r>
          </a:p>
        </p:txBody>
      </p:sp>
      <p:sp>
        <p:nvSpPr>
          <p:cNvPr id="2" name="S64">
            <a:extLst xmlns:a="http://schemas.openxmlformats.org/drawingml/2006/main">
              <a:ext uri="{FF2B5EF4-FFF2-40B4-BE49-F238E27FC236}">
                <a16:creationId xmlns:a16="http://schemas.microsoft.com/office/drawing/2014/main" id="{539A41DD-B526-4459-9484-8CC40CE2E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S64</a:t>
            </a:r>
          </a:p>
        </p:txBody>
      </p:sp>
      <p:sp>
        <p:nvSpPr>
          <p:cNvPr id="3" name="Cause가 지지하는 최소 변경">
            <a:extLst xmlns:a="http://schemas.openxmlformats.org/drawingml/2006/main">
              <a:ext uri="{FF2B5EF4-FFF2-40B4-BE49-F238E27FC236}">
                <a16:creationId xmlns:a16="http://schemas.microsoft.com/office/drawing/2014/main" id="{3A00DAA7-050B-446A-9FD6-60850A909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Cause가 지지하는 최소 변경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606074-7521-41BD-A9E2-FE47CB27A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원인이 확인됐다고 가정한 변경 설계">
            <a:extLst xmlns:a="http://schemas.openxmlformats.org/drawingml/2006/main">
              <a:ext uri="{FF2B5EF4-FFF2-40B4-BE49-F238E27FC236}">
                <a16:creationId xmlns:a16="http://schemas.microsoft.com/office/drawing/2014/main" id="{218CB0D7-8CF4-4444-9082-7A1327FD6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원인이 확인됐다고 가정한 변경 설계</a:t>
            </a:r>
          </a:p>
        </p:txBody>
      </p:sp>
      <p:sp>
        <p:nvSpPr>
          <p:cNvPr id="6" name="실제 코드·Skill 수정 또는 실행 결과가 아니다. 관련 없는 규칙은 임의로 바꾸지 않는다.">
            <a:extLst xmlns:a="http://schemas.openxmlformats.org/drawingml/2006/main">
              <a:ext uri="{FF2B5EF4-FFF2-40B4-BE49-F238E27FC236}">
                <a16:creationId xmlns:a16="http://schemas.microsoft.com/office/drawing/2014/main" id="{AE41F5BE-F295-4502-B091-483148E85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실제 코드·Skill 수정 또는 실행 결과가 아니다. 관련 없는 규칙은 임의로 바꾸지 않는다.</a:t>
            </a:r>
          </a:p>
        </p:txBody>
      </p:sp>
      <p:sp>
        <p:nvSpPr>
          <p:cNvPr id="7" name="Workflow가 원인으로 확인됐다면">
            <a:extLst xmlns:a="http://schemas.openxmlformats.org/drawingml/2006/main">
              <a:ext uri="{FF2B5EF4-FFF2-40B4-BE49-F238E27FC236}">
                <a16:creationId xmlns:a16="http://schemas.microsoft.com/office/drawing/2014/main" id="{05B41CEE-880B-4C62-BBF6-E8EB08BC0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Workflow가 원인으로 확인됐다면</a:t>
            </a:r>
          </a:p>
        </p:txBody>
      </p:sp>
      <p:sp>
        <p:nvSpPr>
          <p:cNvPr id="8" name="기존 재사용 지침">
            <a:extLst xmlns:a="http://schemas.openxmlformats.org/drawingml/2006/main">
              <a:ext uri="{FF2B5EF4-FFF2-40B4-BE49-F238E27FC236}">
                <a16:creationId xmlns:a16="http://schemas.microsoft.com/office/drawing/2014/main" id="{F6DE46CE-144F-4A64-A421-CC14A30F1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기존 재사용 지침</a:t>
            </a:r>
          </a:p>
        </p:txBody>
      </p:sp>
      <p:sp>
        <p:nvSpPr>
          <p:cNvPr id="9" name="갱신할 지침">
            <a:extLst xmlns:a="http://schemas.openxmlformats.org/drawingml/2006/main">
              <a:ext uri="{FF2B5EF4-FFF2-40B4-BE49-F238E27FC236}">
                <a16:creationId xmlns:a16="http://schemas.microsoft.com/office/drawing/2014/main" id="{8D2A5A20-712E-4802-875D-243C24690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67050"/>
            <a:ext cx="487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갱신할 지침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DB4C9A-D928-462E-9576-6D8D86BCE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997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C7C1CD-5EE7-4EEA-AEAD-C88EDAB4F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0997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2" name="단위 테스트를 확인">
            <a:extLst xmlns:a="http://schemas.openxmlformats.org/drawingml/2006/main">
              <a:ext uri="{FF2B5EF4-FFF2-40B4-BE49-F238E27FC236}">
                <a16:creationId xmlns:a16="http://schemas.microsoft.com/office/drawing/2014/main" id="{98342EF5-0244-40FF-9E3D-AF98915D3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14775"/>
            <a:ext cx="4876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테스트를 확인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4F861C-8B50-473C-BC6F-DC095C5F7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010025"/>
            <a:ext cx="6096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4" name="단위 + 통합 테스트 확인">
            <a:extLst xmlns:a="http://schemas.openxmlformats.org/drawingml/2006/main">
              <a:ext uri="{FF2B5EF4-FFF2-40B4-BE49-F238E27FC236}">
                <a16:creationId xmlns:a16="http://schemas.microsoft.com/office/drawing/2014/main" id="{2904FDC5-0215-47D9-96AC-DD245B8B4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14775"/>
            <a:ext cx="4876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+ 통합 테스트 확인</a:t>
            </a:r>
          </a:p>
        </p:txBody>
      </p:sp>
      <p:sp>
        <p:nvSpPr>
          <p:cNvPr id="15" name="원인이 뒷받침하는 범위까지 바꾼다.">
            <a:extLst xmlns:a="http://schemas.openxmlformats.org/drawingml/2006/main">
              <a:ext uri="{FF2B5EF4-FFF2-40B4-BE49-F238E27FC236}">
                <a16:creationId xmlns:a16="http://schemas.microsoft.com/office/drawing/2014/main" id="{AE8F5A38-8F6C-45BD-964A-B7A71E34A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7682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원인이 뒷받침하는 범위까지 바꾼다.</a:t>
            </a:r>
          </a:p>
        </p:txBody>
      </p:sp>
      <p:sp>
        <p:nvSpPr>
          <p:cNvPr id="16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8F915BAD-3746-4FD8-8933-7D26B446D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189406448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ACT 4 · CONCEPTUAL / 평가 범위">
            <a:extLst xmlns:a="http://schemas.openxmlformats.org/drawingml/2006/main">
              <a:ext uri="{FF2B5EF4-FFF2-40B4-BE49-F238E27FC236}">
                <a16:creationId xmlns:a16="http://schemas.microsoft.com/office/drawing/2014/main" id="{25431884-C4D5-4DAF-A6BE-542832671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평가 범위</a:t>
            </a:r>
          </a:p>
        </p:txBody>
      </p:sp>
      <p:sp>
        <p:nvSpPr>
          <p:cNvPr id="2" name="S65">
            <a:extLst xmlns:a="http://schemas.openxmlformats.org/drawingml/2006/main">
              <a:ext uri="{FF2B5EF4-FFF2-40B4-BE49-F238E27FC236}">
                <a16:creationId xmlns:a16="http://schemas.microsoft.com/office/drawing/2014/main" id="{0B0003EC-E45A-406D-B373-BA3D40740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S65</a:t>
            </a:r>
          </a:p>
        </p:txBody>
      </p:sp>
      <p:sp>
        <p:nvSpPr>
          <p:cNvPr id="3" name="같은 Task의 재실행만으로 충분할까?">
            <a:extLst xmlns:a="http://schemas.openxmlformats.org/drawingml/2006/main">
              <a:ext uri="{FF2B5EF4-FFF2-40B4-BE49-F238E27FC236}">
                <a16:creationId xmlns:a16="http://schemas.microsoft.com/office/drawing/2014/main" id="{3FA308C4-B402-4A25-9A79-A0334F0D1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Task의 재실행만으로 충분할까?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9AE4CB-8AD2-4FF6-BEB0-7DD84D5AF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변경 후 확인할 질문을 설계한 도식">
            <a:extLst xmlns:a="http://schemas.openxmlformats.org/drawingml/2006/main">
              <a:ext uri="{FF2B5EF4-FFF2-40B4-BE49-F238E27FC236}">
                <a16:creationId xmlns:a16="http://schemas.microsoft.com/office/drawing/2014/main" id="{4A2ED887-A1A9-43F6-839D-E62391F76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변경 후 확인할 질문을 설계한 도식</a:t>
            </a:r>
          </a:p>
        </p:txBody>
      </p:sp>
      <p:sp>
        <p:nvSpPr>
          <p:cNvPr id="6" name="재실행·회귀 테스트 결과는 없다. 두 검증 질문을 구분하는 가상 사례다.">
            <a:extLst xmlns:a="http://schemas.openxmlformats.org/drawingml/2006/main">
              <a:ext uri="{FF2B5EF4-FFF2-40B4-BE49-F238E27FC236}">
                <a16:creationId xmlns:a16="http://schemas.microsoft.com/office/drawing/2014/main" id="{E0E874F2-F9A9-4113-A460-B7745A247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재실행·회귀 테스트 결과는 없다. 두 검증 질문을 구분하는 가상 사례다.</a:t>
            </a:r>
          </a:p>
        </p:txBody>
      </p:sp>
      <p:sp>
        <p:nvSpPr>
          <p:cNvPr id="7" name="이번 작업을 다시 확인">
            <a:extLst xmlns:a="http://schemas.openxmlformats.org/drawingml/2006/main">
              <a:ext uri="{FF2B5EF4-FFF2-40B4-BE49-F238E27FC236}">
                <a16:creationId xmlns:a16="http://schemas.microsoft.com/office/drawing/2014/main" id="{AD05D2AC-50AF-4DBA-8A1B-FF9A3DA62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876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작업을 다시 확인</a:t>
            </a:r>
          </a:p>
        </p:txBody>
      </p:sp>
      <p:sp>
        <p:nvSpPr>
          <p:cNvPr id="8" name="다른 작업도 확인">
            <a:extLst xmlns:a="http://schemas.openxmlformats.org/drawingml/2006/main">
              <a:ext uri="{FF2B5EF4-FFF2-40B4-BE49-F238E27FC236}">
                <a16:creationId xmlns:a16="http://schemas.microsoft.com/office/drawing/2014/main" id="{445723D8-57B1-40BD-973D-FEEB25A06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38375"/>
            <a:ext cx="4876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다른 작업도 확인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6864B6-7C48-4418-B80B-627B02CC2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A30F57-8314-4969-90BE-6959BEAFE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527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1" name="요청했던 검증 범위를&#10;이제 다루는가?">
            <a:extLst xmlns:a="http://schemas.openxmlformats.org/drawingml/2006/main">
              <a:ext uri="{FF2B5EF4-FFF2-40B4-BE49-F238E27FC236}">
                <a16:creationId xmlns:a16="http://schemas.microsoft.com/office/drawing/2014/main" id="{9CFA9538-0B0F-412F-A660-D08C660C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48768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요청했던 검증 범위를</a:t>
            </a:r>
          </a:p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이제 다루는가?</a:t>
            </a:r>
          </a:p>
        </p:txBody>
      </p:sp>
      <p:sp>
        <p:nvSpPr>
          <p:cNvPr id="12" name="바뀐 지침이 다른 작업을&#10;방해하지 않는가?">
            <a:extLst xmlns:a="http://schemas.openxmlformats.org/drawingml/2006/main">
              <a:ext uri="{FF2B5EF4-FFF2-40B4-BE49-F238E27FC236}">
                <a16:creationId xmlns:a16="http://schemas.microsoft.com/office/drawing/2014/main" id="{D931C023-8C49-4819-84F4-4A8933277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14700"/>
            <a:ext cx="48768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바뀐 지침이 다른 작업을</a:t>
            </a:r>
          </a:p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방해하지 않는가?</a:t>
            </a:r>
          </a:p>
        </p:txBody>
      </p:sp>
      <p:sp>
        <p:nvSpPr>
          <p:cNvPr id="13" name="확인할 범위가 다르므로, 두 질문이 모두 필요하다.">
            <a:extLst xmlns:a="http://schemas.openxmlformats.org/drawingml/2006/main">
              <a:ext uri="{FF2B5EF4-FFF2-40B4-BE49-F238E27FC236}">
                <a16:creationId xmlns:a16="http://schemas.microsoft.com/office/drawing/2014/main" id="{AEE3D4EB-4DCA-4D54-94B1-AE66DF607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확인할 범위가 다르므로, 두 질문이 모두 필요하다.</a:t>
            </a:r>
          </a:p>
        </p:txBody>
      </p:sp>
      <p:sp>
        <p:nvSpPr>
          <p:cNvPr id="1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EA009E9F-24C3-414B-9F8D-325B0CC2C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M6</a:t>
            </a:r>
          </a:p>
        </p:txBody>
      </p:sp>
    </p:spTree>
    <p:extLst>
      <p:ext uri="{BB962C8B-B14F-4D97-AF65-F5344CB8AC3E}">
        <p14:creationId xmlns:p14="http://schemas.microsoft.com/office/powerpoint/2010/main" val="181761168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ACT 4 · CONCEPTUAL / 평가 설계">
            <a:extLst xmlns:a="http://schemas.openxmlformats.org/drawingml/2006/main">
              <a:ext uri="{FF2B5EF4-FFF2-40B4-BE49-F238E27FC236}">
                <a16:creationId xmlns:a16="http://schemas.microsoft.com/office/drawing/2014/main" id="{1460A5AD-9697-4E6B-9B5F-AA3C6965A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평가 설계</a:t>
            </a:r>
          </a:p>
        </p:txBody>
      </p:sp>
      <p:sp>
        <p:nvSpPr>
          <p:cNvPr id="2" name="S66">
            <a:extLst xmlns:a="http://schemas.openxmlformats.org/drawingml/2006/main">
              <a:ext uri="{FF2B5EF4-FFF2-40B4-BE49-F238E27FC236}">
                <a16:creationId xmlns:a16="http://schemas.microsoft.com/office/drawing/2014/main" id="{52F42972-F79C-49FC-928E-0EA6EC2C2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S66</a:t>
            </a:r>
          </a:p>
        </p:txBody>
      </p:sp>
      <p:sp>
        <p:nvSpPr>
          <p:cNvPr id="3" name="대표 작업으로 변경 범위를 확인하기">
            <a:extLst xmlns:a="http://schemas.openxmlformats.org/drawingml/2006/main">
              <a:ext uri="{FF2B5EF4-FFF2-40B4-BE49-F238E27FC236}">
                <a16:creationId xmlns:a16="http://schemas.microsoft.com/office/drawing/2014/main" id="{6C8403B3-DED1-4E39-BB61-BACA5140F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대표 작업으로 변경 범위를 확인하기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C32254-D3F0-4FF4-8894-E2BE4AF78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10 · 네 작업 모두 이 Workflow 변경 후의 평가 결과는 없음">
            <a:extLst xmlns:a="http://schemas.openxmlformats.org/drawingml/2006/main">
              <a:ext uri="{FF2B5EF4-FFF2-40B4-BE49-F238E27FC236}">
                <a16:creationId xmlns:a16="http://schemas.microsoft.com/office/drawing/2014/main" id="{82DE38FC-6F88-40D1-B45A-E55196C18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DEMO-10 · 네 작업 모두 이 Workflow 변경 후의 평가 결과는 없음</a:t>
            </a:r>
          </a:p>
        </p:txBody>
      </p:sp>
      <p:sp>
        <p:nvSpPr>
          <p:cNvPr id="6" name="EVAL-01/02: 별도 과거 관찰 참고 · EVAL-03/04: 설계만 있음 · 새 실행·PASS/FAI">
            <a:extLst xmlns:a="http://schemas.openxmlformats.org/drawingml/2006/main">
              <a:ext uri="{FF2B5EF4-FFF2-40B4-BE49-F238E27FC236}">
                <a16:creationId xmlns:a16="http://schemas.microsoft.com/office/drawing/2014/main" id="{6F5EEF97-3C90-49DD-BBCC-F6E943AB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EVAL-01/02: 별도 과거 관찰 참고 · EVAL-03/04: 설계만 있음 · 새 실행·PASS/FAIL 없음</a:t>
            </a:r>
          </a:p>
        </p:txBody>
      </p:sp>
      <p:sp>
        <p:nvSpPr>
          <p:cNvPr id="7" name="작업 수보다, 서로 다른 위험을 덮는가?">
            <a:extLst xmlns:a="http://schemas.openxmlformats.org/drawingml/2006/main">
              <a:ext uri="{FF2B5EF4-FFF2-40B4-BE49-F238E27FC236}">
                <a16:creationId xmlns:a16="http://schemas.microsoft.com/office/drawing/2014/main" id="{F01901F4-ED86-4561-AF42-3CE549BCC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작업 수보다, 서로 다른 위험을 덮는가?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B87C6A-D9BE-4CD7-A396-29AAC3BDD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109728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A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평가 설계 · 네 작업 모두 이 Workflow 변경 뒤의 실행 결과는 없음">
            <a:extLst xmlns:a="http://schemas.openxmlformats.org/drawingml/2006/main">
              <a:ext uri="{FF2B5EF4-FFF2-40B4-BE49-F238E27FC236}">
                <a16:creationId xmlns:a16="http://schemas.microsoft.com/office/drawing/2014/main" id="{9B4DB8F3-F6B1-470A-AF34-7FF480261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47925"/>
            <a:ext cx="1066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평가 설계 · 네 작업 모두 이 Workflow 변경 뒤의 실행 결과는 없음</a:t>
            </a:r>
          </a:p>
        </p:txBody>
      </p:sp>
      <p:sp>
        <p:nvSpPr>
          <p:cNvPr id="10" name="대표 작업">
            <a:extLst xmlns:a="http://schemas.openxmlformats.org/drawingml/2006/main">
              <a:ext uri="{FF2B5EF4-FFF2-40B4-BE49-F238E27FC236}">
                <a16:creationId xmlns:a16="http://schemas.microsoft.com/office/drawing/2014/main" id="{06C63414-9E50-4AF4-986F-C49B019A3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대표 작업</a:t>
            </a:r>
          </a:p>
        </p:txBody>
      </p:sp>
      <p:sp>
        <p:nvSpPr>
          <p:cNvPr id="11" name="무엇을 확인하기 위한 설계인가?">
            <a:extLst xmlns:a="http://schemas.openxmlformats.org/drawingml/2006/main">
              <a:ext uri="{FF2B5EF4-FFF2-40B4-BE49-F238E27FC236}">
                <a16:creationId xmlns:a16="http://schemas.microsoft.com/office/drawing/2014/main" id="{DD4BBA96-6DF8-4E07-A0B5-154E4A0CD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924175"/>
            <a:ext cx="4895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무엇을 확인하기 위한 설계인가?</a:t>
            </a:r>
          </a:p>
        </p:txBody>
      </p:sp>
      <p:sp>
        <p:nvSpPr>
          <p:cNvPr id="12" name="현재 근거 상태">
            <a:extLst xmlns:a="http://schemas.openxmlformats.org/drawingml/2006/main">
              <a:ext uri="{FF2B5EF4-FFF2-40B4-BE49-F238E27FC236}">
                <a16:creationId xmlns:a16="http://schemas.microsoft.com/office/drawing/2014/main" id="{2745D9CF-7229-4940-8FFE-D118DECE6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924175"/>
            <a:ext cx="2724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현재 근거 상태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F4FC29-7FAC-4B8A-A5F5-3ACDFF4CB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14" name="EVAL-01">
            <a:extLst xmlns:a="http://schemas.openxmlformats.org/drawingml/2006/main">
              <a:ext uri="{FF2B5EF4-FFF2-40B4-BE49-F238E27FC236}">
                <a16:creationId xmlns:a16="http://schemas.microsoft.com/office/drawing/2014/main" id="{B690ED10-3439-4B92-90DC-1F79C0FFF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62325"/>
            <a:ext cx="1209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EVAL-01</a:t>
            </a:r>
          </a:p>
        </p:txBody>
      </p:sp>
      <p:sp>
        <p:nvSpPr>
          <p:cNvPr id="15" name="버그 수정">
            <a:extLst xmlns:a="http://schemas.openxmlformats.org/drawingml/2006/main">
              <a:ext uri="{FF2B5EF4-FFF2-40B4-BE49-F238E27FC236}">
                <a16:creationId xmlns:a16="http://schemas.microsoft.com/office/drawing/2014/main" id="{3C4FF450-4AA7-4DDA-82BF-E26176D7C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35280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버그 수정</a:t>
            </a:r>
          </a:p>
        </p:txBody>
      </p:sp>
      <p:sp>
        <p:nvSpPr>
          <p:cNvPr id="16" name="동작 계약을 확인하는가?">
            <a:extLst xmlns:a="http://schemas.openxmlformats.org/drawingml/2006/main">
              <a:ext uri="{FF2B5EF4-FFF2-40B4-BE49-F238E27FC236}">
                <a16:creationId xmlns:a16="http://schemas.microsoft.com/office/drawing/2014/main" id="{241AD154-D556-4ED8-BB97-34CAD40A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352800"/>
            <a:ext cx="489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동작 계약을 확인하는가?</a:t>
            </a:r>
          </a:p>
        </p:txBody>
      </p:sp>
      <p:sp>
        <p:nvSpPr>
          <p:cNvPr id="17" name="과거 관찰 참고">
            <a:extLst xmlns:a="http://schemas.openxmlformats.org/drawingml/2006/main">
              <a:ext uri="{FF2B5EF4-FFF2-40B4-BE49-F238E27FC236}">
                <a16:creationId xmlns:a16="http://schemas.microsoft.com/office/drawing/2014/main" id="{9E4B3E7E-9A7C-40B2-8977-24805231C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33750"/>
            <a:ext cx="27241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과거 관찰 참고</a:t>
            </a:r>
          </a:p>
        </p:txBody>
      </p:sp>
      <p:sp>
        <p:nvSpPr>
          <p:cNvPr id="18" name="TRIAL-002">
            <a:extLst xmlns:a="http://schemas.openxmlformats.org/drawingml/2006/main">
              <a:ext uri="{FF2B5EF4-FFF2-40B4-BE49-F238E27FC236}">
                <a16:creationId xmlns:a16="http://schemas.microsoft.com/office/drawing/2014/main" id="{5E1EADED-3EC4-4879-9253-9903CE7B2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581400"/>
            <a:ext cx="2724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2A46CA-FB8C-449F-850A-00DA49CDF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20" name="EVAL-02">
            <a:extLst xmlns:a="http://schemas.openxmlformats.org/drawingml/2006/main">
              <a:ext uri="{FF2B5EF4-FFF2-40B4-BE49-F238E27FC236}">
                <a16:creationId xmlns:a16="http://schemas.microsoft.com/office/drawing/2014/main" id="{3963BBCC-6E99-4F5F-A10F-71F7C8398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52875"/>
            <a:ext cx="1209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EVAL-02</a:t>
            </a:r>
          </a:p>
        </p:txBody>
      </p:sp>
      <p:sp>
        <p:nvSpPr>
          <p:cNvPr id="21" name="성능 변경">
            <a:extLst xmlns:a="http://schemas.openxmlformats.org/drawingml/2006/main">
              <a:ext uri="{FF2B5EF4-FFF2-40B4-BE49-F238E27FC236}">
                <a16:creationId xmlns:a16="http://schemas.microsoft.com/office/drawing/2014/main" id="{A076118C-5E4E-4B93-8BF3-6BCDE3CC2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9433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성능 변경</a:t>
            </a:r>
          </a:p>
        </p:txBody>
      </p:sp>
      <p:sp>
        <p:nvSpPr>
          <p:cNvPr id="22" name="측정·검증 범위를 유지하는가?">
            <a:extLst xmlns:a="http://schemas.openxmlformats.org/drawingml/2006/main">
              <a:ext uri="{FF2B5EF4-FFF2-40B4-BE49-F238E27FC236}">
                <a16:creationId xmlns:a16="http://schemas.microsoft.com/office/drawing/2014/main" id="{75DD2811-44CF-4CE5-9451-B67640EE9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943350"/>
            <a:ext cx="489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측정·검증 범위를 유지하는가?</a:t>
            </a:r>
          </a:p>
        </p:txBody>
      </p:sp>
      <p:sp>
        <p:nvSpPr>
          <p:cNvPr id="23" name="과거 관찰 참고">
            <a:extLst xmlns:a="http://schemas.openxmlformats.org/drawingml/2006/main">
              <a:ext uri="{FF2B5EF4-FFF2-40B4-BE49-F238E27FC236}">
                <a16:creationId xmlns:a16="http://schemas.microsoft.com/office/drawing/2014/main" id="{77EB1CB4-9A48-4C8B-9B78-C52320BFA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924300"/>
            <a:ext cx="27241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과거 관찰 참고</a:t>
            </a:r>
          </a:p>
        </p:txBody>
      </p:sp>
      <p:sp>
        <p:nvSpPr>
          <p:cNvPr id="24" name="STATE-04-PERF">
            <a:extLst xmlns:a="http://schemas.openxmlformats.org/drawingml/2006/main">
              <a:ext uri="{FF2B5EF4-FFF2-40B4-BE49-F238E27FC236}">
                <a16:creationId xmlns:a16="http://schemas.microsoft.com/office/drawing/2014/main" id="{C9A8C376-5F54-4762-A7CA-F9C1E0961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171950"/>
            <a:ext cx="2724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STATE-04-PERF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1560B7-91A7-411C-B91D-C876A0107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26" name="EVAL-03">
            <a:extLst xmlns:a="http://schemas.openxmlformats.org/drawingml/2006/main">
              <a:ext uri="{FF2B5EF4-FFF2-40B4-BE49-F238E27FC236}">
                <a16:creationId xmlns:a16="http://schemas.microsoft.com/office/drawing/2014/main" id="{84038442-27FD-44AF-A54F-A1AEAD752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43425"/>
            <a:ext cx="1209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EVAL-03</a:t>
            </a:r>
          </a:p>
        </p:txBody>
      </p:sp>
      <p:sp>
        <p:nvSpPr>
          <p:cNvPr id="27" name="문서만 수정">
            <a:extLst xmlns:a="http://schemas.openxmlformats.org/drawingml/2006/main">
              <a:ext uri="{FF2B5EF4-FFF2-40B4-BE49-F238E27FC236}">
                <a16:creationId xmlns:a16="http://schemas.microsoft.com/office/drawing/2014/main" id="{A3DBCB1E-6D92-4D5A-B244-FEDAE8F70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53390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문서만 수정</a:t>
            </a:r>
          </a:p>
        </p:txBody>
      </p:sp>
      <p:sp>
        <p:nvSpPr>
          <p:cNvPr id="28" name="불필요한 절차를 강요하지 않는가?">
            <a:extLst xmlns:a="http://schemas.openxmlformats.org/drawingml/2006/main">
              <a:ext uri="{FF2B5EF4-FFF2-40B4-BE49-F238E27FC236}">
                <a16:creationId xmlns:a16="http://schemas.microsoft.com/office/drawing/2014/main" id="{B2A243C2-67AB-4698-B039-3B80BC70E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533900"/>
            <a:ext cx="489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불필요한 절차를 강요하지 않는가?</a:t>
            </a:r>
          </a:p>
        </p:txBody>
      </p:sp>
      <p:sp>
        <p:nvSpPr>
          <p:cNvPr id="29" name="설계 사례">
            <a:extLst xmlns:a="http://schemas.openxmlformats.org/drawingml/2006/main">
              <a:ext uri="{FF2B5EF4-FFF2-40B4-BE49-F238E27FC236}">
                <a16:creationId xmlns:a16="http://schemas.microsoft.com/office/drawing/2014/main" id="{3C03F445-25F8-491C-939B-2B079291E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514850"/>
            <a:ext cx="27241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설계 사례</a:t>
            </a:r>
          </a:p>
        </p:txBody>
      </p:sp>
      <p:sp>
        <p:nvSpPr>
          <p:cNvPr id="30" name="새 평가 실행 없음">
            <a:extLst xmlns:a="http://schemas.openxmlformats.org/drawingml/2006/main">
              <a:ext uri="{FF2B5EF4-FFF2-40B4-BE49-F238E27FC236}">
                <a16:creationId xmlns:a16="http://schemas.microsoft.com/office/drawing/2014/main" id="{025E3576-91CA-4D96-9143-A18791FB8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762500"/>
            <a:ext cx="2724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새 평가 실행 없음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E47CD5-1BD6-408D-B2AE-DED10C35D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32" name="EVAL-04">
            <a:extLst xmlns:a="http://schemas.openxmlformats.org/drawingml/2006/main">
              <a:ext uri="{FF2B5EF4-FFF2-40B4-BE49-F238E27FC236}">
                <a16:creationId xmlns:a16="http://schemas.microsoft.com/office/drawing/2014/main" id="{15FA0696-2EB4-454E-930D-042F109A1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209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EVAL-04</a:t>
            </a:r>
          </a:p>
        </p:txBody>
      </p:sp>
      <p:sp>
        <p:nvSpPr>
          <p:cNvPr id="33" name="작은 리팩터링">
            <a:extLst xmlns:a="http://schemas.openxmlformats.org/drawingml/2006/main">
              <a:ext uri="{FF2B5EF4-FFF2-40B4-BE49-F238E27FC236}">
                <a16:creationId xmlns:a16="http://schemas.microsoft.com/office/drawing/2014/main" id="{65049DDD-0BAC-4FE7-8E1C-0A9E2E6BB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1244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작은 리팩터링</a:t>
            </a:r>
          </a:p>
        </p:txBody>
      </p:sp>
      <p:sp>
        <p:nvSpPr>
          <p:cNvPr id="34" name="다른 유효한 작업을 방해하지 않는가?">
            <a:extLst xmlns:a="http://schemas.openxmlformats.org/drawingml/2006/main">
              <a:ext uri="{FF2B5EF4-FFF2-40B4-BE49-F238E27FC236}">
                <a16:creationId xmlns:a16="http://schemas.microsoft.com/office/drawing/2014/main" id="{1CA954E0-E0CA-43C7-ADD7-54A92AFEE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5124450"/>
            <a:ext cx="489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다른 유효한 작업을 방해하지 않는가?</a:t>
            </a:r>
          </a:p>
        </p:txBody>
      </p:sp>
      <p:sp>
        <p:nvSpPr>
          <p:cNvPr id="35" name="설계 사례">
            <a:extLst xmlns:a="http://schemas.openxmlformats.org/drawingml/2006/main">
              <a:ext uri="{FF2B5EF4-FFF2-40B4-BE49-F238E27FC236}">
                <a16:creationId xmlns:a16="http://schemas.microsoft.com/office/drawing/2014/main" id="{31CFC77E-C1D2-4846-9BC5-BAD4650E2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105400"/>
            <a:ext cx="27241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설계 사례</a:t>
            </a:r>
          </a:p>
        </p:txBody>
      </p:sp>
      <p:sp>
        <p:nvSpPr>
          <p:cNvPr id="36" name="새 평가 실행 없음">
            <a:extLst xmlns:a="http://schemas.openxmlformats.org/drawingml/2006/main">
              <a:ext uri="{FF2B5EF4-FFF2-40B4-BE49-F238E27FC236}">
                <a16:creationId xmlns:a16="http://schemas.microsoft.com/office/drawing/2014/main" id="{B7B77EFE-9FF7-47CF-A1E4-4BB1C6461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353050"/>
            <a:ext cx="2724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새 평가 실행 없음</a:t>
            </a:r>
          </a:p>
        </p:txBody>
      </p:sp>
      <p:sp>
        <p:nvSpPr>
          <p:cNvPr id="37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40A39477-1B50-43E3-B0C6-E70DA1BE0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M6</a:t>
            </a:r>
          </a:p>
        </p:txBody>
      </p:sp>
    </p:spTree>
    <p:extLst>
      <p:ext uri="{BB962C8B-B14F-4D97-AF65-F5344CB8AC3E}">
        <p14:creationId xmlns:p14="http://schemas.microsoft.com/office/powerpoint/2010/main" val="147300111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ACT 4 · CONCEPTUAL / 규칙 유지보수">
            <a:extLst xmlns:a="http://schemas.openxmlformats.org/drawingml/2006/main">
              <a:ext uri="{FF2B5EF4-FFF2-40B4-BE49-F238E27FC236}">
                <a16:creationId xmlns:a16="http://schemas.microsoft.com/office/drawing/2014/main" id="{6C514CF1-5803-4A09-AFBB-3CC0E747D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규칙 유지보수</a:t>
            </a:r>
          </a:p>
        </p:txBody>
      </p:sp>
      <p:sp>
        <p:nvSpPr>
          <p:cNvPr id="2" name="S67">
            <a:extLst xmlns:a="http://schemas.openxmlformats.org/drawingml/2006/main">
              <a:ext uri="{FF2B5EF4-FFF2-40B4-BE49-F238E27FC236}">
                <a16:creationId xmlns:a16="http://schemas.microsoft.com/office/drawing/2014/main" id="{8BEFE64B-7906-421C-AEB9-6FE52C792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S67</a:t>
            </a:r>
          </a:p>
        </p:txBody>
      </p:sp>
      <p:sp>
        <p:nvSpPr>
          <p:cNvPr id="3" name="Harness도 특정 실패에 맞춰&#10;과적합될 수 있다">
            <a:extLst xmlns:a="http://schemas.openxmlformats.org/drawingml/2006/main">
              <a:ext uri="{FF2B5EF4-FFF2-40B4-BE49-F238E27FC236}">
                <a16:creationId xmlns:a16="http://schemas.microsoft.com/office/drawing/2014/main" id="{651BB7E3-5F70-441F-829F-075ED1571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Harness도 특정 실패에 맞춰</a:t>
            </a:r>
          </a:p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과적합될 수 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443F02-7CB2-4322-AEE7-DA032C363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과적합은 이 교육의 비유">
            <a:extLst xmlns:a="http://schemas.openxmlformats.org/drawingml/2006/main">
              <a:ext uri="{FF2B5EF4-FFF2-40B4-BE49-F238E27FC236}">
                <a16:creationId xmlns:a16="http://schemas.microsoft.com/office/drawing/2014/main" id="{C8A3ACB0-48AD-414F-8F36-F9D41527A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과적합은 이 교육의 비유</a:t>
            </a:r>
          </a:p>
        </p:txBody>
      </p:sp>
      <p:sp>
        <p:nvSpPr>
          <p:cNvPr id="6" name="Machine Learning의 통계적 과적합과 같은 현상이라는 주장이 아니다.">
            <a:extLst xmlns:a="http://schemas.openxmlformats.org/drawingml/2006/main">
              <a:ext uri="{FF2B5EF4-FFF2-40B4-BE49-F238E27FC236}">
                <a16:creationId xmlns:a16="http://schemas.microsoft.com/office/drawing/2014/main" id="{E130737C-5177-4F0F-8F28-07C239A23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Machine Learning의 통계적 과적합과 같은 현상이라는 주장이 아니다.</a:t>
            </a:r>
          </a:p>
        </p:txBody>
      </p:sp>
      <p:sp>
        <p:nvSpPr>
          <p:cNvPr id="7" name="실패할 때마다 규칙을 하나씩 더하면">
            <a:extLst xmlns:a="http://schemas.openxmlformats.org/drawingml/2006/main">
              <a:ext uri="{FF2B5EF4-FFF2-40B4-BE49-F238E27FC236}">
                <a16:creationId xmlns:a16="http://schemas.microsoft.com/office/drawing/2014/main" id="{7ED8F182-50D7-40D6-BF4E-6A5CEB510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실패할 때마다 규칙을 하나씩 더하면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D95429-144E-4744-B9E2-557931971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9" name="규칙 누적">
            <a:extLst xmlns:a="http://schemas.openxmlformats.org/drawingml/2006/main">
              <a:ext uri="{FF2B5EF4-FFF2-40B4-BE49-F238E27FC236}">
                <a16:creationId xmlns:a16="http://schemas.microsoft.com/office/drawing/2014/main" id="{CC8E19F7-D4CE-4214-B78D-A48C9AEFD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333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규칙 누적</a:t>
            </a:r>
          </a:p>
        </p:txBody>
      </p:sp>
      <p:sp>
        <p:nvSpPr>
          <p:cNvPr id="10" name="읽고 유지할 내용이 커짐">
            <a:extLst xmlns:a="http://schemas.openxmlformats.org/drawingml/2006/main">
              <a:ext uri="{FF2B5EF4-FFF2-40B4-BE49-F238E27FC236}">
                <a16:creationId xmlns:a16="http://schemas.microsoft.com/office/drawing/2014/main" id="{709891C0-0454-478B-9415-D19B842F9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읽고 유지할 내용이 커짐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DE5BDB-6653-405A-A37F-B49B14012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1432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2" name="규칙 충돌">
            <a:extLst xmlns:a="http://schemas.openxmlformats.org/drawingml/2006/main">
              <a:ext uri="{FF2B5EF4-FFF2-40B4-BE49-F238E27FC236}">
                <a16:creationId xmlns:a16="http://schemas.microsoft.com/office/drawing/2014/main" id="{4A4EC94D-8EC2-4339-B0A0-884FDEFA0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333750"/>
            <a:ext cx="333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규칙 충돌</a:t>
            </a:r>
          </a:p>
        </p:txBody>
      </p:sp>
      <p:sp>
        <p:nvSpPr>
          <p:cNvPr id="13" name="서로 다른 지시가 섞임">
            <a:extLst xmlns:a="http://schemas.openxmlformats.org/drawingml/2006/main">
              <a:ext uri="{FF2B5EF4-FFF2-40B4-BE49-F238E27FC236}">
                <a16:creationId xmlns:a16="http://schemas.microsoft.com/office/drawing/2014/main" id="{AA87F577-D185-414C-A5D2-86C4FF741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048125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서로 다른 지시가 섞임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1AE8DC-08B0-43BA-B868-50448BD38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1432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5" name="특정 작업에만 맞춤">
            <a:extLst xmlns:a="http://schemas.openxmlformats.org/drawingml/2006/main">
              <a:ext uri="{FF2B5EF4-FFF2-40B4-BE49-F238E27FC236}">
                <a16:creationId xmlns:a16="http://schemas.microsoft.com/office/drawing/2014/main" id="{5A08FCF3-74A3-4393-B580-6C286BAFC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333750"/>
            <a:ext cx="333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특정 작업에만 맞춤</a:t>
            </a:r>
          </a:p>
        </p:txBody>
      </p:sp>
      <p:sp>
        <p:nvSpPr>
          <p:cNvPr id="16" name="다른 작업에서 적합성 미확인">
            <a:extLst xmlns:a="http://schemas.openxmlformats.org/drawingml/2006/main">
              <a:ext uri="{FF2B5EF4-FFF2-40B4-BE49-F238E27FC236}">
                <a16:creationId xmlns:a16="http://schemas.microsoft.com/office/drawing/2014/main" id="{8331B287-9020-4EC0-A5CE-788E80219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048125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다른 작업에서 적합성 미확인</a:t>
            </a:r>
          </a:p>
        </p:txBody>
      </p:sp>
      <p:sp>
        <p:nvSpPr>
          <p:cNvPr id="17" name="원인을 확인하고, 대표 작업으로 평가하고, 불필요한 규칙을 정리한다.">
            <a:extLst xmlns:a="http://schemas.openxmlformats.org/drawingml/2006/main">
              <a:ext uri="{FF2B5EF4-FFF2-40B4-BE49-F238E27FC236}">
                <a16:creationId xmlns:a16="http://schemas.microsoft.com/office/drawing/2014/main" id="{E9AC7BD3-94DA-4757-B25C-66D77FBFA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원인을 확인하고, 대표 작업으로 평가하고, 불필요한 규칙을 정리한다.</a:t>
            </a:r>
          </a:p>
        </p:txBody>
      </p:sp>
      <p:sp>
        <p:nvSpPr>
          <p:cNvPr id="18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9308A8A5-A850-4D7E-8391-49114883B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35777007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ACT 4 · 이 교육의 Loop 모델">
            <a:extLst xmlns:a="http://schemas.openxmlformats.org/drawingml/2006/main">
              <a:ext uri="{FF2B5EF4-FFF2-40B4-BE49-F238E27FC236}">
                <a16:creationId xmlns:a16="http://schemas.microsoft.com/office/drawing/2014/main" id="{1531F209-77FC-45E2-B041-3362FD994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이 교육의 Loop 모델</a:t>
            </a:r>
          </a:p>
        </p:txBody>
      </p:sp>
      <p:sp>
        <p:nvSpPr>
          <p:cNvPr id="2" name="S68">
            <a:extLst xmlns:a="http://schemas.openxmlformats.org/drawingml/2006/main">
              <a:ext uri="{FF2B5EF4-FFF2-40B4-BE49-F238E27FC236}">
                <a16:creationId xmlns:a16="http://schemas.microsoft.com/office/drawing/2014/main" id="{D866124D-738E-4E14-A46B-7659DFEBC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S68</a:t>
            </a:r>
          </a:p>
        </p:txBody>
      </p:sp>
      <p:sp>
        <p:nvSpPr>
          <p:cNvPr id="3" name="Feedback을 System Change와&#10;Evaluation으로 잇기">
            <a:extLst xmlns:a="http://schemas.openxmlformats.org/drawingml/2006/main">
              <a:ext uri="{FF2B5EF4-FFF2-40B4-BE49-F238E27FC236}">
                <a16:creationId xmlns:a16="http://schemas.microsoft.com/office/drawing/2014/main" id="{75D76632-DE9B-4650-B2E3-188148BAF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Feedback을 System Change와</a:t>
            </a:r>
          </a:p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Evaluation으로 잇기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020BBE-C4E9-46BB-B785-34EA58511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DEC-0023 · 교육용 운영 모델">
            <a:extLst xmlns:a="http://schemas.openxmlformats.org/drawingml/2006/main">
              <a:ext uri="{FF2B5EF4-FFF2-40B4-BE49-F238E27FC236}">
                <a16:creationId xmlns:a16="http://schemas.microsoft.com/office/drawing/2014/main" id="{17804570-58B0-4B5E-834E-CEA1D185B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DEC-0023 · 교육용 운영 모델</a:t>
            </a:r>
          </a:p>
        </p:txBody>
      </p:sp>
      <p:sp>
        <p:nvSpPr>
          <p:cNvPr id="6" name="모델의 자동 학습이나 실제 Product Loop를 관찰했다는 뜻은 아니다.">
            <a:extLst xmlns:a="http://schemas.openxmlformats.org/drawingml/2006/main">
              <a:ext uri="{FF2B5EF4-FFF2-40B4-BE49-F238E27FC236}">
                <a16:creationId xmlns:a16="http://schemas.microsoft.com/office/drawing/2014/main" id="{FCD95213-51E3-4364-ADAF-ED6F0E51D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모델의 자동 학습이나 실제 Product Loop를 관찰했다는 뜻은 아니다.</a:t>
            </a:r>
          </a:p>
        </p:txBody>
      </p:sp>
      <p:sp>
        <p:nvSpPr>
          <p:cNvPr id="7" name="앞선 가상 사례의 판단을 다섯 단계로 묶으면">
            <a:extLst xmlns:a="http://schemas.openxmlformats.org/drawingml/2006/main">
              <a:ext uri="{FF2B5EF4-FFF2-40B4-BE49-F238E27FC236}">
                <a16:creationId xmlns:a16="http://schemas.microsoft.com/office/drawing/2014/main" id="{B8F1323E-D285-476C-930E-90D90F0E0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앞선 가상 사례의 판단을 다섯 단계로 묶으면</a:t>
            </a:r>
          </a:p>
        </p:txBody>
      </p:sp>
      <p:sp>
        <p:nvSpPr>
          <p:cNvPr id="8" name="01">
            <a:extLst xmlns:a="http://schemas.openxmlformats.org/drawingml/2006/main">
              <a:ext uri="{FF2B5EF4-FFF2-40B4-BE49-F238E27FC236}">
                <a16:creationId xmlns:a16="http://schemas.microsoft.com/office/drawing/2014/main" id="{92BB816B-1385-47B9-86F9-3E864B064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9D463D-31E1-4B3F-8FA9-3FFDD5B7E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실행">
            <a:extLst xmlns:a="http://schemas.openxmlformats.org/drawingml/2006/main">
              <a:ext uri="{FF2B5EF4-FFF2-40B4-BE49-F238E27FC236}">
                <a16:creationId xmlns:a16="http://schemas.microsoft.com/office/drawing/2014/main" id="{ADCA3339-61BB-46E4-9F52-BB73467E6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71825"/>
            <a:ext cx="19812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</a:t>
            </a:r>
          </a:p>
        </p:txBody>
      </p:sp>
      <p:sp>
        <p:nvSpPr>
          <p:cNvPr id="11" name="무엇을 했나?">
            <a:extLst xmlns:a="http://schemas.openxmlformats.org/drawingml/2006/main">
              <a:ext uri="{FF2B5EF4-FFF2-40B4-BE49-F238E27FC236}">
                <a16:creationId xmlns:a16="http://schemas.microsoft.com/office/drawing/2014/main" id="{97486A53-8D27-4266-85A0-D863D5FF6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57600"/>
            <a:ext cx="198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무엇을 했나?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BAE694-AA10-4517-A531-939A65476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24325"/>
            <a:ext cx="1981200" cy="1076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가상 Task&#10;현재 기준은&#10;단위 + 통합">
            <a:extLst xmlns:a="http://schemas.openxmlformats.org/drawingml/2006/main">
              <a:ext uri="{FF2B5EF4-FFF2-40B4-BE49-F238E27FC236}">
                <a16:creationId xmlns:a16="http://schemas.microsoft.com/office/drawing/2014/main" id="{D125A456-E56C-4EF4-9818-9EA68322C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181475"/>
            <a:ext cx="17335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가상 Task</a:t>
            </a:r>
          </a:p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기준은</a:t>
            </a:r>
          </a:p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+ 통합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060797-D1EF-4727-8752-9D3B54CE7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333750"/>
            <a:ext cx="161925" cy="1428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5" name="02">
            <a:extLst xmlns:a="http://schemas.openxmlformats.org/drawingml/2006/main">
              <a:ext uri="{FF2B5EF4-FFF2-40B4-BE49-F238E27FC236}">
                <a16:creationId xmlns:a16="http://schemas.microsoft.com/office/drawing/2014/main" id="{BA12836F-D55D-40BE-8400-B289FA848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647950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789AE9-CBC6-418C-8B9F-9DB0E149B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038475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7" name="관찰">
            <a:extLst xmlns:a="http://schemas.openxmlformats.org/drawingml/2006/main">
              <a:ext uri="{FF2B5EF4-FFF2-40B4-BE49-F238E27FC236}">
                <a16:creationId xmlns:a16="http://schemas.microsoft.com/office/drawing/2014/main" id="{69D77706-B585-4433-8902-6C124B8AD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171825"/>
            <a:ext cx="19812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관찰</a:t>
            </a:r>
          </a:p>
        </p:txBody>
      </p:sp>
      <p:sp>
        <p:nvSpPr>
          <p:cNvPr id="18" name="무엇이 보였나?">
            <a:extLst xmlns:a="http://schemas.openxmlformats.org/drawingml/2006/main">
              <a:ext uri="{FF2B5EF4-FFF2-40B4-BE49-F238E27FC236}">
                <a16:creationId xmlns:a16="http://schemas.microsoft.com/office/drawing/2014/main" id="{86AF9725-615B-4D67-8033-695FF25FB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657600"/>
            <a:ext cx="198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무엇이 보였나?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A8E356-CADB-480B-9D8A-4AE8DB216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124325"/>
            <a:ext cx="1981200" cy="1076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지침은 단위만&#10;검증 범위가 다름">
            <a:extLst xmlns:a="http://schemas.openxmlformats.org/drawingml/2006/main">
              <a:ext uri="{FF2B5EF4-FFF2-40B4-BE49-F238E27FC236}">
                <a16:creationId xmlns:a16="http://schemas.microsoft.com/office/drawing/2014/main" id="{83043751-9EE2-4985-B3CC-58DD98FC1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4181475"/>
            <a:ext cx="17335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지침은 단위만</a:t>
            </a:r>
          </a:p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검증 범위가 다름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7BFAF1-A421-48C8-9838-D1D9DC75A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333750"/>
            <a:ext cx="161925" cy="1428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2" name="03">
            <a:extLst xmlns:a="http://schemas.openxmlformats.org/drawingml/2006/main">
              <a:ext uri="{FF2B5EF4-FFF2-40B4-BE49-F238E27FC236}">
                <a16:creationId xmlns:a16="http://schemas.microsoft.com/office/drawing/2014/main" id="{2589A0CA-F7AD-42ED-885E-4385B0F7E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647950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AA62D2-7C59-438D-B254-FBFA4E438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038475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24" name="원인 판단">
            <a:extLst xmlns:a="http://schemas.openxmlformats.org/drawingml/2006/main">
              <a:ext uri="{FF2B5EF4-FFF2-40B4-BE49-F238E27FC236}">
                <a16:creationId xmlns:a16="http://schemas.microsoft.com/office/drawing/2014/main" id="{32833B28-2E7D-4BFD-99D7-95E3E243D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171825"/>
            <a:ext cx="19812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원인 판단</a:t>
            </a:r>
          </a:p>
        </p:txBody>
      </p:sp>
      <p:sp>
        <p:nvSpPr>
          <p:cNvPr id="25" name="왜 생겼나?">
            <a:extLst xmlns:a="http://schemas.openxmlformats.org/drawingml/2006/main">
              <a:ext uri="{FF2B5EF4-FFF2-40B4-BE49-F238E27FC236}">
                <a16:creationId xmlns:a16="http://schemas.microsoft.com/office/drawing/2014/main" id="{067CB5AF-F5D1-495A-818F-3D1F2B38E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657600"/>
            <a:ext cx="198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왜 생겼나?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0138C2-0CCD-48AC-A183-5CCE94685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124325"/>
            <a:ext cx="1981200" cy="1076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오래된 지침이&#10;원인인지 확인">
            <a:extLst xmlns:a="http://schemas.openxmlformats.org/drawingml/2006/main">
              <a:ext uri="{FF2B5EF4-FFF2-40B4-BE49-F238E27FC236}">
                <a16:creationId xmlns:a16="http://schemas.microsoft.com/office/drawing/2014/main" id="{E615C3F5-4AFF-477E-AC67-98AF54E5A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225" y="4181475"/>
            <a:ext cx="17335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오래된 지침이</a:t>
            </a:r>
          </a:p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원인인지 확인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9502E72-534B-4938-AF61-ADC57F0E4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333750"/>
            <a:ext cx="161925" cy="1428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9" name="04">
            <a:extLst xmlns:a="http://schemas.openxmlformats.org/drawingml/2006/main">
              <a:ext uri="{FF2B5EF4-FFF2-40B4-BE49-F238E27FC236}">
                <a16:creationId xmlns:a16="http://schemas.microsoft.com/office/drawing/2014/main" id="{EE37524B-D32F-43D8-878C-299C69073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647950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3AA461A-CD6C-4CD9-AA12-FA48E802B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038475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31" name="시스템 변경">
            <a:extLst xmlns:a="http://schemas.openxmlformats.org/drawingml/2006/main">
              <a:ext uri="{FF2B5EF4-FFF2-40B4-BE49-F238E27FC236}">
                <a16:creationId xmlns:a16="http://schemas.microsoft.com/office/drawing/2014/main" id="{34D47F55-3317-43A1-93FF-0636C3213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171825"/>
            <a:ext cx="19812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시스템 변경</a:t>
            </a:r>
          </a:p>
        </p:txBody>
      </p:sp>
      <p:sp>
        <p:nvSpPr>
          <p:cNvPr id="32" name="어디를 바꾸나?">
            <a:extLst xmlns:a="http://schemas.openxmlformats.org/drawingml/2006/main">
              <a:ext uri="{FF2B5EF4-FFF2-40B4-BE49-F238E27FC236}">
                <a16:creationId xmlns:a16="http://schemas.microsoft.com/office/drawing/2014/main" id="{85E498A9-3CFE-4684-8956-5D83BE058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657600"/>
            <a:ext cx="198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어디를 바꾸나?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BB3D7C5-8777-4C21-84AD-E5EB38177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124325"/>
            <a:ext cx="1981200" cy="1076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확인됐다면&#10;Workflow 갱신">
            <a:extLst xmlns:a="http://schemas.openxmlformats.org/drawingml/2006/main">
              <a:ext uri="{FF2B5EF4-FFF2-40B4-BE49-F238E27FC236}">
                <a16:creationId xmlns:a16="http://schemas.microsoft.com/office/drawing/2014/main" id="{C5EB12C2-E416-47E5-87A9-BFDCC87AB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181475"/>
            <a:ext cx="17335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확인됐다면</a:t>
            </a:r>
          </a:p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Workflow 갱신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8BA51D8-F170-4F0C-8842-8B0AE1228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333750"/>
            <a:ext cx="161925" cy="1428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36" name="05">
            <a:extLst xmlns:a="http://schemas.openxmlformats.org/drawingml/2006/main">
              <a:ext uri="{FF2B5EF4-FFF2-40B4-BE49-F238E27FC236}">
                <a16:creationId xmlns:a16="http://schemas.microsoft.com/office/drawing/2014/main" id="{F3E2362E-E38E-4404-983C-1A0B6EE08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647950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0F9C143-0BD9-42F0-912A-B86C40ADA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038475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38" name="재평가">
            <a:extLst xmlns:a="http://schemas.openxmlformats.org/drawingml/2006/main">
              <a:ext uri="{FF2B5EF4-FFF2-40B4-BE49-F238E27FC236}">
                <a16:creationId xmlns:a16="http://schemas.microsoft.com/office/drawing/2014/main" id="{968C8AD4-FC6C-4D3B-B289-1C122A66F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171825"/>
            <a:ext cx="19812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재평가</a:t>
            </a:r>
          </a:p>
        </p:txBody>
      </p:sp>
      <p:sp>
        <p:nvSpPr>
          <p:cNvPr id="39" name="다른 작업도 괜찮나?">
            <a:extLst xmlns:a="http://schemas.openxmlformats.org/drawingml/2006/main">
              <a:ext uri="{FF2B5EF4-FFF2-40B4-BE49-F238E27FC236}">
                <a16:creationId xmlns:a16="http://schemas.microsoft.com/office/drawing/2014/main" id="{5334FDB6-C940-4C14-82C7-1040A083E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657600"/>
            <a:ext cx="198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다른 작업도 괜찮나?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1ABBC0C-D588-4CAF-BB2E-FEE380830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124325"/>
            <a:ext cx="1981200" cy="1076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재실행 +&#10;다른 대표 작업">
            <a:extLst xmlns:a="http://schemas.openxmlformats.org/drawingml/2006/main">
              <a:ext uri="{FF2B5EF4-FFF2-40B4-BE49-F238E27FC236}">
                <a16:creationId xmlns:a16="http://schemas.microsoft.com/office/drawing/2014/main" id="{94EA9D89-3D09-4533-AA35-CD1D1E84C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4181475"/>
            <a:ext cx="17335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재실행 +</a:t>
            </a:r>
          </a:p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다른 대표 작업</a:t>
            </a:r>
          </a:p>
        </p:txBody>
      </p:sp>
      <p:sp>
        <p:nvSpPr>
          <p:cNvPr id="42" name="다음 작업에도 영향을 주는 변경으로 연결한다.">
            <a:extLst xmlns:a="http://schemas.openxmlformats.org/drawingml/2006/main">
              <a:ext uri="{FF2B5EF4-FFF2-40B4-BE49-F238E27FC236}">
                <a16:creationId xmlns:a16="http://schemas.microsoft.com/office/drawing/2014/main" id="{8A75A853-E323-432D-8625-B49CB52C2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43525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다음 작업에도 영향을 주는 변경으로 연결한다.</a:t>
            </a:r>
          </a:p>
        </p:txBody>
      </p:sp>
      <p:sp>
        <p:nvSpPr>
          <p:cNvPr id="4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7176D8D8-BCE2-44A6-B244-E8001A353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M6</a:t>
            </a:r>
          </a:p>
        </p:txBody>
      </p:sp>
    </p:spTree>
    <p:extLst>
      <p:ext uri="{BB962C8B-B14F-4D97-AF65-F5344CB8AC3E}">
        <p14:creationId xmlns:p14="http://schemas.microsoft.com/office/powerpoint/2010/main" val="138664374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ACT 4 · OBSERVED META / Trial 평가·보고 기준">
            <a:extLst xmlns:a="http://schemas.openxmlformats.org/drawingml/2006/main">
              <a:ext uri="{FF2B5EF4-FFF2-40B4-BE49-F238E27FC236}">
                <a16:creationId xmlns:a16="http://schemas.microsoft.com/office/drawing/2014/main" id="{B98069BB-95B8-44B8-8AB2-0694F3DC4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OBSERVED META / Trial 평가·보고 기준</a:t>
            </a:r>
          </a:p>
        </p:txBody>
      </p:sp>
      <p:sp>
        <p:nvSpPr>
          <p:cNvPr id="2" name="S69">
            <a:extLst xmlns:a="http://schemas.openxmlformats.org/drawingml/2006/main">
              <a:ext uri="{FF2B5EF4-FFF2-40B4-BE49-F238E27FC236}">
                <a16:creationId xmlns:a16="http://schemas.microsoft.com/office/drawing/2014/main" id="{E035EAE9-490C-41D2-92A2-0FF33C507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S69</a:t>
            </a:r>
          </a:p>
        </p:txBody>
      </p:sp>
      <p:sp>
        <p:nvSpPr>
          <p:cNvPr id="3" name="실제 제작 기록: TRIAL-006">
            <a:extLst xmlns:a="http://schemas.openxmlformats.org/drawingml/2006/main">
              <a:ext uri="{FF2B5EF4-FFF2-40B4-BE49-F238E27FC236}">
                <a16:creationId xmlns:a16="http://schemas.microsoft.com/office/drawing/2014/main" id="{E92F5342-06A7-44D4-970F-62199CF95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실제 제작 기록: TRIAL-006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4786A3-8C15-4FFE-84B2-A0FD79B98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4D23BF-D4AD-4470-A915-DCF725A7E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6172"/>
            </a:solidFill>
            <a:prstDash val="solid"/>
          </a:ln>
        </p:spPr>
      </p:sp>
      <p:sp>
        <p:nvSpPr>
          <p:cNvPr id="6" name="TRIAL-006 · 과거 Codex CLI 조사 기록의 재구성">
            <a:extLst xmlns:a="http://schemas.openxmlformats.org/drawingml/2006/main">
              <a:ext uri="{FF2B5EF4-FFF2-40B4-BE49-F238E27FC236}">
                <a16:creationId xmlns:a16="http://schemas.microsoft.com/office/drawing/2014/main" id="{459443E5-317E-4F2B-A6A5-48C025EDC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TRIAL-006 · 과거 Codex CLI 조사 기록의 재구성</a:t>
            </a:r>
          </a:p>
        </p:txBody>
      </p:sp>
      <p:sp>
        <p:nvSpPr>
          <p:cNvPr id="7" name="앞의 가상 Workflow와 별개 사건이다. 제품 코드·Demo Skill의 수정 사례가 아니다.">
            <a:extLst xmlns:a="http://schemas.openxmlformats.org/drawingml/2006/main">
              <a:ext uri="{FF2B5EF4-FFF2-40B4-BE49-F238E27FC236}">
                <a16:creationId xmlns:a16="http://schemas.microsoft.com/office/drawing/2014/main" id="{DC290464-1F57-4C91-9828-DFE266122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앞의 가상 Workflow와 별개 사건이다. 제품 코드·Demo Skill의 수정 사례가 아니다.</a:t>
            </a:r>
          </a:p>
        </p:txBody>
      </p:sp>
      <p:sp>
        <p:nvSpPr>
          <p:cNvPr id="8" name="성능 조사에 Prompt 밖의 환경도 함께 관여했다.">
            <a:extLst xmlns:a="http://schemas.openxmlformats.org/drawingml/2006/main">
              <a:ext uri="{FF2B5EF4-FFF2-40B4-BE49-F238E27FC236}">
                <a16:creationId xmlns:a16="http://schemas.microsoft.com/office/drawing/2014/main" id="{D37CCFE4-92FF-4ED5-AD19-312383A4E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성능 조사에 Prompt 밖의 환경도 함께 관여했다.</a:t>
            </a:r>
          </a:p>
        </p:txBody>
      </p:sp>
      <p:sp>
        <p:nvSpPr>
          <p:cNvPr id="9" name="01">
            <a:extLst xmlns:a="http://schemas.openxmlformats.org/drawingml/2006/main">
              <a:ext uri="{FF2B5EF4-FFF2-40B4-BE49-F238E27FC236}">
                <a16:creationId xmlns:a16="http://schemas.microsoft.com/office/drawing/2014/main" id="{3966AFB4-9F3E-4B6F-A169-FC045E779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0" name="작업 요청">
            <a:extLst xmlns:a="http://schemas.openxmlformats.org/drawingml/2006/main">
              <a:ext uri="{FF2B5EF4-FFF2-40B4-BE49-F238E27FC236}">
                <a16:creationId xmlns:a16="http://schemas.microsoft.com/office/drawing/2014/main" id="{CE1A2402-8C29-4E18-BB18-FB1C62204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67075"/>
            <a:ext cx="333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작업 요청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9F6E2D-8CFD-4799-97C1-08EE6F5FC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9525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2" name="성능 개선 작업">
            <a:extLst xmlns:a="http://schemas.openxmlformats.org/drawingml/2006/main">
              <a:ext uri="{FF2B5EF4-FFF2-40B4-BE49-F238E27FC236}">
                <a16:creationId xmlns:a16="http://schemas.microsoft.com/office/drawing/2014/main" id="{7A57DF03-232F-4ACF-97A6-0D3EE3001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0025"/>
            <a:ext cx="333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성능 개선 작업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708263-8DBE-46EA-AA9D-232946505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486150"/>
            <a:ext cx="25717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4" name="02">
            <a:extLst xmlns:a="http://schemas.openxmlformats.org/drawingml/2006/main">
              <a:ext uri="{FF2B5EF4-FFF2-40B4-BE49-F238E27FC236}">
                <a16:creationId xmlns:a16="http://schemas.microsoft.com/office/drawing/2014/main" id="{3FB0B03B-8D46-477B-97FF-5D4F2B6C0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87655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5" name="함께 관찰된 조건">
            <a:extLst xmlns:a="http://schemas.openxmlformats.org/drawingml/2006/main">
              <a:ext uri="{FF2B5EF4-FFF2-40B4-BE49-F238E27FC236}">
                <a16:creationId xmlns:a16="http://schemas.microsoft.com/office/drawing/2014/main" id="{53597253-CFD7-444B-A1A5-6127EF6A9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267075"/>
            <a:ext cx="333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함께 관찰된 조건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D8EA9C-2F90-44BA-A043-9470235FE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819525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7" name="Global Skill 관여&#10;시작 경고도 기록">
            <a:extLst xmlns:a="http://schemas.openxmlformats.org/drawingml/2006/main">
              <a:ext uri="{FF2B5EF4-FFF2-40B4-BE49-F238E27FC236}">
                <a16:creationId xmlns:a16="http://schemas.microsoft.com/office/drawing/2014/main" id="{81419EAB-0E6E-40CA-BE19-8FB7440AE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010025"/>
            <a:ext cx="333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Global Skill 관여</a:t>
            </a:r>
          </a:p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시작 경고도 기록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EA7F55-DEA2-4C53-BF08-FE1073B13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486150"/>
            <a:ext cx="25717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9" name="03">
            <a:extLst xmlns:a="http://schemas.openxmlformats.org/drawingml/2006/main">
              <a:ext uri="{FF2B5EF4-FFF2-40B4-BE49-F238E27FC236}">
                <a16:creationId xmlns:a16="http://schemas.microsoft.com/office/drawing/2014/main" id="{17E98BC5-1AB9-4CA6-9D4A-ACAACD70F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87655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20" name="결과 해석의 질문">
            <a:extLst xmlns:a="http://schemas.openxmlformats.org/drawingml/2006/main">
              <a:ext uri="{FF2B5EF4-FFF2-40B4-BE49-F238E27FC236}">
                <a16:creationId xmlns:a16="http://schemas.microsoft.com/office/drawing/2014/main" id="{AEFC6AA0-A9C2-488B-8A25-C32FC3864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67075"/>
            <a:ext cx="333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결과 해석의 질문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A43888-E771-441C-864F-7B88481A1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819525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22" name="Prompt만의 효과?&#10;귀속은 PARTIAL">
            <a:extLst xmlns:a="http://schemas.openxmlformats.org/drawingml/2006/main">
              <a:ext uri="{FF2B5EF4-FFF2-40B4-BE49-F238E27FC236}">
                <a16:creationId xmlns:a16="http://schemas.microsoft.com/office/drawing/2014/main" id="{0834DF89-60B7-416A-95F7-32B8A7E10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010025"/>
            <a:ext cx="333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Prompt만의 효과?</a:t>
            </a:r>
          </a:p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귀속은 PARTIAL</a:t>
            </a:r>
          </a:p>
        </p:txBody>
      </p:sp>
      <p:sp>
        <p:nvSpPr>
          <p:cNvPr id="23" name="좋은 결과가 있다는 것과 원인을 안다는 것은 별개다.">
            <a:extLst xmlns:a="http://schemas.openxmlformats.org/drawingml/2006/main">
              <a:ext uri="{FF2B5EF4-FFF2-40B4-BE49-F238E27FC236}">
                <a16:creationId xmlns:a16="http://schemas.microsoft.com/office/drawing/2014/main" id="{0AD6DF43-9C01-4439-A6B3-FCA669462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7685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좋은 결과가 있다는 것과 원인을 안다는 것은 별개다.</a:t>
            </a:r>
          </a:p>
        </p:txBody>
      </p:sp>
      <p:sp>
        <p:nvSpPr>
          <p:cNvPr id="2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9E8AED69-57EC-47B8-97E6-AE5B70969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M6</a:t>
            </a:r>
          </a:p>
        </p:txBody>
      </p:sp>
    </p:spTree>
    <p:extLst>
      <p:ext uri="{BB962C8B-B14F-4D97-AF65-F5344CB8AC3E}">
        <p14:creationId xmlns:p14="http://schemas.microsoft.com/office/powerpoint/2010/main" val="171848633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ACT 4 · OBSERVED META / 두 가지 검증 질문">
            <a:extLst xmlns:a="http://schemas.openxmlformats.org/drawingml/2006/main">
              <a:ext uri="{FF2B5EF4-FFF2-40B4-BE49-F238E27FC236}">
                <a16:creationId xmlns:a16="http://schemas.microsoft.com/office/drawing/2014/main" id="{D363EDC4-2DC9-4DAB-B139-DB88AF88D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OBSERVED META / 두 가지 검증 질문</a:t>
            </a:r>
          </a:p>
        </p:txBody>
      </p:sp>
      <p:sp>
        <p:nvSpPr>
          <p:cNvPr id="2" name="S70">
            <a:extLst xmlns:a="http://schemas.openxmlformats.org/drawingml/2006/main">
              <a:ext uri="{FF2B5EF4-FFF2-40B4-BE49-F238E27FC236}">
                <a16:creationId xmlns:a16="http://schemas.microsoft.com/office/drawing/2014/main" id="{FEA5E16D-A7D3-41FB-9C42-0BA01B3A0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S70</a:t>
            </a:r>
          </a:p>
        </p:txBody>
      </p:sp>
      <p:sp>
        <p:nvSpPr>
          <p:cNvPr id="3" name="결과의 타당성과 원인 귀속은 별개다">
            <a:extLst xmlns:a="http://schemas.openxmlformats.org/drawingml/2006/main">
              <a:ext uri="{FF2B5EF4-FFF2-40B4-BE49-F238E27FC236}">
                <a16:creationId xmlns:a16="http://schemas.microsoft.com/office/drawing/2014/main" id="{FE6BD27D-3CAE-47A9-BB8B-120C232AF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결과의 타당성과 원인 귀속은 별개다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D40CC6-69CC-4415-B7BD-36B90F01A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82D469-62C1-4560-9766-CE7EF8A9B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6172"/>
            </a:solidFill>
            <a:prstDash val="solid"/>
          </a:ln>
        </p:spPr>
      </p:sp>
      <p:sp>
        <p:nvSpPr>
          <p:cNvPr id="6" name="TRIAL-006 · resize_nearest · 7 one-call samples · 기록 재구성">
            <a:extLst xmlns:a="http://schemas.openxmlformats.org/drawingml/2006/main">
              <a:ext uri="{FF2B5EF4-FFF2-40B4-BE49-F238E27FC236}">
                <a16:creationId xmlns:a16="http://schemas.microsoft.com/office/drawing/2014/main" id="{1B734C3B-12EF-4CEE-8167-EBBD89128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TRIAL-006 · resize_nearest · 7 one-call samples · 기록 재구성</a:t>
            </a:r>
          </a:p>
        </p:txBody>
      </p:sp>
      <p:sp>
        <p:nvSpPr>
          <p:cNvPr id="7" name="기록된 합성 입력·CPython 3.9.6·macOS arm64의 결과. 현재 Desktop 또는 일반 효과">
            <a:extLst xmlns:a="http://schemas.openxmlformats.org/drawingml/2006/main">
              <a:ext uri="{FF2B5EF4-FFF2-40B4-BE49-F238E27FC236}">
                <a16:creationId xmlns:a16="http://schemas.microsoft.com/office/drawing/2014/main" id="{18ADCEB4-4DAC-4D13-89C7-4D5104C15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기록된 합성 입력·CPython 3.9.6·macOS arm64의 결과. 현재 Desktop 또는 일반 효과가 아니다.</a:t>
            </a:r>
          </a:p>
        </p:txBody>
      </p:sp>
      <p:sp>
        <p:nvSpPr>
          <p:cNvPr id="8" name="01">
            <a:extLst xmlns:a="http://schemas.openxmlformats.org/drawingml/2006/main">
              <a:ext uri="{FF2B5EF4-FFF2-40B4-BE49-F238E27FC236}">
                <a16:creationId xmlns:a16="http://schemas.microsoft.com/office/drawing/2014/main" id="{738C782B-DA66-414E-8942-1140351BA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9" name="측정 결과는 유효한가?">
            <a:extLst xmlns:a="http://schemas.openxmlformats.org/drawingml/2006/main">
              <a:ext uri="{FF2B5EF4-FFF2-40B4-BE49-F238E27FC236}">
                <a16:creationId xmlns:a16="http://schemas.microsoft.com/office/drawing/2014/main" id="{9516C9FA-43C6-4037-9953-E0683EAFE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5075"/>
            <a:ext cx="4876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측정 결과는 유효한가?</a:t>
            </a:r>
          </a:p>
        </p:txBody>
      </p:sp>
      <p:sp>
        <p:nvSpPr>
          <p:cNvPr id="10" name="02">
            <a:extLst xmlns:a="http://schemas.openxmlformats.org/drawingml/2006/main">
              <a:ext uri="{FF2B5EF4-FFF2-40B4-BE49-F238E27FC236}">
                <a16:creationId xmlns:a16="http://schemas.microsoft.com/office/drawing/2014/main" id="{FD47E98C-44AE-45DF-B097-BF6DA2054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0478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1" name="무엇이 결과를 만들었나?">
            <a:extLst xmlns:a="http://schemas.openxmlformats.org/drawingml/2006/main">
              <a:ext uri="{FF2B5EF4-FFF2-40B4-BE49-F238E27FC236}">
                <a16:creationId xmlns:a16="http://schemas.microsoft.com/office/drawing/2014/main" id="{36B0E679-E6B4-4A47-A424-4FF2EB2AC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505075"/>
            <a:ext cx="4876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무엇이 결과를 만들었나?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45CE7B-625A-4657-986F-644A4D73B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992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E30D27-BE96-43E2-B993-D0EB8A66A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20992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solid"/>
          </a:ln>
        </p:spPr>
      </p:sp>
      <p:sp>
        <p:nvSpPr>
          <p:cNvPr id="14" name="입력·출력 hash 일치&#10;같은 조건의 측정 기록">
            <a:extLst xmlns:a="http://schemas.openxmlformats.org/drawingml/2006/main">
              <a:ext uri="{FF2B5EF4-FFF2-40B4-BE49-F238E27FC236}">
                <a16:creationId xmlns:a16="http://schemas.microsoft.com/office/drawing/2014/main" id="{D285F7D6-6354-46E9-BC4B-728CD1B05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57575"/>
            <a:ext cx="48768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입력·출력 hash 일치</a:t>
            </a:r>
          </a:p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조건의 측정 기록</a:t>
            </a:r>
          </a:p>
        </p:txBody>
      </p:sp>
      <p:sp>
        <p:nvSpPr>
          <p:cNvPr id="15" name="Global Skill이 평가 절차에 관여&#10;Prompt만의 효과는 분리 못함">
            <a:extLst xmlns:a="http://schemas.openxmlformats.org/drawingml/2006/main">
              <a:ext uri="{FF2B5EF4-FFF2-40B4-BE49-F238E27FC236}">
                <a16:creationId xmlns:a16="http://schemas.microsoft.com/office/drawing/2014/main" id="{179B794A-3372-4A41-BE0F-4B195C329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457575"/>
            <a:ext cx="48768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Global Skill이 평가 절차에 관여</a:t>
            </a:r>
          </a:p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Prompt만의 효과는 분리 못함</a:t>
            </a:r>
          </a:p>
        </p:txBody>
      </p:sp>
      <p:sp>
        <p:nvSpPr>
          <p:cNvPr id="16" name="144.2 → 33.5 ms/call median">
            <a:extLst xmlns:a="http://schemas.openxmlformats.org/drawingml/2006/main">
              <a:ext uri="{FF2B5EF4-FFF2-40B4-BE49-F238E27FC236}">
                <a16:creationId xmlns:a16="http://schemas.microsoft.com/office/drawing/2014/main" id="{2F19C47C-6ED8-4D1C-8951-05679B6CD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24375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144.2 → 33.5 ms/call median</a:t>
            </a:r>
          </a:p>
        </p:txBody>
      </p:sp>
      <p:sp>
        <p:nvSpPr>
          <p:cNvPr id="17" name="인과 해석: PARTIAL">
            <a:extLst xmlns:a="http://schemas.openxmlformats.org/drawingml/2006/main">
              <a:ext uri="{FF2B5EF4-FFF2-40B4-BE49-F238E27FC236}">
                <a16:creationId xmlns:a16="http://schemas.microsoft.com/office/drawing/2014/main" id="{27E38888-8D94-4CB0-8826-CAA4FC95A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524375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인과 해석: PARTIAL</a:t>
            </a:r>
          </a:p>
        </p:txBody>
      </p:sp>
      <p:sp>
        <p:nvSpPr>
          <p:cNvPr id="18" name="결과에 대한 확인과, 원인에 대한 확신을 따로 기록한다.">
            <a:extLst xmlns:a="http://schemas.openxmlformats.org/drawingml/2006/main">
              <a:ext uri="{FF2B5EF4-FFF2-40B4-BE49-F238E27FC236}">
                <a16:creationId xmlns:a16="http://schemas.microsoft.com/office/drawing/2014/main" id="{732CB9A7-FBD2-407A-B00C-E3E7A9488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결과에 대한 확인과, 원인에 대한 확신을 따로 기록한다.</a:t>
            </a:r>
          </a:p>
        </p:txBody>
      </p:sp>
      <p:sp>
        <p:nvSpPr>
          <p:cNvPr id="19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6184404A-0DAB-4B80-A27A-32B656109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8558397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4 · OBSERVED META / 실제 기록 방식 변경">
            <a:extLst xmlns:a="http://schemas.openxmlformats.org/drawingml/2006/main">
              <a:ext uri="{FF2B5EF4-FFF2-40B4-BE49-F238E27FC236}">
                <a16:creationId xmlns:a16="http://schemas.microsoft.com/office/drawing/2014/main" id="{9FDA7B1B-F961-4B64-B0F1-22E33C27E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OBSERVED META / 실제 기록 방식 변경</a:t>
            </a:r>
          </a:p>
        </p:txBody>
      </p:sp>
      <p:sp>
        <p:nvSpPr>
          <p:cNvPr id="2" name="S71">
            <a:extLst xmlns:a="http://schemas.openxmlformats.org/drawingml/2006/main">
              <a:ext uri="{FF2B5EF4-FFF2-40B4-BE49-F238E27FC236}">
                <a16:creationId xmlns:a16="http://schemas.microsoft.com/office/drawing/2014/main" id="{61BB4CC1-F973-4C24-8B82-BB475E298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S71</a:t>
            </a:r>
          </a:p>
        </p:txBody>
      </p:sp>
      <p:sp>
        <p:nvSpPr>
          <p:cNvPr id="3" name="평가와 보고 규칙을 Evidence에 맞추다">
            <a:extLst xmlns:a="http://schemas.openxmlformats.org/drawingml/2006/main">
              <a:ext uri="{FF2B5EF4-FFF2-40B4-BE49-F238E27FC236}">
                <a16:creationId xmlns:a16="http://schemas.microsoft.com/office/drawing/2014/main" id="{B9A9560A-28BC-476A-BC05-793D0C081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평가와 보고 규칙을 Evidence에 맞추다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8C3476-C445-46A8-A797-0D6A7B589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94C5D1-22D6-45A2-A66B-8A66EC627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6172"/>
            </a:solidFill>
            <a:prstDash val="solid"/>
          </a:ln>
        </p:spPr>
      </p:sp>
      <p:sp>
        <p:nvSpPr>
          <p:cNvPr id="6" name="TRIAL-006 → DEC-0016 · 평가·보고 기준을 요약한 도식">
            <a:extLst xmlns:a="http://schemas.openxmlformats.org/drawingml/2006/main">
              <a:ext uri="{FF2B5EF4-FFF2-40B4-BE49-F238E27FC236}">
                <a16:creationId xmlns:a16="http://schemas.microsoft.com/office/drawing/2014/main" id="{B7AB4F09-AA7D-46A8-AAFD-11B3B40FD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TRIAL-006 → DEC-0016 · 평가·보고 기준을 요약한 도식</a:t>
            </a:r>
          </a:p>
        </p:txBody>
      </p:sp>
      <p:sp>
        <p:nvSpPr>
          <p:cNvPr id="7" name="제품 코드·Demo Skill 수정이 아니며, 격리 환경에서 Prompt 효과를 검증한 것도 아니다.">
            <a:extLst xmlns:a="http://schemas.openxmlformats.org/drawingml/2006/main">
              <a:ext uri="{FF2B5EF4-FFF2-40B4-BE49-F238E27FC236}">
                <a16:creationId xmlns:a16="http://schemas.microsoft.com/office/drawing/2014/main" id="{24F5EB9E-151C-4B60-87FA-AC65121B3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제품 코드·Demo Skill 수정이 아니며, 격리 환경에서 Prompt 효과를 검증한 것도 아니다.</a:t>
            </a:r>
          </a:p>
        </p:txBody>
      </p:sp>
      <p:sp>
        <p:nvSpPr>
          <p:cNvPr id="8" name="DEC-0016 · 바뀐 것은 후속 Trial을 기록하는 기준">
            <a:extLst xmlns:a="http://schemas.openxmlformats.org/drawingml/2006/main">
              <a:ext uri="{FF2B5EF4-FFF2-40B4-BE49-F238E27FC236}">
                <a16:creationId xmlns:a16="http://schemas.microsoft.com/office/drawing/2014/main" id="{B33D6BE9-BD1E-422D-96A8-D35013A03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DEC-0016 · 바뀐 것은 후속 Trial을 기록하는 기준</a:t>
            </a:r>
          </a:p>
        </p:txBody>
      </p:sp>
      <p:sp>
        <p:nvSpPr>
          <p:cNvPr id="9" name="기존 빈틈: 작업·Repository 중심으로 보고 주변 Harness 영향 설명이 부족했다.">
            <a:extLst xmlns:a="http://schemas.openxmlformats.org/drawingml/2006/main">
              <a:ext uri="{FF2B5EF4-FFF2-40B4-BE49-F238E27FC236}">
                <a16:creationId xmlns:a16="http://schemas.microsoft.com/office/drawing/2014/main" id="{5B9827F9-E2FD-4359-BFA8-07A5820EA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기존 빈틈: 작업·Repository 중심으로 보고 주변 Harness 영향 설명이 부족했다.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F9D57B-69B4-4D8E-9570-6938A3320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기존 결과 보존">
            <a:extLst xmlns:a="http://schemas.openxmlformats.org/drawingml/2006/main">
              <a:ext uri="{FF2B5EF4-FFF2-40B4-BE49-F238E27FC236}">
                <a16:creationId xmlns:a16="http://schemas.microsoft.com/office/drawing/2014/main" id="{422750A8-FD04-4FE7-A4B4-7BDB8CE4A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333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기존 결과 보존</a:t>
            </a:r>
          </a:p>
        </p:txBody>
      </p:sp>
      <p:sp>
        <p:nvSpPr>
          <p:cNvPr id="12" name="TRIAL-006&#10;PARTIAL로 남김">
            <a:extLst xmlns:a="http://schemas.openxmlformats.org/drawingml/2006/main">
              <a:ext uri="{FF2B5EF4-FFF2-40B4-BE49-F238E27FC236}">
                <a16:creationId xmlns:a16="http://schemas.microsoft.com/office/drawing/2014/main" id="{8FA72708-EEF6-4080-813C-0962C3F2F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05275"/>
            <a:ext cx="333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TRIAL-006</a:t>
            </a:r>
          </a:p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PARTIAL로 남김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583BFC-C631-4049-987B-0D0A11073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762375"/>
            <a:ext cx="25717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7BB965-AED8-458B-AA67-1C754D248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35280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5" name="진행 조건 명시">
            <a:extLst xmlns:a="http://schemas.openxmlformats.org/drawingml/2006/main">
              <a:ext uri="{FF2B5EF4-FFF2-40B4-BE49-F238E27FC236}">
                <a16:creationId xmlns:a16="http://schemas.microsoft.com/office/drawing/2014/main" id="{F9BD35FC-8689-46C4-ADEA-85CAF1729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524250"/>
            <a:ext cx="333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진행 조건 명시</a:t>
            </a:r>
          </a:p>
        </p:txBody>
      </p:sp>
      <p:sp>
        <p:nvSpPr>
          <p:cNvPr id="16" name="clean isolation을&#10;진행 조건으로 두지 않음">
            <a:extLst xmlns:a="http://schemas.openxmlformats.org/drawingml/2006/main">
              <a:ext uri="{FF2B5EF4-FFF2-40B4-BE49-F238E27FC236}">
                <a16:creationId xmlns:a16="http://schemas.microsoft.com/office/drawing/2014/main" id="{4B590F4D-29B8-4CB9-9D5B-AEB7F4206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105275"/>
            <a:ext cx="333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clean isolation을</a:t>
            </a:r>
          </a:p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진행 조건으로 두지 않음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435306-D06F-4BC7-9D2A-BC3CDE9BB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762375"/>
            <a:ext cx="25717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F93801-7AD0-4B47-A327-F8E1CB8A7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35280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9" name="후속 기록 변경">
            <a:extLst xmlns:a="http://schemas.openxmlformats.org/drawingml/2006/main">
              <a:ext uri="{FF2B5EF4-FFF2-40B4-BE49-F238E27FC236}">
                <a16:creationId xmlns:a16="http://schemas.microsoft.com/office/drawing/2014/main" id="{14CFE733-37FC-44CF-9F74-F7D19FEFE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524250"/>
            <a:ext cx="333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후속 기록 변경</a:t>
            </a:r>
          </a:p>
        </p:txBody>
      </p:sp>
      <p:sp>
        <p:nvSpPr>
          <p:cNvPr id="20" name="관찰된 환경 영향을&#10;다음 Trial에 함께 기록">
            <a:extLst xmlns:a="http://schemas.openxmlformats.org/drawingml/2006/main">
              <a:ext uri="{FF2B5EF4-FFF2-40B4-BE49-F238E27FC236}">
                <a16:creationId xmlns:a16="http://schemas.microsoft.com/office/drawing/2014/main" id="{F2383C7B-8B04-4A72-8428-72DBBF82D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105275"/>
            <a:ext cx="333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관찰된 환경 영향을</a:t>
            </a:r>
          </a:p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Trial에 함께 기록</a:t>
            </a:r>
          </a:p>
        </p:txBody>
      </p:sp>
      <p:sp>
        <p:nvSpPr>
          <p:cNvPr id="21" name="기록 대상: Skills · 경고 / 실행·사용 여부 · 결과를 설명할 수 있는 범위">
            <a:extLst xmlns:a="http://schemas.openxmlformats.org/drawingml/2006/main">
              <a:ext uri="{FF2B5EF4-FFF2-40B4-BE49-F238E27FC236}">
                <a16:creationId xmlns:a16="http://schemas.microsoft.com/office/drawing/2014/main" id="{1C080688-621C-493F-A46B-86DD76B06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6732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기록 대상: Skills · 경고 / 실행·사용 여부 · 결과를 설명할 수 있는 범위</a:t>
            </a:r>
          </a:p>
        </p:txBody>
      </p:sp>
      <p:sp>
        <p:nvSpPr>
          <p:cNvPr id="22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1B2C50F9-F621-4E64-A082-24D1F2AB7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95940344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ACT 4 · OBSERVED META / 후속 기록 대조">
            <a:extLst xmlns:a="http://schemas.openxmlformats.org/drawingml/2006/main">
              <a:ext uri="{FF2B5EF4-FFF2-40B4-BE49-F238E27FC236}">
                <a16:creationId xmlns:a16="http://schemas.microsoft.com/office/drawing/2014/main" id="{E36DA4CD-7077-4805-901B-F62EEF368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OBSERVED META / 후속 기록 대조</a:t>
            </a:r>
          </a:p>
        </p:txBody>
      </p:sp>
      <p:sp>
        <p:nvSpPr>
          <p:cNvPr id="2" name="S72">
            <a:extLst xmlns:a="http://schemas.openxmlformats.org/drawingml/2006/main">
              <a:ext uri="{FF2B5EF4-FFF2-40B4-BE49-F238E27FC236}">
                <a16:creationId xmlns:a16="http://schemas.microsoft.com/office/drawing/2014/main" id="{B9FFDE31-F2A6-4294-AB7D-871F201CD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S72</a:t>
            </a:r>
          </a:p>
        </p:txBody>
      </p:sp>
      <p:sp>
        <p:nvSpPr>
          <p:cNvPr id="3" name="후속 기록은 개선됐지만 완전하지 않았다">
            <a:extLst xmlns:a="http://schemas.openxmlformats.org/drawingml/2006/main">
              <a:ext uri="{FF2B5EF4-FFF2-40B4-BE49-F238E27FC236}">
                <a16:creationId xmlns:a16="http://schemas.microsoft.com/office/drawing/2014/main" id="{C4526B1A-7A3B-4FC9-BED3-F397C4D17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후속 기록은 개선됐지만 완전하지 않았다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B2FE1D-D947-42C4-A3B3-2E77D8D8E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06BCFC-0119-45FB-A7C9-4339E233E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6172"/>
            </a:solidFill>
            <a:prstDash val="solid"/>
          </a:ln>
        </p:spPr>
      </p:sp>
      <p:sp>
        <p:nvSpPr>
          <p:cNvPr id="6" name="TRIAL-007/008 · DEC-0016 · 원문 기록의 의미를 요약한 도식">
            <a:extLst xmlns:a="http://schemas.openxmlformats.org/drawingml/2006/main">
              <a:ext uri="{FF2B5EF4-FFF2-40B4-BE49-F238E27FC236}">
                <a16:creationId xmlns:a16="http://schemas.microsoft.com/office/drawing/2014/main" id="{3A475D25-D249-4DCE-AF5D-EAE1D67C2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TRIAL-007/008 · DEC-0016 · 원문 기록의 의미를 요약한 도식</a:t>
            </a:r>
          </a:p>
        </p:txBody>
      </p:sp>
      <p:sp>
        <p:nvSpPr>
          <p:cNvPr id="7" name="MCP 작업 결과는 없음. 완전한 환경 목록이나 측정된 품질 향상을 뜻하지 않는다.">
            <a:extLst xmlns:a="http://schemas.openxmlformats.org/drawingml/2006/main">
              <a:ext uri="{FF2B5EF4-FFF2-40B4-BE49-F238E27FC236}">
                <a16:creationId xmlns:a16="http://schemas.microsoft.com/office/drawing/2014/main" id="{BD6BD779-DBFC-45B8-B02A-20791F7D2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MCP 작업 결과는 없음. 완전한 환경 목록이나 측정된 품질 향상을 뜻하지 않는다.</a:t>
            </a:r>
          </a:p>
        </p:txBody>
      </p:sp>
      <p:sp>
        <p:nvSpPr>
          <p:cNvPr id="8" name="TRIAL-007">
            <a:extLst xmlns:a="http://schemas.openxmlformats.org/drawingml/2006/main">
              <a:ext uri="{FF2B5EF4-FFF2-40B4-BE49-F238E27FC236}">
                <a16:creationId xmlns:a16="http://schemas.microsoft.com/office/drawing/2014/main" id="{D53A9592-867B-497E-9209-732D2F64A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518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TRIAL-007</a:t>
            </a:r>
          </a:p>
        </p:txBody>
      </p:sp>
      <p:sp>
        <p:nvSpPr>
          <p:cNvPr id="9" name="보고와 원문을 대조">
            <a:extLst xmlns:a="http://schemas.openxmlformats.org/drawingml/2006/main">
              <a:ext uri="{FF2B5EF4-FFF2-40B4-BE49-F238E27FC236}">
                <a16:creationId xmlns:a16="http://schemas.microsoft.com/office/drawing/2014/main" id="{6B624790-D56F-48DC-90D5-2F8AC7812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5181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보고와 원문을 대조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3E9CE2-3F25-48F0-B788-B5F6162AE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5181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최종 보고">
            <a:extLst xmlns:a="http://schemas.openxmlformats.org/drawingml/2006/main">
              <a:ext uri="{FF2B5EF4-FFF2-40B4-BE49-F238E27FC236}">
                <a16:creationId xmlns:a16="http://schemas.microsoft.com/office/drawing/2014/main" id="{4D65AD89-FA33-411C-B6BA-BFB5C4283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67075"/>
            <a:ext cx="51816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최종 보고</a:t>
            </a:r>
          </a:p>
        </p:txBody>
      </p:sp>
      <p:sp>
        <p:nvSpPr>
          <p:cNvPr id="12" name="MCP 경고 없음">
            <a:extLst xmlns:a="http://schemas.openxmlformats.org/drawingml/2006/main">
              <a:ext uri="{FF2B5EF4-FFF2-40B4-BE49-F238E27FC236}">
                <a16:creationId xmlns:a16="http://schemas.microsoft.com/office/drawing/2014/main" id="{8EFCE1C9-3957-446F-B582-78868C92A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5181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MCP 경고 없음</a:t>
            </a:r>
          </a:p>
        </p:txBody>
      </p:sp>
      <p:sp>
        <p:nvSpPr>
          <p:cNvPr id="13" name="보존된 stderr · 진단 메시지 출력">
            <a:extLst xmlns:a="http://schemas.openxmlformats.org/drawingml/2006/main">
              <a:ext uri="{FF2B5EF4-FFF2-40B4-BE49-F238E27FC236}">
                <a16:creationId xmlns:a16="http://schemas.microsoft.com/office/drawing/2014/main" id="{C3A6D7DC-AFE3-4B98-941C-81B4E25D5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51816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보존된 stderr · 진단 메시지 출력</a:t>
            </a:r>
          </a:p>
        </p:txBody>
      </p:sp>
      <p:sp>
        <p:nvSpPr>
          <p:cNvPr id="14" name="Nimble AuthRequired">
            <a:extLst xmlns:a="http://schemas.openxmlformats.org/drawingml/2006/main">
              <a:ext uri="{FF2B5EF4-FFF2-40B4-BE49-F238E27FC236}">
                <a16:creationId xmlns:a16="http://schemas.microsoft.com/office/drawing/2014/main" id="{4DC4E18B-2569-4E9C-BA12-75667F782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00575"/>
            <a:ext cx="518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Nimble AuthRequired</a:t>
            </a:r>
          </a:p>
        </p:txBody>
      </p:sp>
      <p:sp>
        <p:nvSpPr>
          <p:cNvPr id="15" name="인증 필요 경고">
            <a:extLst xmlns:a="http://schemas.openxmlformats.org/drawingml/2006/main">
              <a:ext uri="{FF2B5EF4-FFF2-40B4-BE49-F238E27FC236}">
                <a16:creationId xmlns:a16="http://schemas.microsoft.com/office/drawing/2014/main" id="{8718A6DA-CE08-4DC8-A24E-644AA025A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5181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인증 필요 경고</a:t>
            </a:r>
          </a:p>
        </p:txBody>
      </p:sp>
      <p:sp>
        <p:nvSpPr>
          <p:cNvPr id="16" name="TRIAL-008">
            <a:extLst xmlns:a="http://schemas.openxmlformats.org/drawingml/2006/main">
              <a:ext uri="{FF2B5EF4-FFF2-40B4-BE49-F238E27FC236}">
                <a16:creationId xmlns:a16="http://schemas.microsoft.com/office/drawing/2014/main" id="{1408E5CF-DB0D-4D30-A866-CBC85CBC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057400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TRIAL-008</a:t>
            </a:r>
          </a:p>
        </p:txBody>
      </p:sp>
      <p:sp>
        <p:nvSpPr>
          <p:cNvPr id="17" name="사용 경로를 구분해 기록">
            <a:extLst xmlns:a="http://schemas.openxmlformats.org/drawingml/2006/main">
              <a:ext uri="{FF2B5EF4-FFF2-40B4-BE49-F238E27FC236}">
                <a16:creationId xmlns:a16="http://schemas.microsoft.com/office/drawing/2014/main" id="{5004369E-ED05-4FDC-86DB-16F7AE22E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552700"/>
            <a:ext cx="4876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사용 경로를 구분해 기록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C32231-4C07-48E9-9ECB-22BBA4082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670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2253ED-FF37-41B6-AEB2-9DFF9EC35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43275"/>
            <a:ext cx="48768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Repository Skill 호출">
            <a:extLst xmlns:a="http://schemas.openxmlformats.org/drawingml/2006/main">
              <a:ext uri="{FF2B5EF4-FFF2-40B4-BE49-F238E27FC236}">
                <a16:creationId xmlns:a16="http://schemas.microsoft.com/office/drawing/2014/main" id="{E6F7D525-5D04-493F-8149-02DAF0F68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533775"/>
            <a:ext cx="449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Repository Skill 호출</a:t>
            </a:r>
          </a:p>
        </p:txBody>
      </p:sp>
      <p:sp>
        <p:nvSpPr>
          <p:cNvPr id="21" name="별도 기록">
            <a:extLst xmlns:a="http://schemas.openxmlformats.org/drawingml/2006/main">
              <a:ext uri="{FF2B5EF4-FFF2-40B4-BE49-F238E27FC236}">
                <a16:creationId xmlns:a16="http://schemas.microsoft.com/office/drawing/2014/main" id="{85E9E0DD-A7B4-4C4C-8AD9-B5E5C28ED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276725"/>
            <a:ext cx="4876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별도 기록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90294F0-43C6-4464-BCCD-EAC38665C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714875"/>
            <a:ext cx="48768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Global influence">
            <a:extLst xmlns:a="http://schemas.openxmlformats.org/drawingml/2006/main">
              <a:ext uri="{FF2B5EF4-FFF2-40B4-BE49-F238E27FC236}">
                <a16:creationId xmlns:a16="http://schemas.microsoft.com/office/drawing/2014/main" id="{D00F5724-EBEF-4A06-BBD4-D2FE57F24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905375"/>
            <a:ext cx="449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Global influence</a:t>
            </a:r>
          </a:p>
        </p:txBody>
      </p:sp>
      <p:sp>
        <p:nvSpPr>
          <p:cNvPr id="2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BE93D43A-96A7-45BD-85DD-269DBC39C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M6</a:t>
            </a:r>
          </a:p>
        </p:txBody>
      </p:sp>
    </p:spTree>
    <p:extLst>
      <p:ext uri="{BB962C8B-B14F-4D97-AF65-F5344CB8AC3E}">
        <p14:creationId xmlns:p14="http://schemas.microsoft.com/office/powerpoint/2010/main" val="185594026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ACT 4 · OBSERVED META / 사례 회수">
            <a:extLst xmlns:a="http://schemas.openxmlformats.org/drawingml/2006/main">
              <a:ext uri="{FF2B5EF4-FFF2-40B4-BE49-F238E27FC236}">
                <a16:creationId xmlns:a16="http://schemas.microsoft.com/office/drawing/2014/main" id="{98313B19-AE90-4EA8-8878-5B5BECC84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OBSERVED META / 사례 회수</a:t>
            </a:r>
          </a:p>
        </p:txBody>
      </p:sp>
      <p:sp>
        <p:nvSpPr>
          <p:cNvPr id="2" name="S73">
            <a:extLst xmlns:a="http://schemas.openxmlformats.org/drawingml/2006/main">
              <a:ext uri="{FF2B5EF4-FFF2-40B4-BE49-F238E27FC236}">
                <a16:creationId xmlns:a16="http://schemas.microsoft.com/office/drawing/2014/main" id="{807B7A94-4D1D-4B92-ADC8-5D7D0FC90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S73</a:t>
            </a:r>
          </a:p>
        </p:txBody>
      </p:sp>
      <p:sp>
        <p:nvSpPr>
          <p:cNvPr id="3" name="실제 Meta Loop에서 바뀐 것">
            <a:extLst xmlns:a="http://schemas.openxmlformats.org/drawingml/2006/main">
              <a:ext uri="{FF2B5EF4-FFF2-40B4-BE49-F238E27FC236}">
                <a16:creationId xmlns:a16="http://schemas.microsoft.com/office/drawing/2014/main" id="{E38080D8-B174-49D5-97AE-04871736E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실제 Meta Loop에서 바뀐 것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1D49AC-53AD-4648-A790-F710DBCDC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FA5C8E-C41E-451F-BAAF-9C9D30EF2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6172"/>
            </a:solidFill>
            <a:prstDash val="solid"/>
          </a:ln>
        </p:spPr>
      </p:sp>
      <p:sp>
        <p:nvSpPr>
          <p:cNvPr id="6" name="TRIAL-006 → DEC-0016 → TRIAL-007/008 · 실제 제작 기록">
            <a:extLst xmlns:a="http://schemas.openxmlformats.org/drawingml/2006/main">
              <a:ext uri="{FF2B5EF4-FFF2-40B4-BE49-F238E27FC236}">
                <a16:creationId xmlns:a16="http://schemas.microsoft.com/office/drawing/2014/main" id="{3BEDD356-B0BF-484D-9162-368900BF4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TRIAL-006 → DEC-0016 → TRIAL-007/008 · 실제 제작 기록</a:t>
            </a:r>
          </a:p>
        </p:txBody>
      </p:sp>
      <p:sp>
        <p:nvSpPr>
          <p:cNvPr id="7" name="제품 코드의 개선이나 가상 stale Workflow의 복구 이력이 아니다.">
            <a:extLst xmlns:a="http://schemas.openxmlformats.org/drawingml/2006/main">
              <a:ext uri="{FF2B5EF4-FFF2-40B4-BE49-F238E27FC236}">
                <a16:creationId xmlns:a16="http://schemas.microsoft.com/office/drawing/2014/main" id="{2B40CA1F-C125-4F33-A6BF-6A5DD32EA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제품 코드의 개선이나 가상 stale Workflow의 복구 이력이 아니다.</a:t>
            </a:r>
          </a:p>
        </p:txBody>
      </p:sp>
      <p:sp>
        <p:nvSpPr>
          <p:cNvPr id="8" name="바뀐 대상">
            <a:extLst xmlns:a="http://schemas.openxmlformats.org/drawingml/2006/main">
              <a:ext uri="{FF2B5EF4-FFF2-40B4-BE49-F238E27FC236}">
                <a16:creationId xmlns:a16="http://schemas.microsoft.com/office/drawing/2014/main" id="{6963EB37-7245-43B1-B5FD-D23EEB3FB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05025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바뀐 대상</a:t>
            </a:r>
          </a:p>
        </p:txBody>
      </p:sp>
      <p:sp>
        <p:nvSpPr>
          <p:cNvPr id="9" name="Trial을 평가하고 보고하는 기준">
            <a:extLst xmlns:a="http://schemas.openxmlformats.org/drawingml/2006/main">
              <a:ext uri="{FF2B5EF4-FFF2-40B4-BE49-F238E27FC236}">
                <a16:creationId xmlns:a16="http://schemas.microsoft.com/office/drawing/2014/main" id="{7DCBBC1C-5128-4865-955A-A1A6D228A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81275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Trial을 평가하고 보고하는 기준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46B852-88B8-4A6C-8858-3EE8A7AE8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남아 있는 확인 과제">
            <a:extLst xmlns:a="http://schemas.openxmlformats.org/drawingml/2006/main">
              <a:ext uri="{FF2B5EF4-FFF2-40B4-BE49-F238E27FC236}">
                <a16:creationId xmlns:a16="http://schemas.microsoft.com/office/drawing/2014/main" id="{2F22F201-26C1-447D-91BD-A3DFE3856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남아 있는 확인 과제</a:t>
            </a:r>
          </a:p>
        </p:txBody>
      </p:sp>
      <p:sp>
        <p:nvSpPr>
          <p:cNvPr id="12" name="원인별 효과">
            <a:extLst xmlns:a="http://schemas.openxmlformats.org/drawingml/2006/main">
              <a:ext uri="{FF2B5EF4-FFF2-40B4-BE49-F238E27FC236}">
                <a16:creationId xmlns:a16="http://schemas.microsoft.com/office/drawing/2014/main" id="{7474F913-678E-4039-8430-119C1AB13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9575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원인별 효과</a:t>
            </a:r>
          </a:p>
        </p:txBody>
      </p:sp>
      <p:sp>
        <p:nvSpPr>
          <p:cNvPr id="13" name="무엇이 기여했는가?">
            <a:extLst xmlns:a="http://schemas.openxmlformats.org/drawingml/2006/main">
              <a:ext uri="{FF2B5EF4-FFF2-40B4-BE49-F238E27FC236}">
                <a16:creationId xmlns:a16="http://schemas.microsoft.com/office/drawing/2014/main" id="{964983E4-91BD-4412-996F-48E84CE70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76775"/>
            <a:ext cx="3333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무엇이 기여했는가?</a:t>
            </a:r>
          </a:p>
        </p:txBody>
      </p:sp>
      <p:sp>
        <p:nvSpPr>
          <p:cNvPr id="14" name="환경 목록의 완전성">
            <a:extLst xmlns:a="http://schemas.openxmlformats.org/drawingml/2006/main">
              <a:ext uri="{FF2B5EF4-FFF2-40B4-BE49-F238E27FC236}">
                <a16:creationId xmlns:a16="http://schemas.microsoft.com/office/drawing/2014/main" id="{A57941A1-D083-49F0-9EFE-A2D93BD7D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219575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환경 목록의 완전성</a:t>
            </a:r>
          </a:p>
        </p:txBody>
      </p:sp>
      <p:sp>
        <p:nvSpPr>
          <p:cNvPr id="15" name="빠진 조건은 없는가?">
            <a:extLst xmlns:a="http://schemas.openxmlformats.org/drawingml/2006/main">
              <a:ext uri="{FF2B5EF4-FFF2-40B4-BE49-F238E27FC236}">
                <a16:creationId xmlns:a16="http://schemas.microsoft.com/office/drawing/2014/main" id="{620A4BB6-FF2A-448A-A16F-CFCAA2C3F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676775"/>
            <a:ext cx="3333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빠진 조건은 없는가?</a:t>
            </a:r>
          </a:p>
        </p:txBody>
      </p:sp>
      <p:sp>
        <p:nvSpPr>
          <p:cNvPr id="16" name="Trial 품질의 향상">
            <a:extLst xmlns:a="http://schemas.openxmlformats.org/drawingml/2006/main">
              <a:ext uri="{FF2B5EF4-FFF2-40B4-BE49-F238E27FC236}">
                <a16:creationId xmlns:a16="http://schemas.microsoft.com/office/drawing/2014/main" id="{90F26CA6-9524-4074-A0C5-43B8C1153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219575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Trial 품질의 향상</a:t>
            </a:r>
          </a:p>
        </p:txBody>
      </p:sp>
      <p:sp>
        <p:nvSpPr>
          <p:cNvPr id="17" name="실제로 더 좋아졌는가?">
            <a:extLst xmlns:a="http://schemas.openxmlformats.org/drawingml/2006/main">
              <a:ext uri="{FF2B5EF4-FFF2-40B4-BE49-F238E27FC236}">
                <a16:creationId xmlns:a16="http://schemas.microsoft.com/office/drawing/2014/main" id="{0E25FCFB-509C-4403-884D-1B3A6DD48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676775"/>
            <a:ext cx="3333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실제로 더 좋아졌는가?</a:t>
            </a:r>
          </a:p>
        </p:txBody>
      </p:sp>
      <p:sp>
        <p:nvSpPr>
          <p:cNvPr id="18" name="Feedback은 평가 체계도 바꿀 수 있다. 변경 뒤의 결과는 다시 확인한다.">
            <a:extLst xmlns:a="http://schemas.openxmlformats.org/drawingml/2006/main">
              <a:ext uri="{FF2B5EF4-FFF2-40B4-BE49-F238E27FC236}">
                <a16:creationId xmlns:a16="http://schemas.microsoft.com/office/drawing/2014/main" id="{0DA3978E-85F1-413C-9796-6EDDE809B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959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Feedback은 평가 체계도 바꿀 수 있다. 변경 뒤의 결과는 다시 확인한다.</a:t>
            </a:r>
          </a:p>
        </p:txBody>
      </p:sp>
      <p:sp>
        <p:nvSpPr>
          <p:cNvPr id="19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D9D35248-D21A-4C03-BB70-0ACD69B87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M6</a:t>
            </a:r>
          </a:p>
        </p:txBody>
      </p:sp>
    </p:spTree>
    <p:extLst>
      <p:ext uri="{BB962C8B-B14F-4D97-AF65-F5344CB8AC3E}">
        <p14:creationId xmlns:p14="http://schemas.microsoft.com/office/powerpoint/2010/main" val="95734498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4 · C++ VISION / 적용을 위한 가상 질문">
            <a:extLst xmlns:a="http://schemas.openxmlformats.org/drawingml/2006/main">
              <a:ext uri="{FF2B5EF4-FFF2-40B4-BE49-F238E27FC236}">
                <a16:creationId xmlns:a16="http://schemas.microsoft.com/office/drawing/2014/main" id="{F807A847-125F-46E9-942B-D3C8C045C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C++ VISION / 적용을 위한 가상 질문</a:t>
            </a:r>
          </a:p>
        </p:txBody>
      </p:sp>
      <p:sp>
        <p:nvSpPr>
          <p:cNvPr id="2" name="S74">
            <a:extLst xmlns:a="http://schemas.openxmlformats.org/drawingml/2006/main">
              <a:ext uri="{FF2B5EF4-FFF2-40B4-BE49-F238E27FC236}">
                <a16:creationId xmlns:a16="http://schemas.microsoft.com/office/drawing/2014/main" id="{8058FD34-36E2-4093-A072-ACEF2B36F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S74</a:t>
            </a:r>
          </a:p>
        </p:txBody>
      </p:sp>
      <p:sp>
        <p:nvSpPr>
          <p:cNvPr id="3" name="Project와 환경이 바뀌면&#10;검증도 다시 본다">
            <a:extLst xmlns:a="http://schemas.openxmlformats.org/drawingml/2006/main">
              <a:ext uri="{FF2B5EF4-FFF2-40B4-BE49-F238E27FC236}">
                <a16:creationId xmlns:a16="http://schemas.microsoft.com/office/drawing/2014/main" id="{6487FD0F-77A1-4C01-9DBF-62A00D209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Project와 환경이 바뀌면</a:t>
            </a:r>
          </a:p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검증도 다시 본다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2A29BA-CC47-4E6A-976D-E89AB112E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BEAT-059 · TRANS-012 · 교육용 전이 모델 · AI 생성 설명용 삽화">
            <a:extLst xmlns:a="http://schemas.openxmlformats.org/drawingml/2006/main">
              <a:ext uri="{FF2B5EF4-FFF2-40B4-BE49-F238E27FC236}">
                <a16:creationId xmlns:a16="http://schemas.microsoft.com/office/drawing/2014/main" id="{5CBE9DAB-C51A-4689-8491-020DD30CD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BEAT-059 · TRANS-012 · 교육용 전이 모델 · AI 생성 설명용 삽화</a:t>
            </a:r>
          </a:p>
        </p:txBody>
      </p:sp>
      <p:sp>
        <p:nvSpPr>
          <p:cNvPr id="6" name="실제 C++ 사건·성능 결과가 아닙니다. 변경 표시는 확인할 조건을 뜻하며 원인이나 결과를 단정하지 않습니다">
            <a:extLst xmlns:a="http://schemas.openxmlformats.org/drawingml/2006/main">
              <a:ext uri="{FF2B5EF4-FFF2-40B4-BE49-F238E27FC236}">
                <a16:creationId xmlns:a16="http://schemas.microsoft.com/office/drawing/2014/main" id="{178048C5-6CED-4085-8290-CDDAFD664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실제 C++ 사건·성능 결과가 아닙니다. 변경 표시는 확인할 조건을 뜻하며 원인이나 결과를 단정하지 않습니다.</a:t>
            </a:r>
          </a:p>
        </p:txBody>
      </p:sp>
      <p:sp>
        <p:nvSpPr>
          <p:cNvPr id="7" name="GPU · 빌드 · 측정 조건이 달라졌다면?">
            <a:extLst xmlns:a="http://schemas.openxmlformats.org/drawingml/2006/main">
              <a:ext uri="{FF2B5EF4-FFF2-40B4-BE49-F238E27FC236}">
                <a16:creationId xmlns:a16="http://schemas.microsoft.com/office/drawing/2014/main" id="{B8DD7A70-F50A-496F-860A-83031B83E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GPU · 빌드 · 측정 조건이 달라졌다면?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26D1E9-65D2-40AD-92D1-C7C83BFE0BB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a3861063274013"/>
          <a:srcRect xmlns:a="http://schemas.openxmlformats.org/drawingml/2006/main" l="0" t="6000" r="0" b="10000"/>
          <a:stretch xmlns:a="http://schemas.openxmlformats.org/drawingml/2006/main"/>
        </p:blipFill>
        <p:spPr>
          <a:xfrm xmlns:a="http://schemas.openxmlformats.org/drawingml/2006/main">
            <a:off x="609600" y="2676525"/>
            <a:ext cx="6858000" cy="1924050"/>
          </a:xfrm>
          <a:prstGeom xmlns:a="http://schemas.openxmlformats.org/drawingml/2006/main" prst="rect">
            <a:avLst/>
          </a:prstGeom>
        </p:spPr>
      </p:pic>
      <p:sp>
        <p:nvSpPr>
          <p:cNvPr id="9" name="입력">
            <a:extLst xmlns:a="http://schemas.openxmlformats.org/drawingml/2006/main">
              <a:ext uri="{FF2B5EF4-FFF2-40B4-BE49-F238E27FC236}">
                <a16:creationId xmlns:a16="http://schemas.microsoft.com/office/drawing/2014/main" id="{2E2FB122-AF7C-4ADF-8919-A5C9C45C0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76775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입력</a:t>
            </a:r>
          </a:p>
        </p:txBody>
      </p:sp>
      <p:sp>
        <p:nvSpPr>
          <p:cNvPr id="10" name="처리 코드">
            <a:extLst xmlns:a="http://schemas.openxmlformats.org/drawingml/2006/main">
              <a:ext uri="{FF2B5EF4-FFF2-40B4-BE49-F238E27FC236}">
                <a16:creationId xmlns:a16="http://schemas.microsoft.com/office/drawing/2014/main" id="{0BBB1A33-BE6C-4FE8-94EC-16E9DFA93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6767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처리 코드</a:t>
            </a:r>
          </a:p>
        </p:txBody>
      </p:sp>
      <p:sp>
        <p:nvSpPr>
          <p:cNvPr id="11" name="실행 장치 · 변경 조건">
            <a:extLst xmlns:a="http://schemas.openxmlformats.org/drawingml/2006/main">
              <a:ext uri="{FF2B5EF4-FFF2-40B4-BE49-F238E27FC236}">
                <a16:creationId xmlns:a16="http://schemas.microsoft.com/office/drawing/2014/main" id="{E024C76F-C5BA-4F88-9C09-A8131D724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676775"/>
            <a:ext cx="2324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실행 장치 · 변경 조건</a:t>
            </a:r>
          </a:p>
        </p:txBody>
      </p:sp>
      <p:sp>
        <p:nvSpPr>
          <p:cNvPr id="12" name="출력">
            <a:extLst xmlns:a="http://schemas.openxmlformats.org/drawingml/2006/main">
              <a:ext uri="{FF2B5EF4-FFF2-40B4-BE49-F238E27FC236}">
                <a16:creationId xmlns:a16="http://schemas.microsoft.com/office/drawing/2014/main" id="{A4DE9A80-3866-4577-827E-ADC8910C8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67677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출력</a:t>
            </a:r>
          </a:p>
        </p:txBody>
      </p:sp>
      <p:sp>
        <p:nvSpPr>
          <p:cNvPr id="13" name="01">
            <a:extLst xmlns:a="http://schemas.openxmlformats.org/drawingml/2006/main">
              <a:ext uri="{FF2B5EF4-FFF2-40B4-BE49-F238E27FC236}">
                <a16:creationId xmlns:a16="http://schemas.microsoft.com/office/drawing/2014/main" id="{BCF9A3E1-70D5-4B79-A831-4C635FA85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486025"/>
            <a:ext cx="38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4" name="기존 가정">
            <a:extLst xmlns:a="http://schemas.openxmlformats.org/drawingml/2006/main">
              <a:ext uri="{FF2B5EF4-FFF2-40B4-BE49-F238E27FC236}">
                <a16:creationId xmlns:a16="http://schemas.microsoft.com/office/drawing/2014/main" id="{707E9936-A205-4412-953F-D50D42A0D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486025"/>
            <a:ext cx="3105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기존 가정</a:t>
            </a:r>
          </a:p>
        </p:txBody>
      </p:sp>
      <p:sp>
        <p:nvSpPr>
          <p:cNvPr id="15" name="어떤 조건에서&#10;맞던 판단인가?">
            <a:extLst xmlns:a="http://schemas.openxmlformats.org/drawingml/2006/main">
              <a:ext uri="{FF2B5EF4-FFF2-40B4-BE49-F238E27FC236}">
                <a16:creationId xmlns:a16="http://schemas.microsoft.com/office/drawing/2014/main" id="{F3F9A165-0197-4AD4-9CAF-DE35EE2AF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809875"/>
            <a:ext cx="3105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어떤 조건에서</a:t>
            </a:r>
          </a:p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맞던 판단인가?</a:t>
            </a:r>
          </a:p>
        </p:txBody>
      </p:sp>
      <p:sp>
        <p:nvSpPr>
          <p:cNvPr id="16" name="02">
            <a:extLst xmlns:a="http://schemas.openxmlformats.org/drawingml/2006/main">
              <a:ext uri="{FF2B5EF4-FFF2-40B4-BE49-F238E27FC236}">
                <a16:creationId xmlns:a16="http://schemas.microsoft.com/office/drawing/2014/main" id="{B05DDD17-A329-4AF5-B180-7E645DE56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371850"/>
            <a:ext cx="38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7" name="측정 조건">
            <a:extLst xmlns:a="http://schemas.openxmlformats.org/drawingml/2006/main">
              <a:ext uri="{FF2B5EF4-FFF2-40B4-BE49-F238E27FC236}">
                <a16:creationId xmlns:a16="http://schemas.microsoft.com/office/drawing/2014/main" id="{E4218157-5378-492D-8435-03BADC4D7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371850"/>
            <a:ext cx="3105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측정 조건</a:t>
            </a:r>
          </a:p>
        </p:txBody>
      </p:sp>
      <p:sp>
        <p:nvSpPr>
          <p:cNvPr id="18" name="입력과 실행 조건은&#10;비교 가능한가?">
            <a:extLst xmlns:a="http://schemas.openxmlformats.org/drawingml/2006/main">
              <a:ext uri="{FF2B5EF4-FFF2-40B4-BE49-F238E27FC236}">
                <a16:creationId xmlns:a16="http://schemas.microsoft.com/office/drawing/2014/main" id="{A5AD0937-7C05-4308-A9AD-493AA9F76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695700"/>
            <a:ext cx="3105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입력과 실행 조건은</a:t>
            </a:r>
          </a:p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비교 가능한가?</a:t>
            </a:r>
          </a:p>
        </p:txBody>
      </p:sp>
      <p:sp>
        <p:nvSpPr>
          <p:cNvPr id="19" name="03">
            <a:extLst xmlns:a="http://schemas.openxmlformats.org/drawingml/2006/main">
              <a:ext uri="{FF2B5EF4-FFF2-40B4-BE49-F238E27FC236}">
                <a16:creationId xmlns:a16="http://schemas.microsoft.com/office/drawing/2014/main" id="{CCF66F56-AAD5-43FB-AE22-B4B77860F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257675"/>
            <a:ext cx="38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20" name="기능 계약">
            <a:extLst xmlns:a="http://schemas.openxmlformats.org/drawingml/2006/main">
              <a:ext uri="{FF2B5EF4-FFF2-40B4-BE49-F238E27FC236}">
                <a16:creationId xmlns:a16="http://schemas.microsoft.com/office/drawing/2014/main" id="{F583DC1D-8DB0-414E-B3A0-E2268BD1B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257675"/>
            <a:ext cx="3105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기능 계약</a:t>
            </a:r>
          </a:p>
        </p:txBody>
      </p:sp>
      <p:sp>
        <p:nvSpPr>
          <p:cNvPr id="21" name="함께 다시 확인할&#10;동작은?">
            <a:extLst xmlns:a="http://schemas.openxmlformats.org/drawingml/2006/main">
              <a:ext uri="{FF2B5EF4-FFF2-40B4-BE49-F238E27FC236}">
                <a16:creationId xmlns:a16="http://schemas.microsoft.com/office/drawing/2014/main" id="{B6EF696D-CB1C-49F4-9FEF-21F11858A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581525"/>
            <a:ext cx="3105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함께 다시 확인할</a:t>
            </a:r>
          </a:p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동작은?</a:t>
            </a:r>
          </a:p>
        </p:txBody>
      </p:sp>
      <p:sp>
        <p:nvSpPr>
          <p:cNvPr id="22" name="같은 문제가 반복될 때, 어느 Layer를 먼저 살펴볼까?">
            <a:extLst xmlns:a="http://schemas.openxmlformats.org/drawingml/2006/main">
              <a:ext uri="{FF2B5EF4-FFF2-40B4-BE49-F238E27FC236}">
                <a16:creationId xmlns:a16="http://schemas.microsoft.com/office/drawing/2014/main" id="{470584D3-B82C-4ADE-98C4-110BADF58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05425"/>
            <a:ext cx="1097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문제가 반복될 때, 어느 Layer를 먼저 살펴볼까?</a:t>
            </a:r>
          </a:p>
        </p:txBody>
      </p:sp>
      <p:sp>
        <p:nvSpPr>
          <p:cNvPr id="2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F1B23980-7A1E-4478-8741-530D255C4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91477676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2026-10-21T12:43:27.1400000Z</dcterms:created>
  <dcterms:modified xsi:type="dcterms:W3CDTF">2026-10-21T12:43:27.1400000Z</dcterms:modified>
</coreProperties>
</file>