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1.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54df82e5b0e411d" /><Relationship Type="http://schemas.openxmlformats.org/officeDocument/2006/relationships/extended-properties" Target="/docProps/app.xml" Id="R079e013f3b6246e1" /><Relationship Type="http://schemas.openxmlformats.org/officeDocument/2006/relationships/officeDocument" Target="/ppt/presentation.xml" Id="Rf32b93c31a1a4287" /></Relationships>
</file>

<file path=ppt/presentation.xml><?xml version="1.0" encoding="utf-8"?>
<p:presentation xmlns:p="http://schemas.openxmlformats.org/presentationml/2006/main">
  <p:sldMasterIdLst>
    <p:sldMasterId xmlns:r="http://schemas.openxmlformats.org/officeDocument/2006/relationships" id="2147483648" r:id="Rfa6ec0074a504b44"/>
  </p:sldMasterIdLst>
  <p:notesMasterIdLst>
    <p:notesMasterId xmlns:r="http://schemas.openxmlformats.org/officeDocument/2006/relationships" r:id="Rd84723610b11431e"/>
  </p:notesMasterIdLst>
  <p:sldIdLst>
    <p:sldId xmlns:r="http://schemas.openxmlformats.org/officeDocument/2006/relationships" id="256" r:id="R8b9e55510d004f0e"/>
    <p:sldId xmlns:r="http://schemas.openxmlformats.org/officeDocument/2006/relationships" id="257" r:id="R9ecd7e23fefd4a23"/>
    <p:sldId xmlns:r="http://schemas.openxmlformats.org/officeDocument/2006/relationships" id="258" r:id="Re8f08cdb85c74063"/>
    <p:sldId xmlns:r="http://schemas.openxmlformats.org/officeDocument/2006/relationships" id="259" r:id="R0e12be6c8d8041e8"/>
    <p:sldId xmlns:r="http://schemas.openxmlformats.org/officeDocument/2006/relationships" id="260" r:id="Re9c05f762ad145fd"/>
    <p:sldId xmlns:r="http://schemas.openxmlformats.org/officeDocument/2006/relationships" id="261" r:id="R6b08056f51444775"/>
    <p:sldId xmlns:r="http://schemas.openxmlformats.org/officeDocument/2006/relationships" id="262" r:id="Rd115e00c10724419"/>
    <p:sldId xmlns:r="http://schemas.openxmlformats.org/officeDocument/2006/relationships" id="263" r:id="Rfec26c1ff8304946"/>
    <p:sldId xmlns:r="http://schemas.openxmlformats.org/officeDocument/2006/relationships" id="264" r:id="Rd2f8e5c0078b4ddb"/>
    <p:sldId xmlns:r="http://schemas.openxmlformats.org/officeDocument/2006/relationships" id="265" r:id="R2b4ddb85d4cd46dd"/>
    <p:sldId xmlns:r="http://schemas.openxmlformats.org/officeDocument/2006/relationships" id="266" r:id="R6caf15d404e74004"/>
    <p:sldId xmlns:r="http://schemas.openxmlformats.org/officeDocument/2006/relationships" id="267" r:id="Re2410477bb774af3"/>
    <p:sldId xmlns:r="http://schemas.openxmlformats.org/officeDocument/2006/relationships" id="268" r:id="R777603bf62dc43c3"/>
    <p:sldId xmlns:r="http://schemas.openxmlformats.org/officeDocument/2006/relationships" id="269" r:id="R3f8a0b05f1fa4b4e"/>
    <p:sldId xmlns:r="http://schemas.openxmlformats.org/officeDocument/2006/relationships" id="270" r:id="R350d2723ef2944e5"/>
    <p:sldId xmlns:r="http://schemas.openxmlformats.org/officeDocument/2006/relationships" id="271" r:id="R5cb6204b603345f9"/>
    <p:sldId xmlns:r="http://schemas.openxmlformats.org/officeDocument/2006/relationships" id="272" r:id="Ree39b684781446ca"/>
    <p:sldId xmlns:r="http://schemas.openxmlformats.org/officeDocument/2006/relationships" id="273" r:id="R7b09f4ca6b5d4ef4"/>
    <p:sldId xmlns:r="http://schemas.openxmlformats.org/officeDocument/2006/relationships" id="274" r:id="R153b5e4623eb4fba"/>
    <p:sldId xmlns:r="http://schemas.openxmlformats.org/officeDocument/2006/relationships" id="275" r:id="R374ce2b996644f86"/>
    <p:sldId xmlns:r="http://schemas.openxmlformats.org/officeDocument/2006/relationships" id="276" r:id="Rbe70ab7f08894479"/>
    <p:sldId xmlns:r="http://schemas.openxmlformats.org/officeDocument/2006/relationships" id="277" r:id="R3204ac809e144b68"/>
    <p:sldId xmlns:r="http://schemas.openxmlformats.org/officeDocument/2006/relationships" id="278" r:id="R5a9f9ec5a4f84a35"/>
    <p:sldId xmlns:r="http://schemas.openxmlformats.org/officeDocument/2006/relationships" id="279" r:id="R6062a8d871934c13"/>
    <p:sldId xmlns:r="http://schemas.openxmlformats.org/officeDocument/2006/relationships" id="280" r:id="R35d520a2482e45bc"/>
    <p:sldId xmlns:r="http://schemas.openxmlformats.org/officeDocument/2006/relationships" id="281" r:id="R416f6ea82bc04ea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c48f2bbd1494fac" /><Relationship Type="http://schemas.openxmlformats.org/officeDocument/2006/relationships/slideMaster" Target="/ppt/slideMasters/slideMaster1.xml" Id="Rfa6ec0074a504b44" /><Relationship Type="http://schemas.openxmlformats.org/officeDocument/2006/relationships/notesMaster" Target="/ppt/notesMasters/notesMaster1.xml" Id="Rd84723610b11431e" /><Relationship Type="http://schemas.openxmlformats.org/officeDocument/2006/relationships/presProps" Target="/ppt/presProps.xml" Id="Ree9e6fc1a8d24ddb" /><Relationship Type="http://schemas.openxmlformats.org/officeDocument/2006/relationships/tableStyles" Target="/ppt/tableStyles.xml" Id="Rc9c7ce5397f84632" /><Relationship Type="http://schemas.openxmlformats.org/officeDocument/2006/relationships/slide" Target="/ppt/slides/slide1.xml" Id="R8b9e55510d004f0e" /><Relationship Type="http://schemas.openxmlformats.org/officeDocument/2006/relationships/slide" Target="/ppt/slides/slide2.xml" Id="R9ecd7e23fefd4a23" /><Relationship Type="http://schemas.openxmlformats.org/officeDocument/2006/relationships/slide" Target="/ppt/slides/slide3.xml" Id="Re8f08cdb85c74063" /><Relationship Type="http://schemas.openxmlformats.org/officeDocument/2006/relationships/slide" Target="/ppt/slides/slide4.xml" Id="R0e12be6c8d8041e8" /><Relationship Type="http://schemas.openxmlformats.org/officeDocument/2006/relationships/slide" Target="/ppt/slides/slide5.xml" Id="Re9c05f762ad145fd" /><Relationship Type="http://schemas.openxmlformats.org/officeDocument/2006/relationships/slide" Target="/ppt/slides/slide6.xml" Id="R6b08056f51444775" /><Relationship Type="http://schemas.openxmlformats.org/officeDocument/2006/relationships/slide" Target="/ppt/slides/slide7.xml" Id="Rd115e00c10724419" /><Relationship Type="http://schemas.openxmlformats.org/officeDocument/2006/relationships/slide" Target="/ppt/slides/slide8.xml" Id="Rfec26c1ff8304946" /><Relationship Type="http://schemas.openxmlformats.org/officeDocument/2006/relationships/slide" Target="/ppt/slides/slide9.xml" Id="Rd2f8e5c0078b4ddb" /><Relationship Type="http://schemas.openxmlformats.org/officeDocument/2006/relationships/slide" Target="/ppt/slides/slide10.xml" Id="R2b4ddb85d4cd46dd" /><Relationship Type="http://schemas.openxmlformats.org/officeDocument/2006/relationships/slide" Target="/ppt/slides/slide11.xml" Id="R6caf15d404e74004" /><Relationship Type="http://schemas.openxmlformats.org/officeDocument/2006/relationships/slide" Target="/ppt/slides/slide12.xml" Id="Re2410477bb774af3" /><Relationship Type="http://schemas.openxmlformats.org/officeDocument/2006/relationships/slide" Target="/ppt/slides/slide13.xml" Id="R777603bf62dc43c3" /><Relationship Type="http://schemas.openxmlformats.org/officeDocument/2006/relationships/slide" Target="/ppt/slides/slide14.xml" Id="R3f8a0b05f1fa4b4e" /><Relationship Type="http://schemas.openxmlformats.org/officeDocument/2006/relationships/slide" Target="/ppt/slides/slide15.xml" Id="R350d2723ef2944e5" /><Relationship Type="http://schemas.openxmlformats.org/officeDocument/2006/relationships/slide" Target="/ppt/slides/slide16.xml" Id="R5cb6204b603345f9" /><Relationship Type="http://schemas.openxmlformats.org/officeDocument/2006/relationships/slide" Target="/ppt/slides/slide17.xml" Id="Ree39b684781446ca" /><Relationship Type="http://schemas.openxmlformats.org/officeDocument/2006/relationships/slide" Target="/ppt/slides/slide18.xml" Id="R7b09f4ca6b5d4ef4" /><Relationship Type="http://schemas.openxmlformats.org/officeDocument/2006/relationships/slide" Target="/ppt/slides/slide19.xml" Id="R153b5e4623eb4fba" /><Relationship Type="http://schemas.openxmlformats.org/officeDocument/2006/relationships/slide" Target="/ppt/slides/slide20.xml" Id="R374ce2b996644f86" /><Relationship Type="http://schemas.openxmlformats.org/officeDocument/2006/relationships/slide" Target="/ppt/slides/slide21.xml" Id="Rbe70ab7f08894479" /><Relationship Type="http://schemas.openxmlformats.org/officeDocument/2006/relationships/slide" Target="/ppt/slides/slide22.xml" Id="R3204ac809e144b68" /><Relationship Type="http://schemas.openxmlformats.org/officeDocument/2006/relationships/slide" Target="/ppt/slides/slide23.xml" Id="R5a9f9ec5a4f84a35" /><Relationship Type="http://schemas.openxmlformats.org/officeDocument/2006/relationships/slide" Target="/ppt/slides/slide24.xml" Id="R6062a8d871934c13" /><Relationship Type="http://schemas.openxmlformats.org/officeDocument/2006/relationships/slide" Target="/ppt/slides/slide25.xml" Id="R35d520a2482e45bc" /><Relationship Type="http://schemas.openxmlformats.org/officeDocument/2006/relationships/slide" Target="/ppt/slides/slide26.xml" Id="R416f6ea82bc04ea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3fe736417b743e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bf7f128c71e413c" /><Relationship Type="http://schemas.openxmlformats.org/officeDocument/2006/relationships/notesMaster" Target="/ppt/notesMasters/notesMaster1.xml" Id="Rc637beabea8141a9" /></Relationships>
</file>

<file path=ppt/notesSlides/_rels/notesSlide2.xml.rels>&#65279;<?xml version="1.0" encoding="utf-8"?><Relationships xmlns="http://schemas.openxmlformats.org/package/2006/relationships"><Relationship Type="http://schemas.openxmlformats.org/officeDocument/2006/relationships/slide" Target="/ppt/slides/slide2.xml" Id="R3baa40c3b0ef469d" /><Relationship Type="http://schemas.openxmlformats.org/officeDocument/2006/relationships/notesMaster" Target="/ppt/notesMasters/notesMaster1.xml" Id="R396272a54b634a0c" /></Relationships>
</file>

<file path=ppt/notesSlides/_rels/notesSlide3.xml.rels>&#65279;<?xml version="1.0" encoding="utf-8"?><Relationships xmlns="http://schemas.openxmlformats.org/package/2006/relationships"><Relationship Type="http://schemas.openxmlformats.org/officeDocument/2006/relationships/slide" Target="/ppt/slides/slide3.xml" Id="Ra40cb74d3a4a4994" /><Relationship Type="http://schemas.openxmlformats.org/officeDocument/2006/relationships/notesMaster" Target="/ppt/notesMasters/notesMaster1.xml" Id="R472295beac004aa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55049086d6c4a01" /><Relationship Type="http://schemas.openxmlformats.org/officeDocument/2006/relationships/notesMaster" Target="/ppt/notesMasters/notesMaster1.xml" Id="R9996b172aa6e429f" /></Relationships>
</file>

<file path=ppt/notesSlides/_rels/notesSlide5.xml.rels>&#65279;<?xml version="1.0" encoding="utf-8"?><Relationships xmlns="http://schemas.openxmlformats.org/package/2006/relationships"><Relationship Type="http://schemas.openxmlformats.org/officeDocument/2006/relationships/slide" Target="/ppt/slides/slide5.xml" Id="R7634a3f960c244f5" /><Relationship Type="http://schemas.openxmlformats.org/officeDocument/2006/relationships/notesMaster" Target="/ppt/notesMasters/notesMaster1.xml" Id="R4b13848516ce42e3" /></Relationships>
</file>

<file path=ppt/notesSlides/_rels/notesSlide6.xml.rels>&#65279;<?xml version="1.0" encoding="utf-8"?><Relationships xmlns="http://schemas.openxmlformats.org/package/2006/relationships"><Relationship Type="http://schemas.openxmlformats.org/officeDocument/2006/relationships/slide" Target="/ppt/slides/slide6.xml" Id="R0356a2f8ebe942d6" /><Relationship Type="http://schemas.openxmlformats.org/officeDocument/2006/relationships/notesMaster" Target="/ppt/notesMasters/notesMaster1.xml" Id="Re6c6fca0bcc747c3" /></Relationships>
</file>

<file path=ppt/notesSlides/_rels/notesSlide7.xml.rels>&#65279;<?xml version="1.0" encoding="utf-8"?><Relationships xmlns="http://schemas.openxmlformats.org/package/2006/relationships"><Relationship Type="http://schemas.openxmlformats.org/officeDocument/2006/relationships/slide" Target="/ppt/slides/slide7.xml" Id="R09689e7658b245f9" /><Relationship Type="http://schemas.openxmlformats.org/officeDocument/2006/relationships/notesMaster" Target="/ppt/notesMasters/notesMaster1.xml" Id="Rfa08d866dcbe44ee" /></Relationships>
</file>

<file path=ppt/notesSlides/_rels/notesSlide8.xml.rels>&#65279;<?xml version="1.0" encoding="utf-8"?><Relationships xmlns="http://schemas.openxmlformats.org/package/2006/relationships"><Relationship Type="http://schemas.openxmlformats.org/officeDocument/2006/relationships/slide" Target="/ppt/slides/slide8.xml" Id="R6741bbc1a0ea4ba6" /><Relationship Type="http://schemas.openxmlformats.org/officeDocument/2006/relationships/notesMaster" Target="/ppt/notesMasters/notesMaster1.xml" Id="Raff822ccb96d49ff" /></Relationships>
</file>

<file path=ppt/notesSlides/_rels/notesSlide9.xml.rels>&#65279;<?xml version="1.0" encoding="utf-8"?><Relationships xmlns="http://schemas.openxmlformats.org/package/2006/relationships"><Relationship Type="http://schemas.openxmlformats.org/officeDocument/2006/relationships/slide" Target="/ppt/slides/slide9.xml" Id="R43ecdb4cf5fb4506" /><Relationship Type="http://schemas.openxmlformats.org/officeDocument/2006/relationships/notesMaster" Target="/ppt/notesMasters/notesMaster1.xml" Id="R00a7c0c98363482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fd47e525f274fed" /><Relationship Type="http://schemas.openxmlformats.org/officeDocument/2006/relationships/notesMaster" Target="/ppt/notesMasters/notesMaster1.xml" Id="R56cd7129f3e1453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770e62d1f084a67" /><Relationship Type="http://schemas.openxmlformats.org/officeDocument/2006/relationships/notesMaster" Target="/ppt/notesMasters/notesMaster1.xml" Id="R3760e96a5f6247f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b1d96977b954128" /><Relationship Type="http://schemas.openxmlformats.org/officeDocument/2006/relationships/notesMaster" Target="/ppt/notesMasters/notesMaster1.xml" Id="R4ed0560d89fe48f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45c7be43bd44e12" /><Relationship Type="http://schemas.openxmlformats.org/officeDocument/2006/relationships/notesMaster" Target="/ppt/notesMasters/notesMaster1.xml" Id="Ree9694dac6b54b4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06c0145975d4bfd" /><Relationship Type="http://schemas.openxmlformats.org/officeDocument/2006/relationships/notesMaster" Target="/ppt/notesMasters/notesMaster1.xml" Id="Rf90385ae0371416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8cc6d6e9f0849d5" /><Relationship Type="http://schemas.openxmlformats.org/officeDocument/2006/relationships/notesMaster" Target="/ppt/notesMasters/notesMaster1.xml" Id="Refeb452cd061404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de4db0635f9465f" /><Relationship Type="http://schemas.openxmlformats.org/officeDocument/2006/relationships/notesMaster" Target="/ppt/notesMasters/notesMaster1.xml" Id="R4b722c67d2c1450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0eae3f20e6c4708" /><Relationship Type="http://schemas.openxmlformats.org/officeDocument/2006/relationships/notesMaster" Target="/ppt/notesMasters/notesMaster1.xml" Id="Rf797d9c5e1b647c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58a64a5f4c14b04" /><Relationship Type="http://schemas.openxmlformats.org/officeDocument/2006/relationships/notesMaster" Target="/ppt/notesMasters/notesMaster1.xml" Id="R1e8b3805d1c64bb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de36eb9814544bf" /><Relationship Type="http://schemas.openxmlformats.org/officeDocument/2006/relationships/notesMaster" Target="/ppt/notesMasters/notesMaster1.xml" Id="R9c6b5a25f4e2409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5c91a6df62f4fdf" /><Relationship Type="http://schemas.openxmlformats.org/officeDocument/2006/relationships/notesMaster" Target="/ppt/notesMasters/notesMaster1.xml" Id="Rab8de8e9ee454d4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0509bfecb594fe0" /><Relationship Type="http://schemas.openxmlformats.org/officeDocument/2006/relationships/notesMaster" Target="/ppt/notesMasters/notesMaster1.xml" Id="R7ab81aa4b6ee4ef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51c1af531464771" /><Relationship Type="http://schemas.openxmlformats.org/officeDocument/2006/relationships/notesMaster" Target="/ppt/notesMasters/notesMaster1.xml" Id="R41c2d548ba6b46a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0ee3875684549a3" /><Relationship Type="http://schemas.openxmlformats.org/officeDocument/2006/relationships/notesMaster" Target="/ppt/notesMasters/notesMaster1.xml" Id="Rab244a3b339d4b3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c382499f15144f6" /><Relationship Type="http://schemas.openxmlformats.org/officeDocument/2006/relationships/notesMaster" Target="/ppt/notesMasters/notesMaster1.xml" Id="Rf7b44d8c350f4ea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fc680951d7a41a7" /><Relationship Type="http://schemas.openxmlformats.org/officeDocument/2006/relationships/notesMaster" Target="/ppt/notesMasters/notesMaster1.xml" Id="R7bc3eb6114514bd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4ef195282234558" /><Relationship Type="http://schemas.openxmlformats.org/officeDocument/2006/relationships/notesMaster" Target="/ppt/notesMasters/notesMaster1.xml" Id="R4fa2710b8a4346fb"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S59 — AI가 일할 방법과 환경 설계하기</a:t>
            </a:r>
          </a:p>
          <a:p>
            <a:r>
              <a:t xml:space="preserve"/>
            </a:r>
          </a:p>
          <a:p>
            <a:r>
              <a:t xml:space="preserve">**Slide ID:**</a:t>
            </a:r>
          </a:p>
          <a:p>
            <a:r>
              <a:t xml:space="preserve">S59</a:t>
            </a:r>
          </a:p>
          <a:p>
            <a:r>
              <a:t xml:space="preserve"/>
            </a:r>
          </a:p>
          <a:p>
            <a:r>
              <a:t xml:space="preserve">**Working Title:**</a:t>
            </a:r>
          </a:p>
          <a:p>
            <a:r>
              <a:t xml:space="preserve">AI가 일할 방법과 환경 설계하기</a:t>
            </a:r>
          </a:p>
          <a:p>
            <a:r>
              <a:t xml:space="preserve"/>
            </a:r>
          </a:p>
          <a:p>
            <a:r>
              <a:t xml:space="preserve">**ACT / Section:**</a:t>
            </a:r>
          </a:p>
          <a:p>
            <a:r>
              <a:t xml:space="preserve">ACT 3 / 3A Repeated Procedure</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일할 방법과 환경 설계하기 — Harness Engineering · 수행 체계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3의 제목 “AI가 일할 방법과 환경 설계하기”을 가리키며 구간을 연다.</a:t>
            </a:r>
          </a:p>
          <a:p>
            <a:r>
              <a:t xml:space="preserve">2. (0:20–0:40 / Transition) 부제 “Harness Engineering · 수행 체계 설계”는 이번 구간의 관점만 안내한다. 구체적 기능·해결 방법·결과는 앞서 설명하지 않는다.</a:t>
            </a:r>
          </a:p>
          <a:p>
            <a:r>
              <a:t xml:space="preserve">3. (0:40–1:00 / Transition) S60의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S60 — 두 실제 요청에 같은 절차가 반복됐다로 이어간다.</a:t>
            </a:r>
          </a:p>
          <a:p>
            <a:r>
              <a:t xml:space="preserve"/>
            </a:r>
          </a:p>
          <a:p>
            <a:r>
              <a:t xml:space="preserve">**Time Management:**</a:t>
            </a:r>
          </a:p>
          <a:p>
            <a:r>
              <a:t xml:space="preserve">Transition 1분. 기존 본문 시간을 줄이거나 중복 계산하지 않는다. ACT 3 총96분, 전체420분이다. 제목·부제만 안내하고1분에 S60로 넘긴다. 실측 리허설 UNVERIFIED.</a:t>
            </a:r>
          </a:p>
          <a:p>
            <a:r>
              <a:t xml:space="preserve"/>
            </a:r>
          </a:p>
          <a:p>
            <a:r>
              <a:t xml:space="preserve">**Fallback:**</a:t>
            </a:r>
          </a:p>
          <a:p>
            <a:r>
              <a:t xml:space="preserve">LOCAL STATIC ARTIFACT — production/preview/full/S59.png 또는 production/ACT_3.pptx의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S60 — 두 실제 요청에 같은 절차가 반복됐다</a:t>
            </a:r>
          </a:p>
          <a:p>
            <a:r>
              <a:t xml:space="preserve"/>
            </a:r>
          </a:p>
          <a:p>
            <a:r>
              <a:t xml:space="preserve">Slide ID:</a:t>
            </a:r>
          </a:p>
          <a:p>
            <a:r>
              <a:t xml:space="preserve">S60</a:t>
            </a:r>
          </a:p>
          <a:p>
            <a:r>
              <a:t xml:space="preserve"/>
            </a:r>
          </a:p>
          <a:p>
            <a:r>
              <a:t xml:space="preserve">Working Title: 두 실제 요청에 같은 절차가 반복됐다</a:t>
            </a:r>
          </a:p>
          <a:p>
            <a:r>
              <a:t xml:space="preserve"/>
            </a:r>
          </a:p>
          <a:p>
            <a:r>
              <a:t xml:space="preserve">ACT / Section: ACT 3 / 3A</a:t>
            </a:r>
          </a:p>
          <a:p>
            <a:r>
              <a:t xml:space="preserve"/>
            </a:r>
          </a:p>
          <a:p>
            <a:r>
              <a:t xml:space="preserve">Allocated Time: 5 minutes</a:t>
            </a:r>
          </a:p>
          <a:p>
            <a:r>
              <a:t xml:space="preserve"/>
            </a:r>
          </a:p>
          <a:p>
            <a:r>
              <a:t xml:space="preserve">Mode Split: Case 5 minutes</a:t>
            </a:r>
          </a:p>
          <a:p>
            <a:r>
              <a:t xml:space="preserve"/>
            </a:r>
          </a:p>
          <a:p>
            <a:r>
              <a:t xml:space="preserve">Primary Message: 서로 다른 두 성능 요청의 조사·계획·변경·검증 지시가 반복됐다. ACT3에서는 이 방법과 실행·검증 환경을 유지하는 문제를 다룬다.</a:t>
            </a:r>
          </a:p>
          <a:p>
            <a:r>
              <a:t xml:space="preserve"/>
            </a:r>
          </a:p>
          <a:p>
            <a:r>
              <a:t xml:space="preserve">Opening Question: “목표가 달라도 왜 같은 작업 방법을 다시 요청할까?”</a:t>
            </a:r>
          </a:p>
          <a:p>
            <a:r>
              <a:t xml:space="preserve"/>
            </a:r>
          </a:p>
          <a:p>
            <a:r>
              <a:t xml:space="preserve">Speaker Flow:</a:t>
            </a:r>
          </a:p>
          <a:p>
            <a:r>
              <a:t xml:space="preserve">1. (0:00–1:00) S58의 절차 유지 질문을 회수하고 Harness를 작업 방법과 실행·검증 환경 설계라고 짧게 안내한다. 완성 구조를 먼저 제시하지 않는다.</a:t>
            </a:r>
          </a:p>
          <a:p>
            <a:r>
              <a:t xml:space="preserve">2. (1:00–4:00) 크기 변경과 픽셀값 정규화의 기존 삽화는 기능 설명용임을 밝히고, A의 실제 요청 발췌 번역과 B의 보존 요청 요약을 세 행으로 대응한다.</a:t>
            </a:r>
          </a:p>
          <a:p>
            <a:r>
              <a:t xml:space="preserve">3. (4:00–5:00) 반복 지시와 관찰 실행을 구분하고 전역 Harness 영향 때문에 Prompt 단독 효과 귀속은 PARTIAL임을 유지한다.</a:t>
            </a:r>
          </a:p>
          <a:p>
            <a:r>
              <a:t xml:space="preserve"/>
            </a:r>
          </a:p>
          <a:p>
            <a:r>
              <a:t xml:space="preserve">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a:r>
              <a:t xml:space="preserve"/>
            </a:r>
          </a:p>
          <a:p>
            <a:r>
              <a:t xml:space="preserve">보존된 상세 출처: TRIAL-006 실제 Prompt 발췌·번역 / TRIAL-007 보존된 Task Prompt 요약 · 그림은 설명용 삽화</a:t>
            </a:r>
          </a:p>
          <a:p>
            <a:r>
              <a:t xml:space="preserve"/>
            </a:r>
          </a:p>
          <a:p>
            <a:r>
              <a:t xml:space="preserve">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a:r>
              <a:t xml:space="preserve"/>
            </a:r>
          </a:p>
          <a:p>
            <a:r>
              <a:t xml:space="preserve">보존된 상세 범위: Global Harness 영향으로 Prompt-only attribution은 PARTIAL · 성능 전후 그림·현재 제품 화면 아님</a:t>
            </a:r>
          </a:p>
          <a:p>
            <a:r>
              <a:t xml:space="preserve"/>
            </a:r>
          </a:p>
          <a:p>
            <a:r>
              <a:t xml:space="preserve">Beginner Explanation: 서로 다른 작업에서도 조사하고 확인하는 순서가 반복될 수 있다.</a:t>
            </a:r>
          </a:p>
          <a:p>
            <a:r>
              <a:t xml:space="preserve"/>
            </a:r>
          </a:p>
          <a:p>
            <a:r>
              <a:t xml:space="preserve">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a:r>
              <a:t xml:space="preserve"/>
            </a:r>
          </a:p>
          <a:p>
            <a:r>
              <a:t xml:space="preserve">C++ Vision Bridge: N/A.</a:t>
            </a:r>
          </a:p>
          <a:p>
            <a:r>
              <a:t xml:space="preserve"/>
            </a:r>
          </a:p>
          <a:p>
            <a:r>
              <a:t xml:space="preserve">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a:r>
              <a:t xml:space="preserve"/>
            </a:r>
          </a:p>
          <a:p>
            <a:r>
              <a:t xml:space="preserve">Audience Interaction: 필수 실습·공개 답변 없이 화면의 핵심 관계를 따라오게 한다. 장별 기존 시간·Mode 안에서 짧은 예측 질문만 사용한다.</a:t>
            </a:r>
          </a:p>
          <a:p>
            <a:r>
              <a:t xml:space="preserve"/>
            </a:r>
          </a:p>
          <a:p>
            <a:r>
              <a:t xml:space="preserve">Transition: “반복된 것은 명령 하나뿐일까요? 그 명령을 언제 쓰고 결과로 무엇을 판단할지도 보겠습니다.”</a:t>
            </a:r>
          </a:p>
          <a:p>
            <a:r>
              <a:t xml:space="preserve"/>
            </a:r>
          </a:p>
          <a:p>
            <a:r>
              <a:t xml:space="preserve">Time Management: Case5분: 방향/과제1, 두 기록 대응3, 한계/전환1.</a:t>
            </a:r>
          </a:p>
          <a:p>
            <a:r>
              <a:t xml:space="preserve"/>
            </a:r>
          </a:p>
          <a:p>
            <a:r>
              <a:t xml:space="preserve">Fallback:</a:t>
            </a:r>
          </a:p>
          <a:p>
            <a:r>
              <a:t xml:space="preserve">LOCAL STATIC ARTIFACT — production/ACT_3.pptx / S60, production/preview/act3/S60.png 및 production/preview/full/S60.png. 실제 캡처·현재 제품 실행이 아닌 표시된 기록 요약/가정/모델의 범위로 설명한다. 최종 파일 대조는 production/evaluation/ACT_3_FLOW_REVISION.md를 따른다.</a:t>
            </a:r>
          </a:p>
          <a:p>
            <a:r>
              <a:t xml:space="preserve"/>
            </a:r>
          </a:p>
          <a:p>
            <a:r>
              <a:t xml:space="preserve">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S61 — 테스트 명령을 언제 쓰고 무엇을 판단할까?</a:t>
            </a:r>
          </a:p>
          <a:p>
            <a:r>
              <a:t xml:space="preserve"/>
            </a:r>
          </a:p>
          <a:p>
            <a:r>
              <a:t xml:space="preserve">Slide ID:</a:t>
            </a:r>
          </a:p>
          <a:p>
            <a:r>
              <a:t xml:space="preserve">S61</a:t>
            </a:r>
          </a:p>
          <a:p>
            <a:r>
              <a:t xml:space="preserve"/>
            </a:r>
          </a:p>
          <a:p>
            <a:r>
              <a:t xml:space="preserve">Working Title: 테스트 명령을 언제 쓰고 무엇을 판단할까?</a:t>
            </a:r>
          </a:p>
          <a:p>
            <a:r>
              <a:t xml:space="preserve"/>
            </a:r>
          </a:p>
          <a:p>
            <a:r>
              <a:t xml:space="preserve">ACT / Section: ACT 3 / 3A</a:t>
            </a:r>
          </a:p>
          <a:p>
            <a:r>
              <a:t xml:space="preserve"/>
            </a:r>
          </a:p>
          <a:p>
            <a:r>
              <a:t xml:space="preserve">Allocated Time: 4 minutes</a:t>
            </a:r>
          </a:p>
          <a:p>
            <a:r>
              <a:t xml:space="preserve"/>
            </a:r>
          </a:p>
          <a:p>
            <a:r>
              <a:t xml:space="preserve">Mode Split: Lecture 4 minutes</a:t>
            </a:r>
          </a:p>
          <a:p>
            <a:r>
              <a:t xml:space="preserve"/>
            </a:r>
          </a:p>
          <a:p>
            <a:r>
              <a:t xml:space="preserve">Primary Message: 테스트 명령·명세·측정 방법을 작업의 어느 시점에 사용하고, 그 결과로 무엇을 판단할지 함께 정한다. 이 수행 방법도 AGENTS.md에 기록할 수 있다.</a:t>
            </a:r>
          </a:p>
          <a:p>
            <a:r>
              <a:t xml:space="preserve"/>
            </a:r>
          </a:p>
          <a:p>
            <a:r>
              <a:t xml:space="preserve">Opening Question: “같은 테스트 명령을 변경 전과 변경 후에 실행하면 각각 무엇을 확인할까?”</a:t>
            </a:r>
          </a:p>
          <a:p>
            <a:r>
              <a:t xml:space="preserve"/>
            </a:r>
          </a:p>
          <a:p>
            <a:r>
              <a:t xml:space="preserve">**Speaker Flow:**</a:t>
            </a:r>
          </a:p>
          <a:p>
            <a:r>
              <a:t xml:space="preserve">1. (0:00–0:45) S60의 두 요청에서 반복된 방법을 회수한다. normalize 성능 조사를 예로 들고 상단의 테스트 실행 방법·동작 명세·측정 방법은 프로젝트에서 확인할 정보임을 짚는다.</a:t>
            </a:r>
          </a:p>
          <a:p>
            <a:r>
              <a:t xml:space="preserve">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a:r>
              <a:t xml:space="preserve">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a:r>
              <a:t xml:space="preserve">4. (3:15–4:00) 명령뿐 아니라 사용 시점과 판단 기준까지 수행 방법에 포함됨을 회수한다. 이 내용도 AGENTS.md에 쓸 수 있다. 저장 위치 선택은 아직 답하지 않고 S62의 이번 목표·프로젝트 기준·수행 방법 결합으로 넘어간다.</a:t>
            </a:r>
          </a:p>
          <a:p>
            <a:r>
              <a:t xml:space="preserve">운영 표시: “실무 적용 팁 · 수행 방법” 배지로 다시 찾아 쓸 기준임을 짚는다. 기존 설명·근거 범위와 배정 시간 안에서 진행하며 요청·예시를 새로 실행하지 않는다.</a:t>
            </a:r>
          </a:p>
          <a:p>
            <a:r>
              <a:t xml:space="preserve"/>
            </a:r>
          </a:p>
          <a:p>
            <a:r>
              <a:t xml:space="preserve">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a:r>
              <a:t xml:space="preserve"/>
            </a:r>
          </a:p>
          <a:p>
            <a:r>
              <a:t xml:space="preserve">보존된 상세 출처: 교육용 수행 예시 · TRIAL-006/007의 반복 요청을 바탕으로 구성</a:t>
            </a:r>
          </a:p>
          <a:p>
            <a:r>
              <a:t xml:space="preserve"/>
            </a:r>
          </a:p>
          <a:p>
            <a:r>
              <a:t xml:space="preserve">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a:r>
              <a:t xml:space="preserve"/>
            </a:r>
          </a:p>
          <a:p>
            <a:r>
              <a:t xml:space="preserve">보존된 상세 범위: 실제 실행 순서·결과의 재현 아님 · 이 방법도 AGENTS.md에 기록할 수 있음</a:t>
            </a:r>
          </a:p>
          <a:p>
            <a:r>
              <a:t xml:space="preserve"/>
            </a:r>
          </a:p>
          <a:p>
            <a:r>
              <a:t xml:space="preserve">Beginner Explanation: 같은 테스트 명령을 실행해도 변경 전에는 원래 상태를, 변경 후에는 내 변경의 영향을 확인한다. 언제 실행하고 무엇을 확인할지도 요청이나 재사용할 방법에 적는다.</a:t>
            </a:r>
          </a:p>
          <a:p>
            <a:r>
              <a:t xml:space="preserve"/>
            </a:r>
          </a:p>
          <a:p>
            <a:r>
              <a:t xml:space="preserve">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a:r>
              <a:t xml:space="preserve"/>
            </a:r>
          </a:p>
          <a:p>
            <a:r>
              <a:t xml:space="preserve">C++ Vision Bridge: N/A.</a:t>
            </a:r>
          </a:p>
          <a:p>
            <a:r>
              <a:t xml:space="preserve"/>
            </a:r>
          </a:p>
          <a:p>
            <a:r>
              <a:t xml:space="preserve">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a:r>
              <a:t xml:space="preserve"/>
            </a:r>
          </a:p>
          <a:p>
            <a:r>
              <a:t xml:space="preserve">Audience Interaction: Opening Question은 발표자가 짧게 던지고 세 시점의 질문으로 설명한다. 답변 대기나 별도 Q&amp;A 시간을 추가하지 않고 Lecture4분 안에서 진행한다.</a:t>
            </a:r>
          </a:p>
          <a:p>
            <a:r>
              <a:t xml:space="preserve"/>
            </a:r>
          </a:p>
          <a:p>
            <a:r>
              <a:t xml:space="preserve">Transition: “지금 본 수행 방법을 이번 요청의 목표, 프로젝트 기준과 함께 놓아 보겠습니다.”</a:t>
            </a:r>
          </a:p>
          <a:p>
            <a:r>
              <a:t xml:space="preserve"/>
            </a:r>
          </a:p>
          <a:p>
            <a:r>
              <a:t xml:space="preserve">Time Management:</a:t>
            </a:r>
          </a:p>
          <a:p>
            <a:r>
              <a:t xml:space="preserve">Lecture4분: 반복 요청·상단 정보0.75, 변경 전/후1.5, 완료 판단1, S62 연결0.75. 시간이 부족하면 기존 실패의 확장 예를 줄이고 같은 명령/다른 질문과 교육용 경계는 유지한다.</a:t>
            </a:r>
          </a:p>
          <a:p>
            <a:r>
              <a:t xml:space="preserve"/>
            </a:r>
          </a:p>
          <a:p>
            <a:r>
              <a:t xml:space="preserve">Fallback:</a:t>
            </a:r>
          </a:p>
          <a:p>
            <a:r>
              <a:t xml:space="preserve">LOCAL STATIC ARTIFACT — production/ACT_3.pptx / S61, production/preview/act3/S61.png 및 production/preview/full/S61.png. 실제 실행 캡처가 아닌 교육용 수행 예시다. 최종 패키지·PNG·내장 Notes 확인은 production/evaluation/S51_COMMAND_WORKFLOW_REVISION.md를 따른다.</a:t>
            </a:r>
          </a:p>
          <a:p>
            <a:r>
              <a:t xml:space="preserve"/>
            </a:r>
          </a:p>
          <a:p>
            <a:r>
              <a:t xml:space="preserve">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S62 — 목표·기준·방법을 한 작업에 적용한다</a:t>
            </a:r>
          </a:p>
          <a:p>
            <a:r>
              <a:t xml:space="preserve"/>
            </a:r>
          </a:p>
          <a:p>
            <a:r>
              <a:t xml:space="preserve">Slide ID:</a:t>
            </a:r>
          </a:p>
          <a:p>
            <a:r>
              <a:t xml:space="preserve">S62</a:t>
            </a:r>
          </a:p>
          <a:p>
            <a:r>
              <a:t xml:space="preserve"/>
            </a:r>
          </a:p>
          <a:p>
            <a:r>
              <a:t xml:space="preserve">Working Title: 목표·기준·방법을 한 작업에 적용한다</a:t>
            </a:r>
          </a:p>
          <a:p>
            <a:r>
              <a:t xml:space="preserve"/>
            </a:r>
          </a:p>
          <a:p>
            <a:r>
              <a:t xml:space="preserve">ACT / Section: ACT 3 / 3B</a:t>
            </a:r>
          </a:p>
          <a:p>
            <a:r>
              <a:t xml:space="preserve"/>
            </a:r>
          </a:p>
          <a:p>
            <a:r>
              <a:t xml:space="preserve">Allocated Time: 5 minutes</a:t>
            </a:r>
          </a:p>
          <a:p>
            <a:r>
              <a:t xml:space="preserve"/>
            </a:r>
          </a:p>
          <a:p>
            <a:r>
              <a:t xml:space="preserve">Mode Split: Lecture 5 minutes</a:t>
            </a:r>
          </a:p>
          <a:p>
            <a:r>
              <a:t xml:space="preserve"/>
            </a:r>
          </a:p>
          <a:p>
            <a:r>
              <a:t xml:space="preserve">Primary Message: normalize 성능 조사라는 이번 목표를, 기존 이미지 동작·공개 명세를 보존하는 범위에서, 재사용할 측정·조사·검증·비교 방법을 적용해 수행한다.</a:t>
            </a:r>
          </a:p>
          <a:p>
            <a:r>
              <a:t xml:space="preserve"/>
            </a:r>
          </a:p>
          <a:p>
            <a:r>
              <a:t xml:space="preserve">Opening Question: “이번 목표를 향해 작업할 때, 무엇을 지키고 어떤 방법으로 진행할까?”</a:t>
            </a:r>
          </a:p>
          <a:p>
            <a:r>
              <a:t xml:space="preserve"/>
            </a:r>
          </a:p>
          <a:p>
            <a:r>
              <a:t xml:space="preserve">Speaker Flow:</a:t>
            </a:r>
          </a:p>
          <a:p>
            <a:r>
              <a:t xml:space="preserve">1. (0:00–1:00) S61에서 명령의 사용 시점·판단 기준까지 정한 방법을 봤음을 한 문장으로 회수한다. 상단 이번 목표 ‘normalize 성능을 조사해줘’를 읽고, 아래 작업 영역으로 들어가는 연결을 짚는다. S61의 전/후 실행을 다시 강의하지 않는다.</a:t>
            </a:r>
          </a:p>
          <a:p>
            <a:r>
              <a:t xml:space="preserve">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a:r>
              <a:t xml:space="preserve">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a:r>
              <a:t xml:space="preserve">4. (4:00–5:00) 목표는 바뀌어도 프로젝트 기준과 같은 수행 방법은 다음 관련 작업에서도 다시 필요할 수 있음을 묻는다. S63에서 반복할 방법을 어디에서 유지할지 선택하도록 연결한다.</a:t>
            </a:r>
          </a:p>
          <a:p>
            <a:r>
              <a:t xml:space="preserve"/>
            </a:r>
          </a:p>
          <a:p>
            <a:r>
              <a:t xml:space="preserve">Evidence / Source: BEAT-019; plan/DEMO_MATRIX.md의 TRIAL-006/007 목표·보존 조건·반복 요청; DEC-0062, DEC-0063, DEC-0064. TEACHING_MODEL / CONCEPTUAL. 실제 요청을 그대로 실행한 기록이나 새로운 normalize Trial이 아니다.</a:t>
            </a:r>
          </a:p>
          <a:p>
            <a:r>
              <a:t xml:space="preserve"/>
            </a:r>
          </a:p>
          <a:p>
            <a:r>
              <a:t xml:space="preserve">보존된 상세 출처: 교육용 적용 예 · TRIAL-006/007의 목표·보존 조건·반복 방법을 한 작업에 연결</a:t>
            </a:r>
          </a:p>
          <a:p>
            <a:r>
              <a:t xml:space="preserve"/>
            </a:r>
          </a:p>
          <a:p>
            <a:r>
              <a:t xml:space="preserve">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a:r>
              <a:t xml:space="preserve"/>
            </a:r>
          </a:p>
          <a:p>
            <a:r>
              <a:t xml:space="preserve">보존된 상세 범위: 관계 설명용 도식 · 실제 실행 기록이나 제품의 공식 분류가 아님</a:t>
            </a:r>
          </a:p>
          <a:p>
            <a:r>
              <a:t xml:space="preserve"/>
            </a:r>
          </a:p>
          <a:p>
            <a:r>
              <a:t xml:space="preserve">Beginner Explanation: 무엇을 할지 정해도 기존 동작과 명세는 지켜야 한다. 그 범위 안에서 이미 정한 조사·확인 방법을 적용하는 것이 화면 중앙의 한 작업이다.</a:t>
            </a:r>
          </a:p>
          <a:p>
            <a:r>
              <a:t xml:space="preserve"/>
            </a:r>
          </a:p>
          <a:p>
            <a:r>
              <a:t xml:space="preserve">Advanced Insight: 목표와 보존할 기준, 재사용할 방법은 함께 적용되지만 수명·갱신 책임은 다를 수 있다. 성능 목표가 공개 명세 변경을 자동 허용하지 않으며, 재사용 절차도 작업에 맞게 선택·적용해야 한다.</a:t>
            </a:r>
          </a:p>
          <a:p>
            <a:r>
              <a:t xml:space="preserve"/>
            </a:r>
          </a:p>
          <a:p>
            <a:r>
              <a:t xml:space="preserve">C++ Vision Bridge: N/A.</a:t>
            </a:r>
          </a:p>
          <a:p>
            <a:r>
              <a:t xml:space="preserve"/>
            </a:r>
          </a:p>
          <a:p>
            <a:r>
              <a:t xml:space="preserve">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a:r>
              <a:t xml:space="preserve"/>
            </a:r>
          </a:p>
          <a:p>
            <a:r>
              <a:t xml:space="preserve">Audience Interaction: 발표자가 ‘이번 목표가 성능 조사라면 기존 동작도 마음대로 바꿔도 될까요?’를 짧게 던진 뒤 기준 테두리로 답한다. 별도 Q&amp;A나 실습을 추가하지 않고 Lecture5분 안에서 진행한다.</a:t>
            </a:r>
          </a:p>
          <a:p>
            <a:r>
              <a:t xml:space="preserve"/>
            </a:r>
          </a:p>
          <a:p>
            <a:r>
              <a:t xml:space="preserve">Transition: “같은 수행 방법이 다음 작업에도 필요하다면, 어디에서 함께 유지할까요?”</a:t>
            </a:r>
          </a:p>
          <a:p>
            <a:r>
              <a:t xml:space="preserve"/>
            </a:r>
          </a:p>
          <a:p>
            <a:r>
              <a:t xml:space="preserve">Time Management:</a:t>
            </a:r>
          </a:p>
          <a:p>
            <a:r>
              <a:t xml:space="preserve">Lecture5분: S61 회수·목표1, 기준·한 작업1.5, 방법 적용1.5, S63 재사용 질문1. 시간이 부족하면 다른 Task 예시는 생략하고 세 요소가 같은 작업에 적용된다는 관계와 교육용 경계를 유지한다.</a:t>
            </a:r>
          </a:p>
          <a:p>
            <a:r>
              <a:t xml:space="preserve"/>
            </a:r>
          </a:p>
          <a:p>
            <a:r>
              <a:t xml:space="preserve">Fallback:</a:t>
            </a:r>
          </a:p>
          <a:p>
            <a:r>
              <a:t xml:space="preserve">LOCAL STATIC ARTIFACT — production/ACT_3.pptx / S62, production/preview/act3/S62.png 및 production/preview/full/S62.png. 실제 실행 캡처가 아닌 교육용 관계 도식이다. 최종 패키지·PNG·내장 Notes 확인은 production/evaluation/S52_TASK_COMPOSITION_REVISION.md를 따른다.</a:t>
            </a:r>
          </a:p>
          <a:p>
            <a:r>
              <a:t xml:space="preserve"/>
            </a:r>
          </a:p>
          <a:p>
            <a:r>
              <a:t xml:space="preserve">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S63 — 반복 절차를 Skill로 모으는 이유</a:t>
            </a:r>
          </a:p>
          <a:p>
            <a:r>
              <a:t xml:space="preserve"/>
            </a:r>
          </a:p>
          <a:p>
            <a:r>
              <a:t xml:space="preserve">Slide ID:</a:t>
            </a:r>
          </a:p>
          <a:p>
            <a:r>
              <a:t xml:space="preserve">S63</a:t>
            </a:r>
          </a:p>
          <a:p>
            <a:r>
              <a:t xml:space="preserve"/>
            </a:r>
          </a:p>
          <a:p>
            <a:r>
              <a:t xml:space="preserve">Working Title: 반복 절차를 Skill로 모으는 이유</a:t>
            </a:r>
          </a:p>
          <a:p>
            <a:r>
              <a:t xml:space="preserve"/>
            </a:r>
          </a:p>
          <a:p>
            <a:r>
              <a:t xml:space="preserve">ACT / Section: ACT 3 / 3C</a:t>
            </a:r>
          </a:p>
          <a:p>
            <a:r>
              <a:t xml:space="preserve"/>
            </a:r>
          </a:p>
          <a:p>
            <a:r>
              <a:t xml:space="preserve">Allocated Time: 4 minutes</a:t>
            </a:r>
          </a:p>
          <a:p>
            <a:r>
              <a:t xml:space="preserve"/>
            </a:r>
          </a:p>
          <a:p>
            <a:r>
              <a:t xml:space="preserve">Mode Split: Lecture 4 minutes</a:t>
            </a:r>
          </a:p>
          <a:p>
            <a:r>
              <a:t xml:space="preserve"/>
            </a:r>
          </a:p>
          <a:p>
            <a:r>
              <a:t xml:space="preserve">Primary Message: 작업마다 달라지는 목표·허용 범위·보존 조건은 이번 요청에 남기고, 같은 수행 방법은 프로젝트 Skill 한 곳에서 관리해 필요한 작업에 다시 연결하려는 선택이다.</a:t>
            </a:r>
          </a:p>
          <a:p>
            <a:r>
              <a:t xml:space="preserve"/>
            </a:r>
          </a:p>
          <a:p>
            <a:r>
              <a:t xml:space="preserve">Opening Question: “다음 작업에도 같은 방법이 필요하다면, 무엇을 다시 쓰고 무엇을 함께 관리할까?”</a:t>
            </a:r>
          </a:p>
          <a:p>
            <a:r>
              <a:t xml:space="preserve"/>
            </a:r>
          </a:p>
          <a:p>
            <a:r>
              <a:t xml:space="preserve">Speaker Flow:</a:t>
            </a:r>
          </a:p>
          <a:p>
            <a:r>
              <a:t xml:space="preserve">1. (0:00–0:45) S62의 ‘같은 수행 방법이 다음 작업에도 필요하다면?’을 회수한다. 왼쪽 resize_nearest와 normalize는 서로 다른 성능 조사 목표이며 요청은 교육용 요약임을 밝힌다.</a:t>
            </a:r>
          </a:p>
          <a:p>
            <a:r>
              <a:t xml:space="preserve">2. (0:45–1:45) 왼쪽 요청마다 이번 목표·허용 범위·추가 보존 조건을 정함을 짚는다. S62의 기존 프로젝트 기준도 계속 적용된다. 오른쪽은 이 두 작업에 필요한 공통 수행 방법을 프로젝트가 함께 관리할 문서다.</a:t>
            </a:r>
          </a:p>
          <a:p>
            <a:r>
              <a:t xml:space="preserve">3. (1:45–3:00) 오른쪽 Skill 문서에서 두 요청으로 갈라지는 연결을 따라간다. 같은 절차를 매번 다시 작성하지 않고 한 곳에서 검토·수정해 필요한 작업에 연결하려는 이유를 설명한다. 단계별 실행 순서는 S61에서 봤으므로 다시 강의하지 않는다. AGENTS.md에도 절차를 둘 수 있고, Skill은 이 사례에서 선택한 구현임을 덧붙인다.</a:t>
            </a:r>
          </a:p>
          <a:p>
            <a:r>
              <a:t xml:space="preserve">4. (3:00–4:00) DEC-0017의 프로젝트 소유 Skill 선택과 성공 검증을 구분한다. 현재 제품 표면·계정·호출 경로는 별도 확인이며 자동 준수를 보장하지 않는다. 다음 S64의 Codex CLI0.154.0 발견·명시 호출·본문 포함 기록으로 넘어간다.</a:t>
            </a:r>
          </a:p>
          <a:p>
            <a:r>
              <a:t xml:space="preserve"/>
            </a:r>
          </a:p>
          <a:p>
            <a:r>
              <a:t xml:space="preserve">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S65에서 확인한다.</a:t>
            </a:r>
          </a:p>
          <a:p>
            <a:r>
              <a:t xml:space="preserve"/>
            </a:r>
          </a:p>
          <a:p>
            <a:r>
              <a:t xml:space="preserve">보존된 상세 출처: DEC-0017 · 프로젝트 Skill을 선택한 설계 의도 · 왼쪽 요청은 교육용 요약</a:t>
            </a:r>
          </a:p>
          <a:p>
            <a:r>
              <a:t xml:space="preserve"/>
            </a:r>
          </a:p>
          <a:p>
            <a:r>
              <a:t xml:space="preserve">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a:r>
              <a:t xml:space="preserve"/>
            </a:r>
          </a:p>
          <a:p>
            <a:r>
              <a:t xml:space="preserve">보존된 상세 범위: 설계 선택이며 성공 증명 아님 · 현재 제품 표면·계정·호출 경로는 별도 확인</a:t>
            </a:r>
          </a:p>
          <a:p>
            <a:r>
              <a:t xml:space="preserve"/>
            </a:r>
          </a:p>
          <a:p>
            <a:r>
              <a:t xml:space="preserve">Beginner Explanation: 작업마다 원하는 일과 범위는 다시 정하되, 필요한 공통 방법은 같은 문서에서 가져다 쓰도록 설계한다. 절차를 고칠 때도 공통 출처 한 곳에서 검토하려는 것이다.</a:t>
            </a:r>
          </a:p>
          <a:p>
            <a:r>
              <a:t xml:space="preserve"/>
            </a:r>
          </a:p>
          <a:p>
            <a:r>
              <a:t xml:space="preserve">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a:r>
              <a:t xml:space="preserve"/>
            </a:r>
          </a:p>
          <a:p>
            <a:r>
              <a:t xml:space="preserve">C++ Vision Bridge: N/A.</a:t>
            </a:r>
          </a:p>
          <a:p>
            <a:r>
              <a:t xml:space="preserve"/>
            </a:r>
          </a:p>
          <a:p>
            <a:r>
              <a:t xml:space="preserve">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a:r>
              <a:t xml:space="preserve"/>
            </a:r>
          </a:p>
          <a:p>
            <a:r>
              <a:t xml:space="preserve">Audience Interaction: ‘같은 검증 절차를 고칠 때 각 요청을 따로 고칠까요, 공통 방법을 함께 검토할까요?’를 짧게 던지고 한 곳에서 관리한다는 문장으로 회수한다. 별도 실습·Q&amp;A 시간을 추가하지 않는다.</a:t>
            </a:r>
          </a:p>
          <a:p>
            <a:r>
              <a:t xml:space="preserve"/>
            </a:r>
          </a:p>
          <a:p>
            <a:r>
              <a:t xml:space="preserve">Transition: “이제 당시 CLI 기록에서 이 Skill이 어떻게 발견되고, 작업 요청과 함께 호출됐는지 확인하겠습니다.”</a:t>
            </a:r>
          </a:p>
          <a:p>
            <a:r>
              <a:t xml:space="preserve"/>
            </a:r>
          </a:p>
          <a:p>
            <a:r>
              <a:t xml:space="preserve">Time Management:</a:t>
            </a:r>
          </a:p>
          <a:p>
            <a:r>
              <a:t xml:space="preserve">Lecture4분: S62 회수0.75, 요청/기준 구분1, 공통 Skill과 관리 이유1.25, 선택 범위/S60 연결1. 시간이 부족하면 절차 항목 설명을 줄이고 Task별 정보·한 곳의 방법·설계 경계는 유지한다.</a:t>
            </a:r>
          </a:p>
          <a:p>
            <a:r>
              <a:t xml:space="preserve"/>
            </a:r>
          </a:p>
          <a:p>
            <a:r>
              <a:t xml:space="preserve">Fallback:</a:t>
            </a:r>
          </a:p>
          <a:p>
            <a:r>
              <a:t xml:space="preserve">LOCAL STATIC ARTIFACT — production/ACT_3.pptx / S63, production/preview/act3/S63.png 및 production/preview/full/S63.png. 실제 실행 캡처가 아닌 교육용 선택·재사용 도식이다. 최종 패키지·PNG·내장 Notes 확인은 production/evaluation/S53_S54_SKILL_EVIDENCE_REVISION.md를 따른다.</a:t>
            </a:r>
          </a:p>
          <a:p>
            <a:r>
              <a:t xml:space="preserve"/>
            </a:r>
          </a:p>
          <a:p>
            <a:r>
              <a:t xml:space="preserve">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S64 — Skill 발견·호출·본문 포함의 근거</a:t>
            </a:r>
          </a:p>
          <a:p>
            <a:r>
              <a:t xml:space="preserve"/>
            </a:r>
          </a:p>
          <a:p>
            <a:r>
              <a:t xml:space="preserve">Slide ID:</a:t>
            </a:r>
          </a:p>
          <a:p>
            <a:r>
              <a:t xml:space="preserve">S64</a:t>
            </a:r>
          </a:p>
          <a:p>
            <a:r>
              <a:t xml:space="preserve"/>
            </a:r>
          </a:p>
          <a:p>
            <a:r>
              <a:t xml:space="preserve">Working Title: Skill 발견·호출·본문 포함의 근거</a:t>
            </a:r>
          </a:p>
          <a:p>
            <a:r>
              <a:t xml:space="preserve"/>
            </a:r>
          </a:p>
          <a:p>
            <a:r>
              <a:t xml:space="preserve">ACT / Section: ACT 3 / 3C</a:t>
            </a:r>
          </a:p>
          <a:p>
            <a:r>
              <a:t xml:space="preserve"/>
            </a:r>
          </a:p>
          <a:p>
            <a:r>
              <a:t xml:space="preserve">Allocated Time: 5 minutes</a:t>
            </a:r>
          </a:p>
          <a:p>
            <a:r>
              <a:t xml:space="preserve"/>
            </a:r>
          </a:p>
          <a:p>
            <a:r>
              <a:t xml:space="preserve">Mode Split: Demo 5 minutes (HYBRID planned; activation unverified)</a:t>
            </a:r>
          </a:p>
          <a:p>
            <a:r>
              <a:t xml:space="preserve"/>
            </a:r>
          </a:p>
          <a:p>
            <a:r>
              <a:t xml:space="preserve">Primary Message: 당시 CLI에서 Skill을 목록으로 찾고 요청에 명시한 사실과, 실행 trace에 이름·경로·전체 본문이 포함된 근거를 각각 확인한다. 본문이 포함된 사실과 실제 지침 수행은 구분한다.</a:t>
            </a:r>
          </a:p>
          <a:p>
            <a:r>
              <a:t xml:space="preserve"/>
            </a:r>
          </a:p>
          <a:p>
            <a:r>
              <a:t xml:space="preserve">Opening Question: “공통 방법을 Skill에 두었다면, 이번 작업에 실제로 포함됐다는 것을 무엇으로 확인할까요?”</a:t>
            </a:r>
          </a:p>
          <a:p>
            <a:r>
              <a:t xml:space="preserve"/>
            </a:r>
          </a:p>
          <a:p>
            <a:r>
              <a:t xml:space="preserve">Speaker Flow:</a:t>
            </a:r>
          </a:p>
          <a:p>
            <a:r>
              <a:t xml:space="preserve">1. (0:00–0:45) S63의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a:r>
              <a:t xml:space="preserve">2. (0:45–1:45) 왼쪽 /skills 목록에서 graypipe-performance 이름과 잘린 설명을 확인한 기록을 짚는다. 목록에는 파일 경로가 없었다. 화면은 제품 UI 캡처가 아닌 보존된 관찰·문구의 재구성이다.</a:t>
            </a:r>
          </a:p>
          <a:p>
            <a:r>
              <a:t xml:space="preserve">3. (1:45–2:45) 가운데 요청 첫 줄의 $graypipe-performance를 가리킨다. 호출 표기는 실제 문구이며 뒤의 한글은 실제 요청의 번역 요약이다. 사용자가 명시한 호출이다. 암묵 호출을 시험한 결과로 설명하지 않는다.</a:t>
            </a:r>
          </a:p>
          <a:p>
            <a:r>
              <a:t xml:space="preserve">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a:r>
              <a:t xml:space="preserve">5. (4:15–5:00) Codex CLI0.154.0의 성공한 실행에서 관찰한 범위를 말한다. 현재 Desktop이나 모든 지침의 준수를 보장하지 않는다. S65에서 Skill의 지침과 실제 작업 기록을 대응하도록 전환한다.</a:t>
            </a:r>
          </a:p>
          <a:p>
            <a:r>
              <a:t xml:space="preserve"/>
            </a:r>
          </a:p>
          <a:p>
            <a:r>
              <a:t xml:space="preserve">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a:r>
              <a:t xml:space="preserve"/>
            </a:r>
          </a:p>
          <a:p>
            <a:r>
              <a:t xml:space="preserve">보존된 상세 출처: TRIAL-008 · Codex CLI 0.154.0 · 기록 발췌·번역·재구성 (실제 UI 캡처 아님)</a:t>
            </a:r>
          </a:p>
          <a:p>
            <a:r>
              <a:t xml:space="preserve"/>
            </a:r>
          </a:p>
          <a:p>
            <a:r>
              <a:t xml:space="preserve">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a:r>
              <a:t xml:space="preserve"/>
            </a:r>
          </a:p>
          <a:p>
            <a:r>
              <a:t xml:space="preserve">보존된 상세 범위: 별도 load 이벤트 없음 · 지침 준수의 보장은 아님 · 현재 Desktop·암묵 호출 미검증</a:t>
            </a:r>
          </a:p>
          <a:p>
            <a:r>
              <a:t xml:space="preserve"/>
            </a:r>
          </a:p>
          <a:p>
            <a:r>
              <a:t xml:space="preserve">Beginner Explanation: 목록에서 찾은 이름을 이번 요청에 직접 적었다. 이후 실행 기록에 그 Skill의 이름뿐 아니라 경로와 전체 지침이 함께 들어왔는지를 확인했다.</a:t>
            </a:r>
          </a:p>
          <a:p>
            <a:r>
              <a:t xml:space="preserve"/>
            </a:r>
          </a:p>
          <a:p>
            <a:r>
              <a:t xml:space="preserve">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a:r>
              <a:t xml:space="preserve"/>
            </a:r>
          </a:p>
          <a:p>
            <a:r>
              <a:t xml:space="preserve">C++ Vision Bridge: N/A.</a:t>
            </a:r>
          </a:p>
          <a:p>
            <a:r>
              <a:t xml:space="preserve"/>
            </a:r>
          </a:p>
          <a:p>
            <a:r>
              <a:t xml:space="preserve">Demo Operation:</a:t>
            </a:r>
          </a:p>
          <a:p>
            <a:r>
              <a:t xml:space="preserve">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S65로 넘긴다.</a:t>
            </a:r>
          </a:p>
          <a:p>
            <a:r>
              <a:t xml:space="preserve"/>
            </a:r>
          </a:p>
          <a:p>
            <a:r>
              <a:t xml:space="preserve">Audience Interaction: “이름이 목록에 보였다는 것만으로, 이번 작업에 전체 지침이 포함됐다고 말할 수 있을까요?”를 던지고 오른쪽 trace 근거로 회수한다. 별도 실습·Q&amp;A 시간을 추가하지 않는다.</a:t>
            </a:r>
          </a:p>
          <a:p>
            <a:r>
              <a:t xml:space="preserve"/>
            </a:r>
          </a:p>
          <a:p>
            <a:r>
              <a:t xml:space="preserve">Transition: “이름과 전체 본문이 포함된 근거는 확인했습니다. 다음은 그 지침과 실제 작업 기록을 대응해 보겠습니다.”</a:t>
            </a:r>
          </a:p>
          <a:p>
            <a:r>
              <a:t xml:space="preserve"/>
            </a:r>
          </a:p>
          <a:p>
            <a:r>
              <a:t xml:space="preserve">Time Management:</a:t>
            </a:r>
          </a:p>
          <a:p>
            <a:r>
              <a:t xml:space="preserve">Demo5분: S63 회수·업무 목적0.75, 목록1, 요청1, trace1.5, 범위·S65 전환0.75. 시간이 부족하면 영문 설명과 경로를 낭독하지 않고 세 근거의 차이를 짚는다. 본문 포함과 실제 준수의 구분은 생략하지 않는다.</a:t>
            </a:r>
          </a:p>
          <a:p>
            <a:r>
              <a:t xml:space="preserve"/>
            </a:r>
          </a:p>
          <a:p>
            <a:r>
              <a:t xml:space="preserve">Fallback:</a:t>
            </a:r>
          </a:p>
          <a:p>
            <a:r>
              <a:t xml:space="preserve">LOCAL STATIC ARTIFACT — production/ACT_3.pptx / S64, production/preview/act3/S64.png 및 production/preview/full/S64.png.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a:r>
              <a:t xml:space="preserve"/>
            </a:r>
          </a:p>
          <a:p>
            <a:r>
              <a:t xml:space="preserve">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S65 — Skill 지침과 실제 작업 기록의 대응</a:t>
            </a:r>
          </a:p>
          <a:p>
            <a:r>
              <a:t xml:space="preserve"/>
            </a:r>
          </a:p>
          <a:p>
            <a:r>
              <a:t xml:space="preserve">Slide ID:</a:t>
            </a:r>
          </a:p>
          <a:p>
            <a:r>
              <a:t xml:space="preserve">S65</a:t>
            </a:r>
          </a:p>
          <a:p>
            <a:r>
              <a:t xml:space="preserve"/>
            </a:r>
          </a:p>
          <a:p>
            <a:r>
              <a:t xml:space="preserve">Working Title: Skill 지침과 실제 작업 기록의 대응</a:t>
            </a:r>
          </a:p>
          <a:p>
            <a:r>
              <a:t xml:space="preserve"/>
            </a:r>
          </a:p>
          <a:p>
            <a:r>
              <a:t xml:space="preserve">ACT / Section: ACT 3 / 3C</a:t>
            </a:r>
          </a:p>
          <a:p>
            <a:r>
              <a:t xml:space="preserve"/>
            </a:r>
          </a:p>
          <a:p>
            <a:r>
              <a:t xml:space="preserve">Allocated Time: 6 minutes</a:t>
            </a:r>
          </a:p>
          <a:p>
            <a:r>
              <a:t xml:space="preserve"/>
            </a:r>
          </a:p>
          <a:p>
            <a:r>
              <a:t xml:space="preserve">Mode Split: Demo 3 minutes (HYBRID planned; activation unverified) + Case 3 minutes</a:t>
            </a:r>
          </a:p>
          <a:p>
            <a:r>
              <a:t xml:space="preserve"/>
            </a:r>
          </a:p>
          <a:p>
            <a:r>
              <a:t xml:space="preserve">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a:r>
              <a:t xml:space="preserve"/>
            </a:r>
          </a:p>
          <a:p>
            <a:r>
              <a:t xml:space="preserve">Opening Question: “Skill의 전체 본문이 포함됐다는 것만으로, 실제로 그 지침을 수행했다고 말할 수 있을까요?”</a:t>
            </a:r>
          </a:p>
          <a:p>
            <a:r>
              <a:t xml:space="preserve"/>
            </a:r>
          </a:p>
          <a:p>
            <a:r>
              <a:t xml:space="preserve">Speaker Flow:</a:t>
            </a:r>
          </a:p>
          <a:p>
            <a:r>
              <a:t xml:space="preserve">1. (0:00–0:30, Demo) 상단 왼쪽에서 S64의 본문 포함 확인을 회수한다. 오른쪽과 표로 이동해 이번에는 밝기 통계 작업의 수행 기록을 보겠다고 안내한다. 화면은 원문 실행 캡처가 아닌 지침 번역·기록 요약이다.</a:t>
            </a:r>
          </a:p>
          <a:p>
            <a:r>
              <a:t xml:space="preserve">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a:r>
              <a:t xml:space="preserve">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a:r>
              <a:t xml:space="preserve">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a:r>
              <a:t xml:space="preserve">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a:r>
              <a:t xml:space="preserve">6. (4:30–6:00, Case) 재사용할 수행 방법을 Skill에 두고 이번 목표·범위는 요청으로 전달한 역할 분담을 정리한다. 다음 S67에서 반복할 절차와 작업마다 근거로 판단할 답을 나눈다. 후보별 수치·선택 결과나 STATE-04-PERF의 성능 비교는 앞당기지 않는다.</a:t>
            </a:r>
          </a:p>
          <a:p>
            <a:r>
              <a:t xml:space="preserve"/>
            </a:r>
          </a:p>
          <a:p>
            <a:r>
              <a:t xml:space="preserve">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a:r>
              <a:t xml:space="preserve"/>
            </a:r>
          </a:p>
          <a:p>
            <a:r>
              <a:t xml:space="preserve">보존된 상세 출처: TRIAL-008 · Codex CLI 0.154.0 · Skill 번역 요약 + 작업 기록 재구성 (실제 캡처 아님)</a:t>
            </a:r>
          </a:p>
          <a:p>
            <a:r>
              <a:t xml:space="preserve"/>
            </a:r>
          </a:p>
          <a:p>
            <a:r>
              <a:t xml:space="preserve">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a:r>
              <a:t xml:space="preserve"/>
            </a:r>
          </a:p>
          <a:p>
            <a:r>
              <a:t xml:space="preserve">보존된 상세 범위: 관찰된 대응 · 전체 지침 준수·Skill 단독 인과성·우월성·토큰/속도 효과는 입증하지 않음</a:t>
            </a:r>
          </a:p>
          <a:p>
            <a:r>
              <a:t xml:space="preserve"/>
            </a:r>
          </a:p>
          <a:p>
            <a:r>
              <a:t xml:space="preserve">Beginner Explanation: 지침을 받았다는 것은 요청서가 전달됐다는 뜻이다. 실제로 수행했는지는 측정 출력, 변경 전 설명, 변경 내용과 테스트 결과 같은 작업 흔적에서 확인한다.</a:t>
            </a:r>
          </a:p>
          <a:p>
            <a:r>
              <a:t xml:space="preserve"/>
            </a:r>
          </a:p>
          <a:p>
            <a:r>
              <a:t xml:space="preserve">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a:r>
              <a:t xml:space="preserve"/>
            </a:r>
          </a:p>
          <a:p>
            <a:r>
              <a:t xml:space="preserve">C++ Vision Bridge: N/A.</a:t>
            </a:r>
          </a:p>
          <a:p>
            <a:r>
              <a:t xml:space="preserve"/>
            </a:r>
          </a:p>
          <a:p>
            <a:r>
              <a:t xml:space="preserve">Demo Operation:</a:t>
            </a:r>
          </a:p>
          <a:p>
            <a:r>
              <a:t xml:space="preserve">LOCAL STATIC RECORD — S64의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S68–S69로 넘긴다.</a:t>
            </a:r>
          </a:p>
          <a:p>
            <a:r>
              <a:t xml:space="preserve"/>
            </a:r>
          </a:p>
          <a:p>
            <a:r>
              <a:t xml:space="preserve">Audience Interaction: “변경 전에 하겠다고 말한 기록과, 실제로 바꾼 내용을 확인하는 근거가 같을까요?”를 던지고02행의 메시지·diff를 각각 가리킨다. 답변을 기다리며 별도 실습·Q&amp;A 시간을 추가하지 않는다.</a:t>
            </a:r>
          </a:p>
          <a:p>
            <a:r>
              <a:t xml:space="preserve"/>
            </a:r>
          </a:p>
          <a:p>
            <a:r>
              <a:t xml:space="preserve">**Transition:**</a:t>
            </a:r>
          </a:p>
          <a:p>
            <a:r>
              <a:t xml:space="preserve">“지침과 실제 작업 기록을 대응했습니다. 우리 절차도 Codex와 대화하며 Skill로 만들 수 있는지 짧게 보겠습니다.” S66 팁 뒤 S67에서 절차와 작업별 답의 경계를 회수한다.</a:t>
            </a:r>
          </a:p>
          <a:p>
            <a:r>
              <a:t xml:space="preserve"/>
            </a:r>
          </a:p>
          <a:p>
            <a:r>
              <a:t xml:space="preserve">Time Management:</a:t>
            </a:r>
          </a:p>
          <a:p>
            <a:r>
              <a:t xml:space="preserve">Demo3분(본문 포함 회수0.5, 기준선0.75, 계획·diff0.75, 검증1) + Case3분(근거 구분·요청 책임1.5, 범위·S67 연결1.5). 지연 시 명령과 테스트 이름을 낭독하지 않고 행별 대응을 짚는다. 조건부 계획, 입력/수행 구분, 단독 효과 미입증은 생략하지 않는다. 6분에 S67으로 이동한다.</a:t>
            </a:r>
          </a:p>
          <a:p>
            <a:r>
              <a:t xml:space="preserve"/>
            </a:r>
          </a:p>
          <a:p>
            <a:r>
              <a:t xml:space="preserve">Fallback:</a:t>
            </a:r>
          </a:p>
          <a:p>
            <a:r>
              <a:t xml:space="preserve">LOCAL STATIC ARTIFACT — production/ACT_3.pptx의 S65, production/preview/act3/S65.png 및 production/preview/full/S65.png.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a:r>
              <a:t xml:space="preserve"/>
            </a:r>
          </a:p>
          <a:p>
            <a:r>
              <a:t xml:space="preserve">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S66 — 대화로 재사용할 Skill 만들기</a:t>
            </a:r>
          </a:p>
          <a:p>
            <a:r>
              <a:t xml:space="preserve"/>
            </a:r>
          </a:p>
          <a:p>
            <a:r>
              <a:t xml:space="preserve">**Slide ID:**</a:t>
            </a:r>
          </a:p>
          <a:p>
            <a:r>
              <a:t xml:space="preserve">S66</a:t>
            </a:r>
          </a:p>
          <a:p>
            <a:r>
              <a:t xml:space="preserve"/>
            </a:r>
          </a:p>
          <a:p>
            <a:r>
              <a:t xml:space="preserve">**Working Title:**</a:t>
            </a:r>
          </a:p>
          <a:p>
            <a:r>
              <a:t xml:space="preserve">대화로 재사용할 Skill 만들기</a:t>
            </a:r>
          </a:p>
          <a:p>
            <a:r>
              <a:t xml:space="preserve"/>
            </a:r>
          </a:p>
          <a:p>
            <a:r>
              <a:t xml:space="preserve">**ACT / Section:**</a:t>
            </a:r>
          </a:p>
          <a:p>
            <a:r>
              <a:t xml:space="preserve">ACT 3 / 3C Reusable Skill</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Codex의 $skill-creator에 반복할 작업과 사용 조건을 대화로 설명해 Skill 초안을 만들 수 있다. 생성된 지침을 확인하고 대표 요청에 사용해 다듬는다.</a:t>
            </a:r>
          </a:p>
          <a:p>
            <a:r>
              <a:t xml:space="preserve"/>
            </a:r>
          </a:p>
          <a:p>
            <a:r>
              <a:t xml:space="preserve">**Opening Question:**</a:t>
            </a:r>
          </a:p>
          <a:p>
            <a:r>
              <a:t xml:space="preserve">“우리 작업 절차도 파일 문법부터 배우지 않고 Skill로 만들 수 있을까요?”</a:t>
            </a:r>
          </a:p>
          <a:p>
            <a:r>
              <a:t xml:space="preserve"/>
            </a:r>
          </a:p>
          <a:p>
            <a:r>
              <a:t xml:space="preserve">**Speaker Flow:**</a:t>
            </a:r>
          </a:p>
          <a:p>
            <a:r>
              <a:t xml:space="preserve">1. (0:00–0:30 / Lecture) 실제 지침/기록 대응을 본 S65에서 제작 방법이라는 짧은 실무 팁으로 전환한다. 새 Trial이나 기존 Skill 제작 과정을 재현하는 Demo가 아니다.</a:t>
            </a:r>
          </a:p>
          <a:p>
            <a:r>
              <a:t xml:space="preserve">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a:r>
              <a:t xml:space="preserve">3. (1:25–2:00 / Lecture) 오른쪽은 생성 문서의 역할을 보여주는 도식이다. 지침을 검토하고 대표 요청으로 시험해야 한다. 절차와 고정 답을 어떻게 나눌지는 S67의 기존 설명으로 회수한다.</a:t>
            </a:r>
          </a:p>
          <a:p>
            <a:r>
              <a:t xml:space="preserve"/>
            </a:r>
          </a:p>
          <a:p>
            <a:r>
              <a:t xml:space="preserve">**Evidence / Source:**</a:t>
            </a:r>
          </a:p>
          <a:p>
            <a:r>
              <a:t xml:space="preserve">SRC-0111 / CLM-0041; https://learn.chatgpt.com/docs/build-skills; 2026-10-25 재확인; DEC-0093. 명시 호출과 초안 제작 안내를 바탕으로 각색한 요청·문서 도식이다.</a:t>
            </a:r>
          </a:p>
          <a:p>
            <a:r>
              <a:t xml:space="preserve"/>
            </a:r>
          </a:p>
          <a:p>
            <a:r>
              <a:t xml:space="preserve">보존된 상세 출처: OpenAI Build skills · 2026-10-25 확인 · 요청과 생성 문서의 교육용 도식</a:t>
            </a:r>
          </a:p>
          <a:p>
            <a:r>
              <a:t xml:space="preserve"/>
            </a:r>
          </a:p>
          <a:p>
            <a:r>
              <a:t xml:space="preserve">**Claim Boundary:**</a:t>
            </a:r>
          </a:p>
          <a:p>
            <a:r>
              <a:t xml:space="preserve">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a:r>
              <a:t xml:space="preserve"/>
            </a:r>
          </a:p>
          <a:p>
            <a:r>
              <a:t xml:space="preserve">보존된 상세 범위: 현재 제품 활용 팁 · TRIAL-008의 제작 이력이 아님 · 생성 뒤 사용 조건·지침을 검토하고 실제 요청으로 확인</a:t>
            </a:r>
          </a:p>
          <a:p>
            <a:r>
              <a:t xml:space="preserve"/>
            </a:r>
          </a:p>
          <a:p>
            <a:r>
              <a:t xml:space="preserve">**Beginner Explanation:**</a:t>
            </a:r>
          </a:p>
          <a:p>
            <a:r>
              <a:t xml:space="preserve">Skill 파일의 문법부터 직접 외울 필요 없이 Codex에 원하는 작업 방법을 설명해 제작을 시작할 수 있다.</a:t>
            </a:r>
          </a:p>
          <a:p>
            <a:r>
              <a:t xml:space="preserve"/>
            </a:r>
          </a:p>
          <a:p>
            <a:r>
              <a:t xml:space="preserve">**Advanced Insight:**</a:t>
            </a:r>
          </a:p>
          <a:p>
            <a:r>
              <a:t xml:space="preserve">사용 조건·입출력·수행 방법의 범위를 좁히고 생성 지침의 검토와 대표 요청 평가를 구분한다. 좋은 실행 결과·정확성·효율을 자동 보장하지 않는다.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“만드는 시작은 대화로 할 수 있습니다. 그러면 이 Skill에는 어떤 절차를 고정하고 어떤 답을 남겨 둬야 할까요?” 기존 S66이 이동한 S67로 이어간다.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S66 / production/preview/full/S66.png.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S67 — 절차는 재사용하고, 답은 근거로 정한다</a:t>
            </a:r>
          </a:p>
          <a:p>
            <a:r>
              <a:t xml:space="preserve"/>
            </a:r>
          </a:p>
          <a:p>
            <a:r>
              <a:t xml:space="preserve">Slide ID:</a:t>
            </a:r>
          </a:p>
          <a:p>
            <a:r>
              <a:t xml:space="preserve">S67</a:t>
            </a:r>
          </a:p>
          <a:p>
            <a:r>
              <a:t xml:space="preserve"/>
            </a:r>
          </a:p>
          <a:p>
            <a:r>
              <a:t xml:space="preserve">Working Title: 절차는 재사용하고, 답은 근거로 정한다</a:t>
            </a:r>
          </a:p>
          <a:p>
            <a:r>
              <a:t xml:space="preserve"/>
            </a:r>
          </a:p>
          <a:p>
            <a:r>
              <a:t xml:space="preserve">ACT / Section: ACT 3 / 3D</a:t>
            </a:r>
          </a:p>
          <a:p>
            <a:r>
              <a:t xml:space="preserve"/>
            </a:r>
          </a:p>
          <a:p>
            <a:r>
              <a:t xml:space="preserve">Allocated Time: 3 minutes</a:t>
            </a:r>
          </a:p>
          <a:p>
            <a:r>
              <a:t xml:space="preserve"/>
            </a:r>
          </a:p>
          <a:p>
            <a:r>
              <a:t xml:space="preserve">Mode Split: Lecture 3 minutes</a:t>
            </a:r>
          </a:p>
          <a:p>
            <a:r>
              <a:t xml:space="preserve"/>
            </a:r>
          </a:p>
          <a:p>
            <a:r>
              <a:t xml:space="preserve">Primary Message: Skill은 편집 전 재현 가능한 기준선, 검증·비교와 변경 보류 조건을 담는다. 알고리즘·측정값·trade-off는 Task별 근거로 결정하고 정답이나 Trial 수치를 미리 넣지 않는다.</a:t>
            </a:r>
          </a:p>
          <a:p>
            <a:r>
              <a:t xml:space="preserve"/>
            </a:r>
          </a:p>
          <a:p>
            <a:r>
              <a:t xml:space="preserve">Opening Question: “앞 장에서 확인한 것 중, 다음 작업에도 쓸 방법과 이번 기록으로 답해야 할 것은 각각 무엇일까요?”</a:t>
            </a:r>
          </a:p>
          <a:p>
            <a:r>
              <a:t xml:space="preserve"/>
            </a:r>
          </a:p>
          <a:p>
            <a:r>
              <a:t xml:space="preserve">**Speaker Flow:**</a:t>
            </a:r>
          </a:p>
          <a:p>
            <a:r>
              <a:t xml:space="preserve">1. (0:00–0:35) S66에서 대화로 Skill 초안을 만들 수 있음을 봤다. 이제 그 지침 안에서 다음 작업에도 유지할 수행 절차와 이번 Task의 근거로 결정할 답을 나눈다. 앞의 S65 실제 지침/기록 대응을 짧게 회수하되 제작 방법을 반복하지 않는다.</a:t>
            </a:r>
          </a:p>
          <a:p>
            <a:r>
              <a:t xml:space="preserve">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a:r>
              <a:t xml:space="preserve">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a:r>
              <a:t xml:space="preserve">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S68에서 실제 밝기 통계 후보 선택을 확인한다.</a:t>
            </a:r>
          </a:p>
          <a:p>
            <a:r>
              <a:t xml:space="preserve"/>
            </a:r>
          </a:p>
          <a:p>
            <a:r>
              <a:t xml:space="preserve">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a:r>
              <a:t xml:space="preserve"/>
            </a:r>
          </a:p>
          <a:p>
            <a:r>
              <a:t xml:space="preserve">보존된 상세 출처: STATE-04 SKILL.md 번역 요약 + 교육용 질문·판단 경로 · 새 실행 결과가 아님</a:t>
            </a:r>
          </a:p>
          <a:p>
            <a:r>
              <a:t xml:space="preserve"/>
            </a:r>
          </a:p>
          <a:p>
            <a:r>
              <a:t xml:space="preserve">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a:r>
              <a:t xml:space="preserve"/>
            </a:r>
          </a:p>
          <a:p>
            <a:r>
              <a:t xml:space="preserve">보존된 상세 범위: 특정 구현·Trial 수치를 미리 넣지 않았음 · 보류는 허용된 경로이며 TRIAL-008의 관찰 결과 아님</a:t>
            </a:r>
          </a:p>
          <a:p>
            <a:r>
              <a:t xml:space="preserve"/>
            </a:r>
          </a:p>
          <a:p>
            <a:r>
              <a:t xml:space="preserve">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a:r>
              <a:t xml:space="preserve"/>
            </a:r>
          </a:p>
          <a:p>
            <a:r>
              <a:t xml:space="preserve">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a:r>
              <a:t xml:space="preserve"/>
            </a:r>
          </a:p>
          <a:p>
            <a:r>
              <a:t xml:space="preserve">C++ Vision Bridge: N/A.</a:t>
            </a:r>
          </a:p>
          <a:p>
            <a:r>
              <a:t xml:space="preserve"/>
            </a:r>
          </a:p>
          <a:p>
            <a:r>
              <a:t xml:space="preserve">Demo Operation:</a:t>
            </a:r>
          </a:p>
          <a:p>
            <a:r>
              <a:t xml:space="preserve">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S68/S64보다 앞서 공개하지 않는다.</a:t>
            </a:r>
          </a:p>
          <a:p>
            <a:r>
              <a:t xml:space="preserve"/>
            </a:r>
          </a:p>
          <a:p>
            <a:r>
              <a:t xml:space="preserve">Audience Interaction: “같은 Skill을 썼다면 항상 같은 구현을 골라야 할까요?”를 짧게 던진 뒤 오른쪽 근거와 질문으로 회수한다. 공개 답변·실습을 요구하거나 별도 Q&amp;A 시간을 추가하지 않는다.</a:t>
            </a:r>
          </a:p>
          <a:p>
            <a:r>
              <a:t xml:space="preserve"/>
            </a:r>
          </a:p>
          <a:p>
            <a:r>
              <a:t xml:space="preserve">Transition: “그렇다면 밝기 통계의 구현 후보는 어떤 근거로 선택했을까요?”</a:t>
            </a:r>
          </a:p>
          <a:p>
            <a:r>
              <a:t xml:space="preserve"/>
            </a:r>
          </a:p>
          <a:p>
            <a:r>
              <a:t xml:space="preserve">Time Management:</a:t>
            </a:r>
          </a:p>
          <a:p>
            <a:r>
              <a:t xml:space="preserve">Lecture3분: S65 회수0.5, 재사용 방법0.75, 이번 근거·답1, 채택/보류와 S68 연결0.75. 지연 시 지침 원문과 세 질문을 전부 낭독하지 않는다. 허용된 보류와 실제 결과의 구분은 생략하지 않고3분에 S68으로 이동한다.</a:t>
            </a:r>
          </a:p>
          <a:p>
            <a:r>
              <a:t xml:space="preserve"/>
            </a:r>
          </a:p>
          <a:p>
            <a:r>
              <a:t xml:space="preserve">Fallback:</a:t>
            </a:r>
          </a:p>
          <a:p>
            <a:r>
              <a:t xml:space="preserve">LOCAL STATIC ARTIFACT — production/ACT_3.pptx의 S67, production/preview/act3/S67.png 및 production/preview/full/S67.png. 실제 Skill 요약과 교육용 판단 경로를 구분해 설명한다. 현재 제품이나 Demo repository를 실행하지 않는다. 최종 패키지·PNG·내장 Notes 대조는 production/evaluation/S56_REUSABLE_PROCEDURE_REVISION.md를 따른다.</a:t>
            </a:r>
          </a:p>
          <a:p>
            <a:r>
              <a:t xml:space="preserve"/>
            </a:r>
          </a:p>
          <a:p>
            <a:r>
              <a:t xml:space="preserve">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S68 — 밝기 통계 계산의 성능 개선 후보</a:t>
            </a:r>
          </a:p>
          <a:p>
            <a:r>
              <a:t xml:space="preserve"/>
            </a:r>
          </a:p>
          <a:p>
            <a:r>
              <a:t xml:space="preserve">Slide ID:</a:t>
            </a:r>
          </a:p>
          <a:p>
            <a:r>
              <a:t xml:space="preserve">S68</a:t>
            </a:r>
          </a:p>
          <a:p>
            <a:r>
              <a:t xml:space="preserve"/>
            </a:r>
          </a:p>
          <a:p>
            <a:r>
              <a:t xml:space="preserve">Working Title: 밝기 통계 계산의 성능 개선 후보</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TRIAL-008에서는 결과 6항목을 보존한 후보들의 실행시간과 traced allocation을 함께 봤다. 느린 수동 순회는 제외하고 낮은 할당량과 더 나은 실행시간의 행 단위 reduction을 선택했다.</a:t>
            </a:r>
          </a:p>
          <a:p>
            <a:r>
              <a:t xml:space="preserve"/>
            </a:r>
          </a:p>
          <a:p>
            <a:r>
              <a:t xml:space="preserve">Opening Question: “밝기 통계의 결과를 유지하면서, 어떤 계산 방식을 선택했을까요?”</a:t>
            </a:r>
          </a:p>
          <a:p>
            <a:r>
              <a:t xml:space="preserve"/>
            </a:r>
          </a:p>
          <a:p>
            <a:r>
              <a:t xml:space="preserve">Speaker Flow:</a:t>
            </a:r>
          </a:p>
          <a:p>
            <a:r>
              <a:t xml:space="preserve">1. (0:00–0:45) S67의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a:r>
              <a:t xml:space="preserve">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a:r>
              <a:t xml:space="preserve">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a:r>
              <a:t xml:space="preserve">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a:r>
              <a:t xml:space="preserve">5. (4:15–5:00) Skill에 정답 알고리즘을 미리 넣은 사례가 아니다. 절차를 따라 얻은 조사·측정·검증 기록으로 구현을 선택했다. 다음 S69은 이 후보 비교와 별도로 실제 제품 상태에 반영한 변경을 확인한 기록이다.</a:t>
            </a:r>
          </a:p>
          <a:p>
            <a:r>
              <a:t xml:space="preserve"/>
            </a:r>
          </a:p>
          <a:p>
            <a:r>
              <a:t xml:space="preserve">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a:r>
              <a:t xml:space="preserve"/>
            </a:r>
          </a:p>
          <a:p>
            <a:r>
              <a:t xml:space="preserve">보존된 상세 출처: TRIAL-008 기록 요약·구현 도식 · 합성1024×768 · CPython3.9.6 / macOS arm64</a:t>
            </a:r>
          </a:p>
          <a:p>
            <a:r>
              <a:t xml:space="preserve"/>
            </a:r>
          </a:p>
          <a:p>
            <a:r>
              <a:t xml:space="preserve">Claim Boundary:</a:t>
            </a:r>
          </a:p>
          <a:p>
            <a:r>
              <a:t xml:space="preserve">S68에는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S69의 formal STATE-04/STATE-04-PERF 측정과 섞지 않는다. Skill 단독 인과성·알고리즘 제공·현재 Desktop 재현·일반 성능 보장은 주장하지 않는다.</a:t>
            </a:r>
          </a:p>
          <a:p>
            <a:r>
              <a:t xml:space="preserve"/>
            </a:r>
          </a:p>
          <a:p>
            <a:r>
              <a:t xml:space="preserve">보존된 상세 범위: 임시 메모리: Python 할당 피크 · 다음 장의 제품 상태 측정과 별개 · Skill 단독 효과 미입증</a:t>
            </a:r>
          </a:p>
          <a:p>
            <a:r>
              <a:t xml:space="preserve"/>
            </a:r>
          </a:p>
          <a:p>
            <a:r>
              <a:t xml:space="preserve">Beginner Explanation: 같은 통계를 구해도 계산 중에 큰 임시 리스트를 만들 수 있다. 이 리스트 없이 계산한 두 방법 모두 결과와 메모리를 확인했고, 두 방법의 실행시간도 비교해서 골랐다.</a:t>
            </a:r>
          </a:p>
          <a:p>
            <a:r>
              <a:t xml:space="preserve"/>
            </a:r>
          </a:p>
          <a:p>
            <a:r>
              <a:t xml:space="preserve">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a:r>
              <a:t xml:space="preserve"/>
            </a:r>
          </a:p>
          <a:p>
            <a:r>
              <a:t xml:space="preserve">C++ Vision Bridge: N/A.</a:t>
            </a:r>
          </a:p>
          <a:p>
            <a:r>
              <a:t xml:space="preserve"/>
            </a:r>
          </a:p>
          <a:p>
            <a:r>
              <a:t xml:space="preserve">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a:r>
              <a:t xml:space="preserve"/>
            </a:r>
          </a:p>
          <a:p>
            <a:r>
              <a:t xml:space="preserve">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a:r>
              <a:t xml:space="preserve"/>
            </a:r>
          </a:p>
          <a:p>
            <a:r>
              <a:t xml:space="preserve">Transition: “선택한 행 단위 계산을 제품 코드에 반영한 뒤, 실행시간·임시 메모리·동작을 다시 확인한 기록을 보겠습니다.”</a:t>
            </a:r>
          </a:p>
          <a:p>
            <a:r>
              <a:t xml:space="preserve"/>
            </a:r>
          </a:p>
          <a:p>
            <a:r>
              <a:t xml:space="preserve">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a:r>
              <a:t xml:space="preserve"/>
            </a:r>
          </a:p>
          <a:p>
            <a:r>
              <a:t xml:space="preserve">Fallback:</a:t>
            </a:r>
          </a:p>
          <a:p>
            <a:r>
              <a:t xml:space="preserve">LOCAL STATIC ARTIFACT — production/ACT_3.pptx의 S68, production/preview/act3/S68.png 및 production/preview/full/S68.png. 보존된 후보 비교와 구현 구조를 재구성한 도식이다. 현재 제품이나 Demo repository를 실행하지 않는다. 최신 대조는 production/evaluation/S57_S58_TASK_RESULT_REVISION.md를 따른다.</a:t>
            </a:r>
          </a:p>
          <a:p>
            <a:r>
              <a:t xml:space="preserve"/>
            </a:r>
          </a:p>
          <a:p>
            <a:r>
              <a:t xml:space="preserve">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S69 — 선택한 변경의 시간·메모리·동작 확인</a:t>
            </a:r>
          </a:p>
          <a:p>
            <a:r>
              <a:t xml:space="preserve"/>
            </a:r>
          </a:p>
          <a:p>
            <a:r>
              <a:t xml:space="preserve">Slide ID:</a:t>
            </a:r>
          </a:p>
          <a:p>
            <a:r>
              <a:t xml:space="preserve">S69</a:t>
            </a:r>
          </a:p>
          <a:p>
            <a:r>
              <a:t xml:space="preserve"/>
            </a:r>
          </a:p>
          <a:p>
            <a:r>
              <a:t xml:space="preserve">Working Title: 선택한 변경의 시간·메모리·동작 확인</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STATE-04→STATE-04-PERF 밝기 통계 변경은 기록된 입력·환경에서 동작 검사와 같은 조건의 측정을 거쳤다. 기존 수치와 검사 결과를 유지하고 Harness/Skill의 단독 인과효과와 구분한다.</a:t>
            </a:r>
          </a:p>
          <a:p>
            <a:r>
              <a:t xml:space="preserve"/>
            </a:r>
          </a:p>
          <a:p>
            <a:r>
              <a:t xml:space="preserve">Opening Question: “선택한 변경을 제품에 반영한 뒤, 시간·메모리·동작은 각각 어떻게 확인됐을까요?”</a:t>
            </a:r>
          </a:p>
          <a:p>
            <a:r>
              <a:t xml:space="preserve"/>
            </a:r>
          </a:p>
          <a:p>
            <a:r>
              <a:t xml:space="preserve">Speaker Flow:</a:t>
            </a:r>
          </a:p>
          <a:p>
            <a:r>
              <a:t xml:space="preserve">1. (0:00–0:45) S68에서 선택한 ‘큰 임시 리스트 없이 행마다 내장 min/max/sum 계산’을 위쪽 문장으로 회수한다. 이제 후보 비교가 아니라 정식 제품 코드 변경 전후의 별도 측정 기록이다.</a:t>
            </a:r>
          </a:p>
          <a:p>
            <a:r>
              <a:t xml:space="preserve">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a:r>
              <a:t xml:space="preserve">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a:r>
              <a:t xml:space="preserve">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a:r>
              <a:t xml:space="preserve">5. (4:15–5:00) 재사용 절차 안에서 변경과 검증을 마친 사례로 회수한다. Harness/Skill이 단독으로 개선을 일으켰다는 실험은 아니다. 다음에는 이 작업에 독립 조사를 나누는 구조까지 필요했는지 질문한다.</a:t>
            </a:r>
          </a:p>
          <a:p>
            <a:r>
              <a:t xml:space="preserve"/>
            </a:r>
          </a:p>
          <a:p>
            <a:r>
              <a:t xml:space="preserve">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a:r>
              <a:t xml:space="preserve"/>
            </a:r>
          </a:p>
          <a:p>
            <a:r>
              <a:t xml:space="preserve">보존된 상세 출처: STATE-04 → STATE-04-PERF · 동일 합성1024×768 · CPython3.9.6 / macOS arm64</a:t>
            </a:r>
          </a:p>
          <a:p>
            <a:r>
              <a:t xml:space="preserve"/>
            </a:r>
          </a:p>
          <a:p>
            <a:r>
              <a:t xml:space="preserve">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a:r>
              <a:t xml:space="preserve"/>
            </a:r>
          </a:p>
          <a:p>
            <a:r>
              <a:t xml:space="preserve">보존된 상세 범위: 이 입력·환경의 코드 변경 결과 · Python 할당 피크는 RSS 아님 · Harness/Skill 단독 효과 미입증</a:t>
            </a:r>
          </a:p>
          <a:p>
            <a:r>
              <a:t xml:space="preserve"/>
            </a:r>
          </a:p>
          <a:p>
            <a:r>
              <a:t xml:space="preserve">Beginner Explanation: 바뀐 코드가 빨라졌는지만 보지 않았다. 같은 입력에서 걸린 시간, 계산 중 임시로 할당한 메모리, 같은 답과 테스트 결과를 함께 확인했다.</a:t>
            </a:r>
          </a:p>
          <a:p>
            <a:r>
              <a:t xml:space="preserve"/>
            </a:r>
          </a:p>
          <a:p>
            <a:r>
              <a:t xml:space="preserve">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a:r>
              <a:t xml:space="preserve"/>
            </a:r>
          </a:p>
          <a:p>
            <a:r>
              <a:t xml:space="preserve">C++ Vision Bridge: N/A.</a:t>
            </a:r>
          </a:p>
          <a:p>
            <a:r>
              <a:t xml:space="preserve"/>
            </a:r>
          </a:p>
          <a:p>
            <a:r>
              <a:t xml:space="preserve">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a:r>
              <a:t xml:space="preserve"/>
            </a:r>
          </a:p>
          <a:p>
            <a:r>
              <a:t xml:space="preserve">Audience Interaction: 세 영역을 가리키며 Opening Question을 짧게 던진다. 결과가 공개된 정적 기록으로 설명하고 추가 실습이나 공개 답변 시간을 요구하지 않는다.</a:t>
            </a:r>
          </a:p>
          <a:p>
            <a:r>
              <a:t xml:space="preserve"/>
            </a:r>
          </a:p>
          <a:p>
            <a:r>
              <a:t xml:space="preserve">Transition: “이 작업에 더 필요했던 구조도 있었을까요? 역할을 나누는 선택부터 검토하겠습니다.”</a:t>
            </a:r>
          </a:p>
          <a:p>
            <a:r>
              <a:t xml:space="preserve"/>
            </a:r>
          </a:p>
          <a:p>
            <a:r>
              <a:t xml:space="preserve">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a:r>
              <a:t xml:space="preserve"/>
            </a:r>
          </a:p>
          <a:p>
            <a:r>
              <a:t xml:space="preserve">Fallback:</a:t>
            </a:r>
          </a:p>
          <a:p>
            <a:r>
              <a:t xml:space="preserve">LOCAL STATIC ARTIFACT — production/ACT_3.pptx의 S69, production/preview/act3/S69.png 및 production/preview/full/S69.png. 보존된 제품 전후 측정·검증 기록의 재구성이다. 현재 실행 캡처가 아니다. 최신 파일 대조는 production/evaluation/S57_S58_TASK_RESULT_REVISION.md를 따른다.</a:t>
            </a:r>
          </a:p>
          <a:p>
            <a:r>
              <a:t xml:space="preserve"/>
            </a:r>
          </a:p>
          <a:p>
            <a:r>
              <a:t xml:space="preserve">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S70 — 한 Agent 조사와 Subagent 역할 분리</a:t>
            </a:r>
          </a:p>
          <a:p>
            <a:r>
              <a:t xml:space="preserve"/>
            </a:r>
          </a:p>
          <a:p>
            <a:r>
              <a:t xml:space="preserve">Slide ID:</a:t>
            </a:r>
          </a:p>
          <a:p>
            <a:r>
              <a:t xml:space="preserve">S70</a:t>
            </a:r>
          </a:p>
          <a:p>
            <a:r>
              <a:t xml:space="preserve"/>
            </a:r>
          </a:p>
          <a:p>
            <a:r>
              <a:t xml:space="preserve">Working Title: 한 Agent 조사와 Subagent 역할 분리</a:t>
            </a:r>
          </a:p>
          <a:p>
            <a:r>
              <a:t xml:space="preserve"/>
            </a:r>
          </a:p>
          <a:p>
            <a:r>
              <a:t xml:space="preserve">ACT / Section: ACT 3 / 3E</a:t>
            </a:r>
          </a:p>
          <a:p>
            <a:r>
              <a:t xml:space="preserve"/>
            </a:r>
          </a:p>
          <a:p>
            <a:r>
              <a:t xml:space="preserve">Allocated Time: 4 minutes</a:t>
            </a:r>
          </a:p>
          <a:p>
            <a:r>
              <a:t xml:space="preserve"/>
            </a:r>
          </a:p>
          <a:p>
            <a:r>
              <a:t xml:space="preserve">Mode Split: Demo 3 minutes (VISUAL) + Q&amp;A 1 minute</a:t>
            </a:r>
          </a:p>
          <a:p>
            <a:r>
              <a:t xml:space="preserve"/>
            </a:r>
          </a:p>
          <a:p>
            <a:r>
              <a:t xml:space="preserve">Primary Message: 독립 조사와 별도 Context의 가치가 있고 결과 형식·전달 지점·통합 책임을 정할 수 있다면 역할 분리를 검토한다. C++ Vision 사례는 교육용 가정이며 조정·중복·전달·통합 비용을 함께 본다.</a:t>
            </a:r>
          </a:p>
          <a:p>
            <a:r>
              <a:t xml:space="preserve"/>
            </a:r>
          </a:p>
          <a:p>
            <a:r>
              <a:t xml:space="preserve">Opening Question: “성능·빌드·테스트 조사가 서로 기다리지 않아도 된다면?”</a:t>
            </a:r>
          </a:p>
          <a:p>
            <a:r>
              <a:t xml:space="preserve"/>
            </a:r>
          </a:p>
          <a:p>
            <a:r>
              <a:t xml:space="preserve">Speaker Flow:</a:t>
            </a:r>
          </a:p>
          <a:p>
            <a:r>
              <a:t xml:space="preserve">1. (0:00–0:30 / Demo) S69의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a:r>
              <a:t xml:space="preserve">2. (0:30–1:15 / Demo) 왼쪽 한 Agent가 세 조사와 결과 종합을 모두 맡는 모습을 짚는다. 성능은 소스·측정, 빌드는 환경·설정, 테스트는 테스트·명세를 본다. 단일 Agent 방식이 실패하거나 느리다는 뜻은 아니다.</a:t>
            </a:r>
          </a:p>
          <a:p>
            <a:r>
              <a:t xml:space="preserve">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a:r>
              <a:t xml:space="preserve">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a:r>
              <a:t xml:space="preserve">5. (3:00–4:00 / Q&amp;A) “빌드 조사 결과가 나와야 성능 조사를 시작할 수 있다면, 이 구성을 그대로 쓸 수 있을까요?”로 독립성 판단을 받는다. 무질문이면 이 질문을 발표자가 짧게 회수한다. 3:45에 질문을 닫고 S72의 실제 밝기 통계 작업 판단으로 이동한다.</a:t>
            </a:r>
          </a:p>
          <a:p>
            <a:r>
              <a:t xml:space="preserve"/>
            </a:r>
          </a:p>
          <a:p>
            <a:r>
              <a:t xml:space="preserve">Evidence / Source: CONCEPTUAL / TEACHING_MODEL — 기존 C++ 성능 경로·빌드 환경·테스트 구조의 독립 조사 가정, BEAT-023–025 / INV-MATURITY-007, plan/DEMO_ARCHITECTURE.md와 plan/DEMO_MATRIX.md의 DEMO-07, DEC-0062/0071. DEC-0018의 실제 추가하지 않음 판단은 S73에 유지한다. 새 Subagent 실행이나 비교 실험은 없다.; DEC-0080.</a:t>
            </a:r>
          </a:p>
          <a:p>
            <a:r>
              <a:t xml:space="preserve"/>
            </a:r>
          </a:p>
          <a:p>
            <a:r>
              <a:t xml:space="preserve">보존된 상세 출처: CONCEPTUAL · C++ 검사 프로젝트의 독립 조사 가정 · 실제 Subagent 실행 아님</a:t>
            </a:r>
          </a:p>
          <a:p>
            <a:r>
              <a:t xml:space="preserve"/>
            </a:r>
          </a:p>
          <a:p>
            <a:r>
              <a:t xml:space="preserve">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a:r>
              <a:t xml:space="preserve"/>
            </a:r>
          </a:p>
          <a:p>
            <a:r>
              <a:t xml:space="preserve">보존된 상세 범위: 역할별로 필요한 정보 분리 · 조정·중복·전달·통합 비용 존재 · 시간·품질 이득 미측정</a:t>
            </a:r>
          </a:p>
          <a:p>
            <a:r>
              <a:t xml:space="preserve"/>
            </a:r>
          </a:p>
          <a:p>
            <a:r>
              <a:t xml:space="preserve">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a:r>
              <a:t xml:space="preserve"/>
            </a:r>
          </a:p>
          <a:p>
            <a:r>
              <a:t xml:space="preserve">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a:r>
              <a:t xml:space="preserve"/>
            </a:r>
          </a:p>
          <a:p>
            <a:r>
              <a:t xml:space="preserve">C++ Vision Bridge: CONTEXTUAL — 기존 C++ 검사 프로젝트의 성능 경로·빌드 환경·테스트 구조 조사 가정이다. 실제 C++ 구현이나 Subagent 실행이 아니다.</a:t>
            </a:r>
          </a:p>
          <a:p>
            <a:r>
              <a:t xml:space="preserve"/>
            </a:r>
          </a:p>
          <a:p>
            <a:r>
              <a:t xml:space="preserve">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a:r>
              <a:t xml:space="preserve"/>
            </a:r>
          </a:p>
          <a:p>
            <a:r>
              <a:t xml:space="preserve">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a:r>
              <a:t xml:space="preserve"/>
            </a:r>
          </a:p>
          <a:p>
            <a:r>
              <a:t xml:space="preserve">**Transition:**</a:t>
            </a:r>
          </a:p>
          <a:p>
            <a:r>
              <a:t xml:space="preserve">“독립 조사 역할을 나눌 수 있다면, 그 역할은 Codex에서 어떻게 만들어 다시 쓸까요?” S71 제작 팁을 거친 뒤 S72의 실제 밝기 통계 판단으로 돌아온다.</a:t>
            </a:r>
          </a:p>
          <a:p>
            <a:r>
              <a:t xml:space="preserve"/>
            </a:r>
          </a:p>
          <a:p>
            <a:r>
              <a:t xml:space="preserve">Time Management:</a:t>
            </a:r>
          </a:p>
          <a:p>
            <a:r>
              <a:t xml:space="preserve">Demo3분(VISUAL): 앞 장 회수·가정0.5, 단일 Agent0.75, 역할 분담1, 통합·비용0.75. Q&amp;A1분: 질문·회수0.75, cutoff·전환0.25. 지연 시 조사별 세부 자료 낭독을 줄이고 독립성, 같은 주 Agent의 통합 책임, 가정이라는 경계를 유지한다. 4분에 S72으로 이동한다.</a:t>
            </a:r>
          </a:p>
          <a:p>
            <a:r>
              <a:t xml:space="preserve"/>
            </a:r>
          </a:p>
          <a:p>
            <a:r>
              <a:t xml:space="preserve">Fallback:</a:t>
            </a:r>
          </a:p>
          <a:p>
            <a:r>
              <a:t xml:space="preserve">LOCAL STATIC ARTIFACT — production/ACT_3.pptx의 S70, production/preview/act3/S70.png 및 production/preview/full/S70.png. 표시된 CONCEPTUAL 역할 도식이며 실제 실행 캡처가 아니다. 현재 파일·경로·내용 대조는 production/evaluation/S59_ROLE_SPLIT_REVISION.md와 demos/runbooks/FALLBACK_MANIFEST.md를 따른다. 실제 발표 PC의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S71 — 대화로 조사 Agent 만들기</a:t>
            </a:r>
          </a:p>
          <a:p>
            <a:r>
              <a:t xml:space="preserve"/>
            </a:r>
          </a:p>
          <a:p>
            <a:r>
              <a:t xml:space="preserve">**Slide ID:**</a:t>
            </a:r>
          </a:p>
          <a:p>
            <a:r>
              <a:t xml:space="preserve">S71</a:t>
            </a:r>
          </a:p>
          <a:p>
            <a:r>
              <a:t xml:space="preserve"/>
            </a:r>
          </a:p>
          <a:p>
            <a:r>
              <a:t xml:space="preserve">**Working Title:**</a:t>
            </a:r>
          </a:p>
          <a:p>
            <a:r>
              <a:t xml:space="preserve">대화로 조사 Agent 만들기</a:t>
            </a:r>
          </a:p>
          <a:p>
            <a:r>
              <a:t xml:space="preserve"/>
            </a:r>
          </a:p>
          <a:p>
            <a:r>
              <a:t xml:space="preserve">**ACT / Section:**</a:t>
            </a:r>
          </a:p>
          <a:p>
            <a:r>
              <a:t xml:space="preserve">ACT 3 / 3E Conditional Subagent Decision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Codex에 역할·사용 조건·보고 범위를 설명해 프로젝트용 Custom Agent TOML 작성을 요청할 수 있다. 파일의 역할 지침을 확인하고 다음 요청에서 그 이름의 Subagent로 조사를 명시한다.</a:t>
            </a:r>
          </a:p>
          <a:p>
            <a:r>
              <a:t xml:space="preserve"/>
            </a:r>
          </a:p>
          <a:p>
            <a:r>
              <a:t xml:space="preserve">**Opening Question:**</a:t>
            </a:r>
          </a:p>
          <a:p>
            <a:r>
              <a:t xml:space="preserve">“반복해서 맡기는 조사 역할을 Codex에서 어떻게 만들어 다시 쓸까요?”</a:t>
            </a:r>
          </a:p>
          <a:p>
            <a:r>
              <a:t xml:space="preserve"/>
            </a:r>
          </a:p>
          <a:p>
            <a:r>
              <a:t xml:space="preserve">**Speaker Flow:**</a:t>
            </a:r>
          </a:p>
          <a:p>
            <a:r>
              <a:t xml:space="preserve">1. (0:00–0:30 / Lecture) S70의 독립 조사 분담 가정에서 실제 Codex 활용 방법으로 잠시 전환한다. 일회성 분담은 요청만으로 시작할 수 있고 이 장은 같은 역할을 다시 쓰려는 Custom Agent 설정 예시임을 설명한다.</a:t>
            </a:r>
          </a:p>
          <a:p>
            <a:r>
              <a:t xml:space="preserve">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a:r>
              <a:t xml:space="preserve">3. (1:25–2:00 / Lecture) 하단 요청에서 이름과 Subagent 분담을 명시하고 주 Agent가 결과를 기다려 근거를 확인·종합한다. 권한은 부모 설정을 따르며 코드 수정 금지 지침 자체가 권한 격리는 아니다. 실제 실행은 하지 않고 S72의 왜 분담하지 않았는지로 돌아온다.</a:t>
            </a:r>
          </a:p>
          <a:p>
            <a:r>
              <a:t xml:space="preserve"/>
            </a:r>
          </a:p>
          <a:p>
            <a:r>
              <a:t xml:space="preserve">**Evidence / Source:**</a:t>
            </a:r>
          </a:p>
          <a:p>
            <a:r>
              <a:t xml:space="preserve">SRC-0112 / CLM-0042; https://learn.chatgpt.com/docs/agent-configuration/subagents; 2026-10-25 재확인; DEC-0093. 공식 Custom agents의 프로젝트 .codex/agents/*.toml 및 name/description/developer_instructions와 명시적 분담 요청을 바탕으로 각색했다.</a:t>
            </a:r>
          </a:p>
          <a:p>
            <a:r>
              <a:t xml:space="preserve"/>
            </a:r>
          </a:p>
          <a:p>
            <a:r>
              <a:t xml:space="preserve">보존된 상세 출처: OpenAI Subagents · 2026-10-25 확인 · Custom Agent 설정·사용 요청의 교육용 도식</a:t>
            </a:r>
          </a:p>
          <a:p>
            <a:r>
              <a:t xml:space="preserve"/>
            </a:r>
          </a:p>
          <a:p>
            <a:r>
              <a:t xml:space="preserve">**Claim Boundary:**</a:t>
            </a:r>
          </a:p>
          <a:p>
            <a:r>
              <a:t xml:space="preserve">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a:r>
              <a:t xml:space="preserve"/>
            </a:r>
          </a:p>
          <a:p>
            <a:r>
              <a:t xml:space="preserve">보존된 상세 범위: 일회성 분담은 요청만으로 가능 · 반복 역할은 설정으로 재사용 · 실제 생성·실행 결과가 아니며 대상 환경에서 확인</a:t>
            </a:r>
          </a:p>
          <a:p>
            <a:r>
              <a:t xml:space="preserve"/>
            </a:r>
          </a:p>
          <a:p>
            <a:r>
              <a:t xml:space="preserve">**Beginner Explanation:**</a:t>
            </a:r>
          </a:p>
          <a:p>
            <a:r>
              <a:t xml:space="preserve">어떤 조사를 언제 맡기고 무엇을 받으려는지 Codex에 설명하면 재사용할 역할 설정부터 작성하도록 요청할 수 있다.</a:t>
            </a:r>
          </a:p>
          <a:p>
            <a:r>
              <a:t xml:space="preserve"/>
            </a:r>
          </a:p>
          <a:p>
            <a:r>
              <a:t xml:space="preserve">**Advanced Insight:**</a:t>
            </a:r>
          </a:p>
          <a:p>
            <a:r>
              <a:t xml:space="preserve">임시 분담과 재사용 가능한 역할 정의를 구분한다. 설정 파일의 필수 필드·역할 범위와 부모 권한의 상속, 주 Agent의 근거 검토·통합 책임을 분리한다.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“필요할 때 역할을 만들어 쓸 수 있습니다. 하지만 이 밝기 통계 작업에서도 나눌 필요가 있었을까요?” 이전 S70이 이동한 S72에서 실제 보류 판단을 회수한다.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S71 / production/preview/full/S71.png.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S72 — 밝기 통계 작업을 나누지 않은 이유</a:t>
            </a:r>
          </a:p>
          <a:p>
            <a:r>
              <a:t xml:space="preserve"/>
            </a:r>
          </a:p>
          <a:p>
            <a:r>
              <a:t xml:space="preserve">Slide ID:</a:t>
            </a:r>
          </a:p>
          <a:p>
            <a:r>
              <a:t xml:space="preserve">S72</a:t>
            </a:r>
          </a:p>
          <a:p>
            <a:r>
              <a:t xml:space="preserve"/>
            </a:r>
          </a:p>
          <a:p>
            <a:r>
              <a:t xml:space="preserve">Working Title: 밝기 통계 작업을 나누지 않은 이유</a:t>
            </a:r>
          </a:p>
          <a:p>
            <a:r>
              <a:t xml:space="preserve"/>
            </a:r>
          </a:p>
          <a:p>
            <a:r>
              <a:t xml:space="preserve">ACT / Section: ACT 3 / 3E</a:t>
            </a:r>
          </a:p>
          <a:p>
            <a:r>
              <a:t xml:space="preserve"/>
            </a:r>
          </a:p>
          <a:p>
            <a:r>
              <a:t xml:space="preserve">Allocated Time: 4 minutes</a:t>
            </a:r>
          </a:p>
          <a:p>
            <a:r>
              <a:t xml:space="preserve"/>
            </a:r>
          </a:p>
          <a:p>
            <a:r>
              <a:t xml:space="preserve">Mode Split: Lecture 1 minute + Demo 2 minutes (VISUAL) + Q&amp;A 1 minute</a:t>
            </a:r>
          </a:p>
          <a:p>
            <a:r>
              <a:t xml:space="preserve"/>
            </a:r>
          </a:p>
          <a:p>
            <a:r>
              <a:t xml:space="preserve">Primary Message: 현재 작업은 같은 성능 경로·명세를 공유하고 조사→변경→검증의 의존성이 높았다. 별도 Context 이득과 결과 통합 비용을 검토한 결과 Subagent를 추가하지 않았다.</a:t>
            </a:r>
          </a:p>
          <a:p>
            <a:r>
              <a:t xml:space="preserve"/>
            </a:r>
          </a:p>
          <a:p>
            <a:r>
              <a:t xml:space="preserve">Opening Question:</a:t>
            </a:r>
          </a:p>
          <a:p>
            <a:r>
              <a:t xml:space="preserve">“S70의 독립 조사 기준을 이 밝기 통계 작업에도 적용할 수 있었을까요?”</a:t>
            </a:r>
          </a:p>
          <a:p>
            <a:r>
              <a:t xml:space="preserve"/>
            </a:r>
          </a:p>
          <a:p>
            <a:r>
              <a:t xml:space="preserve">Speaker Flow:</a:t>
            </a:r>
          </a:p>
          <a:p>
            <a:r>
              <a:t xml:space="preserve">1. (0:00–1:00 / Lecture) S70에서는 성능·빌드·테스트 조사가 서로 기다리지 않아도 된다고 가정했다. 이제 S68/S64의 실제 밝기 통계 작업으로 돌아온다. 화면 위 ‘같은 함수·같은 출력 명세’를 짚는다. 여기서는 무엇을 나눌지보다 각 단계가 앞의 어떤 결과를 받아야 하는지 먼저 본다.</a:t>
            </a:r>
          </a:p>
          <a:p>
            <a:r>
              <a:t xml:space="preserve">2. (1:00–1:40 / Demo) 왼쪽 조사는 기존 계산과 보존할 출력 명세, 변경 후보를 확인한 단계다. 기존 전체 픽셀 임시 리스트와 후보 비교는 S68에서 봤다. 가운데로 가는 ‘조사 결과’ 화살표를 따라, 조사한 후보를 근거로 계산 코드를 변경했음을 설명한다.</a:t>
            </a:r>
          </a:p>
          <a:p>
            <a:r>
              <a:t xml:space="preserve">3. (1:40–2:20 / Demo) 가운데 변경에서 오른쪽 검증으로 전달하는 것은 ‘바뀐 코드’다. 그 코드의 출력·테스트와 같은 조건의 시간·Python 할당량을 확인했다. 실제 수치와 검사 결과는 S69에 보존돼 있으므로 다시 낭독하지 않는다. 단계를 이름만 바꿔 독립 조사라고 부를 수는 없다.</a:t>
            </a:r>
          </a:p>
          <a:p>
            <a:r>
              <a:t xml:space="preserve">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a:r>
              <a:t xml:space="preserve">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a:r>
              <a:t xml:space="preserve"/>
            </a:r>
          </a:p>
          <a:p>
            <a:r>
              <a:t xml:space="preserve">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a:r>
              <a:t xml:space="preserve"/>
            </a:r>
          </a:p>
          <a:p>
            <a:r>
              <a:t xml:space="preserve">보존된 상세 출처: DEC-0018 · 실제 작업의 판단을 재구성 · Subagent 실행 없음</a:t>
            </a:r>
          </a:p>
          <a:p>
            <a:r>
              <a:t xml:space="preserve"/>
            </a:r>
          </a:p>
          <a:p>
            <a:r>
              <a:t xml:space="preserve">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a:r>
              <a:t xml:space="preserve"/>
            </a:r>
          </a:p>
          <a:p>
            <a:r>
              <a:t xml:space="preserve">보존된 상세 범위: 이 작업의 판단 · 역할 분리의 시간·품질 이득은 비교 실험하지 않음</a:t>
            </a:r>
          </a:p>
          <a:p>
            <a:r>
              <a:t xml:space="preserve"/>
            </a:r>
          </a:p>
          <a:p>
            <a:r>
              <a:t xml:space="preserve">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a:r>
              <a:t xml:space="preserve"/>
            </a:r>
          </a:p>
          <a:p>
            <a:r>
              <a:t xml:space="preserve">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a:r>
              <a:t xml:space="preserve"/>
            </a:r>
          </a:p>
          <a:p>
            <a:r>
              <a:t xml:space="preserve">C++ Vision Bridge:</a:t>
            </a:r>
          </a:p>
          <a:p>
            <a:r>
              <a:t xml:space="preserve">S70의 C++ 독립 조사 가정과 이 Python 밝기 통계 작업을 같은 관찰로 섞지 않는다. 이번 화면은 실제 작업 판단만 보여준다.</a:t>
            </a:r>
          </a:p>
          <a:p>
            <a:r>
              <a:t xml:space="preserve"/>
            </a:r>
          </a:p>
          <a:p>
            <a:r>
              <a:t xml:space="preserve">Demo Operation:</a:t>
            </a:r>
          </a:p>
          <a:p>
            <a:r>
              <a:t xml:space="preserve">LOCAL STATIC VISUAL — 상단 같은 함수·명세 → 왼쪽 조사 → 조사 결과 화살표 → 가운데 코드 변경 → 바뀐 코드 화살표 → 오른쪽 출력·테스트·시간·할당량 확인 → 아래 한 Agent 유지 판단. S70의 분기/합류 대신 실제 의존관계를 읽는2분이다. Agent·benchmark·Demo repository를 실행하지 않으며 추가 Subagent 창을 열지 않는다.</a:t>
            </a:r>
          </a:p>
          <a:p>
            <a:r>
              <a:t xml:space="preserve"/>
            </a:r>
          </a:p>
          <a:p>
            <a:r>
              <a:t xml:space="preserve">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a:r>
              <a:t xml:space="preserve"/>
            </a:r>
          </a:p>
          <a:p>
            <a:r>
              <a:t xml:space="preserve">Transition: “역할 분리의 필요성을 판단했습니다. 다음 작업에 별도로 남길 지식도 있었을까요?”</a:t>
            </a:r>
          </a:p>
          <a:p>
            <a:r>
              <a:t xml:space="preserve"/>
            </a:r>
          </a:p>
          <a:p>
            <a:r>
              <a:t xml:space="preserve">Time Management:</a:t>
            </a:r>
          </a:p>
          <a:p>
            <a:r>
              <a:t xml:space="preserve">Lecture1분(S70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S73로 이동한다.</a:t>
            </a:r>
          </a:p>
          <a:p>
            <a:r>
              <a:t xml:space="preserve"/>
            </a:r>
          </a:p>
          <a:p>
            <a:r>
              <a:t xml:space="preserve">Fallback:</a:t>
            </a:r>
          </a:p>
          <a:p>
            <a:r>
              <a:t xml:space="preserve">LOCAL STATIC ARTIFACT — production/ACT_3.pptx의 S72, production/preview/act3/S72.png 및 production/preview/full/S72.png. 보존된 실제 작업과 판단을 재구성한 정적 도식이며 실행 캡처가 아니다. 현재 파일 대조는 production/evaluation/S60_TASK_DEPENDENCY_REVISION.md와 demos/runbooks/FALLBACK_MANIFEST.md를 따른다. 실제 발표 PC 재생은 UNVERIFIED다.</a:t>
            </a:r>
          </a:p>
          <a:p>
            <a:r>
              <a:t xml:space="preserve"/>
            </a:r>
          </a:p>
          <a:p>
            <a:r>
              <a:t xml:space="preserve">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S73 — 이번 Context와 다시 쓸 지식</a:t>
            </a:r>
          </a:p>
          <a:p>
            <a:r>
              <a:t xml:space="preserve"/>
            </a:r>
          </a:p>
          <a:p>
            <a:r>
              <a:t xml:space="preserve">Slide ID:</a:t>
            </a:r>
          </a:p>
          <a:p>
            <a:r>
              <a:t xml:space="preserve">S73</a:t>
            </a:r>
          </a:p>
          <a:p>
            <a:r>
              <a:t xml:space="preserve"/>
            </a:r>
          </a:p>
          <a:p>
            <a:r>
              <a:t xml:space="preserve">Working Title: 이번 Context와 다시 쓸 지식</a:t>
            </a:r>
          </a:p>
          <a:p>
            <a:r>
              <a:t xml:space="preserve"/>
            </a:r>
          </a:p>
          <a:p>
            <a:r>
              <a:t xml:space="preserve">ACT / Section: ACT 3 / 3F</a:t>
            </a:r>
          </a:p>
          <a:p>
            <a:r>
              <a:t xml:space="preserve"/>
            </a:r>
          </a:p>
          <a:p>
            <a:r>
              <a:t xml:space="preserve">Allocated Time: 4 minutes</a:t>
            </a:r>
          </a:p>
          <a:p>
            <a:r>
              <a:t xml:space="preserve"/>
            </a:r>
          </a:p>
          <a:p>
            <a:r>
              <a:t xml:space="preserve">Mode Split: Demo 2 minutes (VISUAL) + Case 2 minutes</a:t>
            </a:r>
          </a:p>
          <a:p>
            <a:r>
              <a:t xml:space="preserve"/>
            </a:r>
          </a:p>
          <a:p>
            <a:r>
              <a:t xml:space="preserve">Primary Message: 현재 Task에 필요한 Context와 다음 Task에도 보존할 가치가 있는 지식을 구분한다. 출처·적용 범위·갱신 조건을 관리하고 기존 문서에 있으면 그 출처를 참조한다.</a:t>
            </a:r>
          </a:p>
          <a:p>
            <a:r>
              <a:t xml:space="preserve"/>
            </a:r>
          </a:p>
          <a:p>
            <a:r>
              <a:t xml:space="preserve">Opening Question: “이번 작업에서 확인한 내용 중, 다음 작업에도 다시 찾게 될 것은 무엇일까요?”</a:t>
            </a:r>
          </a:p>
          <a:p>
            <a:r>
              <a:t xml:space="preserve"/>
            </a:r>
          </a:p>
          <a:p>
            <a:r>
              <a:t xml:space="preserve">**Speaker Flow:**</a:t>
            </a:r>
          </a:p>
          <a:p>
            <a:r>
              <a:t xml:space="preserve">1. (0:00–0:30 / Demo) S72에서는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a:r>
              <a:t xml:space="preserve">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a:r>
              <a:t xml:space="preserve">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a:r>
              <a:t xml:space="preserve">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a:r>
              <a:t xml:space="preserve">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S74에서는 실제 Demo 지식이 이미 어디에 있었는지와 별도 후보 유무를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S75에 유지한다.; DEC-0080.</a:t>
            </a:r>
          </a:p>
          <a:p>
            <a:r>
              <a:t xml:space="preserve"/>
            </a:r>
          </a:p>
          <a:p>
            <a:r>
              <a:t xml:space="preserve">보존된 상세 출처: CONCEPTUAL · 재현 조건을 다음 작업에도 쓴다는 가정 · 실제 Memory 사용 아님</a:t>
            </a:r>
          </a:p>
          <a:p>
            <a:r>
              <a:t xml:space="preserve"/>
            </a:r>
          </a:p>
          <a:p>
            <a:r>
              <a:t xml:space="preserve">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a:r>
              <a:t xml:space="preserve"/>
            </a:r>
          </a:p>
          <a:p>
            <a:r>
              <a:t xml:space="preserve">보존된 상세 범위: 이미 문서에 있으면 그 출처를 참조 · 제품의 자동 저장·회수를 확인한 사례가 아님</a:t>
            </a:r>
          </a:p>
          <a:p>
            <a:r>
              <a:t xml:space="preserve"/>
            </a:r>
          </a:p>
          <a:p>
            <a:r>
              <a:t xml:space="preserve">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a:r>
              <a:t xml:space="preserve"/>
            </a:r>
          </a:p>
          <a:p>
            <a:r>
              <a:t xml:space="preserve">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a:r>
              <a:t xml:space="preserve"/>
            </a:r>
          </a:p>
          <a:p>
            <a:r>
              <a:t xml:space="preserve">C++ Vision Bridge: N/A.</a:t>
            </a:r>
          </a:p>
          <a:p>
            <a:r>
              <a:t xml:space="preserve"/>
            </a:r>
          </a:p>
          <a:p>
            <a:r>
              <a:t xml:space="preserve">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a:r>
              <a:t xml:space="preserve"/>
            </a:r>
          </a:p>
          <a:p>
            <a:r>
              <a:t xml:space="preserve">Audience Interaction: Demo2분 뒤 Case2분 안에서 ‘이미 문서에 있는 조건이라면?’을 짧게 묻고 원래 출처 참조로 회수할 수 있다. 별도 Q&amp;A 시간을 추가하거나 공개 답변·실습을 요구하지 않는다.</a:t>
            </a:r>
          </a:p>
          <a:p>
            <a:r>
              <a:t xml:space="preserve"/>
            </a:r>
          </a:p>
          <a:p>
            <a:r>
              <a:t xml:space="preserve">Transition: “이제 원래 출처와 보존 기준을 놓고, 현재 Demo에 별도 후보가 있었는지 보겠습니다.”</a:t>
            </a:r>
          </a:p>
          <a:p>
            <a:r>
              <a:t xml:space="preserve"/>
            </a:r>
          </a:p>
          <a:p>
            <a:r>
              <a:t xml:space="preserve">Time Management:</a:t>
            </a:r>
          </a:p>
          <a:p>
            <a:r>
              <a:t xml:space="preserve">Demo2분: S72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S74로 이동한다.</a:t>
            </a:r>
          </a:p>
          <a:p>
            <a:r>
              <a:t xml:space="preserve"/>
            </a:r>
          </a:p>
          <a:p>
            <a:r>
              <a:t xml:space="preserve">Fallback:</a:t>
            </a:r>
          </a:p>
          <a:p>
            <a:r>
              <a:t xml:space="preserve">LOCAL STATIC ARTIFACT — production/ACT_3.pptx의 S73, production/preview/act3/S73.png 및 production/preview/full/S73.png. 표시된 작업 간 지식 재사용 가정의 도식이며 실제 실행 캡처가 아니다. 현재 파일 대조는 production/evaluation/S61_CONTEXT_RETENTION_REVISION.md와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S74 — 실제 Demo 지식의 원래 출처</a:t>
            </a:r>
          </a:p>
          <a:p>
            <a:r>
              <a:t xml:space="preserve"/>
            </a:r>
          </a:p>
          <a:p>
            <a:r>
              <a:t xml:space="preserve">Slide ID:</a:t>
            </a:r>
          </a:p>
          <a:p>
            <a:r>
              <a:t xml:space="preserve">S74</a:t>
            </a:r>
          </a:p>
          <a:p>
            <a:r>
              <a:t xml:space="preserve"/>
            </a:r>
          </a:p>
          <a:p>
            <a:r>
              <a:t xml:space="preserve">Working Title: 실제 Demo 지식의 원래 출처</a:t>
            </a:r>
          </a:p>
          <a:p>
            <a:r>
              <a:t xml:space="preserve"/>
            </a:r>
          </a:p>
          <a:p>
            <a:r>
              <a:t xml:space="preserve">ACT / Section: ACT 3 / 3F</a:t>
            </a:r>
          </a:p>
          <a:p>
            <a:r>
              <a:t xml:space="preserve"/>
            </a:r>
          </a:p>
          <a:p>
            <a:r>
              <a:t xml:space="preserve">Allocated Time: 4 minutes</a:t>
            </a:r>
          </a:p>
          <a:p>
            <a:r>
              <a:t xml:space="preserve"/>
            </a:r>
          </a:p>
          <a:p>
            <a:r>
              <a:t xml:space="preserve">Mode Split: Lecture 4 minutes</a:t>
            </a:r>
          </a:p>
          <a:p>
            <a:r>
              <a:t xml:space="preserve"/>
            </a:r>
          </a:p>
          <a:p>
            <a:r>
              <a:t xml:space="preserve">Primary Message: 재발견 비용·다음 작업 재사용·출처와 적용 범위·갱신 조건을 보고 기존 출처를 먼저 확인한다. 현재 계약/구조/절차/측정 기록은 각각 근거가 있어 별도 Memory 후보를 찾지 못했다.</a:t>
            </a:r>
          </a:p>
          <a:p>
            <a:r>
              <a:t xml:space="preserve"/>
            </a:r>
          </a:p>
          <a:p>
            <a:r>
              <a:t xml:space="preserve">Opening Question:</a:t>
            </a:r>
          </a:p>
          <a:p>
            <a:r>
              <a:t xml:space="preserve">“S73의 보존 기준으로 실제 Demo를 보면, 새로 남길 지식은 어디에 있었을까요?”</a:t>
            </a:r>
          </a:p>
          <a:p>
            <a:r>
              <a:t xml:space="preserve"/>
            </a:r>
          </a:p>
          <a:p>
            <a:r>
              <a:t xml:space="preserve">Speaker Flow:</a:t>
            </a:r>
          </a:p>
          <a:p>
            <a:r>
              <a:t xml:space="preserve">1. (0:00–0:30) S73의 재현 조건은 교육용 가정이었다고 짚고, 이제 실제 Demo의 기존 출처 감사로 돌아온다. 네 개 상자는 새로 만든 저장소나 Memory가 아니라 이미 지식이 있던 위치다.</a:t>
            </a:r>
          </a:p>
          <a:p>
            <a:r>
              <a:t xml:space="preserve">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a:r>
              <a:t xml:space="preserve">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a:r>
              <a:t xml:space="preserve">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a:r>
              <a:t xml:space="preserve">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a:r>
              <a:t xml:space="preserve">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a:r>
              <a:t xml:space="preserve"/>
            </a:r>
          </a:p>
          <a:p>
            <a:r>
              <a:t xml:space="preserve">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a:r>
              <a:t xml:space="preserve"/>
            </a:r>
          </a:p>
          <a:p>
            <a:r>
              <a:t xml:space="preserve">보존된 상세 출처: DEC-0018 · 기존 Demo 지식 출처 감사 요약 · 제품 Memory 사용 기록 아님</a:t>
            </a:r>
          </a:p>
          <a:p>
            <a:r>
              <a:t xml:space="preserve"/>
            </a:r>
          </a:p>
          <a:p>
            <a:r>
              <a:t xml:space="preserve">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a:r>
              <a:t xml:space="preserve"/>
            </a:r>
          </a:p>
          <a:p>
            <a:r>
              <a:t xml:space="preserve">보존된 상세 범위: 이 Demo에서 별도 후보를 찾지 못한 판단 · Memory의 일반적 불필요성을 주장하지 않음</a:t>
            </a:r>
          </a:p>
          <a:p>
            <a:r>
              <a:t xml:space="preserve"/>
            </a:r>
          </a:p>
          <a:p>
            <a:r>
              <a:t xml:space="preserve">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a:r>
              <a:t xml:space="preserve"/>
            </a:r>
          </a:p>
          <a:p>
            <a:r>
              <a:t xml:space="preserve">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a:r>
              <a:t xml:space="preserve"/>
            </a:r>
          </a:p>
          <a:p>
            <a:r>
              <a:t xml:space="preserve">C++ Vision Bridge: N/A.</a:t>
            </a:r>
          </a:p>
          <a:p>
            <a:r>
              <a:t xml:space="preserve"/>
            </a:r>
          </a:p>
          <a:p>
            <a:r>
              <a:t xml:space="preserve">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a:r>
              <a:t xml:space="preserve"/>
            </a:r>
          </a:p>
          <a:p>
            <a:r>
              <a:t xml:space="preserve">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a:r>
              <a:t xml:space="preserve"/>
            </a:r>
          </a:p>
          <a:p>
            <a:r>
              <a:t xml:space="preserve">Transition: “이 선택들을 모으면 이번 문제를 위해 실제로 사용한 구조는 무엇이었을까요?”</a:t>
            </a:r>
          </a:p>
          <a:p>
            <a:r>
              <a:t xml:space="preserve"/>
            </a:r>
          </a:p>
          <a:p>
            <a:r>
              <a:t xml:space="preserve">Time Management:</a:t>
            </a:r>
          </a:p>
          <a:p>
            <a:r>
              <a:t xml:space="preserve">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S75으로 이동한다.</a:t>
            </a:r>
          </a:p>
          <a:p>
            <a:r>
              <a:t xml:space="preserve"/>
            </a:r>
          </a:p>
          <a:p>
            <a:r>
              <a:t xml:space="preserve">Fallback:</a:t>
            </a:r>
          </a:p>
          <a:p>
            <a:r>
              <a:t xml:space="preserve">LOCAL STATIC ARTIFACT — production/ACT_3.pptx의 S74, production/preview/act3/S74.png 및 production/preview/full/S74.png. 보존된 지식 출처 감사의 재구성이며 실제 Memory·검색 실행 캡처가 아니다. 현재 파일 대조는 production/evaluation/S62_KNOWLEDGE_SOURCES_REVISION.md와 demos/runbooks/FALLBACK_MANIFEST.md를 따른다. 실제 발표 PC 재생은 UNVERIFIED다.</a:t>
            </a:r>
          </a:p>
          <a:p>
            <a:r>
              <a:t xml:space="preserve"/>
            </a:r>
          </a:p>
          <a:p>
            <a:r>
              <a:t xml:space="preserve">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S75 — 밝기 통계 작업에 쓰인 구성의 역할</a:t>
            </a:r>
          </a:p>
          <a:p>
            <a:r>
              <a:t xml:space="preserve"/>
            </a:r>
          </a:p>
          <a:p>
            <a:r>
              <a:t xml:space="preserve">Slide ID:</a:t>
            </a:r>
          </a:p>
          <a:p>
            <a:r>
              <a:t xml:space="preserve">S75</a:t>
            </a:r>
          </a:p>
          <a:p>
            <a:r>
              <a:t xml:space="preserve"/>
            </a:r>
          </a:p>
          <a:p>
            <a:r>
              <a:t xml:space="preserve">Working Title: 밝기 통계 작업에 쓰인 구성의 역할</a:t>
            </a:r>
          </a:p>
          <a:p>
            <a:r>
              <a:t xml:space="preserve"/>
            </a:r>
          </a:p>
          <a:p>
            <a:r>
              <a:t xml:space="preserve">ACT / Section: ACT 3 / 3G</a:t>
            </a:r>
          </a:p>
          <a:p>
            <a:r>
              <a:t xml:space="preserve"/>
            </a:r>
          </a:p>
          <a:p>
            <a:r>
              <a:t xml:space="preserve">Allocated Time: 3 minutes</a:t>
            </a:r>
          </a:p>
          <a:p>
            <a:r>
              <a:t xml:space="preserve"/>
            </a:r>
          </a:p>
          <a:p>
            <a:r>
              <a:t xml:space="preserve">Mode Split: Demo 3 minutes (CAPTURED)</a:t>
            </a:r>
          </a:p>
          <a:p>
            <a:r>
              <a:t xml:space="preserve"/>
            </a:r>
          </a:p>
          <a:p>
            <a:r>
              <a:t xml:space="preserve">Primary Message: 밝기 통계 목표/범위, AGENTS.md와 상세 문서, 재사용 Skill, 테스트·benchmark·실행 조건이 각각 목표·지식·방법·완료 근거를 맡았다. Subagent와 별도 Memory는 추가하지 않았다.</a:t>
            </a:r>
          </a:p>
          <a:p>
            <a:r>
              <a:t xml:space="preserve"/>
            </a:r>
          </a:p>
          <a:p>
            <a:r>
              <a:t xml:space="preserve">Opening Question:</a:t>
            </a:r>
          </a:p>
          <a:p>
            <a:r>
              <a:t xml:space="preserve">“S74에서 본 자료들이 실제 밝기 통계 작업에서는 각각 무엇을 맡았을까요?”</a:t>
            </a:r>
          </a:p>
          <a:p>
            <a:r>
              <a:t xml:space="preserve"/>
            </a:r>
          </a:p>
          <a:p>
            <a:r>
              <a:t xml:space="preserve">Speaker Flow:</a:t>
            </a:r>
          </a:p>
          <a:p>
            <a:r>
              <a:t xml:space="preserve">1. (0:00–0:30 / Demo) S74의 출처 감사에서 실제 밝기 통계 작업으로 돌아온다. 이번 장은 각 자료가 이 한 작업에서 맡은 역할의 회수다. 재구성 도식이며 시간순 실행 trace가 아니다.</a:t>
            </a:r>
          </a:p>
          <a:p>
            <a:r>
              <a:t xml:space="preserve">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S64/S61에서 확인했으므로 다시 강의하지 않는다.</a:t>
            </a:r>
          </a:p>
          <a:p>
            <a:r>
              <a:t xml:space="preserve">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S69처럼 다시 읽지 않는다. 모든 동작의 정확성이나 각 요소의 단독 효과가 입증된 것은 아니다.</a:t>
            </a:r>
          </a:p>
          <a:p>
            <a:r>
              <a:t xml:space="preserve">4. (2:30–3:00 / Demo) Subagent·별도 Memory를 추가하지 않은 범위의 실제 구성을 회수한다. 다음 장은 요소 목록을 반복하는 대신 실행 조건과 사람의 검토 책임까지 연결한 Harness 모델로 확장한다.</a:t>
            </a:r>
          </a:p>
          <a:p>
            <a:r>
              <a:t xml:space="preserve"/>
            </a:r>
          </a:p>
          <a:p>
            <a:r>
              <a:t xml:space="preserve">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a:r>
              <a:t xml:space="preserve"/>
            </a:r>
          </a:p>
          <a:p>
            <a:r>
              <a:t xml:space="preserve">보존된 상세 출처: STATE-04-PERF · 실제 구성·작업 기록 요약 · 도식 재구성</a:t>
            </a:r>
          </a:p>
          <a:p>
            <a:r>
              <a:t xml:space="preserve"/>
            </a:r>
          </a:p>
          <a:p>
            <a:r>
              <a:t xml:space="preserve">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a:r>
              <a:t xml:space="preserve"/>
            </a:r>
          </a:p>
          <a:p>
            <a:r>
              <a:t xml:space="preserve">보존된 상세 범위: Subagent·별도 Memory는 추가하지 않음 · 각 요소의 단독 성능 효과는 입증하지 않음</a:t>
            </a:r>
          </a:p>
          <a:p>
            <a:r>
              <a:t xml:space="preserve"/>
            </a:r>
          </a:p>
          <a:p>
            <a:r>
              <a:t xml:space="preserve">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a:r>
              <a:t xml:space="preserve"/>
            </a:r>
          </a:p>
          <a:p>
            <a:r>
              <a:t xml:space="preserve">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a:r>
              <a:t xml:space="preserve"/>
            </a:r>
          </a:p>
          <a:p>
            <a:r>
              <a:t xml:space="preserve">**C++ Vision Bridge:**</a:t>
            </a:r>
          </a:p>
          <a:p>
            <a:r>
              <a:t xml:space="preserve">N/A — 이전 독립 C++ 전이 장은 DEC-0091에서 삭제했다. 실제 구성 회고와 Harness 재사용 설명으로 연결한다.</a:t>
            </a:r>
          </a:p>
          <a:p>
            <a:r>
              <a:t xml:space="preserve"/>
            </a:r>
          </a:p>
          <a:p>
            <a:r>
              <a:t xml:space="preserve">Demo Operation:</a:t>
            </a:r>
          </a:p>
          <a:p>
            <a:r>
              <a:t xml:space="preserve">CAPTURED 정적 기본 경로 — S74의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S76에서 회수한다. 제품·Agent·benchmark·Demo repository를 실행하지 않으며 새 Trial·비교 측정을 만들지 않는다.</a:t>
            </a:r>
          </a:p>
          <a:p>
            <a:r>
              <a:t xml:space="preserve"/>
            </a:r>
          </a:p>
          <a:p>
            <a:r>
              <a:t xml:space="preserve">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a:r>
              <a:t xml:space="preserve"/>
            </a:r>
          </a:p>
          <a:p>
            <a:r>
              <a:t xml:space="preserve">Transition: “이 파일과 도구들이 어떤 관계로 작동하는지 전체 작업 환경으로 묶겠습니다.”</a:t>
            </a:r>
          </a:p>
          <a:p>
            <a:r>
              <a:t xml:space="preserve"/>
            </a:r>
          </a:p>
          <a:p>
            <a:r>
              <a:t xml:space="preserve">Time Management:</a:t>
            </a:r>
          </a:p>
          <a:p>
            <a:r>
              <a:t xml:space="preserve">Demo3분(CAPTURED 정적 요약): 실제 작업으로 복귀0.5, 입력 역할을 함께 회수1, 검증 근거1, 실행 조건·검토 책임으로 연결0.5. S64–S69의 지침·수치 설명을 반복하지 않는다. 실제3분 리허설은 UNVERIFIED다.</a:t>
            </a:r>
          </a:p>
          <a:p>
            <a:r>
              <a:t xml:space="preserve"/>
            </a:r>
          </a:p>
          <a:p>
            <a:r>
              <a:t xml:space="preserve">Fallback:</a:t>
            </a:r>
          </a:p>
          <a:p>
            <a:r>
              <a:t xml:space="preserve">LOCAL STATIC ARTIFACT — production/ACT_3.pptx의 S75, production/preview/act3/S75.png 및 production/preview/full/S75.png.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S76 — 함께 작동하는 작업 환경, Harness</a:t>
            </a:r>
          </a:p>
          <a:p>
            <a:r>
              <a:t xml:space="preserve"/>
            </a:r>
          </a:p>
          <a:p>
            <a:r>
              <a:t xml:space="preserve">Slide ID:</a:t>
            </a:r>
          </a:p>
          <a:p>
            <a:r>
              <a:t xml:space="preserve">S76</a:t>
            </a:r>
          </a:p>
          <a:p>
            <a:r>
              <a:t xml:space="preserve"/>
            </a:r>
          </a:p>
          <a:p>
            <a:r>
              <a:t xml:space="preserve">Working Title: 함께 작동하는 작업 환경, Harness</a:t>
            </a:r>
          </a:p>
          <a:p>
            <a:r>
              <a:t xml:space="preserve"/>
            </a:r>
          </a:p>
          <a:p>
            <a:r>
              <a:t xml:space="preserve">ACT / Section: ACT 3 / 3G</a:t>
            </a:r>
          </a:p>
          <a:p>
            <a:r>
              <a:t xml:space="preserve"/>
            </a:r>
          </a:p>
          <a:p>
            <a:r>
              <a:t xml:space="preserve">Allocated Time: 6 minutes</a:t>
            </a:r>
          </a:p>
          <a:p>
            <a:r>
              <a:t xml:space="preserve"/>
            </a:r>
          </a:p>
          <a:p>
            <a:r>
              <a:t xml:space="preserve">Mode Split: Lecture 4 minutes + Demo 2 minutes (CAPTURED)</a:t>
            </a:r>
          </a:p>
          <a:p>
            <a:r>
              <a:t xml:space="preserve"/>
            </a:r>
          </a:p>
          <a:p>
            <a:r>
              <a:t xml:space="preserve">Primary Message: 이 과정에서 Harness는 Agent가 신뢰성 있게 일하도록 목표·Context·재사용 절차·실행 도구·검증·검토 조건을 연결한 작업 환경과 방법의 운영 모델이다.</a:t>
            </a:r>
          </a:p>
          <a:p>
            <a:r>
              <a:t xml:space="preserve"/>
            </a:r>
          </a:p>
          <a:p>
            <a:r>
              <a:t xml:space="preserve">Opening Question:</a:t>
            </a:r>
          </a:p>
          <a:p>
            <a:r>
              <a:t xml:space="preserve">“S75의 구성에 실행·검증 환경까지 함께 연결하면, Agent가 일하는 전체 구조는 어떻게 보일까요?”</a:t>
            </a:r>
          </a:p>
          <a:p>
            <a:r>
              <a:t xml:space="preserve"/>
            </a:r>
          </a:p>
          <a:p>
            <a:r>
              <a:t xml:space="preserve">**Speaker Flow:**</a:t>
            </a:r>
          </a:p>
          <a:p>
            <a:r>
              <a:t xml:space="preserve">1. (0:00–0:30 / Lecture) S75의 실제 구성과 같은 배치임을 짚는다. 목표·Context·Skill의 정의를 다시 차례로 설명하지 않고, 이 작업이 가능하도록 실행 조건과 사람의 검토 책임까지 설계하는 관계로 확장한다.</a:t>
            </a:r>
          </a:p>
          <a:p>
            <a:r>
              <a:t xml:space="preserve">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a:r>
              <a:t xml:space="preserve">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a:r>
              <a:t xml:space="preserve">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a:r>
              <a:t xml:space="preserve">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a:r>
              <a:t xml:space="preserve">6. (5:30–6:00 / Demo) 실제 성공을 보존하고 ‘만든 작업 체계를 다음 프로젝트에서도 쓸 수 있을까요?’로 S77–S78를 연다. 제품이나 새 명령을 실행하지 않는다.</a:t>
            </a:r>
          </a:p>
          <a:p>
            <a:r>
              <a:t xml:space="preserve">마지막 연결은 다음 프로젝트에서도 사용할 기반의 가치다. 실행 조건의 세부는 S79–S83에서 단계별로 다룬다.</a:t>
            </a:r>
          </a:p>
          <a:p>
            <a:r>
              <a:t xml:space="preserve"/>
            </a:r>
          </a:p>
          <a:p>
            <a:r>
              <a:t xml:space="preserve">Evidence / Source: DEC-0023의 이 과정 Harness 운영 정의; BEAT-035/036; STATE-04-PERF; DEC-0062/0075/0076; DEMO-09. OBSERVED_PRODUCT / TEACHING_MODEL. plan/DEMO_MATRIX.md의 Current Harness 및 §§191–200 Working Harness Success, S76의 실제 구성 대응을 사용한다. AGENTS.md·상세 문서·repository Skill·테스트·benchmark는 보존된 실제 근거이며 환경 전체의 완전한 감사 증거는 아니다.; DEC-0080.</a:t>
            </a:r>
          </a:p>
          <a:p>
            <a:r>
              <a:t xml:space="preserve"/>
            </a:r>
          </a:p>
          <a:p>
            <a:r>
              <a:t xml:space="preserve">보존된 상세 출처: 교육용 Harness 모델 · 사례 대응: AGENTS.md · docs · Skill · tests · benchmark</a:t>
            </a:r>
          </a:p>
          <a:p>
            <a:r>
              <a:t xml:space="preserve"/>
            </a:r>
          </a:p>
          <a:p>
            <a:r>
              <a:t xml:space="preserve">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a:r>
              <a:t xml:space="preserve"/>
            </a:r>
          </a:p>
          <a:p>
            <a:r>
              <a:t xml:space="preserve">보존된 상세 범위: 공식 정의·필수 목록이 아님 · 모든 실행 조건의 감사·각 요소의 단독 성능 효과는 미입증</a:t>
            </a:r>
          </a:p>
          <a:p>
            <a:r>
              <a:t xml:space="preserve"/>
            </a:r>
          </a:p>
          <a:p>
            <a:r>
              <a:t xml:space="preserve">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a:r>
              <a:t xml:space="preserve"/>
            </a:r>
          </a:p>
          <a:p>
            <a:r>
              <a:t xml:space="preserve">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a:r>
              <a:t xml:space="preserve"/>
            </a:r>
          </a:p>
          <a:p>
            <a:r>
              <a:t xml:space="preserve">**C++ Vision Bridge:**</a:t>
            </a:r>
          </a:p>
          <a:p>
            <a:r>
              <a:t xml:space="preserve">N/A — 다음 S77–S78은 여러 프로젝트에 적용할 공통 기반과 프로젝트별 조건의 교육용 설계다.</a:t>
            </a:r>
          </a:p>
          <a:p>
            <a:r>
              <a:t xml:space="preserve"/>
            </a:r>
          </a:p>
          <a:p>
            <a:r>
              <a:t xml:space="preserve">Demo Operation:</a:t>
            </a:r>
          </a:p>
          <a:p>
            <a:r>
              <a:t xml:space="preserve">Lecture4분에는 왼쪽 세 입력 → Agent → 검증·사람의 검토, 아래 실행 환경 → 작업/검증의 관계를 설명한다. 이후 Demo2분은 기존 S75/STATE-04-PERF의 AGENTS.md·docs·Skill·tests·benchmark와 기록된 입력/실행 조건을 같은 도식에 대응하는 CAPTURED 정적 요약이다. 실제 실행 캡처가 아니며 제품·Agent·benchmark·Demo repository를 실행하거나 새 Trial을 만들지 않는다. S75 Demo3분과 중복 계산하지 않는다.</a:t>
            </a:r>
          </a:p>
          <a:p>
            <a:r>
              <a:t xml:space="preserve"/>
            </a:r>
          </a:p>
          <a:p>
            <a:r>
              <a:t xml:space="preserve">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a:r>
              <a:t xml:space="preserve"/>
            </a:r>
          </a:p>
          <a:p>
            <a:r>
              <a:t xml:space="preserve">**Transition:**</a:t>
            </a:r>
          </a:p>
          <a:p>
            <a:r>
              <a:t xml:space="preserve">“이렇게 만든 작업 체계를 다음 프로젝트에서도 출발점으로 쓸 수 있을까요?”</a:t>
            </a:r>
          </a:p>
          <a:p>
            <a:r>
              <a:t xml:space="preserve"/>
            </a:r>
          </a:p>
          <a:p>
            <a:r>
              <a:t xml:space="preserve">**Time Management:**</a:t>
            </a:r>
          </a:p>
          <a:p>
            <a:r>
              <a:t xml:space="preserve">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a:r>
              <a:t xml:space="preserve"/>
            </a:r>
          </a:p>
          <a:p>
            <a:r>
              <a:t xml:space="preserve">Fallback:</a:t>
            </a:r>
          </a:p>
          <a:p>
            <a:r>
              <a:t xml:space="preserve">LOCAL STATIC ARTIFACT — production/ACT_3.pptx의 S76, production/preview/act3/S76.png 및 production/preview/full/S76.png. 교육용 Harness 관계도와 기존 실제 구성의 대응이며 raw 실행 캡처가 아니다. 파일 대조는 production/evaluation/S64_HARNESS_STRUCTURE_REVISION.md와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S77 — 만든 Harness를 다음 프로젝트의 기반으로</a:t>
            </a:r>
          </a:p>
          <a:p>
            <a:r>
              <a:t xml:space="preserve"/>
            </a:r>
          </a:p>
          <a:p>
            <a:r>
              <a:t xml:space="preserve">**Slide ID:**</a:t>
            </a:r>
          </a:p>
          <a:p>
            <a:r>
              <a:t xml:space="preserve">S77</a:t>
            </a:r>
          </a:p>
          <a:p>
            <a:r>
              <a:t xml:space="preserve"/>
            </a:r>
          </a:p>
          <a:p>
            <a:r>
              <a:t xml:space="preserve">**Working Title:**</a:t>
            </a:r>
          </a:p>
          <a:p>
            <a:r>
              <a:t xml:space="preserve">만든 Harness를 다음 프로젝트의 기반으로</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검토해 둔 조사·변경·검증 절차와 도구 연결·보고 방식을 공통 기반으로 남겨 다음 프로젝트의 출발점으로 쓸 수 있다.</a:t>
            </a:r>
          </a:p>
          <a:p>
            <a:r>
              <a:t xml:space="preserve"/>
            </a:r>
          </a:p>
          <a:p>
            <a:r>
              <a:t xml:space="preserve">**Opening Question:**</a:t>
            </a:r>
          </a:p>
          <a:p>
            <a:r>
              <a:t xml:space="preserve">“프로젝트가 바뀔 때마다 작업 방법까지 처음부터 다시 만들 필요가 있을까요?”</a:t>
            </a:r>
          </a:p>
          <a:p>
            <a:r>
              <a:t xml:space="preserve"/>
            </a:r>
          </a:p>
          <a:p>
            <a:r>
              <a:t xml:space="preserve">**Speaker Flow:**</a:t>
            </a:r>
          </a:p>
          <a:p>
            <a:r>
              <a:t xml:space="preserve">1. (0:00–0:35 / Lecture) S76의 전체 작업 환경에서 검토해 둔 수행 체계라는 왼쪽 기반을 짚는다.</a:t>
            </a:r>
          </a:p>
          <a:p>
            <a:r>
              <a:t xml:space="preserve">2. (0:35–1:25 / Lecture) 같은 기반이 A/B/C로 이어지는 가지를 가리킨다. 각 프로젝트에서 사용 가능한 출발점의 설계이며 실제 이식 시험 결과가 아니다.</a:t>
            </a:r>
          </a:p>
          <a:p>
            <a:r>
              <a:t xml:space="preserve">3. (1:25–2:00 / Lecture) 어떤 부분은 공통이고 어떤 부분은 달라지는지 다음 장으로 넘긴다.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재사용 설계 예 · 조사·검증 방법과 도구 연결 방식을 축적</a:t>
            </a:r>
          </a:p>
          <a:p>
            <a:r>
              <a:t xml:space="preserve"/>
            </a:r>
          </a:p>
          <a:p>
            <a:r>
              <a:t xml:space="preserve">**Claim Boundary:**</a:t>
            </a:r>
          </a:p>
          <a:p>
            <a:r>
              <a:t xml:space="preserve">TEACHING MODEL — 재사용의 설계 가치다. 다른 프로젝트에서 실행·검증한 Demo나 시간·성능 개선 성과가 아니다.</a:t>
            </a:r>
          </a:p>
          <a:p>
            <a:r>
              <a:t xml:space="preserve"/>
            </a:r>
          </a:p>
          <a:p>
            <a:r>
              <a:t xml:space="preserve">보존된 상세 범위: 다른 프로젝트로 옮겨 실행한 Demo는 아님 · 프로젝트별 적용 조건은 다음 장에서 연결</a:t>
            </a:r>
          </a:p>
          <a:p>
            <a:r>
              <a:t xml:space="preserve"/>
            </a:r>
          </a:p>
          <a:p>
            <a:r>
              <a:t xml:space="preserve">**Beginner Explanation:**</a:t>
            </a:r>
          </a:p>
          <a:p>
            <a:r>
              <a:t xml:space="preserve">한 번 정리한 일하는 방법을 다음 프로젝트에서 출발점으로 삼을 수 있다.</a:t>
            </a:r>
          </a:p>
          <a:p>
            <a:r>
              <a:t xml:space="preserve"/>
            </a:r>
          </a:p>
          <a:p>
            <a:r>
              <a:t xml:space="preserve">**Advanced Insight:**</a:t>
            </a:r>
          </a:p>
          <a:p>
            <a:r>
              <a:t xml:space="preserve">공통 수행 틀을 축적하고 프로젝트별 명세·도구·권한의 연결을 분리한다.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“그 기반에서 무엇을 다시 쓰고, 무엇을 프로젝트에 맞게 연결해야 할까요?”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S77 또는 production/preview/full/S77.png.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S78 — 공통 기반에 프로젝트 기준을 연결한다</a:t>
            </a:r>
          </a:p>
          <a:p>
            <a:r>
              <a:t xml:space="preserve"/>
            </a:r>
          </a:p>
          <a:p>
            <a:r>
              <a:t xml:space="preserve">**Slide ID:**</a:t>
            </a:r>
          </a:p>
          <a:p>
            <a:r>
              <a:t xml:space="preserve">S78</a:t>
            </a:r>
          </a:p>
          <a:p>
            <a:r>
              <a:t xml:space="preserve"/>
            </a:r>
          </a:p>
          <a:p>
            <a:r>
              <a:t xml:space="preserve">**Working Title:**</a:t>
            </a:r>
          </a:p>
          <a:p>
            <a:r>
              <a:t xml:space="preserve">공통 기반에 프로젝트 기준을 연결한다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조사·변경·검증의 흐름과 도구 연결·보고 틀은 재사용하고, 목표·명세·Context·실제 명령·허용 권한은 새 프로젝트에 맞춘다.</a:t>
            </a:r>
          </a:p>
          <a:p>
            <a:r>
              <a:t xml:space="preserve"/>
            </a:r>
          </a:p>
          <a:p>
            <a:r>
              <a:t xml:space="preserve">**Opening Question:**</a:t>
            </a:r>
          </a:p>
          <a:p>
            <a:r>
              <a:t xml:space="preserve">“같은 작업 체계를 쓰더라도, 새 프로젝트에서 무엇을 연결해야 할까요?”</a:t>
            </a:r>
          </a:p>
          <a:p>
            <a:r>
              <a:t xml:space="preserve"/>
            </a:r>
          </a:p>
          <a:p>
            <a:r>
              <a:t xml:space="preserve">**Speaker Flow:**</a:t>
            </a:r>
          </a:p>
          <a:p>
            <a:r>
              <a:t xml:space="preserve">1. (0:00–0:35 / Lecture) 왼쪽은 조사·변경·검증 흐름, 도구 연결 방식, 기록 항목이라는 공통 틀이다.</a:t>
            </a:r>
          </a:p>
          <a:p>
            <a:r>
              <a:t xml:space="preserve">2. (0:35–1:25 / Lecture) 오른쪽은 새 프로젝트의 목표·명세·Context, 실제 명령, 허용 범위다. 프로젝트 사실 전체를 공통 지침으로 복사하지 않는다.</a:t>
            </a:r>
          </a:p>
          <a:p>
            <a:r>
              <a:t xml:space="preserve">3. (1:25–2:00 / Lecture) 공통 기반과 프로젝트 기준 연결의 가치를 유지한다. 운영 중 사람이 새로 확인·보정할 점을 발견하면 그 경험이 다음 작업에 남는지 S79의 질문으로 넘긴다. 외부 권한 오류를 다음 중심 사례로 예고하지 않는다.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Harness 적용 모델 · 공통 수행 틀 + 프로젝트별 기준</a:t>
            </a:r>
          </a:p>
          <a:p>
            <a:r>
              <a:t xml:space="preserve"/>
            </a:r>
          </a:p>
          <a:p>
            <a:r>
              <a:t xml:space="preserve">**Claim Boundary:**</a:t>
            </a:r>
          </a:p>
          <a:p>
            <a:r>
              <a:t xml:space="preserve">TEACHING MODEL — 공통 틀과 프로젝트별 조건을 나누는 설계다. 전체 Harness를 그대로 복사하면 작동한다는 보장·이식 성공·절감 측정은 없다.</a:t>
            </a:r>
          </a:p>
          <a:p>
            <a:r>
              <a:t xml:space="preserve"/>
            </a:r>
          </a:p>
          <a:p>
            <a:r>
              <a:t xml:space="preserve">보존된 상세 범위: 전체 구성을 그대로 복사해도 작동한다는 보장이 아님 · 이식 결과·시간 절감은 미측정</a:t>
            </a:r>
          </a:p>
          <a:p>
            <a:r>
              <a:t xml:space="preserve"/>
            </a:r>
          </a:p>
          <a:p>
            <a:r>
              <a:t xml:space="preserve">**Beginner Explanation:**</a:t>
            </a:r>
          </a:p>
          <a:p>
            <a:r>
              <a:t xml:space="preserve">방법은 가져오되 프로젝트의 사실과 사용할 명령은 다시 연결한다.</a:t>
            </a:r>
          </a:p>
          <a:p>
            <a:r>
              <a:t xml:space="preserve"/>
            </a:r>
          </a:p>
          <a:p>
            <a:r>
              <a:t xml:space="preserve">**Advanced Insight:**</a:t>
            </a:r>
          </a:p>
          <a:p>
            <a:r>
              <a:t xml:space="preserve">재사용 단위와 프로젝트 결합 지점을 나누고 실제 명령·권한·검증 기준을 확인한다.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“이 기반으로 작업하는 동안 사람이 새로 확인할 부분을 찾는다면, 그 경험은 다음 작업에 어떻게 남을까요?”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S78 또는 production/preview/full/S78.png.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S79 — 이번 성공만으로 다음 작업까지 확인되지는 않는다</a:t>
            </a:r>
          </a:p>
          <a:p>
            <a:r>
              <a:t xml:space="preserve"/>
            </a:r>
          </a:p>
          <a:p>
            <a:r>
              <a:t xml:space="preserve">**Slide ID:**</a:t>
            </a:r>
          </a:p>
          <a:p>
            <a:r>
              <a:t xml:space="preserve">S79</a:t>
            </a:r>
          </a:p>
          <a:p>
            <a:r>
              <a:t xml:space="preserve"/>
            </a:r>
          </a:p>
          <a:p>
            <a:r>
              <a:t xml:space="preserve">**Working Title:**</a:t>
            </a:r>
          </a:p>
          <a:p>
            <a:r>
              <a:t xml:space="preserve">이번 성공만으로 다음 작업까지 확인되지는 않는다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밝기 통계 작업의 성공은 기록된 명세·코드·입력·환경에서 확인한 결과다. 그 성공만으로 이후 모든 작업의 요구와 검증 범위를 확인한 것은 아니다.</a:t>
            </a:r>
          </a:p>
          <a:p>
            <a:r>
              <a:t xml:space="preserve"/>
            </a:r>
          </a:p>
          <a:p>
            <a:r>
              <a:t xml:space="preserve">**Opening Question:**</a:t>
            </a:r>
          </a:p>
          <a:p>
            <a:r>
              <a:t xml:space="preserve">“검증한 Harness를 다시 쓰면, 이후 작업에서 사람이 확인할 점은 모두 사라질까요?”</a:t>
            </a:r>
          </a:p>
          <a:p>
            <a:r>
              <a:t xml:space="preserve"/>
            </a:r>
          </a:p>
          <a:p>
            <a:r>
              <a:t xml:space="preserve">**Speaker Flow:**</a:t>
            </a:r>
          </a:p>
          <a:p>
            <a:r>
              <a:t xml:space="preserve">1. (0:00–0:35 / Lecture) S78의 공통 기반과 프로젝트 기준 연결을 받아, 실제 밝기 통계 작업의 확인한 성공을 왼쪽에서 짚는다. 숫자·검증 절차를 다시 강의하지 않는다.</a:t>
            </a:r>
          </a:p>
          <a:p>
            <a:r>
              <a:t xml:space="preserve">2. (0:35–1:25 / Lecture) 오른쪽 다음 작업은 관찰 결과가 아니라 질문이다. 새 요구·입력·확인 범위가 있을 수 있으며 현재 성공으로 모든 후속 작업을 검증했다고 말할 수 없음을 설명한다.</a:t>
            </a:r>
          </a:p>
          <a:p>
            <a:r>
              <a:t xml:space="preserve">3. (1:25–2:00 / Lecture) 운영 중 사람이 추가 확인할 점을 발견하는 교육용 상황으로 전환한다. Harness가 이미 실패했다거나 외부 설정이 원인이라고 예고하지 않는다.</a:t>
            </a:r>
          </a:p>
          <a:p>
            <a:r>
              <a:t xml:space="preserve"/>
            </a:r>
          </a:p>
          <a:p>
            <a:r>
              <a:t xml:space="preserve">**Evidence / Source:**</a:t>
            </a:r>
          </a:p>
          <a:p>
            <a:r>
              <a:t xml:space="preserve">plan/MASTER_PLAN.md §§5.7–5.9; plan/DEMO_MATRIX.md STATE-04-PERF의 검증 결과; DEC-0092. 실제 Product endpoint의 성공을 보존한다. 과거 TRIAL-001의 권한 오류는 S09과 원기록에 유지하며 새 보정 시나리오의 원인으로 사용하지 않는다.</a:t>
            </a:r>
          </a:p>
          <a:p>
            <a:r>
              <a:t xml:space="preserve"/>
            </a:r>
          </a:p>
          <a:p>
            <a:r>
              <a:t xml:space="preserve">보존된 상세 출처: OBSERVED_PRODUCT · STATE-04-PERF의 성공 회수 / 오른쪽은 다음 작업에 대한 질문</a:t>
            </a:r>
          </a:p>
          <a:p>
            <a:r>
              <a:t xml:space="preserve"/>
            </a:r>
          </a:p>
          <a:p>
            <a:r>
              <a:t xml:space="preserve">**Claim Boundary:**</a:t>
            </a:r>
          </a:p>
          <a:p>
            <a:r>
              <a:t xml:space="preserve">FROZEN WITH SCOPE / TEACHING MODEL — STATE-04-PERF의 성공 범위만 회수한다. 오른쪽 다음 작업은 질문이며 실제 후속 실패·반복 보정·새 Product State가 아니다.</a:t>
            </a:r>
          </a:p>
          <a:p>
            <a:r>
              <a:t xml:space="preserve"/>
            </a:r>
          </a:p>
          <a:p>
            <a:r>
              <a:t xml:space="preserve">보존된 상세 범위: 기록된 코드·입력·환경에서 확인한 결과 · 이후 모든 작업의 성공이나 실패를 관찰한 것은 아님</a:t>
            </a:r>
          </a:p>
          <a:p>
            <a:r>
              <a:t xml:space="preserve"/>
            </a:r>
          </a:p>
          <a:p>
            <a:r>
              <a:t xml:space="preserve">**Beginner Explanation:**</a:t>
            </a:r>
          </a:p>
          <a:p>
            <a:r>
              <a:t xml:space="preserve">작동하는 기반을 만들었어도, 다음 작업에서 새로 확인할 점은 생길 수 있다.</a:t>
            </a:r>
          </a:p>
          <a:p>
            <a:r>
              <a:t xml:space="preserve"/>
            </a:r>
          </a:p>
          <a:p>
            <a:r>
              <a:t xml:space="preserve">**Advanced Insight:**</a:t>
            </a:r>
          </a:p>
          <a:p>
            <a:r>
              <a:t xml:space="preserve">한정된 성공과 보편적인 수행 적합성 보장을 구분하고, 운영에서 얻을 추가 관찰의 필요를 연다.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N/A — Lecture2분. 실제 제품·CLI를 실행하거나 가상 보정을 실제 수행한 것처럼 보여주지 않는다. 각 장은 정적 의미 재구성/교육용 상황도다.</a:t>
            </a:r>
          </a:p>
          <a:p>
            <a:r>
              <a:t xml:space="preserve"/>
            </a:r>
          </a:p>
          <a:p>
            <a:r>
              <a:t xml:space="preserve">**Audience Interaction:**</a:t>
            </a:r>
          </a:p>
          <a:p>
            <a:r>
              <a:t xml:space="preserve">Opening Question은 생각을 돕는 질문이다. 참가자 실습·작성·공개 답변을 요구하지 않는다.</a:t>
            </a:r>
          </a:p>
          <a:p>
            <a:r>
              <a:t xml:space="preserve"/>
            </a:r>
          </a:p>
          <a:p>
            <a:r>
              <a:t xml:space="preserve">**Transition:**</a:t>
            </a:r>
          </a:p>
          <a:p>
            <a:r>
              <a:t xml:space="preserve">확인된 성공은 기록된 범위로 보존한다. 새 작업의 첫 결과 뒤에도 남은 문제가 있을 수 있다는 별도 가정으로 S80을 연다.</a:t>
            </a:r>
          </a:p>
          <a:p>
            <a:r>
              <a:t xml:space="preserve"/>
            </a:r>
          </a:p>
          <a:p>
            <a:r>
              <a:t xml:space="preserve">**Time Management:**</a:t>
            </a:r>
          </a:p>
          <a:p>
            <a:r>
              <a:t xml:space="preserve">Lecture2분.0:35까지 질문·장면,1:25까지 핵심 차이,2:00에 다음 장의 질문으로 이동한다. 환경·도구 설정 강의나 ACT4의 구체적 개선·평가를 미리 설명하지 않는다. 실측 리허설 UNVERIFIED.</a:t>
            </a:r>
          </a:p>
          <a:p>
            <a:r>
              <a:t xml:space="preserve"/>
            </a:r>
          </a:p>
          <a:p>
            <a:r>
              <a:t xml:space="preserve">**Fallback:**</a:t>
            </a:r>
          </a:p>
          <a:p>
            <a:r>
              <a:t xml:space="preserve">LOCAL STATIC ARTIFACT — production/ACT_3.pptx의 S79 또는 production/preview/full/S79.png. 실제 실행 Screenshot·Trial·새 관찰 결과로 표현하지 않는다.</a:t>
            </a:r>
          </a:p>
          <a:p>
            <a:r>
              <a:t xml:space="preserve"/>
            </a:r>
          </a:p>
          <a:p>
            <a:r>
              <a:t xml:space="preserve">**Validation Status:**</a:t>
            </a:r>
          </a:p>
          <a:p>
            <a:r>
              <a:t xml:space="preserve">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S80 — 첫 결과 뒤에도, 확인할 일이 남는다면?</a:t>
            </a:r>
          </a:p>
          <a:p>
            <a:r>
              <a:t xml:space="preserve"/>
            </a:r>
          </a:p>
          <a:p>
            <a:r>
              <a:t xml:space="preserve">**Slide ID:**</a:t>
            </a:r>
          </a:p>
          <a:p>
            <a:r>
              <a:t xml:space="preserve">S80</a:t>
            </a:r>
          </a:p>
          <a:p>
            <a:r>
              <a:t xml:space="preserve"/>
            </a:r>
          </a:p>
          <a:p>
            <a:r>
              <a:t xml:space="preserve">**Working Title:**</a:t>
            </a:r>
          </a:p>
          <a:p>
            <a:r>
              <a:t xml:space="preserve">첫 결과 뒤에도, 확인할 일이 남는다면?</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첫 결과가 나와도 완료 기준의 미충족 항목이 남을 수 있다는 가상 상황을 연다.</a:t>
            </a:r>
          </a:p>
          <a:p>
            <a:r>
              <a:t xml:space="preserve"/>
            </a:r>
          </a:p>
          <a:p>
            <a:r>
              <a:t xml:space="preserve">**Opening Question:**</a:t>
            </a:r>
          </a:p>
          <a:p>
            <a:r>
              <a:t xml:space="preserve">첫 결과 뒤에 무엇이 아직 남았는지는 누가 확인할까?</a:t>
            </a:r>
          </a:p>
          <a:p>
            <a:r>
              <a:t xml:space="preserve"/>
            </a:r>
          </a:p>
          <a:p>
            <a:r>
              <a:t xml:space="preserve">**Speaker Flow:**</a:t>
            </a:r>
          </a:p>
          <a:p>
            <a:r>
              <a:t xml:space="preserve">1. (0:00–1:00 / Lecture) 첫 결과가 나와도 완료 기준의 미충족 항목이 남을 수 있다는 가상 상황을 연다. 화면의 근거 등급을 짚고 실제 Trial의 반복 실패 기록과 구분한다.</a:t>
            </a:r>
          </a:p>
          <a:p>
            <a:r>
              <a:t xml:space="preserve">2. (1:00–2:00 / Lecture) 첫 변경 결과를 사람이 검토하고 수정 요청으로 잇는 S81로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상황 · 실제 밝기 통계의 실패나 검토 누락 이력이 아님</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앞의 실제 성공과 별개의 가정 · 새 실행·검토 결과 없음</a:t>
            </a:r>
          </a:p>
          <a:p>
            <a:r>
              <a:t xml:space="preserve"/>
            </a:r>
          </a:p>
          <a:p>
            <a:r>
              <a:t xml:space="preserve">**Beginner Explanation:**</a:t>
            </a:r>
          </a:p>
          <a:p>
            <a:r>
              <a:t xml:space="preserve">첫 결과가 나와도 완료 기준의 미충족 항목이 남을 수 있다는 가상 상황을 연다.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첫 변경 결과를 사람이 검토하고 수정 요청으로 잇는 S81로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S80; production/preview/act3/S80.png 및 production/preview/full/S80.png.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S81 — 남은 문제를 다음 수정으로 이어주는 사람</a:t>
            </a:r>
          </a:p>
          <a:p>
            <a:r>
              <a:t xml:space="preserve"/>
            </a:r>
          </a:p>
          <a:p>
            <a:r>
              <a:t xml:space="preserve">**Slide ID:**</a:t>
            </a:r>
          </a:p>
          <a:p>
            <a:r>
              <a:t xml:space="preserve">S81</a:t>
            </a:r>
          </a:p>
          <a:p>
            <a:r>
              <a:t xml:space="preserve"/>
            </a:r>
          </a:p>
          <a:p>
            <a:r>
              <a:t xml:space="preserve">**Working Title:**</a:t>
            </a:r>
          </a:p>
          <a:p>
            <a:r>
              <a:t xml:space="preserve">남은 문제를 다음 수정으로 이어주는 사람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같은 목표 안에서 검토·수정·재확인을 사람이 매번 다시 요청하는 상황을 설명한다.</a:t>
            </a:r>
          </a:p>
          <a:p>
            <a:r>
              <a:t xml:space="preserve"/>
            </a:r>
          </a:p>
          <a:p>
            <a:r>
              <a:t xml:space="preserve">**Opening Question:**</a:t>
            </a:r>
          </a:p>
          <a:p>
            <a:r>
              <a:t xml:space="preserve">같은 목표인데 왜 다음 단계는 다시 요청해야 할까?</a:t>
            </a:r>
          </a:p>
          <a:p>
            <a:r>
              <a:t xml:space="preserve"/>
            </a:r>
          </a:p>
          <a:p>
            <a:r>
              <a:t xml:space="preserve">**Speaker Flow:**</a:t>
            </a:r>
          </a:p>
          <a:p>
            <a:r>
              <a:t xml:space="preserve">1. (0:00–1:00 / Lecture) 같은 목표 안에서 검토·수정·재확인을 사람이 매번 다시 요청하는 상황을 설명한다. 화면의 근거 등급을 짚고 실제 Trial의 반복 실패 기록과 구분한다.</a:t>
            </a:r>
          </a:p>
          <a:p>
            <a:r>
              <a:t xml:space="preserve">2. (1:00–2:00 / Lecture) 이 연결에서 수행 방법과 다음 행동 판단을 구분하는 S82로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요청 예 · 같은 작업의 검토·수정을 사람이 연결하는 가정</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실제 비교 실험·반복 횟수·시간·토큰·실패를 관찰한 결과가 아님</a:t>
            </a:r>
          </a:p>
          <a:p>
            <a:r>
              <a:t xml:space="preserve"/>
            </a:r>
          </a:p>
          <a:p>
            <a:r>
              <a:t xml:space="preserve">**Beginner Explanation:**</a:t>
            </a:r>
          </a:p>
          <a:p>
            <a:r>
              <a:t xml:space="preserve">같은 목표 안에서 검토·수정·재확인을 사람이 매번 다시 요청하는 상황을 설명한다.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이 연결에서 수행 방법과 다음 행동 판단을 구분하는 S82로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S81; production/preview/act3/S81.png 및 production/preview/full/S81.png.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S82 — 같은 목표의 수정과 검토가 끊기지 않게</a:t>
            </a:r>
          </a:p>
          <a:p>
            <a:r>
              <a:t xml:space="preserve"/>
            </a:r>
          </a:p>
          <a:p>
            <a:r>
              <a:t xml:space="preserve">**Slide ID:**</a:t>
            </a:r>
          </a:p>
          <a:p>
            <a:r>
              <a:t xml:space="preserve">S82</a:t>
            </a:r>
          </a:p>
          <a:p>
            <a:r>
              <a:t xml:space="preserve"/>
            </a:r>
          </a:p>
          <a:p>
            <a:r>
              <a:t xml:space="preserve">**Working Title:**</a:t>
            </a:r>
          </a:p>
          <a:p>
            <a:r>
              <a:t xml:space="preserve">같은 목표의 수정과 검토가 끊기지 않게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Harness의 수행 방법·도구를 활용하며 검토 지적을 다음 수정으로 돌리는 제어가 필요하다.</a:t>
            </a:r>
          </a:p>
          <a:p>
            <a:r>
              <a:t xml:space="preserve"/>
            </a:r>
          </a:p>
          <a:p>
            <a:r>
              <a:t xml:space="preserve">**Opening Question:**</a:t>
            </a:r>
          </a:p>
          <a:p>
            <a:r>
              <a:t xml:space="preserve">어떻게 일할지와 다음에 무엇을 고칠지는 같은 질문일까?</a:t>
            </a:r>
          </a:p>
          <a:p>
            <a:r>
              <a:t xml:space="preserve"/>
            </a:r>
          </a:p>
          <a:p>
            <a:r>
              <a:t xml:space="preserve">**Speaker Flow:**</a:t>
            </a:r>
          </a:p>
          <a:p>
            <a:r>
              <a:t xml:space="preserve">1. (0:00–1:00 / Lecture) Harness의 수행 방법·도구를 활용하며 검토 지적을 다음 수정으로 돌리는 제어가 필요하다. 화면의 근거 등급을 짚고 실제 Trial의 반복 실패 기록과 구분한다.</a:t>
            </a:r>
          </a:p>
          <a:p>
            <a:r>
              <a:t xml:space="preserve">2. (1:00–2:00 / Lecture) 같은 목표의 다음 수정이 이어받을 상태를 S83에서 살펴본다.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운영 설계 · Harness의 방법·도구를 반복 수행에 사용</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Harness에 원래 피드백이 없다는 뜻이 아님 · 자동 실행 제품 기능을 검증한 자료가 아님</a:t>
            </a:r>
          </a:p>
          <a:p>
            <a:r>
              <a:t xml:space="preserve"/>
            </a:r>
          </a:p>
          <a:p>
            <a:r>
              <a:t xml:space="preserve">**Beginner Explanation:**</a:t>
            </a:r>
          </a:p>
          <a:p>
            <a:r>
              <a:t xml:space="preserve">Harness의 수행 방법·도구를 활용하며 검토 지적을 다음 수정으로 돌리는 제어가 필요하다.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같은 목표의 다음 수정이 이어받을 상태를 S83에서 살펴본다.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S82; production/preview/act3/S82.png 및 production/preview/full/S82.png.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S83 — 다음 수정에 넘길 기록</a:t>
            </a:r>
          </a:p>
          <a:p>
            <a:r>
              <a:t xml:space="preserve"/>
            </a:r>
          </a:p>
          <a:p>
            <a:r>
              <a:t xml:space="preserve">**Slide ID:**</a:t>
            </a:r>
          </a:p>
          <a:p>
            <a:r>
              <a:t xml:space="preserve">S83</a:t>
            </a:r>
          </a:p>
          <a:p>
            <a:r>
              <a:t xml:space="preserve"/>
            </a:r>
          </a:p>
          <a:p>
            <a:r>
              <a:t xml:space="preserve">**Working Title:**</a:t>
            </a:r>
          </a:p>
          <a:p>
            <a:r>
              <a:t xml:space="preserve">다음 수정에 넘길 기록</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목표·완료 기준, 현재 변경·검사 기록, 남은 검토 지적을 다음 수정에 전달한다.</a:t>
            </a:r>
          </a:p>
          <a:p>
            <a:r>
              <a:t xml:space="preserve"/>
            </a:r>
          </a:p>
          <a:p>
            <a:r>
              <a:t xml:space="preserve">**Opening Question:**</a:t>
            </a:r>
          </a:p>
          <a:p>
            <a:r>
              <a:t xml:space="preserve">다음 수정이 무엇을 이어받아야 할까?</a:t>
            </a:r>
          </a:p>
          <a:p>
            <a:r>
              <a:t xml:space="preserve"/>
            </a:r>
          </a:p>
          <a:p>
            <a:r>
              <a:t xml:space="preserve">**Speaker Flow:**</a:t>
            </a:r>
          </a:p>
          <a:p>
            <a:r>
              <a:t xml:space="preserve">1. (0:00–1:00 / Lecture) 목표·완료 기준, 현재 변경·검사 기록, 남은 검토 지적을 다음 수정에 전달한다. 화면의 근거 등급을 짚고 실제 Trial의 반복 실패 기록과 구분한다.</a:t>
            </a:r>
          </a:p>
          <a:p>
            <a:r>
              <a:t xml:space="preserve">2. (1:00–2:00 / Lecture) S84에서 내가 계속 이어 주는 다음 요청 하나를 떠올리게 한다.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TEACHING_MODEL · 실제 새 기록 파일·Memory를 생성한 결과가 아님</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기존 지식의 출처는 유지 · 별도 Memory 시스템이나 새 도구를 필수로 요구하지 않음</a:t>
            </a:r>
          </a:p>
          <a:p>
            <a:r>
              <a:t xml:space="preserve"/>
            </a:r>
          </a:p>
          <a:p>
            <a:r>
              <a:t xml:space="preserve">**Beginner Explanation:**</a:t>
            </a:r>
          </a:p>
          <a:p>
            <a:r>
              <a:t xml:space="preserve">목표·완료 기준, 현재 변경·검사 기록, 남은 검토 지적을 다음 수정에 전달한다.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S84에서 내가 계속 이어 주는 다음 요청 하나를 떠올리게 한다.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S83; production/preview/act3/S83.png 및 production/preview/full/S83.png.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S84 — 내가 매번 이어 주는 다음 단계는 무엇일까?</a:t>
            </a:r>
          </a:p>
          <a:p>
            <a:r>
              <a:t xml:space="preserve"/>
            </a:r>
          </a:p>
          <a:p>
            <a:r>
              <a:t xml:space="preserve">**Slide ID:**</a:t>
            </a:r>
          </a:p>
          <a:p>
            <a:r>
              <a:t xml:space="preserve">S84</a:t>
            </a:r>
          </a:p>
          <a:p>
            <a:r>
              <a:t xml:space="preserve"/>
            </a:r>
          </a:p>
          <a:p>
            <a:r>
              <a:t xml:space="preserve">**Working Title:**</a:t>
            </a:r>
          </a:p>
          <a:p>
            <a:r>
              <a:t xml:space="preserve">내가 매번 이어 주는 다음 단계는 무엇일까?</a:t>
            </a:r>
          </a:p>
          <a:p>
            <a:r>
              <a:t xml:space="preserve"/>
            </a:r>
          </a:p>
          <a:p>
            <a:r>
              <a:t xml:space="preserve">**ACT / Section:**</a:t>
            </a:r>
          </a:p>
          <a:p>
            <a:r>
              <a:t xml:space="preserve">ACT 3 / 3I Discussion / Reflection / Transition</a:t>
            </a:r>
          </a:p>
          <a:p>
            <a:r>
              <a:t xml:space="preserve"/>
            </a:r>
          </a:p>
          <a:p>
            <a:r>
              <a:t xml:space="preserve">**Allocated Time:**</a:t>
            </a:r>
          </a:p>
          <a:p>
            <a:r>
              <a:t xml:space="preserve">10 minutes</a:t>
            </a:r>
          </a:p>
          <a:p>
            <a:r>
              <a:t xml:space="preserve"/>
            </a:r>
          </a:p>
          <a:p>
            <a:r>
              <a:t xml:space="preserve">**Mode Split:**</a:t>
            </a:r>
          </a:p>
          <a:p>
            <a:r>
              <a:t xml:space="preserve">Reflection 3분 + Q&amp;A 5분 + Transition 2분</a:t>
            </a:r>
          </a:p>
          <a:p>
            <a:r>
              <a:t xml:space="preserve"/>
            </a:r>
          </a:p>
          <a:p>
            <a:r>
              <a:t xml:space="preserve">**Primary Message:**</a:t>
            </a:r>
          </a:p>
          <a:p>
            <a:r>
              <a:t xml:space="preserve">내 업무의 검토·수정·완료 판단 중 반복해서 연결하는 요청을 생각하고 ACT4 수행 루프로 넘긴다.</a:t>
            </a:r>
          </a:p>
          <a:p>
            <a:r>
              <a:t xml:space="preserve"/>
            </a:r>
          </a:p>
          <a:p>
            <a:r>
              <a:t xml:space="preserve">**Opening Question:**</a:t>
            </a:r>
          </a:p>
          <a:p>
            <a:r>
              <a:t xml:space="preserve">내가 매번 이어 주는 검토·수정·확인 요청은 무엇일까?</a:t>
            </a:r>
          </a:p>
          <a:p>
            <a:r>
              <a:t xml:space="preserve"/>
            </a:r>
          </a:p>
          <a:p>
            <a:r>
              <a:t xml:space="preserve">**Speaker Flow:**</a:t>
            </a:r>
          </a:p>
          <a:p>
            <a:r>
              <a:t xml:space="preserve">1. (0:00–3:00 / Reflection) 검토·수정·완료 중 내가 계속 이어 주는 요청 하나를 마음속으로 고른다. 기록·발표를 요구하지 않는다.</a:t>
            </a:r>
          </a:p>
          <a:p>
            <a:r>
              <a:t xml:space="preserve">2. (3:00–8:00 / Q&amp;A) 질문을 받는다. 없으면 “검토가 끝난 뒤 다음 수정은 누가 이어 주나요?”를 사용한다. 완료 기준과 사람의 책임을 유지하고 제품 기능을 단정하지 않는다.</a:t>
            </a:r>
          </a:p>
          <a:p>
            <a:r>
              <a:t xml:space="preserve">3. (8:00–10:00 / Transition) S85의 목표 기반 실행·검토 시스템 제목을 거쳐 S86의 사람의 연결 문제로 이어간다.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개인 성찰 · 기록·제출·공유는 선택 · 새 Trial 없음</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다음 ACT는 같은 목표의 구현·검토·수정 반복을 다룸 · 완전자율 성공을 보장하지 않음</a:t>
            </a:r>
          </a:p>
          <a:p>
            <a:r>
              <a:t xml:space="preserve"/>
            </a:r>
          </a:p>
          <a:p>
            <a:r>
              <a:t xml:space="preserve">**Beginner Explanation:**</a:t>
            </a:r>
          </a:p>
          <a:p>
            <a:r>
              <a:t xml:space="preserve">내 업무의 검토·수정·완료 판단 중 반복해서 연결하는 요청을 생각하고 ACT4 수행 루프로 넘긴다.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내가 매번 이어 주는 검토·수정·확인 요청은 무엇일까? 공유·기록·실습은 요구하지 않는다.</a:t>
            </a:r>
          </a:p>
          <a:p>
            <a:r>
              <a:t xml:space="preserve"/>
            </a:r>
          </a:p>
          <a:p>
            <a:r>
              <a:t xml:space="preserve">**Transition:**</a:t>
            </a:r>
          </a:p>
          <a:p>
            <a:r>
              <a:t xml:space="preserve">S85의 목표 기반 실행·검토 시스템 제목을 거쳐 S86의 사람의 연결 문제로 이어간다.</a:t>
            </a:r>
          </a:p>
          <a:p>
            <a:r>
              <a:t xml:space="preserve"/>
            </a:r>
          </a:p>
          <a:p>
            <a:r>
              <a:t xml:space="preserve">**Time Management:**</a:t>
            </a:r>
          </a:p>
          <a:p>
            <a:r>
              <a:t xml:space="preserve">Reflection 3분 + Q&amp;A 5분 + Transition 2분 = 10분.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S84; production/preview/act3/S84.png 및 production/preview/full/S84.png.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6709d3461d541b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3bef0c2fc3a4d3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36e738fbefe409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ab9f82fa677446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4e79c9ee54f404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455ab6b6f24446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C465426-5D11-4109-B14C-05AF87259DE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8798DC2-CBFD-4874-A020-76753EA2CD5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2B215B6-3FB9-4E48-BEF5-202768EC4C5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DF8457C-B9EC-4475-8EA6-49F89100818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761390A-9972-4FB7-8729-30FCAA02607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291C91C-AA88-41A3-BD04-A214CD423F7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7F40C3A-1D29-47DE-9018-709E13A7CDA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9B5DB27-8EB4-486D-A802-53FE29164A8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3BBEC6A-9243-46DF-AB3D-7A58A6305B4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B943F5D-1ACF-4709-8045-9A8FAB227D1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e70d8f0fff1422b" /><Relationship Type="http://schemas.openxmlformats.org/officeDocument/2006/relationships/slideLayout" Target="/ppt/slideLayouts/slideLayout1.xml" Id="R0d31ee40f6064206" /><Relationship Type="http://schemas.openxmlformats.org/officeDocument/2006/relationships/slideLayout" Target="/ppt/slideLayouts/slideLayout2.xml" Id="Ra9268f909ce34140" /><Relationship Type="http://schemas.openxmlformats.org/officeDocument/2006/relationships/slideLayout" Target="/ppt/slideLayouts/slideLayout3.xml" Id="Re0e44c4c16b44118" /><Relationship Type="http://schemas.openxmlformats.org/officeDocument/2006/relationships/slideLayout" Target="/ppt/slideLayouts/slideLayout4.xml" Id="Rb46bb82f71704b67" /><Relationship Type="http://schemas.openxmlformats.org/officeDocument/2006/relationships/slideLayout" Target="/ppt/slideLayouts/slideLayout5.xml" Id="R3c3de57e74bc453b" /><Relationship Type="http://schemas.openxmlformats.org/officeDocument/2006/relationships/slideLayout" Target="/ppt/slideLayouts/slideLayout6.xml" Id="Rb88aaa2868ac426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d31ee40f6064206"/>
    <p:sldLayoutId xmlns:r="http://schemas.openxmlformats.org/officeDocument/2006/relationships" id="2147483650" r:id="Ra9268f909ce34140"/>
    <p:sldLayoutId xmlns:r="http://schemas.openxmlformats.org/officeDocument/2006/relationships" id="2147483651" r:id="Re0e44c4c16b44118"/>
    <p:sldLayoutId xmlns:r="http://schemas.openxmlformats.org/officeDocument/2006/relationships" id="2147483652" r:id="Rb46bb82f71704b67"/>
    <p:sldLayoutId xmlns:r="http://schemas.openxmlformats.org/officeDocument/2006/relationships" id="2147483653" r:id="R3c3de57e74bc453b"/>
    <p:sldLayoutId xmlns:r="http://schemas.openxmlformats.org/officeDocument/2006/relationships" id="2147483654" r:id="Rb88aaa2868ac426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a6fc1d85c284657" /><Relationship Type="http://schemas.openxmlformats.org/officeDocument/2006/relationships/notesSlide" Target="/ppt/notesSlides/notesSlide1.xml" Id="R769be9056d9d471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6719d28a27e4728" /><Relationship Type="http://schemas.openxmlformats.org/officeDocument/2006/relationships/image" Target="/ppt/media/image.png" Id="R8793926616574313" /><Relationship Type="http://schemas.openxmlformats.org/officeDocument/2006/relationships/image" Target="/ppt/media/image2.png" Id="R0f0534603ec34597" /><Relationship Type="http://schemas.openxmlformats.org/officeDocument/2006/relationships/notesSlide" Target="/ppt/notesSlides/notesSlide2.xml" Id="Ra83d41378174478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eea663d75764515" /><Relationship Type="http://schemas.openxmlformats.org/officeDocument/2006/relationships/notesSlide" Target="/ppt/notesSlides/notesSlide3.xml" Id="R60d069641adb45c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55ee97647df427b" /><Relationship Type="http://schemas.openxmlformats.org/officeDocument/2006/relationships/notesSlide" Target="/ppt/notesSlides/notesSlide4.xml" Id="Rb1283d28589a4db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3f90d7d3037400d" /><Relationship Type="http://schemas.openxmlformats.org/officeDocument/2006/relationships/notesSlide" Target="/ppt/notesSlides/notesSlide5.xml" Id="R765cbabd6fa54da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4a66076c2bd4cac" /><Relationship Type="http://schemas.openxmlformats.org/officeDocument/2006/relationships/notesSlide" Target="/ppt/notesSlides/notesSlide6.xml" Id="R1a18af8efe574f5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2e616e5bd8c4b01" /><Relationship Type="http://schemas.openxmlformats.org/officeDocument/2006/relationships/notesSlide" Target="/ppt/notesSlides/notesSlide7.xml" Id="R2a6b79fc6e4d436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d6a58240bd14137" /><Relationship Type="http://schemas.openxmlformats.org/officeDocument/2006/relationships/notesSlide" Target="/ppt/notesSlides/notesSlide8.xml" Id="R8e8ac27f1e53481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9c1510b5199435e" /><Relationship Type="http://schemas.openxmlformats.org/officeDocument/2006/relationships/notesSlide" Target="/ppt/notesSlides/notesSlide9.xml" Id="Rccde2e364880401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a4ff8b0e0894129" /><Relationship Type="http://schemas.openxmlformats.org/officeDocument/2006/relationships/notesSlide" Target="/ppt/notesSlides/notesSlide10.xml" Id="Re10551330e6640c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886689f288d447d" /><Relationship Type="http://schemas.openxmlformats.org/officeDocument/2006/relationships/chart" Target="/ppt/slides/charts/chart1.xml" Id="R827455c0690e4eac" /><Relationship Type="http://schemas.openxmlformats.org/officeDocument/2006/relationships/notesSlide" Target="/ppt/notesSlides/notesSlide11.xml" Id="R4de37700630b4fb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4667f55c6134d59" /><Relationship Type="http://schemas.openxmlformats.org/officeDocument/2006/relationships/notesSlide" Target="/ppt/notesSlides/notesSlide12.xml" Id="Rd22892e752ea46b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e8aa4756be544d5" /><Relationship Type="http://schemas.openxmlformats.org/officeDocument/2006/relationships/notesSlide" Target="/ppt/notesSlides/notesSlide13.xml" Id="Ra53daa769b89472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8d100fd66174c1d" /><Relationship Type="http://schemas.openxmlformats.org/officeDocument/2006/relationships/notesSlide" Target="/ppt/notesSlides/notesSlide14.xml" Id="Rb4d9e241846f4d0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004164d543b4923" /><Relationship Type="http://schemas.openxmlformats.org/officeDocument/2006/relationships/notesSlide" Target="/ppt/notesSlides/notesSlide15.xml" Id="R765a9875d97a454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1604b020b6b4ec3" /><Relationship Type="http://schemas.openxmlformats.org/officeDocument/2006/relationships/notesSlide" Target="/ppt/notesSlides/notesSlide16.xml" Id="Rf91cc28f72b6463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4fd4d476d0146f8" /><Relationship Type="http://schemas.openxmlformats.org/officeDocument/2006/relationships/notesSlide" Target="/ppt/notesSlides/notesSlide17.xml" Id="R9ce15091bc5640f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ea36b492081400c" /><Relationship Type="http://schemas.openxmlformats.org/officeDocument/2006/relationships/notesSlide" Target="/ppt/notesSlides/notesSlide18.xml" Id="Rb888665b17bd4a6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76c7bfa0da3459b" /><Relationship Type="http://schemas.openxmlformats.org/officeDocument/2006/relationships/notesSlide" Target="/ppt/notesSlides/notesSlide19.xml" Id="R07212e2191734da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3b752aa8cc74056" /><Relationship Type="http://schemas.openxmlformats.org/officeDocument/2006/relationships/notesSlide" Target="/ppt/notesSlides/notesSlide20.xml" Id="Rc4ffc1318575420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6e4edfa230144512" /><Relationship Type="http://schemas.openxmlformats.org/officeDocument/2006/relationships/notesSlide" Target="/ppt/notesSlides/notesSlide21.xml" Id="Re83e4b55128b40e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90c5c6fed8b4dee" /><Relationship Type="http://schemas.openxmlformats.org/officeDocument/2006/relationships/notesSlide" Target="/ppt/notesSlides/notesSlide22.xml" Id="R839f767bfec54d3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64b643d2b724f7a" /><Relationship Type="http://schemas.openxmlformats.org/officeDocument/2006/relationships/notesSlide" Target="/ppt/notesSlides/notesSlide23.xml" Id="R7e4c823fe9ce426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169c57fd25cd485a" /><Relationship Type="http://schemas.openxmlformats.org/officeDocument/2006/relationships/notesSlide" Target="/ppt/notesSlides/notesSlide24.xml" Id="Rf549b265ec49448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598d27ad24cf4053" /><Relationship Type="http://schemas.openxmlformats.org/officeDocument/2006/relationships/notesSlide" Target="/ppt/notesSlides/notesSlide25.xml" Id="R9a23959cada04e5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5ea9bfd020294821" /><Relationship Type="http://schemas.openxmlformats.org/officeDocument/2006/relationships/notesSlide" Target="/ppt/notesSlides/notesSlide26.xml" Id="Rba8dcdefd65a43b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12B6DBA2-77F2-4684-B2B0-65A8B637C71D}"/>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9">
            <a:extLst xmlns:a="http://schemas.openxmlformats.org/drawingml/2006/main">
              <a:ext uri="{FF2B5EF4-FFF2-40B4-BE49-F238E27FC236}">
                <a16:creationId xmlns:a16="http://schemas.microsoft.com/office/drawing/2014/main" id="{13DB6F0F-F355-408B-8C60-76837539C7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
            <a:extLst xmlns:a="http://schemas.openxmlformats.org/drawingml/2006/main">
              <a:ext uri="{FF2B5EF4-FFF2-40B4-BE49-F238E27FC236}">
                <a16:creationId xmlns:a16="http://schemas.microsoft.com/office/drawing/2014/main" id="{7AE53DDE-31FA-46CB-B334-B5FC726BF9A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E0398FA2-DBE9-47D8-BE11-A74A8AC43F86}"/>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CCAD0D75-2921-40A8-9E1D-9EED95DC95B4}"/>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05307A61-CDC8-4D2A-8E31-68F251641447}"/>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FAA114F-B34E-4F4E-8EDC-15AA1650CE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795820511"/>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3E36E7BB-9137-4B25-8F09-922413C599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60">
            <a:extLst xmlns:a="http://schemas.openxmlformats.org/drawingml/2006/main">
              <a:ext uri="{FF2B5EF4-FFF2-40B4-BE49-F238E27FC236}">
                <a16:creationId xmlns:a16="http://schemas.microsoft.com/office/drawing/2014/main" id="{40553134-2C62-4ED8-AE8F-8E53B327B5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두 실제 요청에 같은 절차가 반복됐다">
            <a:extLst xmlns:a="http://schemas.openxmlformats.org/drawingml/2006/main">
              <a:ext uri="{FF2B5EF4-FFF2-40B4-BE49-F238E27FC236}">
                <a16:creationId xmlns:a16="http://schemas.microsoft.com/office/drawing/2014/main" id="{FD90C13D-E51B-43F5-A835-024ECF75A8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9A9CF332-3DCF-41F3-93CD-69E973475BF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ABC5C1A-CFB0-49F3-A0BB-2F0DF4FA29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발췌·요약</a:t>
            </a:r>
          </a:p>
        </p:txBody>
      </p:sp>
      <p:pic>
        <p:nvPicPr>
          <p:cNvPr id="7" name="">
            <a:extLst xmlns:a="http://schemas.openxmlformats.org/drawingml/2006/main">
              <a:ext uri="{FF2B5EF4-FFF2-40B4-BE49-F238E27FC236}">
                <a16:creationId xmlns:a16="http://schemas.microsoft.com/office/drawing/2014/main" id="{E58657FC-DC8C-4C70-8FF6-0A06D85552DE}"/>
              </a:ext>
            </a:extLst>
          </p:cNvPr>
          <p:cNvPicPr>
            <a:picLocks xmlns:a="http://schemas.openxmlformats.org/drawingml/2006/main" noChangeAspect="1"/>
          </p:cNvPicPr>
          <p:nvPr/>
        </p:nvPicPr>
        <p:blipFill>
          <a:blip xmlns:r="http://schemas.openxmlformats.org/officeDocument/2006/relationships" xmlns:a="http://schemas.openxmlformats.org/drawingml/2006/main" r:embed="R8793926616574313"/>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D7CC442E-0595-4297-8BC5-3AA326BA1BEC}"/>
              </a:ext>
            </a:extLst>
          </p:cNvPr>
          <p:cNvPicPr>
            <a:picLocks xmlns:a="http://schemas.openxmlformats.org/drawingml/2006/main" noChangeAspect="1"/>
          </p:cNvPicPr>
          <p:nvPr/>
        </p:nvPicPr>
        <p:blipFill>
          <a:blip xmlns:r="http://schemas.openxmlformats.org/officeDocument/2006/relationships" xmlns:a="http://schemas.openxmlformats.org/drawingml/2006/main" r:embed="R0f0534603ec34597"/>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8BE52467-02A5-4976-B55D-C691BF27EFFD}"/>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0D180D32-D74E-4D01-8866-A34762C4DC48}"/>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09FB30F8-B62A-4BD2-AB95-094DC927FAFC}"/>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C5B2FFFE-A9C0-4D34-8C43-AA14C1F169B2}"/>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DFA1275F-AED6-4786-98A9-2540FFF731E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541D9B21-61AB-4EE7-818A-A1C6AD414657}"/>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AFE287DB-BBC2-4FF2-9A18-91566FFD2769}"/>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88AA4F89-D101-4742-96F4-C0A9C7361B94}"/>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5E0B47EA-6642-4C2B-AE79-08BA505324E5}"/>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33F86904-8EA9-4246-8B94-F8AB03E78464}"/>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30795273-B01B-4C30-B3FF-7CBEF5A22BDD}"/>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A867C4C1-7BE8-4E71-BD09-0B596613D953}"/>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CA2EB97F-2F7B-43F2-BF5C-0F1B934F7289}"/>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723891C0-05FF-4061-A2A1-5FD69A4F44FA}"/>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BE393F4A-1236-41A4-AF00-81BAF2263E6D}"/>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24D21B16-8EA9-4EE6-93B0-D92A2F61B1A8}"/>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414BABB0-2DB1-4028-ACE6-647113B135C3}"/>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196F183C-CE1D-43C6-8CB8-EA3AB1113ED4}"/>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1CDDD22E-7E54-4280-846B-D9063C4B32D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FFC9A542-2295-4A17-BB9D-136755E0594F}"/>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C33B890A-CB89-475A-A110-EA049AEC49AB}"/>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969AF34C-EBB3-4178-8B2E-7678B0302424}"/>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EB995E9A-38A5-4503-AE41-ABCFE333688D}"/>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4F0E0C60-BB03-4096-BCBF-66D411DE105E}"/>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FC6788AE-9D87-40FB-B16C-DF2FE232E190}"/>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4A0E437B-1691-44BF-A9E9-36B31E77FD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328201980"/>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26519D89-E511-4335-AF95-6F8231A1DC5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61">
            <a:extLst xmlns:a="http://schemas.openxmlformats.org/drawingml/2006/main">
              <a:ext uri="{FF2B5EF4-FFF2-40B4-BE49-F238E27FC236}">
                <a16:creationId xmlns:a16="http://schemas.microsoft.com/office/drawing/2014/main" id="{C3B4C596-0A40-43C2-A7BF-ABC1DB2D0F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테스트 명령을 언제 쓰고 무엇을 판단할까?">
            <a:extLst xmlns:a="http://schemas.openxmlformats.org/drawingml/2006/main">
              <a:ext uri="{FF2B5EF4-FFF2-40B4-BE49-F238E27FC236}">
                <a16:creationId xmlns:a16="http://schemas.microsoft.com/office/drawing/2014/main" id="{3C648C2D-37E3-4547-B20A-253A29B8C5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4E2B854F-D33A-42CF-841A-37641CE0C7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990A5D8-5E25-497E-9D89-7F4B7D1105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수행 방법 예시 · AGENTS.md에 기록할 수도 있음</a:t>
            </a:r>
          </a:p>
        </p:txBody>
      </p:sp>
      <p:sp>
        <p:nvSpPr>
          <p:cNvPr id="7" name="예시: normalize 성능 조사">
            <a:extLst xmlns:a="http://schemas.openxmlformats.org/drawingml/2006/main">
              <a:ext uri="{FF2B5EF4-FFF2-40B4-BE49-F238E27FC236}">
                <a16:creationId xmlns:a16="http://schemas.microsoft.com/office/drawing/2014/main" id="{0B6704D3-51D4-44DD-B898-9CADB6A525AE}"/>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6C8BB0E0-C4A2-4D04-A91E-33559A3C1E0B}"/>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90C39197-7F88-495C-AA2B-3632C8C56CC2}"/>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7938A221-0C01-4217-A62F-0336022A0E27}"/>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B19D6C8E-D5AD-44FD-A823-5FAD7109D503}"/>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930E9B28-4290-42DA-B9E6-165383CE929D}"/>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03B5638F-5186-4068-A145-5D24FDCB6AEC}"/>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AFD23244-11CC-482E-8275-458FF320680C}"/>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7A8F59D2-8691-4A06-B407-17D295B684B7}"/>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FD6A1AB8-635C-4250-AB2A-F532C0293CC2}"/>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D690B4E8-769B-4C43-BA8D-924A0BEC27E6}"/>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6C98E2D9-BD0F-462B-8995-ADA3F5144958}"/>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21C382FE-C86F-45D2-9342-89831813EBD1}"/>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C7DC5980-954B-47A8-B4AB-D1A0A50918DB}"/>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DBCEEF47-3326-4B0D-A524-F749E583A9E1}"/>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AA1EDC99-D396-4C7B-9120-FD64B45A7018}"/>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0819B19A-90F3-4243-B99A-B68EE92EABAE}"/>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86C44B12-CC07-495E-B05A-31362AF1800B}"/>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E4774BA8-DC8F-4A76-9D53-32CBBC13BB68}"/>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5C366DE0-F12E-40BB-A9CF-D13DE8228BC9}"/>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8340F273-595B-44F9-9FE0-118B6373A803}"/>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B5592D6-133B-438D-981B-D09AA7701C59}"/>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3000713-EFA5-4A3D-A36A-2CFB8700DEE8}"/>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68964830-042E-41F7-B533-E6967C1FFC47}"/>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961B2E7A-79DE-45F7-9123-959EB157FC67}"/>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1F3739F0-F11C-470C-A24F-0749EE6BCE30}"/>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E572150-3875-4154-9658-F5EC3794B93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5975BA22-BD2F-40D5-A300-8A23C5F3D650}"/>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638BDFFE-073E-47D0-AD2B-BE8A6738A6BF}"/>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CA09DA6C-BFE4-4C7A-A4AD-E9E627247438}"/>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2EFBC566-F63D-4004-ACF2-BFC345FD10A5}"/>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2C237DF-505C-4224-9F43-40FAA1E3464A}"/>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BBAC0865-0154-4706-8266-3FED7D756044}"/>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513E03E9-B1AB-4ED8-BDFA-FC3928D7437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5B0997B3-BB5D-42BA-8FBF-C44C38D065F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FFE4E731-30DB-42F4-9CE4-3DDEA6319F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261264093"/>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0AAC491C-6B33-4794-9EFD-128709DE8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62">
            <a:extLst xmlns:a="http://schemas.openxmlformats.org/drawingml/2006/main">
              <a:ext uri="{FF2B5EF4-FFF2-40B4-BE49-F238E27FC236}">
                <a16:creationId xmlns:a16="http://schemas.microsoft.com/office/drawing/2014/main" id="{6148BB17-5340-42BA-958A-0511EC708F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목표·기준·방법을 한 작업에 적용한다">
            <a:extLst xmlns:a="http://schemas.openxmlformats.org/drawingml/2006/main">
              <a:ext uri="{FF2B5EF4-FFF2-40B4-BE49-F238E27FC236}">
                <a16:creationId xmlns:a16="http://schemas.microsoft.com/office/drawing/2014/main" id="{4C71E30A-AEDB-4231-B02B-BEF23D383A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BC83A6BD-0E62-4D25-BB81-DD914DA5E5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7E0B6345-3761-41B4-8CCF-429A1F45A2DD}"/>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37047E76-2EB6-414E-B330-20E90C54CE1F}"/>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D9409EA7-F85D-424B-89D6-6181218BBB8B}"/>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687BB280-ED17-44A6-A5D8-A0636B79309C}"/>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41ED495-36D3-4BC0-97A5-28585A87CB5C}"/>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A7FDDEDC-0A78-42A4-87B6-ED9F6FB9920B}"/>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83DCD3E6-9510-463B-BEFE-F89EC611359E}"/>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EBA03C4E-939D-4B4D-B504-F399FEEF2271}"/>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F43D5CDF-EFB4-465F-968D-C672954322F7}"/>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1A36A064-17AD-4D3A-93DB-9D06F0D720B8}"/>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EC8E8039-4522-4D03-B8BD-107C0CC7D2AE}"/>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4A5CE845-F0B6-4B6B-B221-972C1FDB3404}"/>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09EEBDE0-7E51-483E-AF9B-BC2A16B9BD4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B49A89A3-4FDA-4AB4-9666-02859BD634A4}"/>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7FA64C45-708C-49C0-A0A0-9BC6DEDC025F}"/>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AD0270AE-2A2E-4E89-9120-FA0C0606F13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0C2964C2-A01B-444E-A46C-A3904C6A94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10565980"/>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96D42BE3-7819-4506-9513-8A964081FF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3">
            <a:extLst xmlns:a="http://schemas.openxmlformats.org/drawingml/2006/main">
              <a:ext uri="{FF2B5EF4-FFF2-40B4-BE49-F238E27FC236}">
                <a16:creationId xmlns:a16="http://schemas.microsoft.com/office/drawing/2014/main" id="{3500DE24-0887-4868-A22B-B589E8D05D0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반복 절차를 Skill로 모으는 이유">
            <a:extLst xmlns:a="http://schemas.openxmlformats.org/drawingml/2006/main">
              <a:ext uri="{FF2B5EF4-FFF2-40B4-BE49-F238E27FC236}">
                <a16:creationId xmlns:a16="http://schemas.microsoft.com/office/drawing/2014/main" id="{AE98A3C3-CB24-43C0-8B98-102C4E116B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5B0BE628-5DB1-4A38-B940-688BDAD8D6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B858377-3F89-43B2-B457-E96A742D96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Skill로 옮기는 설계안</a:t>
            </a:r>
          </a:p>
        </p:txBody>
      </p:sp>
      <p:sp>
        <p:nvSpPr>
          <p:cNvPr id="7" name="작업마다 달라지는 요청">
            <a:extLst xmlns:a="http://schemas.openxmlformats.org/drawingml/2006/main">
              <a:ext uri="{FF2B5EF4-FFF2-40B4-BE49-F238E27FC236}">
                <a16:creationId xmlns:a16="http://schemas.microsoft.com/office/drawing/2014/main" id="{5CB9C2B8-98D8-4835-925C-08E0CB4FD56B}"/>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B08A3EEA-ACEB-4A8F-8E9D-A7EBFF884E47}"/>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876DFB53-3510-4D09-BBE8-156290822EE3}"/>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6AFBBCC3-6D81-4021-A2F1-1CACDEB1914F}"/>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415AA1D8-75FD-4FB5-852E-9984066BCDC3}"/>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3D1D6D96-4F08-4476-AB11-53E98C99CD28}"/>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5B7D8B02-E4E5-42FD-B320-C105EFAAFE9F}"/>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B423FAE2-AF97-4A81-9DE5-0EE578955275}"/>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1314EC32-A7FF-4D78-B3DF-914DB34292A7}"/>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CEC27E13-0533-4E16-A221-297822F1E7F4}"/>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3BEE237F-CF0F-4BE5-8B11-41DF48FCE018}"/>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E7E813D4-6E3C-4FF5-A1D3-C487A78FDA8C}"/>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2C59681B-5AD6-4908-B94B-02C32EFF87AA}"/>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806F3375-00B9-43B1-83C9-0FD48C48090E}"/>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9B747EA9-2353-4B1B-844F-B0EC297AF821}"/>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3EA15955-EAD5-404B-8290-F5F96C749A83}"/>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79D2A686-DE40-497C-B517-33BA99ABBE28}"/>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C33BF113-103D-4FA7-B61C-92E0B5C87DED}"/>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F1DEF1B6-0BE1-4F1D-9AD8-F523CB5625C1}"/>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E7783648-369B-474A-94E5-5991E1825389}"/>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52745C8B-F88B-4B8E-A777-051395024C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33827909"/>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4AEE0D41-3170-470E-929C-7EA03EBB6E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4">
            <a:extLst xmlns:a="http://schemas.openxmlformats.org/drawingml/2006/main">
              <a:ext uri="{FF2B5EF4-FFF2-40B4-BE49-F238E27FC236}">
                <a16:creationId xmlns:a16="http://schemas.microsoft.com/office/drawing/2014/main" id="{321BDD89-7A3F-4D7E-BB6B-B997B81002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Skill 발견·호출·본문 포함의 근거">
            <a:extLst xmlns:a="http://schemas.openxmlformats.org/drawingml/2006/main">
              <a:ext uri="{FF2B5EF4-FFF2-40B4-BE49-F238E27FC236}">
                <a16:creationId xmlns:a16="http://schemas.microsoft.com/office/drawing/2014/main" id="{738EC288-7618-4564-9AD9-456121B2B2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11649F9A-DD77-46C9-9ED9-3405406065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E11B667-C292-4BAA-9D7B-65E32F2C3C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기록 · 본문 포함과 실제 수행 근거는 별개</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866FF56C-0522-4A9E-980E-9CA284281D7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1A62A34B-B7AE-4008-8E96-102A02E305FB}"/>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88CA1CB6-D488-4DA3-87EA-4C3206BB9D72}"/>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FAE19D51-77FA-45F7-BE4B-A27919A43FD7}"/>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11265775-23B9-4ADE-8D56-09F5AF38667B}"/>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6D4E902D-9FFC-4982-87C0-20EF9305391C}"/>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1E0F0385-5CD0-49DF-A077-AF2104212F82}"/>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0319534F-5CB3-402F-8C31-7B294B527120}"/>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0F734B67-5757-40DC-A262-961BA4D2F26B}"/>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3AF0F5E9-1B28-4C4D-B4BF-AD7E044F931A}"/>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B190ACEE-0F2B-4A7C-B2A1-4E85A5348FB2}"/>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4E3D29C-5BDC-4545-951E-F371146910F8}"/>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5AAEF6C9-7271-486E-893D-2CF8F79B91A1}"/>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4387E0DC-8FDC-48C5-B1F7-710593307353}"/>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3F308FE3-FA5E-40DC-84A4-4F9997D473AB}"/>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FDD0FAE0-51DB-48C6-A871-17809BCFD2E5}"/>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9C22CB40-C1C6-43C9-AA81-DF409BD9381D}"/>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75D6CD49-41B4-4569-966B-D48ABF224C9C}"/>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F24C6DAD-210E-40E1-B0AD-9D3F09CB8C1A}"/>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D2DD84A1-EF37-4B73-B1D6-7B9892478997}"/>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EECD83BF-D8E0-4992-BC5A-BC70612F1874}"/>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45FA3A69-F7A4-4943-9DEB-F01E2CF4E193}"/>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7B9E1727-00B6-4CBF-8F35-880750355F84}"/>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2FA535B6-A4C7-4BF5-9E50-13461F220026}"/>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AA5E9831-A5E6-4F00-8A23-E662A02818B5}"/>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E9767D52-EA44-4D33-BF68-017F49348115}"/>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91432487-43AC-43FD-B5F7-C1E599F70A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6535719"/>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CFBF1A0-DBCC-440F-9010-BB179DF16E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5">
            <a:extLst xmlns:a="http://schemas.openxmlformats.org/drawingml/2006/main">
              <a:ext uri="{FF2B5EF4-FFF2-40B4-BE49-F238E27FC236}">
                <a16:creationId xmlns:a16="http://schemas.microsoft.com/office/drawing/2014/main" id="{2BC5AB60-A05D-47B7-B507-2B0B3F3A1C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Skill 지침과 실제 작업 기록의 대응">
            <a:extLst xmlns:a="http://schemas.openxmlformats.org/drawingml/2006/main">
              <a:ext uri="{FF2B5EF4-FFF2-40B4-BE49-F238E27FC236}">
                <a16:creationId xmlns:a16="http://schemas.microsoft.com/office/drawing/2014/main" id="{3C2D2A5A-F868-4F6F-99CE-423FF6C4E0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30287C21-A711-4589-A8D0-8669B2426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1B656F7-F25D-46F5-B2D9-E901740BD6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기록에서 확인한 지침·행동의 대응</a:t>
            </a:r>
          </a:p>
        </p:txBody>
      </p:sp>
      <p:sp>
        <p:nvSpPr>
          <p:cNvPr id="7" name="">
            <a:extLst xmlns:a="http://schemas.openxmlformats.org/drawingml/2006/main">
              <a:ext uri="{FF2B5EF4-FFF2-40B4-BE49-F238E27FC236}">
                <a16:creationId xmlns:a16="http://schemas.microsoft.com/office/drawing/2014/main" id="{45044288-B738-4BB0-9ABC-AB74EC53615E}"/>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D217296E-6564-41E6-8204-C89F538AFBFA}"/>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B42C0397-D0EE-43FB-A83E-0E65BE943F14}"/>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43728D9C-2C9D-4ED0-9C2C-3F634D043981}"/>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9C8CCB39-9769-4A80-9ADF-54A226227B55}"/>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0779B8AC-0D2E-48FE-BB0E-5B3D0BDE8B30}"/>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9E9CA8AE-8FBA-4CCB-8A2F-3BCD04B07EFF}"/>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DA6B3E0A-F426-4AA7-85A7-E3B1E52DA3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28301873"/>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2ACEAFA9-7B75-413A-A1FB-CB8AA9BAC6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6">
            <a:extLst xmlns:a="http://schemas.openxmlformats.org/drawingml/2006/main">
              <a:ext uri="{FF2B5EF4-FFF2-40B4-BE49-F238E27FC236}">
                <a16:creationId xmlns:a16="http://schemas.microsoft.com/office/drawing/2014/main" id="{C04A5C42-8D2E-45BF-800C-4DB99EC106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대화로 재사용할 Skill 만들기">
            <a:extLst xmlns:a="http://schemas.openxmlformats.org/drawingml/2006/main">
              <a:ext uri="{FF2B5EF4-FFF2-40B4-BE49-F238E27FC236}">
                <a16:creationId xmlns:a16="http://schemas.microsoft.com/office/drawing/2014/main" id="{E8745C39-1193-4D19-865D-D85E8C956E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A760A79-F8B5-4264-89B0-039B446CA8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5AF8869-A353-4A9C-8D27-84329420F7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생성 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AA1BFC6D-D4EA-467E-B262-F5EC9154E3E5}"/>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42314F48-EA2A-4367-BAB1-3445C6717D69}"/>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CF995486-0266-4F90-BF66-FFDF7B38CF95}"/>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E5A64F4E-85A7-454A-B4B1-76E4167A18D6}"/>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5FDB066B-AD17-46DA-A692-665E741B3E52}"/>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0BB83D51-FFAA-4E12-8B90-94F75023D770}"/>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A8F80204-3B15-4F3D-9F95-FD441EF1627E}"/>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A3C11C58-5519-4F1D-B577-64E3A619DE87}"/>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BA102647-6CA6-466D-9073-CEEF76778E06}"/>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AF2A362D-22AF-4CAA-8B0A-40B9500C247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5EBB0197-BB1A-4746-B6F4-28078A851D48}"/>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3CECAF66-0A30-412A-A1FA-A11AD5A368F0}"/>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FD980013-C702-4DDF-B295-5F69D91B2A20}"/>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10AC0865-E6C6-4AB5-959D-D46D8B7B084E}"/>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0F180B88-DCAE-4DCC-A7ED-341130B06FD3}"/>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72FDDD82-8A35-4828-A33D-F028C376D50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5209319A-E819-4276-BB3D-905029BE374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079446F3-9468-4B3D-921F-96469853DF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2205712"/>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1F611DBF-9AC8-4D9A-A5E5-3A8B421A67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7">
            <a:extLst xmlns:a="http://schemas.openxmlformats.org/drawingml/2006/main">
              <a:ext uri="{FF2B5EF4-FFF2-40B4-BE49-F238E27FC236}">
                <a16:creationId xmlns:a16="http://schemas.microsoft.com/office/drawing/2014/main" id="{A30E9DD3-A546-4350-B9DB-DE06695271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절차는 재사용하고, 답은 근거로 정한다">
            <a:extLst xmlns:a="http://schemas.openxmlformats.org/drawingml/2006/main">
              <a:ext uri="{FF2B5EF4-FFF2-40B4-BE49-F238E27FC236}">
                <a16:creationId xmlns:a16="http://schemas.microsoft.com/office/drawing/2014/main" id="{34670E68-F1A6-4DE6-88E3-9FA630FBDE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E0FC5A52-71B1-4C80-8A98-10A0E711A6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66D4706-0B93-4BF1-AE6C-C573663A0B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절차·판단 예시</a:t>
            </a:r>
          </a:p>
        </p:txBody>
      </p:sp>
      <p:sp>
        <p:nvSpPr>
          <p:cNvPr id="7" name="">
            <a:extLst xmlns:a="http://schemas.openxmlformats.org/drawingml/2006/main">
              <a:ext uri="{FF2B5EF4-FFF2-40B4-BE49-F238E27FC236}">
                <a16:creationId xmlns:a16="http://schemas.microsoft.com/office/drawing/2014/main" id="{B15032B1-8E5A-43D7-BC7A-749D49EA3B65}"/>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B117027F-AF85-4529-A2A4-7AEC1190FB9E}"/>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31D0CFCE-252F-4D34-B870-204DB04FD073}"/>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1CB02A6F-E564-4C6B-A759-D3FEEA28CFA2}"/>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B6B018AE-D5A5-4872-943F-A065D0653E35}"/>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853BE884-2780-403F-9428-C674B5A992D3}"/>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148DC4EA-3516-4777-A90C-043558EB00BA}"/>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4C36239E-74EA-40E5-91DD-B5DB5B2F8983}"/>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F798C8F-4D48-4EB5-94E2-588B00DE3EB7}"/>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E2817D15-5140-403E-BD4C-DFBB5EE82B6B}"/>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08656F19-0380-4A9D-9C8F-1792A4CCD975}"/>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6D967A7E-9501-4728-8F0A-138B4C781F4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4F6F5358-F60C-44E2-B00D-F4769F048D53}"/>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0E37F4E3-3A0C-4470-B252-085984790926}"/>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A5BE3639-3018-461C-A58C-641106065AF2}"/>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D15DDF89-2E2E-4C64-A342-22E4C2EE13B1}"/>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A93355AF-835B-4A49-AB8E-C57B334376AE}"/>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BBA10B87-E575-4FCC-8552-9EDB3962E4FD}"/>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3C3105A0-6F93-4DF6-AB83-F108165B5E38}"/>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4480621F-ADEB-499D-8968-614F2AD37B4F}"/>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D59BF6C3-51A9-407A-B1C2-AE382AE46898}"/>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F8D30F1E-E5F4-4986-AFAE-2527A391A657}"/>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2A494217-88A5-489B-97D9-E065B613B5C2}"/>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D5D7438F-1C32-40D3-8F65-C1F3C2C2AB6C}"/>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CD77C979-7AA7-4949-B971-C946E3784536}"/>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443990D-001E-42F6-9504-4561CAC681C3}"/>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018BA95B-4698-46E9-884A-C8EB57AF2F76}"/>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C59142BA-91C3-4E18-87AE-B16A0CF3C8E2}"/>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713A538F-1BAA-4C27-A779-308151B1405E}"/>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9CAD22F8-E338-4CF9-A618-CB7D1AE0EFCC}"/>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4217C6FF-292A-41ED-BA29-BC4F5E31D94A}"/>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3441589B-2502-4DF4-A776-5CC294D68EF1}"/>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055C5D58-649D-47C4-AA2C-3ADB73C31F54}"/>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A2E3BEB9-B81D-4D17-8350-F5A06647665F}"/>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0AC1809C-EC5D-464E-857D-7DFC888825CB}"/>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EF8DD025-28F1-4FFF-9094-CDDA93CAC1F4}"/>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14477412-0322-489B-A8A5-87F154FAD4C0}"/>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C92CCD83-A970-438D-B35B-AF11914BF3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274262140"/>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341C6221-52D3-4A57-81D0-1E6D76DB2CF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8">
            <a:extLst xmlns:a="http://schemas.openxmlformats.org/drawingml/2006/main">
              <a:ext uri="{FF2B5EF4-FFF2-40B4-BE49-F238E27FC236}">
                <a16:creationId xmlns:a16="http://schemas.microsoft.com/office/drawing/2014/main" id="{1145DC03-7A99-4428-98B5-313F37DCE5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밝기 통계 계산의 성능 개선 후보">
            <a:extLst xmlns:a="http://schemas.openxmlformats.org/drawingml/2006/main">
              <a:ext uri="{FF2B5EF4-FFF2-40B4-BE49-F238E27FC236}">
                <a16:creationId xmlns:a16="http://schemas.microsoft.com/office/drawing/2014/main" id="{A2BBD7A2-3CC8-4A82-829C-9CFA5A80B2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2507BD04-4986-4F53-9DFF-19C2CE2DB5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8E99E0E-2F2C-4B2A-8673-DD9335B637A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후보 비교 기록 · Python 할당 피크</a:t>
            </a:r>
          </a:p>
        </p:txBody>
      </p:sp>
      <p:sp>
        <p:nvSpPr>
          <p:cNvPr id="6" name="Audience footer 2">
            <a:extLst xmlns:a="http://schemas.openxmlformats.org/drawingml/2006/main">
              <a:ext uri="{FF2B5EF4-FFF2-40B4-BE49-F238E27FC236}">
                <a16:creationId xmlns:a16="http://schemas.microsoft.com/office/drawing/2014/main" id="{2D280028-E3AC-4724-99DE-EAA2611780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다음 장의 제품 상태 측정과는 별도</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18499643-6877-456E-9226-EC00845E5FCF}"/>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3199F958-48E7-44DC-BB75-B7ACC01A8390}"/>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0F02AB91-BC2C-40BE-9E61-6E8E7958F425}"/>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0B814E5E-8835-4B94-BB59-56284CC8E7BE}"/>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0F54C1DC-5D9F-4AE3-A498-10310690B34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4804B549-48C2-4EC0-9587-30BBC482C182}"/>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DB3AB848-B773-4952-A863-9F0FE31CFB05}"/>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4BB7A240-1D08-491F-ABEB-1711946D3376}"/>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57451FB-9D85-4446-9F18-D38E83BB644B}"/>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80F6646A-8B86-4451-A680-2DA11364D237}"/>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B71DE323-5FCB-44E0-8CBE-BA24981EEF7B}"/>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8E289BCC-FCCA-412B-8D79-1DC8879356A0}"/>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C98108C-8E2B-47AD-8FA9-D122D804BD7D}"/>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6F477673-CBBC-4717-8F3C-62FC0AEBD928}"/>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68ED3890-CA96-4EA9-8230-A360C713949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D9DFBC58-4F48-46F5-B746-661ED420E2F3}"/>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358CC19E-6CDF-4FCF-B0C4-0D7F7FC855EB}"/>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6881C45-BEE8-4392-89BF-FC4325A07205}"/>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02D7665E-B6AD-4CDB-9EAD-45EBFD829B02}"/>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EDA8CAE6-5A0F-475C-BDDE-55BDDCFF5776}"/>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BCAC73AC-F527-4A7F-B0A1-EB4BFEB72234}"/>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FD07366C-7486-4BDC-9F64-DF7C62F1379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F346C8BF-7A8E-452C-84F4-45A54F4DFDEE}"/>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EE427224-8DD6-48DC-9FB6-AA74D16AAD30}"/>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3F0695FF-C930-4098-848B-47A1BFCAFE72}"/>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8D0CBA1E-1384-4792-ACFF-F7DE5995B6E8}"/>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9AA3CDCA-0619-460A-B172-41B590E9A0C4}"/>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517928FB-8706-4DB5-9DC0-B9C37CF3B82B}"/>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3B7732CE-56AF-4A96-AC88-4BEB697CA5FD}"/>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B8EDA3D3-D4B1-4B4E-A9D4-85D815BC5A74}"/>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ACB771F6-F536-4322-A203-419A38D8BEC4}"/>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2C197C86-FE81-42EB-9BB6-090436D233BE}"/>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8BAAB4C8-DA18-489C-9426-18E1833FA4F7}"/>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05C7733-5FF5-4E97-904C-3B190A88DB8B}"/>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C3C02730-C107-4204-BBD6-3478DB19877D}"/>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FCC6D7DB-47D2-427A-A3BC-7C01AE9A8559}"/>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F9FADFC0-C247-462D-956B-2535C5F3D56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BFB63AEF-5DE1-4293-9E2C-5F7984A7A563}"/>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CEA0A2D3-31AF-49D2-B6F7-B716C25FA600}"/>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FDD7657C-3ACC-4C09-853C-DE17D5E73EB0}"/>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0C7BF276-3A6D-43E1-8040-2B95A8C2CE5D}"/>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00725452-F24D-4E9F-8966-5B8500E0E818}"/>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8AAB2F6-5030-4DAB-A618-9C151C7D6CD6}"/>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7CB3DAE2-F209-40EF-8D9A-3CBC903DE674}"/>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0592717C-096A-4162-AEBB-575A2D592676}"/>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5D835E47-42D0-47D4-9129-82C5A994301F}"/>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3A824A01-D7C4-4665-9B22-71D66DF6B3AE}"/>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7C87326-5DE2-4896-8B8B-ACC7733476C4}"/>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A6170200-6A3C-4C50-A7BB-8A5DB89369A8}"/>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238DD8C8-4838-476F-AF7E-BF968A4A9E4F}"/>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EC1ABEA-C88C-4894-9805-6FB7311181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029503431"/>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9E67251D-02F2-41B9-9A90-97CA1C15B9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9">
            <a:extLst xmlns:a="http://schemas.openxmlformats.org/drawingml/2006/main">
              <a:ext uri="{FF2B5EF4-FFF2-40B4-BE49-F238E27FC236}">
                <a16:creationId xmlns:a16="http://schemas.microsoft.com/office/drawing/2014/main" id="{B073BAB5-8EDA-4830-8FC5-561D2524F1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선택한 변경의 시간·메모리·동작 확인">
            <a:extLst xmlns:a="http://schemas.openxmlformats.org/drawingml/2006/main">
              <a:ext uri="{FF2B5EF4-FFF2-40B4-BE49-F238E27FC236}">
                <a16:creationId xmlns:a16="http://schemas.microsoft.com/office/drawing/2014/main" id="{5816CD82-CF4E-4DE1-A3DE-40D91990F5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8E0F674B-1550-4544-9692-11E7AA1C7B1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E851817-F973-4DBC-8202-53F6DB9F4A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1024×768 합성 입력 · Python 할당 피크(RSS 아님)</a:t>
            </a:r>
          </a:p>
        </p:txBody>
      </p:sp>
      <p:sp>
        <p:nvSpPr>
          <p:cNvPr id="6" name="Audience footer 2">
            <a:extLst xmlns:a="http://schemas.openxmlformats.org/drawingml/2006/main">
              <a:ext uri="{FF2B5EF4-FFF2-40B4-BE49-F238E27FC236}">
                <a16:creationId xmlns:a16="http://schemas.microsoft.com/office/drawing/2014/main" id="{EAD5CF9D-A461-4AA2-BB14-A78A90D10FA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해당 코드 변경의 측정 결과 · Harness/Skill 단독 효과는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20E6F5CF-8EBE-4BE6-9037-C2D8ADE17A10}"/>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399E31DC-4237-4D45-8504-866B209C5E4D}"/>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CEDABB54-2E0D-4DA4-B522-619107D9DB33}"/>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50780443-84B6-4CF6-9620-C0D6FDCD7A12}"/>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932A7648-1B2D-4AFD-9175-75D763F052C8}"/>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C1192B0-9656-4919-844F-81172FF97C8C}"/>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A7DE12A1-E34D-4910-A37B-5EF1286B7C7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9164405B-3F89-45A8-9177-5FDF1F8DEF4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827455c0690e4eac"/>
          </a:graphicData>
        </a:graphic>
      </p:graphicFrame>
      <p:sp>
        <p:nvSpPr>
          <p:cNvPr id="15" name="Python 할당 피크">
            <a:extLst xmlns:a="http://schemas.openxmlformats.org/drawingml/2006/main">
              <a:ext uri="{FF2B5EF4-FFF2-40B4-BE49-F238E27FC236}">
                <a16:creationId xmlns:a16="http://schemas.microsoft.com/office/drawing/2014/main" id="{97E39914-4177-4CF1-B841-AE5379093706}"/>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138EB851-3561-4089-8700-9BEB32EB6AF0}"/>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6BEF5145-0FCC-4575-A19C-8BF4A719AEC2}"/>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D2DABBF3-4BD8-43EF-812B-EFD59361F48D}"/>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211E1B2F-99CB-430B-A882-3EAD136E3FB0}"/>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6902BF47-FFA7-4861-9852-96160150BB1B}"/>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9845D245-FD60-47C3-94CF-637466B02A57}"/>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2C55AAF1-395D-4F4D-9C96-3CD35EB4669A}"/>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11242109-94D6-4A6C-B196-FC10B69E6C23}"/>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3DC2F084-0A4C-4124-B42A-ED1762439533}"/>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15D7BAD0-ABA8-4FA1-84BE-05DA2ABC80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551659092"/>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D701074E-24DA-41CD-BEBB-FAB3AD2BFF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70">
            <a:extLst xmlns:a="http://schemas.openxmlformats.org/drawingml/2006/main">
              <a:ext uri="{FF2B5EF4-FFF2-40B4-BE49-F238E27FC236}">
                <a16:creationId xmlns:a16="http://schemas.microsoft.com/office/drawing/2014/main" id="{900259E5-C64C-4D92-A1AE-9A51483BFA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한 Agent 조사와 Subagent 역할 분리">
            <a:extLst xmlns:a="http://schemas.openxmlformats.org/drawingml/2006/main">
              <a:ext uri="{FF2B5EF4-FFF2-40B4-BE49-F238E27FC236}">
                <a16:creationId xmlns:a16="http://schemas.microsoft.com/office/drawing/2014/main" id="{FB55453B-1552-435A-B4B1-AC3764ED5D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27D7B662-C668-472B-9854-EE5F987196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DEE72F7C-451E-4233-86A9-1400E02C8B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분리 예시 · 분담·조정 비용도 고려</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9ACA7667-70B7-4E21-9ABB-43398E96A704}"/>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732DE924-0919-41F9-9F26-1B39F6753A28}"/>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9C9A609D-E91A-44CC-8E03-E99569755900}"/>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12CFEB7A-0729-4059-A1FF-577A5A7FBDB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312F303-2B26-4D4D-A966-05D03ADF5C33}"/>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5A5A8FD4-1F28-4023-90E6-6E1C21B380DF}"/>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51686C5-A02B-456C-B08B-981992D29310}"/>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FE16DE62-A5B3-4F92-97CD-E09ADD3E3495}"/>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1D90E059-8B6C-4A3B-9FFE-26B6317CE592}"/>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1536B8C5-4F8E-4427-91E7-2AA0561EE591}"/>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84E5051E-1CA1-4A5B-96C4-73AF24EB31AA}"/>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E20B4887-E4B8-4984-BFC8-42AB20F40CD7}"/>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FA347C10-1660-4BFA-ADCA-B0EFAC9E7A68}"/>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780EFDC6-DBB9-42A2-9243-09B7AF7F73A3}"/>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FE436B36-72F0-47EA-B7D8-8944491A7135}"/>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DC981FD4-B9D0-4B08-A3E1-7F8546400411}"/>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F0BB634E-A151-4072-9035-36222DBBF746}"/>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E8A9F88E-8854-4721-B648-B0DCE4B9FA53}"/>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F119B60B-3378-44F8-96BB-DB34E2E12C3F}"/>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DA50365E-C038-4495-9B69-2D2DE272D048}"/>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EFEFD1FE-3AF5-4602-9E30-F09519CF1177}"/>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4C9260E-BCAD-434F-B141-B5357AA8B4A9}"/>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DE373C05-5990-4A14-B53C-3C1B73538EBD}"/>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498A079B-1E5B-4BBD-81AB-DE36370A3E7E}"/>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4CBC719F-D519-4E20-AC14-98C1D9CED229}"/>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E35D1989-C2B9-425D-B3BB-FE1685FDD078}"/>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9768621E-C2E9-4AC3-9A3C-E01F7EA7FA4A}"/>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56492E9E-D10C-455D-95B9-C4E95715BF91}"/>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9BF35D6B-96E2-49DC-87E3-7BBAEDB0E2D3}"/>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8993F017-5A9A-457B-B206-67E6351870D2}"/>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B52608BF-01B0-47F9-98BB-9AD8389A7C32}"/>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41519853-BCCD-4EBE-8673-65746F647148}"/>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534B3F09-7EB8-453E-ADA7-C3C8C86F3495}"/>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5B054298-0730-476E-8787-A93D7E58B252}"/>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F7F323AC-0A2A-4B2F-9C61-73818F0D712E}"/>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3458DA18-0C79-4B71-A9F7-08BCC6528650}"/>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ABE29B71-B99B-424C-A26D-F96FC85AE30F}"/>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B7107903-1130-4BCE-885F-B8C8A9007809}"/>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A2D4A32C-336A-4B54-B9BC-C53B4A962A1F}"/>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0D7A4CBC-ED78-4094-A894-C176563AEFF0}"/>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6280C2C0-7ABA-4199-9BF3-CA3094E5DC28}"/>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38034A24-E0C4-4045-92E7-120C1B22B872}"/>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7043CC60-8F3B-434B-A180-83FC979937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24588679"/>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0F8212FE-5C81-40E7-AE0C-20166CB207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71">
            <a:extLst xmlns:a="http://schemas.openxmlformats.org/drawingml/2006/main">
              <a:ext uri="{FF2B5EF4-FFF2-40B4-BE49-F238E27FC236}">
                <a16:creationId xmlns:a16="http://schemas.microsoft.com/office/drawing/2014/main" id="{E95DA9D4-18A0-4CB1-AA41-AE463FC3EE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대화로 조사 Agent 만들기">
            <a:extLst xmlns:a="http://schemas.openxmlformats.org/drawingml/2006/main">
              <a:ext uri="{FF2B5EF4-FFF2-40B4-BE49-F238E27FC236}">
                <a16:creationId xmlns:a16="http://schemas.microsoft.com/office/drawing/2014/main" id="{B541A650-6538-4C4B-B3F9-3E157B7EDC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22DCF1CA-1AE5-4C18-8613-D985D0341E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08638E0-D701-491E-84AB-F5BB3F93C3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설정·사용 예시 · 일회성 분담은 요청, 반복 역할은 설정으로 재사용</a:t>
            </a:r>
          </a:p>
        </p:txBody>
      </p:sp>
      <p:sp>
        <p:nvSpPr>
          <p:cNvPr id="7" name="01  역할을 설명해 생성 요청">
            <a:extLst xmlns:a="http://schemas.openxmlformats.org/drawingml/2006/main">
              <a:ext uri="{FF2B5EF4-FFF2-40B4-BE49-F238E27FC236}">
                <a16:creationId xmlns:a16="http://schemas.microsoft.com/office/drawing/2014/main" id="{A7A27B94-342B-41DF-AF10-2E8DE2632660}"/>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263997C0-6BFA-4DB3-BA45-2BAE70983631}"/>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3FD3128F-9F95-45F4-91C2-1D9384EBCBDC}"/>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3A4A5F5B-B8DF-4121-ABC1-66068920C9A0}"/>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961E28E8-3245-4E8E-A430-4E53F9F330C1}"/>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2997EE55-C554-4C79-82F2-FF3CD57D8104}"/>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9A8E2168-E575-479D-A2DE-00693CDF2113}"/>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26F27DB4-F22F-45A3-9FDD-4C12EE685992}"/>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832EEC7A-843C-4902-ACD8-B78326647FDF}"/>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D5E88669-A700-4873-B9F2-916AC520E046}"/>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A4E879E1-C5B1-43C8-9318-46458E3FF6E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FF17CBB8-7B44-4C03-82BC-47CFEC48AD82}"/>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54AE034A-AB12-4A2D-AD0C-5CF81BDE6AAA}"/>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F0A1C6B7-DE34-4971-AF14-04FD177F33E6}"/>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F27900BE-91DC-4E09-BA85-4AAE1B0925C0}"/>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236DD0A6-B6A4-4D96-BCCB-39F1668302E2}"/>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E4E19FF1-570C-464D-AFF5-33B188B0C99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6FA4ED9-EE2E-4F19-84B6-92474763BCE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328BC058-7B7E-4D6D-B60F-521C661350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69408860"/>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991AAC60-7FE3-4F32-85D1-DE77A0543F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72">
            <a:extLst xmlns:a="http://schemas.openxmlformats.org/drawingml/2006/main">
              <a:ext uri="{FF2B5EF4-FFF2-40B4-BE49-F238E27FC236}">
                <a16:creationId xmlns:a16="http://schemas.microsoft.com/office/drawing/2014/main" id="{BC1D5CAD-BEBE-43E0-8EB4-33D9102387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밝기 통계 작업을 나누지 않은 이유">
            <a:extLst xmlns:a="http://schemas.openxmlformats.org/drawingml/2006/main">
              <a:ext uri="{FF2B5EF4-FFF2-40B4-BE49-F238E27FC236}">
                <a16:creationId xmlns:a16="http://schemas.microsoft.com/office/drawing/2014/main" id="{7D415275-E16A-4CE9-9939-0BC4AC157E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77F7E38A-B448-4CFF-81D8-55809ACD56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34DA44A-A0FE-4290-A84F-FA48A241ED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작업에서는 역할 분리를 보류</a:t>
            </a:r>
          </a:p>
        </p:txBody>
      </p:sp>
      <p:sp>
        <p:nvSpPr>
          <p:cNvPr id="7" name="같은 밝기 통계 함수 · 같은 출력 명세">
            <a:extLst xmlns:a="http://schemas.openxmlformats.org/drawingml/2006/main">
              <a:ext uri="{FF2B5EF4-FFF2-40B4-BE49-F238E27FC236}">
                <a16:creationId xmlns:a16="http://schemas.microsoft.com/office/drawing/2014/main" id="{C928C808-144F-4F49-9E65-D7EE80F49999}"/>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B1C41C86-DBD6-48D8-8CE6-85CB56D75881}"/>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98793302-F270-45E2-8EF7-FB86CC1CBA5C}"/>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BCE861A1-040A-4C8E-9440-45BC02F29C38}"/>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5FBD09B-F42F-4BB9-9F97-B9A07F6883D2}"/>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83BD8F74-5217-4036-9B80-E1E232198CF5}"/>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5F1CD16C-5D67-4B2F-941D-A66A3F9A4047}"/>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DF81AC0C-0207-4FC6-9C3F-B31BE30DE5FC}"/>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1B2B8A54-4E1D-45EA-9272-5272FA4CDCB5}"/>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689C467A-B8C0-4D09-B77D-F29F45982862}"/>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D9D65C28-39D3-4D68-B869-DAB5FEE28525}"/>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3AAA767-B089-4538-ADEA-DAE65E672E9D}"/>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D11ABB73-44B5-429B-803B-0C13112084EE}"/>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931CA4E8-90E2-4D5D-ACD1-FABDE5DB7586}"/>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581C6866-463F-4F11-B712-4321815E7E56}"/>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73CEEBC4-8B3B-4162-B0AF-37E40DFE9409}"/>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24503441-57F7-4AF9-9882-8DC59D06A6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91741723"/>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5338E7CC-AA23-4C4B-93E4-09640C29AC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3">
            <a:extLst xmlns:a="http://schemas.openxmlformats.org/drawingml/2006/main">
              <a:ext uri="{FF2B5EF4-FFF2-40B4-BE49-F238E27FC236}">
                <a16:creationId xmlns:a16="http://schemas.microsoft.com/office/drawing/2014/main" id="{165DACF5-2256-45F0-83B0-5E35813DFF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이번 Context와 다시 쓸 지식">
            <a:extLst xmlns:a="http://schemas.openxmlformats.org/drawingml/2006/main">
              <a:ext uri="{FF2B5EF4-FFF2-40B4-BE49-F238E27FC236}">
                <a16:creationId xmlns:a16="http://schemas.microsoft.com/office/drawing/2014/main" id="{B80A0401-9F83-40AF-8FD1-732C1BB086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E100C4D9-A116-4480-B656-716B2F2A4C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1DB07525-2487-4F98-A213-6A72D8EAC7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재사용할 지식의 예시</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65E0E500-8FB3-490E-B83F-57182102E88C}"/>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05F6E61-59D5-4C48-96F0-90E7D895902A}"/>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F6EB810E-DF13-4C86-BB25-02502809634F}"/>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643B1C61-7BF6-429C-8B8C-F473AACF2F5C}"/>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EB059B34-6951-4683-9306-432761549B75}"/>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EE340CB7-6D91-4B41-99C4-898169930A8D}"/>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7626F2FC-FF42-4C70-83BF-A2BBF5474237}"/>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06F0ADCF-27A3-47D8-A5CF-FBE3FC466EDF}"/>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67F7534A-456D-49A2-90DA-A144550AB9B2}"/>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AF437811-11DD-4280-B463-6FA6F5303DBA}"/>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2C2F6EAB-ED8B-4B3F-B144-25289597D224}"/>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E44C04CE-0B16-41BE-9508-C78755134EEC}"/>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E030BAD3-188C-4513-BC6D-82E9D91FC365}"/>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83D2C49-6793-4DD2-8E1E-BD9DD9E9AE6F}"/>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B634B25-4254-47E9-A332-2011BD3519BA}"/>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3BF195C9-2C11-4385-AF83-EDB5329C10C5}"/>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1194DBBF-1752-4BAC-B44D-93EDDD04DE6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3C79A52A-2D55-41A7-8783-17F7EC0D610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816C224-31BA-4BA5-93C6-F0DCAEC843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3273602"/>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59D78628-EBD6-4772-960A-CA022694A2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4">
            <a:extLst xmlns:a="http://schemas.openxmlformats.org/drawingml/2006/main">
              <a:ext uri="{FF2B5EF4-FFF2-40B4-BE49-F238E27FC236}">
                <a16:creationId xmlns:a16="http://schemas.microsoft.com/office/drawing/2014/main" id="{47DE8C0D-9459-4C76-9326-6DE19ED817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실제 Demo 지식의 원래 출처">
            <a:extLst xmlns:a="http://schemas.openxmlformats.org/drawingml/2006/main">
              <a:ext uri="{FF2B5EF4-FFF2-40B4-BE49-F238E27FC236}">
                <a16:creationId xmlns:a16="http://schemas.microsoft.com/office/drawing/2014/main" id="{A1D9224E-BEAD-49EF-B38C-7131BEE774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08423F64-7D33-44AC-A683-171158ABA5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0290C6B4-F406-44B3-BE8F-6393C33062FE}"/>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1E34E63B-7F6D-4852-8F56-A35B070735C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EB460854-E220-4E22-8421-4B948ADED6D2}"/>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5F778DC1-8068-4CD7-826B-074760F312E4}"/>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FBF87265-BDE9-47B9-AE04-55CDF6832D34}"/>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4BD84824-D5B9-4637-811F-10983A1EF012}"/>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C30DC88E-5F98-4976-9EEE-C8C5FBEB9E6F}"/>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5400BF68-0C9B-42C6-9BD7-97700910666B}"/>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E4C2204C-3A1B-4F8D-9072-841E8146B1B5}"/>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6AA938CA-851D-461A-9D7E-3A903D492386}"/>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27010B4B-909B-4ED6-B97C-CB0E4DDAA487}"/>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83A5861-ECB5-4031-8856-77572956E78E}"/>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1684C5B-98C0-4991-8C34-117DDC636F0C}"/>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535ADF94-40AE-478A-9B50-2A3075926975}"/>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1D8E4E53-A378-4454-A16F-DC5B18B34572}"/>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AB008306-659C-41C2-9BD8-DA2341978774}"/>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D7E65FD0-C650-4367-BD0C-BB4B9512B095}"/>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011DCE08-3DA4-4D21-8CCC-61EEC58EB116}"/>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E1F71F8B-B139-40FB-91C5-F5E8032FD212}"/>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9CFE0C6E-6DAD-4003-B175-099058BE3ABE}"/>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514C66C4-78B9-47BB-BBFE-50046DF1E52C}"/>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38C1BC73-3E1C-44D6-AD42-A280F64F3B14}"/>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521EDC6C-D539-44F5-A9E4-465986912C0A}"/>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E8E84C40-A1A9-4F1D-B3D4-4C2A5A0F615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398B343A-6268-4C48-B695-3B68E9AB11DA}"/>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A1A72822-6B21-44F8-85A5-3ECA6F44C9C0}"/>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7D29651-2754-4A4E-B203-585910C55BA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EB61FA18-BF25-4DCE-8C74-FD6561DE314A}"/>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5E055D80-1328-4CD9-A8EF-EB76BDFE0F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0979019"/>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147744D8-D397-447E-858E-D57BBF9932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5">
            <a:extLst xmlns:a="http://schemas.openxmlformats.org/drawingml/2006/main">
              <a:ext uri="{FF2B5EF4-FFF2-40B4-BE49-F238E27FC236}">
                <a16:creationId xmlns:a16="http://schemas.microsoft.com/office/drawing/2014/main" id="{E15798AE-B4A3-4BB5-8B43-CA38A802F4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밝기 통계 작업에 쓰인 구성의 역할">
            <a:extLst xmlns:a="http://schemas.openxmlformats.org/drawingml/2006/main">
              <a:ext uri="{FF2B5EF4-FFF2-40B4-BE49-F238E27FC236}">
                <a16:creationId xmlns:a16="http://schemas.microsoft.com/office/drawing/2014/main" id="{5E4FEF88-F09B-4E53-B037-E811012D9F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FA7C6C1A-D1D9-4D6F-85CA-AD1097FDF0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0F167F7-4C2C-4FF1-97B0-34D02AA9ED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구성과 기록의 요약</a:t>
            </a:r>
          </a:p>
        </p:txBody>
      </p:sp>
      <p:sp>
        <p:nvSpPr>
          <p:cNvPr id="7" name="">
            <a:extLst xmlns:a="http://schemas.openxmlformats.org/drawingml/2006/main">
              <a:ext uri="{FF2B5EF4-FFF2-40B4-BE49-F238E27FC236}">
                <a16:creationId xmlns:a16="http://schemas.microsoft.com/office/drawing/2014/main" id="{62DA411D-3F77-40AB-BD03-A8BC883393D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E35D019C-DB3F-4A25-B69B-CA20D51A6664}"/>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4559AE1A-A203-4CF0-A94C-3B4D6CDB5669}"/>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128DC9FA-F6A8-4B94-8C5A-D3754FE9F9B9}"/>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CEE62680-9318-4097-9E18-EC9000C1B823}"/>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54C7E1D7-9C8C-465B-9C76-11DC95CE4A19}"/>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8143890A-18F2-485A-9A71-6E3BDF4263E2}"/>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0B31EDFB-F7FC-4A3A-AD8A-565E5228D067}"/>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E285570F-4250-41C6-8D43-57F21248C8A4}"/>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AF26F6C2-CA23-4926-9C2D-40E4A946E663}"/>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BCC94D3F-4529-411D-B559-CA51EC1474D4}"/>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A87CC5A9-92B6-4747-B34A-F743B4216642}"/>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ABE7E86E-C12C-46F2-9A51-118639E1A803}"/>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21D8A9C7-2980-4EAB-AF08-D75DDF427BE6}"/>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88C5643C-CE58-4184-84A9-D91BAA84E592}"/>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8A4D5258-2ECF-474D-ABFC-9610497FB1A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36ED5D84-8463-47AC-BEB8-3E085A90E5F9}"/>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DC9E9C64-31F3-4134-8E50-BDFB8ED1827C}"/>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BF39187A-B3D1-4138-A9B7-EE0F7B390A04}"/>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B85ADFA-D7E2-4277-A3C0-94FA2D0262E3}"/>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2960573F-67C9-42AA-8C42-684CFDB7CF53}"/>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C2411FB0-C073-4887-B24B-08D5CC39A669}"/>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6F2FB17E-1FAA-4D69-9861-A692D84C97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8212550"/>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BFA2CA3E-B87C-4842-9B4C-9F4AE3F742E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6">
            <a:extLst xmlns:a="http://schemas.openxmlformats.org/drawingml/2006/main">
              <a:ext uri="{FF2B5EF4-FFF2-40B4-BE49-F238E27FC236}">
                <a16:creationId xmlns:a16="http://schemas.microsoft.com/office/drawing/2014/main" id="{D22E64ED-22F2-44C7-ADAF-7329F2F18F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함께 작동하는 작업 환경, Harness">
            <a:extLst xmlns:a="http://schemas.openxmlformats.org/drawingml/2006/main">
              <a:ext uri="{FF2B5EF4-FFF2-40B4-BE49-F238E27FC236}">
                <a16:creationId xmlns:a16="http://schemas.microsoft.com/office/drawing/2014/main" id="{5AE0F7EC-9E14-4066-99E9-971E2AE9ED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5177AE77-E99A-4B7D-905C-6E91C62F77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6495F24B-0705-4087-9093-4B60241F1E4F}"/>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E1DC1548-4694-4F4E-B72A-1B267F19755F}"/>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87D2603-6797-42F3-BF3B-1A2EF0C046F9}"/>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86C40E41-20C1-4A1B-9872-A4E802AAEF64}"/>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DCEFB5CE-1062-48EC-85EC-E2615B77DA59}"/>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C53504C9-FB35-4AC9-98F3-3B59CC868251}"/>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939AD136-E6DB-4695-B74B-7B09DC11B2E1}"/>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32FDD75A-C5A8-49E9-8A87-43FAF1774A1D}"/>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3A14E01D-7368-48BE-AC91-A916EECADA62}"/>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5BD34FF-8CCA-49AC-827C-3829B174FA36}"/>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19C24F9D-509D-4CC0-A211-7B0861FB4A41}"/>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3B0CC7EA-1759-4DDB-8A6F-93B673CB5006}"/>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25AE70D4-7312-4F10-A683-2D99FA8D0C1F}"/>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534561F1-723F-4555-8277-22ECD9A49E7B}"/>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E0CD5E0C-488A-4A40-BA77-556D42C53BEE}"/>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C6BF3621-1C18-48A4-8F02-C0B1E1994A1C}"/>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5876F391-6947-48E0-A3C0-ADF0758D126E}"/>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0C8830C5-6F6F-458C-824B-E3A467D8030A}"/>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3FD41F3F-010C-4E43-A5BB-3EC6A71EEFB7}"/>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64ED2F43-69BB-4720-84B6-BE63862E1E5B}"/>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CA91ACAF-DE9F-46D2-B7A9-CF39F8AADDF5}"/>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F641A2B0-B8C3-4E73-B918-FEF4CC821C1A}"/>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0610D187-B3B5-4F81-81C9-C8A29D4041EB}"/>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6509B0E3-22C6-4DE9-B4F7-B7ECA815B083}"/>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E5EF08F3-AF09-4E75-943B-3E31F6812C18}"/>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3ECD3269-EC41-4C1D-B9AD-1957A376357F}"/>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79844B6E-DAC6-4EF6-AE0D-BBA13BEC9FFC}"/>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88D59BA2-D885-4D80-8B9A-CF08185A00D1}"/>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6CAB60EF-A60F-4CF8-ACDC-6970F805E2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87573233"/>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ED59F14B-C1C8-4C3C-9996-71130D889E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7">
            <a:extLst xmlns:a="http://schemas.openxmlformats.org/drawingml/2006/main">
              <a:ext uri="{FF2B5EF4-FFF2-40B4-BE49-F238E27FC236}">
                <a16:creationId xmlns:a16="http://schemas.microsoft.com/office/drawing/2014/main" id="{BDE988AA-2AFB-403B-876F-200F88613A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만든 Harness를 다음 프로젝트의 기반으로">
            <a:extLst xmlns:a="http://schemas.openxmlformats.org/drawingml/2006/main">
              <a:ext uri="{FF2B5EF4-FFF2-40B4-BE49-F238E27FC236}">
                <a16:creationId xmlns:a16="http://schemas.microsoft.com/office/drawing/2014/main" id="{A6661E97-8338-4AE3-A255-8BFB363C72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50D572CD-63EB-427F-9524-E68E3C1794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6DB08B0-B830-437F-A028-947E3CD8F9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 설계 예시</a:t>
            </a:r>
          </a:p>
        </p:txBody>
      </p:sp>
      <p:sp>
        <p:nvSpPr>
          <p:cNvPr id="7" name="">
            <a:extLst xmlns:a="http://schemas.openxmlformats.org/drawingml/2006/main">
              <a:ext uri="{FF2B5EF4-FFF2-40B4-BE49-F238E27FC236}">
                <a16:creationId xmlns:a16="http://schemas.microsoft.com/office/drawing/2014/main" id="{70A9D600-625E-447E-98B1-44641F42C2FA}"/>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9CDC7909-70DB-4803-8341-580C817306AD}"/>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03581E0A-0510-4878-8893-6D172A1C5AA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3B049A8D-482B-4822-A691-02A092F1B2B4}"/>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7DD1DCB7-E920-43CF-A5DB-FD47CD957E41}"/>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E0528317-5D69-47FB-8F02-081EEEDB8413}"/>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CF7EB25D-5316-4A5A-A101-14609467C9A9}"/>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B1F61F37-1ABA-4CF2-B4E5-19BC4683B537}"/>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A8A4A900-9648-441D-90B2-1F68F4B523E1}"/>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45E9DA8A-EAE3-4C90-BC88-4B249D09B29B}"/>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B86923DE-26AF-4524-BE10-12CFBF37593B}"/>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4BC077DC-428D-49C4-A3F7-125F8435BF3C}"/>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24CA3BB-2E9F-41BF-A807-AE32530FB7F8}"/>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0498CCD6-3C60-4D94-985D-222738B7869D}"/>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D1B051FF-EA67-4811-AE7A-7D1F2B17715C}"/>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8066D843-6995-4BB2-BC2B-C3DF44CDD621}"/>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5AE8622D-F457-47C6-99DC-E4E115E05E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3458971"/>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E7F8F110-DD3D-4D3F-963C-60F796C671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8">
            <a:extLst xmlns:a="http://schemas.openxmlformats.org/drawingml/2006/main">
              <a:ext uri="{FF2B5EF4-FFF2-40B4-BE49-F238E27FC236}">
                <a16:creationId xmlns:a16="http://schemas.microsoft.com/office/drawing/2014/main" id="{8BADA591-70C8-43A6-9BB0-DB49791988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공통 기반에 프로젝트 기준을 연결한다">
            <a:extLst xmlns:a="http://schemas.openxmlformats.org/drawingml/2006/main">
              <a:ext uri="{FF2B5EF4-FFF2-40B4-BE49-F238E27FC236}">
                <a16:creationId xmlns:a16="http://schemas.microsoft.com/office/drawing/2014/main" id="{60D659C5-D3E1-407D-8A21-6A99BE7283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562EAD4F-E50B-470A-B3A0-07B95414E8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F9D7980-BFE0-4598-8CA9-742FB606BC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프로젝트 적용 예시</a:t>
            </a:r>
          </a:p>
        </p:txBody>
      </p:sp>
      <p:sp>
        <p:nvSpPr>
          <p:cNvPr id="7" name="다시 쓰는 기반">
            <a:extLst xmlns:a="http://schemas.openxmlformats.org/drawingml/2006/main">
              <a:ext uri="{FF2B5EF4-FFF2-40B4-BE49-F238E27FC236}">
                <a16:creationId xmlns:a16="http://schemas.microsoft.com/office/drawing/2014/main" id="{7E16235D-FB18-41C0-AB98-123EEDE67E40}"/>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F2FAACC1-A401-47C9-B27A-B209C4A277D8}"/>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EC4EC1A2-2B1D-424B-AA73-8F7AF624CBF2}"/>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320E175B-02B5-45FC-86A0-67691CE1FD4F}"/>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A5A68757-A225-4BB2-8DED-CE7662C90017}"/>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4166B5AD-4118-4C49-BB57-8928D72CB1DA}"/>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6F3A6681-BA57-4E95-B45E-5F598E5F495E}"/>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5AE55C31-4013-4F07-B434-6363CD301D9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649029DA-C53F-4E01-A737-9E5EF6503CDF}"/>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DF179BD2-D60C-4A6E-B9AB-91B3E29B0F5C}"/>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C0E71B43-9B3C-48CF-B1ED-D8AC6F6C09B2}"/>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10640DD1-60E1-4017-A907-73380B1DD40C}"/>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D895D9BA-047C-4DED-BBEE-FAAD1A4E3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77377664"/>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601DF3F4-5E78-4E04-A452-826BF7AFCE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79">
            <a:extLst xmlns:a="http://schemas.openxmlformats.org/drawingml/2006/main">
              <a:ext uri="{FF2B5EF4-FFF2-40B4-BE49-F238E27FC236}">
                <a16:creationId xmlns:a16="http://schemas.microsoft.com/office/drawing/2014/main" id="{D2728EDD-AA78-4B89-9D4B-D4687882F1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6F0EA154-5902-4EF2-825B-6C09159ABC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1F95477A-B49D-4556-BCC7-3724C24C72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37334FE-E375-4602-8894-86D9160B99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확인 범위: 해당 코드·입력·환경</a:t>
            </a:r>
          </a:p>
        </p:txBody>
      </p:sp>
      <p:sp>
        <p:nvSpPr>
          <p:cNvPr id="7" name="이번 작업에서 확인">
            <a:extLst xmlns:a="http://schemas.openxmlformats.org/drawingml/2006/main">
              <a:ext uri="{FF2B5EF4-FFF2-40B4-BE49-F238E27FC236}">
                <a16:creationId xmlns:a16="http://schemas.microsoft.com/office/drawing/2014/main" id="{2B46D4FD-3F5D-443C-9D0A-06A9DE6E6FB2}"/>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46FA3124-898B-46DF-9F3A-9364D10C4DE1}"/>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FED0C2A9-4179-4840-BF5E-59423C4942B9}"/>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4D54BDF4-AA0D-4961-9B73-ED2C703A31E6}"/>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DA3FE2B8-3DE9-4FF8-AEEB-601685732D17}"/>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1F342B9B-5919-4FD4-9A5C-FB00261AC5A2}"/>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09C62368-4A6A-49E2-82AD-B27C43DD0AA7}"/>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C0D30C02-CE53-45A1-A885-8129B8BA95DC}"/>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BD9A4B81-DD8E-4500-95BD-ED0C49F386C9}"/>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29FEFB05-37B8-460B-AC5C-F01BFA0AF1FA}"/>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2CCC5613-ED3A-4CBC-A8CD-455E257B13CF}"/>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2990E1CA-90F5-4E62-AAED-73020634B1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1552751"/>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DBA10D2D-F4AD-4C69-8F3D-6803B81D0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80">
            <a:extLst xmlns:a="http://schemas.openxmlformats.org/drawingml/2006/main">
              <a:ext uri="{FF2B5EF4-FFF2-40B4-BE49-F238E27FC236}">
                <a16:creationId xmlns:a16="http://schemas.microsoft.com/office/drawing/2014/main" id="{28E56F6A-44D3-4111-A89B-BD19980DD5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첫 결과 뒤에도, 확인할 일이 남는다면?">
            <a:extLst xmlns:a="http://schemas.openxmlformats.org/drawingml/2006/main">
              <a:ext uri="{FF2B5EF4-FFF2-40B4-BE49-F238E27FC236}">
                <a16:creationId xmlns:a16="http://schemas.microsoft.com/office/drawing/2014/main" id="{25069F7E-917C-43FC-88F3-25E0FBFF6D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707268C9-FFAB-4CAD-985F-9DB5C36379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42A5D2EA-36CE-47CA-AE9A-C7D13E86DC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
            <a:extLst xmlns:a="http://schemas.openxmlformats.org/drawingml/2006/main">
              <a:ext uri="{FF2B5EF4-FFF2-40B4-BE49-F238E27FC236}">
                <a16:creationId xmlns:a16="http://schemas.microsoft.com/office/drawing/2014/main" id="{8E2DEED9-620D-4E86-90BD-04891311CCF3}"/>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20174336-411D-43C8-BC4B-D68AB1277E8C}"/>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DFCCA9C3-626C-4A71-9058-97142C470252}"/>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2CED9AD1-0046-4076-B597-78FFAE069CCB}"/>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1E3E3BF7-8CE8-4D38-A0C4-23D6F1BC38D4}"/>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A2DF0CD4-B945-4C4A-8306-766EECA5EDD8}"/>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17F94AB3-EA8E-4F07-887A-8022310CFBD0}"/>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1D0F1771-1166-4124-A2DC-7558426610BE}"/>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71CF82B7-D94B-4E13-AE5C-5A6CB0EB01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34753849"/>
      </p:ext>
    </p:extLst>
  </p:cSld>
</p:sld>
</file>

<file path=ppt/slides/slide2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DB8EAE0F-FEF1-4DCC-935B-702972A0C2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81">
            <a:extLst xmlns:a="http://schemas.openxmlformats.org/drawingml/2006/main">
              <a:ext uri="{FF2B5EF4-FFF2-40B4-BE49-F238E27FC236}">
                <a16:creationId xmlns:a16="http://schemas.microsoft.com/office/drawing/2014/main" id="{ED59A314-20FA-45C2-B521-5519379314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남은 문제를 다음 수정으로 이어주는 사람">
            <a:extLst xmlns:a="http://schemas.openxmlformats.org/drawingml/2006/main">
              <a:ext uri="{FF2B5EF4-FFF2-40B4-BE49-F238E27FC236}">
                <a16:creationId xmlns:a16="http://schemas.microsoft.com/office/drawing/2014/main" id="{7FAF5A0B-0581-4E98-ACBA-3F37B2C8C6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6238E411-C12A-4F4B-85C7-8506A72D78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DB62F4EC-3131-45E7-9DB9-F98A3C9323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A93BBF47-C8BC-4BD7-88D3-4A7505AD92E1}"/>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088A864F-A333-4A0E-AA67-A42FB837258E}"/>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9D4194F1-15E9-4707-A301-4A9232C29437}"/>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6EF9E37A-54A8-47D4-92FF-59BBC2451307}"/>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F84F51C7-196A-4884-B5F0-A5A18700D1F8}"/>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008A513E-9B38-44C7-9A07-239A59B36C83}"/>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00470F37-8249-4B11-B32C-D00A5CC7CF7A}"/>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7FD3C73D-0F27-4336-B064-E18B1C74351C}"/>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6B5D777B-9B7A-4A2D-B655-3C78CA3EBDAC}"/>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82DEA325-BF77-4368-B813-EF671DB4F165}"/>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99904979-DFA7-4254-AE01-418FFCDDDFA8}"/>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D197C587-CC54-4BD4-B18E-5C9596BFFB88}"/>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CDA4692C-E0F6-4464-BA82-D15E9F930031}"/>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E32BD2CC-5FF3-4F4D-8048-420FBF1956CE}"/>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653C60D3-52C0-4603-8D18-3AD448CF811A}"/>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EE7530AC-4132-4276-AF19-C3EC9F3EE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60539278"/>
      </p:ext>
    </p:extLst>
  </p:cSld>
</p:sld>
</file>

<file path=ppt/slides/slide2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E4880A8D-B7E4-4349-996D-C2C309E9BE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82">
            <a:extLst xmlns:a="http://schemas.openxmlformats.org/drawingml/2006/main">
              <a:ext uri="{FF2B5EF4-FFF2-40B4-BE49-F238E27FC236}">
                <a16:creationId xmlns:a16="http://schemas.microsoft.com/office/drawing/2014/main" id="{C4F74048-8DF2-4175-B2A7-5814D9E323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같은 목표의 수정과 검토가 끊기지 않게">
            <a:extLst xmlns:a="http://schemas.openxmlformats.org/drawingml/2006/main">
              <a:ext uri="{FF2B5EF4-FFF2-40B4-BE49-F238E27FC236}">
                <a16:creationId xmlns:a16="http://schemas.microsoft.com/office/drawing/2014/main" id="{179350F9-E644-4A49-AC7D-576703749A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6657D10E-8B9D-4288-9FCF-FE2D952A93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07D3DBD-5D0C-45DB-86F4-C27FF47F91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반복 운영 설계</a:t>
            </a:r>
          </a:p>
        </p:txBody>
      </p:sp>
      <p:sp>
        <p:nvSpPr>
          <p:cNvPr id="7" name="Harness가 제공하는 것">
            <a:extLst xmlns:a="http://schemas.openxmlformats.org/drawingml/2006/main">
              <a:ext uri="{FF2B5EF4-FFF2-40B4-BE49-F238E27FC236}">
                <a16:creationId xmlns:a16="http://schemas.microsoft.com/office/drawing/2014/main" id="{AB1BA328-B74B-4434-88A4-5AA1BBFB5DAE}"/>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FFB712AE-DC70-4B5B-99E7-0386768C67C4}"/>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501ACA4C-5E1F-49EA-9F0A-CC0FA4487593}"/>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4C25869E-5283-4FD4-83F9-C7C3FC6C4AA1}"/>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164065EB-12BA-45FA-B45D-25250BC96616}"/>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C76CAE02-5137-4D5B-A8A5-91E380DFEB05}"/>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4DB4C8D5-7469-4D6E-B02E-E058F0799BCF}"/>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DB485765-85A9-4835-A0F7-1AC56E968A01}"/>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FD9B8E6F-A71D-4D5F-A779-5B9D5BB406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1233814411"/>
      </p:ext>
    </p:extLst>
  </p:cSld>
</p:sld>
</file>

<file path=ppt/slides/slide2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9E280D5D-7C61-4535-841E-1CB41312C8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3">
            <a:extLst xmlns:a="http://schemas.openxmlformats.org/drawingml/2006/main">
              <a:ext uri="{FF2B5EF4-FFF2-40B4-BE49-F238E27FC236}">
                <a16:creationId xmlns:a16="http://schemas.microsoft.com/office/drawing/2014/main" id="{F2A6531D-F63A-4C94-85F7-EADE5430CF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다음 수정에 넘길 기록">
            <a:extLst xmlns:a="http://schemas.openxmlformats.org/drawingml/2006/main">
              <a:ext uri="{FF2B5EF4-FFF2-40B4-BE49-F238E27FC236}">
                <a16:creationId xmlns:a16="http://schemas.microsoft.com/office/drawing/2014/main" id="{4E1B12BA-3EE6-4D10-AAAC-6848FED600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9B474BE6-17EF-4CD2-80CB-9ABDB0009F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B2546C5-F1D4-4094-AC94-7A76D4A706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Memory는 필수가 아님</a:t>
            </a:r>
          </a:p>
        </p:txBody>
      </p:sp>
      <p:sp>
        <p:nvSpPr>
          <p:cNvPr id="7" name="">
            <a:extLst xmlns:a="http://schemas.openxmlformats.org/drawingml/2006/main">
              <a:ext uri="{FF2B5EF4-FFF2-40B4-BE49-F238E27FC236}">
                <a16:creationId xmlns:a16="http://schemas.microsoft.com/office/drawing/2014/main" id="{2B3DF651-92F0-4588-AA2A-2C5AD139A8EB}"/>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2A76792A-4290-4CB7-8497-3EA858DFF4ED}"/>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21ADC764-1335-42B3-B21B-5EFED7E2D00F}"/>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7F9F0662-BB1B-47BB-8F59-E2A07C4CAD67}"/>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70D1F434-8629-4F89-953F-742A1DAD6CD2}"/>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BC7A1E26-5F88-4AE8-9CE0-258C8E105C8B}"/>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1998652F-62FF-41E0-B3B2-60B58F517E4A}"/>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4EDD277E-D6D6-4DF5-9E1C-6F357EF9E2F8}"/>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615CAA30-767D-4255-84CB-2D1091725312}"/>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45F56C15-334C-4CFC-B9AD-983AF5CDC29E}"/>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48C658AF-7F4F-4B37-9A8E-06BCC09C2A43}"/>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13F7C10F-0D90-4D84-B5A0-962E372AA93D}"/>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E515BB44-B479-43DE-AE4C-ACF181514ED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67C61AFD-096B-40E4-B25E-983D41AF1A9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94F042FF-B307-41D6-8AF6-1B079831C5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347806055"/>
      </p:ext>
    </p:extLst>
  </p:cSld>
</p:sld>
</file>

<file path=ppt/slides/slide2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BDAAB57D-3517-412D-8856-5DD46AF5A8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4">
            <a:extLst xmlns:a="http://schemas.openxmlformats.org/drawingml/2006/main">
              <a:ext uri="{FF2B5EF4-FFF2-40B4-BE49-F238E27FC236}">
                <a16:creationId xmlns:a16="http://schemas.microsoft.com/office/drawing/2014/main" id="{CC129508-261E-4B73-97CF-3804536072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내가 매번 이어 주는 다음 단계는 무엇일까?">
            <a:extLst xmlns:a="http://schemas.openxmlformats.org/drawingml/2006/main">
              <a:ext uri="{FF2B5EF4-FFF2-40B4-BE49-F238E27FC236}">
                <a16:creationId xmlns:a16="http://schemas.microsoft.com/office/drawing/2014/main" id="{794FE785-2A03-459A-8B73-78D7BBFF16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A04B8A24-5EE1-4D87-8722-712204C66A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722298A-C886-4838-B231-8F4B7B0220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검토">
            <a:extLst xmlns:a="http://schemas.openxmlformats.org/drawingml/2006/main">
              <a:ext uri="{FF2B5EF4-FFF2-40B4-BE49-F238E27FC236}">
                <a16:creationId xmlns:a16="http://schemas.microsoft.com/office/drawing/2014/main" id="{1710A4B0-71B0-466D-804B-382A682BA956}"/>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34822D5F-DD8E-4BF6-AE26-FCC61A51D659}"/>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FFFA849C-8366-447D-BBD3-DAAE3E2CAB25}"/>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421C5E3C-1ED5-421D-AB3E-609DA6A9206F}"/>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D844FA85-592C-4CEC-8F34-341A4933E445}"/>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A0FB8176-4433-42F0-BE31-C831EF848891}"/>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1824A8E7-2961-44EF-AD6B-2976CD2E6712}"/>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4F17AC39-8328-4891-80DC-8389E91812B8}"/>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8271F9F5-3018-4C62-8B8E-EC8E06EA4F60}"/>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381DDD9B-F87B-418B-8F14-1CAB68692429}"/>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5BDD851F-DDEC-43F0-A238-D924BB5FF5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831459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26</ap:Slides>
  <ap:Notes>26</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2026-10-25T12:49:15.0930000Z</dcterms:created>
  <dcterms:modified xsi:type="dcterms:W3CDTF">2026-10-25T12:49:15.0930000Z</dcterms:modified>
</coreProperties>
</file>