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c4b7eeb0a9b4604" /><Relationship Type="http://schemas.openxmlformats.org/officeDocument/2006/relationships/extended-properties" Target="/docProps/app.xml" Id="Rdc5efecea8ec4b33" /><Relationship Type="http://schemas.openxmlformats.org/officeDocument/2006/relationships/officeDocument" Target="/ppt/presentation.xml" Id="R5f4ece90aa7f4dd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6a15f8542244124"/>
  </p:sldMasterIdLst>
  <p:notesMasterIdLst>
    <p:notesMasterId xmlns:r="http://schemas.openxmlformats.org/officeDocument/2006/relationships" r:id="R6a13859794ac4f03"/>
  </p:notesMasterIdLst>
  <p:sldIdLst>
    <p:sldId xmlns:r="http://schemas.openxmlformats.org/officeDocument/2006/relationships" id="256" r:id="R5d7681c6d1734039"/>
    <p:sldId xmlns:r="http://schemas.openxmlformats.org/officeDocument/2006/relationships" id="257" r:id="R6a35a14d583844cc"/>
    <p:sldId xmlns:r="http://schemas.openxmlformats.org/officeDocument/2006/relationships" id="258" r:id="R9f122eb5411b45e7"/>
    <p:sldId xmlns:r="http://schemas.openxmlformats.org/officeDocument/2006/relationships" id="259" r:id="Raff8d8165a2345d9"/>
    <p:sldId xmlns:r="http://schemas.openxmlformats.org/officeDocument/2006/relationships" id="260" r:id="R1096376def7b4d37"/>
    <p:sldId xmlns:r="http://schemas.openxmlformats.org/officeDocument/2006/relationships" id="261" r:id="R9c9062ab13d84c3b"/>
    <p:sldId xmlns:r="http://schemas.openxmlformats.org/officeDocument/2006/relationships" id="262" r:id="R2afc051254654070"/>
    <p:sldId xmlns:r="http://schemas.openxmlformats.org/officeDocument/2006/relationships" id="263" r:id="R5febcdc057bc4365"/>
    <p:sldId xmlns:r="http://schemas.openxmlformats.org/officeDocument/2006/relationships" id="264" r:id="R15af7c99d603439f"/>
    <p:sldId xmlns:r="http://schemas.openxmlformats.org/officeDocument/2006/relationships" id="265" r:id="R381c4bb2be094bd9"/>
    <p:sldId xmlns:r="http://schemas.openxmlformats.org/officeDocument/2006/relationships" id="266" r:id="R9d6fda266f684b71"/>
    <p:sldId xmlns:r="http://schemas.openxmlformats.org/officeDocument/2006/relationships" id="267" r:id="R5bf52e8812a34a62"/>
    <p:sldId xmlns:r="http://schemas.openxmlformats.org/officeDocument/2006/relationships" id="268" r:id="R69e5aff31aba4e55"/>
    <p:sldId xmlns:r="http://schemas.openxmlformats.org/officeDocument/2006/relationships" id="269" r:id="R626be4499e6241d8"/>
    <p:sldId xmlns:r="http://schemas.openxmlformats.org/officeDocument/2006/relationships" id="270" r:id="R170f153ff0824795"/>
    <p:sldId xmlns:r="http://schemas.openxmlformats.org/officeDocument/2006/relationships" id="271" r:id="R96ca726998dc4e0c"/>
    <p:sldId xmlns:r="http://schemas.openxmlformats.org/officeDocument/2006/relationships" id="272" r:id="R3c5109c6c5bb4768"/>
    <p:sldId xmlns:r="http://schemas.openxmlformats.org/officeDocument/2006/relationships" id="273" r:id="R7f87cd406228450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4287c1bc63d44fe" /><Relationship Type="http://schemas.openxmlformats.org/officeDocument/2006/relationships/slideMaster" Target="/ppt/slideMasters/slideMaster1.xml" Id="Rf6a15f8542244124" /><Relationship Type="http://schemas.openxmlformats.org/officeDocument/2006/relationships/notesMaster" Target="/ppt/notesMasters/notesMaster1.xml" Id="R6a13859794ac4f03" /><Relationship Type="http://schemas.openxmlformats.org/officeDocument/2006/relationships/presProps" Target="/ppt/presProps.xml" Id="R96c30743e2bb48f3" /><Relationship Type="http://schemas.openxmlformats.org/officeDocument/2006/relationships/tableStyles" Target="/ppt/tableStyles.xml" Id="Rb459aa7418b145b4" /><Relationship Type="http://schemas.openxmlformats.org/officeDocument/2006/relationships/slide" Target="/ppt/slides/slide1.xml" Id="R5d7681c6d1734039" /><Relationship Type="http://schemas.openxmlformats.org/officeDocument/2006/relationships/slide" Target="/ppt/slides/slide2.xml" Id="R6a35a14d583844cc" /><Relationship Type="http://schemas.openxmlformats.org/officeDocument/2006/relationships/slide" Target="/ppt/slides/slide3.xml" Id="R9f122eb5411b45e7" /><Relationship Type="http://schemas.openxmlformats.org/officeDocument/2006/relationships/slide" Target="/ppt/slides/slide4.xml" Id="Raff8d8165a2345d9" /><Relationship Type="http://schemas.openxmlformats.org/officeDocument/2006/relationships/slide" Target="/ppt/slides/slide5.xml" Id="R1096376def7b4d37" /><Relationship Type="http://schemas.openxmlformats.org/officeDocument/2006/relationships/slide" Target="/ppt/slides/slide6.xml" Id="R9c9062ab13d84c3b" /><Relationship Type="http://schemas.openxmlformats.org/officeDocument/2006/relationships/slide" Target="/ppt/slides/slide7.xml" Id="R2afc051254654070" /><Relationship Type="http://schemas.openxmlformats.org/officeDocument/2006/relationships/slide" Target="/ppt/slides/slide8.xml" Id="R5febcdc057bc4365" /><Relationship Type="http://schemas.openxmlformats.org/officeDocument/2006/relationships/slide" Target="/ppt/slides/slide9.xml" Id="R15af7c99d603439f" /><Relationship Type="http://schemas.openxmlformats.org/officeDocument/2006/relationships/slide" Target="/ppt/slides/slide10.xml" Id="R381c4bb2be094bd9" /><Relationship Type="http://schemas.openxmlformats.org/officeDocument/2006/relationships/slide" Target="/ppt/slides/slide11.xml" Id="R9d6fda266f684b71" /><Relationship Type="http://schemas.openxmlformats.org/officeDocument/2006/relationships/slide" Target="/ppt/slides/slide12.xml" Id="R5bf52e8812a34a62" /><Relationship Type="http://schemas.openxmlformats.org/officeDocument/2006/relationships/slide" Target="/ppt/slides/slide13.xml" Id="R69e5aff31aba4e55" /><Relationship Type="http://schemas.openxmlformats.org/officeDocument/2006/relationships/slide" Target="/ppt/slides/slide14.xml" Id="R626be4499e6241d8" /><Relationship Type="http://schemas.openxmlformats.org/officeDocument/2006/relationships/slide" Target="/ppt/slides/slide15.xml" Id="R170f153ff0824795" /><Relationship Type="http://schemas.openxmlformats.org/officeDocument/2006/relationships/slide" Target="/ppt/slides/slide16.xml" Id="R96ca726998dc4e0c" /><Relationship Type="http://schemas.openxmlformats.org/officeDocument/2006/relationships/slide" Target="/ppt/slides/slide17.xml" Id="R3c5109c6c5bb4768" /><Relationship Type="http://schemas.openxmlformats.org/officeDocument/2006/relationships/slide" Target="/ppt/slides/slide18.xml" Id="R7f87cd406228450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1e50b85b7f14e0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259a527cb2542e9" /><Relationship Type="http://schemas.openxmlformats.org/officeDocument/2006/relationships/notesMaster" Target="/ppt/notesMasters/notesMaster1.xml" Id="R2f72e90ea70342a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d823d84b91648d0" /><Relationship Type="http://schemas.openxmlformats.org/officeDocument/2006/relationships/notesMaster" Target="/ppt/notesMasters/notesMaster1.xml" Id="Rc2af41c37b9d474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bc3383bc15c45b1" /><Relationship Type="http://schemas.openxmlformats.org/officeDocument/2006/relationships/notesMaster" Target="/ppt/notesMasters/notesMaster1.xml" Id="R74faff666d654aa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3a413b31f7d48d8" /><Relationship Type="http://schemas.openxmlformats.org/officeDocument/2006/relationships/notesMaster" Target="/ppt/notesMasters/notesMaster1.xml" Id="Rb0ac968e5f9e424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89261ce7b3440dc" /><Relationship Type="http://schemas.openxmlformats.org/officeDocument/2006/relationships/notesMaster" Target="/ppt/notesMasters/notesMaster1.xml" Id="Ree7036d2b9ea420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af7a61296824dea" /><Relationship Type="http://schemas.openxmlformats.org/officeDocument/2006/relationships/notesMaster" Target="/ppt/notesMasters/notesMaster1.xml" Id="Rcd1ae413d46c4a0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bb784dd4a9641a6" /><Relationship Type="http://schemas.openxmlformats.org/officeDocument/2006/relationships/notesMaster" Target="/ppt/notesMasters/notesMaster1.xml" Id="R7d6061ef0b834ed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5a16fa9e4c749f5" /><Relationship Type="http://schemas.openxmlformats.org/officeDocument/2006/relationships/notesMaster" Target="/ppt/notesMasters/notesMaster1.xml" Id="R5de9ed2d993248e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40fcbe218884d26" /><Relationship Type="http://schemas.openxmlformats.org/officeDocument/2006/relationships/notesMaster" Target="/ppt/notesMasters/notesMaster1.xml" Id="Rcc43f85ff9b2436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0b5c39587304c45" /><Relationship Type="http://schemas.openxmlformats.org/officeDocument/2006/relationships/notesMaster" Target="/ppt/notesMasters/notesMaster1.xml" Id="R4de2d56f734e4ec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ce696924fa8446c" /><Relationship Type="http://schemas.openxmlformats.org/officeDocument/2006/relationships/notesMaster" Target="/ppt/notesMasters/notesMaster1.xml" Id="Rd5c2fb46fa7c4a2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134d1f2849140b6" /><Relationship Type="http://schemas.openxmlformats.org/officeDocument/2006/relationships/notesMaster" Target="/ppt/notesMasters/notesMaster1.xml" Id="Ra42e678d706c459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0e6beec63ba4ea7" /><Relationship Type="http://schemas.openxmlformats.org/officeDocument/2006/relationships/notesMaster" Target="/ppt/notesMasters/notesMaster1.xml" Id="R9bf9914e02dc433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8ef62fbcbbb482e" /><Relationship Type="http://schemas.openxmlformats.org/officeDocument/2006/relationships/notesMaster" Target="/ppt/notesMasters/notesMaster1.xml" Id="R13470c8fb75e41d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c2826e136f24769" /><Relationship Type="http://schemas.openxmlformats.org/officeDocument/2006/relationships/notesMaster" Target="/ppt/notesMasters/notesMaster1.xml" Id="R75a445e4ed3643b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8fcdd6d6b104d82" /><Relationship Type="http://schemas.openxmlformats.org/officeDocument/2006/relationships/notesMaster" Target="/ppt/notesMasters/notesMaster1.xml" Id="Rea53f8f406f5475f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de955e22870f4060" /><Relationship Type="http://schemas.openxmlformats.org/officeDocument/2006/relationships/notesMaster" Target="/ppt/notesMasters/notesMaster1.xml" Id="R30830bd49fc14b38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d34fc5e3c1e941e7" /><Relationship Type="http://schemas.openxmlformats.org/officeDocument/2006/relationships/notesMaster" Target="/ppt/notesMasters/notesMaster1.xml" Id="Re9b132b443b34f0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S50 — 두 실제 요청에 같은 절차가 반복됐다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두 실제 요청에 같은 절차가 반복됐다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Case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서로 다른 두 성능 요청의 조사·계획·변경·검증 지시가 반복됐다. ACT3에서는 이 방법과 실행·검증 환경을 유지하는 문제를 다룬다.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“목표가 달라도 왜 같은 작업 방법을 다시 요청할까?”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S49의 절차 유지 질문을 회수하고 Harness를 작업 방법과 실행·검증 환경 설계라고 짧게 안내한다. 완성 구조를 먼저 제시하지 않는다.</a:t>
            </a:r>
          </a:p>
          <a:p xmlns:a="http://schemas.openxmlformats.org/drawingml/2006/main">
            <a:r>
              <a:t>2. (1:00–4:00) 크기 변경과 픽셀값 정규화의 기존 삽화는 기능 설명용임을 밝히고, A의 실제 요청 발췌 번역과 B의 보존 요청 요약을 세 행으로 대응한다.</a:t>
            </a:r>
          </a:p>
          <a:p xmlns:a="http://schemas.openxmlformats.org/drawingml/2006/main">
            <a:r>
              <a:t>3. (4:00–5:00) 반복 지시와 관찰 실행을 구분하고 전역 Harness 영향 때문에 Prompt 단독 효과 귀속은 PARTIAL임을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TRIAL-006 Actual Prompt and Repeated Workflow Elements; TRIAL-007 retained Task Prompt summary / plan/DEMO_MATRIX.md; DEC-0017, DEC-0060. A is translated excerpt; B is translated retained summary, not verbatim full prompt. Functional images are approved AI-generated teaching illustrations. No new execution.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유사한 절차가 관찰됐지만 Prompt만의 효과로 귀속하지 않는다. 개별 성능 결과는 해당 코드·입력·환경에 한정한다. 그림은 기능 설명용 개념 예시이며 Trial의 입력·출력 파일이나 최적화 전후 결과가 아니다. DEC-0062는 기존 관찰·측정 조건과 효과 미입증 경계를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서로 다른 작업에서도 조사하고 확인하는 순서가 반복될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Task별 목표와 지속해서 재사용할 절차를 구분하고, Global Harness가 미친 영향을 고려한다. 기존 삽화의 기능 예(0–4095→0–255,2048→128)는 교육용 정규화 설명으로만 유지한다. 실제 Trial 입력/출력·성능 전후를 표시한 것이 아니다. 화면에서는 기능 목표만 짚고 지시 비교에 집중한다.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정적 기본 경로 — 기존 기능 삽화와 실제 요청 발췌/보존 요약의 세 행 대응을 유지한다. 상단에 Harness의 짧은 방향 안내만 추가하고 완성 구조는 후반에 둔다. 현재 제품이나 Demo repository를 실행하지 않는다. 새 Trial·비교 측정을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필수 실습·공개 답변 없이 화면의 핵심 관계를 따라오게 한다. 장별 기존 시간·Mode 안에서 짧은 예측 질문만 사용한다.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“반복된 것은 명령 하나뿐일까요? 그 명령을 언제 쓰고 결과로 무엇을 판단할지도 보겠습니다.”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Case5분: 방향/과제1, 두 기록 대응3, 한계/전환1.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production/ACT_3.pptx / S50, production/preview/act3/S50.png 및 production/preview/full/S50.png. 실제 캡처·현재 제품 실행이 아닌 표시된 기록 요약/가정/모델의 범위로 설명한다. 최종 파일 대조는 production/evaluation/ACT_3_FLOW_REVISION.md를 따른다.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DEC-0062의 근거·19필드·운영 순서를 정렬했다. 최종 패키지/PNG/내장 Notes 대조는 production/evaluation/ACT_3_FLOW_REVISION.md에 기록한다. Windows / room / product-account / timed rehearsal: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S51 — 테스트 명령을 언제 쓰고 무엇을 판단할까?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S51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테스트 명령을 언제 쓰고 무엇을 판단할까?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테스트 명령·명세·측정 방법을 작업의 어느 시점에 사용하고, 그 결과로 무엇을 판단할지 함께 정한다. 이 수행 방법도 AGENTS.md에 기록할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“같은 테스트 명령을 변경 전과 변경 후에 실행하면 각각 무엇을 확인할까?”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(0:00–0:45) S50의 두 요청에서 반복된 방법을 회수한다. normalize 성능 조사를 예로 들고 상단의 테스트 실행 방법·동작 명세·측정 방법은 프로젝트에서 확인할 정보임을 짚는다.</a:t>
            </a:r>
          </a:p>
          <a:p xmlns:a="http://schemas.openxmlformats.org/drawingml/2006/main">
            <a:r>
              <a:t>2. (0:45–2:15) 변경 전과 변경 후의 같은 테스트 실행 표시를 차례로 가리킨다. 전자는 원래 상태, 후자는 변경 영향을 확인하려는 것이다. 성능도 같은 입력·조건으로 비교할 기준을 먼저 확보한다. 테스트 결과가 명세 전체의 충족을 자동 보장하지는 않는다.</a:t>
            </a:r>
          </a:p>
          <a:p xmlns:a="http://schemas.openxmlformats.org/drawingml/2006/main">
            <a:r>
              <a:t>3. (2:15–3:15) 완료 판단에서 동작 보존과 측정 결과, 미확인 사항을 함께 보고하도록 연결한다. 기존 실패나 근거 부족이 있으면 원인·범위를 먼저 확인하고 필요하면 변경을 보류한다. 화면은 실제 로그나 새 실행 결과가 아니다.</a:t>
            </a:r>
          </a:p>
          <a:p xmlns:a="http://schemas.openxmlformats.org/drawingml/2006/main">
            <a:r>
              <a:t>4. (3:15–4:00) 명령뿐 아니라 사용 시점과 판단 기준까지 수행 방법에 포함됨을 회수한다. 이 내용도 AGENTS.md에 쓸 수 있다. 저장 위치 선택은 아직 답하지 않고 S52의 이번 목표·프로젝트 기준·수행 방법 결합으로 넘어간다.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BEAT-019; plan/DEMO_MATRIX.md의 TRIAL-006/007 반복 요청과 보존 조건; DEC-0062, DEC-0063. TEACHING_MODEL / CONCEPTUAL. normalize는 기존 기능 예시이며 화면은 해당 Trial의 정확한 실행 순서나 AGENTS.md 원문을 재현한 것이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기존 TEACHING_MODEL / CONCEPTUAL 범위를 유지한다. 실제 PASS/FAIL·수치·Agent 실행 trace를 제시하지 않는다. Context와 절차는 배타적인 파일 분류가 아니며 AGENTS.md에도 방법을 기록할 수 있다. 테스트 성공만으로 명세 전체 충족을 증명하거나 Skill 필수성·우월성·토큰 절감·Harness 단독 효과를 주장하지 않는다. 제품 기능이나 현재 Desktop 동작의 검증 근거로 사용하지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같은 테스트 명령을 실행해도 변경 전에는 원래 상태를, 변경 후에는 내 변경의 영향을 확인한다. 언제 실행하고 무엇을 확인할지도 요청이나 재사용할 방법에 적는다.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기존 실패와 변경 후 결과를 구분하고 같은 조건의 측정과 미확인 범위를 함께 보고해야 한다. 명령·명세의 출처와 이를 사용하는 수행 방법은 함께 관리할 수 있으며 위치 선택 자체가 실행 준수나 인과성을 보장하지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STATIC TEACHING DIAGRAM — 상단 정보 묶음에서 아래 세 시점으로 내려가는 연결을 먼저 짚는다. 같은 테스트 실행 표시 두 개와 서로 다른 확인 질문을 대응한 뒤 완료 판단으로 이동한다. 실제 실행 화면·새 측정·현재 제품 사용은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Opening Question은 발표자가 짧게 던지고 세 시점의 질문으로 설명한다. 답변 대기나 별도 Q&amp;A 시간을 추가하지 않고 Lecture4분 안에서 진행한다.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“지금 본 수행 방법을 이번 요청의 목표, 프로젝트 기준과 함께 놓아 보겠습니다.”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Lecture4분: 반복 요청·상단 정보0.75, 변경 전/후1.5, 완료 판단1, S52 연결0.75. 시간이 부족하면 기존 실패의 확장 예를 줄이고 같은 명령/다른 질문과 교육용 경계는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production/ACT_3.pptx / S51, production/preview/act3/S51.png 및 production/preview/full/S51.png. 실제 실행 캡처가 아닌 교육용 수행 예시다. 최종 패키지·PNG·내장 Notes 확인은 production/evaluation/S51_COMMAND_WORKFLOW_REVISION.md를 따른다.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ALIGNED — DEC-0063의 교육용 경계·19필드·운영 흐름을 정렬했다. 실제 파일 렌더·Notes 대조 결과는 production/evaluation/S51_COMMAND_WORKFLOW_REVISION.md에 별도 기록한다. Windows / room / product-account / timed rehearsal: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S52 — 목표·기준·방법을 한 작업에 적용한다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S52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목표·기준·방법을 한 작업에 적용한다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normalize 성능 조사라는 이번 목표를, 기존 이미지 동작·공개 명세를 보존하는 범위에서, 재사용할 측정·조사·검증·비교 방법을 적용해 수행한다.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“이번 목표를 향해 작업할 때, 무엇을 지키고 어떤 방법으로 진행할까?”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S51에서 명령의 사용 시점·판단 기준까지 정한 방법을 봤음을 한 문장으로 회수한다. 상단 이번 목표 ‘normalize 성능을 조사해줘’를 읽고, 아래 작업 영역으로 들어가는 연결을 짚는다. S51의 전/후 실행을 다시 강의하지 않는다.</a:t>
            </a:r>
          </a:p>
          <a:p xmlns:a="http://schemas.openxmlformats.org/drawingml/2006/main">
            <a:r>
              <a:t>2. (1:00–2:30) 작업을 감싸는 프로젝트 기준 테두리를 따라 기존 이미지 동작과 공개 명세 보존을 설명한다. 성능 조사라는 목표가 명세 변경의 허가가 되지는 않는다. 중앙은 그 범위 안에서 normalize 구현을 조사하고 변경 여부를 판단하는 한 작업이다.</a:t>
            </a:r>
          </a:p>
          <a:p xmlns:a="http://schemas.openxmlformats.org/drawingml/2006/main">
            <a:r>
              <a:t>3. (2:30–4:00) 오른쪽 재사용할 수행 방법에서 중앙 작업으로 향하는 연결을 짚는다. 앞서 본 측정·조사·검증·비교 방법을 이번 목표와 기준에 맞게 적용한다. 방법의 저장 파일이나 Skill 호출을 미리 답하지 않는다. 근거가 부족하면 변경하지 않는 판단도 가능하다.</a:t>
            </a:r>
          </a:p>
          <a:p xmlns:a="http://schemas.openxmlformats.org/drawingml/2006/main">
            <a:r>
              <a:t>4. (4:00–5:00) 목표는 바뀌어도 프로젝트 기준과 같은 수행 방법은 다음 관련 작업에서도 다시 필요할 수 있음을 묻는다. S53에서 반복할 방법을 어디에서 유지할지 선택하도록 연결한다.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BEAT-019; plan/DEMO_MATRIX.md의 TRIAL-006/007 목표·보존 조건·반복 요청; DEC-0062, DEC-0063, DEC-0064. TEACHING_MODEL / CONCEPTUAL. 실제 요청을 그대로 실행한 기록이나 새로운 normalize Trial이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목표·기준·수행 방법의 관계는 교육용 모델이며 제품의 공식 분류나 Harness 전체 정의가 아니다. 테두리는 수행 의무를 설명하며 기술적 강제 장치·준수 보장이나 명세 충족의 증명이 아니다. 세 책임은 같은 문서에도 담을 수 있다. 새 실행 결과, 성능 수치, Skill 필수성·우월성, 토큰 절감, Harness 단독 효과, 현재 Desktop 재현을 주장하지 않는다. 기존 실제 Trial의 관찰·귀속 한계를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무엇을 할지 정해도 기존 동작과 명세는 지켜야 한다. 그 범위 안에서 이미 정한 조사·확인 방법을 적용하는 것이 화면 중앙의 한 작업이다.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목표와 보존할 기준, 재사용할 방법은 함께 적용되지만 수명·갱신 책임은 다를 수 있다. 성능 목표가 공개 명세 변경을 자동 허용하지 않으며, 재사용 절차도 작업에 맞게 선택·적용해야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STATIC TEACHING DIAGRAM — 목표에서 작업 영역으로, 테두리의 보존 기준에서 내부 normalize 작업으로, 오른쪽 수행 방법에서 같은 작업으로 가리킨다. 마지막에 하단 재사용 질문을 짚는다. 실제 실행·새 Trial·비교 측정을 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발표자가 ‘이번 목표가 성능 조사라면 기존 동작도 마음대로 바꿔도 될까요?’를 짧게 던진 뒤 기준 테두리로 답한다. 별도 Q&amp;A나 실습을 추가하지 않고 Lecture5분 안에서 진행한다.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“같은 수행 방법이 다음 작업에도 필요하다면, 어디에서 함께 유지할까요?”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Lecture5분: S51 회수·목표1, 기준·한 작업1.5, 방법 적용1.5, S53 재사용 질문1. 시간이 부족하면 다른 Task 예시는 생략하고 세 요소가 같은 작업에 적용된다는 관계와 교육용 경계를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production/ACT_3.pptx / S52, production/preview/act3/S52.png 및 production/preview/full/S52.png. 실제 실행 캡처가 아닌 교육용 관계 도식이다. 최종 패키지·PNG·내장 Notes 확인은 production/evaluation/S52_TASK_COMPOSITION_REVISION.md를 따른다.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ALIGNED — DEC-0064의 교육용 경계·19필드·5분 운영 흐름을 정렬했다. 실제 파일 렌더·Notes 대조는 production/evaluation/S52_TASK_COMPOSITION_REVISION.md에 별도 기록한다. Windows / room / product-account / timed rehearsal: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S53 — 반복 절차의 유지 위치를 선택한다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S53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반복 절차의 유지 위치를 선택한다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3C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Task별 목표·제약·허용 범위는 요청에 남기고 반복 절차를 프로젝트가 유지할 단위로 옮기는 선택을 검토한다. 이 사례의 구현 후보는 Repository Skill이다.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“Task마다 달라지는 요청과 함께 고칠 절차를 어떻게 나눌까?”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(0:00–1:30) 함수·변경 범위·보존 조건처럼 Task마다 달라지는 부분을 짚는다.</a:t>
            </a:r>
          </a:p>
          <a:p xmlns:a="http://schemas.openxmlformats.org/drawingml/2006/main">
            <a:r>
              <a:t>2. (1:30–3:00) 기준선·조사·변경 판단·검증·비교·보고를 함께 고칠 방법으로 묶고 SKILL.md 후보를 제시한다.</a:t>
            </a:r>
          </a:p>
          <a:p xmlns:a="http://schemas.openxmlformats.org/drawingml/2006/main">
            <a:r>
              <a:t>3. (3:00–4:00) DEC-0017의 선택과 대상 제품 표면 확인을 구분하고 다음 실제 기록으로 넘어간다.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DEC-0017, BEAT-020/021, TRIAL-006/007/008. Skill 선택은 ACCEPTED; 동작 근거는 뒤의 TRIAL-008에 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여기서는 설계 질문과 후보만 소개한다. 현재 Desktop/계정에서 이용 가능하다고 보장하거나 Skill 우월성을 주장하지 않는다. DEC-0062는 기존 관찰·측정 조건과 효과 미입증 경계를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같은 방법을 매번 Prompt에 복사하는 대신 프로젝트가 소유하는 위치를 검토할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반복 근거에 따른 workflow 소유권 선택과 실제 발견·호출 증거를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정적 기본 경로 — Task마다 달라지는 요청 → 프로젝트가 재사용할 절차. SKILL.md는 구현 후보로만 제시하고 실행 성공은 다음 장에 둔다. 현재 제품이나 Demo repository를 실행하지 않는다. 새 Trial·비교 측정을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필수 실습·공개 답변 없이 화면의 핵심 관계를 따라오게 한다. 장별 기존 시간·Mode 안에서 짧은 예측 질문만 사용한다.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“이 구조가 실제 기록에서는 어떻게 발견되고 호출됐는지 확인하겠습니다.”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Lecture4분: 현재 요청1.5, 유지할 방법1.5, 선택 범위/전환1.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production/ACT_3.pptx / S53, production/preview/act3/S53.png 및 production/preview/full/S53.png. 실제 캡처·현재 제품 실행이 아닌 표시된 기록 요약/가정/모델의 범위로 설명한다. 최종 파일 대조는 production/evaluation/ACT_3_FLOW_REVISION.md를 따른다.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DEC-0062의 근거·19필드·운영 순서를 정렬했다. 최종 패키지/PNG/내장 Notes 대조는 production/evaluation/ACT_3_FLOW_REVISION.md에 기록한다. Windows / room / product-account / timed rehearsal: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S54 — Skill의 발견과 본문 포함을 확인했다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S54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Skill의 발견과 본문 포함을 확인했다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3C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Demo 5 minutes (HYBRID planned; activation unverified)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TRIAL-008의 CLI 목록에서 이름과 설명을 발견하고, 밝기 통계 작업 목표와 함께 명시 호출했으며, 실행 trace에 경로와 전체 본문이 포함된 것을 확인했다. 별도 load UI 이벤트는 없었다.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“반복 방법을 담은 Skill이 이번 작업에 포함됐다는 것을 무엇으로 확인했을까?”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크기 변경·정규화 다음에도 재사용할 수 있는 밝기 통계(image_statistics)의 시간/할당량 조사라는 목적을 소개한다. 새로 실행한 Task가 아니다.</a:t>
            </a:r>
          </a:p>
          <a:p xmlns:a="http://schemas.openxmlformats.org/drawingml/2006/main">
            <a:r>
              <a:t>2. (1:00–2:30) /skills 목록의 이름·잘린 설명과 명시적 $graypipe-performance 호출을 설명한다. 목록에는 파일 경로가 없었다.</a:t>
            </a:r>
          </a:p>
          <a:p xmlns:a="http://schemas.openxmlformats.org/drawingml/2006/main">
            <a:r>
              <a:t>3. (2:30–4:00) 실행 trace에 이름·경로·전체 Skill 본문이 포함된 관찰을 짚는다. 별도 UI load 이벤트나 모든 지침 준수의 증명으로 표현하지 않는다.</a:t>
            </a:r>
          </a:p>
          <a:p xmlns:a="http://schemas.openxmlformats.org/drawingml/2006/main">
            <a:r>
              <a:t>4. (4:00–5:00) CLI0.154.0, 성공한 계정/모델 실행의 범위와 현재 Desktop/암묵 호출 미검증을 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TRIAL-008, DEC-0017, BEAT-021. Codex CLI 0.154.0, 명시적 호출, disposable workspace. 시각 자료는 기록의 재구성이다. DEC-0062 원문/관찰 대조: plan/DEMO_MATRIX.md TRIAL-008 Skill Discovery/Invocation/Load Evidence/Verification 및 Prompt Responsibility Shift; STATE-04:.agents/skills/graypipe-performance/SKILL.md. 경로는 selector가 아니라 실행 trace에서 확인됐다.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Product UI 스크린샷이나 현재 Codex Desktop 동작으로 표현하지 않는다. Skill path는 selector가 아니라 실행 trace에서 확인됐다. Implicit invocation은 테스트하지 않았다. DEC-0062는 기존 관찰·측정 조건과 효과 미입증 경계를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기록된 CLI 실행에서 Skill을 목록으로 찾고, 호출 표기를 입력해 사용했다.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Selector의 발견 증거와 실행 context의 본문 증거를 구별한다. 다른 surface·계정에 일반화하지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정적 기본 경로 — 세 관찰 행: /skills의 이름·설명 / 명시 호출+밝기 통계 목표 / 실행 trace의 경로·본문. 기록 요약임을 표시한다. 현재 제품이나 Demo repository를 실행하지 않는다. Live/Hybrid는 대상 표면·계정·권한·fallback 확인 전 비활성이다.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필수 실습·공개 답변 없이 화면의 핵심 관계를 따라오게 한다. 장별 기존 시간·Mode 안에서 짧은 예측 질문만 사용한다.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“본문이 포함됐다는 사실과, 지침에 대응하는 작업 기록을 다음 장에서 구분해 보겠습니다.”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Demo5분(정적 기록 기본): 목적1, 발견·호출1.5, 본문 근거1.5, 범위/전환1. 실제 Live/Hybrid는 활성화 전 미검증.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production/ACT_3.pptx / S54, production/preview/act3/S54.png 및 production/preview/full/S54.png. 실제 캡처·현재 제품 실행이 아닌 표시된 기록 요약/가정/모델의 범위로 설명한다. 최종 파일 대조는 production/evaluation/ACT_3_FLOW_REVISION.md를 따른다.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DEC-0062의 근거·19필드·운영 순서를 정렬했다. 최종 패키지/PNG/내장 Notes 대조는 production/evaluation/ACT_3_FLOW_REVISION.md에 기록한다. Windows / room / product-account / timed rehearsal: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S55 — Skill의 지침과 관찰된 작업을 대응한다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S55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Skill의 지침과 관찰된 작업을 대응한다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3C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6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Demo 3 minutes (HYBRID planned; activation unverified) + Case 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TRIAL-007의 긴 요청이 담던 공통 절차를 TRIAL-008은 명시 호출한 Skill에 두었다. 기준선·계획·같은 조건의 검증 지침과 보존된 관찰 기록을 대응하되 Skill 단독 인과성을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“Skill에 적힌 절차와 실제로 기록된 작업은 어떻게 대응됐을까?”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 / Demo) normalize와 밝기 통계는 다른 Task이며 성능 우열 비교가 아님을 밝힌다. TRIAL-007은 긴 요청, TRIAL-008은 Task 목표·6항목 보존·변경 범위+Skill 호출이었다.</a:t>
            </a:r>
          </a:p>
          <a:p xmlns:a="http://schemas.openxmlformats.org/drawingml/2006/main">
            <a:r>
              <a:t>2. (1:00–3:00 / Demo) 기준선/계획/동일 조건 검증의 실제 Skill 발췌와 보존된 관찰 요약을 행별로 대응한다. 실제 CLI 화면이나 원문 실행 로그가 아닌 표임을 밝힌다.</a:t>
            </a:r>
          </a:p>
          <a:p xmlns:a="http://schemas.openxmlformats.org/drawingml/2006/main">
            <a:r>
              <a:t>3. (3:00–5:00 / Case) 본문 포함과 각 작업 관찰이 서로 다른 근거임을 짚는다. visible plan은 Skill의 when-task/interface-calls-for 조건과 실제 요청에 맞는 범위다.</a:t>
            </a:r>
          </a:p>
          <a:p xmlns:a="http://schemas.openxmlformats.org/drawingml/2006/main">
            <a:r>
              <a:t>4. (5:00–6:00 / Case) 절차의 책임 이동을 회수하고 모든 지침 준수·단독 인과성·토큰 절약·속도 향상으로 확대하지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TRIAL-007/008, DEC-0017, BEAT-021. 관찰된 CLI 기록을 요약한 비교. DEC-0062 원문/관찰 대조: plan/DEMO_MATRIX.md TRIAL-008 Skill Discovery/Invocation/Load Evidence/Verification 및 Prompt Responsibility Shift; STATE-04:.agents/skills/graypipe-performance/SKILL.md. 경로는 selector가 아니라 실행 trace에서 확인됐다. 발췌의 전체 조건: State a concise plan before making edits when the task or working interface calls for a visible plan. / Repeat the same benchmark with the same input and settings, check its correctness guard, run a suitable user-facing smoke check when relevant, inspect git diff --check, and review the final diff for scope and unintended changes. 표는 생략부호가 있는 원문 발췌와 관찰 요약이며 raw log가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Skill 우월성, 속도 향상, token/character 절감은 입증되지 않았다. Prompt 구조와 다른 전역 요인의 인과 효과를 따로 분리하지 않는다. DEC-0062는 기존 관찰·측정 조건과 효과 미입증 경계를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반복되는 절차를 저장한 위치를 바꿔도 각 작업의 목표는 Prompt에 남는다.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절차의 재사용 설계와 Prompt 길이·효율의 측정 주장을 혼동하지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정적 기본 경로 — Native 두 열 표: Skill 원문 세 발췌 ↔ TRIAL-008 기준선/계획/검증 관찰 요약. 다른 목표·Task 제약과 책임 이동을 상하 문구로 유지한다. 현재 제품이나 Demo repository를 실행하지 않는다. Live/Hybrid는 대상 표면·계정·권한·fallback 확인 전 비활성이다.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필수 실습·공개 답변 없이 화면의 핵심 관계를 따라오게 한다. 장별 기존 시간·Mode 안에서 짧은 예측 질문만 사용한다.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“재사용할 지침을 정했어도, 어떤 구현이 맞는지는 이번 근거로 판단해야 합니다.”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Demo3분 + Case3분. 요청 구조1, 원문/관찰 대응2, 근거 구분2, 한계/전환1.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production/ACT_3.pptx / S55, production/preview/act3/S55.png 및 production/preview/full/S55.png. 실제 캡처·현재 제품 실행이 아닌 표시된 기록 요약/가정/모델의 범위로 설명한다. 최종 파일 대조는 production/evaluation/ACT_3_FLOW_REVISION.md를 따른다.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DEC-0062의 근거·19필드·운영 순서를 정렬했다. 최종 패키지/PNG/내장 Notes 대조는 production/evaluation/ACT_3_FLOW_REVISION.md에 기록한다. Windows / room / product-account / timed rehearsal: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S56 — 절차는 재사용하고, 답은 근거로 정한다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S56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절차는 재사용하고, 답은 근거로 정한다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Skill은 편집 전 재현 가능한 기준선, 검증·비교와 변경 보류 조건을 담는다. 알고리즘·측정값·trade-off는 Task별 근거로 결정하고 정답이나 Trial 수치를 미리 넣지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“Skill에 고정할 방법과 이번 Task에서 정할 답은 무엇일까?”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Skill에 둔 재현 가능한 기준선·검증·비교·변경 보류 방법을 가리킨다. 원문 Establish a reproducible baseline before editing.의 뜻을 보존한다.</a:t>
            </a:r>
          </a:p>
          <a:p xmlns:a="http://schemas.openxmlformats.org/drawingml/2006/main">
            <a:r>
              <a:t>2. (1:00–2:00) 알고리즘·실제 측정값·trade-off는 이번 Task에서 정할 답임을 설명한다.</a:t>
            </a:r>
          </a:p>
          <a:p xmlns:a="http://schemas.openxmlformats.org/drawingml/2006/main">
            <a:r>
              <a:t>3. (2:00–3:00) no-change 문장을 읽고 변경이 정당화되지 않으면 보류도 유효한 판단임을 말한 뒤 후보 선택으로 넘어간다.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TRIAL-008, `graypipe-performance` Skill, DEC-0017, BEAT-022. OBSERVED_PRODUCT / TEACHING_MODEL. 보존 원문: Establish a reproducible baseline before editing. / A measured result that does not justify a change is a valid no-change conclusion.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절차 재사용은 관찰됐지만 Skill이 더 나은 최적화 답을 제공한다는 근거는 아니다. Workflow는 task 결과를 고정하지 않는다. DEC-0062는 기존 관찰·측정 조건과 효과 미입증 경계를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작업 순서는 재사용할 수 있지만, 어떤 답이 맞는지는 매번 확인해야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Input, runtime, benchmark, trade-off를 procedure definition과 섞지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정적 기본 경로 — Skill에 둘 방법과 이번에 정할 답을 두 패널로 대조한다. no-change 지침 원문을 별도로 발췌한다. 현재 제품이나 Demo repository를 실행하지 않는다. 새 Trial·비교 측정을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필수 실습·공개 답변 없이 화면의 핵심 관계를 따라오게 한다. 장별 기존 시간·Mode 안에서 짧은 예측 질문만 사용한다.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“그렇다면 밝기 통계의 구현 후보는 어떤 근거로 선택했을까요?”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Lecture3분: 방법1, 이번 판단1, no-change/전환1.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production/ACT_3.pptx / S56, production/preview/act3/S56.png 및 production/preview/full/S56.png. 실제 캡처·현재 제품 실행이 아닌 표시된 기록 요약/가정/모델의 범위로 설명한다. 최종 파일 대조는 production/evaluation/ACT_3_FLOW_REVISION.md를 따른다.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DEC-0062의 근거·19필드·운영 순서를 정렬했다. 최종 패키지/PNG/내장 Notes 대조는 production/evaluation/ACT_3_FLOW_REVISION.md에 기록한다. Windows / room / product-account / timed rehearsal: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S57 — 후보는 시간·할당량·동작을 함께 보고 고른다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S57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후보는 시간·할당량·동작을 함께 보고 고른다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Case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TRIAL-008에서는 결과 6항목을 보존한 후보들의 실행시간과 traced allocation을 함께 봤다. 느린 수동 순회는 제외하고 낮은 할당량과 더 나은 실행시간의 행 단위 reduction을 선택했다.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“메모리를 적게 쓰는 후보라면 곧바로 선택해도 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밝기 통계의 후보 선택 단계이며 다음 장의 제품 상태 전후 benchmark와 별도임을 밝힌다.</a:t>
            </a:r>
          </a:p>
          <a:p xmlns:a="http://schemas.openxmlformats.org/drawingml/2006/main">
            <a:r>
              <a:t>2. (1:00–3:00) 같은 결과6항목을 지킨 두 후보의 시간/할당량 trade-off를 정성적으로 비교한다. 수동 순회는 낮은 할당량만으로 선택하지 않았다.</a:t>
            </a:r>
          </a:p>
          <a:p xmlns:a="http://schemas.openxmlformats.org/drawingml/2006/main">
            <a:r>
              <a:t>3. (3:00–4:00) 행 단위 built-in reduction 후보를 선택한 근거를 말하되 알고리즘 구현 설명으로 확장하지 않는다.</a:t>
            </a:r>
          </a:p>
          <a:p xmlns:a="http://schemas.openxmlformats.org/drawingml/2006/main">
            <a:r>
              <a:t>4. (4:00–5:00) 합성 입력·환경 범위와 Skill이 정답을 공급한 것이 아님을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TRIAL-008 candidate comparison; `image_statistics`; synthetic 1024×768 image, CPython 3.9.6 / macOS 26.6.2 arm64; same six-field correctness guard.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정확한 candidate 수치는 표시하지 않는다. Candidate 결과를 S58의 formal state benchmark와 섞지 않는다. Skill이 algorithm이나 결과를 만들었다고 하지 않는다. DEC-0062는 기존 관찰·측정 조건과 효과 미입증 경계를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적은 메모리만 보고 선택하지 않고 같은 조건에서 실행시간과 정확성을 함께 확인했다.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Candidate comparison과 named product-state before/after 측정은 Evidence 단계가 다르다.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정적 기본 경로 — 후보 두 행의 정성 비교와 같은 결과6항목 확인. 정확한 후보 수치는 추가하지 않는다. 현재 제품이나 Demo repository를 실행하지 않는다. 새 Trial·비교 측정을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필수 실습·공개 답변 없이 화면의 핵심 관계를 따라오게 한다. 장별 기존 시간·Mode 안에서 짧은 예측 질문만 사용한다.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“후보 선택 기록을 남기고, 실제 제품 상태에 반영한 변경을 별도의 기준에서 확인하겠습니다.”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Case5분: 단계/범위1, 두 후보2, 선택1, 한계/전환1.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production/ACT_3.pptx / S57, production/preview/act3/S57.png 및 production/preview/full/S57.png. 실제 캡처·현재 제품 실행이 아닌 표시된 기록 요약/가정/모델의 범위로 설명한다. 최종 파일 대조는 production/evaluation/ACT_3_FLOW_REVISION.md를 따른다.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DEC-0062의 근거·19필드·운영 순서를 정렬했다. 최종 패키지/PNG/내장 Notes 대조는 production/evaluation/ACT_3_FLOW_REVISION.md에 기록한다. Windows / room / product-account / timed rehearsal: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S58 — 선택한 변경을 같은 조건에서 검증했다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S58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선택한 변경을 같은 조건에서 검증했다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Case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STATE-04→STATE-04-PERF 밝기 통계 변경은 기록된 입력·환경에서 동작 검사와 같은 조건의 측정을 거쳤다. 기존 수치와 검사 결과를 유지하고 Harness/Skill의 단독 인과효과와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“선택한 코드 변경의 동작과 성능을 어떤 근거로 확인했을까?”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앞 장의 후보 비교와 정식 STATE-04 기준에서 반영한 제품 변경의 측정을 구분한다.</a:t>
            </a:r>
          </a:p>
          <a:p xmlns:a="http://schemas.openxmlformats.org/drawingml/2006/main">
            <a:r>
              <a:t>2. (1:00–2:30) 기존0축 native chart의 중앙값15.468→10.769ms/call을 동일 입력·상태별7회 측정으로 설명한다.</a:t>
            </a:r>
          </a:p>
          <a:p xmlns:a="http://schemas.openxmlformats.org/drawingml/2006/main">
            <a:r>
              <a:t>3. (2:30–3:30) 별도 tracemalloc 호출의6,675,804→380bytes와 임시 평탄화 리스트 제거를 연결하되 RSS나 전체 메모리 절감으로 확대하지 않는다.</a:t>
            </a:r>
          </a:p>
          <a:p xmlns:a="http://schemas.openxmlformats.org/drawingml/2006/main">
            <a:r>
              <a:t>4. (3:30–5:00) 함수 테스트1/1, 전체11/11, CLI, 입력·결과6항목 확인과 기록된 범위를 설명한다. Harness/Skill 단독 원인이 아니라 코드 변경 결과다.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`plan/DEMO_MATRIX.md` STEP 07 §§191–200, STATE-04 → STATE-04-PERF; `plan/CLAIM_FREEZE.md` §8; DEC-0019. Baseline `822f1c12c5f602d934a2fd29e48f05bf498b4bfa`, result `6153b81c0187dd7d82c88bd1817fb683c98eb431`; `image_statistics`; deterministic synthetic 1024×768, 786,432 pixels, max255; CPython3.9.6 / macOS26.6.2 arm64; same input fingerprint, seven one-call samples per state. Median 15.468→10.769 ms/call; separate tracemalloc call peak 6,675,804→380 bytes; six-field result guard, focused1/1, full11/11, CLI smoke PASS. TRIAL-008 is candidate history only.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숫자는 이 입력, 코드 경로, host, runtime, 측정 조건에 한정한다. `tracemalloc`은 Python allocation peak이지 RSS가 아니다. Harness나 Skill이 성능 향상을 일으켰다고 하지 않는다. DEC-0062는 기존 관찰·측정 조건과 효과 미입증 경계를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바뀐 코드가 맞는지 Test와 같은 benchmark로 확인한 기록이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Observed product change와 시스템 구성요소의 단독 인과를 분리한다.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정적 기본 경로 — 기존 native 실행시간 chart와 Python 할당 피크·검증 행을 유지하고 제목/요약을 한국어 판단 중심으로 정렬한다. 현재 제품이나 Demo repository를 실행하지 않는다. 새 Trial·비교 측정을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필수 실습·공개 답변 없이 화면의 핵심 관계를 따라오게 한다. 장별 기존 시간·Mode 안에서 짧은 예측 질문만 사용한다.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“이 작업에 더 필요했던 구조도 있었을까요? 역할을 나누는 선택부터 검토하겠습니다.”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Case5분: 측정 단계1, 실행시간1.5, 할당량1, 동작 확인·한계·전환1.5.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production/ACT_3.pptx / S58, production/preview/act3/S58.png 및 production/preview/full/S58.png. 실제 캡처·현재 제품 실행이 아닌 표시된 기록 요약/가정/모델의 범위로 설명한다. 최종 파일 대조는 production/evaluation/ACT_3_FLOW_REVISION.md를 따른다.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DEC-0062의 근거·19필드·운영 순서를 정렬했다. 최종 패키지/PNG/내장 Notes 대조는 production/evaluation/ACT_3_FLOW_REVISION.md에 기록한다. Windows / room / product-account / timed rehearsal: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S59 — 독립 조사를 나누면 무엇이 달라질까?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S59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독립 조사를 나누면 무엇이 달라질까?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Demo 3 minutes (VISUAL) + Q&amp;A 1 minute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독립 조사와 별도 Context의 가치가 있고 결과 형식·전달 지점·통합 책임을 정할 수 있다면 역할 분리를 검토한다. C++ Vision 사례는 교육용 가정이며 조정·중복·전달·통합 비용을 함께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“한 Agent에 모인 조사 중 서로 기다리지 않아도 되는 부분은 무엇일까?”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 / Demo) 화면은 실제 Demo가 아닌 C++ Vision 독립 조사 가정임을 먼저 밝힌다. Subagent는 역할별로 필요한 Context를 나눠 조사하는 방식으로 설명한다.</a:t>
            </a:r>
          </a:p>
          <a:p xmlns:a="http://schemas.openxmlformats.org/drawingml/2006/main">
            <a:r>
              <a:t>2. (1:00–3:00 / Demo) 성능 경로·빌드·테스트 조사가 서로 기다리지 않아도 된다는 가정과 주 Agent의 결과 통합을 연결한다. 결과 형식·전달 지점·책임, 조정·중복·Context 전달·통합 비용을 설명한다.</a:t>
            </a:r>
          </a:p>
          <a:p xmlns:a="http://schemas.openxmlformats.org/drawingml/2006/main">
            <a:r>
              <a:t>3. (3:00–4:00 / Q&amp;A) 어떤 조사들이 실제로 독립적인지 선택 질문을 받는다. 답변은 강제하지 않고 무질문이면 독립성 확인을 회수한다.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TEACHING_MODEL / CONCEPTUAL — 기존 S60의 C++ 독립 조사 가정과 BEAT-023–025 / INV-MATURITY-007. DEC-0018의 실제 보류 판단은 S60으로 옮겨 유지한다. 새 Subagent 실행은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CONCEPTUAL CASE / TEACHING MODEL — 기존 C++ 역할 분리 가정을 먼저 설명한다. 실제 Subagent 실행·이득·현재 제품 기능의 관찰이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역할별 Agent가 필요한 Context로 독립 조사를 맡고 주 Agent가 결과를 모으는 방식을 가정해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Context 격리·역할 독립성이 주는 가치와 조정·중복 조사·Context 전달·결과 통합 비용을 함께 판단한다. 병렬 이득은 측정하지 않았다.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CONTEXTUAL — 기존 C++ 성능 경로·빌드 환경·테스트 구조의 독립 조사 가정이다. 실제 C++ 구현이나 Subagent 실행은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정적 기본 경로 — 명시적 CONCEPTUAL C++ 성능/빌드/테스트 독립 조사 세 패널 → 주 Agent의 통합·최종 검토. 미측정 이득을 표시하지 않는다. 현재 제품이나 Demo repository를 실행하지 않는다. 새 Trial·비교 측정을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필수 실습·공개 답변 없이 화면의 핵심 관계를 따라오게 한다. Q&amp;A는 무질문 예비 질문과 cutoff를 적용한다.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“그 기준을 방금 밝기 통계 작업에 적용하면, 나누는 것이 필요했을까요?”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Demo3분(VISUAL 가정) → Q&amp;A1분. 실제 실행·병렬 이득 측정·Live 사용법을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production/ACT_3.pptx / S59, production/preview/act3/S59.png 및 production/preview/full/S59.png. 실제 캡처·현재 제품 실행이 아닌 표시된 기록 요약/가정/모델의 범위로 설명한다. 최종 파일 대조는 production/evaluation/ACT_3_FLOW_REVISION.md를 따른다.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DEC-0062의 근거·19필드·운영 순서를 정렬했다. 최종 패키지/PNG/내장 Notes 대조는 production/evaluation/ACT_3_FLOW_REVISION.md에 기록한다. Windows / room / product-account / timed rehearsal: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S60 — 이번 작업은 나눌 근거가 충분했을까?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S60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이번 작업은 나눌 근거가 충분했을까?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1 minute + Demo 2 minutes (VISUAL) + Q&amp;A 1 minute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현재 작업은 같은 성능 경로·명세를 공유하고 조사→변경→검증의 의존성이 높았다. 별도 Context 이득과 결과 통합 비용을 검토한 결과 Subagent를 추가하지 않았다.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“밝기 통계 작업의 조사·변경·검증을 실제로 독립시킬 수 있었을까?”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 / Lecture) 앞 장의 독립성·필요 Context·전달 형식·통합 책임 기준을 회수한다.</a:t>
            </a:r>
          </a:p>
          <a:p xmlns:a="http://schemas.openxmlformats.org/drawingml/2006/main">
            <a:r>
              <a:t>2. (1:00–3:00 / Demo) 현재 작업의 조사→변경→검증이 같은 성능 경로와 명세를 공유하고 앞 결과에 의존함을 도식으로 설명한다. DEC-0018 판단을 읽는 정적 visual이며 Agent 실행이 아니다.</a:t>
            </a:r>
          </a:p>
          <a:p xmlns:a="http://schemas.openxmlformats.org/drawingml/2006/main">
            <a:r>
              <a:t>3. (3:00–4:00 / Q&amp;A) 현재 추가하지 않았다는 결론과 일반적으로 불필요하다는 주장을 구분한다. 질문이 없으면 조정·중복·전달·통합 비용을 짧게 회수한다.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DEC-0018, STATE-04/STATE-04-PERF 작업 복잡도 점검, BEAT-023–025. 기존 S59의 실제 추가하지 않음 판단을 보존한다. OBSERVED_PRODUCT / TEACHING_MODEL; Subagent 실행 결과는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FROZEN WITH SCOPE / TEACHING MODEL — DEC-0018 현재 Task 감사의 판단이며 실제 Subagent Trial이 아니다. 일반적 불필요성이나 기능 부재를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앞 조사 결과가 있어야 다음 변경과 검증이 가능한 작업에서는 나누는 비용도 검토한다.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NOT JUSTIFIED YET는 현재 Task의 판단이다. 일반적인 기능 가치나 사용할 수 없음에 대한 결론이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S59의 C++ 가정과 현재 Python Task를 같은 관찰로 섞지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정적 기본 경로 — 조사→변경→검증의 의존 관계와 독립성/Context/통합 비용, 현재 추가하지 않았다는 판단을 분리한다. 현재 제품이나 Demo repository를 실행하지 않는다. 새 Trial·비교 측정을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필수 실습·공개 답변 없이 화면의 핵심 관계를 따라오게 한다. Q&amp;A는 무질문 예비 질문과 cutoff를 적용한다.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“역할 분리의 필요성을 판단했습니다. 다음 작업에 별도로 남길 지식도 있었을까요?”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Lecture1분 → Demo2분(VISUAL 현재 판단) → Q&amp;A1분.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production/ACT_3.pptx / S60, production/preview/act3/S60.png 및 production/preview/full/S60.png. 실제 캡처·현재 제품 실행이 아닌 표시된 기록 요약/가정/모델의 범위로 설명한다. 최종 파일 대조는 production/evaluation/ACT_3_FLOW_REVISION.md를 따른다.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DEC-0062의 근거·19필드·운영 순서를 정렬했다. 최종 패키지/PNG/내장 Notes 대조는 production/evaluation/ACT_3_FLOW_REVISION.md에 기록한다. Windows / room / product-account / timed rehearsal: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S61 — 다음 작업에서도 다시 찾을 지식인가?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S61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다음 작업에서도 다시 찾을 지식인가?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Demo 2 minutes (VISUAL) + Case 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현재 Task에 필요한 Context와 다음 Task에도 보존할 가치가 있는 지식을 구분한다. 출처·적용 범위·갱신 조건을 관리하고 기존 문서에 있으면 그 출처를 참조한다.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“조사로 얻은 지식이 다음 작업에도 필요하다면 무엇을 남겨야 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 / Demo) 조사에서 재현 조건·주의점을 발견했고 다음 Task에도 필요하다는 교육용 가정임을 밝힌다. 실제 재발견·Memory 사용 기록이 아니다.</a:t>
            </a:r>
          </a:p>
          <a:p xmlns:a="http://schemas.openxmlformats.org/drawingml/2006/main">
            <a:r>
              <a:t>2. (1:00–2:00 / Demo) Task A→보존 가치 판단→Task B의 관계를 따라가며 내용·출처·적용 범위·다시 확인할 조건을 표시한다.</a:t>
            </a:r>
          </a:p>
          <a:p xmlns:a="http://schemas.openxmlformats.org/drawingml/2006/main">
            <a:r>
              <a:t>3. (2:00–4:00 / Case) Context는 지금 필요한 정보, Memory는 다음 작업에도 남길지 판단하는 지식이라는 구분을 설명한다. 원래 문서에 있으면 출처를 참조하며 다음 작업에서도 현재 명세와 대조한다. 제품 자동 저장·회수·효과를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CONCEPTUAL / TEACHING_MODEL — MASTER_PLAN.md §§5.6 및 INV-MATURITY-008의 작업 간 지식 관리 문제를 설명하는 가정; BEAT-026–028. 기존 S61 지식 감사의 실제 결론은 S62로 옮겨 유지한다. 제품 Memory 관찰은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CONCEPTUAL CASE / TEACHING MODEL — 작업 간 지식 관리 가정이다. 현재 Demo에 Memory를 추가했거나 제품이 자동 기억·회수한다는 주장이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지금 Task에 넣을 정보와 다음 Task에도 남길지 판단할 지식은 질문이 다르다.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보존 가치가 있어도 출처·범위·현재성·무효화 조건을 관리해야 한다. 기존 공식 문서가 있으면 그것을 참조하며 모든 지식을 별도 Memory로 복제하지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정적 기본 경로 — CONCEPTUAL Task A 조사 → 출처·범위·갱신 조건과 함께 보존 가치 판단 → Task B의 현재 기준 대조. 자동 저장/정확성 보장 없이 표현한다. 현재 제품이나 Demo repository를 실행하지 않는다. 새 Trial·비교 측정을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필수 실습·공개 답변 없이 화면의 핵심 관계를 따라오게 한다. 장별 기존 시간·Mode 안에서 짧은 예측 질문만 사용한다.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“이제 원래 출처와 보존 기준을 놓고, 현재 Demo에 별도 후보가 있었는지 보겠습니다.”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Demo2분(VISUAL 가정) → Case2분. 새 Memory·실제 세션 재발견 실험은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production/ACT_3.pptx / S61, production/preview/act3/S61.png 및 production/preview/full/S61.png. 실제 캡처·현재 제품 실행이 아닌 표시된 기록 요약/가정/모델의 범위로 설명한다. 최종 파일 대조는 production/evaluation/ACT_3_FLOW_REVISION.md를 따른다.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DEC-0062의 근거·19필드·운영 순서를 정렬했다. 최종 패키지/PNG/내장 Notes 대조는 production/evaluation/ACT_3_FLOW_REVISION.md에 기록한다. Windows / room / product-account / timed rehearsal: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S62 — 남길지, 원래 출처를 참조할지 판단한다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S62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남길지, 원래 출처를 참조할지 판단한다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재발견 비용·다음 작업 재사용·출처와 적용 범위·갱신 조건을 보고 기존 출처를 먼저 확인한다. 현재 계약/구조/절차/측정 기록은 각각 근거가 있어 별도 Memory 후보를 찾지 못했다.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“현재 Demo 지식은 이미 어디에 있고 별도 보존할 가치가 있었을까?”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재발견 비용, 다음 작업의 재사용, 출처·범위, 갱신·무효화 조건 네 기준을 한 번씩 설명한다. 프로젝트 간 재사용을 필수로 요구하지 않는다.</a:t>
            </a:r>
          </a:p>
          <a:p xmlns:a="http://schemas.openxmlformats.org/drawingml/2006/main">
            <a:r>
              <a:t>2. (1:00–3:00) crop 명세→코드/문서, 모듈 구조→architecture, 수행 절차→Skill, 측정값→날짜가 있는 Trial/Git을 대응한다. 원래 출처와 일회성 관찰의 차이를 짚는다.</a:t>
            </a:r>
          </a:p>
          <a:p xmlns:a="http://schemas.openxmlformats.org/drawingml/2006/main">
            <a:r>
              <a:t>3. (3:00–4:00) 현재 별도 Memory 후보를 찾지 못했고 추가하지 않았다는 판단을 회수한다. 기능 사용 수가 성숙도 점수가 아님을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DEC-0018 / DEMO-08 knowledge audit / BEAT-026–028 / plan/DEMO_MATRIX.md의 현재 지식 출처 감사. 기존 S61의 계약·명령·구조·절차·측정 기록 분류와 S62의 네 기준을 보존한다. OBSERVED_PRODUCT / TEACHING_MODEL.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FROZEN WITH SCOPE / TEACHING MODEL — DEC-0018 현재 Demo의 지식 감사와 보존 기준이다. 제품 Memory의 범위·효과나 일반적 불필요성을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명세는 원래 명세 문서, 절차는 Skill, 한 번의 측정은 날짜가 있는 기록에서 먼저 찾는다. 별도 보존이 필요한 후보가 있는지는 따로 판단한다.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같은 프로젝트의 다음 Task/세션에 재사용할 수 있어도 후보가 될 수 있다. 프로젝트 사이 재사용은 필수 조건이 아니다. 출처·적용 범위·신선도·갱신/무효화 조건과 유지 비용을 관리한다.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정적 기본 경로 — 네 판단 기준 요약 위에 현재 지식4종→원래 출처를 대응하고 별도 Memory를 추가하지 않았다는 결론을 둔다. 현재 제품이나 Demo repository를 실행하지 않는다. 새 Trial·비교 측정을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필수 실습·공개 답변 없이 화면의 핵심 관계를 따라오게 한다. 장별 기존 시간·Mode 안에서 짧은 예측 질문만 사용한다.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“이 선택들을 모으면 이번 문제를 위해 실제로 사용한 구조는 무엇이었을까요?”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Lecture4분: 기준1, 현재 출처 감사2, 판단·전환1.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production/ACT_3.pptx / S62, production/preview/act3/S62.png 및 production/preview/full/S62.png. 실제 캡처·현재 제품 실행이 아닌 표시된 기록 요약/가정/모델의 범위로 설명한다. 최종 파일 대조는 production/evaluation/ACT_3_FLOW_REVISION.md를 따른다.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DEC-0062의 근거·19필드·운영 순서를 정렬했다. 최종 패키지/PNG/내장 Notes 대조는 production/evaluation/ACT_3_FLOW_REVISION.md에 기록한다. Windows / room / product-account / timed rehearsal: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S63 — 이번 사례에서 실제로 사용한 구조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S63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이번 사례에서 실제로 사용한 구조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Demo 3 minutes (CAPTURED)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밝기 통계 목표/범위, AGENTS.md와 상세 문서, 재사용 Skill, 테스트·benchmark·실행 조건이 각각 목표·지식·방법·완료 근거를 맡았다. Subagent와 별도 Memory는 추가하지 않았다.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“이번 문제에서 어떤 책임을 어떤 기존 자료와 도구가 맡았을까?”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밝기 통계 요청과 AGENTS.md/상세 문서의 역할을 실제 사례로 회수한다.</a:t>
            </a:r>
          </a:p>
          <a:p xmlns:a="http://schemas.openxmlformats.org/drawingml/2006/main">
            <a:r>
              <a:t>2. (1:00–2:00) 재사용 Skill과 테스트/benchmark/실행 조건이 수행 방법과 완료 판단 근거를 맡았음을 연결한다.</a:t>
            </a:r>
          </a:p>
          <a:p xmlns:a="http://schemas.openxmlformats.org/drawingml/2006/main">
            <a:r>
              <a:t>3. (2:00–3:00) 추가하지 않은 Subagent/Memory와 필요한 구성은 문제마다 달라진다는 한계를 말하고 다음 전체 관계도로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STATE-00 → STATE-04-PERF, DEC-0018, INV-VERIFY-001, DEMO-09. OBSERVED_PRODUCT / TEACHING_MODEL.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현재 프로젝트의 구성 감사다. 일반적인 최적 기능 수나 Harness가 성능을 개선한 인과 claim이 아니다. DEC-0062는 기존 관찰·측정 조건과 효과 미입증 경계를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Harness는 기능을 많이 모으는 일이 아니라 현재 문제에 필요한 작업 환경을 마련하는 일이다.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“Minimum Effective”는 신뢰성 있게 해결할 조건을 충족하는 문제별 heuristic이며 숫자 기준이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S66에서 프로젝트별 명세·빌드·검증·성능 절차로 대응한다. Python Skill이나 도구를 그대로 복사하지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정적 기본 경로 — 현재 목표/참고할 정보/반복할 방법/완료 근거의 네 책임을 실제 사용한 구성에 대응한다. 전체 구조 정의는 다음 장에서 연결한다. 현재 제품이나 Demo repository를 실행하지 않는다. 새 Trial·비교 측정을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필수 실습·공개 답변 없이 화면의 핵심 관계를 따라오게 한다. 장별 기존 시간·Mode 안에서 짧은 예측 질문만 사용한다.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“이 파일과 도구들이 어떤 관계로 작동하는지 전체 작업 환경으로 묶겠습니다.”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Demo3분(CAPTURED 정적 구성 요약): 목표/정보1, 절차/근거1, 선택 범위/전환1.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production/ACT_3.pptx / S63, production/preview/act3/S63.png 및 production/preview/full/S63.png. 실제 캡처·현재 제품 실행이 아닌 표시된 기록 요약/가정/모델의 범위로 설명한다. 최종 파일 대조는 production/evaluation/ACT_3_FLOW_REVISION.md를 따른다.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DEC-0062의 근거·19필드·운영 순서를 정렬했다. 최종 패키지/PNG/내장 Notes 대조는 production/evaluation/ACT_3_FLOW_REVISION.md에 기록한다. Windows / room / product-account / timed rehearsal: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S64 — 이 구성이 함께 작동하는 것이 Harness다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S64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이 구성이 함께 작동하는 것이 Harness다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6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4 minutes + Demo 2 minutes (CAPTURED)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이 과정에서 Harness는 Agent가 신뢰성 있게 일하도록 목표·Context·재사용 절차·실행 도구·검증·검토 조건을 연결한 작업 환경과 방법의 운영 모델이다.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“목표, Agent의 수행 방법, 완료 근거는 어떤 환경 안에서 연결될까?”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(0:00–2:00 / Lecture) 전체 관계도는 이 과정의 운영 모델임을 밝히고 개발자가 정하는 목표·범위에서 Agent 수행과 완료 근거·검토로 읽는다.</a:t>
            </a:r>
          </a:p>
          <a:p xmlns:a="http://schemas.openxmlformats.org/drawingml/2006/main">
            <a:r>
              <a:t>2. (2:00–4:00 / Lecture) Context와 재사용 절차, 실행 도구·입력·권한·측정 환경이 관계를 지탱함을 설명한다. 새 공식 taxonomy나 필수 기능 목록이 아니다.</a:t>
            </a:r>
          </a:p>
          <a:p xmlns:a="http://schemas.openxmlformats.org/drawingml/2006/main">
            <a:r>
              <a:t>3. (4:00–6:00 / Demo) 아래 관찰 구성 줄에서 AGENTS.md/docs/Skill/Tests/Benchmark를 회수한다. 큰 모델의 모든 조건을 실제로 감사했다는 뜻이 아님을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DEC-0023, BEAT-035/036, STATE-04-PERF. OBSERVED_PRODUCT / TEACHING_MODEL.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과정의 operational definition이다. 공식 OpenAI 정의나 보편적 industry standard로 제시하지 않는다. DEC-0062는 기존 관찰·측정 조건과 효과 미입증 경계를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Agent가 알 정보뿐 아니라 일하는 절차와 결과를 확인하는 환경도 함께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Harness는 특정 파일이나 기능 목록이 아니라 Project별 신뢰성 문제를 해결하는 system model이다.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Slide 66에서 C++ Project 환경에 같은 Engineering Pattern을 연결한다.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정적 기본 경로 — 작업 환경 프레임 안 목표/허용 범위→Agent 수행→완료 근거/검토와 Context·절차·도구·입력·권한·측정 조건을 연결한다. 관찰 구성은 별도 아래 행에 둔다. 현재 제품이나 Demo repository를 실행하지 않는다. 새 Trial·비교 측정을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필수 실습·공개 답변 없이 화면의 핵심 관계를 따라오게 한다. 장별 기존 시간·Mode 안에서 짧은 예측 질문만 사용한다.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“그 실행 조건이 Repository 파일만으로 모두 정해질까요?”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Lecture4분 → Demo2분(CAPTURED 실제 구성 회수). 완성 구조는 이 후반 장에서만 묶는다.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production/ACT_3.pptx / S64, production/preview/act3/S64.png 및 production/preview/full/S64.png. 실제 캡처·현재 제품 실행이 아닌 표시된 기록 요약/가정/모델의 범위로 설명한다. 최종 파일 대조는 production/evaluation/ACT_3_FLOW_REVISION.md를 따른다.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DEC-0062의 근거·19필드·운영 순서를 정렬했다. 최종 패키지/PNG/내장 Notes 대조는 production/evaluation/ACT_3_FLOW_REVISION.md에 기록한다. Windows / room / product-account / timed rehearsal: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S65 — 같은 Repository라도 실행 조건은 다를 수 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S65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같은 Repository라도 실행 조건은 다를 수 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과거 Trial에서 전역 지침·Skills와 시작 경고의 흔적이 있었다. 적용 지침, 모델/설정, 권한, OS/runtime도 결과 해석 시 기록할 조건이지만 모든 항목의 인과효과나 완전한 환경 감사를 입증한 것은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“결과를 해석하려면 Repository 밖에서 무엇이 들어왔는지도 알아야 하지 않을까?”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같은 Repository라도 외부 지침과 실행 조건이 다를 수 있다는 질문을 던진다.</a:t>
            </a:r>
          </a:p>
          <a:p xmlns:a="http://schemas.openxmlformats.org/drawingml/2006/main">
            <a:r>
              <a:t>2. (1:00–2:00) TRIAL-006/007/008의 전역 지침·Skills 포함과 Hook/MCP 시작 경고라는 제한된 관찰을 예고한다. 경고 자체는 도구 실행/기여의 증거가 아니다.</a:t>
            </a:r>
          </a:p>
          <a:p xmlns:a="http://schemas.openxmlformats.org/drawingml/2006/main">
            <a:r>
              <a:t>3. (2:00–3:00) 적용 지침·모델/설정·권한·OS/runtime을 기록할 조건으로 제시하고 완전한 inventory나 각 인과효과를 주장하지 않는다. ACT4의 Meta 기록 설명을 앞당겨 재강의하지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TRIAL-006/007/008, DEC-0016/0021, BEAT-033/036. OBSERVED_META / TEACHING_MODEL.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전체 영향의 완전한 inventory가 아니다. Hook 실행이나 MCP task result가 관찰됐다고 말하지 않는다. TRIAL-007의 보고와 stderr 차이를 이 장에서 재해석하지 않는다. DEC-0062는 기존 관찰·측정 조건과 효과 미입증 경계를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같은 repository여도 실행 설정이나 주변 지침은 다를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Ambient Harness 요인을 기록하고 Trial의 attribution 범위를 제한하되 미확인 인과를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같은 C++ repository도 Toolchain, 권한, runtime 조건이 다를 수 있다는 정도로만 잇는다.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정적 기본 경로 — Repository 내부 구성 + 바깥에서 관찰된 지침/경고를 구분하고 기록할 조건과 미입증 인과효과를 분리한다. Meta 이중선 프레임을 유지한다. 현재 제품이나 Demo repository를 실행하지 않는다. 새 Trial·비교 측정을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필수 실습·공개 답변 없이 화면의 핵심 관계를 따라오게 한다. 장별 기존 시간·Mode 안에서 짧은 예측 질문만 사용한다.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“이 작업 방법과 확인 기준을 우리 C++ 검사 업무로 옮겨 보겠습니다.”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Lecture3분: 질문1, 관찰과 한계1, 기록할 조건/전환1.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production/ACT_3.pptx / S65, production/preview/act3/S65.png 및 production/preview/full/S65.png. 실제 캡처·현재 제품 실행이 아닌 표시된 기록 요약/가정/모델의 범위로 설명한다. 최종 파일 대조는 production/evaluation/ACT_3_FLOW_REVISION.md를 따른다.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DEC-0062의 근거·19필드·운영 순서를 정렬했다. 최종 패키지/PNG/내장 Notes 대조는 production/evaluation/ACT_3_FLOW_REVISION.md에 기록한다. Windows / room / product-account / timed rehearsal: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S66 — 우리 C++ 검사 작업에 옮겨 보면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S66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우리 C++ 검사 작업에 옮겨 보면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Python 코드를 복사하지 않고 지킬 명세, 반복할 수행 방법, 완료를 판단할 근거를 C++ Vision 검사 업무에 대응한다. 실제 C++ 구현·회사 장비·측정 성과는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“밝기 통계에서 사용한 판단을 우리 검사 파이프라인에는 어떻게 적용할까?”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기존 삽화는 AI 생성 교육용 C++ Vision 전이 예이며 실제 장비 사진·측정 결과가 아님을 밝힌다. S10의 검사 업무 맥락과 연결한다.</a:t>
            </a:r>
          </a:p>
          <a:p xmlns:a="http://schemas.openxmlformats.org/drawingml/2006/main">
            <a:r>
              <a:t>2. (1:00–2:30) 지킬 명세에서 ROI/픽셀값, 빌드·하드웨어 조건을 확인한다.</a:t>
            </a:r>
          </a:p>
          <a:p xmlns:a="http://schemas.openxmlformats.org/drawingml/2006/main">
            <a:r>
              <a:t>3. (2:30–4:00) 재사용할 기준선/경로 조사/변경/동일 비교와 완료를 판단할 동작·회귀·통합/성능 근거를 대응한다.</a:t>
            </a:r>
          </a:p>
          <a:p xmlns:a="http://schemas.openxmlformats.org/drawingml/2006/main">
            <a:r>
              <a:t>4. (4:00–5:00) 도구 이름을 복사하지 않고 현재 프로젝트에 맞게 확인하는 패턴을 회수한다.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BEAT-036, CLM-0016/0017/0030, OQ-011. TEACHING_MODEL. 삽화 출처: prototype/image-illustration-pilot/assets/S53.png, built-in image_gen, 2026-10-18. 생성 프롬프트: prototype/image-illustration-pilot/PROMPTS.md. 실제 화면·현장 사진·관찰 자료가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교육용 전이 예다. C++ Demo를 구현하거나 팀별 실제 도구 규칙을 검증한 것이 아니다. DEC-0062는 기존 관찰·측정 조건과 효과 미입증 경계를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언어가 달라도 먼저 프로젝트 규칙과 확인 방법을 찾는다.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Build mode, hardware assumptions, module contracts, and regression criteria belong to the actual project.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PRIMARY — Python `unittest` → GoogleTest/CTest or integration checks; benchmark script → benchmark/profiler; Project Context → build, algorithm, hardware constraints. Team standards must be checked before choosing tools.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정적 기본 경로 — 기존 승인된 카메라/영상/처리/결과 삽화를 보존하고 아래 세 기준을 ROI·픽셀·빌드 조건, 기준선/경로 조사, 동작/회귀/성능 검증에 대응한다. 현재 제품이나 Demo repository를 실행하지 않는다. 새 Trial·비교 측정을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필수 실습·공개 답변 없이 화면의 핵심 관계를 따라오게 한다. 장별 기존 시간·Mode 안에서 짧은 예측 질문만 사용한다.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“우리 팀에서 먼저 정리할 반복 한 가지와 유지할 책임을 골라 보겠습니다.”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Lecture5분: 업무 연결1, 명세1.5, 방법/근거1.5, 전이 범위/전환1.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production/ACT_3.pptx / S66, production/preview/act3/S66.png 및 production/preview/full/S66.png. 실제 캡처·현재 제품 실행이 아닌 표시된 기록 요약/가정/모델의 범위로 설명한다. 최종 파일 대조는 production/evaluation/ACT_3_FLOW_REVISION.md를 따른다.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DEC-0062의 근거·19필드·운영 순서를 정렬했다. 최종 패키지/PNG/내장 Notes 대조는 production/evaluation/ACT_3_FLOW_REVISION.md에 기록한다. Windows / room / product-account / timed rehearsal: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S67 — 우리 팀의 반복 한 가지를 고르면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S67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우리 팀의 반복 한 가지를 고르면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3I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10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Reflection 3 minutes + Q&amp;A 5 minutes + Transition 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반복 정보·반복 절차·완료 근거 중 현재 마찰을 하나 고르고 어디에 두며 누가 검토·갱신할지 판단한다. 현재의 성공을 보존한 채 다음 ACT의 프로젝트 변화 질문을 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“내 업무에서 먼저 정리할 반복과 유지할 책임은 무엇일까?”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(0:00–3:00 / Reflection) 반복 정보·절차·완료 근거 중 먼저 정리할 한 가지와 검토/갱신 책임을 조용히 떠올리게 한다. 공유·실습은 강제하지 않는다.</a:t>
            </a:r>
          </a:p>
          <a:p xmlns:a="http://schemas.openxmlformats.org/drawingml/2006/main">
            <a:r>
              <a:t>2. (3:00–8:00 / Q&amp;A) 질문을 받되 무질문이면 유지할 위치와 책임을 기준으로 예비 질문을 회수한다. 기능 수를 늘리는 답으로 유도하지 않는다.</a:t>
            </a:r>
          </a:p>
          <a:p xmlns:a="http://schemas.openxmlformats.org/drawingml/2006/main">
            <a:r>
              <a:t>3. (8:00–10:00 / Transition) 실제 STATE-04-PERF 성공을 유지한 채 S68에서 기준 결과만 짧게 회수하고 S69부터 별도 가상 변화가 시작됨을 예고한다. 다음 ACT의 가상 실패를 실제 Demo 이력으로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STATE-04-PERF, DEC-0018/0021, BEAT-035–038, INV-VERIFY-001. TEACHING_MODEL; bounded observed product success.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이 작업을 실패한 Harness로 재해석하지 않는다. Subagent와 Memory는 조건부 선택이다. 다음 ACT의 개념 사례를 실제 Demo Product failure로 미리 말하지 않는다. DEC-0062는 기존 관찰·측정 조건과 효과 미입증 경계를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먼저 반복되는 문제를 찾고, 필요한 구조만 고른다.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Project 변화가 가정을 무효화할 수 있는지 생각하되, 다음 ACT의 사례 결과를 먼저 공개하지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앞 Slide의 Project별 C++ 적용 질문을 청중 업무로 가져온다.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정적 기본 경로 — 세 성찰 관점과 어디에 두고 누가 갱신할지의 질문. 마지막 줄에 프로젝트 변화 뒤 방법을 어떻게 점검할지 제시하며 S68의 결과 회수와 구분한다. 현재 제품이나 Demo repository를 실행하지 않는다. 새 Trial·비교 측정을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개인 성찰3분, 선택적 Q&amp;A5분. 무질문이면 “어디에 두고 누가 갱신할까?”를 예비 질문으로 쓴다. 8분에 답변을 마치고 마지막2분을 ACT4 전환으로 보호한다.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“여기까지 실제로 확인한 성공을 기준점으로 남기겠습니다. 다음에는 별도의 가상 프로젝트 변화에서 이 방법을 어떻게 점검할지 보겠습니다.”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Reflection3분 → Q&amp;A5분 → Transition2분. 8분에 전환을 시작하며 초과 질의는 별도로 안내한다.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production/ACT_3.pptx / S67, production/preview/act3/S67.png 및 production/preview/full/S67.png. 실제 캡처·현재 제품 실행이 아닌 표시된 기록 요약/가정/모델의 범위로 설명한다. 최종 파일 대조는 production/evaluation/ACT_3_FLOW_REVISION.md를 따른다.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DEC-0062의 근거·19필드·운영 순서를 정렬했다. 최종 패키지/PNG/내장 Notes 대조는 production/evaluation/ACT_3_FLOW_REVISION.md에 기록한다. Windows / room / product-account / timed rehearsal: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26ea1eb1a1e404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d51246a10f4474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529a9baed04a7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bcf3f3bc6e041a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633af2a7755442b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7016a591f06460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C516FCB-AAA2-4F5C-82FD-72C84343B8F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4658F636-086A-414C-9566-E5662FF6DDE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CEE7AC44-3F8F-4D01-AAB5-537C282CBFC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32C9C5C-8F9F-43AC-BF63-914DD8ADB9E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1AC9D61F-D19A-4E1D-AB66-BBD2031B38A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78392F62-4DD5-4FF6-BC62-1303A0361EE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011895B-CDDD-4E0D-8262-71318E59EDA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CE1E4BE0-1FA9-476B-8372-04045B66489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5DDDA4B-BAC0-441A-AC05-90E6DC0B2E6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2300670-CCC9-4C77-829A-41C88CFD0CA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3e6479832f24f2e" /><Relationship Type="http://schemas.openxmlformats.org/officeDocument/2006/relationships/slideLayout" Target="/ppt/slideLayouts/slideLayout1.xml" Id="R94a7c025551b4ae9" /><Relationship Type="http://schemas.openxmlformats.org/officeDocument/2006/relationships/slideLayout" Target="/ppt/slideLayouts/slideLayout2.xml" Id="R8a8196f5d5b7439b" /><Relationship Type="http://schemas.openxmlformats.org/officeDocument/2006/relationships/slideLayout" Target="/ppt/slideLayouts/slideLayout3.xml" Id="R354dd2191c54407e" /><Relationship Type="http://schemas.openxmlformats.org/officeDocument/2006/relationships/slideLayout" Target="/ppt/slideLayouts/slideLayout4.xml" Id="R340f636ca560407c" /><Relationship Type="http://schemas.openxmlformats.org/officeDocument/2006/relationships/slideLayout" Target="/ppt/slideLayouts/slideLayout5.xml" Id="Rc0a95796631646dd" /><Relationship Type="http://schemas.openxmlformats.org/officeDocument/2006/relationships/slideLayout" Target="/ppt/slideLayouts/slideLayout6.xml" Id="Ra9cbccf440bb49a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4a7c025551b4ae9"/>
    <p:sldLayoutId xmlns:r="http://schemas.openxmlformats.org/officeDocument/2006/relationships" id="2147483650" r:id="R8a8196f5d5b7439b"/>
    <p:sldLayoutId xmlns:r="http://schemas.openxmlformats.org/officeDocument/2006/relationships" id="2147483651" r:id="R354dd2191c54407e"/>
    <p:sldLayoutId xmlns:r="http://schemas.openxmlformats.org/officeDocument/2006/relationships" id="2147483652" r:id="R340f636ca560407c"/>
    <p:sldLayoutId xmlns:r="http://schemas.openxmlformats.org/officeDocument/2006/relationships" id="2147483653" r:id="Rc0a95796631646dd"/>
    <p:sldLayoutId xmlns:r="http://schemas.openxmlformats.org/officeDocument/2006/relationships" id="2147483654" r:id="Ra9cbccf440bb49a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bd7c0f7960f4134" /><Relationship Type="http://schemas.openxmlformats.org/officeDocument/2006/relationships/image" Target="/ppt/media/image.png" Id="R79f82cadbc2a4af2" /><Relationship Type="http://schemas.openxmlformats.org/officeDocument/2006/relationships/image" Target="/ppt/media/image2.png" Id="R5412407a34fc4d87" /><Relationship Type="http://schemas.openxmlformats.org/officeDocument/2006/relationships/notesSlide" Target="/ppt/notesSlides/notesSlide1.xml" Id="R56168bd99f1c4c4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32afc4ae75b4c67" /><Relationship Type="http://schemas.openxmlformats.org/officeDocument/2006/relationships/notesSlide" Target="/ppt/notesSlides/notesSlide2.xml" Id="R7b0d9d0cac14423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1eea4b9b9cf4b78" /><Relationship Type="http://schemas.openxmlformats.org/officeDocument/2006/relationships/notesSlide" Target="/ppt/notesSlides/notesSlide3.xml" Id="R3f56990734b44f4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181fd27dac7491e" /><Relationship Type="http://schemas.openxmlformats.org/officeDocument/2006/relationships/notesSlide" Target="/ppt/notesSlides/notesSlide4.xml" Id="R6e81f5d867a3434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5568d7e40944adf" /><Relationship Type="http://schemas.openxmlformats.org/officeDocument/2006/relationships/notesSlide" Target="/ppt/notesSlides/notesSlide5.xml" Id="Rdf95536053714dd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985b9c58a4e4a01" /><Relationship Type="http://schemas.openxmlformats.org/officeDocument/2006/relationships/notesSlide" Target="/ppt/notesSlides/notesSlide6.xml" Id="Rce0d200a166a414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038471b1c33403a" /><Relationship Type="http://schemas.openxmlformats.org/officeDocument/2006/relationships/notesSlide" Target="/ppt/notesSlides/notesSlide7.xml" Id="R40dadcadc86f4ec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405b9cf2497421b" /><Relationship Type="http://schemas.openxmlformats.org/officeDocument/2006/relationships/notesSlide" Target="/ppt/notesSlides/notesSlide8.xml" Id="Rad10e72b109547b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bc4d04c38dc421d" /><Relationship Type="http://schemas.openxmlformats.org/officeDocument/2006/relationships/chart" Target="/ppt/slides/charts/chart1.xml" Id="R890d389766264dba" /><Relationship Type="http://schemas.openxmlformats.org/officeDocument/2006/relationships/notesSlide" Target="/ppt/notesSlides/notesSlide9.xml" Id="R88d90d3c8ec94d8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32eeadea6114bfd" /><Relationship Type="http://schemas.openxmlformats.org/officeDocument/2006/relationships/notesSlide" Target="/ppt/notesSlides/notesSlide10.xml" Id="R1225b9f8cdf94ca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c7aacf7e4b84a2e" /><Relationship Type="http://schemas.openxmlformats.org/officeDocument/2006/relationships/notesSlide" Target="/ppt/notesSlides/notesSlide11.xml" Id="Rfcac211099394e1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f518203123147e2" /><Relationship Type="http://schemas.openxmlformats.org/officeDocument/2006/relationships/notesSlide" Target="/ppt/notesSlides/notesSlide12.xml" Id="R971fa0be543e4ed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000031477ec47f6" /><Relationship Type="http://schemas.openxmlformats.org/officeDocument/2006/relationships/notesSlide" Target="/ppt/notesSlides/notesSlide13.xml" Id="R2d00cfb373f34ab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0fbed68ae624234" /><Relationship Type="http://schemas.openxmlformats.org/officeDocument/2006/relationships/notesSlide" Target="/ppt/notesSlides/notesSlide14.xml" Id="R2fd4c73133714f8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275fc6abc7342fc" /><Relationship Type="http://schemas.openxmlformats.org/officeDocument/2006/relationships/notesSlide" Target="/ppt/notesSlides/notesSlide15.xml" Id="Rc3754a3833fa484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d49dfeed5ea4a5d" /><Relationship Type="http://schemas.openxmlformats.org/officeDocument/2006/relationships/notesSlide" Target="/ppt/notesSlides/notesSlide16.xml" Id="Rb3ec497a535d4d04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d703e9c150f4262" /><Relationship Type="http://schemas.openxmlformats.org/officeDocument/2006/relationships/image" Target="/ppt/media/image3.png" Id="Rfef9c4197cb343fa" /><Relationship Type="http://schemas.openxmlformats.org/officeDocument/2006/relationships/notesSlide" Target="/ppt/notesSlides/notesSlide17.xml" Id="R50a3d6cbb3ad4989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edbe30cdbdd412d" /><Relationship Type="http://schemas.openxmlformats.org/officeDocument/2006/relationships/notesSlide" Target="/ppt/notesSlides/notesSlide18.xml" Id="Rb5622dc4515a487a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1"/>
        <c:ser>
          <c:idx val="0"/>
          <c:order val="0"/>
          <c:tx>
            <c:v>Median ms/call</c:v>
          </c:tx>
          <c:invertIfNegative val="0"/>
          <c:dPt>
            <c:idx val="0"/>
            <c:invertIfNegative val="0"/>
            <c:spPr>
              <a:solidFill xmlns:a="http://schemas.openxmlformats.org/drawingml/2006/main">
                <a:srgbClr val="0B6172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9BA8B5"/>
              </a:solidFill>
            </c:spPr>
          </c:dPt>
          <c:cat>
            <c:strRef>
              <c:f>'Chart Data'!$A$2:$A$3</c:f>
              <c:strCache>
                <c:ptCount val="2"/>
                <c:pt idx="0">
                  <c:v>변경 후</c:v>
                </c:pt>
                <c:pt idx="1">
                  <c:v>변경 전</c:v>
                </c:pt>
              </c:strCache>
            </c:strRef>
          </c:cat>
          <c:val>
            <c:numRef>
              <c:f>'Chart Data'!$B$2:$B$3</c:f>
              <c:numCache>
                <c:formatCode>0.000</c:formatCode>
                <c:ptCount val="2"/>
                <c:pt idx="0">
                  <c:v>10.769</c:v>
                </c:pt>
                <c:pt idx="1">
                  <c:v>15.468</c:v>
                </c:pt>
              </c:numCache>
            </c:numRef>
          </c:val>
        </c:ser>
        <c:dLbls>
          <c:numFmt formatCode="0.00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025" b="1">
                  <a:solidFill>
                    <a:srgbClr val="17212B"/>
                  </a:solidFill>
                  <a:latin typeface="Malgun Gothic"/>
                  <a:ea typeface="Malgun Gothic"/>
                  <a:cs typeface="Malgun Gothi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2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C7D0DA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C7D0DA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4F6F8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4F6F8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ACT 3 · Harness: 작업 방법과 실행·검증 환경 설계">
            <a:extLst xmlns:a="http://schemas.openxmlformats.org/drawingml/2006/main">
              <a:ext uri="{FF2B5EF4-FFF2-40B4-BE49-F238E27FC236}">
                <a16:creationId xmlns:a16="http://schemas.microsoft.com/office/drawing/2014/main" id="{CDCFDC43-CF55-49B6-9138-DB91AE80C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Harness: 작업 방법과 실행·검증 환경 설계</a:t>
            </a:r>
          </a:p>
        </p:txBody>
      </p:sp>
      <p:sp>
        <p:nvSpPr>
          <p:cNvPr id="2" name="S50">
            <a:extLst xmlns:a="http://schemas.openxmlformats.org/drawingml/2006/main">
              <a:ext uri="{FF2B5EF4-FFF2-40B4-BE49-F238E27FC236}">
                <a16:creationId xmlns:a16="http://schemas.microsoft.com/office/drawing/2014/main" id="{F7731AB5-7FF7-49D9-A589-36D89DCEA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S50</a:t>
            </a:r>
          </a:p>
        </p:txBody>
      </p:sp>
      <p:sp>
        <p:nvSpPr>
          <p:cNvPr id="3" name="두 실제 요청에 같은 절차가 반복됐다">
            <a:extLst xmlns:a="http://schemas.openxmlformats.org/drawingml/2006/main">
              <a:ext uri="{FF2B5EF4-FFF2-40B4-BE49-F238E27FC236}">
                <a16:creationId xmlns:a16="http://schemas.microsoft.com/office/drawing/2014/main" id="{584DE1C3-BEED-4266-95C5-D3F8A1659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두 실제 요청에 같은 절차가 반복됐다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1D7579-C687-4E62-8782-F0589BBA7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RIAL-006 실제 Prompt 발췌·번역 / TRIAL-007 보존된 Task Prompt 요약 · 그">
            <a:extLst xmlns:a="http://schemas.openxmlformats.org/drawingml/2006/main">
              <a:ext uri="{FF2B5EF4-FFF2-40B4-BE49-F238E27FC236}">
                <a16:creationId xmlns:a16="http://schemas.microsoft.com/office/drawing/2014/main" id="{A3D0B90D-A9CD-4731-99BE-5F803F43B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TRIAL-006 실제 Prompt 발췌·번역 / TRIAL-007 보존된 Task Prompt 요약 · 그림은 설명용 삽화</a:t>
            </a:r>
          </a:p>
        </p:txBody>
      </p:sp>
      <p:sp>
        <p:nvSpPr>
          <p:cNvPr id="6" name="Global Harness 영향으로 Prompt-only attribution은 PARTIAL · 성능 전후">
            <a:extLst xmlns:a="http://schemas.openxmlformats.org/drawingml/2006/main">
              <a:ext uri="{FF2B5EF4-FFF2-40B4-BE49-F238E27FC236}">
                <a16:creationId xmlns:a16="http://schemas.microsoft.com/office/drawing/2014/main" id="{2432F920-5CA6-44EB-B21A-08E75D706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Global Harness 영향으로 Prompt-only attribution은 PARTIAL · 성능 전후 그림·현재 제품 화면 아님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F93AD0-B75B-4999-9B9C-64E9B8677F2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f82cadbc2a4af2"/>
          <a:srcRect xmlns:a="http://schemas.openxmlformats.org/drawingml/2006/main" l="53664" t="30891" r="28410" b="33258"/>
          <a:stretch xmlns:a="http://schemas.openxmlformats.org/drawingml/2006/main"/>
        </p:blipFill>
        <p:spPr>
          <a:xfrm xmlns:a="http://schemas.openxmlformats.org/drawingml/2006/main">
            <a:off x="609600" y="1809750"/>
            <a:ext cx="609600" cy="609600"/>
          </a:xfrm>
          <a:prstGeom xmlns:a="http://schemas.openxmlformats.org/drawingml/2006/main" prst="rect">
            <a:avLst/>
          </a:prstGeom>
        </p:spPr>
      </p:pic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6DFD37-4045-4B1E-A963-FDD21939653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12407a34fc4d87"/>
          <a:srcRect xmlns:a="http://schemas.openxmlformats.org/drawingml/2006/main" l="53664" t="30891" r="28410" b="33258"/>
          <a:stretch xmlns:a="http://schemas.openxmlformats.org/drawingml/2006/main"/>
        </p:blipFill>
        <p:spPr>
          <a:xfrm xmlns:a="http://schemas.openxmlformats.org/drawingml/2006/main">
            <a:off x="6419850" y="1809750"/>
            <a:ext cx="609600" cy="609600"/>
          </a:xfrm>
          <a:prstGeom xmlns:a="http://schemas.openxmlformats.org/drawingml/2006/main" prst="rect">
            <a:avLst/>
          </a:prstGeom>
        </p:spPr>
      </p:pic>
      <p:sp>
        <p:nvSpPr>
          <p:cNvPr id="9" name="A · 크기 변경">
            <a:extLst xmlns:a="http://schemas.openxmlformats.org/drawingml/2006/main">
              <a:ext uri="{FF2B5EF4-FFF2-40B4-BE49-F238E27FC236}">
                <a16:creationId xmlns:a16="http://schemas.microsoft.com/office/drawing/2014/main" id="{922D7AAA-DBCF-422E-8E23-9A3A683E3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809750"/>
            <a:ext cx="42672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 · 크기 변경</a:t>
            </a:r>
          </a:p>
        </p:txBody>
      </p:sp>
      <p:sp>
        <p:nvSpPr>
          <p:cNvPr id="10" name="resize_nearest">
            <a:extLst xmlns:a="http://schemas.openxmlformats.org/drawingml/2006/main">
              <a:ext uri="{FF2B5EF4-FFF2-40B4-BE49-F238E27FC236}">
                <a16:creationId xmlns:a16="http://schemas.microsoft.com/office/drawing/2014/main" id="{2039CD27-FD4F-4221-B612-05E85F8E1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200275"/>
            <a:ext cx="426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resize_nearest</a:t>
            </a:r>
          </a:p>
        </p:txBody>
      </p:sp>
      <p:sp>
        <p:nvSpPr>
          <p:cNvPr id="11" name="B · 픽셀값 정규화">
            <a:extLst xmlns:a="http://schemas.openxmlformats.org/drawingml/2006/main">
              <a:ext uri="{FF2B5EF4-FFF2-40B4-BE49-F238E27FC236}">
                <a16:creationId xmlns:a16="http://schemas.microsoft.com/office/drawing/2014/main" id="{4B582594-5B2E-4354-AE77-32983A96E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809750"/>
            <a:ext cx="43624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B · 픽셀값 정규화</a:t>
            </a:r>
          </a:p>
        </p:txBody>
      </p:sp>
      <p:sp>
        <p:nvSpPr>
          <p:cNvPr id="12" name="normalize">
            <a:extLst xmlns:a="http://schemas.openxmlformats.org/drawingml/2006/main">
              <a:ext uri="{FF2B5EF4-FFF2-40B4-BE49-F238E27FC236}">
                <a16:creationId xmlns:a16="http://schemas.microsoft.com/office/drawing/2014/main" id="{5C125D1B-53B1-4B33-9288-A51C7A245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200275"/>
            <a:ext cx="436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normalize</a:t>
            </a:r>
          </a:p>
        </p:txBody>
      </p:sp>
      <p:sp>
        <p:nvSpPr>
          <p:cNvPr id="13" name="실제 요청의 핵심 발췌·번역">
            <a:extLst xmlns:a="http://schemas.openxmlformats.org/drawingml/2006/main">
              <a:ext uri="{FF2B5EF4-FFF2-40B4-BE49-F238E27FC236}">
                <a16:creationId xmlns:a16="http://schemas.microsoft.com/office/drawing/2014/main" id="{AB1CAC87-999D-407D-B1DA-CBD2A5A7D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51625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실제 요청의 핵심 발췌·번역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C03404-4948-4261-9ED1-A487507CB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0375"/>
            <a:ext cx="51625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01">
            <a:extLst xmlns:a="http://schemas.openxmlformats.org/drawingml/2006/main">
              <a:ext uri="{FF2B5EF4-FFF2-40B4-BE49-F238E27FC236}">
                <a16:creationId xmlns:a16="http://schemas.microsoft.com/office/drawing/2014/main" id="{3BAF7D64-B537-4F69-A074-A30F4E015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33725"/>
            <a:ext cx="438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800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6" name="변경 전에 benchmark를 실행해줘.&#10;구현·명세·테스트를 조사해줘.">
            <a:extLst xmlns:a="http://schemas.openxmlformats.org/drawingml/2006/main">
              <a:ext uri="{FF2B5EF4-FFF2-40B4-BE49-F238E27FC236}">
                <a16:creationId xmlns:a16="http://schemas.microsoft.com/office/drawing/2014/main" id="{2E182C89-7415-49DD-A0E1-660324307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48000"/>
            <a:ext cx="42672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변경 전에 benchmark를 실행해줘.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구현·명세·테스트를 조사해줘.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138CC0B-33F0-432A-9C40-BB9F1BE31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62375"/>
            <a:ext cx="51625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8" name="02">
            <a:extLst xmlns:a="http://schemas.openxmlformats.org/drawingml/2006/main">
              <a:ext uri="{FF2B5EF4-FFF2-40B4-BE49-F238E27FC236}">
                <a16:creationId xmlns:a16="http://schemas.microsoft.com/office/drawing/2014/main" id="{78BA9EE3-2556-48A8-9D69-A6BC0E18B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95725"/>
            <a:ext cx="438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800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9" name="간단한 계획을 먼저 제시하고,&#10;근거 있는 최소 변경을 해줘.">
            <a:extLst xmlns:a="http://schemas.openxmlformats.org/drawingml/2006/main">
              <a:ext uri="{FF2B5EF4-FFF2-40B4-BE49-F238E27FC236}">
                <a16:creationId xmlns:a16="http://schemas.microsoft.com/office/drawing/2014/main" id="{31F52ED3-D6DE-475B-B0E8-33AAF2E00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10000"/>
            <a:ext cx="42672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간단한 계획을 먼저 제시하고,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근거 있는 최소 변경을 해줘.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2A354EA-0C3C-44ED-BA1F-396D92C6A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24375"/>
            <a:ext cx="51625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03">
            <a:extLst xmlns:a="http://schemas.openxmlformats.org/drawingml/2006/main">
              <a:ext uri="{FF2B5EF4-FFF2-40B4-BE49-F238E27FC236}">
                <a16:creationId xmlns:a16="http://schemas.microsoft.com/office/drawing/2014/main" id="{0D636DFB-DA56-420F-97F0-55D00A652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57725"/>
            <a:ext cx="438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800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22" name="관련·전체 테스트를 실행하고,&#10;같은 benchmark로 비교·검토해줘.">
            <a:extLst xmlns:a="http://schemas.openxmlformats.org/drawingml/2006/main">
              <a:ext uri="{FF2B5EF4-FFF2-40B4-BE49-F238E27FC236}">
                <a16:creationId xmlns:a16="http://schemas.microsoft.com/office/drawing/2014/main" id="{9B8C4724-A15E-4667-B75D-25D204FB3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572000"/>
            <a:ext cx="42672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관련·전체 테스트를 실행하고,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benchmark로 비교·검토해줘.</a:t>
            </a:r>
          </a:p>
        </p:txBody>
      </p:sp>
      <p:sp>
        <p:nvSpPr>
          <p:cNvPr id="23" name="보존된 요청 요약의 번역">
            <a:extLst xmlns:a="http://schemas.openxmlformats.org/drawingml/2006/main">
              <a:ext uri="{FF2B5EF4-FFF2-40B4-BE49-F238E27FC236}">
                <a16:creationId xmlns:a16="http://schemas.microsoft.com/office/drawing/2014/main" id="{1AC80BBC-D215-4674-9B80-CDAF36DFF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609850"/>
            <a:ext cx="51625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보존된 요청 요약의 번역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8E7B5BB-5435-46A9-B98E-0296D4E76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000375"/>
            <a:ext cx="51625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01">
            <a:extLst xmlns:a="http://schemas.openxmlformats.org/drawingml/2006/main">
              <a:ext uri="{FF2B5EF4-FFF2-40B4-BE49-F238E27FC236}">
                <a16:creationId xmlns:a16="http://schemas.microsoft.com/office/drawing/2014/main" id="{59F2B6F9-C923-4BAD-A5BE-AE37B3BBD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133725"/>
            <a:ext cx="438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800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26" name="수정 전에 측정하고,&#10;소스·명세·테스트를 확인.">
            <a:extLst xmlns:a="http://schemas.openxmlformats.org/drawingml/2006/main">
              <a:ext uri="{FF2B5EF4-FFF2-40B4-BE49-F238E27FC236}">
                <a16:creationId xmlns:a16="http://schemas.microsoft.com/office/drawing/2014/main" id="{34B9211A-BCD6-47BD-9F04-6AB8A2B70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048000"/>
            <a:ext cx="42672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수정 전에 측정하고,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소스·명세·테스트를 확인.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68EFC4A-8EBF-4CA3-9ED0-5A9D5E604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762375"/>
            <a:ext cx="51625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8" name="02">
            <a:extLst xmlns:a="http://schemas.openxmlformats.org/drawingml/2006/main">
              <a:ext uri="{FF2B5EF4-FFF2-40B4-BE49-F238E27FC236}">
                <a16:creationId xmlns:a16="http://schemas.microsoft.com/office/drawing/2014/main" id="{99D35FB3-42E4-4DA7-BA4F-905CD8427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895725"/>
            <a:ext cx="438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800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29" name="계획을 밝힌 뒤&#10;최소한의 변경을 수행.">
            <a:extLst xmlns:a="http://schemas.openxmlformats.org/drawingml/2006/main">
              <a:ext uri="{FF2B5EF4-FFF2-40B4-BE49-F238E27FC236}">
                <a16:creationId xmlns:a16="http://schemas.microsoft.com/office/drawing/2014/main" id="{19D9216D-E821-449C-860D-5F6F6ED43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810000"/>
            <a:ext cx="42672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계획을 밝힌 뒤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최소한의 변경을 수행.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94E810E-D901-43C1-A294-CCB4E3A5B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524375"/>
            <a:ext cx="51625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03">
            <a:extLst xmlns:a="http://schemas.openxmlformats.org/drawingml/2006/main">
              <a:ext uri="{FF2B5EF4-FFF2-40B4-BE49-F238E27FC236}">
                <a16:creationId xmlns:a16="http://schemas.microsoft.com/office/drawing/2014/main" id="{F1DC8821-C8A0-4C50-A880-B1EFD36A8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657725"/>
            <a:ext cx="438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800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32" name="관련·전체 테스트와 동일 측정,&#10;CLI·diff 확인 및 최종 검토.">
            <a:extLst xmlns:a="http://schemas.openxmlformats.org/drawingml/2006/main">
              <a:ext uri="{FF2B5EF4-FFF2-40B4-BE49-F238E27FC236}">
                <a16:creationId xmlns:a16="http://schemas.microsoft.com/office/drawing/2014/main" id="{7FE1666E-42F4-4450-B330-C8D5DAA73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572000"/>
            <a:ext cx="42672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관련·전체 테스트와 동일 측정,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CLI·diff 확인 및 최종 검토.</a:t>
            </a:r>
          </a:p>
        </p:txBody>
      </p:sp>
      <p:sp>
        <p:nvSpPr>
          <p:cNvPr id="33" name="목표는 달라도, 확인하고 판단하는 지시가 반복됐다">
            <a:extLst xmlns:a="http://schemas.openxmlformats.org/drawingml/2006/main">
              <a:ext uri="{FF2B5EF4-FFF2-40B4-BE49-F238E27FC236}">
                <a16:creationId xmlns:a16="http://schemas.microsoft.com/office/drawing/2014/main" id="{A9202FCA-81F0-4F62-AA6D-76ACAE1AF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목표는 달라도, 확인하고 판단하는 지시가 반복됐다</a:t>
            </a:r>
          </a:p>
        </p:txBody>
      </p:sp>
      <p:sp>
        <p:nvSpPr>
          <p:cNvPr id="34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AF598B6F-3FEB-4DA3-A044-6A865BC31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 · M5 · M8</a:t>
            </a:r>
          </a:p>
        </p:txBody>
      </p:sp>
    </p:spTree>
    <p:extLst>
      <p:ext uri="{BB962C8B-B14F-4D97-AF65-F5344CB8AC3E}">
        <p14:creationId xmlns:p14="http://schemas.microsoft.com/office/powerpoint/2010/main" val="212854148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ACT 3 · 같은 정보를 작업에 적용하는 방법">
            <a:extLst xmlns:a="http://schemas.openxmlformats.org/drawingml/2006/main">
              <a:ext uri="{FF2B5EF4-FFF2-40B4-BE49-F238E27FC236}">
                <a16:creationId xmlns:a16="http://schemas.microsoft.com/office/drawing/2014/main" id="{D08DEF6B-B065-4F27-B62C-29D6F60D9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같은 정보를 작업에 적용하는 방법</a:t>
            </a:r>
          </a:p>
        </p:txBody>
      </p:sp>
      <p:sp>
        <p:nvSpPr>
          <p:cNvPr id="2" name="S51">
            <a:extLst xmlns:a="http://schemas.openxmlformats.org/drawingml/2006/main">
              <a:ext uri="{FF2B5EF4-FFF2-40B4-BE49-F238E27FC236}">
                <a16:creationId xmlns:a16="http://schemas.microsoft.com/office/drawing/2014/main" id="{DCB0D999-2CB0-43EF-8412-34E056B75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S51</a:t>
            </a:r>
          </a:p>
        </p:txBody>
      </p:sp>
      <p:sp>
        <p:nvSpPr>
          <p:cNvPr id="3" name="테스트 명령을 언제 쓰고 무엇을 판단할까?">
            <a:extLst xmlns:a="http://schemas.openxmlformats.org/drawingml/2006/main">
              <a:ext uri="{FF2B5EF4-FFF2-40B4-BE49-F238E27FC236}">
                <a16:creationId xmlns:a16="http://schemas.microsoft.com/office/drawing/2014/main" id="{2FC3B4AE-5D15-404B-8F05-A68658424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테스트 명령을 언제 쓰고 무엇을 판단할까?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8F4EB9-B3C5-4F13-98FB-16AD6D2A4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교육용 수행 예시 · TRIAL-006/007의 반복 요청을 바탕으로 구성">
            <a:extLst xmlns:a="http://schemas.openxmlformats.org/drawingml/2006/main">
              <a:ext uri="{FF2B5EF4-FFF2-40B4-BE49-F238E27FC236}">
                <a16:creationId xmlns:a16="http://schemas.microsoft.com/office/drawing/2014/main" id="{5C81E5B1-C9EE-4105-B31D-8EDE027BC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교육용 수행 예시 · TRIAL-006/007의 반복 요청을 바탕으로 구성</a:t>
            </a:r>
          </a:p>
        </p:txBody>
      </p:sp>
      <p:sp>
        <p:nvSpPr>
          <p:cNvPr id="6" name="실제 실행 순서·결과의 재현 아님 · 이 방법도 AGENTS.md에 기록할 수 있음">
            <a:extLst xmlns:a="http://schemas.openxmlformats.org/drawingml/2006/main">
              <a:ext uri="{FF2B5EF4-FFF2-40B4-BE49-F238E27FC236}">
                <a16:creationId xmlns:a16="http://schemas.microsoft.com/office/drawing/2014/main" id="{7FEAD767-49A2-489B-BF31-32AEBD64E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실제 실행 순서·결과의 재현 아님 · 이 방법도 AGENTS.md에 기록할 수 있음</a:t>
            </a:r>
          </a:p>
        </p:txBody>
      </p:sp>
      <p:sp>
        <p:nvSpPr>
          <p:cNvPr id="7" name="예시: normalize 성능 조사">
            <a:extLst xmlns:a="http://schemas.openxmlformats.org/drawingml/2006/main">
              <a:ext uri="{FF2B5EF4-FFF2-40B4-BE49-F238E27FC236}">
                <a16:creationId xmlns:a16="http://schemas.microsoft.com/office/drawing/2014/main" id="{B68E17CD-F9DC-40D8-9412-4A9C68D25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예시: normalize 성능 조사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023D79-2268-4B62-9FF8-E25209254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109728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9" name="AGENTS.md">
            <a:extLst xmlns:a="http://schemas.openxmlformats.org/drawingml/2006/main">
              <a:ext uri="{FF2B5EF4-FFF2-40B4-BE49-F238E27FC236}">
                <a16:creationId xmlns:a16="http://schemas.microsoft.com/office/drawing/2014/main" id="{C5B74194-103A-4E86-871A-FCEEC22AE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33625"/>
            <a:ext cx="2400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AGENTS.md</a:t>
            </a:r>
          </a:p>
        </p:txBody>
      </p:sp>
      <p:sp>
        <p:nvSpPr>
          <p:cNvPr id="10" name="프로젝트에서 확인한 정보">
            <a:extLst xmlns:a="http://schemas.openxmlformats.org/drawingml/2006/main">
              <a:ext uri="{FF2B5EF4-FFF2-40B4-BE49-F238E27FC236}">
                <a16:creationId xmlns:a16="http://schemas.microsoft.com/office/drawing/2014/main" id="{A9A68B9B-4219-4C4D-A246-BC95EF66A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47950"/>
            <a:ext cx="24003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프로젝트에서 확인한 정보</a:t>
            </a:r>
          </a:p>
        </p:txBody>
      </p:sp>
      <p:sp>
        <p:nvSpPr>
          <p:cNvPr id="11" name="테스트 실행 방법">
            <a:extLst xmlns:a="http://schemas.openxmlformats.org/drawingml/2006/main">
              <a:ext uri="{FF2B5EF4-FFF2-40B4-BE49-F238E27FC236}">
                <a16:creationId xmlns:a16="http://schemas.microsoft.com/office/drawing/2014/main" id="{228E0E82-4053-4D40-8713-14DCD3960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419350"/>
            <a:ext cx="2343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테스트 실행 방법</a:t>
            </a:r>
          </a:p>
        </p:txBody>
      </p:sp>
      <p:sp>
        <p:nvSpPr>
          <p:cNvPr id="12" name="보존할 동작 명세">
            <a:extLst xmlns:a="http://schemas.openxmlformats.org/drawingml/2006/main">
              <a:ext uri="{FF2B5EF4-FFF2-40B4-BE49-F238E27FC236}">
                <a16:creationId xmlns:a16="http://schemas.microsoft.com/office/drawing/2014/main" id="{C86E636A-B6A2-42BA-A56E-8ED06F28A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2419350"/>
            <a:ext cx="2419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보존할 동작 명세</a:t>
            </a:r>
          </a:p>
        </p:txBody>
      </p:sp>
      <p:sp>
        <p:nvSpPr>
          <p:cNvPr id="13" name="성능 측정 방법">
            <a:extLst xmlns:a="http://schemas.openxmlformats.org/drawingml/2006/main">
              <a:ext uri="{FF2B5EF4-FFF2-40B4-BE49-F238E27FC236}">
                <a16:creationId xmlns:a16="http://schemas.microsoft.com/office/drawing/2014/main" id="{BEAE6905-78F3-4B26-B4E6-849455801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2575" y="2419350"/>
            <a:ext cx="22193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성능 측정 방법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BA0929-723C-47C8-96F8-EAFD67668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81325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7D0DA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B03760-8510-4286-98C3-A6C0D4816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171825"/>
            <a:ext cx="762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7D0D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EB09433-BE4D-4437-BF4A-154CA268E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0275" y="3171825"/>
            <a:ext cx="171450" cy="1714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C7D0DA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FC1AF20-290F-4C7B-8085-AAE15948D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171825"/>
            <a:ext cx="171450" cy="1714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C7D0DA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4B9EA4-1864-4402-B1FA-09010EBCB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3171825"/>
            <a:ext cx="171450" cy="1714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C7D0DA"/>
          </a:solidFill>
          <a:ln xmlns:a="http://schemas.openxmlformats.org/drawingml/2006/main" w="0">
            <a:noFill/>
          </a:ln>
        </p:spPr>
      </p:sp>
      <p:sp>
        <p:nvSpPr>
          <p:cNvPr id="19" name="01  변경 전">
            <a:extLst xmlns:a="http://schemas.openxmlformats.org/drawingml/2006/main">
              <a:ext uri="{FF2B5EF4-FFF2-40B4-BE49-F238E27FC236}">
                <a16:creationId xmlns:a16="http://schemas.microsoft.com/office/drawing/2014/main" id="{C05D056F-A71C-427F-9EA7-B3CF185FA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335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01  변경 전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3A25EDF-F086-459C-A5CF-B90757298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3352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2A0CC22-0852-4BC8-9FD4-90FDB2615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81450"/>
            <a:ext cx="295275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T">
            <a:extLst xmlns:a="http://schemas.openxmlformats.org/drawingml/2006/main">
              <a:ext uri="{FF2B5EF4-FFF2-40B4-BE49-F238E27FC236}">
                <a16:creationId xmlns:a16="http://schemas.microsoft.com/office/drawing/2014/main" id="{3BF84C14-D406-4BE5-82D4-6F93186B6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81450"/>
            <a:ext cx="2952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65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defPPr>
            <a:lvl1pPr algn="ctr">
              <a:defRPr sz="165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1pPr>
            <a:lvl2pPr algn="ctr">
              <a:defRPr sz="165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2pPr>
            <a:lvl3pPr algn="ctr">
              <a:defRPr sz="165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3pPr>
            <a:lvl4pPr algn="ctr">
              <a:defRPr sz="165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4pPr>
            <a:lvl5pPr algn="ctr">
              <a:defRPr sz="165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5pPr>
            <a:lvl6pPr algn="ctr">
              <a:defRPr sz="165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6pPr>
            <a:lvl7pPr algn="ctr">
              <a:defRPr sz="165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7pPr>
            <a:lvl8pPr algn="ctr">
              <a:defRPr sz="165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8pPr>
            <a:lvl9pPr algn="ctr">
              <a:defRPr sz="165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T</a:t>
            </a:r>
          </a:p>
        </p:txBody>
      </p:sp>
      <p:sp>
        <p:nvSpPr>
          <p:cNvPr id="23" name="테스트 실행">
            <a:extLst xmlns:a="http://schemas.openxmlformats.org/drawingml/2006/main">
              <a:ext uri="{FF2B5EF4-FFF2-40B4-BE49-F238E27FC236}">
                <a16:creationId xmlns:a16="http://schemas.microsoft.com/office/drawing/2014/main" id="{E1F3A692-864A-4D70-A773-747A51AC7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3952875"/>
            <a:ext cx="26003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테스트 실행</a:t>
            </a:r>
          </a:p>
        </p:txBody>
      </p:sp>
      <p:sp>
        <p:nvSpPr>
          <p:cNvPr id="24" name="현재 테스트·성능 확인">
            <a:extLst xmlns:a="http://schemas.openxmlformats.org/drawingml/2006/main">
              <a:ext uri="{FF2B5EF4-FFF2-40B4-BE49-F238E27FC236}">
                <a16:creationId xmlns:a16="http://schemas.microsoft.com/office/drawing/2014/main" id="{5A461426-00B3-46F1-8711-7B157A885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67225"/>
            <a:ext cx="335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현재 테스트·성능 확인</a:t>
            </a:r>
          </a:p>
        </p:txBody>
      </p:sp>
      <p:sp>
        <p:nvSpPr>
          <p:cNvPr id="25" name="원래 상태는 어땠지?">
            <a:extLst xmlns:a="http://schemas.openxmlformats.org/drawingml/2006/main">
              <a:ext uri="{FF2B5EF4-FFF2-40B4-BE49-F238E27FC236}">
                <a16:creationId xmlns:a16="http://schemas.microsoft.com/office/drawing/2014/main" id="{76543273-0B5D-496B-B4F0-B0B811D61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3352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원래 상태는 어땠지?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C7FAF14-F6DE-453B-AA7F-A5BA9DACE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4057650"/>
            <a:ext cx="2667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7" name="02  변경 후">
            <a:extLst xmlns:a="http://schemas.openxmlformats.org/drawingml/2006/main">
              <a:ext uri="{FF2B5EF4-FFF2-40B4-BE49-F238E27FC236}">
                <a16:creationId xmlns:a16="http://schemas.microsoft.com/office/drawing/2014/main" id="{F8AD5648-2201-4BF2-B1D8-3E667EB99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409950"/>
            <a:ext cx="335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02  변경 후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749FBFF-8E9A-4F14-929C-3B4764EA4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905250"/>
            <a:ext cx="3352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3BDC06C-C0C5-441F-8437-91954F5BD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981450"/>
            <a:ext cx="295275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T">
            <a:extLst xmlns:a="http://schemas.openxmlformats.org/drawingml/2006/main">
              <a:ext uri="{FF2B5EF4-FFF2-40B4-BE49-F238E27FC236}">
                <a16:creationId xmlns:a16="http://schemas.microsoft.com/office/drawing/2014/main" id="{5AC523C1-E5EA-4B67-8F29-6F0073478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981450"/>
            <a:ext cx="2952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65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defPPr>
            <a:lvl1pPr algn="ctr">
              <a:defRPr sz="165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1pPr>
            <a:lvl2pPr algn="ctr">
              <a:defRPr sz="165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2pPr>
            <a:lvl3pPr algn="ctr">
              <a:defRPr sz="165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3pPr>
            <a:lvl4pPr algn="ctr">
              <a:defRPr sz="165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4pPr>
            <a:lvl5pPr algn="ctr">
              <a:defRPr sz="165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5pPr>
            <a:lvl6pPr algn="ctr">
              <a:defRPr sz="165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6pPr>
            <a:lvl7pPr algn="ctr">
              <a:defRPr sz="165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7pPr>
            <a:lvl8pPr algn="ctr">
              <a:defRPr sz="165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8pPr>
            <a:lvl9pPr algn="ctr">
              <a:defRPr sz="165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T</a:t>
            </a:r>
          </a:p>
        </p:txBody>
      </p:sp>
      <p:sp>
        <p:nvSpPr>
          <p:cNvPr id="31" name="테스트 실행">
            <a:extLst xmlns:a="http://schemas.openxmlformats.org/drawingml/2006/main">
              <a:ext uri="{FF2B5EF4-FFF2-40B4-BE49-F238E27FC236}">
                <a16:creationId xmlns:a16="http://schemas.microsoft.com/office/drawing/2014/main" id="{5EAA8D7C-90E4-4926-B57F-55A929257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3952875"/>
            <a:ext cx="26003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테스트 실행</a:t>
            </a:r>
          </a:p>
        </p:txBody>
      </p:sp>
      <p:sp>
        <p:nvSpPr>
          <p:cNvPr id="32" name="같은 조건으로 다시 측정">
            <a:extLst xmlns:a="http://schemas.openxmlformats.org/drawingml/2006/main">
              <a:ext uri="{FF2B5EF4-FFF2-40B4-BE49-F238E27FC236}">
                <a16:creationId xmlns:a16="http://schemas.microsoft.com/office/drawing/2014/main" id="{807489A1-CBFC-4E8E-BD1F-9D8BC7B49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467225"/>
            <a:ext cx="335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같은 조건으로 다시 측정</a:t>
            </a:r>
          </a:p>
        </p:txBody>
      </p:sp>
      <p:sp>
        <p:nvSpPr>
          <p:cNvPr id="33" name="무엇이 달라졌지?">
            <a:extLst xmlns:a="http://schemas.openxmlformats.org/drawingml/2006/main">
              <a:ext uri="{FF2B5EF4-FFF2-40B4-BE49-F238E27FC236}">
                <a16:creationId xmlns:a16="http://schemas.microsoft.com/office/drawing/2014/main" id="{54C1698E-70FD-4977-AE69-411C68C00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857750"/>
            <a:ext cx="3352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무엇이 달라졌지?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BADE306-A20B-404F-987D-F802EAE6D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057650"/>
            <a:ext cx="2667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35" name="03  완료 판단">
            <a:extLst xmlns:a="http://schemas.openxmlformats.org/drawingml/2006/main">
              <a:ext uri="{FF2B5EF4-FFF2-40B4-BE49-F238E27FC236}">
                <a16:creationId xmlns:a16="http://schemas.microsoft.com/office/drawing/2014/main" id="{31BE9124-B81C-412A-B2CC-92B11D0C5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409950"/>
            <a:ext cx="335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03  완료 판단</a:t>
            </a:r>
          </a:p>
        </p:txBody>
      </p:sp>
      <p:sp>
        <p:nvSpPr>
          <p:cNvPr id="36" name="결과와 미확인 사항 보고">
            <a:extLst xmlns:a="http://schemas.openxmlformats.org/drawingml/2006/main">
              <a:ext uri="{FF2B5EF4-FFF2-40B4-BE49-F238E27FC236}">
                <a16:creationId xmlns:a16="http://schemas.microsoft.com/office/drawing/2014/main" id="{5D5909B4-4671-4BB2-8D61-07EABE8D2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952875"/>
            <a:ext cx="335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결과와 미확인 사항 보고</a:t>
            </a:r>
          </a:p>
        </p:txBody>
      </p:sp>
      <p:sp>
        <p:nvSpPr>
          <p:cNvPr id="37" name="동작 보존 + 측정 결과">
            <a:extLst xmlns:a="http://schemas.openxmlformats.org/drawingml/2006/main">
              <a:ext uri="{FF2B5EF4-FFF2-40B4-BE49-F238E27FC236}">
                <a16:creationId xmlns:a16="http://schemas.microsoft.com/office/drawing/2014/main" id="{CB48520B-9E99-442B-8A0F-B6E254295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467225"/>
            <a:ext cx="335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동작 보존 + 측정 결과</a:t>
            </a:r>
          </a:p>
        </p:txBody>
      </p:sp>
      <p:sp>
        <p:nvSpPr>
          <p:cNvPr id="38" name="완료라고 말할 근거는?">
            <a:extLst xmlns:a="http://schemas.openxmlformats.org/drawingml/2006/main">
              <a:ext uri="{FF2B5EF4-FFF2-40B4-BE49-F238E27FC236}">
                <a16:creationId xmlns:a16="http://schemas.microsoft.com/office/drawing/2014/main" id="{EE5B630F-908C-4784-A3DE-C0F52D4BC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57750"/>
            <a:ext cx="3352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완료라고 말할 근거는?</a:t>
            </a:r>
          </a:p>
        </p:txBody>
      </p:sp>
      <p:sp>
        <p:nvSpPr>
          <p:cNvPr id="39" name="명령과 함께, 실행할 시점과 결과의 판단 기준도 정한다">
            <a:extLst xmlns:a="http://schemas.openxmlformats.org/drawingml/2006/main">
              <a:ext uri="{FF2B5EF4-FFF2-40B4-BE49-F238E27FC236}">
                <a16:creationId xmlns:a16="http://schemas.microsoft.com/office/drawing/2014/main" id="{3F0BBE61-007E-4C66-8CB1-24DA830D9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72100"/>
            <a:ext cx="109728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명령과 함께, 실행할 시점과 결과의 판단 기준도 정한다</a:t>
            </a:r>
          </a:p>
        </p:txBody>
      </p:sp>
      <p:sp>
        <p:nvSpPr>
          <p:cNvPr id="40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5A5A4C82-C243-47D7-A9BB-436E86D6D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 · M8</a:t>
            </a:r>
          </a:p>
        </p:txBody>
      </p:sp>
    </p:spTree>
    <p:extLst>
      <p:ext uri="{BB962C8B-B14F-4D97-AF65-F5344CB8AC3E}">
        <p14:creationId xmlns:p14="http://schemas.microsoft.com/office/powerpoint/2010/main" val="83306218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ACT 3 · 이번 요청과 계속 쓸 기준·방법">
            <a:extLst xmlns:a="http://schemas.openxmlformats.org/drawingml/2006/main">
              <a:ext uri="{FF2B5EF4-FFF2-40B4-BE49-F238E27FC236}">
                <a16:creationId xmlns:a16="http://schemas.microsoft.com/office/drawing/2014/main" id="{BE107824-3EC1-4224-B7CE-8106DB1BB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이번 요청과 계속 쓸 기준·방법</a:t>
            </a:r>
          </a:p>
        </p:txBody>
      </p:sp>
      <p:sp>
        <p:nvSpPr>
          <p:cNvPr id="2" name="S52">
            <a:extLst xmlns:a="http://schemas.openxmlformats.org/drawingml/2006/main">
              <a:ext uri="{FF2B5EF4-FFF2-40B4-BE49-F238E27FC236}">
                <a16:creationId xmlns:a16="http://schemas.microsoft.com/office/drawing/2014/main" id="{77E4F749-1A91-4976-87DF-C5E81233F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S52</a:t>
            </a:r>
          </a:p>
        </p:txBody>
      </p:sp>
      <p:sp>
        <p:nvSpPr>
          <p:cNvPr id="3" name="목표·기준·방법을 한 작업에 적용한다">
            <a:extLst xmlns:a="http://schemas.openxmlformats.org/drawingml/2006/main">
              <a:ext uri="{FF2B5EF4-FFF2-40B4-BE49-F238E27FC236}">
                <a16:creationId xmlns:a16="http://schemas.microsoft.com/office/drawing/2014/main" id="{46A09136-DCFD-49BB-96D2-D2E2ABC7F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목표·기준·방법을 한 작업에 적용한다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3C9079-9246-4D53-BBF4-6D60A6532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교육용 적용 예 · TRIAL-006/007의 목표·보존 조건·반복 방법을 한 작업에 연결">
            <a:extLst xmlns:a="http://schemas.openxmlformats.org/drawingml/2006/main">
              <a:ext uri="{FF2B5EF4-FFF2-40B4-BE49-F238E27FC236}">
                <a16:creationId xmlns:a16="http://schemas.microsoft.com/office/drawing/2014/main" id="{F2208F06-432E-438F-9676-3B6FF61D3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교육용 적용 예 · TRIAL-006/007의 목표·보존 조건·반복 방법을 한 작업에 연결</a:t>
            </a:r>
          </a:p>
        </p:txBody>
      </p:sp>
      <p:sp>
        <p:nvSpPr>
          <p:cNvPr id="6" name="관계 설명용 도식 · 실제 실행 기록이나 제품의 공식 분류가 아님">
            <a:extLst xmlns:a="http://schemas.openxmlformats.org/drawingml/2006/main">
              <a:ext uri="{FF2B5EF4-FFF2-40B4-BE49-F238E27FC236}">
                <a16:creationId xmlns:a16="http://schemas.microsoft.com/office/drawing/2014/main" id="{29C4047B-44DD-441B-9698-C3B268C55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관계 설명용 도식 · 실제 실행 기록이나 제품의 공식 분류가 아님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32F6A6-B638-4254-9A24-85DC8DE39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70866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8" name="이번 목표">
            <a:extLst xmlns:a="http://schemas.openxmlformats.org/drawingml/2006/main">
              <a:ext uri="{FF2B5EF4-FFF2-40B4-BE49-F238E27FC236}">
                <a16:creationId xmlns:a16="http://schemas.microsoft.com/office/drawing/2014/main" id="{9D197E47-0352-4D08-9B84-527F48B44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43125"/>
            <a:ext cx="1562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목표</a:t>
            </a:r>
          </a:p>
        </p:txBody>
      </p:sp>
      <p:sp>
        <p:nvSpPr>
          <p:cNvPr id="9" name="normalize 성능을 조사해줘.">
            <a:extLst xmlns:a="http://schemas.openxmlformats.org/drawingml/2006/main">
              <a:ext uri="{FF2B5EF4-FFF2-40B4-BE49-F238E27FC236}">
                <a16:creationId xmlns:a16="http://schemas.microsoft.com/office/drawing/2014/main" id="{0B5E80C6-604A-4601-9E13-836CC5625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200275"/>
            <a:ext cx="5124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normalize 성능을 조사해줘.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93A0AB-BBAE-4B1D-8BA0-B244303E3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962275"/>
            <a:ext cx="257175" cy="219075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BDA522-1582-4625-94E4-1D2D38947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7086600" cy="1914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12" name="프로젝트에서 지킬 기준">
            <a:extLst xmlns:a="http://schemas.openxmlformats.org/drawingml/2006/main">
              <a:ext uri="{FF2B5EF4-FFF2-40B4-BE49-F238E27FC236}">
                <a16:creationId xmlns:a16="http://schemas.microsoft.com/office/drawing/2014/main" id="{C8164BCF-5C40-4658-8EE0-BC63F53DB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24225"/>
            <a:ext cx="6705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프로젝트에서 지킬 기준</a:t>
            </a:r>
          </a:p>
        </p:txBody>
      </p:sp>
      <p:sp>
        <p:nvSpPr>
          <p:cNvPr id="13" name="기존 이미지 동작 · 공개 명세 보존">
            <a:extLst xmlns:a="http://schemas.openxmlformats.org/drawingml/2006/main">
              <a:ext uri="{FF2B5EF4-FFF2-40B4-BE49-F238E27FC236}">
                <a16:creationId xmlns:a16="http://schemas.microsoft.com/office/drawing/2014/main" id="{65C8DF37-FE9A-4C93-86D0-4C77BE71D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05225"/>
            <a:ext cx="6705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기존 이미지 동작 · 공개 명세 보존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17B6A2-AADE-4516-AE4F-C3383B0EC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38625"/>
            <a:ext cx="67056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5" name="normalize 구현 조사 · 변경 여부 판단">
            <a:extLst xmlns:a="http://schemas.openxmlformats.org/drawingml/2006/main">
              <a:ext uri="{FF2B5EF4-FFF2-40B4-BE49-F238E27FC236}">
                <a16:creationId xmlns:a16="http://schemas.microsoft.com/office/drawing/2014/main" id="{E663F696-FEBA-452C-960D-D09996F5C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81500"/>
            <a:ext cx="6400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normalize 구현 조사 · 변경 여부 판단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3DC55D-F928-4154-AFC3-D5A24544B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000250"/>
            <a:ext cx="2667000" cy="3152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7" name="재사용할&#10;수행 방법">
            <a:extLst xmlns:a="http://schemas.openxmlformats.org/drawingml/2006/main">
              <a:ext uri="{FF2B5EF4-FFF2-40B4-BE49-F238E27FC236}">
                <a16:creationId xmlns:a16="http://schemas.microsoft.com/office/drawing/2014/main" id="{435C3E3A-7420-4B67-B4DB-923F54223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162175"/>
            <a:ext cx="2286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재사용할</a:t>
            </a:r>
          </a:p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수행 방법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3A34112-39DD-4F14-A1F4-CF7D7138A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057525"/>
            <a:ext cx="228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9" name="측정·조사&#10;검증·비교">
            <a:extLst xmlns:a="http://schemas.openxmlformats.org/drawingml/2006/main">
              <a:ext uri="{FF2B5EF4-FFF2-40B4-BE49-F238E27FC236}">
                <a16:creationId xmlns:a16="http://schemas.microsoft.com/office/drawing/2014/main" id="{04C8584B-D56F-42F5-9A83-56EFED765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238500"/>
            <a:ext cx="2286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측정·조사</a:t>
            </a:r>
          </a:p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검증·비교</a:t>
            </a:r>
          </a:p>
        </p:txBody>
      </p:sp>
      <p:sp>
        <p:nvSpPr>
          <p:cNvPr id="20" name="이번 작업에도 적용">
            <a:extLst xmlns:a="http://schemas.openxmlformats.org/drawingml/2006/main">
              <a:ext uri="{FF2B5EF4-FFF2-40B4-BE49-F238E27FC236}">
                <a16:creationId xmlns:a16="http://schemas.microsoft.com/office/drawing/2014/main" id="{5AC3E91D-B933-4ED6-BB6B-D2D19D151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4362450"/>
            <a:ext cx="2286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작업에도 적용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FF032BD-1675-4B18-AE7B-12F82E96C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57700"/>
            <a:ext cx="885825" cy="257175"/>
          </a:xfrm>
          <a:prstGeom xmlns:a="http://schemas.openxmlformats.org/drawingml/2006/main" prst="lef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2" name="같은 수행 방법이 다음 작업에도 필요하다면?">
            <a:extLst xmlns:a="http://schemas.openxmlformats.org/drawingml/2006/main">
              <a:ext uri="{FF2B5EF4-FFF2-40B4-BE49-F238E27FC236}">
                <a16:creationId xmlns:a16="http://schemas.microsoft.com/office/drawing/2014/main" id="{D3E33615-2B9A-45FD-A4DA-073445FDE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14950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같은 수행 방법이 다음 작업에도 필요하다면?</a:t>
            </a:r>
          </a:p>
        </p:txBody>
      </p:sp>
      <p:sp>
        <p:nvSpPr>
          <p:cNvPr id="23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48A5D4AE-C10A-4049-8252-68DDE2E65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 · M8</a:t>
            </a:r>
          </a:p>
        </p:txBody>
      </p:sp>
    </p:spTree>
    <p:extLst>
      <p:ext uri="{BB962C8B-B14F-4D97-AF65-F5344CB8AC3E}">
        <p14:creationId xmlns:p14="http://schemas.microsoft.com/office/powerpoint/2010/main" val="71846266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ACT 3 · Skill은 재사용할 방법의 한 가지 구현">
            <a:extLst xmlns:a="http://schemas.openxmlformats.org/drawingml/2006/main">
              <a:ext uri="{FF2B5EF4-FFF2-40B4-BE49-F238E27FC236}">
                <a16:creationId xmlns:a16="http://schemas.microsoft.com/office/drawing/2014/main" id="{8B923ABE-9838-4185-B1D0-DF695D827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Skill은 재사용할 방법의 한 가지 구현</a:t>
            </a:r>
          </a:p>
        </p:txBody>
      </p:sp>
      <p:sp>
        <p:nvSpPr>
          <p:cNvPr id="2" name="S53">
            <a:extLst xmlns:a="http://schemas.openxmlformats.org/drawingml/2006/main">
              <a:ext uri="{FF2B5EF4-FFF2-40B4-BE49-F238E27FC236}">
                <a16:creationId xmlns:a16="http://schemas.microsoft.com/office/drawing/2014/main" id="{185F3452-ED83-4D7E-8FAA-D5BA5153A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S53</a:t>
            </a:r>
          </a:p>
        </p:txBody>
      </p:sp>
      <p:sp>
        <p:nvSpPr>
          <p:cNvPr id="3" name="반복 절차의 유지 위치를 선택한다">
            <a:extLst xmlns:a="http://schemas.openxmlformats.org/drawingml/2006/main">
              <a:ext uri="{FF2B5EF4-FFF2-40B4-BE49-F238E27FC236}">
                <a16:creationId xmlns:a16="http://schemas.microsoft.com/office/drawing/2014/main" id="{4FD40D6F-6C33-4CE3-848B-1FC5772A3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반복 절차의 유지 위치를 선택한다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16A0C6-9E20-4CB4-8865-6F2A32D48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DEC-0017 · Repository-owned performance Skill을 선택한 설계 후보">
            <a:extLst xmlns:a="http://schemas.openxmlformats.org/drawingml/2006/main">
              <a:ext uri="{FF2B5EF4-FFF2-40B4-BE49-F238E27FC236}">
                <a16:creationId xmlns:a16="http://schemas.microsoft.com/office/drawing/2014/main" id="{1801104F-8068-44AF-B39E-FBA29A43D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DEC-0017 · Repository-owned performance Skill을 선택한 설계 후보</a:t>
            </a:r>
          </a:p>
        </p:txBody>
      </p:sp>
      <p:sp>
        <p:nvSpPr>
          <p:cNvPr id="6" name="성공 결과를 미리 제시하지 않음 · 현재 제품 표면·계정·호출 경로는 별도 확인 필요">
            <a:extLst xmlns:a="http://schemas.openxmlformats.org/drawingml/2006/main">
              <a:ext uri="{FF2B5EF4-FFF2-40B4-BE49-F238E27FC236}">
                <a16:creationId xmlns:a16="http://schemas.microsoft.com/office/drawing/2014/main" id="{6FEE5964-05EE-4FCA-A86D-193630876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성공 결과를 미리 제시하지 않음 · 현재 제품 표면·계정·호출 경로는 별도 확인 필요</a:t>
            </a:r>
          </a:p>
        </p:txBody>
      </p:sp>
      <p:sp>
        <p:nvSpPr>
          <p:cNvPr id="7" name="Task마다 달라질 부분과, 함께 고칠 방법을 나눈다">
            <a:extLst xmlns:a="http://schemas.openxmlformats.org/drawingml/2006/main">
              <a:ext uri="{FF2B5EF4-FFF2-40B4-BE49-F238E27FC236}">
                <a16:creationId xmlns:a16="http://schemas.microsoft.com/office/drawing/2014/main" id="{E168516D-9592-4409-B2EB-2341A8CF4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Task마다 달라질 부분과, 함께 고칠 방법을 나눈다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19A581-B569-4C15-BB41-7332D2B4C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90775"/>
            <a:ext cx="4333875" cy="2371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9" name="매번 달라지는 요청">
            <a:extLst xmlns:a="http://schemas.openxmlformats.org/drawingml/2006/main">
              <a:ext uri="{FF2B5EF4-FFF2-40B4-BE49-F238E27FC236}">
                <a16:creationId xmlns:a16="http://schemas.microsoft.com/office/drawing/2014/main" id="{52B23E18-FC3D-4038-8C52-AF952F0E2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05075"/>
            <a:ext cx="39909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매번 달라지는 요청</a:t>
            </a:r>
          </a:p>
        </p:txBody>
      </p:sp>
      <p:sp>
        <p:nvSpPr>
          <p:cNvPr id="10" name="어느 함수를 조사할까?&#10;이번 변경 범위는?&#10;무엇을 보존할까?">
            <a:extLst xmlns:a="http://schemas.openxmlformats.org/drawingml/2006/main">
              <a:ext uri="{FF2B5EF4-FFF2-40B4-BE49-F238E27FC236}">
                <a16:creationId xmlns:a16="http://schemas.microsoft.com/office/drawing/2014/main" id="{2ACEBC0A-ACE0-4302-BF68-C5DFE5669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28950"/>
            <a:ext cx="3990975" cy="1628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어느 함수를 조사할까?</a:t>
            </a:r>
          </a:p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이번 변경 범위는?</a:t>
            </a:r>
          </a:p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무엇을 보존할까?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AF4C70-5F5E-49C2-8B4E-951508D98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3333750"/>
            <a:ext cx="381000" cy="2381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D78B79-D568-47BB-BCEA-2BD400874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2390775"/>
            <a:ext cx="5495925" cy="2371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3" name="프로젝트가 재사용할 절차">
            <a:extLst xmlns:a="http://schemas.openxmlformats.org/drawingml/2006/main">
              <a:ext uri="{FF2B5EF4-FFF2-40B4-BE49-F238E27FC236}">
                <a16:creationId xmlns:a16="http://schemas.microsoft.com/office/drawing/2014/main" id="{F2B303ED-A7DC-435D-8D9A-802266803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505075"/>
            <a:ext cx="51530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프로젝트가 재사용할 절차</a:t>
            </a:r>
          </a:p>
        </p:txBody>
      </p:sp>
      <p:sp>
        <p:nvSpPr>
          <p:cNvPr id="14" name="기준선 → 조사 → 변경 판단&#10;검증 → 동일 측정 → 보고">
            <a:extLst xmlns:a="http://schemas.openxmlformats.org/drawingml/2006/main">
              <a:ext uri="{FF2B5EF4-FFF2-40B4-BE49-F238E27FC236}">
                <a16:creationId xmlns:a16="http://schemas.microsoft.com/office/drawing/2014/main" id="{C51A1889-E31A-4DE1-86D1-D09285DED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028950"/>
            <a:ext cx="5153025" cy="1628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기준선 → 조사 → 변경 판단</a:t>
            </a:r>
          </a:p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검증 → 동일 측정 → 보고</a:t>
            </a:r>
          </a:p>
        </p:txBody>
      </p:sp>
      <p:sp>
        <p:nvSpPr>
          <p:cNvPr id="15" name="구현 후보: SKILL.md">
            <a:extLst xmlns:a="http://schemas.openxmlformats.org/drawingml/2006/main">
              <a:ext uri="{FF2B5EF4-FFF2-40B4-BE49-F238E27FC236}">
                <a16:creationId xmlns:a16="http://schemas.microsoft.com/office/drawing/2014/main" id="{C09EA0E8-9E02-40A7-B9AA-E21B61FFA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4295775"/>
            <a:ext cx="511492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구현 후보: SKILL.md</a:t>
            </a:r>
          </a:p>
        </p:txBody>
      </p:sp>
      <p:sp>
        <p:nvSpPr>
          <p:cNvPr id="16" name="다음 기록에서, 발견·호출·본문 포함을 확인한다">
            <a:extLst xmlns:a="http://schemas.openxmlformats.org/drawingml/2006/main">
              <a:ext uri="{FF2B5EF4-FFF2-40B4-BE49-F238E27FC236}">
                <a16:creationId xmlns:a16="http://schemas.microsoft.com/office/drawing/2014/main" id="{2E56F302-080A-4828-AB88-E8EE992A3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959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다음 기록에서, 발견·호출·본문 포함을 확인한다</a:t>
            </a:r>
          </a:p>
        </p:txBody>
      </p:sp>
      <p:sp>
        <p:nvSpPr>
          <p:cNvPr id="17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8D6D2E6F-602D-4D1F-8C7C-84C1EE69A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 · M8</a:t>
            </a:r>
          </a:p>
        </p:txBody>
      </p:sp>
    </p:spTree>
    <p:extLst>
      <p:ext uri="{BB962C8B-B14F-4D97-AF65-F5344CB8AC3E}">
        <p14:creationId xmlns:p14="http://schemas.microsoft.com/office/powerpoint/2010/main" val="73133449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ACT 3 · 밝기 통계 작업에서 확인한 CLI 기록">
            <a:extLst xmlns:a="http://schemas.openxmlformats.org/drawingml/2006/main">
              <a:ext uri="{FF2B5EF4-FFF2-40B4-BE49-F238E27FC236}">
                <a16:creationId xmlns:a16="http://schemas.microsoft.com/office/drawing/2014/main" id="{8E5A170B-DC87-4FAA-BD63-71FCEC5F4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밝기 통계 작업에서 확인한 CLI 기록</a:t>
            </a:r>
          </a:p>
        </p:txBody>
      </p:sp>
      <p:sp>
        <p:nvSpPr>
          <p:cNvPr id="2" name="S54">
            <a:extLst xmlns:a="http://schemas.openxmlformats.org/drawingml/2006/main">
              <a:ext uri="{FF2B5EF4-FFF2-40B4-BE49-F238E27FC236}">
                <a16:creationId xmlns:a16="http://schemas.microsoft.com/office/drawing/2014/main" id="{0A830C95-7FE8-44CD-AB13-F036F7FC3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S54</a:t>
            </a:r>
          </a:p>
        </p:txBody>
      </p:sp>
      <p:sp>
        <p:nvSpPr>
          <p:cNvPr id="3" name="Skill의 발견과 본문 포함을 확인했다">
            <a:extLst xmlns:a="http://schemas.openxmlformats.org/drawingml/2006/main">
              <a:ext uri="{FF2B5EF4-FFF2-40B4-BE49-F238E27FC236}">
                <a16:creationId xmlns:a16="http://schemas.microsoft.com/office/drawing/2014/main" id="{26E44DB3-E947-40D6-9F5B-DDF50D054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Skill의 발견과 본문 포함을 확인했다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6199B2-711C-4548-83F3-39FB13CC7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RIAL-008 · Codex CLI 0.154.0 · 아래는 기록 요약·재구성이며 실제 UI 캡처가 아님">
            <a:extLst xmlns:a="http://schemas.openxmlformats.org/drawingml/2006/main">
              <a:ext uri="{FF2B5EF4-FFF2-40B4-BE49-F238E27FC236}">
                <a16:creationId xmlns:a16="http://schemas.microsoft.com/office/drawing/2014/main" id="{08D959C7-CBB0-4487-B6E2-065C22139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TRIAL-008 · Codex CLI 0.154.0 · 아래는 기록 요약·재구성이며 실제 UI 캡처가 아님</a:t>
            </a:r>
          </a:p>
        </p:txBody>
      </p:sp>
      <p:sp>
        <p:nvSpPr>
          <p:cNvPr id="6" name="별도 load UI 이벤트 없음 · 본문 포함이 모든 지침 준수나 현재 Desktop 동작을 보장하지 않음">
            <a:extLst xmlns:a="http://schemas.openxmlformats.org/drawingml/2006/main">
              <a:ext uri="{FF2B5EF4-FFF2-40B4-BE49-F238E27FC236}">
                <a16:creationId xmlns:a16="http://schemas.microsoft.com/office/drawing/2014/main" id="{BBF5A61F-303D-41BB-8367-9657F6083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별도 load UI 이벤트 없음 · 본문 포함이 모든 지침 준수나 현재 Desktop 동작을 보장하지 않음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D2F713-104E-44F2-8985-84016AAD4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1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8" name="01">
            <a:extLst xmlns:a="http://schemas.openxmlformats.org/drawingml/2006/main">
              <a:ext uri="{FF2B5EF4-FFF2-40B4-BE49-F238E27FC236}">
                <a16:creationId xmlns:a16="http://schemas.microsoft.com/office/drawing/2014/main" id="{F8DB7E50-22BD-4100-979A-5CDA6AE7B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950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9" name="목록에서 발견">
            <a:extLst xmlns:a="http://schemas.openxmlformats.org/drawingml/2006/main">
              <a:ext uri="{FF2B5EF4-FFF2-40B4-BE49-F238E27FC236}">
                <a16:creationId xmlns:a16="http://schemas.microsoft.com/office/drawing/2014/main" id="{7736698A-7557-4D86-BB5E-849D4024A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2105025"/>
            <a:ext cx="10144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목록에서 발견</a:t>
            </a:r>
          </a:p>
        </p:txBody>
      </p:sp>
      <p:sp>
        <p:nvSpPr>
          <p:cNvPr id="10" name="/skills → graypipe-performance">
            <a:extLst xmlns:a="http://schemas.openxmlformats.org/drawingml/2006/main">
              <a:ext uri="{FF2B5EF4-FFF2-40B4-BE49-F238E27FC236}">
                <a16:creationId xmlns:a16="http://schemas.microsoft.com/office/drawing/2014/main" id="{F9D31CBC-84DA-4B70-829A-95C5055AC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2514600"/>
            <a:ext cx="1014412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1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1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1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1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1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1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1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1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1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21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/skills → graypipe-performance</a:t>
            </a:r>
          </a:p>
        </p:txBody>
      </p:sp>
      <p:sp>
        <p:nvSpPr>
          <p:cNvPr id="11" name="이름과 잘린 설명이 표시됨 · 경로는 목록에 없었음">
            <a:extLst xmlns:a="http://schemas.openxmlformats.org/drawingml/2006/main">
              <a:ext uri="{FF2B5EF4-FFF2-40B4-BE49-F238E27FC236}">
                <a16:creationId xmlns:a16="http://schemas.microsoft.com/office/drawing/2014/main" id="{4A2B5F51-D75E-4650-995A-E132DC49C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2876550"/>
            <a:ext cx="10144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이름과 잘린 설명이 표시됨 · 경로는 목록에 없었음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585A5D-45D2-4521-93A5-DCA219F7C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99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3" name="02">
            <a:extLst xmlns:a="http://schemas.openxmlformats.org/drawingml/2006/main">
              <a:ext uri="{FF2B5EF4-FFF2-40B4-BE49-F238E27FC236}">
                <a16:creationId xmlns:a16="http://schemas.microsoft.com/office/drawing/2014/main" id="{E44D3E97-6E15-4B15-A231-154F7D0CF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43275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950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4" name="작업과 함께 명시적으로 호출">
            <a:extLst xmlns:a="http://schemas.openxmlformats.org/drawingml/2006/main">
              <a:ext uri="{FF2B5EF4-FFF2-40B4-BE49-F238E27FC236}">
                <a16:creationId xmlns:a16="http://schemas.microsoft.com/office/drawing/2014/main" id="{C230C5B9-BD0D-40AA-8FA7-5109FDF02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3295650"/>
            <a:ext cx="10144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작업과 함께 명시적으로 호출</a:t>
            </a:r>
          </a:p>
        </p:txBody>
      </p:sp>
      <p:sp>
        <p:nvSpPr>
          <p:cNvPr id="15" name="$graypipe-performance">
            <a:extLst xmlns:a="http://schemas.openxmlformats.org/drawingml/2006/main">
              <a:ext uri="{FF2B5EF4-FFF2-40B4-BE49-F238E27FC236}">
                <a16:creationId xmlns:a16="http://schemas.microsoft.com/office/drawing/2014/main" id="{F86A5393-43F3-4130-8CDD-E02E8506E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3705225"/>
            <a:ext cx="1014412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1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1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1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1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1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1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1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1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1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21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$graypipe-performance</a:t>
            </a:r>
          </a:p>
        </p:txBody>
      </p:sp>
      <p:sp>
        <p:nvSpPr>
          <p:cNvPr id="16" name="밝기 통계(image_statistics)의 시간·할당량 조사">
            <a:extLst xmlns:a="http://schemas.openxmlformats.org/drawingml/2006/main">
              <a:ext uri="{FF2B5EF4-FFF2-40B4-BE49-F238E27FC236}">
                <a16:creationId xmlns:a16="http://schemas.microsoft.com/office/drawing/2014/main" id="{0FDF7F01-2E18-477E-BE45-1EA435FF2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4067175"/>
            <a:ext cx="10144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밝기 통계(image_statistics)의 시간·할당량 조사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534AD4-3D84-4E49-A72F-58BC53BA6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005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8" name="03">
            <a:extLst xmlns:a="http://schemas.openxmlformats.org/drawingml/2006/main">
              <a:ext uri="{FF2B5EF4-FFF2-40B4-BE49-F238E27FC236}">
                <a16:creationId xmlns:a16="http://schemas.microsoft.com/office/drawing/2014/main" id="{C4DA1D02-9501-4EC9-A55E-F49604A45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339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950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9" name="실행 기록에서 본문 포함 확인">
            <a:extLst xmlns:a="http://schemas.openxmlformats.org/drawingml/2006/main">
              <a:ext uri="{FF2B5EF4-FFF2-40B4-BE49-F238E27FC236}">
                <a16:creationId xmlns:a16="http://schemas.microsoft.com/office/drawing/2014/main" id="{B4FFC556-DA43-4C99-B1C1-890A37152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4486275"/>
            <a:ext cx="10144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실행 기록에서 본문 포함 확인</a:t>
            </a:r>
          </a:p>
        </p:txBody>
      </p:sp>
      <p:sp>
        <p:nvSpPr>
          <p:cNvPr id="20" name=".agents/skills/graypipe-performance/SKILL.md">
            <a:extLst xmlns:a="http://schemas.openxmlformats.org/drawingml/2006/main">
              <a:ext uri="{FF2B5EF4-FFF2-40B4-BE49-F238E27FC236}">
                <a16:creationId xmlns:a16="http://schemas.microsoft.com/office/drawing/2014/main" id="{13E89BCB-583E-4DB8-A620-02061DD27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4895850"/>
            <a:ext cx="1014412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800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.agents/skills/graypipe-performance/SKILL.md</a:t>
            </a:r>
          </a:p>
        </p:txBody>
      </p:sp>
      <p:sp>
        <p:nvSpPr>
          <p:cNvPr id="21" name="이름·경로·전체 지침 본문이 실행 trace에 포함됨">
            <a:extLst xmlns:a="http://schemas.openxmlformats.org/drawingml/2006/main">
              <a:ext uri="{FF2B5EF4-FFF2-40B4-BE49-F238E27FC236}">
                <a16:creationId xmlns:a16="http://schemas.microsoft.com/office/drawing/2014/main" id="{E092D12D-B03B-4AC2-9EB2-257364E2C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5257800"/>
            <a:ext cx="10144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이름·경로·전체 지침 본문이 실행 trace에 포함됨</a:t>
            </a:r>
          </a:p>
        </p:txBody>
      </p:sp>
      <p:sp>
        <p:nvSpPr>
          <p:cNvPr id="22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51A68139-406F-4EA7-928B-0F7D96817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8211943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ACT 3 · 위치 이동을 실제 문장과 기록으로 확인">
            <a:extLst xmlns:a="http://schemas.openxmlformats.org/drawingml/2006/main">
              <a:ext uri="{FF2B5EF4-FFF2-40B4-BE49-F238E27FC236}">
                <a16:creationId xmlns:a16="http://schemas.microsoft.com/office/drawing/2014/main" id="{A34AE74A-09B7-4A8E-9C98-B0B00222B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위치 이동을 실제 문장과 기록으로 확인</a:t>
            </a:r>
          </a:p>
        </p:txBody>
      </p:sp>
      <p:sp>
        <p:nvSpPr>
          <p:cNvPr id="2" name="S55">
            <a:extLst xmlns:a="http://schemas.openxmlformats.org/drawingml/2006/main">
              <a:ext uri="{FF2B5EF4-FFF2-40B4-BE49-F238E27FC236}">
                <a16:creationId xmlns:a16="http://schemas.microsoft.com/office/drawing/2014/main" id="{DD0AACC7-1862-4407-B553-F75E451EB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S55</a:t>
            </a:r>
          </a:p>
        </p:txBody>
      </p:sp>
      <p:sp>
        <p:nvSpPr>
          <p:cNvPr id="3" name="Skill의 지침과 관찰된 작업을 대응한다">
            <a:extLst xmlns:a="http://schemas.openxmlformats.org/drawingml/2006/main">
              <a:ext uri="{FF2B5EF4-FFF2-40B4-BE49-F238E27FC236}">
                <a16:creationId xmlns:a16="http://schemas.microsoft.com/office/drawing/2014/main" id="{6D229723-3871-42F3-8E81-C77666779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Skill의 지침과 관찰된 작업을 대응한다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319669-A7EF-4DDF-888E-E17867354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STATE-04 SKILL.md 발췌 ↔ TRIAL-008의 보존된 관찰 요약 · 원문 실행 로그 화면이 아">
            <a:extLst xmlns:a="http://schemas.openxmlformats.org/drawingml/2006/main">
              <a:ext uri="{FF2B5EF4-FFF2-40B4-BE49-F238E27FC236}">
                <a16:creationId xmlns:a16="http://schemas.microsoft.com/office/drawing/2014/main" id="{14D5DE61-F728-4C7C-84EC-905087CB4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STATE-04 SKILL.md 발췌 ↔ TRIAL-008의 보존된 관찰 요약 · 원문 실행 로그 화면이 아님</a:t>
            </a:r>
          </a:p>
        </p:txBody>
      </p:sp>
      <p:sp>
        <p:nvSpPr>
          <p:cNvPr id="6" name="본문 포함과 관찰의 대응 · Skill 단독 인과성·우월성·토큰/속도 효과를 입증하지 않음">
            <a:extLst xmlns:a="http://schemas.openxmlformats.org/drawingml/2006/main">
              <a:ext uri="{FF2B5EF4-FFF2-40B4-BE49-F238E27FC236}">
                <a16:creationId xmlns:a16="http://schemas.microsoft.com/office/drawing/2014/main" id="{20177CA1-78D3-498F-B159-34CEC9325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본문 포함과 관찰의 대응 · Skill 단독 인과성·우월성·토큰/속도 효과를 입증하지 않음</a:t>
            </a:r>
          </a:p>
        </p:txBody>
      </p:sp>
      <p:sp>
        <p:nvSpPr>
          <p:cNvPr id="7" name="normalize의 긴 요청 → 밝기 통계 요청 + 재사용 Skill">
            <a:extLst xmlns:a="http://schemas.openxmlformats.org/drawingml/2006/main">
              <a:ext uri="{FF2B5EF4-FFF2-40B4-BE49-F238E27FC236}">
                <a16:creationId xmlns:a16="http://schemas.microsoft.com/office/drawing/2014/main" id="{54686E79-E826-4464-AEC2-81C7EE8F3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normalize의 긴 요청 → 밝기 통계 요청 + 재사용 Skill</a:t>
            </a:r>
          </a:p>
        </p:txBody>
      </p:sp>
      <p:graphicFrame>
        <p:nvGraphicFrame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9CF11D-F485-441E-96F3-162B8C36AAB5}"/>
              </a:ext>
            </a:extLst>
          </p:cNvPr>
          <p:cNvGraphicFramePr/>
          <p:nvPr/>
        </p:nvGraphicFramePr>
        <p:xfrm>
          <a:off xmlns:a="http://schemas.openxmlformats.org/drawingml/2006/main" x="609600" y="2343150"/>
          <a:ext xmlns:a="http://schemas.openxmlformats.org/drawingml/2006/main" cx="10972800" cy="29527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5191125"/>
                <a:gridCol w="5781675"/>
              </a:tblGrid>
              <a:tr h="438150">
                <a:tc>
                  <a:txBody>
                    <a:bodyPr wrap="none">
                      <a:noAutofit/>
                    </a:bodyPr>
                    <a:lstStyle/>
                    <a:p>
                      <a:pPr algn="l"/>
                      <a:r>
                        <a:rPr sz="1875" b="1">
                          <a:solidFill>
                            <a:srgbClr val="0B617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Skill의 지침 · 원문 발췌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C7D0DA"/>
                      </a:solidFill>
                      <a:prstDash val="solid"/>
                    </a:lnL>
                    <a:lnR w="7620">
                      <a:solidFill>
                        <a:srgbClr val="C7D0DA"/>
                      </a:solidFill>
                      <a:prstDash val="solid"/>
                    </a:lnR>
                    <a:lnT w="7620">
                      <a:solidFill>
                        <a:srgbClr val="C7D0DA"/>
                      </a:solidFill>
                      <a:prstDash val="solid"/>
                    </a:lnT>
                    <a:lnB w="7620">
                      <a:solidFill>
                        <a:srgbClr val="C7D0DA"/>
                      </a:solidFill>
                      <a:prstDash val="solid"/>
                    </a:lnB>
                    <a:solidFill>
                      <a:srgbClr val="E0EFF0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/>
                      <a:r>
                        <a:rPr sz="1875" b="1">
                          <a:solidFill>
                            <a:srgbClr val="0B617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같은 Trial에서 관찰된 기록 · 요약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C7D0DA"/>
                      </a:solidFill>
                      <a:prstDash val="solid"/>
                    </a:lnR>
                    <a:lnT w="7620">
                      <a:solidFill>
                        <a:srgbClr val="C7D0DA"/>
                      </a:solidFill>
                      <a:prstDash val="solid"/>
                    </a:lnT>
                    <a:lnB w="7620">
                      <a:solidFill>
                        <a:srgbClr val="C7D0DA"/>
                      </a:solidFill>
                      <a:prstDash val="solid"/>
                    </a:lnB>
                    <a:solidFill>
                      <a:srgbClr val="E0EFF0"/>
                    </a:solidFill>
                  </a:tcPr>
                </a:tc>
              </a:tr>
              <a:tr h="838200">
                <a:tc>
                  <a:txBody>
                    <a:bodyPr wrap="none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17212B"/>
                          </a:solidFill>
                          <a:latin typeface="Consolas"/>
                          <a:ea typeface="Consolas"/>
                          <a:cs typeface="Consolas"/>
                        </a:rPr>
                        <a:t>Establish a reproducible</a:t>
                      </a:r>
                    </a:p>
                    <a:p>
                      <a:pPr algn="l"/>
                      <a:r>
                        <a:rPr sz="1875" b="0">
                          <a:solidFill>
                            <a:srgbClr val="17212B"/>
                          </a:solidFill>
                          <a:latin typeface="Consolas"/>
                          <a:ea typeface="Consolas"/>
                          <a:cs typeface="Consolas"/>
                        </a:rPr>
                        <a:t>baseline before editing.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C7D0DA"/>
                      </a:solidFill>
                      <a:prstDash val="solid"/>
                    </a:lnL>
                    <a:lnR w="7620">
                      <a:solidFill>
                        <a:srgbClr val="C7D0DA"/>
                      </a:solidFill>
                      <a:prstDash val="solid"/>
                    </a:lnR>
                    <a:lnB w="7620">
                      <a:solidFill>
                        <a:srgbClr val="C7D0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1721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편집 전 같은 측정 명령으로 3회 실행</a:t>
                      </a:r>
                    </a:p>
                    <a:p>
                      <a:pPr algn="l"/>
                      <a:r>
                        <a:rPr sz="1875" b="0">
                          <a:solidFill>
                            <a:srgbClr val="1721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입력 지문과 결과 6항목 확인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C7D0DA"/>
                      </a:solidFill>
                      <a:prstDash val="solid"/>
                    </a:lnR>
                    <a:lnB w="7620">
                      <a:solidFill>
                        <a:srgbClr val="C7D0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38200">
                <a:tc>
                  <a:txBody>
                    <a:bodyPr wrap="none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17212B"/>
                          </a:solidFill>
                          <a:latin typeface="Consolas"/>
                          <a:ea typeface="Consolas"/>
                          <a:cs typeface="Consolas"/>
                        </a:rPr>
                        <a:t>State a concise plan before</a:t>
                      </a:r>
                    </a:p>
                    <a:p>
                      <a:pPr algn="l"/>
                      <a:r>
                        <a:rPr sz="1875" b="0">
                          <a:solidFill>
                            <a:srgbClr val="17212B"/>
                          </a:solidFill>
                          <a:latin typeface="Consolas"/>
                          <a:ea typeface="Consolas"/>
                          <a:cs typeface="Consolas"/>
                        </a:rPr>
                        <a:t>making edits …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C7D0DA"/>
                      </a:solidFill>
                      <a:prstDash val="solid"/>
                    </a:lnL>
                    <a:lnR w="7620">
                      <a:solidFill>
                        <a:srgbClr val="C7D0DA"/>
                      </a:solidFill>
                      <a:prstDash val="solid"/>
                    </a:lnR>
                    <a:lnB w="7620">
                      <a:solidFill>
                        <a:srgbClr val="C7D0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1721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변경 전 계획을 밝힘</a:t>
                      </a:r>
                    </a:p>
                    <a:p>
                      <a:pPr algn="l"/>
                      <a:r>
                        <a:rPr sz="1875" b="0">
                          <a:solidFill>
                            <a:srgbClr val="1721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statistics.py의 변경 범위를 한정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C7D0DA"/>
                      </a:solidFill>
                      <a:prstDash val="solid"/>
                    </a:lnR>
                    <a:lnB w="7620">
                      <a:solidFill>
                        <a:srgbClr val="C7D0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38200">
                <a:tc>
                  <a:txBody>
                    <a:bodyPr wrap="none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17212B"/>
                          </a:solidFill>
                          <a:latin typeface="Consolas"/>
                          <a:ea typeface="Consolas"/>
                          <a:cs typeface="Consolas"/>
                        </a:rPr>
                        <a:t>Repeat the same benchmark with</a:t>
                      </a:r>
                    </a:p>
                    <a:p>
                      <a:pPr algn="l"/>
                      <a:r>
                        <a:rPr sz="1875" b="0">
                          <a:solidFill>
                            <a:srgbClr val="17212B"/>
                          </a:solidFill>
                          <a:latin typeface="Consolas"/>
                          <a:ea typeface="Consolas"/>
                          <a:cs typeface="Consolas"/>
                        </a:rPr>
                        <a:t>the same input and settings …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C7D0DA"/>
                      </a:solidFill>
                      <a:prstDash val="solid"/>
                    </a:lnL>
                    <a:lnR w="7620">
                      <a:solidFill>
                        <a:srgbClr val="C7D0DA"/>
                      </a:solidFill>
                      <a:prstDash val="solid"/>
                    </a:lnR>
                    <a:lnB w="7620">
                      <a:solidFill>
                        <a:srgbClr val="C7D0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1721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함수·전체 테스트와 같은 benchmark</a:t>
                      </a:r>
                    </a:p>
                    <a:p>
                      <a:pPr algn="l"/>
                      <a:r>
                        <a:rPr sz="1875" b="0">
                          <a:solidFill>
                            <a:srgbClr val="1721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CLI 샘플·diff 확인 및 최종 검토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C7D0DA"/>
                      </a:solidFill>
                      <a:prstDash val="solid"/>
                    </a:lnR>
                    <a:lnB w="7620">
                      <a:solidFill>
                        <a:srgbClr val="C7D0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ask Prompt에는 이번 목표·6항목 보존·변경 범위를 남겼다">
            <a:extLst xmlns:a="http://schemas.openxmlformats.org/drawingml/2006/main">
              <a:ext uri="{FF2B5EF4-FFF2-40B4-BE49-F238E27FC236}">
                <a16:creationId xmlns:a16="http://schemas.microsoft.com/office/drawing/2014/main" id="{D79A5D7F-6012-4D01-8AB9-34E5BEFF4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Task Prompt에는 이번 목표·6항목 보존·변경 범위를 남겼다</a:t>
            </a:r>
          </a:p>
        </p:txBody>
      </p:sp>
      <p:sp>
        <p:nvSpPr>
          <p:cNvPr id="10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DDDE4C00-4ACE-4522-914E-A4C8AA026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 · M8</a:t>
            </a:r>
          </a:p>
        </p:txBody>
      </p:sp>
    </p:spTree>
    <p:extLst>
      <p:ext uri="{BB962C8B-B14F-4D97-AF65-F5344CB8AC3E}">
        <p14:creationId xmlns:p14="http://schemas.microsoft.com/office/powerpoint/2010/main" val="104183734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ACT 3 · Skill에 고정할 것과 이번에 판단할 것">
            <a:extLst xmlns:a="http://schemas.openxmlformats.org/drawingml/2006/main">
              <a:ext uri="{FF2B5EF4-FFF2-40B4-BE49-F238E27FC236}">
                <a16:creationId xmlns:a16="http://schemas.microsoft.com/office/drawing/2014/main" id="{B61AF392-B4CB-4789-B7C2-0DE3ECC8C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Skill에 고정할 것과 이번에 판단할 것</a:t>
            </a:r>
          </a:p>
        </p:txBody>
      </p:sp>
      <p:sp>
        <p:nvSpPr>
          <p:cNvPr id="2" name="S56">
            <a:extLst xmlns:a="http://schemas.openxmlformats.org/drawingml/2006/main">
              <a:ext uri="{FF2B5EF4-FFF2-40B4-BE49-F238E27FC236}">
                <a16:creationId xmlns:a16="http://schemas.microsoft.com/office/drawing/2014/main" id="{CCB3C527-748A-4137-A381-BEBAB9AF0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S56</a:t>
            </a:r>
          </a:p>
        </p:txBody>
      </p:sp>
      <p:sp>
        <p:nvSpPr>
          <p:cNvPr id="3" name="절차는 재사용하고, 답은 근거로 정한다">
            <a:extLst xmlns:a="http://schemas.openxmlformats.org/drawingml/2006/main">
              <a:ext uri="{FF2B5EF4-FFF2-40B4-BE49-F238E27FC236}">
                <a16:creationId xmlns:a16="http://schemas.microsoft.com/office/drawing/2014/main" id="{EFF6CF52-E911-4557-82B7-FB450708C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절차는 재사용하고, 답은 근거로 정한다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1E027B-BFE2-470D-90D9-F8132CCCB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STATE-04 SKILL.md의 두 지침과 교육용 책임 구분 · 새 실행 결과가 아님">
            <a:extLst xmlns:a="http://schemas.openxmlformats.org/drawingml/2006/main">
              <a:ext uri="{FF2B5EF4-FFF2-40B4-BE49-F238E27FC236}">
                <a16:creationId xmlns:a16="http://schemas.microsoft.com/office/drawing/2014/main" id="{A124F3F5-053D-4D8A-A8B4-40726BC20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STATE-04 SKILL.md의 두 지침과 교육용 책임 구분 · 새 실행 결과가 아님</a:t>
            </a:r>
          </a:p>
        </p:txBody>
      </p:sp>
      <p:sp>
        <p:nvSpPr>
          <p:cNvPr id="6" name="특정 알고리즘·Trial 숫자를 정답으로 넣지 않았음 · no-change는 허용된 판단 경로">
            <a:extLst xmlns:a="http://schemas.openxmlformats.org/drawingml/2006/main">
              <a:ext uri="{FF2B5EF4-FFF2-40B4-BE49-F238E27FC236}">
                <a16:creationId xmlns:a16="http://schemas.microsoft.com/office/drawing/2014/main" id="{4E0CB1D7-DB54-40CF-B562-0703B5EC8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특정 알고리즘·Trial 숫자를 정답으로 넣지 않았음 · no-change는 허용된 판단 경로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16F04A-FFC7-4CD8-9858-5034C4DA4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5162550" cy="2438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8" name="Skill이 정할 방법">
            <a:extLst xmlns:a="http://schemas.openxmlformats.org/drawingml/2006/main">
              <a:ext uri="{FF2B5EF4-FFF2-40B4-BE49-F238E27FC236}">
                <a16:creationId xmlns:a16="http://schemas.microsoft.com/office/drawing/2014/main" id="{370ABDD6-844D-42E4-A1B1-37C39A453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819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Skill이 정할 방법</a:t>
            </a:r>
          </a:p>
        </p:txBody>
      </p:sp>
      <p:sp>
        <p:nvSpPr>
          <p:cNvPr id="9" name="편집 전 재현 가능한 기준선&#10;같은 조건으로 검증·비교&#10;근거가 부족하면 변경 보류">
            <a:extLst xmlns:a="http://schemas.openxmlformats.org/drawingml/2006/main">
              <a:ext uri="{FF2B5EF4-FFF2-40B4-BE49-F238E27FC236}">
                <a16:creationId xmlns:a16="http://schemas.microsoft.com/office/drawing/2014/main" id="{B3777125-74B7-433F-835B-E5FEAAAB2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86075"/>
            <a:ext cx="481965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편집 전 재현 가능한 기준선</a:t>
            </a:r>
          </a:p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조건으로 검증·비교</a:t>
            </a:r>
          </a:p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근거가 부족하면 변경 보류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EFD177-19B9-44A9-B1B4-96FA67340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247900"/>
            <a:ext cx="5162550" cy="2438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이번 작업에서 정할 답">
            <a:extLst xmlns:a="http://schemas.openxmlformats.org/drawingml/2006/main">
              <a:ext uri="{FF2B5EF4-FFF2-40B4-BE49-F238E27FC236}">
                <a16:creationId xmlns:a16="http://schemas.microsoft.com/office/drawing/2014/main" id="{B6AC0BD7-FC8E-4832-91C7-7DE0FD81E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362200"/>
            <a:ext cx="4819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작업에서 정할 답</a:t>
            </a:r>
          </a:p>
        </p:txBody>
      </p:sp>
      <p:sp>
        <p:nvSpPr>
          <p:cNvPr id="12" name="어떤 알고리즘을 택할까?&#10;실제 시간·할당량은?&#10;어떤 trade-off를 감수할까?">
            <a:extLst xmlns:a="http://schemas.openxmlformats.org/drawingml/2006/main">
              <a:ext uri="{FF2B5EF4-FFF2-40B4-BE49-F238E27FC236}">
                <a16:creationId xmlns:a16="http://schemas.microsoft.com/office/drawing/2014/main" id="{DD840CE2-E32A-4ED3-B7E1-4D12E2120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886075"/>
            <a:ext cx="481965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어떤 알고리즘을 택할까?</a:t>
            </a:r>
          </a:p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실제 시간·할당량은?</a:t>
            </a:r>
          </a:p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어떤 trade-off를 감수할까?</a:t>
            </a:r>
          </a:p>
        </p:txBody>
      </p:sp>
      <p:sp>
        <p:nvSpPr>
          <p:cNvPr id="13" name="“A measured result that does not justify a change is a">
            <a:extLst xmlns:a="http://schemas.openxmlformats.org/drawingml/2006/main">
              <a:ext uri="{FF2B5EF4-FFF2-40B4-BE49-F238E27FC236}">
                <a16:creationId xmlns:a16="http://schemas.microsoft.com/office/drawing/2014/main" id="{3FCA05F2-1517-49EB-8149-A4DE41AA6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72050"/>
            <a:ext cx="109728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“A measured result that does not justify a change is a</a:t>
            </a:r>
          </a:p>
        </p:txBody>
      </p:sp>
      <p:sp>
        <p:nvSpPr>
          <p:cNvPr id="14" name="valid no-change conclusion.”">
            <a:extLst xmlns:a="http://schemas.openxmlformats.org/drawingml/2006/main">
              <a:ext uri="{FF2B5EF4-FFF2-40B4-BE49-F238E27FC236}">
                <a16:creationId xmlns:a16="http://schemas.microsoft.com/office/drawing/2014/main" id="{ABC871F9-26C0-44B4-92C9-7ABCA4CD5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76850"/>
            <a:ext cx="109728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valid no-change conclusion.”</a:t>
            </a:r>
          </a:p>
        </p:txBody>
      </p:sp>
      <p:sp>
        <p:nvSpPr>
          <p:cNvPr id="15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52B4F6CD-0BAB-4FF4-93E8-AF2A09E5B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 · M5</a:t>
            </a:r>
          </a:p>
        </p:txBody>
      </p:sp>
    </p:spTree>
    <p:extLst>
      <p:ext uri="{BB962C8B-B14F-4D97-AF65-F5344CB8AC3E}">
        <p14:creationId xmlns:p14="http://schemas.microsoft.com/office/powerpoint/2010/main" val="96551219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ACT 3 · 밝기 통계 작업의 후보 선택 과정">
            <a:extLst xmlns:a="http://schemas.openxmlformats.org/drawingml/2006/main">
              <a:ext uri="{FF2B5EF4-FFF2-40B4-BE49-F238E27FC236}">
                <a16:creationId xmlns:a16="http://schemas.microsoft.com/office/drawing/2014/main" id="{64F6F8D8-1672-45AC-AD49-56D98225E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밝기 통계 작업의 후보 선택 과정</a:t>
            </a:r>
          </a:p>
        </p:txBody>
      </p:sp>
      <p:sp>
        <p:nvSpPr>
          <p:cNvPr id="2" name="S57">
            <a:extLst xmlns:a="http://schemas.openxmlformats.org/drawingml/2006/main">
              <a:ext uri="{FF2B5EF4-FFF2-40B4-BE49-F238E27FC236}">
                <a16:creationId xmlns:a16="http://schemas.microsoft.com/office/drawing/2014/main" id="{F009CFBE-EB75-4025-BBF1-7C0DD0531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S57</a:t>
            </a:r>
          </a:p>
        </p:txBody>
      </p:sp>
      <p:sp>
        <p:nvSpPr>
          <p:cNvPr id="3" name="후보는 시간·할당량·동작을 함께 보고 고른다">
            <a:extLst xmlns:a="http://schemas.openxmlformats.org/drawingml/2006/main">
              <a:ext uri="{FF2B5EF4-FFF2-40B4-BE49-F238E27FC236}">
                <a16:creationId xmlns:a16="http://schemas.microsoft.com/office/drawing/2014/main" id="{6B9F8508-214B-4344-B7DA-374406D7F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후보는 시간·할당량·동작을 함께 보고 고른다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9D8618-E7FE-4D3F-8A89-AD28E883D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RIAL-008 · image_statistics 후보 비교 · 합성1024×768 / CPython3.9">
            <a:extLst xmlns:a="http://schemas.openxmlformats.org/drawingml/2006/main">
              <a:ext uri="{FF2B5EF4-FFF2-40B4-BE49-F238E27FC236}">
                <a16:creationId xmlns:a16="http://schemas.microsoft.com/office/drawing/2014/main" id="{B5772438-7E3B-476B-86AC-204F21AE9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TRIAL-008 · image_statistics 후보 비교 · 합성1024×768 / CPython3.9.6 / macOS arm64</a:t>
            </a:r>
          </a:p>
        </p:txBody>
      </p:sp>
      <p:sp>
        <p:nvSpPr>
          <p:cNvPr id="6" name="정성 비교 · 아래 후보끼리의 비교는 다음 장의 제품 상태 전후 측정과 다름">
            <a:extLst xmlns:a="http://schemas.openxmlformats.org/drawingml/2006/main">
              <a:ext uri="{FF2B5EF4-FFF2-40B4-BE49-F238E27FC236}">
                <a16:creationId xmlns:a16="http://schemas.microsoft.com/office/drawing/2014/main" id="{7E2E1CD2-991F-4DBB-AEF0-DC40C95F9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정성 비교 · 아래 후보끼리의 비교는 다음 장의 제품 상태 전후 측정과 다름</a:t>
            </a:r>
          </a:p>
        </p:txBody>
      </p:sp>
      <p:sp>
        <p:nvSpPr>
          <p:cNvPr id="7" name="두 후보 모두 같은 결과 6항목을 확인했다">
            <a:extLst xmlns:a="http://schemas.openxmlformats.org/drawingml/2006/main">
              <a:ext uri="{FF2B5EF4-FFF2-40B4-BE49-F238E27FC236}">
                <a16:creationId xmlns:a16="http://schemas.microsoft.com/office/drawing/2014/main" id="{47118976-1CA7-4FF3-A624-6B47B8AA5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24025"/>
            <a:ext cx="109728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두 후보 모두 같은 결과 6항목을 확인했다</a:t>
            </a:r>
          </a:p>
        </p:txBody>
      </p:sp>
      <p:sp>
        <p:nvSpPr>
          <p:cNvPr id="8" name="후보">
            <a:extLst xmlns:a="http://schemas.openxmlformats.org/drawingml/2006/main">
              <a:ext uri="{FF2B5EF4-FFF2-40B4-BE49-F238E27FC236}">
                <a16:creationId xmlns:a16="http://schemas.microsoft.com/office/drawing/2014/main" id="{3E5A3086-AC13-4B99-910A-19659617F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1935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후보</a:t>
            </a:r>
          </a:p>
        </p:txBody>
      </p:sp>
      <p:sp>
        <p:nvSpPr>
          <p:cNvPr id="9" name="Python 할당량">
            <a:extLst xmlns:a="http://schemas.openxmlformats.org/drawingml/2006/main">
              <a:ext uri="{FF2B5EF4-FFF2-40B4-BE49-F238E27FC236}">
                <a16:creationId xmlns:a16="http://schemas.microsoft.com/office/drawing/2014/main" id="{92DE8972-24AA-4D23-B6E8-7C13AAF9F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419350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Python 할당량</a:t>
            </a:r>
          </a:p>
        </p:txBody>
      </p:sp>
      <p:sp>
        <p:nvSpPr>
          <p:cNvPr id="10" name="실행 시간과 판단">
            <a:extLst xmlns:a="http://schemas.openxmlformats.org/drawingml/2006/main">
              <a:ext uri="{FF2B5EF4-FFF2-40B4-BE49-F238E27FC236}">
                <a16:creationId xmlns:a16="http://schemas.microsoft.com/office/drawing/2014/main" id="{AC4BCB1D-7714-4D87-B42D-BDCED9284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2419350"/>
            <a:ext cx="29622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실행 시간과 판단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E4F747-78F1-4FDA-A7FE-F3C988B98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19425"/>
            <a:ext cx="109728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수동 단일 순회">
            <a:extLst xmlns:a="http://schemas.openxmlformats.org/drawingml/2006/main">
              <a:ext uri="{FF2B5EF4-FFF2-40B4-BE49-F238E27FC236}">
                <a16:creationId xmlns:a16="http://schemas.microsoft.com/office/drawing/2014/main" id="{E1C22C38-C6D6-47B1-B39A-9C72E24C0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4857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수동 단일 순회</a:t>
            </a:r>
          </a:p>
        </p:txBody>
      </p:sp>
      <p:sp>
        <p:nvSpPr>
          <p:cNvPr id="13" name="낮은 할당량">
            <a:extLst xmlns:a="http://schemas.openxmlformats.org/drawingml/2006/main">
              <a:ext uri="{FF2B5EF4-FFF2-40B4-BE49-F238E27FC236}">
                <a16:creationId xmlns:a16="http://schemas.microsoft.com/office/drawing/2014/main" id="{06B26855-6480-4E80-B031-B7C0ABA8E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20040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낮은 할당량</a:t>
            </a:r>
          </a:p>
        </p:txBody>
      </p:sp>
      <p:sp>
        <p:nvSpPr>
          <p:cNvPr id="14" name="훨씬 느림 → 제외">
            <a:extLst xmlns:a="http://schemas.openxmlformats.org/drawingml/2006/main">
              <a:ext uri="{FF2B5EF4-FFF2-40B4-BE49-F238E27FC236}">
                <a16:creationId xmlns:a16="http://schemas.microsoft.com/office/drawing/2014/main" id="{0051AD64-975E-4FBD-A1BC-DAB84449C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200400"/>
            <a:ext cx="28098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훨씬 느림 → 제외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9E2706-758D-490A-A16E-93B41B46D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86225"/>
            <a:ext cx="109728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행 단위 built-in reduction">
            <a:extLst xmlns:a="http://schemas.openxmlformats.org/drawingml/2006/main">
              <a:ext uri="{FF2B5EF4-FFF2-40B4-BE49-F238E27FC236}">
                <a16:creationId xmlns:a16="http://schemas.microsoft.com/office/drawing/2014/main" id="{4E3FCE43-EC15-4943-9654-2EFA49751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67200"/>
            <a:ext cx="4857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행 단위 built-in reduction</a:t>
            </a:r>
          </a:p>
        </p:txBody>
      </p:sp>
      <p:sp>
        <p:nvSpPr>
          <p:cNvPr id="17" name="낮은 할당량 유지">
            <a:extLst xmlns:a="http://schemas.openxmlformats.org/drawingml/2006/main">
              <a:ext uri="{FF2B5EF4-FFF2-40B4-BE49-F238E27FC236}">
                <a16:creationId xmlns:a16="http://schemas.microsoft.com/office/drawing/2014/main" id="{3308283A-3A20-4D75-9147-8C72139F1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26720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낮은 할당량 유지</a:t>
            </a:r>
          </a:p>
        </p:txBody>
      </p:sp>
      <p:sp>
        <p:nvSpPr>
          <p:cNvPr id="18" name="더 나음 → 선택">
            <a:extLst xmlns:a="http://schemas.openxmlformats.org/drawingml/2006/main">
              <a:ext uri="{FF2B5EF4-FFF2-40B4-BE49-F238E27FC236}">
                <a16:creationId xmlns:a16="http://schemas.microsoft.com/office/drawing/2014/main" id="{38D998F9-BF2B-4482-8173-7A07EE609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4267200"/>
            <a:ext cx="28098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더 나음 → 선택</a:t>
            </a:r>
          </a:p>
        </p:txBody>
      </p:sp>
      <p:sp>
        <p:nvSpPr>
          <p:cNvPr id="19" name="Skill에 정답을 넣지 않고, 측정 근거로 변경 후보를 선택했다">
            <a:extLst xmlns:a="http://schemas.openxmlformats.org/drawingml/2006/main">
              <a:ext uri="{FF2B5EF4-FFF2-40B4-BE49-F238E27FC236}">
                <a16:creationId xmlns:a16="http://schemas.microsoft.com/office/drawing/2014/main" id="{78A6FFE5-2FBE-4C43-B6E0-873B0DD5F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81625"/>
            <a:ext cx="1097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Skill에 정답을 넣지 않고, 측정 근거로 변경 후보를 선택했다</a:t>
            </a:r>
          </a:p>
        </p:txBody>
      </p:sp>
      <p:sp>
        <p:nvSpPr>
          <p:cNvPr id="20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370FA62F-DB33-4D79-8E2D-3D32419FE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 · M5 · M9</a:t>
            </a:r>
          </a:p>
        </p:txBody>
      </p:sp>
    </p:spTree>
    <p:extLst>
      <p:ext uri="{BB962C8B-B14F-4D97-AF65-F5344CB8AC3E}">
        <p14:creationId xmlns:p14="http://schemas.microsoft.com/office/powerpoint/2010/main" val="188470347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ACT 3  ·  Harness로 조사하고 검증하기">
            <a:extLst xmlns:a="http://schemas.openxmlformats.org/drawingml/2006/main">
              <a:ext uri="{FF2B5EF4-FFF2-40B4-BE49-F238E27FC236}">
                <a16:creationId xmlns:a16="http://schemas.microsoft.com/office/drawing/2014/main" id="{33D56C69-2C21-4F84-B11C-DC95907C2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 ·  Harness로 조사하고 검증하기</a:t>
            </a:r>
          </a:p>
        </p:txBody>
      </p:sp>
      <p:sp>
        <p:nvSpPr>
          <p:cNvPr id="2" name="S58">
            <a:extLst xmlns:a="http://schemas.openxmlformats.org/drawingml/2006/main">
              <a:ext uri="{FF2B5EF4-FFF2-40B4-BE49-F238E27FC236}">
                <a16:creationId xmlns:a16="http://schemas.microsoft.com/office/drawing/2014/main" id="{49CA30BB-E3EB-48E6-99DE-A924E0182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S58</a:t>
            </a:r>
          </a:p>
        </p:txBody>
      </p:sp>
      <p:sp>
        <p:nvSpPr>
          <p:cNvPr id="3" name="선택한 변경을 같은 조건에서 검증했다">
            <a:extLst xmlns:a="http://schemas.openxmlformats.org/drawingml/2006/main">
              <a:ext uri="{FF2B5EF4-FFF2-40B4-BE49-F238E27FC236}">
                <a16:creationId xmlns:a16="http://schemas.microsoft.com/office/drawing/2014/main" id="{293E8EBA-0C3D-475B-92D6-A2960230F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선택한 변경을 같은 조건에서 검증했다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471EC3-D100-4166-BBA6-DF4B5FEE0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STATE-04 → STATE-04-PERF  |  image_statistics · 합성 1024×768 ">
            <a:extLst xmlns:a="http://schemas.openxmlformats.org/drawingml/2006/main">
              <a:ext uri="{FF2B5EF4-FFF2-40B4-BE49-F238E27FC236}">
                <a16:creationId xmlns:a16="http://schemas.microsoft.com/office/drawing/2014/main" id="{ED7DA747-5883-4EB4-9D36-236C79D56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STATE-04 → STATE-04-PERF  |  image_statistics · 합성 1024×768 · CPython 3.9.6 / macOS arm64</a:t>
            </a:r>
          </a:p>
        </p:txBody>
      </p:sp>
      <p:sp>
        <p:nvSpPr>
          <p:cNvPr id="6" name="동일 입력·상태별 7회 측정 · 이 환경의 코드 변경 결과이며 Harness 단독 효과는 입증하지 않음">
            <a:extLst xmlns:a="http://schemas.openxmlformats.org/drawingml/2006/main">
              <a:ext uri="{FF2B5EF4-FFF2-40B4-BE49-F238E27FC236}">
                <a16:creationId xmlns:a16="http://schemas.microsoft.com/office/drawing/2014/main" id="{C0F43137-F1F5-4E78-86CA-0D6FF2418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동일 입력·상태별 7회 측정 · 이 환경의 코드 변경 결과이며 Harness 단독 효과는 입증하지 않음</a:t>
            </a:r>
          </a:p>
        </p:txBody>
      </p:sp>
      <p:sp>
        <p:nvSpPr>
          <p:cNvPr id="7" name="밝기 통계 · 동작 확인 + 동일 입력 비교">
            <a:extLst xmlns:a="http://schemas.openxmlformats.org/drawingml/2006/main">
              <a:ext uri="{FF2B5EF4-FFF2-40B4-BE49-F238E27FC236}">
                <a16:creationId xmlns:a16="http://schemas.microsoft.com/office/drawing/2014/main" id="{ECB6A639-794B-4883-BA6D-065C3AA90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밝기 통계 · 동작 확인 + 동일 입력 비교</a:t>
            </a:r>
          </a:p>
        </p:txBody>
      </p:sp>
      <p:sp>
        <p:nvSpPr>
          <p:cNvPr id="8" name="실행 시간 중앙값">
            <a:extLst xmlns:a="http://schemas.openxmlformats.org/drawingml/2006/main">
              <a:ext uri="{FF2B5EF4-FFF2-40B4-BE49-F238E27FC236}">
                <a16:creationId xmlns:a16="http://schemas.microsoft.com/office/drawing/2014/main" id="{9B5D6234-BDA1-41D7-A1CA-C17E8AA09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24100"/>
            <a:ext cx="5667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실행 시간 중앙값</a:t>
            </a:r>
          </a:p>
        </p:txBody>
      </p:sp>
      <p:sp>
        <p:nvSpPr>
          <p:cNvPr id="9" name="ms/call · 낮을수록 짧음">
            <a:extLst xmlns:a="http://schemas.openxmlformats.org/drawingml/2006/main">
              <a:ext uri="{FF2B5EF4-FFF2-40B4-BE49-F238E27FC236}">
                <a16:creationId xmlns:a16="http://schemas.microsoft.com/office/drawing/2014/main" id="{357B35C7-51C4-4F93-8E57-174EE1CDD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5667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ms/call · 낮을수록 짧음</a:t>
            </a:r>
          </a:p>
        </p:txBody>
      </p:sp>
      <p:graphicFrame>
        <p:nvGraphicFramePr>
          <p:cNvPr id="10" name="Chart">
            <a:extLst xmlns:a="http://schemas.openxmlformats.org/drawingml/2006/main">
              <a:ext uri="{FF2B5EF4-FFF2-40B4-BE49-F238E27FC236}">
                <a16:creationId xmlns:a16="http://schemas.microsoft.com/office/drawing/2014/main" id="{D3D2174E-FB64-4CF4-BCC5-A3A5BEB24DC7}"/>
              </a:ext>
            </a:extLst>
          </p:cNvPr>
          <p:cNvGraphicFramePr/>
          <p:nvPr/>
        </p:nvGraphicFramePr>
        <p:xfrm>
          <a:off xmlns:a="http://schemas.openxmlformats.org/drawingml/2006/main" x="609600" y="3067050"/>
          <a:ext xmlns:a="http://schemas.openxmlformats.org/drawingml/2006/main" cx="6191250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90d389766264dba"/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BF9C36-ECE9-425B-9618-80B006817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324100"/>
            <a:ext cx="19050" cy="2819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0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Python 할당 피크">
            <a:extLst xmlns:a="http://schemas.openxmlformats.org/drawingml/2006/main">
              <a:ext uri="{FF2B5EF4-FFF2-40B4-BE49-F238E27FC236}">
                <a16:creationId xmlns:a16="http://schemas.microsoft.com/office/drawing/2014/main" id="{4FD53BF8-A3FC-4CCA-AF6B-FA221DD8B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324100"/>
            <a:ext cx="3981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Python 할당 피크</a:t>
            </a:r>
          </a:p>
        </p:txBody>
      </p:sp>
      <p:sp>
        <p:nvSpPr>
          <p:cNvPr id="13" name="tracemalloc · 프로세스 RSS 아님">
            <a:extLst xmlns:a="http://schemas.openxmlformats.org/drawingml/2006/main">
              <a:ext uri="{FF2B5EF4-FFF2-40B4-BE49-F238E27FC236}">
                <a16:creationId xmlns:a16="http://schemas.microsoft.com/office/drawing/2014/main" id="{B0CC6735-5F24-4A36-83D4-CCA4BFF1F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714625"/>
            <a:ext cx="398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tracemalloc · 프로세스 RSS 아님</a:t>
            </a:r>
          </a:p>
        </p:txBody>
      </p:sp>
      <p:sp>
        <p:nvSpPr>
          <p:cNvPr id="14" name="6,675,804 B">
            <a:extLst xmlns:a="http://schemas.openxmlformats.org/drawingml/2006/main">
              <a:ext uri="{FF2B5EF4-FFF2-40B4-BE49-F238E27FC236}">
                <a16:creationId xmlns:a16="http://schemas.microsoft.com/office/drawing/2014/main" id="{79B31203-473A-4F0A-8482-136C62CD0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248025"/>
            <a:ext cx="39814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9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9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9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9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9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9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9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9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9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9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9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9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6,675,804 B</a:t>
            </a:r>
          </a:p>
        </p:txBody>
      </p:sp>
      <p:sp>
        <p:nvSpPr>
          <p:cNvPr id="15" name="↓">
            <a:extLst xmlns:a="http://schemas.openxmlformats.org/drawingml/2006/main">
              <a:ext uri="{FF2B5EF4-FFF2-40B4-BE49-F238E27FC236}">
                <a16:creationId xmlns:a16="http://schemas.microsoft.com/office/drawing/2014/main" id="{0AF6C258-554C-4EE0-87DE-80D215121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781425"/>
            <a:ext cx="438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7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7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7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7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7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7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7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7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7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7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7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↓</a:t>
            </a:r>
          </a:p>
        </p:txBody>
      </p:sp>
      <p:sp>
        <p:nvSpPr>
          <p:cNvPr id="16" name="380 B">
            <a:extLst xmlns:a="http://schemas.openxmlformats.org/drawingml/2006/main">
              <a:ext uri="{FF2B5EF4-FFF2-40B4-BE49-F238E27FC236}">
                <a16:creationId xmlns:a16="http://schemas.microsoft.com/office/drawing/2014/main" id="{200DC8E5-E978-4B82-995A-09BC5D41D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781425"/>
            <a:ext cx="342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42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42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42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42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42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42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42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42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42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42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42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380 B</a:t>
            </a:r>
          </a:p>
        </p:txBody>
      </p:sp>
      <p:sp>
        <p:nvSpPr>
          <p:cNvPr id="17" name="평탄화 임시 리스트 제거">
            <a:extLst xmlns:a="http://schemas.openxmlformats.org/drawingml/2006/main">
              <a:ext uri="{FF2B5EF4-FFF2-40B4-BE49-F238E27FC236}">
                <a16:creationId xmlns:a16="http://schemas.microsoft.com/office/drawing/2014/main" id="{15429199-B95F-4718-BF85-385288B55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648200"/>
            <a:ext cx="3981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평탄화 임시 리스트 제거</a:t>
            </a:r>
          </a:p>
        </p:txBody>
      </p:sp>
      <p:sp>
        <p:nvSpPr>
          <p:cNvPr id="18" name="검증 완료">
            <a:extLst xmlns:a="http://schemas.openxmlformats.org/drawingml/2006/main">
              <a:ext uri="{FF2B5EF4-FFF2-40B4-BE49-F238E27FC236}">
                <a16:creationId xmlns:a16="http://schemas.microsoft.com/office/drawing/2014/main" id="{6316B36F-5367-4AF6-8E4F-1F0B4E788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581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rPr>
              <a:t>검증 완료</a:t>
            </a:r>
          </a:p>
        </p:txBody>
      </p:sp>
      <p:sp>
        <p:nvSpPr>
          <p:cNvPr id="19" name="함수 테스트 1/1 · 전체 11/11 · CLI · 입력·결과 확인">
            <a:extLst xmlns:a="http://schemas.openxmlformats.org/drawingml/2006/main">
              <a:ext uri="{FF2B5EF4-FFF2-40B4-BE49-F238E27FC236}">
                <a16:creationId xmlns:a16="http://schemas.microsoft.com/office/drawing/2014/main" id="{737A320C-BEC2-4622-9B15-82882CD89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5391150"/>
            <a:ext cx="9315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함수 테스트 1/1 · 전체 11/11 · CLI · 입력·결과 확인</a:t>
            </a:r>
          </a:p>
        </p:txBody>
      </p:sp>
      <p:sp>
        <p:nvSpPr>
          <p:cNvPr id="20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2C9DB187-186F-4480-A72F-ACA4949B6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</a:t>
            </a:r>
          </a:p>
        </p:txBody>
      </p:sp>
    </p:spTree>
    <p:extLst>
      <p:ext uri="{BB962C8B-B14F-4D97-AF65-F5344CB8AC3E}">
        <p14:creationId xmlns:p14="http://schemas.microsoft.com/office/powerpoint/2010/main" val="113352347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ACT 3 · Subagent가 해결할 문제부터 보기">
            <a:extLst xmlns:a="http://schemas.openxmlformats.org/drawingml/2006/main">
              <a:ext uri="{FF2B5EF4-FFF2-40B4-BE49-F238E27FC236}">
                <a16:creationId xmlns:a16="http://schemas.microsoft.com/office/drawing/2014/main" id="{A29237DB-A3A7-45ED-B1F6-DB987AC02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Subagent가 해결할 문제부터 보기</a:t>
            </a:r>
          </a:p>
        </p:txBody>
      </p:sp>
      <p:sp>
        <p:nvSpPr>
          <p:cNvPr id="2" name="S59">
            <a:extLst xmlns:a="http://schemas.openxmlformats.org/drawingml/2006/main">
              <a:ext uri="{FF2B5EF4-FFF2-40B4-BE49-F238E27FC236}">
                <a16:creationId xmlns:a16="http://schemas.microsoft.com/office/drawing/2014/main" id="{964B010C-B7A0-45D4-BB09-604BB0025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S59</a:t>
            </a:r>
          </a:p>
        </p:txBody>
      </p:sp>
      <p:sp>
        <p:nvSpPr>
          <p:cNvPr id="3" name="독립 조사를 나누면 무엇이 달라질까?">
            <a:extLst xmlns:a="http://schemas.openxmlformats.org/drawingml/2006/main">
              <a:ext uri="{FF2B5EF4-FFF2-40B4-BE49-F238E27FC236}">
                <a16:creationId xmlns:a16="http://schemas.microsoft.com/office/drawing/2014/main" id="{33A21960-F211-46AE-8E2C-1DAB248AC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독립 조사를 나누면 무엇이 달라질까?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D77660-DA1A-40F5-8A6A-597991E51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CONCEPTUAL · C++ Vision 조사 업무를 가정한 역할·Context 분리 · 실제 Subage">
            <a:extLst xmlns:a="http://schemas.openxmlformats.org/drawingml/2006/main">
              <a:ext uri="{FF2B5EF4-FFF2-40B4-BE49-F238E27FC236}">
                <a16:creationId xmlns:a16="http://schemas.microsoft.com/office/drawing/2014/main" id="{6B33E5FE-821F-4C00-BD60-F784C20C1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CONCEPTUAL · C++ Vision 조사 업무를 가정한 역할·Context 분리 · 실제 Subagent 실행 아님</a:t>
            </a:r>
          </a:p>
        </p:txBody>
      </p:sp>
      <p:sp>
        <p:nvSpPr>
          <p:cNvPr id="6" name="독립 조사일 때의 설계 예 · 병렬 이득·시간 단축은 미측정 · 조정·중복·전달·통합 비용을 함께 판단">
            <a:extLst xmlns:a="http://schemas.openxmlformats.org/drawingml/2006/main">
              <a:ext uri="{FF2B5EF4-FFF2-40B4-BE49-F238E27FC236}">
                <a16:creationId xmlns:a16="http://schemas.microsoft.com/office/drawing/2014/main" id="{B57C9D4E-B218-491C-AFE1-3C9066B9F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독립 조사일 때의 설계 예 · 병렬 이득·시간 단축은 미측정 · 조정·중복·전달·통합 비용을 함께 판단</a:t>
            </a:r>
          </a:p>
        </p:txBody>
      </p:sp>
      <p:sp>
        <p:nvSpPr>
          <p:cNvPr id="7" name="한 Agent에 모인 조사 중, 서로 기다리지 않아도 되는 부분은?">
            <a:extLst xmlns:a="http://schemas.openxmlformats.org/drawingml/2006/main">
              <a:ext uri="{FF2B5EF4-FFF2-40B4-BE49-F238E27FC236}">
                <a16:creationId xmlns:a16="http://schemas.microsoft.com/office/drawing/2014/main" id="{E207B5B4-2700-40BF-915E-A1E6E6B17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0497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한 Agent에 모인 조사 중, 서로 기다리지 않아도 되는 부분은?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C39003-05F5-4079-9C57-4A07AE564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90775"/>
            <a:ext cx="3352800" cy="192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9" name="성능 경로 조사">
            <a:extLst xmlns:a="http://schemas.openxmlformats.org/drawingml/2006/main">
              <a:ext uri="{FF2B5EF4-FFF2-40B4-BE49-F238E27FC236}">
                <a16:creationId xmlns:a16="http://schemas.microsoft.com/office/drawing/2014/main" id="{197350E7-B536-453C-A179-9533EE865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05075"/>
            <a:ext cx="3009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성능 경로 조사</a:t>
            </a:r>
          </a:p>
        </p:txBody>
      </p:sp>
      <p:sp>
        <p:nvSpPr>
          <p:cNvPr id="10" name="느린 경로와 측정 근거&#10;필요한 소스·명세">
            <a:extLst xmlns:a="http://schemas.openxmlformats.org/drawingml/2006/main">
              <a:ext uri="{FF2B5EF4-FFF2-40B4-BE49-F238E27FC236}">
                <a16:creationId xmlns:a16="http://schemas.microsoft.com/office/drawing/2014/main" id="{3CE8693E-48D9-43EE-B36C-0B57438DA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28950"/>
            <a:ext cx="30099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느린 경로와 측정 근거</a:t>
            </a:r>
          </a:p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필요한 소스·명세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C9DF9E-0987-40C4-860A-5CBB7BBC9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390775"/>
            <a:ext cx="3352800" cy="192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빌드 환경 조사">
            <a:extLst xmlns:a="http://schemas.openxmlformats.org/drawingml/2006/main">
              <a:ext uri="{FF2B5EF4-FFF2-40B4-BE49-F238E27FC236}">
                <a16:creationId xmlns:a16="http://schemas.microsoft.com/office/drawing/2014/main" id="{CF2E3BA7-CE7E-4E78-8371-C52D0D094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505075"/>
            <a:ext cx="3009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빌드 환경 조사</a:t>
            </a:r>
          </a:p>
        </p:txBody>
      </p:sp>
      <p:sp>
        <p:nvSpPr>
          <p:cNvPr id="13" name="재현 조건과 빌드 설정&#10;필요한 환경 문서">
            <a:extLst xmlns:a="http://schemas.openxmlformats.org/drawingml/2006/main">
              <a:ext uri="{FF2B5EF4-FFF2-40B4-BE49-F238E27FC236}">
                <a16:creationId xmlns:a16="http://schemas.microsoft.com/office/drawing/2014/main" id="{E5BBFB6E-758E-415B-AAA1-613FF770B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028950"/>
            <a:ext cx="30099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재현 조건과 빌드 설정</a:t>
            </a:r>
          </a:p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필요한 환경 문서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92E1A8-599D-46F6-83AC-E9AF9C42E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390775"/>
            <a:ext cx="3352800" cy="192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5" name="테스트 구조 조사">
            <a:extLst xmlns:a="http://schemas.openxmlformats.org/drawingml/2006/main">
              <a:ext uri="{FF2B5EF4-FFF2-40B4-BE49-F238E27FC236}">
                <a16:creationId xmlns:a16="http://schemas.microsoft.com/office/drawing/2014/main" id="{639FA87A-7749-4A64-AC36-2831B051A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505075"/>
            <a:ext cx="3009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테스트 구조 조사</a:t>
            </a:r>
          </a:p>
        </p:txBody>
      </p:sp>
      <p:sp>
        <p:nvSpPr>
          <p:cNvPr id="16" name="확인 범위와 회귀 위험&#10;필요한 테스트·명세">
            <a:extLst xmlns:a="http://schemas.openxmlformats.org/drawingml/2006/main">
              <a:ext uri="{FF2B5EF4-FFF2-40B4-BE49-F238E27FC236}">
                <a16:creationId xmlns:a16="http://schemas.microsoft.com/office/drawing/2014/main" id="{CEE017BF-D38B-49F0-903C-FD2E841BB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028950"/>
            <a:ext cx="30099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확인 범위와 회귀 위험</a:t>
            </a:r>
          </a:p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필요한 테스트·명세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1E2D9F6-45FF-47F3-B03F-CCB579B29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476750"/>
            <a:ext cx="266700" cy="2095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805400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3720E4A-DF28-4CD0-B9D6-504E212D0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476750"/>
            <a:ext cx="266700" cy="2095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805400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9C2350A-7D3A-4D32-AEAC-027797E82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4476750"/>
            <a:ext cx="266700" cy="2095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805400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E6C973-E9B9-464E-BB89-374B31EBB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43475"/>
            <a:ext cx="10972800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주 Agent가 합친다: 결과 형식 · 전달 지점 · 최종 검토 책임">
            <a:extLst xmlns:a="http://schemas.openxmlformats.org/drawingml/2006/main">
              <a:ext uri="{FF2B5EF4-FFF2-40B4-BE49-F238E27FC236}">
                <a16:creationId xmlns:a16="http://schemas.microsoft.com/office/drawing/2014/main" id="{F39AC153-7560-4324-BF43-5AD38054B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57775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주 Agent가 합친다: 결과 형식 · 전달 지점 · 최종 검토 책임</a:t>
            </a:r>
          </a:p>
        </p:txBody>
      </p:sp>
      <p:sp>
        <p:nvSpPr>
          <p:cNvPr id="22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5447458A-EA5D-4551-9F68-A50D8E1A5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</a:t>
            </a:r>
          </a:p>
        </p:txBody>
      </p:sp>
    </p:spTree>
    <p:extLst>
      <p:ext uri="{BB962C8B-B14F-4D97-AF65-F5344CB8AC3E}">
        <p14:creationId xmlns:p14="http://schemas.microsoft.com/office/powerpoint/2010/main" val="26801701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ACT 3 · 실제 사례에 Subagent 선택 기준을 적용">
            <a:extLst xmlns:a="http://schemas.openxmlformats.org/drawingml/2006/main">
              <a:ext uri="{FF2B5EF4-FFF2-40B4-BE49-F238E27FC236}">
                <a16:creationId xmlns:a16="http://schemas.microsoft.com/office/drawing/2014/main" id="{2E91F91C-5326-4BEC-BDB0-C1CD9E845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실제 사례에 Subagent 선택 기준을 적용</a:t>
            </a:r>
          </a:p>
        </p:txBody>
      </p:sp>
      <p:sp>
        <p:nvSpPr>
          <p:cNvPr id="2" name="S60">
            <a:extLst xmlns:a="http://schemas.openxmlformats.org/drawingml/2006/main">
              <a:ext uri="{FF2B5EF4-FFF2-40B4-BE49-F238E27FC236}">
                <a16:creationId xmlns:a16="http://schemas.microsoft.com/office/drawing/2014/main" id="{97EC8BF1-CA1A-40E9-9D49-0FDEC0516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S60</a:t>
            </a:r>
          </a:p>
        </p:txBody>
      </p:sp>
      <p:sp>
        <p:nvSpPr>
          <p:cNvPr id="3" name="이번 작업은 나눌 근거가 충분했을까?">
            <a:extLst xmlns:a="http://schemas.openxmlformats.org/drawingml/2006/main">
              <a:ext uri="{FF2B5EF4-FFF2-40B4-BE49-F238E27FC236}">
                <a16:creationId xmlns:a16="http://schemas.microsoft.com/office/drawing/2014/main" id="{230916AF-0F30-4E15-8316-99349B4DF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이번 작업은 나눌 근거가 충분했을까?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D25467-6F5F-4A43-9877-AB909793C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DEC-0018 · 현재 성능 작업의 의존성과 Context를 검토한 판단 · Subagent Trial 없">
            <a:extLst xmlns:a="http://schemas.openxmlformats.org/drawingml/2006/main">
              <a:ext uri="{FF2B5EF4-FFF2-40B4-BE49-F238E27FC236}">
                <a16:creationId xmlns:a16="http://schemas.microsoft.com/office/drawing/2014/main" id="{2B5E0DC8-AE73-4468-BA06-7DE9D7512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DEC-0018 · 현재 성능 작업의 의존성과 Context를 검토한 판단 · Subagent Trial 없음</a:t>
            </a:r>
          </a:p>
        </p:txBody>
      </p:sp>
      <p:sp>
        <p:nvSpPr>
          <p:cNvPr id="6" name="이 사례에서는 추가하지 않음 · 일반적으로 불필요하다는 결론이나 기능 제한 주장이 아님">
            <a:extLst xmlns:a="http://schemas.openxmlformats.org/drawingml/2006/main">
              <a:ext uri="{FF2B5EF4-FFF2-40B4-BE49-F238E27FC236}">
                <a16:creationId xmlns:a16="http://schemas.microsoft.com/office/drawing/2014/main" id="{FCD254E4-81DA-4ACC-84B5-63796BC0F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이 사례에서는 추가하지 않음 · 일반적으로 불필요하다는 결론이나 기능 제한 주장이 아님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5118F8-E677-437C-8354-E60F92F19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3352800" cy="1724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8" name="조사">
            <a:extLst xmlns:a="http://schemas.openxmlformats.org/drawingml/2006/main">
              <a:ext uri="{FF2B5EF4-FFF2-40B4-BE49-F238E27FC236}">
                <a16:creationId xmlns:a16="http://schemas.microsoft.com/office/drawing/2014/main" id="{F949E811-EEB1-411E-B943-3CE1A57CF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81250"/>
            <a:ext cx="3009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조사</a:t>
            </a:r>
          </a:p>
        </p:txBody>
      </p:sp>
      <p:sp>
        <p:nvSpPr>
          <p:cNvPr id="9" name="같은 성능 경로와&#10;명세를 확인">
            <a:extLst xmlns:a="http://schemas.openxmlformats.org/drawingml/2006/main">
              <a:ext uri="{FF2B5EF4-FFF2-40B4-BE49-F238E27FC236}">
                <a16:creationId xmlns:a16="http://schemas.microsoft.com/office/drawing/2014/main" id="{A340B0A4-030C-4BE1-8E11-57855B7DB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05125"/>
            <a:ext cx="30099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성능 경로와</a:t>
            </a:r>
          </a:p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명세를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0E80AC-64C9-416D-9226-66F706F9F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25" y="2962275"/>
            <a:ext cx="219075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801880-3D26-466D-8283-901CDB841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266950"/>
            <a:ext cx="3352800" cy="1724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변경">
            <a:extLst xmlns:a="http://schemas.openxmlformats.org/drawingml/2006/main">
              <a:ext uri="{FF2B5EF4-FFF2-40B4-BE49-F238E27FC236}">
                <a16:creationId xmlns:a16="http://schemas.microsoft.com/office/drawing/2014/main" id="{05397946-14A0-463E-BD5E-D7C08AF06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381250"/>
            <a:ext cx="3009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변경</a:t>
            </a:r>
          </a:p>
        </p:txBody>
      </p:sp>
      <p:sp>
        <p:nvSpPr>
          <p:cNvPr id="13" name="조사 결과에 따라&#10;변경 후보를 선택">
            <a:extLst xmlns:a="http://schemas.openxmlformats.org/drawingml/2006/main">
              <a:ext uri="{FF2B5EF4-FFF2-40B4-BE49-F238E27FC236}">
                <a16:creationId xmlns:a16="http://schemas.microsoft.com/office/drawing/2014/main" id="{35470C11-E20B-4B0A-97BE-B106A01C4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905125"/>
            <a:ext cx="30099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조사 결과에 따라</a:t>
            </a:r>
          </a:p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변경 후보를 선택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FF7A56-EA04-48FC-A676-CB9BB5543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2962275"/>
            <a:ext cx="219075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53C7B4-100E-476B-92D6-E5144295E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266950"/>
            <a:ext cx="3352800" cy="1724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6" name="검증">
            <a:extLst xmlns:a="http://schemas.openxmlformats.org/drawingml/2006/main">
              <a:ext uri="{FF2B5EF4-FFF2-40B4-BE49-F238E27FC236}">
                <a16:creationId xmlns:a16="http://schemas.microsoft.com/office/drawing/2014/main" id="{58510B2A-06A5-4D4C-8EDD-98A618D17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381250"/>
            <a:ext cx="3009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검증</a:t>
            </a:r>
          </a:p>
        </p:txBody>
      </p:sp>
      <p:sp>
        <p:nvSpPr>
          <p:cNvPr id="17" name="변경 결과를&#10;같은 조건에서 확인">
            <a:extLst xmlns:a="http://schemas.openxmlformats.org/drawingml/2006/main">
              <a:ext uri="{FF2B5EF4-FFF2-40B4-BE49-F238E27FC236}">
                <a16:creationId xmlns:a16="http://schemas.microsoft.com/office/drawing/2014/main" id="{4E3B0DB4-3FCE-4418-BD11-D7BED829F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905125"/>
            <a:ext cx="30099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변경 결과를</a:t>
            </a:r>
          </a:p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조건에서 확인</a:t>
            </a:r>
          </a:p>
        </p:txBody>
      </p:sp>
      <p:sp>
        <p:nvSpPr>
          <p:cNvPr id="18" name="작업 독립성 낮음 · 별도 Context 이득 제한 · 결과 통합 비용 존재">
            <a:extLst xmlns:a="http://schemas.openxmlformats.org/drawingml/2006/main">
              <a:ext uri="{FF2B5EF4-FFF2-40B4-BE49-F238E27FC236}">
                <a16:creationId xmlns:a16="http://schemas.microsoft.com/office/drawing/2014/main" id="{D728B2FA-52EC-413B-BC6C-E579BCFD5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00550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작업 독립성 낮음 · 별도 Context 이득 제한 · 결과 통합 비용 존재</a:t>
            </a:r>
          </a:p>
        </p:txBody>
      </p:sp>
      <p:sp>
        <p:nvSpPr>
          <p:cNvPr id="19" name="현재 사례: Agent를 더 나누지 않았다">
            <a:extLst xmlns:a="http://schemas.openxmlformats.org/drawingml/2006/main">
              <a:ext uri="{FF2B5EF4-FFF2-40B4-BE49-F238E27FC236}">
                <a16:creationId xmlns:a16="http://schemas.microsoft.com/office/drawing/2014/main" id="{B74651DD-752D-4BF5-B148-0B685DCEC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911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현재 사례: Agent를 더 나누지 않았다</a:t>
            </a:r>
          </a:p>
        </p:txBody>
      </p:sp>
      <p:sp>
        <p:nvSpPr>
          <p:cNvPr id="20" name="판단 기준: 독립성 · 필요한 Context · 전달 형식 · 통합 책임">
            <a:extLst xmlns:a="http://schemas.openxmlformats.org/drawingml/2006/main">
              <a:ext uri="{FF2B5EF4-FFF2-40B4-BE49-F238E27FC236}">
                <a16:creationId xmlns:a16="http://schemas.microsoft.com/office/drawing/2014/main" id="{787B0541-6681-4691-9138-8AFE381E8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판단 기준: 독립성 · 필요한 Context · 전달 형식 · 통합 책임</a:t>
            </a:r>
          </a:p>
        </p:txBody>
      </p:sp>
      <p:sp>
        <p:nvSpPr>
          <p:cNvPr id="21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A6324B4B-5CE2-46FA-8C53-D4AC63D93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191280754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ACT 3 · Memory가 해결할 문제부터 보기">
            <a:extLst xmlns:a="http://schemas.openxmlformats.org/drawingml/2006/main">
              <a:ext uri="{FF2B5EF4-FFF2-40B4-BE49-F238E27FC236}">
                <a16:creationId xmlns:a16="http://schemas.microsoft.com/office/drawing/2014/main" id="{4A71C81A-1131-429E-9059-994F0E803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Memory가 해결할 문제부터 보기</a:t>
            </a:r>
          </a:p>
        </p:txBody>
      </p:sp>
      <p:sp>
        <p:nvSpPr>
          <p:cNvPr id="2" name="S61">
            <a:extLst xmlns:a="http://schemas.openxmlformats.org/drawingml/2006/main">
              <a:ext uri="{FF2B5EF4-FFF2-40B4-BE49-F238E27FC236}">
                <a16:creationId xmlns:a16="http://schemas.microsoft.com/office/drawing/2014/main" id="{C4AC55C4-57BF-4976-B18B-3F21657D4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S61</a:t>
            </a:r>
          </a:p>
        </p:txBody>
      </p:sp>
      <p:sp>
        <p:nvSpPr>
          <p:cNvPr id="3" name="다음 작업에서도 다시 찾을 지식인가?">
            <a:extLst xmlns:a="http://schemas.openxmlformats.org/drawingml/2006/main">
              <a:ext uri="{FF2B5EF4-FFF2-40B4-BE49-F238E27FC236}">
                <a16:creationId xmlns:a16="http://schemas.microsoft.com/office/drawing/2014/main" id="{DDDCA04A-70F8-4BB2-BC25-D802B12A1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다음 작업에서도 다시 찾을 지식인가?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D7249B-4C88-47B2-83FF-5BE1EF415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CONCEPTUAL · 작업 간 지식 재사용 가정 · 실제 재발견 기록·제품 Memory 구현 아님">
            <a:extLst xmlns:a="http://schemas.openxmlformats.org/drawingml/2006/main">
              <a:ext uri="{FF2B5EF4-FFF2-40B4-BE49-F238E27FC236}">
                <a16:creationId xmlns:a16="http://schemas.microsoft.com/office/drawing/2014/main" id="{FBB7386F-CB94-49AA-A24E-A3F741964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CONCEPTUAL · 작업 간 지식 재사용 가정 · 실제 재발견 기록·제품 Memory 구현 아님</a:t>
            </a:r>
          </a:p>
        </p:txBody>
      </p:sp>
      <p:sp>
        <p:nvSpPr>
          <p:cNvPr id="6" name="Context: 지금 필요한 정보 / Memory: 다음 작업에도 남길지 판단할 지식 · 자동 저장·정확성 ">
            <a:extLst xmlns:a="http://schemas.openxmlformats.org/drawingml/2006/main">
              <a:ext uri="{FF2B5EF4-FFF2-40B4-BE49-F238E27FC236}">
                <a16:creationId xmlns:a16="http://schemas.microsoft.com/office/drawing/2014/main" id="{E8DF692E-B62E-4ADF-9E62-3B5DD27D9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Context: 지금 필요한 정보 / Memory: 다음 작업에도 남길지 판단할 지식 · 자동 저장·정확성 보장 없음</a:t>
            </a:r>
          </a:p>
        </p:txBody>
      </p:sp>
      <p:sp>
        <p:nvSpPr>
          <p:cNvPr id="7" name="조사로 얻은 지식이 다음 작업에도 필요하다면?">
            <a:extLst xmlns:a="http://schemas.openxmlformats.org/drawingml/2006/main">
              <a:ext uri="{FF2B5EF4-FFF2-40B4-BE49-F238E27FC236}">
                <a16:creationId xmlns:a16="http://schemas.microsoft.com/office/drawing/2014/main" id="{8B1C5CAE-620A-4AF6-BD81-65DFED1F9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조사로 얻은 지식이 다음 작업에도 필요하다면?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CDEF2C-52B6-4EA9-866B-532BF0E41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66975"/>
            <a:ext cx="3086100" cy="2152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9" name="Task A · 조사">
            <a:extLst xmlns:a="http://schemas.openxmlformats.org/drawingml/2006/main">
              <a:ext uri="{FF2B5EF4-FFF2-40B4-BE49-F238E27FC236}">
                <a16:creationId xmlns:a16="http://schemas.microsoft.com/office/drawing/2014/main" id="{E8A61048-C6B9-4BFA-A077-06153BB41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81275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Task A · 조사</a:t>
            </a:r>
          </a:p>
        </p:txBody>
      </p:sp>
      <p:sp>
        <p:nvSpPr>
          <p:cNvPr id="10" name="재현 조건이나&#10;주의점을 확인&#10;(교육용 가정)">
            <a:extLst xmlns:a="http://schemas.openxmlformats.org/drawingml/2006/main">
              <a:ext uri="{FF2B5EF4-FFF2-40B4-BE49-F238E27FC236}">
                <a16:creationId xmlns:a16="http://schemas.microsoft.com/office/drawing/2014/main" id="{25D81685-8882-475F-AD6D-0FDA1FF63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05150"/>
            <a:ext cx="27432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재현 조건이나</a:t>
            </a:r>
          </a:p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주의점을 확인</a:t>
            </a:r>
          </a:p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(교육용 가정)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07A78C-C1A3-4D53-AE2A-C9026DFFC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343275"/>
            <a:ext cx="3048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805400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DF4CF9-9AC5-434B-8C45-501599789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466975"/>
            <a:ext cx="3352800" cy="2152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3" name="보존할 가치 판단">
            <a:extLst xmlns:a="http://schemas.openxmlformats.org/drawingml/2006/main">
              <a:ext uri="{FF2B5EF4-FFF2-40B4-BE49-F238E27FC236}">
                <a16:creationId xmlns:a16="http://schemas.microsoft.com/office/drawing/2014/main" id="{3353B4B2-DF10-4E46-BEAB-795414854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581275"/>
            <a:ext cx="3009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보존할 가치 판단</a:t>
            </a:r>
          </a:p>
        </p:txBody>
      </p:sp>
      <p:sp>
        <p:nvSpPr>
          <p:cNvPr id="14" name="내용 · 출처 · 적용 범위&#10;다시 확인할 조건">
            <a:extLst xmlns:a="http://schemas.openxmlformats.org/drawingml/2006/main">
              <a:ext uri="{FF2B5EF4-FFF2-40B4-BE49-F238E27FC236}">
                <a16:creationId xmlns:a16="http://schemas.microsoft.com/office/drawing/2014/main" id="{E4FF3B08-D698-4996-AFCE-15974B1BE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105150"/>
            <a:ext cx="30099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내용 · 출처 · 적용 범위</a:t>
            </a:r>
          </a:p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다시 확인할 조건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78A60C-F219-4E14-8622-8098D0830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343275"/>
            <a:ext cx="3048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805400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254195-2F7D-411F-9BEC-BB3775CF4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466975"/>
            <a:ext cx="3086100" cy="2152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7" name="Task B · 다시 사용">
            <a:extLst xmlns:a="http://schemas.openxmlformats.org/drawingml/2006/main">
              <a:ext uri="{FF2B5EF4-FFF2-40B4-BE49-F238E27FC236}">
                <a16:creationId xmlns:a16="http://schemas.microsoft.com/office/drawing/2014/main" id="{DADBAFF3-883B-4231-A1A2-4B29345BE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581275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Task B · 다시 사용</a:t>
            </a:r>
          </a:p>
        </p:txBody>
      </p:sp>
      <p:sp>
        <p:nvSpPr>
          <p:cNvPr id="18" name="현재 명세와 대조한 뒤&#10;관련 지식만 참고">
            <a:extLst xmlns:a="http://schemas.openxmlformats.org/drawingml/2006/main">
              <a:ext uri="{FF2B5EF4-FFF2-40B4-BE49-F238E27FC236}">
                <a16:creationId xmlns:a16="http://schemas.microsoft.com/office/drawing/2014/main" id="{D88E4986-9927-4E9B-83AF-C564C7C8E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105150"/>
            <a:ext cx="27432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현재 명세와 대조한 뒤</a:t>
            </a:r>
          </a:p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관련 지식만 참고</a:t>
            </a:r>
          </a:p>
        </p:txBody>
      </p:sp>
      <p:sp>
        <p:nvSpPr>
          <p:cNvPr id="19" name="원래 문서에 있으면 그 출처를 참조한다">
            <a:extLst xmlns:a="http://schemas.openxmlformats.org/drawingml/2006/main">
              <a:ext uri="{FF2B5EF4-FFF2-40B4-BE49-F238E27FC236}">
                <a16:creationId xmlns:a16="http://schemas.microsoft.com/office/drawing/2014/main" id="{61A56B61-09C6-471A-9BB7-E5D6B4C9F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7682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원래 문서에 있으면 그 출처를 참조한다</a:t>
            </a:r>
          </a:p>
        </p:txBody>
      </p:sp>
      <p:sp>
        <p:nvSpPr>
          <p:cNvPr id="20" name="다음 장에서, 현재 Demo에 별도 보존 후보가 있었는지 판단한다">
            <a:extLst xmlns:a="http://schemas.openxmlformats.org/drawingml/2006/main">
              <a:ext uri="{FF2B5EF4-FFF2-40B4-BE49-F238E27FC236}">
                <a16:creationId xmlns:a16="http://schemas.microsoft.com/office/drawing/2014/main" id="{9D786021-833F-46B2-8D9C-EC8BAC720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다음 장에서, 현재 Demo에 별도 보존 후보가 있었는지 판단한다</a:t>
            </a:r>
          </a:p>
        </p:txBody>
      </p:sp>
      <p:sp>
        <p:nvSpPr>
          <p:cNvPr id="21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9226BE55-7671-41E1-938D-AC73F12FA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23792330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ACT 3 · Memory의 기준과 현재 사례의 선택">
            <a:extLst xmlns:a="http://schemas.openxmlformats.org/drawingml/2006/main">
              <a:ext uri="{FF2B5EF4-FFF2-40B4-BE49-F238E27FC236}">
                <a16:creationId xmlns:a16="http://schemas.microsoft.com/office/drawing/2014/main" id="{273A2053-F315-4A8F-B538-F4DEA472F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Memory의 기준과 현재 사례의 선택</a:t>
            </a:r>
          </a:p>
        </p:txBody>
      </p:sp>
      <p:sp>
        <p:nvSpPr>
          <p:cNvPr id="2" name="S62">
            <a:extLst xmlns:a="http://schemas.openxmlformats.org/drawingml/2006/main">
              <a:ext uri="{FF2B5EF4-FFF2-40B4-BE49-F238E27FC236}">
                <a16:creationId xmlns:a16="http://schemas.microsoft.com/office/drawing/2014/main" id="{17362A5B-3275-4E0E-85FA-165D9C0B0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S62</a:t>
            </a:r>
          </a:p>
        </p:txBody>
      </p:sp>
      <p:sp>
        <p:nvSpPr>
          <p:cNvPr id="3" name="남길지, 원래 출처를 참조할지 판단한다">
            <a:extLst xmlns:a="http://schemas.openxmlformats.org/drawingml/2006/main">
              <a:ext uri="{FF2B5EF4-FFF2-40B4-BE49-F238E27FC236}">
                <a16:creationId xmlns:a16="http://schemas.microsoft.com/office/drawing/2014/main" id="{76F1EF47-0A13-404D-A8E0-7BE14EB96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남길지, 원래 출처를 참조할지 판단한다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57E24C-66B4-473C-B9CB-92F9F5E39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DEC-0018 · Demo 지식 출처 점검 + 교육용 보존 기준 · 제품 Memory 기능에 대한 관찰 아">
            <a:extLst xmlns:a="http://schemas.openxmlformats.org/drawingml/2006/main">
              <a:ext uri="{FF2B5EF4-FFF2-40B4-BE49-F238E27FC236}">
                <a16:creationId xmlns:a16="http://schemas.microsoft.com/office/drawing/2014/main" id="{2A8CE77F-D3B8-4EF4-83C9-6F3EA9555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DEC-0018 · Demo 지식 출처 점검 + 교육용 보존 기준 · 제품 Memory 기능에 대한 관찰 아님</a:t>
            </a:r>
          </a:p>
        </p:txBody>
      </p:sp>
      <p:sp>
        <p:nvSpPr>
          <p:cNvPr id="6" name="현재 별도 Memory 후보 없음 · 다음 작업 재사용이 기준이며 프로젝트 사이 재사용이 필수는 아님">
            <a:extLst xmlns:a="http://schemas.openxmlformats.org/drawingml/2006/main">
              <a:ext uri="{FF2B5EF4-FFF2-40B4-BE49-F238E27FC236}">
                <a16:creationId xmlns:a16="http://schemas.microsoft.com/office/drawing/2014/main" id="{4CE08EF7-48D3-4A60-9121-78FB17752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현재 별도 Memory 후보 없음 · 다음 작업 재사용이 기준이며 프로젝트 사이 재사용이 필수는 아님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48347F-5CD4-424A-9A31-0676BF0CA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0225"/>
            <a:ext cx="2571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재발견 비용">
            <a:extLst xmlns:a="http://schemas.openxmlformats.org/drawingml/2006/main">
              <a:ext uri="{FF2B5EF4-FFF2-40B4-BE49-F238E27FC236}">
                <a16:creationId xmlns:a16="http://schemas.microsoft.com/office/drawing/2014/main" id="{D7C56AB3-8B87-46EC-AA31-0805B6098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14525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재발견 비용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02993C-C360-4CBD-8C56-1F5E8AEE1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800225"/>
            <a:ext cx="2571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다음 작업 재사용">
            <a:extLst xmlns:a="http://schemas.openxmlformats.org/drawingml/2006/main">
              <a:ext uri="{FF2B5EF4-FFF2-40B4-BE49-F238E27FC236}">
                <a16:creationId xmlns:a16="http://schemas.microsoft.com/office/drawing/2014/main" id="{E6C78E67-B421-4311-ADAF-C0570EF36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914525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다음 작업 재사용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26314E-909B-411D-9A7F-8F81A2E85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00225"/>
            <a:ext cx="2571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출처·적용 범위">
            <a:extLst xmlns:a="http://schemas.openxmlformats.org/drawingml/2006/main">
              <a:ext uri="{FF2B5EF4-FFF2-40B4-BE49-F238E27FC236}">
                <a16:creationId xmlns:a16="http://schemas.microsoft.com/office/drawing/2014/main" id="{96985E64-25A3-44CC-B08A-28F47F383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914525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출처·적용 범위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8146F9-840F-4F6D-9374-1A8E339ED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800225"/>
            <a:ext cx="2571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갱신·무효화 조건">
            <a:extLst xmlns:a="http://schemas.openxmlformats.org/drawingml/2006/main">
              <a:ext uri="{FF2B5EF4-FFF2-40B4-BE49-F238E27FC236}">
                <a16:creationId xmlns:a16="http://schemas.microsoft.com/office/drawing/2014/main" id="{8A9B65F9-4252-4428-8D0E-63093CD69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1914525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갱신·무효화 조건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16570E-A041-454B-B460-5F4273899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05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6" name="crop의 끝 좌표 제외">
            <a:extLst xmlns:a="http://schemas.openxmlformats.org/drawingml/2006/main">
              <a:ext uri="{FF2B5EF4-FFF2-40B4-BE49-F238E27FC236}">
                <a16:creationId xmlns:a16="http://schemas.microsoft.com/office/drawing/2014/main" id="{10E431DD-39BB-4834-B70D-15B896122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4648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crop의 끝 좌표 제외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D87730-E637-4EE5-A642-747F6EFF3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2895600"/>
            <a:ext cx="2857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8" name="코드 · 이미지 명세 문서">
            <a:extLst xmlns:a="http://schemas.openxmlformats.org/drawingml/2006/main">
              <a:ext uri="{FF2B5EF4-FFF2-40B4-BE49-F238E27FC236}">
                <a16:creationId xmlns:a16="http://schemas.microsoft.com/office/drawing/2014/main" id="{6EFCC526-3CDA-4496-B2ED-E8BAAA773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781300"/>
            <a:ext cx="5391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코드 · 이미지 명세 문서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497E739-210D-4031-9193-179256244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670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0" name="모듈이 이어지는 순서">
            <a:extLst xmlns:a="http://schemas.openxmlformats.org/drawingml/2006/main">
              <a:ext uri="{FF2B5EF4-FFF2-40B4-BE49-F238E27FC236}">
                <a16:creationId xmlns:a16="http://schemas.microsoft.com/office/drawing/2014/main" id="{09F0DC12-6075-46B4-ACCC-8BC45F4BC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43275"/>
            <a:ext cx="4648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모듈이 이어지는 순서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2D754DD-851C-47B9-9AD7-9BAC3BF19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3457575"/>
            <a:ext cx="2857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2" name="architecture.md">
            <a:extLst xmlns:a="http://schemas.openxmlformats.org/drawingml/2006/main">
              <a:ext uri="{FF2B5EF4-FFF2-40B4-BE49-F238E27FC236}">
                <a16:creationId xmlns:a16="http://schemas.microsoft.com/office/drawing/2014/main" id="{D2EFF42C-3FAA-4810-9666-6CE9D6D0E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43275"/>
            <a:ext cx="5391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architecture.md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A41F2C9-FAB2-4B66-8C3F-F6D9B6DD7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4" name="성능 조사·검증 방법">
            <a:extLst xmlns:a="http://schemas.openxmlformats.org/drawingml/2006/main">
              <a:ext uri="{FF2B5EF4-FFF2-40B4-BE49-F238E27FC236}">
                <a16:creationId xmlns:a16="http://schemas.microsoft.com/office/drawing/2014/main" id="{F22C4DB4-C142-4166-8DC1-535C3904A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4648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성능 조사·검증 방법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C61172C-7576-4C0A-AC6B-7771D5187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4019550"/>
            <a:ext cx="2857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6" name="Repository Skill">
            <a:extLst xmlns:a="http://schemas.openxmlformats.org/drawingml/2006/main">
              <a:ext uri="{FF2B5EF4-FFF2-40B4-BE49-F238E27FC236}">
                <a16:creationId xmlns:a16="http://schemas.microsoft.com/office/drawing/2014/main" id="{BFA92646-3CBD-4F5F-83CB-48BE10C7E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05250"/>
            <a:ext cx="5391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Repository Skill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8306EC6-6EC7-4637-8F1B-4E3A9FB72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910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8" name="이번 실행의 측정값">
            <a:extLst xmlns:a="http://schemas.openxmlformats.org/drawingml/2006/main">
              <a:ext uri="{FF2B5EF4-FFF2-40B4-BE49-F238E27FC236}">
                <a16:creationId xmlns:a16="http://schemas.microsoft.com/office/drawing/2014/main" id="{BFAEB386-78EA-4A3A-A52E-1C4A0DC45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67225"/>
            <a:ext cx="4648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이번 실행의 측정값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14DB6CC-C020-451C-8CFB-FD21C631C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4581525"/>
            <a:ext cx="2857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30" name="날짜가 있는 Trial 기록 · Git 이력">
            <a:extLst xmlns:a="http://schemas.openxmlformats.org/drawingml/2006/main">
              <a:ext uri="{FF2B5EF4-FFF2-40B4-BE49-F238E27FC236}">
                <a16:creationId xmlns:a16="http://schemas.microsoft.com/office/drawing/2014/main" id="{7AED5D88-6797-4A86-88B7-4118D7187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467225"/>
            <a:ext cx="5391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날짜가 있는 Trial 기록 · Git 이력</a:t>
            </a:r>
          </a:p>
        </p:txBody>
      </p:sp>
      <p:sp>
        <p:nvSpPr>
          <p:cNvPr id="31" name="이번 사례: 원래 출처를 유지하고, 별도 Memory는 추가하지 않았다">
            <a:extLst xmlns:a="http://schemas.openxmlformats.org/drawingml/2006/main">
              <a:ext uri="{FF2B5EF4-FFF2-40B4-BE49-F238E27FC236}">
                <a16:creationId xmlns:a16="http://schemas.microsoft.com/office/drawing/2014/main" id="{0DCD9E57-3DE8-4AB8-94D3-7B63BD510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사례: 원래 출처를 유지하고, 별도 Memory는 추가하지 않았다</a:t>
            </a:r>
          </a:p>
        </p:txBody>
      </p:sp>
      <p:sp>
        <p:nvSpPr>
          <p:cNvPr id="32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CAA1E93D-3A12-464A-A88F-CA88C281C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157976019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ACT 3 · Minimum Effective Harness의 근거를 회수">
            <a:extLst xmlns:a="http://schemas.openxmlformats.org/drawingml/2006/main">
              <a:ext uri="{FF2B5EF4-FFF2-40B4-BE49-F238E27FC236}">
                <a16:creationId xmlns:a16="http://schemas.microsoft.com/office/drawing/2014/main" id="{C784EE93-E3E1-4213-A051-1E2376988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Minimum Effective Harness의 근거를 회수</a:t>
            </a:r>
          </a:p>
        </p:txBody>
      </p:sp>
      <p:sp>
        <p:nvSpPr>
          <p:cNvPr id="2" name="S63">
            <a:extLst xmlns:a="http://schemas.openxmlformats.org/drawingml/2006/main">
              <a:ext uri="{FF2B5EF4-FFF2-40B4-BE49-F238E27FC236}">
                <a16:creationId xmlns:a16="http://schemas.microsoft.com/office/drawing/2014/main" id="{2C79A9E7-625B-4B2F-A05A-41C9AE677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S63</a:t>
            </a:r>
          </a:p>
        </p:txBody>
      </p:sp>
      <p:sp>
        <p:nvSpPr>
          <p:cNvPr id="3" name="이번 사례에서 실제로 사용한 구조">
            <a:extLst xmlns:a="http://schemas.openxmlformats.org/drawingml/2006/main">
              <a:ext uri="{FF2B5EF4-FFF2-40B4-BE49-F238E27FC236}">
                <a16:creationId xmlns:a16="http://schemas.microsoft.com/office/drawing/2014/main" id="{A0A4D993-C204-45F1-9E4D-C43FF8A8E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이번 사례에서 실제로 사용한 구조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31802C-13A6-4218-9386-7A7053A8E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STATE-04-PERF까지의 구성 점검 · 보존된 기록과 교육용 책임 구분을 연결">
            <a:extLst xmlns:a="http://schemas.openxmlformats.org/drawingml/2006/main">
              <a:ext uri="{FF2B5EF4-FFF2-40B4-BE49-F238E27FC236}">
                <a16:creationId xmlns:a16="http://schemas.microsoft.com/office/drawing/2014/main" id="{FF8D1661-95BB-4239-B0F1-9553E8E1B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STATE-04-PERF까지의 구성 점검 · 보존된 기록과 교육용 책임 구분을 연결</a:t>
            </a:r>
          </a:p>
        </p:txBody>
      </p:sp>
      <p:sp>
        <p:nvSpPr>
          <p:cNvPr id="6" name="Subagent·별도 Memory는 추가하지 않음 · 보편적 최적 구성이나 기능 수 우위에 대한 주장이 아님">
            <a:extLst xmlns:a="http://schemas.openxmlformats.org/drawingml/2006/main">
              <a:ext uri="{FF2B5EF4-FFF2-40B4-BE49-F238E27FC236}">
                <a16:creationId xmlns:a16="http://schemas.microsoft.com/office/drawing/2014/main" id="{72E8421D-356E-4B88-8763-DF622314F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Subagent·별도 Memory는 추가하지 않음 · 보편적 최적 구성이나 기능 수 우위에 대한 주장이 아님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71D4A3-5F60-407E-A423-A91F49F5C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240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8" name="현재 목표·범위">
            <a:extLst xmlns:a="http://schemas.openxmlformats.org/drawingml/2006/main">
              <a:ext uri="{FF2B5EF4-FFF2-40B4-BE49-F238E27FC236}">
                <a16:creationId xmlns:a16="http://schemas.microsoft.com/office/drawing/2014/main" id="{18371E6B-257B-4608-80CC-103E75506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47244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현재 목표·범위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57A16F-8AC0-4486-8DB8-1E5C3438E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419350"/>
            <a:ext cx="3048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0" name="밝기 통계 조사 요청">
            <a:extLst xmlns:a="http://schemas.openxmlformats.org/drawingml/2006/main">
              <a:ext uri="{FF2B5EF4-FFF2-40B4-BE49-F238E27FC236}">
                <a16:creationId xmlns:a16="http://schemas.microsoft.com/office/drawing/2014/main" id="{05186E76-DC9B-414B-80E5-72EBCDDFF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86000"/>
            <a:ext cx="53911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밝기 통계 조사 요청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2F0758-4308-491A-87D2-CCDE3E50E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860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참고할 명세·안내">
            <a:extLst xmlns:a="http://schemas.openxmlformats.org/drawingml/2006/main">
              <a:ext uri="{FF2B5EF4-FFF2-40B4-BE49-F238E27FC236}">
                <a16:creationId xmlns:a16="http://schemas.microsoft.com/office/drawing/2014/main" id="{045E1193-A796-4904-B5D1-7BE16D511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47244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참고할 명세·안내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4028A2-E50F-4AE9-8ACA-3CF83890A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181350"/>
            <a:ext cx="3048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4" name="AGENTS.md + 상세 문서">
            <a:extLst xmlns:a="http://schemas.openxmlformats.org/drawingml/2006/main">
              <a:ext uri="{FF2B5EF4-FFF2-40B4-BE49-F238E27FC236}">
                <a16:creationId xmlns:a16="http://schemas.microsoft.com/office/drawing/2014/main" id="{D40BD56D-424B-4B0C-AF7C-5974DAAB4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8000"/>
            <a:ext cx="53911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AGENTS.md + 상세 문서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AF71FF-9482-49D5-A895-E03585D40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480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6" name="다시 쓸 수행 방법">
            <a:extLst xmlns:a="http://schemas.openxmlformats.org/drawingml/2006/main">
              <a:ext uri="{FF2B5EF4-FFF2-40B4-BE49-F238E27FC236}">
                <a16:creationId xmlns:a16="http://schemas.microsoft.com/office/drawing/2014/main" id="{8CC4B884-C0DD-4577-851E-D7DE4F339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47244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다시 쓸 수행 방법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62E243E-BC51-43B9-8C77-E1DEAC256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943350"/>
            <a:ext cx="3048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8" name="graypipe-performance Skill">
            <a:extLst xmlns:a="http://schemas.openxmlformats.org/drawingml/2006/main">
              <a:ext uri="{FF2B5EF4-FFF2-40B4-BE49-F238E27FC236}">
                <a16:creationId xmlns:a16="http://schemas.microsoft.com/office/drawing/2014/main" id="{740E58F0-3723-4CC5-871C-F99B3C447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10000"/>
            <a:ext cx="53911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graypipe-performance Skill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13CD431-7C30-4EEE-9092-9702F665A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0" name="변경을 판단할 근거">
            <a:extLst xmlns:a="http://schemas.openxmlformats.org/drawingml/2006/main">
              <a:ext uri="{FF2B5EF4-FFF2-40B4-BE49-F238E27FC236}">
                <a16:creationId xmlns:a16="http://schemas.microsoft.com/office/drawing/2014/main" id="{15D956B8-4371-47DC-8CB1-D6CE61204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47244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변경을 판단할 근거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1427F57-9940-450C-A84B-89F53425B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705350"/>
            <a:ext cx="3048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2" name="테스트 + benchmark + 실행 환경">
            <a:extLst xmlns:a="http://schemas.openxmlformats.org/drawingml/2006/main">
              <a:ext uri="{FF2B5EF4-FFF2-40B4-BE49-F238E27FC236}">
                <a16:creationId xmlns:a16="http://schemas.microsoft.com/office/drawing/2014/main" id="{4115A240-FF5F-4C7B-B3D8-AE8241465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572000"/>
            <a:ext cx="53911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테스트 + benchmark + 실행 환경</a:t>
            </a:r>
          </a:p>
        </p:txBody>
      </p:sp>
      <p:sp>
        <p:nvSpPr>
          <p:cNvPr id="23" name="현재 문제와 확인 요구에 맞춰 구성한 작업 환경">
            <a:extLst xmlns:a="http://schemas.openxmlformats.org/drawingml/2006/main">
              <a:ext uri="{FF2B5EF4-FFF2-40B4-BE49-F238E27FC236}">
                <a16:creationId xmlns:a16="http://schemas.microsoft.com/office/drawing/2014/main" id="{90E5C024-D6FA-48D3-A84B-A9263C746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728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현재 문제와 확인 요구에 맞춰 구성한 작업 환경</a:t>
            </a:r>
          </a:p>
        </p:txBody>
      </p:sp>
      <p:sp>
        <p:nvSpPr>
          <p:cNvPr id="24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F9C0BFD0-E5E2-4982-A7A5-2956BF5E2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95976366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ACT 3 · 작업 방법과 실행·검증 환경을 하나로 연결">
            <a:extLst xmlns:a="http://schemas.openxmlformats.org/drawingml/2006/main">
              <a:ext uri="{FF2B5EF4-FFF2-40B4-BE49-F238E27FC236}">
                <a16:creationId xmlns:a16="http://schemas.microsoft.com/office/drawing/2014/main" id="{6A3176B7-D35C-41CA-A238-ACADC1EE2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작업 방법과 실행·검증 환경을 하나로 연결</a:t>
            </a:r>
          </a:p>
        </p:txBody>
      </p:sp>
      <p:sp>
        <p:nvSpPr>
          <p:cNvPr id="2" name="S64">
            <a:extLst xmlns:a="http://schemas.openxmlformats.org/drawingml/2006/main">
              <a:ext uri="{FF2B5EF4-FFF2-40B4-BE49-F238E27FC236}">
                <a16:creationId xmlns:a16="http://schemas.microsoft.com/office/drawing/2014/main" id="{C4ABBEAE-1E1B-4FA7-8196-AA5DCFBF2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S64</a:t>
            </a:r>
          </a:p>
        </p:txBody>
      </p:sp>
      <p:sp>
        <p:nvSpPr>
          <p:cNvPr id="3" name="이 구성이 함께 작동하는 것이 Harness다">
            <a:extLst xmlns:a="http://schemas.openxmlformats.org/drawingml/2006/main">
              <a:ext uri="{FF2B5EF4-FFF2-40B4-BE49-F238E27FC236}">
                <a16:creationId xmlns:a16="http://schemas.microsoft.com/office/drawing/2014/main" id="{FA70940A-52C8-4E65-8F8E-AF1E9E151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 구성이 함께 작동하는 것이 Harness다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169E08-AD49-4016-BEB5-4F98E246D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이 과정의 Harness 운영 모델 · 아래 관찰 구성은 STATE-04-PERF까지의 제한된 사례">
            <a:extLst xmlns:a="http://schemas.openxmlformats.org/drawingml/2006/main">
              <a:ext uri="{FF2B5EF4-FFF2-40B4-BE49-F238E27FC236}">
                <a16:creationId xmlns:a16="http://schemas.microsoft.com/office/drawing/2014/main" id="{9CCA8C0C-3A78-4EB0-976D-2DF7AD5B7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이 과정의 Harness 운영 모델 · 아래 관찰 구성은 STATE-04-PERF까지의 제한된 사례</a:t>
            </a:r>
          </a:p>
        </p:txBody>
      </p:sp>
      <p:sp>
        <p:nvSpPr>
          <p:cNvPr id="6" name="공식 제품 분류·보편적 필수 목록이 아님 · 특정 구성요소의 단독 성능 효과는 입증하지 않음">
            <a:extLst xmlns:a="http://schemas.openxmlformats.org/drawingml/2006/main">
              <a:ext uri="{FF2B5EF4-FFF2-40B4-BE49-F238E27FC236}">
                <a16:creationId xmlns:a16="http://schemas.microsoft.com/office/drawing/2014/main" id="{8161B1F4-3E7B-4CC4-93CA-58206B598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공식 제품 분류·보편적 필수 목록이 아님 · 특정 구성요소의 단독 성능 효과는 입증하지 않음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41C725-4E4C-40D2-A396-65C227199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10972800" cy="3209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7D0DA"/>
            </a:solidFill>
            <a:prstDash val="solid"/>
          </a:ln>
        </p:spPr>
      </p:sp>
      <p:sp>
        <p:nvSpPr>
          <p:cNvPr id="8" name="프로젝트 작업 환경">
            <a:extLst xmlns:a="http://schemas.openxmlformats.org/drawingml/2006/main">
              <a:ext uri="{FF2B5EF4-FFF2-40B4-BE49-F238E27FC236}">
                <a16:creationId xmlns:a16="http://schemas.microsoft.com/office/drawing/2014/main" id="{1E1DF546-F217-475B-BD63-E31D8E361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43100"/>
            <a:ext cx="10591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프로젝트 작업 환경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FDE91E-E20A-4A10-83F2-962E42712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81275"/>
            <a:ext cx="2609850" cy="1400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0" name="목표·허용 범위">
            <a:extLst xmlns:a="http://schemas.openxmlformats.org/drawingml/2006/main">
              <a:ext uri="{FF2B5EF4-FFF2-40B4-BE49-F238E27FC236}">
                <a16:creationId xmlns:a16="http://schemas.microsoft.com/office/drawing/2014/main" id="{0E3CC265-E4FF-47B7-BD9D-7231C1188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695575"/>
            <a:ext cx="2266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목표·허용 범위</a:t>
            </a:r>
          </a:p>
        </p:txBody>
      </p:sp>
      <p:sp>
        <p:nvSpPr>
          <p:cNvPr id="11" name="개발자가 정한다">
            <a:extLst xmlns:a="http://schemas.openxmlformats.org/drawingml/2006/main">
              <a:ext uri="{FF2B5EF4-FFF2-40B4-BE49-F238E27FC236}">
                <a16:creationId xmlns:a16="http://schemas.microsoft.com/office/drawing/2014/main" id="{75F6ADF2-FB07-4FC6-9FDC-6F9158529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19450"/>
            <a:ext cx="22669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개발자가 정한다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0BAE93-D380-43A1-8C37-C7ED32175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3076575"/>
            <a:ext cx="276225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F0FA48-D281-400C-A487-79A870A56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581275"/>
            <a:ext cx="3590925" cy="1400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4" name="Agent의 수행 방법">
            <a:extLst xmlns:a="http://schemas.openxmlformats.org/drawingml/2006/main">
              <a:ext uri="{FF2B5EF4-FFF2-40B4-BE49-F238E27FC236}">
                <a16:creationId xmlns:a16="http://schemas.microsoft.com/office/drawing/2014/main" id="{EAB50A56-E2C4-40E6-9A90-69648E872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695575"/>
            <a:ext cx="32480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Agent의 수행 방법</a:t>
            </a:r>
          </a:p>
        </p:txBody>
      </p:sp>
      <p:sp>
        <p:nvSpPr>
          <p:cNvPr id="15" name="조사 → 판단 → 변경">
            <a:extLst xmlns:a="http://schemas.openxmlformats.org/drawingml/2006/main">
              <a:ext uri="{FF2B5EF4-FFF2-40B4-BE49-F238E27FC236}">
                <a16:creationId xmlns:a16="http://schemas.microsoft.com/office/drawing/2014/main" id="{8D5B96D0-94FE-4A8F-914C-52E3B7639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219450"/>
            <a:ext cx="3248025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조사 → 판단 → 변경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DC293B-A5F7-4F3D-A36E-8F30A8F38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076575"/>
            <a:ext cx="276225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D79B8CB-E663-46B8-BA94-2800FD43F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2581275"/>
            <a:ext cx="2943225" cy="1400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8" name="완료 근거·검토">
            <a:extLst xmlns:a="http://schemas.openxmlformats.org/drawingml/2006/main">
              <a:ext uri="{FF2B5EF4-FFF2-40B4-BE49-F238E27FC236}">
                <a16:creationId xmlns:a16="http://schemas.microsoft.com/office/drawing/2014/main" id="{97107FCD-4C8C-469B-9C59-DBEBB2479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2695575"/>
            <a:ext cx="26003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완료 근거·검토</a:t>
            </a:r>
          </a:p>
        </p:txBody>
      </p:sp>
      <p:sp>
        <p:nvSpPr>
          <p:cNvPr id="19" name="검증 결과를 확인">
            <a:extLst xmlns:a="http://schemas.openxmlformats.org/drawingml/2006/main">
              <a:ext uri="{FF2B5EF4-FFF2-40B4-BE49-F238E27FC236}">
                <a16:creationId xmlns:a16="http://schemas.microsoft.com/office/drawing/2014/main" id="{365F3731-96FD-4C0E-A1AE-710F9E0D3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3219450"/>
            <a:ext cx="2600325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검증 결과를 확인</a:t>
            </a:r>
          </a:p>
        </p:txBody>
      </p:sp>
      <p:sp>
        <p:nvSpPr>
          <p:cNvPr id="20" name="Context·재사용 절차 + 실행 도구·입력·권한·측정 환경">
            <a:extLst xmlns:a="http://schemas.openxmlformats.org/drawingml/2006/main">
              <a:ext uri="{FF2B5EF4-FFF2-40B4-BE49-F238E27FC236}">
                <a16:creationId xmlns:a16="http://schemas.microsoft.com/office/drawing/2014/main" id="{03E305C2-F7EF-478D-AA80-E326CA802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91025"/>
            <a:ext cx="10515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Context·재사용 절차 + 실행 도구·입력·권한·측정 환경</a:t>
            </a:r>
          </a:p>
        </p:txBody>
      </p:sp>
      <p:sp>
        <p:nvSpPr>
          <p:cNvPr id="21" name="관찰한 구성: AGENTS.md · docs · Skill · Tests · Benchmark">
            <a:extLst xmlns:a="http://schemas.openxmlformats.org/drawingml/2006/main">
              <a:ext uri="{FF2B5EF4-FFF2-40B4-BE49-F238E27FC236}">
                <a16:creationId xmlns:a16="http://schemas.microsoft.com/office/drawing/2014/main" id="{D6146329-C48B-41CE-B6F5-061B8429C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43525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관찰한 구성: AGENTS.md · docs · Skill · Tests · Benchmark</a:t>
            </a:r>
          </a:p>
        </p:txBody>
      </p:sp>
      <p:sp>
        <p:nvSpPr>
          <p:cNvPr id="22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4F7FE0E9-601F-4AE7-8C6B-421703226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78905358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ACT 3 · 결과를 해석할 환경을 함께 기록">
            <a:extLst xmlns:a="http://schemas.openxmlformats.org/drawingml/2006/main">
              <a:ext uri="{FF2B5EF4-FFF2-40B4-BE49-F238E27FC236}">
                <a16:creationId xmlns:a16="http://schemas.microsoft.com/office/drawing/2014/main" id="{F5254F39-76D2-4541-AC42-D079CA2E7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결과를 해석할 환경을 함께 기록</a:t>
            </a:r>
          </a:p>
        </p:txBody>
      </p:sp>
      <p:sp>
        <p:nvSpPr>
          <p:cNvPr id="2" name="S65">
            <a:extLst xmlns:a="http://schemas.openxmlformats.org/drawingml/2006/main">
              <a:ext uri="{FF2B5EF4-FFF2-40B4-BE49-F238E27FC236}">
                <a16:creationId xmlns:a16="http://schemas.microsoft.com/office/drawing/2014/main" id="{BEB56D0C-4F3F-4966-838A-113CA0C83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S65</a:t>
            </a:r>
          </a:p>
        </p:txBody>
      </p:sp>
      <p:sp>
        <p:nvSpPr>
          <p:cNvPr id="3" name="같은 Repository라도 실행 조건은 다를 수 있다">
            <a:extLst xmlns:a="http://schemas.openxmlformats.org/drawingml/2006/main">
              <a:ext uri="{FF2B5EF4-FFF2-40B4-BE49-F238E27FC236}">
                <a16:creationId xmlns:a16="http://schemas.microsoft.com/office/drawing/2014/main" id="{7E2031CA-5178-444E-9B96-B82F5E449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Repository라도 실행 조건은 다를 수 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AD4F88-DCE4-4EE5-BE6A-B2D1E2063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A5BABA-3CC7-4D11-8F26-07F5EB256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6172"/>
            </a:solidFill>
            <a:prstDash val="solid"/>
          </a:ln>
        </p:spPr>
      </p:sp>
      <p:sp>
        <p:nvSpPr>
          <p:cNvPr id="6" name="OBSERVED_META · TRIAL-006/007/008의 전역 지침·시작 경고 관찰을 예고 · 상세는 ">
            <a:extLst xmlns:a="http://schemas.openxmlformats.org/drawingml/2006/main">
              <a:ext uri="{FF2B5EF4-FFF2-40B4-BE49-F238E27FC236}">
                <a16:creationId xmlns:a16="http://schemas.microsoft.com/office/drawing/2014/main" id="{8885F92D-9259-4EA7-9D14-DFB929FF7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OBSERVED_META · TRIAL-006/007/008의 전역 지침·시작 경고 관찰을 예고 · 상세는 ACT 4</a:t>
            </a:r>
          </a:p>
        </p:txBody>
      </p:sp>
      <p:sp>
        <p:nvSpPr>
          <p:cNvPr id="7" name="경고는 실행 기여의 증거가 아님 · 전체 환경 목록·Hook/MCP 인과효과·현재 제품 동작은 미검증">
            <a:extLst xmlns:a="http://schemas.openxmlformats.org/drawingml/2006/main">
              <a:ext uri="{FF2B5EF4-FFF2-40B4-BE49-F238E27FC236}">
                <a16:creationId xmlns:a16="http://schemas.microsoft.com/office/drawing/2014/main" id="{DEF3D84D-A631-4431-AAE7-408CE110F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경고는 실행 기여의 증거가 아님 · 전체 환경 목록·Hook/MCP 인과효과·현재 제품 동작은 미검증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E53790-858F-43F5-91DC-3DB5A82BC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57425"/>
            <a:ext cx="4248150" cy="2238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9" name="Repository 안">
            <a:extLst xmlns:a="http://schemas.openxmlformats.org/drawingml/2006/main">
              <a:ext uri="{FF2B5EF4-FFF2-40B4-BE49-F238E27FC236}">
                <a16:creationId xmlns:a16="http://schemas.microsoft.com/office/drawing/2014/main" id="{DDEF072A-CD23-4C2A-9DF7-F5C6DB75C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71725"/>
            <a:ext cx="3905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Repository 안</a:t>
            </a:r>
          </a:p>
        </p:txBody>
      </p:sp>
      <p:sp>
        <p:nvSpPr>
          <p:cNvPr id="10" name="코드 · AGENTS.md&#10;상세 문서 · 재사용 Skill">
            <a:extLst xmlns:a="http://schemas.openxmlformats.org/drawingml/2006/main">
              <a:ext uri="{FF2B5EF4-FFF2-40B4-BE49-F238E27FC236}">
                <a16:creationId xmlns:a16="http://schemas.microsoft.com/office/drawing/2014/main" id="{2BAEF4EB-C56C-4FBE-B963-2EF9C08F0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95600"/>
            <a:ext cx="3905250" cy="1495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코드 · AGENTS.md</a:t>
            </a:r>
          </a:p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상세 문서 · 재사용 Skill</a:t>
            </a:r>
          </a:p>
        </p:txBody>
      </p:sp>
      <p:sp>
        <p:nvSpPr>
          <p:cNvPr id="11" name="+">
            <a:extLst xmlns:a="http://schemas.openxmlformats.org/drawingml/2006/main">
              <a:ext uri="{FF2B5EF4-FFF2-40B4-BE49-F238E27FC236}">
                <a16:creationId xmlns:a16="http://schemas.microsoft.com/office/drawing/2014/main" id="{2AB916AE-926C-4A4D-82CC-9982FCD65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086100"/>
            <a:ext cx="47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+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045FB1-3610-4A80-8083-9971F0C7D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57425"/>
            <a:ext cx="5486400" cy="2238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3" name="바깥에서 들어온 관찰">
            <a:extLst xmlns:a="http://schemas.openxmlformats.org/drawingml/2006/main">
              <a:ext uri="{FF2B5EF4-FFF2-40B4-BE49-F238E27FC236}">
                <a16:creationId xmlns:a16="http://schemas.microsoft.com/office/drawing/2014/main" id="{997AAD6F-CDF8-4A71-814A-D055840B5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371725"/>
            <a:ext cx="514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바깥에서 들어온 관찰</a:t>
            </a:r>
          </a:p>
        </p:txBody>
      </p:sp>
      <p:sp>
        <p:nvSpPr>
          <p:cNvPr id="14" name="전역 지침·Skills의 포함&#10;Hook·MCP 초기화 경고">
            <a:extLst xmlns:a="http://schemas.openxmlformats.org/drawingml/2006/main">
              <a:ext uri="{FF2B5EF4-FFF2-40B4-BE49-F238E27FC236}">
                <a16:creationId xmlns:a16="http://schemas.microsoft.com/office/drawing/2014/main" id="{373D91F0-8BA2-4D50-A362-D9004C1C5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895600"/>
            <a:ext cx="5143500" cy="1495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전역 지침·Skills의 포함</a:t>
            </a:r>
          </a:p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Hook·MCP 초기화 경고</a:t>
            </a:r>
          </a:p>
        </p:txBody>
      </p:sp>
      <p:sp>
        <p:nvSpPr>
          <p:cNvPr id="15" name="함께 남길 조건">
            <a:extLst xmlns:a="http://schemas.openxmlformats.org/drawingml/2006/main">
              <a:ext uri="{FF2B5EF4-FFF2-40B4-BE49-F238E27FC236}">
                <a16:creationId xmlns:a16="http://schemas.microsoft.com/office/drawing/2014/main" id="{C37681C5-49D5-414C-855F-ADE29E891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14900"/>
            <a:ext cx="2343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함께 남길 조건</a:t>
            </a:r>
          </a:p>
        </p:txBody>
      </p:sp>
      <p:sp>
        <p:nvSpPr>
          <p:cNvPr id="16" name="적용 지침 · 모델/설정 · 권한 · OS/runtime">
            <a:extLst xmlns:a="http://schemas.openxmlformats.org/drawingml/2006/main">
              <a:ext uri="{FF2B5EF4-FFF2-40B4-BE49-F238E27FC236}">
                <a16:creationId xmlns:a16="http://schemas.microsoft.com/office/drawing/2014/main" id="{49C433B8-1B48-4900-96EC-F388D60EA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914900"/>
            <a:ext cx="8477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적용 지침 · 모델/설정 · 권한 · OS/runtime</a:t>
            </a:r>
          </a:p>
        </p:txBody>
      </p:sp>
      <p:sp>
        <p:nvSpPr>
          <p:cNvPr id="17" name="관찰한 흔적과, 결과에 영향을 줬다는 판단은 구분한다">
            <a:extLst xmlns:a="http://schemas.openxmlformats.org/drawingml/2006/main">
              <a:ext uri="{FF2B5EF4-FFF2-40B4-BE49-F238E27FC236}">
                <a16:creationId xmlns:a16="http://schemas.microsoft.com/office/drawing/2014/main" id="{5E77BA62-8B10-46AF-A83E-0C2C2AAB9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97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관찰한 흔적과, 결과에 영향을 줬다는 판단은 구분한다</a:t>
            </a:r>
          </a:p>
        </p:txBody>
      </p:sp>
      <p:sp>
        <p:nvSpPr>
          <p:cNvPr id="18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9D55ADDF-9080-422A-8368-63F093784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 · M6</a:t>
            </a:r>
          </a:p>
        </p:txBody>
      </p:sp>
    </p:spTree>
    <p:extLst>
      <p:ext uri="{BB962C8B-B14F-4D97-AF65-F5344CB8AC3E}">
        <p14:creationId xmlns:p14="http://schemas.microsoft.com/office/powerpoint/2010/main" val="963394142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ACT 3 · 도구를 넘어 같은 판단을 적용하기">
            <a:extLst xmlns:a="http://schemas.openxmlformats.org/drawingml/2006/main">
              <a:ext uri="{FF2B5EF4-FFF2-40B4-BE49-F238E27FC236}">
                <a16:creationId xmlns:a16="http://schemas.microsoft.com/office/drawing/2014/main" id="{FC180DFB-55AA-424A-8FB0-A96A3F4EB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도구를 넘어 같은 판단을 적용하기</a:t>
            </a:r>
          </a:p>
        </p:txBody>
      </p:sp>
      <p:sp>
        <p:nvSpPr>
          <p:cNvPr id="2" name="S66">
            <a:extLst xmlns:a="http://schemas.openxmlformats.org/drawingml/2006/main">
              <a:ext uri="{FF2B5EF4-FFF2-40B4-BE49-F238E27FC236}">
                <a16:creationId xmlns:a16="http://schemas.microsoft.com/office/drawing/2014/main" id="{C012F9E2-3578-42C4-98F7-95D937F77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S66</a:t>
            </a:r>
          </a:p>
        </p:txBody>
      </p:sp>
      <p:sp>
        <p:nvSpPr>
          <p:cNvPr id="3" name="우리 C++ 검사 작업에 옮겨 보면">
            <a:extLst xmlns:a="http://schemas.openxmlformats.org/drawingml/2006/main">
              <a:ext uri="{FF2B5EF4-FFF2-40B4-BE49-F238E27FC236}">
                <a16:creationId xmlns:a16="http://schemas.microsoft.com/office/drawing/2014/main" id="{C448D652-16DD-42DB-A87D-B714DB2CD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우리 C++ 검사 작업에 옮겨 보면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CF2F88-AB4B-4B4C-BFF3-B497B977D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C++ Vision 전이를 위한 교육용 예시 · AI 생성 설명용 삽화">
            <a:extLst xmlns:a="http://schemas.openxmlformats.org/drawingml/2006/main">
              <a:ext uri="{FF2B5EF4-FFF2-40B4-BE49-F238E27FC236}">
                <a16:creationId xmlns:a16="http://schemas.microsoft.com/office/drawing/2014/main" id="{18321678-35AD-49B0-B7C4-6D4C82053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C++ Vision 전이를 위한 교육용 예시 · AI 생성 설명용 삽화</a:t>
            </a:r>
          </a:p>
        </p:txBody>
      </p:sp>
      <p:sp>
        <p:nvSpPr>
          <p:cNvPr id="6" name="실제 C++ Demo·회사 장비·측정 결과가 아닙니다. 도구·빌드·하드웨어 조건은 프로젝트별 확인 필요">
            <a:extLst xmlns:a="http://schemas.openxmlformats.org/drawingml/2006/main">
              <a:ext uri="{FF2B5EF4-FFF2-40B4-BE49-F238E27FC236}">
                <a16:creationId xmlns:a16="http://schemas.microsoft.com/office/drawing/2014/main" id="{A7F360E4-3034-4893-9DCB-52577F013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실제 C++ Demo·회사 장비·측정 결과가 아닙니다. 도구·빌드·하드웨어 조건은 프로젝트별 확인 필요</a:t>
            </a:r>
          </a:p>
        </p:txBody>
      </p:sp>
      <p:sp>
        <p:nvSpPr>
          <p:cNvPr id="7" name="밝기 통계에서 쓴 판단을, 같은 검사 파이프라인의 업무로">
            <a:extLst xmlns:a="http://schemas.openxmlformats.org/drawingml/2006/main">
              <a:ext uri="{FF2B5EF4-FFF2-40B4-BE49-F238E27FC236}">
                <a16:creationId xmlns:a16="http://schemas.microsoft.com/office/drawing/2014/main" id="{C81DD43A-1FC6-4EF3-A265-B2BE04AE6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33525"/>
            <a:ext cx="10972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밝기 통계에서 쓴 판단을, 같은 검사 파이프라인의 업무로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FC5D5B-FAA4-477F-9AF2-D4F30C3A8C8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f9c4197cb343fa"/>
          <a:srcRect xmlns:a="http://schemas.openxmlformats.org/drawingml/2006/main" l="0" t="8000" r="0" b="12000"/>
          <a:stretch xmlns:a="http://schemas.openxmlformats.org/drawingml/2006/main"/>
        </p:blipFill>
        <p:spPr>
          <a:xfrm xmlns:a="http://schemas.openxmlformats.org/drawingml/2006/main">
            <a:off x="1881188" y="1924050"/>
            <a:ext cx="8429625" cy="1943100"/>
          </a:xfrm>
          <a:prstGeom xmlns:a="http://schemas.openxmlformats.org/drawingml/2006/main" prst="rect">
            <a:avLst/>
          </a:prstGeom>
        </p:spPr>
      </p:pic>
      <p:sp>
        <p:nvSpPr>
          <p:cNvPr id="9" name="01  입력">
            <a:extLst xmlns:a="http://schemas.openxmlformats.org/drawingml/2006/main">
              <a:ext uri="{FF2B5EF4-FFF2-40B4-BE49-F238E27FC236}">
                <a16:creationId xmlns:a16="http://schemas.microsoft.com/office/drawing/2014/main" id="{B35C3B1A-99C2-4018-9D1D-E43D65BDA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9775" y="3867150"/>
            <a:ext cx="40671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01  입력</a:t>
            </a:r>
          </a:p>
        </p:txBody>
      </p:sp>
      <p:sp>
        <p:nvSpPr>
          <p:cNvPr id="10" name="02  처리">
            <a:extLst xmlns:a="http://schemas.openxmlformats.org/drawingml/2006/main">
              <a:ext uri="{FF2B5EF4-FFF2-40B4-BE49-F238E27FC236}">
                <a16:creationId xmlns:a16="http://schemas.microsoft.com/office/drawing/2014/main" id="{98DEA698-122C-4D29-BE06-8BA494CAF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867150"/>
            <a:ext cx="2571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02  처리</a:t>
            </a:r>
          </a:p>
        </p:txBody>
      </p:sp>
      <p:sp>
        <p:nvSpPr>
          <p:cNvPr id="11" name="03  결과">
            <a:extLst xmlns:a="http://schemas.openxmlformats.org/drawingml/2006/main">
              <a:ext uri="{FF2B5EF4-FFF2-40B4-BE49-F238E27FC236}">
                <a16:creationId xmlns:a16="http://schemas.microsoft.com/office/drawing/2014/main" id="{CE170C4D-6FCC-441B-94FB-63E3ED3DB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867150"/>
            <a:ext cx="21050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03  결과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32CFC3-DBAF-4379-9CBA-568D766A4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525"/>
            <a:ext cx="350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3" name="01  지킬 명세">
            <a:extLst xmlns:a="http://schemas.openxmlformats.org/drawingml/2006/main">
              <a:ext uri="{FF2B5EF4-FFF2-40B4-BE49-F238E27FC236}">
                <a16:creationId xmlns:a16="http://schemas.microsoft.com/office/drawing/2014/main" id="{5198BDB0-F33A-43EE-9FE0-B87EF015F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76725"/>
            <a:ext cx="35052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01  지킬 명세</a:t>
            </a:r>
          </a:p>
        </p:txBody>
      </p:sp>
      <p:sp>
        <p:nvSpPr>
          <p:cNvPr id="14" name="ROI·픽셀값 명세&#10;빌드·하드웨어 조건">
            <a:extLst xmlns:a="http://schemas.openxmlformats.org/drawingml/2006/main">
              <a:ext uri="{FF2B5EF4-FFF2-40B4-BE49-F238E27FC236}">
                <a16:creationId xmlns:a16="http://schemas.microsoft.com/office/drawing/2014/main" id="{3ADF27FB-8C73-4157-821E-BFF1CC0A0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35052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ROI·픽셀값 명세</a:t>
            </a:r>
          </a:p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빌드·하드웨어 조건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0DD12B-1CDC-4999-A40F-7145DB218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200525"/>
            <a:ext cx="350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6" name="02  반복할 수행 방법">
            <a:extLst xmlns:a="http://schemas.openxmlformats.org/drawingml/2006/main">
              <a:ext uri="{FF2B5EF4-FFF2-40B4-BE49-F238E27FC236}">
                <a16:creationId xmlns:a16="http://schemas.microsoft.com/office/drawing/2014/main" id="{37A2A573-42D3-488A-AF4D-5972B7E21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276725"/>
            <a:ext cx="35052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02  반복할 수행 방법</a:t>
            </a:r>
          </a:p>
        </p:txBody>
      </p:sp>
      <p:sp>
        <p:nvSpPr>
          <p:cNvPr id="17" name="기준선·해당 경로 조사&#10;변경·동일 조건 비교">
            <a:extLst xmlns:a="http://schemas.openxmlformats.org/drawingml/2006/main">
              <a:ext uri="{FF2B5EF4-FFF2-40B4-BE49-F238E27FC236}">
                <a16:creationId xmlns:a16="http://schemas.microsoft.com/office/drawing/2014/main" id="{36120282-0C0C-478F-8506-F002A76FF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686300"/>
            <a:ext cx="35052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기준선·해당 경로 조사</a:t>
            </a:r>
          </a:p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변경·동일 조건 비교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1C9818-5D15-47B7-83C3-85B5D7129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200525"/>
            <a:ext cx="350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9" name="03  완료를 판단할 근거">
            <a:extLst xmlns:a="http://schemas.openxmlformats.org/drawingml/2006/main">
              <a:ext uri="{FF2B5EF4-FFF2-40B4-BE49-F238E27FC236}">
                <a16:creationId xmlns:a16="http://schemas.microsoft.com/office/drawing/2014/main" id="{E8CED0FE-B616-4E7D-8BCF-F455E324A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276725"/>
            <a:ext cx="35052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03  완료를 판단할 근거</a:t>
            </a:r>
          </a:p>
        </p:txBody>
      </p:sp>
      <p:sp>
        <p:nvSpPr>
          <p:cNvPr id="20" name="동작·회귀·통합 검증&#10;성능 측정 결과">
            <a:extLst xmlns:a="http://schemas.openxmlformats.org/drawingml/2006/main">
              <a:ext uri="{FF2B5EF4-FFF2-40B4-BE49-F238E27FC236}">
                <a16:creationId xmlns:a16="http://schemas.microsoft.com/office/drawing/2014/main" id="{0BCF43A6-DC63-4D7D-AE53-C790A4055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686300"/>
            <a:ext cx="35052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동작·회귀·통합 검증</a:t>
            </a:r>
          </a:p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성능 측정 결과</a:t>
            </a:r>
          </a:p>
        </p:txBody>
      </p:sp>
      <p:sp>
        <p:nvSpPr>
          <p:cNvPr id="21" name="기준선 측정 → 경로 조사 → 변경 → 회귀 확인">
            <a:extLst xmlns:a="http://schemas.openxmlformats.org/drawingml/2006/main">
              <a:ext uri="{FF2B5EF4-FFF2-40B4-BE49-F238E27FC236}">
                <a16:creationId xmlns:a16="http://schemas.microsoft.com/office/drawing/2014/main" id="{75F9734A-A4E9-475F-AE7C-7FC668ED4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5305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기준선 측정 → 경로 조사 → 변경 → 회귀 확인</a:t>
            </a:r>
          </a:p>
        </p:txBody>
      </p:sp>
      <p:sp>
        <p:nvSpPr>
          <p:cNvPr id="22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0D8DEAF3-DC40-4B70-9981-FAB173461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140991347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ACT 3 · 필요한 구조와 유지할 책임을 되돌아보기">
            <a:extLst xmlns:a="http://schemas.openxmlformats.org/drawingml/2006/main">
              <a:ext uri="{FF2B5EF4-FFF2-40B4-BE49-F238E27FC236}">
                <a16:creationId xmlns:a16="http://schemas.microsoft.com/office/drawing/2014/main" id="{381F8C5D-09AC-44B4-AC11-DF05199FE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필요한 구조와 유지할 책임을 되돌아보기</a:t>
            </a:r>
          </a:p>
        </p:txBody>
      </p:sp>
      <p:sp>
        <p:nvSpPr>
          <p:cNvPr id="2" name="S67">
            <a:extLst xmlns:a="http://schemas.openxmlformats.org/drawingml/2006/main">
              <a:ext uri="{FF2B5EF4-FFF2-40B4-BE49-F238E27FC236}">
                <a16:creationId xmlns:a16="http://schemas.microsoft.com/office/drawing/2014/main" id="{21CAD14C-57C7-4837-A67F-68BEF843F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S67</a:t>
            </a:r>
          </a:p>
        </p:txBody>
      </p:sp>
      <p:sp>
        <p:nvSpPr>
          <p:cNvPr id="3" name="우리 팀의 반복 한 가지를 고르면">
            <a:extLst xmlns:a="http://schemas.openxmlformats.org/drawingml/2006/main">
              <a:ext uri="{FF2B5EF4-FFF2-40B4-BE49-F238E27FC236}">
                <a16:creationId xmlns:a16="http://schemas.microsoft.com/office/drawing/2014/main" id="{27A8C0BC-57FD-4E2B-82AF-C7290F65B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우리 팀의 반복 한 가지를 고르면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5A7781-32A7-4426-9AC6-0E2FEE29E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개인 성찰·공유는 선택 · 실제 성공 STATE-04-PERF를 실패 사례로 재해석하지 않음">
            <a:extLst xmlns:a="http://schemas.openxmlformats.org/drawingml/2006/main">
              <a:ext uri="{FF2B5EF4-FFF2-40B4-BE49-F238E27FC236}">
                <a16:creationId xmlns:a16="http://schemas.microsoft.com/office/drawing/2014/main" id="{2C9D973A-84F3-4F85-9FB2-7B7DCF9DE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개인 성찰·공유는 선택 · 실제 성공 STATE-04-PERF를 실패 사례로 재해석하지 않음</a:t>
            </a:r>
          </a:p>
        </p:txBody>
      </p:sp>
      <p:sp>
        <p:nvSpPr>
          <p:cNvPr id="6" name="Subagent·Memory는 조건부 선택 · 다음 ACT의 프로젝트 변화는 별도의 가상 사례">
            <a:extLst xmlns:a="http://schemas.openxmlformats.org/drawingml/2006/main">
              <a:ext uri="{FF2B5EF4-FFF2-40B4-BE49-F238E27FC236}">
                <a16:creationId xmlns:a16="http://schemas.microsoft.com/office/drawing/2014/main" id="{CC7CEDA4-7455-4C66-BA98-A27094554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Subagent·Memory는 조건부 선택 · 다음 ACT의 프로젝트 변화는 별도의 가상 사례</a:t>
            </a:r>
          </a:p>
        </p:txBody>
      </p:sp>
      <p:sp>
        <p:nvSpPr>
          <p:cNvPr id="7" name="내 업무에서 먼저 정리할 반복은 무엇인가?">
            <a:extLst xmlns:a="http://schemas.openxmlformats.org/drawingml/2006/main">
              <a:ext uri="{FF2B5EF4-FFF2-40B4-BE49-F238E27FC236}">
                <a16:creationId xmlns:a16="http://schemas.microsoft.com/office/drawing/2014/main" id="{061629D6-B2AB-4B0F-A6F5-92AD33E12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내 업무에서 먼저 정리할 반복은 무엇인가?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938BCE-E4DC-460C-A649-83CC95748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47950"/>
            <a:ext cx="335280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9" name="반복되는 정보">
            <a:extLst xmlns:a="http://schemas.openxmlformats.org/drawingml/2006/main">
              <a:ext uri="{FF2B5EF4-FFF2-40B4-BE49-F238E27FC236}">
                <a16:creationId xmlns:a16="http://schemas.microsoft.com/office/drawing/2014/main" id="{87C72AED-5951-4015-9FCE-050491653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62250"/>
            <a:ext cx="3009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반복되는 정보</a:t>
            </a:r>
          </a:p>
        </p:txBody>
      </p:sp>
      <p:sp>
        <p:nvSpPr>
          <p:cNvPr id="10" name="명세·기본 안내·상세 위치">
            <a:extLst xmlns:a="http://schemas.openxmlformats.org/drawingml/2006/main">
              <a:ext uri="{FF2B5EF4-FFF2-40B4-BE49-F238E27FC236}">
                <a16:creationId xmlns:a16="http://schemas.microsoft.com/office/drawing/2014/main" id="{F9A3B6FD-2C7F-475A-BFA6-2665A5145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86125"/>
            <a:ext cx="30099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명세·기본 안내·상세 위치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45B368-37AC-4D3C-8262-8661E3E7E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647950"/>
            <a:ext cx="335280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반복되는 절차">
            <a:extLst xmlns:a="http://schemas.openxmlformats.org/drawingml/2006/main">
              <a:ext uri="{FF2B5EF4-FFF2-40B4-BE49-F238E27FC236}">
                <a16:creationId xmlns:a16="http://schemas.microsoft.com/office/drawing/2014/main" id="{C9C2C28A-062C-4EE3-8762-DE3CBDB04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762250"/>
            <a:ext cx="3009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반복되는 절차</a:t>
            </a:r>
          </a:p>
        </p:txBody>
      </p:sp>
      <p:sp>
        <p:nvSpPr>
          <p:cNvPr id="13" name="조사·변경 판단·검증·보고">
            <a:extLst xmlns:a="http://schemas.openxmlformats.org/drawingml/2006/main">
              <a:ext uri="{FF2B5EF4-FFF2-40B4-BE49-F238E27FC236}">
                <a16:creationId xmlns:a16="http://schemas.microsoft.com/office/drawing/2014/main" id="{2D81BED5-A4C2-44CB-BC1E-4DD8513C5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286125"/>
            <a:ext cx="30099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조사·변경 판단·검증·보고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E2B1B4-890D-4836-82BA-DF9E4D29F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647950"/>
            <a:ext cx="335280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5" name="매번 필요한 근거">
            <a:extLst xmlns:a="http://schemas.openxmlformats.org/drawingml/2006/main">
              <a:ext uri="{FF2B5EF4-FFF2-40B4-BE49-F238E27FC236}">
                <a16:creationId xmlns:a16="http://schemas.microsoft.com/office/drawing/2014/main" id="{176071C3-0BC1-463C-8B7E-3627FE03C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762250"/>
            <a:ext cx="3009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매번 필요한 근거</a:t>
            </a:r>
          </a:p>
        </p:txBody>
      </p:sp>
      <p:sp>
        <p:nvSpPr>
          <p:cNvPr id="16" name="테스트·측정 조건·검토 결과">
            <a:extLst xmlns:a="http://schemas.openxmlformats.org/drawingml/2006/main">
              <a:ext uri="{FF2B5EF4-FFF2-40B4-BE49-F238E27FC236}">
                <a16:creationId xmlns:a16="http://schemas.microsoft.com/office/drawing/2014/main" id="{AEEE05C6-48DE-44B0-B28F-10DD418C2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286125"/>
            <a:ext cx="30099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테스트·측정 조건·검토 결과</a:t>
            </a:r>
          </a:p>
        </p:txBody>
      </p:sp>
      <p:sp>
        <p:nvSpPr>
          <p:cNvPr id="17" name="어디에 두고, 누가 검토하고 갱신할까?">
            <a:extLst xmlns:a="http://schemas.openxmlformats.org/drawingml/2006/main">
              <a:ext uri="{FF2B5EF4-FFF2-40B4-BE49-F238E27FC236}">
                <a16:creationId xmlns:a16="http://schemas.microsoft.com/office/drawing/2014/main" id="{380083CE-C96E-45EB-AC29-5C49532BE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어디에 두고, 누가 검토하고 갱신할까?</a:t>
            </a:r>
          </a:p>
        </p:txBody>
      </p:sp>
      <p:sp>
        <p:nvSpPr>
          <p:cNvPr id="18" name="다음 질문: 프로젝트가 바뀌면 이 방법을 어떻게 점검할까?">
            <a:extLst xmlns:a="http://schemas.openxmlformats.org/drawingml/2006/main">
              <a:ext uri="{FF2B5EF4-FFF2-40B4-BE49-F238E27FC236}">
                <a16:creationId xmlns:a16="http://schemas.microsoft.com/office/drawing/2014/main" id="{96B0BB88-12C1-412B-AF1C-518748D27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53050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다음 질문: 프로젝트가 바뀌면 이 방법을 어떻게 점검할까?</a:t>
            </a:r>
          </a:p>
        </p:txBody>
      </p:sp>
      <p:sp>
        <p:nvSpPr>
          <p:cNvPr id="19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5CD5A21F-C83B-4767-A2B7-2597CA9A3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 · M8</a:t>
            </a:r>
          </a:p>
        </p:txBody>
      </p:sp>
    </p:spTree>
    <p:extLst>
      <p:ext uri="{BB962C8B-B14F-4D97-AF65-F5344CB8AC3E}">
        <p14:creationId xmlns:p14="http://schemas.microsoft.com/office/powerpoint/2010/main" val="192310201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2026-10-22T06:27:50.9730000Z</dcterms:created>
  <dcterms:modified xsi:type="dcterms:W3CDTF">2026-10-22T06:27:50.9730000Z</dcterms:modified>
</coreProperties>
</file>