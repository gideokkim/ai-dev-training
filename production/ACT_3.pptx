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78d60aed4846cb" /><Relationship Type="http://schemas.openxmlformats.org/officeDocument/2006/relationships/extended-properties" Target="/docProps/app.xml" Id="R33e26413a43c41a1" /><Relationship Type="http://schemas.openxmlformats.org/officeDocument/2006/relationships/officeDocument" Target="/ppt/presentation.xml" Id="R3352c2b34a2a40a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de757c518e4a9c"/>
  </p:sldMasterIdLst>
  <p:notesMasterIdLst>
    <p:notesMasterId xmlns:r="http://schemas.openxmlformats.org/officeDocument/2006/relationships" r:id="Rdebd94a8b7b8474b"/>
  </p:notesMasterIdLst>
  <p:sldIdLst>
    <p:sldId xmlns:r="http://schemas.openxmlformats.org/officeDocument/2006/relationships" id="256" r:id="R2b836a83a4cd41b4"/>
    <p:sldId xmlns:r="http://schemas.openxmlformats.org/officeDocument/2006/relationships" id="257" r:id="R30a659b60e304894"/>
    <p:sldId xmlns:r="http://schemas.openxmlformats.org/officeDocument/2006/relationships" id="258" r:id="R280dec4c7e714b52"/>
    <p:sldId xmlns:r="http://schemas.openxmlformats.org/officeDocument/2006/relationships" id="259" r:id="Radd6600d582e4aff"/>
    <p:sldId xmlns:r="http://schemas.openxmlformats.org/officeDocument/2006/relationships" id="260" r:id="R12e5a8c0c3bd410b"/>
    <p:sldId xmlns:r="http://schemas.openxmlformats.org/officeDocument/2006/relationships" id="261" r:id="R37de5be88bd84ae4"/>
    <p:sldId xmlns:r="http://schemas.openxmlformats.org/officeDocument/2006/relationships" id="262" r:id="Rf024460da1f04751"/>
    <p:sldId xmlns:r="http://schemas.openxmlformats.org/officeDocument/2006/relationships" id="263" r:id="Rf01817911bb74643"/>
    <p:sldId xmlns:r="http://schemas.openxmlformats.org/officeDocument/2006/relationships" id="264" r:id="Ra2f94a7d9440432b"/>
    <p:sldId xmlns:r="http://schemas.openxmlformats.org/officeDocument/2006/relationships" id="265" r:id="R4a0b3603faa94e45"/>
    <p:sldId xmlns:r="http://schemas.openxmlformats.org/officeDocument/2006/relationships" id="266" r:id="Rb9d17f66d944480b"/>
    <p:sldId xmlns:r="http://schemas.openxmlformats.org/officeDocument/2006/relationships" id="267" r:id="R8ecf8a9b311a4f05"/>
    <p:sldId xmlns:r="http://schemas.openxmlformats.org/officeDocument/2006/relationships" id="268" r:id="R615403b551174c16"/>
    <p:sldId xmlns:r="http://schemas.openxmlformats.org/officeDocument/2006/relationships" id="269" r:id="Rac0cd1cb094a48c0"/>
    <p:sldId xmlns:r="http://schemas.openxmlformats.org/officeDocument/2006/relationships" id="270" r:id="R2333321dad40490e"/>
    <p:sldId xmlns:r="http://schemas.openxmlformats.org/officeDocument/2006/relationships" id="271" r:id="R8ca56c736a9a4dd5"/>
    <p:sldId xmlns:r="http://schemas.openxmlformats.org/officeDocument/2006/relationships" id="272" r:id="R2f4354b29b0b49c6"/>
    <p:sldId xmlns:r="http://schemas.openxmlformats.org/officeDocument/2006/relationships" id="273" r:id="Re6d737f30cd94ec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304de3658c5442c" /><Relationship Type="http://schemas.openxmlformats.org/officeDocument/2006/relationships/slideMaster" Target="/ppt/slideMasters/slideMaster1.xml" Id="Rbcde757c518e4a9c" /><Relationship Type="http://schemas.openxmlformats.org/officeDocument/2006/relationships/notesMaster" Target="/ppt/notesMasters/notesMaster1.xml" Id="Rdebd94a8b7b8474b" /><Relationship Type="http://schemas.openxmlformats.org/officeDocument/2006/relationships/presProps" Target="/ppt/presProps.xml" Id="R631739764db94f16" /><Relationship Type="http://schemas.openxmlformats.org/officeDocument/2006/relationships/tableStyles" Target="/ppt/tableStyles.xml" Id="Rb7ba2dc2e3df44c9" /><Relationship Type="http://schemas.openxmlformats.org/officeDocument/2006/relationships/slide" Target="/ppt/slides/slide1.xml" Id="R2b836a83a4cd41b4" /><Relationship Type="http://schemas.openxmlformats.org/officeDocument/2006/relationships/slide" Target="/ppt/slides/slide2.xml" Id="R30a659b60e304894" /><Relationship Type="http://schemas.openxmlformats.org/officeDocument/2006/relationships/slide" Target="/ppt/slides/slide3.xml" Id="R280dec4c7e714b52" /><Relationship Type="http://schemas.openxmlformats.org/officeDocument/2006/relationships/slide" Target="/ppt/slides/slide4.xml" Id="Radd6600d582e4aff" /><Relationship Type="http://schemas.openxmlformats.org/officeDocument/2006/relationships/slide" Target="/ppt/slides/slide5.xml" Id="R12e5a8c0c3bd410b" /><Relationship Type="http://schemas.openxmlformats.org/officeDocument/2006/relationships/slide" Target="/ppt/slides/slide6.xml" Id="R37de5be88bd84ae4" /><Relationship Type="http://schemas.openxmlformats.org/officeDocument/2006/relationships/slide" Target="/ppt/slides/slide7.xml" Id="Rf024460da1f04751" /><Relationship Type="http://schemas.openxmlformats.org/officeDocument/2006/relationships/slide" Target="/ppt/slides/slide8.xml" Id="Rf01817911bb74643" /><Relationship Type="http://schemas.openxmlformats.org/officeDocument/2006/relationships/slide" Target="/ppt/slides/slide9.xml" Id="Ra2f94a7d9440432b" /><Relationship Type="http://schemas.openxmlformats.org/officeDocument/2006/relationships/slide" Target="/ppt/slides/slide10.xml" Id="R4a0b3603faa94e45" /><Relationship Type="http://schemas.openxmlformats.org/officeDocument/2006/relationships/slide" Target="/ppt/slides/slide11.xml" Id="Rb9d17f66d944480b" /><Relationship Type="http://schemas.openxmlformats.org/officeDocument/2006/relationships/slide" Target="/ppt/slides/slide12.xml" Id="R8ecf8a9b311a4f05" /><Relationship Type="http://schemas.openxmlformats.org/officeDocument/2006/relationships/slide" Target="/ppt/slides/slide13.xml" Id="R615403b551174c16" /><Relationship Type="http://schemas.openxmlformats.org/officeDocument/2006/relationships/slide" Target="/ppt/slides/slide14.xml" Id="Rac0cd1cb094a48c0" /><Relationship Type="http://schemas.openxmlformats.org/officeDocument/2006/relationships/slide" Target="/ppt/slides/slide15.xml" Id="R2333321dad40490e" /><Relationship Type="http://schemas.openxmlformats.org/officeDocument/2006/relationships/slide" Target="/ppt/slides/slide16.xml" Id="R8ca56c736a9a4dd5" /><Relationship Type="http://schemas.openxmlformats.org/officeDocument/2006/relationships/slide" Target="/ppt/slides/slide17.xml" Id="R2f4354b29b0b49c6" /><Relationship Type="http://schemas.openxmlformats.org/officeDocument/2006/relationships/slide" Target="/ppt/slides/slide18.xml" Id="Re6d737f30cd94e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f55897a7e64d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d9bfd068944121" /><Relationship Type="http://schemas.openxmlformats.org/officeDocument/2006/relationships/notesMaster" Target="/ppt/notesMasters/notesMaster1.xml" Id="R9dc7685e6b8642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354a6eb47a4477" /><Relationship Type="http://schemas.openxmlformats.org/officeDocument/2006/relationships/notesMaster" Target="/ppt/notesMasters/notesMaster1.xml" Id="R74745d039efb4c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84ef33986443b6" /><Relationship Type="http://schemas.openxmlformats.org/officeDocument/2006/relationships/notesMaster" Target="/ppt/notesMasters/notesMaster1.xml" Id="R80516bac44274a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f30ffdac2c471c" /><Relationship Type="http://schemas.openxmlformats.org/officeDocument/2006/relationships/notesMaster" Target="/ppt/notesMasters/notesMaster1.xml" Id="R0c4dc8dcdc0b42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abad40261574d3e" /><Relationship Type="http://schemas.openxmlformats.org/officeDocument/2006/relationships/notesMaster" Target="/ppt/notesMasters/notesMaster1.xml" Id="R96687d74ee9f420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0b2fffb0514491" /><Relationship Type="http://schemas.openxmlformats.org/officeDocument/2006/relationships/notesMaster" Target="/ppt/notesMasters/notesMaster1.xml" Id="Rc504ceaf6dd847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515b5b1ad441f3" /><Relationship Type="http://schemas.openxmlformats.org/officeDocument/2006/relationships/notesMaster" Target="/ppt/notesMasters/notesMaster1.xml" Id="Ra10762b917b248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7fc55bcc7840cd" /><Relationship Type="http://schemas.openxmlformats.org/officeDocument/2006/relationships/notesMaster" Target="/ppt/notesMasters/notesMaster1.xml" Id="R1b9949b6823142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6f3245500f44b0" /><Relationship Type="http://schemas.openxmlformats.org/officeDocument/2006/relationships/notesMaster" Target="/ppt/notesMasters/notesMaster1.xml" Id="R91df5ec3418245b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a0503082db4ec1" /><Relationship Type="http://schemas.openxmlformats.org/officeDocument/2006/relationships/notesMaster" Target="/ppt/notesMasters/notesMaster1.xml" Id="Refa2e5a328f24ac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5b9c409dc5457a" /><Relationship Type="http://schemas.openxmlformats.org/officeDocument/2006/relationships/notesMaster" Target="/ppt/notesMasters/notesMaster1.xml" Id="R9806dab17e73468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169883740a4d14" /><Relationship Type="http://schemas.openxmlformats.org/officeDocument/2006/relationships/notesMaster" Target="/ppt/notesMasters/notesMaster1.xml" Id="R743bd5491881453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eda7842447f4a36" /><Relationship Type="http://schemas.openxmlformats.org/officeDocument/2006/relationships/notesMaster" Target="/ppt/notesMasters/notesMaster1.xml" Id="R29fee492fec340b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79be8fa80424612" /><Relationship Type="http://schemas.openxmlformats.org/officeDocument/2006/relationships/notesMaster" Target="/ppt/notesMasters/notesMaster1.xml" Id="Rc8d55527a3a0418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675d988f6a04c5f" /><Relationship Type="http://schemas.openxmlformats.org/officeDocument/2006/relationships/notesMaster" Target="/ppt/notesMasters/notesMaster1.xml" Id="R1f697e826d9344c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78df1fb355b4ac9" /><Relationship Type="http://schemas.openxmlformats.org/officeDocument/2006/relationships/notesMaster" Target="/ppt/notesMasters/notesMaster1.xml" Id="Read6755ca66b454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48e634d0c5145fa" /><Relationship Type="http://schemas.openxmlformats.org/officeDocument/2006/relationships/notesMaster" Target="/ppt/notesMasters/notesMaster1.xml" Id="R6e580648f8cc469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43b733f849f49b2" /><Relationship Type="http://schemas.openxmlformats.org/officeDocument/2006/relationships/notesMaster" Target="/ppt/notesMasters/notesMaster1.xml" Id="Ra748f599066c4f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S37 — 서로 다른 Performance Task, 반복되는 절차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서로 다른 Performance Task, 반복되는 절차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TRIAL-006의 `resize_nearest`와 TRIAL-007의 `normalize`처럼 서로 다른 목표에서도 유사한 performance procedure가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“Task가 달라도 왜 같은 작업 방법을 계속 쓰고 있지?”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서로 다른 두 Task goal을 나란히 보여준다.</a:t>
            </a:r>
          </a:p>
          <a:p xmlns:a="http://schemas.openxmlformats.org/drawingml/2006/main">
            <a:r>
              <a:t>2. (2:00–4:00) 두 기록에 반복된 baseline, 조사, 계획, 변경, test, benchmark, 비교, review를 강조한다.</a:t>
            </a:r>
          </a:p>
          <a:p xmlns:a="http://schemas.openxmlformats.org/drawingml/2006/main">
            <a:r>
              <a:t>3. (4:00–5:00) 반복 관찰과 원인 귀속을 분리하고 Prompt-only attribution이 PARTIAL임을 밝힌다.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 (`resize_nearest`), TRIAL-007 (`normalize`), BEAT-018/020. Codex CLI 기록 실행의 workflow 비교.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유사한 절차가 관찰됐지만 Prompt만의 효과로 귀속하지 않는다. 개별 성능 결과는 해당 코드·입력·환경에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서로 다른 작업에서도 조사하고 확인하는 순서가 반복될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Task별 목표와 지속해서 재사용할 절차를 구분하고, Global Harness가 미친 영향을 고려한다.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TRIAL-006/007을 요약한 정적 재구성 도식을 사용한다. 새로운 실행이나 실제 터미널 화면이라고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두 Task의 공통 절차를 잠시 관찰하게 한다. 공개 답변은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“Project 지식과 작업 절차는 각각 어떤 질문에 답할까?”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5분을 두 Task 비교, 공통 절차, attribution 한계 순으로 쓴다. 수치 설명으로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S37 또는 `production/preview/act3/S37.png`다.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S38 — Project 사실과 작업 절차는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 사실과 작업 절차는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Project에서 일반적으로 참인 사실과 반복되는 작업 방법은 서로 다른 설계 문제다.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“Agent가 알아야 할 것과 따라야 할 방법은 같은가?”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crop의 끝 열 제외 계약을 ‘무엇이 참인가?’와 연결한다.</a:t>
            </a:r>
          </a:p>
          <a:p xmlns:a="http://schemas.openxmlformats.org/drawingml/2006/main">
            <a:r>
              <a:t>2. (1:00–3:00) 오른쪽 변경 전 측정과 동일 입력 비교를 ‘어떤 순서로 일할까?’와 연결한다. 화면 아래의 현재 목표 질문은 Task Prompt의 책임이다.</a:t>
            </a:r>
          </a:p>
          <a:p xmlns:a="http://schemas.openxmlformats.org/drawingml/2006/main">
            <a:r>
              <a:t>3. (3:00–4:00) 사실과 절차는 둘 다 Prompt 밖에 놓일 수 있지만 유지할 책임이 다르다고 정리한다. 아직 Harness 전체 정의를 완성하지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BEAT-019, TRIAL-006/007.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교육용 구분이다. 공식 제품 분류나 특정 제품 기능이라고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프로젝트 설명은 무엇이 참인지 말하고, workflow는 어떤 순서로 일할지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Context를 늘리는 것만으로 반복 절차의 유지 문제가 해결되지는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세 질문과 항목을 조용히 따라오게 한다. 분류 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“작업 방법도 Repository가 재사용할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동안 세 질문의 책임만 구분한다. Harness 전체 정의는 아직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S38 또는 `production/preview/act3/S38.png`다.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S39 — Task, Context, Workflow의 역할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S39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Task, Context, Workflow의 역할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Prompt는 현재 목표, Project Context는 사실과 제약, Reusable Workflow는 특정 작업을 수행하는 방법을 담는다.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“현재 목표, Project 사실, 반복 절차는 어디에 속하는가?”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첫 행의 normalize 성능 조사로 이번 Task 목표를 설명한다.</a:t>
            </a:r>
          </a:p>
          <a:p xmlns:a="http://schemas.openxmlformats.org/drawingml/2006/main">
            <a:r>
              <a:t>2. (1:00–2:30) 둘째 행에서 기존 이미지 동작과 공개 계약은 작업 중 지켜야 할 Project Context임을 짚는다.</a:t>
            </a:r>
          </a:p>
          <a:p xmlns:a="http://schemas.openxmlformats.org/drawingml/2006/main">
            <a:r>
              <a:t>3. (2:30–4:00) 셋째 행의 baseline → 조사 → 검증 → 비교를 재사용 Workflow와 연결한다.</a:t>
            </a:r>
          </a:p>
          <a:p xmlns:a="http://schemas.openxmlformats.org/drawingml/2006/main">
            <a:r>
              <a:t>4. (4:00–5:00) 세 책임의 위치가 Prompt 밖일 수 있다는 것과 책임이 같다는 것을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BEAT-019, TRIAL-006/007.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세 Layer는 교육용 모델이다. Harness 전체 정의나 제품의 공식 분류로 부르지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지금 원하는 일, 계속 유효한 프로젝트 정보, 반복할 작업 순서를 나눠 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같은 위치에 저장될 수 있어도 소유권, 갱신 주기, Task별 적용은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각 Layer 예시를 조용히 따라오게 한다. 노트북 실습은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40에서 반복 절차를 repository-owned asset으로 옮길지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 동안 세 책임과 한 개의 workflow 예시만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S39 또는 `production/preview/act3/S39.png`다.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S40 — 반복 절차를 Skill로 옮길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 절차를 Skill로 옮길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반복 절차를 repository-owned Skill에 두는 것은 Task 목표와 Project 절차를 분리하려는 선택이다.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“긴 Procedure를 Prompt에서 빼도 같은 작업 흐름을 유지할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(0:00–1:30) 목표와 반복 절차가 함께 들어간 Before를 보여준다.</a:t>
            </a:r>
          </a:p>
          <a:p xmlns:a="http://schemas.openxmlformats.org/drawingml/2006/main">
            <a:r>
              <a:t>2. (1:30–3:00) `$graypipe-performance`와 repository Skill을 후보 구조로 보여준다.</a:t>
            </a:r>
          </a:p>
          <a:p xmlns:a="http://schemas.openxmlformats.org/drawingml/2006/main">
            <a:r>
              <a:t>3. (3:00–4:00) 성공 결과를 앞당기지 않고 대상 surface와 호출 경로는 확인 대상이라고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DEC-0017, BEAT-020/021, TRIAL-006/007/008. Skill 선택은 ACCEPTED; 동작 근거는 뒤의 TRIAL-008에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여기서는 설계 질문과 후보만 소개한다. 현재 Desktop/계정에서 이용 가능하다고 보장하거나 Skill 우월성을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방법을 매번 Prompt에 복사하는 대신 프로젝트가 소유하는 위치를 검토할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반복 근거에 따른 workflow 소유권 선택과 실제 발견·호출 증거를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성공 여부를 추측하지 않도록 잠깐 멈추고 질문을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41에서 TRIAL-008의 발견과 명시적 호출 기록을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중 3분은 문제와 후보를 설명하고, 마지막 1분에 product check 경계를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S40 또는 `production/preview/act3/S40.png`다.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S41 — Skill을 어떻게 발견하고 호출할까?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Skill을 어떻게 발견하고 호출할까?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5 minutes (HYBRID planned; activation unverified)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TRIAL-008에서 Codex CLI 0.154.0의 `/skills` 목록으로 repository Skill을 찾고 `$graypipe-performance`를 명시적으로 호출했으며, 실행 trace에 Skill 본문이 있었다.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“반복할 작업 절차를 Repository에서 어떻게 찾고 불러올까?”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세 단계는 TRIAL-008 기록을 읽기 좋게 재구성한 도식이며 실제 제품 UI 캡처가 아님을 밝힌다.</a:t>
            </a:r>
          </a:p>
          <a:p xmlns:a="http://schemas.openxmlformats.org/drawingml/2006/main">
            <a:r>
              <a:t>2. (1:00–2:30) /skills 목록에서 graypipe-performance와 잘린 설명이 표시된 기록을 가리킨다. 그 selector 화면에 Skill 경로가 표시됐다고 말하지 않는다.</a:t>
            </a:r>
          </a:p>
          <a:p xmlns:a="http://schemas.openxmlformats.org/drawingml/2006/main">
            <a:r>
              <a:t>3. (2:30–4:00) 명시적 $graypipe-performance 호출과 image_statistics 작업 목표를 보여준 뒤, 실행 trace에서 Skill 경로·본문 포함을 확인했다는 세 번째 행으로 이동한다.</a:t>
            </a:r>
          </a:p>
          <a:p xmlns:a="http://schemas.openxmlformats.org/drawingml/2006/main">
            <a:r>
              <a:t>4. (4:00–5:00) Codex CLI 0.154.0에서 확인한 범위다. 현재 Desktop, 암묵적 호출, 교육 계정의 표면은 별도 확인 대상으로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DEC-0017, BEAT-021. Codex CLI 0.154.0, 명시적 호출, disposable workspace. 시각 자료는 기록의 재구성이다.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Product UI 스크린샷이나 현재 Codex Desktop 동작으로 표현하지 않는다. Skill path는 selector가 아니라 실행 trace에서 확인됐다. Implicit invocation은 테스트하지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기록된 CLI 실행에서 Skill을 목록으로 찾고, 호출 표기를 입력해 사용했다.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Selector의 발견 증거와 실행 context의 본문 증거를 구별한다. 다른 surface·계정에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기본 경로는 재구성된 TRIAL-008 기록이다. 실제 Codex CLI 실행으로 전환하지 않는다. 현재 제품 표면은 REQUIRES PRODUCT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발견, 명시적 호출, 본문 확인의 세 단계를 따라오게 한다. 조작을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“호출한 뒤 작업 Prompt에서는 무엇이 달라졌을까?”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발견 1.5분, 호출·본문 근거 1.5분, 범위 제한 1분. 실시간 제품 설명을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S41 또는 `production/preview/act3/S41.png`다.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S42 — 절차의 책임이 Prompt에서 Repository로 이동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절차의 책임이 Prompt에서 Repository로 이동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(HYBRID planned; activation unverified)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TRIAL-007의 긴 Prompt가 포함하던 절차를 TRIAL-008에서는 명시적으로 호출한 Skill에 맡기고 Prompt에는 목표와 Task별 제약을 남겼다.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작업 절차를 매번 Prompt에 길게 적어야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(0:00–1:30) TRIAL-007의 goal, 제약, 긴 procedure를 요약한다.</a:t>
            </a:r>
          </a:p>
          <a:p xmlns:a="http://schemas.openxmlformats.org/drawingml/2006/main">
            <a:r>
              <a:t>2. (1:30–3:00) TRIAL-008의 goal, Task별 제약, 명시적 Skill 호출을 비교한다.</a:t>
            </a:r>
          </a:p>
          <a:p xmlns:a="http://schemas.openxmlformats.org/drawingml/2006/main">
            <a:r>
              <a:t>3. (3:00–5:00) 양쪽에 반복된 baseline, 조사, test, benchmark, compare, review를 잇는다.</a:t>
            </a:r>
          </a:p>
          <a:p xmlns:a="http://schemas.openxmlformats.org/drawingml/2006/main">
            <a:r>
              <a:t>4. (5:00–6:00) 책임 위치 변화만 관찰됐고 토큰 절감은 측정되지 않았다고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TRIAL-007/008, DEC-0017, BEAT-021. 관찰된 CLI 기록을 요약한 비교.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Skill 우월성, 속도 향상, token/character 절감은 입증되지 않았다. Prompt 구조와 다른 전역 요인의 인과 효과를 따로 분리하지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반복되는 절차를 저장한 위치를 바꿔도 각 작업의 목표는 Prompt에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절차의 재사용 설계와 Prompt 길이·효율의 측정 주장을 혼동하지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두 Trial을 요약한 정적 비교를 사용한다. 긴 Prompt 전문이나 실제 터미널 화면을 재현하지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시간에 공통 절차만 비교하도록 안내하고, 공개 응답은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Skill에는 구체적인 답이 들어 있을까, 재사용할 작업 방법이 들어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3분은 구조 비교, Case 3분은 공통 procedure와 책임 경계에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S42 또는 `production/preview/act3/S42.png`다.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S43 — 답을 담지 않는 Workflow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답을 담지 않는 Workflow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Reusable Skill은 검증 절차를 담고 특정 최적화 답이나 측정 결과를 미리 정답으로 고정하지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“Skill이 작업 방법을 담는다면, 어디까지 미리 정해도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실제 Skill 발췌의 ‘편집 전 재현 가능한 baseline’과 ‘근거가 없으면 no-change도 유효’ 두 지시를 가리킨다. 영어를 모두 낭독하지 않고 한국어로 뜻을 설명한다.</a:t>
            </a:r>
          </a:p>
          <a:p xmlns:a="http://schemas.openxmlformats.org/drawingml/2006/main">
            <a:r>
              <a:t>2. (1:00–2:00) 아래의 알고리즘, 실제 측정값, 감수할 trade-off는 이번 Task에서 결정할 내용임을 구분한다.</a:t>
            </a:r>
          </a:p>
          <a:p xmlns:a="http://schemas.openxmlformats.org/drawingml/2006/main">
            <a:r>
              <a:t>3. (2:00–3:00) Skill에 특정 알고리즘·Trial 숫자를 정답으로 넣지 않았음을 확인하고, 실제 후보 비교로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TRIAL-008, `graypipe-performance` Skill, DEC-0017, BEAT-022.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절차 재사용은 관찰됐지만 Skill이 더 나은 최적화 답을 제공한다는 근거는 아니다. Workflow는 task 결과를 고정하지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작업 순서는 재사용할 수 있지만, 어떤 답이 맞는지는 매번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Input, runtime, benchmark, trade-off를 procedure definition과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STATE-04의 `.agents/skills/graypipe-performance/SKILL.md`에서 확인한 두 문장만 발췌한 정적 화면을 사용한다. 코드/제품 UI screenshot으로 표현하지 않으며 전체 Skill 본문을 낭독하지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왼쪽의 절차와 오른쪽의 Task 판단을 구별하도록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“실제로 후보를 선택할 때는 무엇을 근거로 삼았을까?”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3분 동안 두 책임만 구분하며 algorithm 설명은 생략한다.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S43 또는 `production/preview/act3/S43.png`다.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S44 — 측정으로 후보를 고르다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측정으로 후보를 고르다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TRIAL-008의 `image_statistics` 후보 중 row-level built-in reduction은 수동 단일 순회보다 빠르면서 낮은 traced-memory 사용을 유지해 선택됐다.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“여러 구현 후보 중 무엇을 선택할지 어떻게 판단했을까?”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후보 비교가 STATE-04 → STATE-04-PERF 공식 결과와 다른 Trial 단계임을 밝힌다.</a:t>
            </a:r>
          </a:p>
          <a:p xmlns:a="http://schemas.openxmlformats.org/drawingml/2006/main">
            <a:r>
              <a:t>2. (1:00–3:00) 수동 단일 순회는 traced memory가 적었지만 훨씬 느렸다는 정성 비교를 보여준다.</a:t>
            </a:r>
          </a:p>
          <a:p xmlns:a="http://schemas.openxmlformats.org/drawingml/2006/main">
            <a:r>
              <a:t>3. (3:00–4:00) Row-level built-in reduction 후보가 시간·메모리 trade-off에서 선택된 근거를 말한다.</a:t>
            </a:r>
          </a:p>
          <a:p xmlns:a="http://schemas.openxmlformats.org/drawingml/2006/main">
            <a:r>
              <a:t>4. (4:00–5:00) 동일한 six-field correctness guard와 workload 한계를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TRIAL-008 candidate comparison; `image_statistics`; synthetic 1024×768 image, CPython 3.9.6 / macOS 26.6.2 arm64; same six-field correctness guard.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정확한 candidate 수치는 표시하지 않는다. Candidate 결과를 S45의 formal state benchmark와 섞지 않는다. Skill이 algorithm이나 결과를 만들었다고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적은 메모리만 보고 선택하지 않고 같은 조건에서 실행시간과 정확성을 함께 확인했다.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Candidate comparison과 named product-state before/after 측정은 Evidence 단계가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두 후보의 Python 할당량과 실행 시간 정성 비교를 사용한다. 후보별 새 숫자나 측정 그래프를 추가하지 않는다. 공식 STATE-04 전후 수치는 다음 S45에서 별도로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질문을 제시하고 실행시간과 메모리의 trade-off를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“선택한 변화는 어떤 검증을 거쳐 제품 상태에 반영됐을까?”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 중 3분은 두 후보 차이, 1분은 correctness guard, 1분은 evidence 경계에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S44 또는 `production/preview/act3/S44.png`다.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S45 — Working Harness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Working Harness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STATE-04 → STATE-04-PERF의 bounded `image_statistics` 변경은 기록된 조건에서 median과 traced allocation이 달랐고 정해진 tests, CLI, benchmark guards를 통과했다.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“조사와 비교가 실제로 확인 가능한 결과로 이어졌을까?”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이전 장의 후보 선택을 회수한다. 정식 STATE-04 baseline에서 변경한 결과이며 TRIAL-008의 후보 수치를 재사용한 것이 아님을 밝힌다.</a:t>
            </a:r>
          </a:p>
          <a:p xmlns:a="http://schemas.openxmlformats.org/drawingml/2006/main">
            <a:r>
              <a:t>2. (1:00–2:30) 0에서 시작하는 실행 시간 막대를 변경 전 15.468 → 변경 후 10.769 ms/call 순서로 가리킨다. 동일 입력에서 상태별 7회 one-call 측정의 중앙값이다.</a:t>
            </a:r>
          </a:p>
          <a:p xmlns:a="http://schemas.openxmlformats.org/drawingml/2006/main">
            <a:r>
              <a:t>3. (2:30–3:30) Python 할당 피크 6,675,804 → 380 bytes를 보여준다. 평탄화 임시 리스트 제거와 연결하되 프로세스 전체 메모리(RSS)나 일반 성능 보장으로 확대하지 않는다.</a:t>
            </a:r>
          </a:p>
          <a:p xmlns:a="http://schemas.openxmlformats.org/drawingml/2006/main">
            <a:r>
              <a:t>4. (3:30–5:00) 집중 Test 1/1, 전체 11/11, CLI와 입력/결과 guard 통과를 확인한다. 이 결과가 Harness/Skill 단독 인과효과를 입증하지 않음을 말하고 Subagent 필요성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`plan/DEMO_MATRIX.md` STEP 07 §§191–200, STATE-04 → STATE-04-PERF; `plan/CLAIM_FREEZE.md` §8; DEC-0019. Baseline `822f1c12c5f602d934a2fd29e48f05bf498b4bfa`, result `6153b81c0187dd7d82c88bd1817fb683c98eb431`; `image_statistics`; deterministic synthetic 1024×768, 786,432 pixels, max255; CPython3.9.6 / macOS26.6.2 arm64; same input fingerprint, seven one-call samples per state. Median 15.468→10.769 ms/call; separate tracemalloc call peak 6,675,804→380 bytes; six-field result guard, focused1/1, full11/11, CLI smoke PASS. TRIAL-008 is candidate history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숫자는 이 입력, 코드 경로, host, runtime, 측정 조건에 한정한다. `tracemalloc`은 Python allocation peak이지 RSS가 아니다. Harness나 Skill이 성능 향상을 일으켰다고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바뀐 코드가 맞는지 Test와 같은 benchmark로 확인한 기록이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Observed product change와 시스템 구성요소의 단독 인과를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`production/ACT_3.pptx`의 S45 및 `production/preview/act3/S45.png`의 native chart와 수치 비교를 가리킨다. 새 Trial 또는 benchmark를 실행하지 않는다. 막대는 실행 시간만 표현하며 할당량은 별도 수치 비교다.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Case로 측정 조건과 verification을 짚고 일반화하지 않도록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결과를 위해 Subagent도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5분을 metric 2.5분, test/CLI guards 1.5분, attribution limit 1분으로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S45 또는 `production/preview/act3/S45.png`다.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S46 — 이 작업에 Subagent가 필요했을까?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 작업에 Subagent가 필요했을까?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performance 작업은 하나의 Agent가 처리할 수 있었고 별도 Context의 병렬화 이득이 작아 Subagent를 정당화하지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“성능 작업을 여러 Agent로 나누는 게 이 사례에 도움이 됐을까?”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조사 → 변경 → 검증을 왼쪽부터 가리킨다. 뒤 단계가 앞 결과를 사용하는 현재 성능 Task의 의존 관계다.</a:t>
            </a:r>
          </a:p>
          <a:p xmlns:a="http://schemas.openxmlformats.org/drawingml/2006/main">
            <a:r>
              <a:t>2. (1:00–3:00 / Demo) 작업 독립성, 병렬 이득, 결과 통합 비용을 기준으로 이번 사례에서 Subagent 추가 근거가 부족했음을 설명한다.</a:t>
            </a:r>
          </a:p>
          <a:p xmlns:a="http://schemas.openxmlformats.org/drawingml/2006/main">
            <a:r>
              <a:t>3. (3:00–4:00 / Q&amp;A) 질문이 없으면 ‘어느 단계를 독립 실행할 수 있었나?’를 묻는다. 일반적 Subagent 불필요 주장으로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BEAT-023–025; STATE-04 / STATE-04-PERF의 project/task complexity review.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`NOT JUSTIFIED YET`는 현재 사례의 판단이다. Subagent 기능이 없거나 일반적으로 불필요하다는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Agent를 늘리기 전에 실제로 독립시킬 작업이 있는지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병렬화 이득, context separation, coordination 및 merge 비용을 함께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다음 Slide의 가정적 C++ 예시에서만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세 기준을 보여주는 정적 VISUAL Demo다. Product Subagent를 호출하지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 질문을 받는다. 질문이 없으면 “무엇을 독립 실행할 수 있었나?”를 짧게 던지고 계속한다.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“어떤 작업 구조라면 Subagent 검토가 타당해질까?”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시각 검토 3분, Q&amp;A 1분을 보호한다.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S46 또는 `production/preview/act3/S46.png`다.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S47 — Subagent를 고려할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Subagent를 고려할 조건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1 minute + Demo 2 minutes (VISUAL) + Q&amp;A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독립된 조사와 Context, 병렬 가능성, 명확한 handoff가 있을 때 Subagent를 검토하고 조정 비용이 더 크면 보류한다.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“어떤 일이 실제로 독립된 병렬 작업일까?”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Lecture) 실제 Demo가 아닌 조건부 C++ 조사 예시라고 먼저 밝힌다.</a:t>
            </a:r>
          </a:p>
          <a:p xmlns:a="http://schemas.openxmlformats.org/drawingml/2006/main">
            <a:r>
              <a:t>2. (1:00–3:00 / Demo) 성능 경로, 빌드 환경, 테스트 구조 조사가 서로 결과를 기다리지 않아도 된다는 가정을 비교한다. 세 화살표가 모이는 하단에서 결과 형식, 전달 지점, 합칠 책임을 시작 전에 정할 필요를 짚는다.</a:t>
            </a:r>
          </a:p>
          <a:p xmlns:a="http://schemas.openxmlformats.org/drawingml/2006/main">
            <a:r>
              <a:t>3. (3:00–4:00 / Q&amp;A) 질문이 없으면 ‘결과를 합칠 책임자는 누구인가?’를 묻는다. 작업과 Context가 강하게 연결되거나 조정 비용이 크면 보류한다고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BEAT-023–025, DEC-0018. TEACHING_MODEL; hypothetical C++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현재 Demo에서 관찰한 Subagent 결과가 아니다. 제품 동작·사용법은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서로 영향을 덜 주는 일을 나눌 수 있을 때만 여러 Agent를 고려한다.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Context 경계와 병렬 결과의 integration cost가 역할 분리의 이익보다 작아야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C++ Repository에서 성능, build toolchain, test 조사가 실제로 독립적일 수 있다는 가정 예만 든다.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Conceptual decision visual. Subagent 제품 실행이나 지원 여부를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Q&amp;A 1분. 질문이 없으면 “결과를 합칠 책임자는 누구인가?”를 fallback 질문으로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“반복 절차 말고, 다시 찾기 어려운 지식도 남길 필요가 있었을까?”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조건, 보류 신호, 가정 예시를 각 한 번만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S47 또는 `production/preview/act3/S47.png`다.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S48 — 무엇이 다시 찾기 어려운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무엇이 다시 찾기 어려운 지식인가?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 minutes (VISUAL) + Case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현재 Demo의 계약·명령·구조·절차·Trial 기록은 각각 유지 중인 Source of Truth에 있었고, 별도 Memory 후보는 발견되지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작업에서 다시 발견하기 어려운 지식은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Demo) 네 행의 질문을 실제 유지 위치에 연결한다. crop 계약은 코드/계약 문서, 모듈 순서는 architecture, 조사 절차는 Skill, 측정 결과는 날짜 있는 Trial/Git 기록이다.</a:t>
            </a:r>
          </a:p>
          <a:p xmlns:a="http://schemas.openxmlformats.org/drawingml/2006/main">
            <a:r>
              <a:t>2. (2:00–3:00 / Case) 현재 Demo에서 별도 Memory로 남길 후보를 찾지 못한 제한된 감사 결과임을 밝힌다.</a:t>
            </a:r>
          </a:p>
          <a:p xmlns:a="http://schemas.openxmlformats.org/drawingml/2006/main">
            <a:r>
              <a:t>3. (3:00–4:00 / Case) 새 기록을 만들기 전에 기존 출처를 먼저 찾는다는 질문을 다음 판단 기준으로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DEMO-08 knowledge audit, BEAT-026–028.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제품 Memory 기능의 존재, 범위, 성능에 관한 주장이 아니다. 현재 Demo에서 별도 보존 후보를 찾지 못했다는 범위다.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새 기억을 만들기 전에 같은 사실이 이미 어디에 기록돼 있는지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출처, 적용 범위, 갱신 가능성과 기존 Source of Truth의 중복 여부를 검토한다.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네 지식 범주를 정적으로 연결하는 VISUAL Demo. Memory 기능을 실행하거나 흉내내지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2분 동안 어떤 지식이 어디에 이미 있는지 생각하도록 한다. 공유나 기록은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“그럼 어떤 지식에 Memory를 검토할 조건이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네 행을 빠르게 연결한 뒤 계약과 측정 결과 두 범주의 출처 차이에 설명을 집중한다. 정적 Demo 2분, Case 2분을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S48 또는 `production/preview/act3/S48.png`다.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S49 — Memory는 재발견 비용으로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S49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Memory는 재발견 비용으로 판단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재발견 비용이 크고 Project 간 재사용 가능하며 출처·범위·신선도를 관리할 수 있을 때 Memory를 검토한다.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“무엇을 기억해 두어야 다음 작업의 비용이 실제로 줄어들까?”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재발견 비용과 재사용성을 첫 질문으로 둔다.</a:t>
            </a:r>
          </a:p>
          <a:p xmlns:a="http://schemas.openxmlformats.org/drawingml/2006/main">
            <a:r>
              <a:t>2. (1:00–3:00) 출처·적용 범위·신선도·무효화 기준을 점검한다.</a:t>
            </a:r>
          </a:p>
          <a:p xmlns:a="http://schemas.openxmlformats.org/drawingml/2006/main">
            <a:r>
              <a:t>3. (3:00–4:00) 현재 Demo에서는 해당 조건을 만족하는 항목을 찾지 못했다고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DEC-0018, BEAT-026–028, INV-DEMO-003.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조건은 교육용 판단 model이지 제품 Memory 기능의 효과나 범위에 관한 claim이 아니다. 현재 Demo의 결정으로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나중에 다시 찾기 어렵고 실제로 반복해서 쓰는 지식인지 먼저 따져본다.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Provenance, scope, freshness, invalidation이 없으면 유지되는 기억이 오래된 정보가 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네 판단 질문을 하나씩 따라오게 한다. Memory를 만들라는 과제는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“현재 문제를 해결하는 데 실제로 필요했던 구조는 무엇이었을까?”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동안 조건을 설명하고 기준을 feature checklist로 바꾸지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S49 또는 `production/preview/act3/S49.png`다.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S50 — Minimum Effective Harness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Minimum Effective Harness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3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STATE-04-PERF까지 이어진 현재 사례는 Prompt, Context와 Routing, reusable Skill, Benchmark, Tests, Tools/Environment를 사용했고 Subagent와 Memory를 추가하지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작업을 위해 실제로 무엇이 필요했을까?”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왼쪽의 이번 목표·반복 정보·반복 절차·확인 근거라는 문제를 순서대로 읽는다.</a:t>
            </a:r>
          </a:p>
          <a:p xmlns:a="http://schemas.openxmlformats.org/drawingml/2006/main">
            <a:r>
              <a:t>2. (1:00–2:00) 오른쪽의 Task Prompt, AGENTS.md/docs Routing, graypipe-performance Skill, Tests/Benchmark/Tools/Environment에 연결한다. 현재 사례의 구성을 정리한 표다.</a:t>
            </a:r>
          </a:p>
          <a:p xmlns:a="http://schemas.openxmlformats.org/drawingml/2006/main">
            <a:r>
              <a:t>3. (2:00–3:00) Subagent와 별도 Memory는 추가하지 않았으며 필요한 구성은 문제와 검증 조건에 따라 달라진다고 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STATE-00 → STATE-04-PERF, DEC-0018, INV-VERIFY-001, DEMO-09.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현재 프로젝트의 구성 감사다. 일반적인 최적 기능 수나 Harness가 성능을 개선한 인과 claim이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Harness는 기능을 많이 모으는 일이 아니라 현재 문제에 필요한 작업 환경을 마련하는 일이다.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“Minimum Effective”는 신뢰성 있게 해결할 조건을 충족하는 문제별 heuristic이며 숫자 기준이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51–53에서 Project별 build, test, benchmark 절차로 연결한다. Python Skill을 C++로 복사하지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기록된 State의 구성을 표로 재구성한 CAPTURED 범위 요약이다. 실제 실행 캡처가 아니며 Demo Repository나 현재 제품을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구성요소보다 문제와 evidence가 연결되는 흐름을 보게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다음 Slide에서 Tools, Environment, Verification을 포함한 Harness 운영 정의를 묶는다.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3분 동안 실제 구성과 빠진 두 요소를 확인한다. 일반론으로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S50 또는 `production/preview/act3/S50.png`다.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S51 — Harness는 작업 환경 설계다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Harness는 작업 환경 설계다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Demo 2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교육에서 Harness는 Agent가 Project에서 안정적으로 일하도록 설계한 작업 환경과 절차를 뜻하는 운영 model이다.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“Harness는 결국 무엇을 의미하는가?”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Lecture) 큰 프레임은 Project 작업 환경을 뜻하는 교육용 모델이라고 밝힌다. 현재 목표 → 개발자와 Agent → 확인할 결과를 가리킨다.</a:t>
            </a:r>
          </a:p>
          <a:p xmlns:a="http://schemas.openxmlformats.org/drawingml/2006/main">
            <a:r>
              <a:t>2. (2:00–4:00 / Lecture) 그 안의 Context/Routing, Workflow, Verification/Tools가 서로 다른 책임으로 연결됨을 설명한다.</a:t>
            </a:r>
          </a:p>
          <a:p xmlns:a="http://schemas.openxmlformats.org/drawingml/2006/main">
            <a:r>
              <a:t>3. (4:00–6:00 / Demo) 프레임 바깥 아래의 ‘관찰한 구성’ 줄에서 STATE-04-PERF의 실제 요소를 확인한다. 전체 환경 모델과 제한된 구성 관찰을 같은 증거로 취급하지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DEC-0023, BEAT-035/036, STATE-04-PERF. OBSERVED_PRODUCT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과정의 operational definition이다. 공식 OpenAI 정의나 보편적 industry standard로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알 정보뿐 아니라 일하는 절차와 결과를 확인하는 환경도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Harness는 특정 파일이나 기능 목록이 아니라 Project별 신뢰성 문제를 해결하는 system model이다.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Slide 53에서 C++ Project 환경에 같은 Engineering Pattern을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큰 프레임의 교육용 전체 모델과 아래 STATE-04-PERF 관찰 구성 줄을 분리해 보인다. 관찰 구성의 CAPTURED 요약도 기록 기반 재구성이며 실제 UI 캡처가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Evidence inset과 교육용 전체 model의 시각적 경계를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 작업 환경은 Repository 파일만으로 결정될까?”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개념 설명 4분, 관찰된 구성 2분. 기능 이름 열거에 시간을 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S51 또는 `production/preview/act3/S51.png`다.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S52 — Repository 밖의 환경도 결과에 영향을 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Repository 밖의 환경도 결과에 영향을 준다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Trial 결과를 해석할 때 Project repository 바깥의 Global instructions, Skills, Hooks, MCP, Permissions, Model/configuration, OS/runtime도 가능한 환경 층이다.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“Repository가 같으면 Agent 실행 환경도 같은가?”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왼쪽 Repository와 오른쪽 가능한 외부 조건을 나눠 가리킨다.</a:t>
            </a:r>
          </a:p>
          <a:p xmlns:a="http://schemas.openxmlformats.org/drawingml/2006/main">
            <a:r>
              <a:t>2. (1:00–2:00) 지침, 실행, 도구와 권한이라는 세 묶음 중 기록에서 확인된 것은 global Skills와 hook/MCP 시작 흔적 일부라고 말한다.</a:t>
            </a:r>
          </a:p>
          <a:p xmlns:a="http://schemas.openxmlformats.org/drawingml/2006/main">
            <a:r>
              <a:t>3. (2:00–3:00) 모든 요소의 작동·효과를 관찰한 목록이 아님을 한정한다. 자세한 제작 이력 근거는 ACT 4에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TRIAL-006/007/008, DEC-0016/0021, BEAT-033/036. OBSERVED_META /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전체 영향의 완전한 inventory가 아니다. Hook 실행이나 MCP task result가 관찰됐다고 말하지 않는다. TRIAL-007의 보고와 stderr 차이를 이 장에서 재해석하지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repository여도 실행 설정이나 주변 지침은 다를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Ambient Harness 요인을 기록하고 Trial의 attribution 범위를 제한하되 미확인 인과를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같은 C++ repository도 Toolchain, 권한, runtime 조건이 다를 수 있다는 정도로만 잇는다.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ACT 4에서 다룰 Meta 근거는 상세히 재생하지 않는다. 정적 preview visual로만 다룬다.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가능한 환경 층과 실제 확인된 흔적을 구분해 보도록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환경 설계 원칙은 C++ Vision Project에 어떻게 옮겨갈까?”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3분 동안 환경 경계와 evidence 한계를 설명한다. 요소별 제품 기능 강의는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`production/ACT_3.pptx`의 S52 또는 `production/preview/act3/S52.png`의 Repository/외부 환경 경계 비교를 사용한다. 새 화면과 경로의 최종 release 일치는 통합 검토에서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S53 — Engineering Pattern은 C++에도 전이된다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Engineering Pattern은 C++에도 전이된다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Python Demo의 코드나 도구를 복사하는 대신 Context, Verification, Benchmark, Reusable Workflow의 Engineering Pattern을 C++ Vision 업무에 대응시킨다.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“우리 Repository에서는 무엇이 Project Context이고 무엇이 Workflow인가?”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Python Demo와 C++ Vision의 공통 질문이 표의 중심임을 안내한다.</a:t>
            </a:r>
          </a:p>
          <a:p xmlns:a="http://schemas.openxmlformats.org/drawingml/2006/main">
            <a:r>
              <a:t>2. (1:00–3:30) 기준 조건, 조사 경로, 확인 방법의 세 행을 따라 입력/계약에서 빌드·알고리즘·하드웨어 조건으로, Python 경로에서 해당 모듈 측정으로, 동작 계약/테스트에서 회귀·통합 검증으로 연결한다.</a:t>
            </a:r>
          </a:p>
          <a:p xmlns:a="http://schemas.openxmlformats.org/drawingml/2006/main">
            <a:r>
              <a:t>3. (3:30–5:00) baseline → profile → change → regression check를 공통 패턴으로 회수한다. 구체 도구는 팀 표준 확인 후 선택하며 화면을 도구 목록 강의로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BEAT-036, CLM-0016/0017/0030, OQ-011.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교육용 전이 예다. C++ Demo를 구현하거나 팀별 실제 도구 규칙을 검증한 것이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언어가 달라도 먼저 프로젝트 규칙과 확인 방법을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Build mode, hardware assumptions, module contracts, and regression criteria belong to the actual project.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— Python `unittest` → GoogleTest/CTest or integration checks; benchmark script → benchmark/profiler; Project Context → build, algorithm, hardware constraints. Team standards must be checked before choosing tools.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청중이 자사 Project의 Context와 Workflow를 구분할 질문을 제시한다. 답변을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“현재 업무에서 어떤 구조가 실제로 필요한지 되돌아보자.”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5분 동안 도구 이름보다 패턴 대응을 중심으로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S53 또는 `production/preview/act3/S53.png`다. 수정 초안 정적 화면은 존재하며 최종 release 경로·내용 일치는 통합 검토에서 확인한다. 실제 Trial 캡처나 현재 제품 실행으로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S54 — 필요한 구조부터 질문하기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필요한 구조부터 질문하기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3 / 3I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10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3 minutes + Q&amp;A 5 minutes + Transition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기능을 더하기 전에 반복되는 마찰을 찾고 원인과 검증 요구에 맞는 최소 구조를 판단한다.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“내 업무에서 지금 가장 반복되는 마찰은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(0:00–3:00 / Reflection) 화면의 ‘우리 프로젝트의 제약은…’과 ‘먼저 측정하고, 끝나면 확인해…’를 가리킨다. 청중 업무의 반복이 사실인지 절차인지 조용히 생각하게 한다. 독립 조사, 재발견 비용, 검증 필요도 개인 점검 후보다.</a:t>
            </a:r>
          </a:p>
          <a:p xmlns:a="http://schemas.openxmlformats.org/drawingml/2006/main">
            <a:r>
              <a:t>2. (3:00–8:00 / Q&amp;A) 원할 때만 마찰과 근거를 공유하게 한다. 질문이 없으면 ‘이 반복은 Context, Workflow, Coordination, 기억 중 무엇에 가까운가?’를 사용한다.</a:t>
            </a:r>
          </a:p>
          <a:p xmlns:a="http://schemas.openxmlformats.org/drawingml/2006/main">
            <a:r>
              <a:t>3. (8:00–10:00 / Transition) STATE-04-PERF의 제한된 성공을 유지하면서 화면 아래 ‘Project가 바뀐 뒤에도 계속 맞을까?’를 가리킨다. 다음 ACT의 가상 사례를 실제 제품 실패로 앞당기지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STATE-04-PERF, DEC-0018/0021, BEAT-035–038, INV-VERIFY-001. TEACHING_MODEL; bounded observed product success.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이 작업을 실패한 Harness로 재해석하지 않는다. Subagent와 Memory는 조건부 선택이다. 다음 ACT의 개념 사례를 실제 Demo Product failure로 미리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먼저 반복되는 문제를 찾고, 필요한 구조만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변화가 가정을 무효화할 수 있는지 생각하되, 다음 ACT의 사례 결과를 먼저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앞 Slide의 Project별 C++ 적용 질문을 청중 업무로 가져온다.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개인 reflection은 선택적이며 노트북·실습·필수 공개 응답은 없다. 질문은 5분만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“지금은 잘 동작하는 Harness도 Project가 바뀐 뒤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 3분, Q&amp;A 5분, Transition 2분. Q&amp;A가 비어도 마지막 질문을 지키고, 초과 응답은 별도 질의로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발표 기본 경로는 `production/ACT_3.pptx`의 S54 또는 `production/preview/act3/S54.png`다. 수정 초안 정적 화면은 존재하며 최종 release 경로·내용 일치는 통합 검토에서 확인한다. 실제 Trial 캡처나 현재 제품 실행으로 표현하지 않는다. 질문이 없으면 Audience Interaction의 준비 질문으로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8eb071e98e495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b1d52228b4493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120aeca70a48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f436bab24465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8df4d9723149b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85c00612384f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CF267A9-4A7D-4106-A5CB-33543D581A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F06CC6A-035F-43C3-8748-0C31B009E93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4D2F435-5A2B-4CEB-8837-7D7DCCED04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9047B1-2A3E-4331-A58A-836DC16EBE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CB835A-77FA-4BF6-A07B-58E5E2C430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97467C3-3533-4C36-A904-940DA79F36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171D97A-9C21-46B7-8E8F-9175AE8A1C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DFEFD98-C287-49DC-8AB9-55C76F96032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6AC7871-33C9-4A74-B408-75AC6FCAAC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28A556C-B574-4F21-AB69-FB524394653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1be0121b4c484e" /><Relationship Type="http://schemas.openxmlformats.org/officeDocument/2006/relationships/slideLayout" Target="/ppt/slideLayouts/slideLayout1.xml" Id="R596d30c4e0d64864" /><Relationship Type="http://schemas.openxmlformats.org/officeDocument/2006/relationships/slideLayout" Target="/ppt/slideLayouts/slideLayout2.xml" Id="Ra36b3d3b6dad48da" /><Relationship Type="http://schemas.openxmlformats.org/officeDocument/2006/relationships/slideLayout" Target="/ppt/slideLayouts/slideLayout3.xml" Id="R6a4351194a37478a" /><Relationship Type="http://schemas.openxmlformats.org/officeDocument/2006/relationships/slideLayout" Target="/ppt/slideLayouts/slideLayout4.xml" Id="Rabc65ef616944b46" /><Relationship Type="http://schemas.openxmlformats.org/officeDocument/2006/relationships/slideLayout" Target="/ppt/slideLayouts/slideLayout5.xml" Id="Rfa68eba777f34c4d" /><Relationship Type="http://schemas.openxmlformats.org/officeDocument/2006/relationships/slideLayout" Target="/ppt/slideLayouts/slideLayout6.xml" Id="R44895dbc071f41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6d30c4e0d64864"/>
    <p:sldLayoutId xmlns:r="http://schemas.openxmlformats.org/officeDocument/2006/relationships" id="2147483650" r:id="Ra36b3d3b6dad48da"/>
    <p:sldLayoutId xmlns:r="http://schemas.openxmlformats.org/officeDocument/2006/relationships" id="2147483651" r:id="R6a4351194a37478a"/>
    <p:sldLayoutId xmlns:r="http://schemas.openxmlformats.org/officeDocument/2006/relationships" id="2147483652" r:id="Rabc65ef616944b46"/>
    <p:sldLayoutId xmlns:r="http://schemas.openxmlformats.org/officeDocument/2006/relationships" id="2147483653" r:id="Rfa68eba777f34c4d"/>
    <p:sldLayoutId xmlns:r="http://schemas.openxmlformats.org/officeDocument/2006/relationships" id="2147483654" r:id="R44895dbc071f41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57693511c34026" /><Relationship Type="http://schemas.openxmlformats.org/officeDocument/2006/relationships/notesSlide" Target="/ppt/notesSlides/notesSlide1.xml" Id="R15b4f429ad5046f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fee2ed6b974c19" /><Relationship Type="http://schemas.openxmlformats.org/officeDocument/2006/relationships/notesSlide" Target="/ppt/notesSlides/notesSlide2.xml" Id="R91048f6bdda741a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3e3daae8de430d" /><Relationship Type="http://schemas.openxmlformats.org/officeDocument/2006/relationships/notesSlide" Target="/ppt/notesSlides/notesSlide3.xml" Id="R70bbedc45ef04d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1746b693f1494e" /><Relationship Type="http://schemas.openxmlformats.org/officeDocument/2006/relationships/notesSlide" Target="/ppt/notesSlides/notesSlide4.xml" Id="R5569412507bc4c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3129aec82145db" /><Relationship Type="http://schemas.openxmlformats.org/officeDocument/2006/relationships/notesSlide" Target="/ppt/notesSlides/notesSlide5.xml" Id="R0b34cbf4406444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72549d93364f8e" /><Relationship Type="http://schemas.openxmlformats.org/officeDocument/2006/relationships/notesSlide" Target="/ppt/notesSlides/notesSlide6.xml" Id="Ra03c01f8796049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7dceee44a54e89" /><Relationship Type="http://schemas.openxmlformats.org/officeDocument/2006/relationships/notesSlide" Target="/ppt/notesSlides/notesSlide7.xml" Id="Rf002b9c34c99486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8706a2ca3f4e9a" /><Relationship Type="http://schemas.openxmlformats.org/officeDocument/2006/relationships/notesSlide" Target="/ppt/notesSlides/notesSlide8.xml" Id="R6aafddb5f54645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42de5a308e4ded" /><Relationship Type="http://schemas.openxmlformats.org/officeDocument/2006/relationships/chart" Target="/ppt/slides/charts/chart1.xml" Id="Rdbc7f4732e014a9f" /><Relationship Type="http://schemas.openxmlformats.org/officeDocument/2006/relationships/notesSlide" Target="/ppt/notesSlides/notesSlide9.xml" Id="R8d4f2fa6964243d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58316097ee411b" /><Relationship Type="http://schemas.openxmlformats.org/officeDocument/2006/relationships/notesSlide" Target="/ppt/notesSlides/notesSlide10.xml" Id="Rbdf8d68bbb0e41c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5cda9ea4334fcf" /><Relationship Type="http://schemas.openxmlformats.org/officeDocument/2006/relationships/notesSlide" Target="/ppt/notesSlides/notesSlide11.xml" Id="Rd319d3e5b66947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8278b0ecfc4d28" /><Relationship Type="http://schemas.openxmlformats.org/officeDocument/2006/relationships/notesSlide" Target="/ppt/notesSlides/notesSlide12.xml" Id="Rcbb1cc6b1a0d428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94b2fd55284fac" /><Relationship Type="http://schemas.openxmlformats.org/officeDocument/2006/relationships/notesSlide" Target="/ppt/notesSlides/notesSlide13.xml" Id="Rc3747b4dcb264b8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397cc653d0474d" /><Relationship Type="http://schemas.openxmlformats.org/officeDocument/2006/relationships/notesSlide" Target="/ppt/notesSlides/notesSlide14.xml" Id="Rec425f95227c430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085216f8da4357" /><Relationship Type="http://schemas.openxmlformats.org/officeDocument/2006/relationships/notesSlide" Target="/ppt/notesSlides/notesSlide15.xml" Id="Rae0af67122fb423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7b9d43dacd4ff9" /><Relationship Type="http://schemas.openxmlformats.org/officeDocument/2006/relationships/notesSlide" Target="/ppt/notesSlides/notesSlide16.xml" Id="R9d8f528af05f4fa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2ea2b2a2a747f9" /><Relationship Type="http://schemas.openxmlformats.org/officeDocument/2006/relationships/notesSlide" Target="/ppt/notesSlides/notesSlide17.xml" Id="R35cf2509560b492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1de021d817444e" /><Relationship Type="http://schemas.openxmlformats.org/officeDocument/2006/relationships/notesSlide" Target="/ppt/notesSlides/notesSlide18.xml" Id="R80162bcfb87d47a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Median ms/call</c:v>
          </c:tx>
          <c:invertIfNegative val="0"/>
          <c:dPt>
            <c:idx val="0"/>
            <c:invertIfNegative val="0"/>
            <c:spPr>
              <a:solidFill xmlns:a="http://schemas.openxmlformats.org/drawingml/2006/main">
                <a:srgbClr val="0B617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9BA8B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변경 후</c:v>
                </c:pt>
                <c:pt idx="1">
                  <c:v>변경 전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10.769</c:v>
                </c:pt>
                <c:pt idx="1">
                  <c:v>15.468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17212B"/>
                  </a:solidFill>
                  <a:latin typeface="Malgun Gothic"/>
                  <a:ea typeface="Malgun Gothic"/>
                  <a:cs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0D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0D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6F8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6F8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작업 방법도 반복된다">
            <a:extLst xmlns:a="http://schemas.openxmlformats.org/drawingml/2006/main">
              <a:ext uri="{FF2B5EF4-FFF2-40B4-BE49-F238E27FC236}">
                <a16:creationId xmlns:a16="http://schemas.microsoft.com/office/drawing/2014/main" id="{A96581FA-907A-4315-9BE6-0CDCB5D2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작업 방법도 반복된다</a:t>
            </a:r>
          </a:p>
        </p:txBody>
      </p:sp>
      <p:sp>
        <p:nvSpPr>
          <p:cNvPr id="2" name="S37">
            <a:extLst xmlns:a="http://schemas.openxmlformats.org/drawingml/2006/main">
              <a:ext uri="{FF2B5EF4-FFF2-40B4-BE49-F238E27FC236}">
                <a16:creationId xmlns:a16="http://schemas.microsoft.com/office/drawing/2014/main" id="{AB827793-10AE-4F3D-8328-76062ADF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S37</a:t>
            </a:r>
          </a:p>
        </p:txBody>
      </p:sp>
      <p:sp>
        <p:nvSpPr>
          <p:cNvPr id="3" name="서로 다른 Performance Task,&#10;반복되는 절차">
            <a:extLst xmlns:a="http://schemas.openxmlformats.org/drawingml/2006/main">
              <a:ext uri="{FF2B5EF4-FFF2-40B4-BE49-F238E27FC236}">
                <a16:creationId xmlns:a16="http://schemas.microsoft.com/office/drawing/2014/main" id="{DD22568F-58EC-42B0-BF04-F6CFC41F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Performance Task,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반복되는 절차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6AC64-0B11-40D7-82A8-524CF0F2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6 resize_nearest / TRIAL-007 normalize · 기록한 절차의 재구성">
            <a:extLst xmlns:a="http://schemas.openxmlformats.org/drawingml/2006/main">
              <a:ext uri="{FF2B5EF4-FFF2-40B4-BE49-F238E27FC236}">
                <a16:creationId xmlns:a16="http://schemas.microsoft.com/office/drawing/2014/main" id="{2AFD4317-25B4-454B-8912-3C2703BB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resize_nearest / TRIAL-007 normalize · 기록한 절차의 재구성</a:t>
            </a:r>
          </a:p>
        </p:txBody>
      </p:sp>
      <p:sp>
        <p:nvSpPr>
          <p:cNvPr id="6" name="반복은 관찰됐으나 global Harness 영향이 있어 Prompt만의 효과로 귀속하지 않음">
            <a:extLst xmlns:a="http://schemas.openxmlformats.org/drawingml/2006/main">
              <a:ext uri="{FF2B5EF4-FFF2-40B4-BE49-F238E27FC236}">
                <a16:creationId xmlns:a16="http://schemas.microsoft.com/office/drawing/2014/main" id="{48C180DC-86DD-4336-88B6-DA3714A9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반복은 관찰됐으나 global Harness 영향이 있어 Prompt만의 효과로 귀속하지 않음</a:t>
            </a:r>
          </a:p>
        </p:txBody>
      </p:sp>
      <p:sp>
        <p:nvSpPr>
          <p:cNvPr id="7" name="Task A · 이미지 크기 변경">
            <a:extLst xmlns:a="http://schemas.openxmlformats.org/drawingml/2006/main">
              <a:ext uri="{FF2B5EF4-FFF2-40B4-BE49-F238E27FC236}">
                <a16:creationId xmlns:a16="http://schemas.microsoft.com/office/drawing/2014/main" id="{971877E5-8E9A-4381-8770-834AD83A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A · 이미지 크기 변경</a:t>
            </a:r>
          </a:p>
        </p:txBody>
      </p:sp>
      <p:sp>
        <p:nvSpPr>
          <p:cNvPr id="8" name="Task B · 픽셀 범위 정규화">
            <a:extLst xmlns:a="http://schemas.openxmlformats.org/drawingml/2006/main">
              <a:ext uri="{FF2B5EF4-FFF2-40B4-BE49-F238E27FC236}">
                <a16:creationId xmlns:a16="http://schemas.microsoft.com/office/drawing/2014/main" id="{1D030AC4-40F6-4B45-BE76-91FD1310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B · 픽셀 범위 정규화</a:t>
            </a:r>
          </a:p>
        </p:txBody>
      </p:sp>
      <p:sp>
        <p:nvSpPr>
          <p:cNvPr id="9" name="resize_nearest">
            <a:extLst xmlns:a="http://schemas.openxmlformats.org/drawingml/2006/main">
              <a:ext uri="{FF2B5EF4-FFF2-40B4-BE49-F238E27FC236}">
                <a16:creationId xmlns:a16="http://schemas.microsoft.com/office/drawing/2014/main" id="{3B5143A0-9C8D-4E03-98E2-4818BE05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5143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resize_nearest</a:t>
            </a:r>
          </a:p>
        </p:txBody>
      </p:sp>
      <p:sp>
        <p:nvSpPr>
          <p:cNvPr id="10" name="normalize">
            <a:extLst xmlns:a="http://schemas.openxmlformats.org/drawingml/2006/main">
              <a:ext uri="{FF2B5EF4-FFF2-40B4-BE49-F238E27FC236}">
                <a16:creationId xmlns:a16="http://schemas.microsoft.com/office/drawing/2014/main" id="{F8783A14-CD82-42C7-9DE8-FF83FE237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52725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normalize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1C500C-40A4-43D2-B89D-66D92D7D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90900"/>
            <a:ext cx="48768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Baseline → 조사 → 계획 → 변경&#10;Test → Benchmark → 비교 → Review">
            <a:extLst xmlns:a="http://schemas.openxmlformats.org/drawingml/2006/main">
              <a:ext uri="{FF2B5EF4-FFF2-40B4-BE49-F238E27FC236}">
                <a16:creationId xmlns:a16="http://schemas.microsoft.com/office/drawing/2014/main" id="{C85640CD-8127-474B-96C4-1D0B24BA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90925"/>
            <a:ext cx="45339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Baseline → 조사 → 계획 → 변경</a:t>
            </a:r>
          </a:p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 → Benchmark → 비교 → Review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12883-3A92-4918-A1D9-458BEB87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90900"/>
            <a:ext cx="487680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aseline → 조사 → 계획 → 변경&#10;Test → Benchmark → 비교 → Review">
            <a:extLst xmlns:a="http://schemas.openxmlformats.org/drawingml/2006/main">
              <a:ext uri="{FF2B5EF4-FFF2-40B4-BE49-F238E27FC236}">
                <a16:creationId xmlns:a16="http://schemas.microsoft.com/office/drawing/2014/main" id="{D4DD6251-B183-4368-8E99-D19649A6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90925"/>
            <a:ext cx="45339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Baseline → 조사 → 계획 → 변경</a:t>
            </a:r>
          </a:p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 → Benchmark → 비교 → Review</a:t>
            </a:r>
          </a:p>
        </p:txBody>
      </p:sp>
      <p:sp>
        <p:nvSpPr>
          <p:cNvPr id="15" name="Task 목표가 달라도, 일하는 순서는 다시 쓰였다">
            <a:extLst xmlns:a="http://schemas.openxmlformats.org/drawingml/2006/main">
              <a:ext uri="{FF2B5EF4-FFF2-40B4-BE49-F238E27FC236}">
                <a16:creationId xmlns:a16="http://schemas.microsoft.com/office/drawing/2014/main" id="{0B5BBF59-686E-4E4E-B493-EB854058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목표가 달라도, 일하는 순서는 다시 쓰였다</a:t>
            </a:r>
          </a:p>
        </p:txBody>
      </p:sp>
    </p:spTree>
    <p:extLst>
      <p:ext uri="{BB962C8B-B14F-4D97-AF65-F5344CB8AC3E}">
        <p14:creationId xmlns:p14="http://schemas.microsoft.com/office/powerpoint/2010/main" val="17213344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알아야 할 것과 따라야 할 방법">
            <a:extLst xmlns:a="http://schemas.openxmlformats.org/drawingml/2006/main">
              <a:ext uri="{FF2B5EF4-FFF2-40B4-BE49-F238E27FC236}">
                <a16:creationId xmlns:a16="http://schemas.microsoft.com/office/drawing/2014/main" id="{B88D738A-919F-4904-98C1-473DD140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알아야 할 것과 따라야 할 방법</a:t>
            </a:r>
          </a:p>
        </p:txBody>
      </p:sp>
      <p:sp>
        <p:nvSpPr>
          <p:cNvPr id="2" name="S38">
            <a:extLst xmlns:a="http://schemas.openxmlformats.org/drawingml/2006/main">
              <a:ext uri="{FF2B5EF4-FFF2-40B4-BE49-F238E27FC236}">
                <a16:creationId xmlns:a16="http://schemas.microsoft.com/office/drawing/2014/main" id="{752049C8-8AD8-42DF-ADE1-B2C7DD91F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S38</a:t>
            </a:r>
          </a:p>
        </p:txBody>
      </p:sp>
      <p:sp>
        <p:nvSpPr>
          <p:cNvPr id="3" name="Project 사실과 작업 절차는 다르다">
            <a:extLst xmlns:a="http://schemas.openxmlformats.org/drawingml/2006/main">
              <a:ext uri="{FF2B5EF4-FFF2-40B4-BE49-F238E27FC236}">
                <a16:creationId xmlns:a16="http://schemas.microsoft.com/office/drawing/2014/main" id="{F64664D0-237A-467A-B3A2-C19EE3AA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사실과 작업 절차는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CB4A8-C5A2-4FD7-B903-886CF4C7D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구분 · TRIAL-006/007의 반복 절차에서 출발">
            <a:extLst xmlns:a="http://schemas.openxmlformats.org/drawingml/2006/main">
              <a:ext uri="{FF2B5EF4-FFF2-40B4-BE49-F238E27FC236}">
                <a16:creationId xmlns:a16="http://schemas.microsoft.com/office/drawing/2014/main" id="{F33AE6C4-1EB7-499E-B2DE-E50FBB78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구분 · TRIAL-006/007의 반복 절차에서 출발</a:t>
            </a:r>
          </a:p>
        </p:txBody>
      </p:sp>
      <p:sp>
        <p:nvSpPr>
          <p:cNvPr id="6" name="Project 정보를 더 주는 것만으로 반복되는 절차의 유지 문제가 해결되지는 않는다">
            <a:extLst xmlns:a="http://schemas.openxmlformats.org/drawingml/2006/main">
              <a:ext uri="{FF2B5EF4-FFF2-40B4-BE49-F238E27FC236}">
                <a16:creationId xmlns:a16="http://schemas.microsoft.com/office/drawing/2014/main" id="{62910700-19D5-4422-A592-533A6D39E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정보를 더 주는 것만으로 반복되는 절차의 유지 문제가 해결되지는 않는다</a:t>
            </a:r>
          </a:p>
        </p:txBody>
      </p:sp>
      <p:sp>
        <p:nvSpPr>
          <p:cNvPr id="7" name="무엇이 참인가?">
            <a:extLst xmlns:a="http://schemas.openxmlformats.org/drawingml/2006/main">
              <a:ext uri="{FF2B5EF4-FFF2-40B4-BE49-F238E27FC236}">
                <a16:creationId xmlns:a16="http://schemas.microsoft.com/office/drawing/2014/main" id="{F646FBA1-DF10-4E8A-90C2-875CFF6B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무엇이 참인가?</a:t>
            </a:r>
          </a:p>
        </p:txBody>
      </p:sp>
      <p:sp>
        <p:nvSpPr>
          <p:cNvPr id="8" name="어떤 순서로 일할까?">
            <a:extLst xmlns:a="http://schemas.openxmlformats.org/drawingml/2006/main">
              <a:ext uri="{FF2B5EF4-FFF2-40B4-BE49-F238E27FC236}">
                <a16:creationId xmlns:a16="http://schemas.microsoft.com/office/drawing/2014/main" id="{416EDC80-F557-43B1-8A33-C82BA08E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193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어떤 순서로 일할까?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FA5F88-24A1-41C7-AAED-1D593AF8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FDDC2B-6CAB-4D45-A7F3-0FCD340B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47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crop은 끝 열을 제외한다&#10;[x_start, x_end)">
            <a:extLst xmlns:a="http://schemas.openxmlformats.org/drawingml/2006/main">
              <a:ext uri="{FF2B5EF4-FFF2-40B4-BE49-F238E27FC236}">
                <a16:creationId xmlns:a16="http://schemas.microsoft.com/office/drawing/2014/main" id="{26C52F0C-B0B4-43F7-A049-FE14C134A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4953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crop은 끝 열을 제외한다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[x_start, x_end)</a:t>
            </a:r>
          </a:p>
        </p:txBody>
      </p:sp>
      <p:sp>
        <p:nvSpPr>
          <p:cNvPr id="12" name="변경 전에 측정한다&#10;변경 후 같은 입력으로 비교한다">
            <a:extLst xmlns:a="http://schemas.openxmlformats.org/drawingml/2006/main">
              <a:ext uri="{FF2B5EF4-FFF2-40B4-BE49-F238E27FC236}">
                <a16:creationId xmlns:a16="http://schemas.microsoft.com/office/drawing/2014/main" id="{8264448B-AA94-4C17-9FF8-B1A8DF2B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28975"/>
            <a:ext cx="48768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전에 측정한다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후 같은 입력으로 비교한다</a:t>
            </a:r>
          </a:p>
        </p:txBody>
      </p:sp>
      <p:sp>
        <p:nvSpPr>
          <p:cNvPr id="13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E7AED6EA-EAD0-4CE5-AA66-C8D1C5D4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4" name="Workflow">
            <a:extLst xmlns:a="http://schemas.openxmlformats.org/drawingml/2006/main">
              <a:ext uri="{FF2B5EF4-FFF2-40B4-BE49-F238E27FC236}">
                <a16:creationId xmlns:a16="http://schemas.microsoft.com/office/drawing/2014/main" id="{96337163-A1A8-4797-B405-49523E97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339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5" name="이번에 무엇을 원하는가?  →  현재 목표는 Task Prompt에">
            <a:extLst xmlns:a="http://schemas.openxmlformats.org/drawingml/2006/main">
              <a:ext uri="{FF2B5EF4-FFF2-40B4-BE49-F238E27FC236}">
                <a16:creationId xmlns:a16="http://schemas.microsoft.com/office/drawing/2014/main" id="{4992F1E3-FE6C-4302-9B8D-453DD4B1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 무엇을 원하는가?  →  현재 목표는 Task Prompt에</a:t>
            </a:r>
          </a:p>
        </p:txBody>
      </p:sp>
    </p:spTree>
    <p:extLst>
      <p:ext uri="{BB962C8B-B14F-4D97-AF65-F5344CB8AC3E}">
        <p14:creationId xmlns:p14="http://schemas.microsoft.com/office/powerpoint/2010/main" val="13434879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3 · 세 가지 책임을 나누기">
            <a:extLst xmlns:a="http://schemas.openxmlformats.org/drawingml/2006/main">
              <a:ext uri="{FF2B5EF4-FFF2-40B4-BE49-F238E27FC236}">
                <a16:creationId xmlns:a16="http://schemas.microsoft.com/office/drawing/2014/main" id="{7214BE0A-A107-4982-882C-F06C7EC0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세 가지 책임을 나누기</a:t>
            </a:r>
          </a:p>
        </p:txBody>
      </p:sp>
      <p:sp>
        <p:nvSpPr>
          <p:cNvPr id="2" name="S39">
            <a:extLst xmlns:a="http://schemas.openxmlformats.org/drawingml/2006/main">
              <a:ext uri="{FF2B5EF4-FFF2-40B4-BE49-F238E27FC236}">
                <a16:creationId xmlns:a16="http://schemas.microsoft.com/office/drawing/2014/main" id="{7328B203-2063-4B5C-A243-D0C958B0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S39</a:t>
            </a:r>
          </a:p>
        </p:txBody>
      </p:sp>
      <p:sp>
        <p:nvSpPr>
          <p:cNvPr id="3" name="Task, Context, Workflow의 역할">
            <a:extLst xmlns:a="http://schemas.openxmlformats.org/drawingml/2006/main">
              <a:ext uri="{FF2B5EF4-FFF2-40B4-BE49-F238E27FC236}">
                <a16:creationId xmlns:a16="http://schemas.microsoft.com/office/drawing/2014/main" id="{58262559-1341-4595-B64C-C018D7F2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Task, Context, Workflow의 역할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F00E7-0885-44E6-8944-B38C38AE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책임 구분 · 현재 목표 / 프로젝트 사실 / 반복 절차">
            <a:extLst xmlns:a="http://schemas.openxmlformats.org/drawingml/2006/main">
              <a:ext uri="{FF2B5EF4-FFF2-40B4-BE49-F238E27FC236}">
                <a16:creationId xmlns:a16="http://schemas.microsoft.com/office/drawing/2014/main" id="{F707D4B8-B7A6-4638-98A9-B3D246C7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책임 구분 · 현재 목표 / 프로젝트 사실 / 반복 절차</a:t>
            </a:r>
          </a:p>
        </p:txBody>
      </p:sp>
      <p:sp>
        <p:nvSpPr>
          <p:cNvPr id="6" name="Prompt 밖에 둘 수 있는 정보라도 유지해야 할 책임은 서로 다르다">
            <a:extLst xmlns:a="http://schemas.openxmlformats.org/drawingml/2006/main">
              <a:ext uri="{FF2B5EF4-FFF2-40B4-BE49-F238E27FC236}">
                <a16:creationId xmlns:a16="http://schemas.microsoft.com/office/drawing/2014/main" id="{AA3A8F96-E212-4125-A804-D6F446B3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Prompt 밖에 둘 수 있는 정보라도 유지해야 할 책임은 서로 다르다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8B5545-DD22-417B-8131-BD4E324C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Task Prompt">
            <a:extLst xmlns:a="http://schemas.openxmlformats.org/drawingml/2006/main">
              <a:ext uri="{FF2B5EF4-FFF2-40B4-BE49-F238E27FC236}">
                <a16:creationId xmlns:a16="http://schemas.microsoft.com/office/drawing/2014/main" id="{F3B0DFE9-1AAA-49FA-A437-FFB4C944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9" name="지금 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BCEC3BF0-D3A7-45C3-AB5E-F6F71EF2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352675"/>
            <a:ext cx="7439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무엇을 바꿀까?</a:t>
            </a:r>
          </a:p>
        </p:txBody>
      </p:sp>
      <p:sp>
        <p:nvSpPr>
          <p:cNvPr id="10" name="normalize의 성능 조사">
            <a:extLst xmlns:a="http://schemas.openxmlformats.org/drawingml/2006/main">
              <a:ext uri="{FF2B5EF4-FFF2-40B4-BE49-F238E27FC236}">
                <a16:creationId xmlns:a16="http://schemas.microsoft.com/office/drawing/2014/main" id="{CB3AB4AF-9698-43D0-B816-1C38DF76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819400"/>
            <a:ext cx="7439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normalize의 성능 조사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EB8AAA-3F4E-4986-B6E6-37DAA7E1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Project Context">
            <a:extLst xmlns:a="http://schemas.openxmlformats.org/drawingml/2006/main">
              <a:ext uri="{FF2B5EF4-FFF2-40B4-BE49-F238E27FC236}">
                <a16:creationId xmlns:a16="http://schemas.microsoft.com/office/drawing/2014/main" id="{E9ACB8EE-B000-4518-B5D0-295CBA87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Project Context</a:t>
            </a:r>
          </a:p>
        </p:txBody>
      </p:sp>
      <p:sp>
        <p:nvSpPr>
          <p:cNvPr id="13" name="무엇을 지켜야 할까?">
            <a:extLst xmlns:a="http://schemas.openxmlformats.org/drawingml/2006/main">
              <a:ext uri="{FF2B5EF4-FFF2-40B4-BE49-F238E27FC236}">
                <a16:creationId xmlns:a16="http://schemas.microsoft.com/office/drawing/2014/main" id="{C5C11F94-28E1-4EC2-B7D9-30FF8438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457575"/>
            <a:ext cx="7439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지켜야 할까?</a:t>
            </a:r>
          </a:p>
        </p:txBody>
      </p:sp>
      <p:sp>
        <p:nvSpPr>
          <p:cNvPr id="14" name="기존 이미지 동작과 공개 계약 보존">
            <a:extLst xmlns:a="http://schemas.openxmlformats.org/drawingml/2006/main">
              <a:ext uri="{FF2B5EF4-FFF2-40B4-BE49-F238E27FC236}">
                <a16:creationId xmlns:a16="http://schemas.microsoft.com/office/drawing/2014/main" id="{B1D16A91-DE6D-4709-BA51-3016E403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924300"/>
            <a:ext cx="7439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이미지 동작과 공개 계약 보존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B31FF4-C840-435A-9E3B-6400BBCB2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Reusable Workflow">
            <a:extLst xmlns:a="http://schemas.openxmlformats.org/drawingml/2006/main">
              <a:ext uri="{FF2B5EF4-FFF2-40B4-BE49-F238E27FC236}">
                <a16:creationId xmlns:a16="http://schemas.microsoft.com/office/drawing/2014/main" id="{6363D514-0B75-4162-8BC5-73F19F3C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3086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Reusable Workflow</a:t>
            </a:r>
          </a:p>
        </p:txBody>
      </p:sp>
      <p:sp>
        <p:nvSpPr>
          <p:cNvPr id="17" name="어떤 순서로 확인할까?">
            <a:extLst xmlns:a="http://schemas.openxmlformats.org/drawingml/2006/main">
              <a:ext uri="{FF2B5EF4-FFF2-40B4-BE49-F238E27FC236}">
                <a16:creationId xmlns:a16="http://schemas.microsoft.com/office/drawing/2014/main" id="{DAA1C5C5-9325-4218-ABA0-2CC351B3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562475"/>
            <a:ext cx="74390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순서로 확인할까?</a:t>
            </a:r>
          </a:p>
        </p:txBody>
      </p:sp>
      <p:sp>
        <p:nvSpPr>
          <p:cNvPr id="18" name="baseline → 조사 → 검증 → 비교">
            <a:extLst xmlns:a="http://schemas.openxmlformats.org/drawingml/2006/main">
              <a:ext uri="{FF2B5EF4-FFF2-40B4-BE49-F238E27FC236}">
                <a16:creationId xmlns:a16="http://schemas.microsoft.com/office/drawing/2014/main" id="{88D945FE-834C-4188-B7D9-498FFC44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029200"/>
            <a:ext cx="74390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baseline → 조사 → 검증 → 비교</a:t>
            </a:r>
          </a:p>
        </p:txBody>
      </p:sp>
    </p:spTree>
    <p:extLst>
      <p:ext uri="{BB962C8B-B14F-4D97-AF65-F5344CB8AC3E}">
        <p14:creationId xmlns:p14="http://schemas.microsoft.com/office/powerpoint/2010/main" val="14141861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재사용할 구조를 선택하기">
            <a:extLst xmlns:a="http://schemas.openxmlformats.org/drawingml/2006/main">
              <a:ext uri="{FF2B5EF4-FFF2-40B4-BE49-F238E27FC236}">
                <a16:creationId xmlns:a16="http://schemas.microsoft.com/office/drawing/2014/main" id="{EF54C554-6AE0-4E86-BE7B-D80CDBA5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재사용할 구조를 선택하기</a:t>
            </a:r>
          </a:p>
        </p:txBody>
      </p:sp>
      <p:sp>
        <p:nvSpPr>
          <p:cNvPr id="2" name="S40">
            <a:extLst xmlns:a="http://schemas.openxmlformats.org/drawingml/2006/main">
              <a:ext uri="{FF2B5EF4-FFF2-40B4-BE49-F238E27FC236}">
                <a16:creationId xmlns:a16="http://schemas.microsoft.com/office/drawing/2014/main" id="{EE9BE8D5-0728-4680-BDBC-F598E20A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S40</a:t>
            </a:r>
          </a:p>
        </p:txBody>
      </p:sp>
      <p:sp>
        <p:nvSpPr>
          <p:cNvPr id="3" name="반복 절차를 Skill로 옮길 수 있을까?">
            <a:extLst xmlns:a="http://schemas.openxmlformats.org/drawingml/2006/main">
              <a:ext uri="{FF2B5EF4-FFF2-40B4-BE49-F238E27FC236}">
                <a16:creationId xmlns:a16="http://schemas.microsoft.com/office/drawing/2014/main" id="{C18280F3-71D2-4A6B-8BBF-6D3F0D5E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 절차를 Skill로 옮길 수 있을까?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7B21D4-CCE4-4AF9-9F6E-B1ADE439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7 · 반복 절차를 Repository Skill로 옮기는 설계 후보">
            <a:extLst xmlns:a="http://schemas.openxmlformats.org/drawingml/2006/main">
              <a:ext uri="{FF2B5EF4-FFF2-40B4-BE49-F238E27FC236}">
                <a16:creationId xmlns:a16="http://schemas.microsoft.com/office/drawing/2014/main" id="{F082134E-11B3-4E6B-8561-9943ABCE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DEC-0017 · 반복 절차를 Repository Skill로 옮기는 설계 후보</a:t>
            </a:r>
          </a:p>
        </p:txBody>
      </p:sp>
      <p:sp>
        <p:nvSpPr>
          <p:cNvPr id="6" name="아직 성공 결과를 제시하는 장이 아님 · 대상 제품·계정·호출 방식은 별도 확인 필요">
            <a:extLst xmlns:a="http://schemas.openxmlformats.org/drawingml/2006/main">
              <a:ext uri="{FF2B5EF4-FFF2-40B4-BE49-F238E27FC236}">
                <a16:creationId xmlns:a16="http://schemas.microsoft.com/office/drawing/2014/main" id="{7C982EB2-DBF4-41AA-A568-7BE069CE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아직 성공 결과를 제시하는 장이 아님 · 대상 제품·계정·호출 방식은 별도 확인 필요</a:t>
            </a:r>
          </a:p>
        </p:txBody>
      </p:sp>
      <p:sp>
        <p:nvSpPr>
          <p:cNvPr id="7" name="매번 Prompt에 쓰기">
            <a:extLst xmlns:a="http://schemas.openxmlformats.org/drawingml/2006/main">
              <a:ext uri="{FF2B5EF4-FFF2-40B4-BE49-F238E27FC236}">
                <a16:creationId xmlns:a16="http://schemas.microsoft.com/office/drawing/2014/main" id="{E5C0BF1D-9D81-4D32-A0A3-0EB583AE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매번 Prompt에 쓰기</a:t>
            </a:r>
          </a:p>
        </p:txBody>
      </p:sp>
      <p:sp>
        <p:nvSpPr>
          <p:cNvPr id="8" name="후보: 절차는 Repository에">
            <a:extLst xmlns:a="http://schemas.openxmlformats.org/drawingml/2006/main">
              <a:ext uri="{FF2B5EF4-FFF2-40B4-BE49-F238E27FC236}">
                <a16:creationId xmlns:a16="http://schemas.microsoft.com/office/drawing/2014/main" id="{4C3CE41C-4326-4819-95FC-4BA12B86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02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후보: 절차는 Repository에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F50B13-3B90-4CDC-86B1-672863AE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4F39E5-AB0B-4EE5-B33A-F027BA0B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098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현재 목표 + 이번 제약">
            <a:extLst xmlns:a="http://schemas.openxmlformats.org/drawingml/2006/main">
              <a:ext uri="{FF2B5EF4-FFF2-40B4-BE49-F238E27FC236}">
                <a16:creationId xmlns:a16="http://schemas.microsoft.com/office/drawing/2014/main" id="{ABB16480-5369-4940-A062-7C68AEFE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 + 이번 제약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1FB24-C80A-4B56-AB04-129DC20A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495300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aseline → 조사 → 변경&#10;테스트 → 측정 → 비교 → 검토">
            <a:extLst xmlns:a="http://schemas.openxmlformats.org/drawingml/2006/main">
              <a:ext uri="{FF2B5EF4-FFF2-40B4-BE49-F238E27FC236}">
                <a16:creationId xmlns:a16="http://schemas.microsoft.com/office/drawing/2014/main" id="{5702C0E7-E0DF-4393-849B-C8D1CBBA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baseline → 조사 → 변경</a:t>
            </a:r>
          </a:p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→ 측정 → 비교 → 검토</a:t>
            </a:r>
          </a:p>
        </p:txBody>
      </p:sp>
      <p:sp>
        <p:nvSpPr>
          <p:cNvPr id="14" name="현재 목표 + 이번 제약">
            <a:extLst xmlns:a="http://schemas.openxmlformats.org/drawingml/2006/main">
              <a:ext uri="{FF2B5EF4-FFF2-40B4-BE49-F238E27FC236}">
                <a16:creationId xmlns:a16="http://schemas.microsoft.com/office/drawing/2014/main" id="{234D9F9A-5C42-4F34-9353-DCFBA532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목표 + 이번 제약</a:t>
            </a:r>
          </a:p>
        </p:txBody>
      </p:sp>
      <p:sp>
        <p:nvSpPr>
          <p:cNvPr id="15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0CB33C9F-E8B7-4D30-9A04-74B2C76EB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719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6" name="반복 절차는 Repository Skill에">
            <a:extLst xmlns:a="http://schemas.openxmlformats.org/drawingml/2006/main">
              <a:ext uri="{FF2B5EF4-FFF2-40B4-BE49-F238E27FC236}">
                <a16:creationId xmlns:a16="http://schemas.microsoft.com/office/drawing/2014/main" id="{2B26DEEB-CC92-4A2C-8216-E6864EEF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91025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반복 절차는 Repository Skill에</a:t>
            </a:r>
          </a:p>
        </p:txBody>
      </p:sp>
      <p:sp>
        <p:nvSpPr>
          <p:cNvPr id="17" name="긴 절차를 빼도, 같은 작업 흐름을 유지할 수 있을까?">
            <a:extLst xmlns:a="http://schemas.openxmlformats.org/drawingml/2006/main">
              <a:ext uri="{FF2B5EF4-FFF2-40B4-BE49-F238E27FC236}">
                <a16:creationId xmlns:a16="http://schemas.microsoft.com/office/drawing/2014/main" id="{37D16A44-2333-43D9-9908-5A7EE7BD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긴 절차를 빼도, 같은 작업 흐름을 유지할 수 있을까?</a:t>
            </a:r>
          </a:p>
        </p:txBody>
      </p:sp>
    </p:spTree>
    <p:extLst>
      <p:ext uri="{BB962C8B-B14F-4D97-AF65-F5344CB8AC3E}">
        <p14:creationId xmlns:p14="http://schemas.microsoft.com/office/powerpoint/2010/main" val="8950956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3 · TRIAL-008에서 확인한 경로">
            <a:extLst xmlns:a="http://schemas.openxmlformats.org/drawingml/2006/main">
              <a:ext uri="{FF2B5EF4-FFF2-40B4-BE49-F238E27FC236}">
                <a16:creationId xmlns:a16="http://schemas.microsoft.com/office/drawing/2014/main" id="{77614C99-F1DD-4E63-85E4-F4B9D3B5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TRIAL-008에서 확인한 경로</a:t>
            </a:r>
          </a:p>
        </p:txBody>
      </p:sp>
      <p:sp>
        <p:nvSpPr>
          <p:cNvPr id="2" name="S41">
            <a:extLst xmlns:a="http://schemas.openxmlformats.org/drawingml/2006/main">
              <a:ext uri="{FF2B5EF4-FFF2-40B4-BE49-F238E27FC236}">
                <a16:creationId xmlns:a16="http://schemas.microsoft.com/office/drawing/2014/main" id="{EC5F9E28-B482-4A45-9D02-047BB726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S41</a:t>
            </a:r>
          </a:p>
        </p:txBody>
      </p:sp>
      <p:sp>
        <p:nvSpPr>
          <p:cNvPr id="3" name="Skill을 어떻게 발견하고 호출할까?">
            <a:extLst xmlns:a="http://schemas.openxmlformats.org/drawingml/2006/main">
              <a:ext uri="{FF2B5EF4-FFF2-40B4-BE49-F238E27FC236}">
                <a16:creationId xmlns:a16="http://schemas.microsoft.com/office/drawing/2014/main" id="{CBDC4678-C688-4BAA-86D4-9CF662032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Skill을 어떻게 발견하고 호출할까?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85664-D63C-4C98-9A97-7B5F67E2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Codex CLI 0.154.0 · 기록 재구성, 실제 UI 캡처 아님">
            <a:extLst xmlns:a="http://schemas.openxmlformats.org/drawingml/2006/main">
              <a:ext uri="{FF2B5EF4-FFF2-40B4-BE49-F238E27FC236}">
                <a16:creationId xmlns:a16="http://schemas.microsoft.com/office/drawing/2014/main" id="{7C9FF992-C5A2-4657-9F55-99952A0F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Codex CLI 0.154.0 · 기록 재구성, 실제 UI 캡처 아님</a:t>
            </a:r>
          </a:p>
        </p:txBody>
      </p:sp>
      <p:sp>
        <p:nvSpPr>
          <p:cNvPr id="6" name="경로·본문은 실행 trace에서 확인 · 현재 Desktop·암묵적 호출·교육 계정은 미검증">
            <a:extLst xmlns:a="http://schemas.openxmlformats.org/drawingml/2006/main">
              <a:ext uri="{FF2B5EF4-FFF2-40B4-BE49-F238E27FC236}">
                <a16:creationId xmlns:a16="http://schemas.microsoft.com/office/drawing/2014/main" id="{957A121B-BD76-40F9-B1DA-0BD14E38A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경로·본문은 실행 trace에서 확인 · 현재 Desktop·암묵적 호출·교육 계정은 미검증</a:t>
            </a:r>
          </a:p>
        </p:txBody>
      </p:sp>
      <p:sp>
        <p:nvSpPr>
          <p:cNvPr id="7" name="01  목록에서 발견">
            <a:extLst xmlns:a="http://schemas.openxmlformats.org/drawingml/2006/main">
              <a:ext uri="{FF2B5EF4-FFF2-40B4-BE49-F238E27FC236}">
                <a16:creationId xmlns:a16="http://schemas.microsoft.com/office/drawing/2014/main" id="{F92E2BD2-D9EB-470A-BD27-12B22C9E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  목록에서 발견</a:t>
            </a:r>
          </a:p>
        </p:txBody>
      </p:sp>
      <p:sp>
        <p:nvSpPr>
          <p:cNvPr id="8" name="/skills  →  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210A22DA-DE28-48FC-A8DA-275481C6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/skills  →  graypipe-performance</a:t>
            </a:r>
          </a:p>
        </p:txBody>
      </p:sp>
      <p:sp>
        <p:nvSpPr>
          <p:cNvPr id="9" name="표시된 설명: “Investigate repository performance with reproduc…”">
            <a:extLst xmlns:a="http://schemas.openxmlformats.org/drawingml/2006/main">
              <a:ext uri="{FF2B5EF4-FFF2-40B4-BE49-F238E27FC236}">
                <a16:creationId xmlns:a16="http://schemas.microsoft.com/office/drawing/2014/main" id="{E03D84C0-A995-4F14-A3CD-A7C50545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09728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표시된 설명: “Investigate repository performance with reproduc…”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72A345-93D5-49A9-A8FE-2B398687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  작업 목표와 함께 명시적으로 호출">
            <a:extLst xmlns:a="http://schemas.openxmlformats.org/drawingml/2006/main">
              <a:ext uri="{FF2B5EF4-FFF2-40B4-BE49-F238E27FC236}">
                <a16:creationId xmlns:a16="http://schemas.microsoft.com/office/drawing/2014/main" id="{ED3E89DE-5D70-4FCC-AA4F-7C08AE541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  작업 목표와 함께 명시적으로 호출</a:t>
            </a:r>
          </a:p>
        </p:txBody>
      </p:sp>
      <p:sp>
        <p:nvSpPr>
          <p:cNvPr id="12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35651901-1A22-457D-95B8-71A84CE6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5667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2475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3" name="+ image_statistics 성능 조사">
            <a:extLst xmlns:a="http://schemas.openxmlformats.org/drawingml/2006/main">
              <a:ext uri="{FF2B5EF4-FFF2-40B4-BE49-F238E27FC236}">
                <a16:creationId xmlns:a16="http://schemas.microsoft.com/office/drawing/2014/main" id="{88E8EA58-26F9-4BA3-AD0A-9EC340B0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38625"/>
            <a:ext cx="53721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+ image_statistics 성능 조사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D5AD5-5670-4BC8-8067-5A8594EB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03  실행 기록에서 Skill 본문 포함을 확인">
            <a:extLst xmlns:a="http://schemas.openxmlformats.org/drawingml/2006/main">
              <a:ext uri="{FF2B5EF4-FFF2-40B4-BE49-F238E27FC236}">
                <a16:creationId xmlns:a16="http://schemas.microsoft.com/office/drawing/2014/main" id="{9D7D1D3F-CA7E-4027-B96A-913E9E49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  실행 기록에서 Skill 본문 포함을 확인</a:t>
            </a:r>
          </a:p>
        </p:txBody>
      </p:sp>
    </p:spTree>
    <p:extLst>
      <p:ext uri="{BB962C8B-B14F-4D97-AF65-F5344CB8AC3E}">
        <p14:creationId xmlns:p14="http://schemas.microsoft.com/office/powerpoint/2010/main" val="197814608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두 Trial의 요청 구조 비교">
            <a:extLst xmlns:a="http://schemas.openxmlformats.org/drawingml/2006/main">
              <a:ext uri="{FF2B5EF4-FFF2-40B4-BE49-F238E27FC236}">
                <a16:creationId xmlns:a16="http://schemas.microsoft.com/office/drawing/2014/main" id="{28176E04-B485-4ABE-BF35-C8045A7F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두 Trial의 요청 구조 비교</a:t>
            </a:r>
          </a:p>
        </p:txBody>
      </p:sp>
      <p:sp>
        <p:nvSpPr>
          <p:cNvPr id="2" name="S42">
            <a:extLst xmlns:a="http://schemas.openxmlformats.org/drawingml/2006/main">
              <a:ext uri="{FF2B5EF4-FFF2-40B4-BE49-F238E27FC236}">
                <a16:creationId xmlns:a16="http://schemas.microsoft.com/office/drawing/2014/main" id="{141A15BD-A27D-4E51-A48F-31AB4FB9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S42</a:t>
            </a:r>
          </a:p>
        </p:txBody>
      </p:sp>
      <p:sp>
        <p:nvSpPr>
          <p:cNvPr id="3" name="절차의 책임이 Prompt에서&#10;Repository로 이동">
            <a:extLst xmlns:a="http://schemas.openxmlformats.org/drawingml/2006/main">
              <a:ext uri="{FF2B5EF4-FFF2-40B4-BE49-F238E27FC236}">
                <a16:creationId xmlns:a16="http://schemas.microsoft.com/office/drawing/2014/main" id="{D87FAC26-85C9-4224-A2AB-D95665952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절차의 책임이 Prompt에서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Repository로 이동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2A7741-AF0E-4122-974F-AD4F8475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7 / TRIAL-008 · 서로 다른 Task의 Prompt 구조를 요약">
            <a:extLst xmlns:a="http://schemas.openxmlformats.org/drawingml/2006/main">
              <a:ext uri="{FF2B5EF4-FFF2-40B4-BE49-F238E27FC236}">
                <a16:creationId xmlns:a16="http://schemas.microsoft.com/office/drawing/2014/main" id="{616B96EE-F66E-4AC9-AAC8-4CA07206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 / TRIAL-008 · 서로 다른 Task의 Prompt 구조를 요약</a:t>
            </a:r>
          </a:p>
        </p:txBody>
      </p:sp>
      <p:sp>
        <p:nvSpPr>
          <p:cNvPr id="6" name="절차를 둔 위치의 변화만 관찰 · Skill 우월성·토큰 절감·속도 향상은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1067C57F-2AEB-43D3-A371-9F8FD1C7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절차를 둔 위치의 변화만 관찰 · Skill 우월성·토큰 절감·속도 향상은 입증하지 않음</a:t>
            </a:r>
          </a:p>
        </p:txBody>
      </p:sp>
      <p:sp>
        <p:nvSpPr>
          <p:cNvPr id="7" name="TRIAL-007 · normalize">
            <a:extLst xmlns:a="http://schemas.openxmlformats.org/drawingml/2006/main">
              <a:ext uri="{FF2B5EF4-FFF2-40B4-BE49-F238E27FC236}">
                <a16:creationId xmlns:a16="http://schemas.microsoft.com/office/drawing/2014/main" id="{5AC57886-D448-4968-8DD7-FB5ED876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953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TRIAL-007 · normalize</a:t>
            </a:r>
          </a:p>
        </p:txBody>
      </p:sp>
      <p:sp>
        <p:nvSpPr>
          <p:cNvPr id="8" name="TRIAL-008 · image_statistics">
            <a:extLst xmlns:a="http://schemas.openxmlformats.org/drawingml/2006/main">
              <a:ext uri="{FF2B5EF4-FFF2-40B4-BE49-F238E27FC236}">
                <a16:creationId xmlns:a16="http://schemas.microsoft.com/office/drawing/2014/main" id="{433E76CA-19EF-42F6-B5FB-DA60DF56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09800"/>
            <a:ext cx="4876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0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TRIAL-008 · image_statistics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845BB-182E-4810-9171-5BA2D796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594B95-2CAD-4873-851F-D9F64425F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7622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목표 + 작업별 제약">
            <a:extLst xmlns:a="http://schemas.openxmlformats.org/drawingml/2006/main">
              <a:ext uri="{FF2B5EF4-FFF2-40B4-BE49-F238E27FC236}">
                <a16:creationId xmlns:a16="http://schemas.microsoft.com/office/drawing/2014/main" id="{C6B95017-8C83-4DB9-B472-7BBE7093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4953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+ 작업별 제약</a:t>
            </a:r>
          </a:p>
        </p:txBody>
      </p:sp>
      <p:sp>
        <p:nvSpPr>
          <p:cNvPr id="12" name="목표 + 작업별 제약">
            <a:extLst xmlns:a="http://schemas.openxmlformats.org/drawingml/2006/main">
              <a:ext uri="{FF2B5EF4-FFF2-40B4-BE49-F238E27FC236}">
                <a16:creationId xmlns:a16="http://schemas.microsoft.com/office/drawing/2014/main" id="{908BBB87-78A0-4A35-85FA-60C42504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9085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+ 작업별 제약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D6956-9FE0-4F74-A089-3C451F972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495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긴 조사·검증 절차를&#10;Prompt에 다시 작성">
            <a:extLst xmlns:a="http://schemas.openxmlformats.org/drawingml/2006/main">
              <a:ext uri="{FF2B5EF4-FFF2-40B4-BE49-F238E27FC236}">
                <a16:creationId xmlns:a16="http://schemas.microsoft.com/office/drawing/2014/main" id="{096508DE-A1C7-407F-8F83-0623993AD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긴 조사·검증 절차를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Prompt에 다시 작성</a:t>
            </a:r>
          </a:p>
        </p:txBody>
      </p:sp>
      <p:sp>
        <p:nvSpPr>
          <p:cNvPr id="15" name="$graypipe-performance">
            <a:extLst xmlns:a="http://schemas.openxmlformats.org/drawingml/2006/main">
              <a:ext uri="{FF2B5EF4-FFF2-40B4-BE49-F238E27FC236}">
                <a16:creationId xmlns:a16="http://schemas.microsoft.com/office/drawing/2014/main" id="{D1FB70AE-7932-4895-99B6-310DCDAC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24275"/>
            <a:ext cx="4876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3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$graypipe-performance</a:t>
            </a:r>
          </a:p>
        </p:txBody>
      </p:sp>
      <p:sp>
        <p:nvSpPr>
          <p:cNvPr id="16" name="절차는 Repository Skill에">
            <a:extLst xmlns:a="http://schemas.openxmlformats.org/drawingml/2006/main">
              <a:ext uri="{FF2B5EF4-FFF2-40B4-BE49-F238E27FC236}">
                <a16:creationId xmlns:a16="http://schemas.microsoft.com/office/drawing/2014/main" id="{6B28C0E8-6061-46B0-8791-94F34796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86250"/>
            <a:ext cx="4876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절차는 Repository Skill에</a:t>
            </a:r>
          </a:p>
        </p:txBody>
      </p:sp>
      <p:sp>
        <p:nvSpPr>
          <p:cNvPr id="17" name="공통 흐름: baseline → 조사 → test / benchmark → 비교 / review">
            <a:extLst xmlns:a="http://schemas.openxmlformats.org/drawingml/2006/main">
              <a:ext uri="{FF2B5EF4-FFF2-40B4-BE49-F238E27FC236}">
                <a16:creationId xmlns:a16="http://schemas.microsoft.com/office/drawing/2014/main" id="{D2F1747C-40EF-4E26-AD4C-0AA95440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공통 흐름: baseline → 조사 → test / benchmark → 비교 / review</a:t>
            </a:r>
          </a:p>
        </p:txBody>
      </p:sp>
    </p:spTree>
    <p:extLst>
      <p:ext uri="{BB962C8B-B14F-4D97-AF65-F5344CB8AC3E}">
        <p14:creationId xmlns:p14="http://schemas.microsoft.com/office/powerpoint/2010/main" val="14112763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3 · 절차와 과제별 판단">
            <a:extLst xmlns:a="http://schemas.openxmlformats.org/drawingml/2006/main">
              <a:ext uri="{FF2B5EF4-FFF2-40B4-BE49-F238E27FC236}">
                <a16:creationId xmlns:a16="http://schemas.microsoft.com/office/drawing/2014/main" id="{B0132553-E24C-4E87-B571-BF7FAC70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절차와 과제별 판단</a:t>
            </a:r>
          </a:p>
        </p:txBody>
      </p:sp>
      <p:sp>
        <p:nvSpPr>
          <p:cNvPr id="2" name="S43">
            <a:extLst xmlns:a="http://schemas.openxmlformats.org/drawingml/2006/main">
              <a:ext uri="{FF2B5EF4-FFF2-40B4-BE49-F238E27FC236}">
                <a16:creationId xmlns:a16="http://schemas.microsoft.com/office/drawing/2014/main" id="{5124A013-4BE5-4FDB-AA6B-DCC3CDFF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S43</a:t>
            </a:r>
          </a:p>
        </p:txBody>
      </p:sp>
      <p:sp>
        <p:nvSpPr>
          <p:cNvPr id="3" name="답을 담지 않는 Workflow">
            <a:extLst xmlns:a="http://schemas.openxmlformats.org/drawingml/2006/main">
              <a:ext uri="{FF2B5EF4-FFF2-40B4-BE49-F238E27FC236}">
                <a16:creationId xmlns:a16="http://schemas.microsoft.com/office/drawing/2014/main" id="{1ABAE873-1770-447A-982D-2F3DB4A1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담지 않는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FFDADF-8738-488A-A01D-09E29261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의 SKILL.md 원문 일부 + 교육용 책임 구분">
            <a:extLst xmlns:a="http://schemas.openxmlformats.org/drawingml/2006/main">
              <a:ext uri="{FF2B5EF4-FFF2-40B4-BE49-F238E27FC236}">
                <a16:creationId xmlns:a16="http://schemas.microsoft.com/office/drawing/2014/main" id="{6518244A-899B-4D12-9FCA-46965483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STATE-04의 SKILL.md 원문 일부 + 교육용 책임 구분</a:t>
            </a:r>
          </a:p>
        </p:txBody>
      </p:sp>
      <p:sp>
        <p:nvSpPr>
          <p:cNvPr id="6" name="특정 최적화 답·알고리즘·Trial 수치를 Skill의 정답으로 넣지 않았다">
            <a:extLst xmlns:a="http://schemas.openxmlformats.org/drawingml/2006/main">
              <a:ext uri="{FF2B5EF4-FFF2-40B4-BE49-F238E27FC236}">
                <a16:creationId xmlns:a16="http://schemas.microsoft.com/office/drawing/2014/main" id="{1173F25F-C116-4775-815F-02F6C122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특정 최적화 답·알고리즘·Trial 수치를 Skill의 정답으로 넣지 않았다</a:t>
            </a:r>
          </a:p>
        </p:txBody>
      </p:sp>
      <p:sp>
        <p:nvSpPr>
          <p:cNvPr id="7" name="Skill에 실제로 담긴 지시">
            <a:extLst xmlns:a="http://schemas.openxmlformats.org/drawingml/2006/main">
              <a:ext uri="{FF2B5EF4-FFF2-40B4-BE49-F238E27FC236}">
                <a16:creationId xmlns:a16="http://schemas.microsoft.com/office/drawing/2014/main" id="{ACA3AE77-DFFA-4585-9979-9FA3A130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Skill에 실제로 담긴 지시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FDFDBE-D879-473F-B3F4-6E792B04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109728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“Establish a reproducible baseline before editing.”">
            <a:extLst xmlns:a="http://schemas.openxmlformats.org/drawingml/2006/main">
              <a:ext uri="{FF2B5EF4-FFF2-40B4-BE49-F238E27FC236}">
                <a16:creationId xmlns:a16="http://schemas.microsoft.com/office/drawing/2014/main" id="{96CF4482-9D67-4F11-AFDC-C46499D2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62275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“Establish a reproducible baseline before editing.”</a:t>
            </a:r>
          </a:p>
        </p:txBody>
      </p:sp>
      <p:sp>
        <p:nvSpPr>
          <p:cNvPr id="10" name="“A measured result that does not justify a change is a&#10;valid">
            <a:extLst xmlns:a="http://schemas.openxmlformats.org/drawingml/2006/main">
              <a:ext uri="{FF2B5EF4-FFF2-40B4-BE49-F238E27FC236}">
                <a16:creationId xmlns:a16="http://schemas.microsoft.com/office/drawing/2014/main" id="{B4CFEE77-44F2-440F-93A6-7D2AFBE03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95675"/>
            <a:ext cx="105156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“A measured result that does not justify a change is a</a:t>
            </a:r>
          </a:p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valid no-change conclusion.”</a:t>
            </a:r>
          </a:p>
        </p:txBody>
      </p:sp>
      <p:sp>
        <p:nvSpPr>
          <p:cNvPr id="11" name="작업마다 판단할 것">
            <a:extLst xmlns:a="http://schemas.openxmlformats.org/drawingml/2006/main">
              <a:ext uri="{FF2B5EF4-FFF2-40B4-BE49-F238E27FC236}">
                <a16:creationId xmlns:a16="http://schemas.microsoft.com/office/drawing/2014/main" id="{1C9FC2A0-7E3C-4575-AB0C-82A701A2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작업마다 판단할 것</a:t>
            </a:r>
          </a:p>
        </p:txBody>
      </p:sp>
      <p:sp>
        <p:nvSpPr>
          <p:cNvPr id="12" name="어떤 알고리즘?   ·   실제 측정값?   ·   감수할 trade-off?">
            <a:extLst xmlns:a="http://schemas.openxmlformats.org/drawingml/2006/main">
              <a:ext uri="{FF2B5EF4-FFF2-40B4-BE49-F238E27FC236}">
                <a16:creationId xmlns:a16="http://schemas.microsoft.com/office/drawing/2014/main" id="{FA3967C6-7165-4E32-BE2E-8E9B5401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629150"/>
            <a:ext cx="802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알고리즘?   ·   실제 측정값?   ·   감수할 trade-off?</a:t>
            </a:r>
          </a:p>
        </p:txBody>
      </p:sp>
      <p:sp>
        <p:nvSpPr>
          <p:cNvPr id="13" name="절차는 재사용하고, 답은 이번 근거로 결정한다">
            <a:extLst xmlns:a="http://schemas.openxmlformats.org/drawingml/2006/main">
              <a:ext uri="{FF2B5EF4-FFF2-40B4-BE49-F238E27FC236}">
                <a16:creationId xmlns:a16="http://schemas.microsoft.com/office/drawing/2014/main" id="{82574791-893A-45C2-8B41-6FFB63DF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절차는 재사용하고, 답은 이번 근거로 결정한다</a:t>
            </a:r>
          </a:p>
        </p:txBody>
      </p:sp>
    </p:spTree>
    <p:extLst>
      <p:ext uri="{BB962C8B-B14F-4D97-AF65-F5344CB8AC3E}">
        <p14:creationId xmlns:p14="http://schemas.microsoft.com/office/powerpoint/2010/main" val="19130474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3 · 시간과 메모리를 함께 비교">
            <a:extLst xmlns:a="http://schemas.openxmlformats.org/drawingml/2006/main">
              <a:ext uri="{FF2B5EF4-FFF2-40B4-BE49-F238E27FC236}">
                <a16:creationId xmlns:a16="http://schemas.microsoft.com/office/drawing/2014/main" id="{5DA03AED-9D7E-43EE-8462-982D3B47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시간과 메모리를 함께 비교</a:t>
            </a:r>
          </a:p>
        </p:txBody>
      </p:sp>
      <p:sp>
        <p:nvSpPr>
          <p:cNvPr id="2" name="S44">
            <a:extLst xmlns:a="http://schemas.openxmlformats.org/drawingml/2006/main">
              <a:ext uri="{FF2B5EF4-FFF2-40B4-BE49-F238E27FC236}">
                <a16:creationId xmlns:a16="http://schemas.microsoft.com/office/drawing/2014/main" id="{0A1194BE-5143-440D-B8EC-A00B5DCD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S44</a:t>
            </a:r>
          </a:p>
        </p:txBody>
      </p:sp>
      <p:sp>
        <p:nvSpPr>
          <p:cNvPr id="3" name="측정으로 후보를 고르다">
            <a:extLst xmlns:a="http://schemas.openxmlformats.org/drawingml/2006/main">
              <a:ext uri="{FF2B5EF4-FFF2-40B4-BE49-F238E27FC236}">
                <a16:creationId xmlns:a16="http://schemas.microsoft.com/office/drawing/2014/main" id="{AF2749E8-24B2-4B41-A308-D28AE2C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측정으로 후보를 고르다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64F1F-F5A7-416B-ACD5-CB0B9401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8 · image_statistics 후보 비교 · 최종 STATE-04 전후 측정과는 별개">
            <a:extLst xmlns:a="http://schemas.openxmlformats.org/drawingml/2006/main">
              <a:ext uri="{FF2B5EF4-FFF2-40B4-BE49-F238E27FC236}">
                <a16:creationId xmlns:a16="http://schemas.microsoft.com/office/drawing/2014/main" id="{50DE9697-6C41-4EB4-8305-0F242A79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TRIAL-008 · image_statistics 후보 비교 · 최종 STATE-04 전후 측정과는 별개</a:t>
            </a:r>
          </a:p>
        </p:txBody>
      </p:sp>
      <p:sp>
        <p:nvSpPr>
          <p:cNvPr id="6" name="합성 1024×768 · CPython 3.9.6 / macOS arm64 · 같은 6개 출력값 검증 · 정">
            <a:extLst xmlns:a="http://schemas.openxmlformats.org/drawingml/2006/main">
              <a:ext uri="{FF2B5EF4-FFF2-40B4-BE49-F238E27FC236}">
                <a16:creationId xmlns:a16="http://schemas.microsoft.com/office/drawing/2014/main" id="{2B9D0576-E4DE-48A7-98B0-86E435070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합성 1024×768 · CPython 3.9.6 / macOS arm64 · 같은 6개 출력값 검증 · 정성 비교</a:t>
            </a:r>
          </a:p>
        </p:txBody>
      </p:sp>
      <p:sp>
        <p:nvSpPr>
          <p:cNvPr id="7" name="메모리가 적다는 이유만으로 고르지 않았다">
            <a:extLst xmlns:a="http://schemas.openxmlformats.org/drawingml/2006/main">
              <a:ext uri="{FF2B5EF4-FFF2-40B4-BE49-F238E27FC236}">
                <a16:creationId xmlns:a16="http://schemas.microsoft.com/office/drawing/2014/main" id="{E237A2E8-F9C6-4AC0-B38E-C5ED1F95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메모리가 적다는 이유만으로 고르지 않았다</a:t>
            </a:r>
          </a:p>
        </p:txBody>
      </p:sp>
      <p:sp>
        <p:nvSpPr>
          <p:cNvPr id="8" name="후보">
            <a:extLst xmlns:a="http://schemas.openxmlformats.org/drawingml/2006/main">
              <a:ext uri="{FF2B5EF4-FFF2-40B4-BE49-F238E27FC236}">
                <a16:creationId xmlns:a16="http://schemas.microsoft.com/office/drawing/2014/main" id="{3F86E9A1-E846-43D7-97D9-27BF9FCF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45910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후보</a:t>
            </a:r>
          </a:p>
        </p:txBody>
      </p:sp>
      <p:sp>
        <p:nvSpPr>
          <p:cNvPr id="9" name="Python 할당량">
            <a:extLst xmlns:a="http://schemas.openxmlformats.org/drawingml/2006/main">
              <a:ext uri="{FF2B5EF4-FFF2-40B4-BE49-F238E27FC236}">
                <a16:creationId xmlns:a16="http://schemas.microsoft.com/office/drawing/2014/main" id="{47E1EA96-5F78-4B4B-B435-86E04D48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67025"/>
            <a:ext cx="26479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Python 할당량</a:t>
            </a:r>
          </a:p>
        </p:txBody>
      </p:sp>
      <p:sp>
        <p:nvSpPr>
          <p:cNvPr id="10" name="실행 시간">
            <a:extLst xmlns:a="http://schemas.openxmlformats.org/drawingml/2006/main">
              <a:ext uri="{FF2B5EF4-FFF2-40B4-BE49-F238E27FC236}">
                <a16:creationId xmlns:a16="http://schemas.microsoft.com/office/drawing/2014/main" id="{365A944C-A1B7-42DB-A539-5EF80812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867025"/>
            <a:ext cx="26098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시간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2AA004-06FE-45A5-9AA8-D9354A64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수동 단일 순회">
            <a:extLst xmlns:a="http://schemas.openxmlformats.org/drawingml/2006/main">
              <a:ext uri="{FF2B5EF4-FFF2-40B4-BE49-F238E27FC236}">
                <a16:creationId xmlns:a16="http://schemas.microsoft.com/office/drawing/2014/main" id="{625A9A57-23FC-43CC-82C5-16791E15C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4591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수동 단일 순회</a:t>
            </a:r>
          </a:p>
        </p:txBody>
      </p:sp>
      <p:sp>
        <p:nvSpPr>
          <p:cNvPr id="13" name="낮음">
            <a:extLst xmlns:a="http://schemas.openxmlformats.org/drawingml/2006/main">
              <a:ext uri="{FF2B5EF4-FFF2-40B4-BE49-F238E27FC236}">
                <a16:creationId xmlns:a16="http://schemas.microsoft.com/office/drawing/2014/main" id="{EDFC9C7F-5D0D-4996-AAB2-C9E06201A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600450"/>
            <a:ext cx="2647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낮음</a:t>
            </a:r>
          </a:p>
        </p:txBody>
      </p:sp>
      <p:sp>
        <p:nvSpPr>
          <p:cNvPr id="14" name="훨씬 느림">
            <a:extLst xmlns:a="http://schemas.openxmlformats.org/drawingml/2006/main">
              <a:ext uri="{FF2B5EF4-FFF2-40B4-BE49-F238E27FC236}">
                <a16:creationId xmlns:a16="http://schemas.microsoft.com/office/drawing/2014/main" id="{5A7880C8-ADDF-4007-BFCA-11A93876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600450"/>
            <a:ext cx="2609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훨씬 느림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A6EC5-7A1F-41E1-A955-2DF7916B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행 단위 built-in reduction">
            <a:extLst xmlns:a="http://schemas.openxmlformats.org/drawingml/2006/main">
              <a:ext uri="{FF2B5EF4-FFF2-40B4-BE49-F238E27FC236}">
                <a16:creationId xmlns:a16="http://schemas.microsoft.com/office/drawing/2014/main" id="{063658A9-0986-4923-9874-E810CF2D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4724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행 단위 built-in reduction</a:t>
            </a:r>
          </a:p>
        </p:txBody>
      </p:sp>
      <p:sp>
        <p:nvSpPr>
          <p:cNvPr id="17" name="낮게 유지">
            <a:extLst xmlns:a="http://schemas.openxmlformats.org/drawingml/2006/main">
              <a:ext uri="{FF2B5EF4-FFF2-40B4-BE49-F238E27FC236}">
                <a16:creationId xmlns:a16="http://schemas.microsoft.com/office/drawing/2014/main" id="{C0C33959-A11F-4A8E-B342-A52D51653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610100"/>
            <a:ext cx="26479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낮게 유지</a:t>
            </a:r>
          </a:p>
        </p:txBody>
      </p:sp>
      <p:sp>
        <p:nvSpPr>
          <p:cNvPr id="18" name="더 나음 → 선택">
            <a:extLst xmlns:a="http://schemas.openxmlformats.org/drawingml/2006/main">
              <a:ext uri="{FF2B5EF4-FFF2-40B4-BE49-F238E27FC236}">
                <a16:creationId xmlns:a16="http://schemas.microsoft.com/office/drawing/2014/main" id="{31928925-07A4-433D-9F77-04546579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10100"/>
            <a:ext cx="26098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더 나음 → 선택</a:t>
            </a:r>
          </a:p>
        </p:txBody>
      </p:sp>
    </p:spTree>
    <p:extLst>
      <p:ext uri="{BB962C8B-B14F-4D97-AF65-F5344CB8AC3E}">
        <p14:creationId xmlns:p14="http://schemas.microsoft.com/office/powerpoint/2010/main" val="1979638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3  ·  Harness로 조사하고 검증하기">
            <a:extLst xmlns:a="http://schemas.openxmlformats.org/drawingml/2006/main">
              <a:ext uri="{FF2B5EF4-FFF2-40B4-BE49-F238E27FC236}">
                <a16:creationId xmlns:a16="http://schemas.microsoft.com/office/drawing/2014/main" id="{ADCC0D1E-6F5B-41EB-891E-9F08A242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 ·  Harness로 조사하고 검증하기</a:t>
            </a:r>
          </a:p>
        </p:txBody>
      </p:sp>
      <p:sp>
        <p:nvSpPr>
          <p:cNvPr id="2" name="S45">
            <a:extLst xmlns:a="http://schemas.openxmlformats.org/drawingml/2006/main">
              <a:ext uri="{FF2B5EF4-FFF2-40B4-BE49-F238E27FC236}">
                <a16:creationId xmlns:a16="http://schemas.microsoft.com/office/drawing/2014/main" id="{E91B7B6D-A7E7-406D-9A17-708FA583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S45</a:t>
            </a:r>
          </a:p>
        </p:txBody>
      </p:sp>
      <p:sp>
        <p:nvSpPr>
          <p:cNvPr id="3" name="Working Harness Success">
            <a:extLst xmlns:a="http://schemas.openxmlformats.org/drawingml/2006/main">
              <a:ext uri="{FF2B5EF4-FFF2-40B4-BE49-F238E27FC236}">
                <a16:creationId xmlns:a16="http://schemas.microsoft.com/office/drawing/2014/main" id="{D2D790D4-6798-46DD-8513-756B629E1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Working Harness Success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A69536-805F-4469-B1DD-555A7975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 → STATE-04-PERF  |  image_statistics · 합성 1024×768 ">
            <a:extLst xmlns:a="http://schemas.openxmlformats.org/drawingml/2006/main">
              <a:ext uri="{FF2B5EF4-FFF2-40B4-BE49-F238E27FC236}">
                <a16:creationId xmlns:a16="http://schemas.microsoft.com/office/drawing/2014/main" id="{A8CEB9DD-ABF9-4981-AAFE-CD5470D3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 → STATE-04-PERF  |  image_statistics · 합성 1024×768 · CPython 3.9.6 / macOS arm64</a:t>
            </a:r>
          </a:p>
        </p:txBody>
      </p:sp>
      <p:sp>
        <p:nvSpPr>
          <p:cNvPr id="6" name="동일 입력·상태별 7회 측정 · 이 환경의 코드 변경 결과이며 Harness 단독 효과는 입증하지 않음">
            <a:extLst xmlns:a="http://schemas.openxmlformats.org/drawingml/2006/main">
              <a:ext uri="{FF2B5EF4-FFF2-40B4-BE49-F238E27FC236}">
                <a16:creationId xmlns:a16="http://schemas.microsoft.com/office/drawing/2014/main" id="{427D655B-6F43-45E5-9BF0-0EC04618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동일 입력·상태별 7회 측정 · 이 환경의 코드 변경 결과이며 Harness 단독 효과는 입증하지 않음</a:t>
            </a:r>
          </a:p>
        </p:txBody>
      </p:sp>
      <p:sp>
        <p:nvSpPr>
          <p:cNvPr id="7" name="결과가 맞는지 확인하고, 같은 조건에서 비교했다">
            <a:extLst xmlns:a="http://schemas.openxmlformats.org/drawingml/2006/main">
              <a:ext uri="{FF2B5EF4-FFF2-40B4-BE49-F238E27FC236}">
                <a16:creationId xmlns:a16="http://schemas.microsoft.com/office/drawing/2014/main" id="{7C647FED-1414-4FF7-A333-9A2AAF40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결과가 맞는지 확인하고, 같은 조건에서 비교했다</a:t>
            </a:r>
          </a:p>
        </p:txBody>
      </p:sp>
      <p:sp>
        <p:nvSpPr>
          <p:cNvPr id="8" name="실행 시간 중앙값">
            <a:extLst xmlns:a="http://schemas.openxmlformats.org/drawingml/2006/main">
              <a:ext uri="{FF2B5EF4-FFF2-40B4-BE49-F238E27FC236}">
                <a16:creationId xmlns:a16="http://schemas.microsoft.com/office/drawing/2014/main" id="{9276FE23-08A1-4046-9D38-D54DCE20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24100"/>
            <a:ext cx="5667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시간 중앙값</a:t>
            </a:r>
          </a:p>
        </p:txBody>
      </p:sp>
      <p:sp>
        <p:nvSpPr>
          <p:cNvPr id="9" name="ms/call · 낮을수록 짧음">
            <a:extLst xmlns:a="http://schemas.openxmlformats.org/drawingml/2006/main">
              <a:ext uri="{FF2B5EF4-FFF2-40B4-BE49-F238E27FC236}">
                <a16:creationId xmlns:a16="http://schemas.microsoft.com/office/drawing/2014/main" id="{F392CBAC-D382-4814-A445-E9E3316E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566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ms/call · 낮을수록 짧음</a:t>
            </a: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8DE1840A-4406-4A22-9D88-A0F7D417B7E0}"/>
              </a:ext>
            </a:extLst>
          </p:cNvPr>
          <p:cNvGraphicFramePr/>
          <p:nvPr/>
        </p:nvGraphicFramePr>
        <p:xfrm>
          <a:off xmlns:a="http://schemas.openxmlformats.org/drawingml/2006/main" x="609600" y="3067050"/>
          <a:ext xmlns:a="http://schemas.openxmlformats.org/drawingml/2006/main" cx="61912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bc7f4732e014a9f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66DFAB-33EE-4D52-AEA0-6D6F0F2F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24100"/>
            <a:ext cx="19050" cy="2819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0D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ython 할당 피크">
            <a:extLst xmlns:a="http://schemas.openxmlformats.org/drawingml/2006/main">
              <a:ext uri="{FF2B5EF4-FFF2-40B4-BE49-F238E27FC236}">
                <a16:creationId xmlns:a16="http://schemas.microsoft.com/office/drawing/2014/main" id="{C21F7C3F-F9A5-46D2-BCDF-EC39BFE4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324100"/>
            <a:ext cx="3981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Python 할당 피크</a:t>
            </a:r>
          </a:p>
        </p:txBody>
      </p:sp>
      <p:sp>
        <p:nvSpPr>
          <p:cNvPr id="13" name="tracemalloc · 프로세스 RSS 아님">
            <a:extLst xmlns:a="http://schemas.openxmlformats.org/drawingml/2006/main">
              <a:ext uri="{FF2B5EF4-FFF2-40B4-BE49-F238E27FC236}">
                <a16:creationId xmlns:a16="http://schemas.microsoft.com/office/drawing/2014/main" id="{025F5128-677E-4C9E-AA4D-24A716479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714625"/>
            <a:ext cx="398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tracemalloc · 프로세스 RSS 아님</a:t>
            </a:r>
          </a:p>
        </p:txBody>
      </p:sp>
      <p:sp>
        <p:nvSpPr>
          <p:cNvPr id="14" name="6,675,804 B">
            <a:extLst xmlns:a="http://schemas.openxmlformats.org/drawingml/2006/main">
              <a:ext uri="{FF2B5EF4-FFF2-40B4-BE49-F238E27FC236}">
                <a16:creationId xmlns:a16="http://schemas.microsoft.com/office/drawing/2014/main" id="{B49FB461-FE73-44E1-A6D1-078E6FEF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248025"/>
            <a:ext cx="3981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6,675,804 B</a:t>
            </a:r>
          </a:p>
        </p:txBody>
      </p:sp>
      <p:sp>
        <p:nvSpPr>
          <p:cNvPr id="15" name="↓">
            <a:extLst xmlns:a="http://schemas.openxmlformats.org/drawingml/2006/main">
              <a:ext uri="{FF2B5EF4-FFF2-40B4-BE49-F238E27FC236}">
                <a16:creationId xmlns:a16="http://schemas.microsoft.com/office/drawing/2014/main" id="{F04CD721-CDB7-44CB-B964-241FC10C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781425"/>
            <a:ext cx="438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6" name="380 B">
            <a:extLst xmlns:a="http://schemas.openxmlformats.org/drawingml/2006/main">
              <a:ext uri="{FF2B5EF4-FFF2-40B4-BE49-F238E27FC236}">
                <a16:creationId xmlns:a16="http://schemas.microsoft.com/office/drawing/2014/main" id="{11B2D6E0-A549-44D4-95B5-6B6F1862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380 B</a:t>
            </a:r>
          </a:p>
        </p:txBody>
      </p:sp>
      <p:sp>
        <p:nvSpPr>
          <p:cNvPr id="17" name="평탄화 임시 리스트 제거">
            <a:extLst xmlns:a="http://schemas.openxmlformats.org/drawingml/2006/main">
              <a:ext uri="{FF2B5EF4-FFF2-40B4-BE49-F238E27FC236}">
                <a16:creationId xmlns:a16="http://schemas.microsoft.com/office/drawing/2014/main" id="{F40803E6-5F2B-493C-A28D-0F5BA566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648200"/>
            <a:ext cx="3981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평탄화 임시 리스트 제거</a:t>
            </a:r>
          </a:p>
        </p:txBody>
      </p:sp>
      <p:sp>
        <p:nvSpPr>
          <p:cNvPr id="18" name="검증 완료">
            <a:extLst xmlns:a="http://schemas.openxmlformats.org/drawingml/2006/main">
              <a:ext uri="{FF2B5EF4-FFF2-40B4-BE49-F238E27FC236}">
                <a16:creationId xmlns:a16="http://schemas.microsoft.com/office/drawing/2014/main" id="{D92F634F-72BE-4D76-AD9D-61452109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581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검증 완료</a:t>
            </a:r>
          </a:p>
        </p:txBody>
      </p:sp>
      <p:sp>
        <p:nvSpPr>
          <p:cNvPr id="19" name="집중 테스트 1/1  ·  전체 11/11  ·  CLI  ·  입력·결과 guard">
            <a:extLst xmlns:a="http://schemas.openxmlformats.org/drawingml/2006/main">
              <a:ext uri="{FF2B5EF4-FFF2-40B4-BE49-F238E27FC236}">
                <a16:creationId xmlns:a16="http://schemas.microsoft.com/office/drawing/2014/main" id="{E6CA914A-A46D-4A5E-A1A2-00119A0A0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91150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 테스트 1/1  ·  전체 11/11  ·  CLI  ·  입력·결과 guard</a:t>
            </a:r>
          </a:p>
        </p:txBody>
      </p:sp>
    </p:spTree>
    <p:extLst>
      <p:ext uri="{BB962C8B-B14F-4D97-AF65-F5344CB8AC3E}">
        <p14:creationId xmlns:p14="http://schemas.microsoft.com/office/powerpoint/2010/main" val="11571843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3 · 현재 Task의 분리 가능성">
            <a:extLst xmlns:a="http://schemas.openxmlformats.org/drawingml/2006/main">
              <a:ext uri="{FF2B5EF4-FFF2-40B4-BE49-F238E27FC236}">
                <a16:creationId xmlns:a16="http://schemas.microsoft.com/office/drawing/2014/main" id="{7D26322E-59D9-4F7E-A52C-1B4D483C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현재 Task의 분리 가능성</a:t>
            </a:r>
          </a:p>
        </p:txBody>
      </p:sp>
      <p:sp>
        <p:nvSpPr>
          <p:cNvPr id="2" name="S46">
            <a:extLst xmlns:a="http://schemas.openxmlformats.org/drawingml/2006/main">
              <a:ext uri="{FF2B5EF4-FFF2-40B4-BE49-F238E27FC236}">
                <a16:creationId xmlns:a16="http://schemas.microsoft.com/office/drawing/2014/main" id="{E3400FE2-2812-4BAE-A80A-DEAB4219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S46</a:t>
            </a:r>
          </a:p>
        </p:txBody>
      </p:sp>
      <p:sp>
        <p:nvSpPr>
          <p:cNvPr id="3" name="이 작업에 Subagent가 필요했을까?">
            <a:extLst xmlns:a="http://schemas.openxmlformats.org/drawingml/2006/main">
              <a:ext uri="{FF2B5EF4-FFF2-40B4-BE49-F238E27FC236}">
                <a16:creationId xmlns:a16="http://schemas.microsoft.com/office/drawing/2014/main" id="{3A565023-69B1-494C-A81F-B747273A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작업에 Subagent가 필요했을까?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F1D6AE-21D0-403D-B4E4-917541490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18 · 현재 성능 작업에 대한 판단과 교육용 작업 구조">
            <a:extLst xmlns:a="http://schemas.openxmlformats.org/drawingml/2006/main">
              <a:ext uri="{FF2B5EF4-FFF2-40B4-BE49-F238E27FC236}">
                <a16:creationId xmlns:a16="http://schemas.microsoft.com/office/drawing/2014/main" id="{5C087AF3-0AB1-4A07-A567-B35D9F8A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DEC-0018 · 현재 성능 작업에 대한 판단과 교육용 작업 구조</a:t>
            </a:r>
          </a:p>
        </p:txBody>
      </p:sp>
      <p:sp>
        <p:nvSpPr>
          <p:cNvPr id="6" name="현재 사례에서 추가하지 않았다는 결과 · 일반적으로 Subagent가 불필요하다는 뜻은 아님">
            <a:extLst xmlns:a="http://schemas.openxmlformats.org/drawingml/2006/main">
              <a:ext uri="{FF2B5EF4-FFF2-40B4-BE49-F238E27FC236}">
                <a16:creationId xmlns:a16="http://schemas.microsoft.com/office/drawing/2014/main" id="{3DF8DAA7-E16B-4D6B-AC46-4A13BA18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사례에서 추가하지 않았다는 결과 · 일반적으로 Subagent가 불필요하다는 뜻은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320C10-931F-4372-95C0-698D88C2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조사">
            <a:extLst xmlns:a="http://schemas.openxmlformats.org/drawingml/2006/main">
              <a:ext uri="{FF2B5EF4-FFF2-40B4-BE49-F238E27FC236}">
                <a16:creationId xmlns:a16="http://schemas.microsoft.com/office/drawing/2014/main" id="{DD897AC1-B0F1-4221-A19F-AC748DB49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9" name="같은 성능 경로와&#10;계약을 확인">
            <a:extLst xmlns:a="http://schemas.openxmlformats.org/drawingml/2006/main">
              <a:ext uri="{FF2B5EF4-FFF2-40B4-BE49-F238E27FC236}">
                <a16:creationId xmlns:a16="http://schemas.microsoft.com/office/drawing/2014/main" id="{48C41F49-12E5-4D67-BB82-0252AB2F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390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성능 경로와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계약을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85A030-CD39-444C-BBBF-1132EBFB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27051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DBC521-BF74-45A0-B012-0F9E9A21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286000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변경">
            <a:extLst xmlns:a="http://schemas.openxmlformats.org/drawingml/2006/main">
              <a:ext uri="{FF2B5EF4-FFF2-40B4-BE49-F238E27FC236}">
                <a16:creationId xmlns:a16="http://schemas.microsoft.com/office/drawing/2014/main" id="{B62CC773-5B1B-4E86-A0CC-3E7E6711E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76500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</a:t>
            </a:r>
          </a:p>
        </p:txBody>
      </p:sp>
      <p:sp>
        <p:nvSpPr>
          <p:cNvPr id="13" name="조사 결과를 사용">
            <a:extLst xmlns:a="http://schemas.openxmlformats.org/drawingml/2006/main">
              <a:ext uri="{FF2B5EF4-FFF2-40B4-BE49-F238E27FC236}">
                <a16:creationId xmlns:a16="http://schemas.microsoft.com/office/drawing/2014/main" id="{6BC3DA48-4F5D-4825-A76E-7229474A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38500"/>
            <a:ext cx="3390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조사 결과를 사용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C36761-43EA-4F04-B293-02161EE7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70510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5093D8-FDC2-45E6-91BE-1633F76D7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86000"/>
            <a:ext cx="339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검증">
            <a:extLst xmlns:a="http://schemas.openxmlformats.org/drawingml/2006/main">
              <a:ext uri="{FF2B5EF4-FFF2-40B4-BE49-F238E27FC236}">
                <a16:creationId xmlns:a16="http://schemas.microsoft.com/office/drawing/2014/main" id="{7F1987DD-3031-4498-B821-EA333949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3390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7" name="변경 결과를 확인">
            <a:extLst xmlns:a="http://schemas.openxmlformats.org/drawingml/2006/main">
              <a:ext uri="{FF2B5EF4-FFF2-40B4-BE49-F238E27FC236}">
                <a16:creationId xmlns:a16="http://schemas.microsoft.com/office/drawing/2014/main" id="{D52EFF18-B2D2-4B60-B44B-526D33AA5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38500"/>
            <a:ext cx="3390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변경 결과를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D00DC1-8830-439C-A4FA-1DBD00002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작업 독립성 낮음  ·  병렬 이득 제한적  ·  결과 통합 비용 존재">
            <a:extLst xmlns:a="http://schemas.openxmlformats.org/drawingml/2006/main">
              <a:ext uri="{FF2B5EF4-FFF2-40B4-BE49-F238E27FC236}">
                <a16:creationId xmlns:a16="http://schemas.microsoft.com/office/drawing/2014/main" id="{5A4A707F-F5B7-40AA-A30C-638981EC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독립성 낮음  ·  병렬 이득 제한적  ·  결과 통합 비용 존재</a:t>
            </a:r>
          </a:p>
        </p:txBody>
      </p:sp>
      <p:sp>
        <p:nvSpPr>
          <p:cNvPr id="20" name="이 Task에서는 Agent를 더 나눌 근거가 부족했다">
            <a:extLst xmlns:a="http://schemas.openxmlformats.org/drawingml/2006/main">
              <a:ext uri="{FF2B5EF4-FFF2-40B4-BE49-F238E27FC236}">
                <a16:creationId xmlns:a16="http://schemas.microsoft.com/office/drawing/2014/main" id="{50EE8968-0B8E-4B5D-8FAE-AC72D5231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Task에서는 Agent를 더 나눌 근거가 부족했다</a:t>
            </a:r>
          </a:p>
        </p:txBody>
      </p:sp>
    </p:spTree>
    <p:extLst>
      <p:ext uri="{BB962C8B-B14F-4D97-AF65-F5344CB8AC3E}">
        <p14:creationId xmlns:p14="http://schemas.microsoft.com/office/powerpoint/2010/main" val="9945364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3 · 독립 조사와 결과 통합">
            <a:extLst xmlns:a="http://schemas.openxmlformats.org/drawingml/2006/main">
              <a:ext uri="{FF2B5EF4-FFF2-40B4-BE49-F238E27FC236}">
                <a16:creationId xmlns:a16="http://schemas.microsoft.com/office/drawing/2014/main" id="{E39C5BA0-97BA-4E45-B3D0-F0C545719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독립 조사와 결과 통합</a:t>
            </a:r>
          </a:p>
        </p:txBody>
      </p:sp>
      <p:sp>
        <p:nvSpPr>
          <p:cNvPr id="2" name="S47">
            <a:extLst xmlns:a="http://schemas.openxmlformats.org/drawingml/2006/main">
              <a:ext uri="{FF2B5EF4-FFF2-40B4-BE49-F238E27FC236}">
                <a16:creationId xmlns:a16="http://schemas.microsoft.com/office/drawing/2014/main" id="{A8F20F82-73BA-4F59-83F1-CF9F3D86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S47</a:t>
            </a:r>
          </a:p>
        </p:txBody>
      </p:sp>
      <p:sp>
        <p:nvSpPr>
          <p:cNvPr id="3" name="Subagent를 고려할 조건">
            <a:extLst xmlns:a="http://schemas.openxmlformats.org/drawingml/2006/main">
              <a:ext uri="{FF2B5EF4-FFF2-40B4-BE49-F238E27FC236}">
                <a16:creationId xmlns:a16="http://schemas.microsoft.com/office/drawing/2014/main" id="{FB1881AA-69BD-4336-987E-3A66CB16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Subagent를 고려할 조건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A70147-700E-4748-8BC6-0A8814ED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가정 · C++ Repository의 조사들이 실제로 독립적일 때">
            <a:extLst xmlns:a="http://schemas.openxmlformats.org/drawingml/2006/main">
              <a:ext uri="{FF2B5EF4-FFF2-40B4-BE49-F238E27FC236}">
                <a16:creationId xmlns:a16="http://schemas.microsoft.com/office/drawing/2014/main" id="{85330B7B-54F5-45E6-944E-EE8195E0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가정 · C++ Repository의 조사들이 실제로 독립적일 때</a:t>
            </a:r>
          </a:p>
        </p:txBody>
      </p:sp>
      <p:sp>
        <p:nvSpPr>
          <p:cNvPr id="6" name="제품 실행 사례가 아님 · 작고 연결된 작업·Context 반복·큰 조정 비용이면 보류">
            <a:extLst xmlns:a="http://schemas.openxmlformats.org/drawingml/2006/main">
              <a:ext uri="{FF2B5EF4-FFF2-40B4-BE49-F238E27FC236}">
                <a16:creationId xmlns:a16="http://schemas.microsoft.com/office/drawing/2014/main" id="{6B10879E-481A-4AB3-B399-85261BE8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실행 사례가 아님 · 작고 연결된 작업·Context 반복·큰 조정 비용이면 보류</a:t>
            </a:r>
          </a:p>
        </p:txBody>
      </p:sp>
      <p:sp>
        <p:nvSpPr>
          <p:cNvPr id="7" name="독립적으로 조사할 수 있는가?">
            <a:extLst xmlns:a="http://schemas.openxmlformats.org/drawingml/2006/main">
              <a:ext uri="{FF2B5EF4-FFF2-40B4-BE49-F238E27FC236}">
                <a16:creationId xmlns:a16="http://schemas.microsoft.com/office/drawing/2014/main" id="{8F580C1B-A925-436D-909A-A3633D60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독립적으로 조사할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68B72-141E-488C-BC31-63237684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성능 경로 조사">
            <a:extLst xmlns:a="http://schemas.openxmlformats.org/drawingml/2006/main">
              <a:ext uri="{FF2B5EF4-FFF2-40B4-BE49-F238E27FC236}">
                <a16:creationId xmlns:a16="http://schemas.microsoft.com/office/drawing/2014/main" id="{A5BB4974-C50A-4166-86C9-B528DBC3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28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경로 조사</a:t>
            </a:r>
          </a:p>
        </p:txBody>
      </p:sp>
      <p:sp>
        <p:nvSpPr>
          <p:cNvPr id="10" name="가정: 다른 조사 결과를&#10;기다리지 않고 진행 가능">
            <a:extLst xmlns:a="http://schemas.openxmlformats.org/drawingml/2006/main">
              <a:ext uri="{FF2B5EF4-FFF2-40B4-BE49-F238E27FC236}">
                <a16:creationId xmlns:a16="http://schemas.microsoft.com/office/drawing/2014/main" id="{4111912A-DD22-4DCC-9036-01051D82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가정: 다른 조사 결과를</a:t>
            </a:r>
          </a:p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기다리지 않고 진행 가능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BA482-FC7D-4F30-8289-DA63FEFAB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480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빌드 환경 조사">
            <a:extLst xmlns:a="http://schemas.openxmlformats.org/drawingml/2006/main">
              <a:ext uri="{FF2B5EF4-FFF2-40B4-BE49-F238E27FC236}">
                <a16:creationId xmlns:a16="http://schemas.microsoft.com/office/drawing/2014/main" id="{1ECF928C-3B38-449E-ACC1-8B568BB4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228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환경 조사</a:t>
            </a:r>
          </a:p>
        </p:txBody>
      </p:sp>
      <p:sp>
        <p:nvSpPr>
          <p:cNvPr id="13" name="가정: 다른 조사 결과를&#10;기다리지 않고 진행 가능">
            <a:extLst xmlns:a="http://schemas.openxmlformats.org/drawingml/2006/main">
              <a:ext uri="{FF2B5EF4-FFF2-40B4-BE49-F238E27FC236}">
                <a16:creationId xmlns:a16="http://schemas.microsoft.com/office/drawing/2014/main" id="{FA4E3AF0-14F6-4515-BDF1-16F425E11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19525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가정: 다른 조사 결과를</a:t>
            </a:r>
          </a:p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기다리지 않고 진행 가능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F3640A-50DF-4641-B97D-453AED0E7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480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테스트 구조 조사">
            <a:extLst xmlns:a="http://schemas.openxmlformats.org/drawingml/2006/main">
              <a:ext uri="{FF2B5EF4-FFF2-40B4-BE49-F238E27FC236}">
                <a16:creationId xmlns:a16="http://schemas.microsoft.com/office/drawing/2014/main" id="{A48A1E6E-335E-428E-B765-C41EF8F9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28975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구조 조사</a:t>
            </a:r>
          </a:p>
        </p:txBody>
      </p:sp>
      <p:sp>
        <p:nvSpPr>
          <p:cNvPr id="16" name="가정: 다른 조사 결과를&#10;기다리지 않고 진행 가능">
            <a:extLst xmlns:a="http://schemas.openxmlformats.org/drawingml/2006/main">
              <a:ext uri="{FF2B5EF4-FFF2-40B4-BE49-F238E27FC236}">
                <a16:creationId xmlns:a16="http://schemas.microsoft.com/office/drawing/2014/main" id="{C90F6A33-5D89-4AA9-B013-9EC995C6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19525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가정: 다른 조사 결과를</a:t>
            </a:r>
          </a:p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기다리지 않고 진행 가능</a:t>
            </a:r>
          </a:p>
        </p:txBody>
      </p:sp>
      <p:sp>
        <p:nvSpPr>
          <p:cNvPr id="17" name="↓">
            <a:extLst xmlns:a="http://schemas.openxmlformats.org/drawingml/2006/main">
              <a:ext uri="{FF2B5EF4-FFF2-40B4-BE49-F238E27FC236}">
                <a16:creationId xmlns:a16="http://schemas.microsoft.com/office/drawing/2014/main" id="{1C938E64-5659-47E0-AA8B-F4E71E9E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4657725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8" name="↓">
            <a:extLst xmlns:a="http://schemas.openxmlformats.org/drawingml/2006/main">
              <a:ext uri="{FF2B5EF4-FFF2-40B4-BE49-F238E27FC236}">
                <a16:creationId xmlns:a16="http://schemas.microsoft.com/office/drawing/2014/main" id="{FD5FE324-D199-40D2-8E57-226EECAD8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657725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19" name="↓">
            <a:extLst xmlns:a="http://schemas.openxmlformats.org/drawingml/2006/main">
              <a:ext uri="{FF2B5EF4-FFF2-40B4-BE49-F238E27FC236}">
                <a16:creationId xmlns:a16="http://schemas.microsoft.com/office/drawing/2014/main" id="{CCE29E6C-D05C-4FA8-835C-CB31F3EF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657725"/>
            <a:ext cx="609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5FD24E-0DB0-4DA4-82B9-0FB4300C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485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시작 전에 정할 것: 결과 형식 · 전달 지점 · 합칠 책임">
            <a:extLst xmlns:a="http://schemas.openxmlformats.org/drawingml/2006/main">
              <a:ext uri="{FF2B5EF4-FFF2-40B4-BE49-F238E27FC236}">
                <a16:creationId xmlns:a16="http://schemas.microsoft.com/office/drawing/2014/main" id="{291C9555-B0E6-4DF9-8C63-6E1E6371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00650"/>
            <a:ext cx="105537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전에 정할 것: 결과 형식 · 전달 지점 · 합칠 책임</a:t>
            </a:r>
          </a:p>
        </p:txBody>
      </p:sp>
    </p:spTree>
    <p:extLst>
      <p:ext uri="{BB962C8B-B14F-4D97-AF65-F5344CB8AC3E}">
        <p14:creationId xmlns:p14="http://schemas.microsoft.com/office/powerpoint/2010/main" val="49892857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3 · 이미 있는 기록부터 확인하기">
            <a:extLst xmlns:a="http://schemas.openxmlformats.org/drawingml/2006/main">
              <a:ext uri="{FF2B5EF4-FFF2-40B4-BE49-F238E27FC236}">
                <a16:creationId xmlns:a16="http://schemas.microsoft.com/office/drawing/2014/main" id="{9B12E9D8-7024-45AA-915A-6E3519D9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이미 있는 기록부터 확인하기</a:t>
            </a:r>
          </a:p>
        </p:txBody>
      </p:sp>
      <p:sp>
        <p:nvSpPr>
          <p:cNvPr id="2" name="S48">
            <a:extLst xmlns:a="http://schemas.openxmlformats.org/drawingml/2006/main">
              <a:ext uri="{FF2B5EF4-FFF2-40B4-BE49-F238E27FC236}">
                <a16:creationId xmlns:a16="http://schemas.microsoft.com/office/drawing/2014/main" id="{3D4C3C25-6A0F-4FDB-BB0A-F3A68380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S48</a:t>
            </a:r>
          </a:p>
        </p:txBody>
      </p:sp>
      <p:sp>
        <p:nvSpPr>
          <p:cNvPr id="3" name="무엇이 다시 찾기 어려운 지식인가?">
            <a:extLst xmlns:a="http://schemas.openxmlformats.org/drawingml/2006/main">
              <a:ext uri="{FF2B5EF4-FFF2-40B4-BE49-F238E27FC236}">
                <a16:creationId xmlns:a16="http://schemas.microsoft.com/office/drawing/2014/main" id="{3DAA3985-F4EF-4E29-8F32-37A4570B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무엇이 다시 찾기 어려운 지식인가?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16B2C5-3DD1-45A5-8A88-560F7EA6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현재 Demo Repository의 지식 분류와 Memory 후보 점검">
            <a:extLst xmlns:a="http://schemas.openxmlformats.org/drawingml/2006/main">
              <a:ext uri="{FF2B5EF4-FFF2-40B4-BE49-F238E27FC236}">
                <a16:creationId xmlns:a16="http://schemas.microsoft.com/office/drawing/2014/main" id="{11396EB2-06EC-4FAD-9393-7C839FE7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Demo Repository의 지식 분류와 Memory 후보 점검</a:t>
            </a:r>
          </a:p>
        </p:txBody>
      </p:sp>
      <p:sp>
        <p:nvSpPr>
          <p:cNvPr id="6" name="별도 Memory로 남길 지속적 지식 후보는 찾지 못함 · 제품 Memory 동작 주장은 아님">
            <a:extLst xmlns:a="http://schemas.openxmlformats.org/drawingml/2006/main">
              <a:ext uri="{FF2B5EF4-FFF2-40B4-BE49-F238E27FC236}">
                <a16:creationId xmlns:a16="http://schemas.microsoft.com/office/drawing/2014/main" id="{9E5F7659-A2ED-4478-9F5E-EDB2A490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별도 Memory로 남길 지속적 지식 후보는 찾지 못함 · 제품 Memory 동작 주장은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6C2B62-F1E1-444C-AF8A-5B178098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crop은 끝 열을 제외한다">
            <a:extLst xmlns:a="http://schemas.openxmlformats.org/drawingml/2006/main">
              <a:ext uri="{FF2B5EF4-FFF2-40B4-BE49-F238E27FC236}">
                <a16:creationId xmlns:a16="http://schemas.microsoft.com/office/drawing/2014/main" id="{74D6369E-AFF5-4FFA-8B09-5F4134A7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crop은 끝 열을 제외한다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0F70B6-524B-4D62-8C1F-7E725478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2486025"/>
            <a:ext cx="3333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코드 · image-contracts.md">
            <a:extLst xmlns:a="http://schemas.openxmlformats.org/drawingml/2006/main">
              <a:ext uri="{FF2B5EF4-FFF2-40B4-BE49-F238E27FC236}">
                <a16:creationId xmlns:a16="http://schemas.microsoft.com/office/drawing/2014/main" id="{3CDF27C7-BD81-484B-BCAA-D090D289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코드 · image-contracts.md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4EC768-4F36-42F9-8C70-471F0D83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모듈은 어떤 순서로 이어지나">
            <a:extLst xmlns:a="http://schemas.openxmlformats.org/drawingml/2006/main">
              <a:ext uri="{FF2B5EF4-FFF2-40B4-BE49-F238E27FC236}">
                <a16:creationId xmlns:a16="http://schemas.microsoft.com/office/drawing/2014/main" id="{C8BD1AB6-8284-47F9-A6DE-CAD4257D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모듈은 어떤 순서로 이어지나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0845F9-8599-4417-9D6F-269601DD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276600"/>
            <a:ext cx="3333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architecture.md">
            <a:extLst xmlns:a="http://schemas.openxmlformats.org/drawingml/2006/main">
              <a:ext uri="{FF2B5EF4-FFF2-40B4-BE49-F238E27FC236}">
                <a16:creationId xmlns:a16="http://schemas.microsoft.com/office/drawing/2014/main" id="{6FF5E511-7F27-45CA-9DFB-3A1F360D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5277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architecture.md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90E02A-3535-45FB-814E-1970FBF6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성능을 어떻게 조사하고 확인하나">
            <a:extLst xmlns:a="http://schemas.openxmlformats.org/drawingml/2006/main">
              <a:ext uri="{FF2B5EF4-FFF2-40B4-BE49-F238E27FC236}">
                <a16:creationId xmlns:a16="http://schemas.microsoft.com/office/drawing/2014/main" id="{29D0F9BE-1D29-48D6-9AB3-26D2E1DE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성능을 어떻게 조사하고 확인하나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D4A510-D2F1-4278-9E09-A55AB664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67175"/>
            <a:ext cx="3333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Repository Skill">
            <a:extLst xmlns:a="http://schemas.openxmlformats.org/drawingml/2006/main">
              <a:ext uri="{FF2B5EF4-FFF2-40B4-BE49-F238E27FC236}">
                <a16:creationId xmlns:a16="http://schemas.microsoft.com/office/drawing/2014/main" id="{28CA9A99-FF87-4005-8F35-12333EF14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433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Repository Skill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B3D847-9637-4A28-82C6-7809DA0B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이번 실행에서 무엇을 측정했나">
            <a:extLst xmlns:a="http://schemas.openxmlformats.org/drawingml/2006/main">
              <a:ext uri="{FF2B5EF4-FFF2-40B4-BE49-F238E27FC236}">
                <a16:creationId xmlns:a16="http://schemas.microsoft.com/office/drawing/2014/main" id="{9EDB97AB-1A28-452F-8520-863AD66A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실행에서 무엇을 측정했나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78D413-57ED-42DC-826A-2DF64A476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857750"/>
            <a:ext cx="3333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날짜가 있는 Trial 기록 · Git 이력">
            <a:extLst xmlns:a="http://schemas.openxmlformats.org/drawingml/2006/main">
              <a:ext uri="{FF2B5EF4-FFF2-40B4-BE49-F238E27FC236}">
                <a16:creationId xmlns:a16="http://schemas.microsoft.com/office/drawing/2014/main" id="{B446641C-7B04-4E3D-B603-28A15CE2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3392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날짜가 있는 Trial 기록 · Git 이력</a:t>
            </a:r>
          </a:p>
        </p:txBody>
      </p:sp>
      <p:sp>
        <p:nvSpPr>
          <p:cNvPr id="23" name="새 기록을 만들기 전에, 원래 출처를 먼저 찾는다">
            <a:extLst xmlns:a="http://schemas.openxmlformats.org/drawingml/2006/main">
              <a:ext uri="{FF2B5EF4-FFF2-40B4-BE49-F238E27FC236}">
                <a16:creationId xmlns:a16="http://schemas.microsoft.com/office/drawing/2014/main" id="{2104CC7D-61AA-403E-8E8A-F8CC38E5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기록을 만들기 전에, 원래 출처를 먼저 찾는다</a:t>
            </a:r>
          </a:p>
        </p:txBody>
      </p:sp>
    </p:spTree>
    <p:extLst>
      <p:ext uri="{BB962C8B-B14F-4D97-AF65-F5344CB8AC3E}">
        <p14:creationId xmlns:p14="http://schemas.microsoft.com/office/powerpoint/2010/main" val="926280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무엇을 남길 가치가 있는가">
            <a:extLst xmlns:a="http://schemas.openxmlformats.org/drawingml/2006/main">
              <a:ext uri="{FF2B5EF4-FFF2-40B4-BE49-F238E27FC236}">
                <a16:creationId xmlns:a16="http://schemas.microsoft.com/office/drawing/2014/main" id="{86E23976-3915-432C-B185-A1A61370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무엇을 남길 가치가 있는가</a:t>
            </a:r>
          </a:p>
        </p:txBody>
      </p:sp>
      <p:sp>
        <p:nvSpPr>
          <p:cNvPr id="2" name="S49">
            <a:extLst xmlns:a="http://schemas.openxmlformats.org/drawingml/2006/main">
              <a:ext uri="{FF2B5EF4-FFF2-40B4-BE49-F238E27FC236}">
                <a16:creationId xmlns:a16="http://schemas.microsoft.com/office/drawing/2014/main" id="{35DAE2B5-5554-4AEC-900C-18D07D08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S49</a:t>
            </a:r>
          </a:p>
        </p:txBody>
      </p:sp>
      <p:sp>
        <p:nvSpPr>
          <p:cNvPr id="3" name="Memory는 재발견 비용으로 판단">
            <a:extLst xmlns:a="http://schemas.openxmlformats.org/drawingml/2006/main">
              <a:ext uri="{FF2B5EF4-FFF2-40B4-BE49-F238E27FC236}">
                <a16:creationId xmlns:a16="http://schemas.microsoft.com/office/drawing/2014/main" id="{D2B3E756-B3E1-4096-AEA1-F47C83FB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Memory는 재발견 비용으로 판단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A49010-D407-43A1-9B6E-BE02A4C1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의사결정 기준 · 별도 Memory의 필요성을 검토하는 질문">
            <a:extLst xmlns:a="http://schemas.openxmlformats.org/drawingml/2006/main">
              <a:ext uri="{FF2B5EF4-FFF2-40B4-BE49-F238E27FC236}">
                <a16:creationId xmlns:a16="http://schemas.microsoft.com/office/drawing/2014/main" id="{0018D58F-06EB-4CFA-92E3-5028A92C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의사결정 기준 · 별도 Memory의 필요성을 검토하는 질문</a:t>
            </a:r>
          </a:p>
        </p:txBody>
      </p:sp>
      <p:sp>
        <p:nvSpPr>
          <p:cNvPr id="6" name="현재 Demo에서는 조건에 맞는 후보 없음 · Memory 사용 여부는 성숙도 점수가 아님">
            <a:extLst xmlns:a="http://schemas.openxmlformats.org/drawingml/2006/main">
              <a:ext uri="{FF2B5EF4-FFF2-40B4-BE49-F238E27FC236}">
                <a16:creationId xmlns:a16="http://schemas.microsoft.com/office/drawing/2014/main" id="{FD6F46BD-04A4-4BFF-B5FC-1DD37342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Demo에서는 조건에 맞는 후보 없음 · Memory 사용 여부는 성숙도 점수가 아님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76990-F910-488B-89B5-E5938D76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65F3A634-54EF-4872-BA6C-9593E2507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다시 찾는 비용이 큰가?">
            <a:extLst xmlns:a="http://schemas.openxmlformats.org/drawingml/2006/main">
              <a:ext uri="{FF2B5EF4-FFF2-40B4-BE49-F238E27FC236}">
                <a16:creationId xmlns:a16="http://schemas.microsoft.com/office/drawing/2014/main" id="{07E1261E-FDAB-44B3-AC8C-7B00BA9E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76475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다시 찾는 비용이 큰가?</a:t>
            </a:r>
          </a:p>
        </p:txBody>
      </p:sp>
      <p:sp>
        <p:nvSpPr>
          <p:cNvPr id="10" name="이미 잘 관리되는 출처가 있다면 그곳을 참고">
            <a:extLst xmlns:a="http://schemas.openxmlformats.org/drawingml/2006/main">
              <a:ext uri="{FF2B5EF4-FFF2-40B4-BE49-F238E27FC236}">
                <a16:creationId xmlns:a16="http://schemas.microsoft.com/office/drawing/2014/main" id="{44EFCEC0-CE81-491A-80AD-3C6E23C0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57475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이미 잘 관리되는 출처가 있다면 그곳을 참고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990BAB-75E4-484A-AE83-C733D4F4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DC55E8BF-2A21-4CC0-AD59-3DE46ACB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다음 작업에도 쓸 수 있는가?">
            <a:extLst xmlns:a="http://schemas.openxmlformats.org/drawingml/2006/main">
              <a:ext uri="{FF2B5EF4-FFF2-40B4-BE49-F238E27FC236}">
                <a16:creationId xmlns:a16="http://schemas.microsoft.com/office/drawing/2014/main" id="{1D1969F9-BB12-417A-8A15-64776360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24200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작업에도 쓸 수 있는가?</a:t>
            </a:r>
          </a:p>
        </p:txBody>
      </p:sp>
      <p:sp>
        <p:nvSpPr>
          <p:cNvPr id="14" name="일회성 실행 상태와 프로젝트 지식을 구별">
            <a:extLst xmlns:a="http://schemas.openxmlformats.org/drawingml/2006/main">
              <a:ext uri="{FF2B5EF4-FFF2-40B4-BE49-F238E27FC236}">
                <a16:creationId xmlns:a16="http://schemas.microsoft.com/office/drawing/2014/main" id="{9962F569-604D-4F8A-A29D-0FD687A5C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505200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일회성 실행 상태와 프로젝트 지식을 구별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2E560B-41C1-4723-B5E1-29763593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664596AD-BE5D-4532-900F-5D5BB2C2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출처와 적용 범위를 아는가?">
            <a:extLst xmlns:a="http://schemas.openxmlformats.org/drawingml/2006/main">
              <a:ext uri="{FF2B5EF4-FFF2-40B4-BE49-F238E27FC236}">
                <a16:creationId xmlns:a16="http://schemas.microsoft.com/office/drawing/2014/main" id="{20B53628-E3C5-4EFC-991F-5B59D288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71925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출처와 적용 범위를 아는가?</a:t>
            </a:r>
          </a:p>
        </p:txBody>
      </p:sp>
      <p:sp>
        <p:nvSpPr>
          <p:cNvPr id="18" name="어떤 프로젝트·조건에서 유효한지 기록">
            <a:extLst xmlns:a="http://schemas.openxmlformats.org/drawingml/2006/main">
              <a:ext uri="{FF2B5EF4-FFF2-40B4-BE49-F238E27FC236}">
                <a16:creationId xmlns:a16="http://schemas.microsoft.com/office/drawing/2014/main" id="{7F3BDF7C-7640-47C6-99F0-D5300AB3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52925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프로젝트·조건에서 유효한지 기록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AF1C3-11E2-4013-BCF3-06E45C23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4E6B5684-9173-43B0-AB6B-5CB16868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언제 다시 확인해야 하는가?">
            <a:extLst xmlns:a="http://schemas.openxmlformats.org/drawingml/2006/main">
              <a:ext uri="{FF2B5EF4-FFF2-40B4-BE49-F238E27FC236}">
                <a16:creationId xmlns:a16="http://schemas.microsoft.com/office/drawing/2014/main" id="{E49E11E9-F090-4200-97A2-48BE71DD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19650"/>
            <a:ext cx="10115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언제 다시 확인해야 하는가?</a:t>
            </a:r>
          </a:p>
        </p:txBody>
      </p:sp>
      <p:sp>
        <p:nvSpPr>
          <p:cNvPr id="22" name="갱신 또는 무효화할 조건을 함께 관리">
            <a:extLst xmlns:a="http://schemas.openxmlformats.org/drawingml/2006/main">
              <a:ext uri="{FF2B5EF4-FFF2-40B4-BE49-F238E27FC236}">
                <a16:creationId xmlns:a16="http://schemas.microsoft.com/office/drawing/2014/main" id="{8FBC0D97-48A5-4D39-B5F5-C85B6298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00650"/>
            <a:ext cx="101155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갱신 또는 무효화할 조건을 함께 관리</a:t>
            </a:r>
          </a:p>
        </p:txBody>
      </p:sp>
    </p:spTree>
    <p:extLst>
      <p:ext uri="{BB962C8B-B14F-4D97-AF65-F5344CB8AC3E}">
        <p14:creationId xmlns:p14="http://schemas.microsoft.com/office/powerpoint/2010/main" val="7566610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3 · 이번 문제에 실제로 필요했던 구조">
            <a:extLst xmlns:a="http://schemas.openxmlformats.org/drawingml/2006/main">
              <a:ext uri="{FF2B5EF4-FFF2-40B4-BE49-F238E27FC236}">
                <a16:creationId xmlns:a16="http://schemas.microsoft.com/office/drawing/2014/main" id="{D2162889-3785-471C-86D3-F916A626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이번 문제에 실제로 필요했던 구조</a:t>
            </a:r>
          </a:p>
        </p:txBody>
      </p:sp>
      <p:sp>
        <p:nvSpPr>
          <p:cNvPr id="2" name="S50">
            <a:extLst xmlns:a="http://schemas.openxmlformats.org/drawingml/2006/main">
              <a:ext uri="{FF2B5EF4-FFF2-40B4-BE49-F238E27FC236}">
                <a16:creationId xmlns:a16="http://schemas.microsoft.com/office/drawing/2014/main" id="{59ECF61D-D7B8-46C6-A3C4-85F15440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S50</a:t>
            </a:r>
          </a:p>
        </p:txBody>
      </p:sp>
      <p:sp>
        <p:nvSpPr>
          <p:cNvPr id="3" name="Minimum Effective Harness">
            <a:extLst xmlns:a="http://schemas.openxmlformats.org/drawingml/2006/main">
              <a:ext uri="{FF2B5EF4-FFF2-40B4-BE49-F238E27FC236}">
                <a16:creationId xmlns:a16="http://schemas.microsoft.com/office/drawing/2014/main" id="{2FFBA5D8-AB96-4D66-B5D8-5662B513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Minimum Effective Harness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D52799-31EC-4810-93C6-C862E69B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까지의 구성 · 현재 프로젝트 사례를 정리한 교육용 모델">
            <a:extLst xmlns:a="http://schemas.openxmlformats.org/drawingml/2006/main">
              <a:ext uri="{FF2B5EF4-FFF2-40B4-BE49-F238E27FC236}">
                <a16:creationId xmlns:a16="http://schemas.microsoft.com/office/drawing/2014/main" id="{69FEC4C9-5470-4C97-9217-2740440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STATE-04-PERF까지의 구성 · 현재 프로젝트 사례를 정리한 교육용 모델</a:t>
            </a:r>
          </a:p>
        </p:txBody>
      </p:sp>
      <p:sp>
        <p:nvSpPr>
          <p:cNvPr id="6" name="Subagent·별도 Memory는 추가하지 않음 · 필요한 구성은 문제와 검증 요건에 따라 달라짐">
            <a:extLst xmlns:a="http://schemas.openxmlformats.org/drawingml/2006/main">
              <a:ext uri="{FF2B5EF4-FFF2-40B4-BE49-F238E27FC236}">
                <a16:creationId xmlns:a16="http://schemas.microsoft.com/office/drawing/2014/main" id="{E62A9512-4F72-42C5-AEE3-CBDC0C258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Subagent·별도 Memory는 추가하지 않음 · 필요한 구성은 문제와 검증 요건에 따라 달라짐</a:t>
            </a:r>
          </a:p>
        </p:txBody>
      </p:sp>
      <p:sp>
        <p:nvSpPr>
          <p:cNvPr id="7" name="반복해서 부딪힌 문제 → 실제로 둔 구조">
            <a:extLst xmlns:a="http://schemas.openxmlformats.org/drawingml/2006/main">
              <a:ext uri="{FF2B5EF4-FFF2-40B4-BE49-F238E27FC236}">
                <a16:creationId xmlns:a16="http://schemas.microsoft.com/office/drawing/2014/main" id="{737816DC-285B-4270-8E9E-667A0C89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반복해서 부딪힌 문제 → 실제로 둔 구조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9E7B8-4E1C-4D87-B490-5DEA75C0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목표와 범위">
            <a:extLst xmlns:a="http://schemas.openxmlformats.org/drawingml/2006/main">
              <a:ext uri="{FF2B5EF4-FFF2-40B4-BE49-F238E27FC236}">
                <a16:creationId xmlns:a16="http://schemas.microsoft.com/office/drawing/2014/main" id="{4877735C-B764-43A8-B220-FBB37209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목표와 범위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7B80E5E8-8487-4F52-A37A-B35BF14C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943225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1" name="Task Prompt">
            <a:extLst xmlns:a="http://schemas.openxmlformats.org/drawingml/2006/main">
              <a:ext uri="{FF2B5EF4-FFF2-40B4-BE49-F238E27FC236}">
                <a16:creationId xmlns:a16="http://schemas.microsoft.com/office/drawing/2014/main" id="{85FC30D4-6804-4E37-BAC9-57876BAB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43225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94D3FB-C780-40BC-A51B-46C9A1C0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프로젝트 사실과 상세 정보">
            <a:extLst xmlns:a="http://schemas.openxmlformats.org/drawingml/2006/main">
              <a:ext uri="{FF2B5EF4-FFF2-40B4-BE49-F238E27FC236}">
                <a16:creationId xmlns:a16="http://schemas.microsoft.com/office/drawing/2014/main" id="{17C0F6FE-4239-4FFA-AEBA-5C4F4583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사실과 상세 정보</a:t>
            </a:r>
          </a:p>
        </p:txBody>
      </p:sp>
      <p:sp>
        <p:nvSpPr>
          <p:cNvPr id="14" name="→">
            <a:extLst xmlns:a="http://schemas.openxmlformats.org/drawingml/2006/main">
              <a:ext uri="{FF2B5EF4-FFF2-40B4-BE49-F238E27FC236}">
                <a16:creationId xmlns:a16="http://schemas.microsoft.com/office/drawing/2014/main" id="{0A46D774-F11A-4301-AEA1-8D1004AEC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5814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5" name="AGENTS.md + docs Routing">
            <a:extLst xmlns:a="http://schemas.openxmlformats.org/drawingml/2006/main">
              <a:ext uri="{FF2B5EF4-FFF2-40B4-BE49-F238E27FC236}">
                <a16:creationId xmlns:a16="http://schemas.microsoft.com/office/drawing/2014/main" id="{8327CECB-FA09-4FD3-9AF1-782AF9BB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81400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AGENTS.md + docs Routing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868736-D160-4CEB-AAA6-0E01502B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같은 조사·검증 절차">
            <a:extLst xmlns:a="http://schemas.openxmlformats.org/drawingml/2006/main">
              <a:ext uri="{FF2B5EF4-FFF2-40B4-BE49-F238E27FC236}">
                <a16:creationId xmlns:a16="http://schemas.microsoft.com/office/drawing/2014/main" id="{2E722C89-6456-4CB9-930A-D471D67D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조사·검증 절차</a:t>
            </a:r>
          </a:p>
        </p:txBody>
      </p:sp>
      <p:sp>
        <p:nvSpPr>
          <p:cNvPr id="18" name="→">
            <a:extLst xmlns:a="http://schemas.openxmlformats.org/drawingml/2006/main">
              <a:ext uri="{FF2B5EF4-FFF2-40B4-BE49-F238E27FC236}">
                <a16:creationId xmlns:a16="http://schemas.microsoft.com/office/drawing/2014/main" id="{92D025A4-A4E4-4232-95FA-C62541D7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219575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19" name="graypipe-performance Skill">
            <a:extLst xmlns:a="http://schemas.openxmlformats.org/drawingml/2006/main">
              <a:ext uri="{FF2B5EF4-FFF2-40B4-BE49-F238E27FC236}">
                <a16:creationId xmlns:a16="http://schemas.microsoft.com/office/drawing/2014/main" id="{4A8A22CE-C9A8-4D49-81ED-0EBFB455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19575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graypipe-performance Skill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57EF6A-2054-4F1F-AD86-6FFA12C1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변경을 믿을 근거">
            <a:extLst xmlns:a="http://schemas.openxmlformats.org/drawingml/2006/main">
              <a:ext uri="{FF2B5EF4-FFF2-40B4-BE49-F238E27FC236}">
                <a16:creationId xmlns:a16="http://schemas.microsoft.com/office/drawing/2014/main" id="{0B2F7617-6824-43EA-8E00-BBA2B094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46577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변경을 믿을 근거</a:t>
            </a:r>
          </a:p>
        </p:txBody>
      </p:sp>
      <p:sp>
        <p:nvSpPr>
          <p:cNvPr id="22" name="→">
            <a:extLst xmlns:a="http://schemas.openxmlformats.org/drawingml/2006/main">
              <a:ext uri="{FF2B5EF4-FFF2-40B4-BE49-F238E27FC236}">
                <a16:creationId xmlns:a16="http://schemas.microsoft.com/office/drawing/2014/main" id="{F40F63F8-9D2F-43A0-A7CD-6D8D49DD3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8577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→</a:t>
            </a:r>
          </a:p>
        </p:txBody>
      </p:sp>
      <p:sp>
        <p:nvSpPr>
          <p:cNvPr id="23" name="Tests + Benchmark + Tools / Environment">
            <a:extLst xmlns:a="http://schemas.openxmlformats.org/drawingml/2006/main">
              <a:ext uri="{FF2B5EF4-FFF2-40B4-BE49-F238E27FC236}">
                <a16:creationId xmlns:a16="http://schemas.microsoft.com/office/drawing/2014/main" id="{813E5ED9-6731-49A1-88DA-32B3F859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57750"/>
            <a:ext cx="5372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Tests + Benchmark + Tools / Environment</a:t>
            </a:r>
          </a:p>
        </p:txBody>
      </p:sp>
    </p:spTree>
    <p:extLst>
      <p:ext uri="{BB962C8B-B14F-4D97-AF65-F5344CB8AC3E}">
        <p14:creationId xmlns:p14="http://schemas.microsoft.com/office/powerpoint/2010/main" val="18108440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3 · 개발자와 Agent가 일하는 환경">
            <a:extLst xmlns:a="http://schemas.openxmlformats.org/drawingml/2006/main">
              <a:ext uri="{FF2B5EF4-FFF2-40B4-BE49-F238E27FC236}">
                <a16:creationId xmlns:a16="http://schemas.microsoft.com/office/drawing/2014/main" id="{0346E457-359A-4269-9636-7AC87DA8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개발자와 Agent가 일하는 환경</a:t>
            </a:r>
          </a:p>
        </p:txBody>
      </p:sp>
      <p:sp>
        <p:nvSpPr>
          <p:cNvPr id="2" name="S51">
            <a:extLst xmlns:a="http://schemas.openxmlformats.org/drawingml/2006/main">
              <a:ext uri="{FF2B5EF4-FFF2-40B4-BE49-F238E27FC236}">
                <a16:creationId xmlns:a16="http://schemas.microsoft.com/office/drawing/2014/main" id="{F5928C13-900E-4F65-A7E9-F5A74472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S51</a:t>
            </a:r>
          </a:p>
        </p:txBody>
      </p:sp>
      <p:sp>
        <p:nvSpPr>
          <p:cNvPr id="3" name="Harness는 작업 환경 설계다">
            <a:extLst xmlns:a="http://schemas.openxmlformats.org/drawingml/2006/main">
              <a:ext uri="{FF2B5EF4-FFF2-40B4-BE49-F238E27FC236}">
                <a16:creationId xmlns:a16="http://schemas.microsoft.com/office/drawing/2014/main" id="{D69160A1-19E4-47E9-B668-98612336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Harness는 작업 환경 설계다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CF0BA-3417-4CE1-BDD2-A02C7142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Harness: Agent가 Project에서 신뢰성 있게 일하도록 설계한 작업 환경 · 이 과정의 운영 모">
            <a:extLst xmlns:a="http://schemas.openxmlformats.org/drawingml/2006/main">
              <a:ext uri="{FF2B5EF4-FFF2-40B4-BE49-F238E27FC236}">
                <a16:creationId xmlns:a16="http://schemas.microsoft.com/office/drawing/2014/main" id="{61C78A85-78BC-4B07-9D05-60E034CE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Harness: Agent가 Project에서 신뢰성 있게 일하도록 설계한 작업 환경 · 이 과정의 운영 모델</a:t>
            </a:r>
          </a:p>
        </p:txBody>
      </p:sp>
      <p:sp>
        <p:nvSpPr>
          <p:cNvPr id="6" name="공식 제품 분류가 아님 · STATE-04-PERF 관찰 요소와 교육용 전체 모델을 구분한다">
            <a:extLst xmlns:a="http://schemas.openxmlformats.org/drawingml/2006/main">
              <a:ext uri="{FF2B5EF4-FFF2-40B4-BE49-F238E27FC236}">
                <a16:creationId xmlns:a16="http://schemas.microsoft.com/office/drawing/2014/main" id="{EFC0B795-323D-4CF5-9285-FF877AA3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 제품 분류가 아님 · STATE-04-PERF 관찰 요소와 교육용 전체 모델을 구분한다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7914BE-6866-4F58-8915-0D14A9A9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2600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Project 작업 환경">
            <a:extLst xmlns:a="http://schemas.openxmlformats.org/drawingml/2006/main">
              <a:ext uri="{FF2B5EF4-FFF2-40B4-BE49-F238E27FC236}">
                <a16:creationId xmlns:a16="http://schemas.microsoft.com/office/drawing/2014/main" id="{7030D8D5-FC33-41F2-9933-F5F29921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14575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Project 작업 환경</a:t>
            </a:r>
          </a:p>
        </p:txBody>
      </p:sp>
      <p:sp>
        <p:nvSpPr>
          <p:cNvPr id="9" name="개발자 + Agent">
            <a:extLst xmlns:a="http://schemas.openxmlformats.org/drawingml/2006/main">
              <a:ext uri="{FF2B5EF4-FFF2-40B4-BE49-F238E27FC236}">
                <a16:creationId xmlns:a16="http://schemas.microsoft.com/office/drawing/2014/main" id="{F2C66B01-EFFD-4A01-B1EB-431092D6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76550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2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 + Agent</a:t>
            </a:r>
          </a:p>
        </p:txBody>
      </p:sp>
      <p:sp>
        <p:nvSpPr>
          <p:cNvPr id="10" name="현재 목표">
            <a:extLst xmlns:a="http://schemas.openxmlformats.org/drawingml/2006/main">
              <a:ext uri="{FF2B5EF4-FFF2-40B4-BE49-F238E27FC236}">
                <a16:creationId xmlns:a16="http://schemas.microsoft.com/office/drawing/2014/main" id="{7B2AA48A-09DB-414C-B263-157E1163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956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목표</a:t>
            </a:r>
          </a:p>
        </p:txBody>
      </p:sp>
      <p:sp>
        <p:nvSpPr>
          <p:cNvPr id="11" name="확인할 결과">
            <a:extLst xmlns:a="http://schemas.openxmlformats.org/drawingml/2006/main">
              <a:ext uri="{FF2B5EF4-FFF2-40B4-BE49-F238E27FC236}">
                <a16:creationId xmlns:a16="http://schemas.microsoft.com/office/drawing/2014/main" id="{E0955CFC-8F10-4806-AA1D-1D9FAA9F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956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1F1032-0D4D-4001-9B82-E503FA5D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209925"/>
            <a:ext cx="3810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FBC415-4D32-4542-B097-1269E0C1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09925"/>
            <a:ext cx="238125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C869E-6BA5-4535-856F-006D186D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38575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Project Context / Routing     ·     Workflow     ·     Verif">
            <a:extLst xmlns:a="http://schemas.openxmlformats.org/drawingml/2006/main">
              <a:ext uri="{FF2B5EF4-FFF2-40B4-BE49-F238E27FC236}">
                <a16:creationId xmlns:a16="http://schemas.microsoft.com/office/drawing/2014/main" id="{331391FE-0FEF-4F4D-BB8E-0C40BF7F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48125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Context / Routing     ·     Workflow     ·     Verification / Tools</a:t>
            </a:r>
          </a:p>
        </p:txBody>
      </p:sp>
      <p:sp>
        <p:nvSpPr>
          <p:cNvPr id="16" name="관찰한 구성">
            <a:extLst xmlns:a="http://schemas.openxmlformats.org/drawingml/2006/main">
              <a:ext uri="{FF2B5EF4-FFF2-40B4-BE49-F238E27FC236}">
                <a16:creationId xmlns:a16="http://schemas.microsoft.com/office/drawing/2014/main" id="{0AF9801B-7882-4A05-AAFA-ECCAE8CA3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962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관찰한 구성</a:t>
            </a:r>
          </a:p>
        </p:txBody>
      </p:sp>
      <p:sp>
        <p:nvSpPr>
          <p:cNvPr id="17" name="AGENTS.md · docs · Skill · Tests · Benchmark">
            <a:extLst xmlns:a="http://schemas.openxmlformats.org/drawingml/2006/main">
              <a:ext uri="{FF2B5EF4-FFF2-40B4-BE49-F238E27FC236}">
                <a16:creationId xmlns:a16="http://schemas.microsoft.com/office/drawing/2014/main" id="{6D7138CE-BFF4-46FE-BA4F-6CA9E9C9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133975"/>
            <a:ext cx="8820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AGENTS.md · docs · Skill · Tests · Benchmark</a:t>
            </a:r>
          </a:p>
        </p:txBody>
      </p:sp>
    </p:spTree>
    <p:extLst>
      <p:ext uri="{BB962C8B-B14F-4D97-AF65-F5344CB8AC3E}">
        <p14:creationId xmlns:p14="http://schemas.microsoft.com/office/powerpoint/2010/main" val="86809853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3 · 실행 환경의 경계">
            <a:extLst xmlns:a="http://schemas.openxmlformats.org/drawingml/2006/main">
              <a:ext uri="{FF2B5EF4-FFF2-40B4-BE49-F238E27FC236}">
                <a16:creationId xmlns:a16="http://schemas.microsoft.com/office/drawing/2014/main" id="{AA4D6E18-CE98-428B-9EF7-892808EF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실행 환경의 경계</a:t>
            </a:r>
          </a:p>
        </p:txBody>
      </p:sp>
      <p:sp>
        <p:nvSpPr>
          <p:cNvPr id="2" name="S52">
            <a:extLst xmlns:a="http://schemas.openxmlformats.org/drawingml/2006/main">
              <a:ext uri="{FF2B5EF4-FFF2-40B4-BE49-F238E27FC236}">
                <a16:creationId xmlns:a16="http://schemas.microsoft.com/office/drawing/2014/main" id="{978F157E-A0E2-4CD4-A43C-A4293E3D0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S52</a:t>
            </a:r>
          </a:p>
        </p:txBody>
      </p:sp>
      <p:sp>
        <p:nvSpPr>
          <p:cNvPr id="3" name="Repository 밖의 환경도 결과에 영향을 준다">
            <a:extLst xmlns:a="http://schemas.openxmlformats.org/drawingml/2006/main">
              <a:ext uri="{FF2B5EF4-FFF2-40B4-BE49-F238E27FC236}">
                <a16:creationId xmlns:a16="http://schemas.microsoft.com/office/drawing/2014/main" id="{FD7F0D6F-AF72-40C9-8576-372612BA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밖의 환경도 결과에 영향을 준다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F00D7F-4C57-4982-85E5-D29C78D0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91B20-1A33-48E4-AF11-43955C70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관찰된 제작 이력의 예고 · Global Skills와 hook/MCP 시작 경고의 기록 존재">
            <a:extLst xmlns:a="http://schemas.openxmlformats.org/drawingml/2006/main">
              <a:ext uri="{FF2B5EF4-FFF2-40B4-BE49-F238E27FC236}">
                <a16:creationId xmlns:a16="http://schemas.microsoft.com/office/drawing/2014/main" id="{4AD1A4BD-05CE-4D05-B527-AE30F81E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관찰된 제작 이력의 예고 · Global Skills와 hook/MCP 시작 경고의 기록 존재</a:t>
            </a:r>
          </a:p>
        </p:txBody>
      </p:sp>
      <p:sp>
        <p:nvSpPr>
          <p:cNvPr id="7" name="전체 환경 목록이나 모든 요소의 인과 효과를 확인한 것은 아님 · 상세 근거는 ACT 4에서 확인">
            <a:extLst xmlns:a="http://schemas.openxmlformats.org/drawingml/2006/main">
              <a:ext uri="{FF2B5EF4-FFF2-40B4-BE49-F238E27FC236}">
                <a16:creationId xmlns:a16="http://schemas.microsoft.com/office/drawing/2014/main" id="{F471403A-E720-4329-9E90-39C6522E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전체 환경 목록이나 모든 요소의 인과 효과를 확인한 것은 아님 · 상세 근거는 ACT 4에서 확인</a:t>
            </a:r>
          </a:p>
        </p:txBody>
      </p:sp>
      <p:sp>
        <p:nvSpPr>
          <p:cNvPr id="8" name="같은 Repository가 같은 실행 환경을 뜻할까?">
            <a:extLst xmlns:a="http://schemas.openxmlformats.org/drawingml/2006/main">
              <a:ext uri="{FF2B5EF4-FFF2-40B4-BE49-F238E27FC236}">
                <a16:creationId xmlns:a16="http://schemas.microsoft.com/office/drawing/2014/main" id="{56EF9302-40F7-4A9F-87EB-4D421BEF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Repository가 같은 실행 환경을 뜻할까?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D227DB-60C5-4A40-A509-047196771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4476750" cy="2028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Project Repository">
            <a:extLst xmlns:a="http://schemas.openxmlformats.org/drawingml/2006/main">
              <a:ext uri="{FF2B5EF4-FFF2-40B4-BE49-F238E27FC236}">
                <a16:creationId xmlns:a16="http://schemas.microsoft.com/office/drawing/2014/main" id="{368743A6-7FEA-47E8-BEFA-B8CAEF63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14675"/>
            <a:ext cx="4019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Repository</a:t>
            </a:r>
          </a:p>
        </p:txBody>
      </p:sp>
      <p:sp>
        <p:nvSpPr>
          <p:cNvPr id="11" name="코드 · AGENTS.md&#10;Project docs · Skill">
            <a:extLst xmlns:a="http://schemas.openxmlformats.org/drawingml/2006/main">
              <a:ext uri="{FF2B5EF4-FFF2-40B4-BE49-F238E27FC236}">
                <a16:creationId xmlns:a16="http://schemas.microsoft.com/office/drawing/2014/main" id="{741DF4CD-4AB1-4219-8545-38101F63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0195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 · AGENTS.md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 docs · Skill</a:t>
            </a:r>
          </a:p>
        </p:txBody>
      </p:sp>
      <p:sp>
        <p:nvSpPr>
          <p:cNvPr id="12" name="바깥에서 함께 들어올 수 있는 조건">
            <a:extLst xmlns:a="http://schemas.openxmlformats.org/drawingml/2006/main">
              <a:ext uri="{FF2B5EF4-FFF2-40B4-BE49-F238E27FC236}">
                <a16:creationId xmlns:a16="http://schemas.microsoft.com/office/drawing/2014/main" id="{20C04192-7EBA-4417-8B2B-A4F42E32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924175"/>
            <a:ext cx="55435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바깥에서 함께 들어올 수 있는 조건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6CEC91-BC9D-42F8-AF89-9071F27F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495675"/>
            <a:ext cx="5543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지침">
            <a:extLst xmlns:a="http://schemas.openxmlformats.org/drawingml/2006/main">
              <a:ext uri="{FF2B5EF4-FFF2-40B4-BE49-F238E27FC236}">
                <a16:creationId xmlns:a16="http://schemas.microsoft.com/office/drawing/2014/main" id="{1BC90472-FF0E-4F6D-92BA-DF01A1A2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5909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지침</a:t>
            </a:r>
          </a:p>
        </p:txBody>
      </p:sp>
      <p:sp>
        <p:nvSpPr>
          <p:cNvPr id="15" name="Global instructions · Skills">
            <a:extLst xmlns:a="http://schemas.openxmlformats.org/drawingml/2006/main">
              <a:ext uri="{FF2B5EF4-FFF2-40B4-BE49-F238E27FC236}">
                <a16:creationId xmlns:a16="http://schemas.microsoft.com/office/drawing/2014/main" id="{2746CC14-9601-44A0-A22F-A0C6F7C2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590925"/>
            <a:ext cx="4010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Global instructions · Skills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50B5D5-4DB0-4BC7-AA36-53CE8267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76700"/>
            <a:ext cx="5543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실행">
            <a:extLst xmlns:a="http://schemas.openxmlformats.org/drawingml/2006/main">
              <a:ext uri="{FF2B5EF4-FFF2-40B4-BE49-F238E27FC236}">
                <a16:creationId xmlns:a16="http://schemas.microsoft.com/office/drawing/2014/main" id="{7B93BDF5-8382-4B5C-B078-F52CC1BD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719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8" name="Model/config · OS/runtime">
            <a:extLst xmlns:a="http://schemas.openxmlformats.org/drawingml/2006/main">
              <a:ext uri="{FF2B5EF4-FFF2-40B4-BE49-F238E27FC236}">
                <a16:creationId xmlns:a16="http://schemas.microsoft.com/office/drawing/2014/main" id="{549B0B4B-21E6-41DD-839F-A1C0EE1D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171950"/>
            <a:ext cx="4010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Model/config · OS/runtime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927A26-DE09-4CDA-8F21-9F1A8C783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657725"/>
            <a:ext cx="5543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도구와 권한">
            <a:extLst xmlns:a="http://schemas.openxmlformats.org/drawingml/2006/main">
              <a:ext uri="{FF2B5EF4-FFF2-40B4-BE49-F238E27FC236}">
                <a16:creationId xmlns:a16="http://schemas.microsoft.com/office/drawing/2014/main" id="{06199502-5405-455E-B5CA-A4D16605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75297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도구와 권한</a:t>
            </a:r>
          </a:p>
        </p:txBody>
      </p:sp>
      <p:sp>
        <p:nvSpPr>
          <p:cNvPr id="21" name="Hooks · MCP · Permissions">
            <a:extLst xmlns:a="http://schemas.openxmlformats.org/drawingml/2006/main">
              <a:ext uri="{FF2B5EF4-FFF2-40B4-BE49-F238E27FC236}">
                <a16:creationId xmlns:a16="http://schemas.microsoft.com/office/drawing/2014/main" id="{966416C1-1865-47D4-8F84-ABE89DF42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752975"/>
            <a:ext cx="4010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Hooks · MCP · Permissions</a:t>
            </a:r>
          </a:p>
        </p:txBody>
      </p:sp>
      <p:sp>
        <p:nvSpPr>
          <p:cNvPr id="22" name="Repository 바깥의 흔적도, 결과를 해석할 때 기록한다">
            <a:extLst xmlns:a="http://schemas.openxmlformats.org/drawingml/2006/main">
              <a:ext uri="{FF2B5EF4-FFF2-40B4-BE49-F238E27FC236}">
                <a16:creationId xmlns:a16="http://schemas.microsoft.com/office/drawing/2014/main" id="{80576471-66F2-42A5-9E93-671EB849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바깥의 흔적도, 결과를 해석할 때 기록한다</a:t>
            </a:r>
          </a:p>
        </p:txBody>
      </p:sp>
    </p:spTree>
    <p:extLst>
      <p:ext uri="{BB962C8B-B14F-4D97-AF65-F5344CB8AC3E}">
        <p14:creationId xmlns:p14="http://schemas.microsoft.com/office/powerpoint/2010/main" val="56854142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3 · 도구를 넘어 같은 판단을 적용하기">
            <a:extLst xmlns:a="http://schemas.openxmlformats.org/drawingml/2006/main">
              <a:ext uri="{FF2B5EF4-FFF2-40B4-BE49-F238E27FC236}">
                <a16:creationId xmlns:a16="http://schemas.microsoft.com/office/drawing/2014/main" id="{F56F9479-8935-412E-898F-10AED8A3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도구를 넘어 같은 판단을 적용하기</a:t>
            </a:r>
          </a:p>
        </p:txBody>
      </p:sp>
      <p:sp>
        <p:nvSpPr>
          <p:cNvPr id="2" name="S53">
            <a:extLst xmlns:a="http://schemas.openxmlformats.org/drawingml/2006/main">
              <a:ext uri="{FF2B5EF4-FFF2-40B4-BE49-F238E27FC236}">
                <a16:creationId xmlns:a16="http://schemas.microsoft.com/office/drawing/2014/main" id="{134EC2CC-9382-4D42-B428-F9445D2D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S53</a:t>
            </a:r>
          </a:p>
        </p:txBody>
      </p:sp>
      <p:sp>
        <p:nvSpPr>
          <p:cNvPr id="3" name="Engineering Pattern은 C++에도 전이된다">
            <a:extLst xmlns:a="http://schemas.openxmlformats.org/drawingml/2006/main">
              <a:ext uri="{FF2B5EF4-FFF2-40B4-BE49-F238E27FC236}">
                <a16:creationId xmlns:a16="http://schemas.microsoft.com/office/drawing/2014/main" id="{E8727892-10F6-4821-8BFA-27659594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Engineering Pattern은 C++에도 전이된다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E4F13D-02E5-4500-94E0-DDA1F3A5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C++ Vision 전이를 위한 교육용 예시 · 실제 C++ Demo나 팀 표준 검증 결과가 아님">
            <a:extLst xmlns:a="http://schemas.openxmlformats.org/drawingml/2006/main">
              <a:ext uri="{FF2B5EF4-FFF2-40B4-BE49-F238E27FC236}">
                <a16:creationId xmlns:a16="http://schemas.microsoft.com/office/drawing/2014/main" id="{840B9BFD-50CD-4AAF-95BA-8BD662EBD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Vision 전이를 위한 교육용 예시 · 실제 C++ Demo나 팀 표준 검증 결과가 아님</a:t>
            </a:r>
          </a:p>
        </p:txBody>
      </p:sp>
      <p:sp>
        <p:nvSpPr>
          <p:cNvPr id="6" name="구체적 빌드·IDE·셸·하드웨어 설정은 프로젝트별 확인 필요">
            <a:extLst xmlns:a="http://schemas.openxmlformats.org/drawingml/2006/main">
              <a:ext uri="{FF2B5EF4-FFF2-40B4-BE49-F238E27FC236}">
                <a16:creationId xmlns:a16="http://schemas.microsoft.com/office/drawing/2014/main" id="{013F9E3E-DE35-4F9A-B1A4-9A8AD592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구체적 빌드·IDE·셸·하드웨어 설정은 프로젝트별 확인 필요</a:t>
            </a:r>
          </a:p>
        </p:txBody>
      </p:sp>
      <p:sp>
        <p:nvSpPr>
          <p:cNvPr id="7" name="C++ Vision 성능 문제에서도 같은 질문을 한다">
            <a:extLst xmlns:a="http://schemas.openxmlformats.org/drawingml/2006/main">
              <a:ext uri="{FF2B5EF4-FFF2-40B4-BE49-F238E27FC236}">
                <a16:creationId xmlns:a16="http://schemas.microsoft.com/office/drawing/2014/main" id="{26B7FD4C-BE1F-4A28-834C-7F9CBDC1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C++ Vision 성능 문제에서도 같은 질문을 한다</a:t>
            </a:r>
          </a:p>
        </p:txBody>
      </p:sp>
      <p:sp>
        <p:nvSpPr>
          <p:cNvPr id="8" name="공통 질문">
            <a:extLst xmlns:a="http://schemas.openxmlformats.org/drawingml/2006/main">
              <a:ext uri="{FF2B5EF4-FFF2-40B4-BE49-F238E27FC236}">
                <a16:creationId xmlns:a16="http://schemas.microsoft.com/office/drawing/2014/main" id="{6315BF30-CCDA-4B54-9BBC-4BB71AD9B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2000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공통 질문</a:t>
            </a:r>
          </a:p>
        </p:txBody>
      </p:sp>
      <p:sp>
        <p:nvSpPr>
          <p:cNvPr id="9" name="Python Demo">
            <a:extLst xmlns:a="http://schemas.openxmlformats.org/drawingml/2006/main">
              <a:ext uri="{FF2B5EF4-FFF2-40B4-BE49-F238E27FC236}">
                <a16:creationId xmlns:a16="http://schemas.microsoft.com/office/drawing/2014/main" id="{3FFA5062-0138-45CA-9F60-7D2ACFC0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800350"/>
            <a:ext cx="3571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Python Demo</a:t>
            </a:r>
          </a:p>
        </p:txBody>
      </p:sp>
      <p:sp>
        <p:nvSpPr>
          <p:cNvPr id="10" name="C++ Vision 적용 예">
            <a:extLst xmlns:a="http://schemas.openxmlformats.org/drawingml/2006/main">
              <a:ext uri="{FF2B5EF4-FFF2-40B4-BE49-F238E27FC236}">
                <a16:creationId xmlns:a16="http://schemas.microsoft.com/office/drawing/2014/main" id="{61B831DD-36C2-4CEF-BA05-4FB01561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00350"/>
            <a:ext cx="4343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 Vision 적용 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E631B5-B428-45CA-951B-0DC64100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기준 조건은?">
            <a:extLst xmlns:a="http://schemas.openxmlformats.org/drawingml/2006/main">
              <a:ext uri="{FF2B5EF4-FFF2-40B4-BE49-F238E27FC236}">
                <a16:creationId xmlns:a16="http://schemas.microsoft.com/office/drawing/2014/main" id="{D01A7F34-BC67-4513-9692-0CFFA7C1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기준 조건은?</a:t>
            </a:r>
          </a:p>
        </p:txBody>
      </p:sp>
      <p:sp>
        <p:nvSpPr>
          <p:cNvPr id="13" name="입력 · Project 계약">
            <a:extLst xmlns:a="http://schemas.openxmlformats.org/drawingml/2006/main">
              <a:ext uri="{FF2B5EF4-FFF2-40B4-BE49-F238E27FC236}">
                <a16:creationId xmlns:a16="http://schemas.microsoft.com/office/drawing/2014/main" id="{523597F6-C774-4AC3-A606-8F1FEECB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362325"/>
            <a:ext cx="385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 · Project 계약</a:t>
            </a:r>
          </a:p>
        </p:txBody>
      </p:sp>
      <p:sp>
        <p:nvSpPr>
          <p:cNvPr id="14" name="빌드 모드 · 알고리즘·하드웨어 조건">
            <a:extLst xmlns:a="http://schemas.openxmlformats.org/drawingml/2006/main">
              <a:ext uri="{FF2B5EF4-FFF2-40B4-BE49-F238E27FC236}">
                <a16:creationId xmlns:a16="http://schemas.microsoft.com/office/drawing/2014/main" id="{A43E8526-698B-469A-8AEE-A016B206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62325"/>
            <a:ext cx="434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빌드 모드 · 알고리즘·하드웨어 조건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EE7E7-D183-4B4E-9D91-160E5BBB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어디를 조사할까?">
            <a:extLst xmlns:a="http://schemas.openxmlformats.org/drawingml/2006/main">
              <a:ext uri="{FF2B5EF4-FFF2-40B4-BE49-F238E27FC236}">
                <a16:creationId xmlns:a16="http://schemas.microsoft.com/office/drawing/2014/main" id="{F46FAE23-147B-4ACD-AB7B-54B68B18E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어디를 조사할까?</a:t>
            </a:r>
          </a:p>
        </p:txBody>
      </p:sp>
      <p:sp>
        <p:nvSpPr>
          <p:cNvPr id="17" name="측정한 Python 코드 경로">
            <a:extLst xmlns:a="http://schemas.openxmlformats.org/drawingml/2006/main">
              <a:ext uri="{FF2B5EF4-FFF2-40B4-BE49-F238E27FC236}">
                <a16:creationId xmlns:a16="http://schemas.microsoft.com/office/drawing/2014/main" id="{5E010EF4-2A82-4AF2-908F-FED66B353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981450"/>
            <a:ext cx="385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측정한 Python 코드 경로</a:t>
            </a:r>
          </a:p>
        </p:txBody>
      </p:sp>
      <p:sp>
        <p:nvSpPr>
          <p:cNvPr id="18" name="해당 모듈의 profiler / benchmark">
            <a:extLst xmlns:a="http://schemas.openxmlformats.org/drawingml/2006/main">
              <a:ext uri="{FF2B5EF4-FFF2-40B4-BE49-F238E27FC236}">
                <a16:creationId xmlns:a16="http://schemas.microsoft.com/office/drawing/2014/main" id="{C17708A0-7428-469D-8718-714F3E49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81450"/>
            <a:ext cx="434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해당 모듈의 profiler / benchmark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7E280E-D073-409F-9D42-3F5E0E3FA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무엇을 확인할까?">
            <a:extLst xmlns:a="http://schemas.openxmlformats.org/drawingml/2006/main">
              <a:ext uri="{FF2B5EF4-FFF2-40B4-BE49-F238E27FC236}">
                <a16:creationId xmlns:a16="http://schemas.microsoft.com/office/drawing/2014/main" id="{CB2E54CA-462C-4B8D-8BDD-00685066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확인할까?</a:t>
            </a:r>
          </a:p>
        </p:txBody>
      </p:sp>
      <p:sp>
        <p:nvSpPr>
          <p:cNvPr id="21" name="동작 계약 · unittest">
            <a:extLst xmlns:a="http://schemas.openxmlformats.org/drawingml/2006/main">
              <a:ext uri="{FF2B5EF4-FFF2-40B4-BE49-F238E27FC236}">
                <a16:creationId xmlns:a16="http://schemas.microsoft.com/office/drawing/2014/main" id="{8CF6EBDB-9413-4F3D-8019-A4B8F23D8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600575"/>
            <a:ext cx="385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 · unittest</a:t>
            </a:r>
          </a:p>
        </p:txBody>
      </p:sp>
      <p:sp>
        <p:nvSpPr>
          <p:cNvPr id="22" name="모듈 계약 · 회귀/통합 테스트">
            <a:extLst xmlns:a="http://schemas.openxmlformats.org/drawingml/2006/main">
              <a:ext uri="{FF2B5EF4-FFF2-40B4-BE49-F238E27FC236}">
                <a16:creationId xmlns:a16="http://schemas.microsoft.com/office/drawing/2014/main" id="{791CBDFA-9742-47D8-A674-2D7815BA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00575"/>
            <a:ext cx="4343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모듈 계약 · 회귀/통합 테스트</a:t>
            </a:r>
          </a:p>
        </p:txBody>
      </p:sp>
      <p:sp>
        <p:nvSpPr>
          <p:cNvPr id="23" name="baseline → profile → change → regression check">
            <a:extLst xmlns:a="http://schemas.openxmlformats.org/drawingml/2006/main">
              <a:ext uri="{FF2B5EF4-FFF2-40B4-BE49-F238E27FC236}">
                <a16:creationId xmlns:a16="http://schemas.microsoft.com/office/drawing/2014/main" id="{2EF6469B-5B3E-4F1E-B9E3-B8BCA044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baseline → profile → change → regression check</a:t>
            </a:r>
          </a:p>
        </p:txBody>
      </p:sp>
    </p:spTree>
    <p:extLst>
      <p:ext uri="{BB962C8B-B14F-4D97-AF65-F5344CB8AC3E}">
        <p14:creationId xmlns:p14="http://schemas.microsoft.com/office/powerpoint/2010/main" val="1960824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3 · 내 업무의 반복을 돌아보기">
            <a:extLst xmlns:a="http://schemas.openxmlformats.org/drawingml/2006/main">
              <a:ext uri="{FF2B5EF4-FFF2-40B4-BE49-F238E27FC236}">
                <a16:creationId xmlns:a16="http://schemas.microsoft.com/office/drawing/2014/main" id="{A6F8E951-4523-4235-A452-0B07DCAA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3 · 내 업무의 반복을 돌아보기</a:t>
            </a:r>
          </a:p>
        </p:txBody>
      </p:sp>
      <p:sp>
        <p:nvSpPr>
          <p:cNvPr id="2" name="S54">
            <a:extLst xmlns:a="http://schemas.openxmlformats.org/drawingml/2006/main">
              <a:ext uri="{FF2B5EF4-FFF2-40B4-BE49-F238E27FC236}">
                <a16:creationId xmlns:a16="http://schemas.microsoft.com/office/drawing/2014/main" id="{F2A59CBE-B27E-4807-89C6-CD4ED3D11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S54</a:t>
            </a:r>
          </a:p>
        </p:txBody>
      </p:sp>
      <p:sp>
        <p:nvSpPr>
          <p:cNvPr id="3" name="필요한 구조부터 질문하기">
            <a:extLst xmlns:a="http://schemas.openxmlformats.org/drawingml/2006/main">
              <a:ext uri="{FF2B5EF4-FFF2-40B4-BE49-F238E27FC236}">
                <a16:creationId xmlns:a16="http://schemas.microsoft.com/office/drawing/2014/main" id="{13447851-3085-41A5-A300-6AD828DB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필요한 구조부터 질문하기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3DE37-CA95-42BB-9D71-859C13F9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자신의 업무를 생각해보기 · 공유는 선택">
            <a:extLst xmlns:a="http://schemas.openxmlformats.org/drawingml/2006/main">
              <a:ext uri="{FF2B5EF4-FFF2-40B4-BE49-F238E27FC236}">
                <a16:creationId xmlns:a16="http://schemas.microsoft.com/office/drawing/2014/main" id="{33667A4B-E1CE-41C4-A9D4-B140B289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자신의 업무를 생각해보기 · 공유는 선택</a:t>
            </a:r>
          </a:p>
        </p:txBody>
      </p:sp>
      <p:sp>
        <p:nvSpPr>
          <p:cNvPr id="6" name="STATE-04-PERF는 이 작업에서 잘 동작한 결과 · Subagent와 Memory는 조건부 선택">
            <a:extLst xmlns:a="http://schemas.openxmlformats.org/drawingml/2006/main">
              <a:ext uri="{FF2B5EF4-FFF2-40B4-BE49-F238E27FC236}">
                <a16:creationId xmlns:a16="http://schemas.microsoft.com/office/drawing/2014/main" id="{374FEB2F-3416-4B42-B8A8-8EC217E76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STATE-04-PERF는 이 작업에서 잘 동작한 결과 · Subagent와 Memory는 조건부 선택</a:t>
            </a:r>
          </a:p>
        </p:txBody>
      </p:sp>
      <p:sp>
        <p:nvSpPr>
          <p:cNvPr id="7" name="내 업무에서 가장 자주 반복하는 설명은?">
            <a:extLst xmlns:a="http://schemas.openxmlformats.org/drawingml/2006/main">
              <a:ext uri="{FF2B5EF4-FFF2-40B4-BE49-F238E27FC236}">
                <a16:creationId xmlns:a16="http://schemas.microsoft.com/office/drawing/2014/main" id="{2AB8AA60-C2F0-437E-BB5B-91310A61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가장 자주 반복하는 설명은?</a:t>
            </a:r>
          </a:p>
        </p:txBody>
      </p:sp>
      <p:sp>
        <p:nvSpPr>
          <p:cNvPr id="8" name="“우리 프로젝트의 제약은…”">
            <a:extLst xmlns:a="http://schemas.openxmlformats.org/drawingml/2006/main">
              <a:ext uri="{FF2B5EF4-FFF2-40B4-BE49-F238E27FC236}">
                <a16:creationId xmlns:a16="http://schemas.microsoft.com/office/drawing/2014/main" id="{91F824C9-7B86-4791-9B2F-A5642FF1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5238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“우리 프로젝트의 제약은…”</a:t>
            </a:r>
          </a:p>
        </p:txBody>
      </p:sp>
      <p:sp>
        <p:nvSpPr>
          <p:cNvPr id="9" name="“먼저 측정하고, 끝나면 확인해…”">
            <a:extLst xmlns:a="http://schemas.openxmlformats.org/drawingml/2006/main">
              <a:ext uri="{FF2B5EF4-FFF2-40B4-BE49-F238E27FC236}">
                <a16:creationId xmlns:a16="http://schemas.microsoft.com/office/drawing/2014/main" id="{5B6B85FC-4FBA-4147-8DCA-2E7758DC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“먼저 측정하고, 끝나면 확인해…”</a:t>
            </a:r>
          </a:p>
        </p:txBody>
      </p:sp>
      <p:sp>
        <p:nvSpPr>
          <p:cNvPr id="10" name="반복되는 사실">
            <a:extLst xmlns:a="http://schemas.openxmlformats.org/drawingml/2006/main">
              <a:ext uri="{FF2B5EF4-FFF2-40B4-BE49-F238E27FC236}">
                <a16:creationId xmlns:a16="http://schemas.microsoft.com/office/drawing/2014/main" id="{1390220B-A33B-4462-A32A-3D140EBA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5238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반복되는 사실</a:t>
            </a:r>
          </a:p>
        </p:txBody>
      </p:sp>
      <p:sp>
        <p:nvSpPr>
          <p:cNvPr id="11" name="반복되는 절차">
            <a:extLst xmlns:a="http://schemas.openxmlformats.org/drawingml/2006/main">
              <a:ext uri="{FF2B5EF4-FFF2-40B4-BE49-F238E27FC236}">
                <a16:creationId xmlns:a16="http://schemas.microsoft.com/office/drawing/2014/main" id="{6AD0DBB6-17DC-461C-A9EA-CB4A64D4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5285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반복되는 절차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4CD120-F6D4-42CF-8942-C5438EA6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지금 잘 동작한다면,&#10;Project가 바뀐 뒤에도 계속 맞을까?">
            <a:extLst xmlns:a="http://schemas.openxmlformats.org/drawingml/2006/main">
              <a:ext uri="{FF2B5EF4-FFF2-40B4-BE49-F238E27FC236}">
                <a16:creationId xmlns:a16="http://schemas.microsoft.com/office/drawing/2014/main" id="{2C6485DD-EB3A-425C-B818-1FB5339E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잘 동작한다면,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Project가 바뀐 뒤에도 계속 맞을까?</a:t>
            </a:r>
          </a:p>
        </p:txBody>
      </p:sp>
    </p:spTree>
    <p:extLst>
      <p:ext uri="{BB962C8B-B14F-4D97-AF65-F5344CB8AC3E}">
        <p14:creationId xmlns:p14="http://schemas.microsoft.com/office/powerpoint/2010/main" val="9244506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2026-10-18T13:43:10.5970000Z</dcterms:created>
  <dcterms:modified xsi:type="dcterms:W3CDTF">2026-10-18T13:43:10.5970000Z</dcterms:modified>
</coreProperties>
</file>