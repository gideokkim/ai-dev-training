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S37 — 서로 다른 Performance Task, 반복되는 절차
Slide ID: S37
Working Title: 서로 다른 Performance Task, 반복되는 절차
ACT / Section: ACT 3 / 3A
Allocated Time: 5 minutes
Mode Split: Case 5 minutes
Primary Message: TRIAL-006의 `resize_nearest`와 TRIAL-007의 `normalize`처럼 서로 다른 목표에서도 유사한 performance procedure가 반복될 수 있다.
Opening Question: “Task가 달라도 왜 같은 작업 방법을 계속 쓰고 있지?”
Speaker Flow:
1. (0:00–2:00) 서로 다른 두 Task goal을 나란히 보여준다.
2. (2:00–4:00) 두 기록에 반복된 baseline, 조사, 계획, 변경, test, benchmark, 비교, review를 강조한다.
3. (4:00–5:00) 반복 관찰과 원인 귀속을 분리하고 Prompt-only attribution이 PARTIAL임을 밝힌다.
Evidence / Source: TRIAL-006 (`resize_nearest`), TRIAL-007 (`normalize`), BEAT-018/020. Codex CLI 기록 실행의 workflow 비교.
Claim Boundary: 유사한 절차가 관찰됐지만 Prompt만의 효과로 귀속하지 않는다. 개별 성능 결과는 해당 코드·입력·환경에 한정한다.
Beginner Explanation: 서로 다른 작업에서도 조사하고 확인하는 순서가 반복될 수 있다.
Advanced Insight: Task별 목표와 지속해서 재사용할 절차를 구분하고, Global Harness가 미친 영향을 고려한다.
C++ Vision Bridge: N/A.
Demo Operation: TRIAL-006/007을 요약한 정적 재구성 도식을 사용한다. 새로운 실행이나 실제 터미널 화면이라고 말하지 않는다.
Audience Interaction: 두 Task의 공통 절차를 잠시 관찰하게 한다. 공개 답변은 요구하지 않는다.
Transition: “Project 지식과 작업 절차는 각각 어떤 질문에 답할까?”
Time Management: Case 5분을 두 Task 비교, 공통 절차, attribution 한계 순으로 쓴다. 수치 설명으로 확장하지 않는다.
Fallback: READY — `production/ACT_3.pptx`의 정적 비교 도식과 `production/preview/act3/S37.png`를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S38 — Project 사실과 작업 절차는 다르다
Slide ID: S38
Working Title: Project 사실과 작업 절차는 다르다
ACT / Section: ACT 3 / 3A
Allocated Time: 4 minutes
Mode Split: Lecture 4 minutes
Primary Message: Project에서 일반적으로 참인 사실과 반복되는 작업 방법은 서로 다른 설계 문제다.
Opening Question: “Agent가 알아야 할 것과 따라야 할 방법은 같은가?”
Speaker Flow:
1. (0:00–1:00) “What is true?”를 Context와 연결한다.
2. (1:00–3:00) “How to work?”를 Workflow에, “What do we want now?”를 Task Prompt에 연결한다.
3. (3:00–4:00) Task 사실, Project 사실, 반복 절차가 다른 책임임을 정리하고 질문을 연다.
Evidence / Source: BEAT-019, TRIAL-006/007. TEACHING_MODEL / CONCEPTUAL.
Claim Boundary: 교육용 구분이다. 공식 제품 분류나 특정 제품 기능이라고 표현하지 않는다.
Beginner Explanation: 프로젝트 설명은 무엇이 참인지 말하고, workflow는 어떤 순서로 일할지 말한다.
Advanced Insight: Project Context를 늘리는 것만으로 반복 절차의 유지 문제가 해결되지는 않는다.
C++ Vision Bridge: N/A.
Demo Operation: N/A.
Audience Interaction: 세 질문과 항목을 조용히 따라오게 한다. 분류 실습은 요구하지 않는다.
Transition: “작업 방법도 Repository가 재사용할 수 있을까?”
Time Management: 4분 동안 세 질문의 책임만 구분한다. Harness 전체 정의는 아직 제시하지 않는다.
Fallback: READY — 정적 세 질문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S39 — Task, Context, Workflow의 역할
Slide ID: S39
Working Title: Task, Context, Workflow의 역할
ACT / Section: ACT 3 / 3B
Allocated Time: 5 minutes
Mode Split: Lecture 5 minutes
Primary Message: Task Prompt는 현재 목표, Project Context는 사실과 제약, Reusable Workflow는 특정 작업을 수행하는 방법을 담는다.
Opening Question: “현재 목표, Project 사실, 반복 절차는 어디에 속하는가?”
Speaker Flow:
1. (0:00–1:00) Task Prompt를 현재 목표와 연결한다.
2. (1:00–2:30) Project Context를 반복되는 사실과 제약으로 설명한다.
3. (2:30–4:00) Workflow를 `baseline → investigate → verify → compare`로 짧게 보인다.
4. (4:00–5:00) 셋이 Prompt 밖에 있어도 책임은 다르다고 정리한다.
Evidence / Source: BEAT-019, TRIAL-006/007. TEACHING_MODEL / CONCEPTUAL.
Claim Boundary: 세 Layer는 교육용 모델이다. Harness 전체 정의나 제품의 공식 분류로 부르지 않는다.
Beginner Explanation: 지금 원하는 일, 계속 유효한 프로젝트 정보, 반복할 작업 순서를 나눠 볼 수 있다.
Advanced Insight: 같은 위치에 저장될 수 있어도 소유권, 갱신 주기, Task별 적용은 다를 수 있다.
C++ Vision Bridge: N/A.
Demo Operation: N/A.
Audience Interaction: 각 Layer 예시를 조용히 따라오게 한다. 노트북 실습은 없다.
Transition: Slide 40에서 반복 절차를 repository-owned asset으로 옮길지 묻는다.
Time Management: 5분 동안 세 책임과 한 개의 workflow 예시만 설명한다.
Fallback: READY — 정적 세 Layer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S40 — 반복 절차를 Skill로 옮길 수 있을까?
Slide ID: S40
Working Title: 반복 절차를 Skill로 옮길 수 있을까?
ACT / Section: ACT 3 / 3C
Allocated Time: 4 minutes
Mode Split: Lecture 4 minutes
Primary Message: 반복 절차를 repository-owned Skill에 두는 것은 Task 목표와 Project 절차를 분리하려는 선택이다.
Opening Question: “긴 Procedure를 Prompt에서 빼도 같은 작업 흐름을 유지할 수 있을까?”
Speaker Flow:
1. (0:00–1:30) 목표와 반복 절차가 함께 들어간 Before를 보여준다.
2. (1:30–3:00) `$graypipe-performance`와 repository Skill을 후보 구조로 보여준다.
3. (3:00–4:00) 성공 결과를 앞당기지 않고 대상 surface와 호출 경로는 확인 대상이라고 말한다.
Evidence / Source: DEC-0017, BEAT-020/021, TRIAL-006/007/008. Skill 선택은 ACCEPTED; 동작 근거는 뒤의 TRIAL-008에 둔다.
Claim Boundary: 여기서는 설계 질문과 후보만 소개한다. 현재 Desktop/계정에서 이용 가능하다고 보장하거나 Skill 우월성을 주장하지 않는다.
Beginner Explanation: 같은 방법을 매번 Prompt에 복사하는 대신 프로젝트가 소유하는 위치를 검토할 수 있다.
Advanced Insight: 반복 근거에 따른 workflow 소유권 선택과 실제 발견·호출 증거를 구분한다.
C++ Vision Bridge: N/A.
Demo Operation: N/A.
Audience Interaction: 성공 여부를 추측하지 않도록 잠깐 멈추고 질문을 남긴다.
Transition: Slide 41에서 TRIAL-008의 발견과 명시적 호출 기록을 확인한다.
Time Management: 4분 중 3분은 문제와 후보를 설명하고, 마지막 1분에 product check 경계를 둔다.
Fallback: READY — 정적 Before/Candidate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S41 — Skill을 어떻게 발견하고 호출할까?
Slide ID: S41
Working Title: Skill을 어떻게 발견하고 호출할까?
ACT / Section: ACT 3 / 3C
Allocated Time: 5 minutes
Mode Split: Demo 5 minutes (HYBRID planned; activation unverified)
Primary Message: TRIAL-008에서 Codex CLI 0.154.0의 `/skills` 목록으로 repository Skill을 찾고 `$graypipe-performance`를 명시적으로 호출했으며, 실행 trace에 Skill 본문이 있었다.
Opening Question: “반복할 작업 절차를 Repository에서 어떻게 찾고 불러올까?”
Speaker Flow:
1. (0:00–1:00) 화면 도식이 재구성 자료이며 근거가 TRIAL-008임을 밝힌다.
2. (1:00–2:30) `/skills` selector가 `graypipe-performance`와 잘린 설명을 표시한 기록을 보여준다.
3. (2:30–4:00) 명시적 `$graypipe-performance` 호출과 실행 trace의 Skill 본문 증거를 순서대로 공개한다.
4. (4:00–5:00) CLI 버전·실행 범위를 밝히고 Desktop과 implicit invocation은 확인하지 않았다고 말한다.
Evidence / Source: TRIAL-008, DEC-0017, BEAT-021. Codex CLI 0.154.0, 명시적 호출, disposable workspace. 시각 자료는 기록의 재구성이다.
Claim Boundary: Product UI 스크린샷이나 현재 Codex Desktop 동작으로 표현하지 않는다. Skill path는 selector가 아니라 실행 trace에서 확인됐다. Implicit invocation은 테스트하지 않았다.
Beginner Explanation: 기록된 CLI 실행에서 Skill을 목록으로 찾고, 호출 표기를 입력해 사용했다.
Advanced Insight: Selector의 발견 증거와 실행 context의 본문 증거를 구별한다. 다른 surface·계정에 일반화하지 않는다.
C++ Vision Bridge: N/A.
Demo Operation: 기본 경로는 재구성된 TRIAL-008 기록이다. 실제 Codex CLI 실행으로 전환하지 않는다. 현재 제품 표면은 REQUIRES PRODUCT CHECK.
Audience Interaction: 발견, 명시적 호출, 본문 확인의 세 단계를 따라오게 한다. 조작을 요구하지 않는다.
Transition: “호출한 뒤 작업 Prompt에서는 무엇이 달라졌을까?”
Time Management: 발견 1.5분, 호출·본문 근거 1.5분, 범위 제한 1분. 실시간 제품 설명을 추가하지 않는다.
Fallback: READY — 정적 TRIAL-008 재구성 도식과 함께 deck 내 근거 설명을 사용한다. Live surface는 활성화하지 않는다.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S42 — 절차의 책임이 Prompt에서 Repository로 이동
Slide ID: S42
Working Title: 절차의 책임이 Prompt에서 Repository로 이동
ACT / Section: ACT 3 / 3C
Allocated Time: 6 minutes
Mode Split: Demo 3 minutes (HYBRID planned; activation unverified) + Case 3 minutes
Primary Message: TRIAL-007의 긴 Prompt가 포함하던 절차를 TRIAL-008에서는 명시적으로 호출한 Skill에 맡기고 Prompt에는 목표와 Task별 제약을 남겼다.
Opening Question: “같은 작업 절차를 매번 Prompt에 길게 적어야 할까?”
Speaker Flow:
1. (0:00–1:30) TRIAL-007의 goal, 제약, 긴 procedure를 요약한다.
2. (1:30–3:00) TRIAL-008의 goal, Task별 제약, 명시적 Skill 호출을 비교한다.
3. (3:00–5:00) 양쪽에 반복된 baseline, 조사, test, benchmark, compare, review를 잇는다.
4. (5:00–6:00) 책임 위치 변화만 관찰됐고 토큰 절감은 측정되지 않았다고 정리한다.
Evidence / Source: TRIAL-007/008, DEC-0017, BEAT-021. 관찰된 CLI 기록을 요약한 비교.
Claim Boundary: Skill 우월성, 속도 향상, token/character 절감은 입증되지 않았다. Prompt 구조와 다른 전역 요인의 인과 효과를 따로 분리하지 않는다.
Beginner Explanation: 반복되는 절차를 저장한 위치를 바꿔도 각 작업의 목표는 Prompt에 남는다.
Advanced Insight: 절차의 재사용 설계와 Prompt 길이·효율의 측정 주장을 혼동하지 않는다.
C++ Vision Bridge: N/A.
Demo Operation: 두 Trial을 요약한 정적 비교를 사용한다. 긴 Prompt 전문이나 실제 터미널 화면을 재현하지 않는다.
Audience Interaction: Case 시간에 공통 절차만 비교하도록 안내하고, 공개 응답은 요구하지 않는다.
Transition: “그 Skill에는 구체적인 답이 들어 있을까, 재사용할 작업 방법이 들어 있을까?”
Time Management: Demo 3분은 구조 비교, Case 3분은 공통 procedure와 책임 경계에 쓴다.
Fallback: READY — deck의 정적 Before/Candidate 비교를 사용한다. Live activation은 미확정이다.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S43 — 답을 담지 않는 Workflow
Slide ID: S43
Working Title: 답을 담지 않는 Workflow
ACT / Section: ACT 3 / 3D
Allocated Time: 3 minutes
Mode Split: Lecture 3 minutes
Primary Message: Reusable Skill은 검증 절차를 담고 특정 최적화 답이나 측정 결과를 미리 정답으로 고정하지 않는다.
Opening Question: “Skill이 작업 방법을 담는다면, 어디까지 미리 정해도 될까?”
Speaker Flow:
1. (0:00–1:00) Reusable workflow에 baseline, 조사, correctness check, benchmark, compare, review를 배치한다.
2. (1:00–2:00) Algorithm 선택과 실제 측정 결과는 각 Task의 판단으로 분리한다.
3. (2:00–3:00) Skill이 답을 더 잘 찾는다고 주장하지 않고 다음 후보 비교를 연다.
Evidence / Source: TRIAL-008, `graypipe-performance` Skill, DEC-0017, BEAT-022. OBSERVED_PRODUCT / TEACHING_MODEL.
Claim Boundary: 절차 재사용은 관찰됐지만 Skill이 더 나은 최적화 답을 제공한다는 근거는 아니다. Workflow는 task 결과를 고정하지 않는다.
Beginner Explanation: 작업 순서는 재사용할 수 있지만, 어떤 답이 맞는지는 매번 확인해야 한다.
Advanced Insight: Input, runtime, benchmark, trade-off를 procedure definition과 섞지 않는다.
C++ Vision Bridge: N/A.
Demo Operation: Skill 내용을 절차 요약으로만 보여준다. 원문 전체를 제품 화면처럼 그리지 않는다.
Audience Interaction: 왼쪽의 절차와 오른쪽의 Task 판단을 구별하도록 안내한다.
Transition: “실제로 후보를 선택할 때는 무엇을 근거로 삼았을까?”
Time Management: 3분 동안 두 책임만 구분하며 algorithm 설명은 생략한다.
Fallback: READY — 정적 Workflow / Task Decision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S44 — 측정으로 후보를 고르다
Slide ID: S44
Working Title: 측정으로 후보를 고르다
ACT / Section: ACT 3 / 3D
Allocated Time: 5 minutes
Mode Split: Case 5 minutes
Primary Message: TRIAL-008의 `image_statistics` 후보 중 row-level built-in reduction은 수동 단일 순회보다 빠르면서 낮은 traced-memory 사용을 유지해 선택됐다.
Opening Question: “여러 구현 후보 중 무엇을 선택할지 어떻게 판단했을까?”
Speaker Flow:
1. (0:00–1:00) 후보 비교가 STATE-04 → STATE-04-PERF 공식 결과와 다른 Trial 단계임을 밝힌다.
2. (1:00–3:00) 수동 단일 순회는 traced memory가 적었지만 훨씬 느렸다는 정성 비교를 보여준다.
3. (3:00–4:00) Row-level built-in reduction 후보가 시간·메모리 trade-off에서 선택된 근거를 말한다.
4. (4:00–5:00) 동일한 six-field correctness guard와 workload 한계를 확인한다.
Evidence / Source: TRIAL-008 candidate comparison; `image_statistics`; synthetic 1024×768 image, CPython 3.9.6 / macOS 26.6.2 arm64; same six-field correctness guard.
Claim Boundary: 정확한 candidate 수치는 표시하지 않는다. Candidate 결과를 S45의 formal state benchmark와 섞지 않는다. Skill이 algorithm이나 결과를 만들었다고 하지 않는다.
Beginner Explanation: 적은 메모리만 보고 선택하지 않고 같은 조건에서 실행시간과 정확성을 함께 확인했다.
Advanced Insight: Candidate comparison과 named product-state before/after 측정은 Evidence 단계가 다르다.
C++ Vision Bridge: N/A.
Demo Operation: 정성 Candidate Comparison 카드만 사용한다. 새 benchmark를 실행하지 않는다.
Audience Interaction: Case 질문을 제시하고 실행시간과 메모리의 trade-off를 생각하게 한다.
Transition: “선택한 변화는 어떤 검증을 거쳐 제품 상태에 반영됐을까?”
Time Management: 5분 중 3분은 두 후보 차이, 1분은 correctness guard, 1분은 evidence 경계에 쓴다.
Fallback: READY — deck의 정성 비교 카드와 검증 조건을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S45 — Working Harness Success
Slide ID: S45
Working Title: Working Harness Success
ACT / Section: ACT 3 / 3D
Allocated Time: 5 minutes
Mode Split: Case 5 minutes
Primary Message: STATE-04 → STATE-04-PERF의 bounded `image_statistics` 변경은 기록된 조건에서 median과 traced allocation이 달랐고 정해진 tests, CLI, benchmark guards를 통과했다.
Opening Question: “조사와 비교가 실제로 확인 가능한 결과로 이어졌을까?”
Speaker Flow:
1. (0:00–1:00) Task부터 Product change까지의 Harness 사용 경로를 짧게 회수한다.
2. (1:00–2:30) Median `15.468 → 10.769 ms/call`을 named states와 함께 보여준다.
3. (2:30–3:30) `tracemalloc` peak `6,675,804 → 380 B`를 allocation 지표로 설명하고 RSS가 아님을 밝힌다.
4. (3:30–5:00) Focused 1/1, full 11/11, CLI smoke, benchmark guard PASS를 확인하고 인과 주장을 제한한다.
Evidence / Source: STATE-04 → STATE-04-PERF; TRIAL-008; deterministic synthetic 1024×768 image (786,432 pixels, max 255); CPython 3.9.6 / macOS 26.6.2 arm64; seven one-call samples per state.
Claim Boundary: 숫자는 이 입력, 코드 경로, host, runtime, 측정 조건에 한정한다. `tracemalloc`은 Python allocation peak이지 RSS가 아니다. Harness나 Skill이 성능 향상을 일으켰다고 하지 않는다.
Beginner Explanation: 바뀐 코드가 맞는지 Test와 같은 benchmark로 확인한 기록이 있다.
Advanced Insight: Observed product change와 시스템 구성요소의 단독 인과를 분리한다.
C++ Vision Bridge: N/A.
Demo Operation: 고정된 STATE-04 / STATE-04-PERF 수치와 guard 결과를 표시한다. 새 Trial이나 benchmark를 실행하지 않는다.
Audience Interaction: Case로 측정 조건과 verification을 짚고 일반화하지 않도록 안내한다.
Transition: “이 결과를 위해 Subagent도 필요했을까?”
Time Management: 5분을 metric 2.5분, test/CLI guards 1.5분, attribution limit 1분으로 나눈다.
Fallback: READY — static state comparison과 check summary를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S46 — 이 작업에 Subagent가 필요했을까?
Slide ID: S46
Working Title: 이 작업에 Subagent가 필요했을까?
ACT / Section: ACT 3 / 3E
Allocated Time: 4 minutes
Mode Split: Demo 3 minutes (VISUAL) + Q&amp;A 1 minute
Primary Message: 현재 performance 작업은 하나의 Agent가 처리할 수 있었고 별도 Context의 병렬화 이득이 작아 Subagent를 정당화하지 않았다.
Opening Question: “성능 작업을 여러 Agent로 나누는 게 이 사례에 도움이 됐을까?”
Speaker Flow:
1. (0:00–1:00) Pipeline 변경, 영향 조사, 결과 검토가 한 흐름으로 연결됨을 보인다.
2. (1:00–3:00) 작업 독립성, 병렬 가능성, handoff/merge 비용으로 현재 사례를 점검한다.
3. (3:00–4:00) 마지막 Q&amp;A 1분에 질문을 받고, 이번 판단은 현재 Task에만 적용한다고 말한다.
Evidence / Source: DEC-0018, BEAT-023–025; STATE-04 / STATE-04-PERF의 project/task complexity review. OBSERVED_PRODUCT / TEACHING_MODEL.
Claim Boundary: `NOT JUSTIFIED YET`는 현재 사례의 판단이다. Subagent 기능이 없거나 일반적으로 불필요하다는 뜻이 아니다.
Beginner Explanation: Agent를 늘리기 전에 실제로 독립시킬 작업이 있는지 본다.
Advanced Insight: 병렬화 이득, context separation, coordination 및 merge 비용을 함께 평가한다.
C++ Vision Bridge: 다음 Slide의 가정적 C++ 예시에서만 연결한다.
Demo Operation: 세 기준을 보여주는 정적 VISUAL Demo다. Product Subagent를 호출하지 않는다.
Audience Interaction: 마지막 1분 질문을 받는다. 질문이 없으면 “무엇을 독립 실행할 수 있었나?”를 짧게 던지고 계속한다.
Transition: “어떤 작업 구조라면 Subagent 검토가 타당해질까?”
Time Management: 시각 검토 3분, Q&amp;A 1분을 보호한다.
Fallback: READY — static decision visual; 별도 제품 surface가 필요하지 않다.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S47 — Subagent를 고려할 조건
Slide ID: S47
Working Title: Subagent를 고려할 조건
ACT / Section: ACT 3 / 3E
Allocated Time: 4 minutes
Mode Split: Lecture 1 minute + Demo 2 minutes (VISUAL) + Q&amp;A 1 minute
Primary Message: 독립된 조사와 Context, 병렬 가능성, 명확한 handoff가 있을 때 Subagent를 검토하고 조정 비용이 더 크면 보류한다.
Opening Question: “어떤 일이 실제로 독립된 병렬 작업일까?”
Speaker Flow:
1. (0:00–1:00) 조건부 판단을 위한 세 질문을 제시한다.
2. (1:00–3:00) 독립적인 조사 / 병렬 가능한 작업 / 명확한 handoff와 보류 신호를 비교한다.
3. (3:00–4:00) 대형 C++ Repository 사례는 가정이라고 표시하고 Q&amp;A 1분을 연다.
Evidence / Source: BEAT-023–025, DEC-0018. TEACHING_MODEL; hypothetical C++ case.
Claim Boundary: 현재 Demo에서 관찰한 Subagent 결과가 아니다. 제품 동작·사용법은 설명하지 않는다.
Beginner Explanation: 서로 영향을 덜 주는 일을 나눌 수 있을 때만 여러 Agent를 고려한다.
Advanced Insight: Context 경계와 병렬 결과의 integration cost가 역할 분리의 이익보다 작아야 한다.
C++ Vision Bridge: C++ Repository에서 성능, build toolchain, test 조사가 실제로 독립적일 수 있다는 가정 예만 든다.
Demo Operation: Conceptual decision visual. Subagent 제품 실행이나 지원 여부를 보여주지 않는다.
Audience Interaction: Q&amp;A 1분. 질문이 없으면 “결과를 합칠 책임자는 누구인가?”를 fallback 질문으로 사용한다.
Transition: “반복 절차 말고, 다시 찾기 어려운 지식도 남길 필요가 있었을까?”
Time Management: 세 조건, 보류 신호, 가정 예시를 각 한 번만 다룬다.
Fallback: READY — 정적 조건부 판단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S48 — 무엇이 다시 찾기 어려운 지식인가?
Slide ID: S48
Working Title: 무엇이 다시 찾기 어려운 지식인가?
ACT / Section: ACT 3 / 3F
Allocated Time: 4 minutes
Mode Split: Demo 2 minutes (VISUAL) + Case 2 minutes
Primary Message: 현재 Demo의 계약·명령·구조·절차·Trial 기록은 각각 유지 중인 Source of Truth에 있었고, 별도 Memory 후보는 발견되지 않았다.
Opening Question: “다음 작업에서 다시 발견하기 어려운 지식은 무엇일까?”
Speaker Flow:
1. (0:00–2:00) 계약·명령·아키텍처를 코드/docs로, 반복 절차를 Skill로, Trial 결과를 observation record로 연결한다.
2. (2:00–3:00) 이 분류가 현재 repository audit임을 명확히 한다.
3. (3:00–4:00) 다른 Source of Truth에 없는 costly rediscovery 후보를 검토할 필요를 연다.
Evidence / Source: DEC-0018, DEMO-08 knowledge audit, BEAT-026–028. OBSERVED_PRODUCT / TEACHING_MODEL.
Claim Boundary: 제품 Memory 기능의 존재, 범위, 성능에 관한 주장이 아니다. 현재 Demo에서 별도 보존 후보를 찾지 못했다는 범위다.
Beginner Explanation: 새 기억을 만들기 전에 같은 사실이 이미 어디에 기록돼 있는지 찾는다.
Advanced Insight: 출처, 적용 범위, 갱신 가능성과 기존 Source of Truth의 중복 여부를 검토한다.
C++ Vision Bridge: N/A.
Demo Operation: 네 지식 범주를 정적으로 연결하는 VISUAL Demo. Memory 기능을 실행하거나 흉내내지 않는다.
Audience Interaction: Case 2분 동안 어떤 지식이 어디에 이미 있는지 생각하도록 한다. 공유나 기록은 요구하지 않는다.
Transition: “그럼 어떤 지식에 Memory를 검토할 조건이 있을까?”
Time Management: 두 범주 예시와 현재 audit 결과를 중심으로 4분을 쓴다.
Fallback: READY — 정적 knowledge/source 분류도.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S49 — Memory는 재발견 비용으로 판단
Slide ID: S49
Working Title: Memory는 재발견 비용으로 판단
ACT / Section: ACT 3 / 3F
Allocated Time: 4 minutes
Mode Split: Lecture 4 minutes
Primary Message: 재발견 비용이 크고 Project 간 재사용 가능하며 출처·범위·신선도를 관리할 수 있을 때 Memory를 검토한다.
Opening Question: “무엇을 기억해 두어야 다음 작업의 비용이 실제로 줄어들까?”
Speaker Flow:
1. (0:00–1:00) 재발견 비용과 재사용성을 첫 질문으로 둔다.
2. (1:00–3:00) 출처·적용 범위·신선도·무효화 기준을 점검한다.
3. (3:00–4:00) 현재 Demo에서는 해당 조건을 만족하는 항목을 찾지 못했다고 정리한다.
Evidence / Source: DEC-0018, BEAT-026–028, INV-DEMO-003. TEACHING_MODEL.
Claim Boundary: 조건은 교육용 판단 model이지 제품 Memory 기능의 효과나 범위에 관한 claim이 아니다. 현재 Demo의 결정으로 한정한다.
Beginner Explanation: 나중에 다시 찾기 어렵고 실제로 반복해서 쓰는 지식인지 먼저 따져본다.
Advanced Insight: Provenance, scope, freshness, invalidation이 없으면 유지되는 기억이 오래된 정보가 될 수 있다.
C++ Vision Bridge: N/A.
Demo Operation: N/A.
Audience Interaction: 네 판단 질문을 하나씩 따라오게 한다. Memory를 만들라는 과제는 없다.
Transition: “현재 문제를 해결하는 데 실제로 필요했던 구조는 무엇이었을까?”
Time Management: 4분 동안 조건을 설명하고 기준을 feature checklist로 바꾸지 않는다.
Fallback: READY — 정적 decision criteria 카드.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S50 — Minimum Effective Harness
Slide ID: S50
Working Title: Minimum Effective Harness
ACT / Section: ACT 3 / 3G
Allocated Time: 3 minutes
Mode Split: Demo 3 minutes (CAPTURED)
Primary Message: STATE-04-PERF까지 이어진 현재 사례는 Prompt, Context와 Routing, reusable Skill, Benchmark, Tests, Tools/Environment를 사용했고 Subagent와 Memory를 추가하지 않았다.
Opening Question: “이번 작업을 위해 실제로 무엇이 필요했을까?”
Speaker Flow:
1. (0:00–1:00) Task에서 state outcome으로 이어진 실제 구성을 묶어 보인다.
2. (1:00–2:00) 필요한 Context, Skill, benchmark, tests와 environment를 연결한다.
3. (2:00–3:00) Subagent/Memory는 추가되지 않았으며 최소 구성은 문제에 따라 바뀐다고 정리한다.
Evidence / Source: STATE-00 → STATE-04-PERF, DEC-0018, INV-VERIFY-001, DEMO-09. OBSERVED_PRODUCT / TEACHING_MODEL.
Claim Boundary: 현재 프로젝트의 구성 감사다. 일반적인 최적 기능 수나 Harness가 성능을 개선한 인과 claim이 아니다.
Beginner Explanation: Harness는 기능을 많이 모으는 일이 아니라 현재 문제에 필요한 작업 환경을 마련하는 일이다.
Advanced Insight: “Minimum Effective”는 신뢰성 있게 해결할 조건을 충족하는 문제별 heuristic이며 숫자 기준이 없다.
C++ Vision Bridge: Slide 51–53에서 Project별 build, test, benchmark 절차로 연결한다. Python Skill을 C++로 복사하지 않는다.
Demo Operation: 승인된 State와 기록의 captured summary를 사용한다. Demo repository나 현재 제품을 실행하지 않는다.
Audience Interaction: 구성요소보다 문제와 evidence가 연결되는 흐름을 보게 한다.
Transition: 다음 Slide에서 Tools, Environment, Verification을 포함한 Harness 운영 정의를 묶는다.
Time Management: 3분 동안 실제 구성과 빠진 두 요소를 확인한다. 일반론으로 확장하지 않는다.
Fallback: READY — static STATE-04-PERF 구성 및 check summary.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S51 — Harness는 작업 환경 설계다
Slide ID: S51
Working Title: Harness는 작업 환경 설계다
ACT / Section: ACT 3 / 3G
Allocated Time: 6 minutes
Mode Split: Lecture 4 minutes + Demo 2 minutes (CAPTURED)
Primary Message: 이 교육에서 Harness는 Agent가 Project에서 안정적으로 일하도록 설계한 작업 환경과 절차를 뜻하는 운영 model이다.
Opening Question: “Harness는 결국 무엇을 의미하는가?”
Speaker Flow:
1. (0:00–2:00) Task Prompt, Project Context, Routing, Workflow, Verification, Tools/Environment를 작업 환경으로 묶는다.
2. (2:00–4:00) Developer와 Agent가 이 환경 안에서 일하는 개념 그림을 설명한다.
3. (4:00–6:00) STATE-04-PERF에서 관찰된 요소를 작은 evidence inset으로 연결하고, Subagent/Memory는 필수 구성으로 그리지 않는다.
Evidence / Source: DEC-0023, BEAT-035/036, STATE-04-PERF. OBSERVED_PRODUCT / TEACHING_MODEL.
Claim Boundary: 과정의 operational definition이다. 공식 OpenAI 정의나 보편적 industry standard로 제시하지 않는다.
Beginner Explanation: Agent가 알 정보뿐 아니라 일하는 절차와 결과를 확인하는 환경도 함께 설계한다.
Advanced Insight: Harness는 특정 파일이나 기능 목록이 아니라 Project별 신뢰성 문제를 해결하는 system model이다.
C++ Vision Bridge: Slide 53에서 C++ Project 환경에 같은 Engineering Pattern을 연결한다.
Demo Operation: `STATE-04-PERF` 요소만 captured inset으로 보인다. 실제 실행 화면 또는 모든 환경 요소의 인벤토리로 표현하지 않는다.
Audience Interaction: Evidence inset과 교육용 전체 model의 시각적 경계를 짚는다.
Transition: “그 작업 환경은 Repository 파일만으로 결정될까?”
Time Management: 개념 설명 4분, 관찰된 구성 2분. 기능 이름 열거에 시간을 쓰지 않는다.
Fallback: READY — 정적 Harness model 및 State evidence inset.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S52 — Repository 밖의 환경도 결과에 영향을 준다
Slide ID: S52
Working Title: Repository 밖의 환경도 결과에 영향을 준다
ACT / Section: ACT 3 / 3G
Allocated Time: 3 minutes
Mode Split: Lecture 3 minutes
Primary Message: Trial 결과를 해석할 때 Project repository 바깥의 Global instructions, Skills, Hooks, MCP, Permissions, Model/configuration, OS/runtime도 가능한 환경 층이다.
Opening Question: “Repository가 같으면 Agent 실행 환경도 같은가?”
Speaker Flow:
1. (0:00–1:00) Repository 경계 바깥에 가능한 실행 환경 요소를 둔다.
2. (1:00–2:00) Trial 기록에 global Skills와 hook trust/MCP startup 기록이 일부 있었다고 짚는다.
3. (2:00–3:00) 모든 요소가 결과를 바꿨다거나 environment 전체가 조사됐다는 뜻은 아니라고 한정한다.
Evidence / Source: TRIAL-006/007/008, DEC-0016/0021, BEAT-033/036. OBSERVED_META / TEACHING_MODEL.
Claim Boundary: 전체 영향의 완전한 inventory가 아니다. Hook 실행이나 MCP task result가 관찰됐다고 말하지 않는다. TRIAL-007의 보고와 stderr 차이를 이 장에서 재해석하지 않는다.
Beginner Explanation: 같은 repository여도 실행 설정이나 주변 지침은 다를 수 있다.
Advanced Insight: Ambient Harness 요인을 기록하고 Trial의 attribution 범위를 제한하되 미확인 인과를 만들지 않는다.
C++ Vision Bridge: 같은 C++ repository도 Toolchain, 권한, runtime 조건이 다를 수 있다는 정도로만 잇는다.
Demo Operation: ACT 4에서 다룰 Meta 근거는 상세히 재생하지 않는다. 정적 preview visual로만 다룬다.
Audience Interaction: 가능한 환경 층과 실제 확인된 흔적을 구분해 보도록 안내한다.
Transition: “이 환경 설계 원칙은 C++ Vision Project에 어떻게 옮겨갈까?”
Time Management: 3분 동안 환경 경계와 evidence 한계를 설명한다. 요소별 제품 기능 강의는 하지 않는다.
Fallback: READY — 정적 environment ring 및 “부분 관찰 / 전체 미확인” 표기.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S53 — Engineering Pattern은 C++에도 전이된다
Slide ID: S53
Working Title: Engineering Pattern은 C++에도 전이된다
ACT / Section: ACT 3 / 3H
Allocated Time: 5 minutes
Mode Split: Lecture 5 minutes
Primary Message: Python Demo의 코드나 도구를 복사하는 대신 Context, Verification, Benchmark, Reusable Workflow의 Engineering Pattern을 C++ Vision 업무에 대응시킨다.
Opening Question: “우리 Repository에서는 무엇이 Project Context이고 무엇이 Workflow인가?”
Speaker Flow:
1. (0:00–1:00) Python Demo와 C++ Vision을 두 열로 둔다.
2. (1:00–3:30) Project Context, tests, benchmark, workflow를 build/algorithm/hardware constraints, GoogleTest/CTest, profiler/benchmark, regression procedure에 대응한다.
3. (3:30–5:00) `baseline → profile → change → regression check`를 공통 패턴으로 회수한다.
Evidence / Source: BEAT-036, CLM-0016/0017/0030, OQ-011. TEACHING_MODEL.
Claim Boundary: 교육용 전이 예다. C++ Demo를 구현하거나 팀별 실제 도구 규칙을 검증한 것이 아니다.
Beginner Explanation: 언어가 달라도 먼저 프로젝트 규칙과 확인 방법을 찾는다.
Advanced Insight: Build mode, hardware assumptions, module contracts, and regression criteria belong to the actual project.
C++ Vision Bridge: PRIMARY — Python `unittest` → GoogleTest/CTest or integration checks; benchmark script → benchmark/profiler; Project Context → build, algorithm, hardware constraints. Team standards must be checked before choosing tools.
Demo Operation: N/A.
Audience Interaction: 청중이 자사 Project의 Context와 Workflow를 구분할 질문을 제시한다. 답변을 요구하지 않는다.
Transition: “현재 업무에서 어떤 구조가 실제로 필요한지 되돌아보자.”
Time Management: 5분 동안 도구 이름보다 패턴 대응을 중심으로 설명한다.
Fallback: READY — 정적 Python-to-C++ pattern transfer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S54 — 필요한 구조부터 질문하기
Slide ID: S54
Working Title: 필요한 구조부터 질문하기
ACT / Section: ACT 3 / 3I
Allocated Time: 10 minutes
Mode Split: Reflection 3 minutes + Q&amp;A 5 minutes + Transition 2 minutes
Primary Message: 기능을 더하기 전에 반복되는 마찰을 찾고 원인과 검증 요구에 맞는 최소 구조를 판단한다.
Opening Question: “내 업무에서 지금 가장 반복되는 마찰은 무엇인가?”
Speaker Flow:
1. (0:00–3:00) 개인 reflection: Project 사실, 절차, 독립 병렬 조사, costly rediscovery, 검증 필요 가운데 현재 마찰을 생각하게 한다.
2. (3:00–8:00) Q&amp;A 5분. 참여자가 원할 경우 마찰과 근거를 공유하게 한다. 답변이 없으면 “이 반복은 Context, Workflow, Coordination, 기억 중 무엇에 가까운가?”를 묻는다.
3. (8:00–10:00) STATE-04-PERF가 Subagent/Memory 없이 성공한 bounded Harness임을 보존하고 “Project가 바뀐 뒤에도 계속 맞을까?”로 ACT 4에 넘긴다.
Evidence / Source: STATE-04-PERF, DEC-0018/0021, BEAT-035–038, INV-VERIFY-001. TEACHING_MODEL; bounded observed product success.
Claim Boundary: 이 작업을 실패한 Harness로 재해석하지 않는다. Subagent와 Memory는 조건부 선택이다. 다음 ACT의 개념 사례를 실제 Demo Product failure로 미리 말하지 않는다.
Beginner Explanation: 먼저 반복되는 문제를 찾고, 필요한 구조만 고른다.
Advanced Insight: Project 변화가 가정을 무효화할 수 있는지 생각하되, 다음 ACT의 사례 결과를 먼저 공개하지 않는다.
C++ Vision Bridge: 앞 Slide의 Project별 C++ 적용 질문을 청중 업무로 가져온다.
Demo Operation: N/A.
Audience Interaction: 개인 reflection은 선택적이며 노트북·실습·필수 공개 응답은 없다. 질문은 5분만 사용한다.
Transition: “지금은 잘 동작하는 Harness도 Project가 바뀐 뒤 계속 맞을까?”
Time Management: Reflection 3분, Q&amp;A 5분, Transition 2분. Q&amp;A가 비어도 마지막 질문을 지키고, 초과 응답은 별도 질의로 안내한다.
Fallback: READY — 정적 S54 reflection / Q&amp;A / handoff slide. 답변이 없으면 위 fallback question을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TRIAL-006 / 007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Performance Task, 반복되는 절차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S37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70992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/  TASK GOAL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984248"/>
            <a:ext cx="4590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resize_nearest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377440"/>
            <a:ext cx="4590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image resize task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28232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92824" y="170992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/  DIFFERENT GOAL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92824" y="1984248"/>
            <a:ext cx="4590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normalize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6592824" y="2377440"/>
            <a:ext cx="4590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pixel normalization task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1546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PERFORMANCE PROCEDURE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721608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74536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47688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427464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0616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68680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41832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21608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94760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74536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47688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427464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00616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32688" y="5120640"/>
            <a:ext cx="10259568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88720" y="5276088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절차는 관찰됨  /  Prompt-only attribution: PARTIAL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사실과 작업 절차는 다르다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S38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04672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87552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TRUE?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facts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453128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6008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WORK?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636008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repeatable procedure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this task type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01584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84464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284464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2300" dirty="0"/>
          </a:p>
        </p:txBody>
      </p:sp>
      <p:sp>
        <p:nvSpPr>
          <p:cNvPr id="18" name="Text 15"/>
          <p:cNvSpPr txBox="1"/>
          <p:nvPr/>
        </p:nvSpPr>
        <p:spPr>
          <a:xfrm>
            <a:off x="8330184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goal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acceptance criteria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5074920"/>
            <a:ext cx="10195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Project 정보만으로 반복 절차 문제까지 해결되지는 않는다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34840" y="5687568"/>
            <a:ext cx="33101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07992" y="5719572"/>
            <a:ext cx="3163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Task, Context, Workflow의 역할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S39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160020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7282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719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goal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171907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914400" y="269748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43000" y="28254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8163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Facts and constraints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281635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 here?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14400" y="379476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39227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3913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this task type is performed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391363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→ investigate → verify → compare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521208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Layer는 같은 Prompt 밖에 있어도 책임이 다르다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PRODUCT CHECK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절차를 Skill로 옮길 수 있을까?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S40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" y="1755648"/>
            <a:ext cx="489204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93392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/  REPEATED TASK PROMPT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578608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15468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constraints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long procedure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37376" y="1755648"/>
            <a:ext cx="4892040" cy="2359152"/>
          </a:xfrm>
          <a:prstGeom prst="roundRect">
            <a:avLst>
              <a:gd name="adj" fmla="val 310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1993392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 /  NOT YET THE RESULT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711696" y="2578608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711696" y="3081528"/>
            <a:ext cx="4297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$graypipe-performance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11696" y="36027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 in repository Skill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4727448"/>
            <a:ext cx="10149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옮기면 같은 흐름이 유지될까?</a:t>
            </a:r>
            <a:endParaRPr lang="en-US" sz="2300" dirty="0"/>
          </a:p>
        </p:txBody>
      </p:sp>
      <p:sp>
        <p:nvSpPr>
          <p:cNvPr id="17" name="Shape 14"/>
          <p:cNvSpPr/>
          <p:nvPr/>
        </p:nvSpPr>
        <p:spPr>
          <a:xfrm>
            <a:off x="2880360" y="5486400"/>
            <a:ext cx="6419088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53512" y="5518404"/>
            <a:ext cx="6272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DISCOVERY / INVOCATION RESULT FOLLOWS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Skill을 어떻게 발견하고 호출할까?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S41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34640" y="1417320"/>
            <a:ext cx="6510528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07792" y="1449324"/>
            <a:ext cx="6364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0.154.0  /  RECONSTRUCTED FROM TRIAL RECORD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875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DISCOVERY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/skills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selector에 Skill 이름과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잘린 설명이 표시됨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041648" y="288950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4805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451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EXPLICIT INVOCATION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6451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$graypipe-performance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6817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goal과 함께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명시적으로 호출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699248" y="288950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1381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027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BODY EVIDENCE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 trace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경로와 본문이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trace에 포함됨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60120" y="4892040"/>
            <a:ext cx="10222992" cy="713232"/>
          </a:xfrm>
          <a:prstGeom prst="roundRect">
            <a:avLst>
              <a:gd name="adj" fmla="val 10256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88720" y="5074920"/>
            <a:ext cx="9738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Desktop  /  implicit invocation  /  current account: UNVERIFIED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TRIAL-007 / 008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절차의 책임이 Prompt에서 Repository로 이동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S42  /  6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04672" y="160020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810512"/>
            <a:ext cx="4626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C7D0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/  BEFORE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73405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task constraints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long repeated procedure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327648" y="160020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28816" y="1810512"/>
            <a:ext cx="4626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TRIAL-008  /  OBSERVED CANDIDATE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28816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 + Skill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528816" y="273405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task-specific constraints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explicit Skill invocation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9044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COMMON PROCEDURE OBSERVED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77824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50976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487168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96512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69664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705856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79008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315200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88352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924544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97696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33888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607040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1143000" y="5166360"/>
            <a:ext cx="425196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216152" y="5198364"/>
            <a:ext cx="4105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SUPERIORITY: NOT PROVEN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720840" y="5166360"/>
            <a:ext cx="425196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793992" y="5198364"/>
            <a:ext cx="4105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SAVING: NOT MEASURED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담지 않는 Workflow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S43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664208"/>
            <a:ext cx="5010912" cy="3383280"/>
          </a:xfrm>
          <a:prstGeom prst="roundRect">
            <a:avLst>
              <a:gd name="adj" fmla="val 2162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0195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PROCEDURE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395728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Baseline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788920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Investigate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182112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Correctness check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575304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Same benchmark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3968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Compare trade-offs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361688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Review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355080" y="1664208"/>
            <a:ext cx="5010912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11112" y="190195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TASK-SPECIFIC JUDGMENT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675120" y="248716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48272" y="251917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Algorithm choice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675120" y="308152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48272" y="311353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and constraints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675120" y="367588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48272" y="370789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Measured result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675120" y="427024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48272" y="430225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Acceptable trade-off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" y="5440680"/>
            <a:ext cx="10287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Skill은 조사 절차를 담고 정답을 고정하지 않는다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TRIAL-008 CANDIDATES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측정으로 후보를 고르다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S44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52928" y="1371600"/>
            <a:ext cx="6492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403604"/>
            <a:ext cx="6345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image_statistics  /  SAME SIX-FIELD CORRECTNESS GUARD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68680" y="1965960"/>
            <a:ext cx="4864608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15568" y="2194560"/>
            <a:ext cx="4370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A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2670048"/>
            <a:ext cx="4370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Manual single-pass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291840"/>
            <a:ext cx="4370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 traced memory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Much slower runtime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446520" y="1965960"/>
            <a:ext cx="4864608" cy="2423160"/>
          </a:xfrm>
          <a:prstGeom prst="roundRect">
            <a:avLst>
              <a:gd name="adj" fmla="val 301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93408" y="2194560"/>
            <a:ext cx="4370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B  /  SELECTED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693408" y="2670048"/>
            <a:ext cx="4370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Row-level built-in reduction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693408" y="3310128"/>
            <a:ext cx="43708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Lower traced memory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Better runtime in this comparison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4800600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evidence only  /  no exact candidate values shown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321808"/>
            <a:ext cx="10195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 not merge these measurements with the STATE-04 baseline/result pair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STATE-04 → STATE-04-PERF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S45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481328" y="1353312"/>
            <a:ext cx="9235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54480" y="1385316"/>
            <a:ext cx="9089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→ CONTEXT → WORKFLOW → TOOLS → EVIDENCE → PRODUCT CHANGE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1248" y="1901952"/>
            <a:ext cx="4956048" cy="1572768"/>
          </a:xfrm>
          <a:prstGeom prst="roundRect">
            <a:avLst>
              <a:gd name="adj" fmla="val 465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24128" y="208483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 RUNTIME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" y="2532888"/>
            <a:ext cx="4590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15.468 → 10.769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999232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 /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82512" y="1901952"/>
            <a:ext cx="4956048" cy="1572768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65392" y="208483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TRACED PYTHON ALLOCATION PEAK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565392" y="2532888"/>
            <a:ext cx="4590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6,675,804 → 380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65392" y="2999232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bytes  /  tracemalloc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41248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2688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1 PASS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21024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12464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712464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0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92240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9180576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272016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GUARD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9272016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896112" y="4828032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1024×768 image  ·  CPython 3.9.6  ·  macOS 26.6.2 arm64  ·  7 one-call samples/state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417320" y="5321808"/>
            <a:ext cx="9372600" cy="530352"/>
          </a:xfrm>
          <a:prstGeom prst="roundRect">
            <a:avLst>
              <a:gd name="adj" fmla="val 13793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627632" y="5449824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bounded 결과는 Harness/Skill의 단독 성능 인과를 입증하지 않음  ·  tracemalloc ≠ RSS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작업에 Subagent가 필요했을까?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S46  /  4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5727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PERFORMANCE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1440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273552" y="1938528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70332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7647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062472" y="1938528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49224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6539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/ review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96112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42416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independence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42416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626864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73168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Parallel benefit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773168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LIMITED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357616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03920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Coordination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89888" y="4270248"/>
            <a:ext cx="9372600" cy="713232"/>
          </a:xfrm>
          <a:prstGeom prst="roundRect">
            <a:avLst>
              <a:gd name="adj" fmla="val 10256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45920" y="446227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JUSTIFIED YET  /  this task only</a:t>
            </a:r>
            <a:endParaRPr lang="en-US" sz="2100" dirty="0"/>
          </a:p>
        </p:txBody>
      </p:sp>
      <p:sp>
        <p:nvSpPr>
          <p:cNvPr id="27" name="Text 24"/>
          <p:cNvSpPr txBox="1"/>
          <p:nvPr/>
        </p:nvSpPr>
        <p:spPr>
          <a:xfrm>
            <a:off x="1024128" y="5321808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기능의 부재가 아니라, 현재 문제에서 필요성이 입증되지 않음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 CASE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Subagent를 고려할 조건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S47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700784"/>
            <a:ext cx="4983480" cy="3154680"/>
          </a:xfrm>
          <a:prstGeom prst="roundRect">
            <a:avLst>
              <a:gd name="adj" fmla="val 231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385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CONSIDER WHEN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48716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Independent investigation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10896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Parallelizable work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73075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Clear handoff / merge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82512" y="1700784"/>
            <a:ext cx="4983480" cy="3154680"/>
          </a:xfrm>
          <a:prstGeom prst="roundRect">
            <a:avLst>
              <a:gd name="adj" fmla="val 23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38544" y="19385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HOLD WHEN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248716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Small connected tasks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310896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Context repeated across roles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373075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Coordination costs more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69264" y="5230368"/>
            <a:ext cx="10222992" cy="585216"/>
          </a:xfrm>
          <a:prstGeom prst="roundRect">
            <a:avLst>
              <a:gd name="adj" fmla="val 1250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07008" y="5376672"/>
            <a:ext cx="9747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Hypothetical C++ case: independent performance / build / test investigations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다시 찾기 어려운 지식인가?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S48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1572768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33856" y="17556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CONTRACTS / COMMANDS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71907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 + maintained docs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2359152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33856" y="25420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5054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documentation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14400" y="3145536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856" y="33284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PROCEDURE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29184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Skill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14400" y="3931920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33856" y="4114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RESULT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0782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record / Git history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54480" y="5047488"/>
            <a:ext cx="909828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627632" y="5079492"/>
            <a:ext cx="89519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DEMO AUDIT  /  NO SEPARATE MEMORY CANDIDATE FOUND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5623560"/>
            <a:ext cx="10186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classification  ≠  product Memory feature claim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DECISION CRITERIA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Memory는 재발견 비용으로 판단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S49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68680" y="1664208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33272" y="1865376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0B617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06424" y="1897380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81051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Rediscovery cost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21945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찾는 비용이 큰가?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0" y="1664208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65392" y="1865376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1897380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181051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Reusability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21945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작업에서 반복되는가?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68680" y="3054096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3272" y="32552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06424" y="3287268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737360" y="32004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and scope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73736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출처와 적용 범위를 아는가?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00800" y="3054096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65392" y="32552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38544" y="3287268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32004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Freshness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/ 무효화 기준이 있는가?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417320" y="4828032"/>
            <a:ext cx="9372600" cy="640080"/>
          </a:xfrm>
          <a:prstGeom prst="roundRect">
            <a:avLst>
              <a:gd name="adj" fmla="val 11429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664208" y="4992624"/>
            <a:ext cx="8887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Demo에서는 이 조건을 만족하는 별도 후보가 없다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41848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사용 여부는 성숙도 점수가 아니다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Minimum Effective Harness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S50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52928" y="1389888"/>
            <a:ext cx="649224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421892"/>
            <a:ext cx="6345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STATE-04-PERF  /  CURRENT PROJECT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1323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77977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304495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6382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16382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routing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11149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37667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9554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9554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744321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770839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726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82726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tests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1004011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9EEF2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15898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15898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environment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1417320" y="4160520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90472" y="4192524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SUBAGENT: NOT ADDED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876288" y="4160520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949440" y="4192524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MEMORY: NOT ADDED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" y="5074920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문제를 해결한 구성  /  보편적인 기능 수 기준은 아님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Harness는 작업 환경 설계다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S51  /  6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86384" y="1481328"/>
            <a:ext cx="10625328" cy="34015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03120" y="1664208"/>
            <a:ext cx="800100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76272" y="1696212"/>
            <a:ext cx="7854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OPERATIONAL DEFINITION  /  NOT AN OFFICIAL PRODUCT TAXONOMY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223113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Developer + Agent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743200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inside a deliberately designed Project environment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188720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0288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63440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91856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65008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188720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EEAF6"/>
          </a:solidFill>
          <a:ln w="12700">
            <a:solidFill>
              <a:srgbClr val="EEEA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61872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90288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3440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991856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65008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 / Environment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024128" y="5230368"/>
            <a:ext cx="10131552" cy="640080"/>
          </a:xfrm>
          <a:prstGeom prst="roundRect">
            <a:avLst>
              <a:gd name="adj" fmla="val 1142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261872" y="5394960"/>
            <a:ext cx="964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STATE-04-PERF elements support the case; Subagent and Memory are not required items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밖의 환경도 결과에 영향을 준다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S52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481328"/>
            <a:ext cx="10561320" cy="2743200"/>
          </a:xfrm>
          <a:prstGeom prst="roundRect">
            <a:avLst>
              <a:gd name="adj" fmla="val 2667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70078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POSSIBLE AMBIENT ENVIRONMENT LAYERS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97280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70432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instructions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43984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EEEAF6"/>
          </a:solidFill>
          <a:ln w="12700">
            <a:solidFill>
              <a:srgbClr val="EEEA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17136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90688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97280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70432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43984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17136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790688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0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/ OS / runtime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60120" y="4572000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8872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RECORDS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2907792" y="4910328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Some global influence recorded  /  inventory and causal effects remain partial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715000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hook execution or MCP task result is claimed here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PRIMARY C++ BRIDGE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Engineering Pattern은 C++에도 전이된다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S53  /  5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813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DEMO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88352" y="14813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PROJECT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6968" y="1828800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78992" y="1938528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192024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400800" y="1828800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193852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/ algorithm / hardware constraints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86968" y="2615184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78992" y="2724912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unittest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270662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00800" y="2615184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72491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GoogleTest / CTest or integration checks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86968" y="3401568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78992" y="3511296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script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257800" y="34930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6400800" y="3401568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/ profiler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86968" y="4187952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78992" y="4297680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procedure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257800" y="427939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6400800" y="4187952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2976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→ profile → change → regression check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53583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Engineering Pattern을 전이  /  실제 팀 도구·규칙은 별도로 확인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REFLECTION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구조부터 질문하기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S54  /  10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32688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  /  3 MIN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89120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62272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/  5 MIN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845552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18704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TRANSITION  /  2 MIN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96112" y="2066544"/>
            <a:ext cx="47548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856" y="2286000"/>
            <a:ext cx="4279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REFLECTION  /  OPTIONAL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07008" y="28163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업무에서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반복되는가?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355080" y="2066544"/>
            <a:ext cx="4919472" cy="2395728"/>
          </a:xfrm>
          <a:prstGeom prst="roundRect">
            <a:avLst>
              <a:gd name="adj" fmla="val 3053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92824" y="2286000"/>
            <a:ext cx="4443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 THE OBSERVED SUCCESS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2788920"/>
            <a:ext cx="43708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6629400" y="3712464"/>
            <a:ext cx="4370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작업은 실패 사례가 아니다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87552" y="4882896"/>
            <a:ext cx="10195560" cy="731520"/>
          </a:xfrm>
          <a:prstGeom prst="roundRect">
            <a:avLst>
              <a:gd name="adj" fmla="val 10000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80160" y="506577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잘 동작한다  /  Project가 바뀐 뒤에도 계속 맞을까?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5806440"/>
            <a:ext cx="1019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4로 전환: 새 문제를 질문으로 열고, 현재 성공 기록은 보존한다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Internal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Developer Training — ACT 3</dc:title>
  <dc:subject>ACT 3 — reusable workflow and Working Harness</dc:subject>
  <dc:creator>AI Developer Training Project</dc:creator>
  <cp:lastModifiedBy>AI Developer Training Project</cp:lastModifiedBy>
  <cp:revision>1</cp:revision>
  <dcterms:created xsi:type="dcterms:W3CDTF">2026-10-12T12:59:31Z</dcterms:created>
  <dcterms:modified xsi:type="dcterms:W3CDTF">2026-10-12T12:59:31Z</dcterms:modified>
</cp:coreProperties>
</file>