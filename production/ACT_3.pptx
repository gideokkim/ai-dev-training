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9304f7df804757" /><Relationship Type="http://schemas.openxmlformats.org/officeDocument/2006/relationships/extended-properties" Target="/docProps/app.xml" Id="Rb79de4b3577245a9" /><Relationship Type="http://schemas.openxmlformats.org/officeDocument/2006/relationships/officeDocument" Target="/ppt/presentation.xml" Id="R2bfb1b748f104d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33b4e30f56420e"/>
  </p:sldMasterIdLst>
  <p:notesMasterIdLst>
    <p:notesMasterId xmlns:r="http://schemas.openxmlformats.org/officeDocument/2006/relationships" r:id="R6ea5f23b27544751"/>
  </p:notesMasterIdLst>
  <p:sldIdLst>
    <p:sldId xmlns:r="http://schemas.openxmlformats.org/officeDocument/2006/relationships" id="256" r:id="R16917428897e4fa0"/>
    <p:sldId xmlns:r="http://schemas.openxmlformats.org/officeDocument/2006/relationships" id="257" r:id="R213e833f97374853"/>
    <p:sldId xmlns:r="http://schemas.openxmlformats.org/officeDocument/2006/relationships" id="258" r:id="R17e29d29679d49ac"/>
    <p:sldId xmlns:r="http://schemas.openxmlformats.org/officeDocument/2006/relationships" id="259" r:id="Rc4f40768ffca467e"/>
    <p:sldId xmlns:r="http://schemas.openxmlformats.org/officeDocument/2006/relationships" id="260" r:id="R913bcc8c6de24684"/>
    <p:sldId xmlns:r="http://schemas.openxmlformats.org/officeDocument/2006/relationships" id="261" r:id="R093b6e5eb7de488a"/>
    <p:sldId xmlns:r="http://schemas.openxmlformats.org/officeDocument/2006/relationships" id="262" r:id="R71f41626e81f4673"/>
    <p:sldId xmlns:r="http://schemas.openxmlformats.org/officeDocument/2006/relationships" id="263" r:id="Rd54e89f95c9642ed"/>
    <p:sldId xmlns:r="http://schemas.openxmlformats.org/officeDocument/2006/relationships" id="264" r:id="Rcf106f46d3b04eca"/>
    <p:sldId xmlns:r="http://schemas.openxmlformats.org/officeDocument/2006/relationships" id="265" r:id="Rfe9a78242edb46d4"/>
    <p:sldId xmlns:r="http://schemas.openxmlformats.org/officeDocument/2006/relationships" id="266" r:id="Rbdd3fb1d49924d10"/>
    <p:sldId xmlns:r="http://schemas.openxmlformats.org/officeDocument/2006/relationships" id="267" r:id="R07a268cb1fde4e48"/>
    <p:sldId xmlns:r="http://schemas.openxmlformats.org/officeDocument/2006/relationships" id="268" r:id="Rc11c662d7e3948b1"/>
    <p:sldId xmlns:r="http://schemas.openxmlformats.org/officeDocument/2006/relationships" id="269" r:id="Rd559307c5700437a"/>
    <p:sldId xmlns:r="http://schemas.openxmlformats.org/officeDocument/2006/relationships" id="270" r:id="R1eb6e8bdded84ab7"/>
    <p:sldId xmlns:r="http://schemas.openxmlformats.org/officeDocument/2006/relationships" id="271" r:id="Rf994d20f1bfa43bf"/>
    <p:sldId xmlns:r="http://schemas.openxmlformats.org/officeDocument/2006/relationships" id="272" r:id="Rfc185c32ff7a464c"/>
    <p:sldId xmlns:r="http://schemas.openxmlformats.org/officeDocument/2006/relationships" id="273" r:id="Rc2633d72415c4d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fa3e5cb1c7419a" /><Relationship Type="http://schemas.openxmlformats.org/officeDocument/2006/relationships/slideMaster" Target="/ppt/slideMasters/slideMaster1.xml" Id="R3d33b4e30f56420e" /><Relationship Type="http://schemas.openxmlformats.org/officeDocument/2006/relationships/notesMaster" Target="/ppt/notesMasters/notesMaster1.xml" Id="R6ea5f23b27544751" /><Relationship Type="http://schemas.openxmlformats.org/officeDocument/2006/relationships/presProps" Target="/ppt/presProps.xml" Id="Rd57a24a3ea6d41a0" /><Relationship Type="http://schemas.openxmlformats.org/officeDocument/2006/relationships/tableStyles" Target="/ppt/tableStyles.xml" Id="R21bfdba5c1774a6d" /><Relationship Type="http://schemas.openxmlformats.org/officeDocument/2006/relationships/slide" Target="/ppt/slides/slide1.xml" Id="R16917428897e4fa0" /><Relationship Type="http://schemas.openxmlformats.org/officeDocument/2006/relationships/slide" Target="/ppt/slides/slide2.xml" Id="R213e833f97374853" /><Relationship Type="http://schemas.openxmlformats.org/officeDocument/2006/relationships/slide" Target="/ppt/slides/slide3.xml" Id="R17e29d29679d49ac" /><Relationship Type="http://schemas.openxmlformats.org/officeDocument/2006/relationships/slide" Target="/ppt/slides/slide4.xml" Id="Rc4f40768ffca467e" /><Relationship Type="http://schemas.openxmlformats.org/officeDocument/2006/relationships/slide" Target="/ppt/slides/slide5.xml" Id="R913bcc8c6de24684" /><Relationship Type="http://schemas.openxmlformats.org/officeDocument/2006/relationships/slide" Target="/ppt/slides/slide6.xml" Id="R093b6e5eb7de488a" /><Relationship Type="http://schemas.openxmlformats.org/officeDocument/2006/relationships/slide" Target="/ppt/slides/slide7.xml" Id="R71f41626e81f4673" /><Relationship Type="http://schemas.openxmlformats.org/officeDocument/2006/relationships/slide" Target="/ppt/slides/slide8.xml" Id="Rd54e89f95c9642ed" /><Relationship Type="http://schemas.openxmlformats.org/officeDocument/2006/relationships/slide" Target="/ppt/slides/slide9.xml" Id="Rcf106f46d3b04eca" /><Relationship Type="http://schemas.openxmlformats.org/officeDocument/2006/relationships/slide" Target="/ppt/slides/slide10.xml" Id="Rfe9a78242edb46d4" /><Relationship Type="http://schemas.openxmlformats.org/officeDocument/2006/relationships/slide" Target="/ppt/slides/slide11.xml" Id="Rbdd3fb1d49924d10" /><Relationship Type="http://schemas.openxmlformats.org/officeDocument/2006/relationships/slide" Target="/ppt/slides/slide12.xml" Id="R07a268cb1fde4e48" /><Relationship Type="http://schemas.openxmlformats.org/officeDocument/2006/relationships/slide" Target="/ppt/slides/slide13.xml" Id="Rc11c662d7e3948b1" /><Relationship Type="http://schemas.openxmlformats.org/officeDocument/2006/relationships/slide" Target="/ppt/slides/slide14.xml" Id="Rd559307c5700437a" /><Relationship Type="http://schemas.openxmlformats.org/officeDocument/2006/relationships/slide" Target="/ppt/slides/slide15.xml" Id="R1eb6e8bdded84ab7" /><Relationship Type="http://schemas.openxmlformats.org/officeDocument/2006/relationships/slide" Target="/ppt/slides/slide16.xml" Id="Rf994d20f1bfa43bf" /><Relationship Type="http://schemas.openxmlformats.org/officeDocument/2006/relationships/slide" Target="/ppt/slides/slide17.xml" Id="Rfc185c32ff7a464c" /><Relationship Type="http://schemas.openxmlformats.org/officeDocument/2006/relationships/slide" Target="/ppt/slides/slide18.xml" Id="Rc2633d72415c4d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44501ee18d44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dbe6696dfd41d0" /><Relationship Type="http://schemas.openxmlformats.org/officeDocument/2006/relationships/notesMaster" Target="/ppt/notesMasters/notesMaster1.xml" Id="R3fab8736aef240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5f0dca5a5a46c1" /><Relationship Type="http://schemas.openxmlformats.org/officeDocument/2006/relationships/notesMaster" Target="/ppt/notesMasters/notesMaster1.xml" Id="Re684178b9cac44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adc44a1a0e4f8f" /><Relationship Type="http://schemas.openxmlformats.org/officeDocument/2006/relationships/notesMaster" Target="/ppt/notesMasters/notesMaster1.xml" Id="Raff85e99efa148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200b5b11964d81" /><Relationship Type="http://schemas.openxmlformats.org/officeDocument/2006/relationships/notesMaster" Target="/ppt/notesMasters/notesMaster1.xml" Id="Re117803bacf24a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9374bbff364c42" /><Relationship Type="http://schemas.openxmlformats.org/officeDocument/2006/relationships/notesMaster" Target="/ppt/notesMasters/notesMaster1.xml" Id="Rcadd230208c64a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51d33a08704ae8" /><Relationship Type="http://schemas.openxmlformats.org/officeDocument/2006/relationships/notesMaster" Target="/ppt/notesMasters/notesMaster1.xml" Id="R4e9a3e8f07ce4a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f426108ff74988" /><Relationship Type="http://schemas.openxmlformats.org/officeDocument/2006/relationships/notesMaster" Target="/ppt/notesMasters/notesMaster1.xml" Id="R1362868755b34b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6fafb62d1c4d3b" /><Relationship Type="http://schemas.openxmlformats.org/officeDocument/2006/relationships/notesMaster" Target="/ppt/notesMasters/notesMaster1.xml" Id="R4506ffbaa7c64b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2b39e03cd748ca" /><Relationship Type="http://schemas.openxmlformats.org/officeDocument/2006/relationships/notesMaster" Target="/ppt/notesMasters/notesMaster1.xml" Id="R54a324dffbab496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76f2a7c68c49f4" /><Relationship Type="http://schemas.openxmlformats.org/officeDocument/2006/relationships/notesMaster" Target="/ppt/notesMasters/notesMaster1.xml" Id="Rd0386c44e31f4eb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8875e2b112469c" /><Relationship Type="http://schemas.openxmlformats.org/officeDocument/2006/relationships/notesMaster" Target="/ppt/notesMasters/notesMaster1.xml" Id="Rb40dd9fe2b17426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df5c3de59fc43bc" /><Relationship Type="http://schemas.openxmlformats.org/officeDocument/2006/relationships/notesMaster" Target="/ppt/notesMasters/notesMaster1.xml" Id="R19b82e3cc8af40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17c79d427d74ba4" /><Relationship Type="http://schemas.openxmlformats.org/officeDocument/2006/relationships/notesMaster" Target="/ppt/notesMasters/notesMaster1.xml" Id="R62e0a110a36143e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fc59f25160f4572" /><Relationship Type="http://schemas.openxmlformats.org/officeDocument/2006/relationships/notesMaster" Target="/ppt/notesMasters/notesMaster1.xml" Id="R57db898d054f400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414ce94a83046ab" /><Relationship Type="http://schemas.openxmlformats.org/officeDocument/2006/relationships/notesMaster" Target="/ppt/notesMasters/notesMaster1.xml" Id="Raff40d886bb24b3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2f0435bc2f94b42" /><Relationship Type="http://schemas.openxmlformats.org/officeDocument/2006/relationships/notesMaster" Target="/ppt/notesMasters/notesMaster1.xml" Id="R39e179e9ad9c403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cbc2fa963044cd8" /><Relationship Type="http://schemas.openxmlformats.org/officeDocument/2006/relationships/notesMaster" Target="/ppt/notesMasters/notesMaster1.xml" Id="Rd3da21b3687a46f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b410fc13e3c4459" /><Relationship Type="http://schemas.openxmlformats.org/officeDocument/2006/relationships/notesMaster" Target="/ppt/notesMasters/notesMaster1.xml" Id="R6a79739890de4b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S37 — 서로 다른 Performance Task, 반복되는 절차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서로 다른 Performance Task, 반복되는 절차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TRIAL-006의 `resize_nearest`와 TRIAL-007의 `normalize`처럼 서로 다른 목표에서도 유사한 performance procedure가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“Task가 달라도 왜 같은 작업 방법을 계속 쓰고 있지?”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처음 30초에 그림으로 작업 대상을 확인한다. 왼쪽은 크기 변경, 오른쪽은 선언된 max_value를 255로 스케일하는 값 범위 변환이다. 0→0, 2048→128, 4095→255를 설명할 수 있지만 화질 개선으로 표현하지 않는다. 이어 두 Task goal을 비교한다.</a:t>
            </a:r>
          </a:p>
          <a:p xmlns:a="http://schemas.openxmlformats.org/drawingml/2006/main">
            <a:r>
              <a:t>2. (2:00–4:00) 두 기록에 반복된 baseline, 조사, 계획, 변경, test, benchmark, 비교, review를 강조한다.</a:t>
            </a:r>
          </a:p>
          <a:p xmlns:a="http://schemas.openxmlformats.org/drawingml/2006/main">
            <a:r>
              <a:t>3. (4:00–5:00) 반복 관찰과 원인 귀속을 분리하고 Prompt-only attribution이 PARTIAL임을 밝힌다.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상단 두 그림은 목표 차이만 짧게 확인한다. 이후 중앙의 공통 절차를 Baseline부터 Review까지 차례로 가리키며 두 Task에서 반복된 부분을 본다. 그림은 실제 입출력이나 성능 전후 비교가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 (`resize_nearest`), TRIAL-007 (`normalize`), BEAT-018/020. Codex CLI 기록 실행의 workflow 비교. 함수 계약 참고: Demo STATE-04의 src/graypipe/transform.py 및 normalize.py. 삽화 출처: prototype/image-illustration-pilot/assets/S37.png,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유사한 절차가 관찰됐지만 Prompt만의 효과로 귀속하지 않는다. 개별 성능 결과는 해당 코드·입력·환경에 한정한다. 그림은 기능 설명용 개념 예시이며 Trial의 입력·출력 파일이나 최적화 전후 결과가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서로 다른 작업에서도 조사하고 확인하는 순서가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Task별 목표와 지속해서 재사용할 절차를 구분하고, Global Harness가 미친 영향을 고려한다.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위는 기능 설명용 AI 삽화, 아래는 TRIAL-006/007 기록에서 확인한 반복 절차 요약이다. 같은 grayscale tile을 크기만 달리하거나 동일 크기로 배치해 작업의 차이를 설명한다. 새로운 실행이나 실제 터미널 화면이라고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두 Task의 공통 절차를 잠시 관찰하게 한다. 공개 답변은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“Project 지식과 작업 절차는 각각 어떤 질문에 답할까?”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5분을 두 Task 비교, 공통 절차, attribution 한계 순으로 쓴다. 수치 설명으로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발표 경로는 production/preview/act3/S37.png와 production/preview/full/S37.png다. 같은 그림을 가리키며 원래 질문과 Claim 경계를 설명한다. 설명용 삽화를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S38 — Project 사실과 작업 절차는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 사실과 작업 절차는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Project에서 일반적으로 참인 사실과 반복되는 작업 방법은 서로 다른 설계 문제다.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“Agent가 알아야 할 것과 따라야 할 방법은 같은가?”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crop의 끝 열 제외 계약을 ‘무엇이 참인가?’와 연결한다.</a:t>
            </a:r>
          </a:p>
          <a:p xmlns:a="http://schemas.openxmlformats.org/drawingml/2006/main">
            <a:r>
              <a:t>2. (1:00–3:00) 오른쪽 변경 전 측정과 동일 입력 비교를 ‘어떤 순서로 일할까?’와 연결한다. 화면 아래의 현재 목표 질문은 Task Prompt의 책임이다.</a:t>
            </a:r>
          </a:p>
          <a:p xmlns:a="http://schemas.openxmlformats.org/drawingml/2006/main">
            <a:r>
              <a:t>3. (3:00–4:00) 사실과 절차는 둘 다 Prompt 밖에 놓일 수 있지만 유지할 책임이 다르다고 정리한다. 아직 Harness 전체 정의를 완성하지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문장을 무엇이 참인가/어떻게 일하는가/지금 무엇을 원하는가로 분류한다. 정답 시험을 진행하지 않는다. 다음 장은 이 세 책임을 하나의 Task에 함께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BEAT-019, TRIAL-006/007.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교육용 구분이다. 공식 제품 분류나 특정 제품 기능이라고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프로젝트 설명은 무엇이 참인지 말하고, workflow는 어떤 순서로 일할지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Context를 늘리는 것만으로 반복 절차의 유지 문제가 해결되지는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세 질문과 항목을 조용히 따라오게 한다. 분류 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“작업 방법도 Repository가 재사용할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동안 세 질문의 책임만 구분한다. Harness 전체 정의는 아직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S38 또는 `production/preview/act3/S38.png`다.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S39 — Task, Context, Workflow의 역할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Task, Context, Workflow의 역할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Prompt는 현재 목표, Project Context는 사실과 제약, Reusable Workflow는 특정 작업을 수행하는 방법을 담는다.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“현재 목표, Project 사실, 반복 절차는 어디에 속하는가?”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첫 행의 normalize 성능 조사로 이번 Task 목표를 설명한다.</a:t>
            </a:r>
          </a:p>
          <a:p xmlns:a="http://schemas.openxmlformats.org/drawingml/2006/main">
            <a:r>
              <a:t>2. (1:00–2:30) 둘째 행에서 기존 이미지 동작과 공개 계약은 작업 중 지켜야 할 Project Context임을 짚는다.</a:t>
            </a:r>
          </a:p>
          <a:p xmlns:a="http://schemas.openxmlformats.org/drawingml/2006/main">
            <a:r>
              <a:t>3. (2:30–4:00) 셋째 행의 baseline → 조사 → 검증 → 비교를 재사용 Workflow와 연결한다.</a:t>
            </a:r>
          </a:p>
          <a:p xmlns:a="http://schemas.openxmlformats.org/drawingml/2006/main">
            <a:r>
              <a:t>4. (4:00–5:00) 세 책임의 위치가 Prompt 밖일 수 있다는 것과 책임이 같다는 것을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normalize라는 한 목표를 기준으로 Task Prompt, Project Context, Reusable Workflow가 각각 맡는 질문을 연결한다. S38의 분류 예시를 다시 나열하지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BEAT-019, TRIAL-006/007.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세 Layer는 교육용 모델이다. Harness 전체 정의나 제품의 공식 분류로 부르지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지금 원하는 일, 계속 유효한 프로젝트 정보, 반복할 작업 순서를 나눠 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같은 위치에 저장될 수 있어도 소유권, 갱신 주기, Task별 적용은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각 Layer 예시를 조용히 따라오게 한다. 노트북 실습은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40에서 반복 절차를 repository-owned asset으로 옮길지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 동안 세 책임과 한 개의 workflow 예시만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S39 또는 `production/preview/act3/S39.png`다.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S40 — 반복 절차를 Skill로 옮길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 절차를 Skill로 옮길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반복 절차를 repository-owned Skill에 두는 것은 Task 목표와 Project 절차를 분리하려는 선택이다.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“긴 Procedure를 Prompt에서 빼도 같은 작업 흐름을 유지할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(0:00–1:30) 목표와 반복 절차가 함께 들어간 Before를 보여준다.</a:t>
            </a:r>
          </a:p>
          <a:p xmlns:a="http://schemas.openxmlformats.org/drawingml/2006/main">
            <a:r>
              <a:t>2. (1:30–3:00) `$graypipe-performance`와 repository Skill을 후보 구조로 보여준다.</a:t>
            </a:r>
          </a:p>
          <a:p xmlns:a="http://schemas.openxmlformats.org/drawingml/2006/main">
            <a:r>
              <a:t>3. (3:00–4:00) 성공 결과를 앞당기지 않고 대상 surface와 호출 경로는 확인 대상이라고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DEC-0017, BEAT-020/021, TRIAL-006/007/008. Skill 선택은 ACCEPTED; 동작 근거는 뒤의 TRIAL-008에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여기서는 설계 질문과 후보만 소개한다. 현재 Desktop/계정에서 이용 가능하다고 보장하거나 Skill 우월성을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방법을 매번 Prompt에 복사하는 대신 프로젝트가 소유하는 위치를 검토할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반복 근거에 따른 workflow 소유권 선택과 실제 발견·호출 증거를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성공 여부를 추측하지 않도록 잠깐 멈추고 질문을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41에서 TRIAL-008의 발견과 명시적 호출 기록을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중 3분은 문제와 후보를 설명하고, 마지막 1분에 product check 경계를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S40 또는 `production/preview/act3/S40.png`다.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S41 — Skill을 어떻게 발견하고 호출할까?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Skill을 어떻게 발견하고 호출할까?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5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TRIAL-008에서 Codex CLI 0.154.0의 `/skills` 목록으로 repository Skill을 찾고 `$graypipe-performance`를 명시적으로 호출했으며, 실행 trace에 Skill 본문이 있었다.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“반복할 작업 절차를 Repository에서 어떻게 찾고 불러올까?”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세 단계는 TRIAL-008 기록을 읽기 좋게 재구성한 도식이며 실제 제품 UI 캡처가 아님을 밝힌다.</a:t>
            </a:r>
          </a:p>
          <a:p xmlns:a="http://schemas.openxmlformats.org/drawingml/2006/main">
            <a:r>
              <a:t>2. (1:00–2:30) /skills 목록에서 graypipe-performance와 잘린 설명이 표시된 기록을 가리킨다. 그 selector 화면에 Skill 경로가 표시됐다고 말하지 않는다.</a:t>
            </a:r>
          </a:p>
          <a:p xmlns:a="http://schemas.openxmlformats.org/drawingml/2006/main">
            <a:r>
              <a:t>3. (2:30–4:00) 명시적 $graypipe-performance 호출과 image_statistics 작업 목표를 보여준 뒤, 실행 trace에서 Skill 경로·본문 포함을 확인했다는 세 번째 행으로 이동한다.</a:t>
            </a:r>
          </a:p>
          <a:p xmlns:a="http://schemas.openxmlformats.org/drawingml/2006/main">
            <a:r>
              <a:t>4. (4:00–5:00) Codex CLI 0.154.0에서 확인한 범위다. 현재 Desktop, 암묵적 호출, 교육 계정의 표면은 별도 확인 대상으로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DEC-0017, BEAT-021. Codex CLI 0.154.0, 명시적 호출, disposable workspace. 시각 자료는 기록의 재구성이다.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Product UI 스크린샷이나 현재 Codex Desktop 동작으로 표현하지 않는다. Skill path는 selector가 아니라 실행 trace에서 확인됐다. Implicit invocation은 테스트하지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기록된 CLI 실행에서 Skill을 목록으로 찾고, 호출 표기를 입력해 사용했다.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Selector의 발견 증거와 실행 context의 본문 증거를 구별한다. 다른 surface·계정에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기본 경로는 재구성된 TRIAL-008 기록이다. 실제 Codex CLI 실행으로 전환하지 않는다. 현재 제품 표면은 REQUIRES PRODUCT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발견, 명시적 호출, 본문 확인의 세 단계를 따라오게 한다. 조작을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“호출한 뒤 작업 Prompt에서는 무엇이 달라졌을까?”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발견 1.5분, 호출·본문 근거 1.5분, 범위 제한 1분. 실시간 제품 설명을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S41 또는 `production/preview/act3/S41.png`다.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S42 — 절차의 책임이 Prompt에서 Repository로 이동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절차의 책임이 Prompt에서 Repository로 이동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(HYBRID planned; activation unverified)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TRIAL-007의 긴 Prompt가 포함하던 절차를 TRIAL-008에서는 명시적으로 호출한 Skill에 맡기고 Prompt에는 목표와 Task별 제약을 남겼다.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작업 절차를 매번 Prompt에 길게 적어야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(0:00–1:30) TRIAL-007의 goal, 제약, 긴 procedure를 요약한다.</a:t>
            </a:r>
          </a:p>
          <a:p xmlns:a="http://schemas.openxmlformats.org/drawingml/2006/main">
            <a:r>
              <a:t>2. (1:30–3:00) TRIAL-008의 goal, Task별 제약, 명시적 Skill 호출을 비교한다.</a:t>
            </a:r>
          </a:p>
          <a:p xmlns:a="http://schemas.openxmlformats.org/drawingml/2006/main">
            <a:r>
              <a:t>3. (3:00–5:00) 양쪽에 반복된 baseline, 조사, test, benchmark, compare, review를 잇는다.</a:t>
            </a:r>
          </a:p>
          <a:p xmlns:a="http://schemas.openxmlformats.org/drawingml/2006/main">
            <a:r>
              <a:t>4. (5:00–6:00) 책임 위치 변화만 관찰됐고 토큰 절감은 측정되지 않았다고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TRIAL-007/008, DEC-0017, BEAT-021. 관찰된 CLI 기록을 요약한 비교.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Skill 우월성, 속도 향상, token/character 절감은 입증되지 않았다. Prompt 구조와 다른 전역 요인의 인과 효과를 따로 분리하지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반복되는 절차를 저장한 위치를 바꿔도 각 작업의 목표는 Prompt에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절차의 재사용 설계와 Prompt 길이·효율의 측정 주장을 혼동하지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두 Trial을 요약한 정적 비교를 사용한다. 긴 Prompt 전문이나 실제 터미널 화면을 재현하지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시간에 공통 절차만 비교하도록 안내하고, 공개 응답은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Skill에는 구체적인 답이 들어 있을까, 재사용할 작업 방법이 들어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3분은 구조 비교, Case 3분은 공통 procedure와 책임 경계에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S42 또는 `production/preview/act3/S42.png`다.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S43 — 답을 담지 않는 Workflow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답을 담지 않는 Workflow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Reusable Skill은 검증 절차를 담고 특정 최적화 답이나 측정 결과를 미리 정답으로 고정하지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“Skill이 작업 방법을 담는다면, 어디까지 미리 정해도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실제 Skill 발췌의 ‘편집 전 재현 가능한 baseline’과 ‘근거가 없으면 no-change도 유효’ 두 지시를 가리킨다. 영어를 모두 낭독하지 않고 한국어로 뜻을 설명한다.</a:t>
            </a:r>
          </a:p>
          <a:p xmlns:a="http://schemas.openxmlformats.org/drawingml/2006/main">
            <a:r>
              <a:t>2. (1:00–2:00) 아래의 알고리즘, 실제 측정값, 감수할 trade-off는 이번 Task에서 결정할 내용임을 구분한다.</a:t>
            </a:r>
          </a:p>
          <a:p xmlns:a="http://schemas.openxmlformats.org/drawingml/2006/main">
            <a:r>
              <a:t>3. (2:00–3:00) Skill에 특정 알고리즘·Trial 숫자를 정답으로 넣지 않았음을 확인하고, 실제 후보 비교로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한국어 뜻으로 baseline과 no-change 판단을 설명한 뒤 실제 영문 원문 두 문장을 확인한다. Skill에 최적화 답이 들어 있다는 인상을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`graypipe-performance` Skill, DEC-0017, BEAT-022.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절차 재사용은 관찰됐지만 Skill이 더 나은 최적화 답을 제공한다는 근거는 아니다. Workflow는 task 결과를 고정하지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작업 순서는 재사용할 수 있지만, 어떤 답이 맞는지는 매번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Input, runtime, benchmark, trade-off를 procedure definition과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STATE-04의 `.agents/skills/graypipe-performance/SKILL.md`에서 확인한 두 문장만 발췌한 정적 화면을 사용한다. 코드/제품 UI screenshot으로 표현하지 않으며 전체 Skill 본문을 낭독하지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왼쪽의 절차와 오른쪽의 Task 판단을 구별하도록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“실제로 후보를 선택할 때는 무엇을 근거로 삼았을까?”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3분 동안 두 책임만 구분하며 algorithm 설명은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S43 또는 `production/preview/act3/S43.png`다.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S44 — 측정으로 후보를 고르다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측정으로 후보를 고르다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TRIAL-008의 `image_statistics` 후보 중 row-level built-in reduction은 수동 단일 순회보다 빠르면서 낮은 traced-memory 사용을 유지해 선택됐다.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“여러 구현 후보 중 무엇을 선택할지 어떻게 판단했을까?”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후보 비교가 STATE-04 → STATE-04-PERF 공식 결과와 다른 Trial 단계임을 밝힌다.</a:t>
            </a:r>
          </a:p>
          <a:p xmlns:a="http://schemas.openxmlformats.org/drawingml/2006/main">
            <a:r>
              <a:t>2. (1:00–3:00) 수동 단일 순회는 traced memory가 적었지만 훨씬 느렸다는 정성 비교를 보여준다.</a:t>
            </a:r>
          </a:p>
          <a:p xmlns:a="http://schemas.openxmlformats.org/drawingml/2006/main">
            <a:r>
              <a:t>3. (3:00–4:00) Row-level built-in reduction 후보가 시간·메모리 trade-off에서 선택된 근거를 말한다.</a:t>
            </a:r>
          </a:p>
          <a:p xmlns:a="http://schemas.openxmlformats.org/drawingml/2006/main">
            <a:r>
              <a:t>4. (4:00–5:00) 동일한 six-field correctness guard와 workload 한계를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 candidate comparison; `image_statistics`; synthetic 1024×768 image, CPython 3.9.6 / macOS 26.6.2 arm64; same six-field correctness guard.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정확한 candidate 수치는 표시하지 않는다. Candidate 결과를 S45의 formal state benchmark와 섞지 않는다. Skill이 algorithm이나 결과를 만들었다고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적은 메모리만 보고 선택하지 않고 같은 조건에서 실행시간과 정확성을 함께 확인했다.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Candidate comparison과 named product-state before/after 측정은 Evidence 단계가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두 후보의 Python 할당량과 실행 시간 정성 비교를 사용한다. 후보별 새 숫자나 측정 그래프를 추가하지 않는다. 공식 STATE-04 전후 수치는 다음 S45에서 별도로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질문을 제시하고 실행시간과 메모리의 trade-off를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“선택한 변화는 어떤 검증을 거쳐 제품 상태에 반영됐을까?”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 중 3분은 두 후보 차이, 1분은 correctness guard, 1분은 evidence 경계에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S44 또는 `production/preview/act3/S44.png`다.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S45 — Working Harness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Working Harness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STATE-04 → STATE-04-PERF의 bounded `image_statistics` 변경은 기록된 조건에서 median과 traced allocation이 달랐고 정해진 tests, CLI, benchmark guards를 통과했다.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“조사와 비교가 실제로 확인 가능한 결과로 이어졌을까?”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이전 장의 후보 선택을 회수한다. 정식 STATE-04 baseline에서 변경한 결과이며 TRIAL-008의 후보 수치를 재사용한 것이 아님을 밝힌다.</a:t>
            </a:r>
          </a:p>
          <a:p xmlns:a="http://schemas.openxmlformats.org/drawingml/2006/main">
            <a:r>
              <a:t>2. (1:00–2:30) 0에서 시작하는 실행 시간 막대를 변경 전 15.468 → 변경 후 10.769 ms/call 순서로 가리킨다. 동일 입력에서 상태별 7회 one-call 측정의 중앙값이다.</a:t>
            </a:r>
          </a:p>
          <a:p xmlns:a="http://schemas.openxmlformats.org/drawingml/2006/main">
            <a:r>
              <a:t>3. (2:30–3:30) Python 할당 피크 6,675,804 → 380 bytes를 보여준다. 평탄화 임시 리스트 제거와 연결하되 프로세스 전체 메모리(RSS)나 일반 성능 보장으로 확대하지 않는다.</a:t>
            </a:r>
          </a:p>
          <a:p xmlns:a="http://schemas.openxmlformats.org/drawingml/2006/main">
            <a:r>
              <a:t>4. (3:30–5:00) 집중 Test 1/1, 전체 11/11, CLI와 입력/결과 guard 통과를 확인한다. 이 결과가 Harness/Skill 단독 인과효과를 입증하지 않음을 말하고 Subagent 필요성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`plan/DEMO_MATRIX.md` STEP 07 §§191–200, STATE-04 → STATE-04-PERF; `plan/CLAIM_FREEZE.md` §8; DEC-0019. Baseline `822f1c12c5f602d934a2fd29e48f05bf498b4bfa`, result `6153b81c0187dd7d82c88bd1817fb683c98eb431`; `image_statistics`; deterministic synthetic 1024×768, 786,432 pixels, max255; CPython3.9.6 / macOS26.6.2 arm64; same input fingerprint, seven one-call samples per state. Median 15.468→10.769 ms/call; separate tracemalloc call peak 6,675,804→380 bytes; six-field result guard, focused1/1, full11/11, CLI smoke PASS. TRIAL-008 is candidate history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숫자는 이 입력, 코드 경로, host, runtime, 측정 조건에 한정한다. `tracemalloc`은 Python allocation peak이지 RSS가 아니다. Harness나 Skill이 성능 향상을 일으켰다고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바뀐 코드가 맞는지 Test와 같은 benchmark로 확인한 기록이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Observed product change와 시스템 구성요소의 단독 인과를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`production/ACT_3.pptx`의 S45 및 `production/preview/act3/S45.png`의 native chart와 수치 비교를 가리킨다. 새 Trial 또는 benchmark를 실행하지 않는다. 막대는 실행 시간만 표현하며 할당량은 별도 수치 비교다.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Case로 측정 조건과 verification을 짚고 일반화하지 않도록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결과를 위해 Subagent도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5분을 metric 2.5분, test/CLI guards 1.5분, attribution limit 1분으로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S45 또는 `production/preview/act3/S45.png`다.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S46 — 이 작업에 Subagent가 필요했을까?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 작업에 Subagent가 필요했을까?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performance 작업은 하나의 Agent가 처리할 수 있었고 별도 Context의 병렬화 이득이 작아 Subagent를 정당화하지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“성능 작업을 여러 Agent로 나누는 게 이 사례에 도움이 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조사 → 변경 → 검증을 왼쪽부터 가리킨다. 뒤 단계가 앞 결과를 사용하는 현재 성능 Task의 의존 관계다.</a:t>
            </a:r>
          </a:p>
          <a:p xmlns:a="http://schemas.openxmlformats.org/drawingml/2006/main">
            <a:r>
              <a:t>2. (1:00–3:00 / Demo) 작업 독립성, 병렬 이득, 결과 통합 비용을 기준으로 이번 사례에서 Subagent 추가 근거가 부족했음을 설명한다.</a:t>
            </a:r>
          </a:p>
          <a:p xmlns:a="http://schemas.openxmlformats.org/drawingml/2006/main">
            <a:r>
              <a:t>3. (3:00–4:00 / Q&amp;A) 질문이 없으면 ‘어느 단계를 독립 실행할 수 있었나?’를 묻는다. 일반적 Subagent 불필요 주장으로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BEAT-023–025; STATE-04 / STATE-04-PERF의 project/task complexity review.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`NOT JUSTIFIED YET`는 현재 사례의 판단이다. Subagent 기능이 없거나 일반적으로 불필요하다는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Agent를 늘리기 전에 실제로 독립시킬 작업이 있는지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병렬화 이득, context separation, coordination 및 merge 비용을 함께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다음 Slide의 가정적 C++ 예시에서만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세 기준을 보여주는 정적 VISUAL Demo다. Product Subagent를 호출하지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 질문을 받는다. 질문이 없으면 “무엇을 독립 실행할 수 있었나?”를 짧게 던지고 계속한다.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“어떤 작업 구조라면 Subagent 검토가 타당해질까?”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시각 검토 3분, Q&amp;A 1분을 보호한다.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S46 또는 `production/preview/act3/S46.png`다.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S47 — Subagent를 고려할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Subagent를 고려할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 minute + Demo 2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독립된 조사와 Context, 병렬 가능성, 명확한 handoff가 있을 때 Subagent를 검토하고 조정 비용이 더 크면 보류한다.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“어떤 일이 실제로 독립된 병렬 작업일까?”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실제 Demo가 아닌 조건부 C++ 조사 예시라고 먼저 밝힌다.</a:t>
            </a:r>
          </a:p>
          <a:p xmlns:a="http://schemas.openxmlformats.org/drawingml/2006/main">
            <a:r>
              <a:t>2. (1:00–3:00 / Demo) 성능 경로, 빌드 환경, 테스트 구조 조사가 서로 결과를 기다리지 않아도 된다는 가정을 비교한다. 세 화살표가 모이는 하단에서 결과 형식, 전달 지점, 합칠 책임을 시작 전에 정할 필요를 짚는다.</a:t>
            </a:r>
          </a:p>
          <a:p xmlns:a="http://schemas.openxmlformats.org/drawingml/2006/main">
            <a:r>
              <a:t>3. (3:00–4:00 / Q&amp;A) 질문이 없으면 ‘결과를 합칠 책임자는 누구인가?’를 묻는다. 작업과 Context가 강하게 연결되거나 조정 비용이 크면 보류한다고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BEAT-023–025, DEC-0018. TEACHING_MODEL; hypothetical C++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현재 Demo에서 관찰한 Subagent 결과가 아니다. 제품 동작·사용법은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서로 영향을 덜 주는 일을 나눌 수 있을 때만 여러 Agent를 고려한다.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경계와 병렬 결과의 integration cost가 역할 분리의 이익보다 작아야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C++ Repository에서 성능, build toolchain, test 조사가 실제로 독립적일 수 있다는 가정 예만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Conceptual decision visual. Subagent 제품 실행이나 지원 여부를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Q&amp;A 1분. 질문이 없으면 “결과를 합칠 책임자는 누구인가?”를 fallback 질문으로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“반복 절차 말고, 다시 찾기 어려운 지식도 남길 필요가 있었을까?”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조건, 보류 신호, 가정 예시를 각 한 번만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S47 또는 `production/preview/act3/S47.png`다.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S48 — 무엇이 다시 찾기 어려운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무엇이 다시 찾기 어려운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(VISUAL) + Case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Demo의 계약·명령·구조·절차·Trial 기록은 각각 유지 중인 Source of Truth에 있었고, 별도 Memory 후보는 발견되지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작업에서 다시 발견하기 어려운 지식은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Demo) 네 행의 질문을 실제 유지 위치에 연결한다. crop 계약은 코드/계약 문서, 모듈 순서는 architecture, 조사 절차는 Skill, 측정 결과는 날짜 있는 Trial/Git 기록이다.</a:t>
            </a:r>
          </a:p>
          <a:p xmlns:a="http://schemas.openxmlformats.org/drawingml/2006/main">
            <a:r>
              <a:t>2. (2:00–3:00 / Case) 현재 Demo에서 별도 Memory로 남길 후보를 찾지 못한 제한된 감사 결과임을 밝힌다.</a:t>
            </a:r>
          </a:p>
          <a:p xmlns:a="http://schemas.openxmlformats.org/drawingml/2006/main">
            <a:r>
              <a:t>3. (3:00–4:00 / Case) 새 기록을 만들기 전에 기존 출처를 먼저 찾는다는 질문을 다음 판단 기준으로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본문의 현재 사례 한정 결론을 먼저 읽고 네 지식의 기존 출처를 대조한다. 이번에는 별도 Memory 후보를 찾지 못했다는 판단이며 다른 프로젝트나 제품 Memory 기능으로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DEMO-08 knowledge audit, BEAT-026–028.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제품 Memory 기능의 존재, 범위, 성능에 관한 주장이 아니다. 현재 Demo에서 별도 보존 후보를 찾지 못했다는 범위다.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새 기억을 만들기 전에 같은 사실이 이미 어디에 기록돼 있는지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출처, 적용 범위, 갱신 가능성과 기존 Source of Truth의 중복 여부를 검토한다.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네 지식 범주를 정적으로 연결하는 VISUAL Demo. Memory 기능을 실행하거나 흉내내지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2분 동안 어떤 지식이 어디에 이미 있는지 생각하도록 한다. 공유나 기록은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“그럼 어떤 지식에 Memory를 검토할 조건이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네 행을 빠르게 연결한 뒤 계약과 측정 결과 두 범주의 출처 차이에 설명을 집중한다. 정적 Demo 2분, Case 2분을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S48 또는 `production/preview/act3/S48.png`다.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S49 — Memory는 재발견 비용으로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Memory는 재발견 비용으로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재발견 비용이 크고 Project 간 재사용 가능하며 출처·범위·신선도를 관리할 수 있을 때 Memory를 검토한다.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“무엇을 기억해 두어야 다음 작업의 비용이 실제로 줄어들까?”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재발견 비용과 재사용성을 첫 질문으로 둔다.</a:t>
            </a:r>
          </a:p>
          <a:p xmlns:a="http://schemas.openxmlformats.org/drawingml/2006/main">
            <a:r>
              <a:t>2. (1:00–3:00) 출처·적용 범위·신선도·무효화 기준을 점검한다.</a:t>
            </a:r>
          </a:p>
          <a:p xmlns:a="http://schemas.openxmlformats.org/drawingml/2006/main">
            <a:r>
              <a:t>3. (3:00–4:00) 현재 Demo에서는 해당 조건을 만족하는 항목을 찾지 못했다고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BEAT-026–028, INV-DEMO-003.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조건은 교육용 판단 model이지 제품 Memory 기능의 효과나 범위에 관한 claim이 아니다. 현재 Demo의 결정으로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나중에 다시 찾기 어렵고 실제로 반복해서 쓰는 지식인지 먼저 따져본다.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Provenance, scope, freshness, invalidation이 없으면 유지되는 기억이 오래된 정보가 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네 판단 질문을 하나씩 따라오게 한다. Memory를 만들라는 과제는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“현재 문제를 해결하는 데 실제로 필요했던 구조는 무엇이었을까?”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동안 조건을 설명하고 기준을 feature checklist로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S49 또는 `production/preview/act3/S49.png`다.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S50 — Minimum Effective Harness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Minimum Effective Harness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STATE-04-PERF까지 이어진 현재 사례는 Prompt, Context와 Routing, reusable Skill, Benchmark, Tests, Tools/Environment를 사용했고 Subagent와 Memory를 추가하지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작업을 위해 실제로 무엇이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왼쪽의 이번 목표·반복 정보·반복 절차·확인 근거라는 문제를 순서대로 읽는다.</a:t>
            </a:r>
          </a:p>
          <a:p xmlns:a="http://schemas.openxmlformats.org/drawingml/2006/main">
            <a:r>
              <a:t>2. (1:00–2:00) 오른쪽의 Task Prompt, AGENTS.md/docs Routing, graypipe-performance Skill, Tests/Benchmark/Tools/Environment에 연결한다. 현재 사례의 구성을 정리한 표다.</a:t>
            </a:r>
          </a:p>
          <a:p xmlns:a="http://schemas.openxmlformats.org/drawingml/2006/main">
            <a:r>
              <a:t>3. (2:00–3:00) Subagent와 별도 Memory는 추가하지 않았으며 필요한 구성은 문제와 검증 조건에 따라 달라진다고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STATE-00 → STATE-04-PERF, DEC-0018, INV-VERIFY-001, DEMO-09.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현재 프로젝트의 구성 감사다. 일반적인 최적 기능 수나 Harness가 성능을 개선한 인과 claim이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Harness는 기능을 많이 모으는 일이 아니라 현재 문제에 필요한 작업 환경을 마련하는 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“Minimum Effective”는 신뢰성 있게 해결할 조건을 충족하는 문제별 heuristic이며 숫자 기준이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51–53에서 Project별 build, test, benchmark 절차로 연결한다. Python Skill을 C++로 복사하지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기록된 State의 구성을 표로 재구성한 CAPTURED 범위 요약이다. 실제 실행 캡처가 아니며 Demo Repository나 현재 제품을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구성요소보다 문제와 evidence가 연결되는 흐름을 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다음 Slide에서 Tools, Environment, Verification을 포함한 Harness 운영 정의를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3분 동안 실제 구성과 빠진 두 요소를 확인한다. 일반론으로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S50 또는 `production/preview/act3/S50.png`다.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S51 — Harness는 작업 환경 설계다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Harness는 작업 환경 설계다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Demo 2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교육에서 Harness는 Agent가 Project에서 안정적으로 일하도록 설계한 작업 환경과 절차를 뜻하는 운영 model이다.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“Harness는 결국 무엇을 의미하는가?”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Lecture) 큰 프레임은 Project 작업 환경을 뜻하는 교육용 모델이라고 밝힌다. 현재 목표 → 개발자와 Agent → 확인할 결과를 가리킨다.</a:t>
            </a:r>
          </a:p>
          <a:p xmlns:a="http://schemas.openxmlformats.org/drawingml/2006/main">
            <a:r>
              <a:t>2. (2:00–4:00 / Lecture) 그 안의 Context/Routing, Workflow, Verification/Tools가 서로 다른 책임으로 연결됨을 설명한다.</a:t>
            </a:r>
          </a:p>
          <a:p xmlns:a="http://schemas.openxmlformats.org/drawingml/2006/main">
            <a:r>
              <a:t>3. (4:00–6:00 / Demo) 프레임 바깥 아래의 ‘관찰한 구성’ 줄에서 STATE-04-PERF의 실제 요소를 확인한다. 전체 환경 모델과 제한된 구성 관찰을 같은 증거로 취급하지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DEC-0023, BEAT-035/036, STATE-04-PERF.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과정의 operational definition이다. 공식 OpenAI 정의나 보편적 industry standard로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알 정보뿐 아니라 일하는 절차와 결과를 확인하는 환경도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Harness는 특정 파일이나 기능 목록이 아니라 Project별 신뢰성 문제를 해결하는 system model이다.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53에서 C++ Project 환경에 같은 Engineering Pattern을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큰 프레임의 교육용 전체 모델과 아래 STATE-04-PERF 관찰 구성 줄을 분리해 보인다. 관찰 구성의 CAPTURED 요약도 기록 기반 재구성이며 실제 UI 캡처가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Evidence inset과 교육용 전체 model의 시각적 경계를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작업 환경은 Repository 파일만으로 결정될까?”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개념 설명 4분, 관찰된 구성 2분. 기능 이름 열거에 시간을 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S51 또는 `production/preview/act3/S51.png`다.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S52 — Repository 밖의 환경도 결과에 영향을 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Repository 밖의 환경도 결과에 영향을 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 결과를 해석할 때 Project repository 바깥의 Global instructions, Skills, Hooks, MCP, Permissions, Model/configuration, OS/runtime도 가능한 환경 층이다.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“Repository가 같으면 Agent 실행 환경도 같은가?”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Repository와 오른쪽 가능한 외부 조건을 나눠 가리킨다.</a:t>
            </a:r>
          </a:p>
          <a:p xmlns:a="http://schemas.openxmlformats.org/drawingml/2006/main">
            <a:r>
              <a:t>2. (1:00–2:00) 지침, 실행, 도구와 권한이라는 세 묶음 중 기록에서 확인된 것은 global Skills와 hook/MCP 시작 흔적 일부라고 말한다.</a:t>
            </a:r>
          </a:p>
          <a:p xmlns:a="http://schemas.openxmlformats.org/drawingml/2006/main">
            <a:r>
              <a:t>3. (2:00–3:00) 모든 요소의 작동·효과를 관찰한 목록이 아님을 한정한다. 자세한 제작 이력 근거는 ACT 4에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TRIAL-006/007/008, DEC-0016/0021, BEAT-033/036. OBSERVED_META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전체 영향의 완전한 inventory가 아니다. Hook 실행이나 MCP task result가 관찰됐다고 말하지 않는다. TRIAL-007의 보고와 stderr 차이를 이 장에서 재해석하지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repository여도 실행 설정이나 주변 지침은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Ambient Harness 요인을 기록하고 Trial의 attribution 범위를 제한하되 미확인 인과를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같은 C++ repository도 Toolchain, 권한, runtime 조건이 다를 수 있다는 정도로만 잇는다.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ACT 4에서 다룰 Meta 근거는 상세히 재생하지 않는다. 정적 preview visual로만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가능한 환경 층과 실제 확인된 흔적을 구분해 보도록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환경 설계 원칙은 C++ Vision Project에 어떻게 옮겨갈까?”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3분 동안 환경 경계와 evidence 한계를 설명한다. 요소별 제품 기능 강의는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`production/ACT_3.pptx`의 S52 또는 `production/preview/act3/S52.png`의 Repository/외부 환경 경계 비교를 사용한다. 새 화면과 경로의 최종 release 일치는 통합 검토에서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S53 — Engineering Pattern은 C++에도 전이된다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Engineering Pattern은 C++에도 전이된다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Python Demo의 코드나 도구를 복사하는 대신 Context, Verification, Benchmark, Reusable Workflow의 Engineering Pattern을 C++ Vision 업무에 대응시킨다.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“우리 Repository에서는 무엇이 Project Context이고 무엇이 Workflow인가?”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가정적 Vision 업무 장면임을 밝히고, 입력·처리·결과를 가리키며 Python Demo와 C++ Vision의 공통 질문을 안내한다.</a:t>
            </a:r>
          </a:p>
          <a:p xmlns:a="http://schemas.openxmlformats.org/drawingml/2006/main">
            <a:r>
              <a:t>2. (1:00–3:30) 기준 조건, 조사 경로, 확인 방법의 세 질문을 따라 입력/계약에서 빌드·알고리즘·하드웨어 조건으로, Python 경로에서 해당 모듈 측정으로, 동작 계약/테스트에서 회귀·통합 검증으로 연결한다.</a:t>
            </a:r>
          </a:p>
          <a:p xmlns:a="http://schemas.openxmlformats.org/drawingml/2006/main">
            <a:r>
              <a:t>3. (3:30–5:00) baseline → profile → change → regression check를 공통 패턴으로 회수한다. 구체 도구는 팀 표준 확인 후 선택하며 화면을 도구 목록 강의로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그림의 01 입력(카메라·원영상), 02 처리, 03 결과를 같은 번호의 질문과 연결한다. 입력의 기준 조건→처리 경로 조사→결과의 계약 검증 순서로 설명한 뒤 하단 workflow로 묶는다. 실제 회사 장비나 C++ 실행 사실은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BEAT-036, CLM-0016/0017/0030, OQ-011. TEACHING_MODEL. 삽화 출처: prototype/image-illustration-pilot/assets/S53.png,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교육용 전이 예다. C++ Demo를 구현하거나 팀별 실제 도구 규칙을 검증한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언어가 달라도 먼저 프로젝트 규칙과 확인 방법을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Build mode, hardware assumptions, module contracts, and regression criteria belong to the actual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— Python `unittest` → GoogleTest/CTest or integration checks; benchmark script → benchmark/profiler; Project Context → build, algorithm, hardware constraints. Team standards must be checked before choosing tools.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그림은 가정적 Vision 업무의 Lecture용 삽화다. 입력·처리·결과를 가리키며 기준 조건, 조사 위치, 검증 범위를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청중이 자사 Project의 Context와 Workflow를 구분할 질문을 제시한다. 답변을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“현재 업무에서 어떤 구조가 실제로 필요한지 되돌아보자.”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 동안 도구 이름보다 패턴 대응을 중심으로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발표 경로는 production/preview/act3/S53.png와 production/preview/full/S53.png다. 같은 그림을 가리키며 원래 질문과 Claim 경계를 설명한다. 설명용 삽화를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S54 — 필요한 구조부터 질문하기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필요한 구조부터 질문하기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3 minutes + Q&amp;A 5 minutes + Transition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기능을 더하기 전에 반복되는 마찰을 찾고 원인과 검증 요구에 맞는 최소 구조를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“내 업무에서 지금 가장 반복되는 마찰은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(0:00–3:00 / Reflection) 화면의 ‘우리 프로젝트의 제약은…’과 ‘먼저 측정하고, 끝나면 확인해…’를 가리킨다. 청중 업무의 반복이 사실인지 절차인지 조용히 생각하게 한다. 독립 조사, 재발견 비용, 검증 필요도 개인 점검 후보다.</a:t>
            </a:r>
          </a:p>
          <a:p xmlns:a="http://schemas.openxmlformats.org/drawingml/2006/main">
            <a:r>
              <a:t>2. (3:00–8:00 / Q&amp;A) 원할 때만 마찰과 근거를 공유하게 한다. 질문이 없으면 ‘이 반복은 Context, Workflow, Coordination, 기억 중 무엇에 가까운가?’를 사용한다.</a:t>
            </a:r>
          </a:p>
          <a:p xmlns:a="http://schemas.openxmlformats.org/drawingml/2006/main">
            <a:r>
              <a:t>3. (8:00–10:00 / Transition) STATE-04-PERF의 제한된 성공을 유지하면서 화면 아래 ‘Project가 바뀐 뒤에도 계속 맞을까?’를 가리킨다. 다음 ACT의 가상 사례를 실제 제품 실패로 앞당기지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STATE-04-PERF, DEC-0018/0021, BEAT-035–038, INV-VERIFY-001. TEACHING_MODEL; bounded observed product success.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이 작업을 실패한 Harness로 재해석하지 않는다. Subagent와 Memory는 조건부 선택이다. 다음 ACT의 개념 사례를 실제 Demo Product failure로 미리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먼저 반복되는 문제를 찾고, 필요한 구조만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변화가 가정을 무효화할 수 있는지 생각하되, 다음 ACT의 사례 결과를 먼저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앞 Slide의 Project별 C++ 적용 질문을 청중 업무로 가져온다.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개인 reflection은 선택적이며 노트북·실습·필수 공개 응답은 없다. 질문은 5분만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“지금은 잘 동작하는 Harness도 Project가 바뀐 뒤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 3분, Q&amp;A 5분, Transition 2분. Q&amp;A가 비어도 마지막 질문을 지키고, 초과 응답은 별도 질의로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S54 또는 `production/preview/act3/S54.png`다. 수정 초안 정적 화면은 존재하며 최종 release 경로·내용 일치는 통합 검토에서 확인한다. 실제 Trial 캡처나 현재 제품 실행으로 표현하지 않는다. 질문이 없으면 Audience Interaction의 준비 질문으로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9404f8a2664e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6c773bfe9f45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55445f1c2c49c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2810737497424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a74f2d0b1f4ed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fac241aabc41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93EB5FF-660C-4020-924C-634B95F8FA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EEEB6B4-6744-4A92-AB6D-87B3E08190F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D44F188-1FEA-4E04-85FE-2956EC1869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818D75-A5CA-4355-8761-9149CF688F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4C93A67-A222-430A-8581-F003940E06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CC800E8-4391-42DB-856B-423D122DB4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1CC3378-B408-4024-A810-74F30B0A10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A904275-0944-4C6C-A002-35A3C9419BC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A71713-023E-4B7F-8E6C-8D51BC242B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5F0C4BB-76B9-4C15-B69F-58866A9004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6c5073d22d42e6" /><Relationship Type="http://schemas.openxmlformats.org/officeDocument/2006/relationships/slideLayout" Target="/ppt/slideLayouts/slideLayout1.xml" Id="R980f02dff02f4155" /><Relationship Type="http://schemas.openxmlformats.org/officeDocument/2006/relationships/slideLayout" Target="/ppt/slideLayouts/slideLayout2.xml" Id="Rfc82a4054d5e4e09" /><Relationship Type="http://schemas.openxmlformats.org/officeDocument/2006/relationships/slideLayout" Target="/ppt/slideLayouts/slideLayout3.xml" Id="Rdd0bcd7d52fc4873" /><Relationship Type="http://schemas.openxmlformats.org/officeDocument/2006/relationships/slideLayout" Target="/ppt/slideLayouts/slideLayout4.xml" Id="R47de8566a80349ab" /><Relationship Type="http://schemas.openxmlformats.org/officeDocument/2006/relationships/slideLayout" Target="/ppt/slideLayouts/slideLayout5.xml" Id="Rc8b98c01d8144625" /><Relationship Type="http://schemas.openxmlformats.org/officeDocument/2006/relationships/slideLayout" Target="/ppt/slideLayouts/slideLayout6.xml" Id="Rd346bdebb1a84d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0f02dff02f4155"/>
    <p:sldLayoutId xmlns:r="http://schemas.openxmlformats.org/officeDocument/2006/relationships" id="2147483650" r:id="Rfc82a4054d5e4e09"/>
    <p:sldLayoutId xmlns:r="http://schemas.openxmlformats.org/officeDocument/2006/relationships" id="2147483651" r:id="Rdd0bcd7d52fc4873"/>
    <p:sldLayoutId xmlns:r="http://schemas.openxmlformats.org/officeDocument/2006/relationships" id="2147483652" r:id="R47de8566a80349ab"/>
    <p:sldLayoutId xmlns:r="http://schemas.openxmlformats.org/officeDocument/2006/relationships" id="2147483653" r:id="Rc8b98c01d8144625"/>
    <p:sldLayoutId xmlns:r="http://schemas.openxmlformats.org/officeDocument/2006/relationships" id="2147483654" r:id="Rd346bdebb1a84d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bf631c90274f2d" /><Relationship Type="http://schemas.openxmlformats.org/officeDocument/2006/relationships/image" Target="/ppt/media/image.png" Id="Rec05d6d63fe94286" /><Relationship Type="http://schemas.openxmlformats.org/officeDocument/2006/relationships/image" Target="/ppt/media/image2.png" Id="R3a93cdef79c54bae" /><Relationship Type="http://schemas.openxmlformats.org/officeDocument/2006/relationships/image" Target="/ppt/media/image3.png" Id="R848af0db56ff410a" /><Relationship Type="http://schemas.openxmlformats.org/officeDocument/2006/relationships/image" Target="/ppt/media/image4.png" Id="Ra9398fc439dc45e0" /><Relationship Type="http://schemas.openxmlformats.org/officeDocument/2006/relationships/notesSlide" Target="/ppt/notesSlides/notesSlide1.xml" Id="R26c29311b3a043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e561ad3d394a31" /><Relationship Type="http://schemas.openxmlformats.org/officeDocument/2006/relationships/notesSlide" Target="/ppt/notesSlides/notesSlide2.xml" Id="R68adc8efa90046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d05cc7f4ef4467" /><Relationship Type="http://schemas.openxmlformats.org/officeDocument/2006/relationships/notesSlide" Target="/ppt/notesSlides/notesSlide3.xml" Id="R156e3d3f86b743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c5179c70924380" /><Relationship Type="http://schemas.openxmlformats.org/officeDocument/2006/relationships/notesSlide" Target="/ppt/notesSlides/notesSlide4.xml" Id="R4a70898dd9084d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98887eacb34792" /><Relationship Type="http://schemas.openxmlformats.org/officeDocument/2006/relationships/notesSlide" Target="/ppt/notesSlides/notesSlide5.xml" Id="R33604e03599c4a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ce5d55e327499f" /><Relationship Type="http://schemas.openxmlformats.org/officeDocument/2006/relationships/notesSlide" Target="/ppt/notesSlides/notesSlide6.xml" Id="Rceb2e71dd25147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cabb1042224206" /><Relationship Type="http://schemas.openxmlformats.org/officeDocument/2006/relationships/notesSlide" Target="/ppt/notesSlides/notesSlide7.xml" Id="Rc055ebdf457344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0e63ef2e9f43b1" /><Relationship Type="http://schemas.openxmlformats.org/officeDocument/2006/relationships/notesSlide" Target="/ppt/notesSlides/notesSlide8.xml" Id="Ra2640bfee2a24e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7b9f07143c4e24" /><Relationship Type="http://schemas.openxmlformats.org/officeDocument/2006/relationships/chart" Target="/ppt/slides/charts/chart1.xml" Id="R17f76e23944e4743" /><Relationship Type="http://schemas.openxmlformats.org/officeDocument/2006/relationships/notesSlide" Target="/ppt/notesSlides/notesSlide9.xml" Id="R9c047d5961b940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bb7f99cce342f7" /><Relationship Type="http://schemas.openxmlformats.org/officeDocument/2006/relationships/notesSlide" Target="/ppt/notesSlides/notesSlide10.xml" Id="R46e3f5df53184e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96f99dc924447d" /><Relationship Type="http://schemas.openxmlformats.org/officeDocument/2006/relationships/notesSlide" Target="/ppt/notesSlides/notesSlide11.xml" Id="Re5f3e647a5e2491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39422fc0da4129" /><Relationship Type="http://schemas.openxmlformats.org/officeDocument/2006/relationships/notesSlide" Target="/ppt/notesSlides/notesSlide12.xml" Id="R84964caca18241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46d2a84be1432d" /><Relationship Type="http://schemas.openxmlformats.org/officeDocument/2006/relationships/notesSlide" Target="/ppt/notesSlides/notesSlide13.xml" Id="R0d007a42349d4b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0ecd7ebf094d88" /><Relationship Type="http://schemas.openxmlformats.org/officeDocument/2006/relationships/notesSlide" Target="/ppt/notesSlides/notesSlide14.xml" Id="Rf080bacedf2e4e9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5e50d36f7a40f0" /><Relationship Type="http://schemas.openxmlformats.org/officeDocument/2006/relationships/notesSlide" Target="/ppt/notesSlides/notesSlide15.xml" Id="Rff836100ea4f431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e767585aa24b6c" /><Relationship Type="http://schemas.openxmlformats.org/officeDocument/2006/relationships/notesSlide" Target="/ppt/notesSlides/notesSlide16.xml" Id="R9750710940a34d8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f06ca2bf1e4f1f" /><Relationship Type="http://schemas.openxmlformats.org/officeDocument/2006/relationships/image" Target="/ppt/media/image5.png" Id="R92c7b5abd08145d9" /><Relationship Type="http://schemas.openxmlformats.org/officeDocument/2006/relationships/notesSlide" Target="/ppt/notesSlides/notesSlide17.xml" Id="R65f9a57d38e54b7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07730963904214" /><Relationship Type="http://schemas.openxmlformats.org/officeDocument/2006/relationships/notesSlide" Target="/ppt/notesSlides/notesSlide18.xml" Id="Ra90fb1a9570a4fb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Median ms/call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변경 후</c:v>
                </c:pt>
                <c:pt idx="1">
                  <c:v>변경 전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10.769</c:v>
                </c:pt>
                <c:pt idx="1">
                  <c:v>15.468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작업 방법도 반복된다">
            <a:extLst xmlns:a="http://schemas.openxmlformats.org/drawingml/2006/main">
              <a:ext uri="{FF2B5EF4-FFF2-40B4-BE49-F238E27FC236}">
                <a16:creationId xmlns:a16="http://schemas.microsoft.com/office/drawing/2014/main" id="{AB282FF5-3CBA-464E-839A-32095CC5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작업 방법도 반복된다</a:t>
            </a:r>
          </a:p>
        </p:txBody>
      </p:sp>
      <p:sp>
        <p:nvSpPr>
          <p:cNvPr id="2" name="S37">
            <a:extLst xmlns:a="http://schemas.openxmlformats.org/drawingml/2006/main">
              <a:ext uri="{FF2B5EF4-FFF2-40B4-BE49-F238E27FC236}">
                <a16:creationId xmlns:a16="http://schemas.microsoft.com/office/drawing/2014/main" id="{1541A125-9D24-41D1-B563-CA8DEC4C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S37</a:t>
            </a:r>
          </a:p>
        </p:txBody>
      </p:sp>
      <p:sp>
        <p:nvSpPr>
          <p:cNvPr id="3" name="서로 다른 Performance Task,&#10;반복되는 절차">
            <a:extLst xmlns:a="http://schemas.openxmlformats.org/drawingml/2006/main">
              <a:ext uri="{FF2B5EF4-FFF2-40B4-BE49-F238E27FC236}">
                <a16:creationId xmlns:a16="http://schemas.microsoft.com/office/drawing/2014/main" id="{FC4FAADC-CFAA-4BDE-8F75-8568D96B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Performance Task,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반복되는 절차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FCAC4-3811-47A4-BCA2-08306EF3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6 / TRIAL-007 · 반복 절차는 기록 요약 · 위 그림은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ABBA4C00-A99E-4B1A-9DD2-4F434458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/ TRIAL-007 · 반복 절차는 기록 요약 · 위 그림은 AI 생성 설명용 삽화</a:t>
            </a:r>
          </a:p>
        </p:txBody>
      </p:sp>
      <p:sp>
        <p:nvSpPr>
          <p:cNvPr id="6" name="Global Harness 영향이 있어 Prompt만의 효과로 귀속하지 않음 · 그림은 최적화 전후 결과가 ">
            <a:extLst xmlns:a="http://schemas.openxmlformats.org/drawingml/2006/main">
              <a:ext uri="{FF2B5EF4-FFF2-40B4-BE49-F238E27FC236}">
                <a16:creationId xmlns:a16="http://schemas.microsoft.com/office/drawing/2014/main" id="{4930A7E4-870B-4403-846D-4D3D19F8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Global Harness 영향이 있어 Prompt만의 효과로 귀속하지 않음 · 그림은 최적화 전후 결과가 아님</a:t>
            </a:r>
          </a:p>
        </p:txBody>
      </p:sp>
      <p:sp>
        <p:nvSpPr>
          <p:cNvPr id="7" name="A · 이미지 크기 변경">
            <a:extLst xmlns:a="http://schemas.openxmlformats.org/drawingml/2006/main">
              <a:ext uri="{FF2B5EF4-FFF2-40B4-BE49-F238E27FC236}">
                <a16:creationId xmlns:a16="http://schemas.microsoft.com/office/drawing/2014/main" id="{2ECEE495-315C-4C47-8012-571ABD91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 · 이미지 크기 변경</a:t>
            </a:r>
          </a:p>
        </p:txBody>
      </p:sp>
      <p:sp>
        <p:nvSpPr>
          <p:cNvPr id="8" name="B · 픽셀값 범위 변환">
            <a:extLst xmlns:a="http://schemas.openxmlformats.org/drawingml/2006/main">
              <a:ext uri="{FF2B5EF4-FFF2-40B4-BE49-F238E27FC236}">
                <a16:creationId xmlns:a16="http://schemas.microsoft.com/office/drawing/2014/main" id="{47564C9C-7F23-4564-A7DB-1C775280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90725"/>
            <a:ext cx="520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 · 픽셀값 범위 변환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37E473-A890-4ABF-8BE3-F2E39146E4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5d6d63fe94286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723900" y="2628900"/>
            <a:ext cx="600075" cy="600075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88C381-EC90-4E97-9D84-3EDF7B2E5A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93cdef79c54bae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1914525" y="2419350"/>
            <a:ext cx="990600" cy="9906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DB81D0-344A-467C-AB16-485FB077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809875"/>
            <a:ext cx="3048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resize_nearest">
            <a:extLst xmlns:a="http://schemas.openxmlformats.org/drawingml/2006/main">
              <a:ext uri="{FF2B5EF4-FFF2-40B4-BE49-F238E27FC236}">
                <a16:creationId xmlns:a16="http://schemas.microsoft.com/office/drawing/2014/main" id="{B36F3FA6-FBF8-4271-9805-AF08EE16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98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resize_nearest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8C502B-B013-4BFA-8929-07551DBB88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af0db56ff410a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6496050" y="2505075"/>
            <a:ext cx="866775" cy="866775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DC061A-179C-47FB-A420-24B205827C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398fc439dc45e0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7886700" y="2505075"/>
            <a:ext cx="866775" cy="866775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717098-BAC8-4DA0-89C0-83D6D987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2892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normalize">
            <a:extLst xmlns:a="http://schemas.openxmlformats.org/drawingml/2006/main">
              <a:ext uri="{FF2B5EF4-FFF2-40B4-BE49-F238E27FC236}">
                <a16:creationId xmlns:a16="http://schemas.microsoft.com/office/drawing/2014/main" id="{3FFCF0F4-DB6F-4E22-AE10-172F4016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28875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normalize</a:t>
            </a:r>
          </a:p>
        </p:txBody>
      </p:sp>
      <p:sp>
        <p:nvSpPr>
          <p:cNvPr id="17" name="0–4095 → 0–255">
            <a:extLst xmlns:a="http://schemas.openxmlformats.org/drawingml/2006/main">
              <a:ext uri="{FF2B5EF4-FFF2-40B4-BE49-F238E27FC236}">
                <a16:creationId xmlns:a16="http://schemas.microsoft.com/office/drawing/2014/main" id="{D4E7B7C9-CA9E-4320-928C-22ACB420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8130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0–4095 → 0–255</a:t>
            </a:r>
          </a:p>
        </p:txBody>
      </p:sp>
      <p:sp>
        <p:nvSpPr>
          <p:cNvPr id="18" name="값 예: 2048 → 128">
            <a:extLst xmlns:a="http://schemas.openxmlformats.org/drawingml/2006/main">
              <a:ext uri="{FF2B5EF4-FFF2-40B4-BE49-F238E27FC236}">
                <a16:creationId xmlns:a16="http://schemas.microsoft.com/office/drawing/2014/main" id="{A699FDB7-2067-47E4-A621-8FD52205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105150"/>
            <a:ext cx="2590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값 예: 2048 → 128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6F7CD5-8034-46DF-BD57-1B842EB1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0" name="두 Task에 반복된 작업 순서">
            <a:extLst xmlns:a="http://schemas.openxmlformats.org/drawingml/2006/main">
              <a:ext uri="{FF2B5EF4-FFF2-40B4-BE49-F238E27FC236}">
                <a16:creationId xmlns:a16="http://schemas.microsoft.com/office/drawing/2014/main" id="{5B095250-82BD-4BB1-B6F2-E3A85338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Task에 반복된 작업 순서</a:t>
            </a:r>
          </a:p>
        </p:txBody>
      </p:sp>
      <p:sp>
        <p:nvSpPr>
          <p:cNvPr id="21" name="Baseline → 조사 → 계획 → 변경">
            <a:extLst xmlns:a="http://schemas.openxmlformats.org/drawingml/2006/main">
              <a:ext uri="{FF2B5EF4-FFF2-40B4-BE49-F238E27FC236}">
                <a16:creationId xmlns:a16="http://schemas.microsoft.com/office/drawing/2014/main" id="{F953B882-0F70-4FE4-AA88-93C7F3F5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Baseline → 조사 → 계획 → 변경</a:t>
            </a:r>
          </a:p>
        </p:txBody>
      </p:sp>
      <p:sp>
        <p:nvSpPr>
          <p:cNvPr id="22" name="Test → Benchmark → 비교 → Review">
            <a:extLst xmlns:a="http://schemas.openxmlformats.org/drawingml/2006/main">
              <a:ext uri="{FF2B5EF4-FFF2-40B4-BE49-F238E27FC236}">
                <a16:creationId xmlns:a16="http://schemas.microsoft.com/office/drawing/2014/main" id="{6B73010B-51FB-4C5E-9EBA-DA5E289B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 → Benchmark → 비교 → Review</a:t>
            </a:r>
          </a:p>
        </p:txBody>
      </p:sp>
    </p:spTree>
    <p:extLst>
      <p:ext uri="{BB962C8B-B14F-4D97-AF65-F5344CB8AC3E}">
        <p14:creationId xmlns:p14="http://schemas.microsoft.com/office/powerpoint/2010/main" val="1410572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3 · 알아야 할 것과 따라야 할 방법">
            <a:extLst xmlns:a="http://schemas.openxmlformats.org/drawingml/2006/main">
              <a:ext uri="{FF2B5EF4-FFF2-40B4-BE49-F238E27FC236}">
                <a16:creationId xmlns:a16="http://schemas.microsoft.com/office/drawing/2014/main" id="{5C2F2AA9-5A38-42C2-A6E8-80DA4976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알아야 할 것과 따라야 할 방법</a:t>
            </a:r>
          </a:p>
        </p:txBody>
      </p:sp>
      <p:sp>
        <p:nvSpPr>
          <p:cNvPr id="2" name="S38">
            <a:extLst xmlns:a="http://schemas.openxmlformats.org/drawingml/2006/main">
              <a:ext uri="{FF2B5EF4-FFF2-40B4-BE49-F238E27FC236}">
                <a16:creationId xmlns:a16="http://schemas.microsoft.com/office/drawing/2014/main" id="{9B51DD93-A8FE-42EC-BACF-8CC25799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S38</a:t>
            </a:r>
          </a:p>
        </p:txBody>
      </p:sp>
      <p:sp>
        <p:nvSpPr>
          <p:cNvPr id="3" name="Project 사실과 작업 절차는 다르다">
            <a:extLst xmlns:a="http://schemas.openxmlformats.org/drawingml/2006/main">
              <a:ext uri="{FF2B5EF4-FFF2-40B4-BE49-F238E27FC236}">
                <a16:creationId xmlns:a16="http://schemas.microsoft.com/office/drawing/2014/main" id="{5A1AA352-5B45-4E25-9456-34A319EE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사실과 작업 절차는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38D18-9D2B-4A9F-A78D-FCEA5DAC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분 · TRIAL-006/007의 반복 절차에서 출발">
            <a:extLst xmlns:a="http://schemas.openxmlformats.org/drawingml/2006/main">
              <a:ext uri="{FF2B5EF4-FFF2-40B4-BE49-F238E27FC236}">
                <a16:creationId xmlns:a16="http://schemas.microsoft.com/office/drawing/2014/main" id="{4842E074-8861-4A32-B86A-ACC0B1EE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구분 · TRIAL-006/007의 반복 절차에서 출발</a:t>
            </a:r>
          </a:p>
        </p:txBody>
      </p:sp>
      <p:sp>
        <p:nvSpPr>
          <p:cNvPr id="6" name="Project 정보를 더 주는 것만으로 반복되는 절차의 유지 문제가 해결되지는 않는다">
            <a:extLst xmlns:a="http://schemas.openxmlformats.org/drawingml/2006/main">
              <a:ext uri="{FF2B5EF4-FFF2-40B4-BE49-F238E27FC236}">
                <a16:creationId xmlns:a16="http://schemas.microsoft.com/office/drawing/2014/main" id="{894A5A99-80C0-486F-8DC1-3F5C148F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정보를 더 주는 것만으로 반복되는 절차의 유지 문제가 해결되지는 않는다</a:t>
            </a:r>
          </a:p>
        </p:txBody>
      </p:sp>
      <p:sp>
        <p:nvSpPr>
          <p:cNvPr id="7" name="무엇이 참인가?">
            <a:extLst xmlns:a="http://schemas.openxmlformats.org/drawingml/2006/main">
              <a:ext uri="{FF2B5EF4-FFF2-40B4-BE49-F238E27FC236}">
                <a16:creationId xmlns:a16="http://schemas.microsoft.com/office/drawing/2014/main" id="{801D4B13-798E-4671-B441-713F3881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523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무엇이 참인가?</a:t>
            </a:r>
          </a:p>
        </p:txBody>
      </p:sp>
      <p:sp>
        <p:nvSpPr>
          <p:cNvPr id="8" name="어떤 순서로 일할까?">
            <a:extLst xmlns:a="http://schemas.openxmlformats.org/drawingml/2006/main">
              <a:ext uri="{FF2B5EF4-FFF2-40B4-BE49-F238E27FC236}">
                <a16:creationId xmlns:a16="http://schemas.microsoft.com/office/drawing/2014/main" id="{C467390F-ADBD-47AF-A1B6-6B846B49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05025"/>
            <a:ext cx="520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순서로 일할까?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27E3CB-180D-42E1-8BEB-2C26EC5E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336099-EFE6-4A8D-A735-1DAB6DF2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95575"/>
            <a:ext cx="5200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crop은 끝 열을 제외한다">
            <a:extLst xmlns:a="http://schemas.openxmlformats.org/drawingml/2006/main">
              <a:ext uri="{FF2B5EF4-FFF2-40B4-BE49-F238E27FC236}">
                <a16:creationId xmlns:a16="http://schemas.microsoft.com/office/drawing/2014/main" id="{B71C1D08-66FA-4732-AAEC-D5FB7DDB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523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crop은 끝 열을 제외한다</a:t>
            </a:r>
          </a:p>
        </p:txBody>
      </p:sp>
      <p:sp>
        <p:nvSpPr>
          <p:cNvPr id="12" name="[x_start, x_end)">
            <a:extLst xmlns:a="http://schemas.openxmlformats.org/drawingml/2006/main">
              <a:ext uri="{FF2B5EF4-FFF2-40B4-BE49-F238E27FC236}">
                <a16:creationId xmlns:a16="http://schemas.microsoft.com/office/drawing/2014/main" id="{584A755B-6A41-4B4C-A05A-3CF6D9E6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[x_start, x_end)</a:t>
            </a:r>
          </a:p>
        </p:txBody>
      </p:sp>
      <p:sp>
        <p:nvSpPr>
          <p:cNvPr id="13" name="변경 전에 측정한다&#10;변경 후 같은 입력으로 비교한다">
            <a:extLst xmlns:a="http://schemas.openxmlformats.org/drawingml/2006/main">
              <a:ext uri="{FF2B5EF4-FFF2-40B4-BE49-F238E27FC236}">
                <a16:creationId xmlns:a16="http://schemas.microsoft.com/office/drawing/2014/main" id="{4AADAC71-3558-447D-AAAF-8E720979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62275"/>
            <a:ext cx="52006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전에 측정한다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후 같은 입력으로 비교한다</a:t>
            </a:r>
          </a:p>
        </p:txBody>
      </p:sp>
      <p:sp>
        <p:nvSpPr>
          <p:cNvPr id="14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71149759-847B-4E76-AE47-13C77B1D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5" name="Workflow">
            <a:extLst xmlns:a="http://schemas.openxmlformats.org/drawingml/2006/main">
              <a:ext uri="{FF2B5EF4-FFF2-40B4-BE49-F238E27FC236}">
                <a16:creationId xmlns:a16="http://schemas.microsoft.com/office/drawing/2014/main" id="{7E06E032-527D-441E-9138-935C34FD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62425"/>
            <a:ext cx="520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257E8-4C95-4D6D-A768-94F800A3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이번에 무엇을 원하는가?">
            <a:extLst xmlns:a="http://schemas.openxmlformats.org/drawingml/2006/main">
              <a:ext uri="{FF2B5EF4-FFF2-40B4-BE49-F238E27FC236}">
                <a16:creationId xmlns:a16="http://schemas.microsoft.com/office/drawing/2014/main" id="{612198B0-7262-4CDD-A8D1-17C3D1F2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4667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 무엇을 원하는가?</a:t>
            </a:r>
          </a:p>
        </p:txBody>
      </p:sp>
      <p:sp>
        <p:nvSpPr>
          <p:cNvPr id="18" name="현재 목표는 Task Prompt에">
            <a:extLst xmlns:a="http://schemas.openxmlformats.org/drawingml/2006/main">
              <a:ext uri="{FF2B5EF4-FFF2-40B4-BE49-F238E27FC236}">
                <a16:creationId xmlns:a16="http://schemas.microsoft.com/office/drawing/2014/main" id="{2E9A3102-3BC1-49C4-9449-A5B867EE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133975"/>
            <a:ext cx="6000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목표는 Task Prompt에</a:t>
            </a:r>
          </a:p>
        </p:txBody>
      </p:sp>
    </p:spTree>
    <p:extLst>
      <p:ext uri="{BB962C8B-B14F-4D97-AF65-F5344CB8AC3E}">
        <p14:creationId xmlns:p14="http://schemas.microsoft.com/office/powerpoint/2010/main" val="4871986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3 · 세 가지 책임을 나누기">
            <a:extLst xmlns:a="http://schemas.openxmlformats.org/drawingml/2006/main">
              <a:ext uri="{FF2B5EF4-FFF2-40B4-BE49-F238E27FC236}">
                <a16:creationId xmlns:a16="http://schemas.microsoft.com/office/drawing/2014/main" id="{99FFECB9-4AE5-4057-BD8F-378AA73F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세 가지 책임을 나누기</a:t>
            </a:r>
          </a:p>
        </p:txBody>
      </p:sp>
      <p:sp>
        <p:nvSpPr>
          <p:cNvPr id="2" name="S39">
            <a:extLst xmlns:a="http://schemas.openxmlformats.org/drawingml/2006/main">
              <a:ext uri="{FF2B5EF4-FFF2-40B4-BE49-F238E27FC236}">
                <a16:creationId xmlns:a16="http://schemas.microsoft.com/office/drawing/2014/main" id="{06D26327-987A-497F-8F68-5593CECD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S39</a:t>
            </a:r>
          </a:p>
        </p:txBody>
      </p:sp>
      <p:sp>
        <p:nvSpPr>
          <p:cNvPr id="3" name="Task, Context, Workflow의 역할">
            <a:extLst xmlns:a="http://schemas.openxmlformats.org/drawingml/2006/main">
              <a:ext uri="{FF2B5EF4-FFF2-40B4-BE49-F238E27FC236}">
                <a16:creationId xmlns:a16="http://schemas.microsoft.com/office/drawing/2014/main" id="{EBD05D35-FAA7-482E-914E-1011E249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Task, Context, Workflow의 역할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491049-15E2-4C41-8FAE-57306AC8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책임 구분 · 현재 목표 / 프로젝트 사실 / 반복 절차">
            <a:extLst xmlns:a="http://schemas.openxmlformats.org/drawingml/2006/main">
              <a:ext uri="{FF2B5EF4-FFF2-40B4-BE49-F238E27FC236}">
                <a16:creationId xmlns:a16="http://schemas.microsoft.com/office/drawing/2014/main" id="{89FABAD7-3134-4E04-9947-2DAC8C0F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책임 구분 · 현재 목표 / 프로젝트 사실 / 반복 절차</a:t>
            </a:r>
          </a:p>
        </p:txBody>
      </p:sp>
      <p:sp>
        <p:nvSpPr>
          <p:cNvPr id="6" name="Prompt 밖에 둘 수 있는 정보라도 유지해야 할 책임은 서로 다르다">
            <a:extLst xmlns:a="http://schemas.openxmlformats.org/drawingml/2006/main">
              <a:ext uri="{FF2B5EF4-FFF2-40B4-BE49-F238E27FC236}">
                <a16:creationId xmlns:a16="http://schemas.microsoft.com/office/drawing/2014/main" id="{579CF4E4-1D4A-4C04-BD21-26112FB4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Prompt 밖에 둘 수 있는 정보라도 유지해야 할 책임은 서로 다르다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20C225-B97C-4CF4-AEB4-9F1DF138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ask Prompt">
            <a:extLst xmlns:a="http://schemas.openxmlformats.org/drawingml/2006/main">
              <a:ext uri="{FF2B5EF4-FFF2-40B4-BE49-F238E27FC236}">
                <a16:creationId xmlns:a16="http://schemas.microsoft.com/office/drawing/2014/main" id="{12E11DEE-D17C-46A4-AAA1-83281F41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3105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9" name="지금 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E43FE7EA-1A6B-48C8-BC58-04C1CC98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622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무엇을 바꿀까?</a:t>
            </a:r>
          </a:p>
        </p:txBody>
      </p:sp>
      <p:sp>
        <p:nvSpPr>
          <p:cNvPr id="10" name="normalize의 성능 조사">
            <a:extLst xmlns:a="http://schemas.openxmlformats.org/drawingml/2006/main">
              <a:ext uri="{FF2B5EF4-FFF2-40B4-BE49-F238E27FC236}">
                <a16:creationId xmlns:a16="http://schemas.microsoft.com/office/drawing/2014/main" id="{EE8A6A04-B9D7-4C6B-B206-4CF32F33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95525"/>
            <a:ext cx="7086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normalize의 성능 조사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8E08CB-3BD0-423A-94FF-B92CD034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466342ED-7D56-4AB4-B4DD-5F1B4431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3" name="무엇을 지켜야 할까?">
            <a:extLst xmlns:a="http://schemas.openxmlformats.org/drawingml/2006/main">
              <a:ext uri="{FF2B5EF4-FFF2-40B4-BE49-F238E27FC236}">
                <a16:creationId xmlns:a16="http://schemas.microsoft.com/office/drawing/2014/main" id="{23BD89AA-3332-4D27-889A-1AF98807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지켜야 할까?</a:t>
            </a:r>
          </a:p>
        </p:txBody>
      </p:sp>
      <p:sp>
        <p:nvSpPr>
          <p:cNvPr id="14" name="기존 이미지 동작과&#10;공개 계약 보존">
            <a:extLst xmlns:a="http://schemas.openxmlformats.org/drawingml/2006/main">
              <a:ext uri="{FF2B5EF4-FFF2-40B4-BE49-F238E27FC236}">
                <a16:creationId xmlns:a16="http://schemas.microsoft.com/office/drawing/2014/main" id="{BC2AF13A-C4E2-4E41-A82B-29C9E130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86150"/>
            <a:ext cx="73152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이미지 동작과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공개 계약 보존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0CA2C0-4BE2-4EAF-9650-FE5066A2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Reusable Workflow">
            <a:extLst xmlns:a="http://schemas.openxmlformats.org/drawingml/2006/main">
              <a:ext uri="{FF2B5EF4-FFF2-40B4-BE49-F238E27FC236}">
                <a16:creationId xmlns:a16="http://schemas.microsoft.com/office/drawing/2014/main" id="{DAC9BE7A-3D1E-499B-8216-109863AD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Reusable Workflow</a:t>
            </a:r>
          </a:p>
        </p:txBody>
      </p:sp>
      <p:sp>
        <p:nvSpPr>
          <p:cNvPr id="17" name="어떤 순서로 확인할까?">
            <a:extLst xmlns:a="http://schemas.openxmlformats.org/drawingml/2006/main">
              <a:ext uri="{FF2B5EF4-FFF2-40B4-BE49-F238E27FC236}">
                <a16:creationId xmlns:a16="http://schemas.microsoft.com/office/drawing/2014/main" id="{D2F8C1FD-47A5-4BE9-990C-0FC61DAB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순서로 확인할까?</a:t>
            </a:r>
          </a:p>
        </p:txBody>
      </p:sp>
      <p:sp>
        <p:nvSpPr>
          <p:cNvPr id="18" name="baseline → 조사 → 검증 → 비교">
            <a:extLst xmlns:a="http://schemas.openxmlformats.org/drawingml/2006/main">
              <a:ext uri="{FF2B5EF4-FFF2-40B4-BE49-F238E27FC236}">
                <a16:creationId xmlns:a16="http://schemas.microsoft.com/office/drawing/2014/main" id="{22B83C17-12A8-415D-B040-C763BD3C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95850"/>
            <a:ext cx="7315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baseline → 조사 → 검증 → 비교</a:t>
            </a:r>
          </a:p>
        </p:txBody>
      </p:sp>
    </p:spTree>
    <p:extLst>
      <p:ext uri="{BB962C8B-B14F-4D97-AF65-F5344CB8AC3E}">
        <p14:creationId xmlns:p14="http://schemas.microsoft.com/office/powerpoint/2010/main" val="17445424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재사용할 구조를 선택하기">
            <a:extLst xmlns:a="http://schemas.openxmlformats.org/drawingml/2006/main">
              <a:ext uri="{FF2B5EF4-FFF2-40B4-BE49-F238E27FC236}">
                <a16:creationId xmlns:a16="http://schemas.microsoft.com/office/drawing/2014/main" id="{AC503F2F-151F-4F6A-B506-FCCCB75E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재사용할 구조를 선택하기</a:t>
            </a:r>
          </a:p>
        </p:txBody>
      </p:sp>
      <p:sp>
        <p:nvSpPr>
          <p:cNvPr id="2" name="S40">
            <a:extLst xmlns:a="http://schemas.openxmlformats.org/drawingml/2006/main">
              <a:ext uri="{FF2B5EF4-FFF2-40B4-BE49-F238E27FC236}">
                <a16:creationId xmlns:a16="http://schemas.microsoft.com/office/drawing/2014/main" id="{C64E7427-87C8-4770-84E4-C385145A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S40</a:t>
            </a:r>
          </a:p>
        </p:txBody>
      </p:sp>
      <p:sp>
        <p:nvSpPr>
          <p:cNvPr id="3" name="반복 절차를 Skill로 옮길 수 있을까?">
            <a:extLst xmlns:a="http://schemas.openxmlformats.org/drawingml/2006/main">
              <a:ext uri="{FF2B5EF4-FFF2-40B4-BE49-F238E27FC236}">
                <a16:creationId xmlns:a16="http://schemas.microsoft.com/office/drawing/2014/main" id="{1472BC66-530D-4A5B-891F-13D232E0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절차를 Skill로 옮길 수 있을까?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4AC6D-85BD-44EE-8731-9133BEA2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7 · 반복 절차를 Repository Skill로 옮기는 설계 후보">
            <a:extLst xmlns:a="http://schemas.openxmlformats.org/drawingml/2006/main">
              <a:ext uri="{FF2B5EF4-FFF2-40B4-BE49-F238E27FC236}">
                <a16:creationId xmlns:a16="http://schemas.microsoft.com/office/drawing/2014/main" id="{D8F531CF-C6E0-418B-9CCF-20B668FB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DEC-0017 · 반복 절차를 Repository Skill로 옮기는 설계 후보</a:t>
            </a:r>
          </a:p>
        </p:txBody>
      </p:sp>
      <p:sp>
        <p:nvSpPr>
          <p:cNvPr id="6" name="아직 성공 결과를 제시하는 장이 아님 · 대상 제품·계정·호출 방식은 별도 확인 필요">
            <a:extLst xmlns:a="http://schemas.openxmlformats.org/drawingml/2006/main">
              <a:ext uri="{FF2B5EF4-FFF2-40B4-BE49-F238E27FC236}">
                <a16:creationId xmlns:a16="http://schemas.microsoft.com/office/drawing/2014/main" id="{36CB58B9-628C-4B4A-A4A7-099A553A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아직 성공 결과를 제시하는 장이 아님 · 대상 제품·계정·호출 방식은 별도 확인 필요</a:t>
            </a:r>
          </a:p>
        </p:txBody>
      </p:sp>
      <p:sp>
        <p:nvSpPr>
          <p:cNvPr id="7" name="매번 Prompt에 쓰기">
            <a:extLst xmlns:a="http://schemas.openxmlformats.org/drawingml/2006/main">
              <a:ext uri="{FF2B5EF4-FFF2-40B4-BE49-F238E27FC236}">
                <a16:creationId xmlns:a16="http://schemas.microsoft.com/office/drawing/2014/main" id="{1AB253C4-D3EB-4F58-9C5C-3C2AA121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매번 Prompt에 쓰기</a:t>
            </a:r>
          </a:p>
        </p:txBody>
      </p:sp>
      <p:sp>
        <p:nvSpPr>
          <p:cNvPr id="8" name="후보: 절차는 Repository에">
            <a:extLst xmlns:a="http://schemas.openxmlformats.org/drawingml/2006/main">
              <a:ext uri="{FF2B5EF4-FFF2-40B4-BE49-F238E27FC236}">
                <a16:creationId xmlns:a16="http://schemas.microsoft.com/office/drawing/2014/main" id="{DE94E7B4-FF7A-4CD5-B62B-864A88C4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02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후보: 절차는 Repository에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A4C1F-C45E-43A7-88EC-ACB207D8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44D699-2A0F-47C6-A075-12E09261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098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현재 목표 + 이번 제약">
            <a:extLst xmlns:a="http://schemas.openxmlformats.org/drawingml/2006/main">
              <a:ext uri="{FF2B5EF4-FFF2-40B4-BE49-F238E27FC236}">
                <a16:creationId xmlns:a16="http://schemas.microsoft.com/office/drawing/2014/main" id="{ECDBFE10-B336-40C5-90E7-BE155ED1E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 + 이번 제약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103EAF-0516-449E-A352-777FD8BE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49530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aseline → 조사 → 변경&#10;테스트 → 측정 → 비교 → 검토">
            <a:extLst xmlns:a="http://schemas.openxmlformats.org/drawingml/2006/main">
              <a:ext uri="{FF2B5EF4-FFF2-40B4-BE49-F238E27FC236}">
                <a16:creationId xmlns:a16="http://schemas.microsoft.com/office/drawing/2014/main" id="{29F02621-202D-4F5D-BB5B-37C033FF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baseline → 조사 → 변경</a:t>
            </a:r>
          </a:p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→ 측정 → 비교 → 검토</a:t>
            </a:r>
          </a:p>
        </p:txBody>
      </p:sp>
      <p:sp>
        <p:nvSpPr>
          <p:cNvPr id="14" name="현재 목표 + 이번 제약">
            <a:extLst xmlns:a="http://schemas.openxmlformats.org/drawingml/2006/main">
              <a:ext uri="{FF2B5EF4-FFF2-40B4-BE49-F238E27FC236}">
                <a16:creationId xmlns:a16="http://schemas.microsoft.com/office/drawing/2014/main" id="{4DEAF5E9-53E0-49CE-8F4C-D530B17F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 + 이번 제약</a:t>
            </a:r>
          </a:p>
        </p:txBody>
      </p:sp>
      <p:sp>
        <p:nvSpPr>
          <p:cNvPr id="15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233BD878-96CE-4B7B-850A-6379783F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719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6" name="반복 절차는 Repository Skill에">
            <a:extLst xmlns:a="http://schemas.openxmlformats.org/drawingml/2006/main">
              <a:ext uri="{FF2B5EF4-FFF2-40B4-BE49-F238E27FC236}">
                <a16:creationId xmlns:a16="http://schemas.microsoft.com/office/drawing/2014/main" id="{D58D6D91-76D0-473F-94D9-DE1EB115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9102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반복 절차는 Repository Skill에</a:t>
            </a:r>
          </a:p>
        </p:txBody>
      </p:sp>
      <p:sp>
        <p:nvSpPr>
          <p:cNvPr id="17" name="긴 절차를 빼도, 같은 작업 흐름을 유지할 수 있을까?">
            <a:extLst xmlns:a="http://schemas.openxmlformats.org/drawingml/2006/main">
              <a:ext uri="{FF2B5EF4-FFF2-40B4-BE49-F238E27FC236}">
                <a16:creationId xmlns:a16="http://schemas.microsoft.com/office/drawing/2014/main" id="{5F672F97-1A17-4ACC-A021-EE517AE7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긴 절차를 빼도, 같은 작업 흐름을 유지할 수 있을까?</a:t>
            </a:r>
          </a:p>
        </p:txBody>
      </p:sp>
    </p:spTree>
    <p:extLst>
      <p:ext uri="{BB962C8B-B14F-4D97-AF65-F5344CB8AC3E}">
        <p14:creationId xmlns:p14="http://schemas.microsoft.com/office/powerpoint/2010/main" val="2531463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TRIAL-008에서 확인한 경로">
            <a:extLst xmlns:a="http://schemas.openxmlformats.org/drawingml/2006/main">
              <a:ext uri="{FF2B5EF4-FFF2-40B4-BE49-F238E27FC236}">
                <a16:creationId xmlns:a16="http://schemas.microsoft.com/office/drawing/2014/main" id="{DF6675CF-F615-4423-8235-9FA88978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TRIAL-008에서 확인한 경로</a:t>
            </a:r>
          </a:p>
        </p:txBody>
      </p:sp>
      <p:sp>
        <p:nvSpPr>
          <p:cNvPr id="2" name="S41">
            <a:extLst xmlns:a="http://schemas.openxmlformats.org/drawingml/2006/main">
              <a:ext uri="{FF2B5EF4-FFF2-40B4-BE49-F238E27FC236}">
                <a16:creationId xmlns:a16="http://schemas.microsoft.com/office/drawing/2014/main" id="{BF23E532-54B4-4447-8E0B-000A8EA0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S41</a:t>
            </a:r>
          </a:p>
        </p:txBody>
      </p:sp>
      <p:sp>
        <p:nvSpPr>
          <p:cNvPr id="3" name="Skill을 어떻게 발견하고 호출할까?">
            <a:extLst xmlns:a="http://schemas.openxmlformats.org/drawingml/2006/main">
              <a:ext uri="{FF2B5EF4-FFF2-40B4-BE49-F238E27FC236}">
                <a16:creationId xmlns:a16="http://schemas.microsoft.com/office/drawing/2014/main" id="{920DE04B-FE71-4F75-92F4-5CC57A70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Skill을 어떻게 발견하고 호출할까?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475B5B-B158-4EFF-BB86-360B9C96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Codex CLI 0.154.0 · 기록 재구성, 실제 UI 캡처 아님">
            <a:extLst xmlns:a="http://schemas.openxmlformats.org/drawingml/2006/main">
              <a:ext uri="{FF2B5EF4-FFF2-40B4-BE49-F238E27FC236}">
                <a16:creationId xmlns:a16="http://schemas.microsoft.com/office/drawing/2014/main" id="{35CCE569-3A4B-4604-A1F3-832ACD66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Codex CLI 0.154.0 · 기록 재구성, 실제 UI 캡처 아님</a:t>
            </a:r>
          </a:p>
        </p:txBody>
      </p:sp>
      <p:sp>
        <p:nvSpPr>
          <p:cNvPr id="6" name="경로·본문은 실행 trace에서 확인 · 현재 Desktop·암묵적 호출·교육 계정은 미검증">
            <a:extLst xmlns:a="http://schemas.openxmlformats.org/drawingml/2006/main">
              <a:ext uri="{FF2B5EF4-FFF2-40B4-BE49-F238E27FC236}">
                <a16:creationId xmlns:a16="http://schemas.microsoft.com/office/drawing/2014/main" id="{DD6CF303-6291-4B60-8D4D-814C8F83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경로·본문은 실행 trace에서 확인 · 현재 Desktop·암묵적 호출·교육 계정은 미검증</a:t>
            </a:r>
          </a:p>
        </p:txBody>
      </p:sp>
      <p:sp>
        <p:nvSpPr>
          <p:cNvPr id="7" name="01  목록에서 발견">
            <a:extLst xmlns:a="http://schemas.openxmlformats.org/drawingml/2006/main">
              <a:ext uri="{FF2B5EF4-FFF2-40B4-BE49-F238E27FC236}">
                <a16:creationId xmlns:a16="http://schemas.microsoft.com/office/drawing/2014/main" id="{EA80139E-6772-4347-A583-2AABF2A8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목록에서 발견</a:t>
            </a:r>
          </a:p>
        </p:txBody>
      </p:sp>
      <p:sp>
        <p:nvSpPr>
          <p:cNvPr id="8" name="/skills  →  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6D34AEEA-87C8-49E5-9F75-CBE8DFF7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/skills  →  graypipe-performance</a:t>
            </a:r>
          </a:p>
        </p:txBody>
      </p:sp>
      <p:sp>
        <p:nvSpPr>
          <p:cNvPr id="9" name="표시된 설명: “Investigate repository performance with reproduc…”">
            <a:extLst xmlns:a="http://schemas.openxmlformats.org/drawingml/2006/main">
              <a:ext uri="{FF2B5EF4-FFF2-40B4-BE49-F238E27FC236}">
                <a16:creationId xmlns:a16="http://schemas.microsoft.com/office/drawing/2014/main" id="{591580D4-21B6-450F-BE2A-244E2977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표시된 설명: “Investigate repository performance with reproduc…”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AF5A5-CAF8-4FA4-B97B-15E4596A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  작업 목표와 함께 명시적으로 호출">
            <a:extLst xmlns:a="http://schemas.openxmlformats.org/drawingml/2006/main">
              <a:ext uri="{FF2B5EF4-FFF2-40B4-BE49-F238E27FC236}">
                <a16:creationId xmlns:a16="http://schemas.microsoft.com/office/drawing/2014/main" id="{E5661F05-1409-4193-8A91-04118230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작업 목표와 함께 명시적으로 호출</a:t>
            </a:r>
          </a:p>
        </p:txBody>
      </p:sp>
      <p:sp>
        <p:nvSpPr>
          <p:cNvPr id="12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8EA4DF67-9019-4017-8E92-2672EC40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667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3" name="+ image_statistics 성능 조사">
            <a:extLst xmlns:a="http://schemas.openxmlformats.org/drawingml/2006/main">
              <a:ext uri="{FF2B5EF4-FFF2-40B4-BE49-F238E27FC236}">
                <a16:creationId xmlns:a16="http://schemas.microsoft.com/office/drawing/2014/main" id="{B34A0F13-7A60-4BA0-81F7-6F7CBF239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38625"/>
            <a:ext cx="5372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+ image_statistics 성능 조사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C5DE4C-C476-411E-BDED-C9D071EC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3  실행 기록에서 Skill 본문 포함을 확인">
            <a:extLst xmlns:a="http://schemas.openxmlformats.org/drawingml/2006/main">
              <a:ext uri="{FF2B5EF4-FFF2-40B4-BE49-F238E27FC236}">
                <a16:creationId xmlns:a16="http://schemas.microsoft.com/office/drawing/2014/main" id="{13B9E11B-C779-47A2-ADF7-00454D48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실행 기록에서 Skill 본문 포함을 확인</a:t>
            </a:r>
          </a:p>
        </p:txBody>
      </p:sp>
    </p:spTree>
    <p:extLst>
      <p:ext uri="{BB962C8B-B14F-4D97-AF65-F5344CB8AC3E}">
        <p14:creationId xmlns:p14="http://schemas.microsoft.com/office/powerpoint/2010/main" val="19243039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두 Trial의 요청 구조 비교">
            <a:extLst xmlns:a="http://schemas.openxmlformats.org/drawingml/2006/main">
              <a:ext uri="{FF2B5EF4-FFF2-40B4-BE49-F238E27FC236}">
                <a16:creationId xmlns:a16="http://schemas.microsoft.com/office/drawing/2014/main" id="{737CC232-2AD6-4D5A-8531-C35DAB7E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두 Trial의 요청 구조 비교</a:t>
            </a:r>
          </a:p>
        </p:txBody>
      </p:sp>
      <p:sp>
        <p:nvSpPr>
          <p:cNvPr id="2" name="S42">
            <a:extLst xmlns:a="http://schemas.openxmlformats.org/drawingml/2006/main">
              <a:ext uri="{FF2B5EF4-FFF2-40B4-BE49-F238E27FC236}">
                <a16:creationId xmlns:a16="http://schemas.microsoft.com/office/drawing/2014/main" id="{734E9A6B-EBAD-445E-9843-E7ECD256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S42</a:t>
            </a:r>
          </a:p>
        </p:txBody>
      </p:sp>
      <p:sp>
        <p:nvSpPr>
          <p:cNvPr id="3" name="절차의 책임이 Prompt에서&#10;Repository로 이동">
            <a:extLst xmlns:a="http://schemas.openxmlformats.org/drawingml/2006/main">
              <a:ext uri="{FF2B5EF4-FFF2-40B4-BE49-F238E27FC236}">
                <a16:creationId xmlns:a16="http://schemas.microsoft.com/office/drawing/2014/main" id="{3CEAEE7F-BC57-4C05-A113-750DF0A3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절차의 책임이 Prompt에서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Repository로 이동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C7521-6E99-4891-BCA7-86D5E432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7 / TRIAL-008 · 서로 다른 Task의 Prompt 구조를 요약">
            <a:extLst xmlns:a="http://schemas.openxmlformats.org/drawingml/2006/main">
              <a:ext uri="{FF2B5EF4-FFF2-40B4-BE49-F238E27FC236}">
                <a16:creationId xmlns:a16="http://schemas.microsoft.com/office/drawing/2014/main" id="{B8D73871-BE2E-42C3-8F71-89721AF2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 / TRIAL-008 · 서로 다른 Task의 Prompt 구조를 요약</a:t>
            </a:r>
          </a:p>
        </p:txBody>
      </p:sp>
      <p:sp>
        <p:nvSpPr>
          <p:cNvPr id="6" name="절차를 둔 위치의 변화만 관찰 · Skill 우월성·토큰 절감·속도 향상은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B48E6E25-AEB5-4F21-8A9C-CF2A9CEC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절차를 둔 위치의 변화만 관찰 · Skill 우월성·토큰 절감·속도 향상은 입증하지 않음</a:t>
            </a:r>
          </a:p>
        </p:txBody>
      </p:sp>
      <p:sp>
        <p:nvSpPr>
          <p:cNvPr id="7" name="TRIAL-007 · normalize">
            <a:extLst xmlns:a="http://schemas.openxmlformats.org/drawingml/2006/main">
              <a:ext uri="{FF2B5EF4-FFF2-40B4-BE49-F238E27FC236}">
                <a16:creationId xmlns:a16="http://schemas.microsoft.com/office/drawing/2014/main" id="{313750F0-EFFF-4890-B4EA-338F8C0D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953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TRIAL-007 · normalize</a:t>
            </a:r>
          </a:p>
        </p:txBody>
      </p:sp>
      <p:sp>
        <p:nvSpPr>
          <p:cNvPr id="8" name="TRIAL-008 · image_statistics">
            <a:extLst xmlns:a="http://schemas.openxmlformats.org/drawingml/2006/main">
              <a:ext uri="{FF2B5EF4-FFF2-40B4-BE49-F238E27FC236}">
                <a16:creationId xmlns:a16="http://schemas.microsoft.com/office/drawing/2014/main" id="{C86A4C92-FC40-4B50-8935-AB33AA42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876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TRIAL-008 · image_statistics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4FDA5E-4182-468B-81EA-7608DE0E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18CCE0-B99D-4AE6-9E49-6777C415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목표 + 작업별 제약">
            <a:extLst xmlns:a="http://schemas.openxmlformats.org/drawingml/2006/main">
              <a:ext uri="{FF2B5EF4-FFF2-40B4-BE49-F238E27FC236}">
                <a16:creationId xmlns:a16="http://schemas.microsoft.com/office/drawing/2014/main" id="{AC9B0435-60B7-45FB-B7CE-4152E55C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4953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+ 작업별 제약</a:t>
            </a:r>
          </a:p>
        </p:txBody>
      </p:sp>
      <p:sp>
        <p:nvSpPr>
          <p:cNvPr id="12" name="목표 + 작업별 제약">
            <a:extLst xmlns:a="http://schemas.openxmlformats.org/drawingml/2006/main">
              <a:ext uri="{FF2B5EF4-FFF2-40B4-BE49-F238E27FC236}">
                <a16:creationId xmlns:a16="http://schemas.microsoft.com/office/drawing/2014/main" id="{A659D993-F3CC-4296-BDAF-A33B4C76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+ 작업별 제약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00B410-85EF-470F-9A24-186F1F7B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495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긴 조사·검증 절차를&#10;Prompt에 다시 작성">
            <a:extLst xmlns:a="http://schemas.openxmlformats.org/drawingml/2006/main">
              <a:ext uri="{FF2B5EF4-FFF2-40B4-BE49-F238E27FC236}">
                <a16:creationId xmlns:a16="http://schemas.microsoft.com/office/drawing/2014/main" id="{6BE9CABA-DA4D-4FF5-9C8F-8874BD87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긴 조사·검증 절차를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Prompt에 다시 작성</a:t>
            </a:r>
          </a:p>
        </p:txBody>
      </p:sp>
      <p:sp>
        <p:nvSpPr>
          <p:cNvPr id="15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BDC4C215-8EBE-499C-A8D8-2F4A8B8F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242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6" name="절차는 Repository Skill에">
            <a:extLst xmlns:a="http://schemas.openxmlformats.org/drawingml/2006/main">
              <a:ext uri="{FF2B5EF4-FFF2-40B4-BE49-F238E27FC236}">
                <a16:creationId xmlns:a16="http://schemas.microsoft.com/office/drawing/2014/main" id="{F5BC8A88-A3D3-4EFD-A334-783DA3EC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86250"/>
            <a:ext cx="4876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절차는 Repository Skill에</a:t>
            </a:r>
          </a:p>
        </p:txBody>
      </p:sp>
      <p:sp>
        <p:nvSpPr>
          <p:cNvPr id="17" name="공통 흐름: baseline → 조사 → test / benchmark → 비교 / review">
            <a:extLst xmlns:a="http://schemas.openxmlformats.org/drawingml/2006/main">
              <a:ext uri="{FF2B5EF4-FFF2-40B4-BE49-F238E27FC236}">
                <a16:creationId xmlns:a16="http://schemas.microsoft.com/office/drawing/2014/main" id="{1D143022-3DB6-4E3B-8DD0-CDA0528F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흐름: baseline → 조사 → test / benchmark → 비교 / review</a:t>
            </a:r>
          </a:p>
        </p:txBody>
      </p:sp>
    </p:spTree>
    <p:extLst>
      <p:ext uri="{BB962C8B-B14F-4D97-AF65-F5344CB8AC3E}">
        <p14:creationId xmlns:p14="http://schemas.microsoft.com/office/powerpoint/2010/main" val="10852990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절차와 과제별 판단">
            <a:extLst xmlns:a="http://schemas.openxmlformats.org/drawingml/2006/main">
              <a:ext uri="{FF2B5EF4-FFF2-40B4-BE49-F238E27FC236}">
                <a16:creationId xmlns:a16="http://schemas.microsoft.com/office/drawing/2014/main" id="{F6CC3E27-8F35-47C4-BAFB-C609844C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절차와 과제별 판단</a:t>
            </a:r>
          </a:p>
        </p:txBody>
      </p:sp>
      <p:sp>
        <p:nvSpPr>
          <p:cNvPr id="2" name="S43">
            <a:extLst xmlns:a="http://schemas.openxmlformats.org/drawingml/2006/main">
              <a:ext uri="{FF2B5EF4-FFF2-40B4-BE49-F238E27FC236}">
                <a16:creationId xmlns:a16="http://schemas.microsoft.com/office/drawing/2014/main" id="{05B9BDB2-1B2A-4BE1-B04D-57D75F72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S43</a:t>
            </a:r>
          </a:p>
        </p:txBody>
      </p:sp>
      <p:sp>
        <p:nvSpPr>
          <p:cNvPr id="3" name="답을 담지 않는 Workflow">
            <a:extLst xmlns:a="http://schemas.openxmlformats.org/drawingml/2006/main">
              <a:ext uri="{FF2B5EF4-FFF2-40B4-BE49-F238E27FC236}">
                <a16:creationId xmlns:a16="http://schemas.microsoft.com/office/drawing/2014/main" id="{8B5D13CA-7CF7-44F4-9A60-46C35E35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담지 않는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99E19-69AC-43F5-938D-539A6A12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의 SKILL.md 원문 일부 + 교육용 책임 구분">
            <a:extLst xmlns:a="http://schemas.openxmlformats.org/drawingml/2006/main">
              <a:ext uri="{FF2B5EF4-FFF2-40B4-BE49-F238E27FC236}">
                <a16:creationId xmlns:a16="http://schemas.microsoft.com/office/drawing/2014/main" id="{C4303C8A-A68B-4697-8EAE-0C908191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STATE-04의 SKILL.md 원문 일부 + 교육용 책임 구분</a:t>
            </a:r>
          </a:p>
        </p:txBody>
      </p:sp>
      <p:sp>
        <p:nvSpPr>
          <p:cNvPr id="6" name="특정 최적화 답·알고리즘·Trial 수치를 Skill의 정답으로 넣지 않았다">
            <a:extLst xmlns:a="http://schemas.openxmlformats.org/drawingml/2006/main">
              <a:ext uri="{FF2B5EF4-FFF2-40B4-BE49-F238E27FC236}">
                <a16:creationId xmlns:a16="http://schemas.microsoft.com/office/drawing/2014/main" id="{419D3615-7E95-49F5-99D7-D1C6EF41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최적화 답·알고리즘·Trial 수치를 Skill의 정답으로 넣지 않았다</a:t>
            </a:r>
          </a:p>
        </p:txBody>
      </p:sp>
      <p:sp>
        <p:nvSpPr>
          <p:cNvPr id="7" name="변경 전에, 재현 가능한 기준부터">
            <a:extLst xmlns:a="http://schemas.openxmlformats.org/drawingml/2006/main">
              <a:ext uri="{FF2B5EF4-FFF2-40B4-BE49-F238E27FC236}">
                <a16:creationId xmlns:a16="http://schemas.microsoft.com/office/drawing/2014/main" id="{67DE1016-5717-4272-8941-956F3DF8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전에, 재현 가능한 기준부터</a:t>
            </a:r>
          </a:p>
        </p:txBody>
      </p:sp>
      <p:sp>
        <p:nvSpPr>
          <p:cNvPr id="8" name="“Establish a reproducible baseline before editing.”">
            <a:extLst xmlns:a="http://schemas.openxmlformats.org/drawingml/2006/main">
              <a:ext uri="{FF2B5EF4-FFF2-40B4-BE49-F238E27FC236}">
                <a16:creationId xmlns:a16="http://schemas.microsoft.com/office/drawing/2014/main" id="{66347D5B-8C84-4F8F-9049-A4BC6A1B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“Establish a reproducible baseline before editing.”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FD9A2-DF47-4068-9FD4-6222F123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측정상 이득이 없으면, 변경하지 않아도 된다">
            <a:extLst xmlns:a="http://schemas.openxmlformats.org/drawingml/2006/main">
              <a:ext uri="{FF2B5EF4-FFF2-40B4-BE49-F238E27FC236}">
                <a16:creationId xmlns:a16="http://schemas.microsoft.com/office/drawing/2014/main" id="{854B6F87-5023-4092-BB50-946BC2C9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측정상 이득이 없으면, 변경하지 않아도 된다</a:t>
            </a:r>
          </a:p>
        </p:txBody>
      </p:sp>
      <p:sp>
        <p:nvSpPr>
          <p:cNvPr id="11" name="“A measured result that does not justify a change is a&#10;valid">
            <a:extLst xmlns:a="http://schemas.openxmlformats.org/drawingml/2006/main">
              <a:ext uri="{FF2B5EF4-FFF2-40B4-BE49-F238E27FC236}">
                <a16:creationId xmlns:a16="http://schemas.microsoft.com/office/drawing/2014/main" id="{B393C844-27BD-4964-AF29-CA8DA6D8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“A measured result that does not justify a change is a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valid no-change conclusion.”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93027-2C23-440F-AE09-9EE0EF43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이번 Task에서 정할 답">
            <a:extLst xmlns:a="http://schemas.openxmlformats.org/drawingml/2006/main">
              <a:ext uri="{FF2B5EF4-FFF2-40B4-BE49-F238E27FC236}">
                <a16:creationId xmlns:a16="http://schemas.microsoft.com/office/drawing/2014/main" id="{328A4CC4-C842-444A-B181-ED408C6C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Task에서 정할 답</a:t>
            </a:r>
          </a:p>
        </p:txBody>
      </p:sp>
      <p:sp>
        <p:nvSpPr>
          <p:cNvPr id="14" name="알고리즘 · 실제 측정값 · trade-off">
            <a:extLst xmlns:a="http://schemas.openxmlformats.org/drawingml/2006/main">
              <a:ext uri="{FF2B5EF4-FFF2-40B4-BE49-F238E27FC236}">
                <a16:creationId xmlns:a16="http://schemas.microsoft.com/office/drawing/2014/main" id="{80C28CFE-3B94-4214-806A-55ED95D0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810125"/>
            <a:ext cx="752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알고리즘 · 실제 측정값 · trade-off</a:t>
            </a:r>
          </a:p>
        </p:txBody>
      </p:sp>
      <p:sp>
        <p:nvSpPr>
          <p:cNvPr id="15" name="절차는 재사용하고, 답은 이번 근거로 결정한다">
            <a:extLst xmlns:a="http://schemas.openxmlformats.org/drawingml/2006/main">
              <a:ext uri="{FF2B5EF4-FFF2-40B4-BE49-F238E27FC236}">
                <a16:creationId xmlns:a16="http://schemas.microsoft.com/office/drawing/2014/main" id="{355147ED-F156-4E3C-926E-D24FC959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절차는 재사용하고, 답은 이번 근거로 결정한다</a:t>
            </a:r>
          </a:p>
        </p:txBody>
      </p:sp>
    </p:spTree>
    <p:extLst>
      <p:ext uri="{BB962C8B-B14F-4D97-AF65-F5344CB8AC3E}">
        <p14:creationId xmlns:p14="http://schemas.microsoft.com/office/powerpoint/2010/main" val="16697245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3 · 시간과 메모리를 함께 비교">
            <a:extLst xmlns:a="http://schemas.openxmlformats.org/drawingml/2006/main">
              <a:ext uri="{FF2B5EF4-FFF2-40B4-BE49-F238E27FC236}">
                <a16:creationId xmlns:a16="http://schemas.microsoft.com/office/drawing/2014/main" id="{315FB366-0753-43AB-8F12-4B717173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시간과 메모리를 함께 비교</a:t>
            </a:r>
          </a:p>
        </p:txBody>
      </p:sp>
      <p:sp>
        <p:nvSpPr>
          <p:cNvPr id="2" name="S44">
            <a:extLst xmlns:a="http://schemas.openxmlformats.org/drawingml/2006/main">
              <a:ext uri="{FF2B5EF4-FFF2-40B4-BE49-F238E27FC236}">
                <a16:creationId xmlns:a16="http://schemas.microsoft.com/office/drawing/2014/main" id="{6D6F964F-AF86-40D9-A8B9-A082821A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S44</a:t>
            </a:r>
          </a:p>
        </p:txBody>
      </p:sp>
      <p:sp>
        <p:nvSpPr>
          <p:cNvPr id="3" name="측정으로 후보를 고르다">
            <a:extLst xmlns:a="http://schemas.openxmlformats.org/drawingml/2006/main">
              <a:ext uri="{FF2B5EF4-FFF2-40B4-BE49-F238E27FC236}">
                <a16:creationId xmlns:a16="http://schemas.microsoft.com/office/drawing/2014/main" id="{324D4A9C-4547-4D0D-AACB-0D19E0BA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측정으로 후보를 고르다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C4E23-C702-4D0E-AC5C-3855E539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image_statistics 후보 비교 · 최종 STATE-04 전후 측정과는 별개">
            <a:extLst xmlns:a="http://schemas.openxmlformats.org/drawingml/2006/main">
              <a:ext uri="{FF2B5EF4-FFF2-40B4-BE49-F238E27FC236}">
                <a16:creationId xmlns:a16="http://schemas.microsoft.com/office/drawing/2014/main" id="{A0314B81-9A1E-4268-97CA-BA88E53B1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image_statistics 후보 비교 · 최종 STATE-04 전후 측정과는 별개</a:t>
            </a:r>
          </a:p>
        </p:txBody>
      </p:sp>
      <p:sp>
        <p:nvSpPr>
          <p:cNvPr id="6" name="합성 1024×768 · CPython 3.9.6 / macOS arm64 · 같은 6개 출력값 검증 · 정">
            <a:extLst xmlns:a="http://schemas.openxmlformats.org/drawingml/2006/main">
              <a:ext uri="{FF2B5EF4-FFF2-40B4-BE49-F238E27FC236}">
                <a16:creationId xmlns:a16="http://schemas.microsoft.com/office/drawing/2014/main" id="{1F9E92B1-54E7-44C4-9209-D8D10382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합성 1024×768 · CPython 3.9.6 / macOS arm64 · 같은 6개 출력값 검증 · 정성 비교</a:t>
            </a:r>
          </a:p>
        </p:txBody>
      </p:sp>
      <p:sp>
        <p:nvSpPr>
          <p:cNvPr id="7" name="메모리가 적다는 이유만으로 고르지 않았다">
            <a:extLst xmlns:a="http://schemas.openxmlformats.org/drawingml/2006/main">
              <a:ext uri="{FF2B5EF4-FFF2-40B4-BE49-F238E27FC236}">
                <a16:creationId xmlns:a16="http://schemas.microsoft.com/office/drawing/2014/main" id="{740BC076-F873-4FA1-B50B-705817B0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메모리가 적다는 이유만으로 고르지 않았다</a:t>
            </a:r>
          </a:p>
        </p:txBody>
      </p:sp>
      <p:sp>
        <p:nvSpPr>
          <p:cNvPr id="8" name="후보">
            <a:extLst xmlns:a="http://schemas.openxmlformats.org/drawingml/2006/main">
              <a:ext uri="{FF2B5EF4-FFF2-40B4-BE49-F238E27FC236}">
                <a16:creationId xmlns:a16="http://schemas.microsoft.com/office/drawing/2014/main" id="{2645319C-9031-4D03-9D0A-2A842E02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45910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</a:t>
            </a:r>
          </a:p>
        </p:txBody>
      </p:sp>
      <p:sp>
        <p:nvSpPr>
          <p:cNvPr id="9" name="Python 할당량">
            <a:extLst xmlns:a="http://schemas.openxmlformats.org/drawingml/2006/main">
              <a:ext uri="{FF2B5EF4-FFF2-40B4-BE49-F238E27FC236}">
                <a16:creationId xmlns:a16="http://schemas.microsoft.com/office/drawing/2014/main" id="{6E187E23-D750-44BF-A900-29C2F8EF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67025"/>
            <a:ext cx="2647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Python 할당량</a:t>
            </a:r>
          </a:p>
        </p:txBody>
      </p:sp>
      <p:sp>
        <p:nvSpPr>
          <p:cNvPr id="10" name="실행 시간">
            <a:extLst xmlns:a="http://schemas.openxmlformats.org/drawingml/2006/main">
              <a:ext uri="{FF2B5EF4-FFF2-40B4-BE49-F238E27FC236}">
                <a16:creationId xmlns:a16="http://schemas.microsoft.com/office/drawing/2014/main" id="{373205ED-7F0D-4617-9F45-40EE816B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67025"/>
            <a:ext cx="26098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시간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BF5948-AF4B-459E-A29B-E1A99C0F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수동 단일 순회">
            <a:extLst xmlns:a="http://schemas.openxmlformats.org/drawingml/2006/main">
              <a:ext uri="{FF2B5EF4-FFF2-40B4-BE49-F238E27FC236}">
                <a16:creationId xmlns:a16="http://schemas.microsoft.com/office/drawing/2014/main" id="{47090AE4-D2DC-48A3-944B-151BACF0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59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수동 단일 순회</a:t>
            </a:r>
          </a:p>
        </p:txBody>
      </p:sp>
      <p:sp>
        <p:nvSpPr>
          <p:cNvPr id="13" name="낮음">
            <a:extLst xmlns:a="http://schemas.openxmlformats.org/drawingml/2006/main">
              <a:ext uri="{FF2B5EF4-FFF2-40B4-BE49-F238E27FC236}">
                <a16:creationId xmlns:a16="http://schemas.microsoft.com/office/drawing/2014/main" id="{350D55E2-A0EA-4360-B0AD-11E1CDF3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6004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낮음</a:t>
            </a:r>
          </a:p>
        </p:txBody>
      </p:sp>
      <p:sp>
        <p:nvSpPr>
          <p:cNvPr id="14" name="훨씬 느림">
            <a:extLst xmlns:a="http://schemas.openxmlformats.org/drawingml/2006/main">
              <a:ext uri="{FF2B5EF4-FFF2-40B4-BE49-F238E27FC236}">
                <a16:creationId xmlns:a16="http://schemas.microsoft.com/office/drawing/2014/main" id="{8C535E7E-A208-4372-B064-18E3EA04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600450"/>
            <a:ext cx="2609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훨씬 느림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D0C51D-798C-44F9-8956-604D2995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행 단위 built-in reduction">
            <a:extLst xmlns:a="http://schemas.openxmlformats.org/drawingml/2006/main">
              <a:ext uri="{FF2B5EF4-FFF2-40B4-BE49-F238E27FC236}">
                <a16:creationId xmlns:a16="http://schemas.microsoft.com/office/drawing/2014/main" id="{CFB62B85-FAFB-4647-B1C5-C809F8FA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4724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행 단위 built-in reduction</a:t>
            </a:r>
          </a:p>
        </p:txBody>
      </p:sp>
      <p:sp>
        <p:nvSpPr>
          <p:cNvPr id="17" name="낮게 유지">
            <a:extLst xmlns:a="http://schemas.openxmlformats.org/drawingml/2006/main">
              <a:ext uri="{FF2B5EF4-FFF2-40B4-BE49-F238E27FC236}">
                <a16:creationId xmlns:a16="http://schemas.microsoft.com/office/drawing/2014/main" id="{00C373D6-1103-4DAE-BCC0-51172FC3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610100"/>
            <a:ext cx="2647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낮게 유지</a:t>
            </a:r>
          </a:p>
        </p:txBody>
      </p:sp>
      <p:sp>
        <p:nvSpPr>
          <p:cNvPr id="18" name="더 나음 → 선택">
            <a:extLst xmlns:a="http://schemas.openxmlformats.org/drawingml/2006/main">
              <a:ext uri="{FF2B5EF4-FFF2-40B4-BE49-F238E27FC236}">
                <a16:creationId xmlns:a16="http://schemas.microsoft.com/office/drawing/2014/main" id="{72678F3B-AD6E-4CC0-89C4-8D8E3E21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10100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나음 → 선택</a:t>
            </a:r>
          </a:p>
        </p:txBody>
      </p:sp>
    </p:spTree>
    <p:extLst>
      <p:ext uri="{BB962C8B-B14F-4D97-AF65-F5344CB8AC3E}">
        <p14:creationId xmlns:p14="http://schemas.microsoft.com/office/powerpoint/2010/main" val="10229479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3  ·  Harness로 조사하고 검증하기">
            <a:extLst xmlns:a="http://schemas.openxmlformats.org/drawingml/2006/main">
              <a:ext uri="{FF2B5EF4-FFF2-40B4-BE49-F238E27FC236}">
                <a16:creationId xmlns:a16="http://schemas.microsoft.com/office/drawing/2014/main" id="{711A66EE-521F-4FE4-90FF-4F760D64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 ·  Harness로 조사하고 검증하기</a:t>
            </a:r>
          </a:p>
        </p:txBody>
      </p:sp>
      <p:sp>
        <p:nvSpPr>
          <p:cNvPr id="2" name="S45">
            <a:extLst xmlns:a="http://schemas.openxmlformats.org/drawingml/2006/main">
              <a:ext uri="{FF2B5EF4-FFF2-40B4-BE49-F238E27FC236}">
                <a16:creationId xmlns:a16="http://schemas.microsoft.com/office/drawing/2014/main" id="{95305103-6B2C-4CB5-A8D8-4A8B1EFD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S45</a:t>
            </a:r>
          </a:p>
        </p:txBody>
      </p:sp>
      <p:sp>
        <p:nvSpPr>
          <p:cNvPr id="3" name="Working Harness Success">
            <a:extLst xmlns:a="http://schemas.openxmlformats.org/drawingml/2006/main">
              <a:ext uri="{FF2B5EF4-FFF2-40B4-BE49-F238E27FC236}">
                <a16:creationId xmlns:a16="http://schemas.microsoft.com/office/drawing/2014/main" id="{86896773-C41F-4292-A6E3-76CD425C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Working Harness Success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D6240B-95C3-4353-B6C9-6E491A1B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→ STATE-04-PERF  |  image_statistics · 합성 1024×768 ">
            <a:extLst xmlns:a="http://schemas.openxmlformats.org/drawingml/2006/main">
              <a:ext uri="{FF2B5EF4-FFF2-40B4-BE49-F238E27FC236}">
                <a16:creationId xmlns:a16="http://schemas.microsoft.com/office/drawing/2014/main" id="{927969FA-B2BB-4C3D-8D02-C6D198C6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→ STATE-04-PERF  |  image_statistics · 합성 1024×768 · CPython 3.9.6 / macOS arm64</a:t>
            </a:r>
          </a:p>
        </p:txBody>
      </p:sp>
      <p:sp>
        <p:nvSpPr>
          <p:cNvPr id="6" name="동일 입력·상태별 7회 측정 · 이 환경의 코드 변경 결과이며 Harness 단독 효과는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7F9B12E8-198C-48FF-9B49-40092785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동일 입력·상태별 7회 측정 · 이 환경의 코드 변경 결과이며 Harness 단독 효과는 입증하지 않음</a:t>
            </a:r>
          </a:p>
        </p:txBody>
      </p:sp>
      <p:sp>
        <p:nvSpPr>
          <p:cNvPr id="7" name="결과가 맞는지 확인하고, 같은 조건에서 비교했다">
            <a:extLst xmlns:a="http://schemas.openxmlformats.org/drawingml/2006/main">
              <a:ext uri="{FF2B5EF4-FFF2-40B4-BE49-F238E27FC236}">
                <a16:creationId xmlns:a16="http://schemas.microsoft.com/office/drawing/2014/main" id="{6BD393D0-C570-410D-ACA5-1EDC984D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결과가 맞는지 확인하고, 같은 조건에서 비교했다</a:t>
            </a:r>
          </a:p>
        </p:txBody>
      </p:sp>
      <p:sp>
        <p:nvSpPr>
          <p:cNvPr id="8" name="실행 시간 중앙값">
            <a:extLst xmlns:a="http://schemas.openxmlformats.org/drawingml/2006/main">
              <a:ext uri="{FF2B5EF4-FFF2-40B4-BE49-F238E27FC236}">
                <a16:creationId xmlns:a16="http://schemas.microsoft.com/office/drawing/2014/main" id="{DD94BD6F-FF6F-47DB-9533-3D2768EA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667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시간 중앙값</a:t>
            </a:r>
          </a:p>
        </p:txBody>
      </p:sp>
      <p:sp>
        <p:nvSpPr>
          <p:cNvPr id="9" name="ms/call · 낮을수록 짧음">
            <a:extLst xmlns:a="http://schemas.openxmlformats.org/drawingml/2006/main">
              <a:ext uri="{FF2B5EF4-FFF2-40B4-BE49-F238E27FC236}">
                <a16:creationId xmlns:a16="http://schemas.microsoft.com/office/drawing/2014/main" id="{E163706D-99D4-4221-9FEA-FD4D8649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66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ms/call · 낮을수록 짧음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8467E00D-C147-4306-87FB-D6676FA20208}"/>
              </a:ext>
            </a:extLst>
          </p:cNvPr>
          <p:cNvGraphicFramePr/>
          <p:nvPr/>
        </p:nvGraphicFramePr>
        <p:xfrm>
          <a:off xmlns:a="http://schemas.openxmlformats.org/drawingml/2006/main" x="609600" y="3067050"/>
          <a:ext xmlns:a="http://schemas.openxmlformats.org/drawingml/2006/main" cx="61912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f76e23944e4743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162ED6-0CAA-419F-96CA-13638EEF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24100"/>
            <a:ext cx="19050" cy="2819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ython 할당 피크">
            <a:extLst xmlns:a="http://schemas.openxmlformats.org/drawingml/2006/main">
              <a:ext uri="{FF2B5EF4-FFF2-40B4-BE49-F238E27FC236}">
                <a16:creationId xmlns:a16="http://schemas.microsoft.com/office/drawing/2014/main" id="{521B7AC8-E799-46B9-B286-7B9C6594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324100"/>
            <a:ext cx="3981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Python 할당 피크</a:t>
            </a:r>
          </a:p>
        </p:txBody>
      </p:sp>
      <p:sp>
        <p:nvSpPr>
          <p:cNvPr id="13" name="tracemalloc · 프로세스 RSS 아님">
            <a:extLst xmlns:a="http://schemas.openxmlformats.org/drawingml/2006/main">
              <a:ext uri="{FF2B5EF4-FFF2-40B4-BE49-F238E27FC236}">
                <a16:creationId xmlns:a16="http://schemas.microsoft.com/office/drawing/2014/main" id="{A3AFD362-D347-4C14-A109-537179E8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14625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tracemalloc · 프로세스 RSS 아님</a:t>
            </a:r>
          </a:p>
        </p:txBody>
      </p:sp>
      <p:sp>
        <p:nvSpPr>
          <p:cNvPr id="14" name="6,675,804 B">
            <a:extLst xmlns:a="http://schemas.openxmlformats.org/drawingml/2006/main">
              <a:ext uri="{FF2B5EF4-FFF2-40B4-BE49-F238E27FC236}">
                <a16:creationId xmlns:a16="http://schemas.microsoft.com/office/drawing/2014/main" id="{5BD54499-DEE2-4214-AEBC-3D326234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48025"/>
            <a:ext cx="3981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6,675,804 B</a:t>
            </a:r>
          </a:p>
        </p:txBody>
      </p:sp>
      <p:sp>
        <p:nvSpPr>
          <p:cNvPr id="15" name="↓">
            <a:extLst xmlns:a="http://schemas.openxmlformats.org/drawingml/2006/main">
              <a:ext uri="{FF2B5EF4-FFF2-40B4-BE49-F238E27FC236}">
                <a16:creationId xmlns:a16="http://schemas.microsoft.com/office/drawing/2014/main" id="{CE8A138B-9A89-4AB6-ACD0-3CAC2716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81425"/>
            <a:ext cx="43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6" name="380 B">
            <a:extLst xmlns:a="http://schemas.openxmlformats.org/drawingml/2006/main">
              <a:ext uri="{FF2B5EF4-FFF2-40B4-BE49-F238E27FC236}">
                <a16:creationId xmlns:a16="http://schemas.microsoft.com/office/drawing/2014/main" id="{AD28B518-38EA-4FF0-870C-1B795B72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380 B</a:t>
            </a:r>
          </a:p>
        </p:txBody>
      </p:sp>
      <p:sp>
        <p:nvSpPr>
          <p:cNvPr id="17" name="평탄화 임시 리스트 제거">
            <a:extLst xmlns:a="http://schemas.openxmlformats.org/drawingml/2006/main">
              <a:ext uri="{FF2B5EF4-FFF2-40B4-BE49-F238E27FC236}">
                <a16:creationId xmlns:a16="http://schemas.microsoft.com/office/drawing/2014/main" id="{266ABD0C-4DBC-404B-8907-3F4107E8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648200"/>
            <a:ext cx="3981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평탄화 임시 리스트 제거</a:t>
            </a:r>
          </a:p>
        </p:txBody>
      </p:sp>
      <p:sp>
        <p:nvSpPr>
          <p:cNvPr id="18" name="검증 완료">
            <a:extLst xmlns:a="http://schemas.openxmlformats.org/drawingml/2006/main">
              <a:ext uri="{FF2B5EF4-FFF2-40B4-BE49-F238E27FC236}">
                <a16:creationId xmlns:a16="http://schemas.microsoft.com/office/drawing/2014/main" id="{C96D4A89-73F3-47D0-AE10-B9462F54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검증 완료</a:t>
            </a:r>
          </a:p>
        </p:txBody>
      </p:sp>
      <p:sp>
        <p:nvSpPr>
          <p:cNvPr id="19" name="집중 테스트 1/1  ·  전체 11/11  ·  CLI  ·  입력·결과 guard">
            <a:extLst xmlns:a="http://schemas.openxmlformats.org/drawingml/2006/main">
              <a:ext uri="{FF2B5EF4-FFF2-40B4-BE49-F238E27FC236}">
                <a16:creationId xmlns:a16="http://schemas.microsoft.com/office/drawing/2014/main" id="{919AC4DC-A871-4C53-BEB6-D3612262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91150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 테스트 1/1  ·  전체 11/11  ·  CLI  ·  입력·결과 guard</a:t>
            </a:r>
          </a:p>
        </p:txBody>
      </p:sp>
    </p:spTree>
    <p:extLst>
      <p:ext uri="{BB962C8B-B14F-4D97-AF65-F5344CB8AC3E}">
        <p14:creationId xmlns:p14="http://schemas.microsoft.com/office/powerpoint/2010/main" val="196054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3 · 현재 Task의 분리 가능성">
            <a:extLst xmlns:a="http://schemas.openxmlformats.org/drawingml/2006/main">
              <a:ext uri="{FF2B5EF4-FFF2-40B4-BE49-F238E27FC236}">
                <a16:creationId xmlns:a16="http://schemas.microsoft.com/office/drawing/2014/main" id="{2E6EF9C0-3553-4400-B8CC-904DBFB8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현재 Task의 분리 가능성</a:t>
            </a:r>
          </a:p>
        </p:txBody>
      </p:sp>
      <p:sp>
        <p:nvSpPr>
          <p:cNvPr id="2" name="S46">
            <a:extLst xmlns:a="http://schemas.openxmlformats.org/drawingml/2006/main">
              <a:ext uri="{FF2B5EF4-FFF2-40B4-BE49-F238E27FC236}">
                <a16:creationId xmlns:a16="http://schemas.microsoft.com/office/drawing/2014/main" id="{90C9D716-0130-462F-B265-23BEB4E7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S46</a:t>
            </a:r>
          </a:p>
        </p:txBody>
      </p:sp>
      <p:sp>
        <p:nvSpPr>
          <p:cNvPr id="3" name="이 작업에 Subagent가 필요했을까?">
            <a:extLst xmlns:a="http://schemas.openxmlformats.org/drawingml/2006/main">
              <a:ext uri="{FF2B5EF4-FFF2-40B4-BE49-F238E27FC236}">
                <a16:creationId xmlns:a16="http://schemas.microsoft.com/office/drawing/2014/main" id="{858DF7D5-A4A0-4B09-8E80-A7DDE901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작업에 Subagent가 필요했을까?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F489D-0BB2-409D-8513-070AFF5A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8 · 현재 성능 작업에 대한 판단과 교육용 작업 구조">
            <a:extLst xmlns:a="http://schemas.openxmlformats.org/drawingml/2006/main">
              <a:ext uri="{FF2B5EF4-FFF2-40B4-BE49-F238E27FC236}">
                <a16:creationId xmlns:a16="http://schemas.microsoft.com/office/drawing/2014/main" id="{6A3808BA-E1A8-462D-9F6B-C967F585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DEC-0018 · 현재 성능 작업에 대한 판단과 교육용 작업 구조</a:t>
            </a:r>
          </a:p>
        </p:txBody>
      </p:sp>
      <p:sp>
        <p:nvSpPr>
          <p:cNvPr id="6" name="현재 사례에서 추가하지 않았다는 결과 · 일반적으로 Subagent가 불필요하다는 뜻은 아님">
            <a:extLst xmlns:a="http://schemas.openxmlformats.org/drawingml/2006/main">
              <a:ext uri="{FF2B5EF4-FFF2-40B4-BE49-F238E27FC236}">
                <a16:creationId xmlns:a16="http://schemas.microsoft.com/office/drawing/2014/main" id="{43B42630-94C5-4E97-B289-B0E5FEBB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사례에서 추가하지 않았다는 결과 · 일반적으로 Subagent가 불필요하다는 뜻은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42E57-56C2-4045-A467-489E10B7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조사">
            <a:extLst xmlns:a="http://schemas.openxmlformats.org/drawingml/2006/main">
              <a:ext uri="{FF2B5EF4-FFF2-40B4-BE49-F238E27FC236}">
                <a16:creationId xmlns:a16="http://schemas.microsoft.com/office/drawing/2014/main" id="{E1C5262B-140E-420D-92B0-D6E3223B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9" name="같은 성능 경로와&#10;계약을 확인">
            <a:extLst xmlns:a="http://schemas.openxmlformats.org/drawingml/2006/main">
              <a:ext uri="{FF2B5EF4-FFF2-40B4-BE49-F238E27FC236}">
                <a16:creationId xmlns:a16="http://schemas.microsoft.com/office/drawing/2014/main" id="{CE122C8E-F9CC-4B9E-81FD-B0E6F44A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390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성능 경로와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계약을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E448D-CC83-4E9F-8BF9-99B22316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7051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4414C-2434-4F6C-86AB-0C43BF6F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86000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변경">
            <a:extLst xmlns:a="http://schemas.openxmlformats.org/drawingml/2006/main">
              <a:ext uri="{FF2B5EF4-FFF2-40B4-BE49-F238E27FC236}">
                <a16:creationId xmlns:a16="http://schemas.microsoft.com/office/drawing/2014/main" id="{675BDA44-623F-42E4-9457-59E59F21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76500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</a:t>
            </a:r>
          </a:p>
        </p:txBody>
      </p:sp>
      <p:sp>
        <p:nvSpPr>
          <p:cNvPr id="13" name="조사 결과를 사용">
            <a:extLst xmlns:a="http://schemas.openxmlformats.org/drawingml/2006/main">
              <a:ext uri="{FF2B5EF4-FFF2-40B4-BE49-F238E27FC236}">
                <a16:creationId xmlns:a16="http://schemas.microsoft.com/office/drawing/2014/main" id="{C82D968C-2A34-4F49-BAC4-20411813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38500"/>
            <a:ext cx="3390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조사 결과를 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4091A8-D7CE-418B-8941-684B931D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7051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58CAC6-0BBF-4C3B-9DDA-076E66B6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86000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B2E2CAD4-657F-4C92-BB63-02CB445E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변경 결과를 확인">
            <a:extLst xmlns:a="http://schemas.openxmlformats.org/drawingml/2006/main">
              <a:ext uri="{FF2B5EF4-FFF2-40B4-BE49-F238E27FC236}">
                <a16:creationId xmlns:a16="http://schemas.microsoft.com/office/drawing/2014/main" id="{0E950D3B-1828-471C-9EB8-717A7D28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3390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변경 결과를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2819B6-15F5-4F56-B64F-6B1E78B6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작업 독립성 낮음  ·  병렬 이득 제한적  ·  결과 통합 비용 존재">
            <a:extLst xmlns:a="http://schemas.openxmlformats.org/drawingml/2006/main">
              <a:ext uri="{FF2B5EF4-FFF2-40B4-BE49-F238E27FC236}">
                <a16:creationId xmlns:a16="http://schemas.microsoft.com/office/drawing/2014/main" id="{77883563-7ED0-4FF2-BB2E-780E2680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독립성 낮음  ·  병렬 이득 제한적  ·  결과 통합 비용 존재</a:t>
            </a:r>
          </a:p>
        </p:txBody>
      </p:sp>
      <p:sp>
        <p:nvSpPr>
          <p:cNvPr id="20" name="이 Task에서는 Agent를 더 나눌 근거가 부족했다">
            <a:extLst xmlns:a="http://schemas.openxmlformats.org/drawingml/2006/main">
              <a:ext uri="{FF2B5EF4-FFF2-40B4-BE49-F238E27FC236}">
                <a16:creationId xmlns:a16="http://schemas.microsoft.com/office/drawing/2014/main" id="{E23AEB8D-0E72-4260-9657-FEEA4DCC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Task에서는 Agent를 더 나눌 근거가 부족했다</a:t>
            </a:r>
          </a:p>
        </p:txBody>
      </p:sp>
    </p:spTree>
    <p:extLst>
      <p:ext uri="{BB962C8B-B14F-4D97-AF65-F5344CB8AC3E}">
        <p14:creationId xmlns:p14="http://schemas.microsoft.com/office/powerpoint/2010/main" val="15248235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3 · 독립 조사와 결과 통합">
            <a:extLst xmlns:a="http://schemas.openxmlformats.org/drawingml/2006/main">
              <a:ext uri="{FF2B5EF4-FFF2-40B4-BE49-F238E27FC236}">
                <a16:creationId xmlns:a16="http://schemas.microsoft.com/office/drawing/2014/main" id="{0EEA80E8-44AF-46F4-AA34-D76C2022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독립 조사와 결과 통합</a:t>
            </a:r>
          </a:p>
        </p:txBody>
      </p:sp>
      <p:sp>
        <p:nvSpPr>
          <p:cNvPr id="2" name="S47">
            <a:extLst xmlns:a="http://schemas.openxmlformats.org/drawingml/2006/main">
              <a:ext uri="{FF2B5EF4-FFF2-40B4-BE49-F238E27FC236}">
                <a16:creationId xmlns:a16="http://schemas.microsoft.com/office/drawing/2014/main" id="{AEDDD0D3-5743-4F09-8227-65E4E6965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S47</a:t>
            </a:r>
          </a:p>
        </p:txBody>
      </p:sp>
      <p:sp>
        <p:nvSpPr>
          <p:cNvPr id="3" name="Subagent를 고려할 조건">
            <a:extLst xmlns:a="http://schemas.openxmlformats.org/drawingml/2006/main">
              <a:ext uri="{FF2B5EF4-FFF2-40B4-BE49-F238E27FC236}">
                <a16:creationId xmlns:a16="http://schemas.microsoft.com/office/drawing/2014/main" id="{B0D5D358-DD41-47D1-BEB0-67D1D27A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Subagent를 고려할 조건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930C38-AAFF-46B4-8BC1-E52BF559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가정 · C++ Repository의 조사들이 실제로 독립적일 때">
            <a:extLst xmlns:a="http://schemas.openxmlformats.org/drawingml/2006/main">
              <a:ext uri="{FF2B5EF4-FFF2-40B4-BE49-F238E27FC236}">
                <a16:creationId xmlns:a16="http://schemas.microsoft.com/office/drawing/2014/main" id="{0E6C019B-3E24-404B-A996-324511FF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가정 · C++ Repository의 조사들이 실제로 독립적일 때</a:t>
            </a:r>
          </a:p>
        </p:txBody>
      </p:sp>
      <p:sp>
        <p:nvSpPr>
          <p:cNvPr id="6" name="제품 실행 사례가 아님 · 작고 연결된 작업·Context 반복·큰 조정 비용이면 보류">
            <a:extLst xmlns:a="http://schemas.openxmlformats.org/drawingml/2006/main">
              <a:ext uri="{FF2B5EF4-FFF2-40B4-BE49-F238E27FC236}">
                <a16:creationId xmlns:a16="http://schemas.microsoft.com/office/drawing/2014/main" id="{813B6500-DF9C-4664-BB02-D40E7593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실행 사례가 아님 · 작고 연결된 작업·Context 반복·큰 조정 비용이면 보류</a:t>
            </a:r>
          </a:p>
        </p:txBody>
      </p:sp>
      <p:sp>
        <p:nvSpPr>
          <p:cNvPr id="7" name="독립적으로 조사할 수 있는가?">
            <a:extLst xmlns:a="http://schemas.openxmlformats.org/drawingml/2006/main">
              <a:ext uri="{FF2B5EF4-FFF2-40B4-BE49-F238E27FC236}">
                <a16:creationId xmlns:a16="http://schemas.microsoft.com/office/drawing/2014/main" id="{AB1E1B93-FE7C-4C77-A9F3-6F1F7F09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독립적으로 조사할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95BF30-E6E9-4DB2-B4AE-502D2E91B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성능 경로 조사">
            <a:extLst xmlns:a="http://schemas.openxmlformats.org/drawingml/2006/main">
              <a:ext uri="{FF2B5EF4-FFF2-40B4-BE49-F238E27FC236}">
                <a16:creationId xmlns:a16="http://schemas.microsoft.com/office/drawing/2014/main" id="{C508A3A7-5648-4447-9032-B7AD841D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경로 조사</a:t>
            </a:r>
          </a:p>
        </p:txBody>
      </p:sp>
      <p:sp>
        <p:nvSpPr>
          <p:cNvPr id="10" name="가정: 다른 조사 결과를&#10;기다리지 않고 진행 가능">
            <a:extLst xmlns:a="http://schemas.openxmlformats.org/drawingml/2006/main">
              <a:ext uri="{FF2B5EF4-FFF2-40B4-BE49-F238E27FC236}">
                <a16:creationId xmlns:a16="http://schemas.microsoft.com/office/drawing/2014/main" id="{AD63CEB3-282B-47F3-B603-7D7300D2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가정: 다른 조사 결과를</a:t>
            </a:r>
          </a:p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기다리지 않고 진행 가능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5F2E0A-4E66-4A8D-A515-754A88BC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480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빌드 환경 조사">
            <a:extLst xmlns:a="http://schemas.openxmlformats.org/drawingml/2006/main">
              <a:ext uri="{FF2B5EF4-FFF2-40B4-BE49-F238E27FC236}">
                <a16:creationId xmlns:a16="http://schemas.microsoft.com/office/drawing/2014/main" id="{12374EE8-4065-4721-9D89-9D0EDE59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28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환경 조사</a:t>
            </a:r>
          </a:p>
        </p:txBody>
      </p:sp>
      <p:sp>
        <p:nvSpPr>
          <p:cNvPr id="13" name="가정: 다른 조사 결과를&#10;기다리지 않고 진행 가능">
            <a:extLst xmlns:a="http://schemas.openxmlformats.org/drawingml/2006/main">
              <a:ext uri="{FF2B5EF4-FFF2-40B4-BE49-F238E27FC236}">
                <a16:creationId xmlns:a16="http://schemas.microsoft.com/office/drawing/2014/main" id="{300CA50D-11D7-4933-B29A-2C4C8F10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9525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가정: 다른 조사 결과를</a:t>
            </a:r>
          </a:p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기다리지 않고 진행 가능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18A52E-FB39-43EC-B74A-D3979FC2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480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테스트 구조 조사">
            <a:extLst xmlns:a="http://schemas.openxmlformats.org/drawingml/2006/main">
              <a:ext uri="{FF2B5EF4-FFF2-40B4-BE49-F238E27FC236}">
                <a16:creationId xmlns:a16="http://schemas.microsoft.com/office/drawing/2014/main" id="{ACE6B15F-FCF1-45AD-A242-E15649F4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28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구조 조사</a:t>
            </a:r>
          </a:p>
        </p:txBody>
      </p:sp>
      <p:sp>
        <p:nvSpPr>
          <p:cNvPr id="16" name="가정: 다른 조사 결과를&#10;기다리지 않고 진행 가능">
            <a:extLst xmlns:a="http://schemas.openxmlformats.org/drawingml/2006/main">
              <a:ext uri="{FF2B5EF4-FFF2-40B4-BE49-F238E27FC236}">
                <a16:creationId xmlns:a16="http://schemas.microsoft.com/office/drawing/2014/main" id="{823B6055-2340-4068-A767-0AC8DC65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19525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가정: 다른 조사 결과를</a:t>
            </a:r>
          </a:p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기다리지 않고 진행 가능</a:t>
            </a:r>
          </a:p>
        </p:txBody>
      </p:sp>
      <p:sp>
        <p:nvSpPr>
          <p:cNvPr id="17" name="↓">
            <a:extLst xmlns:a="http://schemas.openxmlformats.org/drawingml/2006/main">
              <a:ext uri="{FF2B5EF4-FFF2-40B4-BE49-F238E27FC236}">
                <a16:creationId xmlns:a16="http://schemas.microsoft.com/office/drawing/2014/main" id="{38DD9773-FD71-43FE-A19D-AAE856FE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657725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8" name="↓">
            <a:extLst xmlns:a="http://schemas.openxmlformats.org/drawingml/2006/main">
              <a:ext uri="{FF2B5EF4-FFF2-40B4-BE49-F238E27FC236}">
                <a16:creationId xmlns:a16="http://schemas.microsoft.com/office/drawing/2014/main" id="{F1C291E4-302B-449D-99A8-4F1C5947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57725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9" name="↓">
            <a:extLst xmlns:a="http://schemas.openxmlformats.org/drawingml/2006/main">
              <a:ext uri="{FF2B5EF4-FFF2-40B4-BE49-F238E27FC236}">
                <a16:creationId xmlns:a16="http://schemas.microsoft.com/office/drawing/2014/main" id="{F5EACEBE-D35B-49BB-8526-0467208B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657725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620C81-5F43-493F-8F5E-1F98BDC3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시작 전에 정할 것: 결과 형식 · 전달 지점 · 합칠 책임">
            <a:extLst xmlns:a="http://schemas.openxmlformats.org/drawingml/2006/main">
              <a:ext uri="{FF2B5EF4-FFF2-40B4-BE49-F238E27FC236}">
                <a16:creationId xmlns:a16="http://schemas.microsoft.com/office/drawing/2014/main" id="{AA0B6C3C-1CBF-4D19-B550-72AC74AB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00650"/>
            <a:ext cx="1055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전에 정할 것: 결과 형식 · 전달 지점 · 합칠 책임</a:t>
            </a:r>
          </a:p>
        </p:txBody>
      </p:sp>
    </p:spTree>
    <p:extLst>
      <p:ext uri="{BB962C8B-B14F-4D97-AF65-F5344CB8AC3E}">
        <p14:creationId xmlns:p14="http://schemas.microsoft.com/office/powerpoint/2010/main" val="12915907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3 · 이미 있는 기록부터 확인하기">
            <a:extLst xmlns:a="http://schemas.openxmlformats.org/drawingml/2006/main">
              <a:ext uri="{FF2B5EF4-FFF2-40B4-BE49-F238E27FC236}">
                <a16:creationId xmlns:a16="http://schemas.microsoft.com/office/drawing/2014/main" id="{F79D7B56-177C-4D97-A8B8-B6A500B4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이미 있는 기록부터 확인하기</a:t>
            </a:r>
          </a:p>
        </p:txBody>
      </p:sp>
      <p:sp>
        <p:nvSpPr>
          <p:cNvPr id="2" name="S48">
            <a:extLst xmlns:a="http://schemas.openxmlformats.org/drawingml/2006/main">
              <a:ext uri="{FF2B5EF4-FFF2-40B4-BE49-F238E27FC236}">
                <a16:creationId xmlns:a16="http://schemas.microsoft.com/office/drawing/2014/main" id="{0A0A3FB1-DFBF-475B-B4D9-8CA296D4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S48</a:t>
            </a:r>
          </a:p>
        </p:txBody>
      </p:sp>
      <p:sp>
        <p:nvSpPr>
          <p:cNvPr id="3" name="무엇이 다시 찾기 어려운 지식인가?">
            <a:extLst xmlns:a="http://schemas.openxmlformats.org/drawingml/2006/main">
              <a:ext uri="{FF2B5EF4-FFF2-40B4-BE49-F238E27FC236}">
                <a16:creationId xmlns:a16="http://schemas.microsoft.com/office/drawing/2014/main" id="{4A449D22-30B0-4F12-8382-6DC96EB3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다시 찾기 어려운 지식인가?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E3E86-821F-40E5-9151-91B97967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현재 Demo Repository의 지식 분류와 Memory 후보 점검">
            <a:extLst xmlns:a="http://schemas.openxmlformats.org/drawingml/2006/main">
              <a:ext uri="{FF2B5EF4-FFF2-40B4-BE49-F238E27FC236}">
                <a16:creationId xmlns:a16="http://schemas.microsoft.com/office/drawing/2014/main" id="{0174118D-4738-4060-97B9-6AE3B5B9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Demo Repository의 지식 분류와 Memory 후보 점검</a:t>
            </a:r>
          </a:p>
        </p:txBody>
      </p:sp>
      <p:sp>
        <p:nvSpPr>
          <p:cNvPr id="6" name="별도 Memory로 남길 지속적 지식 후보는 찾지 못함 · 제품 Memory 동작 주장은 아님">
            <a:extLst xmlns:a="http://schemas.openxmlformats.org/drawingml/2006/main">
              <a:ext uri="{FF2B5EF4-FFF2-40B4-BE49-F238E27FC236}">
                <a16:creationId xmlns:a16="http://schemas.microsoft.com/office/drawing/2014/main" id="{5E8744AD-35A5-42DF-AD59-893E3805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별도 Memory로 남길 지속적 지식 후보는 찾지 못함 · 제품 Memory 동작 주장은 아님</a:t>
            </a:r>
          </a:p>
        </p:txBody>
      </p:sp>
      <p:sp>
        <p:nvSpPr>
          <p:cNvPr id="7" name="이번 사례에서는&#10;별도 Memory 후보를 찾지 못했다">
            <a:extLst xmlns:a="http://schemas.openxmlformats.org/drawingml/2006/main">
              <a:ext uri="{FF2B5EF4-FFF2-40B4-BE49-F238E27FC236}">
                <a16:creationId xmlns:a16="http://schemas.microsoft.com/office/drawing/2014/main" id="{98B26F74-9C72-431A-9311-64EBEBA6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사례에서는</a:t>
            </a:r>
          </a:p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별도 Memory 후보를 찾지 못했다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D941C-F73E-4988-A8BA-DB230D24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crop은 끝 열을 제외한다">
            <a:extLst xmlns:a="http://schemas.openxmlformats.org/drawingml/2006/main">
              <a:ext uri="{FF2B5EF4-FFF2-40B4-BE49-F238E27FC236}">
                <a16:creationId xmlns:a16="http://schemas.microsoft.com/office/drawing/2014/main" id="{67111C24-D3AF-4C4B-BC47-BFE7D267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5095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crop은 끝 열을 제외한다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F93B24-4291-4657-BBDF-F25247B3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228975"/>
            <a:ext cx="3333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코드 · image-contracts.md">
            <a:extLst xmlns:a="http://schemas.openxmlformats.org/drawingml/2006/main">
              <a:ext uri="{FF2B5EF4-FFF2-40B4-BE49-F238E27FC236}">
                <a16:creationId xmlns:a16="http://schemas.microsoft.com/office/drawing/2014/main" id="{46FB52E0-3D90-4975-83CF-829B257B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33725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코드 · image-contracts.md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8BB218-D3BD-414B-ADCF-0C0424C5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모듈은 어떤 순서로 이어지나">
            <a:extLst xmlns:a="http://schemas.openxmlformats.org/drawingml/2006/main">
              <a:ext uri="{FF2B5EF4-FFF2-40B4-BE49-F238E27FC236}">
                <a16:creationId xmlns:a16="http://schemas.microsoft.com/office/drawing/2014/main" id="{FD416882-69E5-4B39-9907-F689567B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5095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모듈은 어떤 순서로 이어지나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D3C8C-AB53-4723-9ACC-1F94EE74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771900"/>
            <a:ext cx="3333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62EC8C25-3550-4A7D-918A-A1D35881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0967ED-5F8F-44EB-9E52-070E7F1D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성능을 어떻게 조사하고 확인하나">
            <a:extLst xmlns:a="http://schemas.openxmlformats.org/drawingml/2006/main">
              <a:ext uri="{FF2B5EF4-FFF2-40B4-BE49-F238E27FC236}">
                <a16:creationId xmlns:a16="http://schemas.microsoft.com/office/drawing/2014/main" id="{55017371-7B0B-4EBF-A1A7-41968004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5095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성능을 어떻게 조사하고 확인하나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0FF1E1-9C17-4D44-A7E1-DED34FC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14825"/>
            <a:ext cx="3333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Repository Skill">
            <a:extLst xmlns:a="http://schemas.openxmlformats.org/drawingml/2006/main">
              <a:ext uri="{FF2B5EF4-FFF2-40B4-BE49-F238E27FC236}">
                <a16:creationId xmlns:a16="http://schemas.microsoft.com/office/drawing/2014/main" id="{2C1801A4-CA6E-4AE5-8DAA-EAA75B33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19575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Repository Skill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7C5D8-F6F3-40E8-B1D9-22A7F07B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이번 실행에서 무엇을 측정했나">
            <a:extLst xmlns:a="http://schemas.openxmlformats.org/drawingml/2006/main">
              <a:ext uri="{FF2B5EF4-FFF2-40B4-BE49-F238E27FC236}">
                <a16:creationId xmlns:a16="http://schemas.microsoft.com/office/drawing/2014/main" id="{B3D7DB33-9045-4F38-A85F-22E333C2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095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실행에서 무엇을 측정했나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4A092F-CF32-4B4A-B90D-8A1F3803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857750"/>
            <a:ext cx="3333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날짜가 있는 Trial 기록 · Git 이력">
            <a:extLst xmlns:a="http://schemas.openxmlformats.org/drawingml/2006/main">
              <a:ext uri="{FF2B5EF4-FFF2-40B4-BE49-F238E27FC236}">
                <a16:creationId xmlns:a16="http://schemas.microsoft.com/office/drawing/2014/main" id="{AE563A15-46CE-47B5-BDE0-AA144AF5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6250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날짜가 있는 Trial 기록 · Git 이력</a:t>
            </a:r>
          </a:p>
        </p:txBody>
      </p:sp>
      <p:sp>
        <p:nvSpPr>
          <p:cNvPr id="24" name="새 기록을 만들기 전에, 원래 출처를 먼저 찾는다">
            <a:extLst xmlns:a="http://schemas.openxmlformats.org/drawingml/2006/main">
              <a:ext uri="{FF2B5EF4-FFF2-40B4-BE49-F238E27FC236}">
                <a16:creationId xmlns:a16="http://schemas.microsoft.com/office/drawing/2014/main" id="{3E1BC300-430B-4E63-B5EF-ADFBB574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새 기록을 만들기 전에, 원래 출처를 먼저 찾는다</a:t>
            </a:r>
          </a:p>
        </p:txBody>
      </p:sp>
    </p:spTree>
    <p:extLst>
      <p:ext uri="{BB962C8B-B14F-4D97-AF65-F5344CB8AC3E}">
        <p14:creationId xmlns:p14="http://schemas.microsoft.com/office/powerpoint/2010/main" val="6574170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무엇을 남길 가치가 있는가">
            <a:extLst xmlns:a="http://schemas.openxmlformats.org/drawingml/2006/main">
              <a:ext uri="{FF2B5EF4-FFF2-40B4-BE49-F238E27FC236}">
                <a16:creationId xmlns:a16="http://schemas.microsoft.com/office/drawing/2014/main" id="{C64B4AC6-3B4E-4E51-A5A3-5F68C7BB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무엇을 남길 가치가 있는가</a:t>
            </a:r>
          </a:p>
        </p:txBody>
      </p:sp>
      <p:sp>
        <p:nvSpPr>
          <p:cNvPr id="2" name="S49">
            <a:extLst xmlns:a="http://schemas.openxmlformats.org/drawingml/2006/main">
              <a:ext uri="{FF2B5EF4-FFF2-40B4-BE49-F238E27FC236}">
                <a16:creationId xmlns:a16="http://schemas.microsoft.com/office/drawing/2014/main" id="{38C29559-BBA0-4627-9C6C-3EBD141E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S49</a:t>
            </a:r>
          </a:p>
        </p:txBody>
      </p:sp>
      <p:sp>
        <p:nvSpPr>
          <p:cNvPr id="3" name="Memory는 재발견 비용으로 판단">
            <a:extLst xmlns:a="http://schemas.openxmlformats.org/drawingml/2006/main">
              <a:ext uri="{FF2B5EF4-FFF2-40B4-BE49-F238E27FC236}">
                <a16:creationId xmlns:a16="http://schemas.microsoft.com/office/drawing/2014/main" id="{9FE6DD27-9D68-44A2-BAA4-63C4B230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Memory는 재발견 비용으로 판단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A8E113-2916-4312-887A-B19FCE6F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의사결정 기준 · 별도 Memory의 필요성을 검토하는 질문">
            <a:extLst xmlns:a="http://schemas.openxmlformats.org/drawingml/2006/main">
              <a:ext uri="{FF2B5EF4-FFF2-40B4-BE49-F238E27FC236}">
                <a16:creationId xmlns:a16="http://schemas.microsoft.com/office/drawing/2014/main" id="{8C75ADE5-1178-42AF-946F-37B3466C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의사결정 기준 · 별도 Memory의 필요성을 검토하는 질문</a:t>
            </a:r>
          </a:p>
        </p:txBody>
      </p:sp>
      <p:sp>
        <p:nvSpPr>
          <p:cNvPr id="6" name="현재 Demo에서는 조건에 맞는 후보 없음 · Memory 사용 여부는 성숙도 점수가 아님">
            <a:extLst xmlns:a="http://schemas.openxmlformats.org/drawingml/2006/main">
              <a:ext uri="{FF2B5EF4-FFF2-40B4-BE49-F238E27FC236}">
                <a16:creationId xmlns:a16="http://schemas.microsoft.com/office/drawing/2014/main" id="{ABD0B7A1-8468-4488-9B41-8434584A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Demo에서는 조건에 맞는 후보 없음 · Memory 사용 여부는 성숙도 점수가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94F33-F940-47D6-A61A-2CE35999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0569CE7F-67C7-4A15-A2CF-177D25A5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다시 찾는 비용이 큰가?">
            <a:extLst xmlns:a="http://schemas.openxmlformats.org/drawingml/2006/main">
              <a:ext uri="{FF2B5EF4-FFF2-40B4-BE49-F238E27FC236}">
                <a16:creationId xmlns:a16="http://schemas.microsoft.com/office/drawing/2014/main" id="{9192EA4D-ABA3-458B-BB1C-3C13870B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76475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다시 찾는 비용이 큰가?</a:t>
            </a:r>
          </a:p>
        </p:txBody>
      </p:sp>
      <p:sp>
        <p:nvSpPr>
          <p:cNvPr id="10" name="이미 잘 관리되는 출처가 있다면 그곳을 참고">
            <a:extLst xmlns:a="http://schemas.openxmlformats.org/drawingml/2006/main">
              <a:ext uri="{FF2B5EF4-FFF2-40B4-BE49-F238E27FC236}">
                <a16:creationId xmlns:a16="http://schemas.microsoft.com/office/drawing/2014/main" id="{7E3515F5-3DA5-431D-AE82-CB261C1E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57475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 잘 관리되는 출처가 있다면 그곳을 참고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297D56-8B3D-4459-9526-642B5BFB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82C0417B-4E96-4AE4-A778-917723E3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다음 작업에도 쓸 수 있는가?">
            <a:extLst xmlns:a="http://schemas.openxmlformats.org/drawingml/2006/main">
              <a:ext uri="{FF2B5EF4-FFF2-40B4-BE49-F238E27FC236}">
                <a16:creationId xmlns:a16="http://schemas.microsoft.com/office/drawing/2014/main" id="{0C367877-F96C-481C-941A-ADE2796B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24200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작업에도 쓸 수 있는가?</a:t>
            </a:r>
          </a:p>
        </p:txBody>
      </p:sp>
      <p:sp>
        <p:nvSpPr>
          <p:cNvPr id="14" name="일회성 실행 상태와 프로젝트 지식을 구별">
            <a:extLst xmlns:a="http://schemas.openxmlformats.org/drawingml/2006/main">
              <a:ext uri="{FF2B5EF4-FFF2-40B4-BE49-F238E27FC236}">
                <a16:creationId xmlns:a16="http://schemas.microsoft.com/office/drawing/2014/main" id="{CEB2784D-2AF5-4C09-9682-316FD396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05200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일회성 실행 상태와 프로젝트 지식을 구별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43901-76F3-4C22-8F94-A9A0F6F1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1AD137E9-9B22-41F8-8124-C9D387BA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출처와 적용 범위를 아는가?">
            <a:extLst xmlns:a="http://schemas.openxmlformats.org/drawingml/2006/main">
              <a:ext uri="{FF2B5EF4-FFF2-40B4-BE49-F238E27FC236}">
                <a16:creationId xmlns:a16="http://schemas.microsoft.com/office/drawing/2014/main" id="{B9058BC2-4DC6-47F2-B1ED-991024B0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71925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출처와 적용 범위를 아는가?</a:t>
            </a:r>
          </a:p>
        </p:txBody>
      </p:sp>
      <p:sp>
        <p:nvSpPr>
          <p:cNvPr id="18" name="어떤 프로젝트·조건에서 유효한지 기록">
            <a:extLst xmlns:a="http://schemas.openxmlformats.org/drawingml/2006/main">
              <a:ext uri="{FF2B5EF4-FFF2-40B4-BE49-F238E27FC236}">
                <a16:creationId xmlns:a16="http://schemas.microsoft.com/office/drawing/2014/main" id="{A63FA289-4A4E-4ACF-B7B9-91C30C97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52925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프로젝트·조건에서 유효한지 기록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B02CD6-BC47-42AA-BEFE-63765E7E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2BC17DD9-F9BD-49A0-B2AE-8879FBEA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언제 다시 확인해야 하는가?">
            <a:extLst xmlns:a="http://schemas.openxmlformats.org/drawingml/2006/main">
              <a:ext uri="{FF2B5EF4-FFF2-40B4-BE49-F238E27FC236}">
                <a16:creationId xmlns:a16="http://schemas.microsoft.com/office/drawing/2014/main" id="{9DA1F390-5E0F-4B57-B239-1E45F746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19650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다시 확인해야 하는가?</a:t>
            </a:r>
          </a:p>
        </p:txBody>
      </p:sp>
      <p:sp>
        <p:nvSpPr>
          <p:cNvPr id="22" name="갱신 또는 무효화할 조건을 함께 관리">
            <a:extLst xmlns:a="http://schemas.openxmlformats.org/drawingml/2006/main">
              <a:ext uri="{FF2B5EF4-FFF2-40B4-BE49-F238E27FC236}">
                <a16:creationId xmlns:a16="http://schemas.microsoft.com/office/drawing/2014/main" id="{A632E841-E688-4BDD-A7EF-57166FCA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00650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갱신 또는 무효화할 조건을 함께 관리</a:t>
            </a:r>
          </a:p>
        </p:txBody>
      </p:sp>
    </p:spTree>
    <p:extLst>
      <p:ext uri="{BB962C8B-B14F-4D97-AF65-F5344CB8AC3E}">
        <p14:creationId xmlns:p14="http://schemas.microsoft.com/office/powerpoint/2010/main" val="5271756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3 · 이번 문제에 실제로 필요했던 구조">
            <a:extLst xmlns:a="http://schemas.openxmlformats.org/drawingml/2006/main">
              <a:ext uri="{FF2B5EF4-FFF2-40B4-BE49-F238E27FC236}">
                <a16:creationId xmlns:a16="http://schemas.microsoft.com/office/drawing/2014/main" id="{DE0F975A-EEE3-48B6-BEBF-B4CA47AA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이번 문제에 실제로 필요했던 구조</a:t>
            </a:r>
          </a:p>
        </p:txBody>
      </p:sp>
      <p:sp>
        <p:nvSpPr>
          <p:cNvPr id="2" name="S50">
            <a:extLst xmlns:a="http://schemas.openxmlformats.org/drawingml/2006/main">
              <a:ext uri="{FF2B5EF4-FFF2-40B4-BE49-F238E27FC236}">
                <a16:creationId xmlns:a16="http://schemas.microsoft.com/office/drawing/2014/main" id="{708DCAF2-FDE4-47AC-9F0A-36E7A57D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S50</a:t>
            </a:r>
          </a:p>
        </p:txBody>
      </p:sp>
      <p:sp>
        <p:nvSpPr>
          <p:cNvPr id="3" name="Minimum Effective Harness">
            <a:extLst xmlns:a="http://schemas.openxmlformats.org/drawingml/2006/main">
              <a:ext uri="{FF2B5EF4-FFF2-40B4-BE49-F238E27FC236}">
                <a16:creationId xmlns:a16="http://schemas.microsoft.com/office/drawing/2014/main" id="{FBAA0C09-992F-4DB4-8BE2-F553B097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Minimum Effective 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C117C-E220-441F-B51C-307E9BD7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까지의 구성 · 현재 프로젝트 사례를 정리한 교육용 모델">
            <a:extLst xmlns:a="http://schemas.openxmlformats.org/drawingml/2006/main">
              <a:ext uri="{FF2B5EF4-FFF2-40B4-BE49-F238E27FC236}">
                <a16:creationId xmlns:a16="http://schemas.microsoft.com/office/drawing/2014/main" id="{FE294796-A0D3-443F-B38C-ED0ECC55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STATE-04-PERF까지의 구성 · 현재 프로젝트 사례를 정리한 교육용 모델</a:t>
            </a:r>
          </a:p>
        </p:txBody>
      </p:sp>
      <p:sp>
        <p:nvSpPr>
          <p:cNvPr id="6" name="Subagent·별도 Memory는 추가하지 않음 · 필요한 구성은 문제와 검증 요건에 따라 달라짐">
            <a:extLst xmlns:a="http://schemas.openxmlformats.org/drawingml/2006/main">
              <a:ext uri="{FF2B5EF4-FFF2-40B4-BE49-F238E27FC236}">
                <a16:creationId xmlns:a16="http://schemas.microsoft.com/office/drawing/2014/main" id="{473D71EA-B3B6-483A-AD1F-29894E57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Subagent·별도 Memory는 추가하지 않음 · 필요한 구성은 문제와 검증 요건에 따라 달라짐</a:t>
            </a:r>
          </a:p>
        </p:txBody>
      </p:sp>
      <p:sp>
        <p:nvSpPr>
          <p:cNvPr id="7" name="반복해서 부딪힌 문제 → 실제로 둔 구조">
            <a:extLst xmlns:a="http://schemas.openxmlformats.org/drawingml/2006/main">
              <a:ext uri="{FF2B5EF4-FFF2-40B4-BE49-F238E27FC236}">
                <a16:creationId xmlns:a16="http://schemas.microsoft.com/office/drawing/2014/main" id="{D75D0309-2AFC-4F08-9AD4-871AFAD7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부딪힌 문제 → 실제로 둔 구조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A6F3E-D342-4C50-9859-C6887C06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목표와 범위">
            <a:extLst xmlns:a="http://schemas.openxmlformats.org/drawingml/2006/main">
              <a:ext uri="{FF2B5EF4-FFF2-40B4-BE49-F238E27FC236}">
                <a16:creationId xmlns:a16="http://schemas.microsoft.com/office/drawing/2014/main" id="{F34F54E8-252E-4F47-9D33-67106B44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목표와 범위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CA091B3A-A96C-47F4-B7EF-577B7B1E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943225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1" name="Task Prompt">
            <a:extLst xmlns:a="http://schemas.openxmlformats.org/drawingml/2006/main">
              <a:ext uri="{FF2B5EF4-FFF2-40B4-BE49-F238E27FC236}">
                <a16:creationId xmlns:a16="http://schemas.microsoft.com/office/drawing/2014/main" id="{5FFB212A-8824-4722-A48A-FAFBDA2D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43225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20877A-D8B8-44C4-AAEC-C4DD0AB3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프로젝트 사실과 상세 정보">
            <a:extLst xmlns:a="http://schemas.openxmlformats.org/drawingml/2006/main">
              <a:ext uri="{FF2B5EF4-FFF2-40B4-BE49-F238E27FC236}">
                <a16:creationId xmlns:a16="http://schemas.microsoft.com/office/drawing/2014/main" id="{0FA36BE0-3490-4E3F-995D-0797D4B7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사실과 상세 정보</a:t>
            </a:r>
          </a:p>
        </p:txBody>
      </p:sp>
      <p:sp>
        <p:nvSpPr>
          <p:cNvPr id="14" name="→">
            <a:extLst xmlns:a="http://schemas.openxmlformats.org/drawingml/2006/main">
              <a:ext uri="{FF2B5EF4-FFF2-40B4-BE49-F238E27FC236}">
                <a16:creationId xmlns:a16="http://schemas.microsoft.com/office/drawing/2014/main" id="{AE4FDFF9-A8CC-4272-837D-AD564B85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5814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5" name="AGENTS.md + docs Routing">
            <a:extLst xmlns:a="http://schemas.openxmlformats.org/drawingml/2006/main">
              <a:ext uri="{FF2B5EF4-FFF2-40B4-BE49-F238E27FC236}">
                <a16:creationId xmlns:a16="http://schemas.microsoft.com/office/drawing/2014/main" id="{8F1A1281-1CA4-47F8-8DA8-DC157B44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AGENTS.md + docs Routing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426C2-EFE5-4A35-89F0-91A6BF45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같은 조사·검증 절차">
            <a:extLst xmlns:a="http://schemas.openxmlformats.org/drawingml/2006/main">
              <a:ext uri="{FF2B5EF4-FFF2-40B4-BE49-F238E27FC236}">
                <a16:creationId xmlns:a16="http://schemas.microsoft.com/office/drawing/2014/main" id="{48335962-DEB5-4E68-BFC1-C9701D7F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조사·검증 절차</a:t>
            </a:r>
          </a:p>
        </p:txBody>
      </p:sp>
      <p:sp>
        <p:nvSpPr>
          <p:cNvPr id="18" name="→">
            <a:extLst xmlns:a="http://schemas.openxmlformats.org/drawingml/2006/main">
              <a:ext uri="{FF2B5EF4-FFF2-40B4-BE49-F238E27FC236}">
                <a16:creationId xmlns:a16="http://schemas.microsoft.com/office/drawing/2014/main" id="{5F452114-5746-477F-853B-0E5FA8FC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219575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9" name="graypipe-performance Skill">
            <a:extLst xmlns:a="http://schemas.openxmlformats.org/drawingml/2006/main">
              <a:ext uri="{FF2B5EF4-FFF2-40B4-BE49-F238E27FC236}">
                <a16:creationId xmlns:a16="http://schemas.microsoft.com/office/drawing/2014/main" id="{B71358C3-F4EE-4B01-94FA-2B94C3AC2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19575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graypipe-performance Skill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01AA38-87E9-4591-AC47-B868AEAC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변경을 믿을 근거">
            <a:extLst xmlns:a="http://schemas.openxmlformats.org/drawingml/2006/main">
              <a:ext uri="{FF2B5EF4-FFF2-40B4-BE49-F238E27FC236}">
                <a16:creationId xmlns:a16="http://schemas.microsoft.com/office/drawing/2014/main" id="{9152FD30-3B40-4872-9525-3225CD9A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변경을 믿을 근거</a:t>
            </a:r>
          </a:p>
        </p:txBody>
      </p:sp>
      <p:sp>
        <p:nvSpPr>
          <p:cNvPr id="22" name="→">
            <a:extLst xmlns:a="http://schemas.openxmlformats.org/drawingml/2006/main">
              <a:ext uri="{FF2B5EF4-FFF2-40B4-BE49-F238E27FC236}">
                <a16:creationId xmlns:a16="http://schemas.microsoft.com/office/drawing/2014/main" id="{BA1BD205-C58C-4732-8150-F58E0C7A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8577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3" name="Tests + Benchmark + Tools / Environment">
            <a:extLst xmlns:a="http://schemas.openxmlformats.org/drawingml/2006/main">
              <a:ext uri="{FF2B5EF4-FFF2-40B4-BE49-F238E27FC236}">
                <a16:creationId xmlns:a16="http://schemas.microsoft.com/office/drawing/2014/main" id="{0DA9547A-5AB6-44CB-90D2-F2EFFCBD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57750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Tests + Benchmark + Tools / Environment</a:t>
            </a:r>
          </a:p>
        </p:txBody>
      </p:sp>
    </p:spTree>
    <p:extLst>
      <p:ext uri="{BB962C8B-B14F-4D97-AF65-F5344CB8AC3E}">
        <p14:creationId xmlns:p14="http://schemas.microsoft.com/office/powerpoint/2010/main" val="13787788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개발자와 Agent가 일하는 환경">
            <a:extLst xmlns:a="http://schemas.openxmlformats.org/drawingml/2006/main">
              <a:ext uri="{FF2B5EF4-FFF2-40B4-BE49-F238E27FC236}">
                <a16:creationId xmlns:a16="http://schemas.microsoft.com/office/drawing/2014/main" id="{27A74F63-72AF-4023-8592-B82A98BE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개발자와 Agent가 일하는 환경</a:t>
            </a:r>
          </a:p>
        </p:txBody>
      </p:sp>
      <p:sp>
        <p:nvSpPr>
          <p:cNvPr id="2" name="S51">
            <a:extLst xmlns:a="http://schemas.openxmlformats.org/drawingml/2006/main">
              <a:ext uri="{FF2B5EF4-FFF2-40B4-BE49-F238E27FC236}">
                <a16:creationId xmlns:a16="http://schemas.microsoft.com/office/drawing/2014/main" id="{55B36095-9B41-4986-8A89-0477A852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S51</a:t>
            </a:r>
          </a:p>
        </p:txBody>
      </p:sp>
      <p:sp>
        <p:nvSpPr>
          <p:cNvPr id="3" name="Harness는 작업 환경 설계다">
            <a:extLst xmlns:a="http://schemas.openxmlformats.org/drawingml/2006/main">
              <a:ext uri="{FF2B5EF4-FFF2-40B4-BE49-F238E27FC236}">
                <a16:creationId xmlns:a16="http://schemas.microsoft.com/office/drawing/2014/main" id="{42241E64-662B-4A4A-878F-3D33C753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Harness는 작업 환경 설계다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C17A5-9190-48FE-AF69-23A7D2FF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Harness: Agent가 Project에서 신뢰성 있게 일하도록 설계한 작업 환경 · 이 과정의 운영 모">
            <a:extLst xmlns:a="http://schemas.openxmlformats.org/drawingml/2006/main">
              <a:ext uri="{FF2B5EF4-FFF2-40B4-BE49-F238E27FC236}">
                <a16:creationId xmlns:a16="http://schemas.microsoft.com/office/drawing/2014/main" id="{88284A42-2FCB-4903-A4FF-24F32A8F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Harness: Agent가 Project에서 신뢰성 있게 일하도록 설계한 작업 환경 · 이 과정의 운영 모델</a:t>
            </a:r>
          </a:p>
        </p:txBody>
      </p:sp>
      <p:sp>
        <p:nvSpPr>
          <p:cNvPr id="6" name="공식 제품 분류가 아님 · STATE-04-PERF 관찰 요소와 교육용 전체 모델을 구분한다">
            <a:extLst xmlns:a="http://schemas.openxmlformats.org/drawingml/2006/main">
              <a:ext uri="{FF2B5EF4-FFF2-40B4-BE49-F238E27FC236}">
                <a16:creationId xmlns:a16="http://schemas.microsoft.com/office/drawing/2014/main" id="{53A03BEE-0FD4-40B0-BFC5-C3D20722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 제품 분류가 아님 · STATE-04-PERF 관찰 요소와 교육용 전체 모델을 구분한다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C68D8-5B77-4D19-BB67-DC2A0471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Project 작업 환경">
            <a:extLst xmlns:a="http://schemas.openxmlformats.org/drawingml/2006/main">
              <a:ext uri="{FF2B5EF4-FFF2-40B4-BE49-F238E27FC236}">
                <a16:creationId xmlns:a16="http://schemas.microsoft.com/office/drawing/2014/main" id="{B50D733A-2BA5-4982-8140-6FB44CAC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14575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Project 작업 환경</a:t>
            </a:r>
          </a:p>
        </p:txBody>
      </p:sp>
      <p:sp>
        <p:nvSpPr>
          <p:cNvPr id="9" name="개발자 + Agent">
            <a:extLst xmlns:a="http://schemas.openxmlformats.org/drawingml/2006/main">
              <a:ext uri="{FF2B5EF4-FFF2-40B4-BE49-F238E27FC236}">
                <a16:creationId xmlns:a16="http://schemas.microsoft.com/office/drawing/2014/main" id="{5985F044-2FCE-4A0D-928B-C8F626FC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76550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 + Agent</a:t>
            </a:r>
          </a:p>
        </p:txBody>
      </p:sp>
      <p:sp>
        <p:nvSpPr>
          <p:cNvPr id="10" name="현재 목표">
            <a:extLst xmlns:a="http://schemas.openxmlformats.org/drawingml/2006/main">
              <a:ext uri="{FF2B5EF4-FFF2-40B4-BE49-F238E27FC236}">
                <a16:creationId xmlns:a16="http://schemas.microsoft.com/office/drawing/2014/main" id="{330E37D5-E3F6-44C2-9B65-6E717847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956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목표</a:t>
            </a:r>
          </a:p>
        </p:txBody>
      </p:sp>
      <p:sp>
        <p:nvSpPr>
          <p:cNvPr id="11" name="확인할 결과">
            <a:extLst xmlns:a="http://schemas.openxmlformats.org/drawingml/2006/main">
              <a:ext uri="{FF2B5EF4-FFF2-40B4-BE49-F238E27FC236}">
                <a16:creationId xmlns:a16="http://schemas.microsoft.com/office/drawing/2014/main" id="{6A2D74E2-238F-4D29-82D6-39FE57A1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956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1F20CB-3A3C-4799-A887-99BDFA80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209925"/>
            <a:ext cx="3810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12E00-9937-4075-8B95-A553558F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09925"/>
            <a:ext cx="2381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5D0C2-1403-42A3-B656-6F7B12F0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38575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Project Context / Routing     ·     Workflow     ·     Verif">
            <a:extLst xmlns:a="http://schemas.openxmlformats.org/drawingml/2006/main">
              <a:ext uri="{FF2B5EF4-FFF2-40B4-BE49-F238E27FC236}">
                <a16:creationId xmlns:a16="http://schemas.microsoft.com/office/drawing/2014/main" id="{E5103463-BF19-4AD7-975F-D026F401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48125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Context / Routing     ·     Workflow     ·     Verification / Tools</a:t>
            </a:r>
          </a:p>
        </p:txBody>
      </p:sp>
      <p:sp>
        <p:nvSpPr>
          <p:cNvPr id="16" name="관찰한 구성">
            <a:extLst xmlns:a="http://schemas.openxmlformats.org/drawingml/2006/main">
              <a:ext uri="{FF2B5EF4-FFF2-40B4-BE49-F238E27FC236}">
                <a16:creationId xmlns:a16="http://schemas.microsoft.com/office/drawing/2014/main" id="{4F450E95-8C35-4192-BB96-00F6CB35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962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관찰한 구성</a:t>
            </a:r>
          </a:p>
        </p:txBody>
      </p:sp>
      <p:sp>
        <p:nvSpPr>
          <p:cNvPr id="17" name="AGENTS.md · docs · Skill · Tests · Benchmark">
            <a:extLst xmlns:a="http://schemas.openxmlformats.org/drawingml/2006/main">
              <a:ext uri="{FF2B5EF4-FFF2-40B4-BE49-F238E27FC236}">
                <a16:creationId xmlns:a16="http://schemas.microsoft.com/office/drawing/2014/main" id="{F0C2A555-953C-4C43-BE5E-78512CDD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133975"/>
            <a:ext cx="882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AGENTS.md · docs · Skill · Tests · Benchmark</a:t>
            </a:r>
          </a:p>
        </p:txBody>
      </p:sp>
    </p:spTree>
    <p:extLst>
      <p:ext uri="{BB962C8B-B14F-4D97-AF65-F5344CB8AC3E}">
        <p14:creationId xmlns:p14="http://schemas.microsoft.com/office/powerpoint/2010/main" val="206007127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실행 환경의 경계">
            <a:extLst xmlns:a="http://schemas.openxmlformats.org/drawingml/2006/main">
              <a:ext uri="{FF2B5EF4-FFF2-40B4-BE49-F238E27FC236}">
                <a16:creationId xmlns:a16="http://schemas.microsoft.com/office/drawing/2014/main" id="{33FC9D9F-FC24-40BF-88C3-CF677DB6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실행 환경의 경계</a:t>
            </a:r>
          </a:p>
        </p:txBody>
      </p:sp>
      <p:sp>
        <p:nvSpPr>
          <p:cNvPr id="2" name="S52">
            <a:extLst xmlns:a="http://schemas.openxmlformats.org/drawingml/2006/main">
              <a:ext uri="{FF2B5EF4-FFF2-40B4-BE49-F238E27FC236}">
                <a16:creationId xmlns:a16="http://schemas.microsoft.com/office/drawing/2014/main" id="{D6F5811E-36AF-4450-969D-3A461FEE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S52</a:t>
            </a:r>
          </a:p>
        </p:txBody>
      </p:sp>
      <p:sp>
        <p:nvSpPr>
          <p:cNvPr id="3" name="Repository 밖의 환경도 결과에 영향을 준다">
            <a:extLst xmlns:a="http://schemas.openxmlformats.org/drawingml/2006/main">
              <a:ext uri="{FF2B5EF4-FFF2-40B4-BE49-F238E27FC236}">
                <a16:creationId xmlns:a16="http://schemas.microsoft.com/office/drawing/2014/main" id="{E0A0BBD5-65AA-47CD-86E3-6F84DD3C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밖의 환경도 결과에 영향을 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E3365-32B6-42D4-A53B-9233BA30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274697-D3E8-4D1C-B8FD-CB637A75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관찰된 제작 이력의 예고 · Global Skills와 hook/MCP 시작 경고의 기록 존재">
            <a:extLst xmlns:a="http://schemas.openxmlformats.org/drawingml/2006/main">
              <a:ext uri="{FF2B5EF4-FFF2-40B4-BE49-F238E27FC236}">
                <a16:creationId xmlns:a16="http://schemas.microsoft.com/office/drawing/2014/main" id="{C061CD2B-F48F-4FD2-9064-29D6D500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관찰된 제작 이력의 예고 · Global Skills와 hook/MCP 시작 경고의 기록 존재</a:t>
            </a:r>
          </a:p>
        </p:txBody>
      </p:sp>
      <p:sp>
        <p:nvSpPr>
          <p:cNvPr id="7" name="전체 환경 목록이나 모든 요소의 인과 효과를 확인한 것은 아님 · 상세 근거는 ACT 4에서 확인">
            <a:extLst xmlns:a="http://schemas.openxmlformats.org/drawingml/2006/main">
              <a:ext uri="{FF2B5EF4-FFF2-40B4-BE49-F238E27FC236}">
                <a16:creationId xmlns:a16="http://schemas.microsoft.com/office/drawing/2014/main" id="{D572F6CB-EAB3-42EB-89F0-6DEAB056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전체 환경 목록이나 모든 요소의 인과 효과를 확인한 것은 아님 · 상세 근거는 ACT 4에서 확인</a:t>
            </a:r>
          </a:p>
        </p:txBody>
      </p:sp>
      <p:sp>
        <p:nvSpPr>
          <p:cNvPr id="8" name="같은 Repository가 같은 실행 환경을 뜻할까?">
            <a:extLst xmlns:a="http://schemas.openxmlformats.org/drawingml/2006/main">
              <a:ext uri="{FF2B5EF4-FFF2-40B4-BE49-F238E27FC236}">
                <a16:creationId xmlns:a16="http://schemas.microsoft.com/office/drawing/2014/main" id="{4631CAC9-B1BA-4457-A881-C3DC8342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Repository가 같은 실행 환경을 뜻할까?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2DB2AE-8E3F-47E1-B4A0-8033040C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4476750" cy="2028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Project Repository">
            <a:extLst xmlns:a="http://schemas.openxmlformats.org/drawingml/2006/main">
              <a:ext uri="{FF2B5EF4-FFF2-40B4-BE49-F238E27FC236}">
                <a16:creationId xmlns:a16="http://schemas.microsoft.com/office/drawing/2014/main" id="{54D2CE06-BA3C-46D9-8BF5-598FC28E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14675"/>
            <a:ext cx="401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Repository</a:t>
            </a:r>
          </a:p>
        </p:txBody>
      </p:sp>
      <p:sp>
        <p:nvSpPr>
          <p:cNvPr id="11" name="코드 · AGENTS.md&#10;Project docs · Skill">
            <a:extLst xmlns:a="http://schemas.openxmlformats.org/drawingml/2006/main">
              <a:ext uri="{FF2B5EF4-FFF2-40B4-BE49-F238E27FC236}">
                <a16:creationId xmlns:a16="http://schemas.microsoft.com/office/drawing/2014/main" id="{0E677B23-5587-4187-BC19-C5F5D8B6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0195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 · AGENTS.md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docs · Skill</a:t>
            </a:r>
          </a:p>
        </p:txBody>
      </p:sp>
      <p:sp>
        <p:nvSpPr>
          <p:cNvPr id="12" name="바깥에서 함께 들어올 수 있는 조건">
            <a:extLst xmlns:a="http://schemas.openxmlformats.org/drawingml/2006/main">
              <a:ext uri="{FF2B5EF4-FFF2-40B4-BE49-F238E27FC236}">
                <a16:creationId xmlns:a16="http://schemas.microsoft.com/office/drawing/2014/main" id="{D9D50069-E85E-4519-89CC-761D4AAD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24175"/>
            <a:ext cx="5543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바깥에서 함께 들어올 수 있는 조건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01FD5C-09D5-4D18-AE45-9F82B0F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495675"/>
            <a:ext cx="5543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지침">
            <a:extLst xmlns:a="http://schemas.openxmlformats.org/drawingml/2006/main">
              <a:ext uri="{FF2B5EF4-FFF2-40B4-BE49-F238E27FC236}">
                <a16:creationId xmlns:a16="http://schemas.microsoft.com/office/drawing/2014/main" id="{34CAC0E0-E356-4899-8C3A-04A9E979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5909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지침</a:t>
            </a:r>
          </a:p>
        </p:txBody>
      </p:sp>
      <p:sp>
        <p:nvSpPr>
          <p:cNvPr id="15" name="Global instructions · Skills">
            <a:extLst xmlns:a="http://schemas.openxmlformats.org/drawingml/2006/main">
              <a:ext uri="{FF2B5EF4-FFF2-40B4-BE49-F238E27FC236}">
                <a16:creationId xmlns:a16="http://schemas.microsoft.com/office/drawing/2014/main" id="{28C4FB13-B9B8-4304-8AFD-0B04B8BF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590925"/>
            <a:ext cx="4010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Global instructions · Skills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F1C74D-64EE-410D-842E-7B12B19F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76700"/>
            <a:ext cx="5543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실행">
            <a:extLst xmlns:a="http://schemas.openxmlformats.org/drawingml/2006/main">
              <a:ext uri="{FF2B5EF4-FFF2-40B4-BE49-F238E27FC236}">
                <a16:creationId xmlns:a16="http://schemas.microsoft.com/office/drawing/2014/main" id="{FB4872C1-51CC-4284-9CEF-5932CDF0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719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8" name="Model/config · OS/runtime">
            <a:extLst xmlns:a="http://schemas.openxmlformats.org/drawingml/2006/main">
              <a:ext uri="{FF2B5EF4-FFF2-40B4-BE49-F238E27FC236}">
                <a16:creationId xmlns:a16="http://schemas.microsoft.com/office/drawing/2014/main" id="{D780234B-6DBB-4B58-9EE5-191D3B8D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171950"/>
            <a:ext cx="4010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Model/config · OS/runtime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457FDC-49B4-43BA-98DA-24FDA472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657725"/>
            <a:ext cx="5543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도구와 권한">
            <a:extLst xmlns:a="http://schemas.openxmlformats.org/drawingml/2006/main">
              <a:ext uri="{FF2B5EF4-FFF2-40B4-BE49-F238E27FC236}">
                <a16:creationId xmlns:a16="http://schemas.microsoft.com/office/drawing/2014/main" id="{21780772-B5EC-4C8C-A5EF-9C73090F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75297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도구와 권한</a:t>
            </a:r>
          </a:p>
        </p:txBody>
      </p:sp>
      <p:sp>
        <p:nvSpPr>
          <p:cNvPr id="21" name="Hooks · MCP · Permissions">
            <a:extLst xmlns:a="http://schemas.openxmlformats.org/drawingml/2006/main">
              <a:ext uri="{FF2B5EF4-FFF2-40B4-BE49-F238E27FC236}">
                <a16:creationId xmlns:a16="http://schemas.microsoft.com/office/drawing/2014/main" id="{D376D737-A8CD-4D9A-AD20-CA20D419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52975"/>
            <a:ext cx="4010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Hooks · MCP · Permissions</a:t>
            </a:r>
          </a:p>
        </p:txBody>
      </p:sp>
      <p:sp>
        <p:nvSpPr>
          <p:cNvPr id="22" name="Repository 바깥의 흔적도, 결과를 해석할 때 기록한다">
            <a:extLst xmlns:a="http://schemas.openxmlformats.org/drawingml/2006/main">
              <a:ext uri="{FF2B5EF4-FFF2-40B4-BE49-F238E27FC236}">
                <a16:creationId xmlns:a16="http://schemas.microsoft.com/office/drawing/2014/main" id="{F92D00C5-52B2-40B5-881F-DC506873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바깥의 흔적도, 결과를 해석할 때 기록한다</a:t>
            </a:r>
          </a:p>
        </p:txBody>
      </p:sp>
    </p:spTree>
    <p:extLst>
      <p:ext uri="{BB962C8B-B14F-4D97-AF65-F5344CB8AC3E}">
        <p14:creationId xmlns:p14="http://schemas.microsoft.com/office/powerpoint/2010/main" val="18843649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3 · 도구를 넘어 같은 판단을 적용하기">
            <a:extLst xmlns:a="http://schemas.openxmlformats.org/drawingml/2006/main">
              <a:ext uri="{FF2B5EF4-FFF2-40B4-BE49-F238E27FC236}">
                <a16:creationId xmlns:a16="http://schemas.microsoft.com/office/drawing/2014/main" id="{43B7390F-A420-4708-A611-B444445D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도구를 넘어 같은 판단을 적용하기</a:t>
            </a:r>
          </a:p>
        </p:txBody>
      </p:sp>
      <p:sp>
        <p:nvSpPr>
          <p:cNvPr id="2" name="S53">
            <a:extLst xmlns:a="http://schemas.openxmlformats.org/drawingml/2006/main">
              <a:ext uri="{FF2B5EF4-FFF2-40B4-BE49-F238E27FC236}">
                <a16:creationId xmlns:a16="http://schemas.microsoft.com/office/drawing/2014/main" id="{A74F37AC-A71F-4781-A1EC-177C37E8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S53</a:t>
            </a:r>
          </a:p>
        </p:txBody>
      </p:sp>
      <p:sp>
        <p:nvSpPr>
          <p:cNvPr id="3" name="Engineering Pattern은 C++에도 전이된다">
            <a:extLst xmlns:a="http://schemas.openxmlformats.org/drawingml/2006/main">
              <a:ext uri="{FF2B5EF4-FFF2-40B4-BE49-F238E27FC236}">
                <a16:creationId xmlns:a16="http://schemas.microsoft.com/office/drawing/2014/main" id="{9608159A-8E14-4525-AEBC-8671E913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Engineering Pattern은 C++에도 전이된다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9F05A2-CA28-470C-B97A-EF2025AA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C++ Vision 전이를 위한 교육용 예시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9006EDCA-3B4D-475E-9E15-28D0E432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Vision 전이를 위한 교육용 예시 · AI 생성 설명용 삽화</a:t>
            </a:r>
          </a:p>
        </p:txBody>
      </p:sp>
      <p:sp>
        <p:nvSpPr>
          <p:cNvPr id="6" name="실제 C++ Demo·회사 장비·측정 결과가 아닙니다. 도구·빌드·하드웨어 조건은 프로젝트별 확인 필요">
            <a:extLst xmlns:a="http://schemas.openxmlformats.org/drawingml/2006/main">
              <a:ext uri="{FF2B5EF4-FFF2-40B4-BE49-F238E27FC236}">
                <a16:creationId xmlns:a16="http://schemas.microsoft.com/office/drawing/2014/main" id="{9AC15FB5-CF43-4DE9-B9D1-B5B8162E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Demo·회사 장비·측정 결과가 아닙니다. 도구·빌드·하드웨어 조건은 프로젝트별 확인 필요</a:t>
            </a:r>
          </a:p>
        </p:txBody>
      </p:sp>
      <p:sp>
        <p:nvSpPr>
          <p:cNvPr id="7" name="Python Demo에서 확인한 질문을 C++ Vision 업무로">
            <a:extLst xmlns:a="http://schemas.openxmlformats.org/drawingml/2006/main">
              <a:ext uri="{FF2B5EF4-FFF2-40B4-BE49-F238E27FC236}">
                <a16:creationId xmlns:a16="http://schemas.microsoft.com/office/drawing/2014/main" id="{BC2CCCBE-0210-4878-B5E4-E87A903E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Python Demo에서 확인한 질문을 C++ Vision 업무로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271D9-85C4-418B-8F74-D072D94514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7b5abd08145d9"/>
          <a:srcRect xmlns:a="http://schemas.openxmlformats.org/drawingml/2006/main" l="0" t="8000" r="0" b="12000"/>
          <a:stretch xmlns:a="http://schemas.openxmlformats.org/drawingml/2006/main"/>
        </p:blipFill>
        <p:spPr>
          <a:xfrm xmlns:a="http://schemas.openxmlformats.org/drawingml/2006/main">
            <a:off x="1881188" y="1924050"/>
            <a:ext cx="8429625" cy="1943100"/>
          </a:xfrm>
          <a:prstGeom xmlns:a="http://schemas.openxmlformats.org/drawingml/2006/main" prst="rect">
            <a:avLst/>
          </a:prstGeom>
        </p:spPr>
      </p:pic>
      <p:sp>
        <p:nvSpPr>
          <p:cNvPr id="9" name="01  입력">
            <a:extLst xmlns:a="http://schemas.openxmlformats.org/drawingml/2006/main">
              <a:ext uri="{FF2B5EF4-FFF2-40B4-BE49-F238E27FC236}">
                <a16:creationId xmlns:a16="http://schemas.microsoft.com/office/drawing/2014/main" id="{4870CCCE-16F9-4B60-B06F-2AA91743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867150"/>
            <a:ext cx="40671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입력</a:t>
            </a:r>
          </a:p>
        </p:txBody>
      </p:sp>
      <p:sp>
        <p:nvSpPr>
          <p:cNvPr id="10" name="02  처리">
            <a:extLst xmlns:a="http://schemas.openxmlformats.org/drawingml/2006/main">
              <a:ext uri="{FF2B5EF4-FFF2-40B4-BE49-F238E27FC236}">
                <a16:creationId xmlns:a16="http://schemas.microsoft.com/office/drawing/2014/main" id="{54B9FE82-030E-4528-8B20-6BDADE1E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6715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처리</a:t>
            </a:r>
          </a:p>
        </p:txBody>
      </p:sp>
      <p:sp>
        <p:nvSpPr>
          <p:cNvPr id="11" name="03  결과">
            <a:extLst xmlns:a="http://schemas.openxmlformats.org/drawingml/2006/main">
              <a:ext uri="{FF2B5EF4-FFF2-40B4-BE49-F238E27FC236}">
                <a16:creationId xmlns:a16="http://schemas.microsoft.com/office/drawing/2014/main" id="{9305C5F1-D3D6-4D31-A616-7143411C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67150"/>
            <a:ext cx="2105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0595B3-8D77-46B2-BD2F-6B0D26B8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01  기준 조건은?">
            <a:extLst xmlns:a="http://schemas.openxmlformats.org/drawingml/2006/main">
              <a:ext uri="{FF2B5EF4-FFF2-40B4-BE49-F238E27FC236}">
                <a16:creationId xmlns:a16="http://schemas.microsoft.com/office/drawing/2014/main" id="{64A4C1F9-15FF-4085-B28F-CF22F3C4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기준 조건은?</a:t>
            </a:r>
          </a:p>
        </p:txBody>
      </p:sp>
      <p:sp>
        <p:nvSpPr>
          <p:cNvPr id="14" name="입력·계약에서&#10;빌드·하드웨어 가정까지">
            <a:extLst xmlns:a="http://schemas.openxmlformats.org/drawingml/2006/main">
              <a:ext uri="{FF2B5EF4-FFF2-40B4-BE49-F238E27FC236}">
                <a16:creationId xmlns:a16="http://schemas.microsoft.com/office/drawing/2014/main" id="{01075D96-5586-46F0-9CEB-FAA71BEE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입력·계약에서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빌드·하드웨어 가정까지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7130AF-4881-4A7D-91AD-5248ABAB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02  어디를 조사할까?">
            <a:extLst xmlns:a="http://schemas.openxmlformats.org/drawingml/2006/main">
              <a:ext uri="{FF2B5EF4-FFF2-40B4-BE49-F238E27FC236}">
                <a16:creationId xmlns:a16="http://schemas.microsoft.com/office/drawing/2014/main" id="{34C42AD6-539A-42DC-B50C-34B0EEE8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어디를 조사할까?</a:t>
            </a:r>
          </a:p>
        </p:txBody>
      </p:sp>
      <p:sp>
        <p:nvSpPr>
          <p:cNvPr id="17" name="측정한 코드 경로에서&#10;해당 모듈의 profile로">
            <a:extLst xmlns:a="http://schemas.openxmlformats.org/drawingml/2006/main">
              <a:ext uri="{FF2B5EF4-FFF2-40B4-BE49-F238E27FC236}">
                <a16:creationId xmlns:a16="http://schemas.microsoft.com/office/drawing/2014/main" id="{09CFA864-6B5B-4856-BAA7-50DB789A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측정한 코드 경로에서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모듈의 profile로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AEB18-BB39-4A7A-AE6F-9D8DDEA8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03  무엇을 확인할까?">
            <a:extLst xmlns:a="http://schemas.openxmlformats.org/drawingml/2006/main">
              <a:ext uri="{FF2B5EF4-FFF2-40B4-BE49-F238E27FC236}">
                <a16:creationId xmlns:a16="http://schemas.microsoft.com/office/drawing/2014/main" id="{4FEB98A2-1887-4D7E-A3B2-AC0EBE37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무엇을 확인할까?</a:t>
            </a:r>
          </a:p>
        </p:txBody>
      </p:sp>
      <p:sp>
        <p:nvSpPr>
          <p:cNvPr id="20" name="동작 계약에서&#10;모듈·회귀·통합 검증으로">
            <a:extLst xmlns:a="http://schemas.openxmlformats.org/drawingml/2006/main">
              <a:ext uri="{FF2B5EF4-FFF2-40B4-BE49-F238E27FC236}">
                <a16:creationId xmlns:a16="http://schemas.microsoft.com/office/drawing/2014/main" id="{A87056A9-8B58-43DB-9639-A1D512CB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 계약에서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모듈·회귀·통합 검증으로</a:t>
            </a:r>
          </a:p>
        </p:txBody>
      </p:sp>
      <p:sp>
        <p:nvSpPr>
          <p:cNvPr id="21" name="baseline → profile → change → regression check">
            <a:extLst xmlns:a="http://schemas.openxmlformats.org/drawingml/2006/main">
              <a:ext uri="{FF2B5EF4-FFF2-40B4-BE49-F238E27FC236}">
                <a16:creationId xmlns:a16="http://schemas.microsoft.com/office/drawing/2014/main" id="{1ABEA5FD-4C53-4805-92C8-EBC1D645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baseline → profile → change → regression check</a:t>
            </a:r>
          </a:p>
        </p:txBody>
      </p:sp>
    </p:spTree>
    <p:extLst>
      <p:ext uri="{BB962C8B-B14F-4D97-AF65-F5344CB8AC3E}">
        <p14:creationId xmlns:p14="http://schemas.microsoft.com/office/powerpoint/2010/main" val="205393481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3 · 내 업무의 반복을 돌아보기">
            <a:extLst xmlns:a="http://schemas.openxmlformats.org/drawingml/2006/main">
              <a:ext uri="{FF2B5EF4-FFF2-40B4-BE49-F238E27FC236}">
                <a16:creationId xmlns:a16="http://schemas.microsoft.com/office/drawing/2014/main" id="{F18450F3-9EED-4392-A189-B0C6B36B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내 업무의 반복을 돌아보기</a:t>
            </a:r>
          </a:p>
        </p:txBody>
      </p:sp>
      <p:sp>
        <p:nvSpPr>
          <p:cNvPr id="2" name="S54">
            <a:extLst xmlns:a="http://schemas.openxmlformats.org/drawingml/2006/main">
              <a:ext uri="{FF2B5EF4-FFF2-40B4-BE49-F238E27FC236}">
                <a16:creationId xmlns:a16="http://schemas.microsoft.com/office/drawing/2014/main" id="{6D54C512-C1DE-40A7-BB63-B88C37CB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S54</a:t>
            </a:r>
          </a:p>
        </p:txBody>
      </p:sp>
      <p:sp>
        <p:nvSpPr>
          <p:cNvPr id="3" name="필요한 구조부터 질문하기">
            <a:extLst xmlns:a="http://schemas.openxmlformats.org/drawingml/2006/main">
              <a:ext uri="{FF2B5EF4-FFF2-40B4-BE49-F238E27FC236}">
                <a16:creationId xmlns:a16="http://schemas.microsoft.com/office/drawing/2014/main" id="{C8B03318-0738-49D0-81A6-DDE8853F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구조부터 질문하기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96D15-07B1-45C3-B4FE-D89A80A6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자신의 업무를 생각해보기 · 공유는 선택">
            <a:extLst xmlns:a="http://schemas.openxmlformats.org/drawingml/2006/main">
              <a:ext uri="{FF2B5EF4-FFF2-40B4-BE49-F238E27FC236}">
                <a16:creationId xmlns:a16="http://schemas.microsoft.com/office/drawing/2014/main" id="{4157FD11-0D86-4CFD-976D-C21F4EB4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자신의 업무를 생각해보기 · 공유는 선택</a:t>
            </a:r>
          </a:p>
        </p:txBody>
      </p:sp>
      <p:sp>
        <p:nvSpPr>
          <p:cNvPr id="6" name="STATE-04-PERF는 이 작업에서 잘 동작한 결과 · Subagent와 Memory는 조건부 선택">
            <a:extLst xmlns:a="http://schemas.openxmlformats.org/drawingml/2006/main">
              <a:ext uri="{FF2B5EF4-FFF2-40B4-BE49-F238E27FC236}">
                <a16:creationId xmlns:a16="http://schemas.microsoft.com/office/drawing/2014/main" id="{4FEE34A2-8F91-4D4F-84AD-58E58DC2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STATE-04-PERF는 이 작업에서 잘 동작한 결과 · Subagent와 Memory는 조건부 선택</a:t>
            </a:r>
          </a:p>
        </p:txBody>
      </p:sp>
      <p:sp>
        <p:nvSpPr>
          <p:cNvPr id="7" name="내 업무에서 가장 자주 반복하는 설명은?">
            <a:extLst xmlns:a="http://schemas.openxmlformats.org/drawingml/2006/main">
              <a:ext uri="{FF2B5EF4-FFF2-40B4-BE49-F238E27FC236}">
                <a16:creationId xmlns:a16="http://schemas.microsoft.com/office/drawing/2014/main" id="{77FF3842-7F19-42F3-A5F6-5E995B38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가장 자주 반복하는 설명은?</a:t>
            </a:r>
          </a:p>
        </p:txBody>
      </p:sp>
      <p:sp>
        <p:nvSpPr>
          <p:cNvPr id="8" name="“우리 프로젝트의 제약은…”">
            <a:extLst xmlns:a="http://schemas.openxmlformats.org/drawingml/2006/main">
              <a:ext uri="{FF2B5EF4-FFF2-40B4-BE49-F238E27FC236}">
                <a16:creationId xmlns:a16="http://schemas.microsoft.com/office/drawing/2014/main" id="{84A585A5-2850-49C4-B7FB-063FC907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5238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“우리 프로젝트의 제약은…”</a:t>
            </a:r>
          </a:p>
        </p:txBody>
      </p:sp>
      <p:sp>
        <p:nvSpPr>
          <p:cNvPr id="9" name="“먼저 측정하고, 끝나면 확인해…”">
            <a:extLst xmlns:a="http://schemas.openxmlformats.org/drawingml/2006/main">
              <a:ext uri="{FF2B5EF4-FFF2-40B4-BE49-F238E27FC236}">
                <a16:creationId xmlns:a16="http://schemas.microsoft.com/office/drawing/2014/main" id="{A8E6E581-1A34-4AA1-99E8-06E41EED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“먼저 측정하고, 끝나면 확인해…”</a:t>
            </a:r>
          </a:p>
        </p:txBody>
      </p:sp>
      <p:sp>
        <p:nvSpPr>
          <p:cNvPr id="10" name="반복되는 사실">
            <a:extLst xmlns:a="http://schemas.openxmlformats.org/drawingml/2006/main">
              <a:ext uri="{FF2B5EF4-FFF2-40B4-BE49-F238E27FC236}">
                <a16:creationId xmlns:a16="http://schemas.microsoft.com/office/drawing/2014/main" id="{5DF28778-AA63-4B07-95DB-21FA511F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5238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반복되는 사실</a:t>
            </a:r>
          </a:p>
        </p:txBody>
      </p:sp>
      <p:sp>
        <p:nvSpPr>
          <p:cNvPr id="11" name="반복되는 절차">
            <a:extLst xmlns:a="http://schemas.openxmlformats.org/drawingml/2006/main">
              <a:ext uri="{FF2B5EF4-FFF2-40B4-BE49-F238E27FC236}">
                <a16:creationId xmlns:a16="http://schemas.microsoft.com/office/drawing/2014/main" id="{95873D88-4DD8-491C-95A5-FA5ED312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5285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반복되는 절차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6EE169-B29C-4EF8-A09A-CA9229D1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지금 잘 동작한다면,&#10;Project가 바뀐 뒤에도 계속 맞을까?">
            <a:extLst xmlns:a="http://schemas.openxmlformats.org/drawingml/2006/main">
              <a:ext uri="{FF2B5EF4-FFF2-40B4-BE49-F238E27FC236}">
                <a16:creationId xmlns:a16="http://schemas.microsoft.com/office/drawing/2014/main" id="{BEE3D975-DE38-46DC-9EC5-D59F0DF9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잘 동작한다면,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Project가 바뀐 뒤에도 계속 맞을까?</a:t>
            </a:r>
          </a:p>
        </p:txBody>
      </p:sp>
    </p:spTree>
    <p:extLst>
      <p:ext uri="{BB962C8B-B14F-4D97-AF65-F5344CB8AC3E}">
        <p14:creationId xmlns:p14="http://schemas.microsoft.com/office/powerpoint/2010/main" val="13624892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2026-10-18T14:59:45.1950000Z</dcterms:created>
  <dcterms:modified xsi:type="dcterms:W3CDTF">2026-10-18T14:59:45.1950000Z</dcterms:modified>
</coreProperties>
</file>