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1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a1e5a37e3d841cc" /><Relationship Type="http://schemas.openxmlformats.org/officeDocument/2006/relationships/extended-properties" Target="/docProps/app.xml" Id="R45e6c3a2177b4562" /><Relationship Type="http://schemas.openxmlformats.org/officeDocument/2006/relationships/officeDocument" Target="/ppt/presentation.xml" Id="R121a607455ca452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357bb0ecb1243d9"/>
  </p:sldMasterIdLst>
  <p:notesMasterIdLst>
    <p:notesMasterId xmlns:r="http://schemas.openxmlformats.org/officeDocument/2006/relationships" r:id="R456fe4e397314a2a"/>
  </p:notesMasterIdLst>
  <p:sldIdLst>
    <p:sldId xmlns:r="http://schemas.openxmlformats.org/officeDocument/2006/relationships" id="256" r:id="R8546bef832d7409f"/>
    <p:sldId xmlns:r="http://schemas.openxmlformats.org/officeDocument/2006/relationships" id="257" r:id="R3625a78fed244135"/>
    <p:sldId xmlns:r="http://schemas.openxmlformats.org/officeDocument/2006/relationships" id="258" r:id="R68bbc06a26e64598"/>
    <p:sldId xmlns:r="http://schemas.openxmlformats.org/officeDocument/2006/relationships" id="259" r:id="R265aceb5eada4f5c"/>
    <p:sldId xmlns:r="http://schemas.openxmlformats.org/officeDocument/2006/relationships" id="260" r:id="R13a2cd4fda774a35"/>
    <p:sldId xmlns:r="http://schemas.openxmlformats.org/officeDocument/2006/relationships" id="261" r:id="R2eb0834343e94582"/>
    <p:sldId xmlns:r="http://schemas.openxmlformats.org/officeDocument/2006/relationships" id="262" r:id="R194a976af95243ce"/>
    <p:sldId xmlns:r="http://schemas.openxmlformats.org/officeDocument/2006/relationships" id="263" r:id="Rd3952b3c5d0e48eb"/>
    <p:sldId xmlns:r="http://schemas.openxmlformats.org/officeDocument/2006/relationships" id="264" r:id="R533f7abb208b4538"/>
    <p:sldId xmlns:r="http://schemas.openxmlformats.org/officeDocument/2006/relationships" id="265" r:id="Ra7e923189ed841f8"/>
    <p:sldId xmlns:r="http://schemas.openxmlformats.org/officeDocument/2006/relationships" id="266" r:id="Ra5aeb2e98c4f4877"/>
    <p:sldId xmlns:r="http://schemas.openxmlformats.org/officeDocument/2006/relationships" id="267" r:id="R566461d9ab464116"/>
    <p:sldId xmlns:r="http://schemas.openxmlformats.org/officeDocument/2006/relationships" id="268" r:id="Rd7c6a65319584241"/>
    <p:sldId xmlns:r="http://schemas.openxmlformats.org/officeDocument/2006/relationships" id="269" r:id="R8b2b2b64c1634e13"/>
    <p:sldId xmlns:r="http://schemas.openxmlformats.org/officeDocument/2006/relationships" id="270" r:id="R9f92a765452343bf"/>
    <p:sldId xmlns:r="http://schemas.openxmlformats.org/officeDocument/2006/relationships" id="271" r:id="R5f2584bec2a84ca2"/>
    <p:sldId xmlns:r="http://schemas.openxmlformats.org/officeDocument/2006/relationships" id="272" r:id="R33685d1b1047482f"/>
    <p:sldId xmlns:r="http://schemas.openxmlformats.org/officeDocument/2006/relationships" id="273" r:id="R0e6428854bcb4a6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67f54f47b854883" /><Relationship Type="http://schemas.openxmlformats.org/officeDocument/2006/relationships/slideMaster" Target="/ppt/slideMasters/slideMaster1.xml" Id="Rd357bb0ecb1243d9" /><Relationship Type="http://schemas.openxmlformats.org/officeDocument/2006/relationships/notesMaster" Target="/ppt/notesMasters/notesMaster1.xml" Id="R456fe4e397314a2a" /><Relationship Type="http://schemas.openxmlformats.org/officeDocument/2006/relationships/presProps" Target="/ppt/presProps.xml" Id="R1f666b8283044246" /><Relationship Type="http://schemas.openxmlformats.org/officeDocument/2006/relationships/tableStyles" Target="/ppt/tableStyles.xml" Id="R02acb86c717d40a7" /><Relationship Type="http://schemas.openxmlformats.org/officeDocument/2006/relationships/slide" Target="/ppt/slides/slide1.xml" Id="R8546bef832d7409f" /><Relationship Type="http://schemas.openxmlformats.org/officeDocument/2006/relationships/slide" Target="/ppt/slides/slide2.xml" Id="R3625a78fed244135" /><Relationship Type="http://schemas.openxmlformats.org/officeDocument/2006/relationships/slide" Target="/ppt/slides/slide3.xml" Id="R68bbc06a26e64598" /><Relationship Type="http://schemas.openxmlformats.org/officeDocument/2006/relationships/slide" Target="/ppt/slides/slide4.xml" Id="R265aceb5eada4f5c" /><Relationship Type="http://schemas.openxmlformats.org/officeDocument/2006/relationships/slide" Target="/ppt/slides/slide5.xml" Id="R13a2cd4fda774a35" /><Relationship Type="http://schemas.openxmlformats.org/officeDocument/2006/relationships/slide" Target="/ppt/slides/slide6.xml" Id="R2eb0834343e94582" /><Relationship Type="http://schemas.openxmlformats.org/officeDocument/2006/relationships/slide" Target="/ppt/slides/slide7.xml" Id="R194a976af95243ce" /><Relationship Type="http://schemas.openxmlformats.org/officeDocument/2006/relationships/slide" Target="/ppt/slides/slide8.xml" Id="Rd3952b3c5d0e48eb" /><Relationship Type="http://schemas.openxmlformats.org/officeDocument/2006/relationships/slide" Target="/ppt/slides/slide9.xml" Id="R533f7abb208b4538" /><Relationship Type="http://schemas.openxmlformats.org/officeDocument/2006/relationships/slide" Target="/ppt/slides/slide10.xml" Id="Ra7e923189ed841f8" /><Relationship Type="http://schemas.openxmlformats.org/officeDocument/2006/relationships/slide" Target="/ppt/slides/slide11.xml" Id="Ra5aeb2e98c4f4877" /><Relationship Type="http://schemas.openxmlformats.org/officeDocument/2006/relationships/slide" Target="/ppt/slides/slide12.xml" Id="R566461d9ab464116" /><Relationship Type="http://schemas.openxmlformats.org/officeDocument/2006/relationships/slide" Target="/ppt/slides/slide13.xml" Id="Rd7c6a65319584241" /><Relationship Type="http://schemas.openxmlformats.org/officeDocument/2006/relationships/slide" Target="/ppt/slides/slide14.xml" Id="R8b2b2b64c1634e13" /><Relationship Type="http://schemas.openxmlformats.org/officeDocument/2006/relationships/slide" Target="/ppt/slides/slide15.xml" Id="R9f92a765452343bf" /><Relationship Type="http://schemas.openxmlformats.org/officeDocument/2006/relationships/slide" Target="/ppt/slides/slide16.xml" Id="R5f2584bec2a84ca2" /><Relationship Type="http://schemas.openxmlformats.org/officeDocument/2006/relationships/slide" Target="/ppt/slides/slide17.xml" Id="R33685d1b1047482f" /><Relationship Type="http://schemas.openxmlformats.org/officeDocument/2006/relationships/slide" Target="/ppt/slides/slide18.xml" Id="R0e6428854bcb4a6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dbf2095ef214f4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17b91e2bbbc4eeb" /><Relationship Type="http://schemas.openxmlformats.org/officeDocument/2006/relationships/notesMaster" Target="/ppt/notesMasters/notesMaster1.xml" Id="R91c979be220e4c9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37154799cad432a" /><Relationship Type="http://schemas.openxmlformats.org/officeDocument/2006/relationships/notesMaster" Target="/ppt/notesMasters/notesMaster1.xml" Id="Ra8e1badf025e430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431b0e98dbe464f" /><Relationship Type="http://schemas.openxmlformats.org/officeDocument/2006/relationships/notesMaster" Target="/ppt/notesMasters/notesMaster1.xml" Id="Rc0f75d2cfc2e4b7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89f8539abc749d3" /><Relationship Type="http://schemas.openxmlformats.org/officeDocument/2006/relationships/notesMaster" Target="/ppt/notesMasters/notesMaster1.xml" Id="R5d59312636c54cd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82bdada0a924545" /><Relationship Type="http://schemas.openxmlformats.org/officeDocument/2006/relationships/notesMaster" Target="/ppt/notesMasters/notesMaster1.xml" Id="Ra5bfa1bbfb7241a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775476126ff4758" /><Relationship Type="http://schemas.openxmlformats.org/officeDocument/2006/relationships/notesMaster" Target="/ppt/notesMasters/notesMaster1.xml" Id="Reed9817eccaa40d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9550e01b12740a2" /><Relationship Type="http://schemas.openxmlformats.org/officeDocument/2006/relationships/notesMaster" Target="/ppt/notesMasters/notesMaster1.xml" Id="Rf54ba9be701444f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d1d2a9d2317483c" /><Relationship Type="http://schemas.openxmlformats.org/officeDocument/2006/relationships/notesMaster" Target="/ppt/notesMasters/notesMaster1.xml" Id="R78e12773a55b40e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222a4287d0542b6" /><Relationship Type="http://schemas.openxmlformats.org/officeDocument/2006/relationships/notesMaster" Target="/ppt/notesMasters/notesMaster1.xml" Id="R4c220d5a125d447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8b41b603a6f4ec6" /><Relationship Type="http://schemas.openxmlformats.org/officeDocument/2006/relationships/notesMaster" Target="/ppt/notesMasters/notesMaster1.xml" Id="R7f98216301c743f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d1a01849d9f4c52" /><Relationship Type="http://schemas.openxmlformats.org/officeDocument/2006/relationships/notesMaster" Target="/ppt/notesMasters/notesMaster1.xml" Id="Ra204b01f869c438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9a7a3102608459e" /><Relationship Type="http://schemas.openxmlformats.org/officeDocument/2006/relationships/notesMaster" Target="/ppt/notesMasters/notesMaster1.xml" Id="R4415d9bbf502494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67be085273714f8c" /><Relationship Type="http://schemas.openxmlformats.org/officeDocument/2006/relationships/notesMaster" Target="/ppt/notesMasters/notesMaster1.xml" Id="R474828db8f574fd1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08761aa8d428469a" /><Relationship Type="http://schemas.openxmlformats.org/officeDocument/2006/relationships/notesMaster" Target="/ppt/notesMasters/notesMaster1.xml" Id="R158ac1fefa6a42f1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9e81688ea1e14298" /><Relationship Type="http://schemas.openxmlformats.org/officeDocument/2006/relationships/notesMaster" Target="/ppt/notesMasters/notesMaster1.xml" Id="Ra088b59516f643d5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04b0f98c2fd44a44" /><Relationship Type="http://schemas.openxmlformats.org/officeDocument/2006/relationships/notesMaster" Target="/ppt/notesMasters/notesMaster1.xml" Id="Rdf6921099c7b4eb4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a8618d732c424a88" /><Relationship Type="http://schemas.openxmlformats.org/officeDocument/2006/relationships/notesMaster" Target="/ppt/notesMasters/notesMaster1.xml" Id="R018cad4a91ac4d6a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2f9ccf2c09e24aff" /><Relationship Type="http://schemas.openxmlformats.org/officeDocument/2006/relationships/notesMaster" Target="/ppt/notesMasters/notesMaster1.xml" Id="R86f9bec1133d4eb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S50 — 두 실제 요청에 같은 절차가 반복됐다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S50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두 실제 요청에 같은 절차가 반복됐다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3 / 3A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Case 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서로 다른 두 성능 요청의 조사·계획·변경·검증 지시가 반복됐다. ACT3에서는 이 방법과 실행·검증 환경을 유지하는 문제를 다룬다.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“목표가 달라도 왜 같은 작업 방법을 다시 요청할까?”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S49의 절차 유지 질문을 회수하고 Harness를 작업 방법과 실행·검증 환경 설계라고 짧게 안내한다. 완성 구조를 먼저 제시하지 않는다.</a:t>
            </a:r>
          </a:p>
          <a:p xmlns:a="http://schemas.openxmlformats.org/drawingml/2006/main">
            <a:r>
              <a:t>2. (1:00–4:00) 크기 변경과 픽셀값 정규화의 기존 삽화는 기능 설명용임을 밝히고, A의 실제 요청 발췌 번역과 B의 보존 요청 요약을 세 행으로 대응한다.</a:t>
            </a:r>
          </a:p>
          <a:p xmlns:a="http://schemas.openxmlformats.org/drawingml/2006/main">
            <a:r>
              <a:t>3. (4:00–5:00) 반복 지시와 관찰 실행을 구분하고 전역 Harness 영향 때문에 Prompt 단독 효과 귀속은 PARTIAL임을 유지한다.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TRIAL-006 Actual Prompt and Repeated Workflow Elements; TRIAL-007 retained Task Prompt summary / plan/DEMO_MATRIX.md; DEC-0017, DEC-0060. A is translated excerpt; B is translated retained summary, not verbatim full prompt. Functional images are approved AI-generated teaching illustrations. No new execution.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유사한 절차가 관찰됐지만 Prompt만의 효과로 귀속하지 않는다. 개별 성능 결과는 해당 코드·입력·환경에 한정한다. 그림은 기능 설명용 개념 예시이며 Trial의 입력·출력 파일이나 최적화 전후 결과가 아니다. DEC-0062는 기존 관찰·측정 조건과 효과 미입증 경계를 유지한다.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서로 다른 작업에서도 조사하고 확인하는 순서가 반복될 수 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Task별 목표와 지속해서 재사용할 절차를 구분하고, Global Harness가 미친 영향을 고려한다. 기존 삽화의 기능 예(0–4095→0–255,2048→128)는 교육용 정규화 설명으로만 유지한다. 실제 Trial 입력/출력·성능 전후를 표시한 것이 아니다. 화면에서는 기능 목표만 짚고 지시 비교에 집중한다.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정적 기본 경로 — 기존 기능 삽화와 실제 요청 발췌/보존 요약의 세 행 대응을 유지한다. 상단에 Harness의 짧은 방향 안내만 추가하고 완성 구조는 후반에 둔다. 현재 제품이나 Demo repository를 실행하지 않는다. 새 Trial·비교 측정을 만들지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필수 실습·공개 답변 없이 화면의 핵심 관계를 따라오게 한다. 장별 기존 시간·Mode 안에서 짧은 예측 질문만 사용한다.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“테스트 명령을 안내하는 것과 여러 단계의 판단을 유지하는 것은 어떤 책임 차이가 있을까요?”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Case5분: 방향/과제1, 두 기록 대응3, 한계/전환1.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production/ACT_3.pptx / S50, production/preview/act3/S50.png 및 production/preview/full/S50.png. 실제 캡처·현재 제품 실행이 아닌 표시된 기록 요약/가정/모델의 범위로 설명한다. 최종 파일 대조는 production/evaluation/ACT_3_FLOW_REVISION.md를 따른다.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DEC-0062의 근거·19필드·운영 순서를 정렬했다. 최종 패키지/PNG/내장 Notes 대조는 production/evaluation/ACT_3_FLOW_REVISION.md에 기록한다. Windows / room / product-account / timed rehearsal: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S51 — 테스트 명령과 수행 방법의 책임을 나눈다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S51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테스트 명령과 수행 방법의 책임을 나눈다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3 / 3A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공통 안내는 명세·허용 범위·검증 시작점을 제공한다. 수행 방법은 언제 측정하고 어떤 근거로 변경·중단·비교·보고할지를 다룬다. AGENTS.md에도 절차를 둘 수 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“명령을 알고 있어도 어떤 판단을 반복해서 정해야 할까?”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S34에서 이미 AGENTS.md의 검증 지침을 사용했음을 회수한다.</a:t>
            </a:r>
          </a:p>
          <a:p xmlns:a="http://schemas.openxmlformats.org/drawingml/2006/main">
            <a:r>
              <a:t>2. (1:00–3:00) 명세·범위·테스트 시작점을 아는 것과 측정/변경/중단/보고 판단을 재사용하는 책임을 연결한다.</a:t>
            </a:r>
          </a:p>
          <a:p xmlns:a="http://schemas.openxmlformats.org/drawingml/2006/main">
            <a:r>
              <a:t>3. (3:00–4:00) AGENTS.md에도 절차를 쓸 수 있음을 명확히 말하고 다음 장에서 한 Task에 적용한다.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BEAT-019, TRIAL-006/007. TEACHING_MODEL / CONCEPTUAL.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FROZEN — 93장 구조·Story·시간·Demo 범위; TEACHING_MODEL; CONCEPTUAL. Context는 사실만이고 절차는 AGENTS.md에 쓰면 안 된다는 이분법을 제거한다. 파일 확장자가 아닌 책임과 유지 단위를 구분하는 교육용 모델이다. 다음 S52에서 normalize Task 하나에 세 책임을 적용한 뒤에만 Skill 후보로 간다. DEC-0062는 기존 관찰·측정 조건과 효과 미입증 경계를 유지한다.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안내 문서에 테스트 명령과 절차도 쓸 수 있다. 반복되는 판단을 언제 적용하고 누가 검토·갱신할지 함께 정한다.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Project Context를 늘리는 것만으로 반복 절차의 유지 문제가 해결되지는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정적 기본 경로 — 왼쪽 프로젝트 안내에서 오른쪽 판단 질문으로 연결하고 아래에 유지·검토 책임을 둔다. 파일 형식으로 분류하지 않는다. 현재 제품이나 Demo repository를 실행하지 않는다. 새 Trial·비교 측정을 만들지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필수 실습·공개 답변 없이 화면의 핵심 관계를 따라오게 한다. 장별 기존 시간·Mode 안에서 짧은 예측 질문만 사용한다.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“이 책임을 normalize 성능 조사 하나에 함께 적용해 보겠습니다.”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Lecture4분: 기존 지침 회수1, 판단 책임2, 한 Task 적용 예고1.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production/ACT_3.pptx / S51, production/preview/act3/S51.png 및 production/preview/full/S51.png. 실제 캡처·현재 제품 실행이 아닌 표시된 기록 요약/가정/모델의 범위로 설명한다. 최종 파일 대조는 production/evaluation/ACT_3_FLOW_REVISION.md를 따른다.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DEC-0062의 근거·19필드·운영 순서를 정렬했다. 최종 패키지/PNG/내장 Notes 대조는 production/evaluation/ACT_3_FLOW_REVISION.md에 기록한다. Windows / room / product-account / timed rehearsal: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S52 — 한 성능 작업에 세 책임을 적용하면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S52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한 성능 작업에 세 책임을 적용하면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3 / 3B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normalize 성능 조사라는 한 Task에서 현재 목표·허용 범위, 보존할 이미지 동작·공개 명세, 다시 쓸 측정·조사·검증 방법을 함께 적용한다.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“normalize 요청에서 목표, 프로젝트 기준, 수행 방법은 각각 무엇일까?”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첫 패널의 normalize 성능 조사 요청을 읽는다.</a:t>
            </a:r>
          </a:p>
          <a:p xmlns:a="http://schemas.openxmlformats.org/drawingml/2006/main">
            <a:r>
              <a:t>2. (1:00–2:30) 둘째 패널의 기존 이미지 동작과 공개 명세 보존이 이 작업에도 적용됨을 연결한다.</a:t>
            </a:r>
          </a:p>
          <a:p xmlns:a="http://schemas.openxmlformats.org/drawingml/2006/main">
            <a:r>
              <a:t>3. (2:30–4:00) 셋째 패널의 기준선·조사·검증·비교가 반복할 작업 방법임을 연결한다.</a:t>
            </a:r>
          </a:p>
          <a:p xmlns:a="http://schemas.openxmlformats.org/drawingml/2006/main">
            <a:r>
              <a:t>4. (4:00–5:00) 세 책임을 함께 적용한 뒤 재사용 절차를 어디서 유지할지 묻는다.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BEAT-019, TRIAL-006/007. TEACHING_MODEL / CONCEPTUAL.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세 Layer는 교육용 모델이다. Harness 전체 정의나 제품의 공식 분류로 부르지 않는다. DEC-0062는 기존 관찰·측정 조건과 효과 미입증 경계를 유지한다.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지금 원하는 일, 계속 유효한 프로젝트 정보, 반복할 작업 순서를 나눠 볼 수 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같은 위치에 저장될 수 있어도 소유권, 갱신 주기, Task별 적용은 다를 수 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정적 기본 경로 — 이번 요청 + 프로젝트 기준 + 수행 방법의 세 패널. 분류 항목을 재강의하지 않고 같은 Task를 관통한다. 현재 제품이나 Demo repository를 실행하지 않는다. 새 Trial·비교 측정을 만들지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필수 실습·공개 답변 없이 화면의 핵심 관계를 따라오게 한다. 장별 기존 시간·Mode 안에서 짧은 예측 질문만 사용한다.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“다음 성능 작업에도 같은 수행 방법이 필요하다면, 어디에서 함께 유지할까요?”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Lecture5분: 목표1, 기준1.5, 방법1.5, 재사용 질문1.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production/ACT_3.pptx / S52, production/preview/act3/S52.png 및 production/preview/full/S52.png. 실제 캡처·현재 제품 실행이 아닌 표시된 기록 요약/가정/모델의 범위로 설명한다. 최종 파일 대조는 production/evaluation/ACT_3_FLOW_REVISION.md를 따른다.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DEC-0062의 근거·19필드·운영 순서를 정렬했다. 최종 패키지/PNG/내장 Notes 대조는 production/evaluation/ACT_3_FLOW_REVISION.md에 기록한다. Windows / room / product-account / timed rehearsal: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S53 — 반복 절차의 유지 위치를 선택한다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S53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반복 절차의 유지 위치를 선택한다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3 / 3C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Task별 목표·제약·허용 범위는 요청에 남기고 반복 절차를 프로젝트가 유지할 단위로 옮기는 선택을 검토한다. 이 사례의 구현 후보는 Repository Skill이다.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“Task마다 달라지는 요청과 함께 고칠 절차를 어떻게 나눌까?”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(0:00–1:30) 함수·변경 범위·보존 조건처럼 Task마다 달라지는 부분을 짚는다.</a:t>
            </a:r>
          </a:p>
          <a:p xmlns:a="http://schemas.openxmlformats.org/drawingml/2006/main">
            <a:r>
              <a:t>2. (1:30–3:00) 기준선·조사·변경 판단·검증·비교·보고를 함께 고칠 방법으로 묶고 SKILL.md 후보를 제시한다.</a:t>
            </a:r>
          </a:p>
          <a:p xmlns:a="http://schemas.openxmlformats.org/drawingml/2006/main">
            <a:r>
              <a:t>3. (3:00–4:00) DEC-0017의 선택과 대상 제품 표면 확인을 구분하고 다음 실제 기록으로 넘어간다.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DEC-0017, BEAT-020/021, TRIAL-006/007/008. Skill 선택은 ACCEPTED; 동작 근거는 뒤의 TRIAL-008에 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여기서는 설계 질문과 후보만 소개한다. 현재 Desktop/계정에서 이용 가능하다고 보장하거나 Skill 우월성을 주장하지 않는다. DEC-0062는 기존 관찰·측정 조건과 효과 미입증 경계를 유지한다.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같은 방법을 매번 Prompt에 복사하는 대신 프로젝트가 소유하는 위치를 검토할 수 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반복 근거에 따른 workflow 소유권 선택과 실제 발견·호출 증거를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정적 기본 경로 — Task마다 달라지는 요청 → 프로젝트가 재사용할 절차. SKILL.md는 구현 후보로만 제시하고 실행 성공은 다음 장에 둔다. 현재 제품이나 Demo repository를 실행하지 않는다. 새 Trial·비교 측정을 만들지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필수 실습·공개 답변 없이 화면의 핵심 관계를 따라오게 한다. 장별 기존 시간·Mode 안에서 짧은 예측 질문만 사용한다.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“이 구조가 실제 기록에서는 어떻게 발견되고 호출됐는지 확인하겠습니다.”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Lecture4분: 현재 요청1.5, 유지할 방법1.5, 선택 범위/전환1.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production/ACT_3.pptx / S53, production/preview/act3/S53.png 및 production/preview/full/S53.png. 실제 캡처·현재 제품 실행이 아닌 표시된 기록 요약/가정/모델의 범위로 설명한다. 최종 파일 대조는 production/evaluation/ACT_3_FLOW_REVISION.md를 따른다.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DEC-0062의 근거·19필드·운영 순서를 정렬했다. 최종 패키지/PNG/내장 Notes 대조는 production/evaluation/ACT_3_FLOW_REVISION.md에 기록한다. Windows / room / product-account / timed rehearsal: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S54 — Skill의 발견과 본문 포함을 확인했다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S54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Skill의 발견과 본문 포함을 확인했다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3 / 3C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Demo 5 minutes (HYBRID planned; activation unverified)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TRIAL-008의 CLI 목록에서 이름과 설명을 발견하고, 밝기 통계 작업 목표와 함께 명시 호출했으며, 실행 trace에 경로와 전체 본문이 포함된 것을 확인했다. 별도 load UI 이벤트는 없었다.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“반복 방법을 담은 Skill이 이번 작업에 포함됐다는 것을 무엇으로 확인했을까?”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크기 변경·정규화 다음에도 재사용할 수 있는 밝기 통계(image_statistics)의 시간/할당량 조사라는 목적을 소개한다. 새로 실행한 Task가 아니다.</a:t>
            </a:r>
          </a:p>
          <a:p xmlns:a="http://schemas.openxmlformats.org/drawingml/2006/main">
            <a:r>
              <a:t>2. (1:00–2:30) /skills 목록의 이름·잘린 설명과 명시적 $graypipe-performance 호출을 설명한다. 목록에는 파일 경로가 없었다.</a:t>
            </a:r>
          </a:p>
          <a:p xmlns:a="http://schemas.openxmlformats.org/drawingml/2006/main">
            <a:r>
              <a:t>3. (2:30–4:00) 실행 trace에 이름·경로·전체 Skill 본문이 포함된 관찰을 짚는다. 별도 UI load 이벤트나 모든 지침 준수의 증명으로 표현하지 않는다.</a:t>
            </a:r>
          </a:p>
          <a:p xmlns:a="http://schemas.openxmlformats.org/drawingml/2006/main">
            <a:r>
              <a:t>4. (4:00–5:00) CLI0.154.0, 성공한 계정/모델 실행의 범위와 현재 Desktop/암묵 호출 미검증을 말한다.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TRIAL-008, DEC-0017, BEAT-021. Codex CLI 0.154.0, 명시적 호출, disposable workspace. 시각 자료는 기록의 재구성이다. DEC-0062 원문/관찰 대조: plan/DEMO_MATRIX.md TRIAL-008 Skill Discovery/Invocation/Load Evidence/Verification 및 Prompt Responsibility Shift; STATE-04:.agents/skills/graypipe-performance/SKILL.md. 경로는 selector가 아니라 실행 trace에서 확인됐다.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Product UI 스크린샷이나 현재 Codex Desktop 동작으로 표현하지 않는다. Skill path는 selector가 아니라 실행 trace에서 확인됐다. Implicit invocation은 테스트하지 않았다. DEC-0062는 기존 관찰·측정 조건과 효과 미입증 경계를 유지한다.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기록된 CLI 실행에서 Skill을 목록으로 찾고, 호출 표기를 입력해 사용했다.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Selector의 발견 증거와 실행 context의 본문 증거를 구별한다. 다른 surface·계정에 일반화하지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정적 기본 경로 — 세 관찰 행: /skills의 이름·설명 / 명시 호출+밝기 통계 목표 / 실행 trace의 경로·본문. 기록 요약임을 표시한다. 현재 제품이나 Demo repository를 실행하지 않는다. Live/Hybrid는 대상 표면·계정·권한·fallback 확인 전 비활성이다.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필수 실습·공개 답변 없이 화면의 핵심 관계를 따라오게 한다. 장별 기존 시간·Mode 안에서 짧은 예측 질문만 사용한다.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“본문이 포함됐다는 사실과, 지침에 대응하는 작업 기록을 다음 장에서 구분해 보겠습니다.”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Demo5분(정적 기록 기본): 목적1, 발견·호출1.5, 본문 근거1.5, 범위/전환1. 실제 Live/Hybrid는 활성화 전 미검증.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production/ACT_3.pptx / S54, production/preview/act3/S54.png 및 production/preview/full/S54.png. 실제 캡처·현재 제품 실행이 아닌 표시된 기록 요약/가정/모델의 범위로 설명한다. 최종 파일 대조는 production/evaluation/ACT_3_FLOW_REVISION.md를 따른다.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DEC-0062의 근거·19필드·운영 순서를 정렬했다. 최종 패키지/PNG/내장 Notes 대조는 production/evaluation/ACT_3_FLOW_REVISION.md에 기록한다. Windows / room / product-account / timed rehearsal: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S55 — Skill의 지침과 관찰된 작업을 대응한다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S55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Skill의 지침과 관찰된 작업을 대응한다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3 / 3C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6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Demo 3 minutes (HYBRID planned; activation unverified) + Case 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TRIAL-007의 긴 요청이 담던 공통 절차를 TRIAL-008은 명시 호출한 Skill에 두었다. 기준선·계획·같은 조건의 검증 지침과 보존된 관찰 기록을 대응하되 Skill 단독 인과성을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“Skill에 적힌 절차와 실제로 기록된 작업은 어떻게 대응됐을까?”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 / Demo) normalize와 밝기 통계는 다른 Task이며 성능 우열 비교가 아님을 밝힌다. TRIAL-007은 긴 요청, TRIAL-008은 Task 목표·6항목 보존·변경 범위+Skill 호출이었다.</a:t>
            </a:r>
          </a:p>
          <a:p xmlns:a="http://schemas.openxmlformats.org/drawingml/2006/main">
            <a:r>
              <a:t>2. (1:00–3:00 / Demo) 기준선/계획/동일 조건 검증의 실제 Skill 발췌와 보존된 관찰 요약을 행별로 대응한다. 실제 CLI 화면이나 원문 실행 로그가 아닌 표임을 밝힌다.</a:t>
            </a:r>
          </a:p>
          <a:p xmlns:a="http://schemas.openxmlformats.org/drawingml/2006/main">
            <a:r>
              <a:t>3. (3:00–5:00 / Case) 본문 포함과 각 작업 관찰이 서로 다른 근거임을 짚는다. visible plan은 Skill의 when-task/interface-calls-for 조건과 실제 요청에 맞는 범위다.</a:t>
            </a:r>
          </a:p>
          <a:p xmlns:a="http://schemas.openxmlformats.org/drawingml/2006/main">
            <a:r>
              <a:t>4. (5:00–6:00 / Case) 절차의 책임 이동을 회수하고 모든 지침 준수·단독 인과성·토큰 절약·속도 향상으로 확대하지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TRIAL-007/008, DEC-0017, BEAT-021. 관찰된 CLI 기록을 요약한 비교. DEC-0062 원문/관찰 대조: plan/DEMO_MATRIX.md TRIAL-008 Skill Discovery/Invocation/Load Evidence/Verification 및 Prompt Responsibility Shift; STATE-04:.agents/skills/graypipe-performance/SKILL.md. 경로는 selector가 아니라 실행 trace에서 확인됐다. 발췌의 전체 조건: State a concise plan before making edits when the task or working interface calls for a visible plan. / Repeat the same benchmark with the same input and settings, check its correctness guard, run a suitable user-facing smoke check when relevant, inspect git diff --check, and review the final diff for scope and unintended changes. 표는 생략부호가 있는 원문 발췌와 관찰 요약이며 raw log가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Skill 우월성, 속도 향상, token/character 절감은 입증되지 않았다. Prompt 구조와 다른 전역 요인의 인과 효과를 따로 분리하지 않는다. DEC-0062는 기존 관찰·측정 조건과 효과 미입증 경계를 유지한다.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반복되는 절차를 저장한 위치를 바꿔도 각 작업의 목표는 Prompt에 남는다.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절차의 재사용 설계와 Prompt 길이·효율의 측정 주장을 혼동하지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정적 기본 경로 — Native 두 열 표: Skill 원문 세 발췌 ↔ TRIAL-008 기준선/계획/검증 관찰 요약. 다른 목표·Task 제약과 책임 이동을 상하 문구로 유지한다. 현재 제품이나 Demo repository를 실행하지 않는다. Live/Hybrid는 대상 표면·계정·권한·fallback 확인 전 비활성이다.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필수 실습·공개 답변 없이 화면의 핵심 관계를 따라오게 한다. 장별 기존 시간·Mode 안에서 짧은 예측 질문만 사용한다.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“재사용할 지침을 정했어도, 어떤 구현이 맞는지는 이번 근거로 판단해야 합니다.”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Demo3분 + Case3분. 요청 구조1, 원문/관찰 대응2, 근거 구분2, 한계/전환1.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production/ACT_3.pptx / S55, production/preview/act3/S55.png 및 production/preview/full/S55.png. 실제 캡처·현재 제품 실행이 아닌 표시된 기록 요약/가정/모델의 범위로 설명한다. 최종 파일 대조는 production/evaluation/ACT_3_FLOW_REVISION.md를 따른다.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DEC-0062의 근거·19필드·운영 순서를 정렬했다. 최종 패키지/PNG/내장 Notes 대조는 production/evaluation/ACT_3_FLOW_REVISION.md에 기록한다. Windows / room / product-account / timed rehearsal: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S56 — 절차는 재사용하고, 답은 근거로 정한다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S56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절차는 재사용하고, 답은 근거로 정한다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3 / 3D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Skill은 편집 전 재현 가능한 기준선, 검증·비교와 변경 보류 조건을 담는다. 알고리즘·측정값·trade-off는 Task별 근거로 결정하고 정답이나 Trial 수치를 미리 넣지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“Skill에 고정할 방법과 이번 Task에서 정할 답은 무엇일까?”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Skill에 둔 재현 가능한 기준선·검증·비교·변경 보류 방법을 가리킨다. 원문 Establish a reproducible baseline before editing.의 뜻을 보존한다.</a:t>
            </a:r>
          </a:p>
          <a:p xmlns:a="http://schemas.openxmlformats.org/drawingml/2006/main">
            <a:r>
              <a:t>2. (1:00–2:00) 알고리즘·실제 측정값·trade-off는 이번 Task에서 정할 답임을 설명한다.</a:t>
            </a:r>
          </a:p>
          <a:p xmlns:a="http://schemas.openxmlformats.org/drawingml/2006/main">
            <a:r>
              <a:t>3. (2:00–3:00) no-change 문장을 읽고 변경이 정당화되지 않으면 보류도 유효한 판단임을 말한 뒤 후보 선택으로 넘어간다.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TRIAL-008, `graypipe-performance` Skill, DEC-0017, BEAT-022. OBSERVED_PRODUCT / TEACHING_MODEL. 보존 원문: Establish a reproducible baseline before editing. / A measured result that does not justify a change is a valid no-change conclusion.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절차 재사용은 관찰됐지만 Skill이 더 나은 최적화 답을 제공한다는 근거는 아니다. Workflow는 task 결과를 고정하지 않는다. DEC-0062는 기존 관찰·측정 조건과 효과 미입증 경계를 유지한다.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작업 순서는 재사용할 수 있지만, 어떤 답이 맞는지는 매번 확인해야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Input, runtime, benchmark, trade-off를 procedure definition과 섞지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정적 기본 경로 — Skill에 둘 방법과 이번에 정할 답을 두 패널로 대조한다. no-change 지침 원문을 별도로 발췌한다. 현재 제품이나 Demo repository를 실행하지 않는다. 새 Trial·비교 측정을 만들지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필수 실습·공개 답변 없이 화면의 핵심 관계를 따라오게 한다. 장별 기존 시간·Mode 안에서 짧은 예측 질문만 사용한다.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“그렇다면 밝기 통계의 구현 후보는 어떤 근거로 선택했을까요?”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Lecture3분: 방법1, 이번 판단1, no-change/전환1.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production/ACT_3.pptx / S56, production/preview/act3/S56.png 및 production/preview/full/S56.png. 실제 캡처·현재 제품 실행이 아닌 표시된 기록 요약/가정/모델의 범위로 설명한다. 최종 파일 대조는 production/evaluation/ACT_3_FLOW_REVISION.md를 따른다.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DEC-0062의 근거·19필드·운영 순서를 정렬했다. 최종 패키지/PNG/내장 Notes 대조는 production/evaluation/ACT_3_FLOW_REVISION.md에 기록한다. Windows / room / product-account / timed rehearsal: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S57 — 후보는 시간·할당량·동작을 함께 보고 고른다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S57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후보는 시간·할당량·동작을 함께 보고 고른다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3 / 3D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Case 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TRIAL-008에서는 결과 6항목을 보존한 후보들의 실행시간과 traced allocation을 함께 봤다. 느린 수동 순회는 제외하고 낮은 할당량과 더 나은 실행시간의 행 단위 reduction을 선택했다.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“메모리를 적게 쓰는 후보라면 곧바로 선택해도 될까?”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밝기 통계의 후보 선택 단계이며 다음 장의 제품 상태 전후 benchmark와 별도임을 밝힌다.</a:t>
            </a:r>
          </a:p>
          <a:p xmlns:a="http://schemas.openxmlformats.org/drawingml/2006/main">
            <a:r>
              <a:t>2. (1:00–3:00) 같은 결과6항목을 지킨 두 후보의 시간/할당량 trade-off를 정성적으로 비교한다. 수동 순회는 낮은 할당량만으로 선택하지 않았다.</a:t>
            </a:r>
          </a:p>
          <a:p xmlns:a="http://schemas.openxmlformats.org/drawingml/2006/main">
            <a:r>
              <a:t>3. (3:00–4:00) 행 단위 built-in reduction 후보를 선택한 근거를 말하되 알고리즘 구현 설명으로 확장하지 않는다.</a:t>
            </a:r>
          </a:p>
          <a:p xmlns:a="http://schemas.openxmlformats.org/drawingml/2006/main">
            <a:r>
              <a:t>4. (4:00–5:00) 합성 입력·환경 범위와 Skill이 정답을 공급한 것이 아님을 유지한다.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TRIAL-008 candidate comparison; `image_statistics`; synthetic 1024×768 image, CPython 3.9.6 / macOS 26.6.2 arm64; same six-field correctness guard.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정확한 candidate 수치는 표시하지 않는다. Candidate 결과를 S58의 formal state benchmark와 섞지 않는다. Skill이 algorithm이나 결과를 만들었다고 하지 않는다. DEC-0062는 기존 관찰·측정 조건과 효과 미입증 경계를 유지한다.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적은 메모리만 보고 선택하지 않고 같은 조건에서 실행시간과 정확성을 함께 확인했다.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Candidate comparison과 named product-state before/after 측정은 Evidence 단계가 다르다.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정적 기본 경로 — 후보 두 행의 정성 비교와 같은 결과6항목 확인. 정확한 후보 수치는 추가하지 않는다. 현재 제품이나 Demo repository를 실행하지 않는다. 새 Trial·비교 측정을 만들지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필수 실습·공개 답변 없이 화면의 핵심 관계를 따라오게 한다. 장별 기존 시간·Mode 안에서 짧은 예측 질문만 사용한다.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“후보 선택 기록을 남기고, 실제 제품 상태에 반영한 변경을 별도의 기준에서 확인하겠습니다.”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Case5분: 단계/범위1, 두 후보2, 선택1, 한계/전환1.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production/ACT_3.pptx / S57, production/preview/act3/S57.png 및 production/preview/full/S57.png. 실제 캡처·현재 제품 실행이 아닌 표시된 기록 요약/가정/모델의 범위로 설명한다. 최종 파일 대조는 production/evaluation/ACT_3_FLOW_REVISION.md를 따른다.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DEC-0062의 근거·19필드·운영 순서를 정렬했다. 최종 패키지/PNG/내장 Notes 대조는 production/evaluation/ACT_3_FLOW_REVISION.md에 기록한다. Windows / room / product-account / timed rehearsal: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S58 — 선택한 변경을 같은 조건에서 검증했다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S58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선택한 변경을 같은 조건에서 검증했다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3 / 3D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Case 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STATE-04→STATE-04-PERF 밝기 통계 변경은 기록된 입력·환경에서 동작 검사와 같은 조건의 측정을 거쳤다. 기존 수치와 검사 결과를 유지하고 Harness/Skill의 단독 인과효과와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“선택한 코드 변경의 동작과 성능을 어떤 근거로 확인했을까?”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앞 장의 후보 비교와 정식 STATE-04 기준에서 반영한 제품 변경의 측정을 구분한다.</a:t>
            </a:r>
          </a:p>
          <a:p xmlns:a="http://schemas.openxmlformats.org/drawingml/2006/main">
            <a:r>
              <a:t>2. (1:00–2:30) 기존0축 native chart의 중앙값15.468→10.769ms/call을 동일 입력·상태별7회 측정으로 설명한다.</a:t>
            </a:r>
          </a:p>
          <a:p xmlns:a="http://schemas.openxmlformats.org/drawingml/2006/main">
            <a:r>
              <a:t>3. (2:30–3:30) 별도 tracemalloc 호출의6,675,804→380bytes와 임시 평탄화 리스트 제거를 연결하되 RSS나 전체 메모리 절감으로 확대하지 않는다.</a:t>
            </a:r>
          </a:p>
          <a:p xmlns:a="http://schemas.openxmlformats.org/drawingml/2006/main">
            <a:r>
              <a:t>4. (3:30–5:00) 함수 테스트1/1, 전체11/11, CLI, 입력·결과6항목 확인과 기록된 범위를 설명한다. Harness/Skill 단독 원인이 아니라 코드 변경 결과다.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`plan/DEMO_MATRIX.md` STEP 07 §§191–200, STATE-04 → STATE-04-PERF; `plan/CLAIM_FREEZE.md` §8; DEC-0019. Baseline `822f1c12c5f602d934a2fd29e48f05bf498b4bfa`, result `6153b81c0187dd7d82c88bd1817fb683c98eb431`; `image_statistics`; deterministic synthetic 1024×768, 786,432 pixels, max255; CPython3.9.6 / macOS26.6.2 arm64; same input fingerprint, seven one-call samples per state. Median 15.468→10.769 ms/call; separate tracemalloc call peak 6,675,804→380 bytes; six-field result guard, focused1/1, full11/11, CLI smoke PASS. TRIAL-008 is candidate history only.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숫자는 이 입력, 코드 경로, host, runtime, 측정 조건에 한정한다. `tracemalloc`은 Python allocation peak이지 RSS가 아니다. Harness나 Skill이 성능 향상을 일으켰다고 하지 않는다. DEC-0062는 기존 관찰·측정 조건과 효과 미입증 경계를 유지한다.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바뀐 코드가 맞는지 Test와 같은 benchmark로 확인한 기록이 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Observed product change와 시스템 구성요소의 단독 인과를 분리한다.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정적 기본 경로 — 기존 native 실행시간 chart와 Python 할당 피크·검증 행을 유지하고 제목/요약을 한국어 판단 중심으로 정렬한다. 현재 제품이나 Demo repository를 실행하지 않는다. 새 Trial·비교 측정을 만들지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필수 실습·공개 답변 없이 화면의 핵심 관계를 따라오게 한다. 장별 기존 시간·Mode 안에서 짧은 예측 질문만 사용한다.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“이 작업에 더 필요했던 구조도 있었을까요? 역할을 나누는 선택부터 검토하겠습니다.”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Case5분: 측정 단계1, 실행시간1.5, 할당량1, 동작 확인·한계·전환1.5.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production/ACT_3.pptx / S58, production/preview/act3/S58.png 및 production/preview/full/S58.png. 실제 캡처·현재 제품 실행이 아닌 표시된 기록 요약/가정/모델의 범위로 설명한다. 최종 파일 대조는 production/evaluation/ACT_3_FLOW_REVISION.md를 따른다.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DEC-0062의 근거·19필드·운영 순서를 정렬했다. 최종 패키지/PNG/내장 Notes 대조는 production/evaluation/ACT_3_FLOW_REVISION.md에 기록한다. Windows / room / product-account / timed rehearsal: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S59 — 독립 조사를 나누면 무엇이 달라질까?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S59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독립 조사를 나누면 무엇이 달라질까?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3 / 3E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Demo 3 minutes (VISUAL) + Q&amp;A 1 minute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독립 조사와 별도 Context의 가치가 있고 결과 형식·전달 지점·통합 책임을 정할 수 있다면 역할 분리를 검토한다. C++ Vision 사례는 교육용 가정이며 조정·중복·전달·통합 비용을 함께 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“한 Agent에 모인 조사 중 서로 기다리지 않아도 되는 부분은 무엇일까?”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 / Demo) 화면은 실제 Demo가 아닌 C++ Vision 독립 조사 가정임을 먼저 밝힌다. Subagent는 역할별로 필요한 Context를 나눠 조사하는 방식으로 설명한다.</a:t>
            </a:r>
          </a:p>
          <a:p xmlns:a="http://schemas.openxmlformats.org/drawingml/2006/main">
            <a:r>
              <a:t>2. (1:00–3:00 / Demo) 성능 경로·빌드·테스트 조사가 서로 기다리지 않아도 된다는 가정과 주 Agent의 결과 통합을 연결한다. 결과 형식·전달 지점·책임, 조정·중복·Context 전달·통합 비용을 설명한다.</a:t>
            </a:r>
          </a:p>
          <a:p xmlns:a="http://schemas.openxmlformats.org/drawingml/2006/main">
            <a:r>
              <a:t>3. (3:00–4:00 / Q&amp;A) 어떤 조사들이 실제로 독립적인지 선택 질문을 받는다. 답변은 강제하지 않고 무질문이면 독립성 확인을 회수한다.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TEACHING_MODEL / CONCEPTUAL — 기존 S60의 C++ 독립 조사 가정과 BEAT-023–025 / INV-MATURITY-007. DEC-0018의 실제 보류 판단은 S60으로 옮겨 유지한다. 새 Subagent 실행은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CONCEPTUAL CASE / TEACHING MODEL — 기존 C++ 역할 분리 가정을 먼저 설명한다. 실제 Subagent 실행·이득·현재 제품 기능의 관찰이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역할별 Agent가 필요한 Context로 독립 조사를 맡고 주 Agent가 결과를 모으는 방식을 가정해 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Context 격리·역할 독립성이 주는 가치와 조정·중복 조사·Context 전달·결과 통합 비용을 함께 판단한다. 병렬 이득은 측정하지 않았다.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CONTEXTUAL — 기존 C++ 성능 경로·빌드 환경·테스트 구조의 독립 조사 가정이다. 실제 C++ 구현이나 Subagent 실행은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정적 기본 경로 — 명시적 CONCEPTUAL C++ 성능/빌드/테스트 독립 조사 세 패널 → 주 Agent의 통합·최종 검토. 미측정 이득을 표시하지 않는다. 현재 제품이나 Demo repository를 실행하지 않는다. 새 Trial·비교 측정을 만들지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필수 실습·공개 답변 없이 화면의 핵심 관계를 따라오게 한다. Q&amp;A는 무질문 예비 질문과 cutoff를 적용한다.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“그 기준을 방금 밝기 통계 작업에 적용하면, 나누는 것이 필요했을까요?”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Demo3분(VISUAL 가정) → Q&amp;A1분. 실제 실행·병렬 이득 측정·Live 사용법을 추가하지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production/ACT_3.pptx / S59, production/preview/act3/S59.png 및 production/preview/full/S59.png. 실제 캡처·현재 제품 실행이 아닌 표시된 기록 요약/가정/모델의 범위로 설명한다. 최종 파일 대조는 production/evaluation/ACT_3_FLOW_REVISION.md를 따른다.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DEC-0062의 근거·19필드·운영 순서를 정렬했다. 최종 패키지/PNG/내장 Notes 대조는 production/evaluation/ACT_3_FLOW_REVISION.md에 기록한다. Windows / room / product-account / timed rehearsal: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S60 — 이번 작업은 나눌 근거가 충분했을까?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S60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이번 작업은 나눌 근거가 충분했을까?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3 / 3E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1 minute + Demo 2 minutes (VISUAL) + Q&amp;A 1 minute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현재 작업은 같은 성능 경로·명세를 공유하고 조사→변경→검증의 의존성이 높았다. 별도 Context 이득과 결과 통합 비용을 검토한 결과 Subagent를 추가하지 않았다.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“밝기 통계 작업의 조사·변경·검증을 실제로 독립시킬 수 있었을까?”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 / Lecture) 앞 장의 독립성·필요 Context·전달 형식·통합 책임 기준을 회수한다.</a:t>
            </a:r>
          </a:p>
          <a:p xmlns:a="http://schemas.openxmlformats.org/drawingml/2006/main">
            <a:r>
              <a:t>2. (1:00–3:00 / Demo) 현재 작업의 조사→변경→검증이 같은 성능 경로와 명세를 공유하고 앞 결과에 의존함을 도식으로 설명한다. DEC-0018 판단을 읽는 정적 visual이며 Agent 실행이 아니다.</a:t>
            </a:r>
          </a:p>
          <a:p xmlns:a="http://schemas.openxmlformats.org/drawingml/2006/main">
            <a:r>
              <a:t>3. (3:00–4:00 / Q&amp;A) 현재 추가하지 않았다는 결론과 일반적으로 불필요하다는 주장을 구분한다. 질문이 없으면 조정·중복·전달·통합 비용을 짧게 회수한다.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DEC-0018, STATE-04/STATE-04-PERF 작업 복잡도 점검, BEAT-023–025. 기존 S59의 실제 추가하지 않음 판단을 보존한다. OBSERVED_PRODUCT / TEACHING_MODEL; Subagent 실행 결과는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FROZEN WITH SCOPE / TEACHING MODEL — DEC-0018 현재 Task 감사의 판단이며 실제 Subagent Trial이 아니다. 일반적 불필요성이나 기능 부재를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앞 조사 결과가 있어야 다음 변경과 검증이 가능한 작업에서는 나누는 비용도 검토한다.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NOT JUSTIFIED YET는 현재 Task의 판단이다. 일반적인 기능 가치나 사용할 수 없음에 대한 결론이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S59의 C++ 가정과 현재 Python Task를 같은 관찰로 섞지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정적 기본 경로 — 조사→변경→검증의 의존 관계와 독립성/Context/통합 비용, 현재 추가하지 않았다는 판단을 분리한다. 현재 제품이나 Demo repository를 실행하지 않는다. 새 Trial·비교 측정을 만들지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필수 실습·공개 답변 없이 화면의 핵심 관계를 따라오게 한다. Q&amp;A는 무질문 예비 질문과 cutoff를 적용한다.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“역할 분리의 필요성을 판단했습니다. 다음 작업에 별도로 남길 지식도 있었을까요?”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Lecture1분 → Demo2분(VISUAL 현재 판단) → Q&amp;A1분.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production/ACT_3.pptx / S60, production/preview/act3/S60.png 및 production/preview/full/S60.png. 실제 캡처·현재 제품 실행이 아닌 표시된 기록 요약/가정/모델의 범위로 설명한다. 최종 파일 대조는 production/evaluation/ACT_3_FLOW_REVISION.md를 따른다.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DEC-0062의 근거·19필드·운영 순서를 정렬했다. 최종 패키지/PNG/내장 Notes 대조는 production/evaluation/ACT_3_FLOW_REVISION.md에 기록한다. Windows / room / product-account / timed rehearsal: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S61 — 다음 작업에서도 다시 찾을 지식인가?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S61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다음 작업에서도 다시 찾을 지식인가?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3 / 3F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Demo 2 minutes (VISUAL) + Case 2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현재 Task에 필요한 Context와 다음 Task에도 보존할 가치가 있는 지식을 구분한다. 출처·적용 범위·갱신 조건을 관리하고 기존 문서에 있으면 그 출처를 참조한다.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“조사로 얻은 지식이 다음 작업에도 필요하다면 무엇을 남겨야 할까?”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 / Demo) 조사에서 재현 조건·주의점을 발견했고 다음 Task에도 필요하다는 교육용 가정임을 밝힌다. 실제 재발견·Memory 사용 기록이 아니다.</a:t>
            </a:r>
          </a:p>
          <a:p xmlns:a="http://schemas.openxmlformats.org/drawingml/2006/main">
            <a:r>
              <a:t>2. (1:00–2:00 / Demo) Task A→보존 가치 판단→Task B의 관계를 따라가며 내용·출처·적용 범위·다시 확인할 조건을 표시한다.</a:t>
            </a:r>
          </a:p>
          <a:p xmlns:a="http://schemas.openxmlformats.org/drawingml/2006/main">
            <a:r>
              <a:t>3. (2:00–4:00 / Case) Context는 지금 필요한 정보, Memory는 다음 작업에도 남길지 판단하는 지식이라는 구분을 설명한다. 원래 문서에 있으면 출처를 참조하며 다음 작업에서도 현재 명세와 대조한다. 제품 자동 저장·회수·효과를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CONCEPTUAL / TEACHING_MODEL — MASTER_PLAN.md §§5.6 및 INV-MATURITY-008의 작업 간 지식 관리 문제를 설명하는 가정; BEAT-026–028. 기존 S61 지식 감사의 실제 결론은 S62로 옮겨 유지한다. 제품 Memory 관찰은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CONCEPTUAL CASE / TEACHING MODEL — 작업 간 지식 관리 가정이다. 현재 Demo에 Memory를 추가했거나 제품이 자동 기억·회수한다는 주장이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지금 Task에 넣을 정보와 다음 Task에도 남길지 판단할 지식은 질문이 다르다.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보존 가치가 있어도 출처·범위·현재성·무효화 조건을 관리해야 한다. 기존 공식 문서가 있으면 그것을 참조하며 모든 지식을 별도 Memory로 복제하지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정적 기본 경로 — CONCEPTUAL Task A 조사 → 출처·범위·갱신 조건과 함께 보존 가치 판단 → Task B의 현재 기준 대조. 자동 저장/정확성 보장 없이 표현한다. 현재 제품이나 Demo repository를 실행하지 않는다. 새 Trial·비교 측정을 만들지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필수 실습·공개 답변 없이 화면의 핵심 관계를 따라오게 한다. 장별 기존 시간·Mode 안에서 짧은 예측 질문만 사용한다.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“이제 원래 출처와 보존 기준을 놓고, 현재 Demo에 별도 후보가 있었는지 보겠습니다.”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Demo2분(VISUAL 가정) → Case2분. 새 Memory·실제 세션 재발견 실험은 만들지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production/ACT_3.pptx / S61, production/preview/act3/S61.png 및 production/preview/full/S61.png. 실제 캡처·현재 제품 실행이 아닌 표시된 기록 요약/가정/모델의 범위로 설명한다. 최종 파일 대조는 production/evaluation/ACT_3_FLOW_REVISION.md를 따른다.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DEC-0062의 근거·19필드·운영 순서를 정렬했다. 최종 패키지/PNG/내장 Notes 대조는 production/evaluation/ACT_3_FLOW_REVISION.md에 기록한다. Windows / room / product-account / timed rehearsal: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S62 — 남길지, 원래 출처를 참조할지 판단한다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S62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남길지, 원래 출처를 참조할지 판단한다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3 / 3F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재발견 비용·다음 작업 재사용·출처와 적용 범위·갱신 조건을 보고 기존 출처를 먼저 확인한다. 현재 계약/구조/절차/측정 기록은 각각 근거가 있어 별도 Memory 후보를 찾지 못했다.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“현재 Demo 지식은 이미 어디에 있고 별도 보존할 가치가 있었을까?”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재발견 비용, 다음 작업의 재사용, 출처·범위, 갱신·무효화 조건 네 기준을 한 번씩 설명한다. 프로젝트 간 재사용을 필수로 요구하지 않는다.</a:t>
            </a:r>
          </a:p>
          <a:p xmlns:a="http://schemas.openxmlformats.org/drawingml/2006/main">
            <a:r>
              <a:t>2. (1:00–3:00) crop 명세→코드/문서, 모듈 구조→architecture, 수행 절차→Skill, 측정값→날짜가 있는 Trial/Git을 대응한다. 원래 출처와 일회성 관찰의 차이를 짚는다.</a:t>
            </a:r>
          </a:p>
          <a:p xmlns:a="http://schemas.openxmlformats.org/drawingml/2006/main">
            <a:r>
              <a:t>3. (3:00–4:00) 현재 별도 Memory 후보를 찾지 못했고 추가하지 않았다는 판단을 회수한다. 기능 사용 수가 성숙도 점수가 아님을 유지한다.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DEC-0018 / DEMO-08 knowledge audit / BEAT-026–028 / plan/DEMO_MATRIX.md의 현재 지식 출처 감사. 기존 S61의 계약·명령·구조·절차·측정 기록 분류와 S62의 네 기준을 보존한다. OBSERVED_PRODUCT / TEACHING_MODEL.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FROZEN WITH SCOPE / TEACHING MODEL — DEC-0018 현재 Demo의 지식 감사와 보존 기준이다. 제품 Memory의 범위·효과나 일반적 불필요성을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명세는 원래 명세 문서, 절차는 Skill, 한 번의 측정은 날짜가 있는 기록에서 먼저 찾는다. 별도 보존이 필요한 후보가 있는지는 따로 판단한다.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같은 프로젝트의 다음 Task/세션에 재사용할 수 있어도 후보가 될 수 있다. 프로젝트 사이 재사용은 필수 조건이 아니다. 출처·적용 범위·신선도·갱신/무효화 조건과 유지 비용을 관리한다.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정적 기본 경로 — 네 판단 기준 요약 위에 현재 지식4종→원래 출처를 대응하고 별도 Memory를 추가하지 않았다는 결론을 둔다. 현재 제품이나 Demo repository를 실행하지 않는다. 새 Trial·비교 측정을 만들지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필수 실습·공개 답변 없이 화면의 핵심 관계를 따라오게 한다. 장별 기존 시간·Mode 안에서 짧은 예측 질문만 사용한다.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“이 선택들을 모으면 이번 문제를 위해 실제로 사용한 구조는 무엇이었을까요?”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Lecture4분: 기준1, 현재 출처 감사2, 판단·전환1.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production/ACT_3.pptx / S62, production/preview/act3/S62.png 및 production/preview/full/S62.png. 실제 캡처·현재 제품 실행이 아닌 표시된 기록 요약/가정/모델의 범위로 설명한다. 최종 파일 대조는 production/evaluation/ACT_3_FLOW_REVISION.md를 따른다.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DEC-0062의 근거·19필드·운영 순서를 정렬했다. 최종 패키지/PNG/내장 Notes 대조는 production/evaluation/ACT_3_FLOW_REVISION.md에 기록한다. Windows / room / product-account / timed rehearsal: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S63 — 이번 사례에서 실제로 사용한 구조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S63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이번 사례에서 실제로 사용한 구조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3 / 3G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Demo 3 minutes (CAPTURED)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밝기 통계 목표/범위, AGENTS.md와 상세 문서, 재사용 Skill, 테스트·benchmark·실행 조건이 각각 목표·지식·방법·완료 근거를 맡았다. Subagent와 별도 Memory는 추가하지 않았다.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“이번 문제에서 어떤 책임을 어떤 기존 자료와 도구가 맡았을까?”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밝기 통계 요청과 AGENTS.md/상세 문서의 역할을 실제 사례로 회수한다.</a:t>
            </a:r>
          </a:p>
          <a:p xmlns:a="http://schemas.openxmlformats.org/drawingml/2006/main">
            <a:r>
              <a:t>2. (1:00–2:00) 재사용 Skill과 테스트/benchmark/실행 조건이 수행 방법과 완료 판단 근거를 맡았음을 연결한다.</a:t>
            </a:r>
          </a:p>
          <a:p xmlns:a="http://schemas.openxmlformats.org/drawingml/2006/main">
            <a:r>
              <a:t>3. (2:00–3:00) 추가하지 않은 Subagent/Memory와 필요한 구성은 문제마다 달라진다는 한계를 말하고 다음 전체 관계도로 넘긴다.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STATE-00 → STATE-04-PERF, DEC-0018, INV-VERIFY-001, DEMO-09. OBSERVED_PRODUCT / TEACHING_MODEL.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현재 프로젝트의 구성 감사다. 일반적인 최적 기능 수나 Harness가 성능을 개선한 인과 claim이 아니다. DEC-0062는 기존 관찰·측정 조건과 효과 미입증 경계를 유지한다.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Harness는 기능을 많이 모으는 일이 아니라 현재 문제에 필요한 작업 환경을 마련하는 일이다.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“Minimum Effective”는 신뢰성 있게 해결할 조건을 충족하는 문제별 heuristic이며 숫자 기준이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S66에서 프로젝트별 명세·빌드·검증·성능 절차로 대응한다. Python Skill이나 도구를 그대로 복사하지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정적 기본 경로 — 현재 목표/참고할 정보/반복할 방법/완료 근거의 네 책임을 실제 사용한 구성에 대응한다. 전체 구조 정의는 다음 장에서 연결한다. 현재 제품이나 Demo repository를 실행하지 않는다. 새 Trial·비교 측정을 만들지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필수 실습·공개 답변 없이 화면의 핵심 관계를 따라오게 한다. 장별 기존 시간·Mode 안에서 짧은 예측 질문만 사용한다.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“이 파일과 도구들이 어떤 관계로 작동하는지 전체 작업 환경으로 묶겠습니다.”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Demo3분(CAPTURED 정적 구성 요약): 목표/정보1, 절차/근거1, 선택 범위/전환1.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production/ACT_3.pptx / S63, production/preview/act3/S63.png 및 production/preview/full/S63.png. 실제 캡처·현재 제품 실행이 아닌 표시된 기록 요약/가정/모델의 범위로 설명한다. 최종 파일 대조는 production/evaluation/ACT_3_FLOW_REVISION.md를 따른다.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DEC-0062의 근거·19필드·운영 순서를 정렬했다. 최종 패키지/PNG/내장 Notes 대조는 production/evaluation/ACT_3_FLOW_REVISION.md에 기록한다. Windows / room / product-account / timed rehearsal: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S64 — 이 구성이 함께 작동하는 것이 Harness다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S64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이 구성이 함께 작동하는 것이 Harness다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3 / 3G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6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4 minutes + Demo 2 minutes (CAPTURED)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이 과정에서 Harness는 Agent가 신뢰성 있게 일하도록 목표·Context·재사용 절차·실행 도구·검증·검토 조건을 연결한 작업 환경과 방법의 운영 모델이다.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“목표, Agent의 수행 방법, 완료 근거는 어떤 환경 안에서 연결될까?”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(0:00–2:00 / Lecture) 전체 관계도는 이 과정의 운영 모델임을 밝히고 개발자가 정하는 목표·범위에서 Agent 수행과 완료 근거·검토로 읽는다.</a:t>
            </a:r>
          </a:p>
          <a:p xmlns:a="http://schemas.openxmlformats.org/drawingml/2006/main">
            <a:r>
              <a:t>2. (2:00–4:00 / Lecture) Context와 재사용 절차, 실행 도구·입력·권한·측정 환경이 관계를 지탱함을 설명한다. 새 공식 taxonomy나 필수 기능 목록이 아니다.</a:t>
            </a:r>
          </a:p>
          <a:p xmlns:a="http://schemas.openxmlformats.org/drawingml/2006/main">
            <a:r>
              <a:t>3. (4:00–6:00 / Demo) 아래 관찰 구성 줄에서 AGENTS.md/docs/Skill/Tests/Benchmark를 회수한다. 큰 모델의 모든 조건을 실제로 감사했다는 뜻이 아님을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DEC-0023, BEAT-035/036, STATE-04-PERF. OBSERVED_PRODUCT / TEACHING_MODEL.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과정의 operational definition이다. 공식 OpenAI 정의나 보편적 industry standard로 제시하지 않는다. DEC-0062는 기존 관찰·측정 조건과 효과 미입증 경계를 유지한다.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Agent가 알 정보뿐 아니라 일하는 절차와 결과를 확인하는 환경도 함께 설계한다.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Harness는 특정 파일이나 기능 목록이 아니라 Project별 신뢰성 문제를 해결하는 system model이다.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Slide 66에서 C++ Project 환경에 같은 Engineering Pattern을 연결한다.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정적 기본 경로 — 작업 환경 프레임 안 목표/허용 범위→Agent 수행→완료 근거/검토와 Context·절차·도구·입력·권한·측정 조건을 연결한다. 관찰 구성은 별도 아래 행에 둔다. 현재 제품이나 Demo repository를 실행하지 않는다. 새 Trial·비교 측정을 만들지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필수 실습·공개 답변 없이 화면의 핵심 관계를 따라오게 한다. 장별 기존 시간·Mode 안에서 짧은 예측 질문만 사용한다.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“그 실행 조건이 Repository 파일만으로 모두 정해질까요?”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Lecture4분 → Demo2분(CAPTURED 실제 구성 회수). 완성 구조는 이 후반 장에서만 묶는다.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production/ACT_3.pptx / S64, production/preview/act3/S64.png 및 production/preview/full/S64.png. 실제 캡처·현재 제품 실행이 아닌 표시된 기록 요약/가정/모델의 범위로 설명한다. 최종 파일 대조는 production/evaluation/ACT_3_FLOW_REVISION.md를 따른다.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DEC-0062의 근거·19필드·운영 순서를 정렬했다. 최종 패키지/PNG/내장 Notes 대조는 production/evaluation/ACT_3_FLOW_REVISION.md에 기록한다. Windows / room / product-account / timed rehearsal: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S65 — 같은 Repository라도 실행 조건은 다를 수 있다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S65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같은 Repository라도 실행 조건은 다를 수 있다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3 / 3G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과거 Trial에서 전역 지침·Skills와 시작 경고의 흔적이 있었다. 적용 지침, 모델/설정, 권한, OS/runtime도 결과 해석 시 기록할 조건이지만 모든 항목의 인과효과나 완전한 환경 감사를 입증한 것은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“결과를 해석하려면 Repository 밖에서 무엇이 들어왔는지도 알아야 하지 않을까?”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같은 Repository라도 외부 지침과 실행 조건이 다를 수 있다는 질문을 던진다.</a:t>
            </a:r>
          </a:p>
          <a:p xmlns:a="http://schemas.openxmlformats.org/drawingml/2006/main">
            <a:r>
              <a:t>2. (1:00–2:00) TRIAL-006/007/008의 전역 지침·Skills 포함과 Hook/MCP 시작 경고라는 제한된 관찰을 예고한다. 경고 자체는 도구 실행/기여의 증거가 아니다.</a:t>
            </a:r>
          </a:p>
          <a:p xmlns:a="http://schemas.openxmlformats.org/drawingml/2006/main">
            <a:r>
              <a:t>3. (2:00–3:00) 적용 지침·모델/설정·권한·OS/runtime을 기록할 조건으로 제시하고 완전한 inventory나 각 인과효과를 주장하지 않는다. ACT4의 Meta 기록 설명을 앞당겨 재강의하지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TRIAL-006/007/008, DEC-0016/0021, BEAT-033/036. OBSERVED_META / TEACHING_MODEL.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전체 영향의 완전한 inventory가 아니다. Hook 실행이나 MCP task result가 관찰됐다고 말하지 않는다. TRIAL-007의 보고와 stderr 차이를 이 장에서 재해석하지 않는다. DEC-0062는 기존 관찰·측정 조건과 효과 미입증 경계를 유지한다.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같은 repository여도 실행 설정이나 주변 지침은 다를 수 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Ambient Harness 요인을 기록하고 Trial의 attribution 범위를 제한하되 미확인 인과를 만들지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같은 C++ repository도 Toolchain, 권한, runtime 조건이 다를 수 있다는 정도로만 잇는다.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정적 기본 경로 — Repository 내부 구성 + 바깥에서 관찰된 지침/경고를 구분하고 기록할 조건과 미입증 인과효과를 분리한다. Meta 이중선 프레임을 유지한다. 현재 제품이나 Demo repository를 실행하지 않는다. 새 Trial·비교 측정을 만들지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필수 실습·공개 답변 없이 화면의 핵심 관계를 따라오게 한다. 장별 기존 시간·Mode 안에서 짧은 예측 질문만 사용한다.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“이 작업 방법과 확인 기준을 우리 C++ 검사 업무로 옮겨 보겠습니다.”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Lecture3분: 질문1, 관찰과 한계1, 기록할 조건/전환1.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production/ACT_3.pptx / S65, production/preview/act3/S65.png 및 production/preview/full/S65.png. 실제 캡처·현재 제품 실행이 아닌 표시된 기록 요약/가정/모델의 범위로 설명한다. 최종 파일 대조는 production/evaluation/ACT_3_FLOW_REVISION.md를 따른다.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DEC-0062의 근거·19필드·운영 순서를 정렬했다. 최종 패키지/PNG/내장 Notes 대조는 production/evaluation/ACT_3_FLOW_REVISION.md에 기록한다. Windows / room / product-account / timed rehearsal: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S66 — 우리 C++ 검사 작업에 옮겨 보면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S66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우리 C++ 검사 작업에 옮겨 보면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3 / 3H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Python 코드를 복사하지 않고 지킬 명세, 반복할 수행 방법, 완료를 판단할 근거를 C++ Vision 검사 업무에 대응한다. 실제 C++ 구현·회사 장비·측정 성과는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“밝기 통계에서 사용한 판단을 우리 검사 파이프라인에는 어떻게 적용할까?”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기존 삽화는 AI 생성 교육용 C++ Vision 전이 예이며 실제 장비 사진·측정 결과가 아님을 밝힌다. S10의 검사 업무 맥락과 연결한다.</a:t>
            </a:r>
          </a:p>
          <a:p xmlns:a="http://schemas.openxmlformats.org/drawingml/2006/main">
            <a:r>
              <a:t>2. (1:00–2:30) 지킬 명세에서 ROI/픽셀값, 빌드·하드웨어 조건을 확인한다.</a:t>
            </a:r>
          </a:p>
          <a:p xmlns:a="http://schemas.openxmlformats.org/drawingml/2006/main">
            <a:r>
              <a:t>3. (2:30–4:00) 재사용할 기준선/경로 조사/변경/동일 비교와 완료를 판단할 동작·회귀·통합/성능 근거를 대응한다.</a:t>
            </a:r>
          </a:p>
          <a:p xmlns:a="http://schemas.openxmlformats.org/drawingml/2006/main">
            <a:r>
              <a:t>4. (4:00–5:00) 도구 이름을 복사하지 않고 현재 프로젝트에 맞게 확인하는 패턴을 회수한다.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BEAT-036, CLM-0016/0017/0030, OQ-011. TEACHING_MODEL. 삽화 출처: prototype/image-illustration-pilot/assets/S53.png, built-in image_gen, 2026-10-18. 생성 프롬프트: prototype/image-illustration-pilot/PROMPTS.md. 실제 화면·현장 사진·관찰 자료가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교육용 전이 예다. C++ Demo를 구현하거나 팀별 실제 도구 규칙을 검증한 것이 아니다. DEC-0062는 기존 관찰·측정 조건과 효과 미입증 경계를 유지한다.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언어가 달라도 먼저 프로젝트 규칙과 확인 방법을 찾는다.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Build mode, hardware assumptions, module contracts, and regression criteria belong to the actual project.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PRIMARY — Python `unittest` → GoogleTest/CTest or integration checks; benchmark script → benchmark/profiler; Project Context → build, algorithm, hardware constraints. Team standards must be checked before choosing tools.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정적 기본 경로 — 기존 승인된 카메라/영상/처리/결과 삽화를 보존하고 아래 세 기준을 ROI·픽셀·빌드 조건, 기준선/경로 조사, 동작/회귀/성능 검증에 대응한다. 현재 제품이나 Demo repository를 실행하지 않는다. 새 Trial·비교 측정을 만들지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필수 실습·공개 답변 없이 화면의 핵심 관계를 따라오게 한다. 장별 기존 시간·Mode 안에서 짧은 예측 질문만 사용한다.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“우리 팀에서 먼저 정리할 반복 한 가지와 유지할 책임을 골라 보겠습니다.”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Lecture5분: 업무 연결1, 명세1.5, 방법/근거1.5, 전이 범위/전환1.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production/ACT_3.pptx / S66, production/preview/act3/S66.png 및 production/preview/full/S66.png. 실제 캡처·현재 제품 실행이 아닌 표시된 기록 요약/가정/모델의 범위로 설명한다. 최종 파일 대조는 production/evaluation/ACT_3_FLOW_REVISION.md를 따른다.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DEC-0062의 근거·19필드·운영 순서를 정렬했다. 최종 패키지/PNG/내장 Notes 대조는 production/evaluation/ACT_3_FLOW_REVISION.md에 기록한다. Windows / room / product-account / timed rehearsal: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S67 — 우리 팀의 반복 한 가지를 고르면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S67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우리 팀의 반복 한 가지를 고르면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3 / 3I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10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Reflection 3 minutes + Q&amp;A 5 minutes + Transition 2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반복 정보·반복 절차·완료 근거 중 현재 마찰을 하나 고르고 어디에 두며 누가 검토·갱신할지 판단한다. 현재의 성공을 보존한 채 다음 ACT의 프로젝트 변화 질문을 연다.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“내 업무에서 먼저 정리할 반복과 유지할 책임은 무엇일까?”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(0:00–3:00 / Reflection) 반복 정보·절차·완료 근거 중 먼저 정리할 한 가지와 검토/갱신 책임을 조용히 떠올리게 한다. 공유·실습은 강제하지 않는다.</a:t>
            </a:r>
          </a:p>
          <a:p xmlns:a="http://schemas.openxmlformats.org/drawingml/2006/main">
            <a:r>
              <a:t>2. (3:00–8:00 / Q&amp;A) 질문을 받되 무질문이면 유지할 위치와 책임을 기준으로 예비 질문을 회수한다. 기능 수를 늘리는 답으로 유도하지 않는다.</a:t>
            </a:r>
          </a:p>
          <a:p xmlns:a="http://schemas.openxmlformats.org/drawingml/2006/main">
            <a:r>
              <a:t>3. (8:00–10:00 / Transition) 실제 STATE-04-PERF 성공을 유지한 채 S68에서 기준 결과만 짧게 회수하고 S69부터 별도 가상 변화가 시작됨을 예고한다. 다음 ACT의 가상 실패를 실제 Demo 이력으로 말하지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STATE-04-PERF, DEC-0018/0021, BEAT-035–038, INV-VERIFY-001. TEACHING_MODEL; bounded observed product success.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이 작업을 실패한 Harness로 재해석하지 않는다. Subagent와 Memory는 조건부 선택이다. 다음 ACT의 개념 사례를 실제 Demo Product failure로 미리 말하지 않는다. DEC-0062는 기존 관찰·측정 조건과 효과 미입증 경계를 유지한다.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먼저 반복되는 문제를 찾고, 필요한 구조만 고른다.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Project 변화가 가정을 무효화할 수 있는지 생각하되, 다음 ACT의 사례 결과를 먼저 공개하지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앞 Slide의 Project별 C++ 적용 질문을 청중 업무로 가져온다.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정적 기본 경로 — 세 성찰 관점과 어디에 두고 누가 갱신할지의 질문. 마지막 줄에 프로젝트 변화 뒤 방법을 어떻게 점검할지 제시하며 S68의 결과 회수와 구분한다. 현재 제품이나 Demo repository를 실행하지 않는다. 새 Trial·비교 측정을 만들지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개인 성찰3분, 선택적 Q&amp;A5분. 무질문이면 “어디에 두고 누가 갱신할까?”를 예비 질문으로 쓴다. 8분에 답변을 마치고 마지막2분을 ACT4 전환으로 보호한다.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“여기까지 실제로 확인한 성공을 기준점으로 남기겠습니다. 다음에는 별도의 가상 프로젝트 변화에서 이 방법을 어떻게 점검할지 보겠습니다.”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Reflection3분 → Q&amp;A5분 → Transition2분. 8분에 전환을 시작하며 초과 질의는 별도로 안내한다.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production/ACT_3.pptx / S67, production/preview/act3/S67.png 및 production/preview/full/S67.png. 실제 캡처·현재 제품 실행이 아닌 표시된 기록 요약/가정/모델의 범위로 설명한다. 최종 파일 대조는 production/evaluation/ACT_3_FLOW_REVISION.md를 따른다.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DEC-0062의 근거·19필드·운영 순서를 정렬했다. 최종 패키지/PNG/내장 Notes 대조는 production/evaluation/ACT_3_FLOW_REVISION.md에 기록한다. Windows / room / product-account / timed rehearsal: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e43e2c77fc34a76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72bf9d0beed4339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53af75e141c4728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c54afa881ba46f7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1075431fc5c4c98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708c611af044d2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D83586F-68EB-4163-8DCC-A56CA290000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34606DCB-6C38-47D7-8BF6-14C9BAA75136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923A25B0-1B05-4071-A9EC-CEDE48A3043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2C53F01-C3E5-4D33-AF38-4B934C4716E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178CD8EF-3FA2-4816-A73C-DDC781CE28D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72268024-4CB9-4386-B9D9-E8CE3659CDC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4670EDF9-A1D1-4697-BCE2-58C38640530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9AFD3259-6E68-413C-A503-F1147B1E8A09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27B32BA-364F-4432-AB0E-80F34919C63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33B19338-7BDA-4B00-9F3D-BEBC502ACA3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050f96ab802477c" /><Relationship Type="http://schemas.openxmlformats.org/officeDocument/2006/relationships/slideLayout" Target="/ppt/slideLayouts/slideLayout1.xml" Id="R4903ddfebe2541b0" /><Relationship Type="http://schemas.openxmlformats.org/officeDocument/2006/relationships/slideLayout" Target="/ppt/slideLayouts/slideLayout2.xml" Id="Re83699f6f2fe45a5" /><Relationship Type="http://schemas.openxmlformats.org/officeDocument/2006/relationships/slideLayout" Target="/ppt/slideLayouts/slideLayout3.xml" Id="R27da44e912e74ba1" /><Relationship Type="http://schemas.openxmlformats.org/officeDocument/2006/relationships/slideLayout" Target="/ppt/slideLayouts/slideLayout4.xml" Id="Rac66a9b7f2a94a97" /><Relationship Type="http://schemas.openxmlformats.org/officeDocument/2006/relationships/slideLayout" Target="/ppt/slideLayouts/slideLayout5.xml" Id="Rc42ad92244634cdf" /><Relationship Type="http://schemas.openxmlformats.org/officeDocument/2006/relationships/slideLayout" Target="/ppt/slideLayouts/slideLayout6.xml" Id="Rb7c1828f56aa49a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903ddfebe2541b0"/>
    <p:sldLayoutId xmlns:r="http://schemas.openxmlformats.org/officeDocument/2006/relationships" id="2147483650" r:id="Re83699f6f2fe45a5"/>
    <p:sldLayoutId xmlns:r="http://schemas.openxmlformats.org/officeDocument/2006/relationships" id="2147483651" r:id="R27da44e912e74ba1"/>
    <p:sldLayoutId xmlns:r="http://schemas.openxmlformats.org/officeDocument/2006/relationships" id="2147483652" r:id="Rac66a9b7f2a94a97"/>
    <p:sldLayoutId xmlns:r="http://schemas.openxmlformats.org/officeDocument/2006/relationships" id="2147483653" r:id="Rc42ad92244634cdf"/>
    <p:sldLayoutId xmlns:r="http://schemas.openxmlformats.org/officeDocument/2006/relationships" id="2147483654" r:id="Rb7c1828f56aa49a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87bf87d56d94398" /><Relationship Type="http://schemas.openxmlformats.org/officeDocument/2006/relationships/image" Target="/ppt/media/image.png" Id="Rd3fdff3f292940db" /><Relationship Type="http://schemas.openxmlformats.org/officeDocument/2006/relationships/image" Target="/ppt/media/image2.png" Id="Rc063775a7c6c4723" /><Relationship Type="http://schemas.openxmlformats.org/officeDocument/2006/relationships/notesSlide" Target="/ppt/notesSlides/notesSlide1.xml" Id="R507d801a8f8441b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073c167b63747e3" /><Relationship Type="http://schemas.openxmlformats.org/officeDocument/2006/relationships/notesSlide" Target="/ppt/notesSlides/notesSlide2.xml" Id="R594cdfc298eb44a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8bb9a22fbab4c3a" /><Relationship Type="http://schemas.openxmlformats.org/officeDocument/2006/relationships/notesSlide" Target="/ppt/notesSlides/notesSlide3.xml" Id="R831e600ab42f467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c29a2c492a64054" /><Relationship Type="http://schemas.openxmlformats.org/officeDocument/2006/relationships/notesSlide" Target="/ppt/notesSlides/notesSlide4.xml" Id="Rd0c1ec357b1a468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8347fe658254f89" /><Relationship Type="http://schemas.openxmlformats.org/officeDocument/2006/relationships/notesSlide" Target="/ppt/notesSlides/notesSlide5.xml" Id="R9ef88bcc862f46b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c4e74fa852242be" /><Relationship Type="http://schemas.openxmlformats.org/officeDocument/2006/relationships/notesSlide" Target="/ppt/notesSlides/notesSlide6.xml" Id="Ra6289a58f94a4cf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3b32a7652c2471f" /><Relationship Type="http://schemas.openxmlformats.org/officeDocument/2006/relationships/notesSlide" Target="/ppt/notesSlides/notesSlide7.xml" Id="Rc050416d0368426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825aa8a59cd4585" /><Relationship Type="http://schemas.openxmlformats.org/officeDocument/2006/relationships/notesSlide" Target="/ppt/notesSlides/notesSlide8.xml" Id="R225a8daf5bfa412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77eb365376f49a6" /><Relationship Type="http://schemas.openxmlformats.org/officeDocument/2006/relationships/chart" Target="/ppt/slides/charts/chart1.xml" Id="R12b8570b850c4d05" /><Relationship Type="http://schemas.openxmlformats.org/officeDocument/2006/relationships/notesSlide" Target="/ppt/notesSlides/notesSlide9.xml" Id="R627a0a584ffb41b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a1a37d0ca3b4b51" /><Relationship Type="http://schemas.openxmlformats.org/officeDocument/2006/relationships/notesSlide" Target="/ppt/notesSlides/notesSlide10.xml" Id="Rff0827f4e9a64172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7a75ed116e443a3" /><Relationship Type="http://schemas.openxmlformats.org/officeDocument/2006/relationships/notesSlide" Target="/ppt/notesSlides/notesSlide11.xml" Id="R3d2fe8caed0241c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764aa0711fc478e" /><Relationship Type="http://schemas.openxmlformats.org/officeDocument/2006/relationships/notesSlide" Target="/ppt/notesSlides/notesSlide12.xml" Id="R84b595203e8743a8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408a2144f8e46d8" /><Relationship Type="http://schemas.openxmlformats.org/officeDocument/2006/relationships/notesSlide" Target="/ppt/notesSlides/notesSlide13.xml" Id="R7e06a87f819a4af8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0e6c27bc5c6479f" /><Relationship Type="http://schemas.openxmlformats.org/officeDocument/2006/relationships/notesSlide" Target="/ppt/notesSlides/notesSlide14.xml" Id="R621181bb4a83403e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e28e660ca804083" /><Relationship Type="http://schemas.openxmlformats.org/officeDocument/2006/relationships/notesSlide" Target="/ppt/notesSlides/notesSlide15.xml" Id="R485e9f2a5e7d4f31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371d6907403424e" /><Relationship Type="http://schemas.openxmlformats.org/officeDocument/2006/relationships/notesSlide" Target="/ppt/notesSlides/notesSlide16.xml" Id="R261cbc56e4154e0c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8733bbce9414b03" /><Relationship Type="http://schemas.openxmlformats.org/officeDocument/2006/relationships/image" Target="/ppt/media/image3.png" Id="Rd3a3923b788b47d9" /><Relationship Type="http://schemas.openxmlformats.org/officeDocument/2006/relationships/notesSlide" Target="/ppt/notesSlides/notesSlide17.xml" Id="R773bd571034044d5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dffc6f26de3434c" /><Relationship Type="http://schemas.openxmlformats.org/officeDocument/2006/relationships/notesSlide" Target="/ppt/notesSlides/notesSlide18.xml" Id="R79dc21ee963f47f6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bar"/>
        <c:grouping val="clustered"/>
        <c:varyColors val="1"/>
        <c:ser>
          <c:idx val="0"/>
          <c:order val="0"/>
          <c:tx>
            <c:v>Median ms/call</c:v>
          </c:tx>
          <c:invertIfNegative val="0"/>
          <c:dPt>
            <c:idx val="0"/>
            <c:invertIfNegative val="0"/>
            <c:spPr>
              <a:solidFill xmlns:a="http://schemas.openxmlformats.org/drawingml/2006/main">
                <a:srgbClr val="0B6172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9BA8B5"/>
              </a:solidFill>
            </c:spPr>
          </c:dPt>
          <c:cat>
            <c:strRef>
              <c:f>'Chart Data'!$A$2:$A$3</c:f>
              <c:strCache>
                <c:ptCount val="2"/>
                <c:pt idx="0">
                  <c:v>변경 후</c:v>
                </c:pt>
                <c:pt idx="1">
                  <c:v>변경 전</c:v>
                </c:pt>
              </c:strCache>
            </c:strRef>
          </c:cat>
          <c:val>
            <c:numRef>
              <c:f>'Chart Data'!$B$2:$B$3</c:f>
              <c:numCache>
                <c:formatCode>0.000</c:formatCode>
                <c:ptCount val="2"/>
                <c:pt idx="0">
                  <c:v>10.769</c:v>
                </c:pt>
                <c:pt idx="1">
                  <c:v>15.468</c:v>
                </c:pt>
              </c:numCache>
            </c:numRef>
          </c:val>
        </c:ser>
        <c:dLbls>
          <c:numFmt formatCode="0.00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2025" b="1">
                  <a:solidFill>
                    <a:srgbClr val="17212B"/>
                  </a:solidFill>
                  <a:latin typeface="Malgun Gothic"/>
                  <a:ea typeface="Malgun Gothic"/>
                  <a:cs typeface="Malgun Gothic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2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C7D0DA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C7D0DA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0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4F6F8"/>
        </a:solidFill>
        <a:ln xmlns:a="http://schemas.openxmlformats.org/drawingml/2006/main" w="0">
          <a:noFill/>
        </a:ln>
      </c:spPr>
    </c:plotArea>
    <c:plotVisOnly val="1"/>
  </c:chart>
  <c:spPr>
    <a:solidFill xmlns:a="http://schemas.openxmlformats.org/drawingml/2006/main">
      <a:srgbClr val="F4F6F8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ACT 3 · Harness: 작업 방법과 실행·검증 환경 설계">
            <a:extLst xmlns:a="http://schemas.openxmlformats.org/drawingml/2006/main">
              <a:ext uri="{FF2B5EF4-FFF2-40B4-BE49-F238E27FC236}">
                <a16:creationId xmlns:a16="http://schemas.microsoft.com/office/drawing/2014/main" id="{0B8B441A-EC19-4D93-9F1C-F1BA40D97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3 · Harness: 작업 방법과 실행·검증 환경 설계</a:t>
            </a:r>
          </a:p>
        </p:txBody>
      </p:sp>
      <p:sp>
        <p:nvSpPr>
          <p:cNvPr id="2" name="S50">
            <a:extLst xmlns:a="http://schemas.openxmlformats.org/drawingml/2006/main">
              <a:ext uri="{FF2B5EF4-FFF2-40B4-BE49-F238E27FC236}">
                <a16:creationId xmlns:a16="http://schemas.microsoft.com/office/drawing/2014/main" id="{02A7EB3D-5C99-41B3-95DD-DDB8A3AE5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S50</a:t>
            </a:r>
          </a:p>
        </p:txBody>
      </p:sp>
      <p:sp>
        <p:nvSpPr>
          <p:cNvPr id="3" name="두 실제 요청에 같은 절차가 반복됐다">
            <a:extLst xmlns:a="http://schemas.openxmlformats.org/drawingml/2006/main">
              <a:ext uri="{FF2B5EF4-FFF2-40B4-BE49-F238E27FC236}">
                <a16:creationId xmlns:a16="http://schemas.microsoft.com/office/drawing/2014/main" id="{ACF2D57D-845D-43CB-97E6-ACE35F2E9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두 실제 요청에 같은 절차가 반복됐다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BBB0E8-0A15-454E-87A8-8CBEC57C4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TRIAL-006 실제 Prompt 발췌·번역 / TRIAL-007 보존된 Task Prompt 요약 · 그">
            <a:extLst xmlns:a="http://schemas.openxmlformats.org/drawingml/2006/main">
              <a:ext uri="{FF2B5EF4-FFF2-40B4-BE49-F238E27FC236}">
                <a16:creationId xmlns:a16="http://schemas.microsoft.com/office/drawing/2014/main" id="{A36B177B-A511-498E-9565-80F0A35CB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TRIAL-006 실제 Prompt 발췌·번역 / TRIAL-007 보존된 Task Prompt 요약 · 그림은 설명용 삽화</a:t>
            </a:r>
          </a:p>
        </p:txBody>
      </p:sp>
      <p:sp>
        <p:nvSpPr>
          <p:cNvPr id="6" name="Global Harness 영향으로 Prompt-only attribution은 PARTIAL · 성능 전후">
            <a:extLst xmlns:a="http://schemas.openxmlformats.org/drawingml/2006/main">
              <a:ext uri="{FF2B5EF4-FFF2-40B4-BE49-F238E27FC236}">
                <a16:creationId xmlns:a16="http://schemas.microsoft.com/office/drawing/2014/main" id="{ACC0DABF-0331-49B1-9A3E-8FAA69933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Global Harness 영향으로 Prompt-only attribution은 PARTIAL · 성능 전후 그림·현재 제품 화면 아님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14BDC4-0949-4199-9FAB-059E4D34661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fdff3f292940db"/>
          <a:srcRect xmlns:a="http://schemas.openxmlformats.org/drawingml/2006/main" l="53664" t="30891" r="28410" b="33258"/>
          <a:stretch xmlns:a="http://schemas.openxmlformats.org/drawingml/2006/main"/>
        </p:blipFill>
        <p:spPr>
          <a:xfrm xmlns:a="http://schemas.openxmlformats.org/drawingml/2006/main">
            <a:off x="609600" y="1809750"/>
            <a:ext cx="609600" cy="609600"/>
          </a:xfrm>
          <a:prstGeom xmlns:a="http://schemas.openxmlformats.org/drawingml/2006/main" prst="rect">
            <a:avLst/>
          </a:prstGeom>
        </p:spPr>
      </p:pic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7D98CA5-E370-486E-AF7D-FE496A6CB16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63775a7c6c4723"/>
          <a:srcRect xmlns:a="http://schemas.openxmlformats.org/drawingml/2006/main" l="53664" t="30891" r="28410" b="33258"/>
          <a:stretch xmlns:a="http://schemas.openxmlformats.org/drawingml/2006/main"/>
        </p:blipFill>
        <p:spPr>
          <a:xfrm xmlns:a="http://schemas.openxmlformats.org/drawingml/2006/main">
            <a:off x="6419850" y="1809750"/>
            <a:ext cx="609600" cy="609600"/>
          </a:xfrm>
          <a:prstGeom xmlns:a="http://schemas.openxmlformats.org/drawingml/2006/main" prst="rect">
            <a:avLst/>
          </a:prstGeom>
        </p:spPr>
      </p:pic>
      <p:sp>
        <p:nvSpPr>
          <p:cNvPr id="9" name="A · 크기 변경">
            <a:extLst xmlns:a="http://schemas.openxmlformats.org/drawingml/2006/main">
              <a:ext uri="{FF2B5EF4-FFF2-40B4-BE49-F238E27FC236}">
                <a16:creationId xmlns:a16="http://schemas.microsoft.com/office/drawing/2014/main" id="{A78B1DAD-00BA-4A9B-BC71-3FC0ACE42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1809750"/>
            <a:ext cx="42672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 · 크기 변경</a:t>
            </a:r>
          </a:p>
        </p:txBody>
      </p:sp>
      <p:sp>
        <p:nvSpPr>
          <p:cNvPr id="10" name="resize_nearest">
            <a:extLst xmlns:a="http://schemas.openxmlformats.org/drawingml/2006/main">
              <a:ext uri="{FF2B5EF4-FFF2-40B4-BE49-F238E27FC236}">
                <a16:creationId xmlns:a16="http://schemas.microsoft.com/office/drawing/2014/main" id="{A41A46C7-E8CF-4030-A130-052584A27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200275"/>
            <a:ext cx="426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resize_nearest</a:t>
            </a:r>
          </a:p>
        </p:txBody>
      </p:sp>
      <p:sp>
        <p:nvSpPr>
          <p:cNvPr id="11" name="B · 픽셀값 정규화">
            <a:extLst xmlns:a="http://schemas.openxmlformats.org/drawingml/2006/main">
              <a:ext uri="{FF2B5EF4-FFF2-40B4-BE49-F238E27FC236}">
                <a16:creationId xmlns:a16="http://schemas.microsoft.com/office/drawing/2014/main" id="{7965F3B6-3906-49E9-96BF-D965D5A07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1809750"/>
            <a:ext cx="43624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B · 픽셀값 정규화</a:t>
            </a:r>
          </a:p>
        </p:txBody>
      </p:sp>
      <p:sp>
        <p:nvSpPr>
          <p:cNvPr id="12" name="normalize">
            <a:extLst xmlns:a="http://schemas.openxmlformats.org/drawingml/2006/main">
              <a:ext uri="{FF2B5EF4-FFF2-40B4-BE49-F238E27FC236}">
                <a16:creationId xmlns:a16="http://schemas.microsoft.com/office/drawing/2014/main" id="{1C234AD7-E34A-455A-8A39-5CAA8AE59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200275"/>
            <a:ext cx="436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normalize</a:t>
            </a:r>
          </a:p>
        </p:txBody>
      </p:sp>
      <p:sp>
        <p:nvSpPr>
          <p:cNvPr id="13" name="실제 요청의 핵심 발췌·번역">
            <a:extLst xmlns:a="http://schemas.openxmlformats.org/drawingml/2006/main">
              <a:ext uri="{FF2B5EF4-FFF2-40B4-BE49-F238E27FC236}">
                <a16:creationId xmlns:a16="http://schemas.microsoft.com/office/drawing/2014/main" id="{336B06D7-1A15-499D-A791-88BFAD053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51625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실제 요청의 핵심 발췌·번역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1DDFE17-768A-41D1-8837-A897DE1BD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0375"/>
            <a:ext cx="51625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01">
            <a:extLst xmlns:a="http://schemas.openxmlformats.org/drawingml/2006/main">
              <a:ext uri="{FF2B5EF4-FFF2-40B4-BE49-F238E27FC236}">
                <a16:creationId xmlns:a16="http://schemas.microsoft.com/office/drawing/2014/main" id="{B51009B7-705C-4913-959D-64D7C2AEF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33725"/>
            <a:ext cx="438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800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6" name="변경 전에 benchmark를 실행해줘.&#10;구현·명세·테스트를 조사해줘.">
            <a:extLst xmlns:a="http://schemas.openxmlformats.org/drawingml/2006/main">
              <a:ext uri="{FF2B5EF4-FFF2-40B4-BE49-F238E27FC236}">
                <a16:creationId xmlns:a16="http://schemas.microsoft.com/office/drawing/2014/main" id="{6C64C0CD-4BE6-4C31-8004-370EE0916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048000"/>
            <a:ext cx="42672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변경 전에 benchmark를 실행해줘.</a:t>
            </a:r>
          </a:p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구현·명세·테스트를 조사해줘.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10BA754-669E-4305-897E-011FB371A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62375"/>
            <a:ext cx="51625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8" name="02">
            <a:extLst xmlns:a="http://schemas.openxmlformats.org/drawingml/2006/main">
              <a:ext uri="{FF2B5EF4-FFF2-40B4-BE49-F238E27FC236}">
                <a16:creationId xmlns:a16="http://schemas.microsoft.com/office/drawing/2014/main" id="{207B8EC7-8287-4CF7-B84D-976893282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95725"/>
            <a:ext cx="438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800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9" name="간단한 계획을 먼저 제시하고,&#10;근거 있는 최소 변경을 해줘.">
            <a:extLst xmlns:a="http://schemas.openxmlformats.org/drawingml/2006/main">
              <a:ext uri="{FF2B5EF4-FFF2-40B4-BE49-F238E27FC236}">
                <a16:creationId xmlns:a16="http://schemas.microsoft.com/office/drawing/2014/main" id="{9C7792F1-9CE8-4400-8868-D17C40F71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810000"/>
            <a:ext cx="42672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간단한 계획을 먼저 제시하고,</a:t>
            </a:r>
          </a:p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근거 있는 최소 변경을 해줘.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105AFE8-489B-4223-8E6B-F49357D11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24375"/>
            <a:ext cx="51625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03">
            <a:extLst xmlns:a="http://schemas.openxmlformats.org/drawingml/2006/main">
              <a:ext uri="{FF2B5EF4-FFF2-40B4-BE49-F238E27FC236}">
                <a16:creationId xmlns:a16="http://schemas.microsoft.com/office/drawing/2014/main" id="{95BCB323-7289-46F6-B57B-2A74E27A4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657725"/>
            <a:ext cx="438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800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22" name="관련·전체 테스트를 실행하고,&#10;같은 benchmark로 비교·검토해줘.">
            <a:extLst xmlns:a="http://schemas.openxmlformats.org/drawingml/2006/main">
              <a:ext uri="{FF2B5EF4-FFF2-40B4-BE49-F238E27FC236}">
                <a16:creationId xmlns:a16="http://schemas.microsoft.com/office/drawing/2014/main" id="{2D56C15F-37F0-4BEF-B35C-9D8A2C80D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572000"/>
            <a:ext cx="42672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관련·전체 테스트를 실행하고,</a:t>
            </a:r>
          </a:p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같은 benchmark로 비교·검토해줘.</a:t>
            </a:r>
          </a:p>
        </p:txBody>
      </p:sp>
      <p:sp>
        <p:nvSpPr>
          <p:cNvPr id="23" name="보존된 요청 요약의 번역">
            <a:extLst xmlns:a="http://schemas.openxmlformats.org/drawingml/2006/main">
              <a:ext uri="{FF2B5EF4-FFF2-40B4-BE49-F238E27FC236}">
                <a16:creationId xmlns:a16="http://schemas.microsoft.com/office/drawing/2014/main" id="{629DA57D-1C0A-4703-A7E2-15E0B297B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609850"/>
            <a:ext cx="51625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보존된 요청 요약의 번역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AF1899E-B233-45D0-9E9B-D47696392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000375"/>
            <a:ext cx="51625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01">
            <a:extLst xmlns:a="http://schemas.openxmlformats.org/drawingml/2006/main">
              <a:ext uri="{FF2B5EF4-FFF2-40B4-BE49-F238E27FC236}">
                <a16:creationId xmlns:a16="http://schemas.microsoft.com/office/drawing/2014/main" id="{36D64298-083D-404F-B10F-3C4C728F2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133725"/>
            <a:ext cx="438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800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26" name="수정 전에 측정하고,&#10;소스·명세·테스트를 확인.">
            <a:extLst xmlns:a="http://schemas.openxmlformats.org/drawingml/2006/main">
              <a:ext uri="{FF2B5EF4-FFF2-40B4-BE49-F238E27FC236}">
                <a16:creationId xmlns:a16="http://schemas.microsoft.com/office/drawing/2014/main" id="{B9C83AB2-5334-4E89-A4F9-09E79AC84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3048000"/>
            <a:ext cx="42672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수정 전에 측정하고,</a:t>
            </a:r>
          </a:p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소스·명세·테스트를 확인.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319341C-A6D9-4564-B248-37C364665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762375"/>
            <a:ext cx="51625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8" name="02">
            <a:extLst xmlns:a="http://schemas.openxmlformats.org/drawingml/2006/main">
              <a:ext uri="{FF2B5EF4-FFF2-40B4-BE49-F238E27FC236}">
                <a16:creationId xmlns:a16="http://schemas.microsoft.com/office/drawing/2014/main" id="{335351BB-F812-4D08-8CDF-144A83672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895725"/>
            <a:ext cx="438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800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29" name="계획을 밝힌 뒤&#10;최소한의 변경을 수행.">
            <a:extLst xmlns:a="http://schemas.openxmlformats.org/drawingml/2006/main">
              <a:ext uri="{FF2B5EF4-FFF2-40B4-BE49-F238E27FC236}">
                <a16:creationId xmlns:a16="http://schemas.microsoft.com/office/drawing/2014/main" id="{4F7E7C61-8754-48E2-8E65-DF200D141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3810000"/>
            <a:ext cx="42672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계획을 밝힌 뒤</a:t>
            </a:r>
          </a:p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최소한의 변경을 수행.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663993A-6154-47D6-985A-4BAC3C2AE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524375"/>
            <a:ext cx="51625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03">
            <a:extLst xmlns:a="http://schemas.openxmlformats.org/drawingml/2006/main">
              <a:ext uri="{FF2B5EF4-FFF2-40B4-BE49-F238E27FC236}">
                <a16:creationId xmlns:a16="http://schemas.microsoft.com/office/drawing/2014/main" id="{2689C6F8-0735-4E65-B7E5-D224D390E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657725"/>
            <a:ext cx="438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800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32" name="관련·전체 테스트와 동일 측정,&#10;CLI·diff 확인 및 최종 검토.">
            <a:extLst xmlns:a="http://schemas.openxmlformats.org/drawingml/2006/main">
              <a:ext uri="{FF2B5EF4-FFF2-40B4-BE49-F238E27FC236}">
                <a16:creationId xmlns:a16="http://schemas.microsoft.com/office/drawing/2014/main" id="{13E5BE42-BFCC-4E8C-BD39-466CA4EFB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572000"/>
            <a:ext cx="42672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관련·전체 테스트와 동일 측정,</a:t>
            </a:r>
          </a:p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CLI·diff 확인 및 최종 검토.</a:t>
            </a:r>
          </a:p>
        </p:txBody>
      </p:sp>
      <p:sp>
        <p:nvSpPr>
          <p:cNvPr id="33" name="목표는 달라도, 확인하고 판단하는 지시가 반복됐다">
            <a:extLst xmlns:a="http://schemas.openxmlformats.org/drawingml/2006/main">
              <a:ext uri="{FF2B5EF4-FFF2-40B4-BE49-F238E27FC236}">
                <a16:creationId xmlns:a16="http://schemas.microsoft.com/office/drawing/2014/main" id="{B0E70675-B0EC-4F87-B805-498C0E3FB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목표는 달라도, 확인하고 판단하는 지시가 반복됐다</a:t>
            </a:r>
          </a:p>
        </p:txBody>
      </p:sp>
      <p:sp>
        <p:nvSpPr>
          <p:cNvPr id="34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05A4A8E6-0142-4CEA-8A3D-3ECD7A48A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M2 · M5 · M8</a:t>
            </a:r>
          </a:p>
        </p:txBody>
      </p:sp>
    </p:spTree>
    <p:extLst>
      <p:ext uri="{BB962C8B-B14F-4D97-AF65-F5344CB8AC3E}">
        <p14:creationId xmlns:p14="http://schemas.microsoft.com/office/powerpoint/2010/main" val="117911297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ACT 3 · 반복되는 방법을 누가 유지할까?">
            <a:extLst xmlns:a="http://schemas.openxmlformats.org/drawingml/2006/main">
              <a:ext uri="{FF2B5EF4-FFF2-40B4-BE49-F238E27FC236}">
                <a16:creationId xmlns:a16="http://schemas.microsoft.com/office/drawing/2014/main" id="{F5934B89-47FD-4287-94AB-0A37AA671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3 · 반복되는 방법을 누가 유지할까?</a:t>
            </a:r>
          </a:p>
        </p:txBody>
      </p:sp>
      <p:sp>
        <p:nvSpPr>
          <p:cNvPr id="2" name="S51">
            <a:extLst xmlns:a="http://schemas.openxmlformats.org/drawingml/2006/main">
              <a:ext uri="{FF2B5EF4-FFF2-40B4-BE49-F238E27FC236}">
                <a16:creationId xmlns:a16="http://schemas.microsoft.com/office/drawing/2014/main" id="{B90F67C7-7F70-4D28-B7FD-4C126C3DE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S51</a:t>
            </a:r>
          </a:p>
        </p:txBody>
      </p:sp>
      <p:sp>
        <p:nvSpPr>
          <p:cNvPr id="3" name="테스트 명령과 수행 방법의 책임을 나눈다">
            <a:extLst xmlns:a="http://schemas.openxmlformats.org/drawingml/2006/main">
              <a:ext uri="{FF2B5EF4-FFF2-40B4-BE49-F238E27FC236}">
                <a16:creationId xmlns:a16="http://schemas.microsoft.com/office/drawing/2014/main" id="{1A5B9508-2636-4ADC-A547-3AAAB1DCC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테스트 명령과 수행 방법의 책임을 나눈다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1CB8AF-CD00-4C24-89AE-E89A98BE1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교육용 책임 구분 · 기존 AGENTS.md 지침과 TRIAL-006/007의 반복 요청을 연결">
            <a:extLst xmlns:a="http://schemas.openxmlformats.org/drawingml/2006/main">
              <a:ext uri="{FF2B5EF4-FFF2-40B4-BE49-F238E27FC236}">
                <a16:creationId xmlns:a16="http://schemas.microsoft.com/office/drawing/2014/main" id="{40E9A4AB-F621-477C-B6BE-975675475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교육용 책임 구분 · 기존 AGENTS.md 지침과 TRIAL-006/007의 반복 요청을 연결</a:t>
            </a:r>
          </a:p>
        </p:txBody>
      </p:sp>
      <p:sp>
        <p:nvSpPr>
          <p:cNvPr id="6" name="AGENTS.md에도 절차를 쓸 수 있음 · 저장 형식의 배타적 분류나 Skill의 필수성 주장이 아님">
            <a:extLst xmlns:a="http://schemas.openxmlformats.org/drawingml/2006/main">
              <a:ext uri="{FF2B5EF4-FFF2-40B4-BE49-F238E27FC236}">
                <a16:creationId xmlns:a16="http://schemas.microsoft.com/office/drawing/2014/main" id="{7D56BAED-C896-4F2E-9CFF-D60EDE63D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AGENTS.md에도 절차를 쓸 수 있음 · 저장 형식의 배타적 분류나 Skill의 필수성 주장이 아님</a:t>
            </a:r>
          </a:p>
        </p:txBody>
      </p:sp>
      <p:sp>
        <p:nvSpPr>
          <p:cNvPr id="7" name="같은 테스트 명령을 알아도, 작업 중 판단은 남는다">
            <a:extLst xmlns:a="http://schemas.openxmlformats.org/drawingml/2006/main">
              <a:ext uri="{FF2B5EF4-FFF2-40B4-BE49-F238E27FC236}">
                <a16:creationId xmlns:a16="http://schemas.microsoft.com/office/drawing/2014/main" id="{BA0EEE26-F5C1-4E53-99AB-8A9C7A4CC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04975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같은 테스트 명령을 알아도, 작업 중 판단은 남는다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CF780B-57BA-4A8E-84F0-0B7471922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19350"/>
            <a:ext cx="4572000" cy="2124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9" name="프로젝트가 안내할 것">
            <a:extLst xmlns:a="http://schemas.openxmlformats.org/drawingml/2006/main">
              <a:ext uri="{FF2B5EF4-FFF2-40B4-BE49-F238E27FC236}">
                <a16:creationId xmlns:a16="http://schemas.microsoft.com/office/drawing/2014/main" id="{F9EE61FC-A292-427D-93FF-859BD9AE7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33650"/>
            <a:ext cx="4229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프로젝트가 안내할 것</a:t>
            </a:r>
          </a:p>
        </p:txBody>
      </p:sp>
      <p:sp>
        <p:nvSpPr>
          <p:cNvPr id="10" name="참고할 명세 · 허용 범위&#10;테스트를 시작하는 명령&#10;현재 기준 문서의 위치">
            <a:extLst xmlns:a="http://schemas.openxmlformats.org/drawingml/2006/main">
              <a:ext uri="{FF2B5EF4-FFF2-40B4-BE49-F238E27FC236}">
                <a16:creationId xmlns:a16="http://schemas.microsoft.com/office/drawing/2014/main" id="{6D40CA2F-6491-4B0B-A1BD-7AE62A76D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57525"/>
            <a:ext cx="42291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참고할 명세 · 허용 범위</a:t>
            </a:r>
          </a:p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테스트를 시작하는 명령</a:t>
            </a:r>
          </a:p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현재 기준 문서의 위치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8B610DF-1A1F-47CD-AAAE-4A961C5CF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228975"/>
            <a:ext cx="34290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68C2989-7C68-421A-A41C-9B1FA8DF8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419350"/>
            <a:ext cx="5486400" cy="2124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3" name="반복 절차가 정할 것">
            <a:extLst xmlns:a="http://schemas.openxmlformats.org/drawingml/2006/main">
              <a:ext uri="{FF2B5EF4-FFF2-40B4-BE49-F238E27FC236}">
                <a16:creationId xmlns:a16="http://schemas.microsoft.com/office/drawing/2014/main" id="{29B8A559-641A-4F67-9390-44BD75421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533650"/>
            <a:ext cx="5143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반복 절차가 정할 것</a:t>
            </a:r>
          </a:p>
        </p:txBody>
      </p:sp>
      <p:sp>
        <p:nvSpPr>
          <p:cNvPr id="14" name="변경 전에 무엇을 측정할까?&#10;어떤 조건이면 변경·중단할까?&#10;무엇을 확인하고 보고할까?">
            <a:extLst xmlns:a="http://schemas.openxmlformats.org/drawingml/2006/main">
              <a:ext uri="{FF2B5EF4-FFF2-40B4-BE49-F238E27FC236}">
                <a16:creationId xmlns:a16="http://schemas.microsoft.com/office/drawing/2014/main" id="{E8A6AFB5-9A4B-4CD1-A8D1-988C3E836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057525"/>
            <a:ext cx="51435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변경 전에 무엇을 측정할까?</a:t>
            </a:r>
          </a:p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어떤 조건이면 변경·중단할까?</a:t>
            </a:r>
          </a:p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무엇을 확인하고 보고할까?</a:t>
            </a:r>
          </a:p>
        </p:txBody>
      </p:sp>
      <p:sp>
        <p:nvSpPr>
          <p:cNvPr id="15" name="공통 안내와 여러 단계의 작업 방법을 유지할 책임을 나눈다">
            <a:extLst xmlns:a="http://schemas.openxmlformats.org/drawingml/2006/main">
              <a:ext uri="{FF2B5EF4-FFF2-40B4-BE49-F238E27FC236}">
                <a16:creationId xmlns:a16="http://schemas.microsoft.com/office/drawing/2014/main" id="{FB3F44E7-CBD1-44D1-9B83-E732E095B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14900"/>
            <a:ext cx="10972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공통 안내와 여러 단계의 작업 방법을 유지할 책임을 나눈다</a:t>
            </a:r>
          </a:p>
        </p:txBody>
      </p:sp>
      <p:sp>
        <p:nvSpPr>
          <p:cNvPr id="16" name="파일 이름보다, 적용할 때와 고칠 책임을 먼저 정한다">
            <a:extLst xmlns:a="http://schemas.openxmlformats.org/drawingml/2006/main">
              <a:ext uri="{FF2B5EF4-FFF2-40B4-BE49-F238E27FC236}">
                <a16:creationId xmlns:a16="http://schemas.microsoft.com/office/drawing/2014/main" id="{8527593E-1936-46BA-8FB5-FC16CB1F9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81625"/>
            <a:ext cx="10972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파일 이름보다, 적용할 때와 고칠 책임을 먼저 정한다</a:t>
            </a:r>
          </a:p>
        </p:txBody>
      </p:sp>
      <p:sp>
        <p:nvSpPr>
          <p:cNvPr id="17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40B1DDD9-7C34-4436-A864-4A0C791C9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M2 · M8</a:t>
            </a:r>
          </a:p>
        </p:txBody>
      </p:sp>
    </p:spTree>
    <p:extLst>
      <p:ext uri="{BB962C8B-B14F-4D97-AF65-F5344CB8AC3E}">
        <p14:creationId xmlns:p14="http://schemas.microsoft.com/office/powerpoint/2010/main" val="61354889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ACT 3 · normalize 요청을 끝까지 따라가기">
            <a:extLst xmlns:a="http://schemas.openxmlformats.org/drawingml/2006/main">
              <a:ext uri="{FF2B5EF4-FFF2-40B4-BE49-F238E27FC236}">
                <a16:creationId xmlns:a16="http://schemas.microsoft.com/office/drawing/2014/main" id="{D3E092FE-B2CE-46E0-9D69-10761AC06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3 · normalize 요청을 끝까지 따라가기</a:t>
            </a:r>
          </a:p>
        </p:txBody>
      </p:sp>
      <p:sp>
        <p:nvSpPr>
          <p:cNvPr id="2" name="S52">
            <a:extLst xmlns:a="http://schemas.openxmlformats.org/drawingml/2006/main">
              <a:ext uri="{FF2B5EF4-FFF2-40B4-BE49-F238E27FC236}">
                <a16:creationId xmlns:a16="http://schemas.microsoft.com/office/drawing/2014/main" id="{B3299A10-CCBE-4BAC-BF25-CCA2689C7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S52</a:t>
            </a:r>
          </a:p>
        </p:txBody>
      </p:sp>
      <p:sp>
        <p:nvSpPr>
          <p:cNvPr id="3" name="한 성능 작업에 세 책임을 적용하면">
            <a:extLst xmlns:a="http://schemas.openxmlformats.org/drawingml/2006/main">
              <a:ext uri="{FF2B5EF4-FFF2-40B4-BE49-F238E27FC236}">
                <a16:creationId xmlns:a16="http://schemas.microsoft.com/office/drawing/2014/main" id="{318DC3E5-9634-4D54-8905-AD1CD7DE5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한 성능 작업에 세 책임을 적용하면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4C49B5-B28F-40A6-8E35-89B2F792F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교육용 적용 예 · TRIAL-006/007의 목표·보존 조건·절차를 구분">
            <a:extLst xmlns:a="http://schemas.openxmlformats.org/drawingml/2006/main">
              <a:ext uri="{FF2B5EF4-FFF2-40B4-BE49-F238E27FC236}">
                <a16:creationId xmlns:a16="http://schemas.microsoft.com/office/drawing/2014/main" id="{ED03C3AC-0F5A-4247-AC47-3C9917E35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교육용 적용 예 · TRIAL-006/007의 목표·보존 조건·절차를 구분</a:t>
            </a:r>
          </a:p>
        </p:txBody>
      </p:sp>
      <p:sp>
        <p:nvSpPr>
          <p:cNvPr id="6" name="세 책임은 함께 적용됨 · 공식 제품 분류나 이 예시를 그대로 실행한 새 Trial이 아님">
            <a:extLst xmlns:a="http://schemas.openxmlformats.org/drawingml/2006/main">
              <a:ext uri="{FF2B5EF4-FFF2-40B4-BE49-F238E27FC236}">
                <a16:creationId xmlns:a16="http://schemas.microsoft.com/office/drawing/2014/main" id="{C75FAA78-FEB9-42DA-8036-B5B4BA43E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세 책임은 함께 적용됨 · 공식 제품 분류나 이 예시를 그대로 실행한 새 Trial이 아님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C12980-67E6-43B1-975D-2B142A0B2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71725"/>
            <a:ext cx="33528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8" name="01  이번 요청">
            <a:extLst xmlns:a="http://schemas.openxmlformats.org/drawingml/2006/main">
              <a:ext uri="{FF2B5EF4-FFF2-40B4-BE49-F238E27FC236}">
                <a16:creationId xmlns:a16="http://schemas.microsoft.com/office/drawing/2014/main" id="{BA73D671-2B72-40D6-A7FF-1CB523BA1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86025"/>
            <a:ext cx="3009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01  이번 요청</a:t>
            </a:r>
          </a:p>
        </p:txBody>
      </p:sp>
      <p:sp>
        <p:nvSpPr>
          <p:cNvPr id="9" name="normalize 성능을 조사해줘.">
            <a:extLst xmlns:a="http://schemas.openxmlformats.org/drawingml/2006/main">
              <a:ext uri="{FF2B5EF4-FFF2-40B4-BE49-F238E27FC236}">
                <a16:creationId xmlns:a16="http://schemas.microsoft.com/office/drawing/2014/main" id="{46CD1FB8-5F0A-4D77-9E8B-565F882E5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09900"/>
            <a:ext cx="3009900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normalize 성능을 조사해줘.</a:t>
            </a:r>
          </a:p>
        </p:txBody>
      </p:sp>
      <p:sp>
        <p:nvSpPr>
          <p:cNvPr id="10" name="현재 목표와 허용 범위">
            <a:extLst xmlns:a="http://schemas.openxmlformats.org/drawingml/2006/main">
              <a:ext uri="{FF2B5EF4-FFF2-40B4-BE49-F238E27FC236}">
                <a16:creationId xmlns:a16="http://schemas.microsoft.com/office/drawing/2014/main" id="{B6128B4E-8C79-4C68-9B3E-F73B89FDF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67275"/>
            <a:ext cx="335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현재 목표와 허용 범위</a:t>
            </a:r>
          </a:p>
        </p:txBody>
      </p:sp>
      <p:sp>
        <p:nvSpPr>
          <p:cNvPr id="11" name="+">
            <a:extLst xmlns:a="http://schemas.openxmlformats.org/drawingml/2006/main">
              <a:ext uri="{FF2B5EF4-FFF2-40B4-BE49-F238E27FC236}">
                <a16:creationId xmlns:a16="http://schemas.microsoft.com/office/drawing/2014/main" id="{8BDE927D-80BC-4FAB-B73E-747FA2F61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7175" y="3171825"/>
            <a:ext cx="2286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+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C963B16-C335-4C71-99F4-86DE58F14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371725"/>
            <a:ext cx="33528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3" name="02  프로젝트 기준">
            <a:extLst xmlns:a="http://schemas.openxmlformats.org/drawingml/2006/main">
              <a:ext uri="{FF2B5EF4-FFF2-40B4-BE49-F238E27FC236}">
                <a16:creationId xmlns:a16="http://schemas.microsoft.com/office/drawing/2014/main" id="{148B573C-1432-4483-9E61-5934EE1B0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486025"/>
            <a:ext cx="3009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02  프로젝트 기준</a:t>
            </a:r>
          </a:p>
        </p:txBody>
      </p:sp>
      <p:sp>
        <p:nvSpPr>
          <p:cNvPr id="14" name="기존 이미지 동작과&#10;공개 명세를 보존한다.">
            <a:extLst xmlns:a="http://schemas.openxmlformats.org/drawingml/2006/main">
              <a:ext uri="{FF2B5EF4-FFF2-40B4-BE49-F238E27FC236}">
                <a16:creationId xmlns:a16="http://schemas.microsoft.com/office/drawing/2014/main" id="{EABE4131-A167-46AC-93D2-32DAEAD80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009900"/>
            <a:ext cx="3009900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기존 이미지 동작과</a:t>
            </a:r>
          </a:p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공개 명세를 보존한다.</a:t>
            </a:r>
          </a:p>
        </p:txBody>
      </p:sp>
      <p:sp>
        <p:nvSpPr>
          <p:cNvPr id="15" name="계속 참고할 정보">
            <a:extLst xmlns:a="http://schemas.openxmlformats.org/drawingml/2006/main">
              <a:ext uri="{FF2B5EF4-FFF2-40B4-BE49-F238E27FC236}">
                <a16:creationId xmlns:a16="http://schemas.microsoft.com/office/drawing/2014/main" id="{7B58FC5E-A048-415E-A522-6F4D08D2A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867275"/>
            <a:ext cx="335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계속 참고할 정보</a:t>
            </a:r>
          </a:p>
        </p:txBody>
      </p:sp>
      <p:sp>
        <p:nvSpPr>
          <p:cNvPr id="16" name="+">
            <a:extLst xmlns:a="http://schemas.openxmlformats.org/drawingml/2006/main">
              <a:ext uri="{FF2B5EF4-FFF2-40B4-BE49-F238E27FC236}">
                <a16:creationId xmlns:a16="http://schemas.microsoft.com/office/drawing/2014/main" id="{99570113-0D9C-4EB8-802C-4BE54ED90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7175" y="3171825"/>
            <a:ext cx="2286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+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E91B7CF-132A-41F5-A7F9-93E2F4C55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371725"/>
            <a:ext cx="33528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8" name="03  수행 방법">
            <a:extLst xmlns:a="http://schemas.openxmlformats.org/drawingml/2006/main">
              <a:ext uri="{FF2B5EF4-FFF2-40B4-BE49-F238E27FC236}">
                <a16:creationId xmlns:a16="http://schemas.microsoft.com/office/drawing/2014/main" id="{E2B3ABB3-51ED-495A-A2C1-354F97035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486025"/>
            <a:ext cx="3009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03  수행 방법</a:t>
            </a:r>
          </a:p>
        </p:txBody>
      </p:sp>
      <p:sp>
        <p:nvSpPr>
          <p:cNvPr id="19" name="먼저 측정·조사하고&#10;변경 뒤 검증·비교한다.">
            <a:extLst xmlns:a="http://schemas.openxmlformats.org/drawingml/2006/main">
              <a:ext uri="{FF2B5EF4-FFF2-40B4-BE49-F238E27FC236}">
                <a16:creationId xmlns:a16="http://schemas.microsoft.com/office/drawing/2014/main" id="{FD25B1E1-12FF-4AAA-9FBB-3C96BCB39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3009900"/>
            <a:ext cx="3009900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먼저 측정·조사하고</a:t>
            </a:r>
          </a:p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변경 뒤 검증·비교한다.</a:t>
            </a:r>
          </a:p>
        </p:txBody>
      </p:sp>
      <p:sp>
        <p:nvSpPr>
          <p:cNvPr id="20" name="다시 쓸 작업 절차">
            <a:extLst xmlns:a="http://schemas.openxmlformats.org/drawingml/2006/main">
              <a:ext uri="{FF2B5EF4-FFF2-40B4-BE49-F238E27FC236}">
                <a16:creationId xmlns:a16="http://schemas.microsoft.com/office/drawing/2014/main" id="{940EFC3D-68A1-43EC-A44E-C4925E152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867275"/>
            <a:ext cx="335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다시 쓸 작업 절차</a:t>
            </a:r>
          </a:p>
        </p:txBody>
      </p:sp>
      <p:sp>
        <p:nvSpPr>
          <p:cNvPr id="21" name="다음 작업에도 같은 수행 방법이 필요하다면?">
            <a:extLst xmlns:a="http://schemas.openxmlformats.org/drawingml/2006/main">
              <a:ext uri="{FF2B5EF4-FFF2-40B4-BE49-F238E27FC236}">
                <a16:creationId xmlns:a16="http://schemas.microsoft.com/office/drawing/2014/main" id="{76E9A775-832E-4CFF-8D11-B8F17C764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00675"/>
            <a:ext cx="10972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다음 작업에도 같은 수행 방법이 필요하다면?</a:t>
            </a:r>
          </a:p>
        </p:txBody>
      </p:sp>
      <p:sp>
        <p:nvSpPr>
          <p:cNvPr id="22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922F9AEB-F044-4E6A-BBC9-CA06B0522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M2 · M8</a:t>
            </a:r>
          </a:p>
        </p:txBody>
      </p:sp>
    </p:spTree>
    <p:extLst>
      <p:ext uri="{BB962C8B-B14F-4D97-AF65-F5344CB8AC3E}">
        <p14:creationId xmlns:p14="http://schemas.microsoft.com/office/powerpoint/2010/main" val="102524127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ACT 3 · Skill은 재사용할 방법의 한 가지 구현">
            <a:extLst xmlns:a="http://schemas.openxmlformats.org/drawingml/2006/main">
              <a:ext uri="{FF2B5EF4-FFF2-40B4-BE49-F238E27FC236}">
                <a16:creationId xmlns:a16="http://schemas.microsoft.com/office/drawing/2014/main" id="{628B1875-3EAF-4B74-B0BA-879BF2CC0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3 · Skill은 재사용할 방법의 한 가지 구현</a:t>
            </a:r>
          </a:p>
        </p:txBody>
      </p:sp>
      <p:sp>
        <p:nvSpPr>
          <p:cNvPr id="2" name="S53">
            <a:extLst xmlns:a="http://schemas.openxmlformats.org/drawingml/2006/main">
              <a:ext uri="{FF2B5EF4-FFF2-40B4-BE49-F238E27FC236}">
                <a16:creationId xmlns:a16="http://schemas.microsoft.com/office/drawing/2014/main" id="{5B13A68C-554D-4A92-9B1F-3C8B5F11F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S53</a:t>
            </a:r>
          </a:p>
        </p:txBody>
      </p:sp>
      <p:sp>
        <p:nvSpPr>
          <p:cNvPr id="3" name="반복 절차의 유지 위치를 선택한다">
            <a:extLst xmlns:a="http://schemas.openxmlformats.org/drawingml/2006/main">
              <a:ext uri="{FF2B5EF4-FFF2-40B4-BE49-F238E27FC236}">
                <a16:creationId xmlns:a16="http://schemas.microsoft.com/office/drawing/2014/main" id="{A242DE47-C970-4FDD-B7C9-E8E7B0DFE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반복 절차의 유지 위치를 선택한다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FF74E4-3407-48E7-AD89-280CA2973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DEC-0017 · Repository-owned performance Skill을 선택한 설계 후보">
            <a:extLst xmlns:a="http://schemas.openxmlformats.org/drawingml/2006/main">
              <a:ext uri="{FF2B5EF4-FFF2-40B4-BE49-F238E27FC236}">
                <a16:creationId xmlns:a16="http://schemas.microsoft.com/office/drawing/2014/main" id="{DAD227E3-E4FF-48AC-9055-A197A7ADE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DEC-0017 · Repository-owned performance Skill을 선택한 설계 후보</a:t>
            </a:r>
          </a:p>
        </p:txBody>
      </p:sp>
      <p:sp>
        <p:nvSpPr>
          <p:cNvPr id="6" name="성공 결과를 미리 제시하지 않음 · 현재 제품 표면·계정·호출 경로는 별도 확인 필요">
            <a:extLst xmlns:a="http://schemas.openxmlformats.org/drawingml/2006/main">
              <a:ext uri="{FF2B5EF4-FFF2-40B4-BE49-F238E27FC236}">
                <a16:creationId xmlns:a16="http://schemas.microsoft.com/office/drawing/2014/main" id="{7F4B9510-578C-4F04-B63B-D6E190958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성공 결과를 미리 제시하지 않음 · 현재 제품 표면·계정·호출 경로는 별도 확인 필요</a:t>
            </a:r>
          </a:p>
        </p:txBody>
      </p:sp>
      <p:sp>
        <p:nvSpPr>
          <p:cNvPr id="7" name="Task마다 달라질 부분과, 함께 고칠 방법을 나눈다">
            <a:extLst xmlns:a="http://schemas.openxmlformats.org/drawingml/2006/main">
              <a:ext uri="{FF2B5EF4-FFF2-40B4-BE49-F238E27FC236}">
                <a16:creationId xmlns:a16="http://schemas.microsoft.com/office/drawing/2014/main" id="{73C5E841-7810-4BB6-BF77-B567ED4CB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Task마다 달라질 부분과, 함께 고칠 방법을 나눈다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6525075-2B7F-40F5-8E9D-9BB2D7EBB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90775"/>
            <a:ext cx="4333875" cy="2371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9" name="매번 달라지는 요청">
            <a:extLst xmlns:a="http://schemas.openxmlformats.org/drawingml/2006/main">
              <a:ext uri="{FF2B5EF4-FFF2-40B4-BE49-F238E27FC236}">
                <a16:creationId xmlns:a16="http://schemas.microsoft.com/office/drawing/2014/main" id="{44CA76BF-6D12-42B7-AC13-C80321E3F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05075"/>
            <a:ext cx="39909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매번 달라지는 요청</a:t>
            </a:r>
          </a:p>
        </p:txBody>
      </p:sp>
      <p:sp>
        <p:nvSpPr>
          <p:cNvPr id="10" name="어느 함수를 조사할까?&#10;이번 변경 범위는?&#10;무엇을 보존할까?">
            <a:extLst xmlns:a="http://schemas.openxmlformats.org/drawingml/2006/main">
              <a:ext uri="{FF2B5EF4-FFF2-40B4-BE49-F238E27FC236}">
                <a16:creationId xmlns:a16="http://schemas.microsoft.com/office/drawing/2014/main" id="{FA4C04E4-45C6-4D1E-A9FC-31611ACA8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28950"/>
            <a:ext cx="3990975" cy="1628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어느 함수를 조사할까?</a:t>
            </a:r>
          </a:p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이번 변경 범위는?</a:t>
            </a:r>
          </a:p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무엇을 보존할까?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F3E72F3-4A65-49D7-B9C7-0CA3A9B67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3333750"/>
            <a:ext cx="381000" cy="2381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191299C-50B2-4AAA-9AC6-3E593B8DC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2390775"/>
            <a:ext cx="5495925" cy="2371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3" name="프로젝트가 재사용할 절차">
            <a:extLst xmlns:a="http://schemas.openxmlformats.org/drawingml/2006/main">
              <a:ext uri="{FF2B5EF4-FFF2-40B4-BE49-F238E27FC236}">
                <a16:creationId xmlns:a16="http://schemas.microsoft.com/office/drawing/2014/main" id="{294884B3-99BA-47B9-8E7A-0645BA9F3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2505075"/>
            <a:ext cx="51530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프로젝트가 재사용할 절차</a:t>
            </a:r>
          </a:p>
        </p:txBody>
      </p:sp>
      <p:sp>
        <p:nvSpPr>
          <p:cNvPr id="14" name="기준선 → 조사 → 변경 판단&#10;검증 → 동일 측정 → 보고">
            <a:extLst xmlns:a="http://schemas.openxmlformats.org/drawingml/2006/main">
              <a:ext uri="{FF2B5EF4-FFF2-40B4-BE49-F238E27FC236}">
                <a16:creationId xmlns:a16="http://schemas.microsoft.com/office/drawing/2014/main" id="{2321491D-583B-4F9C-BAA3-3B206A73A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028950"/>
            <a:ext cx="5153025" cy="1628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기준선 → 조사 → 변경 판단</a:t>
            </a:r>
          </a:p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검증 → 동일 측정 → 보고</a:t>
            </a:r>
          </a:p>
        </p:txBody>
      </p:sp>
      <p:sp>
        <p:nvSpPr>
          <p:cNvPr id="15" name="구현 후보: SKILL.md">
            <a:extLst xmlns:a="http://schemas.openxmlformats.org/drawingml/2006/main">
              <a:ext uri="{FF2B5EF4-FFF2-40B4-BE49-F238E27FC236}">
                <a16:creationId xmlns:a16="http://schemas.microsoft.com/office/drawing/2014/main" id="{1601AF17-54F0-4774-BC27-EF9382A92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4295775"/>
            <a:ext cx="511492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87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구현 후보: SKILL.md</a:t>
            </a:r>
          </a:p>
        </p:txBody>
      </p:sp>
      <p:sp>
        <p:nvSpPr>
          <p:cNvPr id="16" name="다음 기록에서, 발견·호출·본문 포함을 확인한다">
            <a:extLst xmlns:a="http://schemas.openxmlformats.org/drawingml/2006/main">
              <a:ext uri="{FF2B5EF4-FFF2-40B4-BE49-F238E27FC236}">
                <a16:creationId xmlns:a16="http://schemas.microsoft.com/office/drawing/2014/main" id="{E6B5E374-DA15-456F-9A41-64AE5B5BB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9590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다음 기록에서, 발견·호출·본문 포함을 확인한다</a:t>
            </a:r>
          </a:p>
        </p:txBody>
      </p:sp>
      <p:sp>
        <p:nvSpPr>
          <p:cNvPr id="17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C4CF684B-3DF1-47E0-861B-5D1C01063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M2 · M8</a:t>
            </a:r>
          </a:p>
        </p:txBody>
      </p:sp>
    </p:spTree>
    <p:extLst>
      <p:ext uri="{BB962C8B-B14F-4D97-AF65-F5344CB8AC3E}">
        <p14:creationId xmlns:p14="http://schemas.microsoft.com/office/powerpoint/2010/main" val="101972717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ACT 3 · 밝기 통계 작업에서 확인한 CLI 기록">
            <a:extLst xmlns:a="http://schemas.openxmlformats.org/drawingml/2006/main">
              <a:ext uri="{FF2B5EF4-FFF2-40B4-BE49-F238E27FC236}">
                <a16:creationId xmlns:a16="http://schemas.microsoft.com/office/drawing/2014/main" id="{3F0D7E63-0F7B-491B-8530-94ACAD027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3 · 밝기 통계 작업에서 확인한 CLI 기록</a:t>
            </a:r>
          </a:p>
        </p:txBody>
      </p:sp>
      <p:sp>
        <p:nvSpPr>
          <p:cNvPr id="2" name="S54">
            <a:extLst xmlns:a="http://schemas.openxmlformats.org/drawingml/2006/main">
              <a:ext uri="{FF2B5EF4-FFF2-40B4-BE49-F238E27FC236}">
                <a16:creationId xmlns:a16="http://schemas.microsoft.com/office/drawing/2014/main" id="{0176F651-1C5F-45E4-B61A-2C5DF3D24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S54</a:t>
            </a:r>
          </a:p>
        </p:txBody>
      </p:sp>
      <p:sp>
        <p:nvSpPr>
          <p:cNvPr id="3" name="Skill의 발견과 본문 포함을 확인했다">
            <a:extLst xmlns:a="http://schemas.openxmlformats.org/drawingml/2006/main">
              <a:ext uri="{FF2B5EF4-FFF2-40B4-BE49-F238E27FC236}">
                <a16:creationId xmlns:a16="http://schemas.microsoft.com/office/drawing/2014/main" id="{F9138E4C-28EC-4CE1-8502-E85D263C1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Skill의 발견과 본문 포함을 확인했다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F84EAAF-7098-450C-B16F-D5AAFC987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TRIAL-008 · Codex CLI 0.154.0 · 아래는 기록 요약·재구성이며 실제 UI 캡처가 아님">
            <a:extLst xmlns:a="http://schemas.openxmlformats.org/drawingml/2006/main">
              <a:ext uri="{FF2B5EF4-FFF2-40B4-BE49-F238E27FC236}">
                <a16:creationId xmlns:a16="http://schemas.microsoft.com/office/drawing/2014/main" id="{C5BF7CE8-E5A8-40C0-8C75-8CADEED28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TRIAL-008 · Codex CLI 0.154.0 · 아래는 기록 요약·재구성이며 실제 UI 캡처가 아님</a:t>
            </a:r>
          </a:p>
        </p:txBody>
      </p:sp>
      <p:sp>
        <p:nvSpPr>
          <p:cNvPr id="6" name="별도 load UI 이벤트 없음 · 본문 포함이 모든 지침 준수나 현재 Desktop 동작을 보장하지 않음">
            <a:extLst xmlns:a="http://schemas.openxmlformats.org/drawingml/2006/main">
              <a:ext uri="{FF2B5EF4-FFF2-40B4-BE49-F238E27FC236}">
                <a16:creationId xmlns:a16="http://schemas.microsoft.com/office/drawing/2014/main" id="{08722F7F-0D17-455D-A38A-32CE3B1A7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별도 load UI 이벤트 없음 · 본문 포함이 모든 지침 준수나 현재 Desktop 동작을 보장하지 않음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408F8B-1EE9-4E34-921E-B9A9E51C8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1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8" name="01">
            <a:extLst xmlns:a="http://schemas.openxmlformats.org/drawingml/2006/main">
              <a:ext uri="{FF2B5EF4-FFF2-40B4-BE49-F238E27FC236}">
                <a16:creationId xmlns:a16="http://schemas.microsoft.com/office/drawing/2014/main" id="{EED83E98-60A0-43E1-B220-FEFD91277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52650"/>
            <a:ext cx="57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950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9" name="목록에서 발견">
            <a:extLst xmlns:a="http://schemas.openxmlformats.org/drawingml/2006/main">
              <a:ext uri="{FF2B5EF4-FFF2-40B4-BE49-F238E27FC236}">
                <a16:creationId xmlns:a16="http://schemas.microsoft.com/office/drawing/2014/main" id="{30AF7804-218C-4E87-AD57-30B70F8D3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2105025"/>
            <a:ext cx="101441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목록에서 발견</a:t>
            </a:r>
          </a:p>
        </p:txBody>
      </p:sp>
      <p:sp>
        <p:nvSpPr>
          <p:cNvPr id="10" name="/skills → graypipe-performance">
            <a:extLst xmlns:a="http://schemas.openxmlformats.org/drawingml/2006/main">
              <a:ext uri="{FF2B5EF4-FFF2-40B4-BE49-F238E27FC236}">
                <a16:creationId xmlns:a16="http://schemas.microsoft.com/office/drawing/2014/main" id="{524B2B66-8199-47F6-8596-237386A5F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2514600"/>
            <a:ext cx="1014412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1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1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1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1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1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1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1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1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1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217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/skills → graypipe-performance</a:t>
            </a:r>
          </a:p>
        </p:txBody>
      </p:sp>
      <p:sp>
        <p:nvSpPr>
          <p:cNvPr id="11" name="이름과 잘린 설명이 표시됨 · 경로는 목록에 없었음">
            <a:extLst xmlns:a="http://schemas.openxmlformats.org/drawingml/2006/main">
              <a:ext uri="{FF2B5EF4-FFF2-40B4-BE49-F238E27FC236}">
                <a16:creationId xmlns:a16="http://schemas.microsoft.com/office/drawing/2014/main" id="{4D520E9B-CF7C-4720-AB21-3E9D705B0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2876550"/>
            <a:ext cx="10144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이름과 잘린 설명이 표시됨 · 경로는 목록에 없었음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C6E876B-A7EA-408F-860C-7A415BF5D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099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3" name="02">
            <a:extLst xmlns:a="http://schemas.openxmlformats.org/drawingml/2006/main">
              <a:ext uri="{FF2B5EF4-FFF2-40B4-BE49-F238E27FC236}">
                <a16:creationId xmlns:a16="http://schemas.microsoft.com/office/drawing/2014/main" id="{089BC280-F1C5-462C-AD96-46C98CD19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43275"/>
            <a:ext cx="57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950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4" name="작업과 함께 명시적으로 호출">
            <a:extLst xmlns:a="http://schemas.openxmlformats.org/drawingml/2006/main">
              <a:ext uri="{FF2B5EF4-FFF2-40B4-BE49-F238E27FC236}">
                <a16:creationId xmlns:a16="http://schemas.microsoft.com/office/drawing/2014/main" id="{8003CEF9-7AE2-486B-8F8C-24C10F023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3295650"/>
            <a:ext cx="101441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작업과 함께 명시적으로 호출</a:t>
            </a:r>
          </a:p>
        </p:txBody>
      </p:sp>
      <p:sp>
        <p:nvSpPr>
          <p:cNvPr id="15" name="$graypipe-performance">
            <a:extLst xmlns:a="http://schemas.openxmlformats.org/drawingml/2006/main">
              <a:ext uri="{FF2B5EF4-FFF2-40B4-BE49-F238E27FC236}">
                <a16:creationId xmlns:a16="http://schemas.microsoft.com/office/drawing/2014/main" id="{BA93C56D-4A28-4365-B4E5-39FDA9AEE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3705225"/>
            <a:ext cx="1014412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1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1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1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1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1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1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1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1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1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217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$graypipe-performance</a:t>
            </a:r>
          </a:p>
        </p:txBody>
      </p:sp>
      <p:sp>
        <p:nvSpPr>
          <p:cNvPr id="16" name="밝기 통계(image_statistics)의 시간·할당량 조사">
            <a:extLst xmlns:a="http://schemas.openxmlformats.org/drawingml/2006/main">
              <a:ext uri="{FF2B5EF4-FFF2-40B4-BE49-F238E27FC236}">
                <a16:creationId xmlns:a16="http://schemas.microsoft.com/office/drawing/2014/main" id="{F27F385E-64EA-4185-A073-816A2A19D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4067175"/>
            <a:ext cx="10144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밝기 통계(image_statistics)의 시간·할당량 조사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12A632B-F3E0-4E8E-A69B-C3B2C8104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005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8" name="03">
            <a:extLst xmlns:a="http://schemas.openxmlformats.org/drawingml/2006/main">
              <a:ext uri="{FF2B5EF4-FFF2-40B4-BE49-F238E27FC236}">
                <a16:creationId xmlns:a16="http://schemas.microsoft.com/office/drawing/2014/main" id="{E1190E11-2098-4DBD-AF8B-BA92BD642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33900"/>
            <a:ext cx="57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950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9" name="실행 기록에서 본문 포함 확인">
            <a:extLst xmlns:a="http://schemas.openxmlformats.org/drawingml/2006/main">
              <a:ext uri="{FF2B5EF4-FFF2-40B4-BE49-F238E27FC236}">
                <a16:creationId xmlns:a16="http://schemas.microsoft.com/office/drawing/2014/main" id="{36C04168-98BF-4BA8-A33E-63D34BB94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4486275"/>
            <a:ext cx="101441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실행 기록에서 본문 포함 확인</a:t>
            </a:r>
          </a:p>
        </p:txBody>
      </p:sp>
      <p:sp>
        <p:nvSpPr>
          <p:cNvPr id="20" name=".agents/skills/graypipe-performance/SKILL.md">
            <a:extLst xmlns:a="http://schemas.openxmlformats.org/drawingml/2006/main">
              <a:ext uri="{FF2B5EF4-FFF2-40B4-BE49-F238E27FC236}">
                <a16:creationId xmlns:a16="http://schemas.microsoft.com/office/drawing/2014/main" id="{42927F20-2B81-4811-BCDE-F33F87797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4895850"/>
            <a:ext cx="1014412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800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.agents/skills/graypipe-performance/SKILL.md</a:t>
            </a:r>
          </a:p>
        </p:txBody>
      </p:sp>
      <p:sp>
        <p:nvSpPr>
          <p:cNvPr id="21" name="이름·경로·전체 지침 본문이 실행 trace에 포함됨">
            <a:extLst xmlns:a="http://schemas.openxmlformats.org/drawingml/2006/main">
              <a:ext uri="{FF2B5EF4-FFF2-40B4-BE49-F238E27FC236}">
                <a16:creationId xmlns:a16="http://schemas.microsoft.com/office/drawing/2014/main" id="{DB948DFA-5D04-4101-9733-351D7C4AD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5257800"/>
            <a:ext cx="10144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이름·경로·전체 지침 본문이 실행 trace에 포함됨</a:t>
            </a:r>
          </a:p>
        </p:txBody>
      </p:sp>
      <p:sp>
        <p:nvSpPr>
          <p:cNvPr id="22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53D4A8FD-FE02-4C24-AB9C-6D273D989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76040789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ACT 3 · 위치 이동을 실제 문장과 기록으로 확인">
            <a:extLst xmlns:a="http://schemas.openxmlformats.org/drawingml/2006/main">
              <a:ext uri="{FF2B5EF4-FFF2-40B4-BE49-F238E27FC236}">
                <a16:creationId xmlns:a16="http://schemas.microsoft.com/office/drawing/2014/main" id="{052BE402-DE43-4303-B6B8-7198FC312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3 · 위치 이동을 실제 문장과 기록으로 확인</a:t>
            </a:r>
          </a:p>
        </p:txBody>
      </p:sp>
      <p:sp>
        <p:nvSpPr>
          <p:cNvPr id="2" name="S55">
            <a:extLst xmlns:a="http://schemas.openxmlformats.org/drawingml/2006/main">
              <a:ext uri="{FF2B5EF4-FFF2-40B4-BE49-F238E27FC236}">
                <a16:creationId xmlns:a16="http://schemas.microsoft.com/office/drawing/2014/main" id="{52462831-F289-4C26-8314-898D29E73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S55</a:t>
            </a:r>
          </a:p>
        </p:txBody>
      </p:sp>
      <p:sp>
        <p:nvSpPr>
          <p:cNvPr id="3" name="Skill의 지침과 관찰된 작업을 대응한다">
            <a:extLst xmlns:a="http://schemas.openxmlformats.org/drawingml/2006/main">
              <a:ext uri="{FF2B5EF4-FFF2-40B4-BE49-F238E27FC236}">
                <a16:creationId xmlns:a16="http://schemas.microsoft.com/office/drawing/2014/main" id="{6F80A6F0-C8C9-4C09-89C8-B7ECE98E7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Skill의 지침과 관찰된 작업을 대응한다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2FBF68-0E22-4C5D-B659-A4626C3AA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STATE-04 SKILL.md 발췌 ↔ TRIAL-008의 보존된 관찰 요약 · 원문 실행 로그 화면이 아">
            <a:extLst xmlns:a="http://schemas.openxmlformats.org/drawingml/2006/main">
              <a:ext uri="{FF2B5EF4-FFF2-40B4-BE49-F238E27FC236}">
                <a16:creationId xmlns:a16="http://schemas.microsoft.com/office/drawing/2014/main" id="{2D4CC969-BB39-4734-8FB9-69F5BD90F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STATE-04 SKILL.md 발췌 ↔ TRIAL-008의 보존된 관찰 요약 · 원문 실행 로그 화면이 아님</a:t>
            </a:r>
          </a:p>
        </p:txBody>
      </p:sp>
      <p:sp>
        <p:nvSpPr>
          <p:cNvPr id="6" name="본문 포함과 관찰의 대응 · Skill 단독 인과성·우월성·토큰/속도 효과를 입증하지 않음">
            <a:extLst xmlns:a="http://schemas.openxmlformats.org/drawingml/2006/main">
              <a:ext uri="{FF2B5EF4-FFF2-40B4-BE49-F238E27FC236}">
                <a16:creationId xmlns:a16="http://schemas.microsoft.com/office/drawing/2014/main" id="{3A52D5A2-A224-4837-9537-2C2C8C3FA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본문 포함과 관찰의 대응 · Skill 단독 인과성·우월성·토큰/속도 효과를 입증하지 않음</a:t>
            </a:r>
          </a:p>
        </p:txBody>
      </p:sp>
      <p:sp>
        <p:nvSpPr>
          <p:cNvPr id="7" name="normalize의 긴 요청 → 밝기 통계 요청 + 재사용 Skill">
            <a:extLst xmlns:a="http://schemas.openxmlformats.org/drawingml/2006/main">
              <a:ext uri="{FF2B5EF4-FFF2-40B4-BE49-F238E27FC236}">
                <a16:creationId xmlns:a16="http://schemas.microsoft.com/office/drawing/2014/main" id="{77B05CFD-CDB3-4DD2-9101-54996FF25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normalize의 긴 요청 → 밝기 통계 요청 + 재사용 Skill</a:t>
            </a:r>
          </a:p>
        </p:txBody>
      </p:sp>
      <p:graphicFrame>
        <p:nvGraphicFrame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598D5E2-3B1B-479A-AC32-23E22A899FCE}"/>
              </a:ext>
            </a:extLst>
          </p:cNvPr>
          <p:cNvGraphicFramePr/>
          <p:nvPr/>
        </p:nvGraphicFramePr>
        <p:xfrm>
          <a:off xmlns:a="http://schemas.openxmlformats.org/drawingml/2006/main" x="609600" y="2343150"/>
          <a:ext xmlns:a="http://schemas.openxmlformats.org/drawingml/2006/main" cx="10972800" cy="295275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5191125"/>
                <a:gridCol w="5781675"/>
              </a:tblGrid>
              <a:tr h="438150">
                <a:tc>
                  <a:txBody>
                    <a:bodyPr wrap="none">
                      <a:noAutofit/>
                    </a:bodyPr>
                    <a:lstStyle/>
                    <a:p>
                      <a:pPr algn="l"/>
                      <a:r>
                        <a:rPr sz="1875" b="1">
                          <a:solidFill>
                            <a:srgbClr val="0B617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Skill의 지침 · 원문 발췌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C7D0DA"/>
                      </a:solidFill>
                      <a:prstDash val="solid"/>
                    </a:lnL>
                    <a:lnR w="7620">
                      <a:solidFill>
                        <a:srgbClr val="C7D0DA"/>
                      </a:solidFill>
                      <a:prstDash val="solid"/>
                    </a:lnR>
                    <a:lnT w="7620">
                      <a:solidFill>
                        <a:srgbClr val="C7D0DA"/>
                      </a:solidFill>
                      <a:prstDash val="solid"/>
                    </a:lnT>
                    <a:lnB w="7620">
                      <a:solidFill>
                        <a:srgbClr val="C7D0DA"/>
                      </a:solidFill>
                      <a:prstDash val="solid"/>
                    </a:lnB>
                    <a:solidFill>
                      <a:srgbClr val="E0EFF0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/>
                      <a:r>
                        <a:rPr sz="1875" b="1">
                          <a:solidFill>
                            <a:srgbClr val="0B617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같은 Trial에서 관찰된 기록 · 요약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C7D0DA"/>
                      </a:solidFill>
                      <a:prstDash val="solid"/>
                    </a:lnR>
                    <a:lnT w="7620">
                      <a:solidFill>
                        <a:srgbClr val="C7D0DA"/>
                      </a:solidFill>
                      <a:prstDash val="solid"/>
                    </a:lnT>
                    <a:lnB w="7620">
                      <a:solidFill>
                        <a:srgbClr val="C7D0DA"/>
                      </a:solidFill>
                      <a:prstDash val="solid"/>
                    </a:lnB>
                    <a:solidFill>
                      <a:srgbClr val="E0EFF0"/>
                    </a:solidFill>
                  </a:tcPr>
                </a:tc>
              </a:tr>
              <a:tr h="838200">
                <a:tc>
                  <a:txBody>
                    <a:bodyPr wrap="none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17212B"/>
                          </a:solidFill>
                          <a:latin typeface="Consolas"/>
                          <a:ea typeface="Consolas"/>
                          <a:cs typeface="Consolas"/>
                        </a:rPr>
                        <a:t>Establish a reproducible</a:t>
                      </a:r>
                    </a:p>
                    <a:p>
                      <a:pPr algn="l"/>
                      <a:r>
                        <a:rPr sz="1875" b="0">
                          <a:solidFill>
                            <a:srgbClr val="17212B"/>
                          </a:solidFill>
                          <a:latin typeface="Consolas"/>
                          <a:ea typeface="Consolas"/>
                          <a:cs typeface="Consolas"/>
                        </a:rPr>
                        <a:t>baseline before editing.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C7D0DA"/>
                      </a:solidFill>
                      <a:prstDash val="solid"/>
                    </a:lnL>
                    <a:lnR w="7620">
                      <a:solidFill>
                        <a:srgbClr val="C7D0DA"/>
                      </a:solidFill>
                      <a:prstDash val="solid"/>
                    </a:lnR>
                    <a:lnB w="7620">
                      <a:solidFill>
                        <a:srgbClr val="C7D0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1721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편집 전 같은 측정 명령으로 3회 실행</a:t>
                      </a:r>
                    </a:p>
                    <a:p>
                      <a:pPr algn="l"/>
                      <a:r>
                        <a:rPr sz="1875" b="0">
                          <a:solidFill>
                            <a:srgbClr val="1721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입력 지문과 결과 6항목 확인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C7D0DA"/>
                      </a:solidFill>
                      <a:prstDash val="solid"/>
                    </a:lnR>
                    <a:lnB w="7620">
                      <a:solidFill>
                        <a:srgbClr val="C7D0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38200">
                <a:tc>
                  <a:txBody>
                    <a:bodyPr wrap="none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17212B"/>
                          </a:solidFill>
                          <a:latin typeface="Consolas"/>
                          <a:ea typeface="Consolas"/>
                          <a:cs typeface="Consolas"/>
                        </a:rPr>
                        <a:t>State a concise plan before</a:t>
                      </a:r>
                    </a:p>
                    <a:p>
                      <a:pPr algn="l"/>
                      <a:r>
                        <a:rPr sz="1875" b="0">
                          <a:solidFill>
                            <a:srgbClr val="17212B"/>
                          </a:solidFill>
                          <a:latin typeface="Consolas"/>
                          <a:ea typeface="Consolas"/>
                          <a:cs typeface="Consolas"/>
                        </a:rPr>
                        <a:t>making edits …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C7D0DA"/>
                      </a:solidFill>
                      <a:prstDash val="solid"/>
                    </a:lnL>
                    <a:lnR w="7620">
                      <a:solidFill>
                        <a:srgbClr val="C7D0DA"/>
                      </a:solidFill>
                      <a:prstDash val="solid"/>
                    </a:lnR>
                    <a:lnB w="7620">
                      <a:solidFill>
                        <a:srgbClr val="C7D0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1721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변경 전 계획을 밝힘</a:t>
                      </a:r>
                    </a:p>
                    <a:p>
                      <a:pPr algn="l"/>
                      <a:r>
                        <a:rPr sz="1875" b="0">
                          <a:solidFill>
                            <a:srgbClr val="1721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statistics.py의 변경 범위를 한정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C7D0DA"/>
                      </a:solidFill>
                      <a:prstDash val="solid"/>
                    </a:lnR>
                    <a:lnB w="7620">
                      <a:solidFill>
                        <a:srgbClr val="C7D0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38200">
                <a:tc>
                  <a:txBody>
                    <a:bodyPr wrap="none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17212B"/>
                          </a:solidFill>
                          <a:latin typeface="Consolas"/>
                          <a:ea typeface="Consolas"/>
                          <a:cs typeface="Consolas"/>
                        </a:rPr>
                        <a:t>Repeat the same benchmark with</a:t>
                      </a:r>
                    </a:p>
                    <a:p>
                      <a:pPr algn="l"/>
                      <a:r>
                        <a:rPr sz="1875" b="0">
                          <a:solidFill>
                            <a:srgbClr val="17212B"/>
                          </a:solidFill>
                          <a:latin typeface="Consolas"/>
                          <a:ea typeface="Consolas"/>
                          <a:cs typeface="Consolas"/>
                        </a:rPr>
                        <a:t>the same input and settings …</a:t>
                      </a:r>
                    </a:p>
                  </a:txBody>
                  <a:tcPr marL="91440" marR="91440" marT="45720" marB="45720" anchor="ctr">
                    <a:lnL w="7620">
                      <a:solidFill>
                        <a:srgbClr val="C7D0DA"/>
                      </a:solidFill>
                      <a:prstDash val="solid"/>
                    </a:lnL>
                    <a:lnR w="7620">
                      <a:solidFill>
                        <a:srgbClr val="C7D0DA"/>
                      </a:solidFill>
                      <a:prstDash val="solid"/>
                    </a:lnR>
                    <a:lnB w="7620">
                      <a:solidFill>
                        <a:srgbClr val="C7D0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1721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함수·전체 테스트와 같은 benchmark</a:t>
                      </a:r>
                    </a:p>
                    <a:p>
                      <a:pPr algn="l"/>
                      <a:r>
                        <a:rPr sz="1875" b="0">
                          <a:solidFill>
                            <a:srgbClr val="1721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CLI 샘플·diff 확인 및 최종 검토</a:t>
                      </a:r>
                    </a:p>
                  </a:txBody>
                  <a:tcPr marL="91440" marR="91440" marT="45720" marB="45720" anchor="ctr">
                    <a:lnR w="7620">
                      <a:solidFill>
                        <a:srgbClr val="C7D0DA"/>
                      </a:solidFill>
                      <a:prstDash val="solid"/>
                    </a:lnR>
                    <a:lnB w="7620">
                      <a:solidFill>
                        <a:srgbClr val="C7D0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ask Prompt에는 이번 목표·6항목 보존·변경 범위를 남겼다">
            <a:extLst xmlns:a="http://schemas.openxmlformats.org/drawingml/2006/main">
              <a:ext uri="{FF2B5EF4-FFF2-40B4-BE49-F238E27FC236}">
                <a16:creationId xmlns:a16="http://schemas.microsoft.com/office/drawing/2014/main" id="{8915C11D-5DF4-4E7F-A56D-54FB49DB8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Task Prompt에는 이번 목표·6항목 보존·변경 범위를 남겼다</a:t>
            </a:r>
          </a:p>
        </p:txBody>
      </p:sp>
      <p:sp>
        <p:nvSpPr>
          <p:cNvPr id="10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60FB382C-D330-4091-9645-458DC0974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M2 · M8</a:t>
            </a:r>
          </a:p>
        </p:txBody>
      </p:sp>
    </p:spTree>
    <p:extLst>
      <p:ext uri="{BB962C8B-B14F-4D97-AF65-F5344CB8AC3E}">
        <p14:creationId xmlns:p14="http://schemas.microsoft.com/office/powerpoint/2010/main" val="139831770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ACT 3 · Skill에 고정할 것과 이번에 판단할 것">
            <a:extLst xmlns:a="http://schemas.openxmlformats.org/drawingml/2006/main">
              <a:ext uri="{FF2B5EF4-FFF2-40B4-BE49-F238E27FC236}">
                <a16:creationId xmlns:a16="http://schemas.microsoft.com/office/drawing/2014/main" id="{DA495C57-4FD4-4AEA-A025-98A590B36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3 · Skill에 고정할 것과 이번에 판단할 것</a:t>
            </a:r>
          </a:p>
        </p:txBody>
      </p:sp>
      <p:sp>
        <p:nvSpPr>
          <p:cNvPr id="2" name="S56">
            <a:extLst xmlns:a="http://schemas.openxmlformats.org/drawingml/2006/main">
              <a:ext uri="{FF2B5EF4-FFF2-40B4-BE49-F238E27FC236}">
                <a16:creationId xmlns:a16="http://schemas.microsoft.com/office/drawing/2014/main" id="{C09C0995-B6B5-4FE0-B8E5-D4CFC49A9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S56</a:t>
            </a:r>
          </a:p>
        </p:txBody>
      </p:sp>
      <p:sp>
        <p:nvSpPr>
          <p:cNvPr id="3" name="절차는 재사용하고, 답은 근거로 정한다">
            <a:extLst xmlns:a="http://schemas.openxmlformats.org/drawingml/2006/main">
              <a:ext uri="{FF2B5EF4-FFF2-40B4-BE49-F238E27FC236}">
                <a16:creationId xmlns:a16="http://schemas.microsoft.com/office/drawing/2014/main" id="{E1CB7F44-AC76-4EFF-A434-542D63F94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절차는 재사용하고, 답은 근거로 정한다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76B36A-D9EC-4A17-9867-919152F9A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STATE-04 SKILL.md의 두 지침과 교육용 책임 구분 · 새 실행 결과가 아님">
            <a:extLst xmlns:a="http://schemas.openxmlformats.org/drawingml/2006/main">
              <a:ext uri="{FF2B5EF4-FFF2-40B4-BE49-F238E27FC236}">
                <a16:creationId xmlns:a16="http://schemas.microsoft.com/office/drawing/2014/main" id="{ECC8B0E5-C920-4BA6-8B77-AEF3726FC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STATE-04 SKILL.md의 두 지침과 교육용 책임 구분 · 새 실행 결과가 아님</a:t>
            </a:r>
          </a:p>
        </p:txBody>
      </p:sp>
      <p:sp>
        <p:nvSpPr>
          <p:cNvPr id="6" name="특정 알고리즘·Trial 숫자를 정답으로 넣지 않았음 · no-change는 허용된 판단 경로">
            <a:extLst xmlns:a="http://schemas.openxmlformats.org/drawingml/2006/main">
              <a:ext uri="{FF2B5EF4-FFF2-40B4-BE49-F238E27FC236}">
                <a16:creationId xmlns:a16="http://schemas.microsoft.com/office/drawing/2014/main" id="{23F31AA0-52E2-447A-9839-F537CF146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특정 알고리즘·Trial 숫자를 정답으로 넣지 않았음 · no-change는 허용된 판단 경로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FFAC91D-68B0-47FC-94D0-524813649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47900"/>
            <a:ext cx="5162550" cy="2438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8" name="Skill이 정할 방법">
            <a:extLst xmlns:a="http://schemas.openxmlformats.org/drawingml/2006/main">
              <a:ext uri="{FF2B5EF4-FFF2-40B4-BE49-F238E27FC236}">
                <a16:creationId xmlns:a16="http://schemas.microsoft.com/office/drawing/2014/main" id="{AA129871-244E-4039-945B-CDAC1402B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62200"/>
            <a:ext cx="4819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Skill이 정할 방법</a:t>
            </a:r>
          </a:p>
        </p:txBody>
      </p:sp>
      <p:sp>
        <p:nvSpPr>
          <p:cNvPr id="9" name="편집 전 재현 가능한 기준선&#10;같은 조건으로 검증·비교&#10;근거가 부족하면 변경 보류">
            <a:extLst xmlns:a="http://schemas.openxmlformats.org/drawingml/2006/main">
              <a:ext uri="{FF2B5EF4-FFF2-40B4-BE49-F238E27FC236}">
                <a16:creationId xmlns:a16="http://schemas.microsoft.com/office/drawing/2014/main" id="{919BD440-323F-45E6-A6C0-9E1FF7BB8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86075"/>
            <a:ext cx="481965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편집 전 재현 가능한 기준선</a:t>
            </a:r>
          </a:p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같은 조건으로 검증·비교</a:t>
            </a:r>
          </a:p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근거가 부족하면 변경 보류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C1796C6-B27F-42C5-A7B5-78564AE0E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247900"/>
            <a:ext cx="5162550" cy="2438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1" name="이번 작업에서 정할 답">
            <a:extLst xmlns:a="http://schemas.openxmlformats.org/drawingml/2006/main">
              <a:ext uri="{FF2B5EF4-FFF2-40B4-BE49-F238E27FC236}">
                <a16:creationId xmlns:a16="http://schemas.microsoft.com/office/drawing/2014/main" id="{FAF9C9E1-ED74-431F-A43F-6477FE516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362200"/>
            <a:ext cx="4819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이번 작업에서 정할 답</a:t>
            </a:r>
          </a:p>
        </p:txBody>
      </p:sp>
      <p:sp>
        <p:nvSpPr>
          <p:cNvPr id="12" name="어떤 알고리즘을 택할까?&#10;실제 시간·할당량은?&#10;어떤 trade-off를 감수할까?">
            <a:extLst xmlns:a="http://schemas.openxmlformats.org/drawingml/2006/main">
              <a:ext uri="{FF2B5EF4-FFF2-40B4-BE49-F238E27FC236}">
                <a16:creationId xmlns:a16="http://schemas.microsoft.com/office/drawing/2014/main" id="{E192E1EB-36C7-4673-AB8E-50FD517EC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886075"/>
            <a:ext cx="481965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어떤 알고리즘을 택할까?</a:t>
            </a:r>
          </a:p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실제 시간·할당량은?</a:t>
            </a:r>
          </a:p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어떤 trade-off를 감수할까?</a:t>
            </a:r>
          </a:p>
        </p:txBody>
      </p:sp>
      <p:sp>
        <p:nvSpPr>
          <p:cNvPr id="13" name="“A measured result that does not justify a change is a">
            <a:extLst xmlns:a="http://schemas.openxmlformats.org/drawingml/2006/main">
              <a:ext uri="{FF2B5EF4-FFF2-40B4-BE49-F238E27FC236}">
                <a16:creationId xmlns:a16="http://schemas.microsoft.com/office/drawing/2014/main" id="{060DBFBF-D96F-4D17-8656-EE8BD1E9F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72050"/>
            <a:ext cx="109728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“A measured result that does not justify a change is a</a:t>
            </a:r>
          </a:p>
        </p:txBody>
      </p:sp>
      <p:sp>
        <p:nvSpPr>
          <p:cNvPr id="14" name="valid no-change conclusion.”">
            <a:extLst xmlns:a="http://schemas.openxmlformats.org/drawingml/2006/main">
              <a:ext uri="{FF2B5EF4-FFF2-40B4-BE49-F238E27FC236}">
                <a16:creationId xmlns:a16="http://schemas.microsoft.com/office/drawing/2014/main" id="{8469C799-F278-4D75-9A41-04D5C299E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76850"/>
            <a:ext cx="109728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valid no-change conclusion.”</a:t>
            </a:r>
          </a:p>
        </p:txBody>
      </p:sp>
      <p:sp>
        <p:nvSpPr>
          <p:cNvPr id="15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6321BDF8-4978-43CF-AE54-2DB7E2ACF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M2 · M5</a:t>
            </a:r>
          </a:p>
        </p:txBody>
      </p:sp>
    </p:spTree>
    <p:extLst>
      <p:ext uri="{BB962C8B-B14F-4D97-AF65-F5344CB8AC3E}">
        <p14:creationId xmlns:p14="http://schemas.microsoft.com/office/powerpoint/2010/main" val="27136201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ACT 3 · 밝기 통계 작업의 후보 선택 과정">
            <a:extLst xmlns:a="http://schemas.openxmlformats.org/drawingml/2006/main">
              <a:ext uri="{FF2B5EF4-FFF2-40B4-BE49-F238E27FC236}">
                <a16:creationId xmlns:a16="http://schemas.microsoft.com/office/drawing/2014/main" id="{CB291DEB-301B-4E27-942C-F29E1ABE1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3 · 밝기 통계 작업의 후보 선택 과정</a:t>
            </a:r>
          </a:p>
        </p:txBody>
      </p:sp>
      <p:sp>
        <p:nvSpPr>
          <p:cNvPr id="2" name="S57">
            <a:extLst xmlns:a="http://schemas.openxmlformats.org/drawingml/2006/main">
              <a:ext uri="{FF2B5EF4-FFF2-40B4-BE49-F238E27FC236}">
                <a16:creationId xmlns:a16="http://schemas.microsoft.com/office/drawing/2014/main" id="{3EFB9B4B-9C30-4DA9-84CB-F26933DCF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S57</a:t>
            </a:r>
          </a:p>
        </p:txBody>
      </p:sp>
      <p:sp>
        <p:nvSpPr>
          <p:cNvPr id="3" name="후보는 시간·할당량·동작을 함께 보고 고른다">
            <a:extLst xmlns:a="http://schemas.openxmlformats.org/drawingml/2006/main">
              <a:ext uri="{FF2B5EF4-FFF2-40B4-BE49-F238E27FC236}">
                <a16:creationId xmlns:a16="http://schemas.microsoft.com/office/drawing/2014/main" id="{1A77D1B8-5064-4D9B-83C6-9C23ED893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후보는 시간·할당량·동작을 함께 보고 고른다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21C47F-6B52-4DFD-9375-DF64F89CE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TRIAL-008 · image_statistics 후보 비교 · 합성1024×768 / CPython3.9">
            <a:extLst xmlns:a="http://schemas.openxmlformats.org/drawingml/2006/main">
              <a:ext uri="{FF2B5EF4-FFF2-40B4-BE49-F238E27FC236}">
                <a16:creationId xmlns:a16="http://schemas.microsoft.com/office/drawing/2014/main" id="{6E2D64D4-1798-47C1-8A84-AFDC0503E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TRIAL-008 · image_statistics 후보 비교 · 합성1024×768 / CPython3.9.6 / macOS arm64</a:t>
            </a:r>
          </a:p>
        </p:txBody>
      </p:sp>
      <p:sp>
        <p:nvSpPr>
          <p:cNvPr id="6" name="정성 비교 · 아래 후보끼리의 비교는 다음 장의 제품 상태 전후 측정과 다름">
            <a:extLst xmlns:a="http://schemas.openxmlformats.org/drawingml/2006/main">
              <a:ext uri="{FF2B5EF4-FFF2-40B4-BE49-F238E27FC236}">
                <a16:creationId xmlns:a16="http://schemas.microsoft.com/office/drawing/2014/main" id="{152C4CDC-10B9-437C-B784-F80E795B2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정성 비교 · 아래 후보끼리의 비교는 다음 장의 제품 상태 전후 측정과 다름</a:t>
            </a:r>
          </a:p>
        </p:txBody>
      </p:sp>
      <p:sp>
        <p:nvSpPr>
          <p:cNvPr id="7" name="두 후보 모두 같은 결과 6항목을 확인했다">
            <a:extLst xmlns:a="http://schemas.openxmlformats.org/drawingml/2006/main">
              <a:ext uri="{FF2B5EF4-FFF2-40B4-BE49-F238E27FC236}">
                <a16:creationId xmlns:a16="http://schemas.microsoft.com/office/drawing/2014/main" id="{4532B568-A7EA-4BE9-BF78-F0080A629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24025"/>
            <a:ext cx="109728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두 후보 모두 같은 결과 6항목을 확인했다</a:t>
            </a:r>
          </a:p>
        </p:txBody>
      </p:sp>
      <p:sp>
        <p:nvSpPr>
          <p:cNvPr id="8" name="후보">
            <a:extLst xmlns:a="http://schemas.openxmlformats.org/drawingml/2006/main">
              <a:ext uri="{FF2B5EF4-FFF2-40B4-BE49-F238E27FC236}">
                <a16:creationId xmlns:a16="http://schemas.microsoft.com/office/drawing/2014/main" id="{DC451A84-8F61-427F-8096-E85B0A0DB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1935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후보</a:t>
            </a:r>
          </a:p>
        </p:txBody>
      </p:sp>
      <p:sp>
        <p:nvSpPr>
          <p:cNvPr id="9" name="Python 할당량">
            <a:extLst xmlns:a="http://schemas.openxmlformats.org/drawingml/2006/main">
              <a:ext uri="{FF2B5EF4-FFF2-40B4-BE49-F238E27FC236}">
                <a16:creationId xmlns:a16="http://schemas.microsoft.com/office/drawing/2014/main" id="{29A21301-236E-44C5-840D-B0D1F931C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419350"/>
            <a:ext cx="238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Python 할당량</a:t>
            </a:r>
          </a:p>
        </p:txBody>
      </p:sp>
      <p:sp>
        <p:nvSpPr>
          <p:cNvPr id="10" name="실행 시간과 판단">
            <a:extLst xmlns:a="http://schemas.openxmlformats.org/drawingml/2006/main">
              <a:ext uri="{FF2B5EF4-FFF2-40B4-BE49-F238E27FC236}">
                <a16:creationId xmlns:a16="http://schemas.microsoft.com/office/drawing/2014/main" id="{EB331DC0-127E-4E56-878F-DB8AEF9A0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2419350"/>
            <a:ext cx="29622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실행 시간과 판단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B901A26-D9F5-4143-92F4-BEC11CB49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19425"/>
            <a:ext cx="109728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수동 단일 순회">
            <a:extLst xmlns:a="http://schemas.openxmlformats.org/drawingml/2006/main">
              <a:ext uri="{FF2B5EF4-FFF2-40B4-BE49-F238E27FC236}">
                <a16:creationId xmlns:a16="http://schemas.microsoft.com/office/drawing/2014/main" id="{327E5D24-C0F2-4429-BA82-3C227848D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4857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수동 단일 순회</a:t>
            </a:r>
          </a:p>
        </p:txBody>
      </p:sp>
      <p:sp>
        <p:nvSpPr>
          <p:cNvPr id="13" name="낮은 할당량">
            <a:extLst xmlns:a="http://schemas.openxmlformats.org/drawingml/2006/main">
              <a:ext uri="{FF2B5EF4-FFF2-40B4-BE49-F238E27FC236}">
                <a16:creationId xmlns:a16="http://schemas.microsoft.com/office/drawing/2014/main" id="{6528B70C-83DB-42F1-89C9-94E75E6D6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200400"/>
            <a:ext cx="238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낮은 할당량</a:t>
            </a:r>
          </a:p>
        </p:txBody>
      </p:sp>
      <p:sp>
        <p:nvSpPr>
          <p:cNvPr id="14" name="훨씬 느림 → 제외">
            <a:extLst xmlns:a="http://schemas.openxmlformats.org/drawingml/2006/main">
              <a:ext uri="{FF2B5EF4-FFF2-40B4-BE49-F238E27FC236}">
                <a16:creationId xmlns:a16="http://schemas.microsoft.com/office/drawing/2014/main" id="{FE859D51-E614-4685-AAB8-A7D561C1C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200400"/>
            <a:ext cx="28098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훨씬 느림 → 제외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D31D13B-06AB-4E30-951C-011166307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86225"/>
            <a:ext cx="109728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행 단위 built-in reduction">
            <a:extLst xmlns:a="http://schemas.openxmlformats.org/drawingml/2006/main">
              <a:ext uri="{FF2B5EF4-FFF2-40B4-BE49-F238E27FC236}">
                <a16:creationId xmlns:a16="http://schemas.microsoft.com/office/drawing/2014/main" id="{AEAF5D91-73B9-4B3C-BC60-F0E27468E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67200"/>
            <a:ext cx="4857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행 단위 built-in reduction</a:t>
            </a:r>
          </a:p>
        </p:txBody>
      </p:sp>
      <p:sp>
        <p:nvSpPr>
          <p:cNvPr id="17" name="낮은 할당량 유지">
            <a:extLst xmlns:a="http://schemas.openxmlformats.org/drawingml/2006/main">
              <a:ext uri="{FF2B5EF4-FFF2-40B4-BE49-F238E27FC236}">
                <a16:creationId xmlns:a16="http://schemas.microsoft.com/office/drawing/2014/main" id="{AF054DC5-D5B5-41CF-93DB-BB40C120D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267200"/>
            <a:ext cx="238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낮은 할당량 유지</a:t>
            </a:r>
          </a:p>
        </p:txBody>
      </p:sp>
      <p:sp>
        <p:nvSpPr>
          <p:cNvPr id="18" name="더 나음 → 선택">
            <a:extLst xmlns:a="http://schemas.openxmlformats.org/drawingml/2006/main">
              <a:ext uri="{FF2B5EF4-FFF2-40B4-BE49-F238E27FC236}">
                <a16:creationId xmlns:a16="http://schemas.microsoft.com/office/drawing/2014/main" id="{F434945B-B5A4-46A1-B600-A5BFBFDE3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4267200"/>
            <a:ext cx="28098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더 나음 → 선택</a:t>
            </a:r>
          </a:p>
        </p:txBody>
      </p:sp>
      <p:sp>
        <p:nvSpPr>
          <p:cNvPr id="19" name="Skill에 정답을 넣지 않고, 측정 근거로 변경 후보를 선택했다">
            <a:extLst xmlns:a="http://schemas.openxmlformats.org/drawingml/2006/main">
              <a:ext uri="{FF2B5EF4-FFF2-40B4-BE49-F238E27FC236}">
                <a16:creationId xmlns:a16="http://schemas.microsoft.com/office/drawing/2014/main" id="{F21F640D-50C9-4577-878E-4270630FB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81625"/>
            <a:ext cx="10972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Skill에 정답을 넣지 않고, 측정 근거로 변경 후보를 선택했다</a:t>
            </a:r>
          </a:p>
        </p:txBody>
      </p:sp>
      <p:sp>
        <p:nvSpPr>
          <p:cNvPr id="20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DF644F08-3B7B-4C62-BA09-646BE56D8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M2 · M5 · M9</a:t>
            </a:r>
          </a:p>
        </p:txBody>
      </p:sp>
    </p:spTree>
    <p:extLst>
      <p:ext uri="{BB962C8B-B14F-4D97-AF65-F5344CB8AC3E}">
        <p14:creationId xmlns:p14="http://schemas.microsoft.com/office/powerpoint/2010/main" val="39981584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ACT 3  ·  Harness로 조사하고 검증하기">
            <a:extLst xmlns:a="http://schemas.openxmlformats.org/drawingml/2006/main">
              <a:ext uri="{FF2B5EF4-FFF2-40B4-BE49-F238E27FC236}">
                <a16:creationId xmlns:a16="http://schemas.microsoft.com/office/drawing/2014/main" id="{FE0EE1B1-C4F9-40C5-BFCB-10A972483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3  ·  Harness로 조사하고 검증하기</a:t>
            </a:r>
          </a:p>
        </p:txBody>
      </p:sp>
      <p:sp>
        <p:nvSpPr>
          <p:cNvPr id="2" name="S58">
            <a:extLst xmlns:a="http://schemas.openxmlformats.org/drawingml/2006/main">
              <a:ext uri="{FF2B5EF4-FFF2-40B4-BE49-F238E27FC236}">
                <a16:creationId xmlns:a16="http://schemas.microsoft.com/office/drawing/2014/main" id="{20DC18F0-F6A5-4B56-A113-D1F2CC114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S58</a:t>
            </a:r>
          </a:p>
        </p:txBody>
      </p:sp>
      <p:sp>
        <p:nvSpPr>
          <p:cNvPr id="3" name="선택한 변경을 같은 조건에서 검증했다">
            <a:extLst xmlns:a="http://schemas.openxmlformats.org/drawingml/2006/main">
              <a:ext uri="{FF2B5EF4-FFF2-40B4-BE49-F238E27FC236}">
                <a16:creationId xmlns:a16="http://schemas.microsoft.com/office/drawing/2014/main" id="{F7B85D7B-5D91-4589-8281-B995608D3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선택한 변경을 같은 조건에서 검증했다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D44B14F-7E2B-4D77-AAAB-39398CB04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STATE-04 → STATE-04-PERF  |  image_statistics · 합성 1024×768 ">
            <a:extLst xmlns:a="http://schemas.openxmlformats.org/drawingml/2006/main">
              <a:ext uri="{FF2B5EF4-FFF2-40B4-BE49-F238E27FC236}">
                <a16:creationId xmlns:a16="http://schemas.microsoft.com/office/drawing/2014/main" id="{DF307225-C090-45FA-81C7-DF17F13E8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STATE-04 → STATE-04-PERF  |  image_statistics · 합성 1024×768 · CPython 3.9.6 / macOS arm64</a:t>
            </a:r>
          </a:p>
        </p:txBody>
      </p:sp>
      <p:sp>
        <p:nvSpPr>
          <p:cNvPr id="6" name="동일 입력·상태별 7회 측정 · 이 환경의 코드 변경 결과이며 Harness 단독 효과는 입증하지 않음">
            <a:extLst xmlns:a="http://schemas.openxmlformats.org/drawingml/2006/main">
              <a:ext uri="{FF2B5EF4-FFF2-40B4-BE49-F238E27FC236}">
                <a16:creationId xmlns:a16="http://schemas.microsoft.com/office/drawing/2014/main" id="{B36A31CD-AA78-403D-ACB4-DA6A338B6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동일 입력·상태별 7회 측정 · 이 환경의 코드 변경 결과이며 Harness 단독 효과는 입증하지 않음</a:t>
            </a:r>
          </a:p>
        </p:txBody>
      </p:sp>
      <p:sp>
        <p:nvSpPr>
          <p:cNvPr id="7" name="밝기 통계 · 동작 확인 + 동일 입력 비교">
            <a:extLst xmlns:a="http://schemas.openxmlformats.org/drawingml/2006/main">
              <a:ext uri="{FF2B5EF4-FFF2-40B4-BE49-F238E27FC236}">
                <a16:creationId xmlns:a16="http://schemas.microsoft.com/office/drawing/2014/main" id="{DFBF20A7-6342-42CC-B08C-0F33FFEB5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밝기 통계 · 동작 확인 + 동일 입력 비교</a:t>
            </a:r>
          </a:p>
        </p:txBody>
      </p:sp>
      <p:sp>
        <p:nvSpPr>
          <p:cNvPr id="8" name="실행 시간 중앙값">
            <a:extLst xmlns:a="http://schemas.openxmlformats.org/drawingml/2006/main">
              <a:ext uri="{FF2B5EF4-FFF2-40B4-BE49-F238E27FC236}">
                <a16:creationId xmlns:a16="http://schemas.microsoft.com/office/drawing/2014/main" id="{BA7F85B4-3D27-48A5-B61A-D210DC1CD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24100"/>
            <a:ext cx="5667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실행 시간 중앙값</a:t>
            </a:r>
          </a:p>
        </p:txBody>
      </p:sp>
      <p:sp>
        <p:nvSpPr>
          <p:cNvPr id="9" name="ms/call · 낮을수록 짧음">
            <a:extLst xmlns:a="http://schemas.openxmlformats.org/drawingml/2006/main">
              <a:ext uri="{FF2B5EF4-FFF2-40B4-BE49-F238E27FC236}">
                <a16:creationId xmlns:a16="http://schemas.microsoft.com/office/drawing/2014/main" id="{6DA699CC-0D83-4341-959D-C0294A1BB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14625"/>
            <a:ext cx="5667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ms/call · 낮을수록 짧음</a:t>
            </a:r>
          </a:p>
        </p:txBody>
      </p:sp>
      <p:graphicFrame>
        <p:nvGraphicFramePr>
          <p:cNvPr id="10" name="Chart">
            <a:extLst xmlns:a="http://schemas.openxmlformats.org/drawingml/2006/main">
              <a:ext uri="{FF2B5EF4-FFF2-40B4-BE49-F238E27FC236}">
                <a16:creationId xmlns:a16="http://schemas.microsoft.com/office/drawing/2014/main" id="{0A4F4FD5-B213-4C46-ACB8-C3C465CA845A}"/>
              </a:ext>
            </a:extLst>
          </p:cNvPr>
          <p:cNvGraphicFramePr/>
          <p:nvPr/>
        </p:nvGraphicFramePr>
        <p:xfrm>
          <a:off xmlns:a="http://schemas.openxmlformats.org/drawingml/2006/main" x="609600" y="3067050"/>
          <a:ext xmlns:a="http://schemas.openxmlformats.org/drawingml/2006/main" cx="6191250" cy="2190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2b8570b850c4d05"/>
          </a:graphicData>
        </a:graphic>
      </p:graphicFrame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B8CAFA6-A6DD-47AC-9278-BC28A4C00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324100"/>
            <a:ext cx="19050" cy="2819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D0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Python 할당 피크">
            <a:extLst xmlns:a="http://schemas.openxmlformats.org/drawingml/2006/main">
              <a:ext uri="{FF2B5EF4-FFF2-40B4-BE49-F238E27FC236}">
                <a16:creationId xmlns:a16="http://schemas.microsoft.com/office/drawing/2014/main" id="{D526EAB8-92DC-4968-8E83-EA32D8C7E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2324100"/>
            <a:ext cx="39814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Python 할당 피크</a:t>
            </a:r>
          </a:p>
        </p:txBody>
      </p:sp>
      <p:sp>
        <p:nvSpPr>
          <p:cNvPr id="13" name="tracemalloc · 프로세스 RSS 아님">
            <a:extLst xmlns:a="http://schemas.openxmlformats.org/drawingml/2006/main">
              <a:ext uri="{FF2B5EF4-FFF2-40B4-BE49-F238E27FC236}">
                <a16:creationId xmlns:a16="http://schemas.microsoft.com/office/drawing/2014/main" id="{56F8D9D3-B034-4BEE-B336-7FBAF982D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2714625"/>
            <a:ext cx="3981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tracemalloc · 프로세스 RSS 아님</a:t>
            </a:r>
          </a:p>
        </p:txBody>
      </p:sp>
      <p:sp>
        <p:nvSpPr>
          <p:cNvPr id="14" name="6,675,804 B">
            <a:extLst xmlns:a="http://schemas.openxmlformats.org/drawingml/2006/main">
              <a:ext uri="{FF2B5EF4-FFF2-40B4-BE49-F238E27FC236}">
                <a16:creationId xmlns:a16="http://schemas.microsoft.com/office/drawing/2014/main" id="{4846769D-1BA7-4E52-A55A-5FAA39FC3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3248025"/>
            <a:ext cx="39814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9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9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9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9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9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9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9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9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9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9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9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9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6,675,804 B</a:t>
            </a:r>
          </a:p>
        </p:txBody>
      </p:sp>
      <p:sp>
        <p:nvSpPr>
          <p:cNvPr id="15" name="↓">
            <a:extLst xmlns:a="http://schemas.openxmlformats.org/drawingml/2006/main">
              <a:ext uri="{FF2B5EF4-FFF2-40B4-BE49-F238E27FC236}">
                <a16:creationId xmlns:a16="http://schemas.microsoft.com/office/drawing/2014/main" id="{62F89881-0D9A-41C3-8248-DFDD770E6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3781425"/>
            <a:ext cx="438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7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7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7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7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7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7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7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7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7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7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7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↓</a:t>
            </a:r>
          </a:p>
        </p:txBody>
      </p:sp>
      <p:sp>
        <p:nvSpPr>
          <p:cNvPr id="16" name="380 B">
            <a:extLst xmlns:a="http://schemas.openxmlformats.org/drawingml/2006/main">
              <a:ext uri="{FF2B5EF4-FFF2-40B4-BE49-F238E27FC236}">
                <a16:creationId xmlns:a16="http://schemas.microsoft.com/office/drawing/2014/main" id="{BE393DEA-E862-4ED5-A3AB-419D155A4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781425"/>
            <a:ext cx="3429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42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42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42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42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42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42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42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42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42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42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42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380 B</a:t>
            </a:r>
          </a:p>
        </p:txBody>
      </p:sp>
      <p:sp>
        <p:nvSpPr>
          <p:cNvPr id="17" name="평탄화 임시 리스트 제거">
            <a:extLst xmlns:a="http://schemas.openxmlformats.org/drawingml/2006/main">
              <a:ext uri="{FF2B5EF4-FFF2-40B4-BE49-F238E27FC236}">
                <a16:creationId xmlns:a16="http://schemas.microsoft.com/office/drawing/2014/main" id="{BC09E8BC-EE31-41FF-8FBE-39FBEFA4A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4648200"/>
            <a:ext cx="39814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평탄화 임시 리스트 제거</a:t>
            </a:r>
          </a:p>
        </p:txBody>
      </p:sp>
      <p:sp>
        <p:nvSpPr>
          <p:cNvPr id="18" name="검증 완료">
            <a:extLst xmlns:a="http://schemas.openxmlformats.org/drawingml/2006/main">
              <a:ext uri="{FF2B5EF4-FFF2-40B4-BE49-F238E27FC236}">
                <a16:creationId xmlns:a16="http://schemas.microsoft.com/office/drawing/2014/main" id="{C28D0399-9E22-47FF-B4B8-17333B3A1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581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rPr>
              <a:t>검증 완료</a:t>
            </a:r>
          </a:p>
        </p:txBody>
      </p:sp>
      <p:sp>
        <p:nvSpPr>
          <p:cNvPr id="19" name="함수 테스트 1/1 · 전체 11/11 · CLI · 입력·결과 확인">
            <a:extLst xmlns:a="http://schemas.openxmlformats.org/drawingml/2006/main">
              <a:ext uri="{FF2B5EF4-FFF2-40B4-BE49-F238E27FC236}">
                <a16:creationId xmlns:a16="http://schemas.microsoft.com/office/drawing/2014/main" id="{7AE274A5-2282-4037-8D21-AE5085822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5391150"/>
            <a:ext cx="9315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함수 테스트 1/1 · 전체 11/11 · CLI · 입력·결과 확인</a:t>
            </a:r>
          </a:p>
        </p:txBody>
      </p:sp>
      <p:sp>
        <p:nvSpPr>
          <p:cNvPr id="20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C6BDC1CE-88CD-43C9-A15C-353EE6E88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M5</a:t>
            </a:r>
          </a:p>
        </p:txBody>
      </p:sp>
    </p:spTree>
    <p:extLst>
      <p:ext uri="{BB962C8B-B14F-4D97-AF65-F5344CB8AC3E}">
        <p14:creationId xmlns:p14="http://schemas.microsoft.com/office/powerpoint/2010/main" val="98969407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ACT 3 · Subagent가 해결할 문제부터 보기">
            <a:extLst xmlns:a="http://schemas.openxmlformats.org/drawingml/2006/main">
              <a:ext uri="{FF2B5EF4-FFF2-40B4-BE49-F238E27FC236}">
                <a16:creationId xmlns:a16="http://schemas.microsoft.com/office/drawing/2014/main" id="{A1CD86F7-4734-4381-A898-CC8C7924B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3 · Subagent가 해결할 문제부터 보기</a:t>
            </a:r>
          </a:p>
        </p:txBody>
      </p:sp>
      <p:sp>
        <p:nvSpPr>
          <p:cNvPr id="2" name="S59">
            <a:extLst xmlns:a="http://schemas.openxmlformats.org/drawingml/2006/main">
              <a:ext uri="{FF2B5EF4-FFF2-40B4-BE49-F238E27FC236}">
                <a16:creationId xmlns:a16="http://schemas.microsoft.com/office/drawing/2014/main" id="{CAEC77C7-77AD-4FA8-9124-B72352858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S59</a:t>
            </a:r>
          </a:p>
        </p:txBody>
      </p:sp>
      <p:sp>
        <p:nvSpPr>
          <p:cNvPr id="3" name="독립 조사를 나누면 무엇이 달라질까?">
            <a:extLst xmlns:a="http://schemas.openxmlformats.org/drawingml/2006/main">
              <a:ext uri="{FF2B5EF4-FFF2-40B4-BE49-F238E27FC236}">
                <a16:creationId xmlns:a16="http://schemas.microsoft.com/office/drawing/2014/main" id="{0D2EC06C-EADB-4B74-9A37-1E9875092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독립 조사를 나누면 무엇이 달라질까?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FE590F-C1B4-4890-9BBF-8EAF11307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CONCEPTUAL · C++ Vision 조사 업무를 가정한 역할·Context 분리 · 실제 Subage">
            <a:extLst xmlns:a="http://schemas.openxmlformats.org/drawingml/2006/main">
              <a:ext uri="{FF2B5EF4-FFF2-40B4-BE49-F238E27FC236}">
                <a16:creationId xmlns:a16="http://schemas.microsoft.com/office/drawing/2014/main" id="{99D2EB3A-05EE-41F8-B9F5-610743479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CONCEPTUAL · C++ Vision 조사 업무를 가정한 역할·Context 분리 · 실제 Subagent 실행 아님</a:t>
            </a:r>
          </a:p>
        </p:txBody>
      </p:sp>
      <p:sp>
        <p:nvSpPr>
          <p:cNvPr id="6" name="독립 조사일 때의 설계 예 · 병렬 이득·시간 단축은 미측정 · 조정·중복·전달·통합 비용을 함께 판단">
            <a:extLst xmlns:a="http://schemas.openxmlformats.org/drawingml/2006/main">
              <a:ext uri="{FF2B5EF4-FFF2-40B4-BE49-F238E27FC236}">
                <a16:creationId xmlns:a16="http://schemas.microsoft.com/office/drawing/2014/main" id="{92BAE94F-7A12-4699-82E4-A992FEA1F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독립 조사일 때의 설계 예 · 병렬 이득·시간 단축은 미측정 · 조정·중복·전달·통합 비용을 함께 판단</a:t>
            </a:r>
          </a:p>
        </p:txBody>
      </p:sp>
      <p:sp>
        <p:nvSpPr>
          <p:cNvPr id="7" name="한 Agent에 모인 조사 중, 서로 기다리지 않아도 되는 부분은?">
            <a:extLst xmlns:a="http://schemas.openxmlformats.org/drawingml/2006/main">
              <a:ext uri="{FF2B5EF4-FFF2-40B4-BE49-F238E27FC236}">
                <a16:creationId xmlns:a16="http://schemas.microsoft.com/office/drawing/2014/main" id="{7E51A747-3D98-4917-8850-7142B3D4F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04975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한 Agent에 모인 조사 중, 서로 기다리지 않아도 되는 부분은?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9F69DA6-88A2-4AE5-8AB0-2BDF27980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90775"/>
            <a:ext cx="3352800" cy="1924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9" name="성능 경로 조사">
            <a:extLst xmlns:a="http://schemas.openxmlformats.org/drawingml/2006/main">
              <a:ext uri="{FF2B5EF4-FFF2-40B4-BE49-F238E27FC236}">
                <a16:creationId xmlns:a16="http://schemas.microsoft.com/office/drawing/2014/main" id="{0EE718C1-E121-4C12-B387-D3CD1C793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05075"/>
            <a:ext cx="3009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성능 경로 조사</a:t>
            </a:r>
          </a:p>
        </p:txBody>
      </p:sp>
      <p:sp>
        <p:nvSpPr>
          <p:cNvPr id="10" name="느린 경로와 측정 근거&#10;필요한 소스·명세">
            <a:extLst xmlns:a="http://schemas.openxmlformats.org/drawingml/2006/main">
              <a:ext uri="{FF2B5EF4-FFF2-40B4-BE49-F238E27FC236}">
                <a16:creationId xmlns:a16="http://schemas.microsoft.com/office/drawing/2014/main" id="{2D4EFA7F-AD3F-4C65-B24E-A117045E1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28950"/>
            <a:ext cx="30099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느린 경로와 측정 근거</a:t>
            </a:r>
          </a:p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필요한 소스·명세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1047F9C-E657-4DA8-82E9-929369CE7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390775"/>
            <a:ext cx="3352800" cy="1924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2" name="빌드 환경 조사">
            <a:extLst xmlns:a="http://schemas.openxmlformats.org/drawingml/2006/main">
              <a:ext uri="{FF2B5EF4-FFF2-40B4-BE49-F238E27FC236}">
                <a16:creationId xmlns:a16="http://schemas.microsoft.com/office/drawing/2014/main" id="{B8E39939-6869-4C1E-B4E2-13AA9C4D2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505075"/>
            <a:ext cx="3009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빌드 환경 조사</a:t>
            </a:r>
          </a:p>
        </p:txBody>
      </p:sp>
      <p:sp>
        <p:nvSpPr>
          <p:cNvPr id="13" name="재현 조건과 빌드 설정&#10;필요한 환경 문서">
            <a:extLst xmlns:a="http://schemas.openxmlformats.org/drawingml/2006/main">
              <a:ext uri="{FF2B5EF4-FFF2-40B4-BE49-F238E27FC236}">
                <a16:creationId xmlns:a16="http://schemas.microsoft.com/office/drawing/2014/main" id="{E477AD43-5805-407F-95DF-9D0835430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028950"/>
            <a:ext cx="30099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재현 조건과 빌드 설정</a:t>
            </a:r>
          </a:p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필요한 환경 문서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1FABE7B-B0FF-4B48-90C2-5D71E888C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390775"/>
            <a:ext cx="3352800" cy="1924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5" name="테스트 구조 조사">
            <a:extLst xmlns:a="http://schemas.openxmlformats.org/drawingml/2006/main">
              <a:ext uri="{FF2B5EF4-FFF2-40B4-BE49-F238E27FC236}">
                <a16:creationId xmlns:a16="http://schemas.microsoft.com/office/drawing/2014/main" id="{4FC5E3FD-101E-469C-AA5C-B45FC8179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505075"/>
            <a:ext cx="3009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테스트 구조 조사</a:t>
            </a:r>
          </a:p>
        </p:txBody>
      </p:sp>
      <p:sp>
        <p:nvSpPr>
          <p:cNvPr id="16" name="확인 범위와 회귀 위험&#10;필요한 테스트·명세">
            <a:extLst xmlns:a="http://schemas.openxmlformats.org/drawingml/2006/main">
              <a:ext uri="{FF2B5EF4-FFF2-40B4-BE49-F238E27FC236}">
                <a16:creationId xmlns:a16="http://schemas.microsoft.com/office/drawing/2014/main" id="{EAABA204-0D7D-43C0-AF66-340FDDE0D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3028950"/>
            <a:ext cx="30099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확인 범위와 회귀 위험</a:t>
            </a:r>
          </a:p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필요한 테스트·명세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F2E225D-3A60-49BE-8DE7-F8D98E670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476750"/>
            <a:ext cx="266700" cy="20955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805400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9CDF00F-58DE-4C96-B0D6-7B9B6DA6F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4476750"/>
            <a:ext cx="266700" cy="20955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805400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36EA260-8CE9-48A5-B9EC-DFC3593E1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4476750"/>
            <a:ext cx="266700" cy="20955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805400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07737E3-24D4-479F-B3A1-453592127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43475"/>
            <a:ext cx="10972800" cy="619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주 Agent가 합친다: 결과 형식 · 전달 지점 · 최종 검토 책임">
            <a:extLst xmlns:a="http://schemas.openxmlformats.org/drawingml/2006/main">
              <a:ext uri="{FF2B5EF4-FFF2-40B4-BE49-F238E27FC236}">
                <a16:creationId xmlns:a16="http://schemas.microsoft.com/office/drawing/2014/main" id="{5EC51416-F58A-4A43-AE05-F246CF3B3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057775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주 Agent가 합친다: 결과 형식 · 전달 지점 · 최종 검토 책임</a:t>
            </a:r>
          </a:p>
        </p:txBody>
      </p:sp>
      <p:sp>
        <p:nvSpPr>
          <p:cNvPr id="22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D86214F9-D59B-42A3-93DB-40FFD5160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M2</a:t>
            </a:r>
          </a:p>
        </p:txBody>
      </p:sp>
    </p:spTree>
    <p:extLst>
      <p:ext uri="{BB962C8B-B14F-4D97-AF65-F5344CB8AC3E}">
        <p14:creationId xmlns:p14="http://schemas.microsoft.com/office/powerpoint/2010/main" val="211453584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ACT 3 · 실제 사례에 Subagent 선택 기준을 적용">
            <a:extLst xmlns:a="http://schemas.openxmlformats.org/drawingml/2006/main">
              <a:ext uri="{FF2B5EF4-FFF2-40B4-BE49-F238E27FC236}">
                <a16:creationId xmlns:a16="http://schemas.microsoft.com/office/drawing/2014/main" id="{DBAB99A7-9941-4699-A72E-DD3900EFD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3 · 실제 사례에 Subagent 선택 기준을 적용</a:t>
            </a:r>
          </a:p>
        </p:txBody>
      </p:sp>
      <p:sp>
        <p:nvSpPr>
          <p:cNvPr id="2" name="S60">
            <a:extLst xmlns:a="http://schemas.openxmlformats.org/drawingml/2006/main">
              <a:ext uri="{FF2B5EF4-FFF2-40B4-BE49-F238E27FC236}">
                <a16:creationId xmlns:a16="http://schemas.microsoft.com/office/drawing/2014/main" id="{A773A682-0EF2-46EA-813B-774491C42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S60</a:t>
            </a:r>
          </a:p>
        </p:txBody>
      </p:sp>
      <p:sp>
        <p:nvSpPr>
          <p:cNvPr id="3" name="이번 작업은 나눌 근거가 충분했을까?">
            <a:extLst xmlns:a="http://schemas.openxmlformats.org/drawingml/2006/main">
              <a:ext uri="{FF2B5EF4-FFF2-40B4-BE49-F238E27FC236}">
                <a16:creationId xmlns:a16="http://schemas.microsoft.com/office/drawing/2014/main" id="{9688352C-F12E-4F29-93D3-00E339F7E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이번 작업은 나눌 근거가 충분했을까?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0A02A1-2360-46C9-9DD5-2539EB3D0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DEC-0018 · 현재 성능 작업의 의존성과 Context를 검토한 판단 · Subagent Trial 없">
            <a:extLst xmlns:a="http://schemas.openxmlformats.org/drawingml/2006/main">
              <a:ext uri="{FF2B5EF4-FFF2-40B4-BE49-F238E27FC236}">
                <a16:creationId xmlns:a16="http://schemas.microsoft.com/office/drawing/2014/main" id="{EA802B92-415B-44E9-A80B-CE61520D2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DEC-0018 · 현재 성능 작업의 의존성과 Context를 검토한 판단 · Subagent Trial 없음</a:t>
            </a:r>
          </a:p>
        </p:txBody>
      </p:sp>
      <p:sp>
        <p:nvSpPr>
          <p:cNvPr id="6" name="이 사례에서는 추가하지 않음 · 일반적으로 불필요하다는 결론이나 기능 제한 주장이 아님">
            <a:extLst xmlns:a="http://schemas.openxmlformats.org/drawingml/2006/main">
              <a:ext uri="{FF2B5EF4-FFF2-40B4-BE49-F238E27FC236}">
                <a16:creationId xmlns:a16="http://schemas.microsoft.com/office/drawing/2014/main" id="{BC509BF7-D79E-4D4A-B9CF-7D04966A5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이 사례에서는 추가하지 않음 · 일반적으로 불필요하다는 결론이나 기능 제한 주장이 아님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C4FBA3-93D1-4912-80BC-28E00531D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66950"/>
            <a:ext cx="3352800" cy="1724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8" name="조사">
            <a:extLst xmlns:a="http://schemas.openxmlformats.org/drawingml/2006/main">
              <a:ext uri="{FF2B5EF4-FFF2-40B4-BE49-F238E27FC236}">
                <a16:creationId xmlns:a16="http://schemas.microsoft.com/office/drawing/2014/main" id="{76BDDBDD-5A94-4FE4-B5F4-4DF428A52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81250"/>
            <a:ext cx="3009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조사</a:t>
            </a:r>
          </a:p>
        </p:txBody>
      </p:sp>
      <p:sp>
        <p:nvSpPr>
          <p:cNvPr id="9" name="같은 성능 경로와&#10;명세를 확인">
            <a:extLst xmlns:a="http://schemas.openxmlformats.org/drawingml/2006/main">
              <a:ext uri="{FF2B5EF4-FFF2-40B4-BE49-F238E27FC236}">
                <a16:creationId xmlns:a16="http://schemas.microsoft.com/office/drawing/2014/main" id="{9F13EDC5-04D5-42EA-8788-2C126BBA8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05125"/>
            <a:ext cx="30099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같은 성능 경로와</a:t>
            </a:r>
          </a:p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명세를 확인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B5D9D04-B44B-4B25-A331-7391AA153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6225" y="2962275"/>
            <a:ext cx="219075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187893-A255-45CE-97E5-04617F7AD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266950"/>
            <a:ext cx="3352800" cy="1724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2" name="변경">
            <a:extLst xmlns:a="http://schemas.openxmlformats.org/drawingml/2006/main">
              <a:ext uri="{FF2B5EF4-FFF2-40B4-BE49-F238E27FC236}">
                <a16:creationId xmlns:a16="http://schemas.microsoft.com/office/drawing/2014/main" id="{FE86FE4E-5AE9-405E-BABC-154AECA66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381250"/>
            <a:ext cx="3009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변경</a:t>
            </a:r>
          </a:p>
        </p:txBody>
      </p:sp>
      <p:sp>
        <p:nvSpPr>
          <p:cNvPr id="13" name="조사 결과에 따라&#10;변경 후보를 선택">
            <a:extLst xmlns:a="http://schemas.openxmlformats.org/drawingml/2006/main">
              <a:ext uri="{FF2B5EF4-FFF2-40B4-BE49-F238E27FC236}">
                <a16:creationId xmlns:a16="http://schemas.microsoft.com/office/drawing/2014/main" id="{BAC164B9-B558-4FBF-B513-42052CB12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905125"/>
            <a:ext cx="30099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조사 결과에 따라</a:t>
            </a:r>
          </a:p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변경 후보를 선택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FEDF854-CC3E-4727-A5D8-F69865EF9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6225" y="2962275"/>
            <a:ext cx="219075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6ECBA05-CF8D-49E8-9C3A-919E39FF9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266950"/>
            <a:ext cx="3352800" cy="1724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6" name="검증">
            <a:extLst xmlns:a="http://schemas.openxmlformats.org/drawingml/2006/main">
              <a:ext uri="{FF2B5EF4-FFF2-40B4-BE49-F238E27FC236}">
                <a16:creationId xmlns:a16="http://schemas.microsoft.com/office/drawing/2014/main" id="{CF6425BC-B9C5-40D4-ACE1-6DF253BD1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381250"/>
            <a:ext cx="3009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검증</a:t>
            </a:r>
          </a:p>
        </p:txBody>
      </p:sp>
      <p:sp>
        <p:nvSpPr>
          <p:cNvPr id="17" name="변경 결과를&#10;같은 조건에서 확인">
            <a:extLst xmlns:a="http://schemas.openxmlformats.org/drawingml/2006/main">
              <a:ext uri="{FF2B5EF4-FFF2-40B4-BE49-F238E27FC236}">
                <a16:creationId xmlns:a16="http://schemas.microsoft.com/office/drawing/2014/main" id="{0499A873-DF87-4EE3-9881-ADE3AC0B8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905125"/>
            <a:ext cx="30099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변경 결과를</a:t>
            </a:r>
          </a:p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같은 조건에서 확인</a:t>
            </a:r>
          </a:p>
        </p:txBody>
      </p:sp>
      <p:sp>
        <p:nvSpPr>
          <p:cNvPr id="18" name="작업 독립성 낮음 · 별도 Context 이득 제한 · 결과 통합 비용 존재">
            <a:extLst xmlns:a="http://schemas.openxmlformats.org/drawingml/2006/main">
              <a:ext uri="{FF2B5EF4-FFF2-40B4-BE49-F238E27FC236}">
                <a16:creationId xmlns:a16="http://schemas.microsoft.com/office/drawing/2014/main" id="{95BE3682-6EEF-4C3C-9E5E-B639FF667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00550"/>
            <a:ext cx="10972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작업 독립성 낮음 · 별도 Context 이득 제한 · 결과 통합 비용 존재</a:t>
            </a:r>
          </a:p>
        </p:txBody>
      </p:sp>
      <p:sp>
        <p:nvSpPr>
          <p:cNvPr id="19" name="현재 사례: Agent를 더 나누지 않았다">
            <a:extLst xmlns:a="http://schemas.openxmlformats.org/drawingml/2006/main">
              <a:ext uri="{FF2B5EF4-FFF2-40B4-BE49-F238E27FC236}">
                <a16:creationId xmlns:a16="http://schemas.microsoft.com/office/drawing/2014/main" id="{B32F65E5-7677-437E-BDE7-262BDADD8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911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현재 사례: Agent를 더 나누지 않았다</a:t>
            </a:r>
          </a:p>
        </p:txBody>
      </p:sp>
      <p:sp>
        <p:nvSpPr>
          <p:cNvPr id="20" name="판단 기준: 독립성 · 필요한 Context · 전달 형식 · 통합 책임">
            <a:extLst xmlns:a="http://schemas.openxmlformats.org/drawingml/2006/main">
              <a:ext uri="{FF2B5EF4-FFF2-40B4-BE49-F238E27FC236}">
                <a16:creationId xmlns:a16="http://schemas.microsoft.com/office/drawing/2014/main" id="{711A5DDF-10C2-47BE-952F-F5FA3EDD1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판단 기준: 독립성 · 필요한 Context · 전달 형식 · 통합 책임</a:t>
            </a:r>
          </a:p>
        </p:txBody>
      </p:sp>
      <p:sp>
        <p:nvSpPr>
          <p:cNvPr id="21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5A87C50C-65D7-455A-9E03-00433771B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95936485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ACT 3 · Memory가 해결할 문제부터 보기">
            <a:extLst xmlns:a="http://schemas.openxmlformats.org/drawingml/2006/main">
              <a:ext uri="{FF2B5EF4-FFF2-40B4-BE49-F238E27FC236}">
                <a16:creationId xmlns:a16="http://schemas.microsoft.com/office/drawing/2014/main" id="{B9BCB2E8-E6ED-4B60-9AF5-1DED2DD5B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3 · Memory가 해결할 문제부터 보기</a:t>
            </a:r>
          </a:p>
        </p:txBody>
      </p:sp>
      <p:sp>
        <p:nvSpPr>
          <p:cNvPr id="2" name="S61">
            <a:extLst xmlns:a="http://schemas.openxmlformats.org/drawingml/2006/main">
              <a:ext uri="{FF2B5EF4-FFF2-40B4-BE49-F238E27FC236}">
                <a16:creationId xmlns:a16="http://schemas.microsoft.com/office/drawing/2014/main" id="{66FA382C-9C8A-453F-B912-A769AA154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S61</a:t>
            </a:r>
          </a:p>
        </p:txBody>
      </p:sp>
      <p:sp>
        <p:nvSpPr>
          <p:cNvPr id="3" name="다음 작업에서도 다시 찾을 지식인가?">
            <a:extLst xmlns:a="http://schemas.openxmlformats.org/drawingml/2006/main">
              <a:ext uri="{FF2B5EF4-FFF2-40B4-BE49-F238E27FC236}">
                <a16:creationId xmlns:a16="http://schemas.microsoft.com/office/drawing/2014/main" id="{C063265F-4B9E-4321-AA53-820845801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다음 작업에서도 다시 찾을 지식인가?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C6CAA5-1833-4B5D-B71F-9553638C2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CONCEPTUAL · 작업 간 지식 재사용 가정 · 실제 재발견 기록·제품 Memory 구현 아님">
            <a:extLst xmlns:a="http://schemas.openxmlformats.org/drawingml/2006/main">
              <a:ext uri="{FF2B5EF4-FFF2-40B4-BE49-F238E27FC236}">
                <a16:creationId xmlns:a16="http://schemas.microsoft.com/office/drawing/2014/main" id="{A4596511-F4E4-4F28-A1C2-B01953227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CONCEPTUAL · 작업 간 지식 재사용 가정 · 실제 재발견 기록·제품 Memory 구현 아님</a:t>
            </a:r>
          </a:p>
        </p:txBody>
      </p:sp>
      <p:sp>
        <p:nvSpPr>
          <p:cNvPr id="6" name="Context: 지금 필요한 정보 / Memory: 다음 작업에도 남길지 판단할 지식 · 자동 저장·정확성 ">
            <a:extLst xmlns:a="http://schemas.openxmlformats.org/drawingml/2006/main">
              <a:ext uri="{FF2B5EF4-FFF2-40B4-BE49-F238E27FC236}">
                <a16:creationId xmlns:a16="http://schemas.microsoft.com/office/drawing/2014/main" id="{C44426C0-60BA-4EAC-93B4-4FC1A3DDD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Context: 지금 필요한 정보 / Memory: 다음 작업에도 남길지 판단할 지식 · 자동 저장·정확성 보장 없음</a:t>
            </a:r>
          </a:p>
        </p:txBody>
      </p:sp>
      <p:sp>
        <p:nvSpPr>
          <p:cNvPr id="7" name="조사로 얻은 지식이 다음 작업에도 필요하다면?">
            <a:extLst xmlns:a="http://schemas.openxmlformats.org/drawingml/2006/main">
              <a:ext uri="{FF2B5EF4-FFF2-40B4-BE49-F238E27FC236}">
                <a16:creationId xmlns:a16="http://schemas.microsoft.com/office/drawing/2014/main" id="{70E9318F-4300-4385-9D5F-F325DCEFD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조사로 얻은 지식이 다음 작업에도 필요하다면?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C259B2-4A69-494F-9E17-03598E25F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66975"/>
            <a:ext cx="3086100" cy="2152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9" name="Task A · 조사">
            <a:extLst xmlns:a="http://schemas.openxmlformats.org/drawingml/2006/main">
              <a:ext uri="{FF2B5EF4-FFF2-40B4-BE49-F238E27FC236}">
                <a16:creationId xmlns:a16="http://schemas.microsoft.com/office/drawing/2014/main" id="{A98EEE7B-7DFB-4A0A-8F4D-B0CEA0B1A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81275"/>
            <a:ext cx="2743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Task A · 조사</a:t>
            </a:r>
          </a:p>
        </p:txBody>
      </p:sp>
      <p:sp>
        <p:nvSpPr>
          <p:cNvPr id="10" name="재현 조건이나&#10;주의점을 확인&#10;(교육용 가정)">
            <a:extLst xmlns:a="http://schemas.openxmlformats.org/drawingml/2006/main">
              <a:ext uri="{FF2B5EF4-FFF2-40B4-BE49-F238E27FC236}">
                <a16:creationId xmlns:a16="http://schemas.microsoft.com/office/drawing/2014/main" id="{9CFBD052-E380-4962-B233-01E15D172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05150"/>
            <a:ext cx="274320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재현 조건이나</a:t>
            </a:r>
          </a:p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주의점을 확인</a:t>
            </a:r>
          </a:p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(교육용 가정)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127291-7D13-44B9-88C5-1F065ED8C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3343275"/>
            <a:ext cx="30480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805400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0CB32E-F4C1-4168-877E-BD7977F5B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466975"/>
            <a:ext cx="3352800" cy="2152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3" name="보존할 가치 판단">
            <a:extLst xmlns:a="http://schemas.openxmlformats.org/drawingml/2006/main">
              <a:ext uri="{FF2B5EF4-FFF2-40B4-BE49-F238E27FC236}">
                <a16:creationId xmlns:a16="http://schemas.microsoft.com/office/drawing/2014/main" id="{E8644051-5D10-48C4-94F4-0E98F5E87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581275"/>
            <a:ext cx="3009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보존할 가치 판단</a:t>
            </a:r>
          </a:p>
        </p:txBody>
      </p:sp>
      <p:sp>
        <p:nvSpPr>
          <p:cNvPr id="14" name="내용 · 출처 · 적용 범위&#10;다시 확인할 조건">
            <a:extLst xmlns:a="http://schemas.openxmlformats.org/drawingml/2006/main">
              <a:ext uri="{FF2B5EF4-FFF2-40B4-BE49-F238E27FC236}">
                <a16:creationId xmlns:a16="http://schemas.microsoft.com/office/drawing/2014/main" id="{7397A96E-0CA9-40DA-80FD-12DCD6644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105150"/>
            <a:ext cx="300990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내용 · 출처 · 적용 범위</a:t>
            </a:r>
          </a:p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다시 확인할 조건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2D0EF60-DA95-451B-950F-B143525ED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343275"/>
            <a:ext cx="30480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805400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FB32604-9081-4D95-A3EF-EA7F73F87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466975"/>
            <a:ext cx="3086100" cy="2152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7" name="Task B · 다시 사용">
            <a:extLst xmlns:a="http://schemas.openxmlformats.org/drawingml/2006/main">
              <a:ext uri="{FF2B5EF4-FFF2-40B4-BE49-F238E27FC236}">
                <a16:creationId xmlns:a16="http://schemas.microsoft.com/office/drawing/2014/main" id="{64A687B2-AF46-4E7B-97E6-4888E09B3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581275"/>
            <a:ext cx="2743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Task B · 다시 사용</a:t>
            </a:r>
          </a:p>
        </p:txBody>
      </p:sp>
      <p:sp>
        <p:nvSpPr>
          <p:cNvPr id="18" name="현재 명세와 대조한 뒤&#10;관련 지식만 참고">
            <a:extLst xmlns:a="http://schemas.openxmlformats.org/drawingml/2006/main">
              <a:ext uri="{FF2B5EF4-FFF2-40B4-BE49-F238E27FC236}">
                <a16:creationId xmlns:a16="http://schemas.microsoft.com/office/drawing/2014/main" id="{88E90AEB-B398-4011-BB8E-92333C307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105150"/>
            <a:ext cx="274320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현재 명세와 대조한 뒤</a:t>
            </a:r>
          </a:p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관련 지식만 참고</a:t>
            </a:r>
          </a:p>
        </p:txBody>
      </p:sp>
      <p:sp>
        <p:nvSpPr>
          <p:cNvPr id="19" name="원래 문서에 있으면 그 출처를 참조한다">
            <a:extLst xmlns:a="http://schemas.openxmlformats.org/drawingml/2006/main">
              <a:ext uri="{FF2B5EF4-FFF2-40B4-BE49-F238E27FC236}">
                <a16:creationId xmlns:a16="http://schemas.microsoft.com/office/drawing/2014/main" id="{162B40FD-1EE7-43BE-9C57-CE3B01CDD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76825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원래 문서에 있으면 그 출처를 참조한다</a:t>
            </a:r>
          </a:p>
        </p:txBody>
      </p:sp>
      <p:sp>
        <p:nvSpPr>
          <p:cNvPr id="20" name="다음 장에서, 현재 Demo에 별도 보존 후보가 있었는지 판단한다">
            <a:extLst xmlns:a="http://schemas.openxmlformats.org/drawingml/2006/main">
              <a:ext uri="{FF2B5EF4-FFF2-40B4-BE49-F238E27FC236}">
                <a16:creationId xmlns:a16="http://schemas.microsoft.com/office/drawing/2014/main" id="{89D16BA7-2A45-46EC-8989-CE56D9C30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다음 장에서, 현재 Demo에 별도 보존 후보가 있었는지 판단한다</a:t>
            </a:r>
          </a:p>
        </p:txBody>
      </p:sp>
      <p:sp>
        <p:nvSpPr>
          <p:cNvPr id="21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79D7C4B0-0CDF-489F-AE8A-415A5F4BF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33699575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ACT 3 · Memory의 기준과 현재 사례의 선택">
            <a:extLst xmlns:a="http://schemas.openxmlformats.org/drawingml/2006/main">
              <a:ext uri="{FF2B5EF4-FFF2-40B4-BE49-F238E27FC236}">
                <a16:creationId xmlns:a16="http://schemas.microsoft.com/office/drawing/2014/main" id="{B9C4015C-C728-46A8-BD43-CE9A38817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3 · Memory의 기준과 현재 사례의 선택</a:t>
            </a:r>
          </a:p>
        </p:txBody>
      </p:sp>
      <p:sp>
        <p:nvSpPr>
          <p:cNvPr id="2" name="S62">
            <a:extLst xmlns:a="http://schemas.openxmlformats.org/drawingml/2006/main">
              <a:ext uri="{FF2B5EF4-FFF2-40B4-BE49-F238E27FC236}">
                <a16:creationId xmlns:a16="http://schemas.microsoft.com/office/drawing/2014/main" id="{7D44CAE3-9341-4C57-850A-92B5E0E0D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S62</a:t>
            </a:r>
          </a:p>
        </p:txBody>
      </p:sp>
      <p:sp>
        <p:nvSpPr>
          <p:cNvPr id="3" name="남길지, 원래 출처를 참조할지 판단한다">
            <a:extLst xmlns:a="http://schemas.openxmlformats.org/drawingml/2006/main">
              <a:ext uri="{FF2B5EF4-FFF2-40B4-BE49-F238E27FC236}">
                <a16:creationId xmlns:a16="http://schemas.microsoft.com/office/drawing/2014/main" id="{7F207703-7F72-4340-86B5-D12CDD17B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남길지, 원래 출처를 참조할지 판단한다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4166B2-9CD7-4A46-855A-F588E9335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DEC-0018 · Demo 지식 출처 점검 + 교육용 보존 기준 · 제품 Memory 기능에 대한 관찰 아">
            <a:extLst xmlns:a="http://schemas.openxmlformats.org/drawingml/2006/main">
              <a:ext uri="{FF2B5EF4-FFF2-40B4-BE49-F238E27FC236}">
                <a16:creationId xmlns:a16="http://schemas.microsoft.com/office/drawing/2014/main" id="{80750C66-B98A-4058-8586-9E9BFFAB8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DEC-0018 · Demo 지식 출처 점검 + 교육용 보존 기준 · 제품 Memory 기능에 대한 관찰 아님</a:t>
            </a:r>
          </a:p>
        </p:txBody>
      </p:sp>
      <p:sp>
        <p:nvSpPr>
          <p:cNvPr id="6" name="현재 별도 Memory 후보 없음 · 다음 작업 재사용이 기준이며 프로젝트 사이 재사용이 필수는 아님">
            <a:extLst xmlns:a="http://schemas.openxmlformats.org/drawingml/2006/main">
              <a:ext uri="{FF2B5EF4-FFF2-40B4-BE49-F238E27FC236}">
                <a16:creationId xmlns:a16="http://schemas.microsoft.com/office/drawing/2014/main" id="{A51E7779-6518-4C9A-9876-205E2EAAA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현재 별도 Memory 후보 없음 · 다음 작업 재사용이 기준이며 프로젝트 사이 재사용이 필수는 아님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A7A7103-48C4-41E0-8EE4-09B5F7E31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0225"/>
            <a:ext cx="2571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재발견 비용">
            <a:extLst xmlns:a="http://schemas.openxmlformats.org/drawingml/2006/main">
              <a:ext uri="{FF2B5EF4-FFF2-40B4-BE49-F238E27FC236}">
                <a16:creationId xmlns:a16="http://schemas.microsoft.com/office/drawing/2014/main" id="{F5B2516A-FC8F-40AE-B282-E73D28841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14525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재발견 비용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790FEF-1F16-4A73-8753-AF88572A0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1800225"/>
            <a:ext cx="2571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다음 작업 재사용">
            <a:extLst xmlns:a="http://schemas.openxmlformats.org/drawingml/2006/main">
              <a:ext uri="{FF2B5EF4-FFF2-40B4-BE49-F238E27FC236}">
                <a16:creationId xmlns:a16="http://schemas.microsoft.com/office/drawing/2014/main" id="{4E05E8E0-0CFA-4B46-A716-EACF34604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1914525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다음 작업 재사용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4F4AA1D-429C-4D46-B92A-D91C8F447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800225"/>
            <a:ext cx="2571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출처·적용 범위">
            <a:extLst xmlns:a="http://schemas.openxmlformats.org/drawingml/2006/main">
              <a:ext uri="{FF2B5EF4-FFF2-40B4-BE49-F238E27FC236}">
                <a16:creationId xmlns:a16="http://schemas.microsoft.com/office/drawing/2014/main" id="{D819D5A1-3729-4AA5-B300-A62857D91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914525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출처·적용 범위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113671B-DF10-4D5B-8132-D9A25B05F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800225"/>
            <a:ext cx="2571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갱신·무효화 조건">
            <a:extLst xmlns:a="http://schemas.openxmlformats.org/drawingml/2006/main">
              <a:ext uri="{FF2B5EF4-FFF2-40B4-BE49-F238E27FC236}">
                <a16:creationId xmlns:a16="http://schemas.microsoft.com/office/drawing/2014/main" id="{39547083-1C0E-4A37-9094-E36B09D81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1914525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갱신·무효화 조건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D11F49B-40E6-4872-B22B-1FB1D7467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05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6" name="crop의 끝 좌표 제외">
            <a:extLst xmlns:a="http://schemas.openxmlformats.org/drawingml/2006/main">
              <a:ext uri="{FF2B5EF4-FFF2-40B4-BE49-F238E27FC236}">
                <a16:creationId xmlns:a16="http://schemas.microsoft.com/office/drawing/2014/main" id="{77308FEA-34F1-4AA6-8D1D-90AA4F618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81300"/>
            <a:ext cx="4648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crop의 끝 좌표 제외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F14CA5E-A79E-4E65-93EB-4E61399BE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2895600"/>
            <a:ext cx="28575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8" name="코드 · 이미지 명세 문서">
            <a:extLst xmlns:a="http://schemas.openxmlformats.org/drawingml/2006/main">
              <a:ext uri="{FF2B5EF4-FFF2-40B4-BE49-F238E27FC236}">
                <a16:creationId xmlns:a16="http://schemas.microsoft.com/office/drawing/2014/main" id="{BC53C548-0E71-4E72-B0DF-D89ABE94C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781300"/>
            <a:ext cx="5391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코드 · 이미지 명세 문서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2292CC9-D9CE-4D53-9D94-DC8C22E73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670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0" name="모듈이 이어지는 순서">
            <a:extLst xmlns:a="http://schemas.openxmlformats.org/drawingml/2006/main">
              <a:ext uri="{FF2B5EF4-FFF2-40B4-BE49-F238E27FC236}">
                <a16:creationId xmlns:a16="http://schemas.microsoft.com/office/drawing/2014/main" id="{D532988D-62C3-4352-841B-3DDA1DD39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43275"/>
            <a:ext cx="4648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모듈이 이어지는 순서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EA2D434-9EA8-4B79-B10A-C073BC049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3457575"/>
            <a:ext cx="28575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22" name="architecture.md">
            <a:extLst xmlns:a="http://schemas.openxmlformats.org/drawingml/2006/main">
              <a:ext uri="{FF2B5EF4-FFF2-40B4-BE49-F238E27FC236}">
                <a16:creationId xmlns:a16="http://schemas.microsoft.com/office/drawing/2014/main" id="{148CAE67-7786-4119-B4D8-F6AA109F3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343275"/>
            <a:ext cx="5391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architecture.md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A511992-B5C9-40D1-9C3D-1ABF011A5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290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4" name="성능 조사·검증 방법">
            <a:extLst xmlns:a="http://schemas.openxmlformats.org/drawingml/2006/main">
              <a:ext uri="{FF2B5EF4-FFF2-40B4-BE49-F238E27FC236}">
                <a16:creationId xmlns:a16="http://schemas.microsoft.com/office/drawing/2014/main" id="{6B21A9D0-3A9B-4292-8FA2-73449B14D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5250"/>
            <a:ext cx="4648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성능 조사·검증 방법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2177F77-2A29-4727-9B30-2BE8FFBFB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4019550"/>
            <a:ext cx="28575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26" name="Repository Skill">
            <a:extLst xmlns:a="http://schemas.openxmlformats.org/drawingml/2006/main">
              <a:ext uri="{FF2B5EF4-FFF2-40B4-BE49-F238E27FC236}">
                <a16:creationId xmlns:a16="http://schemas.microsoft.com/office/drawing/2014/main" id="{93A2B787-B91D-4D03-89E1-73983C76C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05250"/>
            <a:ext cx="5391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Repository Skill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BD786D2-FA11-4FF3-A1A7-408CBC32A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910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8" name="이번 실행의 측정값">
            <a:extLst xmlns:a="http://schemas.openxmlformats.org/drawingml/2006/main">
              <a:ext uri="{FF2B5EF4-FFF2-40B4-BE49-F238E27FC236}">
                <a16:creationId xmlns:a16="http://schemas.microsoft.com/office/drawing/2014/main" id="{7ACE7AAB-AA9E-4A1F-81DC-48F3FA8EC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67225"/>
            <a:ext cx="4648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이번 실행의 측정값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53B4534-E8E4-4F68-9985-C33710912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4581525"/>
            <a:ext cx="28575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30" name="날짜가 있는 Trial 기록 · Git 이력">
            <a:extLst xmlns:a="http://schemas.openxmlformats.org/drawingml/2006/main">
              <a:ext uri="{FF2B5EF4-FFF2-40B4-BE49-F238E27FC236}">
                <a16:creationId xmlns:a16="http://schemas.microsoft.com/office/drawing/2014/main" id="{4F3029A1-5D34-4DCB-8AFE-7576BF180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467225"/>
            <a:ext cx="5391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날짜가 있는 Trial 기록 · Git 이력</a:t>
            </a:r>
          </a:p>
        </p:txBody>
      </p:sp>
      <p:sp>
        <p:nvSpPr>
          <p:cNvPr id="31" name="이번 사례: 원래 출처를 유지하고, 별도 Memory는 추가하지 않았다">
            <a:extLst xmlns:a="http://schemas.openxmlformats.org/drawingml/2006/main">
              <a:ext uri="{FF2B5EF4-FFF2-40B4-BE49-F238E27FC236}">
                <a16:creationId xmlns:a16="http://schemas.microsoft.com/office/drawing/2014/main" id="{B682C12C-D422-4043-A04B-EDF613C93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86375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이번 사례: 원래 출처를 유지하고, 별도 Memory는 추가하지 않았다</a:t>
            </a:r>
          </a:p>
        </p:txBody>
      </p:sp>
      <p:sp>
        <p:nvSpPr>
          <p:cNvPr id="32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4202887E-D143-4370-BF41-1A24B712C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36173118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ACT 3 · Minimum Effective Harness의 근거를 회수">
            <a:extLst xmlns:a="http://schemas.openxmlformats.org/drawingml/2006/main">
              <a:ext uri="{FF2B5EF4-FFF2-40B4-BE49-F238E27FC236}">
                <a16:creationId xmlns:a16="http://schemas.microsoft.com/office/drawing/2014/main" id="{38590F2A-99CB-4968-9800-9ACD53F7E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3 · Minimum Effective Harness의 근거를 회수</a:t>
            </a:r>
          </a:p>
        </p:txBody>
      </p:sp>
      <p:sp>
        <p:nvSpPr>
          <p:cNvPr id="2" name="S63">
            <a:extLst xmlns:a="http://schemas.openxmlformats.org/drawingml/2006/main">
              <a:ext uri="{FF2B5EF4-FFF2-40B4-BE49-F238E27FC236}">
                <a16:creationId xmlns:a16="http://schemas.microsoft.com/office/drawing/2014/main" id="{C5312BEF-7076-4D19-9C0D-F01A1D900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S63</a:t>
            </a:r>
          </a:p>
        </p:txBody>
      </p:sp>
      <p:sp>
        <p:nvSpPr>
          <p:cNvPr id="3" name="이번 사례에서 실제로 사용한 구조">
            <a:extLst xmlns:a="http://schemas.openxmlformats.org/drawingml/2006/main">
              <a:ext uri="{FF2B5EF4-FFF2-40B4-BE49-F238E27FC236}">
                <a16:creationId xmlns:a16="http://schemas.microsoft.com/office/drawing/2014/main" id="{537A0DBE-A8CE-40CB-88AF-995DB6D92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이번 사례에서 실제로 사용한 구조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370344-5448-4257-9F7B-045033B27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STATE-04-PERF까지의 구성 점검 · 보존된 기록과 교육용 책임 구분을 연결">
            <a:extLst xmlns:a="http://schemas.openxmlformats.org/drawingml/2006/main">
              <a:ext uri="{FF2B5EF4-FFF2-40B4-BE49-F238E27FC236}">
                <a16:creationId xmlns:a16="http://schemas.microsoft.com/office/drawing/2014/main" id="{38AA63DF-6D5D-4781-B927-5D52C9DF1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STATE-04-PERF까지의 구성 점검 · 보존된 기록과 교육용 책임 구분을 연결</a:t>
            </a:r>
          </a:p>
        </p:txBody>
      </p:sp>
      <p:sp>
        <p:nvSpPr>
          <p:cNvPr id="6" name="Subagent·별도 Memory는 추가하지 않음 · 보편적 최적 구성이나 기능 수 우위에 대한 주장이 아님">
            <a:extLst xmlns:a="http://schemas.openxmlformats.org/drawingml/2006/main">
              <a:ext uri="{FF2B5EF4-FFF2-40B4-BE49-F238E27FC236}">
                <a16:creationId xmlns:a16="http://schemas.microsoft.com/office/drawing/2014/main" id="{085FEBDF-3EF0-43F7-9A2C-62EE4391F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Subagent·별도 Memory는 추가하지 않음 · 보편적 최적 구성이나 기능 수 우위에 대한 주장이 아님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E6D5DE-0F2E-4067-80D4-4123B77B7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240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8" name="현재 목표·범위">
            <a:extLst xmlns:a="http://schemas.openxmlformats.org/drawingml/2006/main">
              <a:ext uri="{FF2B5EF4-FFF2-40B4-BE49-F238E27FC236}">
                <a16:creationId xmlns:a16="http://schemas.microsoft.com/office/drawing/2014/main" id="{2B07C899-2539-40E6-8ABA-5010D89CC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47244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현재 목표·범위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A729E3F-B091-4093-85E6-F07B856B4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419350"/>
            <a:ext cx="30480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0" name="밝기 통계 조사 요청">
            <a:extLst xmlns:a="http://schemas.openxmlformats.org/drawingml/2006/main">
              <a:ext uri="{FF2B5EF4-FFF2-40B4-BE49-F238E27FC236}">
                <a16:creationId xmlns:a16="http://schemas.microsoft.com/office/drawing/2014/main" id="{15F4FBE2-2110-4255-8EE8-689FAC8F6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86000"/>
            <a:ext cx="53911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밝기 통계 조사 요청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8170954-FE86-46C3-9B1C-29D214784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860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2" name="참고할 명세·안내">
            <a:extLst xmlns:a="http://schemas.openxmlformats.org/drawingml/2006/main">
              <a:ext uri="{FF2B5EF4-FFF2-40B4-BE49-F238E27FC236}">
                <a16:creationId xmlns:a16="http://schemas.microsoft.com/office/drawing/2014/main" id="{3FC69CE0-043B-4CFC-9402-259535A1C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47244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참고할 명세·안내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BD7401F-56F7-4B5D-AFEC-E82B115B9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3181350"/>
            <a:ext cx="30480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4" name="AGENTS.md + 상세 문서">
            <a:extLst xmlns:a="http://schemas.openxmlformats.org/drawingml/2006/main">
              <a:ext uri="{FF2B5EF4-FFF2-40B4-BE49-F238E27FC236}">
                <a16:creationId xmlns:a16="http://schemas.microsoft.com/office/drawing/2014/main" id="{979C6AFB-B476-42AF-A5A4-13A5C5E2B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48000"/>
            <a:ext cx="53911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AGENTS.md + 상세 문서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AD85CAF-E594-44C5-B9AE-F3546F4AF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480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6" name="다시 쓸 수행 방법">
            <a:extLst xmlns:a="http://schemas.openxmlformats.org/drawingml/2006/main">
              <a:ext uri="{FF2B5EF4-FFF2-40B4-BE49-F238E27FC236}">
                <a16:creationId xmlns:a16="http://schemas.microsoft.com/office/drawing/2014/main" id="{8CBEF837-6D68-4DDE-A805-7F287F382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0"/>
            <a:ext cx="47244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다시 쓸 수행 방법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4795433-4E71-4EC6-B134-1733160CC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3943350"/>
            <a:ext cx="30480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8" name="graypipe-performance Skill">
            <a:extLst xmlns:a="http://schemas.openxmlformats.org/drawingml/2006/main">
              <a:ext uri="{FF2B5EF4-FFF2-40B4-BE49-F238E27FC236}">
                <a16:creationId xmlns:a16="http://schemas.microsoft.com/office/drawing/2014/main" id="{794CA4D1-CC97-4BBF-B075-3294CA8FE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810000"/>
            <a:ext cx="53911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graypipe-performance Skill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2A4AF69-A833-4AE7-BE98-DEADF80D4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00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0" name="변경을 판단할 근거">
            <a:extLst xmlns:a="http://schemas.openxmlformats.org/drawingml/2006/main">
              <a:ext uri="{FF2B5EF4-FFF2-40B4-BE49-F238E27FC236}">
                <a16:creationId xmlns:a16="http://schemas.microsoft.com/office/drawing/2014/main" id="{521DBC9C-1DC5-4812-B87B-862C52B91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0"/>
            <a:ext cx="47244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변경을 판단할 근거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93D5995-A356-4B9B-A1F1-3463F6364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4705350"/>
            <a:ext cx="30480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22" name="테스트 + benchmark + 실행 환경">
            <a:extLst xmlns:a="http://schemas.openxmlformats.org/drawingml/2006/main">
              <a:ext uri="{FF2B5EF4-FFF2-40B4-BE49-F238E27FC236}">
                <a16:creationId xmlns:a16="http://schemas.microsoft.com/office/drawing/2014/main" id="{63F83B6F-67C2-45D5-A7F0-F5E0CED84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572000"/>
            <a:ext cx="53911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테스트 + benchmark + 실행 환경</a:t>
            </a:r>
          </a:p>
        </p:txBody>
      </p:sp>
      <p:sp>
        <p:nvSpPr>
          <p:cNvPr id="23" name="현재 문제와 확인 요구에 맞춰 구성한 작업 환경">
            <a:extLst xmlns:a="http://schemas.openxmlformats.org/drawingml/2006/main">
              <a:ext uri="{FF2B5EF4-FFF2-40B4-BE49-F238E27FC236}">
                <a16:creationId xmlns:a16="http://schemas.microsoft.com/office/drawing/2014/main" id="{02CF4BFE-1300-4C2D-8FAE-D20B35730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109728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현재 문제와 확인 요구에 맞춰 구성한 작업 환경</a:t>
            </a:r>
          </a:p>
        </p:txBody>
      </p:sp>
      <p:sp>
        <p:nvSpPr>
          <p:cNvPr id="24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BE8B05CD-E953-4A89-9FBE-09E0529CC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199473687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ACT 3 · 작업 방법과 실행·검증 환경을 하나로 연결">
            <a:extLst xmlns:a="http://schemas.openxmlformats.org/drawingml/2006/main">
              <a:ext uri="{FF2B5EF4-FFF2-40B4-BE49-F238E27FC236}">
                <a16:creationId xmlns:a16="http://schemas.microsoft.com/office/drawing/2014/main" id="{8731ED93-CFB9-4D83-8371-37709257E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3 · 작업 방법과 실행·검증 환경을 하나로 연결</a:t>
            </a:r>
          </a:p>
        </p:txBody>
      </p:sp>
      <p:sp>
        <p:nvSpPr>
          <p:cNvPr id="2" name="S64">
            <a:extLst xmlns:a="http://schemas.openxmlformats.org/drawingml/2006/main">
              <a:ext uri="{FF2B5EF4-FFF2-40B4-BE49-F238E27FC236}">
                <a16:creationId xmlns:a16="http://schemas.microsoft.com/office/drawing/2014/main" id="{C6E54A58-5B2A-4D3A-A466-74412B126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S64</a:t>
            </a:r>
          </a:p>
        </p:txBody>
      </p:sp>
      <p:sp>
        <p:nvSpPr>
          <p:cNvPr id="3" name="이 구성이 함께 작동하는 것이 Harness다">
            <a:extLst xmlns:a="http://schemas.openxmlformats.org/drawingml/2006/main">
              <a:ext uri="{FF2B5EF4-FFF2-40B4-BE49-F238E27FC236}">
                <a16:creationId xmlns:a16="http://schemas.microsoft.com/office/drawing/2014/main" id="{81529AF5-3A04-4BEB-BC6E-EC76E9F25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이 구성이 함께 작동하는 것이 Harness다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22EF7F-48D4-4C33-9926-F56657594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이 과정의 Harness 운영 모델 · 아래 관찰 구성은 STATE-04-PERF까지의 제한된 사례">
            <a:extLst xmlns:a="http://schemas.openxmlformats.org/drawingml/2006/main">
              <a:ext uri="{FF2B5EF4-FFF2-40B4-BE49-F238E27FC236}">
                <a16:creationId xmlns:a16="http://schemas.microsoft.com/office/drawing/2014/main" id="{D11410D0-98FE-411D-8650-B76C8FA37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이 과정의 Harness 운영 모델 · 아래 관찰 구성은 STATE-04-PERF까지의 제한된 사례</a:t>
            </a:r>
          </a:p>
        </p:txBody>
      </p:sp>
      <p:sp>
        <p:nvSpPr>
          <p:cNvPr id="6" name="공식 제품 분류·보편적 필수 목록이 아님 · 특정 구성요소의 단독 성능 효과는 입증하지 않음">
            <a:extLst xmlns:a="http://schemas.openxmlformats.org/drawingml/2006/main">
              <a:ext uri="{FF2B5EF4-FFF2-40B4-BE49-F238E27FC236}">
                <a16:creationId xmlns:a16="http://schemas.microsoft.com/office/drawing/2014/main" id="{60703F49-C5D6-4CAB-B427-38F017B82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공식 제품 분류·보편적 필수 목록이 아님 · 특정 구성요소의 단독 성능 효과는 입증하지 않음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2D76F97-7317-41FF-A26A-D8BEFBE0C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28800"/>
            <a:ext cx="10972800" cy="3209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7D0DA"/>
            </a:solidFill>
            <a:prstDash val="solid"/>
          </a:ln>
        </p:spPr>
      </p:sp>
      <p:sp>
        <p:nvSpPr>
          <p:cNvPr id="8" name="프로젝트 작업 환경">
            <a:extLst xmlns:a="http://schemas.openxmlformats.org/drawingml/2006/main">
              <a:ext uri="{FF2B5EF4-FFF2-40B4-BE49-F238E27FC236}">
                <a16:creationId xmlns:a16="http://schemas.microsoft.com/office/drawing/2014/main" id="{24D0F965-D7EE-4508-8865-6AF883F23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943100"/>
            <a:ext cx="10591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프로젝트 작업 환경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53342D2-D44C-433A-BDB4-7BAF29144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81275"/>
            <a:ext cx="2609850" cy="1400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0" name="목표·허용 범위">
            <a:extLst xmlns:a="http://schemas.openxmlformats.org/drawingml/2006/main">
              <a:ext uri="{FF2B5EF4-FFF2-40B4-BE49-F238E27FC236}">
                <a16:creationId xmlns:a16="http://schemas.microsoft.com/office/drawing/2014/main" id="{8BB2366D-7E0A-44D9-A98E-30B3271F9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695575"/>
            <a:ext cx="2266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목표·허용 범위</a:t>
            </a:r>
          </a:p>
        </p:txBody>
      </p:sp>
      <p:sp>
        <p:nvSpPr>
          <p:cNvPr id="11" name="개발자가 정한다">
            <a:extLst xmlns:a="http://schemas.openxmlformats.org/drawingml/2006/main">
              <a:ext uri="{FF2B5EF4-FFF2-40B4-BE49-F238E27FC236}">
                <a16:creationId xmlns:a16="http://schemas.microsoft.com/office/drawing/2014/main" id="{38E8BD81-1CC6-4356-AF1A-4BF340D5A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219450"/>
            <a:ext cx="22669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개발자가 정한다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91F4CA0-89A6-4A03-BB50-DF77D006B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3076575"/>
            <a:ext cx="276225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2960818-3449-40C6-9DC6-8574BDD72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581275"/>
            <a:ext cx="3590925" cy="1400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4" name="Agent의 수행 방법">
            <a:extLst xmlns:a="http://schemas.openxmlformats.org/drawingml/2006/main">
              <a:ext uri="{FF2B5EF4-FFF2-40B4-BE49-F238E27FC236}">
                <a16:creationId xmlns:a16="http://schemas.microsoft.com/office/drawing/2014/main" id="{79B3CC18-BD39-4A9A-AC6E-19514A1E9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695575"/>
            <a:ext cx="32480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Agent의 수행 방법</a:t>
            </a:r>
          </a:p>
        </p:txBody>
      </p:sp>
      <p:sp>
        <p:nvSpPr>
          <p:cNvPr id="15" name="조사 → 판단 → 변경">
            <a:extLst xmlns:a="http://schemas.openxmlformats.org/drawingml/2006/main">
              <a:ext uri="{FF2B5EF4-FFF2-40B4-BE49-F238E27FC236}">
                <a16:creationId xmlns:a16="http://schemas.microsoft.com/office/drawing/2014/main" id="{C7F6B976-F689-4AFD-BFC9-B84935897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219450"/>
            <a:ext cx="3248025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조사 → 판단 → 변경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D5515EF-0EF3-4D56-B80E-63DD7A42E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076575"/>
            <a:ext cx="276225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35FE26C-AEA5-4F5C-8C90-9E909D3A5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575" y="2581275"/>
            <a:ext cx="2943225" cy="1400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8" name="완료 근거·검토">
            <a:extLst xmlns:a="http://schemas.openxmlformats.org/drawingml/2006/main">
              <a:ext uri="{FF2B5EF4-FFF2-40B4-BE49-F238E27FC236}">
                <a16:creationId xmlns:a16="http://schemas.microsoft.com/office/drawing/2014/main" id="{03AB3706-0946-402F-B1F1-E9C538AD4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2025" y="2695575"/>
            <a:ext cx="26003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완료 근거·검토</a:t>
            </a:r>
          </a:p>
        </p:txBody>
      </p:sp>
      <p:sp>
        <p:nvSpPr>
          <p:cNvPr id="19" name="검증 결과를 확인">
            <a:extLst xmlns:a="http://schemas.openxmlformats.org/drawingml/2006/main">
              <a:ext uri="{FF2B5EF4-FFF2-40B4-BE49-F238E27FC236}">
                <a16:creationId xmlns:a16="http://schemas.microsoft.com/office/drawing/2014/main" id="{457A1F70-30D7-4EBB-8B4F-270959D00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2025" y="3219450"/>
            <a:ext cx="2600325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검증 결과를 확인</a:t>
            </a:r>
          </a:p>
        </p:txBody>
      </p:sp>
      <p:sp>
        <p:nvSpPr>
          <p:cNvPr id="20" name="Context·재사용 절차 + 실행 도구·입력·권한·측정 환경">
            <a:extLst xmlns:a="http://schemas.openxmlformats.org/drawingml/2006/main">
              <a:ext uri="{FF2B5EF4-FFF2-40B4-BE49-F238E27FC236}">
                <a16:creationId xmlns:a16="http://schemas.microsoft.com/office/drawing/2014/main" id="{AA9C2C39-F9BB-4F70-8C9E-B9EFA0DAD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91025"/>
            <a:ext cx="10515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Context·재사용 절차 + 실행 도구·입력·권한·측정 환경</a:t>
            </a:r>
          </a:p>
        </p:txBody>
      </p:sp>
      <p:sp>
        <p:nvSpPr>
          <p:cNvPr id="21" name="관찰한 구성: AGENTS.md · docs · Skill · Tests · Benchmark">
            <a:extLst xmlns:a="http://schemas.openxmlformats.org/drawingml/2006/main">
              <a:ext uri="{FF2B5EF4-FFF2-40B4-BE49-F238E27FC236}">
                <a16:creationId xmlns:a16="http://schemas.microsoft.com/office/drawing/2014/main" id="{A85D8751-E4C0-497E-84C7-D33D2301F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43525"/>
            <a:ext cx="10972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관찰한 구성: AGENTS.md · docs · Skill · Tests · Benchmark</a:t>
            </a:r>
          </a:p>
        </p:txBody>
      </p:sp>
      <p:sp>
        <p:nvSpPr>
          <p:cNvPr id="22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F9630734-6303-461A-BBCD-EFFFD43FD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2134018103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ACT 3 · 결과를 해석할 환경을 함께 기록">
            <a:extLst xmlns:a="http://schemas.openxmlformats.org/drawingml/2006/main">
              <a:ext uri="{FF2B5EF4-FFF2-40B4-BE49-F238E27FC236}">
                <a16:creationId xmlns:a16="http://schemas.microsoft.com/office/drawing/2014/main" id="{01E1F8CE-4C89-4364-9599-6F146A68D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3 · 결과를 해석할 환경을 함께 기록</a:t>
            </a:r>
          </a:p>
        </p:txBody>
      </p:sp>
      <p:sp>
        <p:nvSpPr>
          <p:cNvPr id="2" name="S65">
            <a:extLst xmlns:a="http://schemas.openxmlformats.org/drawingml/2006/main">
              <a:ext uri="{FF2B5EF4-FFF2-40B4-BE49-F238E27FC236}">
                <a16:creationId xmlns:a16="http://schemas.microsoft.com/office/drawing/2014/main" id="{E4D1F198-A11D-4D19-8001-75ECF8DE7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S65</a:t>
            </a:r>
          </a:p>
        </p:txBody>
      </p:sp>
      <p:sp>
        <p:nvSpPr>
          <p:cNvPr id="3" name="같은 Repository라도 실행 조건은 다를 수 있다">
            <a:extLst xmlns:a="http://schemas.openxmlformats.org/drawingml/2006/main">
              <a:ext uri="{FF2B5EF4-FFF2-40B4-BE49-F238E27FC236}">
                <a16:creationId xmlns:a16="http://schemas.microsoft.com/office/drawing/2014/main" id="{41ADA1EA-FF1E-46D1-B5B3-3AF235036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같은 Repository라도 실행 조건은 다를 수 있다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E22983-6C5A-45A7-A057-59DC74F61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E94CE2-DAA5-4A24-8A7E-C1D6808C0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959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6172"/>
            </a:solidFill>
            <a:prstDash val="solid"/>
          </a:ln>
        </p:spPr>
      </p:sp>
      <p:sp>
        <p:nvSpPr>
          <p:cNvPr id="6" name="OBSERVED_META · TRIAL-006/007/008의 전역 지침·시작 경고 관찰을 예고 · 상세는 ">
            <a:extLst xmlns:a="http://schemas.openxmlformats.org/drawingml/2006/main">
              <a:ext uri="{FF2B5EF4-FFF2-40B4-BE49-F238E27FC236}">
                <a16:creationId xmlns:a16="http://schemas.microsoft.com/office/drawing/2014/main" id="{CA0FE3BE-4C80-446A-8F2B-7824C07CC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OBSERVED_META · TRIAL-006/007/008의 전역 지침·시작 경고 관찰을 예고 · 상세는 ACT 4</a:t>
            </a:r>
          </a:p>
        </p:txBody>
      </p:sp>
      <p:sp>
        <p:nvSpPr>
          <p:cNvPr id="7" name="경고는 실행 기여의 증거가 아님 · 전체 환경 목록·Hook/MCP 인과효과·현재 제품 동작은 미검증">
            <a:extLst xmlns:a="http://schemas.openxmlformats.org/drawingml/2006/main">
              <a:ext uri="{FF2B5EF4-FFF2-40B4-BE49-F238E27FC236}">
                <a16:creationId xmlns:a16="http://schemas.microsoft.com/office/drawing/2014/main" id="{20C79ED5-5CC8-4D2A-BCEC-3156E8824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경고는 실행 기여의 증거가 아님 · 전체 환경 목록·Hook/MCP 인과효과·현재 제품 동작은 미검증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831217B-17EA-4C81-9D7D-9FC14C4AD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57425"/>
            <a:ext cx="4248150" cy="2238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9" name="Repository 안">
            <a:extLst xmlns:a="http://schemas.openxmlformats.org/drawingml/2006/main">
              <a:ext uri="{FF2B5EF4-FFF2-40B4-BE49-F238E27FC236}">
                <a16:creationId xmlns:a16="http://schemas.microsoft.com/office/drawing/2014/main" id="{9D53CFD0-6EA7-4BF2-9B4B-1F08355A2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71725"/>
            <a:ext cx="3905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Repository 안</a:t>
            </a:r>
          </a:p>
        </p:txBody>
      </p:sp>
      <p:sp>
        <p:nvSpPr>
          <p:cNvPr id="10" name="코드 · AGENTS.md&#10;상세 문서 · 재사용 Skill">
            <a:extLst xmlns:a="http://schemas.openxmlformats.org/drawingml/2006/main">
              <a:ext uri="{FF2B5EF4-FFF2-40B4-BE49-F238E27FC236}">
                <a16:creationId xmlns:a16="http://schemas.microsoft.com/office/drawing/2014/main" id="{1A2EE5C3-0977-4402-B902-8B3FB8603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95600"/>
            <a:ext cx="3905250" cy="1495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코드 · AGENTS.md</a:t>
            </a:r>
          </a:p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상세 문서 · 재사용 Skill</a:t>
            </a:r>
          </a:p>
        </p:txBody>
      </p:sp>
      <p:sp>
        <p:nvSpPr>
          <p:cNvPr id="11" name="+">
            <a:extLst xmlns:a="http://schemas.openxmlformats.org/drawingml/2006/main">
              <a:ext uri="{FF2B5EF4-FFF2-40B4-BE49-F238E27FC236}">
                <a16:creationId xmlns:a16="http://schemas.microsoft.com/office/drawing/2014/main" id="{CA174969-1407-4ADC-A810-6DF5D1443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3086100"/>
            <a:ext cx="47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+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BFA24A5-B829-4B7D-8BB9-C25651AF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57425"/>
            <a:ext cx="5486400" cy="2238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3" name="바깥에서 들어온 관찰">
            <a:extLst xmlns:a="http://schemas.openxmlformats.org/drawingml/2006/main">
              <a:ext uri="{FF2B5EF4-FFF2-40B4-BE49-F238E27FC236}">
                <a16:creationId xmlns:a16="http://schemas.microsoft.com/office/drawing/2014/main" id="{E0D617E2-103F-4EFF-B5C7-8DD60A1BD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371725"/>
            <a:ext cx="5143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바깥에서 들어온 관찰</a:t>
            </a:r>
          </a:p>
        </p:txBody>
      </p:sp>
      <p:sp>
        <p:nvSpPr>
          <p:cNvPr id="14" name="전역 지침·Skills의 포함&#10;Hook·MCP 초기화 경고">
            <a:extLst xmlns:a="http://schemas.openxmlformats.org/drawingml/2006/main">
              <a:ext uri="{FF2B5EF4-FFF2-40B4-BE49-F238E27FC236}">
                <a16:creationId xmlns:a16="http://schemas.microsoft.com/office/drawing/2014/main" id="{E96BAEA2-83A2-49A0-8BA4-561B318F8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895600"/>
            <a:ext cx="5143500" cy="1495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전역 지침·Skills의 포함</a:t>
            </a:r>
          </a:p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Hook·MCP 초기화 경고</a:t>
            </a:r>
          </a:p>
        </p:txBody>
      </p:sp>
      <p:sp>
        <p:nvSpPr>
          <p:cNvPr id="15" name="함께 남길 조건">
            <a:extLst xmlns:a="http://schemas.openxmlformats.org/drawingml/2006/main">
              <a:ext uri="{FF2B5EF4-FFF2-40B4-BE49-F238E27FC236}">
                <a16:creationId xmlns:a16="http://schemas.microsoft.com/office/drawing/2014/main" id="{EF0A2DE7-B20E-4D89-A09D-B282E791D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14900"/>
            <a:ext cx="2343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함께 남길 조건</a:t>
            </a:r>
          </a:p>
        </p:txBody>
      </p:sp>
      <p:sp>
        <p:nvSpPr>
          <p:cNvPr id="16" name="적용 지침 · 모델/설정 · 권한 · OS/runtime">
            <a:extLst xmlns:a="http://schemas.openxmlformats.org/drawingml/2006/main">
              <a:ext uri="{FF2B5EF4-FFF2-40B4-BE49-F238E27FC236}">
                <a16:creationId xmlns:a16="http://schemas.microsoft.com/office/drawing/2014/main" id="{9AB77614-B1E9-4068-B741-F3C5F7C94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4914900"/>
            <a:ext cx="8477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적용 지침 · 모델/설정 · 권한 · OS/runtime</a:t>
            </a:r>
          </a:p>
        </p:txBody>
      </p:sp>
      <p:sp>
        <p:nvSpPr>
          <p:cNvPr id="17" name="관찰한 흔적과, 결과에 영향을 줬다는 판단은 구분한다">
            <a:extLst xmlns:a="http://schemas.openxmlformats.org/drawingml/2006/main">
              <a:ext uri="{FF2B5EF4-FFF2-40B4-BE49-F238E27FC236}">
                <a16:creationId xmlns:a16="http://schemas.microsoft.com/office/drawing/2014/main" id="{32936145-E837-4901-9E79-71063FC07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0200"/>
            <a:ext cx="10972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관찰한 흔적과, 결과에 영향을 줬다는 판단은 구분한다</a:t>
            </a:r>
          </a:p>
        </p:txBody>
      </p:sp>
      <p:sp>
        <p:nvSpPr>
          <p:cNvPr id="18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A5294828-FC68-4CF7-8B72-3706D6958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M2 · M6</a:t>
            </a:r>
          </a:p>
        </p:txBody>
      </p:sp>
    </p:spTree>
    <p:extLst>
      <p:ext uri="{BB962C8B-B14F-4D97-AF65-F5344CB8AC3E}">
        <p14:creationId xmlns:p14="http://schemas.microsoft.com/office/powerpoint/2010/main" val="680365378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ACT 3 · 도구를 넘어 같은 판단을 적용하기">
            <a:extLst xmlns:a="http://schemas.openxmlformats.org/drawingml/2006/main">
              <a:ext uri="{FF2B5EF4-FFF2-40B4-BE49-F238E27FC236}">
                <a16:creationId xmlns:a16="http://schemas.microsoft.com/office/drawing/2014/main" id="{ADCDFE37-904D-4ED4-A0CA-03E3AEB16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3 · 도구를 넘어 같은 판단을 적용하기</a:t>
            </a:r>
          </a:p>
        </p:txBody>
      </p:sp>
      <p:sp>
        <p:nvSpPr>
          <p:cNvPr id="2" name="S66">
            <a:extLst xmlns:a="http://schemas.openxmlformats.org/drawingml/2006/main">
              <a:ext uri="{FF2B5EF4-FFF2-40B4-BE49-F238E27FC236}">
                <a16:creationId xmlns:a16="http://schemas.microsoft.com/office/drawing/2014/main" id="{1EE65A9D-BCC6-455C-B218-2E16983D1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S66</a:t>
            </a:r>
          </a:p>
        </p:txBody>
      </p:sp>
      <p:sp>
        <p:nvSpPr>
          <p:cNvPr id="3" name="우리 C++ 검사 작업에 옮겨 보면">
            <a:extLst xmlns:a="http://schemas.openxmlformats.org/drawingml/2006/main">
              <a:ext uri="{FF2B5EF4-FFF2-40B4-BE49-F238E27FC236}">
                <a16:creationId xmlns:a16="http://schemas.microsoft.com/office/drawing/2014/main" id="{F06AE48C-9B2B-48AC-83EF-A54F18546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우리 C++ 검사 작업에 옮겨 보면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BB2DE8-EBE2-4350-9A39-DB86D52F1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C++ Vision 전이를 위한 교육용 예시 · AI 생성 설명용 삽화">
            <a:extLst xmlns:a="http://schemas.openxmlformats.org/drawingml/2006/main">
              <a:ext uri="{FF2B5EF4-FFF2-40B4-BE49-F238E27FC236}">
                <a16:creationId xmlns:a16="http://schemas.microsoft.com/office/drawing/2014/main" id="{8BC69E2E-9D31-46FA-93ED-DCFA42C41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C++ Vision 전이를 위한 교육용 예시 · AI 생성 설명용 삽화</a:t>
            </a:r>
          </a:p>
        </p:txBody>
      </p:sp>
      <p:sp>
        <p:nvSpPr>
          <p:cNvPr id="6" name="실제 C++ Demo·회사 장비·측정 결과가 아닙니다. 도구·빌드·하드웨어 조건은 프로젝트별 확인 필요">
            <a:extLst xmlns:a="http://schemas.openxmlformats.org/drawingml/2006/main">
              <a:ext uri="{FF2B5EF4-FFF2-40B4-BE49-F238E27FC236}">
                <a16:creationId xmlns:a16="http://schemas.microsoft.com/office/drawing/2014/main" id="{4EDF9287-A5A4-41F0-8892-82EA85FE4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실제 C++ Demo·회사 장비·측정 결과가 아닙니다. 도구·빌드·하드웨어 조건은 프로젝트별 확인 필요</a:t>
            </a:r>
          </a:p>
        </p:txBody>
      </p:sp>
      <p:sp>
        <p:nvSpPr>
          <p:cNvPr id="7" name="밝기 통계에서 쓴 판단을, 같은 검사 파이프라인의 업무로">
            <a:extLst xmlns:a="http://schemas.openxmlformats.org/drawingml/2006/main">
              <a:ext uri="{FF2B5EF4-FFF2-40B4-BE49-F238E27FC236}">
                <a16:creationId xmlns:a16="http://schemas.microsoft.com/office/drawing/2014/main" id="{D42D41E3-F3F7-4011-AD68-BA82D0E74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33525"/>
            <a:ext cx="109728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밝기 통계에서 쓴 판단을, 같은 검사 파이프라인의 업무로</a:t>
            </a:r>
          </a:p>
        </p:txBody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E59150-3AB1-4F14-92E9-4E6A5270448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a3923b788b47d9"/>
          <a:srcRect xmlns:a="http://schemas.openxmlformats.org/drawingml/2006/main" l="0" t="8000" r="0" b="12000"/>
          <a:stretch xmlns:a="http://schemas.openxmlformats.org/drawingml/2006/main"/>
        </p:blipFill>
        <p:spPr>
          <a:xfrm xmlns:a="http://schemas.openxmlformats.org/drawingml/2006/main">
            <a:off x="1881188" y="1924050"/>
            <a:ext cx="8429625" cy="1943100"/>
          </a:xfrm>
          <a:prstGeom xmlns:a="http://schemas.openxmlformats.org/drawingml/2006/main" prst="rect">
            <a:avLst/>
          </a:prstGeom>
        </p:spPr>
      </p:pic>
      <p:sp>
        <p:nvSpPr>
          <p:cNvPr id="9" name="01  입력">
            <a:extLst xmlns:a="http://schemas.openxmlformats.org/drawingml/2006/main">
              <a:ext uri="{FF2B5EF4-FFF2-40B4-BE49-F238E27FC236}">
                <a16:creationId xmlns:a16="http://schemas.microsoft.com/office/drawing/2014/main" id="{8FB5D734-59F4-4F53-AF79-C6855A8E6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9775" y="3867150"/>
            <a:ext cx="40671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01  입력</a:t>
            </a:r>
          </a:p>
        </p:txBody>
      </p:sp>
      <p:sp>
        <p:nvSpPr>
          <p:cNvPr id="10" name="02  처리">
            <a:extLst xmlns:a="http://schemas.openxmlformats.org/drawingml/2006/main">
              <a:ext uri="{FF2B5EF4-FFF2-40B4-BE49-F238E27FC236}">
                <a16:creationId xmlns:a16="http://schemas.microsoft.com/office/drawing/2014/main" id="{7D11714F-79D7-4BE3-92CA-2CCA360E5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867150"/>
            <a:ext cx="25717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02  처리</a:t>
            </a:r>
          </a:p>
        </p:txBody>
      </p:sp>
      <p:sp>
        <p:nvSpPr>
          <p:cNvPr id="11" name="03  결과">
            <a:extLst xmlns:a="http://schemas.openxmlformats.org/drawingml/2006/main">
              <a:ext uri="{FF2B5EF4-FFF2-40B4-BE49-F238E27FC236}">
                <a16:creationId xmlns:a16="http://schemas.microsoft.com/office/drawing/2014/main" id="{741434CC-3395-44BC-ABB7-B5B991F9E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3867150"/>
            <a:ext cx="21050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03  결과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1497FF3-E442-4B15-8094-66D7F464A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525"/>
            <a:ext cx="350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3" name="01  지킬 명세">
            <a:extLst xmlns:a="http://schemas.openxmlformats.org/drawingml/2006/main">
              <a:ext uri="{FF2B5EF4-FFF2-40B4-BE49-F238E27FC236}">
                <a16:creationId xmlns:a16="http://schemas.microsoft.com/office/drawing/2014/main" id="{2CA95A99-3794-463D-9C72-4323DA66A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76725"/>
            <a:ext cx="35052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01  지킬 명세</a:t>
            </a:r>
          </a:p>
        </p:txBody>
      </p:sp>
      <p:sp>
        <p:nvSpPr>
          <p:cNvPr id="14" name="ROI·픽셀값 명세&#10;빌드·하드웨어 조건">
            <a:extLst xmlns:a="http://schemas.openxmlformats.org/drawingml/2006/main">
              <a:ext uri="{FF2B5EF4-FFF2-40B4-BE49-F238E27FC236}">
                <a16:creationId xmlns:a16="http://schemas.microsoft.com/office/drawing/2014/main" id="{D255A55C-1568-4874-87B9-8B0FCA1DC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86300"/>
            <a:ext cx="35052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ROI·픽셀값 명세</a:t>
            </a:r>
          </a:p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빌드·하드웨어 조건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454B7E1-FBE6-494E-9CB3-FCD0B2610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200525"/>
            <a:ext cx="350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6" name="02  반복할 수행 방법">
            <a:extLst xmlns:a="http://schemas.openxmlformats.org/drawingml/2006/main">
              <a:ext uri="{FF2B5EF4-FFF2-40B4-BE49-F238E27FC236}">
                <a16:creationId xmlns:a16="http://schemas.microsoft.com/office/drawing/2014/main" id="{FB2F7594-770A-42D3-8F38-FC2C011D7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276725"/>
            <a:ext cx="35052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02  반복할 수행 방법</a:t>
            </a:r>
          </a:p>
        </p:txBody>
      </p:sp>
      <p:sp>
        <p:nvSpPr>
          <p:cNvPr id="17" name="기준선·해당 경로 조사&#10;변경·동일 조건 비교">
            <a:extLst xmlns:a="http://schemas.openxmlformats.org/drawingml/2006/main">
              <a:ext uri="{FF2B5EF4-FFF2-40B4-BE49-F238E27FC236}">
                <a16:creationId xmlns:a16="http://schemas.microsoft.com/office/drawing/2014/main" id="{6D845ECF-C7C9-473C-A3DE-91481EC62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686300"/>
            <a:ext cx="35052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기준선·해당 경로 조사</a:t>
            </a:r>
          </a:p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변경·동일 조건 비교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C4842BB-8E1E-48EA-860E-5EF3AA716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200525"/>
            <a:ext cx="350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9" name="03  완료를 판단할 근거">
            <a:extLst xmlns:a="http://schemas.openxmlformats.org/drawingml/2006/main">
              <a:ext uri="{FF2B5EF4-FFF2-40B4-BE49-F238E27FC236}">
                <a16:creationId xmlns:a16="http://schemas.microsoft.com/office/drawing/2014/main" id="{0CA38EA0-8AF3-4273-8B54-64CE7D1AE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276725"/>
            <a:ext cx="35052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03  완료를 판단할 근거</a:t>
            </a:r>
          </a:p>
        </p:txBody>
      </p:sp>
      <p:sp>
        <p:nvSpPr>
          <p:cNvPr id="20" name="동작·회귀·통합 검증&#10;성능 측정 결과">
            <a:extLst xmlns:a="http://schemas.openxmlformats.org/drawingml/2006/main">
              <a:ext uri="{FF2B5EF4-FFF2-40B4-BE49-F238E27FC236}">
                <a16:creationId xmlns:a16="http://schemas.microsoft.com/office/drawing/2014/main" id="{3A7E0B54-C9F2-4760-87FC-F580328C4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686300"/>
            <a:ext cx="35052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동작·회귀·통합 검증</a:t>
            </a:r>
          </a:p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성능 측정 결과</a:t>
            </a:r>
          </a:p>
        </p:txBody>
      </p:sp>
      <p:sp>
        <p:nvSpPr>
          <p:cNvPr id="21" name="기준선 측정 → 경로 조사 → 변경 → 회귀 확인">
            <a:extLst xmlns:a="http://schemas.openxmlformats.org/drawingml/2006/main">
              <a:ext uri="{FF2B5EF4-FFF2-40B4-BE49-F238E27FC236}">
                <a16:creationId xmlns:a16="http://schemas.microsoft.com/office/drawing/2014/main" id="{69DD7821-14ED-4C5B-AD84-DE53F87B7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5305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기준선 측정 → 경로 조사 → 변경 → 회귀 확인</a:t>
            </a:r>
          </a:p>
        </p:txBody>
      </p:sp>
      <p:sp>
        <p:nvSpPr>
          <p:cNvPr id="22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DCD1944C-388C-48B2-91DA-B933430F1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M5 · M6</a:t>
            </a:r>
          </a:p>
        </p:txBody>
      </p:sp>
    </p:spTree>
    <p:extLst>
      <p:ext uri="{BB962C8B-B14F-4D97-AF65-F5344CB8AC3E}">
        <p14:creationId xmlns:p14="http://schemas.microsoft.com/office/powerpoint/2010/main" val="366753924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ACT 3 · 필요한 구조와 유지할 책임을 되돌아보기">
            <a:extLst xmlns:a="http://schemas.openxmlformats.org/drawingml/2006/main">
              <a:ext uri="{FF2B5EF4-FFF2-40B4-BE49-F238E27FC236}">
                <a16:creationId xmlns:a16="http://schemas.microsoft.com/office/drawing/2014/main" id="{6A4466BC-832A-4191-9AAB-DE10AE537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3 · 필요한 구조와 유지할 책임을 되돌아보기</a:t>
            </a:r>
          </a:p>
        </p:txBody>
      </p:sp>
      <p:sp>
        <p:nvSpPr>
          <p:cNvPr id="2" name="S67">
            <a:extLst xmlns:a="http://schemas.openxmlformats.org/drawingml/2006/main">
              <a:ext uri="{FF2B5EF4-FFF2-40B4-BE49-F238E27FC236}">
                <a16:creationId xmlns:a16="http://schemas.microsoft.com/office/drawing/2014/main" id="{FBB018C2-36B1-4036-AB1C-89F4E498E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S67</a:t>
            </a:r>
          </a:p>
        </p:txBody>
      </p:sp>
      <p:sp>
        <p:nvSpPr>
          <p:cNvPr id="3" name="우리 팀의 반복 한 가지를 고르면">
            <a:extLst xmlns:a="http://schemas.openxmlformats.org/drawingml/2006/main">
              <a:ext uri="{FF2B5EF4-FFF2-40B4-BE49-F238E27FC236}">
                <a16:creationId xmlns:a16="http://schemas.microsoft.com/office/drawing/2014/main" id="{F06B3576-AB78-4158-8E78-3C658EDE3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우리 팀의 반복 한 가지를 고르면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DB7A24-3EDA-46F4-873D-1DA764637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개인 성찰·공유는 선택 · 실제 성공 STATE-04-PERF를 실패 사례로 재해석하지 않음">
            <a:extLst xmlns:a="http://schemas.openxmlformats.org/drawingml/2006/main">
              <a:ext uri="{FF2B5EF4-FFF2-40B4-BE49-F238E27FC236}">
                <a16:creationId xmlns:a16="http://schemas.microsoft.com/office/drawing/2014/main" id="{D8FCECD6-CE8C-40CE-9351-D8839609C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개인 성찰·공유는 선택 · 실제 성공 STATE-04-PERF를 실패 사례로 재해석하지 않음</a:t>
            </a:r>
          </a:p>
        </p:txBody>
      </p:sp>
      <p:sp>
        <p:nvSpPr>
          <p:cNvPr id="6" name="Subagent·Memory는 조건부 선택 · 다음 ACT의 프로젝트 변화는 별도의 가상 사례">
            <a:extLst xmlns:a="http://schemas.openxmlformats.org/drawingml/2006/main">
              <a:ext uri="{FF2B5EF4-FFF2-40B4-BE49-F238E27FC236}">
                <a16:creationId xmlns:a16="http://schemas.microsoft.com/office/drawing/2014/main" id="{68BB6EEC-A7B0-4B8F-89E5-CB8A7F826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Subagent·Memory는 조건부 선택 · 다음 ACT의 프로젝트 변화는 별도의 가상 사례</a:t>
            </a:r>
          </a:p>
        </p:txBody>
      </p:sp>
      <p:sp>
        <p:nvSpPr>
          <p:cNvPr id="7" name="내 업무에서 먼저 정리할 반복은 무엇인가?">
            <a:extLst xmlns:a="http://schemas.openxmlformats.org/drawingml/2006/main">
              <a:ext uri="{FF2B5EF4-FFF2-40B4-BE49-F238E27FC236}">
                <a16:creationId xmlns:a16="http://schemas.microsoft.com/office/drawing/2014/main" id="{834DF87B-BC1C-4691-81CF-2EE3F7BC7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내 업무에서 먼저 정리할 반복은 무엇인가?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666CF6-B14F-47F7-A1D9-33DDEC5B0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47950"/>
            <a:ext cx="3352800" cy="1581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9" name="반복되는 정보">
            <a:extLst xmlns:a="http://schemas.openxmlformats.org/drawingml/2006/main">
              <a:ext uri="{FF2B5EF4-FFF2-40B4-BE49-F238E27FC236}">
                <a16:creationId xmlns:a16="http://schemas.microsoft.com/office/drawing/2014/main" id="{EE4F92B6-37E9-45CF-80AB-6C8AAEDEA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62250"/>
            <a:ext cx="3009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반복되는 정보</a:t>
            </a:r>
          </a:p>
        </p:txBody>
      </p:sp>
      <p:sp>
        <p:nvSpPr>
          <p:cNvPr id="10" name="명세·기본 안내·상세 위치">
            <a:extLst xmlns:a="http://schemas.openxmlformats.org/drawingml/2006/main">
              <a:ext uri="{FF2B5EF4-FFF2-40B4-BE49-F238E27FC236}">
                <a16:creationId xmlns:a16="http://schemas.microsoft.com/office/drawing/2014/main" id="{B467EE6E-E073-4067-B24D-D189CBC71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86125"/>
            <a:ext cx="30099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명세·기본 안내·상세 위치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D54AB3-6010-4E8D-A5AA-F3F61B908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647950"/>
            <a:ext cx="3352800" cy="1581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2" name="반복되는 절차">
            <a:extLst xmlns:a="http://schemas.openxmlformats.org/drawingml/2006/main">
              <a:ext uri="{FF2B5EF4-FFF2-40B4-BE49-F238E27FC236}">
                <a16:creationId xmlns:a16="http://schemas.microsoft.com/office/drawing/2014/main" id="{88053BCA-D377-4226-9170-610F8BB03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762250"/>
            <a:ext cx="3009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반복되는 절차</a:t>
            </a:r>
          </a:p>
        </p:txBody>
      </p:sp>
      <p:sp>
        <p:nvSpPr>
          <p:cNvPr id="13" name="조사·변경 판단·검증·보고">
            <a:extLst xmlns:a="http://schemas.openxmlformats.org/drawingml/2006/main">
              <a:ext uri="{FF2B5EF4-FFF2-40B4-BE49-F238E27FC236}">
                <a16:creationId xmlns:a16="http://schemas.microsoft.com/office/drawing/2014/main" id="{CFBC40DB-D0CE-48EC-BF22-D91EC5B7A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286125"/>
            <a:ext cx="30099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조사·변경 판단·검증·보고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0A230D2-492A-42B9-B79D-D3CD91274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647950"/>
            <a:ext cx="3352800" cy="1581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5" name="매번 필요한 근거">
            <a:extLst xmlns:a="http://schemas.openxmlformats.org/drawingml/2006/main">
              <a:ext uri="{FF2B5EF4-FFF2-40B4-BE49-F238E27FC236}">
                <a16:creationId xmlns:a16="http://schemas.microsoft.com/office/drawing/2014/main" id="{7561B79C-1C41-4D00-A9B0-996D2E572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762250"/>
            <a:ext cx="3009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매번 필요한 근거</a:t>
            </a:r>
          </a:p>
        </p:txBody>
      </p:sp>
      <p:sp>
        <p:nvSpPr>
          <p:cNvPr id="16" name="테스트·측정 조건·검토 결과">
            <a:extLst xmlns:a="http://schemas.openxmlformats.org/drawingml/2006/main">
              <a:ext uri="{FF2B5EF4-FFF2-40B4-BE49-F238E27FC236}">
                <a16:creationId xmlns:a16="http://schemas.microsoft.com/office/drawing/2014/main" id="{5F4D6ECD-9E9E-4F18-9856-42A6FDEB9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3286125"/>
            <a:ext cx="30099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테스트·측정 조건·검토 결과</a:t>
            </a:r>
          </a:p>
        </p:txBody>
      </p:sp>
      <p:sp>
        <p:nvSpPr>
          <p:cNvPr id="17" name="어디에 두고, 누가 검토하고 갱신할까?">
            <a:extLst xmlns:a="http://schemas.openxmlformats.org/drawingml/2006/main">
              <a:ext uri="{FF2B5EF4-FFF2-40B4-BE49-F238E27FC236}">
                <a16:creationId xmlns:a16="http://schemas.microsoft.com/office/drawing/2014/main" id="{9536E945-9520-477C-95D2-7D978287A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10972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어디에 두고, 누가 검토하고 갱신할까?</a:t>
            </a:r>
          </a:p>
        </p:txBody>
      </p:sp>
      <p:sp>
        <p:nvSpPr>
          <p:cNvPr id="18" name="다음 질문: 프로젝트가 바뀌면 이 방법을 어떻게 점검할까?">
            <a:extLst xmlns:a="http://schemas.openxmlformats.org/drawingml/2006/main">
              <a:ext uri="{FF2B5EF4-FFF2-40B4-BE49-F238E27FC236}">
                <a16:creationId xmlns:a16="http://schemas.microsoft.com/office/drawing/2014/main" id="{58686AEF-3845-4397-B6B6-894D51BC7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53050"/>
            <a:ext cx="10972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다음 질문: 프로젝트가 바뀌면 이 방법을 어떻게 점검할까?</a:t>
            </a:r>
          </a:p>
        </p:txBody>
      </p:sp>
      <p:sp>
        <p:nvSpPr>
          <p:cNvPr id="19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9EF26B44-F188-46D8-B08D-F421A8FA0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M2 · M8</a:t>
            </a:r>
          </a:p>
        </p:txBody>
      </p:sp>
    </p:spTree>
    <p:extLst>
      <p:ext uri="{BB962C8B-B14F-4D97-AF65-F5344CB8AC3E}">
        <p14:creationId xmlns:p14="http://schemas.microsoft.com/office/powerpoint/2010/main" val="159644205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2026-10-22T04:50:14.3570000Z</dcterms:created>
  <dcterms:modified xsi:type="dcterms:W3CDTF">2026-10-22T04:50:14.3570000Z</dcterms:modified>
</coreProperties>
</file>