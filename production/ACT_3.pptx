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AI가 일할 방법과 환경 설계하기</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S58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production/preview/full/S57.png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두 실제 요청에 같은 절차가 반복됐다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S56의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a:r>
              <a:t xml:space="preserve">보존된 상세 출처: TRIAL-006 실제 Prompt 발췌·번역 / TRIAL-007 보존된 Task Prompt 요약 · 그림은 설명용 삽화</a:t>
            </a:r>
          </a:p>
          <a:p>
            <a:r>
              <a:t xml:space="preserve"/>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a:r>
              <a:t xml:space="preserve">보존된 상세 범위: Global Harness 영향으로 Prompt-only attribution은 PARTIAL · 성능 전후 그림·현재 제품 화면 아님</a:t>
            </a:r>
          </a:p>
          <a:p>
            <a:r>
              <a:t xml:space="preserve"/>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테스트 명령을 언제 쓰고 무엇을 판단할까?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S58의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S60의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a:r>
              <a:t xml:space="preserve">보존된 상세 출처: 교육용 수행 예시 · TRIAL-006/007의 반복 요청을 바탕으로 구성</a:t>
            </a:r>
          </a:p>
          <a:p>
            <a:r>
              <a:t xml:space="preserve"/>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a:r>
              <a:t xml:space="preserve">보존된 상세 범위: 실제 실행 순서·결과의 재현 아님 · 이 방법도 AGENTS.md에 기록할 수 있음</a:t>
            </a:r>
          </a:p>
          <a:p>
            <a:r>
              <a:t xml:space="preserve"/>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S60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목표·기준·방법을 한 작업에 적용한다</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S59에서 명령의 사용 시점·판단 기준까지 정한 방법을 봤음을 한 문장으로 회수한다. 상단 이번 목표 ‘normalize 성능을 조사해줘’를 읽고, 아래 작업 영역으로 들어가는 연결을 짚는다. S59의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S61에서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a:r>
              <a:t xml:space="preserve">보존된 상세 출처: 교육용 적용 예 · TRIAL-006/007의 목표·보존 조건·반복 방법을 한 작업에 연결</a:t>
            </a:r>
          </a:p>
          <a:p>
            <a:r>
              <a:t xml:space="preserve"/>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a:r>
              <a:t xml:space="preserve">보존된 상세 범위: 관계 설명용 도식 · 실제 실행 기록이나 제품의 공식 분류가 아님</a:t>
            </a:r>
          </a:p>
          <a:p>
            <a:r>
              <a:t xml:space="preserve"/>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S59 회수·목표1, 기준·한 작업1.5, 방법 적용1.5, S61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반복 절차를 Skill로 모으는 이유</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S60의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S59에서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S62의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S62에서 확인한다.</a:t>
            </a:r>
          </a:p>
          <a:p xmlns:a="http://schemas.openxmlformats.org/drawingml/2006/main">
            <a:r>
              <a:t/>
            </a:r>
          </a:p>
          <a:p>
            <a:r>
              <a:t xml:space="preserve">보존된 상세 출처: DEC-0017 · 프로젝트 Skill을 선택한 설계 의도 · 왼쪽 요청은 교육용 요약</a:t>
            </a:r>
          </a:p>
          <a:p>
            <a:r>
              <a:t xml:space="preserve"/>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a:r>
              <a:t xml:space="preserve">보존된 상세 범위: 설계 선택이며 성공 증명 아님 · 현재 제품 표면·계정·호출 경로는 별도 확인</a:t>
            </a:r>
          </a:p>
          <a:p>
            <a:r>
              <a:t xml:space="preserve"/>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S60 회수0.75, 요청/기준 구분1, 공통 Skill과 관리 이유1.25, 선택 범위/S58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S61, production/preview/act3/S61.png 및 production/preview/full/S61.png.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발견·호출·본문 포함의 근거</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S61의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S63에서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a:r>
              <a:t xml:space="preserve">보존된 상세 출처: TRIAL-008 · Codex CLI 0.154.0 · 기록 발췌·번역·재구성 (실제 UI 캡처 아님)</a:t>
            </a:r>
          </a:p>
          <a:p>
            <a:r>
              <a:t xml:space="preserve"/>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a:r>
              <a:t xml:space="preserve">보존된 상세 범위: 별도 load 이벤트 없음 · 지침 준수의 보장은 아님 · 현재 Desktop·암묵 호출 미검증</a:t>
            </a:r>
          </a:p>
          <a:p>
            <a:r>
              <a:t xml:space="preserve"/>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S63로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S61 회수·업무 목적0.75, 목록1, 요청1, trace1.5, 범위·S63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S62, production/preview/act3/S62.png 및 production/preview/full/S62.png.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Skill 지침과 실제 작업 기록의 대응</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S62의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S65에서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a:r>
              <a:t xml:space="preserve">보존된 상세 출처: TRIAL-008 · Codex CLI 0.154.0 · Skill 번역 요약 + 작업 기록 재구성 (실제 캡처 아님)</a:t>
            </a:r>
          </a:p>
          <a:p>
            <a:r>
              <a:t xml:space="preserve"/>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a:r>
              <a:t xml:space="preserve">보존된 상세 범위: 관찰된 대응 · 전체 지침 준수·Skill 단독 인과성·우월성·토큰/속도 효과는 입증하지 않음</a:t>
            </a:r>
          </a:p>
          <a:p>
            <a:r>
              <a:t xml:space="preserve"/>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S62의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S66–S67로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S64 팁 뒤 S65에서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범위·S65 연결1.5). 지연 시 명령과 테스트 이름을 낭독하지 않고 행별 대응을 짚는다. 조건부 계획, 입력/수행 구분, 단독 효과 미입증은 생략하지 않는다. 6분에 S65으로 이동한다.</a:t>
            </a:r>
          </a:p>
          <a:p xmlns:a="http://schemas.openxmlformats.org/drawingml/2006/main">
            <a:r>
              <a:t/>
            </a:r>
          </a:p>
          <a:p xmlns:a="http://schemas.openxmlformats.org/drawingml/2006/main">
            <a:r>
              <a:t>Fallback: LOCAL STATIC ARTIFACT — production/ACT_3.pptx의 S63, production/preview/act3/S63.png 및 production/preview/full/S63.png.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대화로 재사용할 Skill 만들기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S63에서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S65의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a:r>
              <a:t xml:space="preserve">보존된 상세 출처: OpenAI Build skills · 2026-10-25 확인 · 요청과 생성 문서의 교육용 도식</a:t>
            </a:r>
          </a:p>
          <a:p>
            <a:r>
              <a:t xml:space="preserve"/>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a:r>
              <a:t xml:space="preserve">보존된 상세 범위: 현재 제품 활용 팁 · TRIAL-008의 제작 이력이 아님 · 생성 뒤 사용 조건·지침을 검토하고 실제 요청으로 확인</a:t>
            </a:r>
          </a:p>
          <a:p>
            <a:r>
              <a:t xml:space="preserve"/>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S64이 이동한 S65로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S64 / production/preview/full/S64.png.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절차는 재사용하고, 답은 근거로 정한다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S64에서 대화로 Skill 초안을 만들 수 있음을 봤다. 이제 그 지침 안에서 다음 작업에도 유지할 수행 절차와 이번 Task의 근거로 결정할 답을 나눈다. 앞의 S63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S66에서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a:r>
              <a:t xml:space="preserve">보존된 상세 출처: STATE-04 SKILL.md 번역 요약 + 교육용 질문·판단 경로 · 새 실행 결과가 아님</a:t>
            </a:r>
          </a:p>
          <a:p>
            <a:r>
              <a:t xml:space="preserve"/>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a:r>
              <a:t xml:space="preserve">보존된 상세 범위: 특정 구현·Trial 수치를 미리 넣지 않았음 · 보류는 허용된 경로이며 TRIAL-008의 관찰 결과 아님</a:t>
            </a:r>
          </a:p>
          <a:p>
            <a:r>
              <a:t xml:space="preserve"/>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S66/S62보다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S63 회수0.5, 재사용 방법0.75, 이번 근거·답1, 채택/보류와 S66 연결0.75. 지연 시 지침 원문과 세 질문을 전부 낭독하지 않는다. 허용된 보류와 실제 결과의 구분은 생략하지 않고3분에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계산의 성능 개선 후보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S67은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a:r>
              <a:t xml:space="preserve">보존된 상세 출처: TRIAL-008 기록 요약·구현 도식 · 합성1024×768 · CPython3.9.6 / macOS arm64</a:t>
            </a:r>
          </a:p>
          <a:p>
            <a:r>
              <a:t xml:space="preserve"/>
            </a:r>
          </a:p>
          <a:p xmlns:a="http://schemas.openxmlformats.org/drawingml/2006/main">
            <a:r>
              <a:t>Claim Boundary: S66에는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S67의 formal STATE-04/STATE-04-PERF 측정과 섞지 않는다. Skill 단독 인과성·알고리즘 제공·현재 Desktop 재현·일반 성능 보장은 주장하지 않는다.</a:t>
            </a:r>
          </a:p>
          <a:p xmlns:a="http://schemas.openxmlformats.org/drawingml/2006/main">
            <a:r>
              <a:t/>
            </a:r>
          </a:p>
          <a:p>
            <a:r>
              <a:t xml:space="preserve">보존된 상세 범위: 임시 메모리: Python 할당 피크 · 다음 장의 제품 상태 측정과 별개 · Skill 단독 효과 미입증</a:t>
            </a:r>
          </a:p>
          <a:p>
            <a:r>
              <a:t xml:space="preserve"/>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선택한 변경의 시간·메모리·동작 확인</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S66에서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a:r>
              <a:t xml:space="preserve">보존된 상세 출처: STATE-04 → STATE-04-PERF · 동일 합성1024×768 · CPython3.9.6 / macOS arm64</a:t>
            </a:r>
          </a:p>
          <a:p>
            <a:r>
              <a:t xml:space="preserve"/>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a:r>
              <a:t xml:space="preserve">보존된 상세 범위: 이 입력·환경의 코드 변경 결과 · Python 할당 피크는 RSS 아님 · Harness/Skill 단독 효과 미입증</a:t>
            </a:r>
          </a:p>
          <a:p>
            <a:r>
              <a:t xml:space="preserve"/>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S67, production/preview/act3/S67.png 및 production/preview/full/S67.png.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한 Agent 조사와 Subagent 역할 분리</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S67의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S70의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S70에 유지한다. 새 Subagent 실행이나 비교 실험은 없다.; DEC-0080.</a:t>
            </a:r>
          </a:p>
          <a:p xmlns:a="http://schemas.openxmlformats.org/drawingml/2006/main">
            <a:r>
              <a:t/>
            </a:r>
          </a:p>
          <a:p>
            <a:r>
              <a:t xml:space="preserve">보존된 상세 출처: CONCEPTUAL · C++ 검사 프로젝트의 독립 조사 가정 · 실제 Subagent 실행 아님</a:t>
            </a:r>
          </a:p>
          <a:p>
            <a:r>
              <a:t xml:space="preserve"/>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a:r>
              <a:t xml:space="preserve">보존된 상세 범위: 역할별로 필요한 정보 분리 · 조정·중복·전달·통합 비용 존재 · 시간·품질 이득 미측정</a:t>
            </a:r>
          </a:p>
          <a:p>
            <a:r>
              <a:t xml:space="preserve"/>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S69 제작 팁을 거친 뒤 S70의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S70으로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대화로 조사 Agent 만들기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S68의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S70의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a:r>
              <a:t xml:space="preserve">보존된 상세 출처: OpenAI Subagents · 2026-10-25 확인 · Custom Agent 설정·사용 요청의 교육용 도식</a:t>
            </a:r>
          </a:p>
          <a:p>
            <a:r>
              <a:t xml:space="preserve"/>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a:r>
              <a:t xml:space="preserve">보존된 상세 범위: 일회성 분담은 요청만으로 가능 · 반복 역할은 설정으로 재사용 · 실제 생성·실행 결과가 아니며 대상 환경에서 확인</a:t>
            </a:r>
          </a:p>
          <a:p>
            <a:r>
              <a:t xml:space="preserve"/>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S68이 이동한 S70에서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S69 / production/preview/full/S69.png.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작업을 나누지 않은 이유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“S68의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S68에서는 성능·빌드·테스트 조사가 서로 기다리지 않아도 된다고 가정했다. 이제 S66/S62의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S66에서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S67에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a:r>
              <a:t xml:space="preserve">보존된 상세 출처: DEC-0018 · 실제 작업의 판단을 재구성 · Subagent 실행 없음</a:t>
            </a:r>
          </a:p>
          <a:p>
            <a:r>
              <a:t xml:space="preserve"/>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a:r>
              <a:t xml:space="preserve">보존된 상세 범위: 이 작업의 판단 · 역할 분리의 시간·품질 이득은 비교 실험하지 않음</a:t>
            </a:r>
          </a:p>
          <a:p>
            <a:r>
              <a:t xml:space="preserve"/>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S68의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S68의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Lecture1분(S68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Context와 다시 쓸 지식</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S70에서는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S72에서는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S72에 유지한다.; DEC-0080.</a:t>
            </a:r>
          </a:p>
          <a:p xmlns:a="http://schemas.openxmlformats.org/drawingml/2006/main">
            <a:r>
              <a:t/>
            </a:r>
          </a:p>
          <a:p>
            <a:r>
              <a:t xml:space="preserve">보존된 상세 출처: CONCEPTUAL · 재현 조건을 다음 작업에도 쓴다는 가정 · 실제 Memory 사용 아님</a:t>
            </a:r>
          </a:p>
          <a:p>
            <a:r>
              <a:t xml:space="preserve"/>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a:r>
              <a:t xml:space="preserve">보존된 상세 범위: 이미 문서에 있으면 그 출처를 참조 · 제품의 자동 저장·회수를 확인한 사례가 아님</a:t>
            </a:r>
          </a:p>
          <a:p>
            <a:r>
              <a:t xml:space="preserve"/>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S70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S72로 이동한다.</a:t>
            </a:r>
          </a:p>
          <a:p xmlns:a="http://schemas.openxmlformats.org/drawingml/2006/main">
            <a:r>
              <a:t/>
            </a:r>
          </a:p>
          <a:p xmlns:a="http://schemas.openxmlformats.org/drawingml/2006/main">
            <a:r>
              <a:t>Fallback: LOCAL STATIC ARTIFACT — production/ACT_3.pptx의 S71, production/preview/act3/S71.png 및 production/preview/full/S71.png.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Demo 지식의 원래 출처</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a:r>
              <a:t xml:space="preserve">보존된 상세 출처: DEC-0018 · 기존 Demo 지식 출처 감사 요약 · 제품 Memory 사용 기록 아님</a:t>
            </a:r>
          </a:p>
          <a:p>
            <a:r>
              <a:t xml:space="preserve"/>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a:r>
              <a:t xml:space="preserve">보존된 상세 범위: 이 Demo에서 별도 후보를 찾지 못한 판단 · Memory의 일반적 불필요성을 주장하지 않음</a:t>
            </a:r>
          </a:p>
          <a:p>
            <a:r>
              <a:t xml:space="preserve"/>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S73으로 이동한다.</a:t>
            </a:r>
          </a:p>
          <a:p xmlns:a="http://schemas.openxmlformats.org/drawingml/2006/main">
            <a:r>
              <a:t/>
            </a:r>
          </a:p>
          <a:p xmlns:a="http://schemas.openxmlformats.org/drawingml/2006/main">
            <a:r>
              <a:t>Fallback: LOCAL STATIC ARTIFACT — production/ACT_3.pptx의 S72, production/preview/act3/S72.png 및 production/preview/full/S72.png.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 작업에 쓰인 구성의 역할</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S62/S59에서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S67처럼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a:r>
              <a:t xml:space="preserve">보존된 상세 출처: STATE-04-PERF · 실제 구성·작업 기록 요약 · 도식 재구성</a:t>
            </a:r>
          </a:p>
          <a:p>
            <a:r>
              <a:t xml:space="preserve"/>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a:r>
              <a:t xml:space="preserve">보존된 상세 범위: Subagent·별도 Memory는 추가하지 않음 · 각 요소의 단독 성능 효과는 입증하지 않음</a:t>
            </a:r>
          </a:p>
          <a:p>
            <a:r>
              <a:t xml:space="preserve"/>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S62–S67의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함께 작동하는 작업 환경, Harness</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S75–S76를 연다. 제품이나 새 명령을 실행하지 않는다.</a:t>
            </a:r>
          </a:p>
          <a:p xmlns:a="http://schemas.openxmlformats.org/drawingml/2006/main">
            <a:r>
              <a:t>마지막 연결은 다음 프로젝트에서도 사용할 기반의 가치다. 실행 조건의 세부는 S77–S81에서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S73의 실제 구성 대응을 사용한다. AGENTS.md·상세 문서·repository Skill·테스트·benchmark는 보존된 실제 근거이며 환경 전체의 완전한 감사 증거는 아니다.; DEC-0080.</a:t>
            </a:r>
          </a:p>
          <a:p xmlns:a="http://schemas.openxmlformats.org/drawingml/2006/main">
            <a:r>
              <a:t/>
            </a:r>
          </a:p>
          <a:p>
            <a:r>
              <a:t xml:space="preserve">보존된 상세 출처: 교육용 Harness 모델 · 사례 대응: AGENTS.md · docs · Skill · tests · benchmark</a:t>
            </a:r>
          </a:p>
          <a:p>
            <a:r>
              <a:t xml:space="preserve"/>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a:r>
              <a:t xml:space="preserve">보존된 상세 범위: 공식 정의·필수 목록이 아님 · 모든 실행 조건의 감사·각 요소의 단독 성능 효과는 미입증</a:t>
            </a:r>
          </a:p>
          <a:p>
            <a:r>
              <a:t xml:space="preserve"/>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S75–S76은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S73/STATE-04-PERF의 AGENTS.md·docs·Skill·tests·benchmark와 기록된 입력/실행 조건을 같은 도식에 대응하는 CAPTURED 정적 요약이다. 실제 실행 캡처가 아니며 제품·Agent·benchmark·Demo repository를 실행하거나 새 Trial을 만들지 않는다. S73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만든 Harness를 다음 프로젝트의 기반으로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S74의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a:r>
              <a:t xml:space="preserve">보존된 상세 출처: 교육용 재사용 설계 예 · 조사·검증 방법과 도구 연결 방식을 축적</a:t>
            </a:r>
          </a:p>
          <a:p>
            <a:r>
              <a:t xml:space="preserve"/>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a:r>
              <a:t xml:space="preserve">보존된 상세 범위: 다른 프로젝트로 옮겨 실행한 Demo는 아님 · 프로젝트별 적용 조건은 다음 장에서 연결</a:t>
            </a:r>
          </a:p>
          <a:p>
            <a:r>
              <a:t xml:space="preserve"/>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공통 기반에 프로젝트 기준을 연결한다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S77의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a:r>
              <a:t xml:space="preserve">보존된 상세 출처: 교육용 Harness 적용 모델 · 공통 수행 틀 + 프로젝트별 기준</a:t>
            </a:r>
          </a:p>
          <a:p>
            <a:r>
              <a:t xml:space="preserve"/>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a:r>
              <a:t xml:space="preserve">보존된 상세 범위: 전체 구성을 그대로 복사해도 작동한다는 보장이 아님 · 이식 결과·시간 절감은 미측정</a:t>
            </a:r>
          </a:p>
          <a:p>
            <a:r>
              <a:t xml:space="preserve"/>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S76의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S09과 원기록에 유지하며 새 보정 시나리오의 원인으로 사용하지 않는다.</a:t>
            </a:r>
          </a:p>
          <a:p xmlns:a="http://schemas.openxmlformats.org/drawingml/2006/main">
            <a:r>
              <a:t/>
            </a:r>
          </a:p>
          <a:p>
            <a:r>
              <a:t xml:space="preserve">보존된 상세 출처: OBSERVED_PRODUCT · STATE-04-PERF의 성공 회수 / 오른쪽은 다음 작업에 대한 질문</a:t>
            </a:r>
          </a:p>
          <a:p>
            <a:r>
              <a:t xml:space="preserve"/>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a:r>
              <a:t xml:space="preserve">보존된 상세 범위: 기록된 코드·입력·환경에서 확인한 결과 · 이후 모든 작업의 성공이나 실패를 관찰한 것은 아님</a:t>
            </a:r>
          </a:p>
          <a:p>
            <a:r>
              <a:t xml:space="preserve"/>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S78을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첫 결과 뒤에도, 확인할 일이 남는다면?</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상황 · 실제 밝기 통계의 실패나 검토 누락 이력이 아님</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앞의 실제 성공과 별개의 가정 · 새 실행·검토 결과 없음</a:t>
            </a:r>
          </a:p>
          <a:p>
            <a:r>
              <a:t xml:space="preserve"/>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남은 문제를 다음 수정으로 이어주는 사람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S80로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요청 예 · 같은 작업의 검토·수정을 사람이 연결하는 가정</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실제 비교 실험·반복 횟수·시간·토큰·실패를 관찰한 결과가 아님</a:t>
            </a:r>
          </a:p>
          <a:p>
            <a:r>
              <a:t xml:space="preserve"/>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S80로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같은 목표의 수정과 검토가 끊기지 않게</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S81에서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교육용 운영 설계 · Harness의 방법·도구를 반복 수행에 사용</a:t>
            </a:r>
          </a:p>
          <a:p>
            <a:r>
              <a:t xml:space="preserve"/>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a:r>
              <a:t xml:space="preserve">보존된 상세 범위: Harness에 원래 피드백이 없다는 뜻이 아님 · 자동 실행 제품 기능을 검증한 자료가 아님</a:t>
            </a:r>
          </a:p>
          <a:p>
            <a:r>
              <a:t xml:space="preserve"/>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S81에서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수정에 넘길 기록</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S82에서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TEACHING_MODEL · 실제 새 기록 파일·Memory를 생성한 결과가 아님</a:t>
            </a:r>
          </a:p>
          <a:p>
            <a:r>
              <a:t xml:space="preserve"/>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a:r>
              <a:t xml:space="preserve">보존된 상세 범위: 기존 지식의 출처는 유지 · 별도 Memory 시스템이나 새 도구를 필수로 요구하지 않음</a:t>
            </a:r>
          </a:p>
          <a:p>
            <a:r>
              <a:t xml:space="preserve"/>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S82에서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내가 매번 이어 주는 다음 단계는 무엇일까?</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S83의 목표 기반 실행·검토 시스템 제목을 거쳐 S84의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a:r>
              <a:t xml:space="preserve">보존된 상세 출처: 개인 성찰 · 기록·제출·공유는 선택 · 새 Trial 없음</a:t>
            </a:r>
          </a:p>
          <a:p>
            <a:r>
              <a:t xml:space="preserve"/>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a:r>
              <a:t xml:space="preserve">보존된 상세 범위: 다음 ACT는 같은 목표의 구현·검토·수정 반복을 다룸 · 완전자율 성공을 보장하지 않음</a:t>
            </a:r>
          </a:p>
          <a:p>
            <a:r>
              <a:t xml:space="preserve"/>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S83의 목표 기반 실행·검토 시스템 제목을 거쳐 S84의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S82; production/preview/act3/S82.png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