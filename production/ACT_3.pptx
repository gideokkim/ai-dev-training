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8079ef7162434d" /><Relationship Type="http://schemas.openxmlformats.org/officeDocument/2006/relationships/extended-properties" Target="/docProps/app.xml" Id="R54ffb158922b4e03" /><Relationship Type="http://schemas.openxmlformats.org/officeDocument/2006/relationships/officeDocument" Target="/ppt/presentation.xml" Id="R51d9a54d1ab84b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d11e2377124b57"/>
  </p:sldMasterIdLst>
  <p:notesMasterIdLst>
    <p:notesMasterId xmlns:r="http://schemas.openxmlformats.org/officeDocument/2006/relationships" r:id="Ra50d9ca60ad748b1"/>
  </p:notesMasterIdLst>
  <p:sldIdLst>
    <p:sldId xmlns:r="http://schemas.openxmlformats.org/officeDocument/2006/relationships" id="256" r:id="R6d495bcb51da4f4e"/>
    <p:sldId xmlns:r="http://schemas.openxmlformats.org/officeDocument/2006/relationships" id="257" r:id="R8425b57c9004457c"/>
    <p:sldId xmlns:r="http://schemas.openxmlformats.org/officeDocument/2006/relationships" id="258" r:id="R96b07adb0db84eba"/>
    <p:sldId xmlns:r="http://schemas.openxmlformats.org/officeDocument/2006/relationships" id="259" r:id="Rc71e1e7d71454110"/>
    <p:sldId xmlns:r="http://schemas.openxmlformats.org/officeDocument/2006/relationships" id="260" r:id="Rc03b106cbfc8463d"/>
    <p:sldId xmlns:r="http://schemas.openxmlformats.org/officeDocument/2006/relationships" id="261" r:id="Rba64e57f736442dd"/>
    <p:sldId xmlns:r="http://schemas.openxmlformats.org/officeDocument/2006/relationships" id="262" r:id="R039b358ccd8a4faf"/>
    <p:sldId xmlns:r="http://schemas.openxmlformats.org/officeDocument/2006/relationships" id="263" r:id="R90c8adce9da64468"/>
    <p:sldId xmlns:r="http://schemas.openxmlformats.org/officeDocument/2006/relationships" id="264" r:id="R56fbfc24a62440f2"/>
    <p:sldId xmlns:r="http://schemas.openxmlformats.org/officeDocument/2006/relationships" id="265" r:id="Rbb1b8d151c12496b"/>
    <p:sldId xmlns:r="http://schemas.openxmlformats.org/officeDocument/2006/relationships" id="266" r:id="Rfd57f7a62e3d4793"/>
    <p:sldId xmlns:r="http://schemas.openxmlformats.org/officeDocument/2006/relationships" id="267" r:id="R7de1f70315bb416a"/>
    <p:sldId xmlns:r="http://schemas.openxmlformats.org/officeDocument/2006/relationships" id="268" r:id="Re593089f6e194aff"/>
    <p:sldId xmlns:r="http://schemas.openxmlformats.org/officeDocument/2006/relationships" id="269" r:id="R7dc61c1949934c85"/>
    <p:sldId xmlns:r="http://schemas.openxmlformats.org/officeDocument/2006/relationships" id="270" r:id="R49e0937cf44f422b"/>
    <p:sldId xmlns:r="http://schemas.openxmlformats.org/officeDocument/2006/relationships" id="271" r:id="R54c5e931ee6d4dc6"/>
    <p:sldId xmlns:r="http://schemas.openxmlformats.org/officeDocument/2006/relationships" id="272" r:id="Rc554b79f3a244ec8"/>
    <p:sldId xmlns:r="http://schemas.openxmlformats.org/officeDocument/2006/relationships" id="273" r:id="Rf59a72da31a847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2ecc8e11254bed" /><Relationship Type="http://schemas.openxmlformats.org/officeDocument/2006/relationships/slideMaster" Target="/ppt/slideMasters/slideMaster1.xml" Id="R46d11e2377124b57" /><Relationship Type="http://schemas.openxmlformats.org/officeDocument/2006/relationships/notesMaster" Target="/ppt/notesMasters/notesMaster1.xml" Id="Ra50d9ca60ad748b1" /><Relationship Type="http://schemas.openxmlformats.org/officeDocument/2006/relationships/presProps" Target="/ppt/presProps.xml" Id="R385d04ecdc294085" /><Relationship Type="http://schemas.openxmlformats.org/officeDocument/2006/relationships/tableStyles" Target="/ppt/tableStyles.xml" Id="R5529d7aad3b745cd" /><Relationship Type="http://schemas.openxmlformats.org/officeDocument/2006/relationships/slide" Target="/ppt/slides/slide1.xml" Id="R6d495bcb51da4f4e" /><Relationship Type="http://schemas.openxmlformats.org/officeDocument/2006/relationships/slide" Target="/ppt/slides/slide2.xml" Id="R8425b57c9004457c" /><Relationship Type="http://schemas.openxmlformats.org/officeDocument/2006/relationships/slide" Target="/ppt/slides/slide3.xml" Id="R96b07adb0db84eba" /><Relationship Type="http://schemas.openxmlformats.org/officeDocument/2006/relationships/slide" Target="/ppt/slides/slide4.xml" Id="Rc71e1e7d71454110" /><Relationship Type="http://schemas.openxmlformats.org/officeDocument/2006/relationships/slide" Target="/ppt/slides/slide5.xml" Id="Rc03b106cbfc8463d" /><Relationship Type="http://schemas.openxmlformats.org/officeDocument/2006/relationships/slide" Target="/ppt/slides/slide6.xml" Id="Rba64e57f736442dd" /><Relationship Type="http://schemas.openxmlformats.org/officeDocument/2006/relationships/slide" Target="/ppt/slides/slide7.xml" Id="R039b358ccd8a4faf" /><Relationship Type="http://schemas.openxmlformats.org/officeDocument/2006/relationships/slide" Target="/ppt/slides/slide8.xml" Id="R90c8adce9da64468" /><Relationship Type="http://schemas.openxmlformats.org/officeDocument/2006/relationships/slide" Target="/ppt/slides/slide9.xml" Id="R56fbfc24a62440f2" /><Relationship Type="http://schemas.openxmlformats.org/officeDocument/2006/relationships/slide" Target="/ppt/slides/slide10.xml" Id="Rbb1b8d151c12496b" /><Relationship Type="http://schemas.openxmlformats.org/officeDocument/2006/relationships/slide" Target="/ppt/slides/slide11.xml" Id="Rfd57f7a62e3d4793" /><Relationship Type="http://schemas.openxmlformats.org/officeDocument/2006/relationships/slide" Target="/ppt/slides/slide12.xml" Id="R7de1f70315bb416a" /><Relationship Type="http://schemas.openxmlformats.org/officeDocument/2006/relationships/slide" Target="/ppt/slides/slide13.xml" Id="Re593089f6e194aff" /><Relationship Type="http://schemas.openxmlformats.org/officeDocument/2006/relationships/slide" Target="/ppt/slides/slide14.xml" Id="R7dc61c1949934c85" /><Relationship Type="http://schemas.openxmlformats.org/officeDocument/2006/relationships/slide" Target="/ppt/slides/slide15.xml" Id="R49e0937cf44f422b" /><Relationship Type="http://schemas.openxmlformats.org/officeDocument/2006/relationships/slide" Target="/ppt/slides/slide16.xml" Id="R54c5e931ee6d4dc6" /><Relationship Type="http://schemas.openxmlformats.org/officeDocument/2006/relationships/slide" Target="/ppt/slides/slide17.xml" Id="Rc554b79f3a244ec8" /><Relationship Type="http://schemas.openxmlformats.org/officeDocument/2006/relationships/slide" Target="/ppt/slides/slide18.xml" Id="Rf59a72da31a847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00c4a517cc40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1f336921034e05" /><Relationship Type="http://schemas.openxmlformats.org/officeDocument/2006/relationships/notesMaster" Target="/ppt/notesMasters/notesMaster1.xml" Id="Rc0b9407e595140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cad0f57acc47e4" /><Relationship Type="http://schemas.openxmlformats.org/officeDocument/2006/relationships/notesMaster" Target="/ppt/notesMasters/notesMaster1.xml" Id="R9df289f6a1344e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6ab02b0b424968" /><Relationship Type="http://schemas.openxmlformats.org/officeDocument/2006/relationships/notesMaster" Target="/ppt/notesMasters/notesMaster1.xml" Id="R84e3dfbe616843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b62ffc79134c5e" /><Relationship Type="http://schemas.openxmlformats.org/officeDocument/2006/relationships/notesMaster" Target="/ppt/notesMasters/notesMaster1.xml" Id="Rdeee3b13c8bb48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90929e980a4620" /><Relationship Type="http://schemas.openxmlformats.org/officeDocument/2006/relationships/notesMaster" Target="/ppt/notesMasters/notesMaster1.xml" Id="R5c9f15fc3ced454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d66e5d08c240ce" /><Relationship Type="http://schemas.openxmlformats.org/officeDocument/2006/relationships/notesMaster" Target="/ppt/notesMasters/notesMaster1.xml" Id="R3f4df81b60df43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aa0f6385b94c3f" /><Relationship Type="http://schemas.openxmlformats.org/officeDocument/2006/relationships/notesMaster" Target="/ppt/notesMasters/notesMaster1.xml" Id="R7625508eec1241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c799172e29438f" /><Relationship Type="http://schemas.openxmlformats.org/officeDocument/2006/relationships/notesMaster" Target="/ppt/notesMasters/notesMaster1.xml" Id="R6d3529de615545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079d3612f444dc" /><Relationship Type="http://schemas.openxmlformats.org/officeDocument/2006/relationships/notesMaster" Target="/ppt/notesMasters/notesMaster1.xml" Id="Rfcac6044e9cb4e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f94b813a384a6e" /><Relationship Type="http://schemas.openxmlformats.org/officeDocument/2006/relationships/notesMaster" Target="/ppt/notesMasters/notesMaster1.xml" Id="R0827b05ad10341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3b62b33fc74c58" /><Relationship Type="http://schemas.openxmlformats.org/officeDocument/2006/relationships/notesMaster" Target="/ppt/notesMasters/notesMaster1.xml" Id="Re893914d59204ee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f4e5f83fcb4176" /><Relationship Type="http://schemas.openxmlformats.org/officeDocument/2006/relationships/notesMaster" Target="/ppt/notesMasters/notesMaster1.xml" Id="R235b218e6a854c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69c641db23400a" /><Relationship Type="http://schemas.openxmlformats.org/officeDocument/2006/relationships/notesMaster" Target="/ppt/notesMasters/notesMaster1.xml" Id="R3b84edd20be54ff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b47324ecea347e3" /><Relationship Type="http://schemas.openxmlformats.org/officeDocument/2006/relationships/notesMaster" Target="/ppt/notesMasters/notesMaster1.xml" Id="R6714cd022d2244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d9b8ca8882848e2" /><Relationship Type="http://schemas.openxmlformats.org/officeDocument/2006/relationships/notesMaster" Target="/ppt/notesMasters/notesMaster1.xml" Id="R9a65e6d5152c4ad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65ea6065e94321" /><Relationship Type="http://schemas.openxmlformats.org/officeDocument/2006/relationships/notesMaster" Target="/ppt/notesMasters/notesMaster1.xml" Id="R7d57a6aad2544c0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e87694c91b4857" /><Relationship Type="http://schemas.openxmlformats.org/officeDocument/2006/relationships/notesMaster" Target="/ppt/notesMasters/notesMaster1.xml" Id="R5cf77f12a27a40d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5e2e48129a54853" /><Relationship Type="http://schemas.openxmlformats.org/officeDocument/2006/relationships/notesMaster" Target="/ppt/notesMasters/notesMaster1.xml" Id="Re75bb631cf724c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S50 — 두 실제 요청에 같은 절차가 반복됐다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두 실제 요청에 같은 절차가 반복됐다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서로 다른 두 성능 요청의 조사·계획·변경·검증 지시가 반복됐다. ACT3에서는 이 방법과 실행·검증 환경을 유지하는 문제를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“목표가 달라도 왜 같은 작업 방법을 다시 요청할까?”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S49의 절차 유지 질문을 회수하고 Harness를 작업 방법과 실행·검증 환경 설계라고 짧게 안내한다. 완성 구조를 먼저 제시하지 않는다.</a:t>
            </a:r>
          </a:p>
          <a:p xmlns:a="http://schemas.openxmlformats.org/drawingml/2006/main">
            <a:r>
              <a:t>2. (1:00–4:00) 크기 변경과 픽셀값 정규화의 기존 삽화는 기능 설명용임을 밝히고, A의 실제 요청 발췌 번역과 B의 보존 요청 요약을 세 행으로 대응한다.</a:t>
            </a:r>
          </a:p>
          <a:p xmlns:a="http://schemas.openxmlformats.org/drawingml/2006/main">
            <a:r>
              <a:t>3. (4:00–5:00) 반복 지시와 관찰 실행을 구분하고 전역 Harness 영향 때문에 Prompt 단독 효과 귀속은 PARTIAL임을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Actual Prompt and Repeated Workflow Elements; TRIAL-007 retained Task Prompt summary / plan/DEMO_MATRIX.md; DEC-0017, DEC-0060. A is translated excerpt; B is translated retained summary, not verbatim full prompt. Functional images are approved AI-generated teaching illustrations. No new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유사한 절차가 관찰됐지만 Prompt만의 효과로 귀속하지 않는다. 개별 성능 결과는 해당 코드·입력·환경에 한정한다. 그림은 기능 설명용 개념 예시이며 Trial의 입력·출력 파일이나 최적화 전후 결과가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다른 작업에서도 조사하고 확인하는 순서가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Task별 목표와 지속해서 재사용할 절차를 구분하고, Global Harness가 미친 영향을 고려한다. 기존 삽화의 기능 예(0–4095→0–255,2048→128)는 교육용 정규화 설명으로만 유지한다. 실제 Trial 입력/출력·성능 전후를 표시한 것이 아니다. 화면에서는 기능 목표만 짚고 지시 비교에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기능 삽화와 실제 요청 발췌/보존 요약의 세 행 대응을 유지한다. 상단에 Harness의 짧은 방향 안내만 추가하고 완성 구조는 후반에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“반복된 것은 명령 하나뿐일까요? 그 명령을 언제 쓰고 결과로 무엇을 판단할지도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방향/과제1, 두 기록 대응3,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S50, production/preview/act3/S50.png 및 production/preview/full/S50.png.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S51 — 테스트 명령을 언제 쓰고 무엇을 판단할까?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테스트 명령을 언제 쓰고 무엇을 판단할까?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테스트 명령·명세·측정 방법을 작업의 어느 시점에 사용하고, 그 결과로 무엇을 판단할지 함께 정한다. 이 수행 방법도 AGENTS.md에 기록할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테스트 명령을 변경 전과 변경 후에 실행하면 각각 무엇을 확인할까?”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S50의 두 요청에서 반복된 방법을 회수한다. normalize 성능 조사를 예로 들고 상단의 테스트 실행 방법·동작 명세·측정 방법은 프로젝트에서 확인할 정보임을 짚는다.</a:t>
            </a:r>
          </a:p>
          <a:p xmlns:a="http://schemas.openxmlformats.org/drawingml/2006/main">
            <a:r>
              <a:t>2. (0:45–2:15) 변경 전과 변경 후의 같은 테스트 실행 표시를 차례로 가리킨다. 전자는 원래 상태, 후자는 변경 영향을 확인하려는 것이다. 성능도 같은 입력·조건으로 비교할 기준을 먼저 확보한다. 테스트 결과가 명세 전체의 충족을 자동 보장하지는 않는다.</a:t>
            </a:r>
          </a:p>
          <a:p xmlns:a="http://schemas.openxmlformats.org/drawingml/2006/main">
            <a:r>
              <a:t>3. (2:15–3:15) 완료 판단에서 동작 보존과 측정 결과, 미확인 사항을 함께 보고하도록 연결한다. 기존 실패나 근거 부족이 있으면 원인·범위를 먼저 확인하고 필요하면 변경을 보류한다. 화면은 실제 로그나 새 실행 결과가 아니다.</a:t>
            </a:r>
          </a:p>
          <a:p xmlns:a="http://schemas.openxmlformats.org/drawingml/2006/main">
            <a:r>
              <a:t>4. (3:15–4:00) 명령뿐 아니라 사용 시점과 판단 기준까지 수행 방법에 포함됨을 회수한다. 이 내용도 AGENTS.md에 쓸 수 있다. 저장 위치 선택은 아직 답하지 않고 S52의 이번 목표·프로젝트 기준·수행 방법 결합으로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BEAT-019; plan/DEMO_MATRIX.md의 TRIAL-006/007 반복 요청과 보존 조건; DEC-0062, DEC-0063. TEACHING_MODEL / CONCEPTUAL. normalize는 기존 기능 예시이며 화면은 해당 Trial의 정확한 실행 순서나 AGENTS.md 원문을 재현한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기존 TEACHING_MODEL / CONCEPTUAL 범위를 유지한다. 실제 PASS/FAIL·수치·Agent 실행 trace를 제시하지 않는다. Context와 절차는 배타적인 파일 분류가 아니며 AGENTS.md에도 방법을 기록할 수 있다. 테스트 성공만으로 명세 전체 충족을 증명하거나 Skill 필수성·우월성·토큰 절감·Harness 단독 효과를 주장하지 않는다. 제품 기능이나 현재 Desktop 동작의 검증 근거로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테스트 명령을 실행해도 변경 전에는 원래 상태를, 변경 후에는 내 변경의 영향을 확인한다. 언제 실행하고 무엇을 확인할지도 요청이나 재사용할 방법에 적는다.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기존 실패와 변경 후 결과를 구분하고 같은 조건의 측정과 미확인 범위를 함께 보고해야 한다. 명령·명세의 출처와 이를 사용하는 수행 방법은 함께 관리할 수 있으며 위치 선택 자체가 실행 준수나 인과성을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STATIC TEACHING DIAGRAM — 상단 정보 묶음에서 아래 세 시점으로 내려가는 연결을 먼저 짚는다. 같은 테스트 실행 표시 두 개와 서로 다른 확인 질문을 대응한 뒤 완료 판단으로 이동한다. 실제 실행 화면·새 측정·현재 제품 사용은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Opening Question은 발표자가 짧게 던지고 세 시점의 질문으로 설명한다. 답변 대기나 별도 Q&amp;A 시간을 추가하지 않고 Lecture4분 안에서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“지금 본 수행 방법을 이번 요청의 목표, 프로젝트 기준과 함께 놓아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반복 요청·상단 정보0.75, 변경 전/후1.5, 완료 판단1, S52 연결0.75. 시간이 부족하면 기존 실패의 확장 예를 줄이고 같은 명령/다른 질문과 교육용 경계는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S51, production/preview/act3/S51.png 및 production/preview/full/S51.png. 실제 실행 캡처가 아닌 교육용 수행 예시다. 최종 패키지·PNG·내장 Notes 확인은 production/evaluation/S51_COMMAND_WORKFLOW_REVISION.md를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DEC-0063의 교육용 경계·19필드·운영 흐름을 정렬했다. 실제 파일 렌더·Notes 대조 결과는 production/evaluation/S51_COMMAND_WORKFLOW_REVISION.md에 별도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S52 — 한 성능 작업에 세 책임을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성능 작업에 세 책임을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normalize 성능 조사라는 한 Task에서 현재 목표·허용 범위, 보존할 이미지 동작·공개 명세, 다시 쓸 측정·조사·검증 방법을 함께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“normalize 요청에서 목표, 프로젝트 기준, 수행 방법은 각각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S51에서 사용 시점과 판단 기준을 본 수행 방법을 회수한다. 첫 패널의 normalize 성능 조사 요청을 읽고, 이번 목표·계속 적용할 기준·반복 방법을 함께 놓아 보는 장임을 설명한다.</a:t>
            </a:r>
          </a:p>
          <a:p xmlns:a="http://schemas.openxmlformats.org/drawingml/2006/main">
            <a:r>
              <a:t>2. (1:00–2:30) 둘째 패널의 기존 이미지 동작과 공개 명세 보존이 이 작업에도 적용됨을 연결한다.</a:t>
            </a:r>
          </a:p>
          <a:p xmlns:a="http://schemas.openxmlformats.org/drawingml/2006/main">
            <a:r>
              <a:t>3. (2:30–4:00) 셋째 패널의 기준선·조사·검증·비교가 반복할 작업 방법임을 연결한다.</a:t>
            </a:r>
          </a:p>
          <a:p xmlns:a="http://schemas.openxmlformats.org/drawingml/2006/main">
            <a:r>
              <a:t>4. (4:00–5:00) 세 책임을 함께 적용한 뒤 재사용 절차를 어디서 유지할지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세 Layer는 교육용 모델이다. Harness 전체 정의나 제품의 공식 분류로 부르지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원하는 일, 계속 유효한 프로젝트 정보, 반복할 작업 순서를 나눠 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위치에 저장될 수 있어도 소유권, 갱신 주기, Task별 적용은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이번 요청 + 프로젝트 기준 + 수행 방법의 세 패널. 분류 항목을 재강의하지 않고 같은 Task를 관통한다.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“다음 성능 작업에도 같은 수행 방법이 필요하다면, 어디에서 함께 유지할까요?”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Lecture5분: 목표1, 기준1.5, 방법1.5, 재사용 질문1.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S52, production/preview/act3/S52.png 및 production/preview/full/S52.png.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S53 — 반복 절차의 유지 위치를 선택한다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 절차의 유지 위치를 선택한다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Task별 목표·제약·허용 범위는 요청에 남기고 반복 절차를 프로젝트가 유지할 단위로 옮기는 선택을 검토한다. 이 사례의 구현 후보는 Repository Skill이다.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“Task마다 달라지는 요청과 함께 고칠 절차를 어떻게 나눌까?”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함수·변경 범위·보존 조건처럼 Task마다 달라지는 부분을 짚는다.</a:t>
            </a:r>
          </a:p>
          <a:p xmlns:a="http://schemas.openxmlformats.org/drawingml/2006/main">
            <a:r>
              <a:t>2. (1:30–3:00) 기준선·조사·변경 판단·검증·비교·보고를 함께 고칠 방법으로 묶고 SKILL.md 후보를 제시한다.</a:t>
            </a:r>
          </a:p>
          <a:p xmlns:a="http://schemas.openxmlformats.org/drawingml/2006/main">
            <a:r>
              <a:t>3. (3:00–4:00) DEC-0017의 선택과 대상 제품 표면 확인을 구분하고 다음 실제 기록으로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DEC-0017, BEAT-020/021, TRIAL-006/007/008. Skill 선택은 ACCEPTED; 동작 근거는 뒤의 TRIAL-008에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여기서는 설계 질문과 후보만 소개한다. 현재 Desktop/계정에서 이용 가능하다고 보장하거나 Skill 우월성을 주장하지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방법을 매번 Prompt에 복사하는 대신 프로젝트가 소유하는 위치를 검토할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반복 근거에 따른 workflow 소유권 선택과 실제 발견·호출 증거를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Task마다 달라지는 요청 → 프로젝트가 재사용할 절차. SKILL.md는 구현 후보로만 제시하고 실행 성공은 다음 장에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구조가 실제 기록에서는 어떻게 발견되고 호출됐는지 확인하겠습니다.”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현재 요청1.5, 유지할 방법1.5, 선택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S53, production/preview/act3/S53.png 및 production/preview/full/S53.png.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S54 — Skill의 발견과 본문 포함을 확인했다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Skill의 발견과 본문 포함을 확인했다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5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TRIAL-008의 CLI 목록에서 이름과 설명을 발견하고, 밝기 통계 작업 목표와 함께 명시 호출했으며, 실행 trace에 경로와 전체 본문이 포함된 것을 확인했다. 별도 load UI 이벤트는 없었다.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 방법을 담은 Skill이 이번 작업에 포함됐다는 것을 무엇으로 확인했을까?”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크기 변경·정규화 다음에도 재사용할 수 있는 밝기 통계(image_statistics)의 시간/할당량 조사라는 목적을 소개한다. 새로 실행한 Task가 아니다.</a:t>
            </a:r>
          </a:p>
          <a:p xmlns:a="http://schemas.openxmlformats.org/drawingml/2006/main">
            <a:r>
              <a:t>2. (1:00–2:30) /skills 목록의 이름·잘린 설명과 명시적 $graypipe-performance 호출을 설명한다. 목록에는 파일 경로가 없었다.</a:t>
            </a:r>
          </a:p>
          <a:p xmlns:a="http://schemas.openxmlformats.org/drawingml/2006/main">
            <a:r>
              <a:t>3. (2:30–4:00) 실행 trace에 이름·경로·전체 Skill 본문이 포함된 관찰을 짚는다. 별도 UI load 이벤트나 모든 지침 준수의 증명으로 표현하지 않는다.</a:t>
            </a:r>
          </a:p>
          <a:p xmlns:a="http://schemas.openxmlformats.org/drawingml/2006/main">
            <a:r>
              <a:t>4. (4:00–5:00) CLI0.154.0, 성공한 계정/모델 실행의 범위와 현재 Desktop/암묵 호출 미검증을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DEC-0017, BEAT-021. Codex CLI 0.154.0, 명시적 호출, disposable workspace. 시각 자료는 기록의 재구성이다. DEC-0062 원문/관찰 대조: plan/DEMO_MATRIX.md TRIAL-008 Skill Discovery/Invocation/Load Evidence/Verification 및 Prompt Responsibility Shift; STATE-04:.agents/skills/graypipe-performance/SKILL.md. 경로는 selector가 아니라 실행 trace에서 확인됐다.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Product UI 스크린샷이나 현재 Codex Desktop 동작으로 표현하지 않는다. Skill path는 selector가 아니라 실행 trace에서 확인됐다. Implicit invocation은 테스트하지 않았다.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기록된 CLI 실행에서 Skill을 목록으로 찾고, 호출 표기를 입력해 사용했다.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Selector의 발견 증거와 실행 context의 본문 증거를 구별한다. 다른 surface·계정에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세 관찰 행: /skills의 이름·설명 / 명시 호출+밝기 통계 목표 / 실행 trace의 경로·본문. 기록 요약임을 표시한다. 현재 제품이나 Demo repository를 실행하지 않는다. Live/Hybrid는 대상 표면·계정·권한·fallback 확인 전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“본문이 포함됐다는 사실과, 지침에 대응하는 작업 기록을 다음 장에서 구분해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Demo5분(정적 기록 기본): 목적1, 발견·호출1.5, 본문 근거1.5, 범위/전환1. 실제 Live/Hybrid는 활성화 전 미검증.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S54, production/preview/act3/S54.png 및 production/preview/full/S54.png.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Skill의 지침과 관찰된 작업을 대응한다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Skill의 지침과 관찰된 작업을 대응한다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(HYBRID planned; activation unverified)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TRIAL-007의 긴 요청이 담던 공통 절차를 TRIAL-008은 명시 호출한 Skill에 두었다. 기준선·계획·같은 조건의 검증 지침과 보존된 관찰 기록을 대응하되 Skill 단독 인과성을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“Skill에 적힌 절차와 실제로 기록된 작업은 어떻게 대응됐을까?”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normalize와 밝기 통계는 다른 Task이며 성능 우열 비교가 아님을 밝힌다. TRIAL-007은 긴 요청, TRIAL-008은 Task 목표·6항목 보존·변경 범위+Skill 호출이었다.</a:t>
            </a:r>
          </a:p>
          <a:p xmlns:a="http://schemas.openxmlformats.org/drawingml/2006/main">
            <a:r>
              <a:t>2. (1:00–3:00 / Demo) 기준선/계획/동일 조건 검증의 실제 Skill 발췌와 보존된 관찰 요약을 행별로 대응한다. 실제 CLI 화면이나 원문 실행 로그가 아닌 표임을 밝힌다.</a:t>
            </a:r>
          </a:p>
          <a:p xmlns:a="http://schemas.openxmlformats.org/drawingml/2006/main">
            <a:r>
              <a:t>3. (3:00–5:00 / Case) 본문 포함과 각 작업 관찰이 서로 다른 근거임을 짚는다. visible plan은 Skill의 when-task/interface-calls-for 조건과 실제 요청에 맞는 범위다.</a:t>
            </a:r>
          </a:p>
          <a:p xmlns:a="http://schemas.openxmlformats.org/drawingml/2006/main">
            <a:r>
              <a:t>4. (5:00–6:00 / Case) 절차의 책임 이동을 회수하고 모든 지침 준수·단독 인과성·토큰 절약·속도 향상으로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TRIAL-007/008, DEC-0017, BEAT-021. 관찰된 CLI 기록을 요약한 비교. DEC-0062 원문/관찰 대조: plan/DEMO_MATRIX.md TRIAL-008 Skill Discovery/Invocation/Load Evidence/Verification 및 Prompt Responsibility Shift; STATE-04:.agents/skills/graypipe-performance/SKILL.md. 경로는 selector가 아니라 실행 trace에서 확인됐다. 발췌의 전체 조건: State a concise plan before making edits when the task or working interface calls for a visible plan. / Repeat the same benchmark with the same input and settings, check its correctness guard, run a suitable user-facing smoke check when relevant, inspect git diff --check, and review the final diff for scope and unintended changes. 표는 생략부호가 있는 원문 발췌와 관찰 요약이며 raw log가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Skill 우월성, 속도 향상, token/character 절감은 입증되지 않았다. Prompt 구조와 다른 전역 요인의 인과 효과를 따로 분리하지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반복되는 절차를 저장한 위치를 바꿔도 각 작업의 목표는 Prompt에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절차의 재사용 설계와 Prompt 길이·효율의 측정 주장을 혼동하지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Native 두 열 표: Skill 원문 세 발췌 ↔ TRIAL-008 기준선/계획/검증 관찰 요약. 다른 목표·Task 제약과 책임 이동을 상하 문구로 유지한다. 현재 제품이나 Demo repository를 실행하지 않는다. Live/Hybrid는 대상 표면·계정·권한·fallback 확인 전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“재사용할 지침을 정했어도, 어떤 구현이 맞는지는 이번 근거로 판단해야 합니다.”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 + Case3분. 요청 구조1, 원문/관찰 대응2, 근거 구분2,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S55, production/preview/act3/S55.png 및 production/preview/full/S55.png.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절차는 재사용하고, 답은 근거로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절차는 재사용하고, 답은 근거로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Skill은 편집 전 재현 가능한 기준선, 검증·비교와 변경 보류 조건을 담는다. 알고리즘·측정값·trade-off는 Task별 근거로 결정하고 정답이나 Trial 수치를 미리 넣지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“Skill에 고정할 방법과 이번 Task에서 정할 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Skill에 둔 재현 가능한 기준선·검증·비교·변경 보류 방법을 가리킨다. 원문 Establish a reproducible baseline before editing.의 뜻을 보존한다.</a:t>
            </a:r>
          </a:p>
          <a:p xmlns:a="http://schemas.openxmlformats.org/drawingml/2006/main">
            <a:r>
              <a:t>2. (1:00–2:00) 알고리즘·실제 측정값·trade-off는 이번 Task에서 정할 답임을 설명한다.</a:t>
            </a:r>
          </a:p>
          <a:p xmlns:a="http://schemas.openxmlformats.org/drawingml/2006/main">
            <a:r>
              <a:t>3. (2:00–3:00) no-change 문장을 읽고 변경이 정당화되지 않으면 보류도 유효한 판단임을 말한 뒤 후보 선택으로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`graypipe-performance` Skill, DEC-0017, BEAT-022. OBSERVED_PRODUCT / TEACHING_MODEL. 보존 원문: Establish a reproducible baseline before editing. / A measured result that does not justify a change is a valid no-change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절차 재사용은 관찰됐지만 Skill이 더 나은 최적화 답을 제공한다는 근거는 아니다. Workflow는 task 결과를 고정하지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작업 순서는 재사용할 수 있지만, 어떤 답이 맞는지는 매번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Input, runtime, benchmark, trade-off를 procedure definition과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Skill에 둘 방법과 이번에 정할 답을 두 패널로 대조한다. no-change 지침 원문을 별도로 발췌한다.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“그렇다면 밝기 통계의 구현 후보는 어떤 근거로 선택했을까요?”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Lecture3분: 방법1, 이번 판단1, no-change/전환1.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S56, production/preview/act3/S56.png 및 production/preview/full/S56.png.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후보는 시간·할당량·동작을 함께 보고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후보는 시간·할당량·동작을 함께 보고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TRIAL-008에서는 결과 6항목을 보존한 후보들의 실행시간과 traced allocation을 함께 봤다. 느린 수동 순회는 제외하고 낮은 할당량과 더 나은 실행시간의 행 단위 reduction을 선택했다.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“메모리를 적게 쓰는 후보라면 곧바로 선택해도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밝기 통계의 후보 선택 단계이며 다음 장의 제품 상태 전후 benchmark와 별도임을 밝힌다.</a:t>
            </a:r>
          </a:p>
          <a:p xmlns:a="http://schemas.openxmlformats.org/drawingml/2006/main">
            <a:r>
              <a:t>2. (1:00–3:00) 같은 결과6항목을 지킨 두 후보의 시간/할당량 trade-off를 정성적으로 비교한다. 수동 순회는 낮은 할당량만으로 선택하지 않았다.</a:t>
            </a:r>
          </a:p>
          <a:p xmlns:a="http://schemas.openxmlformats.org/drawingml/2006/main">
            <a:r>
              <a:t>3. (3:00–4:00) 행 단위 built-in reduction 후보를 선택한 근거를 말하되 알고리즘 구현 설명으로 확장하지 않는다.</a:t>
            </a:r>
          </a:p>
          <a:p xmlns:a="http://schemas.openxmlformats.org/drawingml/2006/main">
            <a:r>
              <a:t>4. (4:00–5:00) 합성 입력·환경 범위와 Skill이 정답을 공급한 것이 아님을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 candidate comparison; `image_statistics`; synthetic 1024×768 image, CPython 3.9.6 / macOS 26.6.2 arm64; same six-field correctness guard.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정확한 candidate 수치는 표시하지 않는다. Candidate 결과를 S58의 formal state benchmark와 섞지 않는다. Skill이 algorithm이나 결과를 만들었다고 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적은 메모리만 보고 선택하지 않고 같은 조건에서 실행시간과 정확성을 함께 확인했다.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Candidate comparison과 named product-state before/after 측정은 Evidence 단계가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후보 두 행의 정성 비교와 같은 결과6항목 확인. 정확한 후보 수치는 추가하지 않는다.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“후보 선택 기록을 남기고, 실제 제품 상태에 반영한 변경을 별도의 기준에서 확인하겠습니다.”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단계/범위1, 두 후보2, 선택1,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S57, production/preview/act3/S57.png 및 production/preview/full/S57.png.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선택한 변경을 같은 조건에서 검증했다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선택한 변경을 같은 조건에서 검증했다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STATE-04→STATE-04-PERF 밝기 통계 변경은 기록된 입력·환경에서 동작 검사와 같은 조건의 측정을 거쳤다. 기존 수치와 검사 결과를 유지하고 Harness/Skill의 단독 인과효과와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“선택한 코드 변경의 동작과 성능을 어떤 근거로 확인했을까?”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후보 비교와 정식 STATE-04 기준에서 반영한 제품 변경의 측정을 구분한다.</a:t>
            </a:r>
          </a:p>
          <a:p xmlns:a="http://schemas.openxmlformats.org/drawingml/2006/main">
            <a:r>
              <a:t>2. (1:00–2:30) 기존0축 native chart의 중앙값15.468→10.769ms/call을 동일 입력·상태별7회 측정으로 설명한다.</a:t>
            </a:r>
          </a:p>
          <a:p xmlns:a="http://schemas.openxmlformats.org/drawingml/2006/main">
            <a:r>
              <a:t>3. (2:30–3:30) 별도 tracemalloc 호출의6,675,804→380bytes와 임시 평탄화 리스트 제거를 연결하되 RSS나 전체 메모리 절감으로 확대하지 않는다.</a:t>
            </a:r>
          </a:p>
          <a:p xmlns:a="http://schemas.openxmlformats.org/drawingml/2006/main">
            <a:r>
              <a:t>4. (3:30–5:00) 함수 테스트1/1, 전체11/11, CLI, 입력·결과6항목 확인과 기록된 범위를 설명한다. Harness/Skill 단독 원인이 아니라 코드 변경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`plan/DEMO_MATRIX.md` STEP 07 §§191–200, STATE-04 → STATE-04-PERF; `plan/CLAIM_FREEZE.md` §8; DEC-0019. Baseline `822f1c12c5f602d934a2fd29e48f05bf498b4bfa`, result `6153b81c0187dd7d82c88bd1817fb683c98eb431`; `image_statistics`; deterministic synthetic 1024×768, 786,432 pixels, max255; CPython3.9.6 / macOS26.6.2 arm64; same input fingerprint, seven one-call samples per state. Median 15.468→10.769 ms/call; separate tracemalloc call peak 6,675,804→380 bytes; six-field result guard, focused1/1, full11/11, CLI smoke PASS. TRIAL-008 is candidate history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숫자는 이 입력, 코드 경로, host, runtime, 측정 조건에 한정한다. `tracemalloc`은 Python allocation peak이지 RSS가 아니다. Harness나 Skill이 성능 향상을 일으켰다고 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바뀐 코드가 맞는지 Test와 같은 benchmark로 확인한 기록이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Observed product change와 시스템 구성요소의 단독 인과를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native 실행시간 chart와 Python 할당 피크·검증 행을 유지하고 제목/요약을 한국어 판단 중심으로 정렬한다.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작업에 더 필요했던 구조도 있었을까요? 역할을 나누는 선택부터 검토하겠습니다.”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측정 단계1, 실행시간1.5, 할당량1, 동작 확인·한계·전환1.5.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S58, production/preview/act3/S58.png 및 production/preview/full/S58.png.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독립 조사를 나누면 무엇이 달라질까?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독립 조사를 나누면 무엇이 달라질까?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독립 조사와 별도 Context의 가치가 있고 결과 형식·전달 지점·통합 책임을 정할 수 있다면 역할 분리를 검토한다. C++ Vision 사례는 교육용 가정이며 조정·중복·전달·통합 비용을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“한 Agent에 모인 조사 중 서로 기다리지 않아도 되는 부분은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화면은 실제 Demo가 아닌 C++ Vision 독립 조사 가정임을 먼저 밝힌다. Subagent는 역할별로 필요한 Context를 나눠 조사하는 방식으로 설명한다.</a:t>
            </a:r>
          </a:p>
          <a:p xmlns:a="http://schemas.openxmlformats.org/drawingml/2006/main">
            <a:r>
              <a:t>2. (1:00–3:00 / Demo) 성능 경로·빌드·테스트 조사가 서로 기다리지 않아도 된다는 가정과 주 Agent의 결과 통합을 연결한다. 결과 형식·전달 지점·책임, 조정·중복·Context 전달·통합 비용을 설명한다.</a:t>
            </a:r>
          </a:p>
          <a:p xmlns:a="http://schemas.openxmlformats.org/drawingml/2006/main">
            <a:r>
              <a:t>3. (3:00–4:00 / Q&amp;A) 어떤 조사들이 실제로 독립적인지 선택 질문을 받는다. 답변은 강제하지 않고 무질문이면 독립성 확인을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TEACHING_MODEL / CONCEPTUAL — 기존 S60의 C++ 독립 조사 가정과 BEAT-023–025 / INV-MATURITY-007. DEC-0018의 실제 보류 판단은 S60으로 옮겨 유지한다. 새 Subagent 실행은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CASE / TEACHING MODEL — 기존 C++ 역할 분리 가정을 먼저 설명한다. 실제 Subagent 실행·이득·현재 제품 기능의 관찰이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역할별 Agent가 필요한 Context로 독립 조사를 맡고 주 Agent가 결과를 모으는 방식을 가정해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격리·역할 독립성이 주는 가치와 조정·중복 조사·Context 전달·결과 통합 비용을 함께 판단한다. 병렬 이득은 측정하지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CONTEXTUAL — 기존 C++ 성능 경로·빌드 환경·테스트 구조의 독립 조사 가정이다. 실제 C++ 구현이나 Subagent 실행은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명시적 CONCEPTUAL C++ 성능/빌드/테스트 독립 조사 세 패널 → 주 Agent의 통합·최종 검토. 미측정 이득을 표시하지 않는다.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Q&amp;A는 무질문 예비 질문과 cutoff를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기준을 방금 밝기 통계 작업에 적용하면, 나누는 것이 필요했을까요?”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Demo3분(VISUAL 가정) → Q&amp;A1분. 실제 실행·병렬 이득 측정·Live 사용법을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S59, production/preview/act3/S59.png 및 production/preview/full/S59.png.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이번 작업은 나눌 근거가 충분했을까?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작업은 나눌 근거가 충분했을까?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 minute + Demo 2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작업은 같은 성능 경로·명세를 공유하고 조사→변경→검증의 의존성이 높았다. 별도 Context 이득과 결과 통합 비용을 검토한 결과 Subagent를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“밝기 통계 작업의 조사·변경·검증을 실제로 독립시킬 수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앞 장의 독립성·필요 Context·전달 형식·통합 책임 기준을 회수한다.</a:t>
            </a:r>
          </a:p>
          <a:p xmlns:a="http://schemas.openxmlformats.org/drawingml/2006/main">
            <a:r>
              <a:t>2. (1:00–3:00 / Demo) 현재 작업의 조사→변경→검증이 같은 성능 경로와 명세를 공유하고 앞 결과에 의존함을 도식으로 설명한다. DEC-0018 판단을 읽는 정적 visual이며 Agent 실행이 아니다.</a:t>
            </a:r>
          </a:p>
          <a:p xmlns:a="http://schemas.openxmlformats.org/drawingml/2006/main">
            <a:r>
              <a:t>3. (3:00–4:00 / Q&amp;A) 현재 추가하지 않았다는 결론과 일반적으로 불필요하다는 주장을 구분한다. 질문이 없으면 조정·중복·전달·통합 비용을 짧게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STATE-04/STATE-04-PERF 작업 복잡도 점검, BEAT-023–025. 기존 S59의 실제 추가하지 않음 판단을 보존한다. OBSERVED_PRODUCT / TEACHING_MODEL; Subagent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FROZEN WITH SCOPE / TEACHING MODEL — DEC-0018 현재 Task 감사의 판단이며 실제 Subagent Trial이 아니다. 일반적 불필요성이나 기능 부재를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앞 조사 결과가 있어야 다음 변경과 검증이 가능한 작업에서는 나누는 비용도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NOT JUSTIFIED YET는 현재 Task의 판단이다. 일반적인 기능 가치나 사용할 수 없음에 대한 결론이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S59의 C++ 가정과 현재 Python Task를 같은 관찰로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조사→변경→검증의 의존 관계와 독립성/Context/통합 비용, 현재 추가하지 않았다는 판단을 분리한다.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Q&amp;A는 무질문 예비 질문과 cutoff를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“역할 분리의 필요성을 판단했습니다. 다음 작업에 별도로 남길 지식도 있었을까요?”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Lecture1분 → Demo2분(VISUAL 현재 판단) → Q&amp;A1분.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S60, production/preview/act3/S60.png 및 production/preview/full/S60.png.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다음 작업에서도 다시 찾을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다음 작업에서도 다시 찾을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(VISUAL) +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Task에 필요한 Context와 다음 Task에도 보존할 가치가 있는 지식을 구분한다. 출처·적용 범위·갱신 조건을 관리하고 기존 문서에 있으면 그 출처를 참조한다.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“조사로 얻은 지식이 다음 작업에도 필요하다면 무엇을 남겨야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조사에서 재현 조건·주의점을 발견했고 다음 Task에도 필요하다는 교육용 가정임을 밝힌다. 실제 재발견·Memory 사용 기록이 아니다.</a:t>
            </a:r>
          </a:p>
          <a:p xmlns:a="http://schemas.openxmlformats.org/drawingml/2006/main">
            <a:r>
              <a:t>2. (1:00–2:00 / Demo) Task A→보존 가치 판단→Task B의 관계를 따라가며 내용·출처·적용 범위·다시 확인할 조건을 표시한다.</a:t>
            </a:r>
          </a:p>
          <a:p xmlns:a="http://schemas.openxmlformats.org/drawingml/2006/main">
            <a:r>
              <a:t>3. (2:00–4:00 / Case) Context는 지금 필요한 정보, Memory는 다음 작업에도 남길지 판단하는 지식이라는 구분을 설명한다. 원래 문서에 있으면 출처를 참조하며 다음 작업에서도 현재 명세와 대조한다. 제품 자동 저장·회수·효과를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CONCEPTUAL / TEACHING_MODEL — MASTER_PLAN.md §§5.6 및 INV-MATURITY-008의 작업 간 지식 관리 문제를 설명하는 가정; BEAT-026–028. 기존 S61 지식 감사의 실제 결론은 S62로 옮겨 유지한다. 제품 Memory 관찰은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CASE / TEACHING MODEL — 작업 간 지식 관리 가정이다. 현재 Demo에 Memory를 추가했거나 제품이 자동 기억·회수한다는 주장이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Task에 넣을 정보와 다음 Task에도 남길지 판단할 지식은 질문이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보존 가치가 있어도 출처·범위·현재성·무효화 조건을 관리해야 한다. 기존 공식 문서가 있으면 그것을 참조하며 모든 지식을 별도 Memory로 복제하지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CONCEPTUAL Task A 조사 → 출처·범위·갱신 조건과 함께 보존 가치 판단 → Task B의 현재 기준 대조. 자동 저장/정확성 보장 없이 표현한다.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원래 출처와 보존 기준을 놓고, 현재 Demo에 별도 후보가 있었는지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Demo2분(VISUAL 가정) → Case2분. 새 Memory·실제 세션 재발견 실험은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S61, production/preview/act3/S61.png 및 production/preview/full/S61.png.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남길지, 원래 출처를 참조할지 판단한다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남길지, 원래 출처를 참조할지 판단한다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재발견 비용·다음 작업 재사용·출처와 적용 범위·갱신 조건을 보고 기존 출처를 먼저 확인한다. 현재 계약/구조/절차/측정 기록은 각각 근거가 있어 별도 Memory 후보를 찾지 못했다.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“현재 Demo 지식은 이미 어디에 있고 별도 보존할 가치가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재발견 비용, 다음 작업의 재사용, 출처·범위, 갱신·무효화 조건 네 기준을 한 번씩 설명한다. 프로젝트 간 재사용을 필수로 요구하지 않는다.</a:t>
            </a:r>
          </a:p>
          <a:p xmlns:a="http://schemas.openxmlformats.org/drawingml/2006/main">
            <a:r>
              <a:t>2. (1:00–3:00) crop 명세→코드/문서, 모듈 구조→architecture, 수행 절차→Skill, 측정값→날짜가 있는 Trial/Git을 대응한다. 원래 출처와 일회성 관찰의 차이를 짚는다.</a:t>
            </a:r>
          </a:p>
          <a:p xmlns:a="http://schemas.openxmlformats.org/drawingml/2006/main">
            <a:r>
              <a:t>3. (3:00–4:00) 현재 별도 Memory 후보를 찾지 못했고 추가하지 않았다는 판단을 회수한다. 기능 사용 수가 성숙도 점수가 아님을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 / DEMO-08 knowledge audit / BEAT-026–028 / plan/DEMO_MATRIX.md의 현재 지식 출처 감사. 기존 S61의 계약·명령·구조·절차·측정 기록 분류와 S62의 네 기준을 보존한다.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FROZEN WITH SCOPE / TEACHING MODEL — DEC-0018 현재 Demo의 지식 감사와 보존 기준이다. 제품 Memory의 범위·효과나 일반적 불필요성을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명세는 원래 명세 문서, 절차는 Skill, 한 번의 측정은 날짜가 있는 기록에서 먼저 찾는다. 별도 보존이 필요한 후보가 있는지는 따로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프로젝트의 다음 Task/세션에 재사용할 수 있어도 후보가 될 수 있다. 프로젝트 사이 재사용은 필수 조건이 아니다. 출처·적용 범위·신선도·갱신/무효화 조건과 유지 비용을 관리한다.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네 판단 기준 요약 위에 현재 지식4종→원래 출처를 대응하고 별도 Memory를 추가하지 않았다는 결론을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선택들을 모으면 이번 문제를 위해 실제로 사용한 구조는 무엇이었을까요?”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기준1, 현재 출처 감사2, 판단·전환1.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S62, production/preview/act3/S62.png 및 production/preview/full/S62.png.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이번 사례에서 실제로 사용한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사례에서 실제로 사용한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밝기 통계 목표/범위, AGENTS.md와 상세 문서, 재사용 Skill, 테스트·benchmark·실행 조건이 각각 목표·지식·방법·완료 근거를 맡았다. Subagent와 별도 Memory는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문제에서 어떤 책임을 어떤 기존 자료와 도구가 맡았을까?”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밝기 통계 요청과 AGENTS.md/상세 문서의 역할을 실제 사례로 회수한다.</a:t>
            </a:r>
          </a:p>
          <a:p xmlns:a="http://schemas.openxmlformats.org/drawingml/2006/main">
            <a:r>
              <a:t>2. (1:00–2:00) 재사용 Skill과 테스트/benchmark/실행 조건이 수행 방법과 완료 판단 근거를 맡았음을 연결한다.</a:t>
            </a:r>
          </a:p>
          <a:p xmlns:a="http://schemas.openxmlformats.org/drawingml/2006/main">
            <a:r>
              <a:t>3. (2:00–3:00) 추가하지 않은 Subagent/Memory와 필요한 구성은 문제마다 달라진다는 한계를 말하고 다음 전체 관계도로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STATE-00 → STATE-04-PERF, DEC-0018, INV-VERIFY-001, DEMO-09.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프로젝트의 구성 감사다. 일반적인 최적 기능 수나 Harness가 성능을 개선한 인과 claim이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Harness는 기능을 많이 모으는 일이 아니라 현재 문제에 필요한 작업 환경을 마련하는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“Minimum Effective”는 신뢰성 있게 해결할 조건을 충족하는 문제별 heuristic이며 숫자 기준이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S66에서 프로젝트별 명세·빌드·검증·성능 절차로 대응한다. Python Skill이나 도구를 그대로 복사하지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현재 목표/참고할 정보/반복할 방법/완료 근거의 네 책임을 실제 사용한 구성에 대응한다. 전체 구조 정의는 다음 장에서 연결한다.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파일과 도구들이 어떤 관계로 작동하는지 전체 작업 환경으로 묶겠습니다.”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Demo3분(CAPTURED 정적 구성 요약): 목표/정보1, 절차/근거1, 선택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S63, production/preview/act3/S63.png 및 production/preview/full/S63.png.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이 구성이 함께 작동하는 것이 Harness다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 구성이 함께 작동하는 것이 Harness다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Demo 2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과정에서 Harness는 Agent가 신뢰성 있게 일하도록 목표·Context·재사용 절차·실행 도구·검증·검토 조건을 연결한 작업 환경과 방법의 운영 모델이다.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“목표, Agent의 수행 방법, 완료 근거는 어떤 환경 안에서 연결될까?”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Lecture) 전체 관계도는 이 과정의 운영 모델임을 밝히고 개발자가 정하는 목표·범위에서 Agent 수행과 완료 근거·검토로 읽는다.</a:t>
            </a:r>
          </a:p>
          <a:p xmlns:a="http://schemas.openxmlformats.org/drawingml/2006/main">
            <a:r>
              <a:t>2. (2:00–4:00 / Lecture) Context와 재사용 절차, 실행 도구·입력·권한·측정 환경이 관계를 지탱함을 설명한다. 새 공식 taxonomy나 필수 기능 목록이 아니다.</a:t>
            </a:r>
          </a:p>
          <a:p xmlns:a="http://schemas.openxmlformats.org/drawingml/2006/main">
            <a:r>
              <a:t>3. (4:00–6:00 / Demo) 아래 관찰 구성 줄에서 AGENTS.md/docs/Skill/Tests/Benchmark를 회수한다. 큰 모델의 모든 조건을 실제로 감사했다는 뜻이 아님을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DEC-0023, BEAT-035/036, STATE-04-PERF.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과정의 operational definition이다. 공식 OpenAI 정의나 보편적 industry standard로 제시하지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알 정보뿐 아니라 일하는 절차와 결과를 확인하는 환경도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Harness는 특정 파일이나 기능 목록이 아니라 Project별 신뢰성 문제를 해결하는 system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66에서 C++ Project 환경에 같은 Engineering Pattern을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작업 환경 프레임 안 목표/허용 범위→Agent 수행→완료 근거/검토와 Context·절차·도구·입력·권한·측정 조건을 연결한다. 관찰 구성은 별도 아래 행에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실행 조건이 Repository 파일만으로 모두 정해질까요?”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 → Demo2분(CAPTURED 실제 구성 회수). 완성 구조는 이 후반 장에서만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S64, production/preview/act3/S64.png 및 production/preview/full/S64.png.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같은 Repository라도 실행 조건은 다를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같은 Repository라도 실행 조건은 다를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과거 Trial에서 전역 지침·Skills와 시작 경고의 흔적이 있었다. 적용 지침, 모델/설정, 권한, OS/runtime도 결과 해석 시 기록할 조건이지만 모든 항목의 인과효과나 완전한 환경 감사를 입증한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“결과를 해석하려면 Repository 밖에서 무엇이 들어왔는지도 알아야 하지 않을까?”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같은 Repository라도 외부 지침과 실행 조건이 다를 수 있다는 질문을 던진다.</a:t>
            </a:r>
          </a:p>
          <a:p xmlns:a="http://schemas.openxmlformats.org/drawingml/2006/main">
            <a:r>
              <a:t>2. (1:00–2:00) TRIAL-006/007/008의 전역 지침·Skills 포함과 Hook/MCP 시작 경고라는 제한된 관찰을 예고한다. 경고 자체는 도구 실행/기여의 증거가 아니다.</a:t>
            </a:r>
          </a:p>
          <a:p xmlns:a="http://schemas.openxmlformats.org/drawingml/2006/main">
            <a:r>
              <a:t>3. (2:00–3:00) 적용 지침·모델/설정·권한·OS/runtime을 기록할 조건으로 제시하고 완전한 inventory나 각 인과효과를 주장하지 않는다. ACT4의 Meta 기록 설명을 앞당겨 재강의하지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TRIAL-006/007/008, DEC-0016/0021, BEAT-033/036. OBSERVED_META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전체 영향의 완전한 inventory가 아니다. Hook 실행이나 MCP task result가 관찰됐다고 말하지 않는다. TRIAL-007의 보고와 stderr 차이를 이 장에서 재해석하지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repository여도 실행 설정이나 주변 지침은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Ambient Harness 요인을 기록하고 Trial의 attribution 범위를 제한하되 미확인 인과를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같은 C++ repository도 Toolchain, 권한, runtime 조건이 다를 수 있다는 정도로만 잇는다.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Repository 내부 구성 + 바깥에서 관찰된 지침/경고를 구분하고 기록할 조건과 미입증 인과효과를 분리한다. Meta 이중선 프레임을 유지한다.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작업 방법과 확인 기준을 우리 C++ 검사 업무로 옮겨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Lecture3분: 질문1, 관찰과 한계1, 기록할 조건/전환1.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S65, production/preview/act3/S65.png 및 production/preview/full/S65.png.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우리 C++ 검사 작업에 옮겨 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우리 C++ 검사 작업에 옮겨 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Python 코드를 복사하지 않고 지킬 명세, 반복할 수행 방법, 완료를 판단할 근거를 C++ Vision 검사 업무에 대응한다. 실제 C++ 구현·회사 장비·측정 성과는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“밝기 통계에서 사용한 판단을 우리 검사 파이프라인에는 어떻게 적용할까?”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기존 삽화는 AI 생성 교육용 C++ Vision 전이 예이며 실제 장비 사진·측정 결과가 아님을 밝힌다. S10의 검사 업무 맥락과 연결한다.</a:t>
            </a:r>
          </a:p>
          <a:p xmlns:a="http://schemas.openxmlformats.org/drawingml/2006/main">
            <a:r>
              <a:t>2. (1:00–2:30) 지킬 명세에서 ROI/픽셀값, 빌드·하드웨어 조건을 확인한다.</a:t>
            </a:r>
          </a:p>
          <a:p xmlns:a="http://schemas.openxmlformats.org/drawingml/2006/main">
            <a:r>
              <a:t>3. (2:30–4:00) 재사용할 기준선/경로 조사/변경/동일 비교와 완료를 판단할 동작·회귀·통합/성능 근거를 대응한다.</a:t>
            </a:r>
          </a:p>
          <a:p xmlns:a="http://schemas.openxmlformats.org/drawingml/2006/main">
            <a:r>
              <a:t>4. (4:00–5:00) 도구 이름을 복사하지 않고 현재 프로젝트에 맞게 확인하는 패턴을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BEAT-036, CLM-0016/0017/0030, OQ-011. TEACHING_MODEL. 삽화 출처: prototype/image-illustration-pilot/assets/S53.png,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전이 예다. C++ Demo를 구현하거나 팀별 실제 도구 규칙을 검증한 것이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언어가 달라도 먼저 프로젝트 규칙과 확인 방법을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Build mode, hardware assumptions, module contracts, and regression criteria belong to the actual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— Python `unittest` → GoogleTest/CTest or integration checks; benchmark script → benchmark/profiler; Project Context → build, algorithm, hardware constraints. Team standards must be checked before choosing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승인된 카메라/영상/처리/결과 삽화를 보존하고 아래 세 기준을 ROI·픽셀·빌드 조건, 기준선/경로 조사, 동작/회귀/성능 검증에 대응한다.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“우리 팀에서 먼저 정리할 반복 한 가지와 유지할 책임을 골라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Lecture5분: 업무 연결1, 명세1.5, 방법/근거1.5, 전이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S66, production/preview/act3/S66.png 및 production/preview/full/S66.png.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우리 팀의 반복 한 가지를 고르면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우리 팀의 반복 한 가지를 고르면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3 minutes + Q&amp;A 5 minutes + Transition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반복 정보·반복 절차·완료 근거 중 현재 마찰을 하나 고르고 어디에 두며 누가 검토·갱신할지 판단한다. 현재의 성공을 보존한 채 다음 ACT의 프로젝트 변화 질문을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“내 업무에서 먼저 정리할 반복과 유지할 책임은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(0:00–3:00 / Reflection) 반복 정보·절차·완료 근거 중 먼저 정리할 한 가지와 검토/갱신 책임을 조용히 떠올리게 한다. 공유·실습은 강제하지 않는다.</a:t>
            </a:r>
          </a:p>
          <a:p xmlns:a="http://schemas.openxmlformats.org/drawingml/2006/main">
            <a:r>
              <a:t>2. (3:00–8:00 / Q&amp;A) 질문을 받되 무질문이면 유지할 위치와 책임을 기준으로 예비 질문을 회수한다. 기능 수를 늘리는 답으로 유도하지 않는다.</a:t>
            </a:r>
          </a:p>
          <a:p xmlns:a="http://schemas.openxmlformats.org/drawingml/2006/main">
            <a:r>
              <a:t>3. (8:00–10:00 / Transition) 실제 STATE-04-PERF 성공을 유지한 채 S68에서 기준 결과만 짧게 회수하고 S69부터 별도 가상 변화가 시작됨을 예고한다. 다음 ACT의 가상 실패를 실제 Demo 이력으로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STATE-04-PERF, DEC-0018/0021, BEAT-035–038, INV-VERIFY-001. TEACHING_MODEL; bounded observed product success.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작업을 실패한 Harness로 재해석하지 않는다. Subagent와 Memory는 조건부 선택이다. 다음 ACT의 개념 사례를 실제 Demo Product failure로 미리 말하지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먼저 반복되는 문제를 찾고, 필요한 구조만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변화가 가정을 무효화할 수 있는지 생각하되, 다음 ACT의 사례 결과를 먼저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앞 Slide의 Project별 C++ 적용 질문을 청중 업무로 가져온다.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세 성찰 관점과 어디에 두고 누가 갱신할지의 질문. 마지막 줄에 프로젝트 변화 뒤 방법을 어떻게 점검할지 제시하며 S68의 결과 회수와 구분한다.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개인 성찰3분, 선택적 Q&amp;A5분. 무질문이면 “어디에 두고 누가 갱신할까?”를 예비 질문으로 쓴다. 8분에 답변을 마치고 마지막2분을 ACT4 전환으로 보호한다.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“여기까지 실제로 확인한 성공을 기준점으로 남기겠습니다. 다음에는 별도의 가상 프로젝트 변화에서 이 방법을 어떻게 점검할지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Reflection3분 → Q&amp;A5분 → Transition2분. 8분에 전환을 시작하며 초과 질의는 별도로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S67, production/preview/act3/S67.png 및 production/preview/full/S67.png.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ef821a1d7e4a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20b3c034ae46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caec086d6649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fe8cc81baa4b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93467ad74e429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0eef1087354f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D00309-BF78-425F-BC24-5E4CD47DCA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D01DB92-B41A-4BAE-A8D5-5842A130BB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0B56CFD-550F-475A-B788-9AD3689C1B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88EA44-B651-4B3C-91D0-CF92899BDA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DC20B7-6915-4241-93F6-CFA850BFF3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CE5C0DA-C428-4E89-B0B2-1C10685022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3F4BA74-B173-46E7-9A8F-22BBBCD178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FB0C2CC-BB08-433B-B7C3-94D13AC3FB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C0A8E03-41BF-4A71-BC96-D9DA68380C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F1BCE66-0450-4837-A160-76CAB434FB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4a0c912ddf4c48" /><Relationship Type="http://schemas.openxmlformats.org/officeDocument/2006/relationships/slideLayout" Target="/ppt/slideLayouts/slideLayout1.xml" Id="R7d094e705ab846e9" /><Relationship Type="http://schemas.openxmlformats.org/officeDocument/2006/relationships/slideLayout" Target="/ppt/slideLayouts/slideLayout2.xml" Id="Ra7d3b7ec8bf84ea8" /><Relationship Type="http://schemas.openxmlformats.org/officeDocument/2006/relationships/slideLayout" Target="/ppt/slideLayouts/slideLayout3.xml" Id="R9be5213d64f243ae" /><Relationship Type="http://schemas.openxmlformats.org/officeDocument/2006/relationships/slideLayout" Target="/ppt/slideLayouts/slideLayout4.xml" Id="Rfc2ab7a1882f4e07" /><Relationship Type="http://schemas.openxmlformats.org/officeDocument/2006/relationships/slideLayout" Target="/ppt/slideLayouts/slideLayout5.xml" Id="R98ba05e903dd4af1" /><Relationship Type="http://schemas.openxmlformats.org/officeDocument/2006/relationships/slideLayout" Target="/ppt/slideLayouts/slideLayout6.xml" Id="R9bab66cb658649e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094e705ab846e9"/>
    <p:sldLayoutId xmlns:r="http://schemas.openxmlformats.org/officeDocument/2006/relationships" id="2147483650" r:id="Ra7d3b7ec8bf84ea8"/>
    <p:sldLayoutId xmlns:r="http://schemas.openxmlformats.org/officeDocument/2006/relationships" id="2147483651" r:id="R9be5213d64f243ae"/>
    <p:sldLayoutId xmlns:r="http://schemas.openxmlformats.org/officeDocument/2006/relationships" id="2147483652" r:id="Rfc2ab7a1882f4e07"/>
    <p:sldLayoutId xmlns:r="http://schemas.openxmlformats.org/officeDocument/2006/relationships" id="2147483653" r:id="R98ba05e903dd4af1"/>
    <p:sldLayoutId xmlns:r="http://schemas.openxmlformats.org/officeDocument/2006/relationships" id="2147483654" r:id="R9bab66cb658649e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8d21cfc96447f" /><Relationship Type="http://schemas.openxmlformats.org/officeDocument/2006/relationships/image" Target="/ppt/media/image.png" Id="R3eb4dcfcd16e486d" /><Relationship Type="http://schemas.openxmlformats.org/officeDocument/2006/relationships/image" Target="/ppt/media/image2.png" Id="Rd13588db52464aab" /><Relationship Type="http://schemas.openxmlformats.org/officeDocument/2006/relationships/notesSlide" Target="/ppt/notesSlides/notesSlide1.xml" Id="R699094d2529c41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9ba85136014689" /><Relationship Type="http://schemas.openxmlformats.org/officeDocument/2006/relationships/notesSlide" Target="/ppt/notesSlides/notesSlide2.xml" Id="R64550febcd7547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598df0b12142cf" /><Relationship Type="http://schemas.openxmlformats.org/officeDocument/2006/relationships/notesSlide" Target="/ppt/notesSlides/notesSlide3.xml" Id="R4a8cf472df7141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d53c25f0a54da9" /><Relationship Type="http://schemas.openxmlformats.org/officeDocument/2006/relationships/notesSlide" Target="/ppt/notesSlides/notesSlide4.xml" Id="R32d83868f90649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c671438e4242fe" /><Relationship Type="http://schemas.openxmlformats.org/officeDocument/2006/relationships/notesSlide" Target="/ppt/notesSlides/notesSlide5.xml" Id="R45c63bc16d6a4d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522c1d99de4024" /><Relationship Type="http://schemas.openxmlformats.org/officeDocument/2006/relationships/notesSlide" Target="/ppt/notesSlides/notesSlide6.xml" Id="R86d2c580ee7d4b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589b550d7748b4" /><Relationship Type="http://schemas.openxmlformats.org/officeDocument/2006/relationships/notesSlide" Target="/ppt/notesSlides/notesSlide7.xml" Id="R4e3fce54234f4d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3d0339fb92448b" /><Relationship Type="http://schemas.openxmlformats.org/officeDocument/2006/relationships/notesSlide" Target="/ppt/notesSlides/notesSlide8.xml" Id="Rc25ac36daac744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92b4cfd56b46f0" /><Relationship Type="http://schemas.openxmlformats.org/officeDocument/2006/relationships/chart" Target="/ppt/slides/charts/chart1.xml" Id="Ree859b1e7f2245a6" /><Relationship Type="http://schemas.openxmlformats.org/officeDocument/2006/relationships/notesSlide" Target="/ppt/notesSlides/notesSlide9.xml" Id="R9f33927b1ec749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b5cfb6143048e2" /><Relationship Type="http://schemas.openxmlformats.org/officeDocument/2006/relationships/notesSlide" Target="/ppt/notesSlides/notesSlide10.xml" Id="R297dcf0caad344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b4839bd59d4feb" /><Relationship Type="http://schemas.openxmlformats.org/officeDocument/2006/relationships/notesSlide" Target="/ppt/notesSlides/notesSlide11.xml" Id="R7e130d2c2c2e423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eb2880ebc04571" /><Relationship Type="http://schemas.openxmlformats.org/officeDocument/2006/relationships/notesSlide" Target="/ppt/notesSlides/notesSlide12.xml" Id="R600ef30c60484a7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e0c42fe87648ba" /><Relationship Type="http://schemas.openxmlformats.org/officeDocument/2006/relationships/notesSlide" Target="/ppt/notesSlides/notesSlide13.xml" Id="Ra27c63906c9740c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34fc2e406042b8" /><Relationship Type="http://schemas.openxmlformats.org/officeDocument/2006/relationships/notesSlide" Target="/ppt/notesSlides/notesSlide14.xml" Id="R40e550c625cc488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4d7789427a4a65" /><Relationship Type="http://schemas.openxmlformats.org/officeDocument/2006/relationships/notesSlide" Target="/ppt/notesSlides/notesSlide15.xml" Id="Rf9e35520f6e24f3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01ed31e8cf489f" /><Relationship Type="http://schemas.openxmlformats.org/officeDocument/2006/relationships/notesSlide" Target="/ppt/notesSlides/notesSlide16.xml" Id="R65d76f92a6dd4f4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180d16c178400f" /><Relationship Type="http://schemas.openxmlformats.org/officeDocument/2006/relationships/image" Target="/ppt/media/image3.png" Id="R7725d26fdf564fa3" /><Relationship Type="http://schemas.openxmlformats.org/officeDocument/2006/relationships/notesSlide" Target="/ppt/notesSlides/notesSlide17.xml" Id="R2046d2675544486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f97cbb84fc4e40" /><Relationship Type="http://schemas.openxmlformats.org/officeDocument/2006/relationships/notesSlide" Target="/ppt/notesSlides/notesSlide18.xml" Id="R359d445cde894c0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Median ms/call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변경 후</c:v>
                </c:pt>
                <c:pt idx="1">
                  <c:v>변경 전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10.769</c:v>
                </c:pt>
                <c:pt idx="1">
                  <c:v>15.468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ACT 3 · Harness: 작업 방법과 실행·검증 환경 설계">
            <a:extLst xmlns:a="http://schemas.openxmlformats.org/drawingml/2006/main">
              <a:ext uri="{FF2B5EF4-FFF2-40B4-BE49-F238E27FC236}">
                <a16:creationId xmlns:a16="http://schemas.microsoft.com/office/drawing/2014/main" id="{F613C4A5-6965-46BB-94B3-79E27350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Harness: 작업 방법과 실행·검증 환경 설계</a:t>
            </a:r>
          </a:p>
        </p:txBody>
      </p:sp>
      <p:sp>
        <p:nvSpPr>
          <p:cNvPr id="2" name="S50">
            <a:extLst xmlns:a="http://schemas.openxmlformats.org/drawingml/2006/main">
              <a:ext uri="{FF2B5EF4-FFF2-40B4-BE49-F238E27FC236}">
                <a16:creationId xmlns:a16="http://schemas.microsoft.com/office/drawing/2014/main" id="{57FA7B65-A0D6-43DE-832E-404FEA8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S50</a:t>
            </a:r>
          </a:p>
        </p:txBody>
      </p:sp>
      <p:sp>
        <p:nvSpPr>
          <p:cNvPr id="3" name="두 실제 요청에 같은 절차가 반복됐다">
            <a:extLst xmlns:a="http://schemas.openxmlformats.org/drawingml/2006/main">
              <a:ext uri="{FF2B5EF4-FFF2-40B4-BE49-F238E27FC236}">
                <a16:creationId xmlns:a16="http://schemas.microsoft.com/office/drawing/2014/main" id="{672D910F-A58C-4C36-889A-443991DB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두 실제 요청에 같은 절차가 반복됐다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A235C-1578-4175-B24A-9F1E5F8E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6 실제 Prompt 발췌·번역 / TRIAL-007 보존된 Task Prompt 요약 · 그">
            <a:extLst xmlns:a="http://schemas.openxmlformats.org/drawingml/2006/main">
              <a:ext uri="{FF2B5EF4-FFF2-40B4-BE49-F238E27FC236}">
                <a16:creationId xmlns:a16="http://schemas.microsoft.com/office/drawing/2014/main" id="{2249DA0D-2C71-41C0-BCD8-7FD06C8B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실제 Prompt 발췌·번역 / TRIAL-007 보존된 Task Prompt 요약 · 그림은 설명용 삽화</a:t>
            </a:r>
          </a:p>
        </p:txBody>
      </p:sp>
      <p:sp>
        <p:nvSpPr>
          <p:cNvPr id="6" name="Global Harness 영향으로 Prompt-only attribution은 PARTIAL · 성능 전후">
            <a:extLst xmlns:a="http://schemas.openxmlformats.org/drawingml/2006/main">
              <a:ext uri="{FF2B5EF4-FFF2-40B4-BE49-F238E27FC236}">
                <a16:creationId xmlns:a16="http://schemas.microsoft.com/office/drawing/2014/main" id="{D8060374-814C-436A-A910-0C6DCC92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Harness 영향으로 Prompt-only attribution은 PARTIAL · 성능 전후 그림·현재 제품 화면 아님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AFB7F-CEDB-4CBD-A56E-1A4F273934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4dcfcd16e486d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09600" y="1809750"/>
            <a:ext cx="609600" cy="6096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898456-3AB9-4779-8D34-4DB9D7F8F5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3588db52464aab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419850" y="180975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A · 크기 변경">
            <a:extLst xmlns:a="http://schemas.openxmlformats.org/drawingml/2006/main">
              <a:ext uri="{FF2B5EF4-FFF2-40B4-BE49-F238E27FC236}">
                <a16:creationId xmlns:a16="http://schemas.microsoft.com/office/drawing/2014/main" id="{7E75F1F4-7366-48C1-8C8B-411B65D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09750"/>
            <a:ext cx="4267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 · 크기 변경</a:t>
            </a:r>
          </a:p>
        </p:txBody>
      </p:sp>
      <p:sp>
        <p:nvSpPr>
          <p:cNvPr id="10" name="resize_nearest">
            <a:extLst xmlns:a="http://schemas.openxmlformats.org/drawingml/2006/main">
              <a:ext uri="{FF2B5EF4-FFF2-40B4-BE49-F238E27FC236}">
                <a16:creationId xmlns:a16="http://schemas.microsoft.com/office/drawing/2014/main" id="{DDF0683A-7318-46B8-99FB-D2BAF482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00275"/>
            <a:ext cx="426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resize_nearest</a:t>
            </a:r>
          </a:p>
        </p:txBody>
      </p:sp>
      <p:sp>
        <p:nvSpPr>
          <p:cNvPr id="11" name="B · 픽셀값 정규화">
            <a:extLst xmlns:a="http://schemas.openxmlformats.org/drawingml/2006/main">
              <a:ext uri="{FF2B5EF4-FFF2-40B4-BE49-F238E27FC236}">
                <a16:creationId xmlns:a16="http://schemas.microsoft.com/office/drawing/2014/main" id="{605EB319-9B49-41FF-9E13-737B7CF5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09750"/>
            <a:ext cx="4362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 · 픽셀값 정규화</a:t>
            </a:r>
          </a:p>
        </p:txBody>
      </p:sp>
      <p:sp>
        <p:nvSpPr>
          <p:cNvPr id="12" name="normalize">
            <a:extLst xmlns:a="http://schemas.openxmlformats.org/drawingml/2006/main">
              <a:ext uri="{FF2B5EF4-FFF2-40B4-BE49-F238E27FC236}">
                <a16:creationId xmlns:a16="http://schemas.microsoft.com/office/drawing/2014/main" id="{9AD128FC-F0BF-4C5D-90C2-9DC62179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002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normalize</a:t>
            </a:r>
          </a:p>
        </p:txBody>
      </p:sp>
      <p:sp>
        <p:nvSpPr>
          <p:cNvPr id="13" name="실제 요청의 핵심 발췌·번역">
            <a:extLst xmlns:a="http://schemas.openxmlformats.org/drawingml/2006/main">
              <a:ext uri="{FF2B5EF4-FFF2-40B4-BE49-F238E27FC236}">
                <a16:creationId xmlns:a16="http://schemas.microsoft.com/office/drawing/2014/main" id="{506513B0-7096-4EE8-8FD6-7935784F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162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요청의 핵심 발췌·번역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8CB596-09B7-481C-931F-1804B13A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01">
            <a:extLst xmlns:a="http://schemas.openxmlformats.org/drawingml/2006/main">
              <a:ext uri="{FF2B5EF4-FFF2-40B4-BE49-F238E27FC236}">
                <a16:creationId xmlns:a16="http://schemas.microsoft.com/office/drawing/2014/main" id="{A66F2848-1DF3-41D7-849E-83F91A8D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6" name="변경 전에 benchmark를 실행해줘.&#10;구현·명세·테스트를 조사해줘.">
            <a:extLst xmlns:a="http://schemas.openxmlformats.org/drawingml/2006/main">
              <a:ext uri="{FF2B5EF4-FFF2-40B4-BE49-F238E27FC236}">
                <a16:creationId xmlns:a16="http://schemas.microsoft.com/office/drawing/2014/main" id="{1DB25EFD-03B9-4650-8761-AE7E8BFF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전에 benchmark를 실행해줘.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구현·명세·테스트를 조사해줘.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710FF2-3AEF-4098-850B-0FD073BB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2">
            <a:extLst xmlns:a="http://schemas.openxmlformats.org/drawingml/2006/main">
              <a:ext uri="{FF2B5EF4-FFF2-40B4-BE49-F238E27FC236}">
                <a16:creationId xmlns:a16="http://schemas.microsoft.com/office/drawing/2014/main" id="{1EB3B64B-E7A2-455F-85FE-6367F432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5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간단한 계획을 먼저 제시하고,&#10;근거 있는 최소 변경을 해줘.">
            <a:extLst xmlns:a="http://schemas.openxmlformats.org/drawingml/2006/main">
              <a:ext uri="{FF2B5EF4-FFF2-40B4-BE49-F238E27FC236}">
                <a16:creationId xmlns:a16="http://schemas.microsoft.com/office/drawing/2014/main" id="{ED2CACBA-CF3B-490C-8815-40858F8C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10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간단한 계획을 먼저 제시하고,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 있는 최소 변경을 해줘.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C564AB-91BE-4954-A058-7565190C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3">
            <a:extLst xmlns:a="http://schemas.openxmlformats.org/drawingml/2006/main">
              <a:ext uri="{FF2B5EF4-FFF2-40B4-BE49-F238E27FC236}">
                <a16:creationId xmlns:a16="http://schemas.microsoft.com/office/drawing/2014/main" id="{95AFB07C-EA7E-4E84-81AC-C248DC4D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57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2" name="관련·전체 테스트를 실행하고,&#10;같은 benchmark로 비교·검토해줘.">
            <a:extLst xmlns:a="http://schemas.openxmlformats.org/drawingml/2006/main">
              <a:ext uri="{FF2B5EF4-FFF2-40B4-BE49-F238E27FC236}">
                <a16:creationId xmlns:a16="http://schemas.microsoft.com/office/drawing/2014/main" id="{C6E603B2-B61B-4C71-8114-1694BCD8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72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테스트를 실행하고,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benchmark로 비교·검토해줘.</a:t>
            </a:r>
          </a:p>
        </p:txBody>
      </p:sp>
      <p:sp>
        <p:nvSpPr>
          <p:cNvPr id="23" name="보존된 요청 요약의 번역">
            <a:extLst xmlns:a="http://schemas.openxmlformats.org/drawingml/2006/main">
              <a:ext uri="{FF2B5EF4-FFF2-40B4-BE49-F238E27FC236}">
                <a16:creationId xmlns:a16="http://schemas.microsoft.com/office/drawing/2014/main" id="{D2674A09-DA52-457D-8360-EEC9D394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5162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요청 요약의 번역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14724F-8EF6-479F-8CB1-FBA1262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00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01">
            <a:extLst xmlns:a="http://schemas.openxmlformats.org/drawingml/2006/main">
              <a:ext uri="{FF2B5EF4-FFF2-40B4-BE49-F238E27FC236}">
                <a16:creationId xmlns:a16="http://schemas.microsoft.com/office/drawing/2014/main" id="{F26E3AAB-4103-4A44-8FF3-FDA7F805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33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26" name="수정 전에 측정하고,&#10;소스·명세·테스트를 확인.">
            <a:extLst xmlns:a="http://schemas.openxmlformats.org/drawingml/2006/main">
              <a:ext uri="{FF2B5EF4-FFF2-40B4-BE49-F238E27FC236}">
                <a16:creationId xmlns:a16="http://schemas.microsoft.com/office/drawing/2014/main" id="{84F23F2A-306E-406B-BA1C-FB67948C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48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전에 측정하고,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소스·명세·테스트를 확인.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14365D-2FAB-41D8-8DE8-36356664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62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02">
            <a:extLst xmlns:a="http://schemas.openxmlformats.org/drawingml/2006/main">
              <a:ext uri="{FF2B5EF4-FFF2-40B4-BE49-F238E27FC236}">
                <a16:creationId xmlns:a16="http://schemas.microsoft.com/office/drawing/2014/main" id="{3C9D717B-53BE-4203-A4BB-63C6520B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95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9" name="계획을 밝힌 뒤&#10;최소한의 변경을 수행.">
            <a:extLst xmlns:a="http://schemas.openxmlformats.org/drawingml/2006/main">
              <a:ext uri="{FF2B5EF4-FFF2-40B4-BE49-F238E27FC236}">
                <a16:creationId xmlns:a16="http://schemas.microsoft.com/office/drawing/2014/main" id="{72CA66E8-1064-4245-B2F9-053F654C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계획을 밝힌 뒤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최소한의 변경을 수행.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6CC54D-3C5D-4386-BA33-B8899838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24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">
            <a:extLst xmlns:a="http://schemas.openxmlformats.org/drawingml/2006/main">
              <a:ext uri="{FF2B5EF4-FFF2-40B4-BE49-F238E27FC236}">
                <a16:creationId xmlns:a16="http://schemas.microsoft.com/office/drawing/2014/main" id="{353A251A-9008-4D65-A15A-525BA119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57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2" name="관련·전체 테스트와 동일 측정,&#10;CLI·diff 확인 및 최종 검토.">
            <a:extLst xmlns:a="http://schemas.openxmlformats.org/drawingml/2006/main">
              <a:ext uri="{FF2B5EF4-FFF2-40B4-BE49-F238E27FC236}">
                <a16:creationId xmlns:a16="http://schemas.microsoft.com/office/drawing/2014/main" id="{D34FC70C-0FBE-4F05-AB6D-B78C5DAD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72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테스트와 동일 측정,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CLI·diff 확인 및 최종 검토.</a:t>
            </a:r>
          </a:p>
        </p:txBody>
      </p:sp>
      <p:sp>
        <p:nvSpPr>
          <p:cNvPr id="33" name="목표는 달라도, 확인하고 판단하는 지시가 반복됐다">
            <a:extLst xmlns:a="http://schemas.openxmlformats.org/drawingml/2006/main">
              <a:ext uri="{FF2B5EF4-FFF2-40B4-BE49-F238E27FC236}">
                <a16:creationId xmlns:a16="http://schemas.microsoft.com/office/drawing/2014/main" id="{3ED6AF1E-08CE-431F-BCEC-8328C723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달라도, 확인하고 판단하는 지시가 반복됐다</a:t>
            </a:r>
          </a:p>
        </p:txBody>
      </p:sp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C26EDDD-9901-4F47-828D-550C585D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 · M8</a:t>
            </a:r>
          </a:p>
        </p:txBody>
      </p:sp>
    </p:spTree>
    <p:extLst>
      <p:ext uri="{BB962C8B-B14F-4D97-AF65-F5344CB8AC3E}">
        <p14:creationId xmlns:p14="http://schemas.microsoft.com/office/powerpoint/2010/main" val="14109261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ACT 3 · 같은 정보를 작업에 적용하는 방법">
            <a:extLst xmlns:a="http://schemas.openxmlformats.org/drawingml/2006/main">
              <a:ext uri="{FF2B5EF4-FFF2-40B4-BE49-F238E27FC236}">
                <a16:creationId xmlns:a16="http://schemas.microsoft.com/office/drawing/2014/main" id="{7DFBCC40-4C73-4523-AC12-F363D572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같은 정보를 작업에 적용하는 방법</a:t>
            </a:r>
          </a:p>
        </p:txBody>
      </p:sp>
      <p:sp>
        <p:nvSpPr>
          <p:cNvPr id="2" name="S51">
            <a:extLst xmlns:a="http://schemas.openxmlformats.org/drawingml/2006/main">
              <a:ext uri="{FF2B5EF4-FFF2-40B4-BE49-F238E27FC236}">
                <a16:creationId xmlns:a16="http://schemas.microsoft.com/office/drawing/2014/main" id="{38AE68C2-A5D3-4DAA-9D26-2B78F21B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S51</a:t>
            </a:r>
          </a:p>
        </p:txBody>
      </p:sp>
      <p:sp>
        <p:nvSpPr>
          <p:cNvPr id="3" name="테스트 명령을 언제 쓰고 무엇을 판단할까?">
            <a:extLst xmlns:a="http://schemas.openxmlformats.org/drawingml/2006/main">
              <a:ext uri="{FF2B5EF4-FFF2-40B4-BE49-F238E27FC236}">
                <a16:creationId xmlns:a16="http://schemas.microsoft.com/office/drawing/2014/main" id="{40101242-22BF-43D4-9EC1-FEAE0135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명령을 언제 쓰고 무엇을 판단할까?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14F02-9556-4F6F-8510-5C6EA602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수행 예시 · TRIAL-006/007의 반복 요청을 바탕으로 구성">
            <a:extLst xmlns:a="http://schemas.openxmlformats.org/drawingml/2006/main">
              <a:ext uri="{FF2B5EF4-FFF2-40B4-BE49-F238E27FC236}">
                <a16:creationId xmlns:a16="http://schemas.microsoft.com/office/drawing/2014/main" id="{58F19D4B-A84D-4ED1-B058-A21C84F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수행 예시 · TRIAL-006/007의 반복 요청을 바탕으로 구성</a:t>
            </a:r>
          </a:p>
        </p:txBody>
      </p:sp>
      <p:sp>
        <p:nvSpPr>
          <p:cNvPr id="6" name="실제 실행 순서·결과의 재현 아님 · 이 방법도 AGENTS.md에 기록할 수 있음">
            <a:extLst xmlns:a="http://schemas.openxmlformats.org/drawingml/2006/main">
              <a:ext uri="{FF2B5EF4-FFF2-40B4-BE49-F238E27FC236}">
                <a16:creationId xmlns:a16="http://schemas.microsoft.com/office/drawing/2014/main" id="{B66E2744-8866-41AF-8EA3-CF52863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실행 순서·결과의 재현 아님 · 이 방법도 AGENTS.md에 기록할 수 있음</a:t>
            </a:r>
          </a:p>
        </p:txBody>
      </p:sp>
      <p:sp>
        <p:nvSpPr>
          <p:cNvPr id="7" name="예시: normalize 성능 조사">
            <a:extLst xmlns:a="http://schemas.openxmlformats.org/drawingml/2006/main">
              <a:ext uri="{FF2B5EF4-FFF2-40B4-BE49-F238E27FC236}">
                <a16:creationId xmlns:a16="http://schemas.microsoft.com/office/drawing/2014/main" id="{59416438-98D8-435D-8897-5A0E6D16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예시: normalize 성능 조사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E0CEB9-9CA7-47F4-ABCE-59DE813B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10972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AGENTS.md">
            <a:extLst xmlns:a="http://schemas.openxmlformats.org/drawingml/2006/main">
              <a:ext uri="{FF2B5EF4-FFF2-40B4-BE49-F238E27FC236}">
                <a16:creationId xmlns:a16="http://schemas.microsoft.com/office/drawing/2014/main" id="{474974AE-53D2-48A6-91CE-5BDF6075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3625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AGENTS.md</a:t>
            </a:r>
          </a:p>
        </p:txBody>
      </p:sp>
      <p:sp>
        <p:nvSpPr>
          <p:cNvPr id="10" name="프로젝트에서 확인한 정보">
            <a:extLst xmlns:a="http://schemas.openxmlformats.org/drawingml/2006/main">
              <a:ext uri="{FF2B5EF4-FFF2-40B4-BE49-F238E27FC236}">
                <a16:creationId xmlns:a16="http://schemas.microsoft.com/office/drawing/2014/main" id="{43F3C47A-D545-4D5C-9280-45D69810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2400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프로젝트에서 확인한 정보</a:t>
            </a:r>
          </a:p>
        </p:txBody>
      </p:sp>
      <p:sp>
        <p:nvSpPr>
          <p:cNvPr id="11" name="테스트 실행 방법">
            <a:extLst xmlns:a="http://schemas.openxmlformats.org/drawingml/2006/main">
              <a:ext uri="{FF2B5EF4-FFF2-40B4-BE49-F238E27FC236}">
                <a16:creationId xmlns:a16="http://schemas.microsoft.com/office/drawing/2014/main" id="{54EB23C0-F4A3-47BF-A77C-BB22B94B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1935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실행 방법</a:t>
            </a:r>
          </a:p>
        </p:txBody>
      </p:sp>
      <p:sp>
        <p:nvSpPr>
          <p:cNvPr id="12" name="보존할 동작 명세">
            <a:extLst xmlns:a="http://schemas.openxmlformats.org/drawingml/2006/main">
              <a:ext uri="{FF2B5EF4-FFF2-40B4-BE49-F238E27FC236}">
                <a16:creationId xmlns:a16="http://schemas.microsoft.com/office/drawing/2014/main" id="{466C4FA3-95C6-4D80-8D58-8D25B20A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419350"/>
            <a:ext cx="2419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보존할 동작 명세</a:t>
            </a:r>
          </a:p>
        </p:txBody>
      </p:sp>
      <p:sp>
        <p:nvSpPr>
          <p:cNvPr id="13" name="성능 측정 방법">
            <a:extLst xmlns:a="http://schemas.openxmlformats.org/drawingml/2006/main">
              <a:ext uri="{FF2B5EF4-FFF2-40B4-BE49-F238E27FC236}">
                <a16:creationId xmlns:a16="http://schemas.microsoft.com/office/drawing/2014/main" id="{6EDC60DB-299C-48D5-BF91-BE891312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419350"/>
            <a:ext cx="2219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 방법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96E5F4-424C-4BC3-8115-7952D3C5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81325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3B2E40-FD2B-4115-8BBF-958B421D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71825"/>
            <a:ext cx="762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0955AA-23B4-44D0-9B7C-04253B3E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171825"/>
            <a:ext cx="17145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42484B-0BC4-4668-8664-EA67ABC0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171825"/>
            <a:ext cx="17145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DF149-E031-4058-96E1-D63A49E7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171825"/>
            <a:ext cx="17145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</a:ln>
        </p:spPr>
      </p:sp>
      <p:sp>
        <p:nvSpPr>
          <p:cNvPr id="19" name="01  변경 전">
            <a:extLst xmlns:a="http://schemas.openxmlformats.org/drawingml/2006/main">
              <a:ext uri="{FF2B5EF4-FFF2-40B4-BE49-F238E27FC236}">
                <a16:creationId xmlns:a16="http://schemas.microsoft.com/office/drawing/2014/main" id="{AC4B0628-57E3-4511-A78F-BAA3A4D4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변경 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FE9FA5-91A3-4D1F-848F-2CF521D5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335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715EAD-F5AA-4055-A7B2-A78B480E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29527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">
            <a:extLst xmlns:a="http://schemas.openxmlformats.org/drawingml/2006/main">
              <a:ext uri="{FF2B5EF4-FFF2-40B4-BE49-F238E27FC236}">
                <a16:creationId xmlns:a16="http://schemas.microsoft.com/office/drawing/2014/main" id="{A340141A-208F-4F7D-85DE-9F66B12C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2952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</a:t>
            </a:r>
          </a:p>
        </p:txBody>
      </p:sp>
      <p:sp>
        <p:nvSpPr>
          <p:cNvPr id="23" name="테스트 실행">
            <a:extLst xmlns:a="http://schemas.openxmlformats.org/drawingml/2006/main">
              <a:ext uri="{FF2B5EF4-FFF2-40B4-BE49-F238E27FC236}">
                <a16:creationId xmlns:a16="http://schemas.microsoft.com/office/drawing/2014/main" id="{920C1E43-1FB6-472C-A38F-87E14067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952875"/>
            <a:ext cx="2600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실행</a:t>
            </a:r>
          </a:p>
        </p:txBody>
      </p:sp>
      <p:sp>
        <p:nvSpPr>
          <p:cNvPr id="24" name="현재 테스트·성능 확인">
            <a:extLst xmlns:a="http://schemas.openxmlformats.org/drawingml/2006/main">
              <a:ext uri="{FF2B5EF4-FFF2-40B4-BE49-F238E27FC236}">
                <a16:creationId xmlns:a16="http://schemas.microsoft.com/office/drawing/2014/main" id="{8E12EE19-A5CA-4C9F-8994-A9BF9CF9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335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테스트·성능 확인</a:t>
            </a:r>
          </a:p>
        </p:txBody>
      </p:sp>
      <p:sp>
        <p:nvSpPr>
          <p:cNvPr id="25" name="원래 상태는 어땠지?">
            <a:extLst xmlns:a="http://schemas.openxmlformats.org/drawingml/2006/main">
              <a:ext uri="{FF2B5EF4-FFF2-40B4-BE49-F238E27FC236}">
                <a16:creationId xmlns:a16="http://schemas.microsoft.com/office/drawing/2014/main" id="{C091BDBB-3ACD-46C4-B4C7-2D0E075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335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원래 상태는 어땠지?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59A7CD-66D7-4D93-AE84-6AFBFBE0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0576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7" name="02  변경 후">
            <a:extLst xmlns:a="http://schemas.openxmlformats.org/drawingml/2006/main">
              <a:ext uri="{FF2B5EF4-FFF2-40B4-BE49-F238E27FC236}">
                <a16:creationId xmlns:a16="http://schemas.microsoft.com/office/drawing/2014/main" id="{41A873E1-CC50-4EA7-BF12-8293329F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099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변경 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87E368-3739-436D-863C-83F7ECB3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335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5AA2B9-50C0-4CE2-B3EB-5B93D5EF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81450"/>
            <a:ext cx="29527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T">
            <a:extLst xmlns:a="http://schemas.openxmlformats.org/drawingml/2006/main">
              <a:ext uri="{FF2B5EF4-FFF2-40B4-BE49-F238E27FC236}">
                <a16:creationId xmlns:a16="http://schemas.microsoft.com/office/drawing/2014/main" id="{FD7D8BF6-D1F0-4BA3-A8A2-39E98F33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81450"/>
            <a:ext cx="2952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</a:t>
            </a:r>
          </a:p>
        </p:txBody>
      </p:sp>
      <p:sp>
        <p:nvSpPr>
          <p:cNvPr id="31" name="테스트 실행">
            <a:extLst xmlns:a="http://schemas.openxmlformats.org/drawingml/2006/main">
              <a:ext uri="{FF2B5EF4-FFF2-40B4-BE49-F238E27FC236}">
                <a16:creationId xmlns:a16="http://schemas.microsoft.com/office/drawing/2014/main" id="{22FB4E65-CFBC-45EA-8690-68BFDCC1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952875"/>
            <a:ext cx="2600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실행</a:t>
            </a:r>
          </a:p>
        </p:txBody>
      </p:sp>
      <p:sp>
        <p:nvSpPr>
          <p:cNvPr id="32" name="같은 조건으로 다시 측정">
            <a:extLst xmlns:a="http://schemas.openxmlformats.org/drawingml/2006/main">
              <a:ext uri="{FF2B5EF4-FFF2-40B4-BE49-F238E27FC236}">
                <a16:creationId xmlns:a16="http://schemas.microsoft.com/office/drawing/2014/main" id="{4D6B4156-87F2-4896-BFD2-777EAC5F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67225"/>
            <a:ext cx="335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조건으로 다시 측정</a:t>
            </a:r>
          </a:p>
        </p:txBody>
      </p:sp>
      <p:sp>
        <p:nvSpPr>
          <p:cNvPr id="33" name="무엇이 달라졌지?">
            <a:extLst xmlns:a="http://schemas.openxmlformats.org/drawingml/2006/main">
              <a:ext uri="{FF2B5EF4-FFF2-40B4-BE49-F238E27FC236}">
                <a16:creationId xmlns:a16="http://schemas.microsoft.com/office/drawing/2014/main" id="{AFE82B16-1710-4EBE-AE45-870541E0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57750"/>
            <a:ext cx="335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달라졌지?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B85FEB-9E0F-4D02-9824-6957091F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5" name="03  완료 판단">
            <a:extLst xmlns:a="http://schemas.openxmlformats.org/drawingml/2006/main">
              <a:ext uri="{FF2B5EF4-FFF2-40B4-BE49-F238E27FC236}">
                <a16:creationId xmlns:a16="http://schemas.microsoft.com/office/drawing/2014/main" id="{7605A363-D86A-4230-949A-8FF397BE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0995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완료 판단</a:t>
            </a:r>
          </a:p>
        </p:txBody>
      </p:sp>
      <p:sp>
        <p:nvSpPr>
          <p:cNvPr id="36" name="결과와 미확인 사항 보고">
            <a:extLst xmlns:a="http://schemas.openxmlformats.org/drawingml/2006/main">
              <a:ext uri="{FF2B5EF4-FFF2-40B4-BE49-F238E27FC236}">
                <a16:creationId xmlns:a16="http://schemas.microsoft.com/office/drawing/2014/main" id="{3927A14E-9EE7-4787-BCEF-65E6B304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결과와 미확인 사항 보고</a:t>
            </a:r>
          </a:p>
        </p:txBody>
      </p:sp>
      <p:sp>
        <p:nvSpPr>
          <p:cNvPr id="37" name="동작 보존 + 측정 결과">
            <a:extLst xmlns:a="http://schemas.openxmlformats.org/drawingml/2006/main">
              <a:ext uri="{FF2B5EF4-FFF2-40B4-BE49-F238E27FC236}">
                <a16:creationId xmlns:a16="http://schemas.microsoft.com/office/drawing/2014/main" id="{4CFEB08B-B160-4420-933F-14699167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67225"/>
            <a:ext cx="335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 보존 + 측정 결과</a:t>
            </a:r>
          </a:p>
        </p:txBody>
      </p:sp>
      <p:sp>
        <p:nvSpPr>
          <p:cNvPr id="38" name="완료라고 말할 근거는?">
            <a:extLst xmlns:a="http://schemas.openxmlformats.org/drawingml/2006/main">
              <a:ext uri="{FF2B5EF4-FFF2-40B4-BE49-F238E27FC236}">
                <a16:creationId xmlns:a16="http://schemas.microsoft.com/office/drawing/2014/main" id="{0E4BD6B0-217D-42D4-806D-2A82C594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57750"/>
            <a:ext cx="335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완료라고 말할 근거는?</a:t>
            </a:r>
          </a:p>
        </p:txBody>
      </p:sp>
      <p:sp>
        <p:nvSpPr>
          <p:cNvPr id="39" name="명령과 함께, 실행할 시점과 결과의 판단 기준도 정한다">
            <a:extLst xmlns:a="http://schemas.openxmlformats.org/drawingml/2006/main">
              <a:ext uri="{FF2B5EF4-FFF2-40B4-BE49-F238E27FC236}">
                <a16:creationId xmlns:a16="http://schemas.microsoft.com/office/drawing/2014/main" id="{ECEBD4FD-9D7E-40FA-954A-37709785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명령과 함께, 실행할 시점과 결과의 판단 기준도 정한다</a:t>
            </a:r>
          </a:p>
        </p:txBody>
      </p:sp>
      <p:sp>
        <p:nvSpPr>
          <p:cNvPr id="4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096372F-7616-4E98-BB4E-CE241BB7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3488797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normalize 요청을 끝까지 따라가기">
            <a:extLst xmlns:a="http://schemas.openxmlformats.org/drawingml/2006/main">
              <a:ext uri="{FF2B5EF4-FFF2-40B4-BE49-F238E27FC236}">
                <a16:creationId xmlns:a16="http://schemas.microsoft.com/office/drawing/2014/main" id="{2D7C4B54-172A-4A93-A329-EA75031A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normalize 요청을 끝까지 따라가기</a:t>
            </a:r>
          </a:p>
        </p:txBody>
      </p:sp>
      <p:sp>
        <p:nvSpPr>
          <p:cNvPr id="2" name="S52">
            <a:extLst xmlns:a="http://schemas.openxmlformats.org/drawingml/2006/main">
              <a:ext uri="{FF2B5EF4-FFF2-40B4-BE49-F238E27FC236}">
                <a16:creationId xmlns:a16="http://schemas.microsoft.com/office/drawing/2014/main" id="{92D18D49-8F3E-424F-90DC-11B22816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S52</a:t>
            </a:r>
          </a:p>
        </p:txBody>
      </p:sp>
      <p:sp>
        <p:nvSpPr>
          <p:cNvPr id="3" name="한 성능 작업에 세 책임을 적용하면">
            <a:extLst xmlns:a="http://schemas.openxmlformats.org/drawingml/2006/main">
              <a:ext uri="{FF2B5EF4-FFF2-40B4-BE49-F238E27FC236}">
                <a16:creationId xmlns:a16="http://schemas.microsoft.com/office/drawing/2014/main" id="{E91BA2B7-AAA8-46EE-BE17-4C9C36F5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성능 작업에 세 책임을 적용하면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0413F-05F8-465B-8452-DE7BEA28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적용 예 · TRIAL-006/007의 목표·보존 조건·절차를 구분">
            <a:extLst xmlns:a="http://schemas.openxmlformats.org/drawingml/2006/main">
              <a:ext uri="{FF2B5EF4-FFF2-40B4-BE49-F238E27FC236}">
                <a16:creationId xmlns:a16="http://schemas.microsoft.com/office/drawing/2014/main" id="{1531733D-BCCD-471A-B44C-732A7775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적용 예 · TRIAL-006/007의 목표·보존 조건·절차를 구분</a:t>
            </a:r>
          </a:p>
        </p:txBody>
      </p:sp>
      <p:sp>
        <p:nvSpPr>
          <p:cNvPr id="6" name="세 책임은 함께 적용됨 · 공식 제품 분류나 이 예시를 그대로 실행한 새 Trial이 아님">
            <a:extLst xmlns:a="http://schemas.openxmlformats.org/drawingml/2006/main">
              <a:ext uri="{FF2B5EF4-FFF2-40B4-BE49-F238E27FC236}">
                <a16:creationId xmlns:a16="http://schemas.microsoft.com/office/drawing/2014/main" id="{AC074920-0DEA-4800-8C86-8A5B9233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세 책임은 함께 적용됨 · 공식 제품 분류나 이 예시를 그대로 실행한 새 Trial이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EFEB3-A1A2-408A-8596-FC39C250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  이번 요청">
            <a:extLst xmlns:a="http://schemas.openxmlformats.org/drawingml/2006/main">
              <a:ext uri="{FF2B5EF4-FFF2-40B4-BE49-F238E27FC236}">
                <a16:creationId xmlns:a16="http://schemas.microsoft.com/office/drawing/2014/main" id="{801D6089-04AC-409F-80AE-3E0A287E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이번 요청</a:t>
            </a:r>
          </a:p>
        </p:txBody>
      </p:sp>
      <p:sp>
        <p:nvSpPr>
          <p:cNvPr id="9" name="normalize 성능을 조사해줘.">
            <a:extLst xmlns:a="http://schemas.openxmlformats.org/drawingml/2006/main">
              <a:ext uri="{FF2B5EF4-FFF2-40B4-BE49-F238E27FC236}">
                <a16:creationId xmlns:a16="http://schemas.microsoft.com/office/drawing/2014/main" id="{5AD03572-ABA4-4D28-B216-C80D2C64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009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normalize 성능을 조사해줘.</a:t>
            </a:r>
          </a:p>
        </p:txBody>
      </p:sp>
      <p:sp>
        <p:nvSpPr>
          <p:cNvPr id="10" name="현재 목표와 허용 범위">
            <a:extLst xmlns:a="http://schemas.openxmlformats.org/drawingml/2006/main">
              <a:ext uri="{FF2B5EF4-FFF2-40B4-BE49-F238E27FC236}">
                <a16:creationId xmlns:a16="http://schemas.microsoft.com/office/drawing/2014/main" id="{211884AF-9263-4A18-992C-B8272E3E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목표와 허용 범위</a:t>
            </a:r>
          </a:p>
        </p:txBody>
      </p:sp>
      <p:sp>
        <p:nvSpPr>
          <p:cNvPr id="11" name="+">
            <a:extLst xmlns:a="http://schemas.openxmlformats.org/drawingml/2006/main">
              <a:ext uri="{FF2B5EF4-FFF2-40B4-BE49-F238E27FC236}">
                <a16:creationId xmlns:a16="http://schemas.microsoft.com/office/drawing/2014/main" id="{FF64E482-EACA-4BC8-90DC-37F28C72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171825"/>
            <a:ext cx="22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56206C-2A5D-4D37-84CD-27107DD2B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71725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2  프로젝트 기준">
            <a:extLst xmlns:a="http://schemas.openxmlformats.org/drawingml/2006/main">
              <a:ext uri="{FF2B5EF4-FFF2-40B4-BE49-F238E27FC236}">
                <a16:creationId xmlns:a16="http://schemas.microsoft.com/office/drawing/2014/main" id="{7E45AD1C-D5F0-43AA-BD02-4AD6B46B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860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프로젝트 기준</a:t>
            </a:r>
          </a:p>
        </p:txBody>
      </p:sp>
      <p:sp>
        <p:nvSpPr>
          <p:cNvPr id="14" name="기존 이미지 동작과&#10;공개 명세를 보존한다.">
            <a:extLst xmlns:a="http://schemas.openxmlformats.org/drawingml/2006/main">
              <a:ext uri="{FF2B5EF4-FFF2-40B4-BE49-F238E27FC236}">
                <a16:creationId xmlns:a16="http://schemas.microsoft.com/office/drawing/2014/main" id="{3CB1EAEF-6F28-4C95-A7EE-678BE389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09900"/>
            <a:ext cx="3009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이미지 동작과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공개 명세를 보존한다.</a:t>
            </a:r>
          </a:p>
        </p:txBody>
      </p:sp>
      <p:sp>
        <p:nvSpPr>
          <p:cNvPr id="15" name="계속 참고할 정보">
            <a:extLst xmlns:a="http://schemas.openxmlformats.org/drawingml/2006/main">
              <a:ext uri="{FF2B5EF4-FFF2-40B4-BE49-F238E27FC236}">
                <a16:creationId xmlns:a16="http://schemas.microsoft.com/office/drawing/2014/main" id="{9DD23287-EB12-49C5-8EBD-44F1B650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계속 참고할 정보</a:t>
            </a:r>
          </a:p>
        </p:txBody>
      </p:sp>
      <p:sp>
        <p:nvSpPr>
          <p:cNvPr id="16" name="+">
            <a:extLst xmlns:a="http://schemas.openxmlformats.org/drawingml/2006/main">
              <a:ext uri="{FF2B5EF4-FFF2-40B4-BE49-F238E27FC236}">
                <a16:creationId xmlns:a16="http://schemas.microsoft.com/office/drawing/2014/main" id="{EB6CB974-1C24-4ED7-ACB7-9B29DCCF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171825"/>
            <a:ext cx="22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11892F-B08D-4D39-A33A-2D5BCD0D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71725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3  수행 방법">
            <a:extLst xmlns:a="http://schemas.openxmlformats.org/drawingml/2006/main">
              <a:ext uri="{FF2B5EF4-FFF2-40B4-BE49-F238E27FC236}">
                <a16:creationId xmlns:a16="http://schemas.microsoft.com/office/drawing/2014/main" id="{BFDE9BBE-84E9-4D96-89F2-B9B858D6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860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수행 방법</a:t>
            </a:r>
          </a:p>
        </p:txBody>
      </p:sp>
      <p:sp>
        <p:nvSpPr>
          <p:cNvPr id="19" name="먼저 측정·조사하고&#10;변경 뒤 검증·비교한다.">
            <a:extLst xmlns:a="http://schemas.openxmlformats.org/drawingml/2006/main">
              <a:ext uri="{FF2B5EF4-FFF2-40B4-BE49-F238E27FC236}">
                <a16:creationId xmlns:a16="http://schemas.microsoft.com/office/drawing/2014/main" id="{94C977E7-32A3-4DB0-921F-5FD103D7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09900"/>
            <a:ext cx="3009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측정·조사하고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뒤 검증·비교한다.</a:t>
            </a:r>
          </a:p>
        </p:txBody>
      </p:sp>
      <p:sp>
        <p:nvSpPr>
          <p:cNvPr id="20" name="다시 쓸 작업 절차">
            <a:extLst xmlns:a="http://schemas.openxmlformats.org/drawingml/2006/main">
              <a:ext uri="{FF2B5EF4-FFF2-40B4-BE49-F238E27FC236}">
                <a16:creationId xmlns:a16="http://schemas.microsoft.com/office/drawing/2014/main" id="{2341902F-D1F6-4A6B-874C-CCA817EF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672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다시 쓸 작업 절차</a:t>
            </a:r>
          </a:p>
        </p:txBody>
      </p:sp>
      <p:sp>
        <p:nvSpPr>
          <p:cNvPr id="21" name="다음 작업에도 같은 수행 방법이 필요하다면?">
            <a:extLst xmlns:a="http://schemas.openxmlformats.org/drawingml/2006/main">
              <a:ext uri="{FF2B5EF4-FFF2-40B4-BE49-F238E27FC236}">
                <a16:creationId xmlns:a16="http://schemas.microsoft.com/office/drawing/2014/main" id="{CE2AC356-09A2-4AD7-93E2-9A4B25EC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같은 수행 방법이 필요하다면?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F106E37-EFF7-4BA9-B8C6-D90896EA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7704478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Skill은 재사용할 방법의 한 가지 구현">
            <a:extLst xmlns:a="http://schemas.openxmlformats.org/drawingml/2006/main">
              <a:ext uri="{FF2B5EF4-FFF2-40B4-BE49-F238E27FC236}">
                <a16:creationId xmlns:a16="http://schemas.microsoft.com/office/drawing/2014/main" id="{BF07F523-46E7-41F8-A63F-DCF93098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Skill은 재사용할 방법의 한 가지 구현</a:t>
            </a:r>
          </a:p>
        </p:txBody>
      </p:sp>
      <p:sp>
        <p:nvSpPr>
          <p:cNvPr id="2" name="S53">
            <a:extLst xmlns:a="http://schemas.openxmlformats.org/drawingml/2006/main">
              <a:ext uri="{FF2B5EF4-FFF2-40B4-BE49-F238E27FC236}">
                <a16:creationId xmlns:a16="http://schemas.microsoft.com/office/drawing/2014/main" id="{991D2843-AF4B-40DD-A1D3-40DD914D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S53</a:t>
            </a:r>
          </a:p>
        </p:txBody>
      </p:sp>
      <p:sp>
        <p:nvSpPr>
          <p:cNvPr id="3" name="반복 절차의 유지 위치를 선택한다">
            <a:extLst xmlns:a="http://schemas.openxmlformats.org/drawingml/2006/main">
              <a:ext uri="{FF2B5EF4-FFF2-40B4-BE49-F238E27FC236}">
                <a16:creationId xmlns:a16="http://schemas.microsoft.com/office/drawing/2014/main" id="{7310D271-B82A-4D0C-99A5-725AA48A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절차의 유지 위치를 선택한다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FF499-6CCC-4A3A-8DD8-10769A94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7 · Repository-owned performance Skill을 선택한 설계 후보">
            <a:extLst xmlns:a="http://schemas.openxmlformats.org/drawingml/2006/main">
              <a:ext uri="{FF2B5EF4-FFF2-40B4-BE49-F238E27FC236}">
                <a16:creationId xmlns:a16="http://schemas.microsoft.com/office/drawing/2014/main" id="{60AC5F6A-8DF6-44D9-9B21-4EA2E6FC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DEC-0017 · Repository-owned performance Skill을 선택한 설계 후보</a:t>
            </a:r>
          </a:p>
        </p:txBody>
      </p:sp>
      <p:sp>
        <p:nvSpPr>
          <p:cNvPr id="6" name="성공 결과를 미리 제시하지 않음 · 현재 제품 표면·계정·호출 경로는 별도 확인 필요">
            <a:extLst xmlns:a="http://schemas.openxmlformats.org/drawingml/2006/main">
              <a:ext uri="{FF2B5EF4-FFF2-40B4-BE49-F238E27FC236}">
                <a16:creationId xmlns:a16="http://schemas.microsoft.com/office/drawing/2014/main" id="{B3F213E2-55B0-456D-A8FE-FB5350F6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성공 결과를 미리 제시하지 않음 · 현재 제품 표면·계정·호출 경로는 별도 확인 필요</a:t>
            </a:r>
          </a:p>
        </p:txBody>
      </p:sp>
      <p:sp>
        <p:nvSpPr>
          <p:cNvPr id="7" name="Task마다 달라질 부분과, 함께 고칠 방법을 나눈다">
            <a:extLst xmlns:a="http://schemas.openxmlformats.org/drawingml/2006/main">
              <a:ext uri="{FF2B5EF4-FFF2-40B4-BE49-F238E27FC236}">
                <a16:creationId xmlns:a16="http://schemas.microsoft.com/office/drawing/2014/main" id="{7A101888-B9F7-447C-8A75-B26B1215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Task마다 달라질 부분과, 함께 고칠 방법을 나눈다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4CABC-E70B-4235-B567-AFC67FFE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433387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매번 달라지는 요청">
            <a:extLst xmlns:a="http://schemas.openxmlformats.org/drawingml/2006/main">
              <a:ext uri="{FF2B5EF4-FFF2-40B4-BE49-F238E27FC236}">
                <a16:creationId xmlns:a16="http://schemas.microsoft.com/office/drawing/2014/main" id="{D65169BF-99E0-44AA-83D4-ECCCB81F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990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매번 달라지는 요청</a:t>
            </a:r>
          </a:p>
        </p:txBody>
      </p:sp>
      <p:sp>
        <p:nvSpPr>
          <p:cNvPr id="10" name="어느 함수를 조사할까?&#10;이번 변경 범위는?&#10;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BC21E294-D134-4136-B041-30A12FD7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990975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함수를 조사할까?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변경 범위는?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D788E-15E7-484D-99B3-9592D8E3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33750"/>
            <a:ext cx="38100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D2BC7A-7A66-4C68-B83C-364A2453B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390775"/>
            <a:ext cx="549592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프로젝트가 재사용할 절차">
            <a:extLst xmlns:a="http://schemas.openxmlformats.org/drawingml/2006/main">
              <a:ext uri="{FF2B5EF4-FFF2-40B4-BE49-F238E27FC236}">
                <a16:creationId xmlns:a16="http://schemas.microsoft.com/office/drawing/2014/main" id="{722C6262-3827-48D5-8659-34DDA1E3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05075"/>
            <a:ext cx="5153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프로젝트가 재사용할 절차</a:t>
            </a:r>
          </a:p>
        </p:txBody>
      </p:sp>
      <p:sp>
        <p:nvSpPr>
          <p:cNvPr id="14" name="기준선 → 조사 → 변경 판단&#10;검증 → 동일 측정 → 보고">
            <a:extLst xmlns:a="http://schemas.openxmlformats.org/drawingml/2006/main">
              <a:ext uri="{FF2B5EF4-FFF2-40B4-BE49-F238E27FC236}">
                <a16:creationId xmlns:a16="http://schemas.microsoft.com/office/drawing/2014/main" id="{F2C9B1C4-926E-4CC1-9526-2A602A4C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28950"/>
            <a:ext cx="5153025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기준선 → 조사 → 변경 판단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→ 동일 측정 → 보고</a:t>
            </a:r>
          </a:p>
        </p:txBody>
      </p:sp>
      <p:sp>
        <p:nvSpPr>
          <p:cNvPr id="15" name="구현 후보: SKILL.md">
            <a:extLst xmlns:a="http://schemas.openxmlformats.org/drawingml/2006/main">
              <a:ext uri="{FF2B5EF4-FFF2-40B4-BE49-F238E27FC236}">
                <a16:creationId xmlns:a16="http://schemas.microsoft.com/office/drawing/2014/main" id="{7DB48E6E-775C-44AB-ABA0-FB158FD9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295775"/>
            <a:ext cx="51149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구현 후보: SKILL.md</a:t>
            </a:r>
          </a:p>
        </p:txBody>
      </p:sp>
      <p:sp>
        <p:nvSpPr>
          <p:cNvPr id="16" name="다음 기록에서, 발견·호출·본문 포함을 확인한다">
            <a:extLst xmlns:a="http://schemas.openxmlformats.org/drawingml/2006/main">
              <a:ext uri="{FF2B5EF4-FFF2-40B4-BE49-F238E27FC236}">
                <a16:creationId xmlns:a16="http://schemas.microsoft.com/office/drawing/2014/main" id="{B49AFFC8-B837-4064-A5E4-BB170028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기록에서, 발견·호출·본문 포함을 확인한다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6473F6F-88AE-4AB3-8F9A-09AE8D06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9015284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밝기 통계 작업에서 확인한 CLI 기록">
            <a:extLst xmlns:a="http://schemas.openxmlformats.org/drawingml/2006/main">
              <a:ext uri="{FF2B5EF4-FFF2-40B4-BE49-F238E27FC236}">
                <a16:creationId xmlns:a16="http://schemas.microsoft.com/office/drawing/2014/main" id="{13157498-A402-4866-870F-8DFEDECE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밝기 통계 작업에서 확인한 CLI 기록</a:t>
            </a:r>
          </a:p>
        </p:txBody>
      </p:sp>
      <p:sp>
        <p:nvSpPr>
          <p:cNvPr id="2" name="S54">
            <a:extLst xmlns:a="http://schemas.openxmlformats.org/drawingml/2006/main">
              <a:ext uri="{FF2B5EF4-FFF2-40B4-BE49-F238E27FC236}">
                <a16:creationId xmlns:a16="http://schemas.microsoft.com/office/drawing/2014/main" id="{1B25BCE6-BEAB-471B-8D23-778FD70A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S54</a:t>
            </a:r>
          </a:p>
        </p:txBody>
      </p:sp>
      <p:sp>
        <p:nvSpPr>
          <p:cNvPr id="3" name="Skill의 발견과 본문 포함을 확인했다">
            <a:extLst xmlns:a="http://schemas.openxmlformats.org/drawingml/2006/main">
              <a:ext uri="{FF2B5EF4-FFF2-40B4-BE49-F238E27FC236}">
                <a16:creationId xmlns:a16="http://schemas.microsoft.com/office/drawing/2014/main" id="{68CB7937-9356-43F4-A6F1-DD737BAB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Skill의 발견과 본문 포함을 확인했다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278CB-EF97-4393-9574-ECA123FE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Codex CLI 0.154.0 · 아래는 기록 요약·재구성이며 실제 UI 캡처가 아님">
            <a:extLst xmlns:a="http://schemas.openxmlformats.org/drawingml/2006/main">
              <a:ext uri="{FF2B5EF4-FFF2-40B4-BE49-F238E27FC236}">
                <a16:creationId xmlns:a16="http://schemas.microsoft.com/office/drawing/2014/main" id="{EC7947AB-25FB-4C49-8832-886E32AD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Codex CLI 0.154.0 · 아래는 기록 요약·재구성이며 실제 UI 캡처가 아님</a:t>
            </a:r>
          </a:p>
        </p:txBody>
      </p:sp>
      <p:sp>
        <p:nvSpPr>
          <p:cNvPr id="6" name="별도 load UI 이벤트 없음 · 본문 포함이 모든 지침 준수나 현재 Desktop 동작을 보장하지 않음">
            <a:extLst xmlns:a="http://schemas.openxmlformats.org/drawingml/2006/main">
              <a:ext uri="{FF2B5EF4-FFF2-40B4-BE49-F238E27FC236}">
                <a16:creationId xmlns:a16="http://schemas.microsoft.com/office/drawing/2014/main" id="{221FB88C-A572-47D6-A443-F4DD4B38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별도 load UI 이벤트 없음 · 본문 포함이 모든 지침 준수나 현재 Desktop 동작을 보장하지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2EB4BD-934E-484C-80D9-716A9A73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6BA7E6E2-05E9-41BD-B25E-2E959FC0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목록에서 발견">
            <a:extLst xmlns:a="http://schemas.openxmlformats.org/drawingml/2006/main">
              <a:ext uri="{FF2B5EF4-FFF2-40B4-BE49-F238E27FC236}">
                <a16:creationId xmlns:a16="http://schemas.microsoft.com/office/drawing/2014/main" id="{0458BD3D-C1B9-4873-9989-C9498DD9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105025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목록에서 발견</a:t>
            </a:r>
          </a:p>
        </p:txBody>
      </p:sp>
      <p:sp>
        <p:nvSpPr>
          <p:cNvPr id="10" name="/skills → 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87FECD67-6BD8-4B9E-82B1-E1AD882C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514600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/skills → graypipe-performance</a:t>
            </a:r>
          </a:p>
        </p:txBody>
      </p:sp>
      <p:sp>
        <p:nvSpPr>
          <p:cNvPr id="11" name="이름과 잘린 설명이 표시됨 · 경로는 목록에 없었음">
            <a:extLst xmlns:a="http://schemas.openxmlformats.org/drawingml/2006/main">
              <a:ext uri="{FF2B5EF4-FFF2-40B4-BE49-F238E27FC236}">
                <a16:creationId xmlns:a16="http://schemas.microsoft.com/office/drawing/2014/main" id="{AC6E2836-2889-459E-9FBE-95A8BD43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7655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이름과 잘린 설명이 표시됨 · 경로는 목록에 없었음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6C3B2-B32F-41B8-B193-D2A45862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0CCB5E5D-F28F-4A69-B2E6-18249ADF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작업과 함께 명시적으로 호출">
            <a:extLst xmlns:a="http://schemas.openxmlformats.org/drawingml/2006/main">
              <a:ext uri="{FF2B5EF4-FFF2-40B4-BE49-F238E27FC236}">
                <a16:creationId xmlns:a16="http://schemas.microsoft.com/office/drawing/2014/main" id="{680A2C45-20F9-4FCD-935A-330A3173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295650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작업과 함께 명시적으로 호출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8350BC13-6ADC-4B99-A8CB-0C068A0D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705225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밝기 통계(image_statistics)의 시간·할당량 조사">
            <a:extLst xmlns:a="http://schemas.openxmlformats.org/drawingml/2006/main">
              <a:ext uri="{FF2B5EF4-FFF2-40B4-BE49-F238E27FC236}">
                <a16:creationId xmlns:a16="http://schemas.microsoft.com/office/drawing/2014/main" id="{607667E7-A557-4091-BE01-4D982997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067175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밝기 통계(image_statistics)의 시간·할당량 조사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88C6D3-2A97-4D12-899E-C7090FA2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D3753D27-2193-4823-A237-5D0BFD9A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실행 기록에서 본문 포함 확인">
            <a:extLst xmlns:a="http://schemas.openxmlformats.org/drawingml/2006/main">
              <a:ext uri="{FF2B5EF4-FFF2-40B4-BE49-F238E27FC236}">
                <a16:creationId xmlns:a16="http://schemas.microsoft.com/office/drawing/2014/main" id="{1CA5ADBB-769E-4DC3-9AFD-9020D145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486275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기록에서 본문 포함 확인</a:t>
            </a:r>
          </a:p>
        </p:txBody>
      </p:sp>
      <p:sp>
        <p:nvSpPr>
          <p:cNvPr id="20" name=".agents/skills/graypipe-performance/SKILL.md">
            <a:extLst xmlns:a="http://schemas.openxmlformats.org/drawingml/2006/main">
              <a:ext uri="{FF2B5EF4-FFF2-40B4-BE49-F238E27FC236}">
                <a16:creationId xmlns:a16="http://schemas.microsoft.com/office/drawing/2014/main" id="{7B03B5B0-ACF6-4BCF-8F2B-0C3BA0E8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895850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.agents/skills/graypipe-performance/SKILL.md</a:t>
            </a:r>
          </a:p>
        </p:txBody>
      </p:sp>
      <p:sp>
        <p:nvSpPr>
          <p:cNvPr id="21" name="이름·경로·전체 지침 본문이 실행 trace에 포함됨">
            <a:extLst xmlns:a="http://schemas.openxmlformats.org/drawingml/2006/main">
              <a:ext uri="{FF2B5EF4-FFF2-40B4-BE49-F238E27FC236}">
                <a16:creationId xmlns:a16="http://schemas.microsoft.com/office/drawing/2014/main" id="{7B6CE193-DB94-431E-90D0-6B2A9C1D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25780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이름·경로·전체 지침 본문이 실행 trace에 포함됨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C329F7E-CDB8-4A3B-9490-BD428BD7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206085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T 3 · 위치 이동을 실제 문장과 기록으로 확인">
            <a:extLst xmlns:a="http://schemas.openxmlformats.org/drawingml/2006/main">
              <a:ext uri="{FF2B5EF4-FFF2-40B4-BE49-F238E27FC236}">
                <a16:creationId xmlns:a16="http://schemas.microsoft.com/office/drawing/2014/main" id="{5748AEE5-FDB3-467A-B81E-D4561D78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위치 이동을 실제 문장과 기록으로 확인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C1549DF1-837A-4755-86FE-C212FC1C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Skill의 지침과 관찰된 작업을 대응한다">
            <a:extLst xmlns:a="http://schemas.openxmlformats.org/drawingml/2006/main">
              <a:ext uri="{FF2B5EF4-FFF2-40B4-BE49-F238E27FC236}">
                <a16:creationId xmlns:a16="http://schemas.microsoft.com/office/drawing/2014/main" id="{DF3418E8-961B-4F88-8472-8F1B163D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Skill의 지침과 관찰된 작업을 대응한다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67383-EEE0-4FC8-B9BE-02AEE7AD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SKILL.md 발췌 ↔ TRIAL-008의 보존된 관찰 요약 · 원문 실행 로그 화면이 아">
            <a:extLst xmlns:a="http://schemas.openxmlformats.org/drawingml/2006/main">
              <a:ext uri="{FF2B5EF4-FFF2-40B4-BE49-F238E27FC236}">
                <a16:creationId xmlns:a16="http://schemas.microsoft.com/office/drawing/2014/main" id="{A14B3E53-032A-4DFF-A2DC-502D63F9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SKILL.md 발췌 ↔ TRIAL-008의 보존된 관찰 요약 · 원문 실행 로그 화면이 아님</a:t>
            </a:r>
          </a:p>
        </p:txBody>
      </p:sp>
      <p:sp>
        <p:nvSpPr>
          <p:cNvPr id="6" name="본문 포함과 관찰의 대응 · Skill 단독 인과성·우월성·토큰/속도 효과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A8BBDA03-EE55-4A83-B887-9034A071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본문 포함과 관찰의 대응 · Skill 단독 인과성·우월성·토큰/속도 효과를 입증하지 않음</a:t>
            </a:r>
          </a:p>
        </p:txBody>
      </p:sp>
      <p:sp>
        <p:nvSpPr>
          <p:cNvPr id="7" name="normalize의 긴 요청 → 밝기 통계 요청 + 재사용 Skill">
            <a:extLst xmlns:a="http://schemas.openxmlformats.org/drawingml/2006/main">
              <a:ext uri="{FF2B5EF4-FFF2-40B4-BE49-F238E27FC236}">
                <a16:creationId xmlns:a16="http://schemas.microsoft.com/office/drawing/2014/main" id="{8C6C5550-5142-4A68-927E-72B14618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normalize의 긴 요청 → 밝기 통계 요청 + 재사용 Skill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16889-C237-48EB-9BD6-EDB1310F2C00}"/>
              </a:ext>
            </a:extLst>
          </p:cNvPr>
          <p:cNvGraphicFramePr/>
          <p:nvPr/>
        </p:nvGraphicFramePr>
        <p:xfrm>
          <a:off xmlns:a="http://schemas.openxmlformats.org/drawingml/2006/main" x="609600" y="23431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5191125"/>
                <a:gridCol w="5781675"/>
              </a:tblGrid>
              <a:tr h="43815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0B617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Skill의 지침 · 원문 발췌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T w="7620">
                      <a:solidFill>
                        <a:srgbClr val="C7D0DA"/>
                      </a:solidFill>
                      <a:prstDash val="solid"/>
                    </a:lnT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E0EF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0B617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Trial에서 관찰된 기록 · 요약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T w="7620">
                      <a:solidFill>
                        <a:srgbClr val="C7D0DA"/>
                      </a:solidFill>
                      <a:prstDash val="solid"/>
                    </a:lnT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E0EFF0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Establish a reproducible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baseline before editing.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편집 전 같은 측정 명령으로 3회 실행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지문과 결과 6항목 확인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State a concise plan before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making edits 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 계획을 밝힘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statistics.py의 변경 범위를 한정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Repeat the same benchmark with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the same input and settings 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함수·전체 테스트와 같은 benchmark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CLI 샘플·diff 확인 및 최종 검토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sk Prompt에는 이번 목표·6항목 보존·변경 범위를 남겼다">
            <a:extLst xmlns:a="http://schemas.openxmlformats.org/drawingml/2006/main">
              <a:ext uri="{FF2B5EF4-FFF2-40B4-BE49-F238E27FC236}">
                <a16:creationId xmlns:a16="http://schemas.microsoft.com/office/drawing/2014/main" id="{CE3F2A64-1D33-44C7-8F0D-2D9434C2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Prompt에는 이번 목표·6항목 보존·변경 범위를 남겼다</a:t>
            </a:r>
          </a:p>
        </p:txBody>
      </p:sp>
      <p:sp>
        <p:nvSpPr>
          <p:cNvPr id="1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29F24D-99B5-48A0-B29C-3F0F41D5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9395320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Skill에 고정할 것과 이번에 판단할 것">
            <a:extLst xmlns:a="http://schemas.openxmlformats.org/drawingml/2006/main">
              <a:ext uri="{FF2B5EF4-FFF2-40B4-BE49-F238E27FC236}">
                <a16:creationId xmlns:a16="http://schemas.microsoft.com/office/drawing/2014/main" id="{3E0310D6-D90C-4DFD-A967-CDA000A1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Skill에 고정할 것과 이번에 판단할 것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5A53F359-8297-4E44-B2A9-D210A209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절차는 재사용하고, 답은 근거로 정한다">
            <a:extLst xmlns:a="http://schemas.openxmlformats.org/drawingml/2006/main">
              <a:ext uri="{FF2B5EF4-FFF2-40B4-BE49-F238E27FC236}">
                <a16:creationId xmlns:a16="http://schemas.microsoft.com/office/drawing/2014/main" id="{1FE1767A-730C-4606-8AF5-0941F2A4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절차는 재사용하고, 답은 근거로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864C6-076E-4C6A-AC59-6C6E20D5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SKILL.md의 두 지침과 교육용 책임 구분 · 새 실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96B3CA34-6999-4EAF-A1C2-F7FCEAC4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SKILL.md의 두 지침과 교육용 책임 구분 · 새 실행 결과가 아님</a:t>
            </a:r>
          </a:p>
        </p:txBody>
      </p:sp>
      <p:sp>
        <p:nvSpPr>
          <p:cNvPr id="6" name="특정 알고리즘·Trial 숫자를 정답으로 넣지 않았음 · no-change는 허용된 판단 경로">
            <a:extLst xmlns:a="http://schemas.openxmlformats.org/drawingml/2006/main">
              <a:ext uri="{FF2B5EF4-FFF2-40B4-BE49-F238E27FC236}">
                <a16:creationId xmlns:a16="http://schemas.microsoft.com/office/drawing/2014/main" id="{A97A48D7-8CBD-4DA0-BBF7-B0E0AB3F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알고리즘·Trial 숫자를 정답으로 넣지 않았음 · no-change는 허용된 판단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BD2F7-8A4C-4FF3-9C31-6EE2B62E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1625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Skill이 정할 방법">
            <a:extLst xmlns:a="http://schemas.openxmlformats.org/drawingml/2006/main">
              <a:ext uri="{FF2B5EF4-FFF2-40B4-BE49-F238E27FC236}">
                <a16:creationId xmlns:a16="http://schemas.microsoft.com/office/drawing/2014/main" id="{F64E39B8-B6A6-478B-BB39-C6797DEF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81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Skill이 정할 방법</a:t>
            </a:r>
          </a:p>
        </p:txBody>
      </p:sp>
      <p:sp>
        <p:nvSpPr>
          <p:cNvPr id="9" name="편집 전 재현 가능한 기준선&#10;같은 조건으로 검증·비교&#10;근거가 부족하면 변경 보류">
            <a:extLst xmlns:a="http://schemas.openxmlformats.org/drawingml/2006/main">
              <a:ext uri="{FF2B5EF4-FFF2-40B4-BE49-F238E27FC236}">
                <a16:creationId xmlns:a16="http://schemas.microsoft.com/office/drawing/2014/main" id="{4D8D68D2-B607-4B62-9C88-508D69AD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86075"/>
            <a:ext cx="48196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편집 전 재현 가능한 기준선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검증·비교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근거가 부족하면 변경 보류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8FD064-C430-4941-AEF3-CC2DF88A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47900"/>
            <a:ext cx="51625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이번 작업에서 정할 답">
            <a:extLst xmlns:a="http://schemas.openxmlformats.org/drawingml/2006/main">
              <a:ext uri="{FF2B5EF4-FFF2-40B4-BE49-F238E27FC236}">
                <a16:creationId xmlns:a16="http://schemas.microsoft.com/office/drawing/2014/main" id="{26A43DEC-7ACB-428D-A371-D19ADAB0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62200"/>
            <a:ext cx="481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작업에서 정할 답</a:t>
            </a:r>
          </a:p>
        </p:txBody>
      </p:sp>
      <p:sp>
        <p:nvSpPr>
          <p:cNvPr id="12" name="어떤 알고리즘을 택할까?&#10;실제 시간·할당량은?&#10;어떤 trade-off를 감수할까?">
            <a:extLst xmlns:a="http://schemas.openxmlformats.org/drawingml/2006/main">
              <a:ext uri="{FF2B5EF4-FFF2-40B4-BE49-F238E27FC236}">
                <a16:creationId xmlns:a16="http://schemas.microsoft.com/office/drawing/2014/main" id="{ABB982A3-D463-4C91-9EEF-484573E8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86075"/>
            <a:ext cx="48196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알고리즘을 택할까?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시간·할당량은?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trade-off를 감수할까?</a:t>
            </a:r>
          </a:p>
        </p:txBody>
      </p:sp>
      <p:sp>
        <p:nvSpPr>
          <p:cNvPr id="13" name="“A measured result that does not justify a change is a">
            <a:extLst xmlns:a="http://schemas.openxmlformats.org/drawingml/2006/main">
              <a:ext uri="{FF2B5EF4-FFF2-40B4-BE49-F238E27FC236}">
                <a16:creationId xmlns:a16="http://schemas.microsoft.com/office/drawing/2014/main" id="{6F3D0793-9806-4BD4-9252-82165CE8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“A measured result that does not justify a change is a</a:t>
            </a:r>
          </a:p>
        </p:txBody>
      </p:sp>
      <p:sp>
        <p:nvSpPr>
          <p:cNvPr id="14" name="valid no-change conclusion.”">
            <a:extLst xmlns:a="http://schemas.openxmlformats.org/drawingml/2006/main">
              <a:ext uri="{FF2B5EF4-FFF2-40B4-BE49-F238E27FC236}">
                <a16:creationId xmlns:a16="http://schemas.microsoft.com/office/drawing/2014/main" id="{66E1CC54-EB60-4AF2-BCEC-5F86492E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valid no-change conclusion.”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A40259F-A80D-4815-913C-60516BEB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</a:t>
            </a:r>
          </a:p>
        </p:txBody>
      </p:sp>
    </p:spTree>
    <p:extLst>
      <p:ext uri="{BB962C8B-B14F-4D97-AF65-F5344CB8AC3E}">
        <p14:creationId xmlns:p14="http://schemas.microsoft.com/office/powerpoint/2010/main" val="11501215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· 밝기 통계 작업의 후보 선택 과정">
            <a:extLst xmlns:a="http://schemas.openxmlformats.org/drawingml/2006/main">
              <a:ext uri="{FF2B5EF4-FFF2-40B4-BE49-F238E27FC236}">
                <a16:creationId xmlns:a16="http://schemas.microsoft.com/office/drawing/2014/main" id="{17E1E8A0-2E14-4AB6-A464-80DED670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밝기 통계 작업의 후보 선택 과정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70CAF6B9-7C08-4354-AA15-33443577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후보는 시간·할당량·동작을 함께 보고 고른다">
            <a:extLst xmlns:a="http://schemas.openxmlformats.org/drawingml/2006/main">
              <a:ext uri="{FF2B5EF4-FFF2-40B4-BE49-F238E27FC236}">
                <a16:creationId xmlns:a16="http://schemas.microsoft.com/office/drawing/2014/main" id="{7C9A921D-37AA-401A-9811-14A8C07F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후보는 시간·할당량·동작을 함께 보고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21AE4-836A-44DC-831F-DBDC8F07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image_statistics 후보 비교 · 합성1024×768 / CPython3.9">
            <a:extLst xmlns:a="http://schemas.openxmlformats.org/drawingml/2006/main">
              <a:ext uri="{FF2B5EF4-FFF2-40B4-BE49-F238E27FC236}">
                <a16:creationId xmlns:a16="http://schemas.microsoft.com/office/drawing/2014/main" id="{B4D5A828-3E03-4851-8FAD-AA331CBF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image_statistics 후보 비교 · 합성1024×768 / CPython3.9.6 / macOS arm64</a:t>
            </a:r>
          </a:p>
        </p:txBody>
      </p:sp>
      <p:sp>
        <p:nvSpPr>
          <p:cNvPr id="6" name="정성 비교 · 아래 후보끼리의 비교는 다음 장의 제품 상태 전후 측정과 다름">
            <a:extLst xmlns:a="http://schemas.openxmlformats.org/drawingml/2006/main">
              <a:ext uri="{FF2B5EF4-FFF2-40B4-BE49-F238E27FC236}">
                <a16:creationId xmlns:a16="http://schemas.microsoft.com/office/drawing/2014/main" id="{FDC30DE2-77A5-44FF-95FD-284F1552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정성 비교 · 아래 후보끼리의 비교는 다음 장의 제품 상태 전후 측정과 다름</a:t>
            </a:r>
          </a:p>
        </p:txBody>
      </p:sp>
      <p:sp>
        <p:nvSpPr>
          <p:cNvPr id="7" name="두 후보 모두 같은 결과 6항목을 확인했다">
            <a:extLst xmlns:a="http://schemas.openxmlformats.org/drawingml/2006/main">
              <a:ext uri="{FF2B5EF4-FFF2-40B4-BE49-F238E27FC236}">
                <a16:creationId xmlns:a16="http://schemas.microsoft.com/office/drawing/2014/main" id="{175210AF-4952-4B09-803A-13D12947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후보 모두 같은 결과 6항목을 확인했다</a:t>
            </a:r>
          </a:p>
        </p:txBody>
      </p:sp>
      <p:sp>
        <p:nvSpPr>
          <p:cNvPr id="8" name="후보">
            <a:extLst xmlns:a="http://schemas.openxmlformats.org/drawingml/2006/main">
              <a:ext uri="{FF2B5EF4-FFF2-40B4-BE49-F238E27FC236}">
                <a16:creationId xmlns:a16="http://schemas.microsoft.com/office/drawing/2014/main" id="{305D1EC2-2139-43A1-817C-0B4ADC23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</a:t>
            </a:r>
          </a:p>
        </p:txBody>
      </p:sp>
      <p:sp>
        <p:nvSpPr>
          <p:cNvPr id="9" name="Python 할당량">
            <a:extLst xmlns:a="http://schemas.openxmlformats.org/drawingml/2006/main">
              <a:ext uri="{FF2B5EF4-FFF2-40B4-BE49-F238E27FC236}">
                <a16:creationId xmlns:a16="http://schemas.microsoft.com/office/drawing/2014/main" id="{0DC647A3-17E4-4DA1-88C3-22250177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19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Python 할당량</a:t>
            </a:r>
          </a:p>
        </p:txBody>
      </p:sp>
      <p:sp>
        <p:nvSpPr>
          <p:cNvPr id="10" name="실행 시간과 판단">
            <a:extLst xmlns:a="http://schemas.openxmlformats.org/drawingml/2006/main">
              <a:ext uri="{FF2B5EF4-FFF2-40B4-BE49-F238E27FC236}">
                <a16:creationId xmlns:a16="http://schemas.microsoft.com/office/drawing/2014/main" id="{3E0877A7-2835-4D90-A6CA-B5DBBC28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419350"/>
            <a:ext cx="2962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시간과 판단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3B780E-8923-4651-9435-4930D701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0972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수동 단일 순회">
            <a:extLst xmlns:a="http://schemas.openxmlformats.org/drawingml/2006/main">
              <a:ext uri="{FF2B5EF4-FFF2-40B4-BE49-F238E27FC236}">
                <a16:creationId xmlns:a16="http://schemas.microsoft.com/office/drawing/2014/main" id="{DF139967-80A0-4EB1-8692-807EFF27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수동 단일 순회</a:t>
            </a:r>
          </a:p>
        </p:txBody>
      </p:sp>
      <p:sp>
        <p:nvSpPr>
          <p:cNvPr id="13" name="낮은 할당량">
            <a:extLst xmlns:a="http://schemas.openxmlformats.org/drawingml/2006/main">
              <a:ext uri="{FF2B5EF4-FFF2-40B4-BE49-F238E27FC236}">
                <a16:creationId xmlns:a16="http://schemas.microsoft.com/office/drawing/2014/main" id="{A11D9F85-0FCB-42F5-9B89-C6A71A03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004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낮은 할당량</a:t>
            </a:r>
          </a:p>
        </p:txBody>
      </p:sp>
      <p:sp>
        <p:nvSpPr>
          <p:cNvPr id="14" name="훨씬 느림 → 제외">
            <a:extLst xmlns:a="http://schemas.openxmlformats.org/drawingml/2006/main">
              <a:ext uri="{FF2B5EF4-FFF2-40B4-BE49-F238E27FC236}">
                <a16:creationId xmlns:a16="http://schemas.microsoft.com/office/drawing/2014/main" id="{18BB9468-A201-48DE-A0FC-9711CFD2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200400"/>
            <a:ext cx="280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훨씬 느림 → 제외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BBFF1C-91A0-4CE4-8F17-9999D33F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행 단위 built-in reduction">
            <a:extLst xmlns:a="http://schemas.openxmlformats.org/drawingml/2006/main">
              <a:ext uri="{FF2B5EF4-FFF2-40B4-BE49-F238E27FC236}">
                <a16:creationId xmlns:a16="http://schemas.microsoft.com/office/drawing/2014/main" id="{68239BFD-8BAA-419E-BE04-70B7C7F1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행 단위 built-in reduction</a:t>
            </a:r>
          </a:p>
        </p:txBody>
      </p:sp>
      <p:sp>
        <p:nvSpPr>
          <p:cNvPr id="17" name="낮은 할당량 유지">
            <a:extLst xmlns:a="http://schemas.openxmlformats.org/drawingml/2006/main">
              <a:ext uri="{FF2B5EF4-FFF2-40B4-BE49-F238E27FC236}">
                <a16:creationId xmlns:a16="http://schemas.microsoft.com/office/drawing/2014/main" id="{3AFB16A4-A4BD-4B01-820B-205035CB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672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낮은 할당량 유지</a:t>
            </a:r>
          </a:p>
        </p:txBody>
      </p:sp>
      <p:sp>
        <p:nvSpPr>
          <p:cNvPr id="18" name="더 나음 → 선택">
            <a:extLst xmlns:a="http://schemas.openxmlformats.org/drawingml/2006/main">
              <a:ext uri="{FF2B5EF4-FFF2-40B4-BE49-F238E27FC236}">
                <a16:creationId xmlns:a16="http://schemas.microsoft.com/office/drawing/2014/main" id="{27AE7695-37ED-4A92-AA58-5DBF922D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267200"/>
            <a:ext cx="280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나음 → 선택</a:t>
            </a:r>
          </a:p>
        </p:txBody>
      </p:sp>
      <p:sp>
        <p:nvSpPr>
          <p:cNvPr id="19" name="Skill에 정답을 넣지 않고, 측정 근거로 변경 후보를 선택했다">
            <a:extLst xmlns:a="http://schemas.openxmlformats.org/drawingml/2006/main">
              <a:ext uri="{FF2B5EF4-FFF2-40B4-BE49-F238E27FC236}">
                <a16:creationId xmlns:a16="http://schemas.microsoft.com/office/drawing/2014/main" id="{169C9F2B-E85A-48FB-AA73-28EF3F4B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Skill에 정답을 넣지 않고, 측정 근거로 변경 후보를 선택했다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07D43E-9304-4B5E-B687-66D02F04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 · M9</a:t>
            </a:r>
          </a:p>
        </p:txBody>
      </p:sp>
    </p:spTree>
    <p:extLst>
      <p:ext uri="{BB962C8B-B14F-4D97-AF65-F5344CB8AC3E}">
        <p14:creationId xmlns:p14="http://schemas.microsoft.com/office/powerpoint/2010/main" val="12819837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 ·  Harness로 조사하고 검증하기">
            <a:extLst xmlns:a="http://schemas.openxmlformats.org/drawingml/2006/main">
              <a:ext uri="{FF2B5EF4-FFF2-40B4-BE49-F238E27FC236}">
                <a16:creationId xmlns:a16="http://schemas.microsoft.com/office/drawing/2014/main" id="{C3B29C48-A7C8-4466-97FA-D1D1E1E4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 ·  Harness로 조사하고 검증하기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78894F89-2A7A-44F9-B5E8-D535A768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선택한 변경을 같은 조건에서 검증했다">
            <a:extLst xmlns:a="http://schemas.openxmlformats.org/drawingml/2006/main">
              <a:ext uri="{FF2B5EF4-FFF2-40B4-BE49-F238E27FC236}">
                <a16:creationId xmlns:a16="http://schemas.microsoft.com/office/drawing/2014/main" id="{043E0EC2-1A80-4C9E-911F-0363ECB7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선택한 변경을 같은 조건에서 검증했다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75855-9942-4527-8623-3D3CB21D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→ STATE-04-PERF  |  image_statistics · 합성 1024×768 ">
            <a:extLst xmlns:a="http://schemas.openxmlformats.org/drawingml/2006/main">
              <a:ext uri="{FF2B5EF4-FFF2-40B4-BE49-F238E27FC236}">
                <a16:creationId xmlns:a16="http://schemas.microsoft.com/office/drawing/2014/main" id="{359A079D-1263-4A17-A8B2-8596201A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→ STATE-04-PERF  |  image_statistics · 합성 1024×768 · CPython 3.9.6 / macOS arm64</a:t>
            </a:r>
          </a:p>
        </p:txBody>
      </p:sp>
      <p:sp>
        <p:nvSpPr>
          <p:cNvPr id="6" name="동일 입력·상태별 7회 측정 · 이 환경의 코드 변경 결과이며 Harness 단독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97D03396-225F-4DB7-946D-F119EB15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동일 입력·상태별 7회 측정 · 이 환경의 코드 변경 결과이며 Harness 단독 효과는 입증하지 않음</a:t>
            </a:r>
          </a:p>
        </p:txBody>
      </p:sp>
      <p:sp>
        <p:nvSpPr>
          <p:cNvPr id="7" name="밝기 통계 · 동작 확인 + 동일 입력 비교">
            <a:extLst xmlns:a="http://schemas.openxmlformats.org/drawingml/2006/main">
              <a:ext uri="{FF2B5EF4-FFF2-40B4-BE49-F238E27FC236}">
                <a16:creationId xmlns:a16="http://schemas.microsoft.com/office/drawing/2014/main" id="{CF087E2A-740B-4702-A8C0-AF9C79E0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· 동작 확인 + 동일 입력 비교</a:t>
            </a:r>
          </a:p>
        </p:txBody>
      </p:sp>
      <p:sp>
        <p:nvSpPr>
          <p:cNvPr id="8" name="실행 시간 중앙값">
            <a:extLst xmlns:a="http://schemas.openxmlformats.org/drawingml/2006/main">
              <a:ext uri="{FF2B5EF4-FFF2-40B4-BE49-F238E27FC236}">
                <a16:creationId xmlns:a16="http://schemas.microsoft.com/office/drawing/2014/main" id="{EED9A71E-C947-4E3E-872E-5AA70DC3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66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시간 중앙값</a:t>
            </a:r>
          </a:p>
        </p:txBody>
      </p:sp>
      <p:sp>
        <p:nvSpPr>
          <p:cNvPr id="9" name="ms/call · 낮을수록 짧음">
            <a:extLst xmlns:a="http://schemas.openxmlformats.org/drawingml/2006/main">
              <a:ext uri="{FF2B5EF4-FFF2-40B4-BE49-F238E27FC236}">
                <a16:creationId xmlns:a16="http://schemas.microsoft.com/office/drawing/2014/main" id="{7A35698B-96CD-4273-9CF8-B622C05B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66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ms/call · 낮을수록 짧음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7DC2B587-3971-4CA3-B239-9DA17F039CDD}"/>
              </a:ext>
            </a:extLst>
          </p:cNvPr>
          <p:cNvGraphicFramePr/>
          <p:nvPr/>
        </p:nvGraphicFramePr>
        <p:xfrm>
          <a:off xmlns:a="http://schemas.openxmlformats.org/drawingml/2006/main" x="609600" y="3067050"/>
          <a:ext xmlns:a="http://schemas.openxmlformats.org/drawingml/2006/main" cx="61912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859b1e7f2245a6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3E754E-D55D-4F3B-8F23-63C8908A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24100"/>
            <a:ext cx="19050" cy="281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ython 할당 피크">
            <a:extLst xmlns:a="http://schemas.openxmlformats.org/drawingml/2006/main">
              <a:ext uri="{FF2B5EF4-FFF2-40B4-BE49-F238E27FC236}">
                <a16:creationId xmlns:a16="http://schemas.microsoft.com/office/drawing/2014/main" id="{D38AB485-2EB7-46BF-9D94-5789B6D9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24100"/>
            <a:ext cx="3981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Python 할당 피크</a:t>
            </a:r>
          </a:p>
        </p:txBody>
      </p:sp>
      <p:sp>
        <p:nvSpPr>
          <p:cNvPr id="13" name="tracemalloc · 프로세스 RSS 아님">
            <a:extLst xmlns:a="http://schemas.openxmlformats.org/drawingml/2006/main">
              <a:ext uri="{FF2B5EF4-FFF2-40B4-BE49-F238E27FC236}">
                <a16:creationId xmlns:a16="http://schemas.microsoft.com/office/drawing/2014/main" id="{F58E6EA8-9330-40BE-9BBE-4288DB8D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14625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tracemalloc · 프로세스 RSS 아님</a:t>
            </a:r>
          </a:p>
        </p:txBody>
      </p:sp>
      <p:sp>
        <p:nvSpPr>
          <p:cNvPr id="14" name="6,675,804 B">
            <a:extLst xmlns:a="http://schemas.openxmlformats.org/drawingml/2006/main">
              <a:ext uri="{FF2B5EF4-FFF2-40B4-BE49-F238E27FC236}">
                <a16:creationId xmlns:a16="http://schemas.microsoft.com/office/drawing/2014/main" id="{9C71D1F3-2B28-4F8A-A4DE-74E32423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48025"/>
            <a:ext cx="3981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6,675,804 B</a:t>
            </a:r>
          </a:p>
        </p:txBody>
      </p:sp>
      <p:sp>
        <p:nvSpPr>
          <p:cNvPr id="15" name="↓">
            <a:extLst xmlns:a="http://schemas.openxmlformats.org/drawingml/2006/main">
              <a:ext uri="{FF2B5EF4-FFF2-40B4-BE49-F238E27FC236}">
                <a16:creationId xmlns:a16="http://schemas.microsoft.com/office/drawing/2014/main" id="{E4D7167E-DAA1-4FDA-BD60-24752615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6" name="380 B">
            <a:extLst xmlns:a="http://schemas.openxmlformats.org/drawingml/2006/main">
              <a:ext uri="{FF2B5EF4-FFF2-40B4-BE49-F238E27FC236}">
                <a16:creationId xmlns:a16="http://schemas.microsoft.com/office/drawing/2014/main" id="{2DC9F0FF-D36A-4DA7-96F5-3F7756EC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380 B</a:t>
            </a:r>
          </a:p>
        </p:txBody>
      </p:sp>
      <p:sp>
        <p:nvSpPr>
          <p:cNvPr id="17" name="평탄화 임시 리스트 제거">
            <a:extLst xmlns:a="http://schemas.openxmlformats.org/drawingml/2006/main">
              <a:ext uri="{FF2B5EF4-FFF2-40B4-BE49-F238E27FC236}">
                <a16:creationId xmlns:a16="http://schemas.microsoft.com/office/drawing/2014/main" id="{BB68B3F2-C3B9-4620-A303-370F338F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48200"/>
            <a:ext cx="3981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평탄화 임시 리스트 제거</a:t>
            </a:r>
          </a:p>
        </p:txBody>
      </p:sp>
      <p:sp>
        <p:nvSpPr>
          <p:cNvPr id="18" name="검증 완료">
            <a:extLst xmlns:a="http://schemas.openxmlformats.org/drawingml/2006/main">
              <a:ext uri="{FF2B5EF4-FFF2-40B4-BE49-F238E27FC236}">
                <a16:creationId xmlns:a16="http://schemas.microsoft.com/office/drawing/2014/main" id="{EE5CB19F-6272-47BD-AB20-6F1956B0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검증 완료</a:t>
            </a:r>
          </a:p>
        </p:txBody>
      </p:sp>
      <p:sp>
        <p:nvSpPr>
          <p:cNvPr id="19" name="함수 테스트 1/1 · 전체 11/11 · CLI · 입력·결과 확인">
            <a:extLst xmlns:a="http://schemas.openxmlformats.org/drawingml/2006/main">
              <a:ext uri="{FF2B5EF4-FFF2-40B4-BE49-F238E27FC236}">
                <a16:creationId xmlns:a16="http://schemas.microsoft.com/office/drawing/2014/main" id="{EC5CD6A2-5CF9-4DAC-BCCC-C14461D7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함수 테스트 1/1 · 전체 11/11 · CLI · 입력·결과 확인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8018E3F-9748-4844-9AB2-216020EE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</a:t>
            </a:r>
          </a:p>
        </p:txBody>
      </p:sp>
    </p:spTree>
    <p:extLst>
      <p:ext uri="{BB962C8B-B14F-4D97-AF65-F5344CB8AC3E}">
        <p14:creationId xmlns:p14="http://schemas.microsoft.com/office/powerpoint/2010/main" val="12583993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Subagent가 해결할 문제부터 보기">
            <a:extLst xmlns:a="http://schemas.openxmlformats.org/drawingml/2006/main">
              <a:ext uri="{FF2B5EF4-FFF2-40B4-BE49-F238E27FC236}">
                <a16:creationId xmlns:a16="http://schemas.microsoft.com/office/drawing/2014/main" id="{DBEC59D7-3D57-49DA-99DC-9BB20B34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Subagent가 해결할 문제부터 보기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07AC468C-DC8D-46B4-9395-3AEBC823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독립 조사를 나누면 무엇이 달라질까?">
            <a:extLst xmlns:a="http://schemas.openxmlformats.org/drawingml/2006/main">
              <a:ext uri="{FF2B5EF4-FFF2-40B4-BE49-F238E27FC236}">
                <a16:creationId xmlns:a16="http://schemas.microsoft.com/office/drawing/2014/main" id="{49AD51D5-8CD7-4ED3-BA3B-C9B14248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독립 조사를 나누면 무엇이 달라질까?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97FB4C-7B70-489E-89BD-E85A0498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CONCEPTUAL · C++ Vision 조사 업무를 가정한 역할·Context 분리 · 실제 Subage">
            <a:extLst xmlns:a="http://schemas.openxmlformats.org/drawingml/2006/main">
              <a:ext uri="{FF2B5EF4-FFF2-40B4-BE49-F238E27FC236}">
                <a16:creationId xmlns:a16="http://schemas.microsoft.com/office/drawing/2014/main" id="{B7A319FD-E129-4A61-A51C-AE8D88BB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CONCEPTUAL · C++ Vision 조사 업무를 가정한 역할·Context 분리 · 실제 Subagent 실행 아님</a:t>
            </a:r>
          </a:p>
        </p:txBody>
      </p:sp>
      <p:sp>
        <p:nvSpPr>
          <p:cNvPr id="6" name="독립 조사일 때의 설계 예 · 병렬 이득·시간 단축은 미측정 · 조정·중복·전달·통합 비용을 함께 판단">
            <a:extLst xmlns:a="http://schemas.openxmlformats.org/drawingml/2006/main">
              <a:ext uri="{FF2B5EF4-FFF2-40B4-BE49-F238E27FC236}">
                <a16:creationId xmlns:a16="http://schemas.microsoft.com/office/drawing/2014/main" id="{1D2A71D4-C5AF-4E6C-9C3D-28B79D8F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독립 조사일 때의 설계 예 · 병렬 이득·시간 단축은 미측정 · 조정·중복·전달·통합 비용을 함께 판단</a:t>
            </a:r>
          </a:p>
        </p:txBody>
      </p:sp>
      <p:sp>
        <p:nvSpPr>
          <p:cNvPr id="7" name="한 Agent에 모인 조사 중, 서로 기다리지 않아도 되는 부분은?">
            <a:extLst xmlns:a="http://schemas.openxmlformats.org/drawingml/2006/main">
              <a:ext uri="{FF2B5EF4-FFF2-40B4-BE49-F238E27FC236}">
                <a16:creationId xmlns:a16="http://schemas.microsoft.com/office/drawing/2014/main" id="{D2B6F3C2-C170-44BF-93E4-358AF236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한 Agent에 모인 조사 중, 서로 기다리지 않아도 되는 부분은?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CF8DD8-82C5-4648-A1F6-FD757D1F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성능 경로 조사">
            <a:extLst xmlns:a="http://schemas.openxmlformats.org/drawingml/2006/main">
              <a:ext uri="{FF2B5EF4-FFF2-40B4-BE49-F238E27FC236}">
                <a16:creationId xmlns:a16="http://schemas.microsoft.com/office/drawing/2014/main" id="{39B437EA-106C-45E2-AE57-80CABA49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경로 조사</a:t>
            </a:r>
          </a:p>
        </p:txBody>
      </p:sp>
      <p:sp>
        <p:nvSpPr>
          <p:cNvPr id="10" name="느린 경로와 측정 근거&#10;필요한 소스·명세">
            <a:extLst xmlns:a="http://schemas.openxmlformats.org/drawingml/2006/main">
              <a:ext uri="{FF2B5EF4-FFF2-40B4-BE49-F238E27FC236}">
                <a16:creationId xmlns:a16="http://schemas.microsoft.com/office/drawing/2014/main" id="{A80E4CF5-2100-4D3A-B38A-C43AAF1A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느린 경로와 측정 근거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소스·명세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38CB80-CDE4-40D7-A919-DE838BF6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빌드 환경 조사">
            <a:extLst xmlns:a="http://schemas.openxmlformats.org/drawingml/2006/main">
              <a:ext uri="{FF2B5EF4-FFF2-40B4-BE49-F238E27FC236}">
                <a16:creationId xmlns:a16="http://schemas.microsoft.com/office/drawing/2014/main" id="{C96A019B-96D7-4209-B737-8FBDE211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빌드 환경 조사</a:t>
            </a:r>
          </a:p>
        </p:txBody>
      </p:sp>
      <p:sp>
        <p:nvSpPr>
          <p:cNvPr id="13" name="재현 조건과 빌드 설정&#10;필요한 환경 문서">
            <a:extLst xmlns:a="http://schemas.openxmlformats.org/drawingml/2006/main">
              <a:ext uri="{FF2B5EF4-FFF2-40B4-BE49-F238E27FC236}">
                <a16:creationId xmlns:a16="http://schemas.microsoft.com/office/drawing/2014/main" id="{B6390F64-3A74-47E8-A9F1-3A15B2D8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조건과 빌드 설정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환경 문서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C63CF-BD0E-4168-B8DA-F435A0A0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테스트 구조 조사">
            <a:extLst xmlns:a="http://schemas.openxmlformats.org/drawingml/2006/main">
              <a:ext uri="{FF2B5EF4-FFF2-40B4-BE49-F238E27FC236}">
                <a16:creationId xmlns:a16="http://schemas.microsoft.com/office/drawing/2014/main" id="{A40A70D6-1421-4FF5-9554-7CF612DA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 조사</a:t>
            </a:r>
          </a:p>
        </p:txBody>
      </p:sp>
      <p:sp>
        <p:nvSpPr>
          <p:cNvPr id="16" name="확인 범위와 회귀 위험&#10;필요한 테스트·명세">
            <a:extLst xmlns:a="http://schemas.openxmlformats.org/drawingml/2006/main">
              <a:ext uri="{FF2B5EF4-FFF2-40B4-BE49-F238E27FC236}">
                <a16:creationId xmlns:a16="http://schemas.microsoft.com/office/drawing/2014/main" id="{9DEE0088-DCDC-4138-9825-859954C2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범위와 회귀 위험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테스트·명세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76B725-EA72-4146-AFD5-72EEA016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E18DF3-250E-4BAC-A1C3-698BCB77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F79D8E-6C63-4FB1-83CB-98F01E7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FBBBDE-65FD-438E-A25F-327009F6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109728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주 Agent가 합친다: 결과 형식 · 전달 지점 · 최종 검토 책임">
            <a:extLst xmlns:a="http://schemas.openxmlformats.org/drawingml/2006/main">
              <a:ext uri="{FF2B5EF4-FFF2-40B4-BE49-F238E27FC236}">
                <a16:creationId xmlns:a16="http://schemas.microsoft.com/office/drawing/2014/main" id="{3E1E1BE3-3AE2-462C-B82E-3F7076F8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 Agent가 합친다: 결과 형식 · 전달 지점 · 최종 검토 책임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BF4DB6C-DBF2-4262-94A8-BEC5C52F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2402976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실제 사례에 Subagent 선택 기준을 적용">
            <a:extLst xmlns:a="http://schemas.openxmlformats.org/drawingml/2006/main">
              <a:ext uri="{FF2B5EF4-FFF2-40B4-BE49-F238E27FC236}">
                <a16:creationId xmlns:a16="http://schemas.microsoft.com/office/drawing/2014/main" id="{7FCCC351-67CF-45DE-B9FD-9A7B70E1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실제 사례에 Subagent 선택 기준을 적용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BF60619B-E1A5-48A5-A736-FF4821ED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이번 작업은 나눌 근거가 충분했을까?">
            <a:extLst xmlns:a="http://schemas.openxmlformats.org/drawingml/2006/main">
              <a:ext uri="{FF2B5EF4-FFF2-40B4-BE49-F238E27FC236}">
                <a16:creationId xmlns:a16="http://schemas.microsoft.com/office/drawing/2014/main" id="{F2E551A3-9049-4041-B04D-FE65D7C0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작업은 나눌 근거가 충분했을까?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23BC5-2974-4545-8D62-BD84C57D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현재 성능 작업의 의존성과 Context를 검토한 판단 · Subagent Trial 없">
            <a:extLst xmlns:a="http://schemas.openxmlformats.org/drawingml/2006/main">
              <a:ext uri="{FF2B5EF4-FFF2-40B4-BE49-F238E27FC236}">
                <a16:creationId xmlns:a16="http://schemas.microsoft.com/office/drawing/2014/main" id="{CEB3EE96-C0AA-4FB7-A8ED-4176D2D1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현재 성능 작업의 의존성과 Context를 검토한 판단 · Subagent Trial 없음</a:t>
            </a:r>
          </a:p>
        </p:txBody>
      </p:sp>
      <p:sp>
        <p:nvSpPr>
          <p:cNvPr id="6" name="이 사례에서는 추가하지 않음 · 일반적으로 불필요하다는 결론이나 기능 제한 주장이 아님">
            <a:extLst xmlns:a="http://schemas.openxmlformats.org/drawingml/2006/main">
              <a:ext uri="{FF2B5EF4-FFF2-40B4-BE49-F238E27FC236}">
                <a16:creationId xmlns:a16="http://schemas.microsoft.com/office/drawing/2014/main" id="{E94C565A-A283-46AC-BE75-CE1A24BF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사례에서는 추가하지 않음 · 일반적으로 불필요하다는 결론이나 기능 제한 주장이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09E75-F899-41E6-A308-9AB1DBA3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조사">
            <a:extLst xmlns:a="http://schemas.openxmlformats.org/drawingml/2006/main">
              <a:ext uri="{FF2B5EF4-FFF2-40B4-BE49-F238E27FC236}">
                <a16:creationId xmlns:a16="http://schemas.microsoft.com/office/drawing/2014/main" id="{5ABAF5C3-C056-4D8C-A9E2-EC81923F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9" name="같은 성능 경로와&#10;명세를 확인">
            <a:extLst xmlns:a="http://schemas.openxmlformats.org/drawingml/2006/main">
              <a:ext uri="{FF2B5EF4-FFF2-40B4-BE49-F238E27FC236}">
                <a16:creationId xmlns:a16="http://schemas.microsoft.com/office/drawing/2014/main" id="{0902AF0E-1511-4F7F-A86C-2B9D580D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성능 경로와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명세를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43A8E9-9125-4302-A529-A789BA4A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962275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06C79-349D-400B-9759-CE12DDB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변경">
            <a:extLst xmlns:a="http://schemas.openxmlformats.org/drawingml/2006/main">
              <a:ext uri="{FF2B5EF4-FFF2-40B4-BE49-F238E27FC236}">
                <a16:creationId xmlns:a16="http://schemas.microsoft.com/office/drawing/2014/main" id="{B67CF94F-FF67-42E8-BF8B-3B174D21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</a:t>
            </a:r>
          </a:p>
        </p:txBody>
      </p:sp>
      <p:sp>
        <p:nvSpPr>
          <p:cNvPr id="13" name="조사 결과에 따라&#10;변경 후보를 선택">
            <a:extLst xmlns:a="http://schemas.openxmlformats.org/drawingml/2006/main">
              <a:ext uri="{FF2B5EF4-FFF2-40B4-BE49-F238E27FC236}">
                <a16:creationId xmlns:a16="http://schemas.microsoft.com/office/drawing/2014/main" id="{3C42D13F-9823-4054-A5A9-8999DE50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결과에 따라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후보를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75D310-55D2-4EBB-9CAA-BF57CDC4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962275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908B4-A12E-4DD7-A81B-A27C58E1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28BD9B03-C62E-4393-886F-9592D0ED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변경 결과를&#10;같은 조건에서 확인">
            <a:extLst xmlns:a="http://schemas.openxmlformats.org/drawingml/2006/main">
              <a:ext uri="{FF2B5EF4-FFF2-40B4-BE49-F238E27FC236}">
                <a16:creationId xmlns:a16="http://schemas.microsoft.com/office/drawing/2014/main" id="{4D275574-339F-40C2-AEF5-C0E8A77C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조건에서 확인</a:t>
            </a:r>
          </a:p>
        </p:txBody>
      </p:sp>
      <p:sp>
        <p:nvSpPr>
          <p:cNvPr id="18" name="작업 독립성 낮음 · 별도 Context 이득 제한 · 결과 통합 비용 존재">
            <a:extLst xmlns:a="http://schemas.openxmlformats.org/drawingml/2006/main">
              <a:ext uri="{FF2B5EF4-FFF2-40B4-BE49-F238E27FC236}">
                <a16:creationId xmlns:a16="http://schemas.microsoft.com/office/drawing/2014/main" id="{99D4C901-34F4-4C0A-A07D-C32C007A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독립성 낮음 · 별도 Context 이득 제한 · 결과 통합 비용 존재</a:t>
            </a:r>
          </a:p>
        </p:txBody>
      </p:sp>
      <p:sp>
        <p:nvSpPr>
          <p:cNvPr id="19" name="현재 사례: Agent를 더 나누지 않았다">
            <a:extLst xmlns:a="http://schemas.openxmlformats.org/drawingml/2006/main">
              <a:ext uri="{FF2B5EF4-FFF2-40B4-BE49-F238E27FC236}">
                <a16:creationId xmlns:a16="http://schemas.microsoft.com/office/drawing/2014/main" id="{EA1E65AF-3FB3-4618-927B-965D1B9C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사례: Agent를 더 나누지 않았다</a:t>
            </a:r>
          </a:p>
        </p:txBody>
      </p:sp>
      <p:sp>
        <p:nvSpPr>
          <p:cNvPr id="20" name="판단 기준: 독립성 · 필요한 Context · 전달 형식 · 통합 책임">
            <a:extLst xmlns:a="http://schemas.openxmlformats.org/drawingml/2006/main">
              <a:ext uri="{FF2B5EF4-FFF2-40B4-BE49-F238E27FC236}">
                <a16:creationId xmlns:a16="http://schemas.microsoft.com/office/drawing/2014/main" id="{EE7BA924-AD6B-4B43-99D0-D056A0E3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판단 기준: 독립성 · 필요한 Context · 전달 형식 · 통합 책임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79ED213-A42D-4F72-977B-A076CF4D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324126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Memory가 해결할 문제부터 보기">
            <a:extLst xmlns:a="http://schemas.openxmlformats.org/drawingml/2006/main">
              <a:ext uri="{FF2B5EF4-FFF2-40B4-BE49-F238E27FC236}">
                <a16:creationId xmlns:a16="http://schemas.microsoft.com/office/drawing/2014/main" id="{639AFC53-06EB-4C7D-A110-283FCB96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Memory가 해결할 문제부터 보기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926CCE1B-1509-4845-BDE7-8FAD2A13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다음 작업에서도 다시 찾을 지식인가?">
            <a:extLst xmlns:a="http://schemas.openxmlformats.org/drawingml/2006/main">
              <a:ext uri="{FF2B5EF4-FFF2-40B4-BE49-F238E27FC236}">
                <a16:creationId xmlns:a16="http://schemas.microsoft.com/office/drawing/2014/main" id="{42B77E19-7FF9-48D7-B775-42B18BB3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작업에서도 다시 찾을 지식인가?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98B70-FDD4-4EBD-9677-300794A8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CONCEPTUAL · 작업 간 지식 재사용 가정 · 실제 재발견 기록·제품 Memory 구현 아님">
            <a:extLst xmlns:a="http://schemas.openxmlformats.org/drawingml/2006/main">
              <a:ext uri="{FF2B5EF4-FFF2-40B4-BE49-F238E27FC236}">
                <a16:creationId xmlns:a16="http://schemas.microsoft.com/office/drawing/2014/main" id="{F4171D9A-AE15-4E73-9C54-BE2001E4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CONCEPTUAL · 작업 간 지식 재사용 가정 · 실제 재발견 기록·제품 Memory 구현 아님</a:t>
            </a:r>
          </a:p>
        </p:txBody>
      </p:sp>
      <p:sp>
        <p:nvSpPr>
          <p:cNvPr id="6" name="Context: 지금 필요한 정보 / Memory: 다음 작업에도 남길지 판단할 지식 · 자동 저장·정확성 ">
            <a:extLst xmlns:a="http://schemas.openxmlformats.org/drawingml/2006/main">
              <a:ext uri="{FF2B5EF4-FFF2-40B4-BE49-F238E27FC236}">
                <a16:creationId xmlns:a16="http://schemas.microsoft.com/office/drawing/2014/main" id="{385585D7-440F-43E6-8CA6-53440C3C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Context: 지금 필요한 정보 / Memory: 다음 작업에도 남길지 판단할 지식 · 자동 저장·정확성 보장 없음</a:t>
            </a:r>
          </a:p>
        </p:txBody>
      </p:sp>
      <p:sp>
        <p:nvSpPr>
          <p:cNvPr id="7" name="조사로 얻은 지식이 다음 작업에도 필요하다면?">
            <a:extLst xmlns:a="http://schemas.openxmlformats.org/drawingml/2006/main">
              <a:ext uri="{FF2B5EF4-FFF2-40B4-BE49-F238E27FC236}">
                <a16:creationId xmlns:a16="http://schemas.microsoft.com/office/drawing/2014/main" id="{348D6C2F-14B0-4D3B-805D-239829AC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조사로 얻은 지식이 다음 작업에도 필요하다면?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67BF2-660A-420E-B78B-82E719DD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3086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Task A · 조사">
            <a:extLst xmlns:a="http://schemas.openxmlformats.org/drawingml/2006/main">
              <a:ext uri="{FF2B5EF4-FFF2-40B4-BE49-F238E27FC236}">
                <a16:creationId xmlns:a16="http://schemas.microsoft.com/office/drawing/2014/main" id="{0122F269-C23D-4CF7-8406-9EC3BC50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812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 · 조사</a:t>
            </a:r>
          </a:p>
        </p:txBody>
      </p:sp>
      <p:sp>
        <p:nvSpPr>
          <p:cNvPr id="10" name="재현 조건이나&#10;주의점을 확인&#10;(교육용 가정)">
            <a:extLst xmlns:a="http://schemas.openxmlformats.org/drawingml/2006/main">
              <a:ext uri="{FF2B5EF4-FFF2-40B4-BE49-F238E27FC236}">
                <a16:creationId xmlns:a16="http://schemas.microsoft.com/office/drawing/2014/main" id="{690FE92B-7BB4-40DD-BBCE-D2158CDD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7432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조건이나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주의점을 확인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(교육용 가정)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DB622-FEE5-4272-B8C8-56428337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43275"/>
            <a:ext cx="3048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4C50C5-F61B-4B01-8896-C4F61CE4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66975"/>
            <a:ext cx="33528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보존할 가치 판단">
            <a:extLst xmlns:a="http://schemas.openxmlformats.org/drawingml/2006/main">
              <a:ext uri="{FF2B5EF4-FFF2-40B4-BE49-F238E27FC236}">
                <a16:creationId xmlns:a16="http://schemas.microsoft.com/office/drawing/2014/main" id="{FB2E3F08-6FFE-4CB7-8381-0121AD0E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812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보존할 가치 판단</a:t>
            </a:r>
          </a:p>
        </p:txBody>
      </p:sp>
      <p:sp>
        <p:nvSpPr>
          <p:cNvPr id="14" name="내용 · 출처 · 적용 범위&#10;다시 확인할 조건">
            <a:extLst xmlns:a="http://schemas.openxmlformats.org/drawingml/2006/main">
              <a:ext uri="{FF2B5EF4-FFF2-40B4-BE49-F238E27FC236}">
                <a16:creationId xmlns:a16="http://schemas.microsoft.com/office/drawing/2014/main" id="{6B234F0D-93CB-4CBC-A442-7A5A976B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30099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내용 · 출처 · 적용 범위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확인할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E45CB-52ED-49EB-8CFF-68CBDB40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43275"/>
            <a:ext cx="3048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BFDAFD-9522-4DED-9752-14DE4054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66975"/>
            <a:ext cx="3086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Task B · 다시 사용">
            <a:extLst xmlns:a="http://schemas.openxmlformats.org/drawingml/2006/main">
              <a:ext uri="{FF2B5EF4-FFF2-40B4-BE49-F238E27FC236}">
                <a16:creationId xmlns:a16="http://schemas.microsoft.com/office/drawing/2014/main" id="{91033294-62CE-41ED-8AE7-6CF4CFA4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812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 · 다시 사용</a:t>
            </a:r>
          </a:p>
        </p:txBody>
      </p:sp>
      <p:sp>
        <p:nvSpPr>
          <p:cNvPr id="18" name="현재 명세와 대조한 뒤&#10;관련 지식만 참고">
            <a:extLst xmlns:a="http://schemas.openxmlformats.org/drawingml/2006/main">
              <a:ext uri="{FF2B5EF4-FFF2-40B4-BE49-F238E27FC236}">
                <a16:creationId xmlns:a16="http://schemas.microsoft.com/office/drawing/2014/main" id="{F81FAB76-377C-4E14-9B49-035CCEA3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05150"/>
            <a:ext cx="27432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명세와 대조한 뒤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지식만 참고</a:t>
            </a:r>
          </a:p>
        </p:txBody>
      </p:sp>
      <p:sp>
        <p:nvSpPr>
          <p:cNvPr id="19" name="원래 문서에 있으면 그 출처를 참조한다">
            <a:extLst xmlns:a="http://schemas.openxmlformats.org/drawingml/2006/main">
              <a:ext uri="{FF2B5EF4-FFF2-40B4-BE49-F238E27FC236}">
                <a16:creationId xmlns:a16="http://schemas.microsoft.com/office/drawing/2014/main" id="{8AB84FFF-8194-48C4-8F62-A0094559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원래 문서에 있으면 그 출처를 참조한다</a:t>
            </a:r>
          </a:p>
        </p:txBody>
      </p:sp>
      <p:sp>
        <p:nvSpPr>
          <p:cNvPr id="20" name="다음 장에서, 현재 Demo에 별도 보존 후보가 있었는지 판단한다">
            <a:extLst xmlns:a="http://schemas.openxmlformats.org/drawingml/2006/main">
              <a:ext uri="{FF2B5EF4-FFF2-40B4-BE49-F238E27FC236}">
                <a16:creationId xmlns:a16="http://schemas.microsoft.com/office/drawing/2014/main" id="{AA411967-A18E-4B4C-86D2-34809276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장에서, 현재 Demo에 별도 보존 후보가 있었는지 판단한다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13AD6E7-4F56-4F4C-BB6B-E0E64D4B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860426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T 3 · Memory의 기준과 현재 사례의 선택">
            <a:extLst xmlns:a="http://schemas.openxmlformats.org/drawingml/2006/main">
              <a:ext uri="{FF2B5EF4-FFF2-40B4-BE49-F238E27FC236}">
                <a16:creationId xmlns:a16="http://schemas.microsoft.com/office/drawing/2014/main" id="{CBD2D2A7-37BB-4441-978E-EA9EFFB2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Memory의 기준과 현재 사례의 선택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B4B628BC-2E35-4E95-9EBA-1F4DE1C1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남길지, 원래 출처를 참조할지 판단한다">
            <a:extLst xmlns:a="http://schemas.openxmlformats.org/drawingml/2006/main">
              <a:ext uri="{FF2B5EF4-FFF2-40B4-BE49-F238E27FC236}">
                <a16:creationId xmlns:a16="http://schemas.microsoft.com/office/drawing/2014/main" id="{4DC611E0-BC9A-430B-BB29-D3824262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남길지, 원래 출처를 참조할지 판단한다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AAB39-45D3-4B93-B80E-280672F7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Demo 지식 출처 점검 + 교육용 보존 기준 · 제품 Memory 기능에 대한 관찰 아">
            <a:extLst xmlns:a="http://schemas.openxmlformats.org/drawingml/2006/main">
              <a:ext uri="{FF2B5EF4-FFF2-40B4-BE49-F238E27FC236}">
                <a16:creationId xmlns:a16="http://schemas.microsoft.com/office/drawing/2014/main" id="{62D23688-7DF2-44A1-8C8B-3CEF39CC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Demo 지식 출처 점검 + 교육용 보존 기준 · 제품 Memory 기능에 대한 관찰 아님</a:t>
            </a:r>
          </a:p>
        </p:txBody>
      </p:sp>
      <p:sp>
        <p:nvSpPr>
          <p:cNvPr id="6" name="현재 별도 Memory 후보 없음 · 다음 작업 재사용이 기준이며 프로젝트 사이 재사용이 필수는 아님">
            <a:extLst xmlns:a="http://schemas.openxmlformats.org/drawingml/2006/main">
              <a:ext uri="{FF2B5EF4-FFF2-40B4-BE49-F238E27FC236}">
                <a16:creationId xmlns:a16="http://schemas.microsoft.com/office/drawing/2014/main" id="{0F937CAD-488A-4580-9EDA-E771119E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별도 Memory 후보 없음 · 다음 작업 재사용이 기준이며 프로젝트 사이 재사용이 필수는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2193D-4CF6-47CB-B601-187207A8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재발견 비용">
            <a:extLst xmlns:a="http://schemas.openxmlformats.org/drawingml/2006/main">
              <a:ext uri="{FF2B5EF4-FFF2-40B4-BE49-F238E27FC236}">
                <a16:creationId xmlns:a16="http://schemas.microsoft.com/office/drawing/2014/main" id="{A2DC0089-71B3-439A-A65D-3431FE58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재발견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34791C-8568-4ECC-AC49-88EB987E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다음 작업 재사용">
            <a:extLst xmlns:a="http://schemas.openxmlformats.org/drawingml/2006/main">
              <a:ext uri="{FF2B5EF4-FFF2-40B4-BE49-F238E27FC236}">
                <a16:creationId xmlns:a16="http://schemas.microsoft.com/office/drawing/2014/main" id="{F5E32799-CAC3-4FBC-82FF-797A4D3C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6C034-5FD9-4B3E-803F-50B64DEC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출처·적용 범위">
            <a:extLst xmlns:a="http://schemas.openxmlformats.org/drawingml/2006/main">
              <a:ext uri="{FF2B5EF4-FFF2-40B4-BE49-F238E27FC236}">
                <a16:creationId xmlns:a16="http://schemas.microsoft.com/office/drawing/2014/main" id="{7E051F53-CDB8-4CC8-87E3-47980E79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출처·적용 범위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08AD71-AAF4-42BD-86EF-28664103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갱신·무효화 조건">
            <a:extLst xmlns:a="http://schemas.openxmlformats.org/drawingml/2006/main">
              <a:ext uri="{FF2B5EF4-FFF2-40B4-BE49-F238E27FC236}">
                <a16:creationId xmlns:a16="http://schemas.microsoft.com/office/drawing/2014/main" id="{9A6187E7-25AF-44BE-89AB-BD7B1C5A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갱신·무효화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2BDBD-EA95-4C08-A317-A6210004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rop의 끝 좌표 제외">
            <a:extLst xmlns:a="http://schemas.openxmlformats.org/drawingml/2006/main">
              <a:ext uri="{FF2B5EF4-FFF2-40B4-BE49-F238E27FC236}">
                <a16:creationId xmlns:a16="http://schemas.microsoft.com/office/drawing/2014/main" id="{4B0A557B-164D-4954-990D-03A52409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crop의 끝 좌표 제외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3A217-E97B-4A44-8A49-65EBEB66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9560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코드 · 이미지 명세 문서">
            <a:extLst xmlns:a="http://schemas.openxmlformats.org/drawingml/2006/main">
              <a:ext uri="{FF2B5EF4-FFF2-40B4-BE49-F238E27FC236}">
                <a16:creationId xmlns:a16="http://schemas.microsoft.com/office/drawing/2014/main" id="{711D4879-BDC0-413E-B19F-C5DD68E4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코드 · 이미지 명세 문서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ECE86A-48A2-47BE-9FA1-4C9DC32A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모듈이 이어지는 순서">
            <a:extLst xmlns:a="http://schemas.openxmlformats.org/drawingml/2006/main">
              <a:ext uri="{FF2B5EF4-FFF2-40B4-BE49-F238E27FC236}">
                <a16:creationId xmlns:a16="http://schemas.microsoft.com/office/drawing/2014/main" id="{A58244EE-4C93-44B5-87BB-B038EB4C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모듈이 이어지는 순서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BBBCBA-4551-4B42-9FEE-B749327B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4575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2AA4C8C7-5B58-45CE-94AC-83741A91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43275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0C764-9D80-47A4-875E-E5A20EF3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성능 조사·검증 방법">
            <a:extLst xmlns:a="http://schemas.openxmlformats.org/drawingml/2006/main">
              <a:ext uri="{FF2B5EF4-FFF2-40B4-BE49-F238E27FC236}">
                <a16:creationId xmlns:a16="http://schemas.microsoft.com/office/drawing/2014/main" id="{4400AB6C-AEFD-48A8-9157-FF0D67AF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조사·검증 방법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51144F-9C1C-4645-B5D7-3EC4B8CE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01955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6" name="Repository Skill">
            <a:extLst xmlns:a="http://schemas.openxmlformats.org/drawingml/2006/main">
              <a:ext uri="{FF2B5EF4-FFF2-40B4-BE49-F238E27FC236}">
                <a16:creationId xmlns:a16="http://schemas.microsoft.com/office/drawing/2014/main" id="{E68ED11B-E026-461A-B0DC-5797F5C3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 Skill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A422CE-91CC-4F33-9D20-D148BF70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이번 실행의 측정값">
            <a:extLst xmlns:a="http://schemas.openxmlformats.org/drawingml/2006/main">
              <a:ext uri="{FF2B5EF4-FFF2-40B4-BE49-F238E27FC236}">
                <a16:creationId xmlns:a16="http://schemas.microsoft.com/office/drawing/2014/main" id="{6E60A9BE-1D76-4182-8FE8-5E5FBE7E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실행의 측정값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6547E2-1B9E-4DED-A996-A6B357AE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58152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날짜가 있는 Trial 기록 · Git 이력">
            <a:extLst xmlns:a="http://schemas.openxmlformats.org/drawingml/2006/main">
              <a:ext uri="{FF2B5EF4-FFF2-40B4-BE49-F238E27FC236}">
                <a16:creationId xmlns:a16="http://schemas.microsoft.com/office/drawing/2014/main" id="{DE4B7662-9044-4A49-A225-5A0E73DA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67225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날짜가 있는 Trial 기록 · Git 이력</a:t>
            </a:r>
          </a:p>
        </p:txBody>
      </p:sp>
      <p:sp>
        <p:nvSpPr>
          <p:cNvPr id="31" name="이번 사례: 원래 출처를 유지하고, 별도 Memory는 추가하지 않았다">
            <a:extLst xmlns:a="http://schemas.openxmlformats.org/drawingml/2006/main">
              <a:ext uri="{FF2B5EF4-FFF2-40B4-BE49-F238E27FC236}">
                <a16:creationId xmlns:a16="http://schemas.microsoft.com/office/drawing/2014/main" id="{792B9C64-E307-4E0A-84B4-49BFF355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사례: 원래 출처를 유지하고, 별도 Memory는 추가하지 않았다</a:t>
            </a:r>
          </a:p>
        </p:txBody>
      </p:sp>
      <p:sp>
        <p:nvSpPr>
          <p:cNvPr id="3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80D15C5-504A-4FEC-866A-A0ED1B3C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2889697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3 · Minimum Effective Harness의 근거를 회수">
            <a:extLst xmlns:a="http://schemas.openxmlformats.org/drawingml/2006/main">
              <a:ext uri="{FF2B5EF4-FFF2-40B4-BE49-F238E27FC236}">
                <a16:creationId xmlns:a16="http://schemas.microsoft.com/office/drawing/2014/main" id="{FDAC321F-54F0-4DD2-A547-6E2CB010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Minimum Effective Harness의 근거를 회수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77FF3F33-016E-438E-A700-3DD388BF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이번 사례에서 실제로 사용한 구조">
            <a:extLst xmlns:a="http://schemas.openxmlformats.org/drawingml/2006/main">
              <a:ext uri="{FF2B5EF4-FFF2-40B4-BE49-F238E27FC236}">
                <a16:creationId xmlns:a16="http://schemas.microsoft.com/office/drawing/2014/main" id="{85857552-64CA-49E0-8EC6-26CAA423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사례에서 실제로 사용한 구조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72BC8-CA6B-40A9-BF3E-7A07F010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까지의 구성 점검 · 보존된 기록과 교육용 책임 구분을 연결">
            <a:extLst xmlns:a="http://schemas.openxmlformats.org/drawingml/2006/main">
              <a:ext uri="{FF2B5EF4-FFF2-40B4-BE49-F238E27FC236}">
                <a16:creationId xmlns:a16="http://schemas.microsoft.com/office/drawing/2014/main" id="{B582C6F5-AEFF-4BBF-AF3A-029F6FAA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STATE-04-PERF까지의 구성 점검 · 보존된 기록과 교육용 책임 구분을 연결</a:t>
            </a:r>
          </a:p>
        </p:txBody>
      </p:sp>
      <p:sp>
        <p:nvSpPr>
          <p:cNvPr id="6" name="Subagent·별도 Memory는 추가하지 않음 · 보편적 최적 구성이나 기능 수 우위에 대한 주장이 아님">
            <a:extLst xmlns:a="http://schemas.openxmlformats.org/drawingml/2006/main">
              <a:ext uri="{FF2B5EF4-FFF2-40B4-BE49-F238E27FC236}">
                <a16:creationId xmlns:a16="http://schemas.microsoft.com/office/drawing/2014/main" id="{E8BC0BDE-4519-4CE7-A007-70840137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Subagent·별도 Memory는 추가하지 않음 · 보편적 최적 구성이나 기능 수 우위에 대한 주장이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C0CED-6038-407D-884C-D471FA0F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현재 목표·범위">
            <a:extLst xmlns:a="http://schemas.openxmlformats.org/drawingml/2006/main">
              <a:ext uri="{FF2B5EF4-FFF2-40B4-BE49-F238E27FC236}">
                <a16:creationId xmlns:a16="http://schemas.microsoft.com/office/drawing/2014/main" id="{ED13A705-7AFE-4346-8EA1-AB59EC6D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목표·범위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762AB-69AF-497D-810D-5032786D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19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밝기 통계 조사 요청">
            <a:extLst xmlns:a="http://schemas.openxmlformats.org/drawingml/2006/main">
              <a:ext uri="{FF2B5EF4-FFF2-40B4-BE49-F238E27FC236}">
                <a16:creationId xmlns:a16="http://schemas.microsoft.com/office/drawing/2014/main" id="{D1BCD003-77E1-40AC-8EEB-9BAF25BA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조사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0BBB60-F97E-4396-898C-8FC296A0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참고할 명세·안내">
            <a:extLst xmlns:a="http://schemas.openxmlformats.org/drawingml/2006/main">
              <a:ext uri="{FF2B5EF4-FFF2-40B4-BE49-F238E27FC236}">
                <a16:creationId xmlns:a16="http://schemas.microsoft.com/office/drawing/2014/main" id="{D58CBB43-E83C-4027-ADB0-ABC5A5DA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참고할 명세·안내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919AD3-C396-4837-8A19-747D7237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81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AGENTS.md + 상세 문서">
            <a:extLst xmlns:a="http://schemas.openxmlformats.org/drawingml/2006/main">
              <a:ext uri="{FF2B5EF4-FFF2-40B4-BE49-F238E27FC236}">
                <a16:creationId xmlns:a16="http://schemas.microsoft.com/office/drawing/2014/main" id="{B9F545ED-62B2-4793-9648-338A9B50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AGENTS.md + 상세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B4CE5-4F94-4D2F-AEE4-A2B1067D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다시 쓸 수행 방법">
            <a:extLst xmlns:a="http://schemas.openxmlformats.org/drawingml/2006/main">
              <a:ext uri="{FF2B5EF4-FFF2-40B4-BE49-F238E27FC236}">
                <a16:creationId xmlns:a16="http://schemas.microsoft.com/office/drawing/2014/main" id="{E6159CED-680B-4B7C-8E3F-CDD0A3CF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쓸 수행 방법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43A22C-5B08-40B6-872A-8E4CE6C2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943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graypipe-performance Skill">
            <a:extLst xmlns:a="http://schemas.openxmlformats.org/drawingml/2006/main">
              <a:ext uri="{FF2B5EF4-FFF2-40B4-BE49-F238E27FC236}">
                <a16:creationId xmlns:a16="http://schemas.microsoft.com/office/drawing/2014/main" id="{92743A64-E90B-4AEE-A341-BD6D9A1B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0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graypipe-performance 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0EB059-BA53-471D-9CA4-6AB88A0D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변경을 판단할 근거">
            <a:extLst xmlns:a="http://schemas.openxmlformats.org/drawingml/2006/main">
              <a:ext uri="{FF2B5EF4-FFF2-40B4-BE49-F238E27FC236}">
                <a16:creationId xmlns:a16="http://schemas.microsoft.com/office/drawing/2014/main" id="{030EE1C8-7478-4091-A0B2-984AACA0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변경을 판단할 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CEBCA1-7AA8-4E77-B524-4E67B096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05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테스트 + benchmark + 실행 환경">
            <a:extLst xmlns:a="http://schemas.openxmlformats.org/drawingml/2006/main">
              <a:ext uri="{FF2B5EF4-FFF2-40B4-BE49-F238E27FC236}">
                <a16:creationId xmlns:a16="http://schemas.microsoft.com/office/drawing/2014/main" id="{B54CB8D3-E982-4993-BA3E-E44CA3D2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72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+ benchmark + 실행 환경</a:t>
            </a:r>
          </a:p>
        </p:txBody>
      </p:sp>
      <p:sp>
        <p:nvSpPr>
          <p:cNvPr id="23" name="현재 문제와 확인 요구에 맞춰 구성한 작업 환경">
            <a:extLst xmlns:a="http://schemas.openxmlformats.org/drawingml/2006/main">
              <a:ext uri="{FF2B5EF4-FFF2-40B4-BE49-F238E27FC236}">
                <a16:creationId xmlns:a16="http://schemas.microsoft.com/office/drawing/2014/main" id="{CF10C578-6468-42B5-A66C-D121F592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문제와 확인 요구에 맞춰 구성한 작업 환경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1637798-DE8B-492B-9F11-06AB760F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8737504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작업 방법과 실행·검증 환경을 하나로 연결">
            <a:extLst xmlns:a="http://schemas.openxmlformats.org/drawingml/2006/main">
              <a:ext uri="{FF2B5EF4-FFF2-40B4-BE49-F238E27FC236}">
                <a16:creationId xmlns:a16="http://schemas.microsoft.com/office/drawing/2014/main" id="{B2EE2B84-F635-44E8-96A3-2B3E8904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작업 방법과 실행·검증 환경을 하나로 연결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D1660246-FD24-4F3F-B16A-7E25DEB6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이 구성이 함께 작동하는 것이 Harness다">
            <a:extLst xmlns:a="http://schemas.openxmlformats.org/drawingml/2006/main">
              <a:ext uri="{FF2B5EF4-FFF2-40B4-BE49-F238E27FC236}">
                <a16:creationId xmlns:a16="http://schemas.microsoft.com/office/drawing/2014/main" id="{83529926-6F6C-4BD7-B1E2-F4047CCB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구성이 함께 작동하는 것이 Harness다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3B007-BF91-4168-AFA3-CF144596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Harness 운영 모델 · 아래 관찰 구성은 STATE-04-PERF까지의 제한된 사례">
            <a:extLst xmlns:a="http://schemas.openxmlformats.org/drawingml/2006/main">
              <a:ext uri="{FF2B5EF4-FFF2-40B4-BE49-F238E27FC236}">
                <a16:creationId xmlns:a16="http://schemas.microsoft.com/office/drawing/2014/main" id="{AB48471E-E0C1-4192-9851-3C930F15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Harness 운영 모델 · 아래 관찰 구성은 STATE-04-PERF까지의 제한된 사례</a:t>
            </a:r>
          </a:p>
        </p:txBody>
      </p:sp>
      <p:sp>
        <p:nvSpPr>
          <p:cNvPr id="6" name="공식 제품 분류·보편적 필수 목록이 아님 · 특정 구성요소의 단독 성능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66B32B1E-43F1-4C47-908A-410835C0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 제품 분류·보편적 필수 목록이 아님 · 특정 구성요소의 단독 성능 효과는 입증하지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588473-B81E-48F5-A1F1-37BE572C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3209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프로젝트 작업 환경">
            <a:extLst xmlns:a="http://schemas.openxmlformats.org/drawingml/2006/main">
              <a:ext uri="{FF2B5EF4-FFF2-40B4-BE49-F238E27FC236}">
                <a16:creationId xmlns:a16="http://schemas.microsoft.com/office/drawing/2014/main" id="{850E7A10-471B-45D1-8C56-CD1E9E46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10591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작업 환경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61B59F-6E93-42B0-8EFA-B5B97D2A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81275"/>
            <a:ext cx="26098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목표·허용 범위">
            <a:extLst xmlns:a="http://schemas.openxmlformats.org/drawingml/2006/main">
              <a:ext uri="{FF2B5EF4-FFF2-40B4-BE49-F238E27FC236}">
                <a16:creationId xmlns:a16="http://schemas.microsoft.com/office/drawing/2014/main" id="{4C6F11AB-F107-476A-BA5E-D5081F07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95575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목표·허용 범위</a:t>
            </a:r>
          </a:p>
        </p:txBody>
      </p:sp>
      <p:sp>
        <p:nvSpPr>
          <p:cNvPr id="11" name="개발자가 정한다">
            <a:extLst xmlns:a="http://schemas.openxmlformats.org/drawingml/2006/main">
              <a:ext uri="{FF2B5EF4-FFF2-40B4-BE49-F238E27FC236}">
                <a16:creationId xmlns:a16="http://schemas.microsoft.com/office/drawing/2014/main" id="{04FE4DB7-DEC0-4CDD-9B5A-1DBD3C7B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22669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3D061-0ACF-48FA-849C-31BE1448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076575"/>
            <a:ext cx="2762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C438D-FC69-4B6B-8A54-4C5D9494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81275"/>
            <a:ext cx="35909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gent의 수행 방법">
            <a:extLst xmlns:a="http://schemas.openxmlformats.org/drawingml/2006/main">
              <a:ext uri="{FF2B5EF4-FFF2-40B4-BE49-F238E27FC236}">
                <a16:creationId xmlns:a16="http://schemas.microsoft.com/office/drawing/2014/main" id="{81F7BA3F-4EAB-4C79-AF5E-3C2A794F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95575"/>
            <a:ext cx="3248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Agent의 수행 방법</a:t>
            </a:r>
          </a:p>
        </p:txBody>
      </p:sp>
      <p:sp>
        <p:nvSpPr>
          <p:cNvPr id="15" name="조사 → 판단 → 변경">
            <a:extLst xmlns:a="http://schemas.openxmlformats.org/drawingml/2006/main">
              <a:ext uri="{FF2B5EF4-FFF2-40B4-BE49-F238E27FC236}">
                <a16:creationId xmlns:a16="http://schemas.microsoft.com/office/drawing/2014/main" id="{8EC9FA5E-EAC5-41B5-9985-75D65BF8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19450"/>
            <a:ext cx="32480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→ 판단 → 변경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AC7A1-1D62-47BD-8E1A-16B95E39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76575"/>
            <a:ext cx="2762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96ED2D-6AB3-45C5-BFE7-39428167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81275"/>
            <a:ext cx="2943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완료 근거·검토">
            <a:extLst xmlns:a="http://schemas.openxmlformats.org/drawingml/2006/main">
              <a:ext uri="{FF2B5EF4-FFF2-40B4-BE49-F238E27FC236}">
                <a16:creationId xmlns:a16="http://schemas.microsoft.com/office/drawing/2014/main" id="{F667725B-AA1E-41D7-B22C-E3C2E800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695575"/>
            <a:ext cx="2600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근거·검토</a:t>
            </a:r>
          </a:p>
        </p:txBody>
      </p:sp>
      <p:sp>
        <p:nvSpPr>
          <p:cNvPr id="19" name="검증 결과를 확인">
            <a:extLst xmlns:a="http://schemas.openxmlformats.org/drawingml/2006/main">
              <a:ext uri="{FF2B5EF4-FFF2-40B4-BE49-F238E27FC236}">
                <a16:creationId xmlns:a16="http://schemas.microsoft.com/office/drawing/2014/main" id="{1E0E720A-765F-4159-A88A-0EFC24A3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219450"/>
            <a:ext cx="2600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결과를 확인</a:t>
            </a:r>
          </a:p>
        </p:txBody>
      </p:sp>
      <p:sp>
        <p:nvSpPr>
          <p:cNvPr id="20" name="Context·재사용 절차 + 실행 도구·입력·권한·측정 환경">
            <a:extLst xmlns:a="http://schemas.openxmlformats.org/drawingml/2006/main">
              <a:ext uri="{FF2B5EF4-FFF2-40B4-BE49-F238E27FC236}">
                <a16:creationId xmlns:a16="http://schemas.microsoft.com/office/drawing/2014/main" id="{04D83590-9585-4DB3-BA6F-32D16F64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1051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Context·재사용 절차 + 실행 도구·입력·권한·측정 환경</a:t>
            </a:r>
          </a:p>
        </p:txBody>
      </p:sp>
      <p:sp>
        <p:nvSpPr>
          <p:cNvPr id="21" name="관찰한 구성: AGENTS.md · docs · Skill · Tests · Benchmark">
            <a:extLst xmlns:a="http://schemas.openxmlformats.org/drawingml/2006/main">
              <a:ext uri="{FF2B5EF4-FFF2-40B4-BE49-F238E27FC236}">
                <a16:creationId xmlns:a16="http://schemas.microsoft.com/office/drawing/2014/main" id="{93B9CEA6-931F-455C-95CA-CD524FDC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관찰한 구성: AGENTS.md · docs · Skill · Tests · Benchmark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E7A1D82-95F9-4EF6-915E-B67F6166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2319563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결과를 해석할 환경을 함께 기록">
            <a:extLst xmlns:a="http://schemas.openxmlformats.org/drawingml/2006/main">
              <a:ext uri="{FF2B5EF4-FFF2-40B4-BE49-F238E27FC236}">
                <a16:creationId xmlns:a16="http://schemas.microsoft.com/office/drawing/2014/main" id="{503D2C48-0051-4754-81BD-5B94FC88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결과를 해석할 환경을 함께 기록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BA3F118A-AA1F-4C90-934A-99FA0859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같은 Repository라도 실행 조건은 다를 수 있다">
            <a:extLst xmlns:a="http://schemas.openxmlformats.org/drawingml/2006/main">
              <a:ext uri="{FF2B5EF4-FFF2-40B4-BE49-F238E27FC236}">
                <a16:creationId xmlns:a16="http://schemas.microsoft.com/office/drawing/2014/main" id="{D11C992C-865F-4A73-B8A6-E3BF75BA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Repository라도 실행 조건은 다를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D9985-E1F4-4158-9294-4A0AAF07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635AA4-90F0-429C-85F1-6C4ADBF3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OBSERVED_META · TRIAL-006/007/008의 전역 지침·시작 경고 관찰을 예고 · 상세는 ">
            <a:extLst xmlns:a="http://schemas.openxmlformats.org/drawingml/2006/main">
              <a:ext uri="{FF2B5EF4-FFF2-40B4-BE49-F238E27FC236}">
                <a16:creationId xmlns:a16="http://schemas.microsoft.com/office/drawing/2014/main" id="{CD7CAC0A-6AB8-459D-A266-51C56601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OBSERVED_META · TRIAL-006/007/008의 전역 지침·시작 경고 관찰을 예고 · 상세는 ACT 4</a:t>
            </a:r>
          </a:p>
        </p:txBody>
      </p:sp>
      <p:sp>
        <p:nvSpPr>
          <p:cNvPr id="7" name="경고는 실행 기여의 증거가 아님 · 전체 환경 목록·Hook/MCP 인과효과·현재 제품 동작은 미검증">
            <a:extLst xmlns:a="http://schemas.openxmlformats.org/drawingml/2006/main">
              <a:ext uri="{FF2B5EF4-FFF2-40B4-BE49-F238E27FC236}">
                <a16:creationId xmlns:a16="http://schemas.microsoft.com/office/drawing/2014/main" id="{A8565C70-D6FD-4457-A4DA-F7FD40C4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경고는 실행 기여의 증거가 아님 · 전체 환경 목록·Hook/MCP 인과효과·현재 제품 동작은 미검증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52B49-EF31-4491-91EE-45B015B9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42481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Repository 안">
            <a:extLst xmlns:a="http://schemas.openxmlformats.org/drawingml/2006/main">
              <a:ext uri="{FF2B5EF4-FFF2-40B4-BE49-F238E27FC236}">
                <a16:creationId xmlns:a16="http://schemas.microsoft.com/office/drawing/2014/main" id="{85BFC663-0F9C-4A16-B04B-B3B8BAB0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71725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Repository 안</a:t>
            </a:r>
          </a:p>
        </p:txBody>
      </p:sp>
      <p:sp>
        <p:nvSpPr>
          <p:cNvPr id="10" name="코드 · AGENTS.md&#10;상세 문서 · 재사용 Skill">
            <a:extLst xmlns:a="http://schemas.openxmlformats.org/drawingml/2006/main">
              <a:ext uri="{FF2B5EF4-FFF2-40B4-BE49-F238E27FC236}">
                <a16:creationId xmlns:a16="http://schemas.microsoft.com/office/drawing/2014/main" id="{655A0A1E-B149-4ABD-96DC-4612519E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3905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 · AGENTS.md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문서 · 재사용 Skill</a:t>
            </a:r>
          </a:p>
        </p:txBody>
      </p:sp>
      <p:sp>
        <p:nvSpPr>
          <p:cNvPr id="11" name="+">
            <a:extLst xmlns:a="http://schemas.openxmlformats.org/drawingml/2006/main">
              <a:ext uri="{FF2B5EF4-FFF2-40B4-BE49-F238E27FC236}">
                <a16:creationId xmlns:a16="http://schemas.microsoft.com/office/drawing/2014/main" id="{5128FF67-4FE4-4889-9865-C217AB94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86100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F6525-A0F2-494E-A487-5BE1D1DA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57425"/>
            <a:ext cx="54864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바깥에서 들어온 관찰">
            <a:extLst xmlns:a="http://schemas.openxmlformats.org/drawingml/2006/main">
              <a:ext uri="{FF2B5EF4-FFF2-40B4-BE49-F238E27FC236}">
                <a16:creationId xmlns:a16="http://schemas.microsoft.com/office/drawing/2014/main" id="{213AFD82-354F-41BF-A3BC-1D59352D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717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바깥에서 들어온 관찰</a:t>
            </a:r>
          </a:p>
        </p:txBody>
      </p:sp>
      <p:sp>
        <p:nvSpPr>
          <p:cNvPr id="14" name="전역 지침·Skills의 포함&#10;Hook·MCP 초기화 경고">
            <a:extLst xmlns:a="http://schemas.openxmlformats.org/drawingml/2006/main">
              <a:ext uri="{FF2B5EF4-FFF2-40B4-BE49-F238E27FC236}">
                <a16:creationId xmlns:a16="http://schemas.microsoft.com/office/drawing/2014/main" id="{2C981F3F-4D1D-444E-87DE-FFB63D24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514350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전역 지침·Skills의 포함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Hook·MCP 초기화 경고</a:t>
            </a:r>
          </a:p>
        </p:txBody>
      </p:sp>
      <p:sp>
        <p:nvSpPr>
          <p:cNvPr id="15" name="함께 남길 조건">
            <a:extLst xmlns:a="http://schemas.openxmlformats.org/drawingml/2006/main">
              <a:ext uri="{FF2B5EF4-FFF2-40B4-BE49-F238E27FC236}">
                <a16:creationId xmlns:a16="http://schemas.microsoft.com/office/drawing/2014/main" id="{AB878289-5CCC-457B-85EC-4037BD64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함께 남길 조건</a:t>
            </a:r>
          </a:p>
        </p:txBody>
      </p:sp>
      <p:sp>
        <p:nvSpPr>
          <p:cNvPr id="16" name="적용 지침 · 모델/설정 · 권한 · OS/runtime">
            <a:extLst xmlns:a="http://schemas.openxmlformats.org/drawingml/2006/main">
              <a:ext uri="{FF2B5EF4-FFF2-40B4-BE49-F238E27FC236}">
                <a16:creationId xmlns:a16="http://schemas.microsoft.com/office/drawing/2014/main" id="{C8B4854B-E4F6-4C12-969B-5D992685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149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적용 지침 · 모델/설정 · 권한 · OS/runtime</a:t>
            </a:r>
          </a:p>
        </p:txBody>
      </p:sp>
      <p:sp>
        <p:nvSpPr>
          <p:cNvPr id="17" name="관찰한 흔적과, 결과에 영향을 줬다는 판단은 구분한다">
            <a:extLst xmlns:a="http://schemas.openxmlformats.org/drawingml/2006/main">
              <a:ext uri="{FF2B5EF4-FFF2-40B4-BE49-F238E27FC236}">
                <a16:creationId xmlns:a16="http://schemas.microsoft.com/office/drawing/2014/main" id="{BAAB97E5-87E5-4F75-BA81-13DE19B5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관찰한 흔적과, 결과에 영향을 줬다는 판단은 구분한다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DE20C88-2FFF-4C88-A7C6-AD3911E5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1250647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도구를 넘어 같은 판단을 적용하기">
            <a:extLst xmlns:a="http://schemas.openxmlformats.org/drawingml/2006/main">
              <a:ext uri="{FF2B5EF4-FFF2-40B4-BE49-F238E27FC236}">
                <a16:creationId xmlns:a16="http://schemas.microsoft.com/office/drawing/2014/main" id="{A0F9B447-4750-4B2E-AF79-587F9601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도구를 넘어 같은 판단을 적용하기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2F02A350-553F-43E8-8B91-993C3984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우리 C++ 검사 작업에 옮겨 보면">
            <a:extLst xmlns:a="http://schemas.openxmlformats.org/drawingml/2006/main">
              <a:ext uri="{FF2B5EF4-FFF2-40B4-BE49-F238E27FC236}">
                <a16:creationId xmlns:a16="http://schemas.microsoft.com/office/drawing/2014/main" id="{83832B78-E43A-4D0F-AC72-3C6134C6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C++ 검사 작업에 옮겨 보면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818376-52B5-447B-B6ED-84A155C5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++ Vision 전이를 위한 교육용 예시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F381C163-7137-44B7-B233-562D28BE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Vision 전이를 위한 교육용 예시 · AI 생성 설명용 삽화</a:t>
            </a:r>
          </a:p>
        </p:txBody>
      </p:sp>
      <p:sp>
        <p:nvSpPr>
          <p:cNvPr id="6" name="실제 C++ Demo·회사 장비·측정 결과가 아닙니다. 도구·빌드·하드웨어 조건은 프로젝트별 확인 필요">
            <a:extLst xmlns:a="http://schemas.openxmlformats.org/drawingml/2006/main">
              <a:ext uri="{FF2B5EF4-FFF2-40B4-BE49-F238E27FC236}">
                <a16:creationId xmlns:a16="http://schemas.microsoft.com/office/drawing/2014/main" id="{70740D6D-C2E0-4294-9BE1-B3872F91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Demo·회사 장비·측정 결과가 아닙니다. 도구·빌드·하드웨어 조건은 프로젝트별 확인 필요</a:t>
            </a:r>
          </a:p>
        </p:txBody>
      </p:sp>
      <p:sp>
        <p:nvSpPr>
          <p:cNvPr id="7" name="밝기 통계에서 쓴 판단을, 같은 검사 파이프라인의 업무로">
            <a:extLst xmlns:a="http://schemas.openxmlformats.org/drawingml/2006/main">
              <a:ext uri="{FF2B5EF4-FFF2-40B4-BE49-F238E27FC236}">
                <a16:creationId xmlns:a16="http://schemas.microsoft.com/office/drawing/2014/main" id="{A901BA5F-908B-4E73-9004-D71DE64F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통계에서 쓴 판단을, 같은 검사 파이프라인의 업무로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CB8DB2-F894-4C6B-A803-1CFC078551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25d26fdf564fa3"/>
          <a:srcRect xmlns:a="http://schemas.openxmlformats.org/drawingml/2006/main" l="0" t="8000" r="0" b="12000"/>
          <a:stretch xmlns:a="http://schemas.openxmlformats.org/drawingml/2006/main"/>
        </p:blipFill>
        <p:spPr>
          <a:xfrm xmlns:a="http://schemas.openxmlformats.org/drawingml/2006/main">
            <a:off x="1881188" y="1924050"/>
            <a:ext cx="8429625" cy="1943100"/>
          </a:xfrm>
          <a:prstGeom xmlns:a="http://schemas.openxmlformats.org/drawingml/2006/main" prst="rect">
            <a:avLst/>
          </a:prstGeom>
        </p:spPr>
      </p:pic>
      <p:sp>
        <p:nvSpPr>
          <p:cNvPr id="9" name="01  입력">
            <a:extLst xmlns:a="http://schemas.openxmlformats.org/drawingml/2006/main">
              <a:ext uri="{FF2B5EF4-FFF2-40B4-BE49-F238E27FC236}">
                <a16:creationId xmlns:a16="http://schemas.microsoft.com/office/drawing/2014/main" id="{8F9A28D8-D72B-47D4-ACE9-A8744F43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867150"/>
            <a:ext cx="40671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입력</a:t>
            </a:r>
          </a:p>
        </p:txBody>
      </p:sp>
      <p:sp>
        <p:nvSpPr>
          <p:cNvPr id="10" name="02  처리">
            <a:extLst xmlns:a="http://schemas.openxmlformats.org/drawingml/2006/main">
              <a:ext uri="{FF2B5EF4-FFF2-40B4-BE49-F238E27FC236}">
                <a16:creationId xmlns:a16="http://schemas.microsoft.com/office/drawing/2014/main" id="{E24C2ADC-FCFC-4669-99F9-570EE3FD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6715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처리</a:t>
            </a:r>
          </a:p>
        </p:txBody>
      </p:sp>
      <p:sp>
        <p:nvSpPr>
          <p:cNvPr id="11" name="03  결과">
            <a:extLst xmlns:a="http://schemas.openxmlformats.org/drawingml/2006/main">
              <a:ext uri="{FF2B5EF4-FFF2-40B4-BE49-F238E27FC236}">
                <a16:creationId xmlns:a16="http://schemas.microsoft.com/office/drawing/2014/main" id="{E4E712FB-FEFB-4847-B0B2-1A72DB73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67150"/>
            <a:ext cx="2105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6FBDD-9FC8-43E3-A36D-9A22CA67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1  지킬 명세">
            <a:extLst xmlns:a="http://schemas.openxmlformats.org/drawingml/2006/main">
              <a:ext uri="{FF2B5EF4-FFF2-40B4-BE49-F238E27FC236}">
                <a16:creationId xmlns:a16="http://schemas.microsoft.com/office/drawing/2014/main" id="{7D3CAF05-0E3D-4C4E-A77E-7DB95F62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지킬 명세</a:t>
            </a:r>
          </a:p>
        </p:txBody>
      </p:sp>
      <p:sp>
        <p:nvSpPr>
          <p:cNvPr id="14" name="ROI·픽셀값 명세&#10;빌드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784A4A6C-2444-474A-BA90-05E30096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ROI·픽셀값 명세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빌드·하드웨어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9CE85-0216-4123-A971-5CBBC411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2  반복할 수행 방법">
            <a:extLst xmlns:a="http://schemas.openxmlformats.org/drawingml/2006/main">
              <a:ext uri="{FF2B5EF4-FFF2-40B4-BE49-F238E27FC236}">
                <a16:creationId xmlns:a16="http://schemas.microsoft.com/office/drawing/2014/main" id="{6C097030-2EA3-4978-9F19-9BE9C108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반복할 수행 방법</a:t>
            </a:r>
          </a:p>
        </p:txBody>
      </p:sp>
      <p:sp>
        <p:nvSpPr>
          <p:cNvPr id="17" name="기준선·해당 경로 조사&#10;변경·동일 조건 비교">
            <a:extLst xmlns:a="http://schemas.openxmlformats.org/drawingml/2006/main">
              <a:ext uri="{FF2B5EF4-FFF2-40B4-BE49-F238E27FC236}">
                <a16:creationId xmlns:a16="http://schemas.microsoft.com/office/drawing/2014/main" id="{B5E2A667-9356-4DC8-923B-0EBDCF34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기준선·해당 경로 조사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변경·동일 조건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91258F-D699-475A-849F-9ACE5B73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03  완료를 판단할 근거">
            <a:extLst xmlns:a="http://schemas.openxmlformats.org/drawingml/2006/main">
              <a:ext uri="{FF2B5EF4-FFF2-40B4-BE49-F238E27FC236}">
                <a16:creationId xmlns:a16="http://schemas.microsoft.com/office/drawing/2014/main" id="{AB34FE9E-3F8B-4974-A34F-08397668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완료를 판단할 근거</a:t>
            </a:r>
          </a:p>
        </p:txBody>
      </p:sp>
      <p:sp>
        <p:nvSpPr>
          <p:cNvPr id="20" name="동작·회귀·통합 검증&#10;성능 측정 결과">
            <a:extLst xmlns:a="http://schemas.openxmlformats.org/drawingml/2006/main">
              <a:ext uri="{FF2B5EF4-FFF2-40B4-BE49-F238E27FC236}">
                <a16:creationId xmlns:a16="http://schemas.microsoft.com/office/drawing/2014/main" id="{1D900B89-14F8-4DE1-9662-A3045B65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동작·회귀·통합 검증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측정 결과</a:t>
            </a:r>
          </a:p>
        </p:txBody>
      </p:sp>
      <p:sp>
        <p:nvSpPr>
          <p:cNvPr id="21" name="기준선 측정 → 경로 조사 → 변경 → 회귀 확인">
            <a:extLst xmlns:a="http://schemas.openxmlformats.org/drawingml/2006/main">
              <a:ext uri="{FF2B5EF4-FFF2-40B4-BE49-F238E27FC236}">
                <a16:creationId xmlns:a16="http://schemas.microsoft.com/office/drawing/2014/main" id="{5DDBB6C5-7284-4645-961D-FE3D2B76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기준선 측정 → 경로 조사 → 변경 → 회귀 확인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F65AE69-43BA-4A17-8216-6AE9C765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515823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3 · 필요한 구조와 유지할 책임을 되돌아보기">
            <a:extLst xmlns:a="http://schemas.openxmlformats.org/drawingml/2006/main">
              <a:ext uri="{FF2B5EF4-FFF2-40B4-BE49-F238E27FC236}">
                <a16:creationId xmlns:a16="http://schemas.microsoft.com/office/drawing/2014/main" id="{E95B9DB6-D4EA-4CF9-BD87-1056857C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필요한 구조와 유지할 책임을 되돌아보기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1641008F-A0B2-4A93-B416-ED65207F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우리 팀의 반복 한 가지를 고르면">
            <a:extLst xmlns:a="http://schemas.openxmlformats.org/drawingml/2006/main">
              <a:ext uri="{FF2B5EF4-FFF2-40B4-BE49-F238E27FC236}">
                <a16:creationId xmlns:a16="http://schemas.microsoft.com/office/drawing/2014/main" id="{07A9ABEB-139E-4DC9-A6AC-6DE97A82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팀의 반복 한 가지를 고르면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7B432-3ECD-45F0-A60D-DEA76BAF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개인 성찰·공유는 선택 · 실제 성공 STATE-04-PERF를 실패 사례로 재해석하지 않음">
            <a:extLst xmlns:a="http://schemas.openxmlformats.org/drawingml/2006/main">
              <a:ext uri="{FF2B5EF4-FFF2-40B4-BE49-F238E27FC236}">
                <a16:creationId xmlns:a16="http://schemas.microsoft.com/office/drawing/2014/main" id="{DDAC7C9C-C985-4675-8304-BBE831B8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개인 성찰·공유는 선택 · 실제 성공 STATE-04-PERF를 실패 사례로 재해석하지 않음</a:t>
            </a:r>
          </a:p>
        </p:txBody>
      </p:sp>
      <p:sp>
        <p:nvSpPr>
          <p:cNvPr id="6" name="Subagent·Memory는 조건부 선택 · 다음 ACT의 프로젝트 변화는 별도의 가상 사례">
            <a:extLst xmlns:a="http://schemas.openxmlformats.org/drawingml/2006/main">
              <a:ext uri="{FF2B5EF4-FFF2-40B4-BE49-F238E27FC236}">
                <a16:creationId xmlns:a16="http://schemas.microsoft.com/office/drawing/2014/main" id="{59B96492-DC9B-4DA6-832F-E94284E6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Subagent·Memory는 조건부 선택 · 다음 ACT의 프로젝트 변화는 별도의 가상 사례</a:t>
            </a:r>
          </a:p>
        </p:txBody>
      </p:sp>
      <p:sp>
        <p:nvSpPr>
          <p:cNvPr id="7" name="내 업무에서 먼저 정리할 반복은 무엇인가?">
            <a:extLst xmlns:a="http://schemas.openxmlformats.org/drawingml/2006/main">
              <a:ext uri="{FF2B5EF4-FFF2-40B4-BE49-F238E27FC236}">
                <a16:creationId xmlns:a16="http://schemas.microsoft.com/office/drawing/2014/main" id="{88C4A63A-788A-4B8C-9D6E-D00690A8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먼저 정리할 반복은 무엇인가?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7A622-D114-4433-A8C1-18E623E5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반복되는 정보">
            <a:extLst xmlns:a="http://schemas.openxmlformats.org/drawingml/2006/main">
              <a:ext uri="{FF2B5EF4-FFF2-40B4-BE49-F238E27FC236}">
                <a16:creationId xmlns:a16="http://schemas.microsoft.com/office/drawing/2014/main" id="{E008F01A-2218-41FB-A5F7-BE051F67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반복되는 정보</a:t>
            </a:r>
          </a:p>
        </p:txBody>
      </p:sp>
      <p:sp>
        <p:nvSpPr>
          <p:cNvPr id="10" name="명세·기본 안내·상세 위치">
            <a:extLst xmlns:a="http://schemas.openxmlformats.org/drawingml/2006/main">
              <a:ext uri="{FF2B5EF4-FFF2-40B4-BE49-F238E27FC236}">
                <a16:creationId xmlns:a16="http://schemas.microsoft.com/office/drawing/2014/main" id="{1DCD0F67-3C32-4841-9468-BBD1F945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명세·기본 안내·상세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46E021-B2EC-40A9-931C-5437D223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반복되는 절차">
            <a:extLst xmlns:a="http://schemas.openxmlformats.org/drawingml/2006/main">
              <a:ext uri="{FF2B5EF4-FFF2-40B4-BE49-F238E27FC236}">
                <a16:creationId xmlns:a16="http://schemas.microsoft.com/office/drawing/2014/main" id="{C8AB5948-2162-4555-B26F-75DFA69E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13" name="조사·변경 판단·검증·보고">
            <a:extLst xmlns:a="http://schemas.openxmlformats.org/drawingml/2006/main">
              <a:ext uri="{FF2B5EF4-FFF2-40B4-BE49-F238E27FC236}">
                <a16:creationId xmlns:a16="http://schemas.microsoft.com/office/drawing/2014/main" id="{4918F465-758D-422A-BD35-8D525767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조사·변경 판단·검증·보고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17375-52A3-4EF0-BADC-BF05B3E4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매번 필요한 근거">
            <a:extLst xmlns:a="http://schemas.openxmlformats.org/drawingml/2006/main">
              <a:ext uri="{FF2B5EF4-FFF2-40B4-BE49-F238E27FC236}">
                <a16:creationId xmlns:a16="http://schemas.microsoft.com/office/drawing/2014/main" id="{842D80B7-6A04-408D-A2DC-4AB19124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매번 필요한 근거</a:t>
            </a:r>
          </a:p>
        </p:txBody>
      </p:sp>
      <p:sp>
        <p:nvSpPr>
          <p:cNvPr id="16" name="테스트·측정 조건·검토 결과">
            <a:extLst xmlns:a="http://schemas.openxmlformats.org/drawingml/2006/main">
              <a:ext uri="{FF2B5EF4-FFF2-40B4-BE49-F238E27FC236}">
                <a16:creationId xmlns:a16="http://schemas.microsoft.com/office/drawing/2014/main" id="{70E28C8C-795D-4CE8-82B5-88967107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테스트·측정 조건·검토 결과</a:t>
            </a:r>
          </a:p>
        </p:txBody>
      </p:sp>
      <p:sp>
        <p:nvSpPr>
          <p:cNvPr id="17" name="어디에 두고, 누가 검토하고 갱신할까?">
            <a:extLst xmlns:a="http://schemas.openxmlformats.org/drawingml/2006/main">
              <a:ext uri="{FF2B5EF4-FFF2-40B4-BE49-F238E27FC236}">
                <a16:creationId xmlns:a16="http://schemas.microsoft.com/office/drawing/2014/main" id="{869A9378-CC36-4641-A358-13FC7843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어디에 두고, 누가 검토하고 갱신할까?</a:t>
            </a:r>
          </a:p>
        </p:txBody>
      </p:sp>
      <p:sp>
        <p:nvSpPr>
          <p:cNvPr id="18" name="다음 질문: 프로젝트가 바뀌면 이 방법을 어떻게 점검할까?">
            <a:extLst xmlns:a="http://schemas.openxmlformats.org/drawingml/2006/main">
              <a:ext uri="{FF2B5EF4-FFF2-40B4-BE49-F238E27FC236}">
                <a16:creationId xmlns:a16="http://schemas.microsoft.com/office/drawing/2014/main" id="{3E57BB32-3966-4E96-AF49-4E819C0E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질문: 프로젝트가 바뀌면 이 방법을 어떻게 점검할까?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096970D-CD5E-48F6-86E8-3EA3AB61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4086521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2026-10-22T05:30:15.2650000Z</dcterms:created>
  <dcterms:modified xsi:type="dcterms:W3CDTF">2026-10-22T05:30:15.2650000Z</dcterms:modified>
</coreProperties>
</file>