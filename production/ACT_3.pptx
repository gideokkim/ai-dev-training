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slides/charts/chart1.xml" ContentType="application/vnd.openxmlformats-officedocument.drawingml.chart+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48d096d4a2bf4023" /><Relationship Type="http://schemas.openxmlformats.org/officeDocument/2006/relationships/extended-properties" Target="/docProps/app.xml" Id="R41315d76eed74898" /><Relationship Type="http://schemas.openxmlformats.org/officeDocument/2006/relationships/officeDocument" Target="/ppt/presentation.xml" Id="R3d44356c8a044b62" /></Relationships>
</file>

<file path=ppt/presentation.xml><?xml version="1.0" encoding="utf-8"?>
<p:presentation xmlns:p="http://schemas.openxmlformats.org/presentationml/2006/main">
  <p:sldMasterIdLst>
    <p:sldMasterId xmlns:r="http://schemas.openxmlformats.org/officeDocument/2006/relationships" id="2147483648" r:id="R62971c3ca94f413d"/>
  </p:sldMasterIdLst>
  <p:notesMasterIdLst>
    <p:notesMasterId xmlns:r="http://schemas.openxmlformats.org/officeDocument/2006/relationships" r:id="R779c7785e45e4fe2"/>
  </p:notesMasterIdLst>
  <p:sldIdLst>
    <p:sldId xmlns:r="http://schemas.openxmlformats.org/officeDocument/2006/relationships" id="256" r:id="R73c4b644ffda40c7"/>
    <p:sldId xmlns:r="http://schemas.openxmlformats.org/officeDocument/2006/relationships" id="257" r:id="Rb99c59f34cba436f"/>
    <p:sldId xmlns:r="http://schemas.openxmlformats.org/officeDocument/2006/relationships" id="258" r:id="R57f7c6839c984517"/>
    <p:sldId xmlns:r="http://schemas.openxmlformats.org/officeDocument/2006/relationships" id="259" r:id="Rff5f28bb69d64533"/>
    <p:sldId xmlns:r="http://schemas.openxmlformats.org/officeDocument/2006/relationships" id="260" r:id="Rc704a6fc91de45ad"/>
    <p:sldId xmlns:r="http://schemas.openxmlformats.org/officeDocument/2006/relationships" id="261" r:id="Rc8f9a5421148467b"/>
    <p:sldId xmlns:r="http://schemas.openxmlformats.org/officeDocument/2006/relationships" id="262" r:id="R344880a9bd1f4ab1"/>
    <p:sldId xmlns:r="http://schemas.openxmlformats.org/officeDocument/2006/relationships" id="263" r:id="R8d80fce5287349aa"/>
    <p:sldId xmlns:r="http://schemas.openxmlformats.org/officeDocument/2006/relationships" id="264" r:id="R53589282b10140cf"/>
    <p:sldId xmlns:r="http://schemas.openxmlformats.org/officeDocument/2006/relationships" id="265" r:id="R51a45200a1a74f6f"/>
    <p:sldId xmlns:r="http://schemas.openxmlformats.org/officeDocument/2006/relationships" id="266" r:id="R112dffc338614513"/>
    <p:sldId xmlns:r="http://schemas.openxmlformats.org/officeDocument/2006/relationships" id="267" r:id="Ra17cd5b8a32340f5"/>
    <p:sldId xmlns:r="http://schemas.openxmlformats.org/officeDocument/2006/relationships" id="268" r:id="Rcb0fc84fa2a34f76"/>
    <p:sldId xmlns:r="http://schemas.openxmlformats.org/officeDocument/2006/relationships" id="269" r:id="Rbaa4ea1caeb74073"/>
    <p:sldId xmlns:r="http://schemas.openxmlformats.org/officeDocument/2006/relationships" id="270" r:id="R260b6f1d970e4546"/>
    <p:sldId xmlns:r="http://schemas.openxmlformats.org/officeDocument/2006/relationships" id="271" r:id="Ref1a5770d2c14e1e"/>
    <p:sldId xmlns:r="http://schemas.openxmlformats.org/officeDocument/2006/relationships" id="272" r:id="R1675f20efbdd48bd"/>
    <p:sldId xmlns:r="http://schemas.openxmlformats.org/officeDocument/2006/relationships" id="273" r:id="R7eba7c724fd34608"/>
    <p:sldId xmlns:r="http://schemas.openxmlformats.org/officeDocument/2006/relationships" id="274" r:id="Rbd17a4a095204700"/>
    <p:sldId xmlns:r="http://schemas.openxmlformats.org/officeDocument/2006/relationships" id="275" r:id="Refa65dac0a6c4217"/>
    <p:sldId xmlns:r="http://schemas.openxmlformats.org/officeDocument/2006/relationships" id="276" r:id="R315443aa02604898"/>
    <p:sldId xmlns:r="http://schemas.openxmlformats.org/officeDocument/2006/relationships" id="277" r:id="R887a12645c4f4dd8"/>
    <p:sldId xmlns:r="http://schemas.openxmlformats.org/officeDocument/2006/relationships" id="278" r:id="R3915740e455d4343"/>
    <p:sldId xmlns:r="http://schemas.openxmlformats.org/officeDocument/2006/relationships" id="279" r:id="Rf511074be53f402e"/>
    <p:sldId xmlns:r="http://schemas.openxmlformats.org/officeDocument/2006/relationships" id="280" r:id="Rc9163b509c8e4ef1"/>
    <p:sldId xmlns:r="http://schemas.openxmlformats.org/officeDocument/2006/relationships" id="281" r:id="R7d7a183a7a444f79"/>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50d92e7b68714df9" /><Relationship Type="http://schemas.openxmlformats.org/officeDocument/2006/relationships/slideMaster" Target="/ppt/slideMasters/slideMaster1.xml" Id="R62971c3ca94f413d" /><Relationship Type="http://schemas.openxmlformats.org/officeDocument/2006/relationships/notesMaster" Target="/ppt/notesMasters/notesMaster1.xml" Id="R779c7785e45e4fe2" /><Relationship Type="http://schemas.openxmlformats.org/officeDocument/2006/relationships/presProps" Target="/ppt/presProps.xml" Id="R59fba61039e84a9a" /><Relationship Type="http://schemas.openxmlformats.org/officeDocument/2006/relationships/tableStyles" Target="/ppt/tableStyles.xml" Id="Rae52aa2d93ba47e6" /><Relationship Type="http://schemas.openxmlformats.org/officeDocument/2006/relationships/slide" Target="/ppt/slides/slide1.xml" Id="R73c4b644ffda40c7" /><Relationship Type="http://schemas.openxmlformats.org/officeDocument/2006/relationships/slide" Target="/ppt/slides/slide2.xml" Id="Rb99c59f34cba436f" /><Relationship Type="http://schemas.openxmlformats.org/officeDocument/2006/relationships/slide" Target="/ppt/slides/slide3.xml" Id="R57f7c6839c984517" /><Relationship Type="http://schemas.openxmlformats.org/officeDocument/2006/relationships/slide" Target="/ppt/slides/slide4.xml" Id="Rff5f28bb69d64533" /><Relationship Type="http://schemas.openxmlformats.org/officeDocument/2006/relationships/slide" Target="/ppt/slides/slide5.xml" Id="Rc704a6fc91de45ad" /><Relationship Type="http://schemas.openxmlformats.org/officeDocument/2006/relationships/slide" Target="/ppt/slides/slide6.xml" Id="Rc8f9a5421148467b" /><Relationship Type="http://schemas.openxmlformats.org/officeDocument/2006/relationships/slide" Target="/ppt/slides/slide7.xml" Id="R344880a9bd1f4ab1" /><Relationship Type="http://schemas.openxmlformats.org/officeDocument/2006/relationships/slide" Target="/ppt/slides/slide8.xml" Id="R8d80fce5287349aa" /><Relationship Type="http://schemas.openxmlformats.org/officeDocument/2006/relationships/slide" Target="/ppt/slides/slide9.xml" Id="R53589282b10140cf" /><Relationship Type="http://schemas.openxmlformats.org/officeDocument/2006/relationships/slide" Target="/ppt/slides/slide10.xml" Id="R51a45200a1a74f6f" /><Relationship Type="http://schemas.openxmlformats.org/officeDocument/2006/relationships/slide" Target="/ppt/slides/slide11.xml" Id="R112dffc338614513" /><Relationship Type="http://schemas.openxmlformats.org/officeDocument/2006/relationships/slide" Target="/ppt/slides/slide12.xml" Id="Ra17cd5b8a32340f5" /><Relationship Type="http://schemas.openxmlformats.org/officeDocument/2006/relationships/slide" Target="/ppt/slides/slide13.xml" Id="Rcb0fc84fa2a34f76" /><Relationship Type="http://schemas.openxmlformats.org/officeDocument/2006/relationships/slide" Target="/ppt/slides/slide14.xml" Id="Rbaa4ea1caeb74073" /><Relationship Type="http://schemas.openxmlformats.org/officeDocument/2006/relationships/slide" Target="/ppt/slides/slide15.xml" Id="R260b6f1d970e4546" /><Relationship Type="http://schemas.openxmlformats.org/officeDocument/2006/relationships/slide" Target="/ppt/slides/slide16.xml" Id="Ref1a5770d2c14e1e" /><Relationship Type="http://schemas.openxmlformats.org/officeDocument/2006/relationships/slide" Target="/ppt/slides/slide17.xml" Id="R1675f20efbdd48bd" /><Relationship Type="http://schemas.openxmlformats.org/officeDocument/2006/relationships/slide" Target="/ppt/slides/slide18.xml" Id="R7eba7c724fd34608" /><Relationship Type="http://schemas.openxmlformats.org/officeDocument/2006/relationships/slide" Target="/ppt/slides/slide19.xml" Id="Rbd17a4a095204700" /><Relationship Type="http://schemas.openxmlformats.org/officeDocument/2006/relationships/slide" Target="/ppt/slides/slide20.xml" Id="Refa65dac0a6c4217" /><Relationship Type="http://schemas.openxmlformats.org/officeDocument/2006/relationships/slide" Target="/ppt/slides/slide21.xml" Id="R315443aa02604898" /><Relationship Type="http://schemas.openxmlformats.org/officeDocument/2006/relationships/slide" Target="/ppt/slides/slide22.xml" Id="R887a12645c4f4dd8" /><Relationship Type="http://schemas.openxmlformats.org/officeDocument/2006/relationships/slide" Target="/ppt/slides/slide23.xml" Id="R3915740e455d4343" /><Relationship Type="http://schemas.openxmlformats.org/officeDocument/2006/relationships/slide" Target="/ppt/slides/slide24.xml" Id="Rf511074be53f402e" /><Relationship Type="http://schemas.openxmlformats.org/officeDocument/2006/relationships/slide" Target="/ppt/slides/slide25.xml" Id="Rc9163b509c8e4ef1" /><Relationship Type="http://schemas.openxmlformats.org/officeDocument/2006/relationships/slide" Target="/ppt/slides/slide26.xml" Id="R7d7a183a7a444f79"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ad3c1ebb46fa4603"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4c4121e7f3564d58" /><Relationship Type="http://schemas.openxmlformats.org/officeDocument/2006/relationships/notesMaster" Target="/ppt/notesMasters/notesMaster1.xml" Id="Rfe146b44c7f34cd6" /></Relationships>
</file>

<file path=ppt/notesSlides/_rels/notesSlide2.xml.rels>&#65279;<?xml version="1.0" encoding="utf-8"?><Relationships xmlns="http://schemas.openxmlformats.org/package/2006/relationships"><Relationship Type="http://schemas.openxmlformats.org/officeDocument/2006/relationships/slide" Target="/ppt/slides/slide2.xml" Id="Rfa474d93a7464145" /><Relationship Type="http://schemas.openxmlformats.org/officeDocument/2006/relationships/notesMaster" Target="/ppt/notesMasters/notesMaster1.xml" Id="Raf746709fa5b4457" /></Relationships>
</file>

<file path=ppt/notesSlides/_rels/notesSlide3.xml.rels>&#65279;<?xml version="1.0" encoding="utf-8"?><Relationships xmlns="http://schemas.openxmlformats.org/package/2006/relationships"><Relationship Type="http://schemas.openxmlformats.org/officeDocument/2006/relationships/slide" Target="/ppt/slides/slide3.xml" Id="R6d57a67e0ce34761" /><Relationship Type="http://schemas.openxmlformats.org/officeDocument/2006/relationships/notesMaster" Target="/ppt/notesMasters/notesMaster1.xml" Id="Rd20d9fd7ef4146e0" /></Relationships>
</file>

<file path=ppt/notesSlides/_rels/notesSlide4.xml.rels>&#65279;<?xml version="1.0" encoding="utf-8"?><Relationships xmlns="http://schemas.openxmlformats.org/package/2006/relationships"><Relationship Type="http://schemas.openxmlformats.org/officeDocument/2006/relationships/slide" Target="/ppt/slides/slide4.xml" Id="R8a270df513404ff5" /><Relationship Type="http://schemas.openxmlformats.org/officeDocument/2006/relationships/notesMaster" Target="/ppt/notesMasters/notesMaster1.xml" Id="R00c95ab31c1e4a3c" /></Relationships>
</file>

<file path=ppt/notesSlides/_rels/notesSlide5.xml.rels>&#65279;<?xml version="1.0" encoding="utf-8"?><Relationships xmlns="http://schemas.openxmlformats.org/package/2006/relationships"><Relationship Type="http://schemas.openxmlformats.org/officeDocument/2006/relationships/slide" Target="/ppt/slides/slide5.xml" Id="R53c760bab13948e4" /><Relationship Type="http://schemas.openxmlformats.org/officeDocument/2006/relationships/notesMaster" Target="/ppt/notesMasters/notesMaster1.xml" Id="R3649c7ba848e46ff" /></Relationships>
</file>

<file path=ppt/notesSlides/_rels/notesSlide6.xml.rels>&#65279;<?xml version="1.0" encoding="utf-8"?><Relationships xmlns="http://schemas.openxmlformats.org/package/2006/relationships"><Relationship Type="http://schemas.openxmlformats.org/officeDocument/2006/relationships/slide" Target="/ppt/slides/slide6.xml" Id="Raf3026ca25fd402f" /><Relationship Type="http://schemas.openxmlformats.org/officeDocument/2006/relationships/notesMaster" Target="/ppt/notesMasters/notesMaster1.xml" Id="R329680b995a849f4" /></Relationships>
</file>

<file path=ppt/notesSlides/_rels/notesSlide7.xml.rels>&#65279;<?xml version="1.0" encoding="utf-8"?><Relationships xmlns="http://schemas.openxmlformats.org/package/2006/relationships"><Relationship Type="http://schemas.openxmlformats.org/officeDocument/2006/relationships/slide" Target="/ppt/slides/slide7.xml" Id="R8a067ffd73a541ff" /><Relationship Type="http://schemas.openxmlformats.org/officeDocument/2006/relationships/notesMaster" Target="/ppt/notesMasters/notesMaster1.xml" Id="R2901369087ff4198" /></Relationships>
</file>

<file path=ppt/notesSlides/_rels/notesSlide8.xml.rels>&#65279;<?xml version="1.0" encoding="utf-8"?><Relationships xmlns="http://schemas.openxmlformats.org/package/2006/relationships"><Relationship Type="http://schemas.openxmlformats.org/officeDocument/2006/relationships/slide" Target="/ppt/slides/slide8.xml" Id="R62c8fb2a0f604ae3" /><Relationship Type="http://schemas.openxmlformats.org/officeDocument/2006/relationships/notesMaster" Target="/ppt/notesMasters/notesMaster1.xml" Id="Raca873fe9d8141b5" /></Relationships>
</file>

<file path=ppt/notesSlides/_rels/notesSlide9.xml.rels>&#65279;<?xml version="1.0" encoding="utf-8"?><Relationships xmlns="http://schemas.openxmlformats.org/package/2006/relationships"><Relationship Type="http://schemas.openxmlformats.org/officeDocument/2006/relationships/slide" Target="/ppt/slides/slide9.xml" Id="R1494af001fc247c4" /><Relationship Type="http://schemas.openxmlformats.org/officeDocument/2006/relationships/notesMaster" Target="/ppt/notesMasters/notesMaster1.xml" Id="Rd030f00e64c64c7b"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2d48856007f843e9" /><Relationship Type="http://schemas.openxmlformats.org/officeDocument/2006/relationships/notesMaster" Target="/ppt/notesMasters/notesMaster1.xml" Id="R91f0b346c0e340f8"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dd69251905d54c9d" /><Relationship Type="http://schemas.openxmlformats.org/officeDocument/2006/relationships/notesMaster" Target="/ppt/notesMasters/notesMaster1.xml" Id="R9821fd382617401e"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05f5d94caf8a4c7d" /><Relationship Type="http://schemas.openxmlformats.org/officeDocument/2006/relationships/notesMaster" Target="/ppt/notesMasters/notesMaster1.xml" Id="Rdfda9756980546fb"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3a48153f70c44ebe" /><Relationship Type="http://schemas.openxmlformats.org/officeDocument/2006/relationships/notesMaster" Target="/ppt/notesMasters/notesMaster1.xml" Id="R53ac690ce30d48d7"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7d893fadc6a84869" /><Relationship Type="http://schemas.openxmlformats.org/officeDocument/2006/relationships/notesMaster" Target="/ppt/notesMasters/notesMaster1.xml" Id="Ref7db53c284c427e"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76000473d8744e51" /><Relationship Type="http://schemas.openxmlformats.org/officeDocument/2006/relationships/notesMaster" Target="/ppt/notesMasters/notesMaster1.xml" Id="Rbcde502878ce4d54"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6c044d43836e4095" /><Relationship Type="http://schemas.openxmlformats.org/officeDocument/2006/relationships/notesMaster" Target="/ppt/notesMasters/notesMaster1.xml" Id="R78b19e93f1254b5b"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56d1db7b31a24278" /><Relationship Type="http://schemas.openxmlformats.org/officeDocument/2006/relationships/notesMaster" Target="/ppt/notesMasters/notesMaster1.xml" Id="R881a2b1569324bea"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f4dcfffdbc744d04" /><Relationship Type="http://schemas.openxmlformats.org/officeDocument/2006/relationships/notesMaster" Target="/ppt/notesMasters/notesMaster1.xml" Id="R2340485e1d6a4ac7"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8086d6c2f5ed4786" /><Relationship Type="http://schemas.openxmlformats.org/officeDocument/2006/relationships/notesMaster" Target="/ppt/notesMasters/notesMaster1.xml" Id="Rd4529d5ead634163"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89180b13753240b0" /><Relationship Type="http://schemas.openxmlformats.org/officeDocument/2006/relationships/notesMaster" Target="/ppt/notesMasters/notesMaster1.xml" Id="Rbd48c3c614bc43e9"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164cb84f9af84379" /><Relationship Type="http://schemas.openxmlformats.org/officeDocument/2006/relationships/notesMaster" Target="/ppt/notesMasters/notesMaster1.xml" Id="R232e096184ed48da"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71ecc8018f304753" /><Relationship Type="http://schemas.openxmlformats.org/officeDocument/2006/relationships/notesMaster" Target="/ppt/notesMasters/notesMaster1.xml" Id="Rf70ee47d5c6447f7"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76e0a135c06f4984" /><Relationship Type="http://schemas.openxmlformats.org/officeDocument/2006/relationships/notesMaster" Target="/ppt/notesMasters/notesMaster1.xml" Id="R65edaa71be604446"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a59ad97f47164351" /><Relationship Type="http://schemas.openxmlformats.org/officeDocument/2006/relationships/notesMaster" Target="/ppt/notesMasters/notesMaster1.xml" Id="R6ca3aa02ec844607"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88395194f10e468a" /><Relationship Type="http://schemas.openxmlformats.org/officeDocument/2006/relationships/notesMaster" Target="/ppt/notesMasters/notesMaster1.xml" Id="R6a0401b843e84f2f"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890e9dcbaf0d4d24" /><Relationship Type="http://schemas.openxmlformats.org/officeDocument/2006/relationships/notesMaster" Target="/ppt/notesMasters/notesMaster1.xml" Id="Rabbc7af530954a6c"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S56 — AI가 일할 방법과 환경 설계하기</a:t>
            </a:r>
          </a:p>
          <a:p xmlns:a="http://schemas.openxmlformats.org/drawingml/2006/main">
            <a:r>
              <a:t/>
            </a:r>
          </a:p>
          <a:p xmlns:a="http://schemas.openxmlformats.org/drawingml/2006/main">
            <a:r>
              <a:t>**Slide ID:**</a:t>
            </a:r>
          </a:p>
          <a:p xmlns:a="http://schemas.openxmlformats.org/drawingml/2006/main">
            <a:r>
              <a:t>S56</a:t>
            </a:r>
          </a:p>
          <a:p xmlns:a="http://schemas.openxmlformats.org/drawingml/2006/main">
            <a:r>
              <a:t/>
            </a:r>
          </a:p>
          <a:p xmlns:a="http://schemas.openxmlformats.org/drawingml/2006/main">
            <a:r>
              <a:t>**Working Title:**</a:t>
            </a:r>
          </a:p>
          <a:p xmlns:a="http://schemas.openxmlformats.org/drawingml/2006/main">
            <a:r>
              <a:t>AI가 일할 방법과 환경 설계하기</a:t>
            </a:r>
          </a:p>
          <a:p xmlns:a="http://schemas.openxmlformats.org/drawingml/2006/main">
            <a:r>
              <a:t/>
            </a:r>
          </a:p>
          <a:p xmlns:a="http://schemas.openxmlformats.org/drawingml/2006/main">
            <a:r>
              <a:t>**ACT / Section:**</a:t>
            </a:r>
          </a:p>
          <a:p xmlns:a="http://schemas.openxmlformats.org/drawingml/2006/main">
            <a:r>
              <a:t>ACT 3 / 3A Repeated Procedure</a:t>
            </a:r>
          </a:p>
          <a:p xmlns:a="http://schemas.openxmlformats.org/drawingml/2006/main">
            <a:r>
              <a:t/>
            </a:r>
          </a:p>
          <a:p xmlns:a="http://schemas.openxmlformats.org/drawingml/2006/main">
            <a:r>
              <a:t>**Allocated Time:**</a:t>
            </a:r>
          </a:p>
          <a:p xmlns:a="http://schemas.openxmlformats.org/drawingml/2006/main">
            <a:r>
              <a:t>1 minute</a:t>
            </a:r>
          </a:p>
          <a:p xmlns:a="http://schemas.openxmlformats.org/drawingml/2006/main">
            <a:r>
              <a:t/>
            </a:r>
          </a:p>
          <a:p xmlns:a="http://schemas.openxmlformats.org/drawingml/2006/main">
            <a:r>
              <a:t>**Mode Split:**</a:t>
            </a:r>
          </a:p>
          <a:p xmlns:a="http://schemas.openxmlformats.org/drawingml/2006/main">
            <a:r>
              <a:t>Transition 1분</a:t>
            </a:r>
          </a:p>
          <a:p xmlns:a="http://schemas.openxmlformats.org/drawingml/2006/main">
            <a:r>
              <a:t/>
            </a:r>
          </a:p>
          <a:p xmlns:a="http://schemas.openxmlformats.org/drawingml/2006/main">
            <a:r>
              <a:t>**Primary Message:**</a:t>
            </a:r>
          </a:p>
          <a:p xmlns:a="http://schemas.openxmlformats.org/drawingml/2006/main">
            <a:r>
              <a:t>AI가 일할 방법과 환경 설계하기 — Harness Engineering · 수행 체계 설계</a:t>
            </a:r>
          </a:p>
          <a:p xmlns:a="http://schemas.openxmlformats.org/drawingml/2006/main">
            <a:r>
              <a:t/>
            </a:r>
          </a:p>
          <a:p xmlns:a="http://schemas.openxmlformats.org/drawingml/2006/main">
            <a:r>
              <a:t>**Opening Question:**</a:t>
            </a:r>
          </a:p>
          <a:p xmlns:a="http://schemas.openxmlformats.org/drawingml/2006/main">
            <a:r>
              <a:t>“이번 ACT에서는 어떤 관점으로 다음 문제를 살펴볼까?”</a:t>
            </a:r>
          </a:p>
          <a:p xmlns:a="http://schemas.openxmlformats.org/drawingml/2006/main">
            <a:r>
              <a:t/>
            </a:r>
          </a:p>
          <a:p xmlns:a="http://schemas.openxmlformats.org/drawingml/2006/main">
            <a:r>
              <a:t>**Speaker Flow:**</a:t>
            </a:r>
          </a:p>
          <a:p xmlns:a="http://schemas.openxmlformats.org/drawingml/2006/main">
            <a:r>
              <a:t>1. (0:00–0:20 / Transition) ACT 3의 제목 “AI가 일할 방법과 환경 설계하기”을 가리키며 구간을 연다.</a:t>
            </a:r>
          </a:p>
          <a:p xmlns:a="http://schemas.openxmlformats.org/drawingml/2006/main">
            <a:r>
              <a:t>2. (0:20–0:40 / Transition) 부제 “Harness Engineering · 수행 체계 설계”는 이번 구간의 관점만 안내한다. 구체적 기능·해결 방법·결과는 앞서 설명하지 않는다.</a:t>
            </a:r>
          </a:p>
          <a:p xmlns:a="http://schemas.openxmlformats.org/drawingml/2006/main">
            <a:r>
              <a:t>3. (0:40–1:00 / Transition) S57의 기존 첫 문제로 이동한다. 본문의 질문·성찰을 이 장에서 대신 진행하지 않는다.</a:t>
            </a:r>
          </a:p>
          <a:p xmlns:a="http://schemas.openxmlformats.org/drawingml/2006/main">
            <a:r>
              <a:t/>
            </a:r>
          </a:p>
          <a:p xmlns:a="http://schemas.openxmlformats.org/drawingml/2006/main">
            <a:r>
              <a:t>**Evidence / Source:**</a:t>
            </a:r>
          </a:p>
          <a:p xmlns:a="http://schemas.openxmlformats.org/drawingml/2006/main">
            <a:r>
              <a:t>DEC-0090. 사용자가 승인한 ACT 제목·부제, plan/MASTER_PLAN.md의 여정과 현행 plan/SLIDE_MAP.md. 새 Trial·연구·제품 검증은 없다.</a:t>
            </a:r>
          </a:p>
          <a:p xmlns:a="http://schemas.openxmlformats.org/drawingml/2006/main">
            <a:r>
              <a:t/>
            </a:r>
          </a:p>
          <a:p xmlns:a="http://schemas.openxmlformats.org/drawingml/2006/main">
            <a:r>
              <a:t>**Claim Boundary:**</a:t>
            </a:r>
          </a:p>
          <a:p xmlns:a="http://schemas.openxmlformats.org/drawingml/2006/main">
            <a:r>
              <a:t>TEACHING MODEL — ACT 주제 안내이며 새 제품 기능·Trial·성과·현재 제품 지원을 주장하지 않는다.</a:t>
            </a:r>
          </a:p>
          <a:p xmlns:a="http://schemas.openxmlformats.org/drawingml/2006/main">
            <a:r>
              <a:t/>
            </a:r>
          </a:p>
          <a:p xmlns:a="http://schemas.openxmlformats.org/drawingml/2006/main">
            <a:r>
              <a:t>**Beginner Explanation:**</a:t>
            </a:r>
          </a:p>
          <a:p xmlns:a="http://schemas.openxmlformats.org/drawingml/2006/main">
            <a:r>
              <a:t>지금부터 살펴볼 주제와 앞 구간과의 경계를 알아본다.</a:t>
            </a:r>
          </a:p>
          <a:p xmlns:a="http://schemas.openxmlformats.org/drawingml/2006/main">
            <a:r>
              <a:t/>
            </a:r>
          </a:p>
          <a:p xmlns:a="http://schemas.openxmlformats.org/drawingml/2006/main">
            <a:r>
              <a:t>**Advanced Insight:**</a:t>
            </a:r>
          </a:p>
          <a:p xmlns:a="http://schemas.openxmlformats.org/drawingml/2006/main">
            <a:r>
              <a:t>해당 ACT가 다루는 설계 책임의 범위를 짧게 확인한다.</a:t>
            </a:r>
          </a:p>
          <a:p xmlns:a="http://schemas.openxmlformats.org/drawingml/2006/main">
            <a:r>
              <a:t/>
            </a:r>
          </a:p>
          <a:p xmlns:a="http://schemas.openxmlformats.org/drawingml/2006/main">
            <a:r>
              <a:t>**C++ Vision Bridge:**</a:t>
            </a:r>
          </a:p>
          <a:p xmlns:a="http://schemas.openxmlformats.org/drawingml/2006/main">
            <a:r>
              <a:t>N/A — 기존 본문에 있는 C++ 연결을 유지한다.</a:t>
            </a:r>
          </a:p>
          <a:p xmlns:a="http://schemas.openxmlformats.org/drawingml/2006/main">
            <a:r>
              <a:t/>
            </a:r>
          </a:p>
          <a:p xmlns:a="http://schemas.openxmlformats.org/drawingml/2006/main">
            <a:r>
              <a:t>**Demo Operation:**</a:t>
            </a:r>
          </a:p>
          <a:p xmlns:a="http://schemas.openxmlformats.org/drawingml/2006/main">
            <a:r>
              <a:t>N/A — 정적 제목 화면. 새 Demo 또는 실행을 시작하지 않는다.</a:t>
            </a:r>
          </a:p>
          <a:p xmlns:a="http://schemas.openxmlformats.org/drawingml/2006/main">
            <a:r>
              <a:t/>
            </a:r>
          </a:p>
          <a:p xmlns:a="http://schemas.openxmlformats.org/drawingml/2006/main">
            <a:r>
              <a:t>**Audience Interaction:**</a:t>
            </a:r>
          </a:p>
          <a:p xmlns:a="http://schemas.openxmlformats.org/drawingml/2006/main">
            <a:r>
              <a:t>N/A — 본문의 질문·성찰을 이 장에서 중복 운영하지 않는다.</a:t>
            </a:r>
          </a:p>
          <a:p xmlns:a="http://schemas.openxmlformats.org/drawingml/2006/main">
            <a:r>
              <a:t/>
            </a:r>
          </a:p>
          <a:p xmlns:a="http://schemas.openxmlformats.org/drawingml/2006/main">
            <a:r>
              <a:t>**Transition:**</a:t>
            </a:r>
          </a:p>
          <a:p xmlns:a="http://schemas.openxmlformats.org/drawingml/2006/main">
            <a:r>
              <a:t>“이제 이 관점에서 첫 문제를 보겠습니다.”라고 S57 — 두 실제 요청에 같은 절차가 반복됐다로 이어간다.</a:t>
            </a:r>
          </a:p>
          <a:p xmlns:a="http://schemas.openxmlformats.org/drawingml/2006/main">
            <a:r>
              <a:t/>
            </a:r>
          </a:p>
          <a:p xmlns:a="http://schemas.openxmlformats.org/drawingml/2006/main">
            <a:r>
              <a:t>**Time Management:**</a:t>
            </a:r>
          </a:p>
          <a:p xmlns:a="http://schemas.openxmlformats.org/drawingml/2006/main">
            <a:r>
              <a:t>Transition 1분. 기존 본문 시간을 줄이거나 중복 계산하지 않는다. ACT 3 총96분, 전체406분이다. 제목·부제만 안내하고1분에 S57로 넘긴다. 실측 리허설 UNVERIFIED.</a:t>
            </a:r>
          </a:p>
          <a:p xmlns:a="http://schemas.openxmlformats.org/drawingml/2006/main">
            <a:r>
              <a:t/>
            </a:r>
          </a:p>
          <a:p xmlns:a="http://schemas.openxmlformats.org/drawingml/2006/main">
            <a:r>
              <a:t>**Fallback:**</a:t>
            </a:r>
          </a:p>
          <a:p xmlns:a="http://schemas.openxmlformats.org/drawingml/2006/main">
            <a:r>
              <a:t>LOCAL STATIC ARTIFACT — production/preview/full/S56.png 또는 production/ACT_3.pptx의 같은 제목 장. 실제 제품 실행으로 대체하지 않는다.</a:t>
            </a:r>
          </a:p>
          <a:p xmlns:a="http://schemas.openxmlformats.org/drawingml/2006/main">
            <a:r>
              <a:t/>
            </a:r>
          </a:p>
          <a:p xmlns:a="http://schemas.openxmlformats.org/drawingml/2006/main">
            <a:r>
              <a:t>**Validation Status:**</a:t>
            </a:r>
          </a:p>
          <a:p xmlns:a="http://schemas.openxmlformats.org/drawingml/2006/main">
            <a:r>
              <a:t>CONTENT ALIGNED — DEC-0090. 로컬 패키지/Notes/렌더 대조는 production/evaluation/ACT_TITLE_SLIDES.md에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S57 — 두 실제 요청에 같은 절차가 반복됐다</a:t>
            </a:r>
          </a:p>
          <a:p xmlns:a="http://schemas.openxmlformats.org/drawingml/2006/main">
            <a:r>
              <a:t/>
            </a:r>
          </a:p>
          <a:p xmlns:a="http://schemas.openxmlformats.org/drawingml/2006/main">
            <a:r>
              <a:t>Slide ID: S57</a:t>
            </a:r>
          </a:p>
          <a:p xmlns:a="http://schemas.openxmlformats.org/drawingml/2006/main">
            <a:r>
              <a:t/>
            </a:r>
          </a:p>
          <a:p xmlns:a="http://schemas.openxmlformats.org/drawingml/2006/main">
            <a:r>
              <a:t>Working Title: 두 실제 요청에 같은 절차가 반복됐다</a:t>
            </a:r>
          </a:p>
          <a:p xmlns:a="http://schemas.openxmlformats.org/drawingml/2006/main">
            <a:r>
              <a:t/>
            </a:r>
          </a:p>
          <a:p xmlns:a="http://schemas.openxmlformats.org/drawingml/2006/main">
            <a:r>
              <a:t>ACT / Section: ACT 3 / 3A</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서로 다른 두 성능 요청의 조사·계획·변경·검증 지시가 반복됐다. ACT3에서는 이 방법과 실행·검증 환경을 유지하는 문제를 다룬다.</a:t>
            </a:r>
          </a:p>
          <a:p xmlns:a="http://schemas.openxmlformats.org/drawingml/2006/main">
            <a:r>
              <a:t/>
            </a:r>
          </a:p>
          <a:p xmlns:a="http://schemas.openxmlformats.org/drawingml/2006/main">
            <a:r>
              <a:t>Opening Question: “목표가 달라도 왜 같은 작업 방법을 다시 요청할까?”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S55의 절차 유지 질문을 회수하고 Harness를 작업 방법과 실행·검증 환경 설계라고 짧게 안내한다. 완성 구조를 먼저 제시하지 않는다.</a:t>
            </a:r>
          </a:p>
          <a:p xmlns:a="http://schemas.openxmlformats.org/drawingml/2006/main">
            <a:r>
              <a:t>2. (1:00–4:00) 크기 변경과 픽셀값 정규화의 기존 삽화는 기능 설명용임을 밝히고, A의 실제 요청 발췌 번역과 B의 보존 요청 요약을 세 행으로 대응한다.</a:t>
            </a:r>
          </a:p>
          <a:p xmlns:a="http://schemas.openxmlformats.org/drawingml/2006/main">
            <a:r>
              <a:t>3. (4:00–5:00) 반복 지시와 관찰 실행을 구분하고 전역 Harness 영향 때문에 Prompt 단독 효과 귀속은 PARTIAL임을 유지한다.</a:t>
            </a:r>
          </a:p>
          <a:p xmlns:a="http://schemas.openxmlformats.org/drawingml/2006/main">
            <a:r>
              <a:t/>
            </a:r>
          </a:p>
          <a:p xmlns:a="http://schemas.openxmlformats.org/drawingml/2006/main">
            <a:r>
              <a:t>Evidence / Source: TRIAL-006 Actual Prompt and Repeated Workflow Elements; TRIAL-007 retained Task Prompt summary / plan/DEMO_MATRIX.md; DEC-0017, DEC-0060. A is translated excerpt; B is translated retained summary, not verbatim full prompt. Functional images are approved AI-generated teaching illustrations. No new execution.</a:t>
            </a:r>
          </a:p>
          <a:p xmlns:a="http://schemas.openxmlformats.org/drawingml/2006/main">
            <a:r>
              <a:t/>
            </a:r>
          </a:p>
          <a:p xmlns:a="http://schemas.openxmlformats.org/drawingml/2006/main">
            <a:r>
              <a:t>Claim Boundary: 유사한 절차가 관찰됐지만 Prompt만의 효과로 귀속하지 않는다. 개별 성능 결과는 해당 코드·입력·환경에 한정한다. 그림은 기능 설명용 개념 예시이며 Trial의 입력·출력 파일이나 최적화 전후 결과가 아니다. DEC-0062는 기존 관찰·측정 조건과 효과 미입증 경계를 유지한다.</a:t>
            </a:r>
          </a:p>
          <a:p xmlns:a="http://schemas.openxmlformats.org/drawingml/2006/main">
            <a:r>
              <a:t/>
            </a:r>
          </a:p>
          <a:p xmlns:a="http://schemas.openxmlformats.org/drawingml/2006/main">
            <a:r>
              <a:t>Beginner Explanation: 서로 다른 작업에서도 조사하고 확인하는 순서가 반복될 수 있다.</a:t>
            </a:r>
          </a:p>
          <a:p xmlns:a="http://schemas.openxmlformats.org/drawingml/2006/main">
            <a:r>
              <a:t/>
            </a:r>
          </a:p>
          <a:p xmlns:a="http://schemas.openxmlformats.org/drawingml/2006/main">
            <a:r>
              <a:t>Advanced Insight: Task별 목표와 지속해서 재사용할 절차를 구분하고, Global Harness가 미친 영향을 고려한다. 기존 삽화의 기능 예(0–4095→0–255,2048→128)는 교육용 정규화 설명으로만 유지한다. 실제 Trial 입력/출력·성능 전후를 표시한 것이 아니다. 화면에서는 기능 목표만 짚고 지시 비교에 집중한다.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정적 기본 경로 — 기존 기능 삽화와 실제 요청 발췌/보존 요약의 세 행 대응을 유지한다. 상단에 Harness의 짧은 방향 안내만 추가하고 완성 구조는 후반에 둔다. 현재 제품이나 Demo repository를 실행하지 않는다. 새 Trial·비교 측정을 만들지 않는다.</a:t>
            </a:r>
          </a:p>
          <a:p xmlns:a="http://schemas.openxmlformats.org/drawingml/2006/main">
            <a:r>
              <a:t/>
            </a:r>
          </a:p>
          <a:p xmlns:a="http://schemas.openxmlformats.org/drawingml/2006/main">
            <a:r>
              <a:t>Audience Interaction: 필수 실습·공개 답변 없이 화면의 핵심 관계를 따라오게 한다. 장별 기존 시간·Mode 안에서 짧은 예측 질문만 사용한다.</a:t>
            </a:r>
          </a:p>
          <a:p xmlns:a="http://schemas.openxmlformats.org/drawingml/2006/main">
            <a:r>
              <a:t/>
            </a:r>
          </a:p>
          <a:p xmlns:a="http://schemas.openxmlformats.org/drawingml/2006/main">
            <a:r>
              <a:t>Transition: “반복된 것은 명령 하나뿐일까요? 그 명령을 언제 쓰고 결과로 무엇을 판단할지도 보겠습니다.”</a:t>
            </a:r>
          </a:p>
          <a:p xmlns:a="http://schemas.openxmlformats.org/drawingml/2006/main">
            <a:r>
              <a:t/>
            </a:r>
          </a:p>
          <a:p xmlns:a="http://schemas.openxmlformats.org/drawingml/2006/main">
            <a:r>
              <a:t>Time Management: Case5분: 방향/과제1, 두 기록 대응3, 한계/전환1.</a:t>
            </a:r>
          </a:p>
          <a:p xmlns:a="http://schemas.openxmlformats.org/drawingml/2006/main">
            <a:r>
              <a:t/>
            </a:r>
          </a:p>
          <a:p xmlns:a="http://schemas.openxmlformats.org/drawingml/2006/main">
            <a:r>
              <a:t>Fallback: LOCAL STATIC ARTIFACT — production/ACT_3.pptx / S57, production/preview/act3/S57.png 및 production/preview/full/S57.png. 실제 캡처·현재 제품 실행이 아닌 표시된 기록 요약/가정/모델의 범위로 설명한다. 최종 파일 대조는 production/evaluation/ACT_3_FLOW_REVISION.md를 따른다.</a:t>
            </a:r>
          </a:p>
          <a:p xmlns:a="http://schemas.openxmlformats.org/drawingml/2006/main">
            <a:r>
              <a:t/>
            </a:r>
          </a:p>
          <a:p xmlns:a="http://schemas.openxmlformats.org/drawingml/2006/main">
            <a:r>
              <a:t>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S58 — 테스트 명령을 언제 쓰고 무엇을 판단할까?</a:t>
            </a:r>
          </a:p>
          <a:p xmlns:a="http://schemas.openxmlformats.org/drawingml/2006/main">
            <a:r>
              <a:t/>
            </a:r>
          </a:p>
          <a:p xmlns:a="http://schemas.openxmlformats.org/drawingml/2006/main">
            <a:r>
              <a:t>Slide ID: S58</a:t>
            </a:r>
          </a:p>
          <a:p xmlns:a="http://schemas.openxmlformats.org/drawingml/2006/main">
            <a:r>
              <a:t/>
            </a:r>
          </a:p>
          <a:p xmlns:a="http://schemas.openxmlformats.org/drawingml/2006/main">
            <a:r>
              <a:t>Working Title: 테스트 명령을 언제 쓰고 무엇을 판단할까?</a:t>
            </a:r>
          </a:p>
          <a:p xmlns:a="http://schemas.openxmlformats.org/drawingml/2006/main">
            <a:r>
              <a:t/>
            </a:r>
          </a:p>
          <a:p xmlns:a="http://schemas.openxmlformats.org/drawingml/2006/main">
            <a:r>
              <a:t>ACT / Section: ACT 3 / 3A</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테스트 명령·명세·측정 방법을 작업의 어느 시점에 사용하고, 그 결과로 무엇을 판단할지 함께 정한다. 이 수행 방법도 AGENTS.md에 기록할 수 있다.</a:t>
            </a:r>
          </a:p>
          <a:p xmlns:a="http://schemas.openxmlformats.org/drawingml/2006/main">
            <a:r>
              <a:t/>
            </a:r>
          </a:p>
          <a:p xmlns:a="http://schemas.openxmlformats.org/drawingml/2006/main">
            <a:r>
              <a:t>Opening Question: “같은 테스트 명령을 변경 전과 변경 후에 실행하면 각각 무엇을 확인할까?”</a:t>
            </a:r>
          </a:p>
          <a:p xmlns:a="http://schemas.openxmlformats.org/drawingml/2006/main">
            <a:r>
              <a:t/>
            </a:r>
          </a:p>
          <a:p xmlns:a="http://schemas.openxmlformats.org/drawingml/2006/main">
            <a:r>
              <a:t>**Speaker Flow:**</a:t>
            </a:r>
          </a:p>
          <a:p xmlns:a="http://schemas.openxmlformats.org/drawingml/2006/main">
            <a:r>
              <a:t>1. (0:00–0:45) S57의 두 요청에서 반복된 방법을 회수한다. normalize 성능 조사를 예로 들고 상단의 테스트 실행 방법·동작 명세·측정 방법은 프로젝트에서 확인할 정보임을 짚는다.</a:t>
            </a:r>
          </a:p>
          <a:p xmlns:a="http://schemas.openxmlformats.org/drawingml/2006/main">
            <a:r>
              <a:t>2. (0:45–2:15) 변경 전과 변경 후의 같은 테스트 실행 표시를 차례로 가리킨다. 전자는 원래 상태, 후자는 변경 영향을 확인하려는 것이다. 성능도 같은 입력·조건으로 비교할 기준을 먼저 확보한다. 테스트 결과가 명세 전체의 충족을 자동 보장하지는 않는다.</a:t>
            </a:r>
          </a:p>
          <a:p xmlns:a="http://schemas.openxmlformats.org/drawingml/2006/main">
            <a:r>
              <a:t>3. (2:15–3:15) 완료 판단에서 동작 보존과 측정 결과, 미확인 사항을 함께 보고하도록 연결한다. 기존 실패나 근거 부족이 있으면 원인·범위를 먼저 확인하고 필요하면 변경을 보류한다. 화면은 실제 로그나 새 실행 결과가 아니다.</a:t>
            </a:r>
          </a:p>
          <a:p xmlns:a="http://schemas.openxmlformats.org/drawingml/2006/main">
            <a:r>
              <a:t>4. (3:15–4:00) 명령뿐 아니라 사용 시점과 판단 기준까지 수행 방법에 포함됨을 회수한다. 이 내용도 AGENTS.md에 쓸 수 있다. 저장 위치 선택은 아직 답하지 않고 S59의 이번 목표·프로젝트 기준·수행 방법 결합으로 넘어간다.</a:t>
            </a:r>
          </a:p>
          <a:p xmlns:a="http://schemas.openxmlformats.org/drawingml/2006/main">
            <a:r>
              <a:t>운영 표시: “실무 적용 팁 · 수행 방법”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 BEAT-019; plan/DEMO_MATRIX.md의 TRIAL-006/007 반복 요청과 보존 조건; DEC-0062, DEC-0063. TEACHING_MODEL / CONCEPTUAL. normalize는 기존 기능 예시이며 화면은 해당 Trial의 정확한 실행 순서나 AGENTS.md 원문을 재현한 것이 아니다.</a:t>
            </a:r>
          </a:p>
          <a:p xmlns:a="http://schemas.openxmlformats.org/drawingml/2006/main">
            <a:r>
              <a:t/>
            </a:r>
          </a:p>
          <a:p xmlns:a="http://schemas.openxmlformats.org/drawingml/2006/main">
            <a:r>
              <a:t>Claim Boundary: 기존 TEACHING_MODEL / CONCEPTUAL 범위를 유지한다. 실제 PASS/FAIL·수치·Agent 실행 trace를 제시하지 않는다. Context와 절차는 배타적인 파일 분류가 아니며 AGENTS.md에도 방법을 기록할 수 있다. 테스트 성공만으로 명세 전체 충족을 증명하거나 Skill 필수성·우월성·토큰 절감·Harness 단독 효과를 주장하지 않는다. 제품 기능이나 현재 Desktop 동작의 검증 근거로 사용하지 않는다.</a:t>
            </a:r>
          </a:p>
          <a:p xmlns:a="http://schemas.openxmlformats.org/drawingml/2006/main">
            <a:r>
              <a:t/>
            </a:r>
          </a:p>
          <a:p xmlns:a="http://schemas.openxmlformats.org/drawingml/2006/main">
            <a:r>
              <a:t>Beginner Explanation: 같은 테스트 명령을 실행해도 변경 전에는 원래 상태를, 변경 후에는 내 변경의 영향을 확인한다. 언제 실행하고 무엇을 확인할지도 요청이나 재사용할 방법에 적는다.</a:t>
            </a:r>
          </a:p>
          <a:p xmlns:a="http://schemas.openxmlformats.org/drawingml/2006/main">
            <a:r>
              <a:t/>
            </a:r>
          </a:p>
          <a:p xmlns:a="http://schemas.openxmlformats.org/drawingml/2006/main">
            <a:r>
              <a:t>Advanced Insight: 기존 실패와 변경 후 결과를 구분하고 같은 조건의 측정과 미확인 범위를 함께 보고해야 한다. 명령·명세의 출처와 이를 사용하는 수행 방법은 함께 관리할 수 있으며 위치 선택 자체가 실행 준수나 인과성을 보장하지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STATIC TEACHING DIAGRAM — 상단 정보 묶음에서 아래 세 시점으로 내려가는 연결을 먼저 짚는다. 같은 테스트 실행 표시 두 개와 서로 다른 확인 질문을 대응한 뒤 완료 판단으로 이동한다. 실제 실행 화면·새 측정·현재 제품 사용은 없다.</a:t>
            </a:r>
          </a:p>
          <a:p xmlns:a="http://schemas.openxmlformats.org/drawingml/2006/main">
            <a:r>
              <a:t/>
            </a:r>
          </a:p>
          <a:p xmlns:a="http://schemas.openxmlformats.org/drawingml/2006/main">
            <a:r>
              <a:t>Audience Interaction: Opening Question은 발표자가 짧게 던지고 세 시점의 질문으로 설명한다. 답변 대기나 별도 Q&amp;A 시간을 추가하지 않고 Lecture4분 안에서 진행한다.</a:t>
            </a:r>
          </a:p>
          <a:p xmlns:a="http://schemas.openxmlformats.org/drawingml/2006/main">
            <a:r>
              <a:t/>
            </a:r>
          </a:p>
          <a:p xmlns:a="http://schemas.openxmlformats.org/drawingml/2006/main">
            <a:r>
              <a:t>Transition: “지금 본 수행 방법을 이번 요청의 목표, 프로젝트 기준과 함께 놓아 보겠습니다.”</a:t>
            </a:r>
          </a:p>
          <a:p xmlns:a="http://schemas.openxmlformats.org/drawingml/2006/main">
            <a:r>
              <a:t/>
            </a:r>
          </a:p>
          <a:p xmlns:a="http://schemas.openxmlformats.org/drawingml/2006/main">
            <a:r>
              <a:t>Time Management: Lecture4분: 반복 요청·상단 정보0.75, 변경 전/후1.5, 완료 판단1, S59 연결0.75. 시간이 부족하면 기존 실패의 확장 예를 줄이고 같은 명령/다른 질문과 교육용 경계는 유지한다.</a:t>
            </a:r>
          </a:p>
          <a:p xmlns:a="http://schemas.openxmlformats.org/drawingml/2006/main">
            <a:r>
              <a:t/>
            </a:r>
          </a:p>
          <a:p xmlns:a="http://schemas.openxmlformats.org/drawingml/2006/main">
            <a:r>
              <a:t>Fallback: LOCAL STATIC ARTIFACT — production/ACT_3.pptx / S58, production/preview/act3/S58.png 및 production/preview/full/S58.png. 실제 실행 캡처가 아닌 교육용 수행 예시다. 최종 패키지·PNG·내장 Notes 확인은 production/evaluation/S51_COMMAND_WORKFLOW_REVISION.md를 따른다.</a:t>
            </a:r>
          </a:p>
          <a:p xmlns:a="http://schemas.openxmlformats.org/drawingml/2006/main">
            <a:r>
              <a:t/>
            </a:r>
          </a:p>
          <a:p xmlns:a="http://schemas.openxmlformats.org/drawingml/2006/main">
            <a:r>
              <a:t>Validation Status: ALIGNED — DEC-0063의 교육용 경계·19필드·운영 흐름을 정렬했다. 실제 파일 렌더·Notes 대조 결과는 production/evaluation/S51_COMMAND_WORKFLOW_REVISION.md에 별도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S59 — 목표·기준·방법을 한 작업에 적용한다</a:t>
            </a:r>
          </a:p>
          <a:p xmlns:a="http://schemas.openxmlformats.org/drawingml/2006/main">
            <a:r>
              <a:t/>
            </a:r>
          </a:p>
          <a:p xmlns:a="http://schemas.openxmlformats.org/drawingml/2006/main">
            <a:r>
              <a:t>Slide ID: S59</a:t>
            </a:r>
          </a:p>
          <a:p xmlns:a="http://schemas.openxmlformats.org/drawingml/2006/main">
            <a:r>
              <a:t/>
            </a:r>
          </a:p>
          <a:p xmlns:a="http://schemas.openxmlformats.org/drawingml/2006/main">
            <a:r>
              <a:t>Working Title: 목표·기준·방법을 한 작업에 적용한다</a:t>
            </a:r>
          </a:p>
          <a:p xmlns:a="http://schemas.openxmlformats.org/drawingml/2006/main">
            <a:r>
              <a:t/>
            </a:r>
          </a:p>
          <a:p xmlns:a="http://schemas.openxmlformats.org/drawingml/2006/main">
            <a:r>
              <a:t>ACT / Section: ACT 3 / 3B</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normalize 성능 조사라는 이번 목표를, 기존 이미지 동작·공개 명세를 보존하는 범위에서, 재사용할 측정·조사·검증·비교 방법을 적용해 수행한다.</a:t>
            </a:r>
          </a:p>
          <a:p xmlns:a="http://schemas.openxmlformats.org/drawingml/2006/main">
            <a:r>
              <a:t/>
            </a:r>
          </a:p>
          <a:p xmlns:a="http://schemas.openxmlformats.org/drawingml/2006/main">
            <a:r>
              <a:t>Opening Question: “이번 목표를 향해 작업할 때, 무엇을 지키고 어떤 방법으로 진행할까?”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S58에서 명령의 사용 시점·판단 기준까지 정한 방법을 봤음을 한 문장으로 회수한다. 상단 이번 목표 ‘normalize 성능을 조사해줘’를 읽고, 아래 작업 영역으로 들어가는 연결을 짚는다. S58의 전/후 실행을 다시 강의하지 않는다.</a:t>
            </a:r>
          </a:p>
          <a:p xmlns:a="http://schemas.openxmlformats.org/drawingml/2006/main">
            <a:r>
              <a:t>2. (1:00–2:30) 작업을 감싸는 프로젝트 기준 테두리를 따라 기존 이미지 동작과 공개 명세 보존을 설명한다. 성능 조사라는 목표가 명세 변경의 허가가 되지는 않는다. 중앙은 그 범위 안에서 normalize 구현을 조사하고 변경 여부를 판단하는 한 작업이다.</a:t>
            </a:r>
          </a:p>
          <a:p xmlns:a="http://schemas.openxmlformats.org/drawingml/2006/main">
            <a:r>
              <a:t>3. (2:30–4:00) 오른쪽 재사용할 수행 방법에서 중앙 작업으로 향하는 연결을 짚는다. 앞서 본 측정·조사·검증·비교 방법을 이번 목표와 기준에 맞게 적용한다. 방법의 저장 파일이나 Skill 호출을 미리 답하지 않는다. 근거가 부족하면 변경하지 않는 판단도 가능하다.</a:t>
            </a:r>
          </a:p>
          <a:p xmlns:a="http://schemas.openxmlformats.org/drawingml/2006/main">
            <a:r>
              <a:t>4. (4:00–5:00) 목표는 바뀌어도 프로젝트 기준과 같은 수행 방법은 다음 관련 작업에서도 다시 필요할 수 있음을 묻는다. S60에서 반복할 방법을 어디에서 유지할지 선택하도록 연결한다.</a:t>
            </a:r>
          </a:p>
          <a:p xmlns:a="http://schemas.openxmlformats.org/drawingml/2006/main">
            <a:r>
              <a:t/>
            </a:r>
          </a:p>
          <a:p xmlns:a="http://schemas.openxmlformats.org/drawingml/2006/main">
            <a:r>
              <a:t>Evidence / Source: BEAT-019; plan/DEMO_MATRIX.md의 TRIAL-006/007 목표·보존 조건·반복 요청; DEC-0062, DEC-0063, DEC-0064. TEACHING_MODEL / CONCEPTUAL. 실제 요청을 그대로 실행한 기록이나 새로운 normalize Trial이 아니다.</a:t>
            </a:r>
          </a:p>
          <a:p xmlns:a="http://schemas.openxmlformats.org/drawingml/2006/main">
            <a:r>
              <a:t/>
            </a:r>
          </a:p>
          <a:p xmlns:a="http://schemas.openxmlformats.org/drawingml/2006/main">
            <a:r>
              <a:t>Claim Boundary: 목표·기준·수행 방법의 관계는 교육용 모델이며 제품의 공식 분류나 Harness 전체 정의가 아니다. 테두리는 수행 의무를 설명하며 기술적 강제 장치·준수 보장이나 명세 충족의 증명이 아니다. 세 책임은 같은 문서에도 담을 수 있다. 새 실행 결과, 성능 수치, Skill 필수성·우월성, 토큰 절감, Harness 단독 효과, 현재 Desktop 재현을 주장하지 않는다. 기존 실제 Trial의 관찰·귀속 한계를 유지한다.</a:t>
            </a:r>
          </a:p>
          <a:p xmlns:a="http://schemas.openxmlformats.org/drawingml/2006/main">
            <a:r>
              <a:t/>
            </a:r>
          </a:p>
          <a:p xmlns:a="http://schemas.openxmlformats.org/drawingml/2006/main">
            <a:r>
              <a:t>Beginner Explanation: 무엇을 할지 정해도 기존 동작과 명세는 지켜야 한다. 그 범위 안에서 이미 정한 조사·확인 방법을 적용하는 것이 화면 중앙의 한 작업이다.</a:t>
            </a:r>
          </a:p>
          <a:p xmlns:a="http://schemas.openxmlformats.org/drawingml/2006/main">
            <a:r>
              <a:t/>
            </a:r>
          </a:p>
          <a:p xmlns:a="http://schemas.openxmlformats.org/drawingml/2006/main">
            <a:r>
              <a:t>Advanced Insight: 목표와 보존할 기준, 재사용할 방법은 함께 적용되지만 수명·갱신 책임은 다를 수 있다. 성능 목표가 공개 명세 변경을 자동 허용하지 않으며, 재사용 절차도 작업에 맞게 선택·적용해야 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STATIC TEACHING DIAGRAM — 목표에서 작업 영역으로, 테두리의 보존 기준에서 내부 normalize 작업으로, 오른쪽 수행 방법에서 같은 작업으로 가리킨다. 마지막에 하단 재사용 질문을 짚는다. 실제 실행·새 Trial·비교 측정을 하지 않는다.</a:t>
            </a:r>
          </a:p>
          <a:p xmlns:a="http://schemas.openxmlformats.org/drawingml/2006/main">
            <a:r>
              <a:t/>
            </a:r>
          </a:p>
          <a:p xmlns:a="http://schemas.openxmlformats.org/drawingml/2006/main">
            <a:r>
              <a:t>Audience Interaction: 발표자가 ‘이번 목표가 성능 조사라면 기존 동작도 마음대로 바꿔도 될까요?’를 짧게 던진 뒤 기준 테두리로 답한다. 별도 Q&amp;A나 실습을 추가하지 않고 Lecture5분 안에서 진행한다.</a:t>
            </a:r>
          </a:p>
          <a:p xmlns:a="http://schemas.openxmlformats.org/drawingml/2006/main">
            <a:r>
              <a:t/>
            </a:r>
          </a:p>
          <a:p xmlns:a="http://schemas.openxmlformats.org/drawingml/2006/main">
            <a:r>
              <a:t>Transition: “같은 수행 방법이 다음 작업에도 필요하다면, 어디에서 함께 유지할까요?”</a:t>
            </a:r>
          </a:p>
          <a:p xmlns:a="http://schemas.openxmlformats.org/drawingml/2006/main">
            <a:r>
              <a:t/>
            </a:r>
          </a:p>
          <a:p xmlns:a="http://schemas.openxmlformats.org/drawingml/2006/main">
            <a:r>
              <a:t>Time Management: Lecture5분: S58 회수·목표1, 기준·한 작업1.5, 방법 적용1.5, S60 재사용 질문1. 시간이 부족하면 다른 Task 예시는 생략하고 세 요소가 같은 작업에 적용된다는 관계와 교육용 경계를 유지한다.</a:t>
            </a:r>
          </a:p>
          <a:p xmlns:a="http://schemas.openxmlformats.org/drawingml/2006/main">
            <a:r>
              <a:t/>
            </a:r>
          </a:p>
          <a:p xmlns:a="http://schemas.openxmlformats.org/drawingml/2006/main">
            <a:r>
              <a:t>Fallback: LOCAL STATIC ARTIFACT — production/ACT_3.pptx / S59, production/preview/act3/S59.png 및 production/preview/full/S59.png. 실제 실행 캡처가 아닌 교육용 관계 도식이다. 최종 패키지·PNG·내장 Notes 확인은 production/evaluation/S52_TASK_COMPOSITION_REVISION.md를 따른다.</a:t>
            </a:r>
          </a:p>
          <a:p xmlns:a="http://schemas.openxmlformats.org/drawingml/2006/main">
            <a:r>
              <a:t/>
            </a:r>
          </a:p>
          <a:p xmlns:a="http://schemas.openxmlformats.org/drawingml/2006/main">
            <a:r>
              <a:t>Validation Status: ALIGNED — DEC-0064의 교육용 경계·19필드·5분 운영 흐름을 정렬했다. 실제 파일 렌더·Notes 대조는 production/evaluation/S52_TASK_COMPOSITION_REVISION.md에 별도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S60 — 반복 절차를 Skill로 모으는 이유</a:t>
            </a:r>
          </a:p>
          <a:p xmlns:a="http://schemas.openxmlformats.org/drawingml/2006/main">
            <a:r>
              <a:t/>
            </a:r>
          </a:p>
          <a:p xmlns:a="http://schemas.openxmlformats.org/drawingml/2006/main">
            <a:r>
              <a:t>Slide ID: S60</a:t>
            </a:r>
          </a:p>
          <a:p xmlns:a="http://schemas.openxmlformats.org/drawingml/2006/main">
            <a:r>
              <a:t/>
            </a:r>
          </a:p>
          <a:p xmlns:a="http://schemas.openxmlformats.org/drawingml/2006/main">
            <a:r>
              <a:t>Working Title: 반복 절차를 Skill로 모으는 이유</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작업마다 달라지는 목표·허용 범위·보존 조건은 이번 요청에 남기고, 같은 수행 방법은 프로젝트 Skill 한 곳에서 관리해 필요한 작업에 다시 연결하려는 선택이다.</a:t>
            </a:r>
          </a:p>
          <a:p xmlns:a="http://schemas.openxmlformats.org/drawingml/2006/main">
            <a:r>
              <a:t/>
            </a:r>
          </a:p>
          <a:p xmlns:a="http://schemas.openxmlformats.org/drawingml/2006/main">
            <a:r>
              <a:t>Opening Question: “다음 작업에도 같은 방법이 필요하다면, 무엇을 다시 쓰고 무엇을 함께 관리할까?”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S59의 ‘같은 수행 방법이 다음 작업에도 필요하다면?’을 회수한다. 왼쪽 resize_nearest와 normalize는 서로 다른 성능 조사 목표이며 요청은 교육용 요약임을 밝힌다.</a:t>
            </a:r>
          </a:p>
          <a:p xmlns:a="http://schemas.openxmlformats.org/drawingml/2006/main">
            <a:r>
              <a:t>2. (0:45–1:45) 왼쪽 요청마다 이번 목표·허용 범위·추가 보존 조건을 정함을 짚는다. S59의 기존 프로젝트 기준도 계속 적용된다. 오른쪽은 이 두 작업에 필요한 공통 수행 방법을 프로젝트가 함께 관리할 문서다.</a:t>
            </a:r>
          </a:p>
          <a:p xmlns:a="http://schemas.openxmlformats.org/drawingml/2006/main">
            <a:r>
              <a:t>3. (1:45–3:00) 오른쪽 Skill 문서에서 두 요청으로 갈라지는 연결을 따라간다. 같은 절차를 매번 다시 작성하지 않고 한 곳에서 검토·수정해 필요한 작업에 연결하려는 이유를 설명한다. 단계별 실행 순서는 S58에서 봤으므로 다시 강의하지 않는다. AGENTS.md에도 절차를 둘 수 있고, Skill은 이 사례에서 선택한 구현임을 덧붙인다.</a:t>
            </a:r>
          </a:p>
          <a:p xmlns:a="http://schemas.openxmlformats.org/drawingml/2006/main">
            <a:r>
              <a:t>4. (3:00–4:00) DEC-0017의 프로젝트 소유 Skill 선택과 성공 검증을 구분한다. 현재 제품 표면·계정·호출 경로는 별도 확인이며 자동 준수를 보장하지 않는다. 다음 S61의 Codex CLI0.154.0 발견·명시 호출·본문 포함 기록으로 넘어간다.</a:t>
            </a:r>
          </a:p>
          <a:p xmlns:a="http://schemas.openxmlformats.org/drawingml/2006/main">
            <a:r>
              <a:t/>
            </a:r>
          </a:p>
          <a:p xmlns:a="http://schemas.openxmlformats.org/drawingml/2006/main">
            <a:r>
              <a:t>Evidence / Source: DEC-0017; BEAT-020/021; plan/DEMO_MATRIX.md의 TRIAL-006/007 반복 요청과 TRIAL-008 연결; STATE-04의 .agents/skills/graypipe-performance/SKILL.md. 왼쪽 요청은 실제 Prompt 전문이 아닌 교육용 요약이고 오른쪽 절차도 요약이다. 실제 발견·호출 근거는 S61에서 확인한다.</a:t>
            </a:r>
          </a:p>
          <a:p xmlns:a="http://schemas.openxmlformats.org/drawingml/2006/main">
            <a:r>
              <a:t/>
            </a:r>
          </a:p>
          <a:p xmlns:a="http://schemas.openxmlformats.org/drawingml/2006/main">
            <a:r>
              <a:t>Claim Boundary: TEACHING_MODEL / REQUIRES PRODUCT CHECK를 유지한다. 설계 선택은 ACCEPTED지만 이 화면은 실제 UI·실행 trace·성공 결과나 현재 Desktop 가용성 검증이 아니다. 같은 Skill을 두 작업이 자동 호출했거나 반드시 준수했다고 주장하지 않는다. Skill 우월성·토큰 절감·속도 향상·Harness 단독 인과성을 입증하지 않는다. AGENTS.md에도 절차를 기록할 수 있으며 모든 작업에 같은 Skill이 필수라는 뜻이 아니다.</a:t>
            </a:r>
          </a:p>
          <a:p xmlns:a="http://schemas.openxmlformats.org/drawingml/2006/main">
            <a:r>
              <a:t/>
            </a:r>
          </a:p>
          <a:p xmlns:a="http://schemas.openxmlformats.org/drawingml/2006/main">
            <a:r>
              <a:t>Beginner Explanation: 작업마다 원하는 일과 범위는 다시 정하되, 필요한 공통 방법은 같은 문서에서 가져다 쓰도록 설계한다. 절차를 고칠 때도 공통 출처 한 곳에서 검토하려는 것이다.</a:t>
            </a:r>
          </a:p>
          <a:p xmlns:a="http://schemas.openxmlformats.org/drawingml/2006/main">
            <a:r>
              <a:t/>
            </a:r>
          </a:p>
          <a:p xmlns:a="http://schemas.openxmlformats.org/drawingml/2006/main">
            <a:r>
              <a:t>Advanced Insight: Task별 적용 조건과 절차의 소유·갱신 책임을 구분한다. Skill 선택 이유는 반복성과 공동 관리 필요이며 기능 수를 늘리는 것이 목적이 아니다. 프로젝트 기준·Task 제약은 공통 절차를 옮겨도 유지한다. 호출·본문 포함과 실제 지침 준수·단독 효과는 별도 근거가 필요하다. 원문에서 가시적 계획은 Task나 작업 interface가 요구할 때라는 조건을 유지하며, 측정 근거가 변경을 정당화하지 않으면 no-change 결론도 허용한다.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STATIC TEACHING DIAGRAM — 왼쪽 두 요청의 바뀌는 내용, 오른쪽 Skill 한 개, 두 요청으로 갈라지는 재사용 연결, 하단의 공동 관리 이유 순으로 짚는다. 파일·제품을 실행하지 않고 Skill 본문 전체나 성공 기록을 미리 공개하지 않는다.</a:t>
            </a:r>
          </a:p>
          <a:p xmlns:a="http://schemas.openxmlformats.org/drawingml/2006/main">
            <a:r>
              <a:t/>
            </a:r>
          </a:p>
          <a:p xmlns:a="http://schemas.openxmlformats.org/drawingml/2006/main">
            <a:r>
              <a:t>Audience Interaction: ‘같은 검증 절차를 고칠 때 각 요청을 따로 고칠까요, 공통 방법을 함께 검토할까요?’를 짧게 던지고 한 곳에서 관리한다는 문장으로 회수한다. 별도 실습·Q&amp;A 시간을 추가하지 않는다.</a:t>
            </a:r>
          </a:p>
          <a:p xmlns:a="http://schemas.openxmlformats.org/drawingml/2006/main">
            <a:r>
              <a:t/>
            </a:r>
          </a:p>
          <a:p xmlns:a="http://schemas.openxmlformats.org/drawingml/2006/main">
            <a:r>
              <a:t>Transition: “이제 당시 CLI 기록에서 이 Skill이 어떻게 발견되고, 작업 요청과 함께 호출됐는지 확인하겠습니다.”</a:t>
            </a:r>
          </a:p>
          <a:p xmlns:a="http://schemas.openxmlformats.org/drawingml/2006/main">
            <a:r>
              <a:t/>
            </a:r>
          </a:p>
          <a:p xmlns:a="http://schemas.openxmlformats.org/drawingml/2006/main">
            <a:r>
              <a:t>Time Management: Lecture4분: S59 회수0.75, 요청/기준 구분1, 공통 Skill과 관리 이유1.25, 선택 범위/S57 연결1. 시간이 부족하면 절차 항목 설명을 줄이고 Task별 정보·한 곳의 방법·설계 경계는 유지한다.</a:t>
            </a:r>
          </a:p>
          <a:p xmlns:a="http://schemas.openxmlformats.org/drawingml/2006/main">
            <a:r>
              <a:t/>
            </a:r>
          </a:p>
          <a:p xmlns:a="http://schemas.openxmlformats.org/drawingml/2006/main">
            <a:r>
              <a:t>Fallback: LOCAL STATIC ARTIFACT — production/ACT_3.pptx / S60, production/preview/act3/S60.png 및 production/preview/full/S60.png. 실제 실행 캡처가 아닌 교육용 선택·재사용 도식이다. 최종 패키지·PNG·내장 Notes 확인은 production/evaluation/S53_S54_SKILL_EVIDENCE_REVISION.md를 따른다.</a:t>
            </a:r>
          </a:p>
          <a:p xmlns:a="http://schemas.openxmlformats.org/drawingml/2006/main">
            <a:r>
              <a:t/>
            </a:r>
          </a:p>
          <a:p xmlns:a="http://schemas.openxmlformats.org/drawingml/2006/main">
            <a:r>
              <a:t>Validation Status: ALIGNED — DEC-0065의19필드·4분 운영·교육용/제품 확인 경계를 유지하고 DEC-0066의 동일 굵기 연결선과 정렬했다. 실제 파일 렌더·Notes 대조는 production/evaluation/S53_S54_SKILL_EVIDENCE_REVISION.md에 별도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S61 — Skill 발견·호출·본문 포함의 근거</a:t>
            </a:r>
          </a:p>
          <a:p xmlns:a="http://schemas.openxmlformats.org/drawingml/2006/main">
            <a:r>
              <a:t/>
            </a:r>
          </a:p>
          <a:p xmlns:a="http://schemas.openxmlformats.org/drawingml/2006/main">
            <a:r>
              <a:t>Slide ID: S61</a:t>
            </a:r>
          </a:p>
          <a:p xmlns:a="http://schemas.openxmlformats.org/drawingml/2006/main">
            <a:r>
              <a:t/>
            </a:r>
          </a:p>
          <a:p xmlns:a="http://schemas.openxmlformats.org/drawingml/2006/main">
            <a:r>
              <a:t>Working Title: Skill 발견·호출·본문 포함의 근거</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Demo 5 minutes (HYBRID planned; activation unverified)</a:t>
            </a:r>
          </a:p>
          <a:p xmlns:a="http://schemas.openxmlformats.org/drawingml/2006/main">
            <a:r>
              <a:t/>
            </a:r>
          </a:p>
          <a:p xmlns:a="http://schemas.openxmlformats.org/drawingml/2006/main">
            <a:r>
              <a:t>Primary Message: 당시 CLI에서 Skill을 목록으로 찾고 요청에 명시한 사실과, 실행 trace에 이름·경로·전체 본문이 포함된 근거를 각각 확인한다. 본문이 포함된 사실과 실제 지침 수행은 구분한다.</a:t>
            </a:r>
          </a:p>
          <a:p xmlns:a="http://schemas.openxmlformats.org/drawingml/2006/main">
            <a:r>
              <a:t/>
            </a:r>
          </a:p>
          <a:p xmlns:a="http://schemas.openxmlformats.org/drawingml/2006/main">
            <a:r>
              <a:t>Opening Question: “공통 방법을 Skill에 두었다면, 이번 작업에 실제로 포함됐다는 것을 무엇으로 확인할까요?”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S60의 공통 방법을 새 작업에 연결한다. 이번 목표는 밝기 통계(image_statistics)의 실행 시간 또는 할당량 개선 가능성 조사다. 원래 결과 6항목과 변경 범위를 보존하며, 기존 요청의 trade-off 보고와 근거에 따른 no-change 허용 조건도 유지한다.</a:t>
            </a:r>
          </a:p>
          <a:p xmlns:a="http://schemas.openxmlformats.org/drawingml/2006/main">
            <a:r>
              <a:t>2. (0:45–1:45) 왼쪽 /skills 목록에서 graypipe-performance 이름과 잘린 설명을 확인한 기록을 짚는다. 목록에는 파일 경로가 없었다. 화면은 제품 UI 캡처가 아닌 보존된 관찰·문구의 재구성이다.</a:t>
            </a:r>
          </a:p>
          <a:p xmlns:a="http://schemas.openxmlformats.org/drawingml/2006/main">
            <a:r>
              <a:t>3. (1:45–2:45) 가운데 요청 첫 줄의 $graypipe-performance를 가리킨다. 호출 표기는 실제 문구이며 뒤의 한글은 실제 요청의 번역 요약이다. 사용자가 명시한 호출이다. 암묵 호출을 시험한 결과로 설명하지 않는다.</a:t>
            </a:r>
          </a:p>
          <a:p xmlns:a="http://schemas.openxmlformats.org/drawingml/2006/main">
            <a:r>
              <a:t>4. (2:45–4:15) 오른쪽 실행 trace의 &lt;skill&gt; 항목에서 같은 이름, 저장소 Skill 경로, 전체 지침 본문이 들어온 근거를 짚는다. 원문에는 절차·보고·제약을 포함한 전체 본문이 있고 화면은 그 범위를 요약했다. 경로는 저장소 상대 경로로 표시했다. 별도의 load UI 이벤트가 있었던 것은 아니다.</a:t>
            </a:r>
          </a:p>
          <a:p xmlns:a="http://schemas.openxmlformats.org/drawingml/2006/main">
            <a:r>
              <a:t>5. (4:15–5:00) Codex CLI0.154.0의 성공한 실행에서 관찰한 범위를 말한다. 현재 Desktop이나 모든 지침의 준수를 보장하지 않는다. S62에서 Skill의 지침과 실제 작업 기록을 대응하도록 전환한다.</a:t>
            </a:r>
          </a:p>
          <a:p xmlns:a="http://schemas.openxmlformats.org/drawingml/2006/main">
            <a:r>
              <a:t/>
            </a:r>
          </a:p>
          <a:p xmlns:a="http://schemas.openxmlformats.org/drawingml/2006/main">
            <a:r>
              <a:t>Evidence / Source: plan/DEMO_MATRIX.md의 TRIAL-008 Task Prompt, Skill Discovery, Skill Invocation, Skill Load Evidence; DEC-0017; BEAT-021. 보존 세션 01a0f22c-e6a8-7e50-a4e1-4a581d62266c의 성공한 요청과 &lt;skill&gt; 본문을 재대조했다. /skills는 이름과 설명 일부만 표시했고 경로는 trace에서 확인됐다. 원본의 절대 경로는 해당 disposable workspace이며 화면에는 .agents/skills/graypipe-performance/SKILL.md로 줄였다. 전체 본문은 STATE-04의 SKILL.md와 대조했다.</a:t>
            </a:r>
          </a:p>
          <a:p xmlns:a="http://schemas.openxmlformats.org/drawingml/2006/main">
            <a:r>
              <a:t/>
            </a:r>
          </a:p>
          <a:p xmlns:a="http://schemas.openxmlformats.org/drawingml/2006/main">
            <a:r>
              <a:t>Claim Boundary: OBSERVED_PRODUCT / FROZEN WITH SCOPE / REQUIRES PRODUCT CHECK를 유지한다. 이 화면은 실제 UI 캡처나 새 실행이 아닌 기록의 발췌·번역·재구성이다. 성공한 실행은 Codex CLI0.154.0, gpt-5.6-sol high이며 앞선 계정의 gpt-6.1-sol 거절과 구분한다. 별도 load UI 이벤트, 암묵 호출, 현재 Desktop 동작, 모든 지침 준수·Skill 단독 효과·우월성·토큰 절감은 입증하지 않는다. Global Harness의 동시 영향도 배제하지 않는다.</a:t>
            </a:r>
          </a:p>
          <a:p xmlns:a="http://schemas.openxmlformats.org/drawingml/2006/main">
            <a:r>
              <a:t/>
            </a:r>
          </a:p>
          <a:p xmlns:a="http://schemas.openxmlformats.org/drawingml/2006/main">
            <a:r>
              <a:t>Beginner Explanation: 목록에서 찾은 이름을 이번 요청에 직접 적었다. 이후 실행 기록에 그 Skill의 이름뿐 아니라 경로와 전체 지침이 함께 들어왔는지를 확인했다.</a:t>
            </a:r>
          </a:p>
          <a:p xmlns:a="http://schemas.openxmlformats.org/drawingml/2006/main">
            <a:r>
              <a:t/>
            </a:r>
          </a:p>
          <a:p xmlns:a="http://schemas.openxmlformats.org/drawingml/2006/main">
            <a:r>
              <a:t>Advanced Insight: 발견 가능성, 사용자가 선택한 호출, 실행에 제공된 본문의 증거는 서로 다르다. 화면의 전체 본문 상자는 실제 trace에 보존된 내용을 요약한 표시이며, 모델의 모든 내부 처리나 지침 준수까지 관찰했다는 뜻은 아니다.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LOCAL STATIC RECORD — 왼쪽 목록 발췌, 가운데 호출과 목표·제약, 오른쪽 trace의 이름·경로·전체 본문 순으로 가리킨다. 단계 사이 화살표는 이 관찰 설명 순서다. 원문 전체나 제품을 실행하지 않는다. 화면의 제목·발췌·요약과 하단 근거 범위를 함께 보여준다. 실제 수행 결과는 S62로 넘긴다.</a:t>
            </a:r>
          </a:p>
          <a:p xmlns:a="http://schemas.openxmlformats.org/drawingml/2006/main">
            <a:r>
              <a:t/>
            </a:r>
          </a:p>
          <a:p xmlns:a="http://schemas.openxmlformats.org/drawingml/2006/main">
            <a:r>
              <a:t>Audience Interaction: “이름이 목록에 보였다는 것만으로, 이번 작업에 전체 지침이 포함됐다고 말할 수 있을까요?”를 던지고 오른쪽 trace 근거로 회수한다. 별도 실습·Q&amp;A 시간을 추가하지 않는다.</a:t>
            </a:r>
          </a:p>
          <a:p xmlns:a="http://schemas.openxmlformats.org/drawingml/2006/main">
            <a:r>
              <a:t/>
            </a:r>
          </a:p>
          <a:p xmlns:a="http://schemas.openxmlformats.org/drawingml/2006/main">
            <a:r>
              <a:t>Transition: “이름과 전체 본문이 포함된 근거는 확인했습니다. 다음은 그 지침과 실제 작업 기록을 대응해 보겠습니다.”</a:t>
            </a:r>
          </a:p>
          <a:p xmlns:a="http://schemas.openxmlformats.org/drawingml/2006/main">
            <a:r>
              <a:t/>
            </a:r>
          </a:p>
          <a:p xmlns:a="http://schemas.openxmlformats.org/drawingml/2006/main">
            <a:r>
              <a:t>Time Management: Demo5분: S60 회수·업무 목적0.75, 목록1, 요청1, trace1.5, 범위·S62 전환0.75. 시간이 부족하면 영문 설명과 경로를 낭독하지 않고 세 근거의 차이를 짚는다. 본문 포함과 실제 준수의 구분은 생략하지 않는다.</a:t>
            </a:r>
          </a:p>
          <a:p xmlns:a="http://schemas.openxmlformats.org/drawingml/2006/main">
            <a:r>
              <a:t/>
            </a:r>
          </a:p>
          <a:p xmlns:a="http://schemas.openxmlformats.org/drawingml/2006/main">
            <a:r>
              <a:t>Fallback: LOCAL STATIC ARTIFACT — production/ACT_3.pptx / S61, production/preview/act3/S61.png 및 production/preview/full/S61.png. 현재 실행이 아닌 역사적 CLI 기록 재구성이다. DEMO-03의 기본은 정적 자료이며 현재 Live/Hybrid는 대상 환경 확인 전 미활성이다. 최종 파일·PNG·Notes·hash는 production/evaluation/S53_S54_SKILL_EVIDENCE_REVISION.md와 demos/runbooks/FALLBACK_MANIFEST.md를 따른다.</a:t>
            </a:r>
          </a:p>
          <a:p xmlns:a="http://schemas.openxmlformats.org/drawingml/2006/main">
            <a:r>
              <a:t/>
            </a:r>
          </a:p>
          <a:p xmlns:a="http://schemas.openxmlformats.org/drawingml/2006/main">
            <a:r>
              <a:t>Validation Status: ALIGNED — DEC-0066의19필드·5분 운영·역사적 CLI/현재 제품 경계를 정렬했다. 실제 패키지 렌더와 Notes 대조는 production/evaluation/S53_S54_SKILL_EVIDENCE_REVISION.md에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S62 — Skill 지침과 실제 작업 기록의 대응</a:t>
            </a:r>
          </a:p>
          <a:p xmlns:a="http://schemas.openxmlformats.org/drawingml/2006/main">
            <a:r>
              <a:t/>
            </a:r>
          </a:p>
          <a:p xmlns:a="http://schemas.openxmlformats.org/drawingml/2006/main">
            <a:r>
              <a:t>Slide ID: S62</a:t>
            </a:r>
          </a:p>
          <a:p xmlns:a="http://schemas.openxmlformats.org/drawingml/2006/main">
            <a:r>
              <a:t/>
            </a:r>
          </a:p>
          <a:p xmlns:a="http://schemas.openxmlformats.org/drawingml/2006/main">
            <a:r>
              <a:t>Working Title: Skill 지침과 실제 작업 기록의 대응</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Demo 3 minutes (HYBRID planned; activation unverified) + Case 3 minutes</a:t>
            </a:r>
          </a:p>
          <a:p xmlns:a="http://schemas.openxmlformats.org/drawingml/2006/main">
            <a:r>
              <a:t/>
            </a:r>
          </a:p>
          <a:p xmlns:a="http://schemas.openxmlformats.org/drawingml/2006/main">
            <a:r>
              <a:t>Primary Message: Skill 본문이 들어온 사실은 입력의 근거다. 실제 수행은 같은 작업의 실행 출력, 변경 전 메시지, 최종 diff를 지침과 대조해서 확인한다. 이 사례에서 관찰한 세 가지 대응으로 Skill 전체 준수나 단독 효과를 단정하지 않는다.</a:t>
            </a:r>
          </a:p>
          <a:p xmlns:a="http://schemas.openxmlformats.org/drawingml/2006/main">
            <a:r>
              <a:t/>
            </a:r>
          </a:p>
          <a:p xmlns:a="http://schemas.openxmlformats.org/drawingml/2006/main">
            <a:r>
              <a:t>Opening Question: “Skill의 전체 본문이 포함됐다는 것만으로, 실제로 그 지침을 수행했다고 말할 수 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Demo) 상단 왼쪽에서 S61의 본문 포함 확인을 회수한다. 오른쪽과 표로 이동해 이번에는 밝기 통계 작업의 수행 기록을 보겠다고 안내한다. 화면은 원문 실행 캡처가 아닌 지침 번역·기록 요약이다.</a:t>
            </a:r>
          </a:p>
          <a:p xmlns:a="http://schemas.openxmlformats.org/drawingml/2006/main">
            <a:r>
              <a:t>2. (0:30–1:15, Demo) 01행: 왼쪽의 변경 전 기준선 측정 지침과 오른쪽의 실제 실행 출력을 짝짓는다. 수정 전 같은 benchmark 명령을3회 실행했고, 입력 지문과 결과6항목을 확인했다. 3회는 기록된 실행 횟수이며 Skill이 정한 고정 횟수는 아니다.</a:t>
            </a:r>
          </a:p>
          <a:p xmlns:a="http://schemas.openxmlformats.org/drawingml/2006/main">
            <a:r>
              <a:t>3. (1:15–2:00, Demo) 02행: 원문은 작업 또는 인터페이스가 visible plan을 요구할 때 변경 전에 간결한 계획을 공유하라는 조건부 지침이다. 이번 기록에서는 변경 전 진행 메시지가 statistics.py의 변경 범위를 밝혔고, 최종 diff에서 해당 함수 한 곳의 변경을 확인했다. 메시지만으로 변경 범위까지 검증했다고 말하지 않는다.</a:t>
            </a:r>
          </a:p>
          <a:p xmlns:a="http://schemas.openxmlformats.org/drawingml/2006/main">
            <a:r>
              <a:t>4. (2:00–3:00, Demo) 03행: 테스트와 같은 입력·설정으로 재측정하라는 지침을 실행 결과와 대조한다. 해당 함수 테스트1/1, 전체 테스트11/11 통과와 같은 benchmark의변경 후3회 실행, CLI 샘플·diff 확인을 짚는다. 모델의 최종 완료 보고만이 아니라 보존된 실행 출력에 근거한다.</a:t>
            </a:r>
          </a:p>
          <a:p xmlns:a="http://schemas.openxmlformats.org/drawingml/2006/main">
            <a:r>
              <a:t>5. (3:00–4:30, Case) “본문이 들어왔다”와 “지침에 대응하는 작업 기록이 있다”를 구분해 회수한다. 표는 선택한 세 가지 대응이다. 모든 지침 준수나 Skill만의 효과를 검증한 실험은 아니다. 실제 요청에는 이번 목표·결과6항목 보존·허용 범위·trade-off 보고·근거가 부족하면 no-change라는 조건이 남아 있었다.</a:t>
            </a:r>
          </a:p>
          <a:p xmlns:a="http://schemas.openxmlformats.org/drawingml/2006/main">
            <a:r>
              <a:t>6. (4:30–6:00, Case) 재사용할 수행 방법을 Skill에 두고 이번 목표·범위는 요청으로 전달한 역할 분담을 정리한다. 다음 S64에서 반복할 절차와 작업마다 근거로 판단할 답을 나눈다. 후보별 수치·선택 결과나 STATE-04-PERF의 성능 비교는 앞당기지 않는다.</a:t>
            </a:r>
          </a:p>
          <a:p xmlns:a="http://schemas.openxmlformats.org/drawingml/2006/main">
            <a:r>
              <a:t/>
            </a:r>
          </a:p>
          <a:p xmlns:a="http://schemas.openxmlformats.org/drawingml/2006/main">
            <a:r>
              <a:t>Evidence / Source: plan/DEMO_MATRIX.md의 TRIAL-008 Baseline, Plan, Implementation, Verification 및 Prompt Responsibility Shift; STATE-04의 .agents/skills/graypipe-performance/SKILL.md; DEC-0017; BEAT-021. 보존 세션01a0f22c-e6a8-7e50-a4e1-4a581d62266c의20행 요청,22행 전체Skill본문,53/59행 기준선 명령·출력,80행 변경 전 메시지,81행 patch,90/96행 동일benchmark재실행·함수테스트,104/109행 전체테스트·CLI·최종diff를 대조했다. 원문 계획 지침은 “State a concise plan before making edits when the task or working interface calls for a visible plan.”이다. 원문 검증에는 같은 입력·설정·correctness guards, 관련 smoke 확인, diff검토가 포함된다. 실제 측정 명령은 PYTHONPATH=src python3 benchmarks/benchmark_statistics.py이며, 테스트 명령은 PYTHONPATH=src python3 -m unittest discover -s tests -p 'test_statistics.py' -v 및 PYTHONPATH=src python3 -m unittest discover -s tests -v이다.</a:t>
            </a:r>
          </a:p>
          <a:p xmlns:a="http://schemas.openxmlformats.org/drawingml/2006/main">
            <a:r>
              <a:t/>
            </a:r>
          </a:p>
          <a:p xmlns:a="http://schemas.openxmlformats.org/drawingml/2006/main">
            <a:r>
              <a:t>Claim Boundary: OBSERVED_PRODUCT / FROZEN WITH SCOPE / REQUIRES PRODUCT CHECK를 유지한다. Codex CLI0.154.0의 성공한 TRIAL-008 기록이며 현재 Desktop 재현 결과가 아니다. 한글은 원문 지침·작업 기록의 번역 요약이고 실제 UI·로그 캡처가 아니다. 3회는 관찰된 횟수,1/1·11/11은 이 Trial의 테스트 결과다. 전체 지침 준수·Skill 단독 인과성·Prompt 대비 우월성·토큰 절감·Skill에 의한 속도 향상을 주장하지 않는다. Global Harness의 동시 영향은 배제하지 않았다. 새 Trial이나 실행 검증은 하지 않았다.</a:t>
            </a:r>
          </a:p>
          <a:p xmlns:a="http://schemas.openxmlformats.org/drawingml/2006/main">
            <a:r>
              <a:t/>
            </a:r>
          </a:p>
          <a:p xmlns:a="http://schemas.openxmlformats.org/drawingml/2006/main">
            <a:r>
              <a:t>Beginner Explanation: 지침을 받았다는 것은 요청서가 전달됐다는 뜻이다. 실제로 수행했는지는 측정 출력, 변경 전 설명, 변경 내용과 테스트 결과 같은 작업 흔적에서 확인한다.</a:t>
            </a:r>
          </a:p>
          <a:p xmlns:a="http://schemas.openxmlformats.org/drawingml/2006/main">
            <a:r>
              <a:t/>
            </a:r>
          </a:p>
          <a:p xmlns:a="http://schemas.openxmlformats.org/drawingml/2006/main">
            <a:r>
              <a:t>Advanced Insight: 입력에 포함된 지침과 관찰된 행동을 구분한다. 실행 출력은 실행·검증의 근거이고, 변경 전 메시지는 계획의 시점, 최종 diff는 변경 범위의 근거다. 세 근거의 대응은 실험 조건을 분리한 인과성 검증과 다르다. Skill이 임의의3회·11개테스트를 고정 요구한 것처럼 설명하지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LOCAL STATIC RECORD — S61의 본문 포함 확인에서 진입한다. 표를01→02→03 순으로 읽으며 왼쪽 지침과 오른쪽 근거를 한 행씩 가리킨다. 원문 전체·도구를 실행하지 않는다. Demo3분이 끝나면 같은 화면에서 Case3분으로 전환해 입력/수행 근거를 구분한다. 실제 구현 후보와 성능 비교는 S65–S66로 넘긴다.</a:t>
            </a:r>
          </a:p>
          <a:p xmlns:a="http://schemas.openxmlformats.org/drawingml/2006/main">
            <a:r>
              <a:t/>
            </a:r>
          </a:p>
          <a:p xmlns:a="http://schemas.openxmlformats.org/drawingml/2006/main">
            <a:r>
              <a:t>Audience Interaction: “변경 전에 하겠다고 말한 기록과, 실제로 바꾼 내용을 확인하는 근거가 같을까요?”를 던지고02행의 메시지·diff를 각각 가리킨다. 답변을 기다리며 별도 실습·Q&amp;A 시간을 추가하지 않는다.</a:t>
            </a:r>
          </a:p>
          <a:p xmlns:a="http://schemas.openxmlformats.org/drawingml/2006/main">
            <a:r>
              <a:t/>
            </a:r>
          </a:p>
          <a:p xmlns:a="http://schemas.openxmlformats.org/drawingml/2006/main">
            <a:r>
              <a:t>**Transition:**</a:t>
            </a:r>
          </a:p>
          <a:p xmlns:a="http://schemas.openxmlformats.org/drawingml/2006/main">
            <a:r>
              <a:t>“지침과 실제 작업 기록을 대응했습니다. 우리 절차도 Codex와 대화하며 Skill로 만들 수 있는지 짧게 보겠습니다.” S63 팁 뒤 S64에서 절차와 작업별 답의 경계를 회수한다.</a:t>
            </a:r>
          </a:p>
          <a:p xmlns:a="http://schemas.openxmlformats.org/drawingml/2006/main">
            <a:r>
              <a:t/>
            </a:r>
          </a:p>
          <a:p xmlns:a="http://schemas.openxmlformats.org/drawingml/2006/main">
            <a:r>
              <a:t>Time Management: Demo3분(본문 포함 회수0.5, 기준선0.75, 계획·diff0.75, 검증1) + Case3분(근거 구분·요청 책임1.5, 범위·S64 연결1.5). 지연 시 명령과 테스트 이름을 낭독하지 않고 행별 대응을 짚는다. 조건부 계획, 입력/수행 구분, 단독 효과 미입증은 생략하지 않는다. 6분에 S64으로 이동한다.</a:t>
            </a:r>
          </a:p>
          <a:p xmlns:a="http://schemas.openxmlformats.org/drawingml/2006/main">
            <a:r>
              <a:t/>
            </a:r>
          </a:p>
          <a:p xmlns:a="http://schemas.openxmlformats.org/drawingml/2006/main">
            <a:r>
              <a:t>Fallback: LOCAL STATIC ARTIFACT — production/ACT_3.pptx의 S62, production/preview/act3/S62.png 및 production/preview/full/S62.png. 파일은 검증된 기록의 재구성이며 원시 실행 캡처가 아니다. 현재 Live/Hybrid는 환경 확인 전 미활성이다. 정적 화면에서 3개 지침·근거 대응을 유지하며 파일 경로·hash는 production/evaluation/S55_SKILL_ACTION_EVIDENCE_REVISION.md와 demos/runbooks/FALLBACK_MANIFEST.md를 따른다.</a:t>
            </a:r>
          </a:p>
          <a:p xmlns:a="http://schemas.openxmlformats.org/drawingml/2006/main">
            <a:r>
              <a:t/>
            </a:r>
          </a:p>
          <a:p xmlns:a="http://schemas.openxmlformats.org/drawingml/2006/main">
            <a:r>
              <a:t>Validation Status: ALIGNED — DEC-0067의19필드·6분(Demo3+Case3)·역사적관찰범위를 정렬했다. 최종 렌더·PPT/Markdown Notes 대조는 production/evaluation/S55_SKILL_ACTION_EVIDENCE_REVISION.md에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S63 — 대화로 재사용할 Skill 만들기</a:t>
            </a:r>
          </a:p>
          <a:p xmlns:a="http://schemas.openxmlformats.org/drawingml/2006/main">
            <a:r>
              <a:t/>
            </a:r>
          </a:p>
          <a:p xmlns:a="http://schemas.openxmlformats.org/drawingml/2006/main">
            <a:r>
              <a:t>**Slide ID:**</a:t>
            </a:r>
          </a:p>
          <a:p xmlns:a="http://schemas.openxmlformats.org/drawingml/2006/main">
            <a:r>
              <a:t>S63</a:t>
            </a:r>
          </a:p>
          <a:p xmlns:a="http://schemas.openxmlformats.org/drawingml/2006/main">
            <a:r>
              <a:t/>
            </a:r>
          </a:p>
          <a:p xmlns:a="http://schemas.openxmlformats.org/drawingml/2006/main">
            <a:r>
              <a:t>**Working Title:**</a:t>
            </a:r>
          </a:p>
          <a:p xmlns:a="http://schemas.openxmlformats.org/drawingml/2006/main">
            <a:r>
              <a:t>대화로 재사용할 Skill 만들기</a:t>
            </a:r>
          </a:p>
          <a:p xmlns:a="http://schemas.openxmlformats.org/drawingml/2006/main">
            <a:r>
              <a:t/>
            </a:r>
          </a:p>
          <a:p xmlns:a="http://schemas.openxmlformats.org/drawingml/2006/main">
            <a:r>
              <a:t>**ACT / Section:**</a:t>
            </a:r>
          </a:p>
          <a:p xmlns:a="http://schemas.openxmlformats.org/drawingml/2006/main">
            <a:r>
              <a:t>ACT 3 / 3C Reusable Skill</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 minutes</a:t>
            </a:r>
          </a:p>
          <a:p xmlns:a="http://schemas.openxmlformats.org/drawingml/2006/main">
            <a:r>
              <a:t/>
            </a:r>
          </a:p>
          <a:p xmlns:a="http://schemas.openxmlformats.org/drawingml/2006/main">
            <a:r>
              <a:t>**Primary Message:**</a:t>
            </a:r>
          </a:p>
          <a:p xmlns:a="http://schemas.openxmlformats.org/drawingml/2006/main">
            <a:r>
              <a:t>Codex의 $skill-creator에 반복할 작업과 사용 조건을 대화로 설명해 Skill 초안을 만들 수 있다. 생성된 지침을 확인하고 대표 요청에 사용해 다듬는다.</a:t>
            </a:r>
          </a:p>
          <a:p xmlns:a="http://schemas.openxmlformats.org/drawingml/2006/main">
            <a:r>
              <a:t/>
            </a:r>
          </a:p>
          <a:p xmlns:a="http://schemas.openxmlformats.org/drawingml/2006/main">
            <a:r>
              <a:t>**Opening Question:**</a:t>
            </a:r>
          </a:p>
          <a:p xmlns:a="http://schemas.openxmlformats.org/drawingml/2006/main">
            <a:r>
              <a:t>“우리 작업 절차도 파일 문법부터 배우지 않고 Skill로 만들 수 있을까요?”</a:t>
            </a:r>
          </a:p>
          <a:p xmlns:a="http://schemas.openxmlformats.org/drawingml/2006/main">
            <a:r>
              <a:t/>
            </a:r>
          </a:p>
          <a:p xmlns:a="http://schemas.openxmlformats.org/drawingml/2006/main">
            <a:r>
              <a:t>**Speaker Flow:**</a:t>
            </a:r>
          </a:p>
          <a:p xmlns:a="http://schemas.openxmlformats.org/drawingml/2006/main">
            <a:r>
              <a:t>1. (0:00–0:30 / Lecture) 실제 지침/기록 대응을 본 S62에서 제작 방법이라는 짧은 실무 팁으로 전환한다. 새 Trial이나 기존 Skill 제작 과정을 재현하는 Demo가 아니다.</a:t>
            </a:r>
          </a:p>
          <a:p xmlns:a="http://schemas.openxmlformats.org/drawingml/2006/main">
            <a:r>
              <a:t>2. (0:30–1:25 / Lecture) 요청창의 $skill-creator를 짚고 원하는 반복 작업·사용 조건·보고 항목을 대화로 설명하는 예시를 읽는다. 제작 도우미가 필요한 세부 사항을 물을 수 있으며 실제 표면의 호출 경로는 별도로 확인한다.</a:t>
            </a:r>
          </a:p>
          <a:p xmlns:a="http://schemas.openxmlformats.org/drawingml/2006/main">
            <a:r>
              <a:t>3. (1:25–2:00 / Lecture) 오른쪽은 생성 문서의 역할을 보여주는 도식이다. 지침을 검토하고 대표 요청으로 시험해야 한다. 절차와 고정 답을 어떻게 나눌지는 S64의 기존 설명으로 회수한다.</a:t>
            </a:r>
          </a:p>
          <a:p xmlns:a="http://schemas.openxmlformats.org/drawingml/2006/main">
            <a:r>
              <a:t/>
            </a:r>
          </a:p>
          <a:p xmlns:a="http://schemas.openxmlformats.org/drawingml/2006/main">
            <a:r>
              <a:t>**Evidence / Source:**</a:t>
            </a:r>
          </a:p>
          <a:p xmlns:a="http://schemas.openxmlformats.org/drawingml/2006/main">
            <a:r>
              <a:t>SRC-0111 / CLM-0041; https://learn.chatgpt.com/docs/build-skills; 2026-10-25 재확인; DEC-0093. 명시 호출과 초안 제작 안내를 바탕으로 각색한 요청·문서 도식이다.</a:t>
            </a:r>
          </a:p>
          <a:p xmlns:a="http://schemas.openxmlformats.org/drawingml/2006/main">
            <a:r>
              <a:t/>
            </a:r>
          </a:p>
          <a:p xmlns:a="http://schemas.openxmlformats.org/drawingml/2006/main">
            <a:r>
              <a:t>**Claim Boundary:**</a:t>
            </a:r>
          </a:p>
          <a:p xmlns:a="http://schemas.openxmlformats.org/drawingml/2006/main">
            <a:r>
              <a:t>DOCUMENTED GUIDANCE / TEACHING_MODEL / REQUIRES PRODUCT CHECK — 공식 제작 경로를 설명한 교육용 예시다. TRIAL-008의 Skill을 이 방식으로 만든 이력이 아니고, 현재 계정에서 생성·호출·동작을 시험한 결과도 아니다. 자연어만으로 제작 도우미가 반드시 자동 호출되거나 생성만으로 좋은 지침이 된다고 보장하지 않는다.</a:t>
            </a:r>
          </a:p>
          <a:p xmlns:a="http://schemas.openxmlformats.org/drawingml/2006/main">
            <a:r>
              <a:t/>
            </a:r>
          </a:p>
          <a:p xmlns:a="http://schemas.openxmlformats.org/drawingml/2006/main">
            <a:r>
              <a:t>**Beginner Explanation:**</a:t>
            </a:r>
          </a:p>
          <a:p xmlns:a="http://schemas.openxmlformats.org/drawingml/2006/main">
            <a:r>
              <a:t>Skill 파일의 문법부터 직접 외울 필요 없이 Codex에 원하는 작업 방법을 설명해 제작을 시작할 수 있다.</a:t>
            </a:r>
          </a:p>
          <a:p xmlns:a="http://schemas.openxmlformats.org/drawingml/2006/main">
            <a:r>
              <a:t/>
            </a:r>
          </a:p>
          <a:p xmlns:a="http://schemas.openxmlformats.org/drawingml/2006/main">
            <a:r>
              <a:t>**Advanced Insight:**</a:t>
            </a:r>
          </a:p>
          <a:p xmlns:a="http://schemas.openxmlformats.org/drawingml/2006/main">
            <a:r>
              <a:t>사용 조건·입출력·수행 방법의 범위를 좁히고 생성 지침의 검토와 대표 요청 평가를 구분한다. 좋은 실행 결과·정확성·효율을 자동 보장하지 않는다.</a:t>
            </a:r>
          </a:p>
          <a:p xmlns:a="http://schemas.openxmlformats.org/drawingml/2006/main">
            <a:r>
              <a:t/>
            </a:r>
          </a:p>
          <a:p xmlns:a="http://schemas.openxmlformats.org/drawingml/2006/main">
            <a:r>
              <a:t>**C++ Vision Bridge:**</a:t>
            </a:r>
          </a:p>
          <a:p xmlns:a="http://schemas.openxmlformats.org/drawingml/2006/main">
            <a:r>
              <a:t>없음. 제작 경로와 역할 범위를 설명하며 C++ 도구 목록을 추가하지 않는다.</a:t>
            </a:r>
          </a:p>
          <a:p xmlns:a="http://schemas.openxmlformats.org/drawingml/2006/main">
            <a:r>
              <a:t/>
            </a:r>
          </a:p>
          <a:p xmlns:a="http://schemas.openxmlformats.org/drawingml/2006/main">
            <a:r>
              <a:t>**Demo Operation:**</a:t>
            </a:r>
          </a:p>
          <a:p xmlns:a="http://schemas.openxmlformats.org/drawingml/2006/main">
            <a:r>
              <a:t>N/A — 정적 교육용 요청/문서 도식. 실제 Skill/Agent를 만들거나 호출하지 않는다. 현재 로컬 사용자 환경·Demo 저장소의 설정도 바꾸지 않는다.</a:t>
            </a:r>
          </a:p>
          <a:p xmlns:a="http://schemas.openxmlformats.org/drawingml/2006/main">
            <a:r>
              <a:t/>
            </a:r>
          </a:p>
          <a:p xmlns:a="http://schemas.openxmlformats.org/drawingml/2006/main">
            <a:r>
              <a:t>**Audience Interaction:**</a:t>
            </a:r>
          </a:p>
          <a:p xmlns:a="http://schemas.openxmlformats.org/drawingml/2006/main">
            <a:r>
              <a:t>Lecture2분. 질문은 생각을 돕기 위한 것이며 실습·파일 생성·공개 답변을 요구하지 않는다.</a:t>
            </a:r>
          </a:p>
          <a:p xmlns:a="http://schemas.openxmlformats.org/drawingml/2006/main">
            <a:r>
              <a:t/>
            </a:r>
          </a:p>
          <a:p xmlns:a="http://schemas.openxmlformats.org/drawingml/2006/main">
            <a:r>
              <a:t>**Transition:**</a:t>
            </a:r>
          </a:p>
          <a:p xmlns:a="http://schemas.openxmlformats.org/drawingml/2006/main">
            <a:r>
              <a:t>“만드는 시작은 대화로 할 수 있습니다. 그러면 이 Skill에는 어떤 절차를 고정하고 어떤 답을 남겨 둬야 할까요?” 기존 S63이 이동한 S64로 이어간다.</a:t>
            </a:r>
          </a:p>
          <a:p xmlns:a="http://schemas.openxmlformats.org/drawingml/2006/main">
            <a:r>
              <a:t/>
            </a:r>
          </a:p>
          <a:p xmlns:a="http://schemas.openxmlformats.org/drawingml/2006/main">
            <a:r>
              <a:t>**Time Management:**</a:t>
            </a:r>
          </a:p>
          <a:p xmlns:a="http://schemas.openxmlformats.org/drawingml/2006/main">
            <a:r>
              <a:t>0–0:30 제작 질문,0:30–1:25 요청/생성 문서,1:25–2:00 검토·사용/다음 본문으로 복귀.2분에 다음 장으로 넘기며 긴 설치·환경·TOML/Markdown 문법 강의는 하지 않는다. 실제 리허설 UNVERIFIED.</a:t>
            </a:r>
          </a:p>
          <a:p xmlns:a="http://schemas.openxmlformats.org/drawingml/2006/main">
            <a:r>
              <a:t/>
            </a:r>
          </a:p>
          <a:p xmlns:a="http://schemas.openxmlformats.org/drawingml/2006/main">
            <a:r>
              <a:t>**Fallback:**</a:t>
            </a:r>
          </a:p>
          <a:p xmlns:a="http://schemas.openxmlformats.org/drawingml/2006/main">
            <a:r>
              <a:t>LOCAL STATIC ARTIFACT — production/ACT_3.pptx의 S63 / production/preview/full/S63.png. 제품/계정이 미확인인 경우 이 요청 예시를 설명하며 Live로 전환하지 않는다.</a:t>
            </a:r>
          </a:p>
          <a:p xmlns:a="http://schemas.openxmlformats.org/drawingml/2006/main">
            <a:r>
              <a:t/>
            </a:r>
          </a:p>
          <a:p xmlns:a="http://schemas.openxmlformats.org/drawingml/2006/main">
            <a:r>
              <a:t>**Validation Status:**</a:t>
            </a:r>
          </a:p>
          <a:p xmlns:a="http://schemas.openxmlformats.org/drawingml/2006/main">
            <a:r>
              <a:t>DOCUMENTED GUIDANCE CHECKED2026-10-25 / LOCAL RESULT: production/evaluation/CODEX_AUTHORING_TIPS.md. 실제 생성/실행·현재 교육 계정·Windows/교육장/실측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S64 — 절차는 재사용하고, 답은 근거로 정한다</a:t>
            </a:r>
          </a:p>
          <a:p xmlns:a="http://schemas.openxmlformats.org/drawingml/2006/main">
            <a:r>
              <a:t/>
            </a:r>
          </a:p>
          <a:p xmlns:a="http://schemas.openxmlformats.org/drawingml/2006/main">
            <a:r>
              <a:t>Slide ID: S64</a:t>
            </a:r>
          </a:p>
          <a:p xmlns:a="http://schemas.openxmlformats.org/drawingml/2006/main">
            <a:r>
              <a:t/>
            </a:r>
          </a:p>
          <a:p xmlns:a="http://schemas.openxmlformats.org/drawingml/2006/main">
            <a:r>
              <a:t>Working Title: 절차는 재사용하고, 답은 근거로 정한다</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Skill은 편집 전 재현 가능한 기준선, 검증·비교와 변경 보류 조건을 담는다. 알고리즘·측정값·trade-off는 Task별 근거로 결정하고 정답이나 Trial 수치를 미리 넣지 않는다.</a:t>
            </a:r>
          </a:p>
          <a:p xmlns:a="http://schemas.openxmlformats.org/drawingml/2006/main">
            <a:r>
              <a:t/>
            </a:r>
          </a:p>
          <a:p xmlns:a="http://schemas.openxmlformats.org/drawingml/2006/main">
            <a:r>
              <a:t>Opening Question: “앞 장에서 확인한 것 중, 다음 작업에도 쓸 방법과 이번 기록으로 답해야 할 것은 각각 무엇일까요?”</a:t>
            </a:r>
          </a:p>
          <a:p xmlns:a="http://schemas.openxmlformats.org/drawingml/2006/main">
            <a:r>
              <a:t/>
            </a:r>
          </a:p>
          <a:p xmlns:a="http://schemas.openxmlformats.org/drawingml/2006/main">
            <a:r>
              <a:t>**Speaker Flow:**</a:t>
            </a:r>
          </a:p>
          <a:p xmlns:a="http://schemas.openxmlformats.org/drawingml/2006/main">
            <a:r>
              <a:t>1. (0:00–0:35) S63에서 대화로 Skill 초안을 만들 수 있음을 봤다. 이제 그 지침 안에서 다음 작업에도 유지할 수행 절차와 이번 Task의 근거로 결정할 답을 나눈다. 앞의 S62 실제 지침/기록 대응을 짧게 회수하되 제작 방법을 반복하지 않는다.</a:t>
            </a:r>
          </a:p>
          <a:p xmlns:a="http://schemas.openxmlformats.org/drawingml/2006/main">
            <a:r>
              <a:t>2. (0:30–1:15) 왼쪽 Skill의 세 항목을 가리킨다. 변경 전 기준선을 측정하고, 같은 조건으로 검증·비교하며, 근거·trade-off·한계를 보고하는 방법이다. 원문 일부의 번역 요약이며 전체 절차를 세 단계로 완전히 재현한 것이 아니다. 다음 성능 작업에도 이 방법을 적용한다.</a:t>
            </a:r>
          </a:p>
          <a:p xmlns:a="http://schemas.openxmlformats.org/drawingml/2006/main">
            <a:r>
              <a:t>3. (1:15–2:15) 적용 화살표를 따라 오른쪽으로 이동한다. 이번 측정값·테스트·diff가 구현 후보, 시간·할당량, 감수할 trade-off를 확인·판단할 근거다. 수치는 실제 측정으로 얻고, 후보 채택은 그 수치와 동작 보존·변경 범위를 함께 보고 판단한다. 특정 알고리즘이나 Trial 숫자를 Skill에 정답으로 미리 넣지 않는다.</a:t>
            </a:r>
          </a:p>
          <a:p xmlns:a="http://schemas.openxmlformats.org/drawingml/2006/main">
            <a:r>
              <a:t>4. (2:15–3:00) 아래 분기의 조건을 읽는다. 허용 범위 안에서 근거가 변경을 뒷받침하면 채택하고, 변경을 정당화하지 못하면 보류도 유효한 결론이다. 두 갈래는 원문이 허용하는 교육용 판단 경로다. TRIAL-008에서 두 경로를 각각 실행했다거나 최종 변경을 보류했다고 설명하지 않는다. S65에서 실제 밝기 통계 후보 선택을 확인한다.</a:t>
            </a:r>
          </a:p>
          <a:p xmlns:a="http://schemas.openxmlformats.org/drawingml/2006/main">
            <a:r>
              <a:t/>
            </a:r>
          </a:p>
          <a:p xmlns:a="http://schemas.openxmlformats.org/drawingml/2006/main">
            <a:r>
              <a:t>Evidence / Source: STATE-04의 .agents/skills/graypipe-performance/SKILL.md, DEC-0017, BEAT-022, TRIAL-008 및 plan/DEMO_MATRIX.md. 왼쪽은 Procedure2의 “Establish a reproducible baseline before editing.”, Procedure6의 동일 입력·설정 검증·재측정, Procedure7과 Report의 근거·trade-off·한계 보고를 번역 요약했다. 아래 분기는 Procedure5의 “A measured result that does not justify a change is a valid no-change conclusion.”을 따른다. 원문에 특정 구현, image_statistics, benchmark_statistics.py, macOS/Python 조건이나 Trial의 측정 수치를 고정 답으로 넣지 않았음을 읽기 전용으로 대조했다.</a:t>
            </a:r>
          </a:p>
          <a:p xmlns:a="http://schemas.openxmlformats.org/drawingml/2006/main">
            <a:r>
              <a:t/>
            </a:r>
          </a:p>
          <a:p xmlns:a="http://schemas.openxmlformats.org/drawingml/2006/main">
            <a:r>
              <a:t>Claim Boundary: OBSERVED_PRODUCT / TEACHING_MODEL과 기존 Claim Status를 유지한다. 실제 Skill의 내용은 관찰 근거이고, 적용선·질문·채택/보류 분기는 교육용 책임 구분이다. no-change는 허용된 결론이며 TRIAL-008의 최종 관찰 결과가 아니다. 절차 전체·실제 실행 순서·반복 실험의 재현이 아니며 현재 Desktop이나 모든 Skill의 설계를 일반화하지 않는다. Skill의 우월성·독립적 인과성·토큰 절감·성능 효과를 추가 주장하지 않는다.</a:t>
            </a:r>
          </a:p>
          <a:p xmlns:a="http://schemas.openxmlformats.org/drawingml/2006/main">
            <a:r>
              <a:t/>
            </a:r>
          </a:p>
          <a:p xmlns:a="http://schemas.openxmlformats.org/drawingml/2006/main">
            <a:r>
              <a:t>Beginner Explanation: 다음 작업에도 같은 측정·검증 방법을 사용할 수 있다. 어떤 구현이 나은지, 실제 수치가 얼마인지는 이번 입력과 실행 기록을 보고 답한다. 변경하지 않기로 하는 결론도 근거가 있으면 유효하다.</a:t>
            </a:r>
          </a:p>
          <a:p xmlns:a="http://schemas.openxmlformats.org/drawingml/2006/main">
            <a:r>
              <a:t/>
            </a:r>
          </a:p>
          <a:p xmlns:a="http://schemas.openxmlformats.org/drawingml/2006/main">
            <a:r>
              <a:t>Advanced Insight: 재사용 절차는 근거를 수집·비교·보고하는 책임을 남긴다. 입력·환경·정확한 명령·측정값·후보별 trade-off는 이번 작업의 기록으로 다룬다. 변경 채택은 사용자의 허용 범위와 동작 보존을 전제로 하며, 낮은 수치 하나만으로 결정하지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정적 설명 — 왼쪽 재사용 방법, 적용선, 오른쪽 이번 기록과 세 질문, 아래 채택/보류 조건 순으로 가리킨다. 실행 시연은 하지 않는다. 이 장의 Lecture3분은 DEMO-03의8 Demo분과 별도다. 실제 후보의 승패·정확한 성능 수치를 S65/S61보다 앞서 공개하지 않는다.</a:t>
            </a:r>
          </a:p>
          <a:p xmlns:a="http://schemas.openxmlformats.org/drawingml/2006/main">
            <a:r>
              <a:t/>
            </a:r>
          </a:p>
          <a:p xmlns:a="http://schemas.openxmlformats.org/drawingml/2006/main">
            <a:r>
              <a:t>Audience Interaction: “같은 Skill을 썼다면 항상 같은 구현을 골라야 할까요?”를 짧게 던진 뒤 오른쪽 근거와 질문으로 회수한다. 공개 답변·실습을 요구하거나 별도 Q&amp;A 시간을 추가하지 않는다.</a:t>
            </a:r>
          </a:p>
          <a:p xmlns:a="http://schemas.openxmlformats.org/drawingml/2006/main">
            <a:r>
              <a:t/>
            </a:r>
          </a:p>
          <a:p xmlns:a="http://schemas.openxmlformats.org/drawingml/2006/main">
            <a:r>
              <a:t>Transition: “그렇다면 밝기 통계의 구현 후보는 어떤 근거로 선택했을까요?”</a:t>
            </a:r>
          </a:p>
          <a:p xmlns:a="http://schemas.openxmlformats.org/drawingml/2006/main">
            <a:r>
              <a:t/>
            </a:r>
          </a:p>
          <a:p xmlns:a="http://schemas.openxmlformats.org/drawingml/2006/main">
            <a:r>
              <a:t>Time Management: Lecture3분: S62 회수0.5, 재사용 방법0.75, 이번 근거·답1, 채택/보류와 S65 연결0.75. 지연 시 지침 원문과 세 질문을 전부 낭독하지 않는다. 허용된 보류와 실제 결과의 구분은 생략하지 않고3분에 S65으로 이동한다.</a:t>
            </a:r>
          </a:p>
          <a:p xmlns:a="http://schemas.openxmlformats.org/drawingml/2006/main">
            <a:r>
              <a:t/>
            </a:r>
          </a:p>
          <a:p xmlns:a="http://schemas.openxmlformats.org/drawingml/2006/main">
            <a:r>
              <a:t>Fallback: LOCAL STATIC ARTIFACT — production/ACT_3.pptx의 S64, production/preview/act3/S64.png 및 production/preview/full/S64.png. 실제 Skill 요약과 교육용 판단 경로를 구분해 설명한다. 현재 제품이나 Demo repository를 실행하지 않는다. 최종 패키지·PNG·내장 Notes 대조는 production/evaluation/S56_REUSABLE_PROCEDURE_REVISION.md를 따른다.</a:t>
            </a:r>
          </a:p>
          <a:p xmlns:a="http://schemas.openxmlformats.org/drawingml/2006/main">
            <a:r>
              <a:t/>
            </a:r>
          </a:p>
          <a:p xmlns:a="http://schemas.openxmlformats.org/drawingml/2006/main">
            <a:r>
              <a:t>Validation Status: ALIGNED — DEC-0068의19필드·Lecture3분·실제 Skill/교육용 관계 경계를 정렬했다. 최종 로컬 렌더와 Notes 대조는 production/evaluation/S56_REUSABLE_PROCEDURE_REVISION.md에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S65 — 밝기 통계 계산의 성능 개선 후보</a:t>
            </a:r>
          </a:p>
          <a:p xmlns:a="http://schemas.openxmlformats.org/drawingml/2006/main">
            <a:r>
              <a:t/>
            </a:r>
          </a:p>
          <a:p xmlns:a="http://schemas.openxmlformats.org/drawingml/2006/main">
            <a:r>
              <a:t>Slide ID: S65</a:t>
            </a:r>
          </a:p>
          <a:p xmlns:a="http://schemas.openxmlformats.org/drawingml/2006/main">
            <a:r>
              <a:t/>
            </a:r>
          </a:p>
          <a:p xmlns:a="http://schemas.openxmlformats.org/drawingml/2006/main">
            <a:r>
              <a:t>Working Title: 밝기 통계 계산의 성능 개선 후보</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TRIAL-008에서는 결과 6항목을 보존한 후보들의 실행시간과 traced allocation을 함께 봤다. 느린 수동 순회는 제외하고 낮은 할당량과 더 나은 실행시간의 행 단위 reduction을 선택했다.</a:t>
            </a:r>
          </a:p>
          <a:p xmlns:a="http://schemas.openxmlformats.org/drawingml/2006/main">
            <a:r>
              <a:t/>
            </a:r>
          </a:p>
          <a:p xmlns:a="http://schemas.openxmlformats.org/drawingml/2006/main">
            <a:r>
              <a:t>Opening Question: “밝기 통계의 결과를 유지하면서, 어떤 계산 방식을 선택했을까요?”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S64의 ‘절차는 재사용하고 답은 근거로 정한다’를 실제 작업으로 회수한다. 대상은 이미지의 최소·최대·평균 밝기 등을 구하는 image_statistics다. 결과는 그대로 두고 실행시간 또는 할당량 개선 가능성을 조사한 요청이었다.</a:t>
            </a:r>
          </a:p>
          <a:p xmlns:a="http://schemas.openxmlformats.org/drawingml/2006/main">
            <a:r>
              <a:t>2. (0:45–1:45) 기존 구현 도식을 왼쪽부터 가리킨다. 행으로 저장된 픽셀을 모두 새 임시 리스트로 모은 뒤 통계를 계산했다. 입력 이미지 외에 픽셀 수에 비례하는 임시 리스트 공간이 필요했다. 이 도식의 색·칸은 구조를 설명하며 실제 입력 픽셀이나 실행 화면은 아니다.</a:t>
            </a:r>
          </a:p>
          <a:p xmlns:a="http://schemas.openxmlformats.org/drawingml/2006/main">
            <a:r>
              <a:t>3. (1:45–2:45) 큰 임시 리스트 없이 계산하는 두 변경 후보를 읽는다. 한 후보는 Python 코드로 픽셀을 하나씩 직접 계산하고, 다른 후보는 각 행에 내장 min/max/sum을 사용한다. 이들 모두 결과 6항목을 보존했고 기존 평탄화 구현보다 Python 할당 피크가 낮았다.</a:t>
            </a:r>
          </a:p>
          <a:p xmlns:a="http://schemas.openxmlformats.org/drawingml/2006/main">
            <a:r>
              <a:t>4. (2:45–4:15) 후보 간 실행시간을 비교한 오른쪽을 짚는다. 수동 반복보다 행 단위 내장 연산이 빨라 후자를 선택했다. 내장 연산 후보는 세 차례 행 순회를 유지하면서 전체 임시 리스트를 피한 선택이다. 한 번 순회한다는 아이디어나 낮은 메모리만으로 답을 정하지 않았다.</a:t>
            </a:r>
          </a:p>
          <a:p xmlns:a="http://schemas.openxmlformats.org/drawingml/2006/main">
            <a:r>
              <a:t>5. (4:15–5:00) Skill에 정답 알고리즘을 미리 넣은 사례가 아니다. 절차를 따라 얻은 조사·측정·검증 기록으로 구현을 선택했다. 다음 S66은 이 후보 비교와 별도로 실제 제품 상태에 반영한 변경을 확인한 기록이다.</a:t>
            </a:r>
          </a:p>
          <a:p xmlns:a="http://schemas.openxmlformats.org/drawingml/2006/main">
            <a:r>
              <a:t/>
            </a:r>
          </a:p>
          <a:p xmlns:a="http://schemas.openxmlformats.org/drawingml/2006/main">
            <a:r>
              <a:t>Evidence / Source: `plan/DEMO_MATRIX.md` TRIAL-008 Investigation, Plan, Decision, Implementation, Verification 및 `plan/CLAIM_FREEZE.md`의 정성 후보 비교 범위. 대상은 image_statistics, deterministic synthetic 1024×768 (786,432 pixels, max255), CPython3.9.6 / macOS26.6.2 arm64. 보존한 여섯 결과는 width, height, pixel_count, minimum, maximum, mean이다. 원자료의 기존 flattening, row reductions, manual Python single pass 비교와 구현 내용을 요약했다. 정확한 후보 수치와 원기록은 원자료에 보존한다.</a:t>
            </a:r>
          </a:p>
          <a:p xmlns:a="http://schemas.openxmlformats.org/drawingml/2006/main">
            <a:r>
              <a:t/>
            </a:r>
          </a:p>
          <a:p xmlns:a="http://schemas.openxmlformats.org/drawingml/2006/main">
            <a:r>
              <a:t>Claim Boundary: S65에는 정확한 후보 수치를 표시하지 않는다. ‘더 느림/더 빠름’은 화면의 두 변경 후보 사이 비교이고 ‘기존보다 낮은 임시 메모리’는 기존 평탄화 구현 대비 traced Python allocation peak다. 임시 공간 도식은 리스트 구조 재구성이며 실제 이미지·값·측정 캡처가 아니다. 할당 피크를 RSS나 시스템 전체 메모리로 일반화하지 않는다. TRIAL-008 후보 비교를 S66의 formal STATE-04/STATE-04-PERF 측정과 섞지 않는다. Skill 단독 인과성·알고리즘 제공·현재 Desktop 재현·일반 성능 보장은 주장하지 않는다.</a:t>
            </a:r>
          </a:p>
          <a:p xmlns:a="http://schemas.openxmlformats.org/drawingml/2006/main">
            <a:r>
              <a:t/>
            </a:r>
          </a:p>
          <a:p xmlns:a="http://schemas.openxmlformats.org/drawingml/2006/main">
            <a:r>
              <a:t>Beginner Explanation: 같은 통계를 구해도 계산 중에 큰 임시 리스트를 만들 수 있다. 이 리스트 없이 계산한 두 방법 모두 결과와 메모리를 확인했고, 두 방법의 실행시간도 비교해서 골랐다.</a:t>
            </a:r>
          </a:p>
          <a:p xmlns:a="http://schemas.openxmlformats.org/drawingml/2006/main">
            <a:r>
              <a:t/>
            </a:r>
          </a:p>
          <a:p xmlns:a="http://schemas.openxmlformats.org/drawingml/2006/main">
            <a:r>
              <a:t>Advanced Insight: 데이터 구조의 할당과 Python 수준 반복의 실행시간을 별도로 판단한 사례다. 세 차례 행 순회와 full-list allocation 제거의 trade-off는 이 입력·runtime의 기록으로 한정한다. 과목의 핵심은 최적화 기법 목록이 아니라 재사용 절차로 얻은 근거에 따른 판단이다.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LOCAL STATIC RECORD — 작업 목적, 기존 구현의 픽셀/임시 리스트/통계 도식, 두 후보, 제외/선택 순으로 가리킨다. 색상뿐 아니라 라벨로 판단을 구분한다. 화면의 셀 수나 선 길이를 실제 입력 크기 또는 성능 비율로 읽지 않는다. 구현 파일·새 실행·정확한 후보 숫자를 추가하지 않는다. Case5분은 DEMO-03의8 Demo분과 별도다.</a:t>
            </a:r>
          </a:p>
          <a:p xmlns:a="http://schemas.openxmlformats.org/drawingml/2006/main">
            <a:r>
              <a:t/>
            </a:r>
          </a:p>
          <a:p xmlns:a="http://schemas.openxmlformats.org/drawingml/2006/main">
            <a:r>
              <a:t>Audience Interaction: Opening Question으로 앞 장의 판단 문제를 회수한다. 두 후보를 읽을 때 ‘메모리가 줄었다면 충분할까?’를 짧게 덧붙일 수 있다. 답이 이미 보이는 화면이므로 결과를 숨긴 퀴즈나 실습으로 운영하지 않는다.</a:t>
            </a:r>
          </a:p>
          <a:p xmlns:a="http://schemas.openxmlformats.org/drawingml/2006/main">
            <a:r>
              <a:t/>
            </a:r>
          </a:p>
          <a:p xmlns:a="http://schemas.openxmlformats.org/drawingml/2006/main">
            <a:r>
              <a:t>Transition: “선택한 행 단위 계산을 제품 코드에 반영한 뒤, 실행시간·임시 메모리·동작을 다시 확인한 기록을 보겠습니다.”</a:t>
            </a:r>
          </a:p>
          <a:p xmlns:a="http://schemas.openxmlformats.org/drawingml/2006/main">
            <a:r>
              <a:t/>
            </a:r>
          </a:p>
          <a:p xmlns:a="http://schemas.openxmlformats.org/drawingml/2006/main">
            <a:r>
              <a:t>Time Management: Case5분: 작업 회수0.75, 기존 구현1, 두 후보1, 비교·선택1.5, 범위·전환0.75. 지연 시 함수명·여섯 필드·세 차례 순회 설명을 줄인다. 작업 목적, 임시 리스트, 후보 선택과 별도 제품 검증이라는 연결은 유지하고5분에 이동한다.</a:t>
            </a:r>
          </a:p>
          <a:p xmlns:a="http://schemas.openxmlformats.org/drawingml/2006/main">
            <a:r>
              <a:t/>
            </a:r>
          </a:p>
          <a:p xmlns:a="http://schemas.openxmlformats.org/drawingml/2006/main">
            <a:r>
              <a:t>Fallback: LOCAL STATIC ARTIFACT — production/ACT_3.pptx의 S65, production/preview/act3/S65.png 및 production/preview/full/S65.png. 보존된 후보 비교와 구현 구조를 재구성한 도식이다. 현재 제품이나 Demo repository를 실행하지 않는다. 최신 대조는 production/evaluation/S57_S58_TASK_RESULT_REVISION.md를 따른다.</a:t>
            </a:r>
          </a:p>
          <a:p xmlns:a="http://schemas.openxmlformats.org/drawingml/2006/main">
            <a:r>
              <a:t/>
            </a:r>
          </a:p>
          <a:p xmlns:a="http://schemas.openxmlformats.org/drawingml/2006/main">
            <a:r>
              <a:t>Validation Status: ALIGNED — DEC-0070의19필드·Case5분·정성 후보 비교 범위를 정렬했다. 로컬 렌더·내장 Notes 대조는 production/evaluation/S57_S58_TASK_RESULT_REVISION.md에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S66 — 선택한 변경의 시간·메모리·동작 확인</a:t>
            </a:r>
          </a:p>
          <a:p xmlns:a="http://schemas.openxmlformats.org/drawingml/2006/main">
            <a:r>
              <a:t/>
            </a:r>
          </a:p>
          <a:p xmlns:a="http://schemas.openxmlformats.org/drawingml/2006/main">
            <a:r>
              <a:t>Slide ID: S66</a:t>
            </a:r>
          </a:p>
          <a:p xmlns:a="http://schemas.openxmlformats.org/drawingml/2006/main">
            <a:r>
              <a:t/>
            </a:r>
          </a:p>
          <a:p xmlns:a="http://schemas.openxmlformats.org/drawingml/2006/main">
            <a:r>
              <a:t>Working Title: 선택한 변경의 시간·메모리·동작 확인</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STATE-04→STATE-04-PERF 밝기 통계 변경은 기록된 입력·환경에서 동작 검사와 같은 조건의 측정을 거쳤다. 기존 수치와 검사 결과를 유지하고 Harness/Skill의 단독 인과효과와 구분한다.</a:t>
            </a:r>
          </a:p>
          <a:p xmlns:a="http://schemas.openxmlformats.org/drawingml/2006/main">
            <a:r>
              <a:t/>
            </a:r>
          </a:p>
          <a:p xmlns:a="http://schemas.openxmlformats.org/drawingml/2006/main">
            <a:r>
              <a:t>Opening Question: “선택한 변경을 제품에 반영한 뒤, 시간·메모리·동작은 각각 어떻게 확인됐을까요?”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S65에서 선택한 ‘큰 임시 리스트 없이 행마다 내장 min/max/sum 계산’을 위쪽 문장으로 회수한다. 이제 후보 비교가 아니라 정식 제품 코드 변경 전후의 별도 측정 기록이다.</a:t>
            </a:r>
          </a:p>
          <a:p xmlns:a="http://schemas.openxmlformats.org/drawingml/2006/main">
            <a:r>
              <a:t>2. (0:45–2:00) 왼쪽 실행시간을 짚는다. 같은 합성 이미지와 설정에서 상태별7회 실행한 중앙값은 변경 전15.468, 변경 후10.769ms/call이다. 0부터 시작하는 막대와 수치가 같은 방향을 나타낸다. 다른 입력·기기나 전체 제품 속도로 일반화하지 않는다.</a:t>
            </a:r>
          </a:p>
          <a:p xmlns:a="http://schemas.openxmlformats.org/drawingml/2006/main">
            <a:r>
              <a:t>3. (2:00–3:00) 가운데 임시 메모리는 별도 tracemalloc 호출의 Python allocation peak다. 6,675,804에서380bytes로 바뀌었다. 전체 픽셀 임시 리스트를 없앤 코드 변경과 연결하되, 입력 이미지 자체나 전체 프로세스 메모리가380bytes라는 뜻은 아니다.</a:t>
            </a:r>
          </a:p>
          <a:p xmlns:a="http://schemas.openxmlformats.org/drawingml/2006/main">
            <a:r>
              <a:t>4. (3:00–4:15) 오른쪽 동작 검증은 반환값6항목 동일, 함수 테스트1/1, 프로젝트 전체 테스트11/11, CLI 샘플 통과라는 기록이다. 실행시간만 짧아진 것을 성공 근거로 삼지 않는다. 이 검사들이 모든 입력의 정확성을 보증하는 것은 아니다.</a:t>
            </a:r>
          </a:p>
          <a:p xmlns:a="http://schemas.openxmlformats.org/drawingml/2006/main">
            <a:r>
              <a:t>5. (4:15–5:00) 재사용 절차 안에서 변경과 검증을 마친 사례로 회수한다. Harness/Skill이 단독으로 개선을 일으켰다는 실험은 아니다. 다음에는 이 작업에 독립 조사를 나누는 구조까지 필요했는지 질문한다.</a:t>
            </a:r>
          </a:p>
          <a:p xmlns:a="http://schemas.openxmlformats.org/drawingml/2006/main">
            <a:r>
              <a:t/>
            </a:r>
          </a:p>
          <a:p xmlns:a="http://schemas.openxmlformats.org/drawingml/2006/main">
            <a:r>
              <a:t>Evidence / Source: `plan/DEMO_MATRIX.md` STEP07 §§191–200, STATE-04 → STATE-04-PERF; `plan/CLAIM_FREEZE.md` §8; DEC-0019. Baseline 822f1c12c5f602d934a2fd29e48f05bf498b4bfa, result 6153b81c0187dd7d82c88bd1817fb683c98eb431. image_statistics, deterministic synthetic1024×768, 786,432pixels, max255, CPython3.9.6/macOS26.6.2 arm64. Same input fingerprint, seven one-call samples per state. Median15.468→10.769ms/call, separate tracemalloc peak6,675,804→380bytes. Six fields(width, height, pixel_count, minimum, maximum, mean), focused1/1, full11/11, CLI smoke PASS. CLI checked crop2×3, six pixels, min51/max255/mean136.0 and matching PGM output. TRIAL-008 supplies candidate history, not these formal-state samples.</a:t>
            </a:r>
          </a:p>
          <a:p xmlns:a="http://schemas.openxmlformats.org/drawingml/2006/main">
            <a:r>
              <a:t/>
            </a:r>
          </a:p>
          <a:p xmlns:a="http://schemas.openxmlformats.org/drawingml/2006/main">
            <a:r>
              <a:t>Claim Boundary: 원자료의 수치·단위·기준을 그대로 사용한다. 모든 관찰은 이 입력·코드 경로·host·runtime·측정 조건에 한정한다. tracemalloc은 Python allocation peak이며 RSS나 전체 메모리가 아니다. 검사 통과는 기록된 범위의 동작 확인이다. Harness/Skill 단독 인과성·현재 Desktop 재현·새 Trial·일반 성능 보장은 주장하지 않는다.</a:t>
            </a:r>
          </a:p>
          <a:p xmlns:a="http://schemas.openxmlformats.org/drawingml/2006/main">
            <a:r>
              <a:t/>
            </a:r>
          </a:p>
          <a:p xmlns:a="http://schemas.openxmlformats.org/drawingml/2006/main">
            <a:r>
              <a:t>Beginner Explanation: 바뀐 코드가 빨라졌는지만 보지 않았다. 같은 입력에서 걸린 시간, 계산 중 임시로 할당한 메모리, 같은 답과 테스트 결과를 함께 확인했다.</a:t>
            </a:r>
          </a:p>
          <a:p xmlns:a="http://schemas.openxmlformats.org/drawingml/2006/main">
            <a:r>
              <a:t/>
            </a:r>
          </a:p>
          <a:p xmlns:a="http://schemas.openxmlformats.org/drawingml/2006/main">
            <a:r>
              <a:t>Advanced Insight: Candidate comparison과 formal product-state verification의 기준선을 구분한다. Runtime과 allocation은 별도 호출로 측정했고 동일 입력 지문과6필드 결과 guard를 유지했다. 이 관찰로 시스템 구성요소의 독립적 효과를 추론하지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LOCAL STATIC RECORD — 위쪽 선택한 변경을 회수하고 왼쪽 시간 막대, 가운데 할당량 전후, 오른쪽 동작 검증 순으로 가리킨다. 측정값은 native chart/text이며 편집 가능하다. 이 장의 Case5분을 추가 Demo 시간으로 계산하지 않는다. 현재 제품·Demo repository·benchmark를 실행하지 않는다.</a:t>
            </a:r>
          </a:p>
          <a:p xmlns:a="http://schemas.openxmlformats.org/drawingml/2006/main">
            <a:r>
              <a:t/>
            </a:r>
          </a:p>
          <a:p xmlns:a="http://schemas.openxmlformats.org/drawingml/2006/main">
            <a:r>
              <a:t>Audience Interaction: 세 영역을 가리키며 Opening Question을 짧게 던진다. 결과가 공개된 정적 기록으로 설명하고 추가 실습이나 공개 답변 시간을 요구하지 않는다.</a:t>
            </a:r>
          </a:p>
          <a:p xmlns:a="http://schemas.openxmlformats.org/drawingml/2006/main">
            <a:r>
              <a:t/>
            </a:r>
          </a:p>
          <a:p xmlns:a="http://schemas.openxmlformats.org/drawingml/2006/main">
            <a:r>
              <a:t>Transition: “이 작업에 더 필요했던 구조도 있었을까요? 역할을 나누는 선택부터 검토하겠습니다.”</a:t>
            </a:r>
          </a:p>
          <a:p xmlns:a="http://schemas.openxmlformats.org/drawingml/2006/main">
            <a:r>
              <a:t/>
            </a:r>
          </a:p>
          <a:p xmlns:a="http://schemas.openxmlformats.org/drawingml/2006/main">
            <a:r>
              <a:t>Time Management: Case5분: 선택한 변경·측정 기준0.75, 실행시간1.25, 임시 메모리1, 동작 검증1.25, 범위·다음 질문0.75. 지연 시 정확한 여섯 필드와 CLI 샘플 값 낭독을 생략한다. 세 결과와 측정 범위를 남기고5분에 이동한다.</a:t>
            </a:r>
          </a:p>
          <a:p xmlns:a="http://schemas.openxmlformats.org/drawingml/2006/main">
            <a:r>
              <a:t/>
            </a:r>
          </a:p>
          <a:p xmlns:a="http://schemas.openxmlformats.org/drawingml/2006/main">
            <a:r>
              <a:t>Fallback: LOCAL STATIC ARTIFACT — production/ACT_3.pptx의 S66, production/preview/act3/S66.png 및 production/preview/full/S66.png. 보존된 제품 전후 측정·검증 기록의 재구성이다. 현재 실행 캡처가 아니다. 최신 파일 대조는 production/evaluation/S57_S58_TASK_RESULT_REVISION.md를 따른다.</a:t>
            </a:r>
          </a:p>
          <a:p xmlns:a="http://schemas.openxmlformats.org/drawingml/2006/main">
            <a:r>
              <a:t/>
            </a:r>
          </a:p>
          <a:p xmlns:a="http://schemas.openxmlformats.org/drawingml/2006/main">
            <a:r>
              <a:t>Validation Status: ALIGNED — DEC-0070의19필드·Case5분·제품 전후 측정 범위를 정렬했다. 로컬 렌더·내장 Notes 대조는 production/evaluation/S57_S58_TASK_RESULT_REVISION.md에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S67 — 한 Agent 조사와 Subagent 역할 분리</a:t>
            </a:r>
          </a:p>
          <a:p xmlns:a="http://schemas.openxmlformats.org/drawingml/2006/main">
            <a:r>
              <a:t/>
            </a:r>
          </a:p>
          <a:p xmlns:a="http://schemas.openxmlformats.org/drawingml/2006/main">
            <a:r>
              <a:t>Slide ID: S67</a:t>
            </a:r>
          </a:p>
          <a:p xmlns:a="http://schemas.openxmlformats.org/drawingml/2006/main">
            <a:r>
              <a:t/>
            </a:r>
          </a:p>
          <a:p xmlns:a="http://schemas.openxmlformats.org/drawingml/2006/main">
            <a:r>
              <a:t>Working Title: 한 Agent 조사와 Subagent 역할 분리</a:t>
            </a:r>
          </a:p>
          <a:p xmlns:a="http://schemas.openxmlformats.org/drawingml/2006/main">
            <a:r>
              <a:t/>
            </a:r>
          </a:p>
          <a:p xmlns:a="http://schemas.openxmlformats.org/drawingml/2006/main">
            <a:r>
              <a:t>ACT / Section: ACT 3 / 3E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3 minutes (VISUAL) + Q&amp;A 1 minute</a:t>
            </a:r>
          </a:p>
          <a:p xmlns:a="http://schemas.openxmlformats.org/drawingml/2006/main">
            <a:r>
              <a:t/>
            </a:r>
          </a:p>
          <a:p xmlns:a="http://schemas.openxmlformats.org/drawingml/2006/main">
            <a:r>
              <a:t>Primary Message: 독립 조사와 별도 Context의 가치가 있고 결과 형식·전달 지점·통합 책임을 정할 수 있다면 역할 분리를 검토한다. C++ Vision 사례는 교육용 가정이며 조정·중복·전달·통합 비용을 함께 본다.</a:t>
            </a:r>
          </a:p>
          <a:p xmlns:a="http://schemas.openxmlformats.org/drawingml/2006/main">
            <a:r>
              <a:t/>
            </a:r>
          </a:p>
          <a:p xmlns:a="http://schemas.openxmlformats.org/drawingml/2006/main">
            <a:r>
              <a:t>Opening Question: “성능·빌드·테스트 조사가 서로 기다리지 않아도 된다면?”</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 Demo) S66의 실제 밝기 통계 변경·검증을 마쳤다는 점을 회수한다. 필요한 구조만 고르는 첫 질문으로 역할 분리를 본다. 판단 기준을 보기 위해, C++ 검사 프로젝트에 성능·빌드·테스트 독립 조사가 필요하다고 가정한다. 실제 Trial을 계속 실행한 장면은 아니다.</a:t>
            </a:r>
          </a:p>
          <a:p xmlns:a="http://schemas.openxmlformats.org/drawingml/2006/main">
            <a:r>
              <a:t>2. (0:30–1:15 / Demo) 왼쪽 한 Agent가 세 조사와 결과 종합을 모두 맡는 모습을 짚는다. 성능은 소스·측정, 빌드는 환경·설정, 테스트는 테스트·명세를 본다. 단일 Agent 방식이 실패하거나 느리다는 뜻은 아니다.</a:t>
            </a:r>
          </a:p>
          <a:p xmlns:a="http://schemas.openxmlformats.org/drawingml/2006/main">
            <a:r>
              <a:t>3. (1:15–2:15 / Demo) 오른쪽 위 주 Agent가 범위와 결과 형식을 정하고, 세 Subagent가 각각 필요한 정보로 조사하는 분기를 따른다. 각각 조사한 내용·근거·미확인 사항을 주 Agent에게 돌려준다고 설명한다. 다른 조사 결과를 기다리지 않아도 되는지 먼저 판단해야 한다.</a:t>
            </a:r>
          </a:p>
          <a:p xmlns:a="http://schemas.openxmlformats.org/drawingml/2006/main">
            <a:r>
              <a:t>4. (2:15–3:00 / Demo) 아래로 합쳐지는 선과 ‘같은 주 Agent’를 짚는다. 결과를 단순히 붙이는 것으로 끝내지 않고 근거·중복·충돌을 확인해 한 결과로 통합할 책임이 남는다. 필요한 정보를 역할별로 나눌 수 있는 가치와 조정·전달·통합 비용을 함께 본다. 시간·품질 이득을 측정한 사례는 아니다.</a:t>
            </a:r>
          </a:p>
          <a:p xmlns:a="http://schemas.openxmlformats.org/drawingml/2006/main">
            <a:r>
              <a:t>5. (3:00–4:00 / Q&amp;A) “빌드 조사 결과가 나와야 성능 조사를 시작할 수 있다면, 이 구성을 그대로 쓸 수 있을까요?”로 독립성 판단을 받는다. 무질문이면 이 질문을 발표자가 짧게 회수한다. 3:45에 질문을 닫고 S69의 실제 밝기 통계 작업 판단으로 이동한다.</a:t>
            </a:r>
          </a:p>
          <a:p xmlns:a="http://schemas.openxmlformats.org/drawingml/2006/main">
            <a:r>
              <a:t/>
            </a:r>
          </a:p>
          <a:p xmlns:a="http://schemas.openxmlformats.org/drawingml/2006/main">
            <a:r>
              <a:t>Evidence / Source: CONCEPTUAL / TEACHING_MODEL — 기존 C++ 성능 경로·빌드 환경·테스트 구조의 독립 조사 가정, BEAT-023–025 / INV-MATURITY-007, plan/DEMO_ARCHITECTURE.md와 plan/DEMO_MATRIX.md의 DEMO-07, DEC-0062/0071. DEC-0018의 실제 추가하지 않음 판단은 S69에 유지한다. 새 Subagent 실행이나 비교 실험은 없다.; DEC-0080.</a:t>
            </a:r>
          </a:p>
          <a:p xmlns:a="http://schemas.openxmlformats.org/drawingml/2006/main">
            <a:r>
              <a:t/>
            </a:r>
          </a:p>
          <a:p xmlns:a="http://schemas.openxmlformats.org/drawingml/2006/main">
            <a:r>
              <a:t>Claim Boundary: CONCEPTUAL CASE / TEACHING MODEL — 기존 C++ 역할 분리 가정을 먼저 설명한다. 실제 Subagent 실행·이득·현재 제품 기능의 관찰이 아니다. 연결선은 교육용 역할·결과 전달 관계이며 실제 동시 실행 trace나 속도 비교가 아니다. 별도 Context를 쓰더라도 공유할 명세·기준은 필요하며 무조건 적은 정보를 주라는 뜻이 아니다.</a:t>
            </a:r>
          </a:p>
          <a:p xmlns:a="http://schemas.openxmlformats.org/drawingml/2006/main">
            <a:r>
              <a:t/>
            </a:r>
          </a:p>
          <a:p xmlns:a="http://schemas.openxmlformats.org/drawingml/2006/main">
            <a:r>
              <a:t>Beginner Explanation: 한 사람이 조사하고 정리할 일을 나눠 맡기는 구조로 읽는다. Subagent는 맡은 범위를 조사해 근거를 돌려주고, 처음 분담한 주 Agent가 다시 확인하고 합친다. 화면 위·아래의 주 Agent는 같은 역할이다.</a:t>
            </a:r>
          </a:p>
          <a:p xmlns:a="http://schemas.openxmlformats.org/drawingml/2006/main">
            <a:r>
              <a:t/>
            </a:r>
          </a:p>
          <a:p xmlns:a="http://schemas.openxmlformats.org/drawingml/2006/main">
            <a:r>
              <a:t>Advanced Insight: 독립 조사 가능성과 역할별 정보 범위의 가치를 먼저 확인한다. 요청할 결과 형식과 전달 지점을 정하고 주 Agent가 충돌·누락을 점검할 책임을 갖는다. 조정·중복·Context 전달·통합 비용이 있어 현재 작업에 분리가 필요한지 별도로 판단한다.</a:t>
            </a:r>
          </a:p>
          <a:p xmlns:a="http://schemas.openxmlformats.org/drawingml/2006/main">
            <a:r>
              <a:t/>
            </a:r>
          </a:p>
          <a:p xmlns:a="http://schemas.openxmlformats.org/drawingml/2006/main">
            <a:r>
              <a:t>C++ Vision Bridge: CONTEXTUAL — 기존 C++ 검사 프로젝트의 성능 경로·빌드 환경·테스트 구조 조사 가정이다. 실제 C++ 구현이나 Subagent 실행이 아니다.</a:t>
            </a:r>
          </a:p>
          <a:p xmlns:a="http://schemas.openxmlformats.org/drawingml/2006/main">
            <a:r>
              <a:t/>
            </a:r>
          </a:p>
          <a:p xmlns:a="http://schemas.openxmlformats.org/drawingml/2006/main">
            <a:r>
              <a:t>Demo Operation: 정적 VISUAL 기본 경로 — 상단 독립성 질문 → 왼쪽 한 Agent의 세 조사와 종합 → 오른쪽 주 Agent의 분담 → 역할별 조사 → 같은 주 Agent의 근거 확인·통합. 같은 세 조사와 자료를 양쪽에 놓아 조직 방식의 차이만 설명한다. 현재 UI·제품·Demo repository를 실행하지 않고 새 Trial·비교 측정·속도 표시를 추가하지 않는다.</a:t>
            </a:r>
          </a:p>
          <a:p xmlns:a="http://schemas.openxmlformats.org/drawingml/2006/main">
            <a:r>
              <a:t/>
            </a:r>
          </a:p>
          <a:p xmlns:a="http://schemas.openxmlformats.org/drawingml/2006/main">
            <a:r>
              <a:t>Audience Interaction: Demo3분 뒤 Q&amp;A1분을 별도로 쓴다. 무질문 예비 질문은 ‘앞 조사 결과를 기다려야 한다면?’이다. 답은 강제하지 않는다. 관련 없는 제품 사용법 질문은 후속 확인 항목으로 남기고 현재 독립성·통합 책임 판단으로 회수한다.</a:t>
            </a:r>
          </a:p>
          <a:p xmlns:a="http://schemas.openxmlformats.org/drawingml/2006/main">
            <a:r>
              <a:t/>
            </a:r>
          </a:p>
          <a:p xmlns:a="http://schemas.openxmlformats.org/drawingml/2006/main">
            <a:r>
              <a:t>**Transition:**</a:t>
            </a:r>
          </a:p>
          <a:p xmlns:a="http://schemas.openxmlformats.org/drawingml/2006/main">
            <a:r>
              <a:t>“독립 조사 역할을 나눌 수 있다면, 그 역할은 Codex에서 어떻게 만들어 다시 쓸까요?” S68 제작 팁을 거친 뒤 S69의 실제 밝기 통계 판단으로 돌아온다.</a:t>
            </a:r>
          </a:p>
          <a:p xmlns:a="http://schemas.openxmlformats.org/drawingml/2006/main">
            <a:r>
              <a:t/>
            </a:r>
          </a:p>
          <a:p xmlns:a="http://schemas.openxmlformats.org/drawingml/2006/main">
            <a:r>
              <a:t>Time Management: Demo3분(VISUAL): 앞 장 회수·가정0.5, 단일 Agent0.75, 역할 분담1, 통합·비용0.75. Q&amp;A1분: 질문·회수0.75, cutoff·전환0.25. 지연 시 조사별 세부 자료 낭독을 줄이고 독립성, 같은 주 Agent의 통합 책임, 가정이라는 경계를 유지한다. 4분에 S69으로 이동한다.</a:t>
            </a:r>
          </a:p>
          <a:p xmlns:a="http://schemas.openxmlformats.org/drawingml/2006/main">
            <a:r>
              <a:t/>
            </a:r>
          </a:p>
          <a:p xmlns:a="http://schemas.openxmlformats.org/drawingml/2006/main">
            <a:r>
              <a:t>Fallback: LOCAL STATIC ARTIFACT — production/ACT_3.pptx의 S67, production/preview/act3/S67.png 및 production/preview/full/S67.png. 표시된 CONCEPTUAL 역할 도식이며 실제 실행 캡처가 아니다. 현재 파일·경로·내용 대조는 production/evaluation/S59_ROLE_SPLIT_REVISION.md와 demos/runbooks/FALLBACK_MANIFEST.md를 따른다. 실제 발표 PC의 재생은 UNVERIFIED다.</a:t>
            </a:r>
          </a:p>
          <a:p xmlns:a="http://schemas.openxmlformats.org/drawingml/2006/main">
            <a:r>
              <a:t/>
            </a:r>
          </a:p>
          <a:p xmlns:a="http://schemas.openxmlformats.org/drawingml/2006/main">
            <a:r>
              <a:t>Validation Status: ALIGNED — DEC-0080의19필드·기존 시간/Mode·현재 화면/운영 역할을 정렬했다. 최종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S68 — 대화로 조사 Agent 만들기</a:t>
            </a:r>
          </a:p>
          <a:p xmlns:a="http://schemas.openxmlformats.org/drawingml/2006/main">
            <a:r>
              <a:t/>
            </a:r>
          </a:p>
          <a:p xmlns:a="http://schemas.openxmlformats.org/drawingml/2006/main">
            <a:r>
              <a:t>**Slide ID:**</a:t>
            </a:r>
          </a:p>
          <a:p xmlns:a="http://schemas.openxmlformats.org/drawingml/2006/main">
            <a:r>
              <a:t>S68</a:t>
            </a:r>
          </a:p>
          <a:p xmlns:a="http://schemas.openxmlformats.org/drawingml/2006/main">
            <a:r>
              <a:t/>
            </a:r>
          </a:p>
          <a:p xmlns:a="http://schemas.openxmlformats.org/drawingml/2006/main">
            <a:r>
              <a:t>**Working Title:**</a:t>
            </a:r>
          </a:p>
          <a:p xmlns:a="http://schemas.openxmlformats.org/drawingml/2006/main">
            <a:r>
              <a:t>대화로 조사 Agent 만들기</a:t>
            </a:r>
          </a:p>
          <a:p xmlns:a="http://schemas.openxmlformats.org/drawingml/2006/main">
            <a:r>
              <a:t/>
            </a:r>
          </a:p>
          <a:p xmlns:a="http://schemas.openxmlformats.org/drawingml/2006/main">
            <a:r>
              <a:t>**ACT / Section:**</a:t>
            </a:r>
          </a:p>
          <a:p xmlns:a="http://schemas.openxmlformats.org/drawingml/2006/main">
            <a:r>
              <a:t>ACT 3 / 3E Conditional Subagent Decision</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 minutes</a:t>
            </a:r>
          </a:p>
          <a:p xmlns:a="http://schemas.openxmlformats.org/drawingml/2006/main">
            <a:r>
              <a:t/>
            </a:r>
          </a:p>
          <a:p xmlns:a="http://schemas.openxmlformats.org/drawingml/2006/main">
            <a:r>
              <a:t>**Primary Message:**</a:t>
            </a:r>
          </a:p>
          <a:p xmlns:a="http://schemas.openxmlformats.org/drawingml/2006/main">
            <a:r>
              <a:t>Codex에 역할·사용 조건·보고 범위를 설명해 프로젝트용 Custom Agent TOML 작성을 요청할 수 있다. 파일의 역할 지침을 확인하고 다음 요청에서 그 이름의 Subagent로 조사를 명시한다.</a:t>
            </a:r>
          </a:p>
          <a:p xmlns:a="http://schemas.openxmlformats.org/drawingml/2006/main">
            <a:r>
              <a:t/>
            </a:r>
          </a:p>
          <a:p xmlns:a="http://schemas.openxmlformats.org/drawingml/2006/main">
            <a:r>
              <a:t>**Opening Question:**</a:t>
            </a:r>
          </a:p>
          <a:p xmlns:a="http://schemas.openxmlformats.org/drawingml/2006/main">
            <a:r>
              <a:t>“반복해서 맡기는 조사 역할을 Codex에서 어떻게 만들어 다시 쓸까요?”</a:t>
            </a:r>
          </a:p>
          <a:p xmlns:a="http://schemas.openxmlformats.org/drawingml/2006/main">
            <a:r>
              <a:t/>
            </a:r>
          </a:p>
          <a:p xmlns:a="http://schemas.openxmlformats.org/drawingml/2006/main">
            <a:r>
              <a:t>**Speaker Flow:**</a:t>
            </a:r>
          </a:p>
          <a:p xmlns:a="http://schemas.openxmlformats.org/drawingml/2006/main">
            <a:r>
              <a:t>1. (0:00–0:30 / Lecture) S67의 독립 조사 분담 가정에서 실제 Codex 활용 방법으로 잠시 전환한다. 일회성 분담은 요청만으로 시작할 수 있고 이 장은 같은 역할을 다시 쓰려는 Custom Agent 설정 예시임을 설명한다.</a:t>
            </a:r>
          </a:p>
          <a:p xmlns:a="http://schemas.openxmlformats.org/drawingml/2006/main">
            <a:r>
              <a:t>2. (0:30–1:25 / Lecture) 왼쪽 대화 요청과 오른쪽 .codex/agents/perf_reviewer.toml을 연결한다. 이름·사용 조건·역할 지침을 확인한다. 공식 필수 필드는 name, description, developer_instructions다. 개인 범위는 ~/.codex/agents/지만 화면에서는 프로젝트 범위만 보여준다. 별도 제작 전용 Skill을 가정하지 않는다.</a:t>
            </a:r>
          </a:p>
          <a:p xmlns:a="http://schemas.openxmlformats.org/drawingml/2006/main">
            <a:r>
              <a:t>3. (1:25–2:00 / Lecture) 하단 요청에서 이름과 Subagent 분담을 명시하고 주 Agent가 결과를 기다려 근거를 확인·종합한다. 권한은 부모 설정을 따르며 코드 수정 금지 지침 자체가 권한 격리는 아니다. 실제 실행은 하지 않고 S69의 왜 분담하지 않았는지로 돌아온다.</a:t>
            </a:r>
          </a:p>
          <a:p xmlns:a="http://schemas.openxmlformats.org/drawingml/2006/main">
            <a:r>
              <a:t/>
            </a:r>
          </a:p>
          <a:p xmlns:a="http://schemas.openxmlformats.org/drawingml/2006/main">
            <a:r>
              <a:t>**Evidence / Source:**</a:t>
            </a:r>
          </a:p>
          <a:p xmlns:a="http://schemas.openxmlformats.org/drawingml/2006/main">
            <a:r>
              <a:t>SRC-0112 / CLM-0042; https://learn.chatgpt.com/docs/agent-configuration/subagents; 2026-10-25 재확인; DEC-0093. 공식 Custom agents의 프로젝트 .codex/agents/*.toml 및 name/description/developer_instructions와 명시적 분담 요청을 바탕으로 각색했다.</a:t>
            </a:r>
          </a:p>
          <a:p xmlns:a="http://schemas.openxmlformats.org/drawingml/2006/main">
            <a:r>
              <a:t/>
            </a:r>
          </a:p>
          <a:p xmlns:a="http://schemas.openxmlformats.org/drawingml/2006/main">
            <a:r>
              <a:t>**Claim Boundary:**</a:t>
            </a:r>
          </a:p>
          <a:p xmlns:a="http://schemas.openxmlformats.org/drawingml/2006/main">
            <a:r>
              <a:t>DOCUMENTED GUIDANCE / TEACHING_MODEL / REQUIRES PRODUCT CHECK — Codex Custom Agent 설정/사용 요청의 교육용 예시이며 실제 생성·로딩·분담 실행·성능 이득을 시험한 결과가 아니다. 별도의 agent-creator Skill이 존재한다고 말하지 않는다. 코드 수정 금지는 역할 지침이며 독립적인 읽기 전용 권한을 만드는 설정이 아니다. 기존 Demo의 NOT JUSTIFIED YET 판단은 유지한다.</a:t>
            </a:r>
          </a:p>
          <a:p xmlns:a="http://schemas.openxmlformats.org/drawingml/2006/main">
            <a:r>
              <a:t/>
            </a:r>
          </a:p>
          <a:p xmlns:a="http://schemas.openxmlformats.org/drawingml/2006/main">
            <a:r>
              <a:t>**Beginner Explanation:**</a:t>
            </a:r>
          </a:p>
          <a:p xmlns:a="http://schemas.openxmlformats.org/drawingml/2006/main">
            <a:r>
              <a:t>어떤 조사를 언제 맡기고 무엇을 받으려는지 Codex에 설명하면 재사용할 역할 설정부터 작성하도록 요청할 수 있다.</a:t>
            </a:r>
          </a:p>
          <a:p xmlns:a="http://schemas.openxmlformats.org/drawingml/2006/main">
            <a:r>
              <a:t/>
            </a:r>
          </a:p>
          <a:p xmlns:a="http://schemas.openxmlformats.org/drawingml/2006/main">
            <a:r>
              <a:t>**Advanced Insight:**</a:t>
            </a:r>
          </a:p>
          <a:p xmlns:a="http://schemas.openxmlformats.org/drawingml/2006/main">
            <a:r>
              <a:t>임시 분담과 재사용 가능한 역할 정의를 구분한다. 설정 파일의 필수 필드·역할 범위와 부모 권한의 상속, 주 Agent의 근거 검토·통합 책임을 분리한다.</a:t>
            </a:r>
          </a:p>
          <a:p xmlns:a="http://schemas.openxmlformats.org/drawingml/2006/main">
            <a:r>
              <a:t/>
            </a:r>
          </a:p>
          <a:p xmlns:a="http://schemas.openxmlformats.org/drawingml/2006/main">
            <a:r>
              <a:t>**C++ Vision Bridge:**</a:t>
            </a:r>
          </a:p>
          <a:p xmlns:a="http://schemas.openxmlformats.org/drawingml/2006/main">
            <a:r>
              <a:t>없음. 제작 경로와 역할 범위를 설명하며 C++ 도구 목록을 추가하지 않는다.</a:t>
            </a:r>
          </a:p>
          <a:p xmlns:a="http://schemas.openxmlformats.org/drawingml/2006/main">
            <a:r>
              <a:t/>
            </a:r>
          </a:p>
          <a:p xmlns:a="http://schemas.openxmlformats.org/drawingml/2006/main">
            <a:r>
              <a:t>**Demo Operation:**</a:t>
            </a:r>
          </a:p>
          <a:p xmlns:a="http://schemas.openxmlformats.org/drawingml/2006/main">
            <a:r>
              <a:t>N/A — 정적 교육용 요청/문서 도식. 실제 Skill/Agent를 만들거나 호출하지 않는다. 현재 로컬 사용자 환경·Demo 저장소의 설정도 바꾸지 않는다.</a:t>
            </a:r>
          </a:p>
          <a:p xmlns:a="http://schemas.openxmlformats.org/drawingml/2006/main">
            <a:r>
              <a:t/>
            </a:r>
          </a:p>
          <a:p xmlns:a="http://schemas.openxmlformats.org/drawingml/2006/main">
            <a:r>
              <a:t>**Audience Interaction:**</a:t>
            </a:r>
          </a:p>
          <a:p xmlns:a="http://schemas.openxmlformats.org/drawingml/2006/main">
            <a:r>
              <a:t>Lecture2분. 질문은 생각을 돕기 위한 것이며 실습·파일 생성·공개 답변을 요구하지 않는다.</a:t>
            </a:r>
          </a:p>
          <a:p xmlns:a="http://schemas.openxmlformats.org/drawingml/2006/main">
            <a:r>
              <a:t/>
            </a:r>
          </a:p>
          <a:p xmlns:a="http://schemas.openxmlformats.org/drawingml/2006/main">
            <a:r>
              <a:t>**Transition:**</a:t>
            </a:r>
          </a:p>
          <a:p xmlns:a="http://schemas.openxmlformats.org/drawingml/2006/main">
            <a:r>
              <a:t>“필요할 때 역할을 만들어 쓸 수 있습니다. 하지만 이 밝기 통계 작업에서도 나눌 필요가 있었을까요?” 이전 S67이 이동한 S69에서 실제 보류 판단을 회수한다.</a:t>
            </a:r>
          </a:p>
          <a:p xmlns:a="http://schemas.openxmlformats.org/drawingml/2006/main">
            <a:r>
              <a:t/>
            </a:r>
          </a:p>
          <a:p xmlns:a="http://schemas.openxmlformats.org/drawingml/2006/main">
            <a:r>
              <a:t>**Time Management:**</a:t>
            </a:r>
          </a:p>
          <a:p xmlns:a="http://schemas.openxmlformats.org/drawingml/2006/main">
            <a:r>
              <a:t>0–0:30 제작 질문,0:30–1:25 요청/생성 문서,1:25–2:00 검토·사용/다음 본문으로 복귀.2분에 다음 장으로 넘기며 긴 설치·환경·TOML/Markdown 문법 강의는 하지 않는다. 실제 리허설 UNVERIFIED.</a:t>
            </a:r>
          </a:p>
          <a:p xmlns:a="http://schemas.openxmlformats.org/drawingml/2006/main">
            <a:r>
              <a:t/>
            </a:r>
          </a:p>
          <a:p xmlns:a="http://schemas.openxmlformats.org/drawingml/2006/main">
            <a:r>
              <a:t>**Fallback:**</a:t>
            </a:r>
          </a:p>
          <a:p xmlns:a="http://schemas.openxmlformats.org/drawingml/2006/main">
            <a:r>
              <a:t>LOCAL STATIC ARTIFACT — production/ACT_3.pptx의 S68 / production/preview/full/S68.png. 제품/계정이 미확인인 경우 이 요청 예시를 설명하며 Live로 전환하지 않는다.</a:t>
            </a:r>
          </a:p>
          <a:p xmlns:a="http://schemas.openxmlformats.org/drawingml/2006/main">
            <a:r>
              <a:t/>
            </a:r>
          </a:p>
          <a:p xmlns:a="http://schemas.openxmlformats.org/drawingml/2006/main">
            <a:r>
              <a:t>**Validation Status:**</a:t>
            </a:r>
          </a:p>
          <a:p xmlns:a="http://schemas.openxmlformats.org/drawingml/2006/main">
            <a:r>
              <a:t>DOCUMENTED GUIDANCE CHECKED2026-10-25 / LOCAL RESULT: production/evaluation/CODEX_AUTHORING_TIPS.md. 실제 생성/실행·현재 교육 계정·Windows/교육장/실측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S69 — 밝기 통계 작업을 나누지 않은 이유</a:t>
            </a:r>
          </a:p>
          <a:p xmlns:a="http://schemas.openxmlformats.org/drawingml/2006/main">
            <a:r>
              <a:t/>
            </a:r>
          </a:p>
          <a:p xmlns:a="http://schemas.openxmlformats.org/drawingml/2006/main">
            <a:r>
              <a:t>Slide ID: S69</a:t>
            </a:r>
          </a:p>
          <a:p xmlns:a="http://schemas.openxmlformats.org/drawingml/2006/main">
            <a:r>
              <a:t/>
            </a:r>
          </a:p>
          <a:p xmlns:a="http://schemas.openxmlformats.org/drawingml/2006/main">
            <a:r>
              <a:t>Working Title: 밝기 통계 작업을 나누지 않은 이유</a:t>
            </a:r>
          </a:p>
          <a:p xmlns:a="http://schemas.openxmlformats.org/drawingml/2006/main">
            <a:r>
              <a:t/>
            </a:r>
          </a:p>
          <a:p xmlns:a="http://schemas.openxmlformats.org/drawingml/2006/main">
            <a:r>
              <a:t>ACT / Section: ACT 3 / 3E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1 minute + Demo 2 minutes (VISUAL) + Q&amp;A 1 minute</a:t>
            </a:r>
          </a:p>
          <a:p xmlns:a="http://schemas.openxmlformats.org/drawingml/2006/main">
            <a:r>
              <a:t/>
            </a:r>
          </a:p>
          <a:p xmlns:a="http://schemas.openxmlformats.org/drawingml/2006/main">
            <a:r>
              <a:t>Primary Message: 현재 작업은 같은 성능 경로·명세를 공유하고 조사→변경→검증의 의존성이 높았다. 별도 Context 이득과 결과 통합 비용을 검토한 결과 Subagent를 추가하지 않았다.</a:t>
            </a:r>
          </a:p>
          <a:p xmlns:a="http://schemas.openxmlformats.org/drawingml/2006/main">
            <a:r>
              <a:t/>
            </a:r>
          </a:p>
          <a:p xmlns:a="http://schemas.openxmlformats.org/drawingml/2006/main">
            <a:r>
              <a:t>Opening Question: “S67의 독립 조사 기준을 이 밝기 통계 작업에도 적용할 수 있었을까요?”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S67에서는 성능·빌드·테스트 조사가 서로 기다리지 않아도 된다고 가정했다. 이제 S65/S61의 실제 밝기 통계 작업으로 돌아온다. 화면 위 ‘같은 함수·같은 출력 명세’를 짚는다. 여기서는 무엇을 나눌지보다 각 단계가 앞의 어떤 결과를 받아야 하는지 먼저 본다.</a:t>
            </a:r>
          </a:p>
          <a:p xmlns:a="http://schemas.openxmlformats.org/drawingml/2006/main">
            <a:r>
              <a:t>2. (1:00–1:40 / Demo) 왼쪽 조사는 기존 계산과 보존할 출력 명세, 변경 후보를 확인한 단계다. 기존 전체 픽셀 임시 리스트와 후보 비교는 S65에서 봤다. 가운데로 가는 ‘조사 결과’ 화살표를 따라, 조사한 후보를 근거로 계산 코드를 변경했음을 설명한다.</a:t>
            </a:r>
          </a:p>
          <a:p xmlns:a="http://schemas.openxmlformats.org/drawingml/2006/main">
            <a:r>
              <a:t>3. (1:40–2:20 / Demo) 가운데 변경에서 오른쪽 검증으로 전달하는 것은 ‘바뀐 코드’다. 그 코드의 출력·테스트와 같은 조건의 시간·Python 할당량을 확인했다. 실제 수치와 검사 결과는 S66에 보존돼 있으므로 다시 낭독하지 않는다. 단계를 이름만 바꿔 독립 조사라고 부를 수는 없다.</a:t>
            </a:r>
          </a:p>
          <a:p xmlns:a="http://schemas.openxmlformats.org/drawingml/2006/main">
            <a:r>
              <a:t>4. (2:20–3:00 / Demo) 아래 ‘한 Agent가 끝까지 수행’을 읽는다. 이 작은 작업은 같은 코드·명세를 공유했고 별도 Context 분리의 필요성이 충분하지 않았다. 나누면 해당 자료와 중간 결과를 전달하고 결과를 통합할 책임도 생긴다. DEC-0018의 기존 판단과 후속 실제 작업 기록에 따라 추가하지 않았다. 의존관계만으로 역할 분리가 불가능하다고 결론내리지는 않는다.</a:t>
            </a:r>
          </a:p>
          <a:p xmlns:a="http://schemas.openxmlformats.org/drawingml/2006/main">
            <a:r>
              <a:t>5. (3:00–4:00 / Q&amp;A) “조사 범위가 넓어지고 서로 기다리지 않는 근거 검토가 생기면 이 판단도 바뀔까요?”를 받는다. 무질문이면 발표자가 독립 조사 범위·필요한 정보·통합 비용을 다시 판단한다고 회수한다. 3:45에 질문을 닫고 다음 작업에도 남길 지식의 필요성으로 이동한다.</a:t>
            </a:r>
          </a:p>
          <a:p xmlns:a="http://schemas.openxmlformats.org/drawingml/2006/main">
            <a:r>
              <a:t/>
            </a:r>
          </a:p>
          <a:p xmlns:a="http://schemas.openxmlformats.org/drawingml/2006/main">
            <a:r>
              <a:t>Evidence / Source: DEC-0018의 STATE-04 저장소/후보 A·B·C 복잡도 감사, plan/DEMO_MATRIX.md STEP07 §§171–190 및 §§191–200의 작은 연결 작업과 no-Subagent 기록, BEAT-023–025, DEC-0062/0072. 조사·후보 선택은 TRIAL-008과 formal STATE-04→STATE-04-PERF 기록을 앞뒤 의존관계로 재구성했다. DEC-0018은 앞선 STATE-04 판단이고 후속 제품 변경 기록은 그 선택을 유지한 사례다. 실제 Subagent 실행 결과는 없다.</a:t>
            </a:r>
          </a:p>
          <a:p xmlns:a="http://schemas.openxmlformats.org/drawingml/2006/main">
            <a:r>
              <a:t/>
            </a:r>
          </a:p>
          <a:p xmlns:a="http://schemas.openxmlformats.org/drawingml/2006/main">
            <a:r>
              <a:t>Claim Boundary: FROZEN WITH SCOPE / TEACHING MODEL — DEC-0018 현재 Task 감사의 판단이며 실제 Subagent Trial이 아니다. 일반적 불필요성이나 기능 부재를 주장하지 않는다. 도식은 보존된 실제 작업의 의존관계 요약이며 raw trace·시각·동일 세션의 캡처가 아니다. 의존 단계에도 역할을 나누는 설계는 가능하지만 이 범위에서는 별도 조사·Context 분리 이득이 충분히 입증되지 않았다는 판단이다. 시간·품질·토큰 절감 비교를 새로 주장하지 않는다.</a:t>
            </a:r>
          </a:p>
          <a:p xmlns:a="http://schemas.openxmlformats.org/drawingml/2006/main">
            <a:r>
              <a:t/>
            </a:r>
          </a:p>
          <a:p xmlns:a="http://schemas.openxmlformats.org/drawingml/2006/main">
            <a:r>
              <a:t>Beginner Explanation: 무엇을 고칠지 조사한 결과가 있어야 변경을 고르고, 바뀐 코드가 있어야 그 결과를 검사할 수 있다. 같은 좁은 범위의 자료를 계속 보는 이 작업에서는 한 Agent가 이어서 맡았다. Agent 수가 많아야 완성된 작업 환경이 되는 것은 아니다.</a:t>
            </a:r>
          </a:p>
          <a:p xmlns:a="http://schemas.openxmlformats.org/drawingml/2006/main">
            <a:r>
              <a:t/>
            </a:r>
          </a:p>
          <a:p xmlns:a="http://schemas.openxmlformats.org/drawingml/2006/main">
            <a:r>
              <a:t>Advanced Insight: 단계가 이어진다는 사실과 독립적인 검토 역할을 만들 수 있는지는 구분한다. DEC-0018은 작은 저장소와 겹치는 근거·제한된 Context 분리 가치·전달/통합 비용을 함께 본 선택이다. 작업 규모와 독립 조사 필요성이 달라지면 같은 기준으로 재평가한다. 비용 차이는 실측 비교가 아니다.</a:t>
            </a:r>
          </a:p>
          <a:p xmlns:a="http://schemas.openxmlformats.org/drawingml/2006/main">
            <a:r>
              <a:t/>
            </a:r>
          </a:p>
          <a:p xmlns:a="http://schemas.openxmlformats.org/drawingml/2006/main">
            <a:r>
              <a:t>C++ Vision Bridge: S67의 C++ 독립 조사 가정과 이 Python 밝기 통계 작업을 같은 관찰로 섞지 않는다. 이번 화면은 실제 작업 판단만 보여준다.</a:t>
            </a:r>
          </a:p>
          <a:p xmlns:a="http://schemas.openxmlformats.org/drawingml/2006/main">
            <a:r>
              <a:t/>
            </a:r>
          </a:p>
          <a:p xmlns:a="http://schemas.openxmlformats.org/drawingml/2006/main">
            <a:r>
              <a:t>Demo Operation: LOCAL STATIC VISUAL — 상단 같은 함수·명세 → 왼쪽 조사 → 조사 결과 화살표 → 가운데 코드 변경 → 바뀐 코드 화살표 → 오른쪽 출력·테스트·시간·할당량 확인 → 아래 한 Agent 유지 판단. S67의 분기/합류 대신 실제 의존관계를 읽는2분이다. Agent·benchmark·Demo repository를 실행하지 않으며 추가 Subagent 창을 열지 않는다.</a:t>
            </a:r>
          </a:p>
          <a:p xmlns:a="http://schemas.openxmlformats.org/drawingml/2006/main">
            <a:r>
              <a:t/>
            </a:r>
          </a:p>
          <a:p xmlns:a="http://schemas.openxmlformats.org/drawingml/2006/main">
            <a:r>
              <a:t>Audience Interaction: Lecture1분과 정적 Demo2분 뒤 Q&amp;A1분을 쓴다. 무질문 예비 질문은 ‘서로 기다리지 않는 조사 범위가 커진다면?’이다. 공개 답변·실습은 요구하지 않는다. 제품 기능 사용법 질문은 후속 확인 항목으로 남기고 현재 선택 이유를 회수한다.</a:t>
            </a:r>
          </a:p>
          <a:p xmlns:a="http://schemas.openxmlformats.org/drawingml/2006/main">
            <a:r>
              <a:t/>
            </a:r>
          </a:p>
          <a:p xmlns:a="http://schemas.openxmlformats.org/drawingml/2006/main">
            <a:r>
              <a:t>Transition: “역할 분리의 필요성을 판단했습니다. 다음 작업에 별도로 남길 지식도 있었을까요?”</a:t>
            </a:r>
          </a:p>
          <a:p xmlns:a="http://schemas.openxmlformats.org/drawingml/2006/main">
            <a:r>
              <a:t/>
            </a:r>
          </a:p>
          <a:p xmlns:a="http://schemas.openxmlformats.org/drawingml/2006/main">
            <a:r>
              <a:t>Time Management: Lecture1분(S67 기준 회수·실제 작업 복귀) → Demo2분(조사/변경0.67, 변경/검증0.67, 현재 판단0.66) → Q&amp;A1분(질문·회수0.75, cutoff·전환0.25). 지연 시 후보명·검사값 낭독을 생략한다. 앞 결과 의존성, 자료 범위와 통합 비용, 이 작업에 한정한 선택은 남기고4분에 S70로 이동한다.</a:t>
            </a:r>
          </a:p>
          <a:p xmlns:a="http://schemas.openxmlformats.org/drawingml/2006/main">
            <a:r>
              <a:t/>
            </a:r>
          </a:p>
          <a:p xmlns:a="http://schemas.openxmlformats.org/drawingml/2006/main">
            <a:r>
              <a:t>Fallback: LOCAL STATIC ARTIFACT — production/ACT_3.pptx의 S69, production/preview/act3/S69.png 및 production/preview/full/S69.png. 보존된 실제 작업과 판단을 재구성한 정적 도식이며 실행 캡처가 아니다. 현재 파일 대조는 production/evaluation/S60_TASK_DEPENDENCY_REVISION.md와 demos/runbooks/FALLBACK_MANIFEST.md를 따른다. 실제 발표 PC 재생은 UNVERIFIED다.</a:t>
            </a:r>
          </a:p>
          <a:p xmlns:a="http://schemas.openxmlformats.org/drawingml/2006/main">
            <a:r>
              <a:t/>
            </a:r>
          </a:p>
          <a:p xmlns:a="http://schemas.openxmlformats.org/drawingml/2006/main">
            <a:r>
              <a:t>Validation Status: ALIGNED — DEC-0072의19필드·Lecture1+Demo2+Q&amp;A1분·실제 작업 의존관계를 정렬했다. 최종 패키지·렌더·내장 Notes 대조는 production/evaluation/S60_TASK_DEPENDENCY_REVISION.md에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S70 — 이번 Context와 다시 쓸 지식</a:t>
            </a:r>
          </a:p>
          <a:p xmlns:a="http://schemas.openxmlformats.org/drawingml/2006/main">
            <a:r>
              <a:t/>
            </a:r>
          </a:p>
          <a:p xmlns:a="http://schemas.openxmlformats.org/drawingml/2006/main">
            <a:r>
              <a:t>Slide ID: S70</a:t>
            </a:r>
          </a:p>
          <a:p xmlns:a="http://schemas.openxmlformats.org/drawingml/2006/main">
            <a:r>
              <a:t/>
            </a:r>
          </a:p>
          <a:p xmlns:a="http://schemas.openxmlformats.org/drawingml/2006/main">
            <a:r>
              <a:t>Working Title: 이번 Context와 다시 쓸 지식</a:t>
            </a:r>
          </a:p>
          <a:p xmlns:a="http://schemas.openxmlformats.org/drawingml/2006/main">
            <a:r>
              <a:t/>
            </a:r>
          </a:p>
          <a:p xmlns:a="http://schemas.openxmlformats.org/drawingml/2006/main">
            <a:r>
              <a:t>ACT / Section: ACT 3 / 3F</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2 minutes (VISUAL) + Case 2 minutes</a:t>
            </a:r>
          </a:p>
          <a:p xmlns:a="http://schemas.openxmlformats.org/drawingml/2006/main">
            <a:r>
              <a:t/>
            </a:r>
          </a:p>
          <a:p xmlns:a="http://schemas.openxmlformats.org/drawingml/2006/main">
            <a:r>
              <a:t>Primary Message: 현재 Task에 필요한 Context와 다음 Task에도 보존할 가치가 있는 지식을 구분한다. 출처·적용 범위·갱신 조건을 관리하고 기존 문서에 있으면 그 출처를 참조한다.</a:t>
            </a:r>
          </a:p>
          <a:p xmlns:a="http://schemas.openxmlformats.org/drawingml/2006/main">
            <a:r>
              <a:t/>
            </a:r>
          </a:p>
          <a:p xmlns:a="http://schemas.openxmlformats.org/drawingml/2006/main">
            <a:r>
              <a:t>Opening Question: “이번 작업에서 확인한 내용 중, 다음 작업에도 다시 찾게 될 것은 무엇일까요?”</a:t>
            </a:r>
          </a:p>
          <a:p xmlns:a="http://schemas.openxmlformats.org/drawingml/2006/main">
            <a:r>
              <a:t/>
            </a:r>
          </a:p>
          <a:p xmlns:a="http://schemas.openxmlformats.org/drawingml/2006/main">
            <a:r>
              <a:t>**Speaker Flow:**</a:t>
            </a:r>
          </a:p>
          <a:p xmlns:a="http://schemas.openxmlformats.org/drawingml/2006/main">
            <a:r>
              <a:t>1. (0:00–0:30 / Demo) S69에서는 실제 밝기 통계 작업을 한 Agent로 마친 선택을 봤다. 필요한 구조만 고르는 두 번째 질문으로, 작업이 끝난 뒤 무엇을 남길지 본다. 여기부터는 ‘다음 작업에도 필요한 재현 조건을 확인했다면’이라는 교육용 가정이다. 현재 Demo에서 새 후보를 발견한 기록이 아니다.</a:t>
            </a:r>
          </a:p>
          <a:p xmlns:a="http://schemas.openxmlformats.org/drawingml/2006/main">
            <a:r>
              <a:t>2. (0:30–1:15 / Demo) 왼쪽 이번 작업 Context는 Agent가 지금 참고할 목표·현재 명세·입력·로그와 조사로 확인한 내용을 포함한다. 강조한 ‘확인한 재현 조건’에서 오른쪽으로 이어지는 선을 짚는다. 이번 Context 전체를 저장하는 것이 아니라, 다음에도 쓸 근거 있는 지식을 골라 남길지 판단한다.</a:t>
            </a:r>
          </a:p>
          <a:p xmlns:a="http://schemas.openxmlformats.org/drawingml/2006/main">
            <a:r>
              <a:t>3. (1:15–2:00 / Demo) 오른쪽은 검증된 재현 조건을 남기는 가정이다. 재현에 필요한 최소 입력·실행 명령, 확인한 출처, 적용 범위와 다시 확인할 조건이 함께 있어야 한다. 아래 화살표는 다음 작업에서 현재 명세와 대조한 뒤 필요한 지식을 Context로 가져오는 관계다. 제품의 자동 저장·회수 동작을 보여주는 화면은 아니다.</a:t>
            </a:r>
          </a:p>
          <a:p xmlns:a="http://schemas.openxmlformats.org/drawingml/2006/main">
            <a:r>
              <a:t>4. (2:00–3:00 / Case) 같은 조건을 다시 조사하는 부담이 크고 다음 작업에도 쓸 가치가 있다면 보존을 검토한다. 무엇을 남겼다는 사실만으로 정확성이나 최신성이 보장되지 않는다. 입력 형식·코드 버전·실행 환경 등 적용 조건이 달라지면 관련 내용을 재확인하거나 수정·폐기해야 한다. 이 사례의 구체 조건·효과를 실제로 측정한 것은 아니다.</a:t>
            </a:r>
          </a:p>
          <a:p xmlns:a="http://schemas.openxmlformats.org/drawingml/2006/main">
            <a:r>
              <a:t>5. (3:00–4:00 / Case) 그 조건이 이미 명세·문서에 있다면 원래 출처를 참조한다. 현재 로그와 일회성 측정은 필요할 때 날짜가 있는 근거 기록으로 남기며, 모두 별도 Memory에 복제하지 않는다. 같은 프로젝트의 다음 작업에도 재사용할 수 있고 프로젝트 간 공유가 필수는 아니다. 다음 S71에서는 실제 Demo 지식이 이미 어디에 있었는지와 별도 후보 유무를 확인한다.</a:t>
            </a:r>
          </a:p>
          <a:p xmlns:a="http://schemas.openxmlformats.org/drawingml/2006/main">
            <a:r>
              <a:t>운영 표시: “실무 적용 팁 · Context 관리”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 CONCEPTUAL / TEACHING_MODEL — plan/MASTER_PLAN.md §5.6, plan/INVARIANTS.md INV-MATURITY-008, BEAT-026–028, DEC-0062/0073. plan/DEMO_MATRIX.md STEP07 §§181–190의 Context/유지 지식/문서/Trial 기록 구분과 no-qualifying-candidate 경계를 따른다. 재현 조건과 다음 작업은 교육용 가정이며 실제 재발견·Memory 저장/회수 기록이 아니다. 실제 현재 출처 감사와 별도 후보 없음의 결론은 S71에 유지한다.; DEC-0080.</a:t>
            </a:r>
          </a:p>
          <a:p xmlns:a="http://schemas.openxmlformats.org/drawingml/2006/main">
            <a:r>
              <a:t/>
            </a:r>
          </a:p>
          <a:p xmlns:a="http://schemas.openxmlformats.org/drawingml/2006/main">
            <a:r>
              <a:t>Claim Boundary: CONCEPTUAL CASE / TEACHING MODEL — 작업 간 지식 관리 가정이다. 현재 Demo에 Memory를 추가했거나 제품이 자동 기억·회수한다는 주장이 아니다. 구체적인 오류·입력·명령·개선 수치를 새로 만들지 않는다. Context와 보존 지식은 질문·수명·관리 목적이 다르며 서로 배타적인 정보 종류가 아니다. 유지한 지식도 다음 작업의 Context가 될 수 있다. 반복 조사 부담 감소는 설계 목적이며 측정 성과가 아니다.</a:t>
            </a:r>
          </a:p>
          <a:p xmlns:a="http://schemas.openxmlformats.org/drawingml/2006/main">
            <a:r>
              <a:t/>
            </a:r>
          </a:p>
          <a:p xmlns:a="http://schemas.openxmlformats.org/drawingml/2006/main">
            <a:r>
              <a:t>Beginner Explanation: 이번 Context는 지금 일을 하려고 참고하는 자료다. 그 안에서 확인한 재현 조건처럼 다음에도 쓸 내용을 출처와 함께 남길지 판단한다. 다음 작업에서 쓰기 전에도 현재 명세에 맞는지 확인한다. 지금 보는 모든 정보가 일회성이거나 모두 저장해야 한다는 뜻은 아니다.</a:t>
            </a:r>
          </a:p>
          <a:p xmlns:a="http://schemas.openxmlformats.org/drawingml/2006/main">
            <a:r>
              <a:t/>
            </a:r>
          </a:p>
          <a:p xmlns:a="http://schemas.openxmlformats.org/drawingml/2006/main">
            <a:r>
              <a:t>Advanced Insight: 재사용 가치와 다시 찾는 비용 외에 신뢰도·출처·적용 범위·신선도·갱신/무효화 책임을 본다. Memory는 이 교육에서 유지할 지식의 역할을 설명하며 특정 제품 기능·파일 형식·지속 범위를 선택하지 않는다. 기존 Source of Truth가 충분하면 그 출처를 참조하고 중복 보존의 유지 부담을 피한다. 사실·의사결정 이유·수행 절차·한 번의 측정은 적절한 원래 저장 위치를 유지한다.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LOCAL STATIC VISUAL — 가정 표시 → 왼쪽 이번 Context → 강조한 재현 조건만 오른쪽으로 이동 → 출처·적용 범위·재확인 조건 → 아래 다음 작업의 현재 명세와 대조. 왼쪽 회색 줄도 현재 작업에 필요한 정보다. 색만으로 구분하지 않고 ‘이번 작업’과 ‘다시 쓸 지식’ 라벨, 포함 관계와 화살표를 함께 읽는다. 제품 Memory·Agent·Demo repository를 실행하지 않는다.</a:t>
            </a:r>
          </a:p>
          <a:p xmlns:a="http://schemas.openxmlformats.org/drawingml/2006/main">
            <a:r>
              <a:t/>
            </a:r>
          </a:p>
          <a:p xmlns:a="http://schemas.openxmlformats.org/drawingml/2006/main">
            <a:r>
              <a:t>Audience Interaction: Demo2분 뒤 Case2분 안에서 ‘이미 문서에 있는 조건이라면?’을 짧게 묻고 원래 출처 참조로 회수할 수 있다. 별도 Q&amp;A 시간을 추가하거나 공개 답변·실습을 요구하지 않는다.</a:t>
            </a:r>
          </a:p>
          <a:p xmlns:a="http://schemas.openxmlformats.org/drawingml/2006/main">
            <a:r>
              <a:t/>
            </a:r>
          </a:p>
          <a:p xmlns:a="http://schemas.openxmlformats.org/drawingml/2006/main">
            <a:r>
              <a:t>Transition: “이제 원래 출처와 보존 기준을 놓고, 현재 Demo에 별도 후보가 있었는지 보겠습니다.”</a:t>
            </a:r>
          </a:p>
          <a:p xmlns:a="http://schemas.openxmlformats.org/drawingml/2006/main">
            <a:r>
              <a:t/>
            </a:r>
          </a:p>
          <a:p xmlns:a="http://schemas.openxmlformats.org/drawingml/2006/main">
            <a:r>
              <a:t>Time Management: Demo2분: S69 연결·가정0.5, 이번 Context와 선별0.75, 지식 묶음·다음 사용0.75. Case2분: 보존 목적·신선도1, 원래 출처·실제 사례로 전환1. 지연 시 입력·명령의 세부 설명과 적용 조건 예시를 줄인다. 무엇을 왜 남길지, 출처·재확인과 가정 경계는 남기고4분에 S71로 이동한다.</a:t>
            </a:r>
          </a:p>
          <a:p xmlns:a="http://schemas.openxmlformats.org/drawingml/2006/main">
            <a:r>
              <a:t/>
            </a:r>
          </a:p>
          <a:p xmlns:a="http://schemas.openxmlformats.org/drawingml/2006/main">
            <a:r>
              <a:t>Fallback: LOCAL STATIC ARTIFACT — production/ACT_3.pptx의 S70, production/preview/act3/S70.png 및 production/preview/full/S70.png. 표시된 작업 간 지식 재사용 가정의 도식이며 실제 실행 캡처가 아니다. 현재 파일 대조는 production/evaluation/S61_CONTEXT_RETENTION_REVISION.md와 demos/runbooks/FALLBACK_MANIFEST.md를 따른다. 실제 발표 PC 재생은 UNVERIFIED다.</a:t>
            </a:r>
          </a:p>
          <a:p xmlns:a="http://schemas.openxmlformats.org/drawingml/2006/main">
            <a:r>
              <a:t/>
            </a:r>
          </a:p>
          <a:p xmlns:a="http://schemas.openxmlformats.org/drawingml/2006/main">
            <a:r>
              <a:t>Validation Status: ALIGNED — DEC-0080의19필드·기존 시간/Mode·현재 화면/운영 역할을 정렬했다. 최종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S71 — 실제 Demo 지식의 원래 출처</a:t>
            </a:r>
          </a:p>
          <a:p xmlns:a="http://schemas.openxmlformats.org/drawingml/2006/main">
            <a:r>
              <a:t/>
            </a:r>
          </a:p>
          <a:p xmlns:a="http://schemas.openxmlformats.org/drawingml/2006/main">
            <a:r>
              <a:t>Slide ID: S71</a:t>
            </a:r>
          </a:p>
          <a:p xmlns:a="http://schemas.openxmlformats.org/drawingml/2006/main">
            <a:r>
              <a:t/>
            </a:r>
          </a:p>
          <a:p xmlns:a="http://schemas.openxmlformats.org/drawingml/2006/main">
            <a:r>
              <a:t>Working Title: 실제 Demo 지식의 원래 출처</a:t>
            </a:r>
          </a:p>
          <a:p xmlns:a="http://schemas.openxmlformats.org/drawingml/2006/main">
            <a:r>
              <a:t/>
            </a:r>
          </a:p>
          <a:p xmlns:a="http://schemas.openxmlformats.org/drawingml/2006/main">
            <a:r>
              <a:t>ACT / Section: ACT 3 / 3F</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재발견 비용·다음 작업 재사용·출처와 적용 범위·갱신 조건을 보고 기존 출처를 먼저 확인한다. 현재 계약/구조/절차/측정 기록은 각각 근거가 있어 별도 Memory 후보를 찾지 못했다.</a:t>
            </a:r>
          </a:p>
          <a:p xmlns:a="http://schemas.openxmlformats.org/drawingml/2006/main">
            <a:r>
              <a:t/>
            </a:r>
          </a:p>
          <a:p xmlns:a="http://schemas.openxmlformats.org/drawingml/2006/main">
            <a:r>
              <a:t>Opening Question: “S70의 보존 기준으로 실제 Demo를 보면, 새로 남길 지식은 어디에 있었을까요?”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S70의 재현 조건은 교육용 가정이었다고 짚고, 이제 실제 Demo의 기존 출처 감사로 돌아온다. 네 개 상자는 새로 만든 저장소나 Memory가 아니라 이미 지식이 있던 위치다.</a:t>
            </a:r>
          </a:p>
          <a:p xmlns:a="http://schemas.openxmlformats.org/drawingml/2006/main">
            <a:r>
              <a:t>2. (0:30–1:20) 코드와 문서를 왼쪽부터 짚는다. transform.py의 crop은 끝 좌표를 제외하는 구현이다. 같은 동작 명세는 docs/image-contracts.md에, 모듈 역할·처리 순서는 docs/architecture.md에 있다. 각 지식이 한 곳에만 존재한다는 분류가 아니라 실제 근거를 어디에서 확인할 수 있는지 보여준다.</a:t>
            </a:r>
          </a:p>
          <a:p xmlns:a="http://schemas.openxmlformats.org/drawingml/2006/main">
            <a:r>
              <a:t>3. (1:20–2:00) Skill에는 성능 작업의 조사·변경·검증 방법이 이미 있다. 원래 반복한 것은 이 절차였고 repository-owned Skill로 관리했다. 이를 별도의 사실 Memory 필요성으로 다시 세지 않는다. 파일은 .agents/skills/graypipe-performance/SKILL.md다.</a:t>
            </a:r>
          </a:p>
          <a:p xmlns:a="http://schemas.openxmlformats.org/drawingml/2006/main">
            <a:r>
              <a:t>4. (2:00–2:45) Trial 기록에는 측정값과 입력·실행 환경·날짜가 있고 Git은 제품 변경과 상태 이력을 연결한다. 화면의 DEMO_MATRIX.md는 교육 저장소 plan/DEMO_MATRIX.md의 기록이며 Demo 제품 디렉터리 안의 파일이라는 뜻은 아니다. 한 번의 수치를 환경이 바뀌어도 항상 맞는 지식으로 옮기지 않는다.</a:t>
            </a:r>
          </a:p>
          <a:p xmlns:a="http://schemas.openxmlformats.org/drawingml/2006/main">
            <a:r>
              <a:t>5. (2:45–3:30) 네 출처가 아래 판단으로 모이는 선을 따른다. 재발견 비용, 다음 작업 재사용, 출처·적용 범위, 갱신·무효화 조건으로 봤을 때 기존 출처에서 필요한 내용을 확인할 수 있었고, 출처가 없어 비싼 재조사를 반복한 별도 지식 후보를 찾지 못했다는 기존 감사 결과다. 비용이나 검색 시간을 새로 측정한 결과가 아니다.</a:t>
            </a:r>
          </a:p>
          <a:p xmlns:a="http://schemas.openxmlformats.org/drawingml/2006/main">
            <a:r>
              <a:t>6. (3:30–4:00) 원래 출처를 유지하고 별도 Memory는 추가하지 않았다는 현재 선택을 회수한다. 문서가 존재하면 어떤 경우든 Memory가 불필요하다는 일반 규칙은 아니다. 다음에는 이 선택들을 합쳐 실제 작업에 쓴 구성과 책임을 돌아본다.</a:t>
            </a:r>
          </a:p>
          <a:p xmlns:a="http://schemas.openxmlformats.org/drawingml/2006/main">
            <a:r>
              <a:t/>
            </a:r>
          </a:p>
          <a:p xmlns:a="http://schemas.openxmlformats.org/drawingml/2006/main">
            <a:r>
              <a:t>Evidence / Source: DEC-0018 / plan/DEMO_MATRIX.md STEP07 §§181–190 Trial History Audit, Rediscovery/Durable Knowledge Candidates, Documentation Instead 및 Memory Gate; BEAT-026–028; DEC-0062/0074. STATE-04-PERF의 src/graypipe/transform.py, docs/image-contracts.md, docs/architecture.md, .agents/skills/graypipe-performance/SKILL.md를 읽기 전용으로 대조했다. 원기록·날짜·입력/환경과 제품 Git 상태를 유지하며 새 Trial·Memory 인스턴스는 없다.</a:t>
            </a:r>
          </a:p>
          <a:p xmlns:a="http://schemas.openxmlformats.org/drawingml/2006/main">
            <a:r>
              <a:t/>
            </a:r>
          </a:p>
          <a:p xmlns:a="http://schemas.openxmlformats.org/drawingml/2006/main">
            <a:r>
              <a:t>Claim Boundary: FROZEN WITH SCOPE / TEACHING MODEL — DEC-0018 현재 Demo의 지식 감사와 보존 기준이다. 제품 Memory의 범위·효과나 일반적 불필요성을 주장하지 않는다. 네 출처 도식은 보존된 감사 결과의 재구성이며 실제 접근 순서·검색 trace·Memory 실행 캡처가 아니다. 파일에 정보가 있다는 사실만으로 모든 작업에서 쉽게 찾거나 항상 충분하다고 일반화하지 않는다. 현재 감사에서 별도 후보를 찾지 못했다는 범위로 한정한다.</a:t>
            </a:r>
          </a:p>
          <a:p xmlns:a="http://schemas.openxmlformats.org/drawingml/2006/main">
            <a:r>
              <a:t/>
            </a:r>
          </a:p>
          <a:p xmlns:a="http://schemas.openxmlformats.org/drawingml/2006/main">
            <a:r>
              <a:t>Beginner Explanation: 동작은 코드·명세에서, 구조는 문서에서, 수행 방법은 Skill에서, 한 번의 측정은 날짜가 있는 기록에서 먼저 확인한다. 이 Demo에서는 필요한 내용이 이미 그 출처들에 있었고, 따로 보존할 후보를 찾지 못해 Memory를 추가하지 않았다.</a:t>
            </a:r>
          </a:p>
          <a:p xmlns:a="http://schemas.openxmlformats.org/drawingml/2006/main">
            <a:r>
              <a:t/>
            </a:r>
          </a:p>
          <a:p xmlns:a="http://schemas.openxmlformats.org/drawingml/2006/main">
            <a:r>
              <a:t>Advanced Insight: 보존 후보는 재발견 비용·재사용 가치·원래 출처·적용 범위·신뢰도·신선도·갱신/무효화 책임을 함께 본다. 같은 프로젝트의 다음 작업도 재사용 대상이며 프로젝트 간 공유가 필수는 아니다. Skill의 반복 절차와 Trial의 환경 의존 관찰을 별도 사실 Memory로 중복 집계하지 않는다. 이후 실제로 찾기 어려운 재사용 지식이 생기면 같은 기준으로 다시 판단한다.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Lecture의 정적 보조 도식 — 왼쪽 코드 → 문서 → Skill → Trial 기록 순으로 지식과 출처를 대응하고, 아래로 모이는 선 뒤 ‘원래 출처에 있었다 / 별도 후보가 없어 추가하지 않았다’를 읽는다. 추가 Demo 시간으로 계산하지 않는다. 제품·Agent·Memory·benchmark·Demo repository를 실행하지 않는다. 상세 경로가 필요하면 Notes의 원출처를 참고한다.</a:t>
            </a:r>
          </a:p>
          <a:p xmlns:a="http://schemas.openxmlformats.org/drawingml/2006/main">
            <a:r>
              <a:t/>
            </a:r>
          </a:p>
          <a:p xmlns:a="http://schemas.openxmlformats.org/drawingml/2006/main">
            <a:r>
              <a:t>Audience Interaction: Lecture4분 안에서 ‘이 정보를 다시 쓰면 어디를 먼저 볼까요?’를 짧게 던지고 각 출처로 회수할 수 있다. 별도 Q&amp;A·공개 답변·실습을 요구하지 않는다. 기능 사용 개수가 아니라 현재 문제와 근거로 선택한다는 판단을 유지한다.</a:t>
            </a:r>
          </a:p>
          <a:p xmlns:a="http://schemas.openxmlformats.org/drawingml/2006/main">
            <a:r>
              <a:t/>
            </a:r>
          </a:p>
          <a:p xmlns:a="http://schemas.openxmlformats.org/drawingml/2006/main">
            <a:r>
              <a:t>Transition: “이 선택들을 모으면 이번 문제를 위해 실제로 사용한 구조는 무엇이었을까요?”</a:t>
            </a:r>
          </a:p>
          <a:p xmlns:a="http://schemas.openxmlformats.org/drawingml/2006/main">
            <a:r>
              <a:t/>
            </a:r>
          </a:p>
          <a:p xmlns:a="http://schemas.openxmlformats.org/drawingml/2006/main">
            <a:r>
              <a:t>Time Management: Lecture4분: 가정에서 실제 감사로0.5, 코드·문서0.83, Skill0.67, Trial/Git0.75, 기준·출처 판단0.75, 선택·전환0.5. 지연 시 전체 경로·필드명 낭독을 줄인다. 네 지식의 원래 위치와 별도 후보가 없었다는 판단, 실제 기록의 범위는 유지하고4분에 S72으로 이동한다.</a:t>
            </a:r>
          </a:p>
          <a:p xmlns:a="http://schemas.openxmlformats.org/drawingml/2006/main">
            <a:r>
              <a:t/>
            </a:r>
          </a:p>
          <a:p xmlns:a="http://schemas.openxmlformats.org/drawingml/2006/main">
            <a:r>
              <a:t>Fallback: LOCAL STATIC ARTIFACT — production/ACT_3.pptx의 S71, production/preview/act3/S71.png 및 production/preview/full/S71.png. 보존된 지식 출처 감사의 재구성이며 실제 Memory·검색 실행 캡처가 아니다. 현재 파일 대조는 production/evaluation/S62_KNOWLEDGE_SOURCES_REVISION.md와 demos/runbooks/FALLBACK_MANIFEST.md를 따른다. 실제 발표 PC 재생은 UNVERIFIED다.</a:t>
            </a:r>
          </a:p>
          <a:p xmlns:a="http://schemas.openxmlformats.org/drawingml/2006/main">
            <a:r>
              <a:t/>
            </a:r>
          </a:p>
          <a:p xmlns:a="http://schemas.openxmlformats.org/drawingml/2006/main">
            <a:r>
              <a:t>Validation Status: ALIGNED — DEC-0074의19필드·Lecture4분·실제 지식/출처와 현재 판단을 정렬했다. 최종 패키지·렌더·내장 Notes 대조는 production/evaluation/S62_KNOWLEDGE_SOURCES_REVISION.md에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S72 — 밝기 통계 작업에 쓰인 구성의 역할</a:t>
            </a:r>
          </a:p>
          <a:p xmlns:a="http://schemas.openxmlformats.org/drawingml/2006/main">
            <a:r>
              <a:t/>
            </a:r>
          </a:p>
          <a:p xmlns:a="http://schemas.openxmlformats.org/drawingml/2006/main">
            <a:r>
              <a:t>Slide ID: S72</a:t>
            </a:r>
          </a:p>
          <a:p xmlns:a="http://schemas.openxmlformats.org/drawingml/2006/main">
            <a:r>
              <a:t/>
            </a:r>
          </a:p>
          <a:p xmlns:a="http://schemas.openxmlformats.org/drawingml/2006/main">
            <a:r>
              <a:t>Working Title: 밝기 통계 작업에 쓰인 구성의 역할</a:t>
            </a:r>
          </a:p>
          <a:p xmlns:a="http://schemas.openxmlformats.org/drawingml/2006/main">
            <a:r>
              <a:t/>
            </a:r>
          </a:p>
          <a:p xmlns:a="http://schemas.openxmlformats.org/drawingml/2006/main">
            <a:r>
              <a:t>ACT / Section: ACT 3 / 3G</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Demo 3 minutes (CAPTURED)</a:t>
            </a:r>
          </a:p>
          <a:p xmlns:a="http://schemas.openxmlformats.org/drawingml/2006/main">
            <a:r>
              <a:t/>
            </a:r>
          </a:p>
          <a:p xmlns:a="http://schemas.openxmlformats.org/drawingml/2006/main">
            <a:r>
              <a:t>Primary Message: 밝기 통계 목표/범위, AGENTS.md와 상세 문서, 재사용 Skill, 테스트·benchmark·실행 조건이 각각 목표·지식·방법·완료 근거를 맡았다. Subagent와 별도 Memory는 추가하지 않았다.</a:t>
            </a:r>
          </a:p>
          <a:p xmlns:a="http://schemas.openxmlformats.org/drawingml/2006/main">
            <a:r>
              <a:t/>
            </a:r>
          </a:p>
          <a:p xmlns:a="http://schemas.openxmlformats.org/drawingml/2006/main">
            <a:r>
              <a:t>Opening Question: “S71에서 본 자료들이 실제 밝기 통계 작업에서는 각각 무엇을 맡았을까요?”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 Demo) S71의 출처 감사에서 실제 밝기 통계 작업으로 돌아온다. 이번 장은 각 자료가 이 한 작업에서 맡은 역할의 회수다. 재구성 도식이며 시간순 실행 trace가 아니다.</a:t>
            </a:r>
          </a:p>
          <a:p xmlns:a="http://schemas.openxmlformats.org/drawingml/2006/main">
            <a:r>
              <a:t>2. (0:30–1:30 / Demo) 왼쪽 목표·Context·Skill을 한 번에 짚는다. 근거 있는 실행시간/할당량 개선 조사, 출력6항목과 허용 범위 보존이 요청의 경계다. AGENTS.md·상세 문서·코드·테스트는 사실과 명세를, Repository Skill은 재사용 방법을 제공했다. 발견·명시 호출·본문 포함과 실제 수행의 차이는 S61/S58에서 확인했으므로 다시 강의하지 않는다.</a:t>
            </a:r>
          </a:p>
          <a:p xmlns:a="http://schemas.openxmlformats.org/drawingml/2006/main">
            <a:r>
              <a:t>3. (1:30–2:30 / Demo) 가운데 실제 조사·변경에서 오른쪽 테스트·benchmark로 이동한다. 같은 입력·환경의 동작·실행시간·Python 할당량 근거를 사람이 검토했다. TRIAL-008 후보 비교와 정식 STATE-04-PERF 재조사·검증은 별도 기록이다. 수치와 테스트 결과를 S66처럼 다시 읽지 않는다. 모든 동작의 정확성이나 각 요소의 단독 효과가 입증된 것은 아니다.</a:t>
            </a:r>
          </a:p>
          <a:p xmlns:a="http://schemas.openxmlformats.org/drawingml/2006/main">
            <a:r>
              <a:t>4. (2:30–3:00 / Demo) Subagent·별도 Memory를 추가하지 않은 범위의 실제 구성을 회수한다. 다음 장은 요소 목록을 반복하는 대신 실행 조건과 사람의 검토 책임까지 연결한 Harness 모델로 확장한다.</a:t>
            </a:r>
          </a:p>
          <a:p xmlns:a="http://schemas.openxmlformats.org/drawingml/2006/main">
            <a:r>
              <a:t/>
            </a:r>
          </a:p>
          <a:p xmlns:a="http://schemas.openxmlformats.org/drawingml/2006/main">
            <a:r>
              <a:t>Evidence / Source: STATE-00 → STATE-04-PERF; plan/DEMO_MATRIX.md의 TRIAL-008 Task Prompt, Current Harness 및 §§191–200 Working Harness Success; DEC-0018/0062/0075; INV-VERIFY-001; DEMO-09. OBSERVED_PRODUCT / TEACHING_MODEL. STATE-04-PERF의 AGENTS.md, docs/, .agents/skills/graypipe-performance/SKILL.md, tests/test_statistics.py, benchmarks/benchmark_statistics.py를 읽기 전용으로 대조한다. 과거 Codex CLI 0.154.0 기록이며 현재 Desktop 실행 검증이 아니다.; DEC-0080.</a:t>
            </a:r>
          </a:p>
          <a:p xmlns:a="http://schemas.openxmlformats.org/drawingml/2006/main">
            <a:r>
              <a:t/>
            </a:r>
          </a:p>
          <a:p xmlns:a="http://schemas.openxmlformats.org/drawingml/2006/main">
            <a:r>
              <a:t>Claim Boundary: FROZEN WITH SCOPE / TEACHING MODEL — 실제 밝기 통계 작업에서 사용한 구성과 책임의 요약이다. 연결선은 자료·방법·확인 근거의 관계이며 실제 실행 순서·자동 routing trace·고정된 Agent 동작을 입증하지 않는다. TRIAL-008 후보와 정식 STATE-04-PERF의 재검증을 혼동하지 않는다. Skill 또는 Harness가 성능 개선의 단독 원인이라는 주장, Prompt 대비 우월성, 토큰 절감, 보편적 최소 구성 및 현재 Desktop 동작 보장은 없다.</a:t>
            </a:r>
          </a:p>
          <a:p xmlns:a="http://schemas.openxmlformats.org/drawingml/2006/main">
            <a:r>
              <a:t/>
            </a:r>
          </a:p>
          <a:p xmlns:a="http://schemas.openxmlformats.org/drawingml/2006/main">
            <a:r>
              <a:t>Beginner Explanation: 목표는 무엇을 바꾸고 무엇을 지킬지, Context는 어떤 명세와 자료를 볼지, Skill은 어떤 방법으로 수행할지를 알려준다. 테스트와 benchmark는 변경이 조건을 지켰는지·측정이 어땠는지 판단할 근거를 준다. 이 입력들을 같은 밝기 통계 작업에 함께 적용했다.</a:t>
            </a:r>
          </a:p>
          <a:p xmlns:a="http://schemas.openxmlformats.org/drawingml/2006/main">
            <a:r>
              <a:t/>
            </a:r>
          </a:p>
          <a:p xmlns:a="http://schemas.openxmlformats.org/drawingml/2006/main">
            <a:r>
              <a:t>Advanced Insight: 수행 방법과 답은 분리한다. 검증 도구는 동작·성능 근거를 제공하지만 그 성공을 모든 구성 요소의 효과로 귀속할 수는 없다. “Minimum Effective”는 신뢰성 있는 문제 해결 조건에 따른 heuristic이며 기능 수 기준이 없다. 독립 조사가 필요하지 않았고 추가 보존 후보도 없어 Subagent·별도 Memory는 넣지 않았다.</a:t>
            </a:r>
          </a:p>
          <a:p xmlns:a="http://schemas.openxmlformats.org/drawingml/2006/main">
            <a:r>
              <a:t/>
            </a:r>
          </a:p>
          <a:p xmlns:a="http://schemas.openxmlformats.org/drawingml/2006/main">
            <a:r>
              <a:t>**C++ Vision Bridge:**</a:t>
            </a:r>
          </a:p>
          <a:p xmlns:a="http://schemas.openxmlformats.org/drawingml/2006/main">
            <a:r>
              <a:t>N/A — 이전 독립 C++ 전이 장은 DEC-0091에서 삭제했다. 실제 구성 회고와 Harness 재사용 설명으로 연결한다.</a:t>
            </a:r>
          </a:p>
          <a:p xmlns:a="http://schemas.openxmlformats.org/drawingml/2006/main">
            <a:r>
              <a:t/>
            </a:r>
          </a:p>
          <a:p xmlns:a="http://schemas.openxmlformats.org/drawingml/2006/main">
            <a:r>
              <a:t>Demo Operation: CAPTURED 정적 기본 경로 — S71의 출처에서 실제 역할로 연결한 뒤 목표 → Context → Skill을 각각 짚고, 모이는 선을 따라 밝기 통계 조사·변경과 검증 도구로 이동한다. 세 입력의 순차 실행이나 새 실행 기록처럼 말하지 않는다. 실제 결과 수치는 반복하지 않고 검사 역할과 동일 입력·환경 조건을 설명한다. 전체 Harness 정의는 S73에서 회수한다. 제품·Agent·benchmark·Demo repository를 실행하지 않으며 새 Trial·비교 측정을 만들지 않는다.</a:t>
            </a:r>
          </a:p>
          <a:p xmlns:a="http://schemas.openxmlformats.org/drawingml/2006/main">
            <a:r>
              <a:t/>
            </a:r>
          </a:p>
          <a:p xmlns:a="http://schemas.openxmlformats.org/drawingml/2006/main">
            <a:r>
              <a:t>Audience Interaction: ‘셋 중 어느 하나에 정답이 미리 들어 있었을까요?’를 잠시 생각하게 한 뒤 Skill은 수행 방법, 답은 조사·측정 근거로 판단한다는 기존 구분을 회수할 수 있다. 필수 실습·공개 답변·별도 Q&amp;A 시간은 추가하지 않는다.</a:t>
            </a:r>
          </a:p>
          <a:p xmlns:a="http://schemas.openxmlformats.org/drawingml/2006/main">
            <a:r>
              <a:t/>
            </a:r>
          </a:p>
          <a:p xmlns:a="http://schemas.openxmlformats.org/drawingml/2006/main">
            <a:r>
              <a:t>Transition: “이 파일과 도구들이 어떤 관계로 작동하는지 전체 작업 환경으로 묶겠습니다.”</a:t>
            </a:r>
          </a:p>
          <a:p xmlns:a="http://schemas.openxmlformats.org/drawingml/2006/main">
            <a:r>
              <a:t/>
            </a:r>
          </a:p>
          <a:p xmlns:a="http://schemas.openxmlformats.org/drawingml/2006/main">
            <a:r>
              <a:t>Time Management: Demo3분(CAPTURED 정적 요약): 실제 작업으로 복귀0.5, 입력 역할을 함께 회수1, 검증 근거1, 실행 조건·검토 책임으로 연결0.5. S61–S66의 지침·수치 설명을 반복하지 않는다. 실제3분 리허설은 UNVERIFIED다.</a:t>
            </a:r>
          </a:p>
          <a:p xmlns:a="http://schemas.openxmlformats.org/drawingml/2006/main">
            <a:r>
              <a:t/>
            </a:r>
          </a:p>
          <a:p xmlns:a="http://schemas.openxmlformats.org/drawingml/2006/main">
            <a:r>
              <a:t>Fallback: LOCAL STATIC ARTIFACT — production/ACT_3.pptx의 S72, production/preview/act3/S72.png 및 production/preview/full/S72.png. 보존된 실제 구성·작업 기록의 재구성이며 raw CLI screenshot이나 현재 제품 실행이 아니다. 파일 대조는 production/evaluation/S63_TASK_ROLES_REVISION.md와 demos/runbooks/FALLBACK_MANIFEST.md를 따른다. 실제 발표 PC 재생은 UNVERIFIED다.</a:t>
            </a:r>
          </a:p>
          <a:p xmlns:a="http://schemas.openxmlformats.org/drawingml/2006/main">
            <a:r>
              <a:t/>
            </a:r>
          </a:p>
          <a:p xmlns:a="http://schemas.openxmlformats.org/drawingml/2006/main">
            <a:r>
              <a:t>Validation Status: ALIGNED — DEC-0080의19필드·기존 시간/Mode·현재 화면/운영 역할을 정렬했다. 최종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S73 — 함께 작동하는 작업 환경, Harness</a:t>
            </a:r>
          </a:p>
          <a:p xmlns:a="http://schemas.openxmlformats.org/drawingml/2006/main">
            <a:r>
              <a:t/>
            </a:r>
          </a:p>
          <a:p xmlns:a="http://schemas.openxmlformats.org/drawingml/2006/main">
            <a:r>
              <a:t>Slide ID: S73</a:t>
            </a:r>
          </a:p>
          <a:p xmlns:a="http://schemas.openxmlformats.org/drawingml/2006/main">
            <a:r>
              <a:t/>
            </a:r>
          </a:p>
          <a:p xmlns:a="http://schemas.openxmlformats.org/drawingml/2006/main">
            <a:r>
              <a:t>Working Title: 함께 작동하는 작업 환경, Harness</a:t>
            </a:r>
          </a:p>
          <a:p xmlns:a="http://schemas.openxmlformats.org/drawingml/2006/main">
            <a:r>
              <a:t/>
            </a:r>
          </a:p>
          <a:p xmlns:a="http://schemas.openxmlformats.org/drawingml/2006/main">
            <a:r>
              <a:t>ACT / Section: ACT 3 / 3G</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Lecture 4 minutes + Demo 2 minutes (CAPTURED)</a:t>
            </a:r>
          </a:p>
          <a:p xmlns:a="http://schemas.openxmlformats.org/drawingml/2006/main">
            <a:r>
              <a:t/>
            </a:r>
          </a:p>
          <a:p xmlns:a="http://schemas.openxmlformats.org/drawingml/2006/main">
            <a:r>
              <a:t>Primary Message: 이 과정에서 Harness는 Agent가 신뢰성 있게 일하도록 목표·Context·재사용 절차·실행 도구·검증·검토 조건을 연결한 작업 환경과 방법의 운영 모델이다.</a:t>
            </a:r>
          </a:p>
          <a:p xmlns:a="http://schemas.openxmlformats.org/drawingml/2006/main">
            <a:r>
              <a:t/>
            </a:r>
          </a:p>
          <a:p xmlns:a="http://schemas.openxmlformats.org/drawingml/2006/main">
            <a:r>
              <a:t>Opening Question: “S72의 구성에 실행·검증 환경까지 함께 연결하면, Agent가 일하는 전체 구조는 어떻게 보일까요?”</a:t>
            </a:r>
          </a:p>
          <a:p xmlns:a="http://schemas.openxmlformats.org/drawingml/2006/main">
            <a:r>
              <a:t/>
            </a:r>
          </a:p>
          <a:p xmlns:a="http://schemas.openxmlformats.org/drawingml/2006/main">
            <a:r>
              <a:t>**Speaker Flow:**</a:t>
            </a:r>
          </a:p>
          <a:p xmlns:a="http://schemas.openxmlformats.org/drawingml/2006/main">
            <a:r>
              <a:t>1. (0:00–0:30 / Lecture) S72의 실제 구성과 같은 배치임을 짚는다. 목표·Context·Skill의 정의를 다시 차례로 설명하지 않고, 이 작업이 가능하도록 실행 조건과 사람의 검토 책임까지 설계하는 관계로 확장한다.</a:t>
            </a:r>
          </a:p>
          <a:p xmlns:a="http://schemas.openxmlformats.org/drawingml/2006/main">
            <a:r>
              <a:t>2. (0:30–1:30 / Lecture) 아래 실행 환경에서 Agent와 검증 도구로 올라가는 두 선을 따라간다. Repository·입력·권한·실행/측정 조건은 작업과 비교가 이뤄지는 공통 기반이다. 파일이 있다는 것만으로 실행 가능성이나 비교 가능성이 보장되지는 않는다.</a:t>
            </a:r>
          </a:p>
          <a:p xmlns:a="http://schemas.openxmlformats.org/drawingml/2006/main">
            <a:r>
              <a:t>3. (1:30–2:30 / Lecture) 오른쪽 ‘사람이 근거·결과 검토’를 짚는다. 테스트와 benchmark는 근거를 만들며 사람이 원하는 변화·동작 보존·미확인 사항을 보고 수용 여부를 판단한다. 검토 책임을 도구 이름이나 자동 정답 보장으로 설명하지 않는다.</a:t>
            </a:r>
          </a:p>
          <a:p xmlns:a="http://schemas.openxmlformats.org/drawingml/2006/main">
            <a:r>
              <a:t>4. (2:30–4:00 / Lecture) 이 교육에서 Harness는 목표·Context·재사용 방법·도구·검증·검토 조건을 연결한 작업 환경과 방법의 운영 모델이다. 공식 OpenAI 정의나 보편적인 필수 목록이 아니다. 관계도는 실행 순서 trace가 아니며 Subagent·별도 Memory도 필수 구성은 아니다. 실행 조건이나 명세가 달라지면 이 관계가 여전히 맞는지 사람이 검토할 필요가 있음을 열되 ACT4의 가상 실패를 미리 만들지 않는다.</a:t>
            </a:r>
          </a:p>
          <a:p xmlns:a="http://schemas.openxmlformats.org/drawingml/2006/main">
            <a:r>
              <a:t>5. (4:00–5:30 / Demo) CAPTURED 정적 대응: 기존 자료가 AGENTS.md·docs·성능 Skill·tests·benchmark였고 기록된 입력/환경에서 작업과 확인이 이뤄졌음을 화면에 대응한다. 실제 지침·검사·수치의 상세는 재설명하지 않는다. TRIAL-008 후보와 정식 상태의 재조사·검증을 구분하고 모든 환경 조건의 완전한 감사를 주장하지 않는다.</a:t>
            </a:r>
          </a:p>
          <a:p xmlns:a="http://schemas.openxmlformats.org/drawingml/2006/main">
            <a:r>
              <a:t>6. (5:30–6:00 / Demo) 실제 성공을 보존하고 ‘만든 작업 체계를 다음 프로젝트에서도 쓸 수 있을까요?’로 S74–S75를 연다. 제품이나 새 명령을 실행하지 않는다.</a:t>
            </a:r>
          </a:p>
          <a:p xmlns:a="http://schemas.openxmlformats.org/drawingml/2006/main">
            <a:r>
              <a:t>마지막 연결은 다음 프로젝트에서도 사용할 기반의 가치다. 실행 조건의 세부는 S76–S80에서 단계별로 다룬다.</a:t>
            </a:r>
          </a:p>
          <a:p xmlns:a="http://schemas.openxmlformats.org/drawingml/2006/main">
            <a:r>
              <a:t/>
            </a:r>
          </a:p>
          <a:p xmlns:a="http://schemas.openxmlformats.org/drawingml/2006/main">
            <a:r>
              <a:t>Evidence / Source: DEC-0023의 이 과정 Harness 운영 정의; BEAT-035/036; STATE-04-PERF; DEC-0062/0075/0076; DEMO-09. OBSERVED_PRODUCT / TEACHING_MODEL. plan/DEMO_MATRIX.md의 Current Harness 및 §§191–200 Working Harness Success, S72의 실제 구성 대응을 사용한다. AGENTS.md·상세 문서·repository Skill·테스트·benchmark는 보존된 실제 근거이며 환경 전체의 완전한 감사 증거는 아니다.; DEC-0080.</a:t>
            </a:r>
          </a:p>
          <a:p xmlns:a="http://schemas.openxmlformats.org/drawingml/2006/main">
            <a:r>
              <a:t/>
            </a:r>
          </a:p>
          <a:p xmlns:a="http://schemas.openxmlformats.org/drawingml/2006/main">
            <a:r>
              <a:t>Claim Boundary: TEACHING_MODEL — 과정의 operational definition이며 공식 OpenAI 정의나 보편적 산업 분류가 아니다. 실제 구성 대응은 STATE-04-PERF까지의 기록 범위로 한정한다. 연결선과 환경 프레임은 교육용 관계 재구성이며 자동 routing·고정된 호출 순서·실제 실행 trace가 아니다. 모든 환경 조건의 감사, 각 구성 요소의 단독 성능 인과성, Skill/Prompt 우열, 토큰 절감, 현재 Desktop 기능 보장을 주장하지 않는다. OBSERVED_PRODUCT 구성과 TEACHING_MODEL 정의를 구분하고 Subagent·별도 Memory 미추가의 기존 선택을 유지한다.</a:t>
            </a:r>
          </a:p>
          <a:p xmlns:a="http://schemas.openxmlformats.org/drawingml/2006/main">
            <a:r>
              <a:t/>
            </a:r>
          </a:p>
          <a:p xmlns:a="http://schemas.openxmlformats.org/drawingml/2006/main">
            <a:r>
              <a:t>Beginner Explanation: 이번 목표, 프로젝트 정보, 일하는 방법을 Agent에 연결하고, 도구로 확인한 결과를 사람이 검토한다. 이 일이 실행될 저장소·입력·권한·실행 조건도 함께 준비한다. 이 과정은 그 전체 작업 환경과 방법을 Harness로 설명한다.</a:t>
            </a:r>
          </a:p>
          <a:p xmlns:a="http://schemas.openxmlformats.org/drawingml/2006/main">
            <a:r>
              <a:t/>
            </a:r>
          </a:p>
          <a:p xmlns:a="http://schemas.openxmlformats.org/drawingml/2006/main">
            <a:r>
              <a:t>Advanced Insight: Harness는 파일 수나 기능 목록이 아니라 목표·정보·절차·실행 가능 조건·완료 근거와 책임 사이의 관계다. 실행 환경은 Agent 작업과 검증 양쪽에 필요하다. 각 프로젝트의 신뢰성 문제에 맞춰 구성하며 사례의 성공을 특정 구성 요소의 단독 효과로 귀속하지 않는다.</a:t>
            </a:r>
          </a:p>
          <a:p xmlns:a="http://schemas.openxmlformats.org/drawingml/2006/main">
            <a:r>
              <a:t/>
            </a:r>
          </a:p>
          <a:p xmlns:a="http://schemas.openxmlformats.org/drawingml/2006/main">
            <a:r>
              <a:t>**C++ Vision Bridge:**</a:t>
            </a:r>
          </a:p>
          <a:p xmlns:a="http://schemas.openxmlformats.org/drawingml/2006/main">
            <a:r>
              <a:t>N/A — 다음 S74–S75은 여러 프로젝트에 적용할 공통 기반과 프로젝트별 조건의 교육용 설계다.</a:t>
            </a:r>
          </a:p>
          <a:p xmlns:a="http://schemas.openxmlformats.org/drawingml/2006/main">
            <a:r>
              <a:t/>
            </a:r>
          </a:p>
          <a:p xmlns:a="http://schemas.openxmlformats.org/drawingml/2006/main">
            <a:r>
              <a:t>Demo Operation: Lecture4분에는 왼쪽 세 입력 → Agent → 검증·사람의 검토, 아래 실행 환경 → 작업/검증의 관계를 설명한다. 이후 Demo2분은 기존 S72/STATE-04-PERF의 AGENTS.md·docs·Skill·tests·benchmark와 기록된 입력/실행 조건을 같은 도식에 대응하는 CAPTURED 정적 요약이다. 실제 실행 캡처가 아니며 제품·Agent·benchmark·Demo repository를 실행하거나 새 Trial을 만들지 않는다. S72 Demo3분과 중복 계산하지 않는다.</a:t>
            </a:r>
          </a:p>
          <a:p xmlns:a="http://schemas.openxmlformats.org/drawingml/2006/main">
            <a:r>
              <a:t/>
            </a:r>
          </a:p>
          <a:p xmlns:a="http://schemas.openxmlformats.org/drawingml/2006/main">
            <a:r>
              <a:t>Audience Interaction: ‘테스트 파일은 있지만 실행할 도구나 권한이 없다면 확인이 끝난 걸까요?’를 잠시 생각하게 하고 실행 환경과 완료 근거를 연결한다. 교육용 질문이며 실제 Demo에서 그런 실패가 있었다는 뜻은 아니다. 별도 실습·Q&amp;A 시간을 추가하지 않는다.</a:t>
            </a:r>
          </a:p>
          <a:p xmlns:a="http://schemas.openxmlformats.org/drawingml/2006/main">
            <a:r>
              <a:t/>
            </a:r>
          </a:p>
          <a:p xmlns:a="http://schemas.openxmlformats.org/drawingml/2006/main">
            <a:r>
              <a:t>**Transition:**</a:t>
            </a:r>
          </a:p>
          <a:p xmlns:a="http://schemas.openxmlformats.org/drawingml/2006/main">
            <a:r>
              <a:t>“이렇게 만든 작업 체계를 다음 프로젝트에서도 출발점으로 쓸 수 있을까요?”</a:t>
            </a:r>
          </a:p>
          <a:p xmlns:a="http://schemas.openxmlformats.org/drawingml/2006/main">
            <a:r>
              <a:t/>
            </a:r>
          </a:p>
          <a:p xmlns:a="http://schemas.openxmlformats.org/drawingml/2006/main">
            <a:r>
              <a:t>**Time Management:**</a:t>
            </a:r>
          </a:p>
          <a:p xmlns:a="http://schemas.openxmlformats.org/drawingml/2006/main">
            <a:r>
              <a:t>Lecture4분: 실제 구성 회수0.5, 실행 환경1, 사람의 검토1, 전체 운영 모델·범위1.5. Demo2분: 실제 자료/기록 대응1.5, 다음 프로젝트 재사용 질문0.5. 입력 세 요소의 정의와 이전 지침·측정값을 반복하지 않는다.6분에 이동하며 실제 리허설은 UNVERIFIED다.</a:t>
            </a:r>
          </a:p>
          <a:p xmlns:a="http://schemas.openxmlformats.org/drawingml/2006/main">
            <a:r>
              <a:t/>
            </a:r>
          </a:p>
          <a:p xmlns:a="http://schemas.openxmlformats.org/drawingml/2006/main">
            <a:r>
              <a:t>Fallback: LOCAL STATIC ARTIFACT — production/ACT_3.pptx의 S73, production/preview/act3/S73.png 및 production/preview/full/S73.png. 교육용 Harness 관계도와 기존 실제 구성의 대응이며 raw 실행 캡처가 아니다. 파일 대조는 production/evaluation/S64_HARNESS_STRUCTURE_REVISION.md와 demos/runbooks/FALLBACK_MANIFEST.md를 따른다. 실제 발표 PC 재생은 UNVERIFIED다.</a:t>
            </a:r>
          </a:p>
          <a:p xmlns:a="http://schemas.openxmlformats.org/drawingml/2006/main">
            <a:r>
              <a:t/>
            </a:r>
          </a:p>
          <a:p xmlns:a="http://schemas.openxmlformats.org/drawingml/2006/main">
            <a:r>
              <a:t>Validation Status: ALIGNED — DEC-0080의19필드·기존 시간/Mode·현재 화면/운영 역할을 정렬했다. 최종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S74 — 만든 Harness를 다음 프로젝트의 기반으로</a:t>
            </a:r>
          </a:p>
          <a:p xmlns:a="http://schemas.openxmlformats.org/drawingml/2006/main">
            <a:r>
              <a:t/>
            </a:r>
          </a:p>
          <a:p xmlns:a="http://schemas.openxmlformats.org/drawingml/2006/main">
            <a:r>
              <a:t>**Slide ID:**</a:t>
            </a:r>
          </a:p>
          <a:p xmlns:a="http://schemas.openxmlformats.org/drawingml/2006/main">
            <a:r>
              <a:t>S74</a:t>
            </a:r>
          </a:p>
          <a:p xmlns:a="http://schemas.openxmlformats.org/drawingml/2006/main">
            <a:r>
              <a:t/>
            </a:r>
          </a:p>
          <a:p xmlns:a="http://schemas.openxmlformats.org/drawingml/2006/main">
            <a:r>
              <a:t>**Working Title:**</a:t>
            </a:r>
          </a:p>
          <a:p xmlns:a="http://schemas.openxmlformats.org/drawingml/2006/main">
            <a:r>
              <a:t>만든 Harness를 다음 프로젝트의 기반으로</a:t>
            </a:r>
          </a:p>
          <a:p xmlns:a="http://schemas.openxmlformats.org/drawingml/2006/main">
            <a:r>
              <a:t/>
            </a:r>
          </a:p>
          <a:p xmlns:a="http://schemas.openxmlformats.org/drawingml/2006/main">
            <a:r>
              <a:t>**ACT / Section:**</a:t>
            </a:r>
          </a:p>
          <a:p xmlns:a="http://schemas.openxmlformats.org/drawingml/2006/main">
            <a:r>
              <a:t>ACT 3 / 3G Minimum Effective Harness 완성</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검토해 둔 조사·변경·검증 절차와 도구 연결·보고 방식을 공통 기반으로 남겨 다음 프로젝트의 출발점으로 쓸 수 있다.</a:t>
            </a:r>
          </a:p>
          <a:p xmlns:a="http://schemas.openxmlformats.org/drawingml/2006/main">
            <a:r>
              <a:t/>
            </a:r>
          </a:p>
          <a:p xmlns:a="http://schemas.openxmlformats.org/drawingml/2006/main">
            <a:r>
              <a:t>**Opening Question:**</a:t>
            </a:r>
          </a:p>
          <a:p xmlns:a="http://schemas.openxmlformats.org/drawingml/2006/main">
            <a:r>
              <a:t>“프로젝트가 바뀔 때마다 작업 방법까지 처음부터 다시 만들 필요가 있을까요?”</a:t>
            </a:r>
          </a:p>
          <a:p xmlns:a="http://schemas.openxmlformats.org/drawingml/2006/main">
            <a:r>
              <a:t/>
            </a:r>
          </a:p>
          <a:p xmlns:a="http://schemas.openxmlformats.org/drawingml/2006/main">
            <a:r>
              <a:t>**Speaker Flow:**</a:t>
            </a:r>
          </a:p>
          <a:p xmlns:a="http://schemas.openxmlformats.org/drawingml/2006/main">
            <a:r>
              <a:t>1. (0:00–0:35 / Lecture) S73의 전체 작업 환경에서 검토해 둔 수행 체계라는 왼쪽 기반을 짚는다.</a:t>
            </a:r>
          </a:p>
          <a:p xmlns:a="http://schemas.openxmlformats.org/drawingml/2006/main">
            <a:r>
              <a:t>2. (0:35–1:25 / Lecture) 같은 기반이 A/B/C로 이어지는 가지를 가리킨다. 각 프로젝트에서 사용 가능한 출발점의 설계이며 실제 이식 시험 결과가 아니다.</a:t>
            </a:r>
          </a:p>
          <a:p xmlns:a="http://schemas.openxmlformats.org/drawingml/2006/main">
            <a:r>
              <a:t>3. (1:25–2:00 / Lecture) 어떤 부분은 공통이고 어떤 부분은 달라지는지 다음 장으로 넘긴다.</a:t>
            </a:r>
          </a:p>
          <a:p xmlns:a="http://schemas.openxmlformats.org/drawingml/2006/main">
            <a:r>
              <a:t/>
            </a:r>
          </a:p>
          <a:p xmlns:a="http://schemas.openxmlformats.org/drawingml/2006/main">
            <a:r>
              <a:t>**Evidence / Source:**</a:t>
            </a:r>
          </a:p>
          <a:p xmlns:a="http://schemas.openxmlformats.org/drawingml/2006/main">
            <a:r>
              <a:t>사용자 승인 / DEC-0091; DEC-0023의 Harness 운영 모델. OpenAI 공식 Build skills https://learn.chatgpt.com/docs/build-skills 및 Plugin architecture https://developers.openai.com/plugins/concepts/plugins (2026-10-25 확인). 공식 자료는 반복 수행 방법의 패키징·공유를 뒷받침한다. Harness 전체의 이식 구조는 이 교육의 설계 모델이다.</a:t>
            </a:r>
          </a:p>
          <a:p xmlns:a="http://schemas.openxmlformats.org/drawingml/2006/main">
            <a:r>
              <a:t/>
            </a:r>
          </a:p>
          <a:p xmlns:a="http://schemas.openxmlformats.org/drawingml/2006/main">
            <a:r>
              <a:t>**Claim Boundary:**</a:t>
            </a:r>
          </a:p>
          <a:p xmlns:a="http://schemas.openxmlformats.org/drawingml/2006/main">
            <a:r>
              <a:t>TEACHING MODEL — 재사용의 설계 가치다. 다른 프로젝트에서 실행·검증한 Demo나 시간·성능 개선 성과가 아니다.</a:t>
            </a:r>
          </a:p>
          <a:p xmlns:a="http://schemas.openxmlformats.org/drawingml/2006/main">
            <a:r>
              <a:t/>
            </a:r>
          </a:p>
          <a:p xmlns:a="http://schemas.openxmlformats.org/drawingml/2006/main">
            <a:r>
              <a:t>**Beginner Explanation:**</a:t>
            </a:r>
          </a:p>
          <a:p xmlns:a="http://schemas.openxmlformats.org/drawingml/2006/main">
            <a:r>
              <a:t>한 번 정리한 일하는 방법을 다음 프로젝트에서 출발점으로 삼을 수 있다.</a:t>
            </a:r>
          </a:p>
          <a:p xmlns:a="http://schemas.openxmlformats.org/drawingml/2006/main">
            <a:r>
              <a:t/>
            </a:r>
          </a:p>
          <a:p xmlns:a="http://schemas.openxmlformats.org/drawingml/2006/main">
            <a:r>
              <a:t>**Advanced Insight:**</a:t>
            </a:r>
          </a:p>
          <a:p xmlns:a="http://schemas.openxmlformats.org/drawingml/2006/main">
            <a:r>
              <a:t>공통 수행 틀을 축적하고 프로젝트별 명세·도구·권한의 연결을 분리한다.</a:t>
            </a:r>
          </a:p>
          <a:p xmlns:a="http://schemas.openxmlformats.org/drawingml/2006/main">
            <a:r>
              <a:t/>
            </a:r>
          </a:p>
          <a:p xmlns:a="http://schemas.openxmlformats.org/drawingml/2006/main">
            <a:r>
              <a:t>**C++ Vision Bridge:**</a:t>
            </a:r>
          </a:p>
          <a:p xmlns:a="http://schemas.openxmlformats.org/drawingml/2006/main">
            <a:r>
              <a:t>N/A — 독립 C++ 전이 장을 삭제했다. 프로젝트별 명세·도구 연결의 일반 원리만 설명한다.</a:t>
            </a:r>
          </a:p>
          <a:p xmlns:a="http://schemas.openxmlformats.org/drawingml/2006/main">
            <a:r>
              <a:t/>
            </a:r>
          </a:p>
          <a:p xmlns:a="http://schemas.openxmlformats.org/drawingml/2006/main">
            <a:r>
              <a:t>**Demo Operation:**</a:t>
            </a:r>
          </a:p>
          <a:p xmlns:a="http://schemas.openxmlformats.org/drawingml/2006/main">
            <a:r>
              <a:t>N/A — Lecture2분. 정적 기록 재구성 또는 교육용 도식만 설명한다. CLI·제품 실행·새 Trial을 시작하지 않는다. 실제 DEMO-04B의 평가·보고 개선 사례는 ACT4에 그대로 남긴다.</a:t>
            </a:r>
          </a:p>
          <a:p xmlns:a="http://schemas.openxmlformats.org/drawingml/2006/main">
            <a:r>
              <a:t/>
            </a:r>
          </a:p>
          <a:p xmlns:a="http://schemas.openxmlformats.org/drawingml/2006/main">
            <a:r>
              <a:t>**Audience Interaction:**</a:t>
            </a:r>
          </a:p>
          <a:p xmlns:a="http://schemas.openxmlformats.org/drawingml/2006/main">
            <a:r>
              <a:t>Opening Question은 짧은 생각을 돕는 질문이다. 참가자 실습·개인 작성·공개 답변을 요구하지 않는다.</a:t>
            </a:r>
          </a:p>
          <a:p xmlns:a="http://schemas.openxmlformats.org/drawingml/2006/main">
            <a:r>
              <a:t/>
            </a:r>
          </a:p>
          <a:p xmlns:a="http://schemas.openxmlformats.org/drawingml/2006/main">
            <a:r>
              <a:t>**Transition:**</a:t>
            </a:r>
          </a:p>
          <a:p xmlns:a="http://schemas.openxmlformats.org/drawingml/2006/main">
            <a:r>
              <a:t>“그 기반에서 무엇을 다시 쓰고, 무엇을 프로젝트에 맞게 연결해야 할까요?”</a:t>
            </a:r>
          </a:p>
          <a:p xmlns:a="http://schemas.openxmlformats.org/drawingml/2006/main">
            <a:r>
              <a:t/>
            </a:r>
          </a:p>
          <a:p xmlns:a="http://schemas.openxmlformats.org/drawingml/2006/main">
            <a:r>
              <a:t>**Time Management:**</a:t>
            </a:r>
          </a:p>
          <a:p xmlns:a="http://schemas.openxmlformats.org/drawingml/2006/main">
            <a:r>
              <a:t>Lecture2분.0:35까지 질문과 도식의 출발점,1:25까지 핵심 관계,2:00에 다음 질문으로 이동한다. 추가 도구 설치·환경 설명으로 늘리지 않는다. 실측 리허설 UNVERIFIED.</a:t>
            </a:r>
          </a:p>
          <a:p xmlns:a="http://schemas.openxmlformats.org/drawingml/2006/main">
            <a:r>
              <a:t/>
            </a:r>
          </a:p>
          <a:p xmlns:a="http://schemas.openxmlformats.org/drawingml/2006/main">
            <a:r>
              <a:t>**Fallback:**</a:t>
            </a:r>
          </a:p>
          <a:p xmlns:a="http://schemas.openxmlformats.org/drawingml/2006/main">
            <a:r>
              <a:t>LOCAL STATIC ARTIFACT — production/ACT_3.pptx의 S74 또는 production/preview/full/S74.png. 재구성은 실제 실행 Screenshot이 아니며 현재 Desktop Live로 대체하지 않는다.</a:t>
            </a:r>
          </a:p>
          <a:p xmlns:a="http://schemas.openxmlformats.org/drawingml/2006/main">
            <a:r>
              <a:t/>
            </a:r>
          </a:p>
          <a:p xmlns:a="http://schemas.openxmlformats.org/drawingml/2006/main">
            <a:r>
              <a:t>**Validation Status:**</a:t>
            </a:r>
          </a:p>
          <a:p xmlns:a="http://schemas.openxmlformats.org/drawingml/2006/main">
            <a:r>
              <a:t>CONTENT ALIGNED — DEC-0091. 로컬 PPT/Notes/렌더 검토는 production/evaluation/HARNESS_REUSE_REVISION.md에 기록한다.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S75 — 공통 기반에 프로젝트 기준을 연결한다</a:t>
            </a:r>
          </a:p>
          <a:p xmlns:a="http://schemas.openxmlformats.org/drawingml/2006/main">
            <a:r>
              <a:t/>
            </a:r>
          </a:p>
          <a:p xmlns:a="http://schemas.openxmlformats.org/drawingml/2006/main">
            <a:r>
              <a:t>**Slide ID:**</a:t>
            </a:r>
          </a:p>
          <a:p xmlns:a="http://schemas.openxmlformats.org/drawingml/2006/main">
            <a:r>
              <a:t>S75</a:t>
            </a:r>
          </a:p>
          <a:p xmlns:a="http://schemas.openxmlformats.org/drawingml/2006/main">
            <a:r>
              <a:t/>
            </a:r>
          </a:p>
          <a:p xmlns:a="http://schemas.openxmlformats.org/drawingml/2006/main">
            <a:r>
              <a:t>**Working Title:**</a:t>
            </a:r>
          </a:p>
          <a:p xmlns:a="http://schemas.openxmlformats.org/drawingml/2006/main">
            <a:r>
              <a:t>공통 기반에 프로젝트 기준을 연결한다</a:t>
            </a:r>
          </a:p>
          <a:p xmlns:a="http://schemas.openxmlformats.org/drawingml/2006/main">
            <a:r>
              <a:t/>
            </a:r>
          </a:p>
          <a:p xmlns:a="http://schemas.openxmlformats.org/drawingml/2006/main">
            <a:r>
              <a:t>**ACT / Section:**</a:t>
            </a:r>
          </a:p>
          <a:p xmlns:a="http://schemas.openxmlformats.org/drawingml/2006/main">
            <a:r>
              <a:t>ACT 3 / 3G Minimum Effective Harness 완성</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조사·변경·검증의 흐름과 도구 연결·보고 틀은 재사용하고, 목표·명세·Context·실제 명령·허용 권한은 새 프로젝트에 맞춘다.</a:t>
            </a:r>
          </a:p>
          <a:p xmlns:a="http://schemas.openxmlformats.org/drawingml/2006/main">
            <a:r>
              <a:t/>
            </a:r>
          </a:p>
          <a:p xmlns:a="http://schemas.openxmlformats.org/drawingml/2006/main">
            <a:r>
              <a:t>**Opening Question:**</a:t>
            </a:r>
          </a:p>
          <a:p xmlns:a="http://schemas.openxmlformats.org/drawingml/2006/main">
            <a:r>
              <a:t>“같은 작업 체계를 쓰더라도, 새 프로젝트에서 무엇을 연결해야 할까요?”</a:t>
            </a:r>
          </a:p>
          <a:p xmlns:a="http://schemas.openxmlformats.org/drawingml/2006/main">
            <a:r>
              <a:t/>
            </a:r>
          </a:p>
          <a:p xmlns:a="http://schemas.openxmlformats.org/drawingml/2006/main">
            <a:r>
              <a:t>**Speaker Flow:**</a:t>
            </a:r>
          </a:p>
          <a:p xmlns:a="http://schemas.openxmlformats.org/drawingml/2006/main">
            <a:r>
              <a:t>1. (0:00–0:35 / Lecture) 왼쪽은 조사·변경·검증 흐름, 도구 연결 방식, 기록 항목이라는 공통 틀이다.</a:t>
            </a:r>
          </a:p>
          <a:p xmlns:a="http://schemas.openxmlformats.org/drawingml/2006/main">
            <a:r>
              <a:t>2. (0:35–1:25 / Lecture) 오른쪽은 새 프로젝트의 목표·명세·Context, 실제 명령, 허용 범위다. 프로젝트 사실 전체를 공통 지침으로 복사하지 않는다.</a:t>
            </a:r>
          </a:p>
          <a:p xmlns:a="http://schemas.openxmlformats.org/drawingml/2006/main">
            <a:r>
              <a:t>3. (1:25–2:00 / Lecture) 공통 기반과 프로젝트 기준 연결의 가치를 유지한다. 운영 중 사람이 새로 확인·보정할 점을 발견하면 그 경험이 다음 작업에 남는지 S76의 질문으로 넘긴다. 외부 권한 오류를 다음 중심 사례로 예고하지 않는다.</a:t>
            </a:r>
          </a:p>
          <a:p xmlns:a="http://schemas.openxmlformats.org/drawingml/2006/main">
            <a:r>
              <a:t/>
            </a:r>
          </a:p>
          <a:p xmlns:a="http://schemas.openxmlformats.org/drawingml/2006/main">
            <a:r>
              <a:t>**Evidence / Source:**</a:t>
            </a:r>
          </a:p>
          <a:p xmlns:a="http://schemas.openxmlformats.org/drawingml/2006/main">
            <a:r>
              <a:t>사용자 승인 / DEC-0091; DEC-0023의 Harness 운영 모델. OpenAI 공식 Build skills https://learn.chatgpt.com/docs/build-skills 및 Plugin architecture https://developers.openai.com/plugins/concepts/plugins (2026-10-25 확인). 공식 자료는 반복 수행 방법의 패키징·공유를 뒷받침한다. Harness 전체의 이식 구조는 이 교육의 설계 모델이다.</a:t>
            </a:r>
          </a:p>
          <a:p xmlns:a="http://schemas.openxmlformats.org/drawingml/2006/main">
            <a:r>
              <a:t/>
            </a:r>
          </a:p>
          <a:p xmlns:a="http://schemas.openxmlformats.org/drawingml/2006/main">
            <a:r>
              <a:t>**Claim Boundary:**</a:t>
            </a:r>
          </a:p>
          <a:p xmlns:a="http://schemas.openxmlformats.org/drawingml/2006/main">
            <a:r>
              <a:t>TEACHING MODEL — 공통 틀과 프로젝트별 조건을 나누는 설계다. 전체 Harness를 그대로 복사하면 작동한다는 보장·이식 성공·절감 측정은 없다.</a:t>
            </a:r>
          </a:p>
          <a:p xmlns:a="http://schemas.openxmlformats.org/drawingml/2006/main">
            <a:r>
              <a:t/>
            </a:r>
          </a:p>
          <a:p xmlns:a="http://schemas.openxmlformats.org/drawingml/2006/main">
            <a:r>
              <a:t>**Beginner Explanation:**</a:t>
            </a:r>
          </a:p>
          <a:p xmlns:a="http://schemas.openxmlformats.org/drawingml/2006/main">
            <a:r>
              <a:t>방법은 가져오되 프로젝트의 사실과 사용할 명령은 다시 연결한다.</a:t>
            </a:r>
          </a:p>
          <a:p xmlns:a="http://schemas.openxmlformats.org/drawingml/2006/main">
            <a:r>
              <a:t/>
            </a:r>
          </a:p>
          <a:p xmlns:a="http://schemas.openxmlformats.org/drawingml/2006/main">
            <a:r>
              <a:t>**Advanced Insight:**</a:t>
            </a:r>
          </a:p>
          <a:p xmlns:a="http://schemas.openxmlformats.org/drawingml/2006/main">
            <a:r>
              <a:t>재사용 단위와 프로젝트 결합 지점을 나누고 실제 명령·권한·검증 기준을 확인한다.</a:t>
            </a:r>
          </a:p>
          <a:p xmlns:a="http://schemas.openxmlformats.org/drawingml/2006/main">
            <a:r>
              <a:t/>
            </a:r>
          </a:p>
          <a:p xmlns:a="http://schemas.openxmlformats.org/drawingml/2006/main">
            <a:r>
              <a:t>**C++ Vision Bridge:**</a:t>
            </a:r>
          </a:p>
          <a:p xmlns:a="http://schemas.openxmlformats.org/drawingml/2006/main">
            <a:r>
              <a:t>N/A — 독립 C++ 전이 장을 삭제했다. 프로젝트별 명세·도구 연결의 일반 원리만 설명한다.</a:t>
            </a:r>
          </a:p>
          <a:p xmlns:a="http://schemas.openxmlformats.org/drawingml/2006/main">
            <a:r>
              <a:t/>
            </a:r>
          </a:p>
          <a:p xmlns:a="http://schemas.openxmlformats.org/drawingml/2006/main">
            <a:r>
              <a:t>**Demo Operation:**</a:t>
            </a:r>
          </a:p>
          <a:p xmlns:a="http://schemas.openxmlformats.org/drawingml/2006/main">
            <a:r>
              <a:t>N/A — Lecture2분. 정적 기록 재구성 또는 교육용 도식만 설명한다. CLI·제품 실행·새 Trial을 시작하지 않는다. 실제 DEMO-04B의 평가·보고 개선 사례는 ACT4에 그대로 남긴다.</a:t>
            </a:r>
          </a:p>
          <a:p xmlns:a="http://schemas.openxmlformats.org/drawingml/2006/main">
            <a:r>
              <a:t/>
            </a:r>
          </a:p>
          <a:p xmlns:a="http://schemas.openxmlformats.org/drawingml/2006/main">
            <a:r>
              <a:t>**Audience Interaction:**</a:t>
            </a:r>
          </a:p>
          <a:p xmlns:a="http://schemas.openxmlformats.org/drawingml/2006/main">
            <a:r>
              <a:t>Opening Question은 짧은 생각을 돕는 질문이다. 참가자 실습·개인 작성·공개 답변을 요구하지 않는다.</a:t>
            </a:r>
          </a:p>
          <a:p xmlns:a="http://schemas.openxmlformats.org/drawingml/2006/main">
            <a:r>
              <a:t/>
            </a:r>
          </a:p>
          <a:p xmlns:a="http://schemas.openxmlformats.org/drawingml/2006/main">
            <a:r>
              <a:t>**Transition:**</a:t>
            </a:r>
          </a:p>
          <a:p xmlns:a="http://schemas.openxmlformats.org/drawingml/2006/main">
            <a:r>
              <a:t>“이 기반으로 작업하는 동안 사람이 새로 확인할 부분을 찾는다면, 그 경험은 다음 작업에 어떻게 남을까요?”</a:t>
            </a:r>
          </a:p>
          <a:p xmlns:a="http://schemas.openxmlformats.org/drawingml/2006/main">
            <a:r>
              <a:t/>
            </a:r>
          </a:p>
          <a:p xmlns:a="http://schemas.openxmlformats.org/drawingml/2006/main">
            <a:r>
              <a:t>**Time Management:**</a:t>
            </a:r>
          </a:p>
          <a:p xmlns:a="http://schemas.openxmlformats.org/drawingml/2006/main">
            <a:r>
              <a:t>Lecture2분.0:35까지 질문과 도식의 출발점,1:25까지 핵심 관계,2:00에 다음 질문으로 이동한다. 추가 도구 설치·환경 설명으로 늘리지 않는다. 실측 리허설 UNVERIFIED.</a:t>
            </a:r>
          </a:p>
          <a:p xmlns:a="http://schemas.openxmlformats.org/drawingml/2006/main">
            <a:r>
              <a:t/>
            </a:r>
          </a:p>
          <a:p xmlns:a="http://schemas.openxmlformats.org/drawingml/2006/main">
            <a:r>
              <a:t>**Fallback:**</a:t>
            </a:r>
          </a:p>
          <a:p xmlns:a="http://schemas.openxmlformats.org/drawingml/2006/main">
            <a:r>
              <a:t>LOCAL STATIC ARTIFACT — production/ACT_3.pptx의 S75 또는 production/preview/full/S75.png. 재구성은 실제 실행 Screenshot이 아니며 현재 Desktop Live로 대체하지 않는다.</a:t>
            </a:r>
          </a:p>
          <a:p xmlns:a="http://schemas.openxmlformats.org/drawingml/2006/main">
            <a:r>
              <a:t/>
            </a:r>
          </a:p>
          <a:p xmlns:a="http://schemas.openxmlformats.org/drawingml/2006/main">
            <a:r>
              <a:t>**Validation Status:**</a:t>
            </a:r>
          </a:p>
          <a:p xmlns:a="http://schemas.openxmlformats.org/drawingml/2006/main">
            <a:r>
              <a:t>CONTENT ALIGNED — DEC-0091. 로컬 PPT/Notes/렌더 검토는 production/evaluation/HARNESS_REUSE_REVISION.md에 기록한다.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S76 — 이번 성공만으로 다음 작업까지 확인되지는 않는다</a:t>
            </a:r>
          </a:p>
          <a:p xmlns:a="http://schemas.openxmlformats.org/drawingml/2006/main">
            <a:r>
              <a:t/>
            </a:r>
          </a:p>
          <a:p xmlns:a="http://schemas.openxmlformats.org/drawingml/2006/main">
            <a:r>
              <a:t>**Slide ID:**</a:t>
            </a:r>
          </a:p>
          <a:p xmlns:a="http://schemas.openxmlformats.org/drawingml/2006/main">
            <a:r>
              <a:t>S76</a:t>
            </a:r>
          </a:p>
          <a:p xmlns:a="http://schemas.openxmlformats.org/drawingml/2006/main">
            <a:r>
              <a:t/>
            </a:r>
          </a:p>
          <a:p xmlns:a="http://schemas.openxmlformats.org/drawingml/2006/main">
            <a:r>
              <a:t>**Working Title:**</a:t>
            </a:r>
          </a:p>
          <a:p xmlns:a="http://schemas.openxmlformats.org/drawingml/2006/main">
            <a:r>
              <a:t>이번 성공만으로 다음 작업까지 확인되지는 않는다</a:t>
            </a:r>
          </a:p>
          <a:p xmlns:a="http://schemas.openxmlformats.org/drawingml/2006/main">
            <a:r>
              <a:t/>
            </a:r>
          </a:p>
          <a:p xmlns:a="http://schemas.openxmlformats.org/drawingml/2006/main">
            <a:r>
              <a:t>**ACT / Section:**</a:t>
            </a:r>
          </a:p>
          <a:p xmlns:a="http://schemas.openxmlformats.org/drawingml/2006/main">
            <a:r>
              <a:t>ACT 3 / 3G Minimum Effective Harness 완성</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밝기 통계 작업의 성공은 기록된 명세·코드·입력·환경에서 확인한 결과다. 그 성공만으로 이후 모든 작업의 요구와 검증 범위를 확인한 것은 아니다.</a:t>
            </a:r>
          </a:p>
          <a:p xmlns:a="http://schemas.openxmlformats.org/drawingml/2006/main">
            <a:r>
              <a:t/>
            </a:r>
          </a:p>
          <a:p xmlns:a="http://schemas.openxmlformats.org/drawingml/2006/main">
            <a:r>
              <a:t>**Opening Question:**</a:t>
            </a:r>
          </a:p>
          <a:p xmlns:a="http://schemas.openxmlformats.org/drawingml/2006/main">
            <a:r>
              <a:t>“검증한 Harness를 다시 쓰면, 이후 작업에서 사람이 확인할 점은 모두 사라질까요?”</a:t>
            </a:r>
          </a:p>
          <a:p xmlns:a="http://schemas.openxmlformats.org/drawingml/2006/main">
            <a:r>
              <a:t/>
            </a:r>
          </a:p>
          <a:p xmlns:a="http://schemas.openxmlformats.org/drawingml/2006/main">
            <a:r>
              <a:t>**Speaker Flow:**</a:t>
            </a:r>
          </a:p>
          <a:p xmlns:a="http://schemas.openxmlformats.org/drawingml/2006/main">
            <a:r>
              <a:t>1. (0:00–0:35 / Lecture) S75의 공통 기반과 프로젝트 기준 연결을 받아, 실제 밝기 통계 작업의 확인한 성공을 왼쪽에서 짚는다. 숫자·검증 절차를 다시 강의하지 않는다.</a:t>
            </a:r>
          </a:p>
          <a:p xmlns:a="http://schemas.openxmlformats.org/drawingml/2006/main">
            <a:r>
              <a:t>2. (0:35–1:25 / Lecture) 오른쪽 다음 작업은 관찰 결과가 아니라 질문이다. 새 요구·입력·확인 범위가 있을 수 있으며 현재 성공으로 모든 후속 작업을 검증했다고 말할 수 없음을 설명한다.</a:t>
            </a:r>
          </a:p>
          <a:p xmlns:a="http://schemas.openxmlformats.org/drawingml/2006/main">
            <a:r>
              <a:t>3. (1:25–2:00 / Lecture) 운영 중 사람이 추가 확인할 점을 발견하는 교육용 상황으로 전환한다. Harness가 이미 실패했다거나 외부 설정이 원인이라고 예고하지 않는다.</a:t>
            </a:r>
          </a:p>
          <a:p xmlns:a="http://schemas.openxmlformats.org/drawingml/2006/main">
            <a:r>
              <a:t/>
            </a:r>
          </a:p>
          <a:p xmlns:a="http://schemas.openxmlformats.org/drawingml/2006/main">
            <a:r>
              <a:t>**Evidence / Source:**</a:t>
            </a:r>
          </a:p>
          <a:p xmlns:a="http://schemas.openxmlformats.org/drawingml/2006/main">
            <a:r>
              <a:t>plan/MASTER_PLAN.md §§5.7–5.9; plan/DEMO_MATRIX.md STATE-04-PERF의 검증 결과; DEC-0092. 실제 Product endpoint의 성공을 보존한다. 과거 TRIAL-001의 권한 오류는 S08과 원기록에 유지하며 새 보정 시나리오의 원인으로 사용하지 않는다.</a:t>
            </a:r>
          </a:p>
          <a:p xmlns:a="http://schemas.openxmlformats.org/drawingml/2006/main">
            <a:r>
              <a:t/>
            </a:r>
          </a:p>
          <a:p xmlns:a="http://schemas.openxmlformats.org/drawingml/2006/main">
            <a:r>
              <a:t>**Claim Boundary:**</a:t>
            </a:r>
          </a:p>
          <a:p xmlns:a="http://schemas.openxmlformats.org/drawingml/2006/main">
            <a:r>
              <a:t>FROZEN WITH SCOPE / TEACHING MODEL — STATE-04-PERF의 성공 범위만 회수한다. 오른쪽 다음 작업은 질문이며 실제 후속 실패·반복 보정·새 Product State가 아니다.</a:t>
            </a:r>
          </a:p>
          <a:p xmlns:a="http://schemas.openxmlformats.org/drawingml/2006/main">
            <a:r>
              <a:t/>
            </a:r>
          </a:p>
          <a:p xmlns:a="http://schemas.openxmlformats.org/drawingml/2006/main">
            <a:r>
              <a:t>**Beginner Explanation:**</a:t>
            </a:r>
          </a:p>
          <a:p xmlns:a="http://schemas.openxmlformats.org/drawingml/2006/main">
            <a:r>
              <a:t>작동하는 기반을 만들었어도, 다음 작업에서 새로 확인할 점은 생길 수 있다.</a:t>
            </a:r>
          </a:p>
          <a:p xmlns:a="http://schemas.openxmlformats.org/drawingml/2006/main">
            <a:r>
              <a:t/>
            </a:r>
          </a:p>
          <a:p xmlns:a="http://schemas.openxmlformats.org/drawingml/2006/main">
            <a:r>
              <a:t>**Advanced Insight:**</a:t>
            </a:r>
          </a:p>
          <a:p xmlns:a="http://schemas.openxmlformats.org/drawingml/2006/main">
            <a:r>
              <a:t>한정된 성공과 보편적인 수행 적합성 보장을 구분하고, 운영에서 얻을 추가 관찰의 필요를 연다.</a:t>
            </a:r>
          </a:p>
          <a:p xmlns:a="http://schemas.openxmlformats.org/drawingml/2006/main">
            <a:r>
              <a:t/>
            </a:r>
          </a:p>
          <a:p xmlns:a="http://schemas.openxmlformats.org/drawingml/2006/main">
            <a:r>
              <a:t>**C++ Vision Bridge:**</a:t>
            </a:r>
          </a:p>
          <a:p xmlns:a="http://schemas.openxmlformats.org/drawingml/2006/main">
            <a:r>
              <a:t>N/A — 일반적인 업무 보정·근거·개선의 질문이다. 기존 다른 C++ 사례는 유지한다.</a:t>
            </a:r>
          </a:p>
          <a:p xmlns:a="http://schemas.openxmlformats.org/drawingml/2006/main">
            <a:r>
              <a:t/>
            </a:r>
          </a:p>
          <a:p xmlns:a="http://schemas.openxmlformats.org/drawingml/2006/main">
            <a:r>
              <a:t>**Demo Operation:**</a:t>
            </a:r>
          </a:p>
          <a:p xmlns:a="http://schemas.openxmlformats.org/drawingml/2006/main">
            <a:r>
              <a:t>N/A — Lecture2분. 실제 제품·CLI를 실행하거나 가상 보정을 실제 수행한 것처럼 보여주지 않는다. 각 장은 정적 의미 재구성/교육용 상황도다.</a:t>
            </a:r>
          </a:p>
          <a:p xmlns:a="http://schemas.openxmlformats.org/drawingml/2006/main">
            <a:r>
              <a:t/>
            </a:r>
          </a:p>
          <a:p xmlns:a="http://schemas.openxmlformats.org/drawingml/2006/main">
            <a:r>
              <a:t>**Audience Interaction:**</a:t>
            </a:r>
          </a:p>
          <a:p xmlns:a="http://schemas.openxmlformats.org/drawingml/2006/main">
            <a:r>
              <a:t>Opening Question은 생각을 돕는 질문이다. 참가자 실습·작성·공개 답변을 요구하지 않는다.</a:t>
            </a:r>
          </a:p>
          <a:p xmlns:a="http://schemas.openxmlformats.org/drawingml/2006/main">
            <a:r>
              <a:t/>
            </a:r>
          </a:p>
          <a:p xmlns:a="http://schemas.openxmlformats.org/drawingml/2006/main">
            <a:r>
              <a:t>**Transition:**</a:t>
            </a:r>
          </a:p>
          <a:p xmlns:a="http://schemas.openxmlformats.org/drawingml/2006/main">
            <a:r>
              <a:t>“그 기반으로 실제 작업을 하다가 사람이 추가로 확인할 부분을 찾는다면, 그 보정은 어디에 남을까요?”</a:t>
            </a:r>
          </a:p>
          <a:p xmlns:a="http://schemas.openxmlformats.org/drawingml/2006/main">
            <a:r>
              <a:t/>
            </a:r>
          </a:p>
          <a:p xmlns:a="http://schemas.openxmlformats.org/drawingml/2006/main">
            <a:r>
              <a:t>**Time Management:**</a:t>
            </a:r>
          </a:p>
          <a:p xmlns:a="http://schemas.openxmlformats.org/drawingml/2006/main">
            <a:r>
              <a:t>Lecture2분.0:35까지 질문·장면,1:25까지 핵심 차이,2:00에 다음 장의 질문으로 이동한다. 환경·도구 설정 강의나 ACT4의 구체적 개선·평가를 미리 설명하지 않는다. 실측 리허설 UNVERIFIED.</a:t>
            </a:r>
          </a:p>
          <a:p xmlns:a="http://schemas.openxmlformats.org/drawingml/2006/main">
            <a:r>
              <a:t/>
            </a:r>
          </a:p>
          <a:p xmlns:a="http://schemas.openxmlformats.org/drawingml/2006/main">
            <a:r>
              <a:t>**Fallback:**</a:t>
            </a:r>
          </a:p>
          <a:p xmlns:a="http://schemas.openxmlformats.org/drawingml/2006/main">
            <a:r>
              <a:t>LOCAL STATIC ARTIFACT — production/ACT_3.pptx의 S76 또는 production/preview/full/S76.png. 실제 실행 Screenshot·Trial·새 관찰 결과로 표현하지 않는다.</a:t>
            </a:r>
          </a:p>
          <a:p xmlns:a="http://schemas.openxmlformats.org/drawingml/2006/main">
            <a:r>
              <a:t/>
            </a:r>
          </a:p>
          <a:p xmlns:a="http://schemas.openxmlformats.org/drawingml/2006/main">
            <a:r>
              <a:t>**Validation Status:**</a:t>
            </a:r>
          </a:p>
          <a:p xmlns:a="http://schemas.openxmlformats.org/drawingml/2006/main">
            <a:r>
              <a:t>CONTENT ALIGNED — DEC-0092. 현재 로컬 결과는 production/evaluation/ACT3_LOOP_HANDOFF_REVISION.md에 기록한다. Windows/발표 PC 글꼴/교육장/제품·계정/실측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S77 — 작업 중 사람이 보정할 일이 생긴다면?</a:t>
            </a:r>
          </a:p>
          <a:p xmlns:a="http://schemas.openxmlformats.org/drawingml/2006/main">
            <a:r>
              <a:t/>
            </a:r>
          </a:p>
          <a:p xmlns:a="http://schemas.openxmlformats.org/drawingml/2006/main">
            <a:r>
              <a:t>**Slide ID:**</a:t>
            </a:r>
          </a:p>
          <a:p xmlns:a="http://schemas.openxmlformats.org/drawingml/2006/main">
            <a:r>
              <a:t>S77</a:t>
            </a:r>
          </a:p>
          <a:p xmlns:a="http://schemas.openxmlformats.org/drawingml/2006/main">
            <a:r>
              <a:t/>
            </a:r>
          </a:p>
          <a:p xmlns:a="http://schemas.openxmlformats.org/drawingml/2006/main">
            <a:r>
              <a:t>**Working Title:**</a:t>
            </a:r>
          </a:p>
          <a:p xmlns:a="http://schemas.openxmlformats.org/drawingml/2006/main">
            <a:r>
              <a:t>작업 중 사람이 보정할 일이 생긴다면?</a:t>
            </a:r>
          </a:p>
          <a:p xmlns:a="http://schemas.openxmlformats.org/drawingml/2006/main">
            <a:r>
              <a:t/>
            </a:r>
          </a:p>
          <a:p xmlns:a="http://schemas.openxmlformats.org/drawingml/2006/main">
            <a:r>
              <a:t>**ACT / Section:**</a:t>
            </a:r>
          </a:p>
          <a:p xmlns:a="http://schemas.openxmlformats.org/drawingml/2006/main">
            <a:r>
              <a:t>ACT 3 / 3G Minimum Effective Harness 완성</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추가 확인이 필요하다는 점을 사람이 발견해 이번 요청을 보정하는 상황을 가정한다. 무엇이 이 빈틈을 만들었는지와 어느 출처를 바꿔야 하는지는 아직 판단하지 않는다.</a:t>
            </a:r>
          </a:p>
          <a:p xmlns:a="http://schemas.openxmlformats.org/drawingml/2006/main">
            <a:r>
              <a:t/>
            </a:r>
          </a:p>
          <a:p xmlns:a="http://schemas.openxmlformats.org/drawingml/2006/main">
            <a:r>
              <a:t>**Opening Question:**</a:t>
            </a:r>
          </a:p>
          <a:p xmlns:a="http://schemas.openxmlformats.org/drawingml/2006/main">
            <a:r>
              <a:t>“변경한 부분은 확인했지만, 사람이 관련 동작도 확인해 달라고 해야 한다면?”</a:t>
            </a:r>
          </a:p>
          <a:p xmlns:a="http://schemas.openxmlformats.org/drawingml/2006/main">
            <a:r>
              <a:t/>
            </a:r>
          </a:p>
          <a:p xmlns:a="http://schemas.openxmlformats.org/drawingml/2006/main">
            <a:r>
              <a:t>**Speaker Flow:**</a:t>
            </a:r>
          </a:p>
          <a:p xmlns:a="http://schemas.openxmlformats.org/drawingml/2006/main">
            <a:r>
              <a:t>1. (0:00–0:35 / Lecture) 교육용 상황 라벨을 먼저 읽는다. 실제 Demo의 후속 실패를 재현한 장면이 아니라 운영 중 추가 확인이 필요할 수 있다는 가정이다.</a:t>
            </a:r>
          </a:p>
          <a:p xmlns:a="http://schemas.openxmlformats.org/drawingml/2006/main">
            <a:r>
              <a:t>2. (0:35–1:25 / Lecture) 왼쪽은 변경한 부분 확인, 가운데는 관련 동작에 대한 사람의 검토 질문, 오른쪽은 추가 요청이다. 검증 결과나 누락 원인은 보여주지 않는다.</a:t>
            </a:r>
          </a:p>
          <a:p xmlns:a="http://schemas.openxmlformats.org/drawingml/2006/main">
            <a:r>
              <a:t>3. (1:25–2:00 / Lecture) 이 보정이 현재 대화에만 남는지, 다음 작업의 수행 체계로 반영되는지를 다음 장의 질문으로 넘긴다.</a:t>
            </a:r>
          </a:p>
          <a:p xmlns:a="http://schemas.openxmlformats.org/drawingml/2006/main">
            <a:r>
              <a:t/>
            </a:r>
          </a:p>
          <a:p xmlns:a="http://schemas.openxmlformats.org/drawingml/2006/main">
            <a:r>
              <a:t>**Evidence / Source:**</a:t>
            </a:r>
          </a:p>
          <a:p xmlns:a="http://schemas.openxmlformats.org/drawingml/2006/main">
            <a:r>
              <a:t>plan/MASTER_PLAN.md §5.9의 반복 보정을 다음 작업의 개선으로 전환하는 교육 의도; DEC-0092. 장면은 설명용 가정이며 실제 TRIAL-001/006/008에서 관찰한 새로운 누락이 아니다.</a:t>
            </a:r>
          </a:p>
          <a:p xmlns:a="http://schemas.openxmlformats.org/drawingml/2006/main">
            <a:r>
              <a:t/>
            </a:r>
          </a:p>
          <a:p xmlns:a="http://schemas.openxmlformats.org/drawingml/2006/main">
            <a:r>
              <a:t>**Claim Boundary:**</a:t>
            </a:r>
          </a:p>
          <a:p xmlns:a="http://schemas.openxmlformats.org/drawingml/2006/main">
            <a:r>
              <a:t>CONCEPTUAL — 추가 확인을 요청한다는 교육용 가정이다. 실제 graypipe의 검증 누락·실패나 새 Trial이 아니며 Agent·지침·제품 코드 중 어느 것이 원인인지 확정하지 않는다.</a:t>
            </a:r>
          </a:p>
          <a:p xmlns:a="http://schemas.openxmlformats.org/drawingml/2006/main">
            <a:r>
              <a:t/>
            </a:r>
          </a:p>
          <a:p xmlns:a="http://schemas.openxmlformats.org/drawingml/2006/main">
            <a:r>
              <a:t>**Beginner Explanation:**</a:t>
            </a:r>
          </a:p>
          <a:p xmlns:a="http://schemas.openxmlformats.org/drawingml/2006/main">
            <a:r>
              <a:t>사람이 한 번 더 확인을 요청하는 장면에서 이야기를 시작한다.</a:t>
            </a:r>
          </a:p>
          <a:p xmlns:a="http://schemas.openxmlformats.org/drawingml/2006/main">
            <a:r>
              <a:t/>
            </a:r>
          </a:p>
          <a:p xmlns:a="http://schemas.openxmlformats.org/drawingml/2006/main">
            <a:r>
              <a:t>**Advanced Insight:**</a:t>
            </a:r>
          </a:p>
          <a:p xmlns:a="http://schemas.openxmlformats.org/drawingml/2006/main">
            <a:r>
              <a:t>관찰할 빈틈과 원인 가설·변경 대상의 확정을 구분한다. 이후 ACT4에서 원인 확인과 평가 범위를 다룬다.</a:t>
            </a:r>
          </a:p>
          <a:p xmlns:a="http://schemas.openxmlformats.org/drawingml/2006/main">
            <a:r>
              <a:t/>
            </a:r>
          </a:p>
          <a:p xmlns:a="http://schemas.openxmlformats.org/drawingml/2006/main">
            <a:r>
              <a:t>**C++ Vision Bridge:**</a:t>
            </a:r>
          </a:p>
          <a:p xmlns:a="http://schemas.openxmlformats.org/drawingml/2006/main">
            <a:r>
              <a:t>N/A — 일반적인 업무 보정·근거·개선의 질문이다. 기존 다른 C++ 사례는 유지한다.</a:t>
            </a:r>
          </a:p>
          <a:p xmlns:a="http://schemas.openxmlformats.org/drawingml/2006/main">
            <a:r>
              <a:t/>
            </a:r>
          </a:p>
          <a:p xmlns:a="http://schemas.openxmlformats.org/drawingml/2006/main">
            <a:r>
              <a:t>**Demo Operation:**</a:t>
            </a:r>
          </a:p>
          <a:p xmlns:a="http://schemas.openxmlformats.org/drawingml/2006/main">
            <a:r>
              <a:t>N/A — Lecture2분. 실제 제품·CLI를 실행하거나 가상 보정을 실제 수행한 것처럼 보여주지 않는다. 각 장은 정적 의미 재구성/교육용 상황도다.</a:t>
            </a:r>
          </a:p>
          <a:p xmlns:a="http://schemas.openxmlformats.org/drawingml/2006/main">
            <a:r>
              <a:t/>
            </a:r>
          </a:p>
          <a:p xmlns:a="http://schemas.openxmlformats.org/drawingml/2006/main">
            <a:r>
              <a:t>**Audience Interaction:**</a:t>
            </a:r>
          </a:p>
          <a:p xmlns:a="http://schemas.openxmlformats.org/drawingml/2006/main">
            <a:r>
              <a:t>Opening Question은 생각을 돕는 질문이다. 참가자 실습·작성·공개 답변을 요구하지 않는다.</a:t>
            </a:r>
          </a:p>
          <a:p xmlns:a="http://schemas.openxmlformats.org/drawingml/2006/main">
            <a:r>
              <a:t/>
            </a:r>
          </a:p>
          <a:p xmlns:a="http://schemas.openxmlformats.org/drawingml/2006/main">
            <a:r>
              <a:t>**Transition:**</a:t>
            </a:r>
          </a:p>
          <a:p xmlns:a="http://schemas.openxmlformats.org/drawingml/2006/main">
            <a:r>
              <a:t>“이번 요청에 그 말을 더하면, 다음에도 읽을 공통 수행 지침까지 바뀔까요?”</a:t>
            </a:r>
          </a:p>
          <a:p xmlns:a="http://schemas.openxmlformats.org/drawingml/2006/main">
            <a:r>
              <a:t/>
            </a:r>
          </a:p>
          <a:p xmlns:a="http://schemas.openxmlformats.org/drawingml/2006/main">
            <a:r>
              <a:t>**Time Management:**</a:t>
            </a:r>
          </a:p>
          <a:p xmlns:a="http://schemas.openxmlformats.org/drawingml/2006/main">
            <a:r>
              <a:t>Lecture2분.0:35까지 질문·장면,1:25까지 핵심 차이,2:00에 다음 장의 질문으로 이동한다. 환경·도구 설정 강의나 ACT4의 구체적 개선·평가를 미리 설명하지 않는다. 실측 리허설 UNVERIFIED.</a:t>
            </a:r>
          </a:p>
          <a:p xmlns:a="http://schemas.openxmlformats.org/drawingml/2006/main">
            <a:r>
              <a:t/>
            </a:r>
          </a:p>
          <a:p xmlns:a="http://schemas.openxmlformats.org/drawingml/2006/main">
            <a:r>
              <a:t>**Fallback:**</a:t>
            </a:r>
          </a:p>
          <a:p xmlns:a="http://schemas.openxmlformats.org/drawingml/2006/main">
            <a:r>
              <a:t>LOCAL STATIC ARTIFACT — production/ACT_3.pptx의 S77 또는 production/preview/full/S77.png. 실제 실행 Screenshot·Trial·새 관찰 결과로 표현하지 않는다.</a:t>
            </a:r>
          </a:p>
          <a:p xmlns:a="http://schemas.openxmlformats.org/drawingml/2006/main">
            <a:r>
              <a:t/>
            </a:r>
          </a:p>
          <a:p xmlns:a="http://schemas.openxmlformats.org/drawingml/2006/main">
            <a:r>
              <a:t>**Validation Status:**</a:t>
            </a:r>
          </a:p>
          <a:p xmlns:a="http://schemas.openxmlformats.org/drawingml/2006/main">
            <a:r>
              <a:t>CONTENT ALIGNED — DEC-0092. 현재 로컬 결과는 production/evaluation/ACT3_LOOP_HANDOFF_REVISION.md에 기록한다. Windows/발표 PC 글꼴/교육장/제품·계정/실측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S78 — 이번 요청은 보정해도, 공통 지침은 그대로다</a:t>
            </a:r>
          </a:p>
          <a:p xmlns:a="http://schemas.openxmlformats.org/drawingml/2006/main">
            <a:r>
              <a:t/>
            </a:r>
          </a:p>
          <a:p xmlns:a="http://schemas.openxmlformats.org/drawingml/2006/main">
            <a:r>
              <a:t>**Slide ID:**</a:t>
            </a:r>
          </a:p>
          <a:p xmlns:a="http://schemas.openxmlformats.org/drawingml/2006/main">
            <a:r>
              <a:t>S78</a:t>
            </a:r>
          </a:p>
          <a:p xmlns:a="http://schemas.openxmlformats.org/drawingml/2006/main">
            <a:r>
              <a:t/>
            </a:r>
          </a:p>
          <a:p xmlns:a="http://schemas.openxmlformats.org/drawingml/2006/main">
            <a:r>
              <a:t>**Working Title:**</a:t>
            </a:r>
          </a:p>
          <a:p xmlns:a="http://schemas.openxmlformats.org/drawingml/2006/main">
            <a:r>
              <a:t>이번 요청은 보정해도, 공통 지침은 그대로다</a:t>
            </a:r>
          </a:p>
          <a:p xmlns:a="http://schemas.openxmlformats.org/drawingml/2006/main">
            <a:r>
              <a:t/>
            </a:r>
          </a:p>
          <a:p xmlns:a="http://schemas.openxmlformats.org/drawingml/2006/main">
            <a:r>
              <a:t>**ACT / Section:**</a:t>
            </a:r>
          </a:p>
          <a:p xmlns:a="http://schemas.openxmlformats.org/drawingml/2006/main">
            <a:r>
              <a:t>ACT 3 / 3G Minimum Effective Harness 완성</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이번 요청의 검증 범위를 보정해도 공통 지침을 따로 갱신하지 않은 상황이라면, 다음 작업이 읽는 수행 방법은 이전 상태로 남는다. 현재 Task 보정과 재사용 체계 개선은 별도다.</a:t>
            </a:r>
          </a:p>
          <a:p xmlns:a="http://schemas.openxmlformats.org/drawingml/2006/main">
            <a:r>
              <a:t/>
            </a:r>
          </a:p>
          <a:p xmlns:a="http://schemas.openxmlformats.org/drawingml/2006/main">
            <a:r>
              <a:t>**Opening Question:**</a:t>
            </a:r>
          </a:p>
          <a:p xmlns:a="http://schemas.openxmlformats.org/drawingml/2006/main">
            <a:r>
              <a:t>“대화에서 관련 동작도 확인하라고 더한 것이, 공통 수행 방법을 갱신한 것과 같을까요?”</a:t>
            </a:r>
          </a:p>
          <a:p xmlns:a="http://schemas.openxmlformats.org/drawingml/2006/main">
            <a:r>
              <a:t/>
            </a:r>
          </a:p>
          <a:p xmlns:a="http://schemas.openxmlformats.org/drawingml/2006/main">
            <a:r>
              <a:t>**Speaker Flow:**</a:t>
            </a:r>
          </a:p>
          <a:p xmlns:a="http://schemas.openxmlformats.org/drawingml/2006/main">
            <a:r>
              <a:t>1. (0:00–0:35 / Lecture) 왼쪽 이번 작업의 요청에서 관련 동작도 확인해 달라는 보정을 읽는다. 실제 검증 실행·통과 결과는 제시하지 않는다.</a:t>
            </a:r>
          </a:p>
          <a:p xmlns:a="http://schemas.openxmlformats.org/drawingml/2006/main">
            <a:r>
              <a:t>2. (0:35–1:25 / Lecture) 오른쪽은 공통 지침을 갱신하지 않은 상황이라는 가정이다. 대화가 수정됐다는 사실과 재사용 출처가 바뀌었다는 사실이 다름을 설명한다.</a:t>
            </a:r>
          </a:p>
          <a:p xmlns:a="http://schemas.openxmlformats.org/drawingml/2006/main">
            <a:r>
              <a:t>3. (1:25–2:00 / Lecture) 원본 지침이 원인이라는 결론이나 지침을 무조건 추가하라는 처방은 내리지 않는다. 다음 작업으로 보정이 이어지는지 묻는다.</a:t>
            </a:r>
          </a:p>
          <a:p xmlns:a="http://schemas.openxmlformats.org/drawingml/2006/main">
            <a:r>
              <a:t/>
            </a:r>
          </a:p>
          <a:p xmlns:a="http://schemas.openxmlformats.org/drawingml/2006/main">
            <a:r>
              <a:t>**Evidence / Source:**</a:t>
            </a:r>
          </a:p>
          <a:p xmlns:a="http://schemas.openxmlformats.org/drawingml/2006/main">
            <a:r>
              <a:t>plan/MASTER_PLAN.md §§5.8–5.9 및 §14의 현재 작업 수정과 Harness Improvement Loop 구분; DEC-0092. 실제 stale workflow의 원인·수정 결과를 앞에서 확정하지 않는다.</a:t>
            </a:r>
          </a:p>
          <a:p xmlns:a="http://schemas.openxmlformats.org/drawingml/2006/main">
            <a:r>
              <a:t/>
            </a:r>
          </a:p>
          <a:p xmlns:a="http://schemas.openxmlformats.org/drawingml/2006/main">
            <a:r>
              <a:t>**Claim Boundary:**</a:t>
            </a:r>
          </a:p>
          <a:p xmlns:a="http://schemas.openxmlformats.org/drawingml/2006/main">
            <a:r>
              <a:t>CONCEPTUAL — 공통 지침을 갱신하지 않은 경우의 비교다. 실제 요청·원본 지침 변경 이력이 아니며 지침이 누락 원인이라고 단정하거나 보정 성공을 주장하지 않는다.</a:t>
            </a:r>
          </a:p>
          <a:p xmlns:a="http://schemas.openxmlformats.org/drawingml/2006/main">
            <a:r>
              <a:t/>
            </a:r>
          </a:p>
          <a:p xmlns:a="http://schemas.openxmlformats.org/drawingml/2006/main">
            <a:r>
              <a:t>**Beginner Explanation:**</a:t>
            </a:r>
          </a:p>
          <a:p xmlns:a="http://schemas.openxmlformats.org/drawingml/2006/main">
            <a:r>
              <a:t>이번 대화에 더한 말과 다음 작업이 다시 읽는 지침은 다르다.</a:t>
            </a:r>
          </a:p>
          <a:p xmlns:a="http://schemas.openxmlformats.org/drawingml/2006/main">
            <a:r>
              <a:t/>
            </a:r>
          </a:p>
          <a:p xmlns:a="http://schemas.openxmlformats.org/drawingml/2006/main">
            <a:r>
              <a:t>**Advanced Insight:**</a:t>
            </a:r>
          </a:p>
          <a:p xmlns:a="http://schemas.openxmlformats.org/drawingml/2006/main">
            <a:r>
              <a:t>일회 요청의 수정이 시스템의 영속적 출처 변경을 뜻하지 않는다. 어떤 출처를 바꿀지는 후속 원인 확인으로 결정해야 한다.</a:t>
            </a:r>
          </a:p>
          <a:p xmlns:a="http://schemas.openxmlformats.org/drawingml/2006/main">
            <a:r>
              <a:t/>
            </a:r>
          </a:p>
          <a:p xmlns:a="http://schemas.openxmlformats.org/drawingml/2006/main">
            <a:r>
              <a:t>**C++ Vision Bridge:**</a:t>
            </a:r>
          </a:p>
          <a:p xmlns:a="http://schemas.openxmlformats.org/drawingml/2006/main">
            <a:r>
              <a:t>N/A — 일반적인 업무 보정·근거·개선의 질문이다. 기존 다른 C++ 사례는 유지한다.</a:t>
            </a:r>
          </a:p>
          <a:p xmlns:a="http://schemas.openxmlformats.org/drawingml/2006/main">
            <a:r>
              <a:t/>
            </a:r>
          </a:p>
          <a:p xmlns:a="http://schemas.openxmlformats.org/drawingml/2006/main">
            <a:r>
              <a:t>**Demo Operation:**</a:t>
            </a:r>
          </a:p>
          <a:p xmlns:a="http://schemas.openxmlformats.org/drawingml/2006/main">
            <a:r>
              <a:t>N/A — Lecture2분. 실제 제품·CLI를 실행하거나 가상 보정을 실제 수행한 것처럼 보여주지 않는다. 각 장은 정적 의미 재구성/교육용 상황도다.</a:t>
            </a:r>
          </a:p>
          <a:p xmlns:a="http://schemas.openxmlformats.org/drawingml/2006/main">
            <a:r>
              <a:t/>
            </a:r>
          </a:p>
          <a:p xmlns:a="http://schemas.openxmlformats.org/drawingml/2006/main">
            <a:r>
              <a:t>**Audience Interaction:**</a:t>
            </a:r>
          </a:p>
          <a:p xmlns:a="http://schemas.openxmlformats.org/drawingml/2006/main">
            <a:r>
              <a:t>Opening Question은 생각을 돕는 질문이다. 참가자 실습·작성·공개 답변을 요구하지 않는다.</a:t>
            </a:r>
          </a:p>
          <a:p xmlns:a="http://schemas.openxmlformats.org/drawingml/2006/main">
            <a:r>
              <a:t/>
            </a:r>
          </a:p>
          <a:p xmlns:a="http://schemas.openxmlformats.org/drawingml/2006/main">
            <a:r>
              <a:t>**Transition:**</a:t>
            </a:r>
          </a:p>
          <a:p xmlns:a="http://schemas.openxmlformats.org/drawingml/2006/main">
            <a:r>
              <a:t>“공통 지침은 그대로인데, 다음 작업에서도 비슷한 확인이 필요하면 어떻게 될까요?”</a:t>
            </a:r>
          </a:p>
          <a:p xmlns:a="http://schemas.openxmlformats.org/drawingml/2006/main">
            <a:r>
              <a:t/>
            </a:r>
          </a:p>
          <a:p xmlns:a="http://schemas.openxmlformats.org/drawingml/2006/main">
            <a:r>
              <a:t>**Time Management:**</a:t>
            </a:r>
          </a:p>
          <a:p xmlns:a="http://schemas.openxmlformats.org/drawingml/2006/main">
            <a:r>
              <a:t>Lecture2분.0:35까지 질문·장면,1:25까지 핵심 차이,2:00에 다음 장의 질문으로 이동한다. 환경·도구 설정 강의나 ACT4의 구체적 개선·평가를 미리 설명하지 않는다. 실측 리허설 UNVERIFIED.</a:t>
            </a:r>
          </a:p>
          <a:p xmlns:a="http://schemas.openxmlformats.org/drawingml/2006/main">
            <a:r>
              <a:t/>
            </a:r>
          </a:p>
          <a:p xmlns:a="http://schemas.openxmlformats.org/drawingml/2006/main">
            <a:r>
              <a:t>**Fallback:**</a:t>
            </a:r>
          </a:p>
          <a:p xmlns:a="http://schemas.openxmlformats.org/drawingml/2006/main">
            <a:r>
              <a:t>LOCAL STATIC ARTIFACT — production/ACT_3.pptx의 S78 또는 production/preview/full/S78.png. 실제 실행 Screenshot·Trial·새 관찰 결과로 표현하지 않는다.</a:t>
            </a:r>
          </a:p>
          <a:p xmlns:a="http://schemas.openxmlformats.org/drawingml/2006/main">
            <a:r>
              <a:t/>
            </a:r>
          </a:p>
          <a:p xmlns:a="http://schemas.openxmlformats.org/drawingml/2006/main">
            <a:r>
              <a:t>**Validation Status:**</a:t>
            </a:r>
          </a:p>
          <a:p xmlns:a="http://schemas.openxmlformats.org/drawingml/2006/main">
            <a:r>
              <a:t>CONTENT ALIGNED — DEC-0092. 현재 로컬 결과는 production/evaluation/ACT3_LOOP_HANDOFF_REVISION.md에 기록한다. Windows/발표 PC 글꼴/교육장/제품·계정/실측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S79 — 다음 작업에서도 같은 보정이 반복된다면?</a:t>
            </a:r>
          </a:p>
          <a:p xmlns:a="http://schemas.openxmlformats.org/drawingml/2006/main">
            <a:r>
              <a:t/>
            </a:r>
          </a:p>
          <a:p xmlns:a="http://schemas.openxmlformats.org/drawingml/2006/main">
            <a:r>
              <a:t>**Slide ID:**</a:t>
            </a:r>
          </a:p>
          <a:p xmlns:a="http://schemas.openxmlformats.org/drawingml/2006/main">
            <a:r>
              <a:t>S79</a:t>
            </a:r>
          </a:p>
          <a:p xmlns:a="http://schemas.openxmlformats.org/drawingml/2006/main">
            <a:r>
              <a:t/>
            </a:r>
          </a:p>
          <a:p xmlns:a="http://schemas.openxmlformats.org/drawingml/2006/main">
            <a:r>
              <a:t>**Working Title:**</a:t>
            </a:r>
          </a:p>
          <a:p xmlns:a="http://schemas.openxmlformats.org/drawingml/2006/main">
            <a:r>
              <a:t>다음 작업에서도 같은 보정이 반복된다면?</a:t>
            </a:r>
          </a:p>
          <a:p xmlns:a="http://schemas.openxmlformats.org/drawingml/2006/main">
            <a:r>
              <a:t/>
            </a:r>
          </a:p>
          <a:p xmlns:a="http://schemas.openxmlformats.org/drawingml/2006/main">
            <a:r>
              <a:t>**ACT / Section:**</a:t>
            </a:r>
          </a:p>
          <a:p xmlns:a="http://schemas.openxmlformats.org/drawingml/2006/main">
            <a:r>
              <a:t>ACT 3 / 3G Minimum Effective Harness 완성</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공통 수행 지침을 갱신하지 않은 교육용 상황에서 작업 A/B/C마다 사람이 같은 확인을 추가로 요청한다. 사람의 경험이 다음 작업에 쓸 체계의 개선으로 돌아오지 않는 문제가 남는다.</a:t>
            </a:r>
          </a:p>
          <a:p xmlns:a="http://schemas.openxmlformats.org/drawingml/2006/main">
            <a:r>
              <a:t/>
            </a:r>
          </a:p>
          <a:p xmlns:a="http://schemas.openxmlformats.org/drawingml/2006/main">
            <a:r>
              <a:t>**Opening Question:**</a:t>
            </a:r>
          </a:p>
          <a:p xmlns:a="http://schemas.openxmlformats.org/drawingml/2006/main">
            <a:r>
              <a:t>“작업이 바뀔 때마다 같은 보정을 사람이 다시 해야 한다면, 무엇이 축적되지 않은 걸까요?”</a:t>
            </a:r>
          </a:p>
          <a:p xmlns:a="http://schemas.openxmlformats.org/drawingml/2006/main">
            <a:r>
              <a:t/>
            </a:r>
          </a:p>
          <a:p xmlns:a="http://schemas.openxmlformats.org/drawingml/2006/main">
            <a:r>
              <a:t>**Speaker Flow:**</a:t>
            </a:r>
          </a:p>
          <a:p xmlns:a="http://schemas.openxmlformats.org/drawingml/2006/main">
            <a:r>
              <a:t>1. (0:00–0:35 / Lecture) 같은 공통 지침 아래 순서대로 이어지는 작업 A/B/C를 읽는다. 실제 세 번의 실험·Subagent 실행·제품 상태가 아니다.</a:t>
            </a:r>
          </a:p>
          <a:p xmlns:a="http://schemas.openxmlformats.org/drawingml/2006/main">
            <a:r>
              <a:t>2. (0:35–1:25 / Lecture) 각 작업 아래에서 사람이 관련 동작도 확인해 달라고 같은 보정을 반복하는 부분을 가리킨다. 그림의 반복은 설명 도식이며 비용·토큰 증가를 측정한 그래프가 아니다.</a:t>
            </a:r>
          </a:p>
          <a:p xmlns:a="http://schemas.openxmlformats.org/drawingml/2006/main">
            <a:r>
              <a:t>3. (1:25–2:00 / Lecture) 사람은 경험을 얻었지만 다음 작업의 수행 체계는 그대로라는 문제를 회수한다. 이 문제를 어떤 근거로 개선할지가 다음 질문이다.</a:t>
            </a:r>
          </a:p>
          <a:p xmlns:a="http://schemas.openxmlformats.org/drawingml/2006/main">
            <a:r>
              <a:t/>
            </a:r>
          </a:p>
          <a:p xmlns:a="http://schemas.openxmlformats.org/drawingml/2006/main">
            <a:r>
              <a:t>**Evidence / Source:**</a:t>
            </a:r>
          </a:p>
          <a:p xmlns:a="http://schemas.openxmlformats.org/drawingml/2006/main">
            <a:r>
              <a:t>plan/MASTER_PLAN.md §5.9의 매번 사람이 같은 지시를 다시 알려주는 반복 실패·보정 예와 고정 Insight; DEC-0092. 가상의 순차 작업이며 실제 Product 반복 이력이나 TRIAL-006의 관측 횟수가 아니다.</a:t>
            </a:r>
          </a:p>
          <a:p xmlns:a="http://schemas.openxmlformats.org/drawingml/2006/main">
            <a:r>
              <a:t/>
            </a:r>
          </a:p>
          <a:p xmlns:a="http://schemas.openxmlformats.org/drawingml/2006/main">
            <a:r>
              <a:t>**Claim Boundary:**</a:t>
            </a:r>
          </a:p>
          <a:p xmlns:a="http://schemas.openxmlformats.org/drawingml/2006/main">
            <a:r>
              <a:t>CONCEPTUAL — 작업 A/B/C는 반복을 설명하는 도식이며 실제 Trial·Subagent·비교 실험이 아니다. 반복 횟수·토큰·시간·성과를 측정하지 않았고 원인은 미확정이다.</a:t>
            </a:r>
          </a:p>
          <a:p xmlns:a="http://schemas.openxmlformats.org/drawingml/2006/main">
            <a:r>
              <a:t/>
            </a:r>
          </a:p>
          <a:p xmlns:a="http://schemas.openxmlformats.org/drawingml/2006/main">
            <a:r>
              <a:t>**Beginner Explanation:**</a:t>
            </a:r>
          </a:p>
          <a:p xmlns:a="http://schemas.openxmlformats.org/drawingml/2006/main">
            <a:r>
              <a:t>매번 사람이 같은 말을 다시 해야 하는 문제가 눈에 보인다.</a:t>
            </a:r>
          </a:p>
          <a:p xmlns:a="http://schemas.openxmlformats.org/drawingml/2006/main">
            <a:r>
              <a:t/>
            </a:r>
          </a:p>
          <a:p xmlns:a="http://schemas.openxmlformats.org/drawingml/2006/main">
            <a:r>
              <a:t>**Advanced Insight:**</a:t>
            </a:r>
          </a:p>
          <a:p xmlns:a="http://schemas.openxmlformats.org/drawingml/2006/main">
            <a:r>
              <a:t>Task 간에 개선 지식이 전달되지 않는 구조적 빈틈을 식별한다. 원인·지속 출처·평가 대상은 아직 열어 둔다.</a:t>
            </a:r>
          </a:p>
          <a:p xmlns:a="http://schemas.openxmlformats.org/drawingml/2006/main">
            <a:r>
              <a:t/>
            </a:r>
          </a:p>
          <a:p xmlns:a="http://schemas.openxmlformats.org/drawingml/2006/main">
            <a:r>
              <a:t>**C++ Vision Bridge:**</a:t>
            </a:r>
          </a:p>
          <a:p xmlns:a="http://schemas.openxmlformats.org/drawingml/2006/main">
            <a:r>
              <a:t>N/A — 일반적인 업무 보정·근거·개선의 질문이다. 기존 다른 C++ 사례는 유지한다.</a:t>
            </a:r>
          </a:p>
          <a:p xmlns:a="http://schemas.openxmlformats.org/drawingml/2006/main">
            <a:r>
              <a:t/>
            </a:r>
          </a:p>
          <a:p xmlns:a="http://schemas.openxmlformats.org/drawingml/2006/main">
            <a:r>
              <a:t>**Demo Operation:**</a:t>
            </a:r>
          </a:p>
          <a:p xmlns:a="http://schemas.openxmlformats.org/drawingml/2006/main">
            <a:r>
              <a:t>N/A — Lecture2분. 실제 제품·CLI를 실행하거나 가상 보정을 실제 수행한 것처럼 보여주지 않는다. 각 장은 정적 의미 재구성/교육용 상황도다.</a:t>
            </a:r>
          </a:p>
          <a:p xmlns:a="http://schemas.openxmlformats.org/drawingml/2006/main">
            <a:r>
              <a:t/>
            </a:r>
          </a:p>
          <a:p xmlns:a="http://schemas.openxmlformats.org/drawingml/2006/main">
            <a:r>
              <a:t>**Audience Interaction:**</a:t>
            </a:r>
          </a:p>
          <a:p xmlns:a="http://schemas.openxmlformats.org/drawingml/2006/main">
            <a:r>
              <a:t>Opening Question은 생각을 돕는 질문이다. 참가자 실습·작성·공개 답변을 요구하지 않는다.</a:t>
            </a:r>
          </a:p>
          <a:p xmlns:a="http://schemas.openxmlformats.org/drawingml/2006/main">
            <a:r>
              <a:t/>
            </a:r>
          </a:p>
          <a:p xmlns:a="http://schemas.openxmlformats.org/drawingml/2006/main">
            <a:r>
              <a:t>**Transition:**</a:t>
            </a:r>
          </a:p>
          <a:p xmlns:a="http://schemas.openxmlformats.org/drawingml/2006/main">
            <a:r>
              <a:t>“이 경험으로 다음 작업의 체계를 바꾸려면, 무엇을 근거로 어디를 고칠지 판단해야 할까요?”</a:t>
            </a:r>
          </a:p>
          <a:p xmlns:a="http://schemas.openxmlformats.org/drawingml/2006/main">
            <a:r>
              <a:t/>
            </a:r>
          </a:p>
          <a:p xmlns:a="http://schemas.openxmlformats.org/drawingml/2006/main">
            <a:r>
              <a:t>**Time Management:**</a:t>
            </a:r>
          </a:p>
          <a:p xmlns:a="http://schemas.openxmlformats.org/drawingml/2006/main">
            <a:r>
              <a:t>Lecture2분.0:35까지 질문·장면,1:25까지 핵심 차이,2:00에 다음 장의 질문으로 이동한다. 환경·도구 설정 강의나 ACT4의 구체적 개선·평가를 미리 설명하지 않는다. 실측 리허설 UNVERIFIED.</a:t>
            </a:r>
          </a:p>
          <a:p xmlns:a="http://schemas.openxmlformats.org/drawingml/2006/main">
            <a:r>
              <a:t/>
            </a:r>
          </a:p>
          <a:p xmlns:a="http://schemas.openxmlformats.org/drawingml/2006/main">
            <a:r>
              <a:t>**Fallback:**</a:t>
            </a:r>
          </a:p>
          <a:p xmlns:a="http://schemas.openxmlformats.org/drawingml/2006/main">
            <a:r>
              <a:t>LOCAL STATIC ARTIFACT — production/ACT_3.pptx의 S79 또는 production/preview/full/S79.png. 실제 실행 Screenshot·Trial·새 관찰 결과로 표현하지 않는다.</a:t>
            </a:r>
          </a:p>
          <a:p xmlns:a="http://schemas.openxmlformats.org/drawingml/2006/main">
            <a:r>
              <a:t/>
            </a:r>
          </a:p>
          <a:p xmlns:a="http://schemas.openxmlformats.org/drawingml/2006/main">
            <a:r>
              <a:t>**Validation Status:**</a:t>
            </a:r>
          </a:p>
          <a:p xmlns:a="http://schemas.openxmlformats.org/drawingml/2006/main">
            <a:r>
              <a:t>CONTENT ALIGNED — DEC-0092. 현재 로컬 결과는 production/evaluation/ACT3_LOOP_HANDOFF_REVISION.md에 기록한다. Windows/발표 PC 글꼴/교육장/제품·계정/실측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S80 — 반복 보정을 개선으로 잇는 기록</a:t>
            </a:r>
          </a:p>
          <a:p xmlns:a="http://schemas.openxmlformats.org/drawingml/2006/main">
            <a:r>
              <a:t/>
            </a:r>
          </a:p>
          <a:p xmlns:a="http://schemas.openxmlformats.org/drawingml/2006/main">
            <a:r>
              <a:t>**Slide ID:**</a:t>
            </a:r>
          </a:p>
          <a:p xmlns:a="http://schemas.openxmlformats.org/drawingml/2006/main">
            <a:r>
              <a:t>S80</a:t>
            </a:r>
          </a:p>
          <a:p xmlns:a="http://schemas.openxmlformats.org/drawingml/2006/main">
            <a:r>
              <a:t/>
            </a:r>
          </a:p>
          <a:p xmlns:a="http://schemas.openxmlformats.org/drawingml/2006/main">
            <a:r>
              <a:t>**Working Title:**</a:t>
            </a:r>
          </a:p>
          <a:p xmlns:a="http://schemas.openxmlformats.org/drawingml/2006/main">
            <a:r>
              <a:t>반복 보정을 개선으로 잇는 기록</a:t>
            </a:r>
          </a:p>
          <a:p xmlns:a="http://schemas.openxmlformats.org/drawingml/2006/main">
            <a:r>
              <a:t/>
            </a:r>
          </a:p>
          <a:p xmlns:a="http://schemas.openxmlformats.org/drawingml/2006/main">
            <a:r>
              <a:t>**ACT / Section:**</a:t>
            </a:r>
          </a:p>
          <a:p xmlns:a="http://schemas.openxmlformats.org/drawingml/2006/main">
            <a:r>
              <a:t>ACT 3 / 3G Minimum Effective Harness 완성</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원래 기준과 적용 지침, 실제 수행·검증 범위, 사람이 보정한 내용을 함께 남겨야 무엇이 달랐는지 비교할 수 있다. 그 기록을 근거로 원인과 변경 대상을 판단하고 다시 확인할 필요가 생긴다.</a:t>
            </a:r>
          </a:p>
          <a:p xmlns:a="http://schemas.openxmlformats.org/drawingml/2006/main">
            <a:r>
              <a:t/>
            </a:r>
          </a:p>
          <a:p xmlns:a="http://schemas.openxmlformats.org/drawingml/2006/main">
            <a:r>
              <a:t>**Opening Question:**</a:t>
            </a:r>
          </a:p>
          <a:p xmlns:a="http://schemas.openxmlformats.org/drawingml/2006/main">
            <a:r>
              <a:t>“보정한 문장만으로, 코드·지침·도구·검증 중 무엇을 고칠지 알 수 있을까요?”</a:t>
            </a:r>
          </a:p>
          <a:p xmlns:a="http://schemas.openxmlformats.org/drawingml/2006/main">
            <a:r>
              <a:t/>
            </a:r>
          </a:p>
          <a:p xmlns:a="http://schemas.openxmlformats.org/drawingml/2006/main">
            <a:r>
              <a:t>**Speaker Flow:**</a:t>
            </a:r>
          </a:p>
          <a:p xmlns:a="http://schemas.openxmlformats.org/drawingml/2006/main">
            <a:r>
              <a:t>1. (0:00–0:35 / Lecture) 왼쪽 기록 틀은 실제 보고서가 아닌 교육용 항목이다. 원래 기준과 지침을 실제 수행·검증 범위에 대조하고 사람의 보정을 함께 남긴다.</a:t>
            </a:r>
          </a:p>
          <a:p xmlns:a="http://schemas.openxmlformats.org/drawingml/2006/main">
            <a:r>
              <a:t>2. (0:35–1:25 / Lecture) 오른쪽의 원인·변경 위치·재확인은 아직 답하지 않은 질문이다. 지침을 늘리는 것이 항상 답이 아니며 코드·도구·평가 기준 등 다른 원인도 확인해야 한다.</a:t>
            </a:r>
          </a:p>
          <a:p xmlns:a="http://schemas.openxmlformats.org/drawingml/2006/main">
            <a:r>
              <a:t>3. (1:25–2:00 / Lecture) 기록은 다음 작업에 쓸 체계를 검토할 입력이라는 필요만 고정한다. 구체적 원인 확인·갱신·재평가는 ACT4의 기존 사례에서 다룬다.</a:t>
            </a:r>
          </a:p>
          <a:p xmlns:a="http://schemas.openxmlformats.org/drawingml/2006/main">
            <a:r>
              <a:t/>
            </a:r>
          </a:p>
          <a:p xmlns:a="http://schemas.openxmlformats.org/drawingml/2006/main">
            <a:r>
              <a:t>**Evidence / Source:**</a:t>
            </a:r>
          </a:p>
          <a:p xmlns:a="http://schemas.openxmlformats.org/drawingml/2006/main">
            <a:r>
              <a:t>plan/MASTER_PLAN.md §5.9 및 §14; DEC-0092. 실제 교육 제작의 평가·보고 기준 변경과 후속 기록은 기존 ACT4 S95–S99에 보존하며, 이 장의 기록 틀을 실제 실행 보고서로 쓰지 않는다.</a:t>
            </a:r>
          </a:p>
          <a:p xmlns:a="http://schemas.openxmlformats.org/drawingml/2006/main">
            <a:r>
              <a:t/>
            </a:r>
          </a:p>
          <a:p xmlns:a="http://schemas.openxmlformats.org/drawingml/2006/main">
            <a:r>
              <a:t>**Claim Boundary:**</a:t>
            </a:r>
          </a:p>
          <a:p xmlns:a="http://schemas.openxmlformats.org/drawingml/2006/main">
            <a:r>
              <a:t>TEACHING MODEL — 개선 검토에 필요한 기록 틀이다. 실제 새 보고서·원인 확정·지침 갱신·재평가·품질 향상을 입증하지 않으며 AI 모델의 자동 학습을 뜻하지 않는다.</a:t>
            </a:r>
          </a:p>
          <a:p xmlns:a="http://schemas.openxmlformats.org/drawingml/2006/main">
            <a:r>
              <a:t/>
            </a:r>
          </a:p>
          <a:p xmlns:a="http://schemas.openxmlformats.org/drawingml/2006/main">
            <a:r>
              <a:t>**Beginner Explanation:**</a:t>
            </a:r>
          </a:p>
          <a:p xmlns:a="http://schemas.openxmlformats.org/drawingml/2006/main">
            <a:r>
              <a:t>누가 무엇을 보정했는지뿐 아니라 원래 기준과 실제 수행도 함께 보아야 한다.</a:t>
            </a:r>
          </a:p>
          <a:p xmlns:a="http://schemas.openxmlformats.org/drawingml/2006/main">
            <a:r>
              <a:t/>
            </a:r>
          </a:p>
          <a:p xmlns:a="http://schemas.openxmlformats.org/drawingml/2006/main">
            <a:r>
              <a:t>**Advanced Insight:**</a:t>
            </a:r>
          </a:p>
          <a:p xmlns:a="http://schemas.openxmlformats.org/drawingml/2006/main">
            <a:r>
              <a:t>사람의 보정을 바로 새 규칙으로 바꾸지 않고, 원인을 가려 적절한 출처를 변경하고 재평가할 증거로 다룬다.</a:t>
            </a:r>
          </a:p>
          <a:p xmlns:a="http://schemas.openxmlformats.org/drawingml/2006/main">
            <a:r>
              <a:t/>
            </a:r>
          </a:p>
          <a:p xmlns:a="http://schemas.openxmlformats.org/drawingml/2006/main">
            <a:r>
              <a:t>**C++ Vision Bridge:**</a:t>
            </a:r>
          </a:p>
          <a:p xmlns:a="http://schemas.openxmlformats.org/drawingml/2006/main">
            <a:r>
              <a:t>N/A — 일반적인 업무 보정·근거·개선의 질문이다. 기존 다른 C++ 사례는 유지한다.</a:t>
            </a:r>
          </a:p>
          <a:p xmlns:a="http://schemas.openxmlformats.org/drawingml/2006/main">
            <a:r>
              <a:t/>
            </a:r>
          </a:p>
          <a:p xmlns:a="http://schemas.openxmlformats.org/drawingml/2006/main">
            <a:r>
              <a:t>**Demo Operation:**</a:t>
            </a:r>
          </a:p>
          <a:p xmlns:a="http://schemas.openxmlformats.org/drawingml/2006/main">
            <a:r>
              <a:t>N/A — Lecture2분. 실제 제품·CLI를 실행하거나 가상 보정을 실제 수행한 것처럼 보여주지 않는다. 각 장은 정적 의미 재구성/교육용 상황도다.</a:t>
            </a:r>
          </a:p>
          <a:p xmlns:a="http://schemas.openxmlformats.org/drawingml/2006/main">
            <a:r>
              <a:t/>
            </a:r>
          </a:p>
          <a:p xmlns:a="http://schemas.openxmlformats.org/drawingml/2006/main">
            <a:r>
              <a:t>**Audience Interaction:**</a:t>
            </a:r>
          </a:p>
          <a:p xmlns:a="http://schemas.openxmlformats.org/drawingml/2006/main">
            <a:r>
              <a:t>Opening Question은 생각을 돕는 질문이다. 참가자 실습·작성·공개 답변을 요구하지 않는다.</a:t>
            </a:r>
          </a:p>
          <a:p xmlns:a="http://schemas.openxmlformats.org/drawingml/2006/main">
            <a:r>
              <a:t/>
            </a:r>
          </a:p>
          <a:p xmlns:a="http://schemas.openxmlformats.org/drawingml/2006/main">
            <a:r>
              <a:t>**Transition:**</a:t>
            </a:r>
          </a:p>
          <a:p xmlns:a="http://schemas.openxmlformats.org/drawingml/2006/main">
            <a:r>
              <a:t>“우리 업무에서 매번 사람이 보정하는 하나를 골라, 어떤 근거와 담당이 필요한지 생각해 보겠습니다.”</a:t>
            </a:r>
          </a:p>
          <a:p xmlns:a="http://schemas.openxmlformats.org/drawingml/2006/main">
            <a:r>
              <a:t/>
            </a:r>
          </a:p>
          <a:p xmlns:a="http://schemas.openxmlformats.org/drawingml/2006/main">
            <a:r>
              <a:t>**Time Management:**</a:t>
            </a:r>
          </a:p>
          <a:p xmlns:a="http://schemas.openxmlformats.org/drawingml/2006/main">
            <a:r>
              <a:t>Lecture2분.0:35까지 질문·장면,1:25까지 핵심 차이,2:00에 다음 장의 질문으로 이동한다. 환경·도구 설정 강의나 ACT4의 구체적 개선·평가를 미리 설명하지 않는다. 실측 리허설 UNVERIFIED.</a:t>
            </a:r>
          </a:p>
          <a:p xmlns:a="http://schemas.openxmlformats.org/drawingml/2006/main">
            <a:r>
              <a:t/>
            </a:r>
          </a:p>
          <a:p xmlns:a="http://schemas.openxmlformats.org/drawingml/2006/main">
            <a:r>
              <a:t>**Fallback:**</a:t>
            </a:r>
          </a:p>
          <a:p xmlns:a="http://schemas.openxmlformats.org/drawingml/2006/main">
            <a:r>
              <a:t>LOCAL STATIC ARTIFACT — production/ACT_3.pptx의 S80 또는 production/preview/full/S80.png. 실제 실행 Screenshot·Trial·새 관찰 결과로 표현하지 않는다.</a:t>
            </a:r>
          </a:p>
          <a:p xmlns:a="http://schemas.openxmlformats.org/drawingml/2006/main">
            <a:r>
              <a:t/>
            </a:r>
          </a:p>
          <a:p xmlns:a="http://schemas.openxmlformats.org/drawingml/2006/main">
            <a:r>
              <a:t>**Validation Status:**</a:t>
            </a:r>
          </a:p>
          <a:p xmlns:a="http://schemas.openxmlformats.org/drawingml/2006/main">
            <a:r>
              <a:t>CONTENT ALIGNED — DEC-0092. 현재 로컬 결과는 production/evaluation/ACT3_LOOP_HANDOFF_REVISION.md에 기록한다. Windows/발표 PC 글꼴/교육장/제품·계정/실측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S81 — 같은 보정을 되풀이하지 않으려면?</a:t>
            </a:r>
          </a:p>
          <a:p xmlns:a="http://schemas.openxmlformats.org/drawingml/2006/main">
            <a:r>
              <a:t/>
            </a:r>
          </a:p>
          <a:p xmlns:a="http://schemas.openxmlformats.org/drawingml/2006/main">
            <a:r>
              <a:t>**Slide ID:**</a:t>
            </a:r>
          </a:p>
          <a:p xmlns:a="http://schemas.openxmlformats.org/drawingml/2006/main">
            <a:r>
              <a:t>S81</a:t>
            </a:r>
          </a:p>
          <a:p xmlns:a="http://schemas.openxmlformats.org/drawingml/2006/main">
            <a:r>
              <a:t/>
            </a:r>
          </a:p>
          <a:p xmlns:a="http://schemas.openxmlformats.org/drawingml/2006/main">
            <a:r>
              <a:t>**Working Title:**</a:t>
            </a:r>
          </a:p>
          <a:p xmlns:a="http://schemas.openxmlformats.org/drawingml/2006/main">
            <a:r>
              <a:t>같은 보정을 되풀이하지 않으려면?</a:t>
            </a:r>
          </a:p>
          <a:p xmlns:a="http://schemas.openxmlformats.org/drawingml/2006/main">
            <a:r>
              <a:t/>
            </a:r>
          </a:p>
          <a:p xmlns:a="http://schemas.openxmlformats.org/drawingml/2006/main">
            <a:r>
              <a:t>**ACT / Section:**</a:t>
            </a:r>
          </a:p>
          <a:p xmlns:a="http://schemas.openxmlformats.org/drawingml/2006/main">
            <a:r>
              <a:t>ACT 3 / 3I Discussion / Reflection / Transition</a:t>
            </a:r>
          </a:p>
          <a:p xmlns:a="http://schemas.openxmlformats.org/drawingml/2006/main">
            <a:r>
              <a:t/>
            </a:r>
          </a:p>
          <a:p xmlns:a="http://schemas.openxmlformats.org/drawingml/2006/main">
            <a:r>
              <a:t>**Allocated Time:**</a:t>
            </a:r>
          </a:p>
          <a:p xmlns:a="http://schemas.openxmlformats.org/drawingml/2006/main">
            <a:r>
              <a:t>10 minutes</a:t>
            </a:r>
          </a:p>
          <a:p xmlns:a="http://schemas.openxmlformats.org/drawingml/2006/main">
            <a:r>
              <a:t/>
            </a:r>
          </a:p>
          <a:p xmlns:a="http://schemas.openxmlformats.org/drawingml/2006/main">
            <a:r>
              <a:t>**Mode Split:**</a:t>
            </a:r>
          </a:p>
          <a:p xmlns:a="http://schemas.openxmlformats.org/drawingml/2006/main">
            <a:r>
              <a:t>Reflection 3 minutes + Q&amp;A 5 minutes + Transition 2 minutes</a:t>
            </a:r>
          </a:p>
          <a:p xmlns:a="http://schemas.openxmlformats.org/drawingml/2006/main">
            <a:r>
              <a:t/>
            </a:r>
          </a:p>
          <a:p xmlns:a="http://schemas.openxmlformats.org/drawingml/2006/main">
            <a:r>
              <a:t>**Primary Message:**</a:t>
            </a:r>
          </a:p>
          <a:p xmlns:a="http://schemas.openxmlformats.org/drawingml/2006/main">
            <a:r>
              <a:t>다시 알려주는 정보·다시 지시하는 절차·빠뜨린 확인 기준 중 반복 보정 하나를 고른다. 그 근거와 원래 출처, 검토·갱신·재확인 책임을 생각하고 다음 작업에 반영할 개선 과정이 필요한 이유를 회수한다.</a:t>
            </a:r>
          </a:p>
          <a:p xmlns:a="http://schemas.openxmlformats.org/drawingml/2006/main">
            <a:r>
              <a:t/>
            </a:r>
          </a:p>
          <a:p xmlns:a="http://schemas.openxmlformats.org/drawingml/2006/main">
            <a:r>
              <a:t>**Opening Question:**</a:t>
            </a:r>
          </a:p>
          <a:p xmlns:a="http://schemas.openxmlformats.org/drawingml/2006/main">
            <a:r>
              <a:t>“우리 팀에서 사람이 되풀이하는 보정 하나는 무엇이며, 무엇을 근거로 누가 다시 확인해야 할까요?”</a:t>
            </a:r>
          </a:p>
          <a:p xmlns:a="http://schemas.openxmlformats.org/drawingml/2006/main">
            <a:r>
              <a:t/>
            </a:r>
          </a:p>
          <a:p xmlns:a="http://schemas.openxmlformats.org/drawingml/2006/main">
            <a:r>
              <a:t>**Speaker Flow:**</a:t>
            </a:r>
          </a:p>
          <a:p xmlns:a="http://schemas.openxmlformats.org/drawingml/2006/main">
            <a:r>
              <a:t>1. (0:00–3:00 / Reflection) 다시 알려주는 정보·다시 지시하는 절차·빠뜨린 확인 기준 중 사람이 반복 보정하는 하나를 생각한다. 실제 작성·발표는 요구하지 않는다. 고른 내용이 현재 대화에만 남는지, 다음 작업에도 적용될 필요가 있는지 묻는다.</a:t>
            </a:r>
          </a:p>
          <a:p xmlns:a="http://schemas.openxmlformats.org/drawingml/2006/main">
            <a:r>
              <a:t>2. (3:00–8:00 / Q&amp;A) 선택적으로 질문을 받는다. 어떤 기준·실행 기록·보정 내용을 볼지, 원래 출처가 어디인지, 누가 검토·갱신·재확인을 맡을지 생각한다. 한 원인이나 새 규칙을 미리 확정하지 않는다. 질문이 없으면 “이번 대화에서만 보정했다면 다음 작업은 무엇을 다시 읽을까요?”를 보조 질문으로 사용한다.</a:t>
            </a:r>
          </a:p>
          <a:p xmlns:a="http://schemas.openxmlformats.org/drawingml/2006/main">
            <a:r>
              <a:t>3. (8:00–10:00 / Transition) 하단 다음 ACT 문장을 읽는다. 사람의 반복 보정이 다음 작업의 개선으로 이어지게 하려면 기록·원인 확인·적절한 변경·재평가가 필요하다는 문제를 닫고 ACT4 제목 S82으로 이동한다. S83에서 실제 성공은 보존하고 별도의 가상 유지 사례를 연다. ACT4의 설명·순서·시간을 미리 소진하거나 축소하지 않는다.</a:t>
            </a:r>
          </a:p>
          <a:p xmlns:a="http://schemas.openxmlformats.org/drawingml/2006/main">
            <a:r>
              <a:t/>
            </a:r>
          </a:p>
          <a:p xmlns:a="http://schemas.openxmlformats.org/drawingml/2006/main">
            <a:r>
              <a:t>**Evidence / Source:**</a:t>
            </a:r>
          </a:p>
          <a:p xmlns:a="http://schemas.openxmlformats.org/drawingml/2006/main">
            <a:r>
              <a:t>plan/MASTER_PLAN.md §§5.8–5.9, §14; 기존 BEAT-035–038 및 DEC-0079/0080/0092. 검증된 STATE-04-PERF의 성공은 유지하고, ACT4의 별도 가상 변화와 실제 Meta 사례를 그대로 둔다.</a:t>
            </a:r>
          </a:p>
          <a:p xmlns:a="http://schemas.openxmlformats.org/drawingml/2006/main">
            <a:r>
              <a:t/>
            </a:r>
          </a:p>
          <a:p xmlns:a="http://schemas.openxmlformats.org/drawingml/2006/main">
            <a:r>
              <a:t>**Claim Boundary:**</a:t>
            </a:r>
          </a:p>
          <a:p xmlns:a="http://schemas.openxmlformats.org/drawingml/2006/main">
            <a:r>
              <a:t>TEACHING MODEL — 개인 성찰이며 작성·실습·공개 답변을 요구하지 않는다. 실제 누락 원인·수정 대상·담당·재평가 결과를 확정하지 않는다. ACT4의 구성·시간·관찰/가상 경계를 유지한다.</a:t>
            </a:r>
          </a:p>
          <a:p xmlns:a="http://schemas.openxmlformats.org/drawingml/2006/main">
            <a:r>
              <a:t/>
            </a:r>
          </a:p>
          <a:p xmlns:a="http://schemas.openxmlformats.org/drawingml/2006/main">
            <a:r>
              <a:t>**Beginner Explanation:**</a:t>
            </a:r>
          </a:p>
          <a:p xmlns:a="http://schemas.openxmlformats.org/drawingml/2006/main">
            <a:r>
              <a:t>매번 사람이 다시 하는 보정 한 가지를 자기 업무에서 떠올린다.</a:t>
            </a:r>
          </a:p>
          <a:p xmlns:a="http://schemas.openxmlformats.org/drawingml/2006/main">
            <a:r>
              <a:t/>
            </a:r>
          </a:p>
          <a:p xmlns:a="http://schemas.openxmlformats.org/drawingml/2006/main">
            <a:r>
              <a:t>**Advanced Insight:**</a:t>
            </a:r>
          </a:p>
          <a:p xmlns:a="http://schemas.openxmlformats.org/drawingml/2006/main">
            <a:r>
              <a:t>반복 보정의 근거·적용 범위·원래 출처와 검토·재평가 책임을 분리해 생각한다.</a:t>
            </a:r>
          </a:p>
          <a:p xmlns:a="http://schemas.openxmlformats.org/drawingml/2006/main">
            <a:r>
              <a:t/>
            </a:r>
          </a:p>
          <a:p xmlns:a="http://schemas.openxmlformats.org/drawingml/2006/main">
            <a:r>
              <a:t>**C++ Vision Bridge:**</a:t>
            </a:r>
          </a:p>
          <a:p xmlns:a="http://schemas.openxmlformats.org/drawingml/2006/main">
            <a:r>
              <a:t>N/A — 일반적인 업무 보정·근거·개선의 질문이다. 기존 다른 C++ 사례는 유지한다.</a:t>
            </a:r>
          </a:p>
          <a:p xmlns:a="http://schemas.openxmlformats.org/drawingml/2006/main">
            <a:r>
              <a:t/>
            </a:r>
          </a:p>
          <a:p xmlns:a="http://schemas.openxmlformats.org/drawingml/2006/main">
            <a:r>
              <a:t>**Demo Operation:**</a:t>
            </a:r>
          </a:p>
          <a:p xmlns:a="http://schemas.openxmlformats.org/drawingml/2006/main">
            <a:r>
              <a:t>N/A — 정적 성찰 화면. R1 세 후보→R2 반복 보정 하나 선택→R3 근거·출처/검토·재확인 책임의 순서로 발표자 초점을 옮긴다. 새 실행이나 실제 원인·담당 배정은 없다.</a:t>
            </a:r>
          </a:p>
          <a:p xmlns:a="http://schemas.openxmlformats.org/drawingml/2006/main">
            <a:r>
              <a:t/>
            </a:r>
          </a:p>
          <a:p xmlns:a="http://schemas.openxmlformats.org/drawingml/2006/main">
            <a:r>
              <a:t>**Audience Interaction:**</a:t>
            </a:r>
          </a:p>
          <a:p xmlns:a="http://schemas.openxmlformats.org/drawingml/2006/main">
            <a:r>
              <a:t>Reflection3분→선택 Q&amp;A5분→Transition2분. 공개 답변과 작성은 요구하지 않는다. 질문이 없으면 현재 대화에만 남은 보정과 다음 작업이 읽을 출처를 묻는다.</a:t>
            </a:r>
          </a:p>
          <a:p xmlns:a="http://schemas.openxmlformats.org/drawingml/2006/main">
            <a:r>
              <a:t/>
            </a:r>
          </a:p>
          <a:p xmlns:a="http://schemas.openxmlformats.org/drawingml/2006/main">
            <a:r>
              <a:t>**Transition:**</a:t>
            </a:r>
          </a:p>
          <a:p xmlns:a="http://schemas.openxmlformats.org/drawingml/2006/main">
            <a:r>
              <a:t>“만든 기반은 재사용할 수 있습니다. 이제 사람이 반복해서 보정한 경험을 다음 작업의 개선으로 되돌리는 방법을 보겠습니다.” ACT4 제목 S82을 거쳐 S83의 기존 실제 성공 회수와 별도 가상 유지 사례로 이어간다.</a:t>
            </a:r>
          </a:p>
          <a:p xmlns:a="http://schemas.openxmlformats.org/drawingml/2006/main">
            <a:r>
              <a:t/>
            </a:r>
          </a:p>
          <a:p xmlns:a="http://schemas.openxmlformats.org/drawingml/2006/main">
            <a:r>
              <a:t>**Time Management:**</a:t>
            </a:r>
          </a:p>
          <a:p xmlns:a="http://schemas.openxmlformats.org/drawingml/2006/main">
            <a:r>
              <a:t>총10분:0–3 Reflection,3–8 Q&amp;A,8–10 Transition.8분에 질문을 닫고 하단의 다음 ACT 문장으로 이동한다. 지연 시 부연·도구 예시를 줄이되 반복 보정 문제와 근거·책임 질문을 유지한다.10분에 S82 제목으로 넘긴다. 실제 리허설 UNVERIFIED.</a:t>
            </a:r>
          </a:p>
          <a:p xmlns:a="http://schemas.openxmlformats.org/drawingml/2006/main">
            <a:r>
              <a:t/>
            </a:r>
          </a:p>
          <a:p xmlns:a="http://schemas.openxmlformats.org/drawingml/2006/main">
            <a:r>
              <a:t>**Fallback:**</a:t>
            </a:r>
          </a:p>
          <a:p xmlns:a="http://schemas.openxmlformats.org/drawingml/2006/main">
            <a:r>
              <a:t>LOCAL STATIC ARTIFACT — production/ACT_3.pptx의 S81 또는 production/preview/full/S81.png. 실제 실행 Screenshot·Trial·새 관찰 결과로 표현하지 않는다.</a:t>
            </a:r>
          </a:p>
          <a:p xmlns:a="http://schemas.openxmlformats.org/drawingml/2006/main">
            <a:r>
              <a:t/>
            </a:r>
          </a:p>
          <a:p xmlns:a="http://schemas.openxmlformats.org/drawingml/2006/main">
            <a:r>
              <a:t>**Validation Status:**</a:t>
            </a:r>
          </a:p>
          <a:p xmlns:a="http://schemas.openxmlformats.org/drawingml/2006/main">
            <a:r>
              <a:t>CONTENT ALIGNED — DEC-0092. 현재 로컬 결과는 production/evaluation/ACT3_LOOP_HANDOFF_REVISION.md에 기록한다. Windows/발표 PC 글꼴/교육장/제품·계정/실측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4411da61cfcc4dc0"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c0a1aa64e4da40b3"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ed87e52fb9a94f2c"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f07a52e58f2446a9"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8dacaa24aa854814"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4c903d9f88ae444a"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00A9E242-3F4C-44A7-9DEC-36FF76C10F9B}"/>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CE597F13-4009-4965-A3EE-8EB67EB0EFC4}"/>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989B1E30-8021-429E-AF97-E03C6397B5E6}"/>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27814DEA-D1A3-4B9A-9F92-950801D15C81}"/>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A17A2955-2481-41C1-B75B-0312F4CFE28F}"/>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BC0FB857-3569-42AA-AF5A-5DD72498F008}"/>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AD241C75-D320-4E00-A541-BA4A2EC89966}"/>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2CA5C5D8-2D36-4A95-9492-EBC23B6C2016}"/>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7544E00E-8D08-429E-B131-A64757D25C19}"/>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8E8EB2BE-BF8F-4213-A2E3-62AC01BE8D4D}"/>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03f147ae1ce34a63" /><Relationship Type="http://schemas.openxmlformats.org/officeDocument/2006/relationships/slideLayout" Target="/ppt/slideLayouts/slideLayout1.xml" Id="Ra11003b3211148da" /><Relationship Type="http://schemas.openxmlformats.org/officeDocument/2006/relationships/slideLayout" Target="/ppt/slideLayouts/slideLayout2.xml" Id="R9b8477a53bb14b1a" /><Relationship Type="http://schemas.openxmlformats.org/officeDocument/2006/relationships/slideLayout" Target="/ppt/slideLayouts/slideLayout3.xml" Id="Re1c2ad312a324466" /><Relationship Type="http://schemas.openxmlformats.org/officeDocument/2006/relationships/slideLayout" Target="/ppt/slideLayouts/slideLayout4.xml" Id="Rb00f3521967b478c" /><Relationship Type="http://schemas.openxmlformats.org/officeDocument/2006/relationships/slideLayout" Target="/ppt/slideLayouts/slideLayout5.xml" Id="R2d6d75109b954c87" /><Relationship Type="http://schemas.openxmlformats.org/officeDocument/2006/relationships/slideLayout" Target="/ppt/slideLayouts/slideLayout6.xml" Id="R68d9ad3f580f483b"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a11003b3211148da"/>
    <p:sldLayoutId xmlns:r="http://schemas.openxmlformats.org/officeDocument/2006/relationships" id="2147483650" r:id="R9b8477a53bb14b1a"/>
    <p:sldLayoutId xmlns:r="http://schemas.openxmlformats.org/officeDocument/2006/relationships" id="2147483651" r:id="Re1c2ad312a324466"/>
    <p:sldLayoutId xmlns:r="http://schemas.openxmlformats.org/officeDocument/2006/relationships" id="2147483652" r:id="Rb00f3521967b478c"/>
    <p:sldLayoutId xmlns:r="http://schemas.openxmlformats.org/officeDocument/2006/relationships" id="2147483653" r:id="R2d6d75109b954c87"/>
    <p:sldLayoutId xmlns:r="http://schemas.openxmlformats.org/officeDocument/2006/relationships" id="2147483654" r:id="R68d9ad3f580f483b"/>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1cc1afc412d34132" /><Relationship Type="http://schemas.openxmlformats.org/officeDocument/2006/relationships/notesSlide" Target="/ppt/notesSlides/notesSlide1.xml" Id="Rfdb40fc6205a40ba"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8c0aad162165453f" /><Relationship Type="http://schemas.openxmlformats.org/officeDocument/2006/relationships/image" Target="/ppt/media/image.png" Id="Rd338a52443344bbb" /><Relationship Type="http://schemas.openxmlformats.org/officeDocument/2006/relationships/image" Target="/ppt/media/image2.png" Id="R6bb30a7214f14359" /><Relationship Type="http://schemas.openxmlformats.org/officeDocument/2006/relationships/notesSlide" Target="/ppt/notesSlides/notesSlide2.xml" Id="R52f3c1ef9a1d4dc1"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d10c9f241ed14615" /><Relationship Type="http://schemas.openxmlformats.org/officeDocument/2006/relationships/notesSlide" Target="/ppt/notesSlides/notesSlide3.xml" Id="Ra9fc26362c5b4df2"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ee18c2a3a63743f5" /><Relationship Type="http://schemas.openxmlformats.org/officeDocument/2006/relationships/notesSlide" Target="/ppt/notesSlides/notesSlide4.xml" Id="Ra0394ef87e3849d5"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2c8d7489616f4fd2" /><Relationship Type="http://schemas.openxmlformats.org/officeDocument/2006/relationships/notesSlide" Target="/ppt/notesSlides/notesSlide5.xml" Id="R7ada8795689c4429"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ff7e1cd928f441c8" /><Relationship Type="http://schemas.openxmlformats.org/officeDocument/2006/relationships/notesSlide" Target="/ppt/notesSlides/notesSlide6.xml" Id="R03bdf8b24dd6426f"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eb80fef4d24149fd" /><Relationship Type="http://schemas.openxmlformats.org/officeDocument/2006/relationships/notesSlide" Target="/ppt/notesSlides/notesSlide7.xml" Id="R8227f41d5a9c4a06"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e0e564a5028a465f" /><Relationship Type="http://schemas.openxmlformats.org/officeDocument/2006/relationships/notesSlide" Target="/ppt/notesSlides/notesSlide8.xml" Id="Rdd8b57a363314787"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bb97b65480914a28" /><Relationship Type="http://schemas.openxmlformats.org/officeDocument/2006/relationships/notesSlide" Target="/ppt/notesSlides/notesSlide9.xml" Id="Rd26a9a3e895c432f"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c9ddf540709c49b5" /><Relationship Type="http://schemas.openxmlformats.org/officeDocument/2006/relationships/notesSlide" Target="/ppt/notesSlides/notesSlide10.xml" Id="Rde89f5ff37f4461d"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30d60ead35814447" /><Relationship Type="http://schemas.openxmlformats.org/officeDocument/2006/relationships/chart" Target="/ppt/slides/charts/chart1.xml" Id="Rd6e33629430a4506" /><Relationship Type="http://schemas.openxmlformats.org/officeDocument/2006/relationships/notesSlide" Target="/ppt/notesSlides/notesSlide11.xml" Id="R21b5fcdc97044fca"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a8b7731265bd43cf" /><Relationship Type="http://schemas.openxmlformats.org/officeDocument/2006/relationships/notesSlide" Target="/ppt/notesSlides/notesSlide12.xml" Id="R8560a849b27843ac"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3dd46989024f4667" /><Relationship Type="http://schemas.openxmlformats.org/officeDocument/2006/relationships/notesSlide" Target="/ppt/notesSlides/notesSlide13.xml" Id="R80f95999baf443fd"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ab0a9f86d4dd4799" /><Relationship Type="http://schemas.openxmlformats.org/officeDocument/2006/relationships/notesSlide" Target="/ppt/notesSlides/notesSlide14.xml" Id="Rfd6758c641c343ae"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6a4e9cea8ad340f5" /><Relationship Type="http://schemas.openxmlformats.org/officeDocument/2006/relationships/notesSlide" Target="/ppt/notesSlides/notesSlide15.xml" Id="R92c0c2b31f044fd0"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6f270f690c424fa8" /><Relationship Type="http://schemas.openxmlformats.org/officeDocument/2006/relationships/notesSlide" Target="/ppt/notesSlides/notesSlide16.xml" Id="R0ba7eca70723463f"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736ea8f649324714" /><Relationship Type="http://schemas.openxmlformats.org/officeDocument/2006/relationships/notesSlide" Target="/ppt/notesSlides/notesSlide17.xml" Id="R505dc29a374c4036"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93cac8eca30b4a85" /><Relationship Type="http://schemas.openxmlformats.org/officeDocument/2006/relationships/notesSlide" Target="/ppt/notesSlides/notesSlide18.xml" Id="R4cbb55a4d0aa4b97"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6b83432241cc41bf" /><Relationship Type="http://schemas.openxmlformats.org/officeDocument/2006/relationships/notesSlide" Target="/ppt/notesSlides/notesSlide19.xml" Id="R4def434730564baf"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53763a0eecb74fdf" /><Relationship Type="http://schemas.openxmlformats.org/officeDocument/2006/relationships/notesSlide" Target="/ppt/notesSlides/notesSlide20.xml" Id="R88e1d90e06244355"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af588d17faad4a91" /><Relationship Type="http://schemas.openxmlformats.org/officeDocument/2006/relationships/notesSlide" Target="/ppt/notesSlides/notesSlide21.xml" Id="Rfce68af057ac4d58"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d7f6629d245c4e08" /><Relationship Type="http://schemas.openxmlformats.org/officeDocument/2006/relationships/notesSlide" Target="/ppt/notesSlides/notesSlide22.xml" Id="Ra7baad14f7e64046"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4000f1f1297d4c56" /><Relationship Type="http://schemas.openxmlformats.org/officeDocument/2006/relationships/notesSlide" Target="/ppt/notesSlides/notesSlide23.xml" Id="Rfe33e25f44ae4da0"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e82dd303524245c6" /><Relationship Type="http://schemas.openxmlformats.org/officeDocument/2006/relationships/notesSlide" Target="/ppt/notesSlides/notesSlide24.xml" Id="R202892053d38405b"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550313697f704ee6" /><Relationship Type="http://schemas.openxmlformats.org/officeDocument/2006/relationships/notesSlide" Target="/ppt/notesSlides/notesSlide25.xml" Id="Rc2676ab8fe864ec1"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d9d50f4cd4a14ad7" /><Relationship Type="http://schemas.openxmlformats.org/officeDocument/2006/relationships/notesSlide" Target="/ppt/notesSlides/notesSlide26.xml" Id="R2651970a32f14e46"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chart1.xml><?xml version="1.0" encoding="utf-8"?>
<c:chartSpace xmlns:c="http://schemas.openxmlformats.org/drawingml/2006/chart" xmlns:r="http://schemas.openxmlformats.org/officeDocument/2006/relationships">
  <c:lang val="en-US"/>
  <c:chart>
    <c:plotArea>
      <c:barChart>
        <c:barDir val="bar"/>
        <c:grouping val="clustered"/>
        <c:varyColors val="1"/>
        <c:ser>
          <c:idx val="0"/>
          <c:order val="0"/>
          <c:tx>
            <c:v>Median ms/call</c:v>
          </c:tx>
          <c:invertIfNegative val="0"/>
          <c:dPt>
            <c:idx val="0"/>
            <c:invertIfNegative val="0"/>
            <c:spPr>
              <a:solidFill xmlns:a="http://schemas.openxmlformats.org/drawingml/2006/main">
                <a:srgbClr val="0B6172"/>
              </a:solidFill>
            </c:spPr>
          </c:dPt>
          <c:dPt>
            <c:idx val="1"/>
            <c:invertIfNegative val="0"/>
            <c:spPr>
              <a:solidFill xmlns:a="http://schemas.openxmlformats.org/drawingml/2006/main">
                <a:srgbClr val="9BA8B5"/>
              </a:solidFill>
            </c:spPr>
          </c:dPt>
          <c:cat>
            <c:strRef>
              <c:f>'Chart Data'!$A$2:$A$3</c:f>
              <c:strCache>
                <c:ptCount val="2"/>
                <c:pt idx="0">
                  <c:v>변경 후</c:v>
                </c:pt>
                <c:pt idx="1">
                  <c:v>변경 전</c:v>
                </c:pt>
              </c:strCache>
            </c:strRef>
          </c:cat>
          <c:val>
            <c:numRef>
              <c:f>'Chart Data'!$B$2:$B$3</c:f>
              <c:numCache>
                <c:formatCode>0.000</c:formatCode>
                <c:ptCount val="2"/>
                <c:pt idx="0">
                  <c:v>10.769</c:v>
                </c:pt>
                <c:pt idx="1">
                  <c:v>15.468</c:v>
                </c:pt>
              </c:numCache>
            </c:numRef>
          </c:val>
        </c:ser>
        <c:dLbls>
          <c:numFmt formatCode="0.000" sourceLinked="0"/>
          <c:txPr>
            <a:bodyPr xmlns:a="http://schemas.openxmlformats.org/drawingml/2006/main" anchorCtr="1"/>
            <a:lstStyle xmlns:a="http://schemas.openxmlformats.org/drawingml/2006/main"/>
            <a:p xmlns:a="http://schemas.openxmlformats.org/drawingml/2006/main">
              <a:pPr>
                <a:defRPr sz="1950" b="1">
                  <a:solidFill>
                    <a:srgbClr val="17212B"/>
                  </a:solidFill>
                  <a:latin typeface="Malgun Gothic"/>
                  <a:ea typeface="Malgun Gothic"/>
                  <a:cs typeface="Malgun Gothic"/>
                </a:defRPr>
              </a:pPr>
            </a:p>
          </c:txPr>
          <c:dLblPos val="outEnd"/>
          <c:showLegendKey val="0"/>
          <c:showVal val="1"/>
          <c:showCatName val="0"/>
          <c:showSerName val="0"/>
          <c:showPercent val="0"/>
          <c:showBubbleSize val="0"/>
          <c:showLeaderLines val="0"/>
        </c:dLbls>
        <c:gapWidth val="120"/>
        <c:axId val="48650112"/>
        <c:axId val="48672768"/>
      </c:barChart>
      <c:catAx>
        <c:axId val="48650112"/>
        <c:scaling>
          <c:orientation val="minMax"/>
        </c:scaling>
        <c:delete val="0"/>
        <c:axPos val="l"/>
        <c:majorGridlines>
          <c:spPr>
            <a:ln xmlns:a="http://schemas.openxmlformats.org/drawingml/2006/main" w="9525">
              <a:solidFill>
                <a:srgbClr val="C7D0DA"/>
              </a:solidFill>
              <a:prstDash val="solid"/>
            </a:ln>
          </c:spPr>
        </c:majorGridlines>
        <c:numFmt formatCode="0"/>
        <c:majorTickMark val="none"/>
        <c:minorTickMark val="none"/>
        <c:spPr>
          <a:ln xmlns:a="http://schemas.openxmlformats.org/drawingml/2006/main" w="9525">
            <a:solidFill>
              <a:srgbClr val="C7D0DA"/>
            </a:solidFill>
            <a:prstDash val="solid"/>
          </a:ln>
        </c:spPr>
        <c:txPr>
          <a:bodyPr xmlns:a="http://schemas.openxmlformats.org/drawingml/2006/main" anchorCtr="1"/>
          <a:lstStyle xmlns:a="http://schemas.openxmlformats.org/drawingml/2006/main"/>
          <a:p xmlns:a="http://schemas.openxmlformats.org/drawingml/2006/main">
            <a:pPr>
              <a:defRPr sz="1425">
                <a:solidFill>
                  <a:srgbClr val="4D5A68"/>
                </a:solidFill>
                <a:latin typeface="Malgun Gothic"/>
                <a:ea typeface="Malgun Gothic"/>
                <a:cs typeface="Malgun Gothic"/>
              </a:defRPr>
            </a:pPr>
          </a:p>
        </c:txPr>
        <c:crossAx val="48672768"/>
      </c:catAx>
      <c:valAx>
        <c:axId val="48672768"/>
        <c:scaling>
          <c:orientation val="minMax"/>
        </c:scaling>
        <c:delete val="0"/>
        <c:axPos val="b"/>
        <c:numFmt formatCode="0"/>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650">
                <a:solidFill>
                  <a:srgbClr val="17212B"/>
                </a:solidFill>
                <a:latin typeface="Malgun Gothic"/>
                <a:ea typeface="Malgun Gothic"/>
                <a:cs typeface="Malgun Gothic"/>
              </a:defRPr>
            </a:pPr>
          </a:p>
        </c:txPr>
        <c:crossAx val="48650112"/>
        <c:crossBetween val="between"/>
      </c:valAx>
      <c:spPr>
        <a:solidFill xmlns:a="http://schemas.openxmlformats.org/drawingml/2006/main">
          <a:srgbClr val="F4F6F8"/>
        </a:solidFill>
        <a:ln xmlns:a="http://schemas.openxmlformats.org/drawingml/2006/main" w="0">
          <a:noFill/>
        </a:ln>
      </c:spPr>
    </c:plotArea>
    <c:plotVisOnly val="1"/>
  </c:chart>
  <c:spPr>
    <a:solidFill xmlns:a="http://schemas.openxmlformats.org/drawingml/2006/main">
      <a:srgbClr val="F4F6F8"/>
    </a:solidFill>
    <a:ln xmlns:a="http://schemas.openxmlformats.org/drawingml/2006/main" w="0">
      <a:noFill/>
    </a:ln>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8" name="ACT 3">
            <a:extLst xmlns:a="http://schemas.openxmlformats.org/drawingml/2006/main">
              <a:ext uri="{FF2B5EF4-FFF2-40B4-BE49-F238E27FC236}">
                <a16:creationId xmlns:a16="http://schemas.microsoft.com/office/drawing/2014/main" id="{E389F161-BE32-4BC4-95F5-0C7D73B22632}"/>
              </a:ext>
            </a:extLst>
          </p:cNvPr>
          <p:cNvSpPr>
            <a:spLocks xmlns:a="http://schemas.openxmlformats.org/drawingml/2006/main" noGrp="1"/>
          </p:cNvSpPr>
          <p:nvPr/>
        </p:nvSpPr>
        <p:spPr>
          <a:xfrm xmlns:a="http://schemas.openxmlformats.org/drawingml/2006/main">
            <a:off x="609600" y="457200"/>
            <a:ext cx="9810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ACT 3</a:t>
            </a:r>
          </a:p>
        </p:txBody>
      </p:sp>
      <p:sp>
        <p:nvSpPr>
          <p:cNvPr id="2" name="S56">
            <a:extLst xmlns:a="http://schemas.openxmlformats.org/drawingml/2006/main">
              <a:ext uri="{FF2B5EF4-FFF2-40B4-BE49-F238E27FC236}">
                <a16:creationId xmlns:a16="http://schemas.microsoft.com/office/drawing/2014/main" id="{3CC71AE0-1070-445E-9400-B9FBCBBA33A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S56</a:t>
            </a:r>
          </a:p>
        </p:txBody>
      </p:sp>
      <p:sp>
        <p:nvSpPr>
          <p:cNvPr id="3" name="">
            <a:extLst xmlns:a="http://schemas.openxmlformats.org/drawingml/2006/main">
              <a:ext uri="{FF2B5EF4-FFF2-40B4-BE49-F238E27FC236}">
                <a16:creationId xmlns:a16="http://schemas.microsoft.com/office/drawing/2014/main" id="{F3994F05-F989-437F-951A-1551E572C001}"/>
              </a:ext>
            </a:extLst>
          </p:cNvPr>
          <p:cNvSpPr>
            <a:spLocks xmlns:a="http://schemas.openxmlformats.org/drawingml/2006/main" noGrp="1"/>
          </p:cNvSpPr>
          <p:nvPr/>
        </p:nvSpPr>
        <p:spPr>
          <a:xfrm xmlns:a="http://schemas.openxmlformats.org/drawingml/2006/main">
            <a:off x="609600" y="1866900"/>
            <a:ext cx="914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4" name="AI가 일할 방법과&#10;환경 설계하기">
            <a:extLst xmlns:a="http://schemas.openxmlformats.org/drawingml/2006/main">
              <a:ext uri="{FF2B5EF4-FFF2-40B4-BE49-F238E27FC236}">
                <a16:creationId xmlns:a16="http://schemas.microsoft.com/office/drawing/2014/main" id="{C9B970EB-8FDC-4324-B2E0-5721AEDEF1FF}"/>
              </a:ext>
            </a:extLst>
          </p:cNvPr>
          <p:cNvSpPr>
            <a:spLocks xmlns:a="http://schemas.openxmlformats.org/drawingml/2006/main" noGrp="1"/>
          </p:cNvSpPr>
          <p:nvPr/>
        </p:nvSpPr>
        <p:spPr>
          <a:xfrm xmlns:a="http://schemas.openxmlformats.org/drawingml/2006/main">
            <a:off x="609600" y="2266950"/>
            <a:ext cx="10972800" cy="1695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800" b="1">
                <a:solidFill>
                  <a:srgbClr val="17212B"/>
                </a:solidFill>
                <a:latin typeface="Malgun Gothic"/>
                <a:ea typeface="Malgun Gothic"/>
                <a:cs typeface="Malgun Gothic"/>
              </a:defRPr>
            </a:defPPr>
            <a:lvl1pPr algn="l">
              <a:defRPr sz="4800" b="1">
                <a:solidFill>
                  <a:srgbClr val="17212B"/>
                </a:solidFill>
                <a:latin typeface="Malgun Gothic"/>
                <a:ea typeface="Malgun Gothic"/>
                <a:cs typeface="Malgun Gothic"/>
              </a:defRPr>
            </a:lvl1pPr>
            <a:lvl2pPr algn="l">
              <a:defRPr sz="4800" b="1">
                <a:solidFill>
                  <a:srgbClr val="17212B"/>
                </a:solidFill>
                <a:latin typeface="Malgun Gothic"/>
                <a:ea typeface="Malgun Gothic"/>
                <a:cs typeface="Malgun Gothic"/>
              </a:defRPr>
            </a:lvl2pPr>
            <a:lvl3pPr algn="l">
              <a:defRPr sz="4800" b="1">
                <a:solidFill>
                  <a:srgbClr val="17212B"/>
                </a:solidFill>
                <a:latin typeface="Malgun Gothic"/>
                <a:ea typeface="Malgun Gothic"/>
                <a:cs typeface="Malgun Gothic"/>
              </a:defRPr>
            </a:lvl3pPr>
            <a:lvl4pPr algn="l">
              <a:defRPr sz="4800" b="1">
                <a:solidFill>
                  <a:srgbClr val="17212B"/>
                </a:solidFill>
                <a:latin typeface="Malgun Gothic"/>
                <a:ea typeface="Malgun Gothic"/>
                <a:cs typeface="Malgun Gothic"/>
              </a:defRPr>
            </a:lvl4pPr>
            <a:lvl5pPr algn="l">
              <a:defRPr sz="4800" b="1">
                <a:solidFill>
                  <a:srgbClr val="17212B"/>
                </a:solidFill>
                <a:latin typeface="Malgun Gothic"/>
                <a:ea typeface="Malgun Gothic"/>
                <a:cs typeface="Malgun Gothic"/>
              </a:defRPr>
            </a:lvl5pPr>
            <a:lvl6pPr algn="l">
              <a:defRPr sz="4800" b="1">
                <a:solidFill>
                  <a:srgbClr val="17212B"/>
                </a:solidFill>
                <a:latin typeface="Malgun Gothic"/>
                <a:ea typeface="Malgun Gothic"/>
                <a:cs typeface="Malgun Gothic"/>
              </a:defRPr>
            </a:lvl6pPr>
            <a:lvl7pPr algn="l">
              <a:defRPr sz="4800" b="1">
                <a:solidFill>
                  <a:srgbClr val="17212B"/>
                </a:solidFill>
                <a:latin typeface="Malgun Gothic"/>
                <a:ea typeface="Malgun Gothic"/>
                <a:cs typeface="Malgun Gothic"/>
              </a:defRPr>
            </a:lvl7pPr>
            <a:lvl8pPr algn="l">
              <a:defRPr sz="4800" b="1">
                <a:solidFill>
                  <a:srgbClr val="17212B"/>
                </a:solidFill>
                <a:latin typeface="Malgun Gothic"/>
                <a:ea typeface="Malgun Gothic"/>
                <a:cs typeface="Malgun Gothic"/>
              </a:defRPr>
            </a:lvl8pPr>
            <a:lvl9pPr algn="l">
              <a:defRPr sz="4800" b="1">
                <a:solidFill>
                  <a:srgbClr val="17212B"/>
                </a:solidFill>
                <a:latin typeface="Malgun Gothic"/>
                <a:ea typeface="Malgun Gothic"/>
                <a:cs typeface="Malgun Gothic"/>
              </a:defRPr>
            </a:lvl9pPr>
          </a:lstStyle>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AI가 일할 방법과</a:t>
            </a:r>
          </a:p>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환경 설계하기</a:t>
            </a:r>
          </a:p>
        </p:txBody>
      </p:sp>
      <p:sp>
        <p:nvSpPr>
          <p:cNvPr id="5" name="Harness Engineering · 수행 체계 설계">
            <a:extLst xmlns:a="http://schemas.openxmlformats.org/drawingml/2006/main">
              <a:ext uri="{FF2B5EF4-FFF2-40B4-BE49-F238E27FC236}">
                <a16:creationId xmlns:a16="http://schemas.microsoft.com/office/drawing/2014/main" id="{E8EA51AA-E655-41CC-86FE-969D6148C04B}"/>
              </a:ext>
            </a:extLst>
          </p:cNvPr>
          <p:cNvSpPr>
            <a:spLocks xmlns:a="http://schemas.openxmlformats.org/drawingml/2006/main" noGrp="1"/>
          </p:cNvSpPr>
          <p:nvPr/>
        </p:nvSpPr>
        <p:spPr>
          <a:xfrm xmlns:a="http://schemas.openxmlformats.org/drawingml/2006/main">
            <a:off x="609600" y="422910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0B6172"/>
                </a:solidFill>
                <a:latin typeface="Malgun Gothic"/>
                <a:ea typeface="Malgun Gothic"/>
                <a:cs typeface="Malgun Gothic"/>
              </a:defRPr>
            </a:defPPr>
            <a:lvl1pPr algn="l">
              <a:defRPr sz="2250" b="0">
                <a:solidFill>
                  <a:srgbClr val="0B6172"/>
                </a:solidFill>
                <a:latin typeface="Malgun Gothic"/>
                <a:ea typeface="Malgun Gothic"/>
                <a:cs typeface="Malgun Gothic"/>
              </a:defRPr>
            </a:lvl1pPr>
            <a:lvl2pPr algn="l">
              <a:defRPr sz="2250" b="0">
                <a:solidFill>
                  <a:srgbClr val="0B6172"/>
                </a:solidFill>
                <a:latin typeface="Malgun Gothic"/>
                <a:ea typeface="Malgun Gothic"/>
                <a:cs typeface="Malgun Gothic"/>
              </a:defRPr>
            </a:lvl2pPr>
            <a:lvl3pPr algn="l">
              <a:defRPr sz="2250" b="0">
                <a:solidFill>
                  <a:srgbClr val="0B6172"/>
                </a:solidFill>
                <a:latin typeface="Malgun Gothic"/>
                <a:ea typeface="Malgun Gothic"/>
                <a:cs typeface="Malgun Gothic"/>
              </a:defRPr>
            </a:lvl3pPr>
            <a:lvl4pPr algn="l">
              <a:defRPr sz="2250" b="0">
                <a:solidFill>
                  <a:srgbClr val="0B6172"/>
                </a:solidFill>
                <a:latin typeface="Malgun Gothic"/>
                <a:ea typeface="Malgun Gothic"/>
                <a:cs typeface="Malgun Gothic"/>
              </a:defRPr>
            </a:lvl4pPr>
            <a:lvl5pPr algn="l">
              <a:defRPr sz="2250" b="0">
                <a:solidFill>
                  <a:srgbClr val="0B6172"/>
                </a:solidFill>
                <a:latin typeface="Malgun Gothic"/>
                <a:ea typeface="Malgun Gothic"/>
                <a:cs typeface="Malgun Gothic"/>
              </a:defRPr>
            </a:lvl5pPr>
            <a:lvl6pPr algn="l">
              <a:defRPr sz="2250" b="0">
                <a:solidFill>
                  <a:srgbClr val="0B6172"/>
                </a:solidFill>
                <a:latin typeface="Malgun Gothic"/>
                <a:ea typeface="Malgun Gothic"/>
                <a:cs typeface="Malgun Gothic"/>
              </a:defRPr>
            </a:lvl6pPr>
            <a:lvl7pPr algn="l">
              <a:defRPr sz="2250" b="0">
                <a:solidFill>
                  <a:srgbClr val="0B6172"/>
                </a:solidFill>
                <a:latin typeface="Malgun Gothic"/>
                <a:ea typeface="Malgun Gothic"/>
                <a:cs typeface="Malgun Gothic"/>
              </a:defRPr>
            </a:lvl7pPr>
            <a:lvl8pPr algn="l">
              <a:defRPr sz="2250" b="0">
                <a:solidFill>
                  <a:srgbClr val="0B6172"/>
                </a:solidFill>
                <a:latin typeface="Malgun Gothic"/>
                <a:ea typeface="Malgun Gothic"/>
                <a:cs typeface="Malgun Gothic"/>
              </a:defRPr>
            </a:lvl8pPr>
            <a:lvl9pPr algn="l">
              <a:defRPr sz="2250" b="0">
                <a:solidFill>
                  <a:srgbClr val="0B6172"/>
                </a:solidFill>
                <a:latin typeface="Malgun Gothic"/>
                <a:ea typeface="Malgun Gothic"/>
                <a:cs typeface="Malgun Gothic"/>
              </a:defRPr>
            </a:lvl9pPr>
          </a:lstStyle>
          <a:p xmlns:a="http://schemas.openxmlformats.org/drawingml/2006/main">
            <a:pPr algn="l">
              <a:defRPr sz="2250" b="0">
                <a:solidFill>
                  <a:srgbClr val="0B6172"/>
                </a:solidFill>
                <a:latin typeface="Malgun Gothic"/>
                <a:ea typeface="Malgun Gothic"/>
                <a:cs typeface="Malgun Gothic"/>
              </a:defRPr>
            </a:pPr>
            <a:r>
              <a:rPr sz="2250" b="0">
                <a:solidFill>
                  <a:srgbClr val="0B6172"/>
                </a:solidFill>
                <a:latin typeface="Malgun Gothic"/>
                <a:ea typeface="Malgun Gothic"/>
                <a:cs typeface="Malgun Gothic"/>
              </a:rPr>
              <a:t>Harness Engineering · 수행 체계 설계</a:t>
            </a:r>
          </a:p>
        </p:txBody>
      </p:sp>
      <p:sp>
        <p:nvSpPr>
          <p:cNvPr id="6" name="ChatGPT &amp; Codex · 개발자 교육">
            <a:extLst xmlns:a="http://schemas.openxmlformats.org/drawingml/2006/main">
              <a:ext uri="{FF2B5EF4-FFF2-40B4-BE49-F238E27FC236}">
                <a16:creationId xmlns:a16="http://schemas.microsoft.com/office/drawing/2014/main" id="{548632A0-2ED3-45C7-AF8B-08CF93671CD4}"/>
              </a:ext>
            </a:extLst>
          </p:cNvPr>
          <p:cNvSpPr>
            <a:spLocks xmlns:a="http://schemas.openxmlformats.org/drawingml/2006/main" noGrp="1"/>
          </p:cNvSpPr>
          <p:nvPr/>
        </p:nvSpPr>
        <p:spPr>
          <a:xfrm xmlns:a="http://schemas.openxmlformats.org/drawingml/2006/main">
            <a:off x="609600" y="6134100"/>
            <a:ext cx="7315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ChatGPT &amp; Codex · 개발자 교육</a:t>
            </a:r>
          </a:p>
        </p:txBody>
      </p:sp>
      <p:sp>
        <p:nvSpPr>
          <p:cNvPr id="7" name="Legacy module connection">
            <a:extLst xmlns:a="http://schemas.openxmlformats.org/drawingml/2006/main">
              <a:ext uri="{FF2B5EF4-FFF2-40B4-BE49-F238E27FC236}">
                <a16:creationId xmlns:a16="http://schemas.microsoft.com/office/drawing/2014/main" id="{09ABB3B9-2526-4D3E-BA00-E5014424581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ACT 안내</a:t>
            </a:r>
          </a:p>
        </p:txBody>
      </p:sp>
    </p:spTree>
    <p:extLst>
      <p:ext uri="{BB962C8B-B14F-4D97-AF65-F5344CB8AC3E}">
        <p14:creationId xmlns:p14="http://schemas.microsoft.com/office/powerpoint/2010/main" val="158542912"/>
      </p:ext>
    </p:extLst>
  </p:cSld>
</p:sld>
</file>

<file path=ppt/slides/slide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5" name="ACT 3 · Harness: 작업 방법과 실행·검증 환경 설계">
            <a:extLst xmlns:a="http://schemas.openxmlformats.org/drawingml/2006/main">
              <a:ext uri="{FF2B5EF4-FFF2-40B4-BE49-F238E27FC236}">
                <a16:creationId xmlns:a16="http://schemas.microsoft.com/office/drawing/2014/main" id="{7DB953AC-9670-4D28-A32F-35C4D289945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Harness: 작업 방법과 실행·검증 환경 설계</a:t>
            </a:r>
          </a:p>
        </p:txBody>
      </p:sp>
      <p:sp>
        <p:nvSpPr>
          <p:cNvPr id="2" name="S57">
            <a:extLst xmlns:a="http://schemas.openxmlformats.org/drawingml/2006/main">
              <a:ext uri="{FF2B5EF4-FFF2-40B4-BE49-F238E27FC236}">
                <a16:creationId xmlns:a16="http://schemas.microsoft.com/office/drawing/2014/main" id="{E956E7CB-3D07-4482-9141-B6A49AA7F4B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S57</a:t>
            </a:r>
          </a:p>
        </p:txBody>
      </p:sp>
      <p:sp>
        <p:nvSpPr>
          <p:cNvPr id="3" name="두 실제 요청에 같은 절차가 반복됐다">
            <a:extLst xmlns:a="http://schemas.openxmlformats.org/drawingml/2006/main">
              <a:ext uri="{FF2B5EF4-FFF2-40B4-BE49-F238E27FC236}">
                <a16:creationId xmlns:a16="http://schemas.microsoft.com/office/drawing/2014/main" id="{C51BC2FB-846B-4F1A-8D60-C29211D20C4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두 실제 요청에 같은 절차가 반복됐다</a:t>
            </a:r>
          </a:p>
        </p:txBody>
      </p:sp>
      <p:sp>
        <p:nvSpPr>
          <p:cNvPr id="4" name="">
            <a:extLst xmlns:a="http://schemas.openxmlformats.org/drawingml/2006/main">
              <a:ext uri="{FF2B5EF4-FFF2-40B4-BE49-F238E27FC236}">
                <a16:creationId xmlns:a16="http://schemas.microsoft.com/office/drawing/2014/main" id="{6BA4EF18-8DD9-4052-8E0A-A9547CC1483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6 실제 Prompt 발췌·번역 / TRIAL-007 보존된 Task Prompt 요약 · 그">
            <a:extLst xmlns:a="http://schemas.openxmlformats.org/drawingml/2006/main">
              <a:ext uri="{FF2B5EF4-FFF2-40B4-BE49-F238E27FC236}">
                <a16:creationId xmlns:a16="http://schemas.microsoft.com/office/drawing/2014/main" id="{39E2C4A2-57F0-4571-85E9-76C081E8F59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실제 Prompt 발췌·번역 / TRIAL-007 보존된 Task Prompt 요약 · 그림은 설명용 삽화</a:t>
            </a:r>
          </a:p>
        </p:txBody>
      </p:sp>
      <p:sp>
        <p:nvSpPr>
          <p:cNvPr id="6" name="Global Harness 영향으로 Prompt-only attribution은 PARTIAL · 성능 전후">
            <a:extLst xmlns:a="http://schemas.openxmlformats.org/drawingml/2006/main">
              <a:ext uri="{FF2B5EF4-FFF2-40B4-BE49-F238E27FC236}">
                <a16:creationId xmlns:a16="http://schemas.microsoft.com/office/drawing/2014/main" id="{C9D0981E-3AC0-40B5-ADE1-889E0B5585A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Global Harness 영향으로 Prompt-only attribution은 PARTIAL · 성능 전후 그림·현재 제품 화면 아님</a:t>
            </a:r>
          </a:p>
        </p:txBody>
      </p:sp>
      <p:pic>
        <p:nvPicPr>
          <p:cNvPr id="7" name="">
            <a:extLst xmlns:a="http://schemas.openxmlformats.org/drawingml/2006/main">
              <a:ext uri="{FF2B5EF4-FFF2-40B4-BE49-F238E27FC236}">
                <a16:creationId xmlns:a16="http://schemas.microsoft.com/office/drawing/2014/main" id="{412FE9E4-BE19-4C38-87EA-8C60BA45D374}"/>
              </a:ext>
            </a:extLst>
          </p:cNvPr>
          <p:cNvPicPr>
            <a:picLocks xmlns:a="http://schemas.openxmlformats.org/drawingml/2006/main" noChangeAspect="1"/>
          </p:cNvPicPr>
          <p:nvPr/>
        </p:nvPicPr>
        <p:blipFill>
          <a:blip xmlns:r="http://schemas.openxmlformats.org/officeDocument/2006/relationships" xmlns:a="http://schemas.openxmlformats.org/drawingml/2006/main" r:embed="Rd338a52443344bbb"/>
          <a:srcRect xmlns:a="http://schemas.openxmlformats.org/drawingml/2006/main" l="53664" t="30891" r="28410" b="33258"/>
          <a:stretch xmlns:a="http://schemas.openxmlformats.org/drawingml/2006/main"/>
        </p:blipFill>
        <p:spPr>
          <a:xfrm xmlns:a="http://schemas.openxmlformats.org/drawingml/2006/main">
            <a:off x="609600" y="1809750"/>
            <a:ext cx="609600" cy="609600"/>
          </a:xfrm>
          <a:prstGeom xmlns:a="http://schemas.openxmlformats.org/drawingml/2006/main" prst="rect">
            <a:avLst/>
          </a:prstGeom>
        </p:spPr>
      </p:pic>
      <p:pic>
        <p:nvPicPr>
          <p:cNvPr id="8" name="">
            <a:extLst xmlns:a="http://schemas.openxmlformats.org/drawingml/2006/main">
              <a:ext uri="{FF2B5EF4-FFF2-40B4-BE49-F238E27FC236}">
                <a16:creationId xmlns:a16="http://schemas.microsoft.com/office/drawing/2014/main" id="{A5B5353C-A0CC-4740-8721-FE090D787676}"/>
              </a:ext>
            </a:extLst>
          </p:cNvPr>
          <p:cNvPicPr>
            <a:picLocks xmlns:a="http://schemas.openxmlformats.org/drawingml/2006/main" noChangeAspect="1"/>
          </p:cNvPicPr>
          <p:nvPr/>
        </p:nvPicPr>
        <p:blipFill>
          <a:blip xmlns:r="http://schemas.openxmlformats.org/officeDocument/2006/relationships" xmlns:a="http://schemas.openxmlformats.org/drawingml/2006/main" r:embed="R6bb30a7214f14359"/>
          <a:srcRect xmlns:a="http://schemas.openxmlformats.org/drawingml/2006/main" l="53664" t="30891" r="28410" b="33258"/>
          <a:stretch xmlns:a="http://schemas.openxmlformats.org/drawingml/2006/main"/>
        </p:blipFill>
        <p:spPr>
          <a:xfrm xmlns:a="http://schemas.openxmlformats.org/drawingml/2006/main">
            <a:off x="6419850" y="1809750"/>
            <a:ext cx="609600" cy="609600"/>
          </a:xfrm>
          <a:prstGeom xmlns:a="http://schemas.openxmlformats.org/drawingml/2006/main" prst="rect">
            <a:avLst/>
          </a:prstGeom>
        </p:spPr>
      </p:pic>
      <p:sp>
        <p:nvSpPr>
          <p:cNvPr id="9" name="A · 크기 변경">
            <a:extLst xmlns:a="http://schemas.openxmlformats.org/drawingml/2006/main">
              <a:ext uri="{FF2B5EF4-FFF2-40B4-BE49-F238E27FC236}">
                <a16:creationId xmlns:a16="http://schemas.microsoft.com/office/drawing/2014/main" id="{C702E896-4F25-45C2-937A-F386BE73F10A}"/>
              </a:ext>
            </a:extLst>
          </p:cNvPr>
          <p:cNvSpPr>
            <a:spLocks xmlns:a="http://schemas.openxmlformats.org/drawingml/2006/main" noGrp="1"/>
          </p:cNvSpPr>
          <p:nvPr/>
        </p:nvSpPr>
        <p:spPr>
          <a:xfrm xmlns:a="http://schemas.openxmlformats.org/drawingml/2006/main">
            <a:off x="1409700" y="1809750"/>
            <a:ext cx="4267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A · 크기 변경</a:t>
            </a:r>
          </a:p>
        </p:txBody>
      </p:sp>
      <p:sp>
        <p:nvSpPr>
          <p:cNvPr id="10" name="resize_nearest">
            <a:extLst xmlns:a="http://schemas.openxmlformats.org/drawingml/2006/main">
              <a:ext uri="{FF2B5EF4-FFF2-40B4-BE49-F238E27FC236}">
                <a16:creationId xmlns:a16="http://schemas.microsoft.com/office/drawing/2014/main" id="{3CCDC550-00EF-4090-B0B0-32EFC0D92588}"/>
              </a:ext>
            </a:extLst>
          </p:cNvPr>
          <p:cNvSpPr>
            <a:spLocks xmlns:a="http://schemas.openxmlformats.org/drawingml/2006/main" noGrp="1"/>
          </p:cNvSpPr>
          <p:nvPr/>
        </p:nvSpPr>
        <p:spPr>
          <a:xfrm xmlns:a="http://schemas.openxmlformats.org/drawingml/2006/main">
            <a:off x="1409700" y="2200275"/>
            <a:ext cx="4267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resize_nearest</a:t>
            </a:r>
          </a:p>
        </p:txBody>
      </p:sp>
      <p:sp>
        <p:nvSpPr>
          <p:cNvPr id="11" name="B · 픽셀값 정규화">
            <a:extLst xmlns:a="http://schemas.openxmlformats.org/drawingml/2006/main">
              <a:ext uri="{FF2B5EF4-FFF2-40B4-BE49-F238E27FC236}">
                <a16:creationId xmlns:a16="http://schemas.microsoft.com/office/drawing/2014/main" id="{CBBFC1D5-D97A-47A8-B364-0E6215A296DE}"/>
              </a:ext>
            </a:extLst>
          </p:cNvPr>
          <p:cNvSpPr>
            <a:spLocks xmlns:a="http://schemas.openxmlformats.org/drawingml/2006/main" noGrp="1"/>
          </p:cNvSpPr>
          <p:nvPr/>
        </p:nvSpPr>
        <p:spPr>
          <a:xfrm xmlns:a="http://schemas.openxmlformats.org/drawingml/2006/main">
            <a:off x="7219950" y="1809750"/>
            <a:ext cx="43624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B · 픽셀값 정규화</a:t>
            </a:r>
          </a:p>
        </p:txBody>
      </p:sp>
      <p:sp>
        <p:nvSpPr>
          <p:cNvPr id="12" name="normalize">
            <a:extLst xmlns:a="http://schemas.openxmlformats.org/drawingml/2006/main">
              <a:ext uri="{FF2B5EF4-FFF2-40B4-BE49-F238E27FC236}">
                <a16:creationId xmlns:a16="http://schemas.microsoft.com/office/drawing/2014/main" id="{E935FBC0-A453-431D-A08B-F8499ED653B7}"/>
              </a:ext>
            </a:extLst>
          </p:cNvPr>
          <p:cNvSpPr>
            <a:spLocks xmlns:a="http://schemas.openxmlformats.org/drawingml/2006/main" noGrp="1"/>
          </p:cNvSpPr>
          <p:nvPr/>
        </p:nvSpPr>
        <p:spPr>
          <a:xfrm xmlns:a="http://schemas.openxmlformats.org/drawingml/2006/main">
            <a:off x="7219950" y="2200275"/>
            <a:ext cx="43624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normalize</a:t>
            </a:r>
          </a:p>
        </p:txBody>
      </p:sp>
      <p:sp>
        <p:nvSpPr>
          <p:cNvPr id="13" name="실제 요청의 핵심 발췌·번역">
            <a:extLst xmlns:a="http://schemas.openxmlformats.org/drawingml/2006/main">
              <a:ext uri="{FF2B5EF4-FFF2-40B4-BE49-F238E27FC236}">
                <a16:creationId xmlns:a16="http://schemas.microsoft.com/office/drawing/2014/main" id="{3598E32A-29E2-454C-A02A-064FBA886E49}"/>
              </a:ext>
            </a:extLst>
          </p:cNvPr>
          <p:cNvSpPr>
            <a:spLocks xmlns:a="http://schemas.openxmlformats.org/drawingml/2006/main" noGrp="1"/>
          </p:cNvSpPr>
          <p:nvPr/>
        </p:nvSpPr>
        <p:spPr>
          <a:xfrm xmlns:a="http://schemas.openxmlformats.org/drawingml/2006/main">
            <a:off x="609600" y="2609850"/>
            <a:ext cx="5162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실제 요청의 핵심 발췌·번역</a:t>
            </a:r>
          </a:p>
        </p:txBody>
      </p:sp>
      <p:sp>
        <p:nvSpPr>
          <p:cNvPr id="14" name="">
            <a:extLst xmlns:a="http://schemas.openxmlformats.org/drawingml/2006/main">
              <a:ext uri="{FF2B5EF4-FFF2-40B4-BE49-F238E27FC236}">
                <a16:creationId xmlns:a16="http://schemas.microsoft.com/office/drawing/2014/main" id="{16076D26-A4C6-4E69-BCCB-CCCF23EB45BA}"/>
              </a:ext>
            </a:extLst>
          </p:cNvPr>
          <p:cNvSpPr>
            <a:spLocks xmlns:a="http://schemas.openxmlformats.org/drawingml/2006/main" noGrp="1"/>
          </p:cNvSpPr>
          <p:nvPr/>
        </p:nvSpPr>
        <p:spPr>
          <a:xfrm xmlns:a="http://schemas.openxmlformats.org/drawingml/2006/main">
            <a:off x="609600" y="3000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5" name="01">
            <a:extLst xmlns:a="http://schemas.openxmlformats.org/drawingml/2006/main">
              <a:ext uri="{FF2B5EF4-FFF2-40B4-BE49-F238E27FC236}">
                <a16:creationId xmlns:a16="http://schemas.microsoft.com/office/drawing/2014/main" id="{03D1B4F6-FA46-47D5-AFB9-57259ADFB6DA}"/>
              </a:ext>
            </a:extLst>
          </p:cNvPr>
          <p:cNvSpPr>
            <a:spLocks xmlns:a="http://schemas.openxmlformats.org/drawingml/2006/main" noGrp="1"/>
          </p:cNvSpPr>
          <p:nvPr/>
        </p:nvSpPr>
        <p:spPr>
          <a:xfrm xmlns:a="http://schemas.openxmlformats.org/drawingml/2006/main">
            <a:off x="742950" y="3133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01</a:t>
            </a:r>
          </a:p>
        </p:txBody>
      </p:sp>
      <p:sp>
        <p:nvSpPr>
          <p:cNvPr id="16" name="변경 전에 benchmark를 실행해줘.&#10;구현·명세·테스트를 조사해줘.">
            <a:extLst xmlns:a="http://schemas.openxmlformats.org/drawingml/2006/main">
              <a:ext uri="{FF2B5EF4-FFF2-40B4-BE49-F238E27FC236}">
                <a16:creationId xmlns:a16="http://schemas.microsoft.com/office/drawing/2014/main" id="{57BF5A15-1640-4295-A260-95776C9CBCB7}"/>
              </a:ext>
            </a:extLst>
          </p:cNvPr>
          <p:cNvSpPr>
            <a:spLocks xmlns:a="http://schemas.openxmlformats.org/drawingml/2006/main" noGrp="1"/>
          </p:cNvSpPr>
          <p:nvPr/>
        </p:nvSpPr>
        <p:spPr>
          <a:xfrm xmlns:a="http://schemas.openxmlformats.org/drawingml/2006/main">
            <a:off x="1352550" y="3048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전에 benchmark를 실행해줘.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구현·명세·테스트를 조사해줘.</a:t>
            </a:r>
          </a:p>
        </p:txBody>
      </p:sp>
      <p:sp>
        <p:nvSpPr>
          <p:cNvPr id="17" name="">
            <a:extLst xmlns:a="http://schemas.openxmlformats.org/drawingml/2006/main">
              <a:ext uri="{FF2B5EF4-FFF2-40B4-BE49-F238E27FC236}">
                <a16:creationId xmlns:a16="http://schemas.microsoft.com/office/drawing/2014/main" id="{A3DFBDD4-03AE-4D56-83F8-4F18198A8343}"/>
              </a:ext>
            </a:extLst>
          </p:cNvPr>
          <p:cNvSpPr>
            <a:spLocks xmlns:a="http://schemas.openxmlformats.org/drawingml/2006/main" noGrp="1"/>
          </p:cNvSpPr>
          <p:nvPr/>
        </p:nvSpPr>
        <p:spPr>
          <a:xfrm xmlns:a="http://schemas.openxmlformats.org/drawingml/2006/main">
            <a:off x="609600" y="3762375"/>
            <a:ext cx="5162550" cy="7239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02">
            <a:extLst xmlns:a="http://schemas.openxmlformats.org/drawingml/2006/main">
              <a:ext uri="{FF2B5EF4-FFF2-40B4-BE49-F238E27FC236}">
                <a16:creationId xmlns:a16="http://schemas.microsoft.com/office/drawing/2014/main" id="{E14BF130-70A7-4B83-A27C-81861967F43F}"/>
              </a:ext>
            </a:extLst>
          </p:cNvPr>
          <p:cNvSpPr>
            <a:spLocks xmlns:a="http://schemas.openxmlformats.org/drawingml/2006/main" noGrp="1"/>
          </p:cNvSpPr>
          <p:nvPr/>
        </p:nvSpPr>
        <p:spPr>
          <a:xfrm xmlns:a="http://schemas.openxmlformats.org/drawingml/2006/main">
            <a:off x="742950" y="3895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02</a:t>
            </a:r>
          </a:p>
        </p:txBody>
      </p:sp>
      <p:sp>
        <p:nvSpPr>
          <p:cNvPr id="19" name="간단한 계획을 먼저 제시하고,&#10;근거 있는 최소 변경을 해줘.">
            <a:extLst xmlns:a="http://schemas.openxmlformats.org/drawingml/2006/main">
              <a:ext uri="{FF2B5EF4-FFF2-40B4-BE49-F238E27FC236}">
                <a16:creationId xmlns:a16="http://schemas.microsoft.com/office/drawing/2014/main" id="{C025EB3F-5FBE-40E5-BE85-284F224CAB4D}"/>
              </a:ext>
            </a:extLst>
          </p:cNvPr>
          <p:cNvSpPr>
            <a:spLocks xmlns:a="http://schemas.openxmlformats.org/drawingml/2006/main" noGrp="1"/>
          </p:cNvSpPr>
          <p:nvPr/>
        </p:nvSpPr>
        <p:spPr>
          <a:xfrm xmlns:a="http://schemas.openxmlformats.org/drawingml/2006/main">
            <a:off x="1352550" y="3810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간단한 계획을 먼저 제시하고,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근거 있는 최소 변경을 해줘.</a:t>
            </a:r>
          </a:p>
        </p:txBody>
      </p:sp>
      <p:sp>
        <p:nvSpPr>
          <p:cNvPr id="20" name="">
            <a:extLst xmlns:a="http://schemas.openxmlformats.org/drawingml/2006/main">
              <a:ext uri="{FF2B5EF4-FFF2-40B4-BE49-F238E27FC236}">
                <a16:creationId xmlns:a16="http://schemas.microsoft.com/office/drawing/2014/main" id="{7CEE87AA-9975-4E1B-AFC9-9F4B99905EA7}"/>
              </a:ext>
            </a:extLst>
          </p:cNvPr>
          <p:cNvSpPr>
            <a:spLocks xmlns:a="http://schemas.openxmlformats.org/drawingml/2006/main" noGrp="1"/>
          </p:cNvSpPr>
          <p:nvPr/>
        </p:nvSpPr>
        <p:spPr>
          <a:xfrm xmlns:a="http://schemas.openxmlformats.org/drawingml/2006/main">
            <a:off x="609600" y="4524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03">
            <a:extLst xmlns:a="http://schemas.openxmlformats.org/drawingml/2006/main">
              <a:ext uri="{FF2B5EF4-FFF2-40B4-BE49-F238E27FC236}">
                <a16:creationId xmlns:a16="http://schemas.microsoft.com/office/drawing/2014/main" id="{4692C233-34C7-4EDF-AAF6-DA5F6A114D60}"/>
              </a:ext>
            </a:extLst>
          </p:cNvPr>
          <p:cNvSpPr>
            <a:spLocks xmlns:a="http://schemas.openxmlformats.org/drawingml/2006/main" noGrp="1"/>
          </p:cNvSpPr>
          <p:nvPr/>
        </p:nvSpPr>
        <p:spPr>
          <a:xfrm xmlns:a="http://schemas.openxmlformats.org/drawingml/2006/main">
            <a:off x="742950" y="4657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03</a:t>
            </a:r>
          </a:p>
        </p:txBody>
      </p:sp>
      <p:sp>
        <p:nvSpPr>
          <p:cNvPr id="22" name="관련·전체 테스트를 실행하고,&#10;같은 benchmark로 비교·검토해줘.">
            <a:extLst xmlns:a="http://schemas.openxmlformats.org/drawingml/2006/main">
              <a:ext uri="{FF2B5EF4-FFF2-40B4-BE49-F238E27FC236}">
                <a16:creationId xmlns:a16="http://schemas.microsoft.com/office/drawing/2014/main" id="{68AF898F-1B8B-439A-AAB0-10AD057DAFDF}"/>
              </a:ext>
            </a:extLst>
          </p:cNvPr>
          <p:cNvSpPr>
            <a:spLocks xmlns:a="http://schemas.openxmlformats.org/drawingml/2006/main" noGrp="1"/>
          </p:cNvSpPr>
          <p:nvPr/>
        </p:nvSpPr>
        <p:spPr>
          <a:xfrm xmlns:a="http://schemas.openxmlformats.org/drawingml/2006/main">
            <a:off x="1352550" y="4572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관련·전체 테스트를 실행하고,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같은 benchmark로 비교·검토해줘.</a:t>
            </a:r>
          </a:p>
        </p:txBody>
      </p:sp>
      <p:sp>
        <p:nvSpPr>
          <p:cNvPr id="23" name="보존된 요청 요약의 번역">
            <a:extLst xmlns:a="http://schemas.openxmlformats.org/drawingml/2006/main">
              <a:ext uri="{FF2B5EF4-FFF2-40B4-BE49-F238E27FC236}">
                <a16:creationId xmlns:a16="http://schemas.microsoft.com/office/drawing/2014/main" id="{2B2657D7-A2F3-4FE8-95E7-7B86F7917D29}"/>
              </a:ext>
            </a:extLst>
          </p:cNvPr>
          <p:cNvSpPr>
            <a:spLocks xmlns:a="http://schemas.openxmlformats.org/drawingml/2006/main" noGrp="1"/>
          </p:cNvSpPr>
          <p:nvPr/>
        </p:nvSpPr>
        <p:spPr>
          <a:xfrm xmlns:a="http://schemas.openxmlformats.org/drawingml/2006/main">
            <a:off x="6419850" y="2609850"/>
            <a:ext cx="5162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보존된 요청 요약의 번역</a:t>
            </a:r>
          </a:p>
        </p:txBody>
      </p:sp>
      <p:sp>
        <p:nvSpPr>
          <p:cNvPr id="24" name="">
            <a:extLst xmlns:a="http://schemas.openxmlformats.org/drawingml/2006/main">
              <a:ext uri="{FF2B5EF4-FFF2-40B4-BE49-F238E27FC236}">
                <a16:creationId xmlns:a16="http://schemas.microsoft.com/office/drawing/2014/main" id="{8377B179-7871-48E8-819B-6CDEB651602E}"/>
              </a:ext>
            </a:extLst>
          </p:cNvPr>
          <p:cNvSpPr>
            <a:spLocks xmlns:a="http://schemas.openxmlformats.org/drawingml/2006/main" noGrp="1"/>
          </p:cNvSpPr>
          <p:nvPr/>
        </p:nvSpPr>
        <p:spPr>
          <a:xfrm xmlns:a="http://schemas.openxmlformats.org/drawingml/2006/main">
            <a:off x="6419850" y="3000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5" name="01">
            <a:extLst xmlns:a="http://schemas.openxmlformats.org/drawingml/2006/main">
              <a:ext uri="{FF2B5EF4-FFF2-40B4-BE49-F238E27FC236}">
                <a16:creationId xmlns:a16="http://schemas.microsoft.com/office/drawing/2014/main" id="{D49632F2-059A-4071-BDDA-33056AE0960C}"/>
              </a:ext>
            </a:extLst>
          </p:cNvPr>
          <p:cNvSpPr>
            <a:spLocks xmlns:a="http://schemas.openxmlformats.org/drawingml/2006/main" noGrp="1"/>
          </p:cNvSpPr>
          <p:nvPr/>
        </p:nvSpPr>
        <p:spPr>
          <a:xfrm xmlns:a="http://schemas.openxmlformats.org/drawingml/2006/main">
            <a:off x="6553200" y="3133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01</a:t>
            </a:r>
          </a:p>
        </p:txBody>
      </p:sp>
      <p:sp>
        <p:nvSpPr>
          <p:cNvPr id="26" name="수정 전에 측정하고,&#10;소스·명세·테스트를 확인.">
            <a:extLst xmlns:a="http://schemas.openxmlformats.org/drawingml/2006/main">
              <a:ext uri="{FF2B5EF4-FFF2-40B4-BE49-F238E27FC236}">
                <a16:creationId xmlns:a16="http://schemas.microsoft.com/office/drawing/2014/main" id="{0CDE8430-985B-4CF8-BD95-F308545A8464}"/>
              </a:ext>
            </a:extLst>
          </p:cNvPr>
          <p:cNvSpPr>
            <a:spLocks xmlns:a="http://schemas.openxmlformats.org/drawingml/2006/main" noGrp="1"/>
          </p:cNvSpPr>
          <p:nvPr/>
        </p:nvSpPr>
        <p:spPr>
          <a:xfrm xmlns:a="http://schemas.openxmlformats.org/drawingml/2006/main">
            <a:off x="7162800" y="3048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수정 전에 측정하고,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소스·명세·테스트를 확인.</a:t>
            </a:r>
          </a:p>
        </p:txBody>
      </p:sp>
      <p:sp>
        <p:nvSpPr>
          <p:cNvPr id="27" name="">
            <a:extLst xmlns:a="http://schemas.openxmlformats.org/drawingml/2006/main">
              <a:ext uri="{FF2B5EF4-FFF2-40B4-BE49-F238E27FC236}">
                <a16:creationId xmlns:a16="http://schemas.microsoft.com/office/drawing/2014/main" id="{DB750725-2F2C-4A0E-9315-E55BD2739081}"/>
              </a:ext>
            </a:extLst>
          </p:cNvPr>
          <p:cNvSpPr>
            <a:spLocks xmlns:a="http://schemas.openxmlformats.org/drawingml/2006/main" noGrp="1"/>
          </p:cNvSpPr>
          <p:nvPr/>
        </p:nvSpPr>
        <p:spPr>
          <a:xfrm xmlns:a="http://schemas.openxmlformats.org/drawingml/2006/main">
            <a:off x="6419850" y="3762375"/>
            <a:ext cx="5162550" cy="7239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02">
            <a:extLst xmlns:a="http://schemas.openxmlformats.org/drawingml/2006/main">
              <a:ext uri="{FF2B5EF4-FFF2-40B4-BE49-F238E27FC236}">
                <a16:creationId xmlns:a16="http://schemas.microsoft.com/office/drawing/2014/main" id="{028F838E-0696-4D84-B7D3-835BFA949FA3}"/>
              </a:ext>
            </a:extLst>
          </p:cNvPr>
          <p:cNvSpPr>
            <a:spLocks xmlns:a="http://schemas.openxmlformats.org/drawingml/2006/main" noGrp="1"/>
          </p:cNvSpPr>
          <p:nvPr/>
        </p:nvSpPr>
        <p:spPr>
          <a:xfrm xmlns:a="http://schemas.openxmlformats.org/drawingml/2006/main">
            <a:off x="6553200" y="3895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02</a:t>
            </a:r>
          </a:p>
        </p:txBody>
      </p:sp>
      <p:sp>
        <p:nvSpPr>
          <p:cNvPr id="29" name="계획을 밝힌 뒤&#10;최소한의 변경을 수행.">
            <a:extLst xmlns:a="http://schemas.openxmlformats.org/drawingml/2006/main">
              <a:ext uri="{FF2B5EF4-FFF2-40B4-BE49-F238E27FC236}">
                <a16:creationId xmlns:a16="http://schemas.microsoft.com/office/drawing/2014/main" id="{242035E2-391B-4F24-A1A7-F094245870CF}"/>
              </a:ext>
            </a:extLst>
          </p:cNvPr>
          <p:cNvSpPr>
            <a:spLocks xmlns:a="http://schemas.openxmlformats.org/drawingml/2006/main" noGrp="1"/>
          </p:cNvSpPr>
          <p:nvPr/>
        </p:nvSpPr>
        <p:spPr>
          <a:xfrm xmlns:a="http://schemas.openxmlformats.org/drawingml/2006/main">
            <a:off x="7162800" y="3810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계획을 밝힌 뒤</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최소한의 변경을 수행.</a:t>
            </a:r>
          </a:p>
        </p:txBody>
      </p:sp>
      <p:sp>
        <p:nvSpPr>
          <p:cNvPr id="30" name="">
            <a:extLst xmlns:a="http://schemas.openxmlformats.org/drawingml/2006/main">
              <a:ext uri="{FF2B5EF4-FFF2-40B4-BE49-F238E27FC236}">
                <a16:creationId xmlns:a16="http://schemas.microsoft.com/office/drawing/2014/main" id="{A910D819-6C3E-4A5A-BDD1-3E39DD724920}"/>
              </a:ext>
            </a:extLst>
          </p:cNvPr>
          <p:cNvSpPr>
            <a:spLocks xmlns:a="http://schemas.openxmlformats.org/drawingml/2006/main" noGrp="1"/>
          </p:cNvSpPr>
          <p:nvPr/>
        </p:nvSpPr>
        <p:spPr>
          <a:xfrm xmlns:a="http://schemas.openxmlformats.org/drawingml/2006/main">
            <a:off x="6419850" y="4524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1" name="03">
            <a:extLst xmlns:a="http://schemas.openxmlformats.org/drawingml/2006/main">
              <a:ext uri="{FF2B5EF4-FFF2-40B4-BE49-F238E27FC236}">
                <a16:creationId xmlns:a16="http://schemas.microsoft.com/office/drawing/2014/main" id="{8A71C6AC-FB85-4964-9A21-00B1EFC47FB9}"/>
              </a:ext>
            </a:extLst>
          </p:cNvPr>
          <p:cNvSpPr>
            <a:spLocks xmlns:a="http://schemas.openxmlformats.org/drawingml/2006/main" noGrp="1"/>
          </p:cNvSpPr>
          <p:nvPr/>
        </p:nvSpPr>
        <p:spPr>
          <a:xfrm xmlns:a="http://schemas.openxmlformats.org/drawingml/2006/main">
            <a:off x="6553200" y="4657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03</a:t>
            </a:r>
          </a:p>
        </p:txBody>
      </p:sp>
      <p:sp>
        <p:nvSpPr>
          <p:cNvPr id="32" name="관련·전체 테스트와 동일 측정,&#10;CLI·diff 확인 및 최종 검토.">
            <a:extLst xmlns:a="http://schemas.openxmlformats.org/drawingml/2006/main">
              <a:ext uri="{FF2B5EF4-FFF2-40B4-BE49-F238E27FC236}">
                <a16:creationId xmlns:a16="http://schemas.microsoft.com/office/drawing/2014/main" id="{1B708651-355B-4352-8763-4C4DF9F3E168}"/>
              </a:ext>
            </a:extLst>
          </p:cNvPr>
          <p:cNvSpPr>
            <a:spLocks xmlns:a="http://schemas.openxmlformats.org/drawingml/2006/main" noGrp="1"/>
          </p:cNvSpPr>
          <p:nvPr/>
        </p:nvSpPr>
        <p:spPr>
          <a:xfrm xmlns:a="http://schemas.openxmlformats.org/drawingml/2006/main">
            <a:off x="7162800" y="4572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관련·전체 테스트와 동일 측정,</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CLI·diff 확인 및 최종 검토.</a:t>
            </a:r>
          </a:p>
        </p:txBody>
      </p:sp>
      <p:sp>
        <p:nvSpPr>
          <p:cNvPr id="33" name="목표는 달라도, 확인하고 판단하는 지시가 반복됐다">
            <a:extLst xmlns:a="http://schemas.openxmlformats.org/drawingml/2006/main">
              <a:ext uri="{FF2B5EF4-FFF2-40B4-BE49-F238E27FC236}">
                <a16:creationId xmlns:a16="http://schemas.microsoft.com/office/drawing/2014/main" id="{4C885C77-F335-4C93-B527-913B07F1ADF5}"/>
              </a:ext>
            </a:extLst>
          </p:cNvPr>
          <p:cNvSpPr>
            <a:spLocks xmlns:a="http://schemas.openxmlformats.org/drawingml/2006/main" noGrp="1"/>
          </p:cNvSpPr>
          <p:nvPr/>
        </p:nvSpPr>
        <p:spPr>
          <a:xfrm xmlns:a="http://schemas.openxmlformats.org/drawingml/2006/main">
            <a:off x="609600" y="5391150"/>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목표는 달라도, 확인하고 판단하는 지시가 반복됐다</a:t>
            </a:r>
          </a:p>
        </p:txBody>
      </p:sp>
      <p:sp>
        <p:nvSpPr>
          <p:cNvPr id="34" name="Legacy module connection">
            <a:extLst xmlns:a="http://schemas.openxmlformats.org/drawingml/2006/main">
              <a:ext uri="{FF2B5EF4-FFF2-40B4-BE49-F238E27FC236}">
                <a16:creationId xmlns:a16="http://schemas.microsoft.com/office/drawing/2014/main" id="{8CFE9C1B-FBF8-4A22-B9DE-24CD4AD697E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 · M8</a:t>
            </a:r>
          </a:p>
        </p:txBody>
      </p:sp>
    </p:spTree>
    <p:extLst>
      <p:ext uri="{BB962C8B-B14F-4D97-AF65-F5344CB8AC3E}">
        <p14:creationId xmlns:p14="http://schemas.microsoft.com/office/powerpoint/2010/main" val="1888933468"/>
      </p:ext>
    </p:extLst>
  </p:cSld>
</p:sld>
</file>

<file path=ppt/slides/slide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3" name="ACT 3 · 같은 정보를 작업에 적용하는 방법">
            <a:extLst xmlns:a="http://schemas.openxmlformats.org/drawingml/2006/main">
              <a:ext uri="{FF2B5EF4-FFF2-40B4-BE49-F238E27FC236}">
                <a16:creationId xmlns:a16="http://schemas.microsoft.com/office/drawing/2014/main" id="{6528487E-EBB1-4F37-BFFA-3C8A3B4E514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같은 정보를 작업에 적용하는 방법</a:t>
            </a:r>
          </a:p>
        </p:txBody>
      </p:sp>
      <p:sp>
        <p:nvSpPr>
          <p:cNvPr id="2" name="S58">
            <a:extLst xmlns:a="http://schemas.openxmlformats.org/drawingml/2006/main">
              <a:ext uri="{FF2B5EF4-FFF2-40B4-BE49-F238E27FC236}">
                <a16:creationId xmlns:a16="http://schemas.microsoft.com/office/drawing/2014/main" id="{9C0061B0-3B0A-4A0B-8616-F5A6695F724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S58</a:t>
            </a:r>
          </a:p>
        </p:txBody>
      </p:sp>
      <p:sp>
        <p:nvSpPr>
          <p:cNvPr id="3" name="테스트 명령을 언제 쓰고 무엇을 판단할까?">
            <a:extLst xmlns:a="http://schemas.openxmlformats.org/drawingml/2006/main">
              <a:ext uri="{FF2B5EF4-FFF2-40B4-BE49-F238E27FC236}">
                <a16:creationId xmlns:a16="http://schemas.microsoft.com/office/drawing/2014/main" id="{23642EBC-C679-4FE4-AF0C-C75D5757A44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테스트 명령을 언제 쓰고 무엇을 판단할까?</a:t>
            </a:r>
          </a:p>
        </p:txBody>
      </p:sp>
      <p:sp>
        <p:nvSpPr>
          <p:cNvPr id="4" name="">
            <a:extLst xmlns:a="http://schemas.openxmlformats.org/drawingml/2006/main">
              <a:ext uri="{FF2B5EF4-FFF2-40B4-BE49-F238E27FC236}">
                <a16:creationId xmlns:a16="http://schemas.microsoft.com/office/drawing/2014/main" id="{756DE968-C46E-43BB-BEB8-D13D033E3F0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수행 예시 · TRIAL-006/007의 반복 요청을 바탕으로 구성">
            <a:extLst xmlns:a="http://schemas.openxmlformats.org/drawingml/2006/main">
              <a:ext uri="{FF2B5EF4-FFF2-40B4-BE49-F238E27FC236}">
                <a16:creationId xmlns:a16="http://schemas.microsoft.com/office/drawing/2014/main" id="{140100A9-DA93-4338-984D-371A0014ACF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수행 예시 · TRIAL-006/007의 반복 요청을 바탕으로 구성</a:t>
            </a:r>
          </a:p>
        </p:txBody>
      </p:sp>
      <p:sp>
        <p:nvSpPr>
          <p:cNvPr id="6" name="실제 실행 순서·결과의 재현 아님 · 이 방법도 AGENTS.md에 기록할 수 있음">
            <a:extLst xmlns:a="http://schemas.openxmlformats.org/drawingml/2006/main">
              <a:ext uri="{FF2B5EF4-FFF2-40B4-BE49-F238E27FC236}">
                <a16:creationId xmlns:a16="http://schemas.microsoft.com/office/drawing/2014/main" id="{AAB5C68A-0C7B-4774-882D-6744A3CD59F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실행 순서·결과의 재현 아님 · 이 방법도 AGENTS.md에 기록할 수 있음</a:t>
            </a:r>
          </a:p>
        </p:txBody>
      </p:sp>
      <p:sp>
        <p:nvSpPr>
          <p:cNvPr id="7" name="예시: normalize 성능 조사">
            <a:extLst xmlns:a="http://schemas.openxmlformats.org/drawingml/2006/main">
              <a:ext uri="{FF2B5EF4-FFF2-40B4-BE49-F238E27FC236}">
                <a16:creationId xmlns:a16="http://schemas.microsoft.com/office/drawing/2014/main" id="{A46BAED9-3D89-4686-B1ED-C40244DCE181}"/>
              </a:ext>
            </a:extLst>
          </p:cNvPr>
          <p:cNvSpPr>
            <a:spLocks xmlns:a="http://schemas.openxmlformats.org/drawingml/2006/main" noGrp="1"/>
          </p:cNvSpPr>
          <p:nvPr/>
        </p:nvSpPr>
        <p:spPr>
          <a:xfrm xmlns:a="http://schemas.openxmlformats.org/drawingml/2006/main">
            <a:off x="609600" y="166687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예시: normalize 성능 조사</a:t>
            </a:r>
          </a:p>
        </p:txBody>
      </p:sp>
      <p:sp>
        <p:nvSpPr>
          <p:cNvPr id="8" name="">
            <a:extLst xmlns:a="http://schemas.openxmlformats.org/drawingml/2006/main">
              <a:ext uri="{FF2B5EF4-FFF2-40B4-BE49-F238E27FC236}">
                <a16:creationId xmlns:a16="http://schemas.microsoft.com/office/drawing/2014/main" id="{543849D4-4FAF-4005-A13F-9E3B163C3684}"/>
              </a:ext>
            </a:extLst>
          </p:cNvPr>
          <p:cNvSpPr>
            <a:spLocks xmlns:a="http://schemas.openxmlformats.org/drawingml/2006/main" noGrp="1"/>
          </p:cNvSpPr>
          <p:nvPr/>
        </p:nvSpPr>
        <p:spPr>
          <a:xfrm xmlns:a="http://schemas.openxmlformats.org/drawingml/2006/main">
            <a:off x="609600" y="2238375"/>
            <a:ext cx="10972800" cy="7429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9" name="AGENTS.md">
            <a:extLst xmlns:a="http://schemas.openxmlformats.org/drawingml/2006/main">
              <a:ext uri="{FF2B5EF4-FFF2-40B4-BE49-F238E27FC236}">
                <a16:creationId xmlns:a16="http://schemas.microsoft.com/office/drawing/2014/main" id="{2825877D-3B64-4EA1-867E-70EAA4B8121B}"/>
              </a:ext>
            </a:extLst>
          </p:cNvPr>
          <p:cNvSpPr>
            <a:spLocks xmlns:a="http://schemas.openxmlformats.org/drawingml/2006/main" noGrp="1"/>
          </p:cNvSpPr>
          <p:nvPr/>
        </p:nvSpPr>
        <p:spPr>
          <a:xfrm xmlns:a="http://schemas.openxmlformats.org/drawingml/2006/main">
            <a:off x="800100" y="2333625"/>
            <a:ext cx="2400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Consolas"/>
                <a:ea typeface="Consolas"/>
                <a:cs typeface="Consolas"/>
              </a:defRPr>
            </a:defPPr>
            <a:lvl1pPr algn="l">
              <a:defRPr sz="2025" b="1">
                <a:solidFill>
                  <a:srgbClr val="0B6172"/>
                </a:solidFill>
                <a:latin typeface="Consolas"/>
                <a:ea typeface="Consolas"/>
                <a:cs typeface="Consolas"/>
              </a:defRPr>
            </a:lvl1pPr>
            <a:lvl2pPr algn="l">
              <a:defRPr sz="2025" b="1">
                <a:solidFill>
                  <a:srgbClr val="0B6172"/>
                </a:solidFill>
                <a:latin typeface="Consolas"/>
                <a:ea typeface="Consolas"/>
                <a:cs typeface="Consolas"/>
              </a:defRPr>
            </a:lvl2pPr>
            <a:lvl3pPr algn="l">
              <a:defRPr sz="2025" b="1">
                <a:solidFill>
                  <a:srgbClr val="0B6172"/>
                </a:solidFill>
                <a:latin typeface="Consolas"/>
                <a:ea typeface="Consolas"/>
                <a:cs typeface="Consolas"/>
              </a:defRPr>
            </a:lvl3pPr>
            <a:lvl4pPr algn="l">
              <a:defRPr sz="2025" b="1">
                <a:solidFill>
                  <a:srgbClr val="0B6172"/>
                </a:solidFill>
                <a:latin typeface="Consolas"/>
                <a:ea typeface="Consolas"/>
                <a:cs typeface="Consolas"/>
              </a:defRPr>
            </a:lvl4pPr>
            <a:lvl5pPr algn="l">
              <a:defRPr sz="2025" b="1">
                <a:solidFill>
                  <a:srgbClr val="0B6172"/>
                </a:solidFill>
                <a:latin typeface="Consolas"/>
                <a:ea typeface="Consolas"/>
                <a:cs typeface="Consolas"/>
              </a:defRPr>
            </a:lvl5pPr>
            <a:lvl6pPr algn="l">
              <a:defRPr sz="2025" b="1">
                <a:solidFill>
                  <a:srgbClr val="0B6172"/>
                </a:solidFill>
                <a:latin typeface="Consolas"/>
                <a:ea typeface="Consolas"/>
                <a:cs typeface="Consolas"/>
              </a:defRPr>
            </a:lvl6pPr>
            <a:lvl7pPr algn="l">
              <a:defRPr sz="2025" b="1">
                <a:solidFill>
                  <a:srgbClr val="0B6172"/>
                </a:solidFill>
                <a:latin typeface="Consolas"/>
                <a:ea typeface="Consolas"/>
                <a:cs typeface="Consolas"/>
              </a:defRPr>
            </a:lvl7pPr>
            <a:lvl8pPr algn="l">
              <a:defRPr sz="2025" b="1">
                <a:solidFill>
                  <a:srgbClr val="0B6172"/>
                </a:solidFill>
                <a:latin typeface="Consolas"/>
                <a:ea typeface="Consolas"/>
                <a:cs typeface="Consolas"/>
              </a:defRPr>
            </a:lvl8pPr>
            <a:lvl9pPr algn="l">
              <a:defRPr sz="2025" b="1">
                <a:solidFill>
                  <a:srgbClr val="0B6172"/>
                </a:solidFill>
                <a:latin typeface="Consolas"/>
                <a:ea typeface="Consolas"/>
                <a:cs typeface="Consolas"/>
              </a:defRPr>
            </a:lvl9pPr>
          </a:lstStyle>
          <a:p xmlns:a="http://schemas.openxmlformats.org/drawingml/2006/main">
            <a:pPr algn="l">
              <a:defRPr sz="2025" b="1">
                <a:solidFill>
                  <a:srgbClr val="0B6172"/>
                </a:solidFill>
                <a:latin typeface="Consolas"/>
                <a:ea typeface="Consolas"/>
                <a:cs typeface="Consolas"/>
              </a:defRPr>
            </a:pPr>
            <a:r>
              <a:rPr sz="2025" b="1">
                <a:solidFill>
                  <a:srgbClr val="0B6172"/>
                </a:solidFill>
                <a:latin typeface="Consolas"/>
                <a:ea typeface="Consolas"/>
                <a:cs typeface="Consolas"/>
              </a:rPr>
              <a:t>AGENTS.md</a:t>
            </a:r>
          </a:p>
        </p:txBody>
      </p:sp>
      <p:sp>
        <p:nvSpPr>
          <p:cNvPr id="10" name="프로젝트에서 확인한 정보">
            <a:extLst xmlns:a="http://schemas.openxmlformats.org/drawingml/2006/main">
              <a:ext uri="{FF2B5EF4-FFF2-40B4-BE49-F238E27FC236}">
                <a16:creationId xmlns:a16="http://schemas.microsoft.com/office/drawing/2014/main" id="{D117263C-36DE-48F4-8FE2-5BD8BA37BBC6}"/>
              </a:ext>
            </a:extLst>
          </p:cNvPr>
          <p:cNvSpPr>
            <a:spLocks xmlns:a="http://schemas.openxmlformats.org/drawingml/2006/main" noGrp="1"/>
          </p:cNvSpPr>
          <p:nvPr/>
        </p:nvSpPr>
        <p:spPr>
          <a:xfrm xmlns:a="http://schemas.openxmlformats.org/drawingml/2006/main">
            <a:off x="800100" y="2647950"/>
            <a:ext cx="24003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프로젝트에서 확인한 정보</a:t>
            </a:r>
          </a:p>
        </p:txBody>
      </p:sp>
      <p:sp>
        <p:nvSpPr>
          <p:cNvPr id="11" name="테스트 실행 방법">
            <a:extLst xmlns:a="http://schemas.openxmlformats.org/drawingml/2006/main">
              <a:ext uri="{FF2B5EF4-FFF2-40B4-BE49-F238E27FC236}">
                <a16:creationId xmlns:a16="http://schemas.microsoft.com/office/drawing/2014/main" id="{0C402369-C968-4129-8BAC-2C636DEA8EDF}"/>
              </a:ext>
            </a:extLst>
          </p:cNvPr>
          <p:cNvSpPr>
            <a:spLocks xmlns:a="http://schemas.openxmlformats.org/drawingml/2006/main" noGrp="1"/>
          </p:cNvSpPr>
          <p:nvPr/>
        </p:nvSpPr>
        <p:spPr>
          <a:xfrm xmlns:a="http://schemas.openxmlformats.org/drawingml/2006/main">
            <a:off x="3600450" y="2419350"/>
            <a:ext cx="23431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테스트 실행 방법</a:t>
            </a:r>
          </a:p>
        </p:txBody>
      </p:sp>
      <p:sp>
        <p:nvSpPr>
          <p:cNvPr id="12" name="보존할 동작 명세">
            <a:extLst xmlns:a="http://schemas.openxmlformats.org/drawingml/2006/main">
              <a:ext uri="{FF2B5EF4-FFF2-40B4-BE49-F238E27FC236}">
                <a16:creationId xmlns:a16="http://schemas.microsoft.com/office/drawing/2014/main" id="{429C2D2D-30F1-4D2B-97B5-2BE94007A38A}"/>
              </a:ext>
            </a:extLst>
          </p:cNvPr>
          <p:cNvSpPr>
            <a:spLocks xmlns:a="http://schemas.openxmlformats.org/drawingml/2006/main" noGrp="1"/>
          </p:cNvSpPr>
          <p:nvPr/>
        </p:nvSpPr>
        <p:spPr>
          <a:xfrm xmlns:a="http://schemas.openxmlformats.org/drawingml/2006/main">
            <a:off x="6315075" y="2419350"/>
            <a:ext cx="24193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보존할 동작 명세</a:t>
            </a:r>
          </a:p>
        </p:txBody>
      </p:sp>
      <p:sp>
        <p:nvSpPr>
          <p:cNvPr id="13" name="성능 측정 방법">
            <a:extLst xmlns:a="http://schemas.openxmlformats.org/drawingml/2006/main">
              <a:ext uri="{FF2B5EF4-FFF2-40B4-BE49-F238E27FC236}">
                <a16:creationId xmlns:a16="http://schemas.microsoft.com/office/drawing/2014/main" id="{2E6C95ED-97D6-4656-BA13-1F272B127B25}"/>
              </a:ext>
            </a:extLst>
          </p:cNvPr>
          <p:cNvSpPr>
            <a:spLocks xmlns:a="http://schemas.openxmlformats.org/drawingml/2006/main" noGrp="1"/>
          </p:cNvSpPr>
          <p:nvPr/>
        </p:nvSpPr>
        <p:spPr>
          <a:xfrm xmlns:a="http://schemas.openxmlformats.org/drawingml/2006/main">
            <a:off x="9172575" y="2419350"/>
            <a:ext cx="22193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성능 측정 방법</a:t>
            </a:r>
          </a:p>
        </p:txBody>
      </p:sp>
      <p:sp>
        <p:nvSpPr>
          <p:cNvPr id="14" name="">
            <a:extLst xmlns:a="http://schemas.openxmlformats.org/drawingml/2006/main">
              <a:ext uri="{FF2B5EF4-FFF2-40B4-BE49-F238E27FC236}">
                <a16:creationId xmlns:a16="http://schemas.microsoft.com/office/drawing/2014/main" id="{12B1B021-C2E2-40FA-BB6D-430CC272D56E}"/>
              </a:ext>
            </a:extLst>
          </p:cNvPr>
          <p:cNvSpPr>
            <a:spLocks xmlns:a="http://schemas.openxmlformats.org/drawingml/2006/main" noGrp="1"/>
          </p:cNvSpPr>
          <p:nvPr/>
        </p:nvSpPr>
        <p:spPr>
          <a:xfrm xmlns:a="http://schemas.openxmlformats.org/drawingml/2006/main">
            <a:off x="6096000" y="2981325"/>
            <a:ext cx="0" cy="190500"/>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15" name="">
            <a:extLst xmlns:a="http://schemas.openxmlformats.org/drawingml/2006/main">
              <a:ext uri="{FF2B5EF4-FFF2-40B4-BE49-F238E27FC236}">
                <a16:creationId xmlns:a16="http://schemas.microsoft.com/office/drawing/2014/main" id="{E9BC3F6F-D721-4B8E-A1CA-0841FE8DEFDD}"/>
              </a:ext>
            </a:extLst>
          </p:cNvPr>
          <p:cNvSpPr>
            <a:spLocks xmlns:a="http://schemas.openxmlformats.org/drawingml/2006/main" noGrp="1"/>
          </p:cNvSpPr>
          <p:nvPr/>
        </p:nvSpPr>
        <p:spPr>
          <a:xfrm xmlns:a="http://schemas.openxmlformats.org/drawingml/2006/main">
            <a:off x="2286000" y="3171825"/>
            <a:ext cx="76200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cxnSp>
        <p:nvCxnSpPr>
          <p:cNvPr id="16" name="">
            <a:extLst xmlns:a="http://schemas.openxmlformats.org/drawingml/2006/main">
              <a:ext uri="{FF2B5EF4-FFF2-40B4-BE49-F238E27FC236}">
                <a16:creationId xmlns:a16="http://schemas.microsoft.com/office/drawing/2014/main" id="{79F4D75F-F491-4585-9C98-BC02367A2147}"/>
              </a:ext>
            </a:extLst>
          </p:cNvPr>
          <p:cNvCxnSpPr/>
          <p:nvPr/>
        </p:nvCxnSpPr>
        <p:spPr>
          <a:xfrm xmlns:a="http://schemas.openxmlformats.org/drawingml/2006/main">
            <a:off x="2286000" y="3171825"/>
            <a:ext cx="0" cy="171450"/>
          </a:xfrm>
          <a:prstGeom xmlns:a="http://schemas.openxmlformats.org/drawingml/2006/main" prst="straightConnector1">
            <a:avLst/>
          </a:prstGeom>
          <a:ln xmlns:a="http://schemas.openxmlformats.org/drawingml/2006/main" w="19050">
            <a:solidFill>
              <a:srgbClr val="C7D0DA"/>
            </a:solidFill>
            <a:tailEnd type="triangle" w="sm" len="sm"/>
          </a:ln>
        </p:spPr>
      </p:cxnSp>
      <p:cxnSp>
        <p:nvCxnSpPr>
          <p:cNvPr id="17" name="">
            <a:extLst xmlns:a="http://schemas.openxmlformats.org/drawingml/2006/main">
              <a:ext uri="{FF2B5EF4-FFF2-40B4-BE49-F238E27FC236}">
                <a16:creationId xmlns:a16="http://schemas.microsoft.com/office/drawing/2014/main" id="{0C01A06B-2405-4D05-B317-3B28F04B372E}"/>
              </a:ext>
            </a:extLst>
          </p:cNvPr>
          <p:cNvCxnSpPr/>
          <p:nvPr/>
        </p:nvCxnSpPr>
        <p:spPr>
          <a:xfrm xmlns:a="http://schemas.openxmlformats.org/drawingml/2006/main">
            <a:off x="6096000" y="3171825"/>
            <a:ext cx="0" cy="171450"/>
          </a:xfrm>
          <a:prstGeom xmlns:a="http://schemas.openxmlformats.org/drawingml/2006/main" prst="straightConnector1">
            <a:avLst/>
          </a:prstGeom>
          <a:ln xmlns:a="http://schemas.openxmlformats.org/drawingml/2006/main" w="19050">
            <a:solidFill>
              <a:srgbClr val="C7D0DA"/>
            </a:solidFill>
            <a:tailEnd type="triangle" w="sm" len="sm"/>
          </a:ln>
        </p:spPr>
      </p:cxnSp>
      <p:cxnSp>
        <p:nvCxnSpPr>
          <p:cNvPr id="18" name="">
            <a:extLst xmlns:a="http://schemas.openxmlformats.org/drawingml/2006/main">
              <a:ext uri="{FF2B5EF4-FFF2-40B4-BE49-F238E27FC236}">
                <a16:creationId xmlns:a16="http://schemas.microsoft.com/office/drawing/2014/main" id="{505CA6B8-180C-4B38-9489-C7F22B85BFE6}"/>
              </a:ext>
            </a:extLst>
          </p:cNvPr>
          <p:cNvCxnSpPr/>
          <p:nvPr/>
        </p:nvCxnSpPr>
        <p:spPr>
          <a:xfrm xmlns:a="http://schemas.openxmlformats.org/drawingml/2006/main">
            <a:off x="9906000" y="3171825"/>
            <a:ext cx="0" cy="171450"/>
          </a:xfrm>
          <a:prstGeom xmlns:a="http://schemas.openxmlformats.org/drawingml/2006/main" prst="straightConnector1">
            <a:avLst/>
          </a:prstGeom>
          <a:ln xmlns:a="http://schemas.openxmlformats.org/drawingml/2006/main" w="19050">
            <a:solidFill>
              <a:srgbClr val="C7D0DA"/>
            </a:solidFill>
            <a:tailEnd type="triangle" w="sm" len="sm"/>
          </a:ln>
        </p:spPr>
      </p:cxnSp>
      <p:sp>
        <p:nvSpPr>
          <p:cNvPr id="19" name="01  변경 전">
            <a:extLst xmlns:a="http://schemas.openxmlformats.org/drawingml/2006/main">
              <a:ext uri="{FF2B5EF4-FFF2-40B4-BE49-F238E27FC236}">
                <a16:creationId xmlns:a16="http://schemas.microsoft.com/office/drawing/2014/main" id="{C261FAD7-5DA2-4544-9E22-1220E1A64A87}"/>
              </a:ext>
            </a:extLst>
          </p:cNvPr>
          <p:cNvSpPr>
            <a:spLocks xmlns:a="http://schemas.openxmlformats.org/drawingml/2006/main" noGrp="1"/>
          </p:cNvSpPr>
          <p:nvPr/>
        </p:nvSpPr>
        <p:spPr>
          <a:xfrm xmlns:a="http://schemas.openxmlformats.org/drawingml/2006/main">
            <a:off x="609600" y="34099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01  변경 전</a:t>
            </a:r>
          </a:p>
        </p:txBody>
      </p:sp>
      <p:sp>
        <p:nvSpPr>
          <p:cNvPr id="20" name="">
            <a:extLst xmlns:a="http://schemas.openxmlformats.org/drawingml/2006/main">
              <a:ext uri="{FF2B5EF4-FFF2-40B4-BE49-F238E27FC236}">
                <a16:creationId xmlns:a16="http://schemas.microsoft.com/office/drawing/2014/main" id="{84AB433A-90C5-4917-8DF0-A5200352B399}"/>
              </a:ext>
            </a:extLst>
          </p:cNvPr>
          <p:cNvSpPr>
            <a:spLocks xmlns:a="http://schemas.openxmlformats.org/drawingml/2006/main" noGrp="1"/>
          </p:cNvSpPr>
          <p:nvPr/>
        </p:nvSpPr>
        <p:spPr>
          <a:xfrm xmlns:a="http://schemas.openxmlformats.org/drawingml/2006/main">
            <a:off x="609600" y="3905250"/>
            <a:ext cx="33528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
            <a:extLst xmlns:a="http://schemas.openxmlformats.org/drawingml/2006/main">
              <a:ext uri="{FF2B5EF4-FFF2-40B4-BE49-F238E27FC236}">
                <a16:creationId xmlns:a16="http://schemas.microsoft.com/office/drawing/2014/main" id="{1889C3F8-037E-45ED-ACFE-4B393C709C95}"/>
              </a:ext>
            </a:extLst>
          </p:cNvPr>
          <p:cNvSpPr>
            <a:spLocks xmlns:a="http://schemas.openxmlformats.org/drawingml/2006/main" noGrp="1"/>
          </p:cNvSpPr>
          <p:nvPr/>
        </p:nvSpPr>
        <p:spPr>
          <a:xfrm xmlns:a="http://schemas.openxmlformats.org/drawingml/2006/main">
            <a:off x="723900" y="3981450"/>
            <a:ext cx="295275" cy="295275"/>
          </a:xfrm>
          <a:prstGeom xmlns:a="http://schemas.openxmlformats.org/drawingml/2006/main" prst="rect">
            <a:avLst/>
          </a:prstGeom>
          <a:solidFill xmlns:a="http://schemas.openxmlformats.org/drawingml/2006/main">
            <a:srgbClr val="0B6172"/>
          </a:solidFill>
          <a:ln xmlns:a="http://schemas.openxmlformats.org/drawingml/2006/main" w="0">
            <a:noFill/>
            <a:prstDash val="solid"/>
          </a:ln>
        </p:spPr>
      </p:sp>
      <p:sp>
        <p:nvSpPr>
          <p:cNvPr id="22" name="T">
            <a:extLst xmlns:a="http://schemas.openxmlformats.org/drawingml/2006/main">
              <a:ext uri="{FF2B5EF4-FFF2-40B4-BE49-F238E27FC236}">
                <a16:creationId xmlns:a16="http://schemas.microsoft.com/office/drawing/2014/main" id="{899990D7-D3F1-45C5-851A-D8558EE2F5A1}"/>
              </a:ext>
            </a:extLst>
          </p:cNvPr>
          <p:cNvSpPr>
            <a:spLocks xmlns:a="http://schemas.openxmlformats.org/drawingml/2006/main" noGrp="1"/>
          </p:cNvSpPr>
          <p:nvPr/>
        </p:nvSpPr>
        <p:spPr>
          <a:xfrm xmlns:a="http://schemas.openxmlformats.org/drawingml/2006/main">
            <a:off x="723900" y="3981450"/>
            <a:ext cx="2952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Consolas"/>
                <a:ea typeface="Consolas"/>
                <a:cs typeface="Consolas"/>
              </a:defRPr>
            </a:defPPr>
            <a:lvl1pPr algn="ctr">
              <a:defRPr sz="1650" b="1">
                <a:solidFill>
                  <a:srgbClr val="FFFFFF"/>
                </a:solidFill>
                <a:latin typeface="Consolas"/>
                <a:ea typeface="Consolas"/>
                <a:cs typeface="Consolas"/>
              </a:defRPr>
            </a:lvl1pPr>
            <a:lvl2pPr algn="ctr">
              <a:defRPr sz="1650" b="1">
                <a:solidFill>
                  <a:srgbClr val="FFFFFF"/>
                </a:solidFill>
                <a:latin typeface="Consolas"/>
                <a:ea typeface="Consolas"/>
                <a:cs typeface="Consolas"/>
              </a:defRPr>
            </a:lvl2pPr>
            <a:lvl3pPr algn="ctr">
              <a:defRPr sz="1650" b="1">
                <a:solidFill>
                  <a:srgbClr val="FFFFFF"/>
                </a:solidFill>
                <a:latin typeface="Consolas"/>
                <a:ea typeface="Consolas"/>
                <a:cs typeface="Consolas"/>
              </a:defRPr>
            </a:lvl3pPr>
            <a:lvl4pPr algn="ctr">
              <a:defRPr sz="1650" b="1">
                <a:solidFill>
                  <a:srgbClr val="FFFFFF"/>
                </a:solidFill>
                <a:latin typeface="Consolas"/>
                <a:ea typeface="Consolas"/>
                <a:cs typeface="Consolas"/>
              </a:defRPr>
            </a:lvl4pPr>
            <a:lvl5pPr algn="ctr">
              <a:defRPr sz="1650" b="1">
                <a:solidFill>
                  <a:srgbClr val="FFFFFF"/>
                </a:solidFill>
                <a:latin typeface="Consolas"/>
                <a:ea typeface="Consolas"/>
                <a:cs typeface="Consolas"/>
              </a:defRPr>
            </a:lvl5pPr>
            <a:lvl6pPr algn="ctr">
              <a:defRPr sz="1650" b="1">
                <a:solidFill>
                  <a:srgbClr val="FFFFFF"/>
                </a:solidFill>
                <a:latin typeface="Consolas"/>
                <a:ea typeface="Consolas"/>
                <a:cs typeface="Consolas"/>
              </a:defRPr>
            </a:lvl6pPr>
            <a:lvl7pPr algn="ctr">
              <a:defRPr sz="1650" b="1">
                <a:solidFill>
                  <a:srgbClr val="FFFFFF"/>
                </a:solidFill>
                <a:latin typeface="Consolas"/>
                <a:ea typeface="Consolas"/>
                <a:cs typeface="Consolas"/>
              </a:defRPr>
            </a:lvl7pPr>
            <a:lvl8pPr algn="ctr">
              <a:defRPr sz="1650" b="1">
                <a:solidFill>
                  <a:srgbClr val="FFFFFF"/>
                </a:solidFill>
                <a:latin typeface="Consolas"/>
                <a:ea typeface="Consolas"/>
                <a:cs typeface="Consolas"/>
              </a:defRPr>
            </a:lvl8pPr>
            <a:lvl9pPr algn="ctr">
              <a:defRPr sz="1650" b="1">
                <a:solidFill>
                  <a:srgbClr val="FFFFFF"/>
                </a:solidFill>
                <a:latin typeface="Consolas"/>
                <a:ea typeface="Consolas"/>
                <a:cs typeface="Consolas"/>
              </a:defRPr>
            </a:lvl9pPr>
          </a:lstStyle>
          <a:p xmlns:a="http://schemas.openxmlformats.org/drawingml/2006/main">
            <a:pPr algn="ctr">
              <a:defRPr sz="1650" b="1">
                <a:solidFill>
                  <a:srgbClr val="FFFFFF"/>
                </a:solidFill>
                <a:latin typeface="Consolas"/>
                <a:ea typeface="Consolas"/>
                <a:cs typeface="Consolas"/>
              </a:defRPr>
            </a:pPr>
            <a:r>
              <a:rPr sz="1650" b="1">
                <a:solidFill>
                  <a:srgbClr val="FFFFFF"/>
                </a:solidFill>
                <a:latin typeface="Consolas"/>
                <a:ea typeface="Consolas"/>
                <a:cs typeface="Consolas"/>
              </a:rPr>
              <a:t>T</a:t>
            </a:r>
          </a:p>
        </p:txBody>
      </p:sp>
      <p:sp>
        <p:nvSpPr>
          <p:cNvPr id="23" name="테스트 실행">
            <a:extLst xmlns:a="http://schemas.openxmlformats.org/drawingml/2006/main">
              <a:ext uri="{FF2B5EF4-FFF2-40B4-BE49-F238E27FC236}">
                <a16:creationId xmlns:a16="http://schemas.microsoft.com/office/drawing/2014/main" id="{2821951D-F025-42BB-A36E-40914C3B19F6}"/>
              </a:ext>
            </a:extLst>
          </p:cNvPr>
          <p:cNvSpPr>
            <a:spLocks xmlns:a="http://schemas.openxmlformats.org/drawingml/2006/main" noGrp="1"/>
          </p:cNvSpPr>
          <p:nvPr/>
        </p:nvSpPr>
        <p:spPr>
          <a:xfrm xmlns:a="http://schemas.openxmlformats.org/drawingml/2006/main">
            <a:off x="1171575" y="3952875"/>
            <a:ext cx="26003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테스트 실행</a:t>
            </a:r>
          </a:p>
        </p:txBody>
      </p:sp>
      <p:sp>
        <p:nvSpPr>
          <p:cNvPr id="24" name="현재 테스트·성능 확인">
            <a:extLst xmlns:a="http://schemas.openxmlformats.org/drawingml/2006/main">
              <a:ext uri="{FF2B5EF4-FFF2-40B4-BE49-F238E27FC236}">
                <a16:creationId xmlns:a16="http://schemas.microsoft.com/office/drawing/2014/main" id="{46B77FD2-BFF6-42EC-A55C-6600C1556C4F}"/>
              </a:ext>
            </a:extLst>
          </p:cNvPr>
          <p:cNvSpPr>
            <a:spLocks xmlns:a="http://schemas.openxmlformats.org/drawingml/2006/main" noGrp="1"/>
          </p:cNvSpPr>
          <p:nvPr/>
        </p:nvSpPr>
        <p:spPr>
          <a:xfrm xmlns:a="http://schemas.openxmlformats.org/drawingml/2006/main">
            <a:off x="609600" y="4467225"/>
            <a:ext cx="335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현재 테스트·성능 확인</a:t>
            </a:r>
          </a:p>
        </p:txBody>
      </p:sp>
      <p:sp>
        <p:nvSpPr>
          <p:cNvPr id="25" name="원래 상태는 어땠지?">
            <a:extLst xmlns:a="http://schemas.openxmlformats.org/drawingml/2006/main">
              <a:ext uri="{FF2B5EF4-FFF2-40B4-BE49-F238E27FC236}">
                <a16:creationId xmlns:a16="http://schemas.microsoft.com/office/drawing/2014/main" id="{6AB43610-6A29-4F6B-A527-51AFF9ECCBE9}"/>
              </a:ext>
            </a:extLst>
          </p:cNvPr>
          <p:cNvSpPr>
            <a:spLocks xmlns:a="http://schemas.openxmlformats.org/drawingml/2006/main" noGrp="1"/>
          </p:cNvSpPr>
          <p:nvPr/>
        </p:nvSpPr>
        <p:spPr>
          <a:xfrm xmlns:a="http://schemas.openxmlformats.org/drawingml/2006/main">
            <a:off x="609600" y="4857750"/>
            <a:ext cx="335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원래 상태는 어땠지?</a:t>
            </a:r>
          </a:p>
        </p:txBody>
      </p:sp>
      <p:sp>
        <p:nvSpPr>
          <p:cNvPr id="26" name="">
            <a:extLst xmlns:a="http://schemas.openxmlformats.org/drawingml/2006/main">
              <a:ext uri="{FF2B5EF4-FFF2-40B4-BE49-F238E27FC236}">
                <a16:creationId xmlns:a16="http://schemas.microsoft.com/office/drawing/2014/main" id="{C0B95912-42C4-4388-9472-CEE75CF5ECE2}"/>
              </a:ext>
            </a:extLst>
          </p:cNvPr>
          <p:cNvSpPr>
            <a:spLocks xmlns:a="http://schemas.openxmlformats.org/drawingml/2006/main" noGrp="1"/>
          </p:cNvSpPr>
          <p:nvPr/>
        </p:nvSpPr>
        <p:spPr>
          <a:xfrm xmlns:a="http://schemas.openxmlformats.org/drawingml/2006/main">
            <a:off x="4057650" y="4057650"/>
            <a:ext cx="26670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02  변경 후">
            <a:extLst xmlns:a="http://schemas.openxmlformats.org/drawingml/2006/main">
              <a:ext uri="{FF2B5EF4-FFF2-40B4-BE49-F238E27FC236}">
                <a16:creationId xmlns:a16="http://schemas.microsoft.com/office/drawing/2014/main" id="{1B0397F8-650C-42DE-90C4-0D7A1212F987}"/>
              </a:ext>
            </a:extLst>
          </p:cNvPr>
          <p:cNvSpPr>
            <a:spLocks xmlns:a="http://schemas.openxmlformats.org/drawingml/2006/main" noGrp="1"/>
          </p:cNvSpPr>
          <p:nvPr/>
        </p:nvSpPr>
        <p:spPr>
          <a:xfrm xmlns:a="http://schemas.openxmlformats.org/drawingml/2006/main">
            <a:off x="4419600" y="34099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02  변경 후</a:t>
            </a:r>
          </a:p>
        </p:txBody>
      </p:sp>
      <p:sp>
        <p:nvSpPr>
          <p:cNvPr id="28" name="">
            <a:extLst xmlns:a="http://schemas.openxmlformats.org/drawingml/2006/main">
              <a:ext uri="{FF2B5EF4-FFF2-40B4-BE49-F238E27FC236}">
                <a16:creationId xmlns:a16="http://schemas.microsoft.com/office/drawing/2014/main" id="{9F99196C-F8EB-43F2-8F59-B7DEF2BC996C}"/>
              </a:ext>
            </a:extLst>
          </p:cNvPr>
          <p:cNvSpPr>
            <a:spLocks xmlns:a="http://schemas.openxmlformats.org/drawingml/2006/main" noGrp="1"/>
          </p:cNvSpPr>
          <p:nvPr/>
        </p:nvSpPr>
        <p:spPr>
          <a:xfrm xmlns:a="http://schemas.openxmlformats.org/drawingml/2006/main">
            <a:off x="4419600" y="3905250"/>
            <a:ext cx="33528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9" name="">
            <a:extLst xmlns:a="http://schemas.openxmlformats.org/drawingml/2006/main">
              <a:ext uri="{FF2B5EF4-FFF2-40B4-BE49-F238E27FC236}">
                <a16:creationId xmlns:a16="http://schemas.microsoft.com/office/drawing/2014/main" id="{5C5459AE-0764-43EF-A628-903F69A2C87A}"/>
              </a:ext>
            </a:extLst>
          </p:cNvPr>
          <p:cNvSpPr>
            <a:spLocks xmlns:a="http://schemas.openxmlformats.org/drawingml/2006/main" noGrp="1"/>
          </p:cNvSpPr>
          <p:nvPr/>
        </p:nvSpPr>
        <p:spPr>
          <a:xfrm xmlns:a="http://schemas.openxmlformats.org/drawingml/2006/main">
            <a:off x="4533900" y="3981450"/>
            <a:ext cx="295275" cy="295275"/>
          </a:xfrm>
          <a:prstGeom xmlns:a="http://schemas.openxmlformats.org/drawingml/2006/main" prst="rect">
            <a:avLst/>
          </a:prstGeom>
          <a:solidFill xmlns:a="http://schemas.openxmlformats.org/drawingml/2006/main">
            <a:srgbClr val="0B6172"/>
          </a:solidFill>
          <a:ln xmlns:a="http://schemas.openxmlformats.org/drawingml/2006/main" w="0">
            <a:noFill/>
            <a:prstDash val="solid"/>
          </a:ln>
        </p:spPr>
      </p:sp>
      <p:sp>
        <p:nvSpPr>
          <p:cNvPr id="30" name="T">
            <a:extLst xmlns:a="http://schemas.openxmlformats.org/drawingml/2006/main">
              <a:ext uri="{FF2B5EF4-FFF2-40B4-BE49-F238E27FC236}">
                <a16:creationId xmlns:a16="http://schemas.microsoft.com/office/drawing/2014/main" id="{68EA139E-6EE7-4038-AD5E-DF9CA9A23289}"/>
              </a:ext>
            </a:extLst>
          </p:cNvPr>
          <p:cNvSpPr>
            <a:spLocks xmlns:a="http://schemas.openxmlformats.org/drawingml/2006/main" noGrp="1"/>
          </p:cNvSpPr>
          <p:nvPr/>
        </p:nvSpPr>
        <p:spPr>
          <a:xfrm xmlns:a="http://schemas.openxmlformats.org/drawingml/2006/main">
            <a:off x="4533900" y="3981450"/>
            <a:ext cx="2952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Consolas"/>
                <a:ea typeface="Consolas"/>
                <a:cs typeface="Consolas"/>
              </a:defRPr>
            </a:defPPr>
            <a:lvl1pPr algn="ctr">
              <a:defRPr sz="1650" b="1">
                <a:solidFill>
                  <a:srgbClr val="FFFFFF"/>
                </a:solidFill>
                <a:latin typeface="Consolas"/>
                <a:ea typeface="Consolas"/>
                <a:cs typeface="Consolas"/>
              </a:defRPr>
            </a:lvl1pPr>
            <a:lvl2pPr algn="ctr">
              <a:defRPr sz="1650" b="1">
                <a:solidFill>
                  <a:srgbClr val="FFFFFF"/>
                </a:solidFill>
                <a:latin typeface="Consolas"/>
                <a:ea typeface="Consolas"/>
                <a:cs typeface="Consolas"/>
              </a:defRPr>
            </a:lvl2pPr>
            <a:lvl3pPr algn="ctr">
              <a:defRPr sz="1650" b="1">
                <a:solidFill>
                  <a:srgbClr val="FFFFFF"/>
                </a:solidFill>
                <a:latin typeface="Consolas"/>
                <a:ea typeface="Consolas"/>
                <a:cs typeface="Consolas"/>
              </a:defRPr>
            </a:lvl3pPr>
            <a:lvl4pPr algn="ctr">
              <a:defRPr sz="1650" b="1">
                <a:solidFill>
                  <a:srgbClr val="FFFFFF"/>
                </a:solidFill>
                <a:latin typeface="Consolas"/>
                <a:ea typeface="Consolas"/>
                <a:cs typeface="Consolas"/>
              </a:defRPr>
            </a:lvl4pPr>
            <a:lvl5pPr algn="ctr">
              <a:defRPr sz="1650" b="1">
                <a:solidFill>
                  <a:srgbClr val="FFFFFF"/>
                </a:solidFill>
                <a:latin typeface="Consolas"/>
                <a:ea typeface="Consolas"/>
                <a:cs typeface="Consolas"/>
              </a:defRPr>
            </a:lvl5pPr>
            <a:lvl6pPr algn="ctr">
              <a:defRPr sz="1650" b="1">
                <a:solidFill>
                  <a:srgbClr val="FFFFFF"/>
                </a:solidFill>
                <a:latin typeface="Consolas"/>
                <a:ea typeface="Consolas"/>
                <a:cs typeface="Consolas"/>
              </a:defRPr>
            </a:lvl6pPr>
            <a:lvl7pPr algn="ctr">
              <a:defRPr sz="1650" b="1">
                <a:solidFill>
                  <a:srgbClr val="FFFFFF"/>
                </a:solidFill>
                <a:latin typeface="Consolas"/>
                <a:ea typeface="Consolas"/>
                <a:cs typeface="Consolas"/>
              </a:defRPr>
            </a:lvl7pPr>
            <a:lvl8pPr algn="ctr">
              <a:defRPr sz="1650" b="1">
                <a:solidFill>
                  <a:srgbClr val="FFFFFF"/>
                </a:solidFill>
                <a:latin typeface="Consolas"/>
                <a:ea typeface="Consolas"/>
                <a:cs typeface="Consolas"/>
              </a:defRPr>
            </a:lvl8pPr>
            <a:lvl9pPr algn="ctr">
              <a:defRPr sz="1650" b="1">
                <a:solidFill>
                  <a:srgbClr val="FFFFFF"/>
                </a:solidFill>
                <a:latin typeface="Consolas"/>
                <a:ea typeface="Consolas"/>
                <a:cs typeface="Consolas"/>
              </a:defRPr>
            </a:lvl9pPr>
          </a:lstStyle>
          <a:p xmlns:a="http://schemas.openxmlformats.org/drawingml/2006/main">
            <a:pPr algn="ctr">
              <a:defRPr sz="1650" b="1">
                <a:solidFill>
                  <a:srgbClr val="FFFFFF"/>
                </a:solidFill>
                <a:latin typeface="Consolas"/>
                <a:ea typeface="Consolas"/>
                <a:cs typeface="Consolas"/>
              </a:defRPr>
            </a:pPr>
            <a:r>
              <a:rPr sz="1650" b="1">
                <a:solidFill>
                  <a:srgbClr val="FFFFFF"/>
                </a:solidFill>
                <a:latin typeface="Consolas"/>
                <a:ea typeface="Consolas"/>
                <a:cs typeface="Consolas"/>
              </a:rPr>
              <a:t>T</a:t>
            </a:r>
          </a:p>
        </p:txBody>
      </p:sp>
      <p:sp>
        <p:nvSpPr>
          <p:cNvPr id="31" name="테스트 실행">
            <a:extLst xmlns:a="http://schemas.openxmlformats.org/drawingml/2006/main">
              <a:ext uri="{FF2B5EF4-FFF2-40B4-BE49-F238E27FC236}">
                <a16:creationId xmlns:a16="http://schemas.microsoft.com/office/drawing/2014/main" id="{D05EAC50-447D-48C9-9757-8BCA50F0182C}"/>
              </a:ext>
            </a:extLst>
          </p:cNvPr>
          <p:cNvSpPr>
            <a:spLocks xmlns:a="http://schemas.openxmlformats.org/drawingml/2006/main" noGrp="1"/>
          </p:cNvSpPr>
          <p:nvPr/>
        </p:nvSpPr>
        <p:spPr>
          <a:xfrm xmlns:a="http://schemas.openxmlformats.org/drawingml/2006/main">
            <a:off x="4981575" y="3952875"/>
            <a:ext cx="26003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테스트 실행</a:t>
            </a:r>
          </a:p>
        </p:txBody>
      </p:sp>
      <p:sp>
        <p:nvSpPr>
          <p:cNvPr id="32" name="같은 조건으로 다시 측정">
            <a:extLst xmlns:a="http://schemas.openxmlformats.org/drawingml/2006/main">
              <a:ext uri="{FF2B5EF4-FFF2-40B4-BE49-F238E27FC236}">
                <a16:creationId xmlns:a16="http://schemas.microsoft.com/office/drawing/2014/main" id="{2A6A9E83-981F-4A59-BB48-5BB31D7190A3}"/>
              </a:ext>
            </a:extLst>
          </p:cNvPr>
          <p:cNvSpPr>
            <a:spLocks xmlns:a="http://schemas.openxmlformats.org/drawingml/2006/main" noGrp="1"/>
          </p:cNvSpPr>
          <p:nvPr/>
        </p:nvSpPr>
        <p:spPr>
          <a:xfrm xmlns:a="http://schemas.openxmlformats.org/drawingml/2006/main">
            <a:off x="4419600" y="4467225"/>
            <a:ext cx="335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같은 조건으로 다시 측정</a:t>
            </a:r>
          </a:p>
        </p:txBody>
      </p:sp>
      <p:sp>
        <p:nvSpPr>
          <p:cNvPr id="33" name="무엇이 달라졌지?">
            <a:extLst xmlns:a="http://schemas.openxmlformats.org/drawingml/2006/main">
              <a:ext uri="{FF2B5EF4-FFF2-40B4-BE49-F238E27FC236}">
                <a16:creationId xmlns:a16="http://schemas.microsoft.com/office/drawing/2014/main" id="{BD5F38E2-2113-4928-BA39-8449CC8C127F}"/>
              </a:ext>
            </a:extLst>
          </p:cNvPr>
          <p:cNvSpPr>
            <a:spLocks xmlns:a="http://schemas.openxmlformats.org/drawingml/2006/main" noGrp="1"/>
          </p:cNvSpPr>
          <p:nvPr/>
        </p:nvSpPr>
        <p:spPr>
          <a:xfrm xmlns:a="http://schemas.openxmlformats.org/drawingml/2006/main">
            <a:off x="4419600" y="4857750"/>
            <a:ext cx="335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무엇이 달라졌지?</a:t>
            </a:r>
          </a:p>
        </p:txBody>
      </p:sp>
      <p:sp>
        <p:nvSpPr>
          <p:cNvPr id="34" name="">
            <a:extLst xmlns:a="http://schemas.openxmlformats.org/drawingml/2006/main">
              <a:ext uri="{FF2B5EF4-FFF2-40B4-BE49-F238E27FC236}">
                <a16:creationId xmlns:a16="http://schemas.microsoft.com/office/drawing/2014/main" id="{7C7BF617-BEF4-4B0F-912A-7CA59DAD927A}"/>
              </a:ext>
            </a:extLst>
          </p:cNvPr>
          <p:cNvSpPr>
            <a:spLocks xmlns:a="http://schemas.openxmlformats.org/drawingml/2006/main" noGrp="1"/>
          </p:cNvSpPr>
          <p:nvPr/>
        </p:nvSpPr>
        <p:spPr>
          <a:xfrm xmlns:a="http://schemas.openxmlformats.org/drawingml/2006/main">
            <a:off x="7867650" y="4057650"/>
            <a:ext cx="26670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5" name="03  완료 판단">
            <a:extLst xmlns:a="http://schemas.openxmlformats.org/drawingml/2006/main">
              <a:ext uri="{FF2B5EF4-FFF2-40B4-BE49-F238E27FC236}">
                <a16:creationId xmlns:a16="http://schemas.microsoft.com/office/drawing/2014/main" id="{F46A8606-CED6-4D3E-97CD-B895D968F85A}"/>
              </a:ext>
            </a:extLst>
          </p:cNvPr>
          <p:cNvSpPr>
            <a:spLocks xmlns:a="http://schemas.openxmlformats.org/drawingml/2006/main" noGrp="1"/>
          </p:cNvSpPr>
          <p:nvPr/>
        </p:nvSpPr>
        <p:spPr>
          <a:xfrm xmlns:a="http://schemas.openxmlformats.org/drawingml/2006/main">
            <a:off x="8229600" y="34099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03  완료 판단</a:t>
            </a:r>
          </a:p>
        </p:txBody>
      </p:sp>
      <p:sp>
        <p:nvSpPr>
          <p:cNvPr id="36" name="결과와 미확인 사항 보고">
            <a:extLst xmlns:a="http://schemas.openxmlformats.org/drawingml/2006/main">
              <a:ext uri="{FF2B5EF4-FFF2-40B4-BE49-F238E27FC236}">
                <a16:creationId xmlns:a16="http://schemas.microsoft.com/office/drawing/2014/main" id="{06B9EF9B-92B0-44E2-B120-B4E2EFDC137C}"/>
              </a:ext>
            </a:extLst>
          </p:cNvPr>
          <p:cNvSpPr>
            <a:spLocks xmlns:a="http://schemas.openxmlformats.org/drawingml/2006/main" noGrp="1"/>
          </p:cNvSpPr>
          <p:nvPr/>
        </p:nvSpPr>
        <p:spPr>
          <a:xfrm xmlns:a="http://schemas.openxmlformats.org/drawingml/2006/main">
            <a:off x="8229600" y="3952875"/>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결과와 미확인 사항 보고</a:t>
            </a:r>
          </a:p>
        </p:txBody>
      </p:sp>
      <p:sp>
        <p:nvSpPr>
          <p:cNvPr id="37" name="동작 보존 + 측정 결과">
            <a:extLst xmlns:a="http://schemas.openxmlformats.org/drawingml/2006/main">
              <a:ext uri="{FF2B5EF4-FFF2-40B4-BE49-F238E27FC236}">
                <a16:creationId xmlns:a16="http://schemas.microsoft.com/office/drawing/2014/main" id="{CFEF52B0-3812-443A-8F2C-293C426E00D6}"/>
              </a:ext>
            </a:extLst>
          </p:cNvPr>
          <p:cNvSpPr>
            <a:spLocks xmlns:a="http://schemas.openxmlformats.org/drawingml/2006/main" noGrp="1"/>
          </p:cNvSpPr>
          <p:nvPr/>
        </p:nvSpPr>
        <p:spPr>
          <a:xfrm xmlns:a="http://schemas.openxmlformats.org/drawingml/2006/main">
            <a:off x="8229600" y="4467225"/>
            <a:ext cx="335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동작 보존 + 측정 결과</a:t>
            </a:r>
          </a:p>
        </p:txBody>
      </p:sp>
      <p:sp>
        <p:nvSpPr>
          <p:cNvPr id="38" name="완료라고 말할 근거는?">
            <a:extLst xmlns:a="http://schemas.openxmlformats.org/drawingml/2006/main">
              <a:ext uri="{FF2B5EF4-FFF2-40B4-BE49-F238E27FC236}">
                <a16:creationId xmlns:a16="http://schemas.microsoft.com/office/drawing/2014/main" id="{8ED9CEB8-F43F-431A-8D1D-7FB6ACCB529C}"/>
              </a:ext>
            </a:extLst>
          </p:cNvPr>
          <p:cNvSpPr>
            <a:spLocks xmlns:a="http://schemas.openxmlformats.org/drawingml/2006/main" noGrp="1"/>
          </p:cNvSpPr>
          <p:nvPr/>
        </p:nvSpPr>
        <p:spPr>
          <a:xfrm xmlns:a="http://schemas.openxmlformats.org/drawingml/2006/main">
            <a:off x="8229600" y="4857750"/>
            <a:ext cx="335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완료라고 말할 근거는?</a:t>
            </a:r>
          </a:p>
        </p:txBody>
      </p:sp>
      <p:sp>
        <p:nvSpPr>
          <p:cNvPr id="39" name="명령과 함께, 실행할 시점과 결과의 판단 기준도 정한다">
            <a:extLst xmlns:a="http://schemas.openxmlformats.org/drawingml/2006/main">
              <a:ext uri="{FF2B5EF4-FFF2-40B4-BE49-F238E27FC236}">
                <a16:creationId xmlns:a16="http://schemas.microsoft.com/office/drawing/2014/main" id="{746BA969-E1AE-4706-B35E-7267EDBB1B38}"/>
              </a:ext>
            </a:extLst>
          </p:cNvPr>
          <p:cNvSpPr>
            <a:spLocks xmlns:a="http://schemas.openxmlformats.org/drawingml/2006/main" noGrp="1"/>
          </p:cNvSpPr>
          <p:nvPr/>
        </p:nvSpPr>
        <p:spPr>
          <a:xfrm xmlns:a="http://schemas.openxmlformats.org/drawingml/2006/main">
            <a:off x="609600" y="5372100"/>
            <a:ext cx="1097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명령과 함께, 실행할 시점과 결과의 판단 기준도 정한다</a:t>
            </a:r>
          </a:p>
        </p:txBody>
      </p:sp>
      <p:sp>
        <p:nvSpPr>
          <p:cNvPr id="40" name="">
            <a:extLst xmlns:a="http://schemas.openxmlformats.org/drawingml/2006/main">
              <a:ext uri="{FF2B5EF4-FFF2-40B4-BE49-F238E27FC236}">
                <a16:creationId xmlns:a16="http://schemas.microsoft.com/office/drawing/2014/main" id="{22DBDDBB-D71C-4F83-876A-6E2D25C500E1}"/>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41" name="Practical application tip badge">
            <a:extLst xmlns:a="http://schemas.openxmlformats.org/drawingml/2006/main">
              <a:ext uri="{FF2B5EF4-FFF2-40B4-BE49-F238E27FC236}">
                <a16:creationId xmlns:a16="http://schemas.microsoft.com/office/drawing/2014/main" id="{96111CF8-0ECC-4D2B-8CAD-3E514A7E84CB}"/>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수행 방법</a:t>
            </a:r>
          </a:p>
        </p:txBody>
      </p:sp>
      <p:sp>
        <p:nvSpPr>
          <p:cNvPr id="42" name="Legacy module connection">
            <a:extLst xmlns:a="http://schemas.openxmlformats.org/drawingml/2006/main">
              <a:ext uri="{FF2B5EF4-FFF2-40B4-BE49-F238E27FC236}">
                <a16:creationId xmlns:a16="http://schemas.microsoft.com/office/drawing/2014/main" id="{C7B96276-C9E3-4815-8107-2B538FD2371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2092687625"/>
      </p:ext>
    </p:extLst>
  </p:cSld>
</p:sld>
</file>

<file path=ppt/slides/slide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이번 요청과 계속 쓸 기준·방법">
            <a:extLst xmlns:a="http://schemas.openxmlformats.org/drawingml/2006/main">
              <a:ext uri="{FF2B5EF4-FFF2-40B4-BE49-F238E27FC236}">
                <a16:creationId xmlns:a16="http://schemas.microsoft.com/office/drawing/2014/main" id="{CA5AADED-132D-4D5D-A5B3-18CF52E46FF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이번 요청과 계속 쓸 기준·방법</a:t>
            </a:r>
          </a:p>
        </p:txBody>
      </p:sp>
      <p:sp>
        <p:nvSpPr>
          <p:cNvPr id="2" name="S59">
            <a:extLst xmlns:a="http://schemas.openxmlformats.org/drawingml/2006/main">
              <a:ext uri="{FF2B5EF4-FFF2-40B4-BE49-F238E27FC236}">
                <a16:creationId xmlns:a16="http://schemas.microsoft.com/office/drawing/2014/main" id="{BA8FE2AA-FB24-4C9D-A1B2-3EA232F6461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S59</a:t>
            </a:r>
          </a:p>
        </p:txBody>
      </p:sp>
      <p:sp>
        <p:nvSpPr>
          <p:cNvPr id="3" name="목표·기준·방법을 한 작업에 적용한다">
            <a:extLst xmlns:a="http://schemas.openxmlformats.org/drawingml/2006/main">
              <a:ext uri="{FF2B5EF4-FFF2-40B4-BE49-F238E27FC236}">
                <a16:creationId xmlns:a16="http://schemas.microsoft.com/office/drawing/2014/main" id="{9DC8A1FB-3185-4504-9879-ACB9BB1B7BB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목표·기준·방법을 한 작업에 적용한다</a:t>
            </a:r>
          </a:p>
        </p:txBody>
      </p:sp>
      <p:sp>
        <p:nvSpPr>
          <p:cNvPr id="4" name="">
            <a:extLst xmlns:a="http://schemas.openxmlformats.org/drawingml/2006/main">
              <a:ext uri="{FF2B5EF4-FFF2-40B4-BE49-F238E27FC236}">
                <a16:creationId xmlns:a16="http://schemas.microsoft.com/office/drawing/2014/main" id="{C2C5418B-4F41-490A-920F-7D9560750EC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적용 예 · TRIAL-006/007의 목표·보존 조건·반복 방법을 한 작업에 연결">
            <a:extLst xmlns:a="http://schemas.openxmlformats.org/drawingml/2006/main">
              <a:ext uri="{FF2B5EF4-FFF2-40B4-BE49-F238E27FC236}">
                <a16:creationId xmlns:a16="http://schemas.microsoft.com/office/drawing/2014/main" id="{3E012C71-C05A-42E9-A0F0-F3B3F1D39E0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적용 예 · TRIAL-006/007의 목표·보존 조건·반복 방법을 한 작업에 연결</a:t>
            </a:r>
          </a:p>
        </p:txBody>
      </p:sp>
      <p:sp>
        <p:nvSpPr>
          <p:cNvPr id="6" name="관계 설명용 도식 · 실제 실행 기록이나 제품의 공식 분류가 아님">
            <a:extLst xmlns:a="http://schemas.openxmlformats.org/drawingml/2006/main">
              <a:ext uri="{FF2B5EF4-FFF2-40B4-BE49-F238E27FC236}">
                <a16:creationId xmlns:a16="http://schemas.microsoft.com/office/drawing/2014/main" id="{5C5B199B-2134-4274-ACC6-E68D60F089B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관계 설명용 도식 · 실제 실행 기록이나 제품의 공식 분류가 아님</a:t>
            </a:r>
          </a:p>
        </p:txBody>
      </p:sp>
      <p:sp>
        <p:nvSpPr>
          <p:cNvPr id="7" name="">
            <a:extLst xmlns:a="http://schemas.openxmlformats.org/drawingml/2006/main">
              <a:ext uri="{FF2B5EF4-FFF2-40B4-BE49-F238E27FC236}">
                <a16:creationId xmlns:a16="http://schemas.microsoft.com/office/drawing/2014/main" id="{701E016E-156B-44B2-806E-7383C20F08AD}"/>
              </a:ext>
            </a:extLst>
          </p:cNvPr>
          <p:cNvSpPr>
            <a:spLocks xmlns:a="http://schemas.openxmlformats.org/drawingml/2006/main" noGrp="1"/>
          </p:cNvSpPr>
          <p:nvPr/>
        </p:nvSpPr>
        <p:spPr>
          <a:xfrm xmlns:a="http://schemas.openxmlformats.org/drawingml/2006/main">
            <a:off x="609600" y="2000250"/>
            <a:ext cx="7086600" cy="8763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이번 목표">
            <a:extLst xmlns:a="http://schemas.openxmlformats.org/drawingml/2006/main">
              <a:ext uri="{FF2B5EF4-FFF2-40B4-BE49-F238E27FC236}">
                <a16:creationId xmlns:a16="http://schemas.microsoft.com/office/drawing/2014/main" id="{F6139489-4F5A-467D-A6F5-6EC87C04A579}"/>
              </a:ext>
            </a:extLst>
          </p:cNvPr>
          <p:cNvSpPr>
            <a:spLocks xmlns:a="http://schemas.openxmlformats.org/drawingml/2006/main" noGrp="1"/>
          </p:cNvSpPr>
          <p:nvPr/>
        </p:nvSpPr>
        <p:spPr>
          <a:xfrm xmlns:a="http://schemas.openxmlformats.org/drawingml/2006/main">
            <a:off x="800100" y="2143125"/>
            <a:ext cx="15621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이번 목표</a:t>
            </a:r>
          </a:p>
        </p:txBody>
      </p:sp>
      <p:sp>
        <p:nvSpPr>
          <p:cNvPr id="9" name="normalize 성능을 조사해줘.">
            <a:extLst xmlns:a="http://schemas.openxmlformats.org/drawingml/2006/main">
              <a:ext uri="{FF2B5EF4-FFF2-40B4-BE49-F238E27FC236}">
                <a16:creationId xmlns:a16="http://schemas.microsoft.com/office/drawing/2014/main" id="{E728FBEC-B4F7-4A75-9547-07AEC951E0F4}"/>
              </a:ext>
            </a:extLst>
          </p:cNvPr>
          <p:cNvSpPr>
            <a:spLocks xmlns:a="http://schemas.openxmlformats.org/drawingml/2006/main" noGrp="1"/>
          </p:cNvSpPr>
          <p:nvPr/>
        </p:nvSpPr>
        <p:spPr>
          <a:xfrm xmlns:a="http://schemas.openxmlformats.org/drawingml/2006/main">
            <a:off x="2381250" y="2200275"/>
            <a:ext cx="51244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normalize 성능을 조사해줘.</a:t>
            </a:r>
          </a:p>
        </p:txBody>
      </p:sp>
      <p:sp>
        <p:nvSpPr>
          <p:cNvPr id="10" name="">
            <a:extLst xmlns:a="http://schemas.openxmlformats.org/drawingml/2006/main">
              <a:ext uri="{FF2B5EF4-FFF2-40B4-BE49-F238E27FC236}">
                <a16:creationId xmlns:a16="http://schemas.microsoft.com/office/drawing/2014/main" id="{C9E5ACB1-E044-47AF-897B-0C8F611B8C8B}"/>
              </a:ext>
            </a:extLst>
          </p:cNvPr>
          <p:cNvSpPr>
            <a:spLocks xmlns:a="http://schemas.openxmlformats.org/drawingml/2006/main" noGrp="1"/>
          </p:cNvSpPr>
          <p:nvPr/>
        </p:nvSpPr>
        <p:spPr>
          <a:xfrm xmlns:a="http://schemas.openxmlformats.org/drawingml/2006/main">
            <a:off x="4000500" y="2962275"/>
            <a:ext cx="257175" cy="219075"/>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D4660F58-A893-44F6-8AEE-BD9DE7FC6C81}"/>
              </a:ext>
            </a:extLst>
          </p:cNvPr>
          <p:cNvSpPr>
            <a:spLocks xmlns:a="http://schemas.openxmlformats.org/drawingml/2006/main" noGrp="1"/>
          </p:cNvSpPr>
          <p:nvPr/>
        </p:nvSpPr>
        <p:spPr>
          <a:xfrm xmlns:a="http://schemas.openxmlformats.org/drawingml/2006/main">
            <a:off x="609600" y="3238500"/>
            <a:ext cx="7086600" cy="1914525"/>
          </a:xfrm>
          <a:prstGeom xmlns:a="http://schemas.openxmlformats.org/drawingml/2006/main" prst="rect">
            <a:avLst/>
          </a:prstGeom>
          <a:solidFill xmlns:a="http://schemas.openxmlformats.org/drawingml/2006/main">
            <a:srgbClr val="F4F6F8"/>
          </a:solidFill>
          <a:ln xmlns:a="http://schemas.openxmlformats.org/drawingml/2006/main" w="19050">
            <a:solidFill>
              <a:srgbClr val="0B6172"/>
            </a:solidFill>
            <a:prstDash val="solid"/>
          </a:ln>
        </p:spPr>
      </p:sp>
      <p:sp>
        <p:nvSpPr>
          <p:cNvPr id="12" name="프로젝트에서 지킬 기준">
            <a:extLst xmlns:a="http://schemas.openxmlformats.org/drawingml/2006/main">
              <a:ext uri="{FF2B5EF4-FFF2-40B4-BE49-F238E27FC236}">
                <a16:creationId xmlns:a16="http://schemas.microsoft.com/office/drawing/2014/main" id="{937509A2-A78E-4279-8AD1-82A1C081CDFC}"/>
              </a:ext>
            </a:extLst>
          </p:cNvPr>
          <p:cNvSpPr>
            <a:spLocks xmlns:a="http://schemas.openxmlformats.org/drawingml/2006/main" noGrp="1"/>
          </p:cNvSpPr>
          <p:nvPr/>
        </p:nvSpPr>
        <p:spPr>
          <a:xfrm xmlns:a="http://schemas.openxmlformats.org/drawingml/2006/main">
            <a:off x="800100" y="3324225"/>
            <a:ext cx="6705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프로젝트에서 지킬 기준</a:t>
            </a:r>
          </a:p>
        </p:txBody>
      </p:sp>
      <p:sp>
        <p:nvSpPr>
          <p:cNvPr id="13" name="기존 이미지 동작 · 공개 명세 보존">
            <a:extLst xmlns:a="http://schemas.openxmlformats.org/drawingml/2006/main">
              <a:ext uri="{FF2B5EF4-FFF2-40B4-BE49-F238E27FC236}">
                <a16:creationId xmlns:a16="http://schemas.microsoft.com/office/drawing/2014/main" id="{32A89F39-F024-47BF-91C6-A5343E9D8720}"/>
              </a:ext>
            </a:extLst>
          </p:cNvPr>
          <p:cNvSpPr>
            <a:spLocks xmlns:a="http://schemas.openxmlformats.org/drawingml/2006/main" noGrp="1"/>
          </p:cNvSpPr>
          <p:nvPr/>
        </p:nvSpPr>
        <p:spPr>
          <a:xfrm xmlns:a="http://schemas.openxmlformats.org/drawingml/2006/main">
            <a:off x="800100" y="3705225"/>
            <a:ext cx="6705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기존 이미지 동작 · 공개 명세 보존</a:t>
            </a:r>
          </a:p>
        </p:txBody>
      </p:sp>
      <p:sp>
        <p:nvSpPr>
          <p:cNvPr id="14" name="">
            <a:extLst xmlns:a="http://schemas.openxmlformats.org/drawingml/2006/main">
              <a:ext uri="{FF2B5EF4-FFF2-40B4-BE49-F238E27FC236}">
                <a16:creationId xmlns:a16="http://schemas.microsoft.com/office/drawing/2014/main" id="{DEBF8E72-A451-4477-929A-8C64C8D0DF7B}"/>
              </a:ext>
            </a:extLst>
          </p:cNvPr>
          <p:cNvSpPr>
            <a:spLocks xmlns:a="http://schemas.openxmlformats.org/drawingml/2006/main" noGrp="1"/>
          </p:cNvSpPr>
          <p:nvPr/>
        </p:nvSpPr>
        <p:spPr>
          <a:xfrm xmlns:a="http://schemas.openxmlformats.org/drawingml/2006/main">
            <a:off x="800100" y="4238625"/>
            <a:ext cx="6705600" cy="7048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normalize 구현 조사 · 변경 여부 판단">
            <a:extLst xmlns:a="http://schemas.openxmlformats.org/drawingml/2006/main">
              <a:ext uri="{FF2B5EF4-FFF2-40B4-BE49-F238E27FC236}">
                <a16:creationId xmlns:a16="http://schemas.microsoft.com/office/drawing/2014/main" id="{9CF06563-DEF0-4551-8CBE-03C406666E9B}"/>
              </a:ext>
            </a:extLst>
          </p:cNvPr>
          <p:cNvSpPr>
            <a:spLocks xmlns:a="http://schemas.openxmlformats.org/drawingml/2006/main" noGrp="1"/>
          </p:cNvSpPr>
          <p:nvPr/>
        </p:nvSpPr>
        <p:spPr>
          <a:xfrm xmlns:a="http://schemas.openxmlformats.org/drawingml/2006/main">
            <a:off x="952500" y="4381500"/>
            <a:ext cx="6400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normalize 구현 조사 · 변경 여부 판단</a:t>
            </a:r>
          </a:p>
        </p:txBody>
      </p:sp>
      <p:sp>
        <p:nvSpPr>
          <p:cNvPr id="16" name="">
            <a:extLst xmlns:a="http://schemas.openxmlformats.org/drawingml/2006/main">
              <a:ext uri="{FF2B5EF4-FFF2-40B4-BE49-F238E27FC236}">
                <a16:creationId xmlns:a16="http://schemas.microsoft.com/office/drawing/2014/main" id="{C650114C-E87B-421A-A03B-64733F2B6D6A}"/>
              </a:ext>
            </a:extLst>
          </p:cNvPr>
          <p:cNvSpPr>
            <a:spLocks xmlns:a="http://schemas.openxmlformats.org/drawingml/2006/main" noGrp="1"/>
          </p:cNvSpPr>
          <p:nvPr/>
        </p:nvSpPr>
        <p:spPr>
          <a:xfrm xmlns:a="http://schemas.openxmlformats.org/drawingml/2006/main">
            <a:off x="8915400" y="2000250"/>
            <a:ext cx="2667000" cy="3152775"/>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7" name="재사용할&#10;수행 방법">
            <a:extLst xmlns:a="http://schemas.openxmlformats.org/drawingml/2006/main">
              <a:ext uri="{FF2B5EF4-FFF2-40B4-BE49-F238E27FC236}">
                <a16:creationId xmlns:a16="http://schemas.microsoft.com/office/drawing/2014/main" id="{FD3AC4A2-D5CA-4773-9B83-B01F69887728}"/>
              </a:ext>
            </a:extLst>
          </p:cNvPr>
          <p:cNvSpPr>
            <a:spLocks xmlns:a="http://schemas.openxmlformats.org/drawingml/2006/main" noGrp="1"/>
          </p:cNvSpPr>
          <p:nvPr/>
        </p:nvSpPr>
        <p:spPr>
          <a:xfrm xmlns:a="http://schemas.openxmlformats.org/drawingml/2006/main">
            <a:off x="9105900" y="2162175"/>
            <a:ext cx="2286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재사용할</a:t>
            </a:r>
          </a:p>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수행 방법</a:t>
            </a:r>
          </a:p>
        </p:txBody>
      </p:sp>
      <p:sp>
        <p:nvSpPr>
          <p:cNvPr id="18" name="">
            <a:extLst xmlns:a="http://schemas.openxmlformats.org/drawingml/2006/main">
              <a:ext uri="{FF2B5EF4-FFF2-40B4-BE49-F238E27FC236}">
                <a16:creationId xmlns:a16="http://schemas.microsoft.com/office/drawing/2014/main" id="{8CEFE63C-5493-4766-A4E3-AE3A448094E5}"/>
              </a:ext>
            </a:extLst>
          </p:cNvPr>
          <p:cNvSpPr>
            <a:spLocks xmlns:a="http://schemas.openxmlformats.org/drawingml/2006/main" noGrp="1"/>
          </p:cNvSpPr>
          <p:nvPr/>
        </p:nvSpPr>
        <p:spPr>
          <a:xfrm xmlns:a="http://schemas.openxmlformats.org/drawingml/2006/main">
            <a:off x="9105900" y="3057525"/>
            <a:ext cx="228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측정·조사&#10;검증·비교">
            <a:extLst xmlns:a="http://schemas.openxmlformats.org/drawingml/2006/main">
              <a:ext uri="{FF2B5EF4-FFF2-40B4-BE49-F238E27FC236}">
                <a16:creationId xmlns:a16="http://schemas.microsoft.com/office/drawing/2014/main" id="{FF3F67AF-ED31-42B3-8128-9213B70B654D}"/>
              </a:ext>
            </a:extLst>
          </p:cNvPr>
          <p:cNvSpPr>
            <a:spLocks xmlns:a="http://schemas.openxmlformats.org/drawingml/2006/main" noGrp="1"/>
          </p:cNvSpPr>
          <p:nvPr/>
        </p:nvSpPr>
        <p:spPr>
          <a:xfrm xmlns:a="http://schemas.openxmlformats.org/drawingml/2006/main">
            <a:off x="9105900" y="3238500"/>
            <a:ext cx="2286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측정·조사</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검증·비교</a:t>
            </a:r>
          </a:p>
        </p:txBody>
      </p:sp>
      <p:sp>
        <p:nvSpPr>
          <p:cNvPr id="20" name="이번 작업에도 적용">
            <a:extLst xmlns:a="http://schemas.openxmlformats.org/drawingml/2006/main">
              <a:ext uri="{FF2B5EF4-FFF2-40B4-BE49-F238E27FC236}">
                <a16:creationId xmlns:a16="http://schemas.microsoft.com/office/drawing/2014/main" id="{09D7DE45-713B-4FA1-8ECB-D2683EDD484E}"/>
              </a:ext>
            </a:extLst>
          </p:cNvPr>
          <p:cNvSpPr>
            <a:spLocks xmlns:a="http://schemas.openxmlformats.org/drawingml/2006/main" noGrp="1"/>
          </p:cNvSpPr>
          <p:nvPr/>
        </p:nvSpPr>
        <p:spPr>
          <a:xfrm xmlns:a="http://schemas.openxmlformats.org/drawingml/2006/main">
            <a:off x="9105900" y="4362450"/>
            <a:ext cx="2286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이번 작업에도 적용</a:t>
            </a:r>
          </a:p>
        </p:txBody>
      </p:sp>
      <p:sp>
        <p:nvSpPr>
          <p:cNvPr id="21" name="">
            <a:extLst xmlns:a="http://schemas.openxmlformats.org/drawingml/2006/main">
              <a:ext uri="{FF2B5EF4-FFF2-40B4-BE49-F238E27FC236}">
                <a16:creationId xmlns:a16="http://schemas.microsoft.com/office/drawing/2014/main" id="{B8E4BFFC-CF9A-454B-918C-A1D1A2B75446}"/>
              </a:ext>
            </a:extLst>
          </p:cNvPr>
          <p:cNvSpPr>
            <a:spLocks xmlns:a="http://schemas.openxmlformats.org/drawingml/2006/main" noGrp="1"/>
          </p:cNvSpPr>
          <p:nvPr/>
        </p:nvSpPr>
        <p:spPr>
          <a:xfrm xmlns:a="http://schemas.openxmlformats.org/drawingml/2006/main">
            <a:off x="7858125" y="4457700"/>
            <a:ext cx="885825" cy="257175"/>
          </a:xfrm>
          <a:prstGeom xmlns:a="http://schemas.openxmlformats.org/drawingml/2006/main" prst="leftArrow">
            <a:avLst/>
          </a:prstGeom>
          <a:solidFill xmlns:a="http://schemas.openxmlformats.org/drawingml/2006/main">
            <a:srgbClr val="0B6172"/>
          </a:solidFill>
          <a:ln xmlns:a="http://schemas.openxmlformats.org/drawingml/2006/main" w="0">
            <a:noFill/>
          </a:ln>
        </p:spPr>
      </p:sp>
      <p:sp>
        <p:nvSpPr>
          <p:cNvPr id="22" name="같은 수행 방법이 다음 작업에도 필요하다면?">
            <a:extLst xmlns:a="http://schemas.openxmlformats.org/drawingml/2006/main">
              <a:ext uri="{FF2B5EF4-FFF2-40B4-BE49-F238E27FC236}">
                <a16:creationId xmlns:a16="http://schemas.microsoft.com/office/drawing/2014/main" id="{58494BCE-9A20-4BC3-8788-3052ED0C767D}"/>
              </a:ext>
            </a:extLst>
          </p:cNvPr>
          <p:cNvSpPr>
            <a:spLocks xmlns:a="http://schemas.openxmlformats.org/drawingml/2006/main" noGrp="1"/>
          </p:cNvSpPr>
          <p:nvPr/>
        </p:nvSpPr>
        <p:spPr>
          <a:xfrm xmlns:a="http://schemas.openxmlformats.org/drawingml/2006/main">
            <a:off x="609600" y="531495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같은 수행 방법이 다음 작업에도 필요하다면?</a:t>
            </a:r>
          </a:p>
        </p:txBody>
      </p:sp>
      <p:sp>
        <p:nvSpPr>
          <p:cNvPr id="23" name="Legacy module connection">
            <a:extLst xmlns:a="http://schemas.openxmlformats.org/drawingml/2006/main">
              <a:ext uri="{FF2B5EF4-FFF2-40B4-BE49-F238E27FC236}">
                <a16:creationId xmlns:a16="http://schemas.microsoft.com/office/drawing/2014/main" id="{22AD2DA9-0AFC-4373-A37D-D26F8211CF5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2019016936"/>
      </p:ext>
    </p:extLst>
  </p:cSld>
</p:sld>
</file>

<file path=ppt/slides/slide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8" name="ACT 3 · 이번 요청과 프로젝트가 유지할 수행 방법">
            <a:extLst xmlns:a="http://schemas.openxmlformats.org/drawingml/2006/main">
              <a:ext uri="{FF2B5EF4-FFF2-40B4-BE49-F238E27FC236}">
                <a16:creationId xmlns:a16="http://schemas.microsoft.com/office/drawing/2014/main" id="{320483EC-CBC4-4C2B-8069-ED649B14375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이번 요청과 프로젝트가 유지할 수행 방법</a:t>
            </a:r>
          </a:p>
        </p:txBody>
      </p:sp>
      <p:sp>
        <p:nvSpPr>
          <p:cNvPr id="2" name="S60">
            <a:extLst xmlns:a="http://schemas.openxmlformats.org/drawingml/2006/main">
              <a:ext uri="{FF2B5EF4-FFF2-40B4-BE49-F238E27FC236}">
                <a16:creationId xmlns:a16="http://schemas.microsoft.com/office/drawing/2014/main" id="{1FC3D23A-85AD-43C4-8582-13E1466146C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S60</a:t>
            </a:r>
          </a:p>
        </p:txBody>
      </p:sp>
      <p:sp>
        <p:nvSpPr>
          <p:cNvPr id="3" name="반복 절차를 Skill로 모으는 이유">
            <a:extLst xmlns:a="http://schemas.openxmlformats.org/drawingml/2006/main">
              <a:ext uri="{FF2B5EF4-FFF2-40B4-BE49-F238E27FC236}">
                <a16:creationId xmlns:a16="http://schemas.microsoft.com/office/drawing/2014/main" id="{1E7727E5-FAF2-46D4-BFD9-63C6D5B59D5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반복 절차를 Skill로 모으는 이유</a:t>
            </a:r>
          </a:p>
        </p:txBody>
      </p:sp>
      <p:sp>
        <p:nvSpPr>
          <p:cNvPr id="4" name="">
            <a:extLst xmlns:a="http://schemas.openxmlformats.org/drawingml/2006/main">
              <a:ext uri="{FF2B5EF4-FFF2-40B4-BE49-F238E27FC236}">
                <a16:creationId xmlns:a16="http://schemas.microsoft.com/office/drawing/2014/main" id="{AEDE2960-1356-4845-8643-2F029AE776B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17 · 프로젝트 Skill을 선택한 설계 의도 · 왼쪽 요청은 교육용 요약">
            <a:extLst xmlns:a="http://schemas.openxmlformats.org/drawingml/2006/main">
              <a:ext uri="{FF2B5EF4-FFF2-40B4-BE49-F238E27FC236}">
                <a16:creationId xmlns:a16="http://schemas.microsoft.com/office/drawing/2014/main" id="{0BE609E3-CC19-4762-AFD6-FBCE63240B7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DEC-0017 · 프로젝트 Skill을 선택한 설계 의도 · 왼쪽 요청은 교육용 요약</a:t>
            </a:r>
          </a:p>
        </p:txBody>
      </p:sp>
      <p:sp>
        <p:nvSpPr>
          <p:cNvPr id="6" name="설계 선택이며 성공 증명 아님 · 현재 제품 표면·계정·호출 경로는 별도 확인">
            <a:extLst xmlns:a="http://schemas.openxmlformats.org/drawingml/2006/main">
              <a:ext uri="{FF2B5EF4-FFF2-40B4-BE49-F238E27FC236}">
                <a16:creationId xmlns:a16="http://schemas.microsoft.com/office/drawing/2014/main" id="{433A782D-700E-4C5F-89B4-5DF1ACC154B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설계 선택이며 성공 증명 아님 · 현재 제품 표면·계정·호출 경로는 별도 확인</a:t>
            </a:r>
          </a:p>
        </p:txBody>
      </p:sp>
      <p:sp>
        <p:nvSpPr>
          <p:cNvPr id="7" name="작업마다 달라지는 요청">
            <a:extLst xmlns:a="http://schemas.openxmlformats.org/drawingml/2006/main">
              <a:ext uri="{FF2B5EF4-FFF2-40B4-BE49-F238E27FC236}">
                <a16:creationId xmlns:a16="http://schemas.microsoft.com/office/drawing/2014/main" id="{8D49AFB9-55F4-4B3A-96B6-F2D8A12837CA}"/>
              </a:ext>
            </a:extLst>
          </p:cNvPr>
          <p:cNvSpPr>
            <a:spLocks xmlns:a="http://schemas.openxmlformats.org/drawingml/2006/main" noGrp="1"/>
          </p:cNvSpPr>
          <p:nvPr/>
        </p:nvSpPr>
        <p:spPr>
          <a:xfrm xmlns:a="http://schemas.openxmlformats.org/drawingml/2006/main">
            <a:off x="609600" y="1704975"/>
            <a:ext cx="46863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작업마다 달라지는 요청</a:t>
            </a:r>
          </a:p>
        </p:txBody>
      </p:sp>
      <p:sp>
        <p:nvSpPr>
          <p:cNvPr id="8" name="">
            <a:extLst xmlns:a="http://schemas.openxmlformats.org/drawingml/2006/main">
              <a:ext uri="{FF2B5EF4-FFF2-40B4-BE49-F238E27FC236}">
                <a16:creationId xmlns:a16="http://schemas.microsoft.com/office/drawing/2014/main" id="{E2D77ABA-B31D-4B95-B8E9-A745C639C63C}"/>
              </a:ext>
            </a:extLst>
          </p:cNvPr>
          <p:cNvSpPr>
            <a:spLocks xmlns:a="http://schemas.openxmlformats.org/drawingml/2006/main" noGrp="1"/>
          </p:cNvSpPr>
          <p:nvPr/>
        </p:nvSpPr>
        <p:spPr>
          <a:xfrm xmlns:a="http://schemas.openxmlformats.org/drawingml/2006/main">
            <a:off x="609600" y="2324100"/>
            <a:ext cx="4648200" cy="11525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A  resize_nearest 성능 조사">
            <a:extLst xmlns:a="http://schemas.openxmlformats.org/drawingml/2006/main">
              <a:ext uri="{FF2B5EF4-FFF2-40B4-BE49-F238E27FC236}">
                <a16:creationId xmlns:a16="http://schemas.microsoft.com/office/drawing/2014/main" id="{C748EEF9-2D13-4691-B7E2-9EBD751BC381}"/>
              </a:ext>
            </a:extLst>
          </p:cNvPr>
          <p:cNvSpPr>
            <a:spLocks xmlns:a="http://schemas.openxmlformats.org/drawingml/2006/main" noGrp="1"/>
          </p:cNvSpPr>
          <p:nvPr/>
        </p:nvSpPr>
        <p:spPr>
          <a:xfrm xmlns:a="http://schemas.openxmlformats.org/drawingml/2006/main">
            <a:off x="800100" y="2438400"/>
            <a:ext cx="426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A  resize_nearest 성능 조사</a:t>
            </a:r>
          </a:p>
        </p:txBody>
      </p:sp>
      <p:sp>
        <p:nvSpPr>
          <p:cNvPr id="10" name="이번 목표 · 허용 범위 · 보존 조건">
            <a:extLst xmlns:a="http://schemas.openxmlformats.org/drawingml/2006/main">
              <a:ext uri="{FF2B5EF4-FFF2-40B4-BE49-F238E27FC236}">
                <a16:creationId xmlns:a16="http://schemas.microsoft.com/office/drawing/2014/main" id="{2E201D0C-7E40-42A4-A36C-8BBAA3736901}"/>
              </a:ext>
            </a:extLst>
          </p:cNvPr>
          <p:cNvSpPr>
            <a:spLocks xmlns:a="http://schemas.openxmlformats.org/drawingml/2006/main" noGrp="1"/>
          </p:cNvSpPr>
          <p:nvPr/>
        </p:nvSpPr>
        <p:spPr>
          <a:xfrm xmlns:a="http://schemas.openxmlformats.org/drawingml/2006/main">
            <a:off x="800100" y="3000375"/>
            <a:ext cx="4267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이번 목표 · 허용 범위 · 보존 조건</a:t>
            </a:r>
          </a:p>
        </p:txBody>
      </p:sp>
      <p:sp>
        <p:nvSpPr>
          <p:cNvPr id="11" name="">
            <a:extLst xmlns:a="http://schemas.openxmlformats.org/drawingml/2006/main">
              <a:ext uri="{FF2B5EF4-FFF2-40B4-BE49-F238E27FC236}">
                <a16:creationId xmlns:a16="http://schemas.microsoft.com/office/drawing/2014/main" id="{4E425962-372C-40A1-9F67-8942559C2F5A}"/>
              </a:ext>
            </a:extLst>
          </p:cNvPr>
          <p:cNvSpPr>
            <a:spLocks xmlns:a="http://schemas.openxmlformats.org/drawingml/2006/main" noGrp="1"/>
          </p:cNvSpPr>
          <p:nvPr/>
        </p:nvSpPr>
        <p:spPr>
          <a:xfrm xmlns:a="http://schemas.openxmlformats.org/drawingml/2006/main">
            <a:off x="609600" y="3800475"/>
            <a:ext cx="4648200" cy="11525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2" name="B  normalize 성능 조사">
            <a:extLst xmlns:a="http://schemas.openxmlformats.org/drawingml/2006/main">
              <a:ext uri="{FF2B5EF4-FFF2-40B4-BE49-F238E27FC236}">
                <a16:creationId xmlns:a16="http://schemas.microsoft.com/office/drawing/2014/main" id="{684CE3D7-9B58-4D7E-9DC4-793CC77E85B5}"/>
              </a:ext>
            </a:extLst>
          </p:cNvPr>
          <p:cNvSpPr>
            <a:spLocks xmlns:a="http://schemas.openxmlformats.org/drawingml/2006/main" noGrp="1"/>
          </p:cNvSpPr>
          <p:nvPr/>
        </p:nvSpPr>
        <p:spPr>
          <a:xfrm xmlns:a="http://schemas.openxmlformats.org/drawingml/2006/main">
            <a:off x="800100" y="3914775"/>
            <a:ext cx="426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B  normalize 성능 조사</a:t>
            </a:r>
          </a:p>
        </p:txBody>
      </p:sp>
      <p:sp>
        <p:nvSpPr>
          <p:cNvPr id="13" name="이번 목표 · 허용 범위 · 보존 조건">
            <a:extLst xmlns:a="http://schemas.openxmlformats.org/drawingml/2006/main">
              <a:ext uri="{FF2B5EF4-FFF2-40B4-BE49-F238E27FC236}">
                <a16:creationId xmlns:a16="http://schemas.microsoft.com/office/drawing/2014/main" id="{056233B0-AEB2-4683-B7FA-1C7DCB697EDF}"/>
              </a:ext>
            </a:extLst>
          </p:cNvPr>
          <p:cNvSpPr>
            <a:spLocks xmlns:a="http://schemas.openxmlformats.org/drawingml/2006/main" noGrp="1"/>
          </p:cNvSpPr>
          <p:nvPr/>
        </p:nvSpPr>
        <p:spPr>
          <a:xfrm xmlns:a="http://schemas.openxmlformats.org/drawingml/2006/main">
            <a:off x="800100" y="4476750"/>
            <a:ext cx="4267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이번 목표 · 허용 범위 · 보존 조건</a:t>
            </a:r>
          </a:p>
        </p:txBody>
      </p:sp>
      <p:sp>
        <p:nvSpPr>
          <p:cNvPr id="14" name="">
            <a:extLst xmlns:a="http://schemas.openxmlformats.org/drawingml/2006/main">
              <a:ext uri="{FF2B5EF4-FFF2-40B4-BE49-F238E27FC236}">
                <a16:creationId xmlns:a16="http://schemas.microsoft.com/office/drawing/2014/main" id="{D0BF930E-FE44-485F-A8C3-6D0DC2C7C8DC}"/>
              </a:ext>
            </a:extLst>
          </p:cNvPr>
          <p:cNvSpPr>
            <a:spLocks xmlns:a="http://schemas.openxmlformats.org/drawingml/2006/main" noGrp="1"/>
          </p:cNvSpPr>
          <p:nvPr/>
        </p:nvSpPr>
        <p:spPr>
          <a:xfrm xmlns:a="http://schemas.openxmlformats.org/drawingml/2006/main">
            <a:off x="7010400" y="2324100"/>
            <a:ext cx="4572000" cy="26289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5" name="한 곳에서 관리할 수행 방법">
            <a:extLst xmlns:a="http://schemas.openxmlformats.org/drawingml/2006/main">
              <a:ext uri="{FF2B5EF4-FFF2-40B4-BE49-F238E27FC236}">
                <a16:creationId xmlns:a16="http://schemas.microsoft.com/office/drawing/2014/main" id="{C9F7C236-55B4-467F-864D-2C0E5B0F4A89}"/>
              </a:ext>
            </a:extLst>
          </p:cNvPr>
          <p:cNvSpPr>
            <a:spLocks xmlns:a="http://schemas.openxmlformats.org/drawingml/2006/main" noGrp="1"/>
          </p:cNvSpPr>
          <p:nvPr/>
        </p:nvSpPr>
        <p:spPr>
          <a:xfrm xmlns:a="http://schemas.openxmlformats.org/drawingml/2006/main">
            <a:off x="7200900" y="2419350"/>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한 곳에서 관리할 수행 방법</a:t>
            </a:r>
          </a:p>
        </p:txBody>
      </p:sp>
      <p:sp>
        <p:nvSpPr>
          <p:cNvPr id="16" name="graypipe-performance / SKILL.md">
            <a:extLst xmlns:a="http://schemas.openxmlformats.org/drawingml/2006/main">
              <a:ext uri="{FF2B5EF4-FFF2-40B4-BE49-F238E27FC236}">
                <a16:creationId xmlns:a16="http://schemas.microsoft.com/office/drawing/2014/main" id="{05859913-6F82-4E8A-B1C7-79A55D28BB08}"/>
              </a:ext>
            </a:extLst>
          </p:cNvPr>
          <p:cNvSpPr>
            <a:spLocks xmlns:a="http://schemas.openxmlformats.org/drawingml/2006/main" noGrp="1"/>
          </p:cNvSpPr>
          <p:nvPr/>
        </p:nvSpPr>
        <p:spPr>
          <a:xfrm xmlns:a="http://schemas.openxmlformats.org/drawingml/2006/main">
            <a:off x="7200900" y="2876550"/>
            <a:ext cx="4191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17212B"/>
                </a:solidFill>
                <a:latin typeface="Consolas"/>
                <a:ea typeface="Consolas"/>
                <a:cs typeface="Consolas"/>
              </a:defRPr>
            </a:defPPr>
            <a:lvl1pPr algn="l">
              <a:defRPr sz="1650" b="1">
                <a:solidFill>
                  <a:srgbClr val="17212B"/>
                </a:solidFill>
                <a:latin typeface="Consolas"/>
                <a:ea typeface="Consolas"/>
                <a:cs typeface="Consolas"/>
              </a:defRPr>
            </a:lvl1pPr>
            <a:lvl2pPr algn="l">
              <a:defRPr sz="1650" b="1">
                <a:solidFill>
                  <a:srgbClr val="17212B"/>
                </a:solidFill>
                <a:latin typeface="Consolas"/>
                <a:ea typeface="Consolas"/>
                <a:cs typeface="Consolas"/>
              </a:defRPr>
            </a:lvl2pPr>
            <a:lvl3pPr algn="l">
              <a:defRPr sz="1650" b="1">
                <a:solidFill>
                  <a:srgbClr val="17212B"/>
                </a:solidFill>
                <a:latin typeface="Consolas"/>
                <a:ea typeface="Consolas"/>
                <a:cs typeface="Consolas"/>
              </a:defRPr>
            </a:lvl3pPr>
            <a:lvl4pPr algn="l">
              <a:defRPr sz="1650" b="1">
                <a:solidFill>
                  <a:srgbClr val="17212B"/>
                </a:solidFill>
                <a:latin typeface="Consolas"/>
                <a:ea typeface="Consolas"/>
                <a:cs typeface="Consolas"/>
              </a:defRPr>
            </a:lvl4pPr>
            <a:lvl5pPr algn="l">
              <a:defRPr sz="1650" b="1">
                <a:solidFill>
                  <a:srgbClr val="17212B"/>
                </a:solidFill>
                <a:latin typeface="Consolas"/>
                <a:ea typeface="Consolas"/>
                <a:cs typeface="Consolas"/>
              </a:defRPr>
            </a:lvl5pPr>
            <a:lvl6pPr algn="l">
              <a:defRPr sz="1650" b="1">
                <a:solidFill>
                  <a:srgbClr val="17212B"/>
                </a:solidFill>
                <a:latin typeface="Consolas"/>
                <a:ea typeface="Consolas"/>
                <a:cs typeface="Consolas"/>
              </a:defRPr>
            </a:lvl6pPr>
            <a:lvl7pPr algn="l">
              <a:defRPr sz="1650" b="1">
                <a:solidFill>
                  <a:srgbClr val="17212B"/>
                </a:solidFill>
                <a:latin typeface="Consolas"/>
                <a:ea typeface="Consolas"/>
                <a:cs typeface="Consolas"/>
              </a:defRPr>
            </a:lvl7pPr>
            <a:lvl8pPr algn="l">
              <a:defRPr sz="1650" b="1">
                <a:solidFill>
                  <a:srgbClr val="17212B"/>
                </a:solidFill>
                <a:latin typeface="Consolas"/>
                <a:ea typeface="Consolas"/>
                <a:cs typeface="Consolas"/>
              </a:defRPr>
            </a:lvl8pPr>
            <a:lvl9pPr algn="l">
              <a:defRPr sz="1650" b="1">
                <a:solidFill>
                  <a:srgbClr val="17212B"/>
                </a:solidFill>
                <a:latin typeface="Consolas"/>
                <a:ea typeface="Consolas"/>
                <a:cs typeface="Consolas"/>
              </a:defRPr>
            </a:lvl9pPr>
          </a:lstStyle>
          <a:p xmlns:a="http://schemas.openxmlformats.org/drawingml/2006/main">
            <a:pPr algn="l">
              <a:defRPr sz="1650" b="1">
                <a:solidFill>
                  <a:srgbClr val="17212B"/>
                </a:solidFill>
                <a:latin typeface="Consolas"/>
                <a:ea typeface="Consolas"/>
                <a:cs typeface="Consolas"/>
              </a:defRPr>
            </a:pPr>
            <a:r>
              <a:rPr sz="1650" b="1">
                <a:solidFill>
                  <a:srgbClr val="17212B"/>
                </a:solidFill>
                <a:latin typeface="Consolas"/>
                <a:ea typeface="Consolas"/>
                <a:cs typeface="Consolas"/>
              </a:rPr>
              <a:t>graypipe-performance / SKILL.md</a:t>
            </a:r>
          </a:p>
        </p:txBody>
      </p:sp>
      <p:sp>
        <p:nvSpPr>
          <p:cNvPr id="17" name="">
            <a:extLst xmlns:a="http://schemas.openxmlformats.org/drawingml/2006/main">
              <a:ext uri="{FF2B5EF4-FFF2-40B4-BE49-F238E27FC236}">
                <a16:creationId xmlns:a16="http://schemas.microsoft.com/office/drawing/2014/main" id="{D5766E51-D188-401F-9240-465D47C521D4}"/>
              </a:ext>
            </a:extLst>
          </p:cNvPr>
          <p:cNvSpPr>
            <a:spLocks xmlns:a="http://schemas.openxmlformats.org/drawingml/2006/main" noGrp="1"/>
          </p:cNvSpPr>
          <p:nvPr/>
        </p:nvSpPr>
        <p:spPr>
          <a:xfrm xmlns:a="http://schemas.openxmlformats.org/drawingml/2006/main">
            <a:off x="7200900" y="3295650"/>
            <a:ext cx="4191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측정·조사">
            <a:extLst xmlns:a="http://schemas.openxmlformats.org/drawingml/2006/main">
              <a:ext uri="{FF2B5EF4-FFF2-40B4-BE49-F238E27FC236}">
                <a16:creationId xmlns:a16="http://schemas.microsoft.com/office/drawing/2014/main" id="{B575E8BD-B971-419D-844B-809C60787A1A}"/>
              </a:ext>
            </a:extLst>
          </p:cNvPr>
          <p:cNvSpPr>
            <a:spLocks xmlns:a="http://schemas.openxmlformats.org/drawingml/2006/main" noGrp="1"/>
          </p:cNvSpPr>
          <p:nvPr/>
        </p:nvSpPr>
        <p:spPr>
          <a:xfrm xmlns:a="http://schemas.openxmlformats.org/drawingml/2006/main">
            <a:off x="7200900" y="3438525"/>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측정·조사</a:t>
            </a:r>
          </a:p>
        </p:txBody>
      </p:sp>
      <p:sp>
        <p:nvSpPr>
          <p:cNvPr id="19" name="계획·변경 판단">
            <a:extLst xmlns:a="http://schemas.openxmlformats.org/drawingml/2006/main">
              <a:ext uri="{FF2B5EF4-FFF2-40B4-BE49-F238E27FC236}">
                <a16:creationId xmlns:a16="http://schemas.microsoft.com/office/drawing/2014/main" id="{4D9088C2-FA5A-4CB3-933B-37DBAC9C55C8}"/>
              </a:ext>
            </a:extLst>
          </p:cNvPr>
          <p:cNvSpPr>
            <a:spLocks xmlns:a="http://schemas.openxmlformats.org/drawingml/2006/main" noGrp="1"/>
          </p:cNvSpPr>
          <p:nvPr/>
        </p:nvSpPr>
        <p:spPr>
          <a:xfrm xmlns:a="http://schemas.openxmlformats.org/drawingml/2006/main">
            <a:off x="7200900" y="3905250"/>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계획·변경 판단</a:t>
            </a:r>
          </a:p>
        </p:txBody>
      </p:sp>
      <p:sp>
        <p:nvSpPr>
          <p:cNvPr id="20" name="검증·동일 측정·보고">
            <a:extLst xmlns:a="http://schemas.openxmlformats.org/drawingml/2006/main">
              <a:ext uri="{FF2B5EF4-FFF2-40B4-BE49-F238E27FC236}">
                <a16:creationId xmlns:a16="http://schemas.microsoft.com/office/drawing/2014/main" id="{3C5E7DF5-3B00-46F6-8175-549F2E906711}"/>
              </a:ext>
            </a:extLst>
          </p:cNvPr>
          <p:cNvSpPr>
            <a:spLocks xmlns:a="http://schemas.openxmlformats.org/drawingml/2006/main" noGrp="1"/>
          </p:cNvSpPr>
          <p:nvPr/>
        </p:nvSpPr>
        <p:spPr>
          <a:xfrm xmlns:a="http://schemas.openxmlformats.org/drawingml/2006/main">
            <a:off x="7200900" y="4371975"/>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검증·동일 측정·보고</a:t>
            </a:r>
          </a:p>
        </p:txBody>
      </p:sp>
      <p:sp>
        <p:nvSpPr>
          <p:cNvPr id="21" name="">
            <a:extLst xmlns:a="http://schemas.openxmlformats.org/drawingml/2006/main">
              <a:ext uri="{FF2B5EF4-FFF2-40B4-BE49-F238E27FC236}">
                <a16:creationId xmlns:a16="http://schemas.microsoft.com/office/drawing/2014/main" id="{36161CBC-CA0C-4A55-9D9C-A42A9C4DF7B5}"/>
              </a:ext>
            </a:extLst>
          </p:cNvPr>
          <p:cNvSpPr>
            <a:spLocks xmlns:a="http://schemas.openxmlformats.org/drawingml/2006/main" noGrp="1"/>
          </p:cNvSpPr>
          <p:nvPr/>
        </p:nvSpPr>
        <p:spPr>
          <a:xfrm xmlns:a="http://schemas.openxmlformats.org/drawingml/2006/main">
            <a:off x="6334125" y="2895600"/>
            <a:ext cx="0" cy="1476375"/>
          </a:xfrm>
          <a:prstGeom xmlns:a="http://schemas.openxmlformats.org/drawingml/2006/main" prst="line">
            <a:avLst/>
          </a:prstGeom>
          <a:noFill xmlns:a="http://schemas.openxmlformats.org/drawingml/2006/main"/>
          <a:ln xmlns:a="http://schemas.openxmlformats.org/drawingml/2006/main" w="28575">
            <a:solidFill>
              <a:srgbClr val="0B6172"/>
            </a:solidFill>
          </a:ln>
        </p:spPr>
      </p:sp>
      <p:sp>
        <p:nvSpPr>
          <p:cNvPr id="22" name="">
            <a:extLst xmlns:a="http://schemas.openxmlformats.org/drawingml/2006/main">
              <a:ext uri="{FF2B5EF4-FFF2-40B4-BE49-F238E27FC236}">
                <a16:creationId xmlns:a16="http://schemas.microsoft.com/office/drawing/2014/main" id="{BEC9EADE-FFB5-4CF6-977E-185E5100C3EC}"/>
              </a:ext>
            </a:extLst>
          </p:cNvPr>
          <p:cNvSpPr>
            <a:spLocks xmlns:a="http://schemas.openxmlformats.org/drawingml/2006/main" noGrp="1"/>
          </p:cNvSpPr>
          <p:nvPr/>
        </p:nvSpPr>
        <p:spPr>
          <a:xfrm xmlns:a="http://schemas.openxmlformats.org/drawingml/2006/main">
            <a:off x="6334125" y="3638550"/>
            <a:ext cx="676275"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cxnSp>
        <p:nvCxnSpPr>
          <p:cNvPr id="23" name="">
            <a:extLst xmlns:a="http://schemas.openxmlformats.org/drawingml/2006/main">
              <a:ext uri="{FF2B5EF4-FFF2-40B4-BE49-F238E27FC236}">
                <a16:creationId xmlns:a16="http://schemas.microsoft.com/office/drawing/2014/main" id="{271AD053-D080-4C0A-BF37-4BEB1813C573}"/>
              </a:ext>
            </a:extLst>
          </p:cNvPr>
          <p:cNvCxnSpPr/>
          <p:nvPr/>
        </p:nvCxnSpPr>
        <p:spPr>
          <a:xfrm xmlns:a="http://schemas.openxmlformats.org/drawingml/2006/main">
            <a:off x="5314950" y="2895600"/>
            <a:ext cx="1019175" cy="0"/>
          </a:xfrm>
          <a:prstGeom xmlns:a="http://schemas.openxmlformats.org/drawingml/2006/main" prst="straightConnector1">
            <a:avLst/>
          </a:prstGeom>
          <a:ln xmlns:a="http://schemas.openxmlformats.org/drawingml/2006/main" w="28575">
            <a:solidFill>
              <a:srgbClr val="0B6172"/>
            </a:solidFill>
            <a:headEnd type="triangle" w="sm" len="sm"/>
          </a:ln>
        </p:spPr>
      </p:cxnSp>
      <p:cxnSp>
        <p:nvCxnSpPr>
          <p:cNvPr id="24" name="">
            <a:extLst xmlns:a="http://schemas.openxmlformats.org/drawingml/2006/main">
              <a:ext uri="{FF2B5EF4-FFF2-40B4-BE49-F238E27FC236}">
                <a16:creationId xmlns:a16="http://schemas.microsoft.com/office/drawing/2014/main" id="{3244120B-30E6-49B9-A7DB-C5A6FACE0186}"/>
              </a:ext>
            </a:extLst>
          </p:cNvPr>
          <p:cNvCxnSpPr/>
          <p:nvPr/>
        </p:nvCxnSpPr>
        <p:spPr>
          <a:xfrm xmlns:a="http://schemas.openxmlformats.org/drawingml/2006/main">
            <a:off x="5314950" y="4371975"/>
            <a:ext cx="1019175" cy="0"/>
          </a:xfrm>
          <a:prstGeom xmlns:a="http://schemas.openxmlformats.org/drawingml/2006/main" prst="straightConnector1">
            <a:avLst/>
          </a:prstGeom>
          <a:ln xmlns:a="http://schemas.openxmlformats.org/drawingml/2006/main" w="28575">
            <a:solidFill>
              <a:srgbClr val="0B6172"/>
            </a:solidFill>
            <a:headEnd type="triangle" w="sm" len="sm"/>
          </a:ln>
        </p:spPr>
      </p:cxnSp>
      <p:sp>
        <p:nvSpPr>
          <p:cNvPr id="25" name="재사용">
            <a:extLst xmlns:a="http://schemas.openxmlformats.org/drawingml/2006/main">
              <a:ext uri="{FF2B5EF4-FFF2-40B4-BE49-F238E27FC236}">
                <a16:creationId xmlns:a16="http://schemas.microsoft.com/office/drawing/2014/main" id="{23D3545B-C3F8-4F4D-A966-4B5554183BE5}"/>
              </a:ext>
            </a:extLst>
          </p:cNvPr>
          <p:cNvSpPr>
            <a:spLocks xmlns:a="http://schemas.openxmlformats.org/drawingml/2006/main" noGrp="1"/>
          </p:cNvSpPr>
          <p:nvPr/>
        </p:nvSpPr>
        <p:spPr>
          <a:xfrm xmlns:a="http://schemas.openxmlformats.org/drawingml/2006/main">
            <a:off x="5410200" y="3495675"/>
            <a:ext cx="800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재사용</a:t>
            </a:r>
          </a:p>
        </p:txBody>
      </p:sp>
      <p:sp>
        <p:nvSpPr>
          <p:cNvPr id="26" name="같은 절차를 매번 다시 쓰지 않고, 한 곳에서 관리한다">
            <a:extLst xmlns:a="http://schemas.openxmlformats.org/drawingml/2006/main">
              <a:ext uri="{FF2B5EF4-FFF2-40B4-BE49-F238E27FC236}">
                <a16:creationId xmlns:a16="http://schemas.microsoft.com/office/drawing/2014/main" id="{3B203157-AB1F-436F-BEEE-EFF786819348}"/>
              </a:ext>
            </a:extLst>
          </p:cNvPr>
          <p:cNvSpPr>
            <a:spLocks xmlns:a="http://schemas.openxmlformats.org/drawingml/2006/main" noGrp="1"/>
          </p:cNvSpPr>
          <p:nvPr/>
        </p:nvSpPr>
        <p:spPr>
          <a:xfrm xmlns:a="http://schemas.openxmlformats.org/drawingml/2006/main">
            <a:off x="609600" y="5324475"/>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같은 절차를 매번 다시 쓰지 않고, 한 곳에서 관리한다</a:t>
            </a:r>
          </a:p>
        </p:txBody>
      </p:sp>
      <p:sp>
        <p:nvSpPr>
          <p:cNvPr id="27" name="Legacy module connection">
            <a:extLst xmlns:a="http://schemas.openxmlformats.org/drawingml/2006/main">
              <a:ext uri="{FF2B5EF4-FFF2-40B4-BE49-F238E27FC236}">
                <a16:creationId xmlns:a16="http://schemas.microsoft.com/office/drawing/2014/main" id="{54FE609C-4D9E-4A7B-8A51-901472A1CB8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555757387"/>
      </p:ext>
    </p:extLst>
  </p:cSld>
</p:sld>
</file>

<file path=ppt/slides/slide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3 · 밝기 통계 작업에서 확인한 CLI 기록">
            <a:extLst xmlns:a="http://schemas.openxmlformats.org/drawingml/2006/main">
              <a:ext uri="{FF2B5EF4-FFF2-40B4-BE49-F238E27FC236}">
                <a16:creationId xmlns:a16="http://schemas.microsoft.com/office/drawing/2014/main" id="{B4460612-61B5-46A7-84F6-E4158966953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밝기 통계 작업에서 확인한 CLI 기록</a:t>
            </a:r>
          </a:p>
        </p:txBody>
      </p:sp>
      <p:sp>
        <p:nvSpPr>
          <p:cNvPr id="2" name="S61">
            <a:extLst xmlns:a="http://schemas.openxmlformats.org/drawingml/2006/main">
              <a:ext uri="{FF2B5EF4-FFF2-40B4-BE49-F238E27FC236}">
                <a16:creationId xmlns:a16="http://schemas.microsoft.com/office/drawing/2014/main" id="{8AEE5433-156F-4EE2-88F7-BDDCD90D4D8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S61</a:t>
            </a:r>
          </a:p>
        </p:txBody>
      </p:sp>
      <p:sp>
        <p:nvSpPr>
          <p:cNvPr id="3" name="Skill 발견·호출·본문 포함의 근거">
            <a:extLst xmlns:a="http://schemas.openxmlformats.org/drawingml/2006/main">
              <a:ext uri="{FF2B5EF4-FFF2-40B4-BE49-F238E27FC236}">
                <a16:creationId xmlns:a16="http://schemas.microsoft.com/office/drawing/2014/main" id="{6420C02A-DABE-4C29-BB5F-050771A822D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Skill 발견·호출·본문 포함의 근거</a:t>
            </a:r>
          </a:p>
        </p:txBody>
      </p:sp>
      <p:sp>
        <p:nvSpPr>
          <p:cNvPr id="4" name="">
            <a:extLst xmlns:a="http://schemas.openxmlformats.org/drawingml/2006/main">
              <a:ext uri="{FF2B5EF4-FFF2-40B4-BE49-F238E27FC236}">
                <a16:creationId xmlns:a16="http://schemas.microsoft.com/office/drawing/2014/main" id="{0B8B48EB-D3E5-4B98-85FC-75733186579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8 · Codex CLI 0.154.0 · 기록 발췌·번역·재구성 (실제 UI 캡처 아님)">
            <a:extLst xmlns:a="http://schemas.openxmlformats.org/drawingml/2006/main">
              <a:ext uri="{FF2B5EF4-FFF2-40B4-BE49-F238E27FC236}">
                <a16:creationId xmlns:a16="http://schemas.microsoft.com/office/drawing/2014/main" id="{CCA9F0F4-84F6-46E2-9581-9E7AC2851A9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TRIAL-008 · Codex CLI 0.154.0 · 기록 발췌·번역·재구성 (실제 UI 캡처 아님)</a:t>
            </a:r>
          </a:p>
        </p:txBody>
      </p:sp>
      <p:sp>
        <p:nvSpPr>
          <p:cNvPr id="6" name="별도 load 이벤트 없음 · 지침 준수의 보장은 아님 · 현재 Desktop·암묵 호출 미검증">
            <a:extLst xmlns:a="http://schemas.openxmlformats.org/drawingml/2006/main">
              <a:ext uri="{FF2B5EF4-FFF2-40B4-BE49-F238E27FC236}">
                <a16:creationId xmlns:a16="http://schemas.microsoft.com/office/drawing/2014/main" id="{DC4D1289-DEB1-48AF-9E7E-D82F9E7B28C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별도 load 이벤트 없음 · 지침 준수의 보장은 아님 · 현재 Desktop·암묵 호출 미검증</a:t>
            </a:r>
          </a:p>
        </p:txBody>
      </p:sp>
      <p:sp>
        <p:nvSpPr>
          <p:cNvPr id="7" name="재사용할 방법을 밝기 통계(image_statistics) 요청에 연결했다">
            <a:extLst xmlns:a="http://schemas.openxmlformats.org/drawingml/2006/main">
              <a:ext uri="{FF2B5EF4-FFF2-40B4-BE49-F238E27FC236}">
                <a16:creationId xmlns:a16="http://schemas.microsoft.com/office/drawing/2014/main" id="{D84EC01C-0EAC-4AD9-8E02-F211BC922435}"/>
              </a:ext>
            </a:extLst>
          </p:cNvPr>
          <p:cNvSpPr>
            <a:spLocks xmlns:a="http://schemas.openxmlformats.org/drawingml/2006/main" noGrp="1"/>
          </p:cNvSpPr>
          <p:nvPr/>
        </p:nvSpPr>
        <p:spPr>
          <a:xfrm xmlns:a="http://schemas.openxmlformats.org/drawingml/2006/main">
            <a:off x="609600" y="16573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재사용할 방법을 밝기 통계(image_statistics) 요청에 연결했다</a:t>
            </a:r>
          </a:p>
        </p:txBody>
      </p:sp>
      <p:sp>
        <p:nvSpPr>
          <p:cNvPr id="8" name="01  목록에서 발견">
            <a:extLst xmlns:a="http://schemas.openxmlformats.org/drawingml/2006/main">
              <a:ext uri="{FF2B5EF4-FFF2-40B4-BE49-F238E27FC236}">
                <a16:creationId xmlns:a16="http://schemas.microsoft.com/office/drawing/2014/main" id="{44B6E3A0-3ED5-4A64-813B-B3134081F010}"/>
              </a:ext>
            </a:extLst>
          </p:cNvPr>
          <p:cNvSpPr>
            <a:spLocks xmlns:a="http://schemas.openxmlformats.org/drawingml/2006/main" noGrp="1"/>
          </p:cNvSpPr>
          <p:nvPr/>
        </p:nvSpPr>
        <p:spPr>
          <a:xfrm xmlns:a="http://schemas.openxmlformats.org/drawingml/2006/main">
            <a:off x="609600" y="2171700"/>
            <a:ext cx="3124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01  목록에서 발견</a:t>
            </a:r>
          </a:p>
        </p:txBody>
      </p:sp>
      <p:sp>
        <p:nvSpPr>
          <p:cNvPr id="9" name="">
            <a:extLst xmlns:a="http://schemas.openxmlformats.org/drawingml/2006/main">
              <a:ext uri="{FF2B5EF4-FFF2-40B4-BE49-F238E27FC236}">
                <a16:creationId xmlns:a16="http://schemas.microsoft.com/office/drawing/2014/main" id="{6238C72A-009F-4D81-86A0-C5A3E1EB0EC4}"/>
              </a:ext>
            </a:extLst>
          </p:cNvPr>
          <p:cNvSpPr>
            <a:spLocks xmlns:a="http://schemas.openxmlformats.org/drawingml/2006/main" noGrp="1"/>
          </p:cNvSpPr>
          <p:nvPr/>
        </p:nvSpPr>
        <p:spPr>
          <a:xfrm xmlns:a="http://schemas.openxmlformats.org/drawingml/2006/main">
            <a:off x="609600" y="2590800"/>
            <a:ext cx="3124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02  요청에 명시 호출">
            <a:extLst xmlns:a="http://schemas.openxmlformats.org/drawingml/2006/main">
              <a:ext uri="{FF2B5EF4-FFF2-40B4-BE49-F238E27FC236}">
                <a16:creationId xmlns:a16="http://schemas.microsoft.com/office/drawing/2014/main" id="{3621917F-4FD7-48F2-BEC0-51F135697677}"/>
              </a:ext>
            </a:extLst>
          </p:cNvPr>
          <p:cNvSpPr>
            <a:spLocks xmlns:a="http://schemas.openxmlformats.org/drawingml/2006/main" noGrp="1"/>
          </p:cNvSpPr>
          <p:nvPr/>
        </p:nvSpPr>
        <p:spPr>
          <a:xfrm xmlns:a="http://schemas.openxmlformats.org/drawingml/2006/main">
            <a:off x="4114800" y="2171700"/>
            <a:ext cx="3505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02  요청에 명시 호출</a:t>
            </a:r>
          </a:p>
        </p:txBody>
      </p:sp>
      <p:sp>
        <p:nvSpPr>
          <p:cNvPr id="11" name="">
            <a:extLst xmlns:a="http://schemas.openxmlformats.org/drawingml/2006/main">
              <a:ext uri="{FF2B5EF4-FFF2-40B4-BE49-F238E27FC236}">
                <a16:creationId xmlns:a16="http://schemas.microsoft.com/office/drawing/2014/main" id="{89A2F0B9-EA87-4638-A29B-C4EA4B5C91FB}"/>
              </a:ext>
            </a:extLst>
          </p:cNvPr>
          <p:cNvSpPr>
            <a:spLocks xmlns:a="http://schemas.openxmlformats.org/drawingml/2006/main" noGrp="1"/>
          </p:cNvSpPr>
          <p:nvPr/>
        </p:nvSpPr>
        <p:spPr>
          <a:xfrm xmlns:a="http://schemas.openxmlformats.org/drawingml/2006/main">
            <a:off x="4114800" y="2590800"/>
            <a:ext cx="3505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03  실행 기록 확인">
            <a:extLst xmlns:a="http://schemas.openxmlformats.org/drawingml/2006/main">
              <a:ext uri="{FF2B5EF4-FFF2-40B4-BE49-F238E27FC236}">
                <a16:creationId xmlns:a16="http://schemas.microsoft.com/office/drawing/2014/main" id="{8AF7FC59-7CE0-4937-9ED1-01D052AAD16D}"/>
              </a:ext>
            </a:extLst>
          </p:cNvPr>
          <p:cNvSpPr>
            <a:spLocks xmlns:a="http://schemas.openxmlformats.org/drawingml/2006/main" noGrp="1"/>
          </p:cNvSpPr>
          <p:nvPr/>
        </p:nvSpPr>
        <p:spPr>
          <a:xfrm xmlns:a="http://schemas.openxmlformats.org/drawingml/2006/main">
            <a:off x="8001000" y="2171700"/>
            <a:ext cx="35814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03  실행 기록 확인</a:t>
            </a:r>
          </a:p>
        </p:txBody>
      </p:sp>
      <p:sp>
        <p:nvSpPr>
          <p:cNvPr id="13" name="">
            <a:extLst xmlns:a="http://schemas.openxmlformats.org/drawingml/2006/main">
              <a:ext uri="{FF2B5EF4-FFF2-40B4-BE49-F238E27FC236}">
                <a16:creationId xmlns:a16="http://schemas.microsoft.com/office/drawing/2014/main" id="{853E9362-3AF9-4DCA-98BC-B9527B050CDC}"/>
              </a:ext>
            </a:extLst>
          </p:cNvPr>
          <p:cNvSpPr>
            <a:spLocks xmlns:a="http://schemas.openxmlformats.org/drawingml/2006/main" noGrp="1"/>
          </p:cNvSpPr>
          <p:nvPr/>
        </p:nvSpPr>
        <p:spPr>
          <a:xfrm xmlns:a="http://schemas.openxmlformats.org/drawingml/2006/main">
            <a:off x="8001000" y="2590800"/>
            <a:ext cx="3581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cxnSp>
        <p:nvCxnSpPr>
          <p:cNvPr id="14" name="">
            <a:extLst xmlns:a="http://schemas.openxmlformats.org/drawingml/2006/main">
              <a:ext uri="{FF2B5EF4-FFF2-40B4-BE49-F238E27FC236}">
                <a16:creationId xmlns:a16="http://schemas.microsoft.com/office/drawing/2014/main" id="{571C49CA-0945-44DC-A788-38DEAA36EF7A}"/>
              </a:ext>
            </a:extLst>
          </p:cNvPr>
          <p:cNvCxnSpPr/>
          <p:nvPr/>
        </p:nvCxnSpPr>
        <p:spPr>
          <a:xfrm xmlns:a="http://schemas.openxmlformats.org/drawingml/2006/main">
            <a:off x="3829050" y="2352675"/>
            <a:ext cx="190500" cy="0"/>
          </a:xfrm>
          <a:prstGeom xmlns:a="http://schemas.openxmlformats.org/drawingml/2006/main" prst="straightConnector1">
            <a:avLst/>
          </a:prstGeom>
          <a:ln xmlns:a="http://schemas.openxmlformats.org/drawingml/2006/main" w="28575">
            <a:solidFill>
              <a:srgbClr val="0B6172"/>
            </a:solidFill>
            <a:tailEnd type="triangle" w="sm" len="sm"/>
          </a:ln>
        </p:spPr>
      </p:cxnSp>
      <p:cxnSp>
        <p:nvCxnSpPr>
          <p:cNvPr id="15" name="">
            <a:extLst xmlns:a="http://schemas.openxmlformats.org/drawingml/2006/main">
              <a:ext uri="{FF2B5EF4-FFF2-40B4-BE49-F238E27FC236}">
                <a16:creationId xmlns:a16="http://schemas.microsoft.com/office/drawing/2014/main" id="{BE5A87C4-CE2F-4992-BE30-DB61240972E6}"/>
              </a:ext>
            </a:extLst>
          </p:cNvPr>
          <p:cNvCxnSpPr/>
          <p:nvPr/>
        </p:nvCxnSpPr>
        <p:spPr>
          <a:xfrm xmlns:a="http://schemas.openxmlformats.org/drawingml/2006/main">
            <a:off x="7715250" y="2352675"/>
            <a:ext cx="190500" cy="0"/>
          </a:xfrm>
          <a:prstGeom xmlns:a="http://schemas.openxmlformats.org/drawingml/2006/main" prst="straightConnector1">
            <a:avLst/>
          </a:prstGeom>
          <a:ln xmlns:a="http://schemas.openxmlformats.org/drawingml/2006/main" w="28575">
            <a:solidFill>
              <a:srgbClr val="0B6172"/>
            </a:solidFill>
            <a:tailEnd type="triangle" w="sm" len="sm"/>
          </a:ln>
        </p:spPr>
      </p:cxnSp>
      <p:sp>
        <p:nvSpPr>
          <p:cNvPr id="16" name="/skills">
            <a:extLst xmlns:a="http://schemas.openxmlformats.org/drawingml/2006/main">
              <a:ext uri="{FF2B5EF4-FFF2-40B4-BE49-F238E27FC236}">
                <a16:creationId xmlns:a16="http://schemas.microsoft.com/office/drawing/2014/main" id="{BBE2DA38-DA34-4FF5-90B1-D65DF12443F5}"/>
              </a:ext>
            </a:extLst>
          </p:cNvPr>
          <p:cNvSpPr>
            <a:spLocks xmlns:a="http://schemas.openxmlformats.org/drawingml/2006/main" noGrp="1"/>
          </p:cNvSpPr>
          <p:nvPr/>
        </p:nvSpPr>
        <p:spPr>
          <a:xfrm xmlns:a="http://schemas.openxmlformats.org/drawingml/2006/main">
            <a:off x="609600" y="2800350"/>
            <a:ext cx="31242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/skills</a:t>
            </a:r>
          </a:p>
        </p:txBody>
      </p:sp>
      <p:sp>
        <p:nvSpPr>
          <p:cNvPr id="17" name="">
            <a:extLst xmlns:a="http://schemas.openxmlformats.org/drawingml/2006/main">
              <a:ext uri="{FF2B5EF4-FFF2-40B4-BE49-F238E27FC236}">
                <a16:creationId xmlns:a16="http://schemas.microsoft.com/office/drawing/2014/main" id="{4E024BD6-D50F-4E3C-B369-2A58800F35C7}"/>
              </a:ext>
            </a:extLst>
          </p:cNvPr>
          <p:cNvSpPr>
            <a:spLocks xmlns:a="http://schemas.openxmlformats.org/drawingml/2006/main" noGrp="1"/>
          </p:cNvSpPr>
          <p:nvPr/>
        </p:nvSpPr>
        <p:spPr>
          <a:xfrm xmlns:a="http://schemas.openxmlformats.org/drawingml/2006/main">
            <a:off x="609600" y="3286125"/>
            <a:ext cx="3124200" cy="12001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graypipe-performance">
            <a:extLst xmlns:a="http://schemas.openxmlformats.org/drawingml/2006/main">
              <a:ext uri="{FF2B5EF4-FFF2-40B4-BE49-F238E27FC236}">
                <a16:creationId xmlns:a16="http://schemas.microsoft.com/office/drawing/2014/main" id="{309AACE4-26D6-41F1-BC01-0BF20DEE533E}"/>
              </a:ext>
            </a:extLst>
          </p:cNvPr>
          <p:cNvSpPr>
            <a:spLocks xmlns:a="http://schemas.openxmlformats.org/drawingml/2006/main" noGrp="1"/>
          </p:cNvSpPr>
          <p:nvPr/>
        </p:nvSpPr>
        <p:spPr>
          <a:xfrm xmlns:a="http://schemas.openxmlformats.org/drawingml/2006/main">
            <a:off x="762000" y="3400425"/>
            <a:ext cx="2819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graypipe-performance</a:t>
            </a:r>
          </a:p>
        </p:txBody>
      </p:sp>
      <p:sp>
        <p:nvSpPr>
          <p:cNvPr id="19" name="Investigate repository&#10;performance with reproduc…">
            <a:extLst xmlns:a="http://schemas.openxmlformats.org/drawingml/2006/main">
              <a:ext uri="{FF2B5EF4-FFF2-40B4-BE49-F238E27FC236}">
                <a16:creationId xmlns:a16="http://schemas.microsoft.com/office/drawing/2014/main" id="{DFF62528-F5E7-42BF-A00E-366B18826691}"/>
              </a:ext>
            </a:extLst>
          </p:cNvPr>
          <p:cNvSpPr>
            <a:spLocks xmlns:a="http://schemas.openxmlformats.org/drawingml/2006/main" noGrp="1"/>
          </p:cNvSpPr>
          <p:nvPr/>
        </p:nvSpPr>
        <p:spPr>
          <a:xfrm xmlns:a="http://schemas.openxmlformats.org/drawingml/2006/main">
            <a:off x="762000" y="3848100"/>
            <a:ext cx="28194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Investigate repository</a:t>
            </a:r>
          </a:p>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performance with reproduc…</a:t>
            </a:r>
          </a:p>
        </p:txBody>
      </p:sp>
      <p:sp>
        <p:nvSpPr>
          <p:cNvPr id="20" name="이름·설명 일부 표시&#10;목록에는 경로가 없었음">
            <a:extLst xmlns:a="http://schemas.openxmlformats.org/drawingml/2006/main">
              <a:ext uri="{FF2B5EF4-FFF2-40B4-BE49-F238E27FC236}">
                <a16:creationId xmlns:a16="http://schemas.microsoft.com/office/drawing/2014/main" id="{503C20B9-2139-497F-98D7-3E93021379ED}"/>
              </a:ext>
            </a:extLst>
          </p:cNvPr>
          <p:cNvSpPr>
            <a:spLocks xmlns:a="http://schemas.openxmlformats.org/drawingml/2006/main" noGrp="1"/>
          </p:cNvSpPr>
          <p:nvPr/>
        </p:nvSpPr>
        <p:spPr>
          <a:xfrm xmlns:a="http://schemas.openxmlformats.org/drawingml/2006/main">
            <a:off x="609600" y="46672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이름·설명 일부 표시</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목록에는 경로가 없었음</a:t>
            </a:r>
          </a:p>
        </p:txBody>
      </p:sp>
      <p:sp>
        <p:nvSpPr>
          <p:cNvPr id="21" name="">
            <a:extLst xmlns:a="http://schemas.openxmlformats.org/drawingml/2006/main">
              <a:ext uri="{FF2B5EF4-FFF2-40B4-BE49-F238E27FC236}">
                <a16:creationId xmlns:a16="http://schemas.microsoft.com/office/drawing/2014/main" id="{AC88BACD-775D-43F0-B19D-F2FDA18D9112}"/>
              </a:ext>
            </a:extLst>
          </p:cNvPr>
          <p:cNvSpPr>
            <a:spLocks xmlns:a="http://schemas.openxmlformats.org/drawingml/2006/main" noGrp="1"/>
          </p:cNvSpPr>
          <p:nvPr/>
        </p:nvSpPr>
        <p:spPr>
          <a:xfrm xmlns:a="http://schemas.openxmlformats.org/drawingml/2006/main">
            <a:off x="4114800" y="2800350"/>
            <a:ext cx="3505200" cy="2324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2" name="실제 요청의 발췌·번역 요약">
            <a:extLst xmlns:a="http://schemas.openxmlformats.org/drawingml/2006/main">
              <a:ext uri="{FF2B5EF4-FFF2-40B4-BE49-F238E27FC236}">
                <a16:creationId xmlns:a16="http://schemas.microsoft.com/office/drawing/2014/main" id="{BC15CBDA-8B76-430C-AAC0-75DD63313F6A}"/>
              </a:ext>
            </a:extLst>
          </p:cNvPr>
          <p:cNvSpPr>
            <a:spLocks xmlns:a="http://schemas.openxmlformats.org/drawingml/2006/main" noGrp="1"/>
          </p:cNvSpPr>
          <p:nvPr/>
        </p:nvSpPr>
        <p:spPr>
          <a:xfrm xmlns:a="http://schemas.openxmlformats.org/drawingml/2006/main">
            <a:off x="4267200" y="2914650"/>
            <a:ext cx="32004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실제 요청의 발췌·번역 요약</a:t>
            </a:r>
          </a:p>
        </p:txBody>
      </p:sp>
      <p:sp>
        <p:nvSpPr>
          <p:cNvPr id="23" name="$graypipe-performance">
            <a:extLst xmlns:a="http://schemas.openxmlformats.org/drawingml/2006/main">
              <a:ext uri="{FF2B5EF4-FFF2-40B4-BE49-F238E27FC236}">
                <a16:creationId xmlns:a16="http://schemas.microsoft.com/office/drawing/2014/main" id="{60A79740-29C0-4809-A849-8932C57718F1}"/>
              </a:ext>
            </a:extLst>
          </p:cNvPr>
          <p:cNvSpPr>
            <a:spLocks xmlns:a="http://schemas.openxmlformats.org/drawingml/2006/main" noGrp="1"/>
          </p:cNvSpPr>
          <p:nvPr/>
        </p:nvSpPr>
        <p:spPr>
          <a:xfrm xmlns:a="http://schemas.openxmlformats.org/drawingml/2006/main">
            <a:off x="4267200" y="3314700"/>
            <a:ext cx="3200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$graypipe-performance</a:t>
            </a:r>
          </a:p>
        </p:txBody>
      </p:sp>
      <p:sp>
        <p:nvSpPr>
          <p:cNvPr id="24" name="">
            <a:extLst xmlns:a="http://schemas.openxmlformats.org/drawingml/2006/main">
              <a:ext uri="{FF2B5EF4-FFF2-40B4-BE49-F238E27FC236}">
                <a16:creationId xmlns:a16="http://schemas.microsoft.com/office/drawing/2014/main" id="{C870E98D-4F68-45B4-8990-3612755D0A83}"/>
              </a:ext>
            </a:extLst>
          </p:cNvPr>
          <p:cNvSpPr>
            <a:spLocks xmlns:a="http://schemas.openxmlformats.org/drawingml/2006/main" noGrp="1"/>
          </p:cNvSpPr>
          <p:nvPr/>
        </p:nvSpPr>
        <p:spPr>
          <a:xfrm xmlns:a="http://schemas.openxmlformats.org/drawingml/2006/main">
            <a:off x="4267200" y="3752850"/>
            <a:ext cx="3200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5" name="image_statistics 조사&#10;실행 시간 또는 할당량 개선&#10;결과 6항목 보존 · 범위 한정">
            <a:extLst xmlns:a="http://schemas.openxmlformats.org/drawingml/2006/main">
              <a:ext uri="{FF2B5EF4-FFF2-40B4-BE49-F238E27FC236}">
                <a16:creationId xmlns:a16="http://schemas.microsoft.com/office/drawing/2014/main" id="{947E211B-42BA-4309-B33E-297DFBA3CC09}"/>
              </a:ext>
            </a:extLst>
          </p:cNvPr>
          <p:cNvSpPr>
            <a:spLocks xmlns:a="http://schemas.openxmlformats.org/drawingml/2006/main" noGrp="1"/>
          </p:cNvSpPr>
          <p:nvPr/>
        </p:nvSpPr>
        <p:spPr>
          <a:xfrm xmlns:a="http://schemas.openxmlformats.org/drawingml/2006/main">
            <a:off x="4267200" y="3905250"/>
            <a:ext cx="3200400" cy="1019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image_statistics 조사</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실행 시간 또는 할당량 개선</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결과 6항목 보존 · 범위 한정</a:t>
            </a:r>
          </a:p>
        </p:txBody>
      </p:sp>
      <p:sp>
        <p:nvSpPr>
          <p:cNvPr id="26" name="실행 trace의 &lt;skill&gt; 항목">
            <a:extLst xmlns:a="http://schemas.openxmlformats.org/drawingml/2006/main">
              <a:ext uri="{FF2B5EF4-FFF2-40B4-BE49-F238E27FC236}">
                <a16:creationId xmlns:a16="http://schemas.microsoft.com/office/drawing/2014/main" id="{5CBEDBA9-93FA-4D58-B960-46B149F7AE49}"/>
              </a:ext>
            </a:extLst>
          </p:cNvPr>
          <p:cNvSpPr>
            <a:spLocks xmlns:a="http://schemas.openxmlformats.org/drawingml/2006/main" noGrp="1"/>
          </p:cNvSpPr>
          <p:nvPr/>
        </p:nvSpPr>
        <p:spPr>
          <a:xfrm xmlns:a="http://schemas.openxmlformats.org/drawingml/2006/main">
            <a:off x="8001000" y="2800350"/>
            <a:ext cx="3581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실행 trace의 &lt;skill&gt; 항목</a:t>
            </a:r>
          </a:p>
        </p:txBody>
      </p:sp>
      <p:sp>
        <p:nvSpPr>
          <p:cNvPr id="27" name="graypipe-performance">
            <a:extLst xmlns:a="http://schemas.openxmlformats.org/drawingml/2006/main">
              <a:ext uri="{FF2B5EF4-FFF2-40B4-BE49-F238E27FC236}">
                <a16:creationId xmlns:a16="http://schemas.microsoft.com/office/drawing/2014/main" id="{8DBD7BAA-656D-482A-BB75-B57A95DB185D}"/>
              </a:ext>
            </a:extLst>
          </p:cNvPr>
          <p:cNvSpPr>
            <a:spLocks xmlns:a="http://schemas.openxmlformats.org/drawingml/2006/main" noGrp="1"/>
          </p:cNvSpPr>
          <p:nvPr/>
        </p:nvSpPr>
        <p:spPr>
          <a:xfrm xmlns:a="http://schemas.openxmlformats.org/drawingml/2006/main">
            <a:off x="8001000" y="3228975"/>
            <a:ext cx="3581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graypipe-performance</a:t>
            </a:r>
          </a:p>
        </p:txBody>
      </p:sp>
      <p:sp>
        <p:nvSpPr>
          <p:cNvPr id="28" name=".agents/skills/&#10;graypipe-performance/SKILL.md">
            <a:extLst xmlns:a="http://schemas.openxmlformats.org/drawingml/2006/main">
              <a:ext uri="{FF2B5EF4-FFF2-40B4-BE49-F238E27FC236}">
                <a16:creationId xmlns:a16="http://schemas.microsoft.com/office/drawing/2014/main" id="{29D02E62-DA40-4A2C-BF08-FAE611E1A5C0}"/>
              </a:ext>
            </a:extLst>
          </p:cNvPr>
          <p:cNvSpPr>
            <a:spLocks xmlns:a="http://schemas.openxmlformats.org/drawingml/2006/main" noGrp="1"/>
          </p:cNvSpPr>
          <p:nvPr/>
        </p:nvSpPr>
        <p:spPr>
          <a:xfrm xmlns:a="http://schemas.openxmlformats.org/drawingml/2006/main">
            <a:off x="8001000" y="3676650"/>
            <a:ext cx="35814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17212B"/>
                </a:solidFill>
                <a:latin typeface="Consolas"/>
                <a:ea typeface="Consolas"/>
                <a:cs typeface="Consolas"/>
              </a:defRPr>
            </a:defPPr>
            <a:lvl1pPr algn="l">
              <a:defRPr sz="1575" b="0">
                <a:solidFill>
                  <a:srgbClr val="17212B"/>
                </a:solidFill>
                <a:latin typeface="Consolas"/>
                <a:ea typeface="Consolas"/>
                <a:cs typeface="Consolas"/>
              </a:defRPr>
            </a:lvl1pPr>
            <a:lvl2pPr algn="l">
              <a:defRPr sz="1575" b="0">
                <a:solidFill>
                  <a:srgbClr val="17212B"/>
                </a:solidFill>
                <a:latin typeface="Consolas"/>
                <a:ea typeface="Consolas"/>
                <a:cs typeface="Consolas"/>
              </a:defRPr>
            </a:lvl2pPr>
            <a:lvl3pPr algn="l">
              <a:defRPr sz="1575" b="0">
                <a:solidFill>
                  <a:srgbClr val="17212B"/>
                </a:solidFill>
                <a:latin typeface="Consolas"/>
                <a:ea typeface="Consolas"/>
                <a:cs typeface="Consolas"/>
              </a:defRPr>
            </a:lvl3pPr>
            <a:lvl4pPr algn="l">
              <a:defRPr sz="1575" b="0">
                <a:solidFill>
                  <a:srgbClr val="17212B"/>
                </a:solidFill>
                <a:latin typeface="Consolas"/>
                <a:ea typeface="Consolas"/>
                <a:cs typeface="Consolas"/>
              </a:defRPr>
            </a:lvl4pPr>
            <a:lvl5pPr algn="l">
              <a:defRPr sz="1575" b="0">
                <a:solidFill>
                  <a:srgbClr val="17212B"/>
                </a:solidFill>
                <a:latin typeface="Consolas"/>
                <a:ea typeface="Consolas"/>
                <a:cs typeface="Consolas"/>
              </a:defRPr>
            </a:lvl5pPr>
            <a:lvl6pPr algn="l">
              <a:defRPr sz="1575" b="0">
                <a:solidFill>
                  <a:srgbClr val="17212B"/>
                </a:solidFill>
                <a:latin typeface="Consolas"/>
                <a:ea typeface="Consolas"/>
                <a:cs typeface="Consolas"/>
              </a:defRPr>
            </a:lvl6pPr>
            <a:lvl7pPr algn="l">
              <a:defRPr sz="1575" b="0">
                <a:solidFill>
                  <a:srgbClr val="17212B"/>
                </a:solidFill>
                <a:latin typeface="Consolas"/>
                <a:ea typeface="Consolas"/>
                <a:cs typeface="Consolas"/>
              </a:defRPr>
            </a:lvl7pPr>
            <a:lvl8pPr algn="l">
              <a:defRPr sz="1575" b="0">
                <a:solidFill>
                  <a:srgbClr val="17212B"/>
                </a:solidFill>
                <a:latin typeface="Consolas"/>
                <a:ea typeface="Consolas"/>
                <a:cs typeface="Consolas"/>
              </a:defRPr>
            </a:lvl8pPr>
            <a:lvl9pPr algn="l">
              <a:defRPr sz="1575" b="0">
                <a:solidFill>
                  <a:srgbClr val="17212B"/>
                </a:solidFill>
                <a:latin typeface="Consolas"/>
                <a:ea typeface="Consolas"/>
                <a:cs typeface="Consolas"/>
              </a:defRPr>
            </a:lvl9pPr>
          </a:lstStyle>
          <a:p xmlns:a="http://schemas.openxmlformats.org/drawingml/2006/main">
            <a:pPr algn="l">
              <a:defRPr sz="1575" b="0">
                <a:solidFill>
                  <a:srgbClr val="17212B"/>
                </a:solidFill>
                <a:latin typeface="Consolas"/>
                <a:ea typeface="Consolas"/>
                <a:cs typeface="Consolas"/>
              </a:defRPr>
            </a:pPr>
            <a:r>
              <a:rPr sz="1575" b="0">
                <a:solidFill>
                  <a:srgbClr val="17212B"/>
                </a:solidFill>
                <a:latin typeface="Consolas"/>
                <a:ea typeface="Consolas"/>
                <a:cs typeface="Consolas"/>
              </a:rPr>
              <a:t>.agents/skills/</a:t>
            </a:r>
          </a:p>
          <a:p xmlns:a="http://schemas.openxmlformats.org/drawingml/2006/main">
            <a:pPr algn="l">
              <a:defRPr sz="1575" b="0">
                <a:solidFill>
                  <a:srgbClr val="17212B"/>
                </a:solidFill>
                <a:latin typeface="Consolas"/>
                <a:ea typeface="Consolas"/>
                <a:cs typeface="Consolas"/>
              </a:defRPr>
            </a:pPr>
            <a:r>
              <a:rPr sz="1575" b="0">
                <a:solidFill>
                  <a:srgbClr val="17212B"/>
                </a:solidFill>
                <a:latin typeface="Consolas"/>
                <a:ea typeface="Consolas"/>
                <a:cs typeface="Consolas"/>
              </a:rPr>
              <a:t>graypipe-performance/SKILL.md</a:t>
            </a:r>
          </a:p>
        </p:txBody>
      </p:sp>
      <p:sp>
        <p:nvSpPr>
          <p:cNvPr id="29" name="">
            <a:extLst xmlns:a="http://schemas.openxmlformats.org/drawingml/2006/main">
              <a:ext uri="{FF2B5EF4-FFF2-40B4-BE49-F238E27FC236}">
                <a16:creationId xmlns:a16="http://schemas.microsoft.com/office/drawing/2014/main" id="{3B6DD1E5-D9C9-4A0A-BFEF-2E83FA599267}"/>
              </a:ext>
            </a:extLst>
          </p:cNvPr>
          <p:cNvSpPr>
            <a:spLocks xmlns:a="http://schemas.openxmlformats.org/drawingml/2006/main" noGrp="1"/>
          </p:cNvSpPr>
          <p:nvPr/>
        </p:nvSpPr>
        <p:spPr>
          <a:xfrm xmlns:a="http://schemas.openxmlformats.org/drawingml/2006/main">
            <a:off x="8001000" y="4438650"/>
            <a:ext cx="3581400" cy="6858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0" name="SKILL.md 전체 본문 포함">
            <a:extLst xmlns:a="http://schemas.openxmlformats.org/drawingml/2006/main">
              <a:ext uri="{FF2B5EF4-FFF2-40B4-BE49-F238E27FC236}">
                <a16:creationId xmlns:a16="http://schemas.microsoft.com/office/drawing/2014/main" id="{2B4D8A85-3874-4450-927D-087153340091}"/>
              </a:ext>
            </a:extLst>
          </p:cNvPr>
          <p:cNvSpPr>
            <a:spLocks xmlns:a="http://schemas.openxmlformats.org/drawingml/2006/main" noGrp="1"/>
          </p:cNvSpPr>
          <p:nvPr/>
        </p:nvSpPr>
        <p:spPr>
          <a:xfrm xmlns:a="http://schemas.openxmlformats.org/drawingml/2006/main">
            <a:off x="8153400" y="4524375"/>
            <a:ext cx="3276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SKILL.md 전체 본문 포함</a:t>
            </a:r>
          </a:p>
        </p:txBody>
      </p:sp>
      <p:sp>
        <p:nvSpPr>
          <p:cNvPr id="31" name="절차 · 보고 · 제약">
            <a:extLst xmlns:a="http://schemas.openxmlformats.org/drawingml/2006/main">
              <a:ext uri="{FF2B5EF4-FFF2-40B4-BE49-F238E27FC236}">
                <a16:creationId xmlns:a16="http://schemas.microsoft.com/office/drawing/2014/main" id="{F6AA6388-C8B0-4987-B373-5BC9A7C4B41E}"/>
              </a:ext>
            </a:extLst>
          </p:cNvPr>
          <p:cNvSpPr>
            <a:spLocks xmlns:a="http://schemas.openxmlformats.org/drawingml/2006/main" noGrp="1"/>
          </p:cNvSpPr>
          <p:nvPr/>
        </p:nvSpPr>
        <p:spPr>
          <a:xfrm xmlns:a="http://schemas.openxmlformats.org/drawingml/2006/main">
            <a:off x="8153400" y="4848225"/>
            <a:ext cx="32766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절차 · 보고 · 제약</a:t>
            </a:r>
          </a:p>
        </p:txBody>
      </p:sp>
      <p:sp>
        <p:nvSpPr>
          <p:cNvPr id="32" name="이름·경로·전체 본문으로, 이번 작업에 포함된 지침을 확인했다">
            <a:extLst xmlns:a="http://schemas.openxmlformats.org/drawingml/2006/main">
              <a:ext uri="{FF2B5EF4-FFF2-40B4-BE49-F238E27FC236}">
                <a16:creationId xmlns:a16="http://schemas.microsoft.com/office/drawing/2014/main" id="{6AEAA0FD-7B53-411B-806A-3B1B77E29F87}"/>
              </a:ext>
            </a:extLst>
          </p:cNvPr>
          <p:cNvSpPr>
            <a:spLocks xmlns:a="http://schemas.openxmlformats.org/drawingml/2006/main" noGrp="1"/>
          </p:cNvSpPr>
          <p:nvPr/>
        </p:nvSpPr>
        <p:spPr>
          <a:xfrm xmlns:a="http://schemas.openxmlformats.org/drawingml/2006/main">
            <a:off x="609600" y="539115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이름·경로·전체 본문으로, 이번 작업에 포함된 지침을 확인했다</a:t>
            </a:r>
          </a:p>
        </p:txBody>
      </p:sp>
      <p:sp>
        <p:nvSpPr>
          <p:cNvPr id="33" name="Legacy module connection">
            <a:extLst xmlns:a="http://schemas.openxmlformats.org/drawingml/2006/main">
              <a:ext uri="{FF2B5EF4-FFF2-40B4-BE49-F238E27FC236}">
                <a16:creationId xmlns:a16="http://schemas.microsoft.com/office/drawing/2014/main" id="{DDC0ACEE-8FC2-432F-BA9A-0D81EC5B1B7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10460863"/>
      </p:ext>
    </p:extLst>
  </p:cSld>
</p:sld>
</file>

<file path=ppt/slides/slide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3 · 밝기 통계 작업에서 지침 수행 근거 확인">
            <a:extLst xmlns:a="http://schemas.openxmlformats.org/drawingml/2006/main">
              <a:ext uri="{FF2B5EF4-FFF2-40B4-BE49-F238E27FC236}">
                <a16:creationId xmlns:a16="http://schemas.microsoft.com/office/drawing/2014/main" id="{78335C31-298B-4793-B983-30740E7A8A5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밝기 통계 작업에서 지침 수행 근거 확인</a:t>
            </a:r>
          </a:p>
        </p:txBody>
      </p:sp>
      <p:sp>
        <p:nvSpPr>
          <p:cNvPr id="2" name="S62">
            <a:extLst xmlns:a="http://schemas.openxmlformats.org/drawingml/2006/main">
              <a:ext uri="{FF2B5EF4-FFF2-40B4-BE49-F238E27FC236}">
                <a16:creationId xmlns:a16="http://schemas.microsoft.com/office/drawing/2014/main" id="{067AB1B0-49FF-4319-AA7E-A5AC2D06D13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S62</a:t>
            </a:r>
          </a:p>
        </p:txBody>
      </p:sp>
      <p:sp>
        <p:nvSpPr>
          <p:cNvPr id="3" name="Skill 지침과 실제 작업 기록의 대응">
            <a:extLst xmlns:a="http://schemas.openxmlformats.org/drawingml/2006/main">
              <a:ext uri="{FF2B5EF4-FFF2-40B4-BE49-F238E27FC236}">
                <a16:creationId xmlns:a16="http://schemas.microsoft.com/office/drawing/2014/main" id="{C11F760D-3F11-4F9C-8A0C-9CD0DE40EE2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Skill 지침과 실제 작업 기록의 대응</a:t>
            </a:r>
          </a:p>
        </p:txBody>
      </p:sp>
      <p:sp>
        <p:nvSpPr>
          <p:cNvPr id="4" name="">
            <a:extLst xmlns:a="http://schemas.openxmlformats.org/drawingml/2006/main">
              <a:ext uri="{FF2B5EF4-FFF2-40B4-BE49-F238E27FC236}">
                <a16:creationId xmlns:a16="http://schemas.microsoft.com/office/drawing/2014/main" id="{9153E65E-DF02-48EC-990A-FF6E3915977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8 · Codex CLI 0.154.0 · Skill 번역 요약 + 작업 기록 재구성 (실제 ">
            <a:extLst xmlns:a="http://schemas.openxmlformats.org/drawingml/2006/main">
              <a:ext uri="{FF2B5EF4-FFF2-40B4-BE49-F238E27FC236}">
                <a16:creationId xmlns:a16="http://schemas.microsoft.com/office/drawing/2014/main" id="{52C2DF8F-B432-4E29-B080-5B641DE520D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TRIAL-008 · Codex CLI 0.154.0 · Skill 번역 요약 + 작업 기록 재구성 (실제 캡처 아님)</a:t>
            </a:r>
          </a:p>
        </p:txBody>
      </p:sp>
      <p:sp>
        <p:nvSpPr>
          <p:cNvPr id="6" name="관찰된 대응 · 전체 지침 준수·Skill 단독 인과성·우월성·토큰/속도 효과는 입증하지 않음">
            <a:extLst xmlns:a="http://schemas.openxmlformats.org/drawingml/2006/main">
              <a:ext uri="{FF2B5EF4-FFF2-40B4-BE49-F238E27FC236}">
                <a16:creationId xmlns:a16="http://schemas.microsoft.com/office/drawing/2014/main" id="{E9BE847F-2E67-48D7-92A5-E11C0920ACD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관찰된 대응 · 전체 지침 준수·Skill 단독 인과성·우월성·토큰/속도 효과는 입증하지 않음</a:t>
            </a:r>
          </a:p>
        </p:txBody>
      </p:sp>
      <p:sp>
        <p:nvSpPr>
          <p:cNvPr id="7" name="">
            <a:extLst xmlns:a="http://schemas.openxmlformats.org/drawingml/2006/main">
              <a:ext uri="{FF2B5EF4-FFF2-40B4-BE49-F238E27FC236}">
                <a16:creationId xmlns:a16="http://schemas.microsoft.com/office/drawing/2014/main" id="{4CD70C54-9CB1-4973-BECC-F872B4F8D200}"/>
              </a:ext>
            </a:extLst>
          </p:cNvPr>
          <p:cNvSpPr>
            <a:spLocks xmlns:a="http://schemas.openxmlformats.org/drawingml/2006/main" noGrp="1"/>
          </p:cNvSpPr>
          <p:nvPr/>
        </p:nvSpPr>
        <p:spPr>
          <a:xfrm xmlns:a="http://schemas.openxmlformats.org/drawingml/2006/main">
            <a:off x="609600" y="1743075"/>
            <a:ext cx="4191000" cy="561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앞 장: Skill 본문 포함 확인">
            <a:extLst xmlns:a="http://schemas.openxmlformats.org/drawingml/2006/main">
              <a:ext uri="{FF2B5EF4-FFF2-40B4-BE49-F238E27FC236}">
                <a16:creationId xmlns:a16="http://schemas.microsoft.com/office/drawing/2014/main" id="{DF9EAC99-DED5-4092-84A0-ED380B19C0C8}"/>
              </a:ext>
            </a:extLst>
          </p:cNvPr>
          <p:cNvSpPr>
            <a:spLocks xmlns:a="http://schemas.openxmlformats.org/drawingml/2006/main" noGrp="1"/>
          </p:cNvSpPr>
          <p:nvPr/>
        </p:nvSpPr>
        <p:spPr>
          <a:xfrm xmlns:a="http://schemas.openxmlformats.org/drawingml/2006/main">
            <a:off x="781050" y="1857375"/>
            <a:ext cx="3848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앞 장: Skill 본문 포함 확인</a:t>
            </a:r>
          </a:p>
        </p:txBody>
      </p:sp>
      <p:cxnSp>
        <p:nvCxnSpPr>
          <p:cNvPr id="9" name="">
            <a:extLst xmlns:a="http://schemas.openxmlformats.org/drawingml/2006/main">
              <a:ext uri="{FF2B5EF4-FFF2-40B4-BE49-F238E27FC236}">
                <a16:creationId xmlns:a16="http://schemas.microsoft.com/office/drawing/2014/main" id="{2287A55E-C4EC-4ABA-9A02-4BD2CD2F7EF5}"/>
              </a:ext>
            </a:extLst>
          </p:cNvPr>
          <p:cNvCxnSpPr/>
          <p:nvPr/>
        </p:nvCxnSpPr>
        <p:spPr>
          <a:xfrm xmlns:a="http://schemas.openxmlformats.org/drawingml/2006/main">
            <a:off x="4914900" y="2019300"/>
            <a:ext cx="304800" cy="0"/>
          </a:xfrm>
          <a:prstGeom xmlns:a="http://schemas.openxmlformats.org/drawingml/2006/main" prst="straightConnector1">
            <a:avLst/>
          </a:prstGeom>
          <a:ln xmlns:a="http://schemas.openxmlformats.org/drawingml/2006/main" w="28575">
            <a:solidFill>
              <a:srgbClr val="0B6172"/>
            </a:solidFill>
            <a:tailEnd type="triangle" w="sm" len="sm"/>
          </a:ln>
        </p:spPr>
      </p:cxnSp>
      <p:sp>
        <p:nvSpPr>
          <p:cNvPr id="10" name="">
            <a:extLst xmlns:a="http://schemas.openxmlformats.org/drawingml/2006/main">
              <a:ext uri="{FF2B5EF4-FFF2-40B4-BE49-F238E27FC236}">
                <a16:creationId xmlns:a16="http://schemas.microsoft.com/office/drawing/2014/main" id="{058D6488-4104-42BB-9BDD-E72D29D46F71}"/>
              </a:ext>
            </a:extLst>
          </p:cNvPr>
          <p:cNvSpPr>
            <a:spLocks xmlns:a="http://schemas.openxmlformats.org/drawingml/2006/main" noGrp="1"/>
          </p:cNvSpPr>
          <p:nvPr/>
        </p:nvSpPr>
        <p:spPr>
          <a:xfrm xmlns:a="http://schemas.openxmlformats.org/drawingml/2006/main">
            <a:off x="5334000" y="1743075"/>
            <a:ext cx="6248400" cy="561975"/>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1" name="이번 장: 지침과 수행 기록 대조">
            <a:extLst xmlns:a="http://schemas.openxmlformats.org/drawingml/2006/main">
              <a:ext uri="{FF2B5EF4-FFF2-40B4-BE49-F238E27FC236}">
                <a16:creationId xmlns:a16="http://schemas.microsoft.com/office/drawing/2014/main" id="{4FB032C9-676F-4D0B-8A64-A4964D487D2E}"/>
              </a:ext>
            </a:extLst>
          </p:cNvPr>
          <p:cNvSpPr>
            <a:spLocks xmlns:a="http://schemas.openxmlformats.org/drawingml/2006/main" noGrp="1"/>
          </p:cNvSpPr>
          <p:nvPr/>
        </p:nvSpPr>
        <p:spPr>
          <a:xfrm xmlns:a="http://schemas.openxmlformats.org/drawingml/2006/main">
            <a:off x="5524500" y="1857375"/>
            <a:ext cx="5867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이번 장: 지침과 수행 기록 대조</a:t>
            </a:r>
          </a:p>
        </p:txBody>
      </p:sp>
      <p:graphicFrame>
        <p:nvGraphicFramePr>
          <p:cNvPr id="12" name="">
            <a:extLst xmlns:a="http://schemas.openxmlformats.org/drawingml/2006/main">
              <a:ext uri="{FF2B5EF4-FFF2-40B4-BE49-F238E27FC236}">
                <a16:creationId xmlns:a16="http://schemas.microsoft.com/office/drawing/2014/main" id="{E75C61DB-98A9-44CF-8E39-B2788C9C6558}"/>
              </a:ext>
            </a:extLst>
          </p:cNvPr>
          <p:cNvGraphicFramePr/>
          <p:nvPr/>
        </p:nvGraphicFramePr>
        <p:xfrm>
          <a:off xmlns:a="http://schemas.openxmlformats.org/drawingml/2006/main" x="609600" y="2457450"/>
          <a:ext xmlns:a="http://schemas.openxmlformats.org/drawingml/2006/main" cx="10972800" cy="2762250"/>
        </p:xfrm>
        <a:graphic xmlns:a="http://schemas.openxmlformats.org/drawingml/2006/main">
          <a:graphicData uri="http://schemas.openxmlformats.org/drawingml/2006/table">
            <a:tbl>
              <a:tblPr firstRow="0" bandRow="0"/>
              <a:tblGrid>
                <a:gridCol w="609600"/>
                <a:gridCol w="4533900"/>
                <a:gridCol w="5829300"/>
              </a:tblGrid>
              <a:tr h="419100">
                <a:tc>
                  <a:txBody>
                    <a:bodyPr wrap="none">
                      <a:noAutofit/>
                    </a:bodyPr>
                    <a:lstStyle/>
                    <a:p>
                      <a:r>
                        <a:rPr sz="2025" b="1">
                          <a:solidFill>
                            <a:srgbClr val="0B6172"/>
                          </a:solidFill>
                          <a:latin typeface="Malgun Gothic"/>
                          <a:ea typeface="Malgun Gothic"/>
                          <a:cs typeface="Malgun Gothic"/>
                        </a:rPr>
                        <a:t/>
                      </a:r>
                    </a:p>
                  </a:txBody>
                  <a:tcPr marL="91440" marR="91440" marT="45720" marB="45720" anchor="ctr">
                    <a:lnL w="7620">
                      <a:solidFill>
                        <a:srgbClr val="C7D0DA"/>
                      </a:solidFill>
                      <a:prstDash val="solid"/>
                    </a:lnL>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c>
                  <a:txBody>
                    <a:bodyPr wrap="none">
                      <a:noAutofit/>
                    </a:bodyPr>
                    <a:lstStyle/>
                    <a:p>
                      <a:pPr algn="l"/>
                      <a:r>
                        <a:rPr sz="1875" b="1">
                          <a:solidFill>
                            <a:srgbClr val="0B6172"/>
                          </a:solidFill>
                          <a:latin typeface="Malgun Gothic"/>
                          <a:ea typeface="Malgun Gothic"/>
                          <a:cs typeface="Malgun Gothic"/>
                        </a:rPr>
                        <a:t>Skill 지침 · 번역 요약</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c>
                  <a:txBody>
                    <a:bodyPr wrap="none">
                      <a:noAutofit/>
                    </a:bodyPr>
                    <a:lstStyle/>
                    <a:p>
                      <a:pPr algn="l"/>
                      <a:r>
                        <a:rPr sz="1875" b="1">
                          <a:solidFill>
                            <a:srgbClr val="0B6172"/>
                          </a:solidFill>
                          <a:latin typeface="Malgun Gothic"/>
                          <a:ea typeface="Malgun Gothic"/>
                          <a:cs typeface="Malgun Gothic"/>
                        </a:rPr>
                        <a:t>실제 작업 기록 · 관찰 요약</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r>
              <a:tr h="723900">
                <a:tc>
                  <a:txBody>
                    <a:bodyPr wrap="none">
                      <a:noAutofit/>
                    </a:bodyPr>
                    <a:lstStyle/>
                    <a:p>
                      <a:pPr algn="ctr"/>
                      <a:r>
                        <a:rPr sz="2025" b="1">
                          <a:solidFill>
                            <a:srgbClr val="0B6172"/>
                          </a:solidFill>
                          <a:latin typeface="Malgun Gothic"/>
                          <a:ea typeface="Malgun Gothic"/>
                          <a:cs typeface="Malgun Gothic"/>
                        </a:rPr>
                        <a:t>01</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E0EFF0"/>
                    </a:solidFill>
                  </a:tcPr>
                </a:tc>
                <a:tc>
                  <a:txBody>
                    <a:bodyPr wrap="none">
                      <a:noAutofit/>
                    </a:bodyPr>
                    <a:lstStyle/>
                    <a:p>
                      <a:pPr algn="l"/>
                      <a:r>
                        <a:rPr sz="1875" b="1">
                          <a:solidFill>
                            <a:srgbClr val="17212B"/>
                          </a:solidFill>
                          <a:latin typeface="Malgun Gothic"/>
                          <a:ea typeface="Malgun Gothic"/>
                          <a:cs typeface="Malgun Gothic"/>
                        </a:rPr>
                        <a:t>변경 전에 기준선 측정</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l"/>
                      <a:r>
                        <a:rPr sz="1875" b="0">
                          <a:solidFill>
                            <a:srgbClr val="17212B"/>
                          </a:solidFill>
                          <a:latin typeface="Malgun Gothic"/>
                          <a:ea typeface="Malgun Gothic"/>
                          <a:cs typeface="Malgun Gothic"/>
                        </a:rPr>
                        <a:t>실행 출력: 변경 전 3회 측정</a:t>
                      </a:r>
                    </a:p>
                    <a:p>
                      <a:pPr algn="l"/>
                      <a:r>
                        <a:rPr sz="1875" b="0">
                          <a:solidFill>
                            <a:srgbClr val="17212B"/>
                          </a:solidFill>
                          <a:latin typeface="Malgun Gothic"/>
                          <a:ea typeface="Malgun Gothic"/>
                          <a:cs typeface="Malgun Gothic"/>
                        </a:rPr>
                        <a:t>입력 지문·결과 6항목 확인</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809625">
                <a:tc>
                  <a:txBody>
                    <a:bodyPr wrap="none">
                      <a:noAutofit/>
                    </a:bodyPr>
                    <a:lstStyle/>
                    <a:p>
                      <a:pPr algn="ctr"/>
                      <a:r>
                        <a:rPr sz="2025" b="1">
                          <a:solidFill>
                            <a:srgbClr val="0B6172"/>
                          </a:solidFill>
                          <a:latin typeface="Malgun Gothic"/>
                          <a:ea typeface="Malgun Gothic"/>
                          <a:cs typeface="Malgun Gothic"/>
                        </a:rPr>
                        <a:t>02</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E0EFF0"/>
                    </a:solidFill>
                  </a:tcPr>
                </a:tc>
                <a:tc>
                  <a:txBody>
                    <a:bodyPr wrap="none">
                      <a:noAutofit/>
                    </a:bodyPr>
                    <a:lstStyle/>
                    <a:p>
                      <a:pPr algn="l"/>
                      <a:r>
                        <a:rPr sz="1875" b="1">
                          <a:solidFill>
                            <a:srgbClr val="17212B"/>
                          </a:solidFill>
                          <a:latin typeface="Malgun Gothic"/>
                          <a:ea typeface="Malgun Gothic"/>
                          <a:cs typeface="Malgun Gothic"/>
                        </a:rPr>
                        <a:t>계획이 요구되면 변경 전에 공유</a:t>
                      </a:r>
                    </a:p>
                    <a:p>
                      <a:pPr algn="l"/>
                      <a:r>
                        <a:rPr sz="1875" b="1">
                          <a:solidFill>
                            <a:srgbClr val="17212B"/>
                          </a:solidFill>
                          <a:latin typeface="Malgun Gothic"/>
                          <a:ea typeface="Malgun Gothic"/>
                          <a:cs typeface="Malgun Gothic"/>
                        </a:rPr>
                        <a:t>허용 범위에서 최소 변경</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l"/>
                      <a:r>
                        <a:rPr sz="1875" b="0">
                          <a:solidFill>
                            <a:srgbClr val="17212B"/>
                          </a:solidFill>
                          <a:latin typeface="Malgun Gothic"/>
                          <a:ea typeface="Malgun Gothic"/>
                          <a:cs typeface="Malgun Gothic"/>
                        </a:rPr>
                        <a:t>변경 전 메시지 + 최종 diff</a:t>
                      </a:r>
                    </a:p>
                    <a:p>
                      <a:pPr algn="l"/>
                      <a:r>
                        <a:rPr sz="1875" b="0">
                          <a:solidFill>
                            <a:srgbClr val="17212B"/>
                          </a:solidFill>
                          <a:latin typeface="Malgun Gothic"/>
                          <a:ea typeface="Malgun Gothic"/>
                          <a:cs typeface="Malgun Gothic"/>
                        </a:rPr>
                        <a:t>statistics.py의 해당 함수만 변경</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809625">
                <a:tc>
                  <a:txBody>
                    <a:bodyPr wrap="none">
                      <a:noAutofit/>
                    </a:bodyPr>
                    <a:lstStyle/>
                    <a:p>
                      <a:pPr algn="ctr"/>
                      <a:r>
                        <a:rPr sz="2025" b="1">
                          <a:solidFill>
                            <a:srgbClr val="0B6172"/>
                          </a:solidFill>
                          <a:latin typeface="Malgun Gothic"/>
                          <a:ea typeface="Malgun Gothic"/>
                          <a:cs typeface="Malgun Gothic"/>
                        </a:rPr>
                        <a:t>03</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E0EFF0"/>
                    </a:solidFill>
                  </a:tcPr>
                </a:tc>
                <a:tc>
                  <a:txBody>
                    <a:bodyPr wrap="none">
                      <a:noAutofit/>
                    </a:bodyPr>
                    <a:lstStyle/>
                    <a:p>
                      <a:pPr algn="l"/>
                      <a:r>
                        <a:rPr sz="1875" b="1">
                          <a:solidFill>
                            <a:srgbClr val="17212B"/>
                          </a:solidFill>
                          <a:latin typeface="Malgun Gothic"/>
                          <a:ea typeface="Malgun Gothic"/>
                          <a:cs typeface="Malgun Gothic"/>
                        </a:rPr>
                        <a:t>테스트 실행</a:t>
                      </a:r>
                    </a:p>
                    <a:p>
                      <a:pPr algn="l"/>
                      <a:r>
                        <a:rPr sz="1875" b="1">
                          <a:solidFill>
                            <a:srgbClr val="17212B"/>
                          </a:solidFill>
                          <a:latin typeface="Malgun Gothic"/>
                          <a:ea typeface="Malgun Gothic"/>
                          <a:cs typeface="Malgun Gothic"/>
                        </a:rPr>
                        <a:t>같은 입력·설정으로 다시 측정</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l"/>
                      <a:r>
                        <a:rPr sz="1875" b="0">
                          <a:solidFill>
                            <a:srgbClr val="17212B"/>
                          </a:solidFill>
                          <a:latin typeface="Malgun Gothic"/>
                          <a:ea typeface="Malgun Gothic"/>
                          <a:cs typeface="Malgun Gothic"/>
                        </a:rPr>
                        <a:t>함수 테스트 1/1 · 전체 11/11 통과</a:t>
                      </a:r>
                    </a:p>
                    <a:p>
                      <a:pPr algn="l"/>
                      <a:r>
                        <a:rPr sz="1875" b="0">
                          <a:solidFill>
                            <a:srgbClr val="17212B"/>
                          </a:solidFill>
                          <a:latin typeface="Malgun Gothic"/>
                          <a:ea typeface="Malgun Gothic"/>
                          <a:cs typeface="Malgun Gothic"/>
                        </a:rPr>
                        <a:t>같은 benchmark 3회 + CLI·diff 확인</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bl>
          </a:graphicData>
        </a:graphic>
      </p:graphicFrame>
      <p:sp>
        <p:nvSpPr>
          <p:cNvPr id="13" name="본문 포함은 입력의 근거, 수행 여부는 작업 기록으로 확인한다">
            <a:extLst xmlns:a="http://schemas.openxmlformats.org/drawingml/2006/main">
              <a:ext uri="{FF2B5EF4-FFF2-40B4-BE49-F238E27FC236}">
                <a16:creationId xmlns:a16="http://schemas.microsoft.com/office/drawing/2014/main" id="{C3FD0D23-CAAF-4B13-BD87-43177210637A}"/>
              </a:ext>
            </a:extLst>
          </p:cNvPr>
          <p:cNvSpPr>
            <a:spLocks xmlns:a="http://schemas.openxmlformats.org/drawingml/2006/main" noGrp="1"/>
          </p:cNvSpPr>
          <p:nvPr/>
        </p:nvSpPr>
        <p:spPr>
          <a:xfrm xmlns:a="http://schemas.openxmlformats.org/drawingml/2006/main">
            <a:off x="609600" y="5381625"/>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본문 포함은 입력의 근거, 수행 여부는 작업 기록으로 확인한다</a:t>
            </a:r>
          </a:p>
        </p:txBody>
      </p:sp>
      <p:sp>
        <p:nvSpPr>
          <p:cNvPr id="14" name="Legacy module connection">
            <a:extLst xmlns:a="http://schemas.openxmlformats.org/drawingml/2006/main">
              <a:ext uri="{FF2B5EF4-FFF2-40B4-BE49-F238E27FC236}">
                <a16:creationId xmlns:a16="http://schemas.microsoft.com/office/drawing/2014/main" id="{3E785C0A-2141-4E1F-822B-48081D1C9B7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398104415"/>
      </p:ext>
    </p:extLst>
  </p:cSld>
</p:sld>
</file>

<file path=ppt/slides/slide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3 · Codex에서 반복 절차를 Skill로 남기기">
            <a:extLst xmlns:a="http://schemas.openxmlformats.org/drawingml/2006/main">
              <a:ext uri="{FF2B5EF4-FFF2-40B4-BE49-F238E27FC236}">
                <a16:creationId xmlns:a16="http://schemas.microsoft.com/office/drawing/2014/main" id="{CA920740-1B9D-437B-BE82-B0CFBE2DB4C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Codex에서 반복 절차를 Skill로 남기기</a:t>
            </a:r>
          </a:p>
        </p:txBody>
      </p:sp>
      <p:sp>
        <p:nvSpPr>
          <p:cNvPr id="2" name="S63">
            <a:extLst xmlns:a="http://schemas.openxmlformats.org/drawingml/2006/main">
              <a:ext uri="{FF2B5EF4-FFF2-40B4-BE49-F238E27FC236}">
                <a16:creationId xmlns:a16="http://schemas.microsoft.com/office/drawing/2014/main" id="{AF4849C1-B476-47F0-BA5D-C7D34A49B6F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S63</a:t>
            </a:r>
          </a:p>
        </p:txBody>
      </p:sp>
      <p:sp>
        <p:nvSpPr>
          <p:cNvPr id="3" name="대화로 재사용할 Skill 만들기">
            <a:extLst xmlns:a="http://schemas.openxmlformats.org/drawingml/2006/main">
              <a:ext uri="{FF2B5EF4-FFF2-40B4-BE49-F238E27FC236}">
                <a16:creationId xmlns:a16="http://schemas.microsoft.com/office/drawing/2014/main" id="{363A00E4-B958-4B59-BD8E-C2E7C0D3B65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대화로 재사용할 Skill 만들기</a:t>
            </a:r>
          </a:p>
        </p:txBody>
      </p:sp>
      <p:sp>
        <p:nvSpPr>
          <p:cNvPr id="4" name="">
            <a:extLst xmlns:a="http://schemas.openxmlformats.org/drawingml/2006/main">
              <a:ext uri="{FF2B5EF4-FFF2-40B4-BE49-F238E27FC236}">
                <a16:creationId xmlns:a16="http://schemas.microsoft.com/office/drawing/2014/main" id="{D8C99D1C-495E-4F25-817E-AAB3F2736CA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OpenAI Build skills · 2026-10-25 확인 · 요청과 생성 문서의 교육용 도식">
            <a:extLst xmlns:a="http://schemas.openxmlformats.org/drawingml/2006/main">
              <a:ext uri="{FF2B5EF4-FFF2-40B4-BE49-F238E27FC236}">
                <a16:creationId xmlns:a16="http://schemas.microsoft.com/office/drawing/2014/main" id="{8FD21912-C6DE-444F-B26C-20D3BDA5404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OpenAI Build skills · 2026-10-25 확인 · 요청과 생성 문서의 교육용 도식</a:t>
            </a:r>
          </a:p>
        </p:txBody>
      </p:sp>
      <p:sp>
        <p:nvSpPr>
          <p:cNvPr id="6" name="현재 제품 활용 팁 · TRIAL-008의 제작 이력이 아님 · 생성 뒤 사용 조건·지침을 검토하고 실제 요">
            <a:extLst xmlns:a="http://schemas.openxmlformats.org/drawingml/2006/main">
              <a:ext uri="{FF2B5EF4-FFF2-40B4-BE49-F238E27FC236}">
                <a16:creationId xmlns:a16="http://schemas.microsoft.com/office/drawing/2014/main" id="{38F84FC6-BA0C-4AC1-A8E7-F89D22187B4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현재 제품 활용 팁 · TRIAL-008의 제작 이력이 아님 · 생성 뒤 사용 조건·지침을 검토하고 실제 요청으로 확인</a:t>
            </a:r>
          </a:p>
        </p:txBody>
      </p:sp>
      <p:sp>
        <p:nvSpPr>
          <p:cNvPr id="7" name="01  대화로 제작 요청">
            <a:extLst xmlns:a="http://schemas.openxmlformats.org/drawingml/2006/main">
              <a:ext uri="{FF2B5EF4-FFF2-40B4-BE49-F238E27FC236}">
                <a16:creationId xmlns:a16="http://schemas.microsoft.com/office/drawing/2014/main" id="{C9F43260-63C5-432B-BA8B-09545E92A981}"/>
              </a:ext>
            </a:extLst>
          </p:cNvPr>
          <p:cNvSpPr>
            <a:spLocks xmlns:a="http://schemas.openxmlformats.org/drawingml/2006/main" noGrp="1"/>
          </p:cNvSpPr>
          <p:nvPr/>
        </p:nvSpPr>
        <p:spPr>
          <a:xfrm xmlns:a="http://schemas.openxmlformats.org/drawingml/2006/main">
            <a:off x="609600" y="1828800"/>
            <a:ext cx="61341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01  대화로 제작 요청</a:t>
            </a:r>
          </a:p>
        </p:txBody>
      </p:sp>
      <p:sp>
        <p:nvSpPr>
          <p:cNvPr id="8" name="02  생성된 지침 확인">
            <a:extLst xmlns:a="http://schemas.openxmlformats.org/drawingml/2006/main">
              <a:ext uri="{FF2B5EF4-FFF2-40B4-BE49-F238E27FC236}">
                <a16:creationId xmlns:a16="http://schemas.microsoft.com/office/drawing/2014/main" id="{2E46F882-EB2B-4E6E-9966-717BCE50F6B8}"/>
              </a:ext>
            </a:extLst>
          </p:cNvPr>
          <p:cNvSpPr>
            <a:spLocks xmlns:a="http://schemas.openxmlformats.org/drawingml/2006/main" noGrp="1"/>
          </p:cNvSpPr>
          <p:nvPr/>
        </p:nvSpPr>
        <p:spPr>
          <a:xfrm xmlns:a="http://schemas.openxmlformats.org/drawingml/2006/main">
            <a:off x="7772400" y="1828800"/>
            <a:ext cx="3810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02  생성된 지침 확인</a:t>
            </a:r>
          </a:p>
        </p:txBody>
      </p:sp>
      <p:sp>
        <p:nvSpPr>
          <p:cNvPr id="9" name="">
            <a:extLst xmlns:a="http://schemas.openxmlformats.org/drawingml/2006/main">
              <a:ext uri="{FF2B5EF4-FFF2-40B4-BE49-F238E27FC236}">
                <a16:creationId xmlns:a16="http://schemas.microsoft.com/office/drawing/2014/main" id="{A6DA5122-EDE0-41F0-A3DD-8EC9496A5C7E}"/>
              </a:ext>
            </a:extLst>
          </p:cNvPr>
          <p:cNvSpPr>
            <a:spLocks xmlns:a="http://schemas.openxmlformats.org/drawingml/2006/main" noGrp="1"/>
          </p:cNvSpPr>
          <p:nvPr/>
        </p:nvSpPr>
        <p:spPr>
          <a:xfrm xmlns:a="http://schemas.openxmlformats.org/drawingml/2006/main">
            <a:off x="609600" y="2419350"/>
            <a:ext cx="6134100" cy="2257425"/>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0" name="Codex · 요청 예시">
            <a:extLst xmlns:a="http://schemas.openxmlformats.org/drawingml/2006/main">
              <a:ext uri="{FF2B5EF4-FFF2-40B4-BE49-F238E27FC236}">
                <a16:creationId xmlns:a16="http://schemas.microsoft.com/office/drawing/2014/main" id="{E21F94F4-A93B-45C7-9765-AD174D3D02C4}"/>
              </a:ext>
            </a:extLst>
          </p:cNvPr>
          <p:cNvSpPr>
            <a:spLocks xmlns:a="http://schemas.openxmlformats.org/drawingml/2006/main" noGrp="1"/>
          </p:cNvSpPr>
          <p:nvPr/>
        </p:nvSpPr>
        <p:spPr>
          <a:xfrm xmlns:a="http://schemas.openxmlformats.org/drawingml/2006/main">
            <a:off x="819150" y="2505075"/>
            <a:ext cx="5715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Codex · 요청 예시</a:t>
            </a:r>
          </a:p>
        </p:txBody>
      </p:sp>
      <p:sp>
        <p:nvSpPr>
          <p:cNvPr id="11" name="">
            <a:extLst xmlns:a="http://schemas.openxmlformats.org/drawingml/2006/main">
              <a:ext uri="{FF2B5EF4-FFF2-40B4-BE49-F238E27FC236}">
                <a16:creationId xmlns:a16="http://schemas.microsoft.com/office/drawing/2014/main" id="{1E7FA9AD-6916-4989-80EF-B7CC5807F697}"/>
              </a:ext>
            </a:extLst>
          </p:cNvPr>
          <p:cNvSpPr>
            <a:spLocks xmlns:a="http://schemas.openxmlformats.org/drawingml/2006/main" noGrp="1"/>
          </p:cNvSpPr>
          <p:nvPr/>
        </p:nvSpPr>
        <p:spPr>
          <a:xfrm xmlns:a="http://schemas.openxmlformats.org/drawingml/2006/main">
            <a:off x="800100" y="2886075"/>
            <a:ext cx="57531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skill-creator">
            <a:extLst xmlns:a="http://schemas.openxmlformats.org/drawingml/2006/main">
              <a:ext uri="{FF2B5EF4-FFF2-40B4-BE49-F238E27FC236}">
                <a16:creationId xmlns:a16="http://schemas.microsoft.com/office/drawing/2014/main" id="{74E895D9-F6DF-4797-BFF2-490CE8B572F5}"/>
              </a:ext>
            </a:extLst>
          </p:cNvPr>
          <p:cNvSpPr>
            <a:spLocks xmlns:a="http://schemas.openxmlformats.org/drawingml/2006/main" noGrp="1"/>
          </p:cNvSpPr>
          <p:nvPr/>
        </p:nvSpPr>
        <p:spPr>
          <a:xfrm xmlns:a="http://schemas.openxmlformats.org/drawingml/2006/main">
            <a:off x="819150" y="3000375"/>
            <a:ext cx="57150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Consolas"/>
                <a:ea typeface="Consolas"/>
                <a:cs typeface="Consolas"/>
              </a:defRPr>
            </a:defPPr>
            <a:lvl1pPr algn="l">
              <a:defRPr sz="2100" b="1">
                <a:solidFill>
                  <a:srgbClr val="0B6172"/>
                </a:solidFill>
                <a:latin typeface="Consolas"/>
                <a:ea typeface="Consolas"/>
                <a:cs typeface="Consolas"/>
              </a:defRPr>
            </a:lvl1pPr>
            <a:lvl2pPr algn="l">
              <a:defRPr sz="2100" b="1">
                <a:solidFill>
                  <a:srgbClr val="0B6172"/>
                </a:solidFill>
                <a:latin typeface="Consolas"/>
                <a:ea typeface="Consolas"/>
                <a:cs typeface="Consolas"/>
              </a:defRPr>
            </a:lvl2pPr>
            <a:lvl3pPr algn="l">
              <a:defRPr sz="2100" b="1">
                <a:solidFill>
                  <a:srgbClr val="0B6172"/>
                </a:solidFill>
                <a:latin typeface="Consolas"/>
                <a:ea typeface="Consolas"/>
                <a:cs typeface="Consolas"/>
              </a:defRPr>
            </a:lvl3pPr>
            <a:lvl4pPr algn="l">
              <a:defRPr sz="2100" b="1">
                <a:solidFill>
                  <a:srgbClr val="0B6172"/>
                </a:solidFill>
                <a:latin typeface="Consolas"/>
                <a:ea typeface="Consolas"/>
                <a:cs typeface="Consolas"/>
              </a:defRPr>
            </a:lvl4pPr>
            <a:lvl5pPr algn="l">
              <a:defRPr sz="2100" b="1">
                <a:solidFill>
                  <a:srgbClr val="0B6172"/>
                </a:solidFill>
                <a:latin typeface="Consolas"/>
                <a:ea typeface="Consolas"/>
                <a:cs typeface="Consolas"/>
              </a:defRPr>
            </a:lvl5pPr>
            <a:lvl6pPr algn="l">
              <a:defRPr sz="2100" b="1">
                <a:solidFill>
                  <a:srgbClr val="0B6172"/>
                </a:solidFill>
                <a:latin typeface="Consolas"/>
                <a:ea typeface="Consolas"/>
                <a:cs typeface="Consolas"/>
              </a:defRPr>
            </a:lvl6pPr>
            <a:lvl7pPr algn="l">
              <a:defRPr sz="2100" b="1">
                <a:solidFill>
                  <a:srgbClr val="0B6172"/>
                </a:solidFill>
                <a:latin typeface="Consolas"/>
                <a:ea typeface="Consolas"/>
                <a:cs typeface="Consolas"/>
              </a:defRPr>
            </a:lvl7pPr>
            <a:lvl8pPr algn="l">
              <a:defRPr sz="2100" b="1">
                <a:solidFill>
                  <a:srgbClr val="0B6172"/>
                </a:solidFill>
                <a:latin typeface="Consolas"/>
                <a:ea typeface="Consolas"/>
                <a:cs typeface="Consolas"/>
              </a:defRPr>
            </a:lvl8pPr>
            <a:lvl9pPr algn="l">
              <a:defRPr sz="2100" b="1">
                <a:solidFill>
                  <a:srgbClr val="0B6172"/>
                </a:solidFill>
                <a:latin typeface="Consolas"/>
                <a:ea typeface="Consolas"/>
                <a:cs typeface="Consolas"/>
              </a:defRPr>
            </a:lvl9pPr>
          </a:lstStyle>
          <a:p xmlns:a="http://schemas.openxmlformats.org/drawingml/2006/main">
            <a:pPr algn="l">
              <a:defRPr sz="2100" b="1">
                <a:solidFill>
                  <a:srgbClr val="0B6172"/>
                </a:solidFill>
                <a:latin typeface="Consolas"/>
                <a:ea typeface="Consolas"/>
                <a:cs typeface="Consolas"/>
              </a:defRPr>
            </a:pPr>
            <a:r>
              <a:rPr sz="2100" b="1">
                <a:solidFill>
                  <a:srgbClr val="0B6172"/>
                </a:solidFill>
                <a:latin typeface="Consolas"/>
                <a:ea typeface="Consolas"/>
                <a:cs typeface="Consolas"/>
              </a:rPr>
              <a:t>$skill-creator</a:t>
            </a:r>
          </a:p>
        </p:txBody>
      </p:sp>
      <p:sp>
        <p:nvSpPr>
          <p:cNvPr id="13" name="방금 사용한 성능 조사·검증 절차를&#10;이 저장소에서 다시 쓸 Skill로 만들어줘.&#10;언제 쓰고 무엇을 보고할지">
            <a:extLst xmlns:a="http://schemas.openxmlformats.org/drawingml/2006/main">
              <a:ext uri="{FF2B5EF4-FFF2-40B4-BE49-F238E27FC236}">
                <a16:creationId xmlns:a16="http://schemas.microsoft.com/office/drawing/2014/main" id="{C8299CBC-55CF-440B-AB05-5AD50F07B998}"/>
              </a:ext>
            </a:extLst>
          </p:cNvPr>
          <p:cNvSpPr>
            <a:spLocks xmlns:a="http://schemas.openxmlformats.org/drawingml/2006/main" noGrp="1"/>
          </p:cNvSpPr>
          <p:nvPr/>
        </p:nvSpPr>
        <p:spPr>
          <a:xfrm xmlns:a="http://schemas.openxmlformats.org/drawingml/2006/main">
            <a:off x="819150" y="3476625"/>
            <a:ext cx="5715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방금 사용한 성능 조사·검증 절차를</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이 저장소에서 다시 쓸 Skill로 만들어줘.</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언제 쓰고 무엇을 보고할지도 정리해줘.</a:t>
            </a:r>
          </a:p>
        </p:txBody>
      </p:sp>
      <p:cxnSp>
        <p:nvCxnSpPr>
          <p:cNvPr id="14" name="">
            <a:extLst xmlns:a="http://schemas.openxmlformats.org/drawingml/2006/main">
              <a:ext uri="{FF2B5EF4-FFF2-40B4-BE49-F238E27FC236}">
                <a16:creationId xmlns:a16="http://schemas.microsoft.com/office/drawing/2014/main" id="{08760596-8E7D-4A71-B437-A246FAE22D14}"/>
              </a:ext>
            </a:extLst>
          </p:cNvPr>
          <p:cNvCxnSpPr/>
          <p:nvPr/>
        </p:nvCxnSpPr>
        <p:spPr>
          <a:xfrm xmlns:a="http://schemas.openxmlformats.org/drawingml/2006/main">
            <a:off x="6896100" y="3533775"/>
            <a:ext cx="6858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5" name="">
            <a:extLst xmlns:a="http://schemas.openxmlformats.org/drawingml/2006/main">
              <a:ext uri="{FF2B5EF4-FFF2-40B4-BE49-F238E27FC236}">
                <a16:creationId xmlns:a16="http://schemas.microsoft.com/office/drawing/2014/main" id="{45DE33DF-BDFB-41CC-94F8-7082BCE380C6}"/>
              </a:ext>
            </a:extLst>
          </p:cNvPr>
          <p:cNvSpPr>
            <a:spLocks xmlns:a="http://schemas.openxmlformats.org/drawingml/2006/main" noGrp="1"/>
          </p:cNvSpPr>
          <p:nvPr/>
        </p:nvSpPr>
        <p:spPr>
          <a:xfrm xmlns:a="http://schemas.openxmlformats.org/drawingml/2006/main">
            <a:off x="7772400" y="2419350"/>
            <a:ext cx="3810000" cy="225742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6" name="SKILL.md">
            <a:extLst xmlns:a="http://schemas.openxmlformats.org/drawingml/2006/main">
              <a:ext uri="{FF2B5EF4-FFF2-40B4-BE49-F238E27FC236}">
                <a16:creationId xmlns:a16="http://schemas.microsoft.com/office/drawing/2014/main" id="{36381621-5310-44A6-A592-6DE31F7E9DC1}"/>
              </a:ext>
            </a:extLst>
          </p:cNvPr>
          <p:cNvSpPr>
            <a:spLocks xmlns:a="http://schemas.openxmlformats.org/drawingml/2006/main" noGrp="1"/>
          </p:cNvSpPr>
          <p:nvPr/>
        </p:nvSpPr>
        <p:spPr>
          <a:xfrm xmlns:a="http://schemas.openxmlformats.org/drawingml/2006/main">
            <a:off x="8001000" y="2619375"/>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Consolas"/>
                <a:ea typeface="Consolas"/>
                <a:cs typeface="Consolas"/>
              </a:defRPr>
            </a:defPPr>
            <a:lvl1pPr algn="l">
              <a:defRPr sz="2400" b="1">
                <a:solidFill>
                  <a:srgbClr val="0B6172"/>
                </a:solidFill>
                <a:latin typeface="Consolas"/>
                <a:ea typeface="Consolas"/>
                <a:cs typeface="Consolas"/>
              </a:defRPr>
            </a:lvl1pPr>
            <a:lvl2pPr algn="l">
              <a:defRPr sz="2400" b="1">
                <a:solidFill>
                  <a:srgbClr val="0B6172"/>
                </a:solidFill>
                <a:latin typeface="Consolas"/>
                <a:ea typeface="Consolas"/>
                <a:cs typeface="Consolas"/>
              </a:defRPr>
            </a:lvl2pPr>
            <a:lvl3pPr algn="l">
              <a:defRPr sz="2400" b="1">
                <a:solidFill>
                  <a:srgbClr val="0B6172"/>
                </a:solidFill>
                <a:latin typeface="Consolas"/>
                <a:ea typeface="Consolas"/>
                <a:cs typeface="Consolas"/>
              </a:defRPr>
            </a:lvl3pPr>
            <a:lvl4pPr algn="l">
              <a:defRPr sz="2400" b="1">
                <a:solidFill>
                  <a:srgbClr val="0B6172"/>
                </a:solidFill>
                <a:latin typeface="Consolas"/>
                <a:ea typeface="Consolas"/>
                <a:cs typeface="Consolas"/>
              </a:defRPr>
            </a:lvl4pPr>
            <a:lvl5pPr algn="l">
              <a:defRPr sz="2400" b="1">
                <a:solidFill>
                  <a:srgbClr val="0B6172"/>
                </a:solidFill>
                <a:latin typeface="Consolas"/>
                <a:ea typeface="Consolas"/>
                <a:cs typeface="Consolas"/>
              </a:defRPr>
            </a:lvl5pPr>
            <a:lvl6pPr algn="l">
              <a:defRPr sz="2400" b="1">
                <a:solidFill>
                  <a:srgbClr val="0B6172"/>
                </a:solidFill>
                <a:latin typeface="Consolas"/>
                <a:ea typeface="Consolas"/>
                <a:cs typeface="Consolas"/>
              </a:defRPr>
            </a:lvl6pPr>
            <a:lvl7pPr algn="l">
              <a:defRPr sz="2400" b="1">
                <a:solidFill>
                  <a:srgbClr val="0B6172"/>
                </a:solidFill>
                <a:latin typeface="Consolas"/>
                <a:ea typeface="Consolas"/>
                <a:cs typeface="Consolas"/>
              </a:defRPr>
            </a:lvl7pPr>
            <a:lvl8pPr algn="l">
              <a:defRPr sz="2400" b="1">
                <a:solidFill>
                  <a:srgbClr val="0B6172"/>
                </a:solidFill>
                <a:latin typeface="Consolas"/>
                <a:ea typeface="Consolas"/>
                <a:cs typeface="Consolas"/>
              </a:defRPr>
            </a:lvl8pPr>
            <a:lvl9pPr algn="l">
              <a:defRPr sz="2400" b="1">
                <a:solidFill>
                  <a:srgbClr val="0B6172"/>
                </a:solidFill>
                <a:latin typeface="Consolas"/>
                <a:ea typeface="Consolas"/>
                <a:cs typeface="Consolas"/>
              </a:defRPr>
            </a:lvl9pPr>
          </a:lstStyle>
          <a:p xmlns:a="http://schemas.openxmlformats.org/drawingml/2006/main">
            <a:pPr algn="l">
              <a:defRPr sz="2400" b="1">
                <a:solidFill>
                  <a:srgbClr val="0B6172"/>
                </a:solidFill>
                <a:latin typeface="Consolas"/>
                <a:ea typeface="Consolas"/>
                <a:cs typeface="Consolas"/>
              </a:defRPr>
            </a:pPr>
            <a:r>
              <a:rPr sz="2400" b="1">
                <a:solidFill>
                  <a:srgbClr val="0B6172"/>
                </a:solidFill>
                <a:latin typeface="Consolas"/>
                <a:ea typeface="Consolas"/>
                <a:cs typeface="Consolas"/>
              </a:rPr>
              <a:t>SKILL.md</a:t>
            </a:r>
          </a:p>
        </p:txBody>
      </p:sp>
      <p:sp>
        <p:nvSpPr>
          <p:cNvPr id="17" name="언제 쓸까?">
            <a:extLst xmlns:a="http://schemas.openxmlformats.org/drawingml/2006/main">
              <a:ext uri="{FF2B5EF4-FFF2-40B4-BE49-F238E27FC236}">
                <a16:creationId xmlns:a16="http://schemas.microsoft.com/office/drawing/2014/main" id="{23605C98-1866-46EF-A03F-8F8011BC3A5E}"/>
              </a:ext>
            </a:extLst>
          </p:cNvPr>
          <p:cNvSpPr>
            <a:spLocks xmlns:a="http://schemas.openxmlformats.org/drawingml/2006/main" noGrp="1"/>
          </p:cNvSpPr>
          <p:nvPr/>
        </p:nvSpPr>
        <p:spPr>
          <a:xfrm xmlns:a="http://schemas.openxmlformats.org/drawingml/2006/main">
            <a:off x="8001000" y="3238500"/>
            <a:ext cx="335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언제 쓸까?</a:t>
            </a:r>
          </a:p>
        </p:txBody>
      </p:sp>
      <p:sp>
        <p:nvSpPr>
          <p:cNvPr id="18" name="어떤 순서로 일할까?">
            <a:extLst xmlns:a="http://schemas.openxmlformats.org/drawingml/2006/main">
              <a:ext uri="{FF2B5EF4-FFF2-40B4-BE49-F238E27FC236}">
                <a16:creationId xmlns:a16="http://schemas.microsoft.com/office/drawing/2014/main" id="{64C1766E-456E-4540-8C26-120611EE2060}"/>
              </a:ext>
            </a:extLst>
          </p:cNvPr>
          <p:cNvSpPr>
            <a:spLocks xmlns:a="http://schemas.openxmlformats.org/drawingml/2006/main" noGrp="1"/>
          </p:cNvSpPr>
          <p:nvPr/>
        </p:nvSpPr>
        <p:spPr>
          <a:xfrm xmlns:a="http://schemas.openxmlformats.org/drawingml/2006/main">
            <a:off x="8001000" y="3686175"/>
            <a:ext cx="335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어떤 순서로 일할까?</a:t>
            </a:r>
          </a:p>
        </p:txBody>
      </p:sp>
      <p:sp>
        <p:nvSpPr>
          <p:cNvPr id="19" name="무엇을 보고할까?">
            <a:extLst xmlns:a="http://schemas.openxmlformats.org/drawingml/2006/main">
              <a:ext uri="{FF2B5EF4-FFF2-40B4-BE49-F238E27FC236}">
                <a16:creationId xmlns:a16="http://schemas.microsoft.com/office/drawing/2014/main" id="{280D1049-C542-4AAB-B916-14A28009CB5C}"/>
              </a:ext>
            </a:extLst>
          </p:cNvPr>
          <p:cNvSpPr>
            <a:spLocks xmlns:a="http://schemas.openxmlformats.org/drawingml/2006/main" noGrp="1"/>
          </p:cNvSpPr>
          <p:nvPr/>
        </p:nvSpPr>
        <p:spPr>
          <a:xfrm xmlns:a="http://schemas.openxmlformats.org/drawingml/2006/main">
            <a:off x="8001000" y="4133850"/>
            <a:ext cx="335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무엇을 보고할까?</a:t>
            </a:r>
          </a:p>
        </p:txBody>
      </p:sp>
      <p:sp>
        <p:nvSpPr>
          <p:cNvPr id="20" name="03  실제 요청에 써 보고 다듬기">
            <a:extLst xmlns:a="http://schemas.openxmlformats.org/drawingml/2006/main">
              <a:ext uri="{FF2B5EF4-FFF2-40B4-BE49-F238E27FC236}">
                <a16:creationId xmlns:a16="http://schemas.microsoft.com/office/drawing/2014/main" id="{FB6B0B4D-AD5F-4DA9-ABDD-57A8B264AA04}"/>
              </a:ext>
            </a:extLst>
          </p:cNvPr>
          <p:cNvSpPr>
            <a:spLocks xmlns:a="http://schemas.openxmlformats.org/drawingml/2006/main" noGrp="1"/>
          </p:cNvSpPr>
          <p:nvPr/>
        </p:nvSpPr>
        <p:spPr>
          <a:xfrm xmlns:a="http://schemas.openxmlformats.org/drawingml/2006/main">
            <a:off x="609600" y="50482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03  실제 요청에 써 보고 다듬기</a:t>
            </a:r>
          </a:p>
        </p:txBody>
      </p:sp>
      <p:sp>
        <p:nvSpPr>
          <p:cNvPr id="21" name="초안은 대화로 만들고, 재사용할 절차는 검토한다">
            <a:extLst xmlns:a="http://schemas.openxmlformats.org/drawingml/2006/main">
              <a:ext uri="{FF2B5EF4-FFF2-40B4-BE49-F238E27FC236}">
                <a16:creationId xmlns:a16="http://schemas.microsoft.com/office/drawing/2014/main" id="{61F79098-3C75-4C13-B6BA-E2F6B9C89DE9}"/>
              </a:ext>
            </a:extLst>
          </p:cNvPr>
          <p:cNvSpPr>
            <a:spLocks xmlns:a="http://schemas.openxmlformats.org/drawingml/2006/main" noGrp="1"/>
          </p:cNvSpPr>
          <p:nvPr/>
        </p:nvSpPr>
        <p:spPr>
          <a:xfrm xmlns:a="http://schemas.openxmlformats.org/drawingml/2006/main">
            <a:off x="609600" y="541020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초안은 대화로 만들고, 재사용할 절차는 검토한다</a:t>
            </a:r>
          </a:p>
        </p:txBody>
      </p:sp>
      <p:sp>
        <p:nvSpPr>
          <p:cNvPr id="22" name="">
            <a:extLst xmlns:a="http://schemas.openxmlformats.org/drawingml/2006/main">
              <a:ext uri="{FF2B5EF4-FFF2-40B4-BE49-F238E27FC236}">
                <a16:creationId xmlns:a16="http://schemas.microsoft.com/office/drawing/2014/main" id="{D0305C37-8231-4E34-8376-A06008EE958F}"/>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3" name="Practical application tip badge">
            <a:extLst xmlns:a="http://schemas.openxmlformats.org/drawingml/2006/main">
              <a:ext uri="{FF2B5EF4-FFF2-40B4-BE49-F238E27FC236}">
                <a16:creationId xmlns:a16="http://schemas.microsoft.com/office/drawing/2014/main" id="{C838438E-255C-4808-88D5-0474C34A49A8}"/>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수행 방법</a:t>
            </a:r>
          </a:p>
        </p:txBody>
      </p:sp>
      <p:sp>
        <p:nvSpPr>
          <p:cNvPr id="24" name="Legacy module connection">
            <a:extLst xmlns:a="http://schemas.openxmlformats.org/drawingml/2006/main">
              <a:ext uri="{FF2B5EF4-FFF2-40B4-BE49-F238E27FC236}">
                <a16:creationId xmlns:a16="http://schemas.microsoft.com/office/drawing/2014/main" id="{45CB5859-CC35-4D69-97C0-2DA8219E5D4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57673776"/>
      </p:ext>
    </p:extLst>
  </p:cSld>
</p:sld>
</file>

<file path=ppt/slides/slide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5" name="ACT 3 · Skill에 고정할 것과 이번에 판단할 것">
            <a:extLst xmlns:a="http://schemas.openxmlformats.org/drawingml/2006/main">
              <a:ext uri="{FF2B5EF4-FFF2-40B4-BE49-F238E27FC236}">
                <a16:creationId xmlns:a16="http://schemas.microsoft.com/office/drawing/2014/main" id="{FEA8CB6B-B844-45E2-A89F-153440DE1B0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Skill에 고정할 것과 이번에 판단할 것</a:t>
            </a:r>
          </a:p>
        </p:txBody>
      </p:sp>
      <p:sp>
        <p:nvSpPr>
          <p:cNvPr id="2" name="S64">
            <a:extLst xmlns:a="http://schemas.openxmlformats.org/drawingml/2006/main">
              <a:ext uri="{FF2B5EF4-FFF2-40B4-BE49-F238E27FC236}">
                <a16:creationId xmlns:a16="http://schemas.microsoft.com/office/drawing/2014/main" id="{D7A52CF5-740A-4656-B751-6FE3A1BB8C4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S64</a:t>
            </a:r>
          </a:p>
        </p:txBody>
      </p:sp>
      <p:sp>
        <p:nvSpPr>
          <p:cNvPr id="3" name="절차는 재사용하고, 답은 근거로 정한다">
            <a:extLst xmlns:a="http://schemas.openxmlformats.org/drawingml/2006/main">
              <a:ext uri="{FF2B5EF4-FFF2-40B4-BE49-F238E27FC236}">
                <a16:creationId xmlns:a16="http://schemas.microsoft.com/office/drawing/2014/main" id="{BACDD186-1FB1-43CF-A013-832D1A6DB7A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절차는 재사용하고, 답은 근거로 정한다</a:t>
            </a:r>
          </a:p>
        </p:txBody>
      </p:sp>
      <p:sp>
        <p:nvSpPr>
          <p:cNvPr id="4" name="">
            <a:extLst xmlns:a="http://schemas.openxmlformats.org/drawingml/2006/main">
              <a:ext uri="{FF2B5EF4-FFF2-40B4-BE49-F238E27FC236}">
                <a16:creationId xmlns:a16="http://schemas.microsoft.com/office/drawing/2014/main" id="{55A38949-0BD1-4686-B318-5276933ECAF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 SKILL.md 번역 요약 + 교육용 질문·판단 경로 · 새 실행 결과가 아님">
            <a:extLst xmlns:a="http://schemas.openxmlformats.org/drawingml/2006/main">
              <a:ext uri="{FF2B5EF4-FFF2-40B4-BE49-F238E27FC236}">
                <a16:creationId xmlns:a16="http://schemas.microsoft.com/office/drawing/2014/main" id="{B00259A5-C328-4492-B088-AFAB883B2A3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 SKILL.md 번역 요약 + 교육용 질문·판단 경로 · 새 실행 결과가 아님</a:t>
            </a:r>
          </a:p>
        </p:txBody>
      </p:sp>
      <p:sp>
        <p:nvSpPr>
          <p:cNvPr id="6" name="특정 구현·Trial 수치를 미리 넣지 않았음 · 보류는 허용된 경로이며 TRIAL-008의 관찰 결과 아님">
            <a:extLst xmlns:a="http://schemas.openxmlformats.org/drawingml/2006/main">
              <a:ext uri="{FF2B5EF4-FFF2-40B4-BE49-F238E27FC236}">
                <a16:creationId xmlns:a16="http://schemas.microsoft.com/office/drawing/2014/main" id="{4B798FA6-0165-48C5-90EA-17978DAE3EC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특정 구현·Trial 수치를 미리 넣지 않았음 · 보류는 허용된 경로이며 TRIAL-008의 관찰 결과 아님</a:t>
            </a:r>
          </a:p>
        </p:txBody>
      </p:sp>
      <p:sp>
        <p:nvSpPr>
          <p:cNvPr id="7" name="">
            <a:extLst xmlns:a="http://schemas.openxmlformats.org/drawingml/2006/main">
              <a:ext uri="{FF2B5EF4-FFF2-40B4-BE49-F238E27FC236}">
                <a16:creationId xmlns:a16="http://schemas.microsoft.com/office/drawing/2014/main" id="{A698C459-D062-43DD-8917-867D8D439626}"/>
              </a:ext>
            </a:extLst>
          </p:cNvPr>
          <p:cNvSpPr>
            <a:spLocks xmlns:a="http://schemas.openxmlformats.org/drawingml/2006/main" noGrp="1"/>
          </p:cNvSpPr>
          <p:nvPr/>
        </p:nvSpPr>
        <p:spPr>
          <a:xfrm xmlns:a="http://schemas.openxmlformats.org/drawingml/2006/main">
            <a:off x="609600" y="1952625"/>
            <a:ext cx="4152900" cy="33528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8" name="Skill · 재사용할 절차">
            <a:extLst xmlns:a="http://schemas.openxmlformats.org/drawingml/2006/main">
              <a:ext uri="{FF2B5EF4-FFF2-40B4-BE49-F238E27FC236}">
                <a16:creationId xmlns:a16="http://schemas.microsoft.com/office/drawing/2014/main" id="{6437C2D4-BB70-4D36-88B5-67ED94973361}"/>
              </a:ext>
            </a:extLst>
          </p:cNvPr>
          <p:cNvSpPr>
            <a:spLocks xmlns:a="http://schemas.openxmlformats.org/drawingml/2006/main" noGrp="1"/>
          </p:cNvSpPr>
          <p:nvPr/>
        </p:nvSpPr>
        <p:spPr>
          <a:xfrm xmlns:a="http://schemas.openxmlformats.org/drawingml/2006/main">
            <a:off x="800100" y="2066925"/>
            <a:ext cx="37719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Skill · 재사용할 절차</a:t>
            </a:r>
          </a:p>
        </p:txBody>
      </p:sp>
      <p:sp>
        <p:nvSpPr>
          <p:cNvPr id="9" name="이 Skill의 지침 일부 · 번역 요약">
            <a:extLst xmlns:a="http://schemas.openxmlformats.org/drawingml/2006/main">
              <a:ext uri="{FF2B5EF4-FFF2-40B4-BE49-F238E27FC236}">
                <a16:creationId xmlns:a16="http://schemas.microsoft.com/office/drawing/2014/main" id="{D1817842-9119-493C-A084-16E76090C51C}"/>
              </a:ext>
            </a:extLst>
          </p:cNvPr>
          <p:cNvSpPr>
            <a:spLocks xmlns:a="http://schemas.openxmlformats.org/drawingml/2006/main" noGrp="1"/>
          </p:cNvSpPr>
          <p:nvPr/>
        </p:nvSpPr>
        <p:spPr>
          <a:xfrm xmlns:a="http://schemas.openxmlformats.org/drawingml/2006/main">
            <a:off x="800100" y="2428875"/>
            <a:ext cx="37719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이 Skill의 지침 일부 · 번역 요약</a:t>
            </a:r>
          </a:p>
        </p:txBody>
      </p:sp>
      <p:sp>
        <p:nvSpPr>
          <p:cNvPr id="10" name="01">
            <a:extLst xmlns:a="http://schemas.openxmlformats.org/drawingml/2006/main">
              <a:ext uri="{FF2B5EF4-FFF2-40B4-BE49-F238E27FC236}">
                <a16:creationId xmlns:a16="http://schemas.microsoft.com/office/drawing/2014/main" id="{B2B43542-6384-4ED4-9EA7-556D75DCA63F}"/>
              </a:ext>
            </a:extLst>
          </p:cNvPr>
          <p:cNvSpPr>
            <a:spLocks xmlns:a="http://schemas.openxmlformats.org/drawingml/2006/main" noGrp="1"/>
          </p:cNvSpPr>
          <p:nvPr/>
        </p:nvSpPr>
        <p:spPr>
          <a:xfrm xmlns:a="http://schemas.openxmlformats.org/drawingml/2006/main">
            <a:off x="800100" y="2895600"/>
            <a:ext cx="438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01</a:t>
            </a:r>
          </a:p>
        </p:txBody>
      </p:sp>
      <p:sp>
        <p:nvSpPr>
          <p:cNvPr id="11" name="변경 전 기준선 측정">
            <a:extLst xmlns:a="http://schemas.openxmlformats.org/drawingml/2006/main">
              <a:ext uri="{FF2B5EF4-FFF2-40B4-BE49-F238E27FC236}">
                <a16:creationId xmlns:a16="http://schemas.microsoft.com/office/drawing/2014/main" id="{FD45B3FE-B621-43B8-8768-F5C1A574580D}"/>
              </a:ext>
            </a:extLst>
          </p:cNvPr>
          <p:cNvSpPr>
            <a:spLocks xmlns:a="http://schemas.openxmlformats.org/drawingml/2006/main" noGrp="1"/>
          </p:cNvSpPr>
          <p:nvPr/>
        </p:nvSpPr>
        <p:spPr>
          <a:xfrm xmlns:a="http://schemas.openxmlformats.org/drawingml/2006/main">
            <a:off x="1371600" y="2895600"/>
            <a:ext cx="3200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변경 전 기준선 측정</a:t>
            </a:r>
          </a:p>
        </p:txBody>
      </p:sp>
      <p:sp>
        <p:nvSpPr>
          <p:cNvPr id="12" name="02">
            <a:extLst xmlns:a="http://schemas.openxmlformats.org/drawingml/2006/main">
              <a:ext uri="{FF2B5EF4-FFF2-40B4-BE49-F238E27FC236}">
                <a16:creationId xmlns:a16="http://schemas.microsoft.com/office/drawing/2014/main" id="{05CCD2C2-D3D6-407D-874E-0A126A1EF3B2}"/>
              </a:ext>
            </a:extLst>
          </p:cNvPr>
          <p:cNvSpPr>
            <a:spLocks xmlns:a="http://schemas.openxmlformats.org/drawingml/2006/main" noGrp="1"/>
          </p:cNvSpPr>
          <p:nvPr/>
        </p:nvSpPr>
        <p:spPr>
          <a:xfrm xmlns:a="http://schemas.openxmlformats.org/drawingml/2006/main">
            <a:off x="800100" y="3619500"/>
            <a:ext cx="438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02</a:t>
            </a:r>
          </a:p>
        </p:txBody>
      </p:sp>
      <p:sp>
        <p:nvSpPr>
          <p:cNvPr id="13" name="같은 조건으로 검증·비교">
            <a:extLst xmlns:a="http://schemas.openxmlformats.org/drawingml/2006/main">
              <a:ext uri="{FF2B5EF4-FFF2-40B4-BE49-F238E27FC236}">
                <a16:creationId xmlns:a16="http://schemas.microsoft.com/office/drawing/2014/main" id="{3E2A4E01-0430-4B8F-99BE-6E074DFEB2D3}"/>
              </a:ext>
            </a:extLst>
          </p:cNvPr>
          <p:cNvSpPr>
            <a:spLocks xmlns:a="http://schemas.openxmlformats.org/drawingml/2006/main" noGrp="1"/>
          </p:cNvSpPr>
          <p:nvPr/>
        </p:nvSpPr>
        <p:spPr>
          <a:xfrm xmlns:a="http://schemas.openxmlformats.org/drawingml/2006/main">
            <a:off x="1371600" y="3619500"/>
            <a:ext cx="3200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같은 조건으로 검증·비교</a:t>
            </a:r>
          </a:p>
        </p:txBody>
      </p:sp>
      <p:sp>
        <p:nvSpPr>
          <p:cNvPr id="14" name="03">
            <a:extLst xmlns:a="http://schemas.openxmlformats.org/drawingml/2006/main">
              <a:ext uri="{FF2B5EF4-FFF2-40B4-BE49-F238E27FC236}">
                <a16:creationId xmlns:a16="http://schemas.microsoft.com/office/drawing/2014/main" id="{CD7AA8B3-9A6D-4B19-A367-0626869DA6A9}"/>
              </a:ext>
            </a:extLst>
          </p:cNvPr>
          <p:cNvSpPr>
            <a:spLocks xmlns:a="http://schemas.openxmlformats.org/drawingml/2006/main" noGrp="1"/>
          </p:cNvSpPr>
          <p:nvPr/>
        </p:nvSpPr>
        <p:spPr>
          <a:xfrm xmlns:a="http://schemas.openxmlformats.org/drawingml/2006/main">
            <a:off x="800100" y="4343400"/>
            <a:ext cx="438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03</a:t>
            </a:r>
          </a:p>
        </p:txBody>
      </p:sp>
      <p:sp>
        <p:nvSpPr>
          <p:cNvPr id="15" name="근거·trade-off·한계 보고">
            <a:extLst xmlns:a="http://schemas.openxmlformats.org/drawingml/2006/main">
              <a:ext uri="{FF2B5EF4-FFF2-40B4-BE49-F238E27FC236}">
                <a16:creationId xmlns:a16="http://schemas.microsoft.com/office/drawing/2014/main" id="{2E0B3FB4-03BB-48EC-A564-74CBE6BE891A}"/>
              </a:ext>
            </a:extLst>
          </p:cNvPr>
          <p:cNvSpPr>
            <a:spLocks xmlns:a="http://schemas.openxmlformats.org/drawingml/2006/main" noGrp="1"/>
          </p:cNvSpPr>
          <p:nvPr/>
        </p:nvSpPr>
        <p:spPr>
          <a:xfrm xmlns:a="http://schemas.openxmlformats.org/drawingml/2006/main">
            <a:off x="1371600" y="4343400"/>
            <a:ext cx="3200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근거·trade-off·한계 보고</a:t>
            </a:r>
          </a:p>
        </p:txBody>
      </p:sp>
      <p:sp>
        <p:nvSpPr>
          <p:cNvPr id="16" name="다음 성능 작업에도 같은 방법">
            <a:extLst xmlns:a="http://schemas.openxmlformats.org/drawingml/2006/main">
              <a:ext uri="{FF2B5EF4-FFF2-40B4-BE49-F238E27FC236}">
                <a16:creationId xmlns:a16="http://schemas.microsoft.com/office/drawing/2014/main" id="{DD9C7FE9-817A-4891-92D6-2D38C0668162}"/>
              </a:ext>
            </a:extLst>
          </p:cNvPr>
          <p:cNvSpPr>
            <a:spLocks xmlns:a="http://schemas.openxmlformats.org/drawingml/2006/main" noGrp="1"/>
          </p:cNvSpPr>
          <p:nvPr/>
        </p:nvSpPr>
        <p:spPr>
          <a:xfrm xmlns:a="http://schemas.openxmlformats.org/drawingml/2006/main">
            <a:off x="800100" y="4886325"/>
            <a:ext cx="3771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다음 성능 작업에도 같은 방법</a:t>
            </a:r>
          </a:p>
        </p:txBody>
      </p:sp>
      <p:sp>
        <p:nvSpPr>
          <p:cNvPr id="17" name="적용">
            <a:extLst xmlns:a="http://schemas.openxmlformats.org/drawingml/2006/main">
              <a:ext uri="{FF2B5EF4-FFF2-40B4-BE49-F238E27FC236}">
                <a16:creationId xmlns:a16="http://schemas.microsoft.com/office/drawing/2014/main" id="{B8BD911A-73F6-444A-AF46-584F40A031C1}"/>
              </a:ext>
            </a:extLst>
          </p:cNvPr>
          <p:cNvSpPr>
            <a:spLocks xmlns:a="http://schemas.openxmlformats.org/drawingml/2006/main" noGrp="1"/>
          </p:cNvSpPr>
          <p:nvPr/>
        </p:nvSpPr>
        <p:spPr>
          <a:xfrm xmlns:a="http://schemas.openxmlformats.org/drawingml/2006/main">
            <a:off x="4933950" y="3181350"/>
            <a:ext cx="590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적용</a:t>
            </a:r>
          </a:p>
        </p:txBody>
      </p:sp>
      <p:cxnSp>
        <p:nvCxnSpPr>
          <p:cNvPr id="18" name="">
            <a:extLst xmlns:a="http://schemas.openxmlformats.org/drawingml/2006/main">
              <a:ext uri="{FF2B5EF4-FFF2-40B4-BE49-F238E27FC236}">
                <a16:creationId xmlns:a16="http://schemas.microsoft.com/office/drawing/2014/main" id="{786E3C3D-1577-4E35-A05A-CD084FA8868D}"/>
              </a:ext>
            </a:extLst>
          </p:cNvPr>
          <p:cNvCxnSpPr/>
          <p:nvPr/>
        </p:nvCxnSpPr>
        <p:spPr>
          <a:xfrm xmlns:a="http://schemas.openxmlformats.org/drawingml/2006/main">
            <a:off x="4914900" y="3619500"/>
            <a:ext cx="609600" cy="0"/>
          </a:xfrm>
          <a:prstGeom xmlns:a="http://schemas.openxmlformats.org/drawingml/2006/main" prst="straightConnector1">
            <a:avLst/>
          </a:prstGeom>
          <a:ln xmlns:a="http://schemas.openxmlformats.org/drawingml/2006/main" w="28575">
            <a:solidFill>
              <a:srgbClr val="0B6172"/>
            </a:solidFill>
            <a:tailEnd type="triangle" w="sm" len="sm"/>
          </a:ln>
        </p:spPr>
      </p:cxnSp>
      <p:sp>
        <p:nvSpPr>
          <p:cNvPr id="19" name="">
            <a:extLst xmlns:a="http://schemas.openxmlformats.org/drawingml/2006/main">
              <a:ext uri="{FF2B5EF4-FFF2-40B4-BE49-F238E27FC236}">
                <a16:creationId xmlns:a16="http://schemas.microsoft.com/office/drawing/2014/main" id="{1F36ACCE-9DB6-47B5-866C-E78CD18D346F}"/>
              </a:ext>
            </a:extLst>
          </p:cNvPr>
          <p:cNvSpPr>
            <a:spLocks xmlns:a="http://schemas.openxmlformats.org/drawingml/2006/main" noGrp="1"/>
          </p:cNvSpPr>
          <p:nvPr/>
        </p:nvSpPr>
        <p:spPr>
          <a:xfrm xmlns:a="http://schemas.openxmlformats.org/drawingml/2006/main">
            <a:off x="5676900" y="1952625"/>
            <a:ext cx="5905500" cy="33528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0" name="이번 작업 · 근거로 판단할 답">
            <a:extLst xmlns:a="http://schemas.openxmlformats.org/drawingml/2006/main">
              <a:ext uri="{FF2B5EF4-FFF2-40B4-BE49-F238E27FC236}">
                <a16:creationId xmlns:a16="http://schemas.microsoft.com/office/drawing/2014/main" id="{B9120E8B-86E8-4FD9-A719-D4CD9872B721}"/>
              </a:ext>
            </a:extLst>
          </p:cNvPr>
          <p:cNvSpPr>
            <a:spLocks xmlns:a="http://schemas.openxmlformats.org/drawingml/2006/main" noGrp="1"/>
          </p:cNvSpPr>
          <p:nvPr/>
        </p:nvSpPr>
        <p:spPr>
          <a:xfrm xmlns:a="http://schemas.openxmlformats.org/drawingml/2006/main">
            <a:off x="5867400" y="2066925"/>
            <a:ext cx="55245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이번 작업 · 근거로 판단할 답</a:t>
            </a:r>
          </a:p>
        </p:txBody>
      </p:sp>
      <p:sp>
        <p:nvSpPr>
          <p:cNvPr id="21" name="밝기 통계 작업에서 답할 질문">
            <a:extLst xmlns:a="http://schemas.openxmlformats.org/drawingml/2006/main">
              <a:ext uri="{FF2B5EF4-FFF2-40B4-BE49-F238E27FC236}">
                <a16:creationId xmlns:a16="http://schemas.microsoft.com/office/drawing/2014/main" id="{07745A18-0EC2-44C2-9E64-9DD6CAC245AC}"/>
              </a:ext>
            </a:extLst>
          </p:cNvPr>
          <p:cNvSpPr>
            <a:spLocks xmlns:a="http://schemas.openxmlformats.org/drawingml/2006/main" noGrp="1"/>
          </p:cNvSpPr>
          <p:nvPr/>
        </p:nvSpPr>
        <p:spPr>
          <a:xfrm xmlns:a="http://schemas.openxmlformats.org/drawingml/2006/main">
            <a:off x="5867400" y="2428875"/>
            <a:ext cx="5524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밝기 통계 작업에서 답할 질문</a:t>
            </a:r>
          </a:p>
        </p:txBody>
      </p:sp>
      <p:sp>
        <p:nvSpPr>
          <p:cNvPr id="22" name="">
            <a:extLst xmlns:a="http://schemas.openxmlformats.org/drawingml/2006/main">
              <a:ext uri="{FF2B5EF4-FFF2-40B4-BE49-F238E27FC236}">
                <a16:creationId xmlns:a16="http://schemas.microsoft.com/office/drawing/2014/main" id="{017AA928-6163-4A91-9C94-C7F4D7EB3C5A}"/>
              </a:ext>
            </a:extLst>
          </p:cNvPr>
          <p:cNvSpPr>
            <a:spLocks xmlns:a="http://schemas.openxmlformats.org/drawingml/2006/main" noGrp="1"/>
          </p:cNvSpPr>
          <p:nvPr/>
        </p:nvSpPr>
        <p:spPr>
          <a:xfrm xmlns:a="http://schemas.openxmlformats.org/drawingml/2006/main">
            <a:off x="5867400" y="2809875"/>
            <a:ext cx="5524500" cy="5238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3" name="이번 측정값 · 테스트 · diff">
            <a:extLst xmlns:a="http://schemas.openxmlformats.org/drawingml/2006/main">
              <a:ext uri="{FF2B5EF4-FFF2-40B4-BE49-F238E27FC236}">
                <a16:creationId xmlns:a16="http://schemas.microsoft.com/office/drawing/2014/main" id="{9BEC00F3-3B1E-48FF-AC0D-634A9537A864}"/>
              </a:ext>
            </a:extLst>
          </p:cNvPr>
          <p:cNvSpPr>
            <a:spLocks xmlns:a="http://schemas.openxmlformats.org/drawingml/2006/main" noGrp="1"/>
          </p:cNvSpPr>
          <p:nvPr/>
        </p:nvSpPr>
        <p:spPr>
          <a:xfrm xmlns:a="http://schemas.openxmlformats.org/drawingml/2006/main">
            <a:off x="6019800" y="2895600"/>
            <a:ext cx="5219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0B6172"/>
                </a:solidFill>
                <a:latin typeface="Malgun Gothic"/>
                <a:ea typeface="Malgun Gothic"/>
                <a:cs typeface="Malgun Gothic"/>
              </a:defRPr>
            </a:defPPr>
            <a:lvl1pPr algn="ctr">
              <a:defRPr sz="2025" b="1">
                <a:solidFill>
                  <a:srgbClr val="0B6172"/>
                </a:solidFill>
                <a:latin typeface="Malgun Gothic"/>
                <a:ea typeface="Malgun Gothic"/>
                <a:cs typeface="Malgun Gothic"/>
              </a:defRPr>
            </a:lvl1pPr>
            <a:lvl2pPr algn="ctr">
              <a:defRPr sz="2025" b="1">
                <a:solidFill>
                  <a:srgbClr val="0B6172"/>
                </a:solidFill>
                <a:latin typeface="Malgun Gothic"/>
                <a:ea typeface="Malgun Gothic"/>
                <a:cs typeface="Malgun Gothic"/>
              </a:defRPr>
            </a:lvl2pPr>
            <a:lvl3pPr algn="ctr">
              <a:defRPr sz="2025" b="1">
                <a:solidFill>
                  <a:srgbClr val="0B6172"/>
                </a:solidFill>
                <a:latin typeface="Malgun Gothic"/>
                <a:ea typeface="Malgun Gothic"/>
                <a:cs typeface="Malgun Gothic"/>
              </a:defRPr>
            </a:lvl3pPr>
            <a:lvl4pPr algn="ctr">
              <a:defRPr sz="2025" b="1">
                <a:solidFill>
                  <a:srgbClr val="0B6172"/>
                </a:solidFill>
                <a:latin typeface="Malgun Gothic"/>
                <a:ea typeface="Malgun Gothic"/>
                <a:cs typeface="Malgun Gothic"/>
              </a:defRPr>
            </a:lvl4pPr>
            <a:lvl5pPr algn="ctr">
              <a:defRPr sz="2025" b="1">
                <a:solidFill>
                  <a:srgbClr val="0B6172"/>
                </a:solidFill>
                <a:latin typeface="Malgun Gothic"/>
                <a:ea typeface="Malgun Gothic"/>
                <a:cs typeface="Malgun Gothic"/>
              </a:defRPr>
            </a:lvl5pPr>
            <a:lvl6pPr algn="ctr">
              <a:defRPr sz="2025" b="1">
                <a:solidFill>
                  <a:srgbClr val="0B6172"/>
                </a:solidFill>
                <a:latin typeface="Malgun Gothic"/>
                <a:ea typeface="Malgun Gothic"/>
                <a:cs typeface="Malgun Gothic"/>
              </a:defRPr>
            </a:lvl6pPr>
            <a:lvl7pPr algn="ctr">
              <a:defRPr sz="2025" b="1">
                <a:solidFill>
                  <a:srgbClr val="0B6172"/>
                </a:solidFill>
                <a:latin typeface="Malgun Gothic"/>
                <a:ea typeface="Malgun Gothic"/>
                <a:cs typeface="Malgun Gothic"/>
              </a:defRPr>
            </a:lvl7pPr>
            <a:lvl8pPr algn="ctr">
              <a:defRPr sz="2025" b="1">
                <a:solidFill>
                  <a:srgbClr val="0B6172"/>
                </a:solidFill>
                <a:latin typeface="Malgun Gothic"/>
                <a:ea typeface="Malgun Gothic"/>
                <a:cs typeface="Malgun Gothic"/>
              </a:defRPr>
            </a:lvl8pPr>
            <a:lvl9pPr algn="ctr">
              <a:defRPr sz="2025" b="1">
                <a:solidFill>
                  <a:srgbClr val="0B6172"/>
                </a:solidFill>
                <a:latin typeface="Malgun Gothic"/>
                <a:ea typeface="Malgun Gothic"/>
                <a:cs typeface="Malgun Gothic"/>
              </a:defRPr>
            </a:lvl9pPr>
          </a:lstStyle>
          <a:p xmlns:a="http://schemas.openxmlformats.org/drawingml/2006/main">
            <a:pPr algn="ctr">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이번 측정값 · 테스트 · diff</a:t>
            </a:r>
          </a:p>
        </p:txBody>
      </p:sp>
      <p:cxnSp>
        <p:nvCxnSpPr>
          <p:cNvPr id="24" name="">
            <a:extLst xmlns:a="http://schemas.openxmlformats.org/drawingml/2006/main">
              <a:ext uri="{FF2B5EF4-FFF2-40B4-BE49-F238E27FC236}">
                <a16:creationId xmlns:a16="http://schemas.microsoft.com/office/drawing/2014/main" id="{DA6373B0-B2F5-4A4A-B280-A9EE632176B8}"/>
              </a:ext>
            </a:extLst>
          </p:cNvPr>
          <p:cNvCxnSpPr/>
          <p:nvPr/>
        </p:nvCxnSpPr>
        <p:spPr>
          <a:xfrm xmlns:a="http://schemas.openxmlformats.org/drawingml/2006/main">
            <a:off x="8629650" y="3333750"/>
            <a:ext cx="0" cy="209550"/>
          </a:xfrm>
          <a:prstGeom xmlns:a="http://schemas.openxmlformats.org/drawingml/2006/main" prst="straightConnector1">
            <a:avLst/>
          </a:prstGeom>
          <a:ln xmlns:a="http://schemas.openxmlformats.org/drawingml/2006/main" w="19050">
            <a:solidFill>
              <a:srgbClr val="0B6172"/>
            </a:solidFill>
            <a:tailEnd type="triangle" w="sm" len="sm"/>
          </a:ln>
        </p:spPr>
      </p:cxnSp>
      <p:sp>
        <p:nvSpPr>
          <p:cNvPr id="25" name="구현">
            <a:extLst xmlns:a="http://schemas.openxmlformats.org/drawingml/2006/main">
              <a:ext uri="{FF2B5EF4-FFF2-40B4-BE49-F238E27FC236}">
                <a16:creationId xmlns:a16="http://schemas.microsoft.com/office/drawing/2014/main" id="{32298F61-532E-41D2-B8B4-B91DEDEE1C4C}"/>
              </a:ext>
            </a:extLst>
          </p:cNvPr>
          <p:cNvSpPr>
            <a:spLocks xmlns:a="http://schemas.openxmlformats.org/drawingml/2006/main" noGrp="1"/>
          </p:cNvSpPr>
          <p:nvPr/>
        </p:nvSpPr>
        <p:spPr>
          <a:xfrm xmlns:a="http://schemas.openxmlformats.org/drawingml/2006/main">
            <a:off x="5867400" y="3619500"/>
            <a:ext cx="1790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구현</a:t>
            </a:r>
          </a:p>
        </p:txBody>
      </p:sp>
      <p:sp>
        <p:nvSpPr>
          <p:cNvPr id="26" name="어떤 후보를 쓸까?">
            <a:extLst xmlns:a="http://schemas.openxmlformats.org/drawingml/2006/main">
              <a:ext uri="{FF2B5EF4-FFF2-40B4-BE49-F238E27FC236}">
                <a16:creationId xmlns:a16="http://schemas.microsoft.com/office/drawing/2014/main" id="{83E80322-FEBA-4E18-966C-596D2E031E2E}"/>
              </a:ext>
            </a:extLst>
          </p:cNvPr>
          <p:cNvSpPr>
            <a:spLocks xmlns:a="http://schemas.openxmlformats.org/drawingml/2006/main" noGrp="1"/>
          </p:cNvSpPr>
          <p:nvPr/>
        </p:nvSpPr>
        <p:spPr>
          <a:xfrm xmlns:a="http://schemas.openxmlformats.org/drawingml/2006/main">
            <a:off x="5867400" y="3914775"/>
            <a:ext cx="17907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어떤 후보를 쓸까?</a:t>
            </a:r>
          </a:p>
        </p:txBody>
      </p:sp>
      <p:sp>
        <p:nvSpPr>
          <p:cNvPr id="27" name="측정값">
            <a:extLst xmlns:a="http://schemas.openxmlformats.org/drawingml/2006/main">
              <a:ext uri="{FF2B5EF4-FFF2-40B4-BE49-F238E27FC236}">
                <a16:creationId xmlns:a16="http://schemas.microsoft.com/office/drawing/2014/main" id="{00813209-57A2-4A06-8F81-79E39C4FCE73}"/>
              </a:ext>
            </a:extLst>
          </p:cNvPr>
          <p:cNvSpPr>
            <a:spLocks xmlns:a="http://schemas.openxmlformats.org/drawingml/2006/main" noGrp="1"/>
          </p:cNvSpPr>
          <p:nvPr/>
        </p:nvSpPr>
        <p:spPr>
          <a:xfrm xmlns:a="http://schemas.openxmlformats.org/drawingml/2006/main">
            <a:off x="7734300" y="3619500"/>
            <a:ext cx="1790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측정값</a:t>
            </a:r>
          </a:p>
        </p:txBody>
      </p:sp>
      <p:sp>
        <p:nvSpPr>
          <p:cNvPr id="28" name="시간·할당량은?">
            <a:extLst xmlns:a="http://schemas.openxmlformats.org/drawingml/2006/main">
              <a:ext uri="{FF2B5EF4-FFF2-40B4-BE49-F238E27FC236}">
                <a16:creationId xmlns:a16="http://schemas.microsoft.com/office/drawing/2014/main" id="{E728DACD-97DA-4073-AAA5-AA6127787DCC}"/>
              </a:ext>
            </a:extLst>
          </p:cNvPr>
          <p:cNvSpPr>
            <a:spLocks xmlns:a="http://schemas.openxmlformats.org/drawingml/2006/main" noGrp="1"/>
          </p:cNvSpPr>
          <p:nvPr/>
        </p:nvSpPr>
        <p:spPr>
          <a:xfrm xmlns:a="http://schemas.openxmlformats.org/drawingml/2006/main">
            <a:off x="7734300" y="3914775"/>
            <a:ext cx="17907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시간·할당량은?</a:t>
            </a:r>
          </a:p>
        </p:txBody>
      </p:sp>
      <p:sp>
        <p:nvSpPr>
          <p:cNvPr id="29" name="trade-off">
            <a:extLst xmlns:a="http://schemas.openxmlformats.org/drawingml/2006/main">
              <a:ext uri="{FF2B5EF4-FFF2-40B4-BE49-F238E27FC236}">
                <a16:creationId xmlns:a16="http://schemas.microsoft.com/office/drawing/2014/main" id="{171233E0-608C-4A1A-B0F5-114DF2DA42A5}"/>
              </a:ext>
            </a:extLst>
          </p:cNvPr>
          <p:cNvSpPr>
            <a:spLocks xmlns:a="http://schemas.openxmlformats.org/drawingml/2006/main" noGrp="1"/>
          </p:cNvSpPr>
          <p:nvPr/>
        </p:nvSpPr>
        <p:spPr>
          <a:xfrm xmlns:a="http://schemas.openxmlformats.org/drawingml/2006/main">
            <a:off x="9601200" y="3619500"/>
            <a:ext cx="1790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trade-off</a:t>
            </a:r>
          </a:p>
        </p:txBody>
      </p:sp>
      <p:sp>
        <p:nvSpPr>
          <p:cNvPr id="30" name="무엇을 감수할까?">
            <a:extLst xmlns:a="http://schemas.openxmlformats.org/drawingml/2006/main">
              <a:ext uri="{FF2B5EF4-FFF2-40B4-BE49-F238E27FC236}">
                <a16:creationId xmlns:a16="http://schemas.microsoft.com/office/drawing/2014/main" id="{271BCB73-DB67-4FA4-886C-2B4B52450C50}"/>
              </a:ext>
            </a:extLst>
          </p:cNvPr>
          <p:cNvSpPr>
            <a:spLocks xmlns:a="http://schemas.openxmlformats.org/drawingml/2006/main" noGrp="1"/>
          </p:cNvSpPr>
          <p:nvPr/>
        </p:nvSpPr>
        <p:spPr>
          <a:xfrm xmlns:a="http://schemas.openxmlformats.org/drawingml/2006/main">
            <a:off x="9601200" y="3914775"/>
            <a:ext cx="17907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무엇을 감수할까?</a:t>
            </a:r>
          </a:p>
        </p:txBody>
      </p:sp>
      <p:sp>
        <p:nvSpPr>
          <p:cNvPr id="31" name="">
            <a:extLst xmlns:a="http://schemas.openxmlformats.org/drawingml/2006/main">
              <a:ext uri="{FF2B5EF4-FFF2-40B4-BE49-F238E27FC236}">
                <a16:creationId xmlns:a16="http://schemas.microsoft.com/office/drawing/2014/main" id="{45B63986-6ED5-4C2D-9B44-80DE90A4ECF0}"/>
              </a:ext>
            </a:extLst>
          </p:cNvPr>
          <p:cNvSpPr>
            <a:spLocks xmlns:a="http://schemas.openxmlformats.org/drawingml/2006/main" noGrp="1"/>
          </p:cNvSpPr>
          <p:nvPr/>
        </p:nvSpPr>
        <p:spPr>
          <a:xfrm xmlns:a="http://schemas.openxmlformats.org/drawingml/2006/main">
            <a:off x="6762750" y="4257675"/>
            <a:ext cx="0" cy="142875"/>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32" name="">
            <a:extLst xmlns:a="http://schemas.openxmlformats.org/drawingml/2006/main">
              <a:ext uri="{FF2B5EF4-FFF2-40B4-BE49-F238E27FC236}">
                <a16:creationId xmlns:a16="http://schemas.microsoft.com/office/drawing/2014/main" id="{22D96D29-7D50-47A1-A19A-1316D9CE745D}"/>
              </a:ext>
            </a:extLst>
          </p:cNvPr>
          <p:cNvSpPr>
            <a:spLocks xmlns:a="http://schemas.openxmlformats.org/drawingml/2006/main" noGrp="1"/>
          </p:cNvSpPr>
          <p:nvPr/>
        </p:nvSpPr>
        <p:spPr>
          <a:xfrm xmlns:a="http://schemas.openxmlformats.org/drawingml/2006/main">
            <a:off x="8629650" y="4257675"/>
            <a:ext cx="0" cy="142875"/>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33" name="">
            <a:extLst xmlns:a="http://schemas.openxmlformats.org/drawingml/2006/main">
              <a:ext uri="{FF2B5EF4-FFF2-40B4-BE49-F238E27FC236}">
                <a16:creationId xmlns:a16="http://schemas.microsoft.com/office/drawing/2014/main" id="{8FF5C478-DD9E-415D-A7B8-8BB48DC76B1E}"/>
              </a:ext>
            </a:extLst>
          </p:cNvPr>
          <p:cNvSpPr>
            <a:spLocks xmlns:a="http://schemas.openxmlformats.org/drawingml/2006/main" noGrp="1"/>
          </p:cNvSpPr>
          <p:nvPr/>
        </p:nvSpPr>
        <p:spPr>
          <a:xfrm xmlns:a="http://schemas.openxmlformats.org/drawingml/2006/main">
            <a:off x="10496550" y="4257675"/>
            <a:ext cx="0" cy="142875"/>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34" name="">
            <a:extLst xmlns:a="http://schemas.openxmlformats.org/drawingml/2006/main">
              <a:ext uri="{FF2B5EF4-FFF2-40B4-BE49-F238E27FC236}">
                <a16:creationId xmlns:a16="http://schemas.microsoft.com/office/drawing/2014/main" id="{5AFF2DEF-191C-40D3-8164-86DDE0420C7C}"/>
              </a:ext>
            </a:extLst>
          </p:cNvPr>
          <p:cNvSpPr>
            <a:spLocks xmlns:a="http://schemas.openxmlformats.org/drawingml/2006/main" noGrp="1"/>
          </p:cNvSpPr>
          <p:nvPr/>
        </p:nvSpPr>
        <p:spPr>
          <a:xfrm xmlns:a="http://schemas.openxmlformats.org/drawingml/2006/main">
            <a:off x="6762750" y="4400550"/>
            <a:ext cx="37338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cxnSp>
        <p:nvCxnSpPr>
          <p:cNvPr id="35" name="">
            <a:extLst xmlns:a="http://schemas.openxmlformats.org/drawingml/2006/main">
              <a:ext uri="{FF2B5EF4-FFF2-40B4-BE49-F238E27FC236}">
                <a16:creationId xmlns:a16="http://schemas.microsoft.com/office/drawing/2014/main" id="{79AC8F66-008E-4A07-AF87-A6AD71D6E9DB}"/>
              </a:ext>
            </a:extLst>
          </p:cNvPr>
          <p:cNvCxnSpPr/>
          <p:nvPr/>
        </p:nvCxnSpPr>
        <p:spPr>
          <a:xfrm xmlns:a="http://schemas.openxmlformats.org/drawingml/2006/main">
            <a:off x="7181850" y="4400550"/>
            <a:ext cx="0" cy="171450"/>
          </a:xfrm>
          <a:prstGeom xmlns:a="http://schemas.openxmlformats.org/drawingml/2006/main" prst="straightConnector1">
            <a:avLst/>
          </a:prstGeom>
          <a:ln xmlns:a="http://schemas.openxmlformats.org/drawingml/2006/main" w="19050">
            <a:solidFill>
              <a:srgbClr val="C7D0DA"/>
            </a:solidFill>
            <a:tailEnd type="triangle" w="sm" len="sm"/>
          </a:ln>
        </p:spPr>
      </p:cxnSp>
      <p:cxnSp>
        <p:nvCxnSpPr>
          <p:cNvPr id="36" name="">
            <a:extLst xmlns:a="http://schemas.openxmlformats.org/drawingml/2006/main">
              <a:ext uri="{FF2B5EF4-FFF2-40B4-BE49-F238E27FC236}">
                <a16:creationId xmlns:a16="http://schemas.microsoft.com/office/drawing/2014/main" id="{3B203718-1520-4078-98DA-544472E46BD1}"/>
              </a:ext>
            </a:extLst>
          </p:cNvPr>
          <p:cNvCxnSpPr/>
          <p:nvPr/>
        </p:nvCxnSpPr>
        <p:spPr>
          <a:xfrm xmlns:a="http://schemas.openxmlformats.org/drawingml/2006/main">
            <a:off x="10077450" y="4400550"/>
            <a:ext cx="0" cy="171450"/>
          </a:xfrm>
          <a:prstGeom xmlns:a="http://schemas.openxmlformats.org/drawingml/2006/main" prst="straightConnector1">
            <a:avLst/>
          </a:prstGeom>
          <a:ln xmlns:a="http://schemas.openxmlformats.org/drawingml/2006/main" w="19050">
            <a:solidFill>
              <a:srgbClr val="C7D0DA"/>
            </a:solidFill>
            <a:tailEnd type="triangle" w="sm" len="sm"/>
          </a:ln>
        </p:spPr>
      </p:cxnSp>
      <p:sp>
        <p:nvSpPr>
          <p:cNvPr id="37" name="">
            <a:extLst xmlns:a="http://schemas.openxmlformats.org/drawingml/2006/main">
              <a:ext uri="{FF2B5EF4-FFF2-40B4-BE49-F238E27FC236}">
                <a16:creationId xmlns:a16="http://schemas.microsoft.com/office/drawing/2014/main" id="{4BC5772E-6C61-4EB3-9AA9-34A0F5B0529C}"/>
              </a:ext>
            </a:extLst>
          </p:cNvPr>
          <p:cNvSpPr>
            <a:spLocks xmlns:a="http://schemas.openxmlformats.org/drawingml/2006/main" noGrp="1"/>
          </p:cNvSpPr>
          <p:nvPr/>
        </p:nvSpPr>
        <p:spPr>
          <a:xfrm xmlns:a="http://schemas.openxmlformats.org/drawingml/2006/main">
            <a:off x="5867400" y="4638675"/>
            <a:ext cx="2628900" cy="552450"/>
          </a:xfrm>
          <a:prstGeom xmlns:a="http://schemas.openxmlformats.org/drawingml/2006/main" prst="rect">
            <a:avLst/>
          </a:prstGeom>
          <a:solidFill xmlns:a="http://schemas.openxmlformats.org/drawingml/2006/main">
            <a:srgbClr val="F4F6F8"/>
          </a:solidFill>
          <a:ln xmlns:a="http://schemas.openxmlformats.org/drawingml/2006/main" w="9525">
            <a:solidFill>
              <a:srgbClr val="C7D0DA"/>
            </a:solidFill>
            <a:prstDash val="solid"/>
          </a:ln>
        </p:spPr>
      </p:sp>
      <p:sp>
        <p:nvSpPr>
          <p:cNvPr id="38" name="근거가 뒷받침하면">
            <a:extLst xmlns:a="http://schemas.openxmlformats.org/drawingml/2006/main">
              <a:ext uri="{FF2B5EF4-FFF2-40B4-BE49-F238E27FC236}">
                <a16:creationId xmlns:a16="http://schemas.microsoft.com/office/drawing/2014/main" id="{0C5C846F-E483-4A9A-B7C8-FB600CF2CF3E}"/>
              </a:ext>
            </a:extLst>
          </p:cNvPr>
          <p:cNvSpPr>
            <a:spLocks xmlns:a="http://schemas.openxmlformats.org/drawingml/2006/main" noGrp="1"/>
          </p:cNvSpPr>
          <p:nvPr/>
        </p:nvSpPr>
        <p:spPr>
          <a:xfrm xmlns:a="http://schemas.openxmlformats.org/drawingml/2006/main">
            <a:off x="5943600" y="4657725"/>
            <a:ext cx="2476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근거가 뒷받침하면</a:t>
            </a:r>
          </a:p>
        </p:txBody>
      </p:sp>
      <p:sp>
        <p:nvSpPr>
          <p:cNvPr id="39" name="변경 채택">
            <a:extLst xmlns:a="http://schemas.openxmlformats.org/drawingml/2006/main">
              <a:ext uri="{FF2B5EF4-FFF2-40B4-BE49-F238E27FC236}">
                <a16:creationId xmlns:a16="http://schemas.microsoft.com/office/drawing/2014/main" id="{A80D9AF4-BC61-4275-9E0A-EDCD52604A4A}"/>
              </a:ext>
            </a:extLst>
          </p:cNvPr>
          <p:cNvSpPr>
            <a:spLocks xmlns:a="http://schemas.openxmlformats.org/drawingml/2006/main" noGrp="1"/>
          </p:cNvSpPr>
          <p:nvPr/>
        </p:nvSpPr>
        <p:spPr>
          <a:xfrm xmlns:a="http://schemas.openxmlformats.org/drawingml/2006/main">
            <a:off x="5943600" y="4895850"/>
            <a:ext cx="2476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변경 채택</a:t>
            </a:r>
          </a:p>
        </p:txBody>
      </p:sp>
      <p:sp>
        <p:nvSpPr>
          <p:cNvPr id="40" name="">
            <a:extLst xmlns:a="http://schemas.openxmlformats.org/drawingml/2006/main">
              <a:ext uri="{FF2B5EF4-FFF2-40B4-BE49-F238E27FC236}">
                <a16:creationId xmlns:a16="http://schemas.microsoft.com/office/drawing/2014/main" id="{072565FA-0050-4BAF-AEF4-F16400D50393}"/>
              </a:ext>
            </a:extLst>
          </p:cNvPr>
          <p:cNvSpPr>
            <a:spLocks xmlns:a="http://schemas.openxmlformats.org/drawingml/2006/main" noGrp="1"/>
          </p:cNvSpPr>
          <p:nvPr/>
        </p:nvSpPr>
        <p:spPr>
          <a:xfrm xmlns:a="http://schemas.openxmlformats.org/drawingml/2006/main">
            <a:off x="8763000" y="4638675"/>
            <a:ext cx="2628900" cy="552450"/>
          </a:xfrm>
          <a:prstGeom xmlns:a="http://schemas.openxmlformats.org/drawingml/2006/main" prst="rect">
            <a:avLst/>
          </a:prstGeom>
          <a:solidFill xmlns:a="http://schemas.openxmlformats.org/drawingml/2006/main">
            <a:srgbClr val="F4F6F8"/>
          </a:solidFill>
          <a:ln xmlns:a="http://schemas.openxmlformats.org/drawingml/2006/main" w="9525">
            <a:solidFill>
              <a:srgbClr val="C7D0DA"/>
            </a:solidFill>
            <a:prstDash val="solid"/>
          </a:ln>
        </p:spPr>
      </p:sp>
      <p:sp>
        <p:nvSpPr>
          <p:cNvPr id="41" name="변경 근거가 부족하면">
            <a:extLst xmlns:a="http://schemas.openxmlformats.org/drawingml/2006/main">
              <a:ext uri="{FF2B5EF4-FFF2-40B4-BE49-F238E27FC236}">
                <a16:creationId xmlns:a16="http://schemas.microsoft.com/office/drawing/2014/main" id="{43DC2934-ECB3-4F44-B764-F6B0A0504867}"/>
              </a:ext>
            </a:extLst>
          </p:cNvPr>
          <p:cNvSpPr>
            <a:spLocks xmlns:a="http://schemas.openxmlformats.org/drawingml/2006/main" noGrp="1"/>
          </p:cNvSpPr>
          <p:nvPr/>
        </p:nvSpPr>
        <p:spPr>
          <a:xfrm xmlns:a="http://schemas.openxmlformats.org/drawingml/2006/main">
            <a:off x="8839200" y="4657725"/>
            <a:ext cx="2476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변경 근거가 부족하면</a:t>
            </a:r>
          </a:p>
        </p:txBody>
      </p:sp>
      <p:sp>
        <p:nvSpPr>
          <p:cNvPr id="42" name="변경 보류">
            <a:extLst xmlns:a="http://schemas.openxmlformats.org/drawingml/2006/main">
              <a:ext uri="{FF2B5EF4-FFF2-40B4-BE49-F238E27FC236}">
                <a16:creationId xmlns:a16="http://schemas.microsoft.com/office/drawing/2014/main" id="{BA110D24-3F7A-4846-81A7-58E762B4A25E}"/>
              </a:ext>
            </a:extLst>
          </p:cNvPr>
          <p:cNvSpPr>
            <a:spLocks xmlns:a="http://schemas.openxmlformats.org/drawingml/2006/main" noGrp="1"/>
          </p:cNvSpPr>
          <p:nvPr/>
        </p:nvSpPr>
        <p:spPr>
          <a:xfrm xmlns:a="http://schemas.openxmlformats.org/drawingml/2006/main">
            <a:off x="8839200" y="4895850"/>
            <a:ext cx="2476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변경 보류</a:t>
            </a:r>
          </a:p>
        </p:txBody>
      </p:sp>
      <p:sp>
        <p:nvSpPr>
          <p:cNvPr id="43" name="변경을 정당화할 근거가 없다면, 보류도 유효한 결론이다">
            <a:extLst xmlns:a="http://schemas.openxmlformats.org/drawingml/2006/main">
              <a:ext uri="{FF2B5EF4-FFF2-40B4-BE49-F238E27FC236}">
                <a16:creationId xmlns:a16="http://schemas.microsoft.com/office/drawing/2014/main" id="{8CC2BBB7-0740-40E4-8584-760717777F3E}"/>
              </a:ext>
            </a:extLst>
          </p:cNvPr>
          <p:cNvSpPr>
            <a:spLocks xmlns:a="http://schemas.openxmlformats.org/drawingml/2006/main" noGrp="1"/>
          </p:cNvSpPr>
          <p:nvPr/>
        </p:nvSpPr>
        <p:spPr>
          <a:xfrm xmlns:a="http://schemas.openxmlformats.org/drawingml/2006/main">
            <a:off x="609600" y="54102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변경을 정당화할 근거가 없다면, 보류도 유효한 결론이다</a:t>
            </a:r>
          </a:p>
        </p:txBody>
      </p:sp>
      <p:sp>
        <p:nvSpPr>
          <p:cNvPr id="44" name="Legacy module connection">
            <a:extLst xmlns:a="http://schemas.openxmlformats.org/drawingml/2006/main">
              <a:ext uri="{FF2B5EF4-FFF2-40B4-BE49-F238E27FC236}">
                <a16:creationId xmlns:a16="http://schemas.microsoft.com/office/drawing/2014/main" id="{E30224C4-88DC-4E07-A165-F0C714788A0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a:t>
            </a:r>
          </a:p>
        </p:txBody>
      </p:sp>
    </p:spTree>
    <p:extLst>
      <p:ext uri="{BB962C8B-B14F-4D97-AF65-F5344CB8AC3E}">
        <p14:creationId xmlns:p14="http://schemas.microsoft.com/office/powerpoint/2010/main" val="656670323"/>
      </p:ext>
    </p:extLst>
  </p:cSld>
</p:sld>
</file>

<file path=ppt/slides/slide1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58" name="ACT 3 · Skill 절차로 조사하고, 기록으로 선택한 구현">
            <a:extLst xmlns:a="http://schemas.openxmlformats.org/drawingml/2006/main">
              <a:ext uri="{FF2B5EF4-FFF2-40B4-BE49-F238E27FC236}">
                <a16:creationId xmlns:a16="http://schemas.microsoft.com/office/drawing/2014/main" id="{DE79F6D2-12E5-4417-9A03-397689EAFC8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Skill 절차로 조사하고, 기록으로 선택한 구현</a:t>
            </a:r>
          </a:p>
        </p:txBody>
      </p:sp>
      <p:sp>
        <p:nvSpPr>
          <p:cNvPr id="2" name="S65">
            <a:extLst xmlns:a="http://schemas.openxmlformats.org/drawingml/2006/main">
              <a:ext uri="{FF2B5EF4-FFF2-40B4-BE49-F238E27FC236}">
                <a16:creationId xmlns:a16="http://schemas.microsoft.com/office/drawing/2014/main" id="{1C721121-1894-40C4-8CF5-F5B440F49B4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S65</a:t>
            </a:r>
          </a:p>
        </p:txBody>
      </p:sp>
      <p:sp>
        <p:nvSpPr>
          <p:cNvPr id="3" name="밝기 통계 계산의 성능 개선 후보">
            <a:extLst xmlns:a="http://schemas.openxmlformats.org/drawingml/2006/main">
              <a:ext uri="{FF2B5EF4-FFF2-40B4-BE49-F238E27FC236}">
                <a16:creationId xmlns:a16="http://schemas.microsoft.com/office/drawing/2014/main" id="{57C7DF4D-51A0-472C-8785-6BEF61A512E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밝기 통계 계산의 성능 개선 후보</a:t>
            </a:r>
          </a:p>
        </p:txBody>
      </p:sp>
      <p:sp>
        <p:nvSpPr>
          <p:cNvPr id="4" name="">
            <a:extLst xmlns:a="http://schemas.openxmlformats.org/drawingml/2006/main">
              <a:ext uri="{FF2B5EF4-FFF2-40B4-BE49-F238E27FC236}">
                <a16:creationId xmlns:a16="http://schemas.microsoft.com/office/drawing/2014/main" id="{1642B409-77DB-45A3-86CA-E58238F29F0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8 기록 요약·구현 도식 · 합성1024×768 · CPython3.9.6 / macOS ar">
            <a:extLst xmlns:a="http://schemas.openxmlformats.org/drawingml/2006/main">
              <a:ext uri="{FF2B5EF4-FFF2-40B4-BE49-F238E27FC236}">
                <a16:creationId xmlns:a16="http://schemas.microsoft.com/office/drawing/2014/main" id="{47A793B3-D24A-4C8C-BDFA-135B3FE081B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TRIAL-008 기록 요약·구현 도식 · 합성1024×768 · CPython3.9.6 / macOS arm64</a:t>
            </a:r>
          </a:p>
        </p:txBody>
      </p:sp>
      <p:sp>
        <p:nvSpPr>
          <p:cNvPr id="6" name="임시 메모리: Python 할당 피크 · 다음 장의 제품 상태 측정과 별개 · Skill 단독 효과 미입증">
            <a:extLst xmlns:a="http://schemas.openxmlformats.org/drawingml/2006/main">
              <a:ext uri="{FF2B5EF4-FFF2-40B4-BE49-F238E27FC236}">
                <a16:creationId xmlns:a16="http://schemas.microsoft.com/office/drawing/2014/main" id="{28B1B6AB-E94D-4F04-A1BE-4FD3305603D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임시 메모리: Python 할당 피크 · 다음 장의 제품 상태 측정과 별개 · Skill 단독 효과 미입증</a:t>
            </a:r>
          </a:p>
        </p:txBody>
      </p:sp>
      <p:sp>
        <p:nvSpPr>
          <p:cNvPr id="7" name="이미지의 최소·최대·평균 밝기를 구하되, 기존 결과는 유지">
            <a:extLst xmlns:a="http://schemas.openxmlformats.org/drawingml/2006/main">
              <a:ext uri="{FF2B5EF4-FFF2-40B4-BE49-F238E27FC236}">
                <a16:creationId xmlns:a16="http://schemas.microsoft.com/office/drawing/2014/main" id="{4990A0D2-EC98-424F-B3C3-1E07B37DC73C}"/>
              </a:ext>
            </a:extLst>
          </p:cNvPr>
          <p:cNvSpPr>
            <a:spLocks xmlns:a="http://schemas.openxmlformats.org/drawingml/2006/main" noGrp="1"/>
          </p:cNvSpPr>
          <p:nvPr/>
        </p:nvSpPr>
        <p:spPr>
          <a:xfrm xmlns:a="http://schemas.openxmlformats.org/drawingml/2006/main">
            <a:off x="609600" y="16859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이미지의 최소·최대·평균 밝기를 구하되, 기존 결과는 유지</a:t>
            </a:r>
          </a:p>
        </p:txBody>
      </p:sp>
      <p:sp>
        <p:nvSpPr>
          <p:cNvPr id="8" name="기존 구현">
            <a:extLst xmlns:a="http://schemas.openxmlformats.org/drawingml/2006/main">
              <a:ext uri="{FF2B5EF4-FFF2-40B4-BE49-F238E27FC236}">
                <a16:creationId xmlns:a16="http://schemas.microsoft.com/office/drawing/2014/main" id="{C209617F-4B1A-4820-A7A8-936956869DD4}"/>
              </a:ext>
            </a:extLst>
          </p:cNvPr>
          <p:cNvSpPr>
            <a:spLocks xmlns:a="http://schemas.openxmlformats.org/drawingml/2006/main" noGrp="1"/>
          </p:cNvSpPr>
          <p:nvPr/>
        </p:nvSpPr>
        <p:spPr>
          <a:xfrm xmlns:a="http://schemas.openxmlformats.org/drawingml/2006/main">
            <a:off x="609600" y="2295525"/>
            <a:ext cx="1524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기존 구현</a:t>
            </a:r>
          </a:p>
        </p:txBody>
      </p:sp>
      <p:sp>
        <p:nvSpPr>
          <p:cNvPr id="9" name="입력 이미지">
            <a:extLst xmlns:a="http://schemas.openxmlformats.org/drawingml/2006/main">
              <a:ext uri="{FF2B5EF4-FFF2-40B4-BE49-F238E27FC236}">
                <a16:creationId xmlns:a16="http://schemas.microsoft.com/office/drawing/2014/main" id="{39DAFB40-384D-45CE-804C-3DC01C816A4D}"/>
              </a:ext>
            </a:extLst>
          </p:cNvPr>
          <p:cNvSpPr>
            <a:spLocks xmlns:a="http://schemas.openxmlformats.org/drawingml/2006/main" noGrp="1"/>
          </p:cNvSpPr>
          <p:nvPr/>
        </p:nvSpPr>
        <p:spPr>
          <a:xfrm xmlns:a="http://schemas.openxmlformats.org/drawingml/2006/main">
            <a:off x="2171700" y="2209800"/>
            <a:ext cx="1809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입력 이미지</a:t>
            </a:r>
          </a:p>
        </p:txBody>
      </p:sp>
      <p:sp>
        <p:nvSpPr>
          <p:cNvPr id="10" name="">
            <a:extLst xmlns:a="http://schemas.openxmlformats.org/drawingml/2006/main">
              <a:ext uri="{FF2B5EF4-FFF2-40B4-BE49-F238E27FC236}">
                <a16:creationId xmlns:a16="http://schemas.microsoft.com/office/drawing/2014/main" id="{9ABF024D-0724-4238-AEC1-8E278C605C5B}"/>
              </a:ext>
            </a:extLst>
          </p:cNvPr>
          <p:cNvSpPr>
            <a:spLocks xmlns:a="http://schemas.openxmlformats.org/drawingml/2006/main" noGrp="1"/>
          </p:cNvSpPr>
          <p:nvPr/>
        </p:nvSpPr>
        <p:spPr>
          <a:xfrm xmlns:a="http://schemas.openxmlformats.org/drawingml/2006/main">
            <a:off x="2524125"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1" name="">
            <a:extLst xmlns:a="http://schemas.openxmlformats.org/drawingml/2006/main">
              <a:ext uri="{FF2B5EF4-FFF2-40B4-BE49-F238E27FC236}">
                <a16:creationId xmlns:a16="http://schemas.microsoft.com/office/drawing/2014/main" id="{60087DD2-A0BC-4E81-B9C2-DE4FEBBDD374}"/>
              </a:ext>
            </a:extLst>
          </p:cNvPr>
          <p:cNvSpPr>
            <a:spLocks xmlns:a="http://schemas.openxmlformats.org/drawingml/2006/main" noGrp="1"/>
          </p:cNvSpPr>
          <p:nvPr/>
        </p:nvSpPr>
        <p:spPr>
          <a:xfrm xmlns:a="http://schemas.openxmlformats.org/drawingml/2006/main">
            <a:off x="2743200"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2" name="">
            <a:extLst xmlns:a="http://schemas.openxmlformats.org/drawingml/2006/main">
              <a:ext uri="{FF2B5EF4-FFF2-40B4-BE49-F238E27FC236}">
                <a16:creationId xmlns:a16="http://schemas.microsoft.com/office/drawing/2014/main" id="{43587450-5ADD-4AA8-8604-29B05455B7CF}"/>
              </a:ext>
            </a:extLst>
          </p:cNvPr>
          <p:cNvSpPr>
            <a:spLocks xmlns:a="http://schemas.openxmlformats.org/drawingml/2006/main" noGrp="1"/>
          </p:cNvSpPr>
          <p:nvPr/>
        </p:nvSpPr>
        <p:spPr>
          <a:xfrm xmlns:a="http://schemas.openxmlformats.org/drawingml/2006/main">
            <a:off x="2962275"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3" name="">
            <a:extLst xmlns:a="http://schemas.openxmlformats.org/drawingml/2006/main">
              <a:ext uri="{FF2B5EF4-FFF2-40B4-BE49-F238E27FC236}">
                <a16:creationId xmlns:a16="http://schemas.microsoft.com/office/drawing/2014/main" id="{50AD97B9-4C76-4F66-9F96-3BE9D8786A38}"/>
              </a:ext>
            </a:extLst>
          </p:cNvPr>
          <p:cNvSpPr>
            <a:spLocks xmlns:a="http://schemas.openxmlformats.org/drawingml/2006/main" noGrp="1"/>
          </p:cNvSpPr>
          <p:nvPr/>
        </p:nvSpPr>
        <p:spPr>
          <a:xfrm xmlns:a="http://schemas.openxmlformats.org/drawingml/2006/main">
            <a:off x="3181350"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4" name="">
            <a:extLst xmlns:a="http://schemas.openxmlformats.org/drawingml/2006/main">
              <a:ext uri="{FF2B5EF4-FFF2-40B4-BE49-F238E27FC236}">
                <a16:creationId xmlns:a16="http://schemas.microsoft.com/office/drawing/2014/main" id="{C081FA36-621B-4128-BBA6-79C6A996EB37}"/>
              </a:ext>
            </a:extLst>
          </p:cNvPr>
          <p:cNvSpPr>
            <a:spLocks xmlns:a="http://schemas.openxmlformats.org/drawingml/2006/main" noGrp="1"/>
          </p:cNvSpPr>
          <p:nvPr/>
        </p:nvSpPr>
        <p:spPr>
          <a:xfrm xmlns:a="http://schemas.openxmlformats.org/drawingml/2006/main">
            <a:off x="3400425"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5" name="">
            <a:extLst xmlns:a="http://schemas.openxmlformats.org/drawingml/2006/main">
              <a:ext uri="{FF2B5EF4-FFF2-40B4-BE49-F238E27FC236}">
                <a16:creationId xmlns:a16="http://schemas.microsoft.com/office/drawing/2014/main" id="{068A613B-62EA-4D40-A5CD-260BE90DC928}"/>
              </a:ext>
            </a:extLst>
          </p:cNvPr>
          <p:cNvSpPr>
            <a:spLocks xmlns:a="http://schemas.openxmlformats.org/drawingml/2006/main" noGrp="1"/>
          </p:cNvSpPr>
          <p:nvPr/>
        </p:nvSpPr>
        <p:spPr>
          <a:xfrm xmlns:a="http://schemas.openxmlformats.org/drawingml/2006/main">
            <a:off x="2524125"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16" name="">
            <a:extLst xmlns:a="http://schemas.openxmlformats.org/drawingml/2006/main">
              <a:ext uri="{FF2B5EF4-FFF2-40B4-BE49-F238E27FC236}">
                <a16:creationId xmlns:a16="http://schemas.microsoft.com/office/drawing/2014/main" id="{931E5EFE-34DE-4F59-9043-51BA18628964}"/>
              </a:ext>
            </a:extLst>
          </p:cNvPr>
          <p:cNvSpPr>
            <a:spLocks xmlns:a="http://schemas.openxmlformats.org/drawingml/2006/main" noGrp="1"/>
          </p:cNvSpPr>
          <p:nvPr/>
        </p:nvSpPr>
        <p:spPr>
          <a:xfrm xmlns:a="http://schemas.openxmlformats.org/drawingml/2006/main">
            <a:off x="2743200"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17" name="">
            <a:extLst xmlns:a="http://schemas.openxmlformats.org/drawingml/2006/main">
              <a:ext uri="{FF2B5EF4-FFF2-40B4-BE49-F238E27FC236}">
                <a16:creationId xmlns:a16="http://schemas.microsoft.com/office/drawing/2014/main" id="{8D594821-C219-4166-9C79-6AA8749861E0}"/>
              </a:ext>
            </a:extLst>
          </p:cNvPr>
          <p:cNvSpPr>
            <a:spLocks xmlns:a="http://schemas.openxmlformats.org/drawingml/2006/main" noGrp="1"/>
          </p:cNvSpPr>
          <p:nvPr/>
        </p:nvSpPr>
        <p:spPr>
          <a:xfrm xmlns:a="http://schemas.openxmlformats.org/drawingml/2006/main">
            <a:off x="2962275"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18" name="">
            <a:extLst xmlns:a="http://schemas.openxmlformats.org/drawingml/2006/main">
              <a:ext uri="{FF2B5EF4-FFF2-40B4-BE49-F238E27FC236}">
                <a16:creationId xmlns:a16="http://schemas.microsoft.com/office/drawing/2014/main" id="{161E1239-ABEE-47EC-8972-460C9E796A3D}"/>
              </a:ext>
            </a:extLst>
          </p:cNvPr>
          <p:cNvSpPr>
            <a:spLocks xmlns:a="http://schemas.openxmlformats.org/drawingml/2006/main" noGrp="1"/>
          </p:cNvSpPr>
          <p:nvPr/>
        </p:nvSpPr>
        <p:spPr>
          <a:xfrm xmlns:a="http://schemas.openxmlformats.org/drawingml/2006/main">
            <a:off x="3181350"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19" name="">
            <a:extLst xmlns:a="http://schemas.openxmlformats.org/drawingml/2006/main">
              <a:ext uri="{FF2B5EF4-FFF2-40B4-BE49-F238E27FC236}">
                <a16:creationId xmlns:a16="http://schemas.microsoft.com/office/drawing/2014/main" id="{15976320-C4D0-4B5F-8EA3-FC89037D58C4}"/>
              </a:ext>
            </a:extLst>
          </p:cNvPr>
          <p:cNvSpPr>
            <a:spLocks xmlns:a="http://schemas.openxmlformats.org/drawingml/2006/main" noGrp="1"/>
          </p:cNvSpPr>
          <p:nvPr/>
        </p:nvSpPr>
        <p:spPr>
          <a:xfrm xmlns:a="http://schemas.openxmlformats.org/drawingml/2006/main">
            <a:off x="3400425"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20" name="">
            <a:extLst xmlns:a="http://schemas.openxmlformats.org/drawingml/2006/main">
              <a:ext uri="{FF2B5EF4-FFF2-40B4-BE49-F238E27FC236}">
                <a16:creationId xmlns:a16="http://schemas.microsoft.com/office/drawing/2014/main" id="{10B6A1E4-035F-4796-BBBC-97B4C04BD963}"/>
              </a:ext>
            </a:extLst>
          </p:cNvPr>
          <p:cNvSpPr>
            <a:spLocks xmlns:a="http://schemas.openxmlformats.org/drawingml/2006/main" noGrp="1"/>
          </p:cNvSpPr>
          <p:nvPr/>
        </p:nvSpPr>
        <p:spPr>
          <a:xfrm xmlns:a="http://schemas.openxmlformats.org/drawingml/2006/main">
            <a:off x="2524125"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21" name="">
            <a:extLst xmlns:a="http://schemas.openxmlformats.org/drawingml/2006/main">
              <a:ext uri="{FF2B5EF4-FFF2-40B4-BE49-F238E27FC236}">
                <a16:creationId xmlns:a16="http://schemas.microsoft.com/office/drawing/2014/main" id="{472A68C6-E665-4211-92C5-70FBD2F02D2D}"/>
              </a:ext>
            </a:extLst>
          </p:cNvPr>
          <p:cNvSpPr>
            <a:spLocks xmlns:a="http://schemas.openxmlformats.org/drawingml/2006/main" noGrp="1"/>
          </p:cNvSpPr>
          <p:nvPr/>
        </p:nvSpPr>
        <p:spPr>
          <a:xfrm xmlns:a="http://schemas.openxmlformats.org/drawingml/2006/main">
            <a:off x="2743200"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22" name="">
            <a:extLst xmlns:a="http://schemas.openxmlformats.org/drawingml/2006/main">
              <a:ext uri="{FF2B5EF4-FFF2-40B4-BE49-F238E27FC236}">
                <a16:creationId xmlns:a16="http://schemas.microsoft.com/office/drawing/2014/main" id="{E14D05F2-F779-40D7-B63B-1B8C86887165}"/>
              </a:ext>
            </a:extLst>
          </p:cNvPr>
          <p:cNvSpPr>
            <a:spLocks xmlns:a="http://schemas.openxmlformats.org/drawingml/2006/main" noGrp="1"/>
          </p:cNvSpPr>
          <p:nvPr/>
        </p:nvSpPr>
        <p:spPr>
          <a:xfrm xmlns:a="http://schemas.openxmlformats.org/drawingml/2006/main">
            <a:off x="2962275"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23" name="">
            <a:extLst xmlns:a="http://schemas.openxmlformats.org/drawingml/2006/main">
              <a:ext uri="{FF2B5EF4-FFF2-40B4-BE49-F238E27FC236}">
                <a16:creationId xmlns:a16="http://schemas.microsoft.com/office/drawing/2014/main" id="{11509A15-FE38-43FA-8B8B-65242864DE5B}"/>
              </a:ext>
            </a:extLst>
          </p:cNvPr>
          <p:cNvSpPr>
            <a:spLocks xmlns:a="http://schemas.openxmlformats.org/drawingml/2006/main" noGrp="1"/>
          </p:cNvSpPr>
          <p:nvPr/>
        </p:nvSpPr>
        <p:spPr>
          <a:xfrm xmlns:a="http://schemas.openxmlformats.org/drawingml/2006/main">
            <a:off x="3181350"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24" name="">
            <a:extLst xmlns:a="http://schemas.openxmlformats.org/drawingml/2006/main">
              <a:ext uri="{FF2B5EF4-FFF2-40B4-BE49-F238E27FC236}">
                <a16:creationId xmlns:a16="http://schemas.microsoft.com/office/drawing/2014/main" id="{E058EB46-5EB3-492E-BF5B-0311CC562331}"/>
              </a:ext>
            </a:extLst>
          </p:cNvPr>
          <p:cNvSpPr>
            <a:spLocks xmlns:a="http://schemas.openxmlformats.org/drawingml/2006/main" noGrp="1"/>
          </p:cNvSpPr>
          <p:nvPr/>
        </p:nvSpPr>
        <p:spPr>
          <a:xfrm xmlns:a="http://schemas.openxmlformats.org/drawingml/2006/main">
            <a:off x="3400425"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cxnSp>
        <p:nvCxnSpPr>
          <p:cNvPr id="25" name="">
            <a:extLst xmlns:a="http://schemas.openxmlformats.org/drawingml/2006/main">
              <a:ext uri="{FF2B5EF4-FFF2-40B4-BE49-F238E27FC236}">
                <a16:creationId xmlns:a16="http://schemas.microsoft.com/office/drawing/2014/main" id="{DB434284-E734-4D05-B4A9-2DF94A86FF8D}"/>
              </a:ext>
            </a:extLst>
          </p:cNvPr>
          <p:cNvCxnSpPr/>
          <p:nvPr/>
        </p:nvCxnSpPr>
        <p:spPr>
          <a:xfrm xmlns:a="http://schemas.openxmlformats.org/drawingml/2006/main">
            <a:off x="4114800" y="2905125"/>
            <a:ext cx="657225" cy="0"/>
          </a:xfrm>
          <a:prstGeom xmlns:a="http://schemas.openxmlformats.org/drawingml/2006/main" prst="straightConnector1">
            <a:avLst/>
          </a:prstGeom>
          <a:ln xmlns:a="http://schemas.openxmlformats.org/drawingml/2006/main" w="28575">
            <a:solidFill>
              <a:srgbClr val="4D5A68"/>
            </a:solidFill>
            <a:tailEnd type="triangle" w="sm" len="sm"/>
          </a:ln>
        </p:spPr>
      </p:cxnSp>
      <p:sp>
        <p:nvSpPr>
          <p:cNvPr id="26" name="전체 픽셀을 임시 리스트로 모음">
            <a:extLst xmlns:a="http://schemas.openxmlformats.org/drawingml/2006/main">
              <a:ext uri="{FF2B5EF4-FFF2-40B4-BE49-F238E27FC236}">
                <a16:creationId xmlns:a16="http://schemas.microsoft.com/office/drawing/2014/main" id="{FDB824D2-EB10-45B2-8D05-3C7673CD52FD}"/>
              </a:ext>
            </a:extLst>
          </p:cNvPr>
          <p:cNvSpPr>
            <a:spLocks xmlns:a="http://schemas.openxmlformats.org/drawingml/2006/main" noGrp="1"/>
          </p:cNvSpPr>
          <p:nvPr/>
        </p:nvSpPr>
        <p:spPr>
          <a:xfrm xmlns:a="http://schemas.openxmlformats.org/drawingml/2006/main">
            <a:off x="5010150" y="2209800"/>
            <a:ext cx="41719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17212B"/>
                </a:solidFill>
                <a:latin typeface="Malgun Gothic"/>
                <a:ea typeface="Malgun Gothic"/>
                <a:cs typeface="Malgun Gothic"/>
              </a:defRPr>
            </a:defPPr>
            <a:lvl1pPr algn="ctr">
              <a:defRPr sz="1875" b="1">
                <a:solidFill>
                  <a:srgbClr val="17212B"/>
                </a:solidFill>
                <a:latin typeface="Malgun Gothic"/>
                <a:ea typeface="Malgun Gothic"/>
                <a:cs typeface="Malgun Gothic"/>
              </a:defRPr>
            </a:lvl1pPr>
            <a:lvl2pPr algn="ctr">
              <a:defRPr sz="1875" b="1">
                <a:solidFill>
                  <a:srgbClr val="17212B"/>
                </a:solidFill>
                <a:latin typeface="Malgun Gothic"/>
                <a:ea typeface="Malgun Gothic"/>
                <a:cs typeface="Malgun Gothic"/>
              </a:defRPr>
            </a:lvl2pPr>
            <a:lvl3pPr algn="ctr">
              <a:defRPr sz="1875" b="1">
                <a:solidFill>
                  <a:srgbClr val="17212B"/>
                </a:solidFill>
                <a:latin typeface="Malgun Gothic"/>
                <a:ea typeface="Malgun Gothic"/>
                <a:cs typeface="Malgun Gothic"/>
              </a:defRPr>
            </a:lvl3pPr>
            <a:lvl4pPr algn="ctr">
              <a:defRPr sz="1875" b="1">
                <a:solidFill>
                  <a:srgbClr val="17212B"/>
                </a:solidFill>
                <a:latin typeface="Malgun Gothic"/>
                <a:ea typeface="Malgun Gothic"/>
                <a:cs typeface="Malgun Gothic"/>
              </a:defRPr>
            </a:lvl4pPr>
            <a:lvl5pPr algn="ctr">
              <a:defRPr sz="1875" b="1">
                <a:solidFill>
                  <a:srgbClr val="17212B"/>
                </a:solidFill>
                <a:latin typeface="Malgun Gothic"/>
                <a:ea typeface="Malgun Gothic"/>
                <a:cs typeface="Malgun Gothic"/>
              </a:defRPr>
            </a:lvl5pPr>
            <a:lvl6pPr algn="ctr">
              <a:defRPr sz="1875" b="1">
                <a:solidFill>
                  <a:srgbClr val="17212B"/>
                </a:solidFill>
                <a:latin typeface="Malgun Gothic"/>
                <a:ea typeface="Malgun Gothic"/>
                <a:cs typeface="Malgun Gothic"/>
              </a:defRPr>
            </a:lvl6pPr>
            <a:lvl7pPr algn="ctr">
              <a:defRPr sz="1875" b="1">
                <a:solidFill>
                  <a:srgbClr val="17212B"/>
                </a:solidFill>
                <a:latin typeface="Malgun Gothic"/>
                <a:ea typeface="Malgun Gothic"/>
                <a:cs typeface="Malgun Gothic"/>
              </a:defRPr>
            </a:lvl7pPr>
            <a:lvl8pPr algn="ctr">
              <a:defRPr sz="1875" b="1">
                <a:solidFill>
                  <a:srgbClr val="17212B"/>
                </a:solidFill>
                <a:latin typeface="Malgun Gothic"/>
                <a:ea typeface="Malgun Gothic"/>
                <a:cs typeface="Malgun Gothic"/>
              </a:defRPr>
            </a:lvl8pPr>
            <a:lvl9pPr algn="ctr">
              <a:defRPr sz="1875" b="1">
                <a:solidFill>
                  <a:srgbClr val="17212B"/>
                </a:solidFill>
                <a:latin typeface="Malgun Gothic"/>
                <a:ea typeface="Malgun Gothic"/>
                <a:cs typeface="Malgun Gothic"/>
              </a:defRPr>
            </a:lvl9pPr>
          </a:lstStyle>
          <a:p xmlns:a="http://schemas.openxmlformats.org/drawingml/2006/main">
            <a:pPr algn="ctr">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전체 픽셀을 임시 리스트로 모음</a:t>
            </a:r>
          </a:p>
        </p:txBody>
      </p:sp>
      <p:sp>
        <p:nvSpPr>
          <p:cNvPr id="27" name="">
            <a:extLst xmlns:a="http://schemas.openxmlformats.org/drawingml/2006/main">
              <a:ext uri="{FF2B5EF4-FFF2-40B4-BE49-F238E27FC236}">
                <a16:creationId xmlns:a16="http://schemas.microsoft.com/office/drawing/2014/main" id="{8AE37356-056A-4C9F-9F4A-1EF7FE044F08}"/>
              </a:ext>
            </a:extLst>
          </p:cNvPr>
          <p:cNvSpPr>
            <a:spLocks xmlns:a="http://schemas.openxmlformats.org/drawingml/2006/main" noGrp="1"/>
          </p:cNvSpPr>
          <p:nvPr/>
        </p:nvSpPr>
        <p:spPr>
          <a:xfrm xmlns:a="http://schemas.openxmlformats.org/drawingml/2006/main">
            <a:off x="5305425"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28" name="">
            <a:extLst xmlns:a="http://schemas.openxmlformats.org/drawingml/2006/main">
              <a:ext uri="{FF2B5EF4-FFF2-40B4-BE49-F238E27FC236}">
                <a16:creationId xmlns:a16="http://schemas.microsoft.com/office/drawing/2014/main" id="{B71CED6B-ABC6-4352-8623-0FC85E766E8F}"/>
              </a:ext>
            </a:extLst>
          </p:cNvPr>
          <p:cNvSpPr>
            <a:spLocks xmlns:a="http://schemas.openxmlformats.org/drawingml/2006/main" noGrp="1"/>
          </p:cNvSpPr>
          <p:nvPr/>
        </p:nvSpPr>
        <p:spPr>
          <a:xfrm xmlns:a="http://schemas.openxmlformats.org/drawingml/2006/main">
            <a:off x="5543550"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29" name="">
            <a:extLst xmlns:a="http://schemas.openxmlformats.org/drawingml/2006/main">
              <a:ext uri="{FF2B5EF4-FFF2-40B4-BE49-F238E27FC236}">
                <a16:creationId xmlns:a16="http://schemas.microsoft.com/office/drawing/2014/main" id="{57F68F36-AEF2-40C6-B370-06F8B4F0B044}"/>
              </a:ext>
            </a:extLst>
          </p:cNvPr>
          <p:cNvSpPr>
            <a:spLocks xmlns:a="http://schemas.openxmlformats.org/drawingml/2006/main" noGrp="1"/>
          </p:cNvSpPr>
          <p:nvPr/>
        </p:nvSpPr>
        <p:spPr>
          <a:xfrm xmlns:a="http://schemas.openxmlformats.org/drawingml/2006/main">
            <a:off x="5781675"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30" name="">
            <a:extLst xmlns:a="http://schemas.openxmlformats.org/drawingml/2006/main">
              <a:ext uri="{FF2B5EF4-FFF2-40B4-BE49-F238E27FC236}">
                <a16:creationId xmlns:a16="http://schemas.microsoft.com/office/drawing/2014/main" id="{1AF55D03-47AA-4237-BE90-F6F93E1C3D61}"/>
              </a:ext>
            </a:extLst>
          </p:cNvPr>
          <p:cNvSpPr>
            <a:spLocks xmlns:a="http://schemas.openxmlformats.org/drawingml/2006/main" noGrp="1"/>
          </p:cNvSpPr>
          <p:nvPr/>
        </p:nvSpPr>
        <p:spPr>
          <a:xfrm xmlns:a="http://schemas.openxmlformats.org/drawingml/2006/main">
            <a:off x="6019800"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31" name="">
            <a:extLst xmlns:a="http://schemas.openxmlformats.org/drawingml/2006/main">
              <a:ext uri="{FF2B5EF4-FFF2-40B4-BE49-F238E27FC236}">
                <a16:creationId xmlns:a16="http://schemas.microsoft.com/office/drawing/2014/main" id="{148F8B5C-B226-46B7-9D1B-0D3313195A3A}"/>
              </a:ext>
            </a:extLst>
          </p:cNvPr>
          <p:cNvSpPr>
            <a:spLocks xmlns:a="http://schemas.openxmlformats.org/drawingml/2006/main" noGrp="1"/>
          </p:cNvSpPr>
          <p:nvPr/>
        </p:nvSpPr>
        <p:spPr>
          <a:xfrm xmlns:a="http://schemas.openxmlformats.org/drawingml/2006/main">
            <a:off x="6257925"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32" name="">
            <a:extLst xmlns:a="http://schemas.openxmlformats.org/drawingml/2006/main">
              <a:ext uri="{FF2B5EF4-FFF2-40B4-BE49-F238E27FC236}">
                <a16:creationId xmlns:a16="http://schemas.microsoft.com/office/drawing/2014/main" id="{D833BBBE-F385-4608-ABF5-EACBFF10ED24}"/>
              </a:ext>
            </a:extLst>
          </p:cNvPr>
          <p:cNvSpPr>
            <a:spLocks xmlns:a="http://schemas.openxmlformats.org/drawingml/2006/main" noGrp="1"/>
          </p:cNvSpPr>
          <p:nvPr/>
        </p:nvSpPr>
        <p:spPr>
          <a:xfrm xmlns:a="http://schemas.openxmlformats.org/drawingml/2006/main">
            <a:off x="6496050"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3" name="">
            <a:extLst xmlns:a="http://schemas.openxmlformats.org/drawingml/2006/main">
              <a:ext uri="{FF2B5EF4-FFF2-40B4-BE49-F238E27FC236}">
                <a16:creationId xmlns:a16="http://schemas.microsoft.com/office/drawing/2014/main" id="{21C09EFB-9C9F-4D9F-90EE-360D1DD597E5}"/>
              </a:ext>
            </a:extLst>
          </p:cNvPr>
          <p:cNvSpPr>
            <a:spLocks xmlns:a="http://schemas.openxmlformats.org/drawingml/2006/main" noGrp="1"/>
          </p:cNvSpPr>
          <p:nvPr/>
        </p:nvSpPr>
        <p:spPr>
          <a:xfrm xmlns:a="http://schemas.openxmlformats.org/drawingml/2006/main">
            <a:off x="6734175"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4" name="">
            <a:extLst xmlns:a="http://schemas.openxmlformats.org/drawingml/2006/main">
              <a:ext uri="{FF2B5EF4-FFF2-40B4-BE49-F238E27FC236}">
                <a16:creationId xmlns:a16="http://schemas.microsoft.com/office/drawing/2014/main" id="{C2C81C96-2C5A-485D-BC09-6327465BAC59}"/>
              </a:ext>
            </a:extLst>
          </p:cNvPr>
          <p:cNvSpPr>
            <a:spLocks xmlns:a="http://schemas.openxmlformats.org/drawingml/2006/main" noGrp="1"/>
          </p:cNvSpPr>
          <p:nvPr/>
        </p:nvSpPr>
        <p:spPr>
          <a:xfrm xmlns:a="http://schemas.openxmlformats.org/drawingml/2006/main">
            <a:off x="6972300"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5" name="">
            <a:extLst xmlns:a="http://schemas.openxmlformats.org/drawingml/2006/main">
              <a:ext uri="{FF2B5EF4-FFF2-40B4-BE49-F238E27FC236}">
                <a16:creationId xmlns:a16="http://schemas.microsoft.com/office/drawing/2014/main" id="{420B89B8-4092-468C-875C-F12E051ECC83}"/>
              </a:ext>
            </a:extLst>
          </p:cNvPr>
          <p:cNvSpPr>
            <a:spLocks xmlns:a="http://schemas.openxmlformats.org/drawingml/2006/main" noGrp="1"/>
          </p:cNvSpPr>
          <p:nvPr/>
        </p:nvSpPr>
        <p:spPr>
          <a:xfrm xmlns:a="http://schemas.openxmlformats.org/drawingml/2006/main">
            <a:off x="7210425"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6" name="">
            <a:extLst xmlns:a="http://schemas.openxmlformats.org/drawingml/2006/main">
              <a:ext uri="{FF2B5EF4-FFF2-40B4-BE49-F238E27FC236}">
                <a16:creationId xmlns:a16="http://schemas.microsoft.com/office/drawing/2014/main" id="{9D4E838A-E34A-478F-B416-252B99298C5B}"/>
              </a:ext>
            </a:extLst>
          </p:cNvPr>
          <p:cNvSpPr>
            <a:spLocks xmlns:a="http://schemas.openxmlformats.org/drawingml/2006/main" noGrp="1"/>
          </p:cNvSpPr>
          <p:nvPr/>
        </p:nvSpPr>
        <p:spPr>
          <a:xfrm xmlns:a="http://schemas.openxmlformats.org/drawingml/2006/main">
            <a:off x="7448550"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7" name="">
            <a:extLst xmlns:a="http://schemas.openxmlformats.org/drawingml/2006/main">
              <a:ext uri="{FF2B5EF4-FFF2-40B4-BE49-F238E27FC236}">
                <a16:creationId xmlns:a16="http://schemas.microsoft.com/office/drawing/2014/main" id="{4D25A170-B85A-4F31-BC5E-1D4E9E3C6E92}"/>
              </a:ext>
            </a:extLst>
          </p:cNvPr>
          <p:cNvSpPr>
            <a:spLocks xmlns:a="http://schemas.openxmlformats.org/drawingml/2006/main" noGrp="1"/>
          </p:cNvSpPr>
          <p:nvPr/>
        </p:nvSpPr>
        <p:spPr>
          <a:xfrm xmlns:a="http://schemas.openxmlformats.org/drawingml/2006/main">
            <a:off x="7686675"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38" name="">
            <a:extLst xmlns:a="http://schemas.openxmlformats.org/drawingml/2006/main">
              <a:ext uri="{FF2B5EF4-FFF2-40B4-BE49-F238E27FC236}">
                <a16:creationId xmlns:a16="http://schemas.microsoft.com/office/drawing/2014/main" id="{22DCDC36-8D17-4EE0-9294-FA7A952155A6}"/>
              </a:ext>
            </a:extLst>
          </p:cNvPr>
          <p:cNvSpPr>
            <a:spLocks xmlns:a="http://schemas.openxmlformats.org/drawingml/2006/main" noGrp="1"/>
          </p:cNvSpPr>
          <p:nvPr/>
        </p:nvSpPr>
        <p:spPr>
          <a:xfrm xmlns:a="http://schemas.openxmlformats.org/drawingml/2006/main">
            <a:off x="7924800"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39" name="">
            <a:extLst xmlns:a="http://schemas.openxmlformats.org/drawingml/2006/main">
              <a:ext uri="{FF2B5EF4-FFF2-40B4-BE49-F238E27FC236}">
                <a16:creationId xmlns:a16="http://schemas.microsoft.com/office/drawing/2014/main" id="{8742537B-4CF1-4F48-9A7F-6AF309105026}"/>
              </a:ext>
            </a:extLst>
          </p:cNvPr>
          <p:cNvSpPr>
            <a:spLocks xmlns:a="http://schemas.openxmlformats.org/drawingml/2006/main" noGrp="1"/>
          </p:cNvSpPr>
          <p:nvPr/>
        </p:nvSpPr>
        <p:spPr>
          <a:xfrm xmlns:a="http://schemas.openxmlformats.org/drawingml/2006/main">
            <a:off x="8162925"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40" name="">
            <a:extLst xmlns:a="http://schemas.openxmlformats.org/drawingml/2006/main">
              <a:ext uri="{FF2B5EF4-FFF2-40B4-BE49-F238E27FC236}">
                <a16:creationId xmlns:a16="http://schemas.microsoft.com/office/drawing/2014/main" id="{133957A0-5CA7-4ECB-81D8-DA8E00923C77}"/>
              </a:ext>
            </a:extLst>
          </p:cNvPr>
          <p:cNvSpPr>
            <a:spLocks xmlns:a="http://schemas.openxmlformats.org/drawingml/2006/main" noGrp="1"/>
          </p:cNvSpPr>
          <p:nvPr/>
        </p:nvSpPr>
        <p:spPr>
          <a:xfrm xmlns:a="http://schemas.openxmlformats.org/drawingml/2006/main">
            <a:off x="8401050"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41" name="">
            <a:extLst xmlns:a="http://schemas.openxmlformats.org/drawingml/2006/main">
              <a:ext uri="{FF2B5EF4-FFF2-40B4-BE49-F238E27FC236}">
                <a16:creationId xmlns:a16="http://schemas.microsoft.com/office/drawing/2014/main" id="{C61BBC7F-1A8B-4F4C-B8C2-15E21DEB59F1}"/>
              </a:ext>
            </a:extLst>
          </p:cNvPr>
          <p:cNvSpPr>
            <a:spLocks xmlns:a="http://schemas.openxmlformats.org/drawingml/2006/main" noGrp="1"/>
          </p:cNvSpPr>
          <p:nvPr/>
        </p:nvSpPr>
        <p:spPr>
          <a:xfrm xmlns:a="http://schemas.openxmlformats.org/drawingml/2006/main">
            <a:off x="8639175"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42" name="계산 전에 큰 임시 공간 사용">
            <a:extLst xmlns:a="http://schemas.openxmlformats.org/drawingml/2006/main">
              <a:ext uri="{FF2B5EF4-FFF2-40B4-BE49-F238E27FC236}">
                <a16:creationId xmlns:a16="http://schemas.microsoft.com/office/drawing/2014/main" id="{A9574DA8-3B40-455E-8891-CB040F8DCFB4}"/>
              </a:ext>
            </a:extLst>
          </p:cNvPr>
          <p:cNvSpPr>
            <a:spLocks xmlns:a="http://schemas.openxmlformats.org/drawingml/2006/main" noGrp="1"/>
          </p:cNvSpPr>
          <p:nvPr/>
        </p:nvSpPr>
        <p:spPr>
          <a:xfrm xmlns:a="http://schemas.openxmlformats.org/drawingml/2006/main">
            <a:off x="5010150" y="3152775"/>
            <a:ext cx="41719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Malgun Gothic"/>
                <a:ea typeface="Malgun Gothic"/>
                <a:cs typeface="Malgun Gothic"/>
              </a:defRPr>
            </a:defPPr>
            <a:lvl1pPr algn="ctr">
              <a:defRPr sz="1725" b="0">
                <a:solidFill>
                  <a:srgbClr val="4D5A68"/>
                </a:solidFill>
                <a:latin typeface="Malgun Gothic"/>
                <a:ea typeface="Malgun Gothic"/>
                <a:cs typeface="Malgun Gothic"/>
              </a:defRPr>
            </a:lvl1pPr>
            <a:lvl2pPr algn="ctr">
              <a:defRPr sz="1725" b="0">
                <a:solidFill>
                  <a:srgbClr val="4D5A68"/>
                </a:solidFill>
                <a:latin typeface="Malgun Gothic"/>
                <a:ea typeface="Malgun Gothic"/>
                <a:cs typeface="Malgun Gothic"/>
              </a:defRPr>
            </a:lvl2pPr>
            <a:lvl3pPr algn="ctr">
              <a:defRPr sz="1725" b="0">
                <a:solidFill>
                  <a:srgbClr val="4D5A68"/>
                </a:solidFill>
                <a:latin typeface="Malgun Gothic"/>
                <a:ea typeface="Malgun Gothic"/>
                <a:cs typeface="Malgun Gothic"/>
              </a:defRPr>
            </a:lvl3pPr>
            <a:lvl4pPr algn="ctr">
              <a:defRPr sz="1725" b="0">
                <a:solidFill>
                  <a:srgbClr val="4D5A68"/>
                </a:solidFill>
                <a:latin typeface="Malgun Gothic"/>
                <a:ea typeface="Malgun Gothic"/>
                <a:cs typeface="Malgun Gothic"/>
              </a:defRPr>
            </a:lvl4pPr>
            <a:lvl5pPr algn="ctr">
              <a:defRPr sz="1725" b="0">
                <a:solidFill>
                  <a:srgbClr val="4D5A68"/>
                </a:solidFill>
                <a:latin typeface="Malgun Gothic"/>
                <a:ea typeface="Malgun Gothic"/>
                <a:cs typeface="Malgun Gothic"/>
              </a:defRPr>
            </a:lvl5pPr>
            <a:lvl6pPr algn="ctr">
              <a:defRPr sz="1725" b="0">
                <a:solidFill>
                  <a:srgbClr val="4D5A68"/>
                </a:solidFill>
                <a:latin typeface="Malgun Gothic"/>
                <a:ea typeface="Malgun Gothic"/>
                <a:cs typeface="Malgun Gothic"/>
              </a:defRPr>
            </a:lvl6pPr>
            <a:lvl7pPr algn="ctr">
              <a:defRPr sz="1725" b="0">
                <a:solidFill>
                  <a:srgbClr val="4D5A68"/>
                </a:solidFill>
                <a:latin typeface="Malgun Gothic"/>
                <a:ea typeface="Malgun Gothic"/>
                <a:cs typeface="Malgun Gothic"/>
              </a:defRPr>
            </a:lvl7pPr>
            <a:lvl8pPr algn="ctr">
              <a:defRPr sz="1725" b="0">
                <a:solidFill>
                  <a:srgbClr val="4D5A68"/>
                </a:solidFill>
                <a:latin typeface="Malgun Gothic"/>
                <a:ea typeface="Malgun Gothic"/>
                <a:cs typeface="Malgun Gothic"/>
              </a:defRPr>
            </a:lvl8pPr>
            <a:lvl9pPr algn="ctr">
              <a:defRPr sz="1725" b="0">
                <a:solidFill>
                  <a:srgbClr val="4D5A68"/>
                </a:solidFill>
                <a:latin typeface="Malgun Gothic"/>
                <a:ea typeface="Malgun Gothic"/>
                <a:cs typeface="Malgun Gothic"/>
              </a:defRPr>
            </a:lvl9pPr>
          </a:lstStyle>
          <a:p xmlns:a="http://schemas.openxmlformats.org/drawingml/2006/main">
            <a:pPr algn="ctr">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계산 전에 큰 임시 공간 사용</a:t>
            </a:r>
          </a:p>
        </p:txBody>
      </p:sp>
      <p:cxnSp>
        <p:nvCxnSpPr>
          <p:cNvPr id="43" name="">
            <a:extLst xmlns:a="http://schemas.openxmlformats.org/drawingml/2006/main">
              <a:ext uri="{FF2B5EF4-FFF2-40B4-BE49-F238E27FC236}">
                <a16:creationId xmlns:a16="http://schemas.microsoft.com/office/drawing/2014/main" id="{9C1B2E8F-A4AD-4E3E-9B9B-889DA1BC5466}"/>
              </a:ext>
            </a:extLst>
          </p:cNvPr>
          <p:cNvCxnSpPr/>
          <p:nvPr/>
        </p:nvCxnSpPr>
        <p:spPr>
          <a:xfrm xmlns:a="http://schemas.openxmlformats.org/drawingml/2006/main">
            <a:off x="9334500" y="2905125"/>
            <a:ext cx="457200" cy="0"/>
          </a:xfrm>
          <a:prstGeom xmlns:a="http://schemas.openxmlformats.org/drawingml/2006/main" prst="straightConnector1">
            <a:avLst/>
          </a:prstGeom>
          <a:ln xmlns:a="http://schemas.openxmlformats.org/drawingml/2006/main" w="28575">
            <a:solidFill>
              <a:srgbClr val="4D5A68"/>
            </a:solidFill>
            <a:tailEnd type="triangle" w="sm" len="sm"/>
          </a:ln>
        </p:spPr>
      </p:cxnSp>
      <p:sp>
        <p:nvSpPr>
          <p:cNvPr id="44" name="최소·최대&#10;평균 계산">
            <a:extLst xmlns:a="http://schemas.openxmlformats.org/drawingml/2006/main">
              <a:ext uri="{FF2B5EF4-FFF2-40B4-BE49-F238E27FC236}">
                <a16:creationId xmlns:a16="http://schemas.microsoft.com/office/drawing/2014/main" id="{E95BE7CA-DA9D-4A05-A320-4E5728942F4E}"/>
              </a:ext>
            </a:extLst>
          </p:cNvPr>
          <p:cNvSpPr>
            <a:spLocks xmlns:a="http://schemas.openxmlformats.org/drawingml/2006/main" noGrp="1"/>
          </p:cNvSpPr>
          <p:nvPr/>
        </p:nvSpPr>
        <p:spPr>
          <a:xfrm xmlns:a="http://schemas.openxmlformats.org/drawingml/2006/main">
            <a:off x="10020300" y="2552700"/>
            <a:ext cx="15621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최소·최대</a:t>
            </a:r>
          </a:p>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평균 계산</a:t>
            </a:r>
          </a:p>
        </p:txBody>
      </p:sp>
      <p:sp>
        <p:nvSpPr>
          <p:cNvPr id="45" name="">
            <a:extLst xmlns:a="http://schemas.openxmlformats.org/drawingml/2006/main">
              <a:ext uri="{FF2B5EF4-FFF2-40B4-BE49-F238E27FC236}">
                <a16:creationId xmlns:a16="http://schemas.microsoft.com/office/drawing/2014/main" id="{7FAFF247-8F13-4C26-9ED5-BB47AF364543}"/>
              </a:ext>
            </a:extLst>
          </p:cNvPr>
          <p:cNvSpPr>
            <a:spLocks xmlns:a="http://schemas.openxmlformats.org/drawingml/2006/main" noGrp="1"/>
          </p:cNvSpPr>
          <p:nvPr/>
        </p:nvSpPr>
        <p:spPr>
          <a:xfrm xmlns:a="http://schemas.openxmlformats.org/drawingml/2006/main">
            <a:off x="609600" y="36290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46" name="임시 리스트 없이 계산한 두 후보">
            <a:extLst xmlns:a="http://schemas.openxmlformats.org/drawingml/2006/main">
              <a:ext uri="{FF2B5EF4-FFF2-40B4-BE49-F238E27FC236}">
                <a16:creationId xmlns:a16="http://schemas.microsoft.com/office/drawing/2014/main" id="{DE6C9310-EC22-4601-B8A6-D22D8DA53423}"/>
              </a:ext>
            </a:extLst>
          </p:cNvPr>
          <p:cNvSpPr>
            <a:spLocks xmlns:a="http://schemas.openxmlformats.org/drawingml/2006/main" noGrp="1"/>
          </p:cNvSpPr>
          <p:nvPr/>
        </p:nvSpPr>
        <p:spPr>
          <a:xfrm xmlns:a="http://schemas.openxmlformats.org/drawingml/2006/main">
            <a:off x="609600" y="3781425"/>
            <a:ext cx="6286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임시 리스트 없이 계산한 두 후보</a:t>
            </a:r>
          </a:p>
        </p:txBody>
      </p:sp>
      <p:sp>
        <p:nvSpPr>
          <p:cNvPr id="47" name="두 후보 간 시간 비교">
            <a:extLst xmlns:a="http://schemas.openxmlformats.org/drawingml/2006/main">
              <a:ext uri="{FF2B5EF4-FFF2-40B4-BE49-F238E27FC236}">
                <a16:creationId xmlns:a16="http://schemas.microsoft.com/office/drawing/2014/main" id="{1154613C-3FD1-4FE8-B4D3-963E0D2865AE}"/>
              </a:ext>
            </a:extLst>
          </p:cNvPr>
          <p:cNvSpPr>
            <a:spLocks xmlns:a="http://schemas.openxmlformats.org/drawingml/2006/main" noGrp="1"/>
          </p:cNvSpPr>
          <p:nvPr/>
        </p:nvSpPr>
        <p:spPr>
          <a:xfrm xmlns:a="http://schemas.openxmlformats.org/drawingml/2006/main">
            <a:off x="7277100" y="3800475"/>
            <a:ext cx="2590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두 후보 간 시간 비교</a:t>
            </a:r>
          </a:p>
        </p:txBody>
      </p:sp>
      <p:sp>
        <p:nvSpPr>
          <p:cNvPr id="48" name="">
            <a:extLst xmlns:a="http://schemas.openxmlformats.org/drawingml/2006/main">
              <a:ext uri="{FF2B5EF4-FFF2-40B4-BE49-F238E27FC236}">
                <a16:creationId xmlns:a16="http://schemas.microsoft.com/office/drawing/2014/main" id="{B6E1B49F-82D9-41D8-9415-87301CA54EE8}"/>
              </a:ext>
            </a:extLst>
          </p:cNvPr>
          <p:cNvSpPr>
            <a:spLocks xmlns:a="http://schemas.openxmlformats.org/drawingml/2006/main" noGrp="1"/>
          </p:cNvSpPr>
          <p:nvPr/>
        </p:nvSpPr>
        <p:spPr>
          <a:xfrm xmlns:a="http://schemas.openxmlformats.org/drawingml/2006/main">
            <a:off x="609600" y="4229100"/>
            <a:ext cx="10972800" cy="561975"/>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9" name="픽셀마다 Python 반복">
            <a:extLst xmlns:a="http://schemas.openxmlformats.org/drawingml/2006/main">
              <a:ext uri="{FF2B5EF4-FFF2-40B4-BE49-F238E27FC236}">
                <a16:creationId xmlns:a16="http://schemas.microsoft.com/office/drawing/2014/main" id="{48D5CA5E-AD19-40CB-8948-88AD78967077}"/>
              </a:ext>
            </a:extLst>
          </p:cNvPr>
          <p:cNvSpPr>
            <a:spLocks xmlns:a="http://schemas.openxmlformats.org/drawingml/2006/main" noGrp="1"/>
          </p:cNvSpPr>
          <p:nvPr/>
        </p:nvSpPr>
        <p:spPr>
          <a:xfrm xmlns:a="http://schemas.openxmlformats.org/drawingml/2006/main">
            <a:off x="800100" y="4305300"/>
            <a:ext cx="6172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4D5A68"/>
                </a:solidFill>
                <a:latin typeface="Malgun Gothic"/>
                <a:ea typeface="Malgun Gothic"/>
                <a:cs typeface="Malgun Gothic"/>
              </a:defRPr>
            </a:defPPr>
            <a:lvl1pPr algn="l">
              <a:defRPr sz="2250" b="1">
                <a:solidFill>
                  <a:srgbClr val="4D5A68"/>
                </a:solidFill>
                <a:latin typeface="Malgun Gothic"/>
                <a:ea typeface="Malgun Gothic"/>
                <a:cs typeface="Malgun Gothic"/>
              </a:defRPr>
            </a:lvl1pPr>
            <a:lvl2pPr algn="l">
              <a:defRPr sz="2250" b="1">
                <a:solidFill>
                  <a:srgbClr val="4D5A68"/>
                </a:solidFill>
                <a:latin typeface="Malgun Gothic"/>
                <a:ea typeface="Malgun Gothic"/>
                <a:cs typeface="Malgun Gothic"/>
              </a:defRPr>
            </a:lvl2pPr>
            <a:lvl3pPr algn="l">
              <a:defRPr sz="2250" b="1">
                <a:solidFill>
                  <a:srgbClr val="4D5A68"/>
                </a:solidFill>
                <a:latin typeface="Malgun Gothic"/>
                <a:ea typeface="Malgun Gothic"/>
                <a:cs typeface="Malgun Gothic"/>
              </a:defRPr>
            </a:lvl3pPr>
            <a:lvl4pPr algn="l">
              <a:defRPr sz="2250" b="1">
                <a:solidFill>
                  <a:srgbClr val="4D5A68"/>
                </a:solidFill>
                <a:latin typeface="Malgun Gothic"/>
                <a:ea typeface="Malgun Gothic"/>
                <a:cs typeface="Malgun Gothic"/>
              </a:defRPr>
            </a:lvl4pPr>
            <a:lvl5pPr algn="l">
              <a:defRPr sz="2250" b="1">
                <a:solidFill>
                  <a:srgbClr val="4D5A68"/>
                </a:solidFill>
                <a:latin typeface="Malgun Gothic"/>
                <a:ea typeface="Malgun Gothic"/>
                <a:cs typeface="Malgun Gothic"/>
              </a:defRPr>
            </a:lvl5pPr>
            <a:lvl6pPr algn="l">
              <a:defRPr sz="2250" b="1">
                <a:solidFill>
                  <a:srgbClr val="4D5A68"/>
                </a:solidFill>
                <a:latin typeface="Malgun Gothic"/>
                <a:ea typeface="Malgun Gothic"/>
                <a:cs typeface="Malgun Gothic"/>
              </a:defRPr>
            </a:lvl6pPr>
            <a:lvl7pPr algn="l">
              <a:defRPr sz="2250" b="1">
                <a:solidFill>
                  <a:srgbClr val="4D5A68"/>
                </a:solidFill>
                <a:latin typeface="Malgun Gothic"/>
                <a:ea typeface="Malgun Gothic"/>
                <a:cs typeface="Malgun Gothic"/>
              </a:defRPr>
            </a:lvl7pPr>
            <a:lvl8pPr algn="l">
              <a:defRPr sz="2250" b="1">
                <a:solidFill>
                  <a:srgbClr val="4D5A68"/>
                </a:solidFill>
                <a:latin typeface="Malgun Gothic"/>
                <a:ea typeface="Malgun Gothic"/>
                <a:cs typeface="Malgun Gothic"/>
              </a:defRPr>
            </a:lvl8pPr>
            <a:lvl9pPr algn="l">
              <a:defRPr sz="2250" b="1">
                <a:solidFill>
                  <a:srgbClr val="4D5A68"/>
                </a:solidFill>
                <a:latin typeface="Malgun Gothic"/>
                <a:ea typeface="Malgun Gothic"/>
                <a:cs typeface="Malgun Gothic"/>
              </a:defRPr>
            </a:lvl9pPr>
          </a:lstStyle>
          <a:p xmlns:a="http://schemas.openxmlformats.org/drawingml/2006/main">
            <a:pPr algn="l">
              <a:defRPr sz="2250" b="1">
                <a:solidFill>
                  <a:srgbClr val="4D5A68"/>
                </a:solidFill>
                <a:latin typeface="Malgun Gothic"/>
                <a:ea typeface="Malgun Gothic"/>
                <a:cs typeface="Malgun Gothic"/>
              </a:defRPr>
            </a:pPr>
            <a:r>
              <a:rPr sz="2250" b="1">
                <a:solidFill>
                  <a:srgbClr val="4D5A68"/>
                </a:solidFill>
                <a:latin typeface="Malgun Gothic"/>
                <a:ea typeface="Malgun Gothic"/>
                <a:cs typeface="Malgun Gothic"/>
              </a:rPr>
              <a:t>픽셀마다 Python 반복</a:t>
            </a:r>
          </a:p>
        </p:txBody>
      </p:sp>
      <p:sp>
        <p:nvSpPr>
          <p:cNvPr id="50" name="더 느림">
            <a:extLst xmlns:a="http://schemas.openxmlformats.org/drawingml/2006/main">
              <a:ext uri="{FF2B5EF4-FFF2-40B4-BE49-F238E27FC236}">
                <a16:creationId xmlns:a16="http://schemas.microsoft.com/office/drawing/2014/main" id="{EF210168-38E8-4F72-91AC-8032C8D75EE7}"/>
              </a:ext>
            </a:extLst>
          </p:cNvPr>
          <p:cNvSpPr>
            <a:spLocks xmlns:a="http://schemas.openxmlformats.org/drawingml/2006/main" noGrp="1"/>
          </p:cNvSpPr>
          <p:nvPr/>
        </p:nvSpPr>
        <p:spPr>
          <a:xfrm xmlns:a="http://schemas.openxmlformats.org/drawingml/2006/main">
            <a:off x="7277100" y="4305300"/>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더 느림</a:t>
            </a:r>
          </a:p>
        </p:txBody>
      </p:sp>
      <p:sp>
        <p:nvSpPr>
          <p:cNvPr id="51" name="제외">
            <a:extLst xmlns:a="http://schemas.openxmlformats.org/drawingml/2006/main">
              <a:ext uri="{FF2B5EF4-FFF2-40B4-BE49-F238E27FC236}">
                <a16:creationId xmlns:a16="http://schemas.microsoft.com/office/drawing/2014/main" id="{E493E4EB-35F5-4D37-A090-7EE92F361E3B}"/>
              </a:ext>
            </a:extLst>
          </p:cNvPr>
          <p:cNvSpPr>
            <a:spLocks xmlns:a="http://schemas.openxmlformats.org/drawingml/2006/main" noGrp="1"/>
          </p:cNvSpPr>
          <p:nvPr/>
        </p:nvSpPr>
        <p:spPr>
          <a:xfrm xmlns:a="http://schemas.openxmlformats.org/drawingml/2006/main">
            <a:off x="10020300" y="4286250"/>
            <a:ext cx="13716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4D5A68"/>
                </a:solidFill>
                <a:latin typeface="Malgun Gothic"/>
                <a:ea typeface="Malgun Gothic"/>
                <a:cs typeface="Malgun Gothic"/>
              </a:defRPr>
            </a:defPPr>
            <a:lvl1pPr algn="ctr">
              <a:defRPr sz="2475" b="1">
                <a:solidFill>
                  <a:srgbClr val="4D5A68"/>
                </a:solidFill>
                <a:latin typeface="Malgun Gothic"/>
                <a:ea typeface="Malgun Gothic"/>
                <a:cs typeface="Malgun Gothic"/>
              </a:defRPr>
            </a:lvl1pPr>
            <a:lvl2pPr algn="ctr">
              <a:defRPr sz="2475" b="1">
                <a:solidFill>
                  <a:srgbClr val="4D5A68"/>
                </a:solidFill>
                <a:latin typeface="Malgun Gothic"/>
                <a:ea typeface="Malgun Gothic"/>
                <a:cs typeface="Malgun Gothic"/>
              </a:defRPr>
            </a:lvl2pPr>
            <a:lvl3pPr algn="ctr">
              <a:defRPr sz="2475" b="1">
                <a:solidFill>
                  <a:srgbClr val="4D5A68"/>
                </a:solidFill>
                <a:latin typeface="Malgun Gothic"/>
                <a:ea typeface="Malgun Gothic"/>
                <a:cs typeface="Malgun Gothic"/>
              </a:defRPr>
            </a:lvl3pPr>
            <a:lvl4pPr algn="ctr">
              <a:defRPr sz="2475" b="1">
                <a:solidFill>
                  <a:srgbClr val="4D5A68"/>
                </a:solidFill>
                <a:latin typeface="Malgun Gothic"/>
                <a:ea typeface="Malgun Gothic"/>
                <a:cs typeface="Malgun Gothic"/>
              </a:defRPr>
            </a:lvl4pPr>
            <a:lvl5pPr algn="ctr">
              <a:defRPr sz="2475" b="1">
                <a:solidFill>
                  <a:srgbClr val="4D5A68"/>
                </a:solidFill>
                <a:latin typeface="Malgun Gothic"/>
                <a:ea typeface="Malgun Gothic"/>
                <a:cs typeface="Malgun Gothic"/>
              </a:defRPr>
            </a:lvl5pPr>
            <a:lvl6pPr algn="ctr">
              <a:defRPr sz="2475" b="1">
                <a:solidFill>
                  <a:srgbClr val="4D5A68"/>
                </a:solidFill>
                <a:latin typeface="Malgun Gothic"/>
                <a:ea typeface="Malgun Gothic"/>
                <a:cs typeface="Malgun Gothic"/>
              </a:defRPr>
            </a:lvl6pPr>
            <a:lvl7pPr algn="ctr">
              <a:defRPr sz="2475" b="1">
                <a:solidFill>
                  <a:srgbClr val="4D5A68"/>
                </a:solidFill>
                <a:latin typeface="Malgun Gothic"/>
                <a:ea typeface="Malgun Gothic"/>
                <a:cs typeface="Malgun Gothic"/>
              </a:defRPr>
            </a:lvl7pPr>
            <a:lvl8pPr algn="ctr">
              <a:defRPr sz="2475" b="1">
                <a:solidFill>
                  <a:srgbClr val="4D5A68"/>
                </a:solidFill>
                <a:latin typeface="Malgun Gothic"/>
                <a:ea typeface="Malgun Gothic"/>
                <a:cs typeface="Malgun Gothic"/>
              </a:defRPr>
            </a:lvl8pPr>
            <a:lvl9pPr algn="ctr">
              <a:defRPr sz="2475" b="1">
                <a:solidFill>
                  <a:srgbClr val="4D5A68"/>
                </a:solidFill>
                <a:latin typeface="Malgun Gothic"/>
                <a:ea typeface="Malgun Gothic"/>
                <a:cs typeface="Malgun Gothic"/>
              </a:defRPr>
            </a:lvl9pPr>
          </a:lstStyle>
          <a:p xmlns:a="http://schemas.openxmlformats.org/drawingml/2006/main">
            <a:pPr algn="ctr">
              <a:defRPr sz="2475" b="1">
                <a:solidFill>
                  <a:srgbClr val="4D5A68"/>
                </a:solidFill>
                <a:latin typeface="Malgun Gothic"/>
                <a:ea typeface="Malgun Gothic"/>
                <a:cs typeface="Malgun Gothic"/>
              </a:defRPr>
            </a:pPr>
            <a:r>
              <a:rPr sz="2475" b="1">
                <a:solidFill>
                  <a:srgbClr val="4D5A68"/>
                </a:solidFill>
                <a:latin typeface="Malgun Gothic"/>
                <a:ea typeface="Malgun Gothic"/>
                <a:cs typeface="Malgun Gothic"/>
              </a:rPr>
              <a:t>제외</a:t>
            </a:r>
          </a:p>
        </p:txBody>
      </p:sp>
      <p:sp>
        <p:nvSpPr>
          <p:cNvPr id="52" name="">
            <a:extLst xmlns:a="http://schemas.openxmlformats.org/drawingml/2006/main">
              <a:ext uri="{FF2B5EF4-FFF2-40B4-BE49-F238E27FC236}">
                <a16:creationId xmlns:a16="http://schemas.microsoft.com/office/drawing/2014/main" id="{F0D57F4E-CE2B-4DCF-9D74-750197E0E70B}"/>
              </a:ext>
            </a:extLst>
          </p:cNvPr>
          <p:cNvSpPr>
            <a:spLocks xmlns:a="http://schemas.openxmlformats.org/drawingml/2006/main" noGrp="1"/>
          </p:cNvSpPr>
          <p:nvPr/>
        </p:nvSpPr>
        <p:spPr>
          <a:xfrm xmlns:a="http://schemas.openxmlformats.org/drawingml/2006/main">
            <a:off x="609600" y="4867275"/>
            <a:ext cx="10972800" cy="5619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53" name="행마다 내장 min·max·sum 사용">
            <a:extLst xmlns:a="http://schemas.openxmlformats.org/drawingml/2006/main">
              <a:ext uri="{FF2B5EF4-FFF2-40B4-BE49-F238E27FC236}">
                <a16:creationId xmlns:a16="http://schemas.microsoft.com/office/drawing/2014/main" id="{3ECEB4BB-72A6-45B4-A463-DDF9FFAEAC31}"/>
              </a:ext>
            </a:extLst>
          </p:cNvPr>
          <p:cNvSpPr>
            <a:spLocks xmlns:a="http://schemas.openxmlformats.org/drawingml/2006/main" noGrp="1"/>
          </p:cNvSpPr>
          <p:nvPr/>
        </p:nvSpPr>
        <p:spPr>
          <a:xfrm xmlns:a="http://schemas.openxmlformats.org/drawingml/2006/main">
            <a:off x="800100" y="4943475"/>
            <a:ext cx="6172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행마다 내장 min·max·sum 사용</a:t>
            </a:r>
          </a:p>
        </p:txBody>
      </p:sp>
      <p:sp>
        <p:nvSpPr>
          <p:cNvPr id="54" name="더 빠름">
            <a:extLst xmlns:a="http://schemas.openxmlformats.org/drawingml/2006/main">
              <a:ext uri="{FF2B5EF4-FFF2-40B4-BE49-F238E27FC236}">
                <a16:creationId xmlns:a16="http://schemas.microsoft.com/office/drawing/2014/main" id="{A6BE60F8-7A5E-4C11-95DE-79086A76521E}"/>
              </a:ext>
            </a:extLst>
          </p:cNvPr>
          <p:cNvSpPr>
            <a:spLocks xmlns:a="http://schemas.openxmlformats.org/drawingml/2006/main" noGrp="1"/>
          </p:cNvSpPr>
          <p:nvPr/>
        </p:nvSpPr>
        <p:spPr>
          <a:xfrm xmlns:a="http://schemas.openxmlformats.org/drawingml/2006/main">
            <a:off x="7277100" y="494347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더 빠름</a:t>
            </a:r>
          </a:p>
        </p:txBody>
      </p:sp>
      <p:sp>
        <p:nvSpPr>
          <p:cNvPr id="55" name="선택">
            <a:extLst xmlns:a="http://schemas.openxmlformats.org/drawingml/2006/main">
              <a:ext uri="{FF2B5EF4-FFF2-40B4-BE49-F238E27FC236}">
                <a16:creationId xmlns:a16="http://schemas.microsoft.com/office/drawing/2014/main" id="{95CAD194-84E9-45EF-A3B7-FEC414BC1819}"/>
              </a:ext>
            </a:extLst>
          </p:cNvPr>
          <p:cNvSpPr>
            <a:spLocks xmlns:a="http://schemas.openxmlformats.org/drawingml/2006/main" noGrp="1"/>
          </p:cNvSpPr>
          <p:nvPr/>
        </p:nvSpPr>
        <p:spPr>
          <a:xfrm xmlns:a="http://schemas.openxmlformats.org/drawingml/2006/main">
            <a:off x="10020300" y="4924425"/>
            <a:ext cx="13716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0B6172"/>
                </a:solidFill>
                <a:latin typeface="Malgun Gothic"/>
                <a:ea typeface="Malgun Gothic"/>
                <a:cs typeface="Malgun Gothic"/>
              </a:defRPr>
            </a:defPPr>
            <a:lvl1pPr algn="ctr">
              <a:defRPr sz="2475" b="1">
                <a:solidFill>
                  <a:srgbClr val="0B6172"/>
                </a:solidFill>
                <a:latin typeface="Malgun Gothic"/>
                <a:ea typeface="Malgun Gothic"/>
                <a:cs typeface="Malgun Gothic"/>
              </a:defRPr>
            </a:lvl1pPr>
            <a:lvl2pPr algn="ctr">
              <a:defRPr sz="2475" b="1">
                <a:solidFill>
                  <a:srgbClr val="0B6172"/>
                </a:solidFill>
                <a:latin typeface="Malgun Gothic"/>
                <a:ea typeface="Malgun Gothic"/>
                <a:cs typeface="Malgun Gothic"/>
              </a:defRPr>
            </a:lvl2pPr>
            <a:lvl3pPr algn="ctr">
              <a:defRPr sz="2475" b="1">
                <a:solidFill>
                  <a:srgbClr val="0B6172"/>
                </a:solidFill>
                <a:latin typeface="Malgun Gothic"/>
                <a:ea typeface="Malgun Gothic"/>
                <a:cs typeface="Malgun Gothic"/>
              </a:defRPr>
            </a:lvl3pPr>
            <a:lvl4pPr algn="ctr">
              <a:defRPr sz="2475" b="1">
                <a:solidFill>
                  <a:srgbClr val="0B6172"/>
                </a:solidFill>
                <a:latin typeface="Malgun Gothic"/>
                <a:ea typeface="Malgun Gothic"/>
                <a:cs typeface="Malgun Gothic"/>
              </a:defRPr>
            </a:lvl4pPr>
            <a:lvl5pPr algn="ctr">
              <a:defRPr sz="2475" b="1">
                <a:solidFill>
                  <a:srgbClr val="0B6172"/>
                </a:solidFill>
                <a:latin typeface="Malgun Gothic"/>
                <a:ea typeface="Malgun Gothic"/>
                <a:cs typeface="Malgun Gothic"/>
              </a:defRPr>
            </a:lvl5pPr>
            <a:lvl6pPr algn="ctr">
              <a:defRPr sz="2475" b="1">
                <a:solidFill>
                  <a:srgbClr val="0B6172"/>
                </a:solidFill>
                <a:latin typeface="Malgun Gothic"/>
                <a:ea typeface="Malgun Gothic"/>
                <a:cs typeface="Malgun Gothic"/>
              </a:defRPr>
            </a:lvl6pPr>
            <a:lvl7pPr algn="ctr">
              <a:defRPr sz="2475" b="1">
                <a:solidFill>
                  <a:srgbClr val="0B6172"/>
                </a:solidFill>
                <a:latin typeface="Malgun Gothic"/>
                <a:ea typeface="Malgun Gothic"/>
                <a:cs typeface="Malgun Gothic"/>
              </a:defRPr>
            </a:lvl7pPr>
            <a:lvl8pPr algn="ctr">
              <a:defRPr sz="2475" b="1">
                <a:solidFill>
                  <a:srgbClr val="0B6172"/>
                </a:solidFill>
                <a:latin typeface="Malgun Gothic"/>
                <a:ea typeface="Malgun Gothic"/>
                <a:cs typeface="Malgun Gothic"/>
              </a:defRPr>
            </a:lvl8pPr>
            <a:lvl9pPr algn="ctr">
              <a:defRPr sz="2475" b="1">
                <a:solidFill>
                  <a:srgbClr val="0B6172"/>
                </a:solidFill>
                <a:latin typeface="Malgun Gothic"/>
                <a:ea typeface="Malgun Gothic"/>
                <a:cs typeface="Malgun Gothic"/>
              </a:defRPr>
            </a:lvl9pPr>
          </a:lstStyle>
          <a:p xmlns:a="http://schemas.openxmlformats.org/drawingml/2006/main">
            <a:pPr algn="ctr">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선택</a:t>
            </a:r>
          </a:p>
        </p:txBody>
      </p:sp>
      <p:sp>
        <p:nvSpPr>
          <p:cNvPr id="56" name="두 후보 모두: 결과 6항목 동일 · 기존보다 낮은 임시 메모리">
            <a:extLst xmlns:a="http://schemas.openxmlformats.org/drawingml/2006/main">
              <a:ext uri="{FF2B5EF4-FFF2-40B4-BE49-F238E27FC236}">
                <a16:creationId xmlns:a16="http://schemas.microsoft.com/office/drawing/2014/main" id="{30B6E6EF-ABAB-4EDB-AB42-9438C4075401}"/>
              </a:ext>
            </a:extLst>
          </p:cNvPr>
          <p:cNvSpPr>
            <a:spLocks xmlns:a="http://schemas.openxmlformats.org/drawingml/2006/main" noGrp="1"/>
          </p:cNvSpPr>
          <p:nvPr/>
        </p:nvSpPr>
        <p:spPr>
          <a:xfrm xmlns:a="http://schemas.openxmlformats.org/drawingml/2006/main">
            <a:off x="609600" y="548640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두 후보 모두: 결과 6항목 동일 · 기존보다 낮은 임시 메모리</a:t>
            </a:r>
          </a:p>
        </p:txBody>
      </p:sp>
      <p:sp>
        <p:nvSpPr>
          <p:cNvPr id="57" name="Legacy module connection">
            <a:extLst xmlns:a="http://schemas.openxmlformats.org/drawingml/2006/main">
              <a:ext uri="{FF2B5EF4-FFF2-40B4-BE49-F238E27FC236}">
                <a16:creationId xmlns:a16="http://schemas.microsoft.com/office/drawing/2014/main" id="{2FC9B00D-0D57-46EE-8F08-E61C93FCF03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 · M9</a:t>
            </a:r>
          </a:p>
        </p:txBody>
      </p:sp>
    </p:spTree>
    <p:extLst>
      <p:ext uri="{BB962C8B-B14F-4D97-AF65-F5344CB8AC3E}">
        <p14:creationId xmlns:p14="http://schemas.microsoft.com/office/powerpoint/2010/main" val="1358038012"/>
      </p:ext>
    </p:extLst>
  </p:cSld>
</p:sld>
</file>

<file path=ppt/slides/slide1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3 · 밝기 통계 변경을 제품에 반영하고 다시 확인">
            <a:extLst xmlns:a="http://schemas.openxmlformats.org/drawingml/2006/main">
              <a:ext uri="{FF2B5EF4-FFF2-40B4-BE49-F238E27FC236}">
                <a16:creationId xmlns:a16="http://schemas.microsoft.com/office/drawing/2014/main" id="{C6B6CF09-01DB-4D89-BA61-FAD0987F703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밝기 통계 변경을 제품에 반영하고 다시 확인</a:t>
            </a:r>
          </a:p>
        </p:txBody>
      </p:sp>
      <p:sp>
        <p:nvSpPr>
          <p:cNvPr id="2" name="S66">
            <a:extLst xmlns:a="http://schemas.openxmlformats.org/drawingml/2006/main">
              <a:ext uri="{FF2B5EF4-FFF2-40B4-BE49-F238E27FC236}">
                <a16:creationId xmlns:a16="http://schemas.microsoft.com/office/drawing/2014/main" id="{03193938-E620-4F7D-8BD9-D2C80D0D22D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S66</a:t>
            </a:r>
          </a:p>
        </p:txBody>
      </p:sp>
      <p:sp>
        <p:nvSpPr>
          <p:cNvPr id="3" name="선택한 변경의 시간·메모리·동작 확인">
            <a:extLst xmlns:a="http://schemas.openxmlformats.org/drawingml/2006/main">
              <a:ext uri="{FF2B5EF4-FFF2-40B4-BE49-F238E27FC236}">
                <a16:creationId xmlns:a16="http://schemas.microsoft.com/office/drawing/2014/main" id="{E371F05B-D9D2-420F-B0E1-1040E1F8FA5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선택한 변경의 시간·메모리·동작 확인</a:t>
            </a:r>
          </a:p>
        </p:txBody>
      </p:sp>
      <p:sp>
        <p:nvSpPr>
          <p:cNvPr id="4" name="">
            <a:extLst xmlns:a="http://schemas.openxmlformats.org/drawingml/2006/main">
              <a:ext uri="{FF2B5EF4-FFF2-40B4-BE49-F238E27FC236}">
                <a16:creationId xmlns:a16="http://schemas.microsoft.com/office/drawing/2014/main" id="{7C0ED7C5-68B5-4A5E-9B2E-C3A3130BC55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 → STATE-04-PERF · 동일 합성1024×768 · CPython3.9.6 / ma">
            <a:extLst xmlns:a="http://schemas.openxmlformats.org/drawingml/2006/main">
              <a:ext uri="{FF2B5EF4-FFF2-40B4-BE49-F238E27FC236}">
                <a16:creationId xmlns:a16="http://schemas.microsoft.com/office/drawing/2014/main" id="{E031FD9F-54CB-4606-AB9B-548ED2EDC46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 → STATE-04-PERF · 동일 합성1024×768 · CPython3.9.6 / macOS arm64</a:t>
            </a:r>
          </a:p>
        </p:txBody>
      </p:sp>
      <p:sp>
        <p:nvSpPr>
          <p:cNvPr id="6" name="이 입력·환경의 코드 변경 결과 · Python 할당 피크는 RSS 아님 · Harness/Skill 단독 ">
            <a:extLst xmlns:a="http://schemas.openxmlformats.org/drawingml/2006/main">
              <a:ext uri="{FF2B5EF4-FFF2-40B4-BE49-F238E27FC236}">
                <a16:creationId xmlns:a16="http://schemas.microsoft.com/office/drawing/2014/main" id="{B4EA50E7-7253-4ADF-BE97-CCC2BC7B3AC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이 입력·환경의 코드 변경 결과 · Python 할당 피크는 RSS 아님 · Harness/Skill 단독 효과 미입증</a:t>
            </a:r>
          </a:p>
        </p:txBody>
      </p:sp>
      <p:sp>
        <p:nvSpPr>
          <p:cNvPr id="7" name="선택한 변경: 큰 임시 리스트 없이, 행마다 min·max·sum 계산">
            <a:extLst xmlns:a="http://schemas.openxmlformats.org/drawingml/2006/main">
              <a:ext uri="{FF2B5EF4-FFF2-40B4-BE49-F238E27FC236}">
                <a16:creationId xmlns:a16="http://schemas.microsoft.com/office/drawing/2014/main" id="{973960FB-DE1D-45B1-813C-B8F69D7E34F5}"/>
              </a:ext>
            </a:extLst>
          </p:cNvPr>
          <p:cNvSpPr>
            <a:spLocks xmlns:a="http://schemas.openxmlformats.org/drawingml/2006/main" noGrp="1"/>
          </p:cNvSpPr>
          <p:nvPr/>
        </p:nvSpPr>
        <p:spPr>
          <a:xfrm xmlns:a="http://schemas.openxmlformats.org/drawingml/2006/main">
            <a:off x="609600" y="16859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선택한 변경: 큰 임시 리스트 없이, 행마다 min·max·sum 계산</a:t>
            </a:r>
          </a:p>
        </p:txBody>
      </p:sp>
      <p:sp>
        <p:nvSpPr>
          <p:cNvPr id="8" name="실행시간">
            <a:extLst xmlns:a="http://schemas.openxmlformats.org/drawingml/2006/main">
              <a:ext uri="{FF2B5EF4-FFF2-40B4-BE49-F238E27FC236}">
                <a16:creationId xmlns:a16="http://schemas.microsoft.com/office/drawing/2014/main" id="{BB5E1038-D341-4EC5-8EAB-CF47C6E5CDCA}"/>
              </a:ext>
            </a:extLst>
          </p:cNvPr>
          <p:cNvSpPr>
            <a:spLocks xmlns:a="http://schemas.openxmlformats.org/drawingml/2006/main" noGrp="1"/>
          </p:cNvSpPr>
          <p:nvPr/>
        </p:nvSpPr>
        <p:spPr>
          <a:xfrm xmlns:a="http://schemas.openxmlformats.org/drawingml/2006/main">
            <a:off x="609600" y="2419350"/>
            <a:ext cx="2324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실행시간</a:t>
            </a:r>
          </a:p>
        </p:txBody>
      </p:sp>
      <p:sp>
        <p:nvSpPr>
          <p:cNvPr id="9" name="임시 메모리">
            <a:extLst xmlns:a="http://schemas.openxmlformats.org/drawingml/2006/main">
              <a:ext uri="{FF2B5EF4-FFF2-40B4-BE49-F238E27FC236}">
                <a16:creationId xmlns:a16="http://schemas.microsoft.com/office/drawing/2014/main" id="{F2DA5068-9138-4ABE-A294-AA67A19721BB}"/>
              </a:ext>
            </a:extLst>
          </p:cNvPr>
          <p:cNvSpPr>
            <a:spLocks xmlns:a="http://schemas.openxmlformats.org/drawingml/2006/main" noGrp="1"/>
          </p:cNvSpPr>
          <p:nvPr/>
        </p:nvSpPr>
        <p:spPr>
          <a:xfrm xmlns:a="http://schemas.openxmlformats.org/drawingml/2006/main">
            <a:off x="5905500" y="2419350"/>
            <a:ext cx="2324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임시 메모리</a:t>
            </a:r>
          </a:p>
        </p:txBody>
      </p:sp>
      <p:sp>
        <p:nvSpPr>
          <p:cNvPr id="10" name="동작 검증">
            <a:extLst xmlns:a="http://schemas.openxmlformats.org/drawingml/2006/main">
              <a:ext uri="{FF2B5EF4-FFF2-40B4-BE49-F238E27FC236}">
                <a16:creationId xmlns:a16="http://schemas.microsoft.com/office/drawing/2014/main" id="{50ACD845-70B0-44BF-95E2-5B5A5FD77D0C}"/>
              </a:ext>
            </a:extLst>
          </p:cNvPr>
          <p:cNvSpPr>
            <a:spLocks xmlns:a="http://schemas.openxmlformats.org/drawingml/2006/main" noGrp="1"/>
          </p:cNvSpPr>
          <p:nvPr/>
        </p:nvSpPr>
        <p:spPr>
          <a:xfrm xmlns:a="http://schemas.openxmlformats.org/drawingml/2006/main">
            <a:off x="9258300" y="2419350"/>
            <a:ext cx="2324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동작 검증</a:t>
            </a:r>
          </a:p>
        </p:txBody>
      </p:sp>
      <p:sp>
        <p:nvSpPr>
          <p:cNvPr id="11" name="">
            <a:extLst xmlns:a="http://schemas.openxmlformats.org/drawingml/2006/main">
              <a:ext uri="{FF2B5EF4-FFF2-40B4-BE49-F238E27FC236}">
                <a16:creationId xmlns:a16="http://schemas.microsoft.com/office/drawing/2014/main" id="{55F251CC-0DC2-4234-B005-04EE78F1BC91}"/>
              </a:ext>
            </a:extLst>
          </p:cNvPr>
          <p:cNvSpPr>
            <a:spLocks xmlns:a="http://schemas.openxmlformats.org/drawingml/2006/main" noGrp="1"/>
          </p:cNvSpPr>
          <p:nvPr/>
        </p:nvSpPr>
        <p:spPr>
          <a:xfrm xmlns:a="http://schemas.openxmlformats.org/drawingml/2006/main">
            <a:off x="5543550" y="2409825"/>
            <a:ext cx="14288" cy="2857500"/>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38ED1AE8-8E42-4394-823E-C3E45B711F0C}"/>
              </a:ext>
            </a:extLst>
          </p:cNvPr>
          <p:cNvSpPr>
            <a:spLocks xmlns:a="http://schemas.openxmlformats.org/drawingml/2006/main" noGrp="1"/>
          </p:cNvSpPr>
          <p:nvPr/>
        </p:nvSpPr>
        <p:spPr>
          <a:xfrm xmlns:a="http://schemas.openxmlformats.org/drawingml/2006/main">
            <a:off x="8896350" y="2409825"/>
            <a:ext cx="14288" cy="2857500"/>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13" name="같은 입력 · 7회 중앙값 (ms/호출)">
            <a:extLst xmlns:a="http://schemas.openxmlformats.org/drawingml/2006/main">
              <a:ext uri="{FF2B5EF4-FFF2-40B4-BE49-F238E27FC236}">
                <a16:creationId xmlns:a16="http://schemas.microsoft.com/office/drawing/2014/main" id="{C070467D-B704-444F-93F1-2010EB1E7B8D}"/>
              </a:ext>
            </a:extLst>
          </p:cNvPr>
          <p:cNvSpPr>
            <a:spLocks xmlns:a="http://schemas.openxmlformats.org/drawingml/2006/main" noGrp="1"/>
          </p:cNvSpPr>
          <p:nvPr/>
        </p:nvSpPr>
        <p:spPr>
          <a:xfrm xmlns:a="http://schemas.openxmlformats.org/drawingml/2006/main">
            <a:off x="609600" y="2867025"/>
            <a:ext cx="457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같은 입력 · 7회 중앙값 (ms/호출)</a:t>
            </a:r>
          </a:p>
        </p:txBody>
      </p:sp>
      <p:graphicFrame>
        <p:nvGraphicFramePr>
          <p:cNvPr id="14" name="Chart">
            <a:extLst xmlns:a="http://schemas.openxmlformats.org/drawingml/2006/main">
              <a:ext uri="{FF2B5EF4-FFF2-40B4-BE49-F238E27FC236}">
                <a16:creationId xmlns:a16="http://schemas.microsoft.com/office/drawing/2014/main" id="{9F2138BB-8826-42FB-992A-7D6DCF5D5614}"/>
              </a:ext>
            </a:extLst>
          </p:cNvPr>
          <p:cNvGraphicFramePr/>
          <p:nvPr/>
        </p:nvGraphicFramePr>
        <p:xfrm>
          <a:off xmlns:a="http://schemas.openxmlformats.org/drawingml/2006/main" x="609600" y="3286125"/>
          <a:ext xmlns:a="http://schemas.openxmlformats.org/drawingml/2006/main" cx="4724400" cy="1981200"/>
        </p:xfrm>
        <a:graphic xmlns:a="http://schemas.openxmlformats.org/drawingml/2006/main">
          <a:graphicData uri="http://schemas.openxmlformats.org/drawingml/2006/chart">
            <c:chart xmlns:r="http://schemas.openxmlformats.org/officeDocument/2006/relationships" xmlns:c="http://schemas.openxmlformats.org/drawingml/2006/chart" r:id="Rd6e33629430a4506"/>
          </a:graphicData>
        </a:graphic>
      </p:graphicFrame>
      <p:sp>
        <p:nvSpPr>
          <p:cNvPr id="15" name="Python 할당 피크">
            <a:extLst xmlns:a="http://schemas.openxmlformats.org/drawingml/2006/main">
              <a:ext uri="{FF2B5EF4-FFF2-40B4-BE49-F238E27FC236}">
                <a16:creationId xmlns:a16="http://schemas.microsoft.com/office/drawing/2014/main" id="{2B54AB85-4B3D-4A27-949D-E5758F049EF0}"/>
              </a:ext>
            </a:extLst>
          </p:cNvPr>
          <p:cNvSpPr>
            <a:spLocks xmlns:a="http://schemas.openxmlformats.org/drawingml/2006/main" noGrp="1"/>
          </p:cNvSpPr>
          <p:nvPr/>
        </p:nvSpPr>
        <p:spPr>
          <a:xfrm xmlns:a="http://schemas.openxmlformats.org/drawingml/2006/main">
            <a:off x="5905500" y="2867025"/>
            <a:ext cx="2705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Python 할당 피크</a:t>
            </a:r>
          </a:p>
        </p:txBody>
      </p:sp>
      <p:sp>
        <p:nvSpPr>
          <p:cNvPr id="16" name="변경 전">
            <a:extLst xmlns:a="http://schemas.openxmlformats.org/drawingml/2006/main">
              <a:ext uri="{FF2B5EF4-FFF2-40B4-BE49-F238E27FC236}">
                <a16:creationId xmlns:a16="http://schemas.microsoft.com/office/drawing/2014/main" id="{4D0ABC4C-AE6E-4AB2-817C-51EC22CE2D13}"/>
              </a:ext>
            </a:extLst>
          </p:cNvPr>
          <p:cNvSpPr>
            <a:spLocks xmlns:a="http://schemas.openxmlformats.org/drawingml/2006/main" noGrp="1"/>
          </p:cNvSpPr>
          <p:nvPr/>
        </p:nvSpPr>
        <p:spPr>
          <a:xfrm xmlns:a="http://schemas.openxmlformats.org/drawingml/2006/main">
            <a:off x="5905500" y="3362325"/>
            <a:ext cx="27051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변경 전</a:t>
            </a:r>
          </a:p>
        </p:txBody>
      </p:sp>
      <p:sp>
        <p:nvSpPr>
          <p:cNvPr id="17" name="6,675,804 B">
            <a:extLst xmlns:a="http://schemas.openxmlformats.org/drawingml/2006/main">
              <a:ext uri="{FF2B5EF4-FFF2-40B4-BE49-F238E27FC236}">
                <a16:creationId xmlns:a16="http://schemas.microsoft.com/office/drawing/2014/main" id="{DA7A81DD-A818-4247-89BE-4F723C882A75}"/>
              </a:ext>
            </a:extLst>
          </p:cNvPr>
          <p:cNvSpPr>
            <a:spLocks xmlns:a="http://schemas.openxmlformats.org/drawingml/2006/main" noGrp="1"/>
          </p:cNvSpPr>
          <p:nvPr/>
        </p:nvSpPr>
        <p:spPr>
          <a:xfrm xmlns:a="http://schemas.openxmlformats.org/drawingml/2006/main">
            <a:off x="5905500" y="3686175"/>
            <a:ext cx="27051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0">
                <a:solidFill>
                  <a:srgbClr val="4D5A68"/>
                </a:solidFill>
                <a:latin typeface="Malgun Gothic"/>
                <a:ea typeface="Malgun Gothic"/>
                <a:cs typeface="Malgun Gothic"/>
              </a:defRPr>
            </a:defPPr>
            <a:lvl1pPr algn="l">
              <a:defRPr sz="2700" b="0">
                <a:solidFill>
                  <a:srgbClr val="4D5A68"/>
                </a:solidFill>
                <a:latin typeface="Malgun Gothic"/>
                <a:ea typeface="Malgun Gothic"/>
                <a:cs typeface="Malgun Gothic"/>
              </a:defRPr>
            </a:lvl1pPr>
            <a:lvl2pPr algn="l">
              <a:defRPr sz="2700" b="0">
                <a:solidFill>
                  <a:srgbClr val="4D5A68"/>
                </a:solidFill>
                <a:latin typeface="Malgun Gothic"/>
                <a:ea typeface="Malgun Gothic"/>
                <a:cs typeface="Malgun Gothic"/>
              </a:defRPr>
            </a:lvl2pPr>
            <a:lvl3pPr algn="l">
              <a:defRPr sz="2700" b="0">
                <a:solidFill>
                  <a:srgbClr val="4D5A68"/>
                </a:solidFill>
                <a:latin typeface="Malgun Gothic"/>
                <a:ea typeface="Malgun Gothic"/>
                <a:cs typeface="Malgun Gothic"/>
              </a:defRPr>
            </a:lvl3pPr>
            <a:lvl4pPr algn="l">
              <a:defRPr sz="2700" b="0">
                <a:solidFill>
                  <a:srgbClr val="4D5A68"/>
                </a:solidFill>
                <a:latin typeface="Malgun Gothic"/>
                <a:ea typeface="Malgun Gothic"/>
                <a:cs typeface="Malgun Gothic"/>
              </a:defRPr>
            </a:lvl4pPr>
            <a:lvl5pPr algn="l">
              <a:defRPr sz="2700" b="0">
                <a:solidFill>
                  <a:srgbClr val="4D5A68"/>
                </a:solidFill>
                <a:latin typeface="Malgun Gothic"/>
                <a:ea typeface="Malgun Gothic"/>
                <a:cs typeface="Malgun Gothic"/>
              </a:defRPr>
            </a:lvl5pPr>
            <a:lvl6pPr algn="l">
              <a:defRPr sz="2700" b="0">
                <a:solidFill>
                  <a:srgbClr val="4D5A68"/>
                </a:solidFill>
                <a:latin typeface="Malgun Gothic"/>
                <a:ea typeface="Malgun Gothic"/>
                <a:cs typeface="Malgun Gothic"/>
              </a:defRPr>
            </a:lvl6pPr>
            <a:lvl7pPr algn="l">
              <a:defRPr sz="2700" b="0">
                <a:solidFill>
                  <a:srgbClr val="4D5A68"/>
                </a:solidFill>
                <a:latin typeface="Malgun Gothic"/>
                <a:ea typeface="Malgun Gothic"/>
                <a:cs typeface="Malgun Gothic"/>
              </a:defRPr>
            </a:lvl7pPr>
            <a:lvl8pPr algn="l">
              <a:defRPr sz="2700" b="0">
                <a:solidFill>
                  <a:srgbClr val="4D5A68"/>
                </a:solidFill>
                <a:latin typeface="Malgun Gothic"/>
                <a:ea typeface="Malgun Gothic"/>
                <a:cs typeface="Malgun Gothic"/>
              </a:defRPr>
            </a:lvl8pPr>
            <a:lvl9pPr algn="l">
              <a:defRPr sz="2700" b="0">
                <a:solidFill>
                  <a:srgbClr val="4D5A68"/>
                </a:solidFill>
                <a:latin typeface="Malgun Gothic"/>
                <a:ea typeface="Malgun Gothic"/>
                <a:cs typeface="Malgun Gothic"/>
              </a:defRPr>
            </a:lvl9pPr>
          </a:lstStyle>
          <a:p xmlns:a="http://schemas.openxmlformats.org/drawingml/2006/main">
            <a:pPr algn="l">
              <a:defRPr sz="2700" b="0">
                <a:solidFill>
                  <a:srgbClr val="4D5A68"/>
                </a:solidFill>
                <a:latin typeface="Malgun Gothic"/>
                <a:ea typeface="Malgun Gothic"/>
                <a:cs typeface="Malgun Gothic"/>
              </a:defRPr>
            </a:pPr>
            <a:r>
              <a:rPr sz="2700" b="0">
                <a:solidFill>
                  <a:srgbClr val="4D5A68"/>
                </a:solidFill>
                <a:latin typeface="Malgun Gothic"/>
                <a:ea typeface="Malgun Gothic"/>
                <a:cs typeface="Malgun Gothic"/>
              </a:rPr>
              <a:t>6,675,804 B</a:t>
            </a:r>
          </a:p>
        </p:txBody>
      </p:sp>
      <p:sp>
        <p:nvSpPr>
          <p:cNvPr id="18" name="변경 후">
            <a:extLst xmlns:a="http://schemas.openxmlformats.org/drawingml/2006/main">
              <a:ext uri="{FF2B5EF4-FFF2-40B4-BE49-F238E27FC236}">
                <a16:creationId xmlns:a16="http://schemas.microsoft.com/office/drawing/2014/main" id="{A29DF282-5824-4217-9AA1-9D26F8067F69}"/>
              </a:ext>
            </a:extLst>
          </p:cNvPr>
          <p:cNvSpPr>
            <a:spLocks xmlns:a="http://schemas.openxmlformats.org/drawingml/2006/main" noGrp="1"/>
          </p:cNvSpPr>
          <p:nvPr/>
        </p:nvSpPr>
        <p:spPr>
          <a:xfrm xmlns:a="http://schemas.openxmlformats.org/drawingml/2006/main">
            <a:off x="5905500" y="4381500"/>
            <a:ext cx="27051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변경 후</a:t>
            </a:r>
          </a:p>
        </p:txBody>
      </p:sp>
      <p:sp>
        <p:nvSpPr>
          <p:cNvPr id="19" name="380 B">
            <a:extLst xmlns:a="http://schemas.openxmlformats.org/drawingml/2006/main">
              <a:ext uri="{FF2B5EF4-FFF2-40B4-BE49-F238E27FC236}">
                <a16:creationId xmlns:a16="http://schemas.microsoft.com/office/drawing/2014/main" id="{752008B3-0328-4DC4-BB47-F17F6CEB23A9}"/>
              </a:ext>
            </a:extLst>
          </p:cNvPr>
          <p:cNvSpPr>
            <a:spLocks xmlns:a="http://schemas.openxmlformats.org/drawingml/2006/main" noGrp="1"/>
          </p:cNvSpPr>
          <p:nvPr/>
        </p:nvSpPr>
        <p:spPr>
          <a:xfrm xmlns:a="http://schemas.openxmlformats.org/drawingml/2006/main">
            <a:off x="5905500" y="4705350"/>
            <a:ext cx="27051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0B6172"/>
                </a:solidFill>
                <a:latin typeface="Malgun Gothic"/>
                <a:ea typeface="Malgun Gothic"/>
                <a:cs typeface="Malgun Gothic"/>
              </a:defRPr>
            </a:defPPr>
            <a:lvl1pPr algn="l">
              <a:defRPr sz="3600" b="1">
                <a:solidFill>
                  <a:srgbClr val="0B6172"/>
                </a:solidFill>
                <a:latin typeface="Malgun Gothic"/>
                <a:ea typeface="Malgun Gothic"/>
                <a:cs typeface="Malgun Gothic"/>
              </a:defRPr>
            </a:lvl1pPr>
            <a:lvl2pPr algn="l">
              <a:defRPr sz="3600" b="1">
                <a:solidFill>
                  <a:srgbClr val="0B6172"/>
                </a:solidFill>
                <a:latin typeface="Malgun Gothic"/>
                <a:ea typeface="Malgun Gothic"/>
                <a:cs typeface="Malgun Gothic"/>
              </a:defRPr>
            </a:lvl2pPr>
            <a:lvl3pPr algn="l">
              <a:defRPr sz="3600" b="1">
                <a:solidFill>
                  <a:srgbClr val="0B6172"/>
                </a:solidFill>
                <a:latin typeface="Malgun Gothic"/>
                <a:ea typeface="Malgun Gothic"/>
                <a:cs typeface="Malgun Gothic"/>
              </a:defRPr>
            </a:lvl3pPr>
            <a:lvl4pPr algn="l">
              <a:defRPr sz="3600" b="1">
                <a:solidFill>
                  <a:srgbClr val="0B6172"/>
                </a:solidFill>
                <a:latin typeface="Malgun Gothic"/>
                <a:ea typeface="Malgun Gothic"/>
                <a:cs typeface="Malgun Gothic"/>
              </a:defRPr>
            </a:lvl4pPr>
            <a:lvl5pPr algn="l">
              <a:defRPr sz="3600" b="1">
                <a:solidFill>
                  <a:srgbClr val="0B6172"/>
                </a:solidFill>
                <a:latin typeface="Malgun Gothic"/>
                <a:ea typeface="Malgun Gothic"/>
                <a:cs typeface="Malgun Gothic"/>
              </a:defRPr>
            </a:lvl5pPr>
            <a:lvl6pPr algn="l">
              <a:defRPr sz="3600" b="1">
                <a:solidFill>
                  <a:srgbClr val="0B6172"/>
                </a:solidFill>
                <a:latin typeface="Malgun Gothic"/>
                <a:ea typeface="Malgun Gothic"/>
                <a:cs typeface="Malgun Gothic"/>
              </a:defRPr>
            </a:lvl6pPr>
            <a:lvl7pPr algn="l">
              <a:defRPr sz="3600" b="1">
                <a:solidFill>
                  <a:srgbClr val="0B6172"/>
                </a:solidFill>
                <a:latin typeface="Malgun Gothic"/>
                <a:ea typeface="Malgun Gothic"/>
                <a:cs typeface="Malgun Gothic"/>
              </a:defRPr>
            </a:lvl7pPr>
            <a:lvl8pPr algn="l">
              <a:defRPr sz="3600" b="1">
                <a:solidFill>
                  <a:srgbClr val="0B6172"/>
                </a:solidFill>
                <a:latin typeface="Malgun Gothic"/>
                <a:ea typeface="Malgun Gothic"/>
                <a:cs typeface="Malgun Gothic"/>
              </a:defRPr>
            </a:lvl8pPr>
            <a:lvl9pPr algn="l">
              <a:defRPr sz="3600" b="1">
                <a:solidFill>
                  <a:srgbClr val="0B6172"/>
                </a:solidFill>
                <a:latin typeface="Malgun Gothic"/>
                <a:ea typeface="Malgun Gothic"/>
                <a:cs typeface="Malgun Gothic"/>
              </a:defRPr>
            </a:lvl9pPr>
          </a:lstStyle>
          <a:p xmlns:a="http://schemas.openxmlformats.org/drawingml/2006/main">
            <a:pPr algn="l">
              <a:defRPr sz="3600" b="1">
                <a:solidFill>
                  <a:srgbClr val="0B6172"/>
                </a:solidFill>
                <a:latin typeface="Malgun Gothic"/>
                <a:ea typeface="Malgun Gothic"/>
                <a:cs typeface="Malgun Gothic"/>
              </a:defRPr>
            </a:pPr>
            <a:r>
              <a:rPr sz="3600" b="1">
                <a:solidFill>
                  <a:srgbClr val="0B6172"/>
                </a:solidFill>
                <a:latin typeface="Malgun Gothic"/>
                <a:ea typeface="Malgun Gothic"/>
                <a:cs typeface="Malgun Gothic"/>
              </a:rPr>
              <a:t>380 B</a:t>
            </a:r>
          </a:p>
        </p:txBody>
      </p:sp>
      <p:sp>
        <p:nvSpPr>
          <p:cNvPr id="20" name="기록된 검사 결과">
            <a:extLst xmlns:a="http://schemas.openxmlformats.org/drawingml/2006/main">
              <a:ext uri="{FF2B5EF4-FFF2-40B4-BE49-F238E27FC236}">
                <a16:creationId xmlns:a16="http://schemas.microsoft.com/office/drawing/2014/main" id="{3412BBD5-703E-413E-87E2-0C913E03B8EF}"/>
              </a:ext>
            </a:extLst>
          </p:cNvPr>
          <p:cNvSpPr>
            <a:spLocks xmlns:a="http://schemas.openxmlformats.org/drawingml/2006/main" noGrp="1"/>
          </p:cNvSpPr>
          <p:nvPr/>
        </p:nvSpPr>
        <p:spPr>
          <a:xfrm xmlns:a="http://schemas.openxmlformats.org/drawingml/2006/main">
            <a:off x="9258300" y="2867025"/>
            <a:ext cx="2324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기록된 검사 결과</a:t>
            </a:r>
          </a:p>
        </p:txBody>
      </p:sp>
      <p:sp>
        <p:nvSpPr>
          <p:cNvPr id="21" name="결과 유지">
            <a:extLst xmlns:a="http://schemas.openxmlformats.org/drawingml/2006/main">
              <a:ext uri="{FF2B5EF4-FFF2-40B4-BE49-F238E27FC236}">
                <a16:creationId xmlns:a16="http://schemas.microsoft.com/office/drawing/2014/main" id="{1A45080F-C194-487C-A21C-15E640B890FB}"/>
              </a:ext>
            </a:extLst>
          </p:cNvPr>
          <p:cNvSpPr>
            <a:spLocks xmlns:a="http://schemas.openxmlformats.org/drawingml/2006/main" noGrp="1"/>
          </p:cNvSpPr>
          <p:nvPr/>
        </p:nvSpPr>
        <p:spPr>
          <a:xfrm xmlns:a="http://schemas.openxmlformats.org/drawingml/2006/main">
            <a:off x="9258300" y="3409950"/>
            <a:ext cx="23241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176B4D"/>
                </a:solidFill>
                <a:latin typeface="Malgun Gothic"/>
                <a:ea typeface="Malgun Gothic"/>
                <a:cs typeface="Malgun Gothic"/>
              </a:defRPr>
            </a:defPPr>
            <a:lvl1pPr algn="l">
              <a:defRPr sz="2850" b="1">
                <a:solidFill>
                  <a:srgbClr val="176B4D"/>
                </a:solidFill>
                <a:latin typeface="Malgun Gothic"/>
                <a:ea typeface="Malgun Gothic"/>
                <a:cs typeface="Malgun Gothic"/>
              </a:defRPr>
            </a:lvl1pPr>
            <a:lvl2pPr algn="l">
              <a:defRPr sz="2850" b="1">
                <a:solidFill>
                  <a:srgbClr val="176B4D"/>
                </a:solidFill>
                <a:latin typeface="Malgun Gothic"/>
                <a:ea typeface="Malgun Gothic"/>
                <a:cs typeface="Malgun Gothic"/>
              </a:defRPr>
            </a:lvl2pPr>
            <a:lvl3pPr algn="l">
              <a:defRPr sz="2850" b="1">
                <a:solidFill>
                  <a:srgbClr val="176B4D"/>
                </a:solidFill>
                <a:latin typeface="Malgun Gothic"/>
                <a:ea typeface="Malgun Gothic"/>
                <a:cs typeface="Malgun Gothic"/>
              </a:defRPr>
            </a:lvl3pPr>
            <a:lvl4pPr algn="l">
              <a:defRPr sz="2850" b="1">
                <a:solidFill>
                  <a:srgbClr val="176B4D"/>
                </a:solidFill>
                <a:latin typeface="Malgun Gothic"/>
                <a:ea typeface="Malgun Gothic"/>
                <a:cs typeface="Malgun Gothic"/>
              </a:defRPr>
            </a:lvl4pPr>
            <a:lvl5pPr algn="l">
              <a:defRPr sz="2850" b="1">
                <a:solidFill>
                  <a:srgbClr val="176B4D"/>
                </a:solidFill>
                <a:latin typeface="Malgun Gothic"/>
                <a:ea typeface="Malgun Gothic"/>
                <a:cs typeface="Malgun Gothic"/>
              </a:defRPr>
            </a:lvl5pPr>
            <a:lvl6pPr algn="l">
              <a:defRPr sz="2850" b="1">
                <a:solidFill>
                  <a:srgbClr val="176B4D"/>
                </a:solidFill>
                <a:latin typeface="Malgun Gothic"/>
                <a:ea typeface="Malgun Gothic"/>
                <a:cs typeface="Malgun Gothic"/>
              </a:defRPr>
            </a:lvl6pPr>
            <a:lvl7pPr algn="l">
              <a:defRPr sz="2850" b="1">
                <a:solidFill>
                  <a:srgbClr val="176B4D"/>
                </a:solidFill>
                <a:latin typeface="Malgun Gothic"/>
                <a:ea typeface="Malgun Gothic"/>
                <a:cs typeface="Malgun Gothic"/>
              </a:defRPr>
            </a:lvl7pPr>
            <a:lvl8pPr algn="l">
              <a:defRPr sz="2850" b="1">
                <a:solidFill>
                  <a:srgbClr val="176B4D"/>
                </a:solidFill>
                <a:latin typeface="Malgun Gothic"/>
                <a:ea typeface="Malgun Gothic"/>
                <a:cs typeface="Malgun Gothic"/>
              </a:defRPr>
            </a:lvl8pPr>
            <a:lvl9pPr algn="l">
              <a:defRPr sz="2850" b="1">
                <a:solidFill>
                  <a:srgbClr val="176B4D"/>
                </a:solidFill>
                <a:latin typeface="Malgun Gothic"/>
                <a:ea typeface="Malgun Gothic"/>
                <a:cs typeface="Malgun Gothic"/>
              </a:defRPr>
            </a:lvl9pPr>
          </a:lstStyle>
          <a:p xmlns:a="http://schemas.openxmlformats.org/drawingml/2006/main">
            <a:pPr algn="l">
              <a:defRPr sz="2850" b="1">
                <a:solidFill>
                  <a:srgbClr val="176B4D"/>
                </a:solidFill>
                <a:latin typeface="Malgun Gothic"/>
                <a:ea typeface="Malgun Gothic"/>
                <a:cs typeface="Malgun Gothic"/>
              </a:defRPr>
            </a:pPr>
            <a:r>
              <a:rPr sz="2850" b="1">
                <a:solidFill>
                  <a:srgbClr val="176B4D"/>
                </a:solidFill>
                <a:latin typeface="Malgun Gothic"/>
                <a:ea typeface="Malgun Gothic"/>
                <a:cs typeface="Malgun Gothic"/>
              </a:rPr>
              <a:t>결과 유지</a:t>
            </a:r>
          </a:p>
        </p:txBody>
      </p:sp>
      <p:sp>
        <p:nvSpPr>
          <p:cNvPr id="22" name="출력 6항목 동일">
            <a:extLst xmlns:a="http://schemas.openxmlformats.org/drawingml/2006/main">
              <a:ext uri="{FF2B5EF4-FFF2-40B4-BE49-F238E27FC236}">
                <a16:creationId xmlns:a16="http://schemas.microsoft.com/office/drawing/2014/main" id="{B2CE1A48-03CB-4A43-945D-88E372BE0DE4}"/>
              </a:ext>
            </a:extLst>
          </p:cNvPr>
          <p:cNvSpPr>
            <a:spLocks xmlns:a="http://schemas.openxmlformats.org/drawingml/2006/main" noGrp="1"/>
          </p:cNvSpPr>
          <p:nvPr/>
        </p:nvSpPr>
        <p:spPr>
          <a:xfrm xmlns:a="http://schemas.openxmlformats.org/drawingml/2006/main">
            <a:off x="9258300" y="3914775"/>
            <a:ext cx="23241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출력 6항목 동일</a:t>
            </a:r>
          </a:p>
        </p:txBody>
      </p:sp>
      <p:sp>
        <p:nvSpPr>
          <p:cNvPr id="23" name="함수 테스트 1/1&#10;전체 테스트 11/11&#10;CLI 샘플 통과">
            <a:extLst xmlns:a="http://schemas.openxmlformats.org/drawingml/2006/main">
              <a:ext uri="{FF2B5EF4-FFF2-40B4-BE49-F238E27FC236}">
                <a16:creationId xmlns:a16="http://schemas.microsoft.com/office/drawing/2014/main" id="{DCF2B776-35D4-4A32-8F70-00B38F8DB552}"/>
              </a:ext>
            </a:extLst>
          </p:cNvPr>
          <p:cNvSpPr>
            <a:spLocks xmlns:a="http://schemas.openxmlformats.org/drawingml/2006/main" noGrp="1"/>
          </p:cNvSpPr>
          <p:nvPr/>
        </p:nvSpPr>
        <p:spPr>
          <a:xfrm xmlns:a="http://schemas.openxmlformats.org/drawingml/2006/main">
            <a:off x="9258300" y="4400550"/>
            <a:ext cx="232410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함수 테스트 1/1</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전체 테스트 11/11</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CLI 샘플 통과</a:t>
            </a:r>
          </a:p>
        </p:txBody>
      </p:sp>
      <p:sp>
        <p:nvSpPr>
          <p:cNvPr id="24" name="후보 비교와 별도로, 실제 제품 변경 전후를 같은 조건에서 확인한 기록">
            <a:extLst xmlns:a="http://schemas.openxmlformats.org/drawingml/2006/main">
              <a:ext uri="{FF2B5EF4-FFF2-40B4-BE49-F238E27FC236}">
                <a16:creationId xmlns:a16="http://schemas.microsoft.com/office/drawing/2014/main" id="{D618A1C4-3989-4224-A674-E1FF4BF101F0}"/>
              </a:ext>
            </a:extLst>
          </p:cNvPr>
          <p:cNvSpPr>
            <a:spLocks xmlns:a="http://schemas.openxmlformats.org/drawingml/2006/main" noGrp="1"/>
          </p:cNvSpPr>
          <p:nvPr/>
        </p:nvSpPr>
        <p:spPr>
          <a:xfrm xmlns:a="http://schemas.openxmlformats.org/drawingml/2006/main">
            <a:off x="609600" y="5476875"/>
            <a:ext cx="109728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후보 비교와 별도로, 실제 제품 변경 전후를 같은 조건에서 확인한 기록</a:t>
            </a:r>
          </a:p>
        </p:txBody>
      </p:sp>
      <p:sp>
        <p:nvSpPr>
          <p:cNvPr id="25" name="Legacy module connection">
            <a:extLst xmlns:a="http://schemas.openxmlformats.org/drawingml/2006/main">
              <a:ext uri="{FF2B5EF4-FFF2-40B4-BE49-F238E27FC236}">
                <a16:creationId xmlns:a16="http://schemas.microsoft.com/office/drawing/2014/main" id="{06ED8BBF-4A52-439F-BA3F-60F6D905F4A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a:t>
            </a:r>
          </a:p>
        </p:txBody>
      </p:sp>
    </p:spTree>
    <p:extLst>
      <p:ext uri="{BB962C8B-B14F-4D97-AF65-F5344CB8AC3E}">
        <p14:creationId xmlns:p14="http://schemas.microsoft.com/office/powerpoint/2010/main" val="1440437827"/>
      </p:ext>
    </p:extLst>
  </p:cSld>
</p:sld>
</file>

<file path=ppt/slides/slide1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50" name="ACT 3 · 교육용 가정: 독립 조사와 결과 통합">
            <a:extLst xmlns:a="http://schemas.openxmlformats.org/drawingml/2006/main">
              <a:ext uri="{FF2B5EF4-FFF2-40B4-BE49-F238E27FC236}">
                <a16:creationId xmlns:a16="http://schemas.microsoft.com/office/drawing/2014/main" id="{CC88C355-764C-48B6-B62E-C9B6332AFB6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교육용 가정: 독립 조사와 결과 통합</a:t>
            </a:r>
          </a:p>
        </p:txBody>
      </p:sp>
      <p:sp>
        <p:nvSpPr>
          <p:cNvPr id="2" name="S67">
            <a:extLst xmlns:a="http://schemas.openxmlformats.org/drawingml/2006/main">
              <a:ext uri="{FF2B5EF4-FFF2-40B4-BE49-F238E27FC236}">
                <a16:creationId xmlns:a16="http://schemas.microsoft.com/office/drawing/2014/main" id="{2F2DA4A3-88C3-49E1-A845-2D1562DC092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S67</a:t>
            </a:r>
          </a:p>
        </p:txBody>
      </p:sp>
      <p:sp>
        <p:nvSpPr>
          <p:cNvPr id="3" name="한 Agent 조사와 Subagent 역할 분리">
            <a:extLst xmlns:a="http://schemas.openxmlformats.org/drawingml/2006/main">
              <a:ext uri="{FF2B5EF4-FFF2-40B4-BE49-F238E27FC236}">
                <a16:creationId xmlns:a16="http://schemas.microsoft.com/office/drawing/2014/main" id="{7CA09628-CC80-4B5D-BD3B-61E3BAA7C16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한 Agent 조사와 Subagent 역할 분리</a:t>
            </a:r>
          </a:p>
        </p:txBody>
      </p:sp>
      <p:sp>
        <p:nvSpPr>
          <p:cNvPr id="4" name="">
            <a:extLst xmlns:a="http://schemas.openxmlformats.org/drawingml/2006/main">
              <a:ext uri="{FF2B5EF4-FFF2-40B4-BE49-F238E27FC236}">
                <a16:creationId xmlns:a16="http://schemas.microsoft.com/office/drawing/2014/main" id="{A489F084-D69D-475D-9D67-A906377BAAE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CONCEPTUAL · C++ 검사 프로젝트의 독립 조사 가정 · 실제 Subagent 실행 아님">
            <a:extLst xmlns:a="http://schemas.openxmlformats.org/drawingml/2006/main">
              <a:ext uri="{FF2B5EF4-FFF2-40B4-BE49-F238E27FC236}">
                <a16:creationId xmlns:a16="http://schemas.microsoft.com/office/drawing/2014/main" id="{8BC3C0B3-C6E2-4AED-8518-2E5D6A64E08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CONCEPTUAL · C++ 검사 프로젝트의 독립 조사 가정 · 실제 Subagent 실행 아님</a:t>
            </a:r>
          </a:p>
        </p:txBody>
      </p:sp>
      <p:sp>
        <p:nvSpPr>
          <p:cNvPr id="6" name="역할별로 필요한 정보 분리 · 조정·중복·전달·통합 비용 존재 · 시간·품질 이득 미측정">
            <a:extLst xmlns:a="http://schemas.openxmlformats.org/drawingml/2006/main">
              <a:ext uri="{FF2B5EF4-FFF2-40B4-BE49-F238E27FC236}">
                <a16:creationId xmlns:a16="http://schemas.microsoft.com/office/drawing/2014/main" id="{5F0FB0E8-1379-4CAF-B808-58B546675B4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역할별로 필요한 정보 분리 · 조정·중복·전달·통합 비용 존재 · 시간·품질 이득 미측정</a:t>
            </a:r>
          </a:p>
        </p:txBody>
      </p:sp>
      <p:sp>
        <p:nvSpPr>
          <p:cNvPr id="7" name="성능·빌드·테스트 조사가 서로 기다리지 않아도 된다면?">
            <a:extLst xmlns:a="http://schemas.openxmlformats.org/drawingml/2006/main">
              <a:ext uri="{FF2B5EF4-FFF2-40B4-BE49-F238E27FC236}">
                <a16:creationId xmlns:a16="http://schemas.microsoft.com/office/drawing/2014/main" id="{F8164E36-39C3-4CD6-87DC-15222E6C6545}"/>
              </a:ext>
            </a:extLst>
          </p:cNvPr>
          <p:cNvSpPr>
            <a:spLocks xmlns:a="http://schemas.openxmlformats.org/drawingml/2006/main" noGrp="1"/>
          </p:cNvSpPr>
          <p:nvPr/>
        </p:nvSpPr>
        <p:spPr>
          <a:xfrm xmlns:a="http://schemas.openxmlformats.org/drawingml/2006/main">
            <a:off x="609600" y="16859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성능·빌드·테스트 조사가 서로 기다리지 않아도 된다면?</a:t>
            </a:r>
          </a:p>
        </p:txBody>
      </p:sp>
      <p:sp>
        <p:nvSpPr>
          <p:cNvPr id="8" name="한 Agent가 모두 조사">
            <a:extLst xmlns:a="http://schemas.openxmlformats.org/drawingml/2006/main">
              <a:ext uri="{FF2B5EF4-FFF2-40B4-BE49-F238E27FC236}">
                <a16:creationId xmlns:a16="http://schemas.microsoft.com/office/drawing/2014/main" id="{BAD0CA91-8290-410D-AE4E-CF68191642FA}"/>
              </a:ext>
            </a:extLst>
          </p:cNvPr>
          <p:cNvSpPr>
            <a:spLocks xmlns:a="http://schemas.openxmlformats.org/drawingml/2006/main" noGrp="1"/>
          </p:cNvSpPr>
          <p:nvPr/>
        </p:nvSpPr>
        <p:spPr>
          <a:xfrm xmlns:a="http://schemas.openxmlformats.org/drawingml/2006/main">
            <a:off x="609600" y="2333625"/>
            <a:ext cx="43815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한 Agent가 모두 조사</a:t>
            </a:r>
          </a:p>
        </p:txBody>
      </p:sp>
      <p:sp>
        <p:nvSpPr>
          <p:cNvPr id="9" name="Subagent로 나눠 조사">
            <a:extLst xmlns:a="http://schemas.openxmlformats.org/drawingml/2006/main">
              <a:ext uri="{FF2B5EF4-FFF2-40B4-BE49-F238E27FC236}">
                <a16:creationId xmlns:a16="http://schemas.microsoft.com/office/drawing/2014/main" id="{98E6B254-786F-47D7-8BBA-C25A4DFA5D27}"/>
              </a:ext>
            </a:extLst>
          </p:cNvPr>
          <p:cNvSpPr>
            <a:spLocks xmlns:a="http://schemas.openxmlformats.org/drawingml/2006/main" noGrp="1"/>
          </p:cNvSpPr>
          <p:nvPr/>
        </p:nvSpPr>
        <p:spPr>
          <a:xfrm xmlns:a="http://schemas.openxmlformats.org/drawingml/2006/main">
            <a:off x="5829300" y="2333625"/>
            <a:ext cx="5753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Subagent로 나눠 조사</a:t>
            </a:r>
          </a:p>
        </p:txBody>
      </p:sp>
      <p:sp>
        <p:nvSpPr>
          <p:cNvPr id="10" name="">
            <a:extLst xmlns:a="http://schemas.openxmlformats.org/drawingml/2006/main">
              <a:ext uri="{FF2B5EF4-FFF2-40B4-BE49-F238E27FC236}">
                <a16:creationId xmlns:a16="http://schemas.microsoft.com/office/drawing/2014/main" id="{776ACFDC-8E4E-42D3-9597-40AF0738C70F}"/>
              </a:ext>
            </a:extLst>
          </p:cNvPr>
          <p:cNvSpPr>
            <a:spLocks xmlns:a="http://schemas.openxmlformats.org/drawingml/2006/main" noGrp="1"/>
          </p:cNvSpPr>
          <p:nvPr/>
        </p:nvSpPr>
        <p:spPr>
          <a:xfrm xmlns:a="http://schemas.openxmlformats.org/drawingml/2006/main">
            <a:off x="5314950" y="2333625"/>
            <a:ext cx="14288" cy="3228975"/>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4F5ABC99-DF66-4480-813F-32970D6AC259}"/>
              </a:ext>
            </a:extLst>
          </p:cNvPr>
          <p:cNvSpPr>
            <a:spLocks xmlns:a="http://schemas.openxmlformats.org/drawingml/2006/main" noGrp="1"/>
          </p:cNvSpPr>
          <p:nvPr/>
        </p:nvSpPr>
        <p:spPr>
          <a:xfrm xmlns:a="http://schemas.openxmlformats.org/drawingml/2006/main">
            <a:off x="609600" y="2857500"/>
            <a:ext cx="4381500" cy="1752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2" name="Agent">
            <a:extLst xmlns:a="http://schemas.openxmlformats.org/drawingml/2006/main">
              <a:ext uri="{FF2B5EF4-FFF2-40B4-BE49-F238E27FC236}">
                <a16:creationId xmlns:a16="http://schemas.microsoft.com/office/drawing/2014/main" id="{6555DB73-9C32-4401-87C2-119A6F3F4DFF}"/>
              </a:ext>
            </a:extLst>
          </p:cNvPr>
          <p:cNvSpPr>
            <a:spLocks xmlns:a="http://schemas.openxmlformats.org/drawingml/2006/main" noGrp="1"/>
          </p:cNvSpPr>
          <p:nvPr/>
        </p:nvSpPr>
        <p:spPr>
          <a:xfrm xmlns:a="http://schemas.openxmlformats.org/drawingml/2006/main">
            <a:off x="800100" y="2933700"/>
            <a:ext cx="4000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Agent</a:t>
            </a:r>
          </a:p>
        </p:txBody>
      </p:sp>
      <p:sp>
        <p:nvSpPr>
          <p:cNvPr id="13" name="">
            <a:extLst xmlns:a="http://schemas.openxmlformats.org/drawingml/2006/main">
              <a:ext uri="{FF2B5EF4-FFF2-40B4-BE49-F238E27FC236}">
                <a16:creationId xmlns:a16="http://schemas.microsoft.com/office/drawing/2014/main" id="{50DE06CF-3D31-4549-B631-55CB41C20562}"/>
              </a:ext>
            </a:extLst>
          </p:cNvPr>
          <p:cNvSpPr>
            <a:spLocks xmlns:a="http://schemas.openxmlformats.org/drawingml/2006/main" noGrp="1"/>
          </p:cNvSpPr>
          <p:nvPr/>
        </p:nvSpPr>
        <p:spPr>
          <a:xfrm xmlns:a="http://schemas.openxmlformats.org/drawingml/2006/main">
            <a:off x="800100" y="3305175"/>
            <a:ext cx="40005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성능 조사">
            <a:extLst xmlns:a="http://schemas.openxmlformats.org/drawingml/2006/main">
              <a:ext uri="{FF2B5EF4-FFF2-40B4-BE49-F238E27FC236}">
                <a16:creationId xmlns:a16="http://schemas.microsoft.com/office/drawing/2014/main" id="{41C952F8-C55B-4F89-BC1B-816C13FB80BC}"/>
              </a:ext>
            </a:extLst>
          </p:cNvPr>
          <p:cNvSpPr>
            <a:spLocks xmlns:a="http://schemas.openxmlformats.org/drawingml/2006/main" noGrp="1"/>
          </p:cNvSpPr>
          <p:nvPr/>
        </p:nvSpPr>
        <p:spPr>
          <a:xfrm xmlns:a="http://schemas.openxmlformats.org/drawingml/2006/main">
            <a:off x="800100" y="3371850"/>
            <a:ext cx="18573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성능 조사</a:t>
            </a:r>
          </a:p>
        </p:txBody>
      </p:sp>
      <p:sp>
        <p:nvSpPr>
          <p:cNvPr id="15" name="소스·측정">
            <a:extLst xmlns:a="http://schemas.openxmlformats.org/drawingml/2006/main">
              <a:ext uri="{FF2B5EF4-FFF2-40B4-BE49-F238E27FC236}">
                <a16:creationId xmlns:a16="http://schemas.microsoft.com/office/drawing/2014/main" id="{18634F0A-7B26-4BA5-9F41-7BFDB2E77D4C}"/>
              </a:ext>
            </a:extLst>
          </p:cNvPr>
          <p:cNvSpPr>
            <a:spLocks xmlns:a="http://schemas.openxmlformats.org/drawingml/2006/main" noGrp="1"/>
          </p:cNvSpPr>
          <p:nvPr/>
        </p:nvSpPr>
        <p:spPr>
          <a:xfrm xmlns:a="http://schemas.openxmlformats.org/drawingml/2006/main">
            <a:off x="2762250" y="3371850"/>
            <a:ext cx="20383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소스·측정</a:t>
            </a:r>
          </a:p>
        </p:txBody>
      </p:sp>
      <p:sp>
        <p:nvSpPr>
          <p:cNvPr id="16" name="빌드 조사">
            <a:extLst xmlns:a="http://schemas.openxmlformats.org/drawingml/2006/main">
              <a:ext uri="{FF2B5EF4-FFF2-40B4-BE49-F238E27FC236}">
                <a16:creationId xmlns:a16="http://schemas.microsoft.com/office/drawing/2014/main" id="{97BBD214-1227-41E3-9C1F-3AA4BBF251EB}"/>
              </a:ext>
            </a:extLst>
          </p:cNvPr>
          <p:cNvSpPr>
            <a:spLocks xmlns:a="http://schemas.openxmlformats.org/drawingml/2006/main" noGrp="1"/>
          </p:cNvSpPr>
          <p:nvPr/>
        </p:nvSpPr>
        <p:spPr>
          <a:xfrm xmlns:a="http://schemas.openxmlformats.org/drawingml/2006/main">
            <a:off x="800100" y="3762375"/>
            <a:ext cx="18573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빌드 조사</a:t>
            </a:r>
          </a:p>
        </p:txBody>
      </p:sp>
      <p:sp>
        <p:nvSpPr>
          <p:cNvPr id="17" name="환경·설정">
            <a:extLst xmlns:a="http://schemas.openxmlformats.org/drawingml/2006/main">
              <a:ext uri="{FF2B5EF4-FFF2-40B4-BE49-F238E27FC236}">
                <a16:creationId xmlns:a16="http://schemas.microsoft.com/office/drawing/2014/main" id="{286376A2-0762-49F2-92F8-EFD8323AE67D}"/>
              </a:ext>
            </a:extLst>
          </p:cNvPr>
          <p:cNvSpPr>
            <a:spLocks xmlns:a="http://schemas.openxmlformats.org/drawingml/2006/main" noGrp="1"/>
          </p:cNvSpPr>
          <p:nvPr/>
        </p:nvSpPr>
        <p:spPr>
          <a:xfrm xmlns:a="http://schemas.openxmlformats.org/drawingml/2006/main">
            <a:off x="2762250" y="3762375"/>
            <a:ext cx="20383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환경·설정</a:t>
            </a:r>
          </a:p>
        </p:txBody>
      </p:sp>
      <p:sp>
        <p:nvSpPr>
          <p:cNvPr id="18" name="테스트 조사">
            <a:extLst xmlns:a="http://schemas.openxmlformats.org/drawingml/2006/main">
              <a:ext uri="{FF2B5EF4-FFF2-40B4-BE49-F238E27FC236}">
                <a16:creationId xmlns:a16="http://schemas.microsoft.com/office/drawing/2014/main" id="{C716AA6C-4A5C-40B1-B8BD-2989F7A1E6EA}"/>
              </a:ext>
            </a:extLst>
          </p:cNvPr>
          <p:cNvSpPr>
            <a:spLocks xmlns:a="http://schemas.openxmlformats.org/drawingml/2006/main" noGrp="1"/>
          </p:cNvSpPr>
          <p:nvPr/>
        </p:nvSpPr>
        <p:spPr>
          <a:xfrm xmlns:a="http://schemas.openxmlformats.org/drawingml/2006/main">
            <a:off x="800100" y="4152900"/>
            <a:ext cx="18573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테스트 조사</a:t>
            </a:r>
          </a:p>
        </p:txBody>
      </p:sp>
      <p:sp>
        <p:nvSpPr>
          <p:cNvPr id="19" name="테스트·명세">
            <a:extLst xmlns:a="http://schemas.openxmlformats.org/drawingml/2006/main">
              <a:ext uri="{FF2B5EF4-FFF2-40B4-BE49-F238E27FC236}">
                <a16:creationId xmlns:a16="http://schemas.microsoft.com/office/drawing/2014/main" id="{3C23F232-50E7-4089-99FC-3A05F8200929}"/>
              </a:ext>
            </a:extLst>
          </p:cNvPr>
          <p:cNvSpPr>
            <a:spLocks xmlns:a="http://schemas.openxmlformats.org/drawingml/2006/main" noGrp="1"/>
          </p:cNvSpPr>
          <p:nvPr/>
        </p:nvSpPr>
        <p:spPr>
          <a:xfrm xmlns:a="http://schemas.openxmlformats.org/drawingml/2006/main">
            <a:off x="2762250" y="4152900"/>
            <a:ext cx="20383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테스트·명세</a:t>
            </a:r>
          </a:p>
        </p:txBody>
      </p:sp>
      <p:cxnSp>
        <p:nvCxnSpPr>
          <p:cNvPr id="20" name="">
            <a:extLst xmlns:a="http://schemas.openxmlformats.org/drawingml/2006/main">
              <a:ext uri="{FF2B5EF4-FFF2-40B4-BE49-F238E27FC236}">
                <a16:creationId xmlns:a16="http://schemas.microsoft.com/office/drawing/2014/main" id="{C5D03D80-38FF-4B38-BCA1-E64818D1B211}"/>
              </a:ext>
            </a:extLst>
          </p:cNvPr>
          <p:cNvCxnSpPr/>
          <p:nvPr/>
        </p:nvCxnSpPr>
        <p:spPr>
          <a:xfrm xmlns:a="http://schemas.openxmlformats.org/drawingml/2006/main">
            <a:off x="2800350" y="4610100"/>
            <a:ext cx="0" cy="45720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1" name="">
            <a:extLst xmlns:a="http://schemas.openxmlformats.org/drawingml/2006/main">
              <a:ext uri="{FF2B5EF4-FFF2-40B4-BE49-F238E27FC236}">
                <a16:creationId xmlns:a16="http://schemas.microsoft.com/office/drawing/2014/main" id="{AFB440EA-EBC8-4B35-BD2B-03BA8CCBABF9}"/>
              </a:ext>
            </a:extLst>
          </p:cNvPr>
          <p:cNvSpPr>
            <a:spLocks xmlns:a="http://schemas.openxmlformats.org/drawingml/2006/main" noGrp="1"/>
          </p:cNvSpPr>
          <p:nvPr/>
        </p:nvSpPr>
        <p:spPr>
          <a:xfrm xmlns:a="http://schemas.openxmlformats.org/drawingml/2006/main">
            <a:off x="609600" y="5067300"/>
            <a:ext cx="4381500" cy="4953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2" name="같은 Agent가 결과 확인·종합">
            <a:extLst xmlns:a="http://schemas.openxmlformats.org/drawingml/2006/main">
              <a:ext uri="{FF2B5EF4-FFF2-40B4-BE49-F238E27FC236}">
                <a16:creationId xmlns:a16="http://schemas.microsoft.com/office/drawing/2014/main" id="{326A6302-C2C0-4B00-A3EF-84696182C775}"/>
              </a:ext>
            </a:extLst>
          </p:cNvPr>
          <p:cNvSpPr>
            <a:spLocks xmlns:a="http://schemas.openxmlformats.org/drawingml/2006/main" noGrp="1"/>
          </p:cNvSpPr>
          <p:nvPr/>
        </p:nvSpPr>
        <p:spPr>
          <a:xfrm xmlns:a="http://schemas.openxmlformats.org/drawingml/2006/main">
            <a:off x="762000" y="5143500"/>
            <a:ext cx="4076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0B6172"/>
                </a:solidFill>
                <a:latin typeface="Malgun Gothic"/>
                <a:ea typeface="Malgun Gothic"/>
                <a:cs typeface="Malgun Gothic"/>
              </a:defRPr>
            </a:defPPr>
            <a:lvl1pPr algn="ctr">
              <a:defRPr sz="2025" b="1">
                <a:solidFill>
                  <a:srgbClr val="0B6172"/>
                </a:solidFill>
                <a:latin typeface="Malgun Gothic"/>
                <a:ea typeface="Malgun Gothic"/>
                <a:cs typeface="Malgun Gothic"/>
              </a:defRPr>
            </a:lvl1pPr>
            <a:lvl2pPr algn="ctr">
              <a:defRPr sz="2025" b="1">
                <a:solidFill>
                  <a:srgbClr val="0B6172"/>
                </a:solidFill>
                <a:latin typeface="Malgun Gothic"/>
                <a:ea typeface="Malgun Gothic"/>
                <a:cs typeface="Malgun Gothic"/>
              </a:defRPr>
            </a:lvl2pPr>
            <a:lvl3pPr algn="ctr">
              <a:defRPr sz="2025" b="1">
                <a:solidFill>
                  <a:srgbClr val="0B6172"/>
                </a:solidFill>
                <a:latin typeface="Malgun Gothic"/>
                <a:ea typeface="Malgun Gothic"/>
                <a:cs typeface="Malgun Gothic"/>
              </a:defRPr>
            </a:lvl3pPr>
            <a:lvl4pPr algn="ctr">
              <a:defRPr sz="2025" b="1">
                <a:solidFill>
                  <a:srgbClr val="0B6172"/>
                </a:solidFill>
                <a:latin typeface="Malgun Gothic"/>
                <a:ea typeface="Malgun Gothic"/>
                <a:cs typeface="Malgun Gothic"/>
              </a:defRPr>
            </a:lvl4pPr>
            <a:lvl5pPr algn="ctr">
              <a:defRPr sz="2025" b="1">
                <a:solidFill>
                  <a:srgbClr val="0B6172"/>
                </a:solidFill>
                <a:latin typeface="Malgun Gothic"/>
                <a:ea typeface="Malgun Gothic"/>
                <a:cs typeface="Malgun Gothic"/>
              </a:defRPr>
            </a:lvl5pPr>
            <a:lvl6pPr algn="ctr">
              <a:defRPr sz="2025" b="1">
                <a:solidFill>
                  <a:srgbClr val="0B6172"/>
                </a:solidFill>
                <a:latin typeface="Malgun Gothic"/>
                <a:ea typeface="Malgun Gothic"/>
                <a:cs typeface="Malgun Gothic"/>
              </a:defRPr>
            </a:lvl6pPr>
            <a:lvl7pPr algn="ctr">
              <a:defRPr sz="2025" b="1">
                <a:solidFill>
                  <a:srgbClr val="0B6172"/>
                </a:solidFill>
                <a:latin typeface="Malgun Gothic"/>
                <a:ea typeface="Malgun Gothic"/>
                <a:cs typeface="Malgun Gothic"/>
              </a:defRPr>
            </a:lvl7pPr>
            <a:lvl8pPr algn="ctr">
              <a:defRPr sz="2025" b="1">
                <a:solidFill>
                  <a:srgbClr val="0B6172"/>
                </a:solidFill>
                <a:latin typeface="Malgun Gothic"/>
                <a:ea typeface="Malgun Gothic"/>
                <a:cs typeface="Malgun Gothic"/>
              </a:defRPr>
            </a:lvl8pPr>
            <a:lvl9pPr algn="ctr">
              <a:defRPr sz="2025" b="1">
                <a:solidFill>
                  <a:srgbClr val="0B6172"/>
                </a:solidFill>
                <a:latin typeface="Malgun Gothic"/>
                <a:ea typeface="Malgun Gothic"/>
                <a:cs typeface="Malgun Gothic"/>
              </a:defRPr>
            </a:lvl9pPr>
          </a:lstStyle>
          <a:p xmlns:a="http://schemas.openxmlformats.org/drawingml/2006/main">
            <a:pPr algn="ctr">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Agent가 결과 확인·종합</a:t>
            </a:r>
          </a:p>
        </p:txBody>
      </p:sp>
      <p:sp>
        <p:nvSpPr>
          <p:cNvPr id="23" name="">
            <a:extLst xmlns:a="http://schemas.openxmlformats.org/drawingml/2006/main">
              <a:ext uri="{FF2B5EF4-FFF2-40B4-BE49-F238E27FC236}">
                <a16:creationId xmlns:a16="http://schemas.microsoft.com/office/drawing/2014/main" id="{8467C175-38B6-49F3-8977-E5BB101F7793}"/>
              </a:ext>
            </a:extLst>
          </p:cNvPr>
          <p:cNvSpPr>
            <a:spLocks xmlns:a="http://schemas.openxmlformats.org/drawingml/2006/main" noGrp="1"/>
          </p:cNvSpPr>
          <p:nvPr/>
        </p:nvSpPr>
        <p:spPr>
          <a:xfrm xmlns:a="http://schemas.openxmlformats.org/drawingml/2006/main">
            <a:off x="6324600" y="2857500"/>
            <a:ext cx="4762500" cy="5334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4" name="주 Agent: 범위·결과 형식 지정">
            <a:extLst xmlns:a="http://schemas.openxmlformats.org/drawingml/2006/main">
              <a:ext uri="{FF2B5EF4-FFF2-40B4-BE49-F238E27FC236}">
                <a16:creationId xmlns:a16="http://schemas.microsoft.com/office/drawing/2014/main" id="{D9ED75E1-955D-458B-9E28-FD23579F2B28}"/>
              </a:ext>
            </a:extLst>
          </p:cNvPr>
          <p:cNvSpPr>
            <a:spLocks xmlns:a="http://schemas.openxmlformats.org/drawingml/2006/main" noGrp="1"/>
          </p:cNvSpPr>
          <p:nvPr/>
        </p:nvSpPr>
        <p:spPr>
          <a:xfrm xmlns:a="http://schemas.openxmlformats.org/drawingml/2006/main">
            <a:off x="6477000" y="2952750"/>
            <a:ext cx="4457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0B6172"/>
                </a:solidFill>
                <a:latin typeface="Malgun Gothic"/>
                <a:ea typeface="Malgun Gothic"/>
                <a:cs typeface="Malgun Gothic"/>
              </a:defRPr>
            </a:defPPr>
            <a:lvl1pPr algn="ctr">
              <a:defRPr sz="1950" b="1">
                <a:solidFill>
                  <a:srgbClr val="0B6172"/>
                </a:solidFill>
                <a:latin typeface="Malgun Gothic"/>
                <a:ea typeface="Malgun Gothic"/>
                <a:cs typeface="Malgun Gothic"/>
              </a:defRPr>
            </a:lvl1pPr>
            <a:lvl2pPr algn="ctr">
              <a:defRPr sz="1950" b="1">
                <a:solidFill>
                  <a:srgbClr val="0B6172"/>
                </a:solidFill>
                <a:latin typeface="Malgun Gothic"/>
                <a:ea typeface="Malgun Gothic"/>
                <a:cs typeface="Malgun Gothic"/>
              </a:defRPr>
            </a:lvl2pPr>
            <a:lvl3pPr algn="ctr">
              <a:defRPr sz="1950" b="1">
                <a:solidFill>
                  <a:srgbClr val="0B6172"/>
                </a:solidFill>
                <a:latin typeface="Malgun Gothic"/>
                <a:ea typeface="Malgun Gothic"/>
                <a:cs typeface="Malgun Gothic"/>
              </a:defRPr>
            </a:lvl3pPr>
            <a:lvl4pPr algn="ctr">
              <a:defRPr sz="1950" b="1">
                <a:solidFill>
                  <a:srgbClr val="0B6172"/>
                </a:solidFill>
                <a:latin typeface="Malgun Gothic"/>
                <a:ea typeface="Malgun Gothic"/>
                <a:cs typeface="Malgun Gothic"/>
              </a:defRPr>
            </a:lvl4pPr>
            <a:lvl5pPr algn="ctr">
              <a:defRPr sz="1950" b="1">
                <a:solidFill>
                  <a:srgbClr val="0B6172"/>
                </a:solidFill>
                <a:latin typeface="Malgun Gothic"/>
                <a:ea typeface="Malgun Gothic"/>
                <a:cs typeface="Malgun Gothic"/>
              </a:defRPr>
            </a:lvl5pPr>
            <a:lvl6pPr algn="ctr">
              <a:defRPr sz="1950" b="1">
                <a:solidFill>
                  <a:srgbClr val="0B6172"/>
                </a:solidFill>
                <a:latin typeface="Malgun Gothic"/>
                <a:ea typeface="Malgun Gothic"/>
                <a:cs typeface="Malgun Gothic"/>
              </a:defRPr>
            </a:lvl6pPr>
            <a:lvl7pPr algn="ctr">
              <a:defRPr sz="1950" b="1">
                <a:solidFill>
                  <a:srgbClr val="0B6172"/>
                </a:solidFill>
                <a:latin typeface="Malgun Gothic"/>
                <a:ea typeface="Malgun Gothic"/>
                <a:cs typeface="Malgun Gothic"/>
              </a:defRPr>
            </a:lvl7pPr>
            <a:lvl8pPr algn="ctr">
              <a:defRPr sz="1950" b="1">
                <a:solidFill>
                  <a:srgbClr val="0B6172"/>
                </a:solidFill>
                <a:latin typeface="Malgun Gothic"/>
                <a:ea typeface="Malgun Gothic"/>
                <a:cs typeface="Malgun Gothic"/>
              </a:defRPr>
            </a:lvl8pPr>
            <a:lvl9pPr algn="ctr">
              <a:defRPr sz="1950" b="1">
                <a:solidFill>
                  <a:srgbClr val="0B6172"/>
                </a:solidFill>
                <a:latin typeface="Malgun Gothic"/>
                <a:ea typeface="Malgun Gothic"/>
                <a:cs typeface="Malgun Gothic"/>
              </a:defRPr>
            </a:lvl9pPr>
          </a:lstStyle>
          <a:p xmlns:a="http://schemas.openxmlformats.org/drawingml/2006/main">
            <a:pPr algn="ctr">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주 Agent: 범위·결과 형식 지정</a:t>
            </a:r>
          </a:p>
        </p:txBody>
      </p:sp>
      <p:sp>
        <p:nvSpPr>
          <p:cNvPr id="25" name="">
            <a:extLst xmlns:a="http://schemas.openxmlformats.org/drawingml/2006/main">
              <a:ext uri="{FF2B5EF4-FFF2-40B4-BE49-F238E27FC236}">
                <a16:creationId xmlns:a16="http://schemas.microsoft.com/office/drawing/2014/main" id="{A8B3A6ED-0254-46FF-AA73-91380B364FF5}"/>
              </a:ext>
            </a:extLst>
          </p:cNvPr>
          <p:cNvSpPr>
            <a:spLocks xmlns:a="http://schemas.openxmlformats.org/drawingml/2006/main" noGrp="1"/>
          </p:cNvSpPr>
          <p:nvPr/>
        </p:nvSpPr>
        <p:spPr>
          <a:xfrm xmlns:a="http://schemas.openxmlformats.org/drawingml/2006/main">
            <a:off x="8705850" y="3390900"/>
            <a:ext cx="0" cy="142875"/>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26" name="">
            <a:extLst xmlns:a="http://schemas.openxmlformats.org/drawingml/2006/main">
              <a:ext uri="{FF2B5EF4-FFF2-40B4-BE49-F238E27FC236}">
                <a16:creationId xmlns:a16="http://schemas.microsoft.com/office/drawing/2014/main" id="{A099639C-AB99-4896-B08C-6992DC44AD94}"/>
              </a:ext>
            </a:extLst>
          </p:cNvPr>
          <p:cNvSpPr>
            <a:spLocks xmlns:a="http://schemas.openxmlformats.org/drawingml/2006/main" noGrp="1"/>
          </p:cNvSpPr>
          <p:nvPr/>
        </p:nvSpPr>
        <p:spPr>
          <a:xfrm xmlns:a="http://schemas.openxmlformats.org/drawingml/2006/main">
            <a:off x="6724650" y="3533775"/>
            <a:ext cx="39624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27" name="">
            <a:extLst xmlns:a="http://schemas.openxmlformats.org/drawingml/2006/main">
              <a:ext uri="{FF2B5EF4-FFF2-40B4-BE49-F238E27FC236}">
                <a16:creationId xmlns:a16="http://schemas.microsoft.com/office/drawing/2014/main" id="{661D0965-E96F-4154-B483-DA77DFDB5D4F}"/>
              </a:ext>
            </a:extLst>
          </p:cNvPr>
          <p:cNvCxnSpPr/>
          <p:nvPr/>
        </p:nvCxnSpPr>
        <p:spPr>
          <a:xfrm xmlns:a="http://schemas.openxmlformats.org/drawingml/2006/main">
            <a:off x="6724650" y="353377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8" name="">
            <a:extLst xmlns:a="http://schemas.openxmlformats.org/drawingml/2006/main">
              <a:ext uri="{FF2B5EF4-FFF2-40B4-BE49-F238E27FC236}">
                <a16:creationId xmlns:a16="http://schemas.microsoft.com/office/drawing/2014/main" id="{7E6682D4-1A6F-48A2-887F-A5B8C0C9781D}"/>
              </a:ext>
            </a:extLst>
          </p:cNvPr>
          <p:cNvSpPr>
            <a:spLocks xmlns:a="http://schemas.openxmlformats.org/drawingml/2006/main" noGrp="1"/>
          </p:cNvSpPr>
          <p:nvPr/>
        </p:nvSpPr>
        <p:spPr>
          <a:xfrm xmlns:a="http://schemas.openxmlformats.org/drawingml/2006/main">
            <a:off x="5829300" y="3695700"/>
            <a:ext cx="1790700" cy="1028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9" name="Subagent 1">
            <a:extLst xmlns:a="http://schemas.openxmlformats.org/drawingml/2006/main">
              <a:ext uri="{FF2B5EF4-FFF2-40B4-BE49-F238E27FC236}">
                <a16:creationId xmlns:a16="http://schemas.microsoft.com/office/drawing/2014/main" id="{E3D78668-A15F-4621-A6EA-67226D2DEF92}"/>
              </a:ext>
            </a:extLst>
          </p:cNvPr>
          <p:cNvSpPr>
            <a:spLocks xmlns:a="http://schemas.openxmlformats.org/drawingml/2006/main" noGrp="1"/>
          </p:cNvSpPr>
          <p:nvPr/>
        </p:nvSpPr>
        <p:spPr>
          <a:xfrm xmlns:a="http://schemas.openxmlformats.org/drawingml/2006/main">
            <a:off x="5905500" y="3762375"/>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Subagent 1</a:t>
            </a:r>
          </a:p>
        </p:txBody>
      </p:sp>
      <p:sp>
        <p:nvSpPr>
          <p:cNvPr id="30" name="성능 조사">
            <a:extLst xmlns:a="http://schemas.openxmlformats.org/drawingml/2006/main">
              <a:ext uri="{FF2B5EF4-FFF2-40B4-BE49-F238E27FC236}">
                <a16:creationId xmlns:a16="http://schemas.microsoft.com/office/drawing/2014/main" id="{11C4742C-29F1-4930-9919-CBAD76FA4DD7}"/>
              </a:ext>
            </a:extLst>
          </p:cNvPr>
          <p:cNvSpPr>
            <a:spLocks xmlns:a="http://schemas.openxmlformats.org/drawingml/2006/main" noGrp="1"/>
          </p:cNvSpPr>
          <p:nvPr/>
        </p:nvSpPr>
        <p:spPr>
          <a:xfrm xmlns:a="http://schemas.openxmlformats.org/drawingml/2006/main">
            <a:off x="5905500" y="4048125"/>
            <a:ext cx="1638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성능 조사</a:t>
            </a:r>
          </a:p>
        </p:txBody>
      </p:sp>
      <p:sp>
        <p:nvSpPr>
          <p:cNvPr id="31" name="소스·측정">
            <a:extLst xmlns:a="http://schemas.openxmlformats.org/drawingml/2006/main">
              <a:ext uri="{FF2B5EF4-FFF2-40B4-BE49-F238E27FC236}">
                <a16:creationId xmlns:a16="http://schemas.microsoft.com/office/drawing/2014/main" id="{925840A4-3156-4A09-B085-1CB0B518D2A7}"/>
              </a:ext>
            </a:extLst>
          </p:cNvPr>
          <p:cNvSpPr>
            <a:spLocks xmlns:a="http://schemas.openxmlformats.org/drawingml/2006/main" noGrp="1"/>
          </p:cNvSpPr>
          <p:nvPr/>
        </p:nvSpPr>
        <p:spPr>
          <a:xfrm xmlns:a="http://schemas.openxmlformats.org/drawingml/2006/main">
            <a:off x="5905500" y="4400550"/>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소스·측정</a:t>
            </a:r>
          </a:p>
        </p:txBody>
      </p:sp>
      <p:sp>
        <p:nvSpPr>
          <p:cNvPr id="32" name="">
            <a:extLst xmlns:a="http://schemas.openxmlformats.org/drawingml/2006/main">
              <a:ext uri="{FF2B5EF4-FFF2-40B4-BE49-F238E27FC236}">
                <a16:creationId xmlns:a16="http://schemas.microsoft.com/office/drawing/2014/main" id="{CBDDACCF-2099-4AA8-BD9E-AEC0ECFF258F}"/>
              </a:ext>
            </a:extLst>
          </p:cNvPr>
          <p:cNvSpPr>
            <a:spLocks xmlns:a="http://schemas.openxmlformats.org/drawingml/2006/main" noGrp="1"/>
          </p:cNvSpPr>
          <p:nvPr/>
        </p:nvSpPr>
        <p:spPr>
          <a:xfrm xmlns:a="http://schemas.openxmlformats.org/drawingml/2006/main">
            <a:off x="6724650" y="4724400"/>
            <a:ext cx="0" cy="142875"/>
          </a:xfrm>
          <a:prstGeom xmlns:a="http://schemas.openxmlformats.org/drawingml/2006/main" prst="line">
            <a:avLst/>
          </a:prstGeom>
          <a:noFill xmlns:a="http://schemas.openxmlformats.org/drawingml/2006/main"/>
          <a:ln xmlns:a="http://schemas.openxmlformats.org/drawingml/2006/main" w="23813">
            <a:solidFill>
              <a:srgbClr val="0B6172"/>
            </a:solidFill>
          </a:ln>
        </p:spPr>
      </p:sp>
      <p:cxnSp>
        <p:nvCxnSpPr>
          <p:cNvPr id="33" name="">
            <a:extLst xmlns:a="http://schemas.openxmlformats.org/drawingml/2006/main">
              <a:ext uri="{FF2B5EF4-FFF2-40B4-BE49-F238E27FC236}">
                <a16:creationId xmlns:a16="http://schemas.microsoft.com/office/drawing/2014/main" id="{F514997E-A934-4E7F-B834-5568F2826C99}"/>
              </a:ext>
            </a:extLst>
          </p:cNvPr>
          <p:cNvCxnSpPr/>
          <p:nvPr/>
        </p:nvCxnSpPr>
        <p:spPr>
          <a:xfrm xmlns:a="http://schemas.openxmlformats.org/drawingml/2006/main">
            <a:off x="8705850" y="353377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34" name="">
            <a:extLst xmlns:a="http://schemas.openxmlformats.org/drawingml/2006/main">
              <a:ext uri="{FF2B5EF4-FFF2-40B4-BE49-F238E27FC236}">
                <a16:creationId xmlns:a16="http://schemas.microsoft.com/office/drawing/2014/main" id="{0C3D8E2E-EE45-4474-B574-F47DA9E19F01}"/>
              </a:ext>
            </a:extLst>
          </p:cNvPr>
          <p:cNvSpPr>
            <a:spLocks xmlns:a="http://schemas.openxmlformats.org/drawingml/2006/main" noGrp="1"/>
          </p:cNvSpPr>
          <p:nvPr/>
        </p:nvSpPr>
        <p:spPr>
          <a:xfrm xmlns:a="http://schemas.openxmlformats.org/drawingml/2006/main">
            <a:off x="7810500" y="3695700"/>
            <a:ext cx="1790700" cy="1028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5" name="Subagent 2">
            <a:extLst xmlns:a="http://schemas.openxmlformats.org/drawingml/2006/main">
              <a:ext uri="{FF2B5EF4-FFF2-40B4-BE49-F238E27FC236}">
                <a16:creationId xmlns:a16="http://schemas.microsoft.com/office/drawing/2014/main" id="{4B8FDD96-B18E-46F2-8C9E-6114AB021774}"/>
              </a:ext>
            </a:extLst>
          </p:cNvPr>
          <p:cNvSpPr>
            <a:spLocks xmlns:a="http://schemas.openxmlformats.org/drawingml/2006/main" noGrp="1"/>
          </p:cNvSpPr>
          <p:nvPr/>
        </p:nvSpPr>
        <p:spPr>
          <a:xfrm xmlns:a="http://schemas.openxmlformats.org/drawingml/2006/main">
            <a:off x="7886700" y="3762375"/>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Subagent 2</a:t>
            </a:r>
          </a:p>
        </p:txBody>
      </p:sp>
      <p:sp>
        <p:nvSpPr>
          <p:cNvPr id="36" name="빌드 조사">
            <a:extLst xmlns:a="http://schemas.openxmlformats.org/drawingml/2006/main">
              <a:ext uri="{FF2B5EF4-FFF2-40B4-BE49-F238E27FC236}">
                <a16:creationId xmlns:a16="http://schemas.microsoft.com/office/drawing/2014/main" id="{A6A9A9D4-ADC3-43DC-890E-4B9AAAAC3BDE}"/>
              </a:ext>
            </a:extLst>
          </p:cNvPr>
          <p:cNvSpPr>
            <a:spLocks xmlns:a="http://schemas.openxmlformats.org/drawingml/2006/main" noGrp="1"/>
          </p:cNvSpPr>
          <p:nvPr/>
        </p:nvSpPr>
        <p:spPr>
          <a:xfrm xmlns:a="http://schemas.openxmlformats.org/drawingml/2006/main">
            <a:off x="7886700" y="4048125"/>
            <a:ext cx="1638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빌드 조사</a:t>
            </a:r>
          </a:p>
        </p:txBody>
      </p:sp>
      <p:sp>
        <p:nvSpPr>
          <p:cNvPr id="37" name="환경·설정">
            <a:extLst xmlns:a="http://schemas.openxmlformats.org/drawingml/2006/main">
              <a:ext uri="{FF2B5EF4-FFF2-40B4-BE49-F238E27FC236}">
                <a16:creationId xmlns:a16="http://schemas.microsoft.com/office/drawing/2014/main" id="{4C981081-9E68-489F-9481-2E51516D4185}"/>
              </a:ext>
            </a:extLst>
          </p:cNvPr>
          <p:cNvSpPr>
            <a:spLocks xmlns:a="http://schemas.openxmlformats.org/drawingml/2006/main" noGrp="1"/>
          </p:cNvSpPr>
          <p:nvPr/>
        </p:nvSpPr>
        <p:spPr>
          <a:xfrm xmlns:a="http://schemas.openxmlformats.org/drawingml/2006/main">
            <a:off x="7886700" y="4400550"/>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환경·설정</a:t>
            </a:r>
          </a:p>
        </p:txBody>
      </p:sp>
      <p:sp>
        <p:nvSpPr>
          <p:cNvPr id="38" name="">
            <a:extLst xmlns:a="http://schemas.openxmlformats.org/drawingml/2006/main">
              <a:ext uri="{FF2B5EF4-FFF2-40B4-BE49-F238E27FC236}">
                <a16:creationId xmlns:a16="http://schemas.microsoft.com/office/drawing/2014/main" id="{C16CBD02-065B-47D3-96FF-F375ABD7F835}"/>
              </a:ext>
            </a:extLst>
          </p:cNvPr>
          <p:cNvSpPr>
            <a:spLocks xmlns:a="http://schemas.openxmlformats.org/drawingml/2006/main" noGrp="1"/>
          </p:cNvSpPr>
          <p:nvPr/>
        </p:nvSpPr>
        <p:spPr>
          <a:xfrm xmlns:a="http://schemas.openxmlformats.org/drawingml/2006/main">
            <a:off x="8705850" y="4724400"/>
            <a:ext cx="0" cy="142875"/>
          </a:xfrm>
          <a:prstGeom xmlns:a="http://schemas.openxmlformats.org/drawingml/2006/main" prst="line">
            <a:avLst/>
          </a:prstGeom>
          <a:noFill xmlns:a="http://schemas.openxmlformats.org/drawingml/2006/main"/>
          <a:ln xmlns:a="http://schemas.openxmlformats.org/drawingml/2006/main" w="23813">
            <a:solidFill>
              <a:srgbClr val="0B6172"/>
            </a:solidFill>
          </a:ln>
        </p:spPr>
      </p:sp>
      <p:cxnSp>
        <p:nvCxnSpPr>
          <p:cNvPr id="39" name="">
            <a:extLst xmlns:a="http://schemas.openxmlformats.org/drawingml/2006/main">
              <a:ext uri="{FF2B5EF4-FFF2-40B4-BE49-F238E27FC236}">
                <a16:creationId xmlns:a16="http://schemas.microsoft.com/office/drawing/2014/main" id="{565D80F2-67F7-4A74-88BD-054E7AAA40A2}"/>
              </a:ext>
            </a:extLst>
          </p:cNvPr>
          <p:cNvCxnSpPr/>
          <p:nvPr/>
        </p:nvCxnSpPr>
        <p:spPr>
          <a:xfrm xmlns:a="http://schemas.openxmlformats.org/drawingml/2006/main">
            <a:off x="10687050" y="353377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40" name="">
            <a:extLst xmlns:a="http://schemas.openxmlformats.org/drawingml/2006/main">
              <a:ext uri="{FF2B5EF4-FFF2-40B4-BE49-F238E27FC236}">
                <a16:creationId xmlns:a16="http://schemas.microsoft.com/office/drawing/2014/main" id="{D9B5CC3F-4D92-4B5A-9266-DCFE61F76DCC}"/>
              </a:ext>
            </a:extLst>
          </p:cNvPr>
          <p:cNvSpPr>
            <a:spLocks xmlns:a="http://schemas.openxmlformats.org/drawingml/2006/main" noGrp="1"/>
          </p:cNvSpPr>
          <p:nvPr/>
        </p:nvSpPr>
        <p:spPr>
          <a:xfrm xmlns:a="http://schemas.openxmlformats.org/drawingml/2006/main">
            <a:off x="9791700" y="3695700"/>
            <a:ext cx="1790700" cy="1028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41" name="Subagent 3">
            <a:extLst xmlns:a="http://schemas.openxmlformats.org/drawingml/2006/main">
              <a:ext uri="{FF2B5EF4-FFF2-40B4-BE49-F238E27FC236}">
                <a16:creationId xmlns:a16="http://schemas.microsoft.com/office/drawing/2014/main" id="{E0414CEF-59DD-46A8-9373-39A54FC6EE5C}"/>
              </a:ext>
            </a:extLst>
          </p:cNvPr>
          <p:cNvSpPr>
            <a:spLocks xmlns:a="http://schemas.openxmlformats.org/drawingml/2006/main" noGrp="1"/>
          </p:cNvSpPr>
          <p:nvPr/>
        </p:nvSpPr>
        <p:spPr>
          <a:xfrm xmlns:a="http://schemas.openxmlformats.org/drawingml/2006/main">
            <a:off x="9867900" y="3762375"/>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Subagent 3</a:t>
            </a:r>
          </a:p>
        </p:txBody>
      </p:sp>
      <p:sp>
        <p:nvSpPr>
          <p:cNvPr id="42" name="테스트 조사">
            <a:extLst xmlns:a="http://schemas.openxmlformats.org/drawingml/2006/main">
              <a:ext uri="{FF2B5EF4-FFF2-40B4-BE49-F238E27FC236}">
                <a16:creationId xmlns:a16="http://schemas.microsoft.com/office/drawing/2014/main" id="{2347B283-9E5D-4F3A-840F-2BEF92FC2468}"/>
              </a:ext>
            </a:extLst>
          </p:cNvPr>
          <p:cNvSpPr>
            <a:spLocks xmlns:a="http://schemas.openxmlformats.org/drawingml/2006/main" noGrp="1"/>
          </p:cNvSpPr>
          <p:nvPr/>
        </p:nvSpPr>
        <p:spPr>
          <a:xfrm xmlns:a="http://schemas.openxmlformats.org/drawingml/2006/main">
            <a:off x="9867900" y="4048125"/>
            <a:ext cx="1638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테스트 조사</a:t>
            </a:r>
          </a:p>
        </p:txBody>
      </p:sp>
      <p:sp>
        <p:nvSpPr>
          <p:cNvPr id="43" name="테스트·명세">
            <a:extLst xmlns:a="http://schemas.openxmlformats.org/drawingml/2006/main">
              <a:ext uri="{FF2B5EF4-FFF2-40B4-BE49-F238E27FC236}">
                <a16:creationId xmlns:a16="http://schemas.microsoft.com/office/drawing/2014/main" id="{1ED43254-24D9-44A6-B14B-4DFEC01EF888}"/>
              </a:ext>
            </a:extLst>
          </p:cNvPr>
          <p:cNvSpPr>
            <a:spLocks xmlns:a="http://schemas.openxmlformats.org/drawingml/2006/main" noGrp="1"/>
          </p:cNvSpPr>
          <p:nvPr/>
        </p:nvSpPr>
        <p:spPr>
          <a:xfrm xmlns:a="http://schemas.openxmlformats.org/drawingml/2006/main">
            <a:off x="9867900" y="4400550"/>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테스트·명세</a:t>
            </a:r>
          </a:p>
        </p:txBody>
      </p:sp>
      <p:sp>
        <p:nvSpPr>
          <p:cNvPr id="44" name="">
            <a:extLst xmlns:a="http://schemas.openxmlformats.org/drawingml/2006/main">
              <a:ext uri="{FF2B5EF4-FFF2-40B4-BE49-F238E27FC236}">
                <a16:creationId xmlns:a16="http://schemas.microsoft.com/office/drawing/2014/main" id="{B6482509-EDFD-430B-A4B5-36DE52EDE575}"/>
              </a:ext>
            </a:extLst>
          </p:cNvPr>
          <p:cNvSpPr>
            <a:spLocks xmlns:a="http://schemas.openxmlformats.org/drawingml/2006/main" noGrp="1"/>
          </p:cNvSpPr>
          <p:nvPr/>
        </p:nvSpPr>
        <p:spPr>
          <a:xfrm xmlns:a="http://schemas.openxmlformats.org/drawingml/2006/main">
            <a:off x="10687050" y="4724400"/>
            <a:ext cx="0" cy="142875"/>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45" name="">
            <a:extLst xmlns:a="http://schemas.openxmlformats.org/drawingml/2006/main">
              <a:ext uri="{FF2B5EF4-FFF2-40B4-BE49-F238E27FC236}">
                <a16:creationId xmlns:a16="http://schemas.microsoft.com/office/drawing/2014/main" id="{7ADFAC75-0ACC-4AD9-9B69-824D04439821}"/>
              </a:ext>
            </a:extLst>
          </p:cNvPr>
          <p:cNvSpPr>
            <a:spLocks xmlns:a="http://schemas.openxmlformats.org/drawingml/2006/main" noGrp="1"/>
          </p:cNvSpPr>
          <p:nvPr/>
        </p:nvSpPr>
        <p:spPr>
          <a:xfrm xmlns:a="http://schemas.openxmlformats.org/drawingml/2006/main">
            <a:off x="6724650" y="4867275"/>
            <a:ext cx="39624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46" name="">
            <a:extLst xmlns:a="http://schemas.openxmlformats.org/drawingml/2006/main">
              <a:ext uri="{FF2B5EF4-FFF2-40B4-BE49-F238E27FC236}">
                <a16:creationId xmlns:a16="http://schemas.microsoft.com/office/drawing/2014/main" id="{23761B58-1709-4CF8-A0F3-B1F4DFCB41FB}"/>
              </a:ext>
            </a:extLst>
          </p:cNvPr>
          <p:cNvCxnSpPr/>
          <p:nvPr/>
        </p:nvCxnSpPr>
        <p:spPr>
          <a:xfrm xmlns:a="http://schemas.openxmlformats.org/drawingml/2006/main">
            <a:off x="8705850" y="4867275"/>
            <a:ext cx="0" cy="2000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47" name="">
            <a:extLst xmlns:a="http://schemas.openxmlformats.org/drawingml/2006/main">
              <a:ext uri="{FF2B5EF4-FFF2-40B4-BE49-F238E27FC236}">
                <a16:creationId xmlns:a16="http://schemas.microsoft.com/office/drawing/2014/main" id="{0A11DA5E-1268-4225-B17A-28D4B702F7CC}"/>
              </a:ext>
            </a:extLst>
          </p:cNvPr>
          <p:cNvSpPr>
            <a:spLocks xmlns:a="http://schemas.openxmlformats.org/drawingml/2006/main" noGrp="1"/>
          </p:cNvSpPr>
          <p:nvPr/>
        </p:nvSpPr>
        <p:spPr>
          <a:xfrm xmlns:a="http://schemas.openxmlformats.org/drawingml/2006/main">
            <a:off x="6324600" y="5067300"/>
            <a:ext cx="4762500" cy="4953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48" name="같은 주 Agent가 근거 확인·통합">
            <a:extLst xmlns:a="http://schemas.openxmlformats.org/drawingml/2006/main">
              <a:ext uri="{FF2B5EF4-FFF2-40B4-BE49-F238E27FC236}">
                <a16:creationId xmlns:a16="http://schemas.microsoft.com/office/drawing/2014/main" id="{176CFD78-B7F6-4034-BB9F-F287B3D66475}"/>
              </a:ext>
            </a:extLst>
          </p:cNvPr>
          <p:cNvSpPr>
            <a:spLocks xmlns:a="http://schemas.openxmlformats.org/drawingml/2006/main" noGrp="1"/>
          </p:cNvSpPr>
          <p:nvPr/>
        </p:nvSpPr>
        <p:spPr>
          <a:xfrm xmlns:a="http://schemas.openxmlformats.org/drawingml/2006/main">
            <a:off x="6477000" y="5143500"/>
            <a:ext cx="4457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0B6172"/>
                </a:solidFill>
                <a:latin typeface="Malgun Gothic"/>
                <a:ea typeface="Malgun Gothic"/>
                <a:cs typeface="Malgun Gothic"/>
              </a:defRPr>
            </a:defPPr>
            <a:lvl1pPr algn="ctr">
              <a:defRPr sz="2025" b="1">
                <a:solidFill>
                  <a:srgbClr val="0B6172"/>
                </a:solidFill>
                <a:latin typeface="Malgun Gothic"/>
                <a:ea typeface="Malgun Gothic"/>
                <a:cs typeface="Malgun Gothic"/>
              </a:defRPr>
            </a:lvl1pPr>
            <a:lvl2pPr algn="ctr">
              <a:defRPr sz="2025" b="1">
                <a:solidFill>
                  <a:srgbClr val="0B6172"/>
                </a:solidFill>
                <a:latin typeface="Malgun Gothic"/>
                <a:ea typeface="Malgun Gothic"/>
                <a:cs typeface="Malgun Gothic"/>
              </a:defRPr>
            </a:lvl2pPr>
            <a:lvl3pPr algn="ctr">
              <a:defRPr sz="2025" b="1">
                <a:solidFill>
                  <a:srgbClr val="0B6172"/>
                </a:solidFill>
                <a:latin typeface="Malgun Gothic"/>
                <a:ea typeface="Malgun Gothic"/>
                <a:cs typeface="Malgun Gothic"/>
              </a:defRPr>
            </a:lvl3pPr>
            <a:lvl4pPr algn="ctr">
              <a:defRPr sz="2025" b="1">
                <a:solidFill>
                  <a:srgbClr val="0B6172"/>
                </a:solidFill>
                <a:latin typeface="Malgun Gothic"/>
                <a:ea typeface="Malgun Gothic"/>
                <a:cs typeface="Malgun Gothic"/>
              </a:defRPr>
            </a:lvl4pPr>
            <a:lvl5pPr algn="ctr">
              <a:defRPr sz="2025" b="1">
                <a:solidFill>
                  <a:srgbClr val="0B6172"/>
                </a:solidFill>
                <a:latin typeface="Malgun Gothic"/>
                <a:ea typeface="Malgun Gothic"/>
                <a:cs typeface="Malgun Gothic"/>
              </a:defRPr>
            </a:lvl5pPr>
            <a:lvl6pPr algn="ctr">
              <a:defRPr sz="2025" b="1">
                <a:solidFill>
                  <a:srgbClr val="0B6172"/>
                </a:solidFill>
                <a:latin typeface="Malgun Gothic"/>
                <a:ea typeface="Malgun Gothic"/>
                <a:cs typeface="Malgun Gothic"/>
              </a:defRPr>
            </a:lvl6pPr>
            <a:lvl7pPr algn="ctr">
              <a:defRPr sz="2025" b="1">
                <a:solidFill>
                  <a:srgbClr val="0B6172"/>
                </a:solidFill>
                <a:latin typeface="Malgun Gothic"/>
                <a:ea typeface="Malgun Gothic"/>
                <a:cs typeface="Malgun Gothic"/>
              </a:defRPr>
            </a:lvl7pPr>
            <a:lvl8pPr algn="ctr">
              <a:defRPr sz="2025" b="1">
                <a:solidFill>
                  <a:srgbClr val="0B6172"/>
                </a:solidFill>
                <a:latin typeface="Malgun Gothic"/>
                <a:ea typeface="Malgun Gothic"/>
                <a:cs typeface="Malgun Gothic"/>
              </a:defRPr>
            </a:lvl8pPr>
            <a:lvl9pPr algn="ctr">
              <a:defRPr sz="2025" b="1">
                <a:solidFill>
                  <a:srgbClr val="0B6172"/>
                </a:solidFill>
                <a:latin typeface="Malgun Gothic"/>
                <a:ea typeface="Malgun Gothic"/>
                <a:cs typeface="Malgun Gothic"/>
              </a:defRPr>
            </a:lvl9pPr>
          </a:lstStyle>
          <a:p xmlns:a="http://schemas.openxmlformats.org/drawingml/2006/main">
            <a:pPr algn="ctr">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주 Agent가 근거 확인·통합</a:t>
            </a:r>
          </a:p>
        </p:txBody>
      </p:sp>
      <p:sp>
        <p:nvSpPr>
          <p:cNvPr id="49" name="Legacy module connection">
            <a:extLst xmlns:a="http://schemas.openxmlformats.org/drawingml/2006/main">
              <a:ext uri="{FF2B5EF4-FFF2-40B4-BE49-F238E27FC236}">
                <a16:creationId xmlns:a16="http://schemas.microsoft.com/office/drawing/2014/main" id="{56DD55C2-8543-46B9-B79A-3497AC55CB0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947830906"/>
      </p:ext>
    </p:extLst>
  </p:cSld>
</p:sld>
</file>

<file path=ppt/slides/slide1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3 · Codex에서 재사용할 조사 역할 정의">
            <a:extLst xmlns:a="http://schemas.openxmlformats.org/drawingml/2006/main">
              <a:ext uri="{FF2B5EF4-FFF2-40B4-BE49-F238E27FC236}">
                <a16:creationId xmlns:a16="http://schemas.microsoft.com/office/drawing/2014/main" id="{F2E7A20F-5F7D-48B5-B30E-F08913AC5A0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Codex에서 재사용할 조사 역할 정의</a:t>
            </a:r>
          </a:p>
        </p:txBody>
      </p:sp>
      <p:sp>
        <p:nvSpPr>
          <p:cNvPr id="2" name="S68">
            <a:extLst xmlns:a="http://schemas.openxmlformats.org/drawingml/2006/main">
              <a:ext uri="{FF2B5EF4-FFF2-40B4-BE49-F238E27FC236}">
                <a16:creationId xmlns:a16="http://schemas.microsoft.com/office/drawing/2014/main" id="{5389C4B9-4C5D-4B0E-BA1E-C3593C397B4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S68</a:t>
            </a:r>
          </a:p>
        </p:txBody>
      </p:sp>
      <p:sp>
        <p:nvSpPr>
          <p:cNvPr id="3" name="대화로 조사 Agent 만들기">
            <a:extLst xmlns:a="http://schemas.openxmlformats.org/drawingml/2006/main">
              <a:ext uri="{FF2B5EF4-FFF2-40B4-BE49-F238E27FC236}">
                <a16:creationId xmlns:a16="http://schemas.microsoft.com/office/drawing/2014/main" id="{23B5B50C-F4D6-4A07-887A-2065A39511A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대화로 조사 Agent 만들기</a:t>
            </a:r>
          </a:p>
        </p:txBody>
      </p:sp>
      <p:sp>
        <p:nvSpPr>
          <p:cNvPr id="4" name="">
            <a:extLst xmlns:a="http://schemas.openxmlformats.org/drawingml/2006/main">
              <a:ext uri="{FF2B5EF4-FFF2-40B4-BE49-F238E27FC236}">
                <a16:creationId xmlns:a16="http://schemas.microsoft.com/office/drawing/2014/main" id="{2AA00C8C-6138-4E92-82C6-531AB4294BF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OpenAI Subagents · 2026-10-25 확인 · Custom Agent 설정·사용 요청의 교육">
            <a:extLst xmlns:a="http://schemas.openxmlformats.org/drawingml/2006/main">
              <a:ext uri="{FF2B5EF4-FFF2-40B4-BE49-F238E27FC236}">
                <a16:creationId xmlns:a16="http://schemas.microsoft.com/office/drawing/2014/main" id="{DB353BF3-1904-4961-986C-BD095C918E3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OpenAI Subagents · 2026-10-25 확인 · Custom Agent 설정·사용 요청의 교육용 도식</a:t>
            </a:r>
          </a:p>
        </p:txBody>
      </p:sp>
      <p:sp>
        <p:nvSpPr>
          <p:cNvPr id="6" name="일회성 분담은 요청만으로 가능 · 반복 역할은 설정으로 재사용 · 실제 생성·실행 결과가 아니며 대상 환경에">
            <a:extLst xmlns:a="http://schemas.openxmlformats.org/drawingml/2006/main">
              <a:ext uri="{FF2B5EF4-FFF2-40B4-BE49-F238E27FC236}">
                <a16:creationId xmlns:a16="http://schemas.microsoft.com/office/drawing/2014/main" id="{83E7B629-A95D-42B8-A24E-1585CE413E7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일회성 분담은 요청만으로 가능 · 반복 역할은 설정으로 재사용 · 실제 생성·실행 결과가 아니며 대상 환경에서 확인</a:t>
            </a:r>
          </a:p>
        </p:txBody>
      </p:sp>
      <p:sp>
        <p:nvSpPr>
          <p:cNvPr id="7" name="01  역할을 설명해 생성 요청">
            <a:extLst xmlns:a="http://schemas.openxmlformats.org/drawingml/2006/main">
              <a:ext uri="{FF2B5EF4-FFF2-40B4-BE49-F238E27FC236}">
                <a16:creationId xmlns:a16="http://schemas.microsoft.com/office/drawing/2014/main" id="{206DACCE-72F3-4E30-9E00-E8C8D46A818F}"/>
              </a:ext>
            </a:extLst>
          </p:cNvPr>
          <p:cNvSpPr>
            <a:spLocks xmlns:a="http://schemas.openxmlformats.org/drawingml/2006/main" noGrp="1"/>
          </p:cNvSpPr>
          <p:nvPr/>
        </p:nvSpPr>
        <p:spPr>
          <a:xfrm xmlns:a="http://schemas.openxmlformats.org/drawingml/2006/main">
            <a:off x="609600" y="1771650"/>
            <a:ext cx="61341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01  역할을 설명해 생성 요청</a:t>
            </a:r>
          </a:p>
        </p:txBody>
      </p:sp>
      <p:sp>
        <p:nvSpPr>
          <p:cNvPr id="8" name="02  설정 파일 확인">
            <a:extLst xmlns:a="http://schemas.openxmlformats.org/drawingml/2006/main">
              <a:ext uri="{FF2B5EF4-FFF2-40B4-BE49-F238E27FC236}">
                <a16:creationId xmlns:a16="http://schemas.microsoft.com/office/drawing/2014/main" id="{4C5CCCC3-605A-4306-AA4E-C498A2A226B6}"/>
              </a:ext>
            </a:extLst>
          </p:cNvPr>
          <p:cNvSpPr>
            <a:spLocks xmlns:a="http://schemas.openxmlformats.org/drawingml/2006/main" noGrp="1"/>
          </p:cNvSpPr>
          <p:nvPr/>
        </p:nvSpPr>
        <p:spPr>
          <a:xfrm xmlns:a="http://schemas.openxmlformats.org/drawingml/2006/main">
            <a:off x="7772400" y="1771650"/>
            <a:ext cx="3810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02  설정 파일 확인</a:t>
            </a:r>
          </a:p>
        </p:txBody>
      </p:sp>
      <p:sp>
        <p:nvSpPr>
          <p:cNvPr id="9" name="">
            <a:extLst xmlns:a="http://schemas.openxmlformats.org/drawingml/2006/main">
              <a:ext uri="{FF2B5EF4-FFF2-40B4-BE49-F238E27FC236}">
                <a16:creationId xmlns:a16="http://schemas.microsoft.com/office/drawing/2014/main" id="{10DFA6D5-981D-4B68-886D-5ED6A504E8E2}"/>
              </a:ext>
            </a:extLst>
          </p:cNvPr>
          <p:cNvSpPr>
            <a:spLocks xmlns:a="http://schemas.openxmlformats.org/drawingml/2006/main" noGrp="1"/>
          </p:cNvSpPr>
          <p:nvPr/>
        </p:nvSpPr>
        <p:spPr>
          <a:xfrm xmlns:a="http://schemas.openxmlformats.org/drawingml/2006/main">
            <a:off x="609600" y="2324100"/>
            <a:ext cx="6134100" cy="23431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0" name="Codex · 요청 예시">
            <a:extLst xmlns:a="http://schemas.openxmlformats.org/drawingml/2006/main">
              <a:ext uri="{FF2B5EF4-FFF2-40B4-BE49-F238E27FC236}">
                <a16:creationId xmlns:a16="http://schemas.microsoft.com/office/drawing/2014/main" id="{81718B39-9B45-46C9-90D0-A64B06BE504C}"/>
              </a:ext>
            </a:extLst>
          </p:cNvPr>
          <p:cNvSpPr>
            <a:spLocks xmlns:a="http://schemas.openxmlformats.org/drawingml/2006/main" noGrp="1"/>
          </p:cNvSpPr>
          <p:nvPr/>
        </p:nvSpPr>
        <p:spPr>
          <a:xfrm xmlns:a="http://schemas.openxmlformats.org/drawingml/2006/main">
            <a:off x="819150" y="2409825"/>
            <a:ext cx="5715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Codex · 요청 예시</a:t>
            </a:r>
          </a:p>
        </p:txBody>
      </p:sp>
      <p:sp>
        <p:nvSpPr>
          <p:cNvPr id="11" name="">
            <a:extLst xmlns:a="http://schemas.openxmlformats.org/drawingml/2006/main">
              <a:ext uri="{FF2B5EF4-FFF2-40B4-BE49-F238E27FC236}">
                <a16:creationId xmlns:a16="http://schemas.microsoft.com/office/drawing/2014/main" id="{FEE5B3E2-DAD5-46CB-87CE-71D40066C123}"/>
              </a:ext>
            </a:extLst>
          </p:cNvPr>
          <p:cNvSpPr>
            <a:spLocks xmlns:a="http://schemas.openxmlformats.org/drawingml/2006/main" noGrp="1"/>
          </p:cNvSpPr>
          <p:nvPr/>
        </p:nvSpPr>
        <p:spPr>
          <a:xfrm xmlns:a="http://schemas.openxmlformats.org/drawingml/2006/main">
            <a:off x="800100" y="2790825"/>
            <a:ext cx="57531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이 저장소에 perf_reviewer Agent를 만들어줘.&#10;성능 조사 때 병목 후보를 찾고,&#10;파일·함수·근">
            <a:extLst xmlns:a="http://schemas.openxmlformats.org/drawingml/2006/main">
              <a:ext uri="{FF2B5EF4-FFF2-40B4-BE49-F238E27FC236}">
                <a16:creationId xmlns:a16="http://schemas.microsoft.com/office/drawing/2014/main" id="{0F8312A6-9EBB-4C39-9896-656D8F5D8372}"/>
              </a:ext>
            </a:extLst>
          </p:cNvPr>
          <p:cNvSpPr>
            <a:spLocks xmlns:a="http://schemas.openxmlformats.org/drawingml/2006/main" noGrp="1"/>
          </p:cNvSpPr>
          <p:nvPr/>
        </p:nvSpPr>
        <p:spPr>
          <a:xfrm xmlns:a="http://schemas.openxmlformats.org/drawingml/2006/main">
            <a:off x="819150" y="2981325"/>
            <a:ext cx="5715000" cy="1438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 저장소에 perf_reviewer Agent를 만들어줘.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성능 조사 때 병목 후보를 찾고,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파일·함수·근거·미확인을 보고하게 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코드 수정 없이 조사만 하도록 지침을 써줘.</a:t>
            </a:r>
          </a:p>
        </p:txBody>
      </p:sp>
      <p:cxnSp>
        <p:nvCxnSpPr>
          <p:cNvPr id="13" name="">
            <a:extLst xmlns:a="http://schemas.openxmlformats.org/drawingml/2006/main">
              <a:ext uri="{FF2B5EF4-FFF2-40B4-BE49-F238E27FC236}">
                <a16:creationId xmlns:a16="http://schemas.microsoft.com/office/drawing/2014/main" id="{C4ECAC95-3914-4590-8283-6A95536B2EC5}"/>
              </a:ext>
            </a:extLst>
          </p:cNvPr>
          <p:cNvCxnSpPr/>
          <p:nvPr/>
        </p:nvCxnSpPr>
        <p:spPr>
          <a:xfrm xmlns:a="http://schemas.openxmlformats.org/drawingml/2006/main">
            <a:off x="6896100" y="3486150"/>
            <a:ext cx="6858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4" name="">
            <a:extLst xmlns:a="http://schemas.openxmlformats.org/drawingml/2006/main">
              <a:ext uri="{FF2B5EF4-FFF2-40B4-BE49-F238E27FC236}">
                <a16:creationId xmlns:a16="http://schemas.microsoft.com/office/drawing/2014/main" id="{530A783F-C9EC-41D3-9985-44E50825BA77}"/>
              </a:ext>
            </a:extLst>
          </p:cNvPr>
          <p:cNvSpPr>
            <a:spLocks xmlns:a="http://schemas.openxmlformats.org/drawingml/2006/main" noGrp="1"/>
          </p:cNvSpPr>
          <p:nvPr/>
        </p:nvSpPr>
        <p:spPr>
          <a:xfrm xmlns:a="http://schemas.openxmlformats.org/drawingml/2006/main">
            <a:off x="7772400" y="2324100"/>
            <a:ext cx="3810000" cy="23431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5" name=".codex/agents/">
            <a:extLst xmlns:a="http://schemas.openxmlformats.org/drawingml/2006/main">
              <a:ext uri="{FF2B5EF4-FFF2-40B4-BE49-F238E27FC236}">
                <a16:creationId xmlns:a16="http://schemas.microsoft.com/office/drawing/2014/main" id="{1E0A46EE-1094-4EA2-B951-94EE50F6C73F}"/>
              </a:ext>
            </a:extLst>
          </p:cNvPr>
          <p:cNvSpPr>
            <a:spLocks xmlns:a="http://schemas.openxmlformats.org/drawingml/2006/main" noGrp="1"/>
          </p:cNvSpPr>
          <p:nvPr/>
        </p:nvSpPr>
        <p:spPr>
          <a:xfrm xmlns:a="http://schemas.openxmlformats.org/drawingml/2006/main">
            <a:off x="8001000" y="24574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Consolas"/>
                <a:ea typeface="Consolas"/>
                <a:cs typeface="Consolas"/>
              </a:defRPr>
            </a:defPPr>
            <a:lvl1pPr algn="l">
              <a:defRPr sz="1875" b="0">
                <a:solidFill>
                  <a:srgbClr val="4D5A68"/>
                </a:solidFill>
                <a:latin typeface="Consolas"/>
                <a:ea typeface="Consolas"/>
                <a:cs typeface="Consolas"/>
              </a:defRPr>
            </a:lvl1pPr>
            <a:lvl2pPr algn="l">
              <a:defRPr sz="1875" b="0">
                <a:solidFill>
                  <a:srgbClr val="4D5A68"/>
                </a:solidFill>
                <a:latin typeface="Consolas"/>
                <a:ea typeface="Consolas"/>
                <a:cs typeface="Consolas"/>
              </a:defRPr>
            </a:lvl2pPr>
            <a:lvl3pPr algn="l">
              <a:defRPr sz="1875" b="0">
                <a:solidFill>
                  <a:srgbClr val="4D5A68"/>
                </a:solidFill>
                <a:latin typeface="Consolas"/>
                <a:ea typeface="Consolas"/>
                <a:cs typeface="Consolas"/>
              </a:defRPr>
            </a:lvl3pPr>
            <a:lvl4pPr algn="l">
              <a:defRPr sz="1875" b="0">
                <a:solidFill>
                  <a:srgbClr val="4D5A68"/>
                </a:solidFill>
                <a:latin typeface="Consolas"/>
                <a:ea typeface="Consolas"/>
                <a:cs typeface="Consolas"/>
              </a:defRPr>
            </a:lvl4pPr>
            <a:lvl5pPr algn="l">
              <a:defRPr sz="1875" b="0">
                <a:solidFill>
                  <a:srgbClr val="4D5A68"/>
                </a:solidFill>
                <a:latin typeface="Consolas"/>
                <a:ea typeface="Consolas"/>
                <a:cs typeface="Consolas"/>
              </a:defRPr>
            </a:lvl5pPr>
            <a:lvl6pPr algn="l">
              <a:defRPr sz="1875" b="0">
                <a:solidFill>
                  <a:srgbClr val="4D5A68"/>
                </a:solidFill>
                <a:latin typeface="Consolas"/>
                <a:ea typeface="Consolas"/>
                <a:cs typeface="Consolas"/>
              </a:defRPr>
            </a:lvl6pPr>
            <a:lvl7pPr algn="l">
              <a:defRPr sz="1875" b="0">
                <a:solidFill>
                  <a:srgbClr val="4D5A68"/>
                </a:solidFill>
                <a:latin typeface="Consolas"/>
                <a:ea typeface="Consolas"/>
                <a:cs typeface="Consolas"/>
              </a:defRPr>
            </a:lvl7pPr>
            <a:lvl8pPr algn="l">
              <a:defRPr sz="1875" b="0">
                <a:solidFill>
                  <a:srgbClr val="4D5A68"/>
                </a:solidFill>
                <a:latin typeface="Consolas"/>
                <a:ea typeface="Consolas"/>
                <a:cs typeface="Consolas"/>
              </a:defRPr>
            </a:lvl8pPr>
            <a:lvl9pPr algn="l">
              <a:defRPr sz="1875" b="0">
                <a:solidFill>
                  <a:srgbClr val="4D5A68"/>
                </a:solidFill>
                <a:latin typeface="Consolas"/>
                <a:ea typeface="Consolas"/>
                <a:cs typeface="Consolas"/>
              </a:defRPr>
            </a:lvl9pPr>
          </a:lstStyle>
          <a:p xmlns:a="http://schemas.openxmlformats.org/drawingml/2006/main">
            <a:pPr algn="l">
              <a:defRPr sz="1875" b="0">
                <a:solidFill>
                  <a:srgbClr val="4D5A68"/>
                </a:solidFill>
                <a:latin typeface="Consolas"/>
                <a:ea typeface="Consolas"/>
                <a:cs typeface="Consolas"/>
              </a:defRPr>
            </a:pPr>
            <a:r>
              <a:rPr sz="1875" b="0">
                <a:solidFill>
                  <a:srgbClr val="4D5A68"/>
                </a:solidFill>
                <a:latin typeface="Consolas"/>
                <a:ea typeface="Consolas"/>
                <a:cs typeface="Consolas"/>
              </a:rPr>
              <a:t>.codex/agents/</a:t>
            </a:r>
          </a:p>
        </p:txBody>
      </p:sp>
      <p:sp>
        <p:nvSpPr>
          <p:cNvPr id="16" name="perf_reviewer.toml">
            <a:extLst xmlns:a="http://schemas.openxmlformats.org/drawingml/2006/main">
              <a:ext uri="{FF2B5EF4-FFF2-40B4-BE49-F238E27FC236}">
                <a16:creationId xmlns:a16="http://schemas.microsoft.com/office/drawing/2014/main" id="{1F5EFC40-5309-4EA9-B2BF-BF8B4AD40057}"/>
              </a:ext>
            </a:extLst>
          </p:cNvPr>
          <p:cNvSpPr>
            <a:spLocks xmlns:a="http://schemas.openxmlformats.org/drawingml/2006/main" noGrp="1"/>
          </p:cNvSpPr>
          <p:nvPr/>
        </p:nvSpPr>
        <p:spPr>
          <a:xfrm xmlns:a="http://schemas.openxmlformats.org/drawingml/2006/main">
            <a:off x="8001000" y="2876550"/>
            <a:ext cx="335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perf_reviewer.toml</a:t>
            </a:r>
          </a:p>
        </p:txBody>
      </p:sp>
      <p:sp>
        <p:nvSpPr>
          <p:cNvPr id="17" name="이름 · perf_reviewer">
            <a:extLst xmlns:a="http://schemas.openxmlformats.org/drawingml/2006/main">
              <a:ext uri="{FF2B5EF4-FFF2-40B4-BE49-F238E27FC236}">
                <a16:creationId xmlns:a16="http://schemas.microsoft.com/office/drawing/2014/main" id="{F89CBF0E-CB98-4F9E-951D-C8C9393CEC44}"/>
              </a:ext>
            </a:extLst>
          </p:cNvPr>
          <p:cNvSpPr>
            <a:spLocks xmlns:a="http://schemas.openxmlformats.org/drawingml/2006/main" noGrp="1"/>
          </p:cNvSpPr>
          <p:nvPr/>
        </p:nvSpPr>
        <p:spPr>
          <a:xfrm xmlns:a="http://schemas.openxmlformats.org/drawingml/2006/main">
            <a:off x="8001000" y="34099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이름 · perf_reviewer</a:t>
            </a:r>
          </a:p>
        </p:txBody>
      </p:sp>
      <p:sp>
        <p:nvSpPr>
          <p:cNvPr id="18" name="사용 조건 · 성능 조사">
            <a:extLst xmlns:a="http://schemas.openxmlformats.org/drawingml/2006/main">
              <a:ext uri="{FF2B5EF4-FFF2-40B4-BE49-F238E27FC236}">
                <a16:creationId xmlns:a16="http://schemas.microsoft.com/office/drawing/2014/main" id="{588E61F9-FA68-4E1C-A00A-AB14062E07BA}"/>
              </a:ext>
            </a:extLst>
          </p:cNvPr>
          <p:cNvSpPr>
            <a:spLocks xmlns:a="http://schemas.openxmlformats.org/drawingml/2006/main" noGrp="1"/>
          </p:cNvSpPr>
          <p:nvPr/>
        </p:nvSpPr>
        <p:spPr>
          <a:xfrm xmlns:a="http://schemas.openxmlformats.org/drawingml/2006/main">
            <a:off x="8001000" y="3781425"/>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사용 조건 · 성능 조사</a:t>
            </a:r>
          </a:p>
        </p:txBody>
      </p:sp>
      <p:sp>
        <p:nvSpPr>
          <p:cNvPr id="19" name="지침 · 근거를 찾아 보고">
            <a:extLst xmlns:a="http://schemas.openxmlformats.org/drawingml/2006/main">
              <a:ext uri="{FF2B5EF4-FFF2-40B4-BE49-F238E27FC236}">
                <a16:creationId xmlns:a16="http://schemas.microsoft.com/office/drawing/2014/main" id="{D85861B2-1E16-4908-BADA-AFCA33D4EA5A}"/>
              </a:ext>
            </a:extLst>
          </p:cNvPr>
          <p:cNvSpPr>
            <a:spLocks xmlns:a="http://schemas.openxmlformats.org/drawingml/2006/main" noGrp="1"/>
          </p:cNvSpPr>
          <p:nvPr/>
        </p:nvSpPr>
        <p:spPr>
          <a:xfrm xmlns:a="http://schemas.openxmlformats.org/drawingml/2006/main">
            <a:off x="8001000" y="41529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지침 · 근거를 찾아 보고</a:t>
            </a:r>
          </a:p>
        </p:txBody>
      </p:sp>
      <p:sp>
        <p:nvSpPr>
          <p:cNvPr id="20" name="">
            <a:extLst xmlns:a="http://schemas.openxmlformats.org/drawingml/2006/main">
              <a:ext uri="{FF2B5EF4-FFF2-40B4-BE49-F238E27FC236}">
                <a16:creationId xmlns:a16="http://schemas.microsoft.com/office/drawing/2014/main" id="{1F2B7BB4-7E68-4EAD-ACF3-CF0869E0C56B}"/>
              </a:ext>
            </a:extLst>
          </p:cNvPr>
          <p:cNvSpPr>
            <a:spLocks xmlns:a="http://schemas.openxmlformats.org/drawingml/2006/main" noGrp="1"/>
          </p:cNvSpPr>
          <p:nvPr/>
        </p:nvSpPr>
        <p:spPr>
          <a:xfrm xmlns:a="http://schemas.openxmlformats.org/drawingml/2006/main">
            <a:off x="609600" y="5010150"/>
            <a:ext cx="10972800" cy="7239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1" name="03  사용 요청">
            <a:extLst xmlns:a="http://schemas.openxmlformats.org/drawingml/2006/main">
              <a:ext uri="{FF2B5EF4-FFF2-40B4-BE49-F238E27FC236}">
                <a16:creationId xmlns:a16="http://schemas.microsoft.com/office/drawing/2014/main" id="{F7042052-45F0-4988-8DEC-135A28E85A2D}"/>
              </a:ext>
            </a:extLst>
          </p:cNvPr>
          <p:cNvSpPr>
            <a:spLocks xmlns:a="http://schemas.openxmlformats.org/drawingml/2006/main" noGrp="1"/>
          </p:cNvSpPr>
          <p:nvPr/>
        </p:nvSpPr>
        <p:spPr>
          <a:xfrm xmlns:a="http://schemas.openxmlformats.org/drawingml/2006/main">
            <a:off x="781050" y="5105400"/>
            <a:ext cx="200025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03  사용 요청</a:t>
            </a:r>
          </a:p>
        </p:txBody>
      </p:sp>
      <p:sp>
        <p:nvSpPr>
          <p:cNvPr id="22" name="perf_reviewer Subagent로 성능을 조사하고,&#10;결과를 기다린 뒤 근거를 확인해 종합해줘.">
            <a:extLst xmlns:a="http://schemas.openxmlformats.org/drawingml/2006/main">
              <a:ext uri="{FF2B5EF4-FFF2-40B4-BE49-F238E27FC236}">
                <a16:creationId xmlns:a16="http://schemas.microsoft.com/office/drawing/2014/main" id="{E7482810-6CBE-499C-85D3-D9561B20BAB4}"/>
              </a:ext>
            </a:extLst>
          </p:cNvPr>
          <p:cNvSpPr>
            <a:spLocks xmlns:a="http://schemas.openxmlformats.org/drawingml/2006/main" noGrp="1"/>
          </p:cNvSpPr>
          <p:nvPr/>
        </p:nvSpPr>
        <p:spPr>
          <a:xfrm xmlns:a="http://schemas.openxmlformats.org/drawingml/2006/main">
            <a:off x="2971800" y="5095875"/>
            <a:ext cx="83820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perf_reviewer Subagent로 성능을 조사하고,</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결과를 기다린 뒤 근거를 확인해 종합해줘.</a:t>
            </a:r>
          </a:p>
        </p:txBody>
      </p:sp>
      <p:sp>
        <p:nvSpPr>
          <p:cNvPr id="23" name="">
            <a:extLst xmlns:a="http://schemas.openxmlformats.org/drawingml/2006/main">
              <a:ext uri="{FF2B5EF4-FFF2-40B4-BE49-F238E27FC236}">
                <a16:creationId xmlns:a16="http://schemas.microsoft.com/office/drawing/2014/main" id="{A77FDE7C-A4F3-45A3-B842-0A7765ABDFAE}"/>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4" name="Practical application tip badge">
            <a:extLst xmlns:a="http://schemas.openxmlformats.org/drawingml/2006/main">
              <a:ext uri="{FF2B5EF4-FFF2-40B4-BE49-F238E27FC236}">
                <a16:creationId xmlns:a16="http://schemas.microsoft.com/office/drawing/2014/main" id="{8DC4706B-3E66-434F-A6B6-0E1505F4B6A4}"/>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수행 방법</a:t>
            </a:r>
          </a:p>
        </p:txBody>
      </p:sp>
      <p:sp>
        <p:nvSpPr>
          <p:cNvPr id="25" name="Legacy module connection">
            <a:extLst xmlns:a="http://schemas.openxmlformats.org/drawingml/2006/main">
              <a:ext uri="{FF2B5EF4-FFF2-40B4-BE49-F238E27FC236}">
                <a16:creationId xmlns:a16="http://schemas.microsoft.com/office/drawing/2014/main" id="{22C34F39-EDBA-4BFD-B1B5-AF435C4B6B3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873159939"/>
      </p:ext>
    </p:extLst>
  </p:cSld>
</p:sld>
</file>

<file path=ppt/slides/slide1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실제 밝기 통계 작업의 역할 판단">
            <a:extLst xmlns:a="http://schemas.openxmlformats.org/drawingml/2006/main">
              <a:ext uri="{FF2B5EF4-FFF2-40B4-BE49-F238E27FC236}">
                <a16:creationId xmlns:a16="http://schemas.microsoft.com/office/drawing/2014/main" id="{1CACA205-7FAA-4ABC-B945-8FB8A201AD7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실제 밝기 통계 작업의 역할 판단</a:t>
            </a:r>
          </a:p>
        </p:txBody>
      </p:sp>
      <p:sp>
        <p:nvSpPr>
          <p:cNvPr id="2" name="S69">
            <a:extLst xmlns:a="http://schemas.openxmlformats.org/drawingml/2006/main">
              <a:ext uri="{FF2B5EF4-FFF2-40B4-BE49-F238E27FC236}">
                <a16:creationId xmlns:a16="http://schemas.microsoft.com/office/drawing/2014/main" id="{3B490AEF-CD34-4C64-9B93-C2CEF56A568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S69</a:t>
            </a:r>
          </a:p>
        </p:txBody>
      </p:sp>
      <p:sp>
        <p:nvSpPr>
          <p:cNvPr id="3" name="밝기 통계 작업을 나누지 않은 이유">
            <a:extLst xmlns:a="http://schemas.openxmlformats.org/drawingml/2006/main">
              <a:ext uri="{FF2B5EF4-FFF2-40B4-BE49-F238E27FC236}">
                <a16:creationId xmlns:a16="http://schemas.microsoft.com/office/drawing/2014/main" id="{6A317DBA-AE95-4DC5-866F-04D7B88C641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밝기 통계 작업을 나누지 않은 이유</a:t>
            </a:r>
          </a:p>
        </p:txBody>
      </p:sp>
      <p:sp>
        <p:nvSpPr>
          <p:cNvPr id="4" name="">
            <a:extLst xmlns:a="http://schemas.openxmlformats.org/drawingml/2006/main">
              <a:ext uri="{FF2B5EF4-FFF2-40B4-BE49-F238E27FC236}">
                <a16:creationId xmlns:a16="http://schemas.microsoft.com/office/drawing/2014/main" id="{0069D246-EAA8-47C4-980F-783B8725959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18 · 실제 작업의 판단을 재구성 · Subagent 실행 없음">
            <a:extLst xmlns:a="http://schemas.openxmlformats.org/drawingml/2006/main">
              <a:ext uri="{FF2B5EF4-FFF2-40B4-BE49-F238E27FC236}">
                <a16:creationId xmlns:a16="http://schemas.microsoft.com/office/drawing/2014/main" id="{CA29BC76-5B87-4167-9070-9642D810719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DEC-0018 · 실제 작업의 판단을 재구성 · Subagent 실행 없음</a:t>
            </a:r>
          </a:p>
        </p:txBody>
      </p:sp>
      <p:sp>
        <p:nvSpPr>
          <p:cNvPr id="6" name="이 작업의 판단 · 역할 분리의 시간·품질 이득은 비교 실험하지 않음">
            <a:extLst xmlns:a="http://schemas.openxmlformats.org/drawingml/2006/main">
              <a:ext uri="{FF2B5EF4-FFF2-40B4-BE49-F238E27FC236}">
                <a16:creationId xmlns:a16="http://schemas.microsoft.com/office/drawing/2014/main" id="{15E68ECF-2577-4D0C-ABE9-177D4BBB1EC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이 작업의 판단 · 역할 분리의 시간·품질 이득은 비교 실험하지 않음</a:t>
            </a:r>
          </a:p>
        </p:txBody>
      </p:sp>
      <p:sp>
        <p:nvSpPr>
          <p:cNvPr id="7" name="같은 밝기 통계 함수 · 같은 출력 명세">
            <a:extLst xmlns:a="http://schemas.openxmlformats.org/drawingml/2006/main">
              <a:ext uri="{FF2B5EF4-FFF2-40B4-BE49-F238E27FC236}">
                <a16:creationId xmlns:a16="http://schemas.microsoft.com/office/drawing/2014/main" id="{712F2F0C-21DB-4D21-9F19-D453572FD04B}"/>
              </a:ext>
            </a:extLst>
          </p:cNvPr>
          <p:cNvSpPr>
            <a:spLocks xmlns:a="http://schemas.openxmlformats.org/drawingml/2006/main" noGrp="1"/>
          </p:cNvSpPr>
          <p:nvPr/>
        </p:nvSpPr>
        <p:spPr>
          <a:xfrm xmlns:a="http://schemas.openxmlformats.org/drawingml/2006/main">
            <a:off x="609600" y="17526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같은 밝기 통계 함수 · 같은 출력 명세</a:t>
            </a:r>
          </a:p>
        </p:txBody>
      </p:sp>
      <p:sp>
        <p:nvSpPr>
          <p:cNvPr id="8" name="조사">
            <a:extLst xmlns:a="http://schemas.openxmlformats.org/drawingml/2006/main">
              <a:ext uri="{FF2B5EF4-FFF2-40B4-BE49-F238E27FC236}">
                <a16:creationId xmlns:a16="http://schemas.microsoft.com/office/drawing/2014/main" id="{529840FE-3DD1-486F-8474-C28BB7338E62}"/>
              </a:ext>
            </a:extLst>
          </p:cNvPr>
          <p:cNvSpPr>
            <a:spLocks xmlns:a="http://schemas.openxmlformats.org/drawingml/2006/main" noGrp="1"/>
          </p:cNvSpPr>
          <p:nvPr/>
        </p:nvSpPr>
        <p:spPr>
          <a:xfrm xmlns:a="http://schemas.openxmlformats.org/drawingml/2006/main">
            <a:off x="609600" y="25241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조사</a:t>
            </a:r>
          </a:p>
        </p:txBody>
      </p:sp>
      <p:sp>
        <p:nvSpPr>
          <p:cNvPr id="9" name="">
            <a:extLst xmlns:a="http://schemas.openxmlformats.org/drawingml/2006/main">
              <a:ext uri="{FF2B5EF4-FFF2-40B4-BE49-F238E27FC236}">
                <a16:creationId xmlns:a16="http://schemas.microsoft.com/office/drawing/2014/main" id="{5B39987A-A314-4F7C-A1C1-1117F99CE614}"/>
              </a:ext>
            </a:extLst>
          </p:cNvPr>
          <p:cNvSpPr>
            <a:spLocks xmlns:a="http://schemas.openxmlformats.org/drawingml/2006/main" noGrp="1"/>
          </p:cNvSpPr>
          <p:nvPr/>
        </p:nvSpPr>
        <p:spPr>
          <a:xfrm xmlns:a="http://schemas.openxmlformats.org/drawingml/2006/main">
            <a:off x="609600" y="2990850"/>
            <a:ext cx="28194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0" name="기존 계산·명세&#10;변경 후보 확인">
            <a:extLst xmlns:a="http://schemas.openxmlformats.org/drawingml/2006/main">
              <a:ext uri="{FF2B5EF4-FFF2-40B4-BE49-F238E27FC236}">
                <a16:creationId xmlns:a16="http://schemas.microsoft.com/office/drawing/2014/main" id="{719A5B1D-3067-4808-862D-477C4C4F541A}"/>
              </a:ext>
            </a:extLst>
          </p:cNvPr>
          <p:cNvSpPr>
            <a:spLocks xmlns:a="http://schemas.openxmlformats.org/drawingml/2006/main" noGrp="1"/>
          </p:cNvSpPr>
          <p:nvPr/>
        </p:nvSpPr>
        <p:spPr>
          <a:xfrm xmlns:a="http://schemas.openxmlformats.org/drawingml/2006/main">
            <a:off x="609600" y="3209925"/>
            <a:ext cx="281940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기존 계산·명세</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변경 후보 확인</a:t>
            </a:r>
          </a:p>
        </p:txBody>
      </p:sp>
      <p:sp>
        <p:nvSpPr>
          <p:cNvPr id="11" name="변경">
            <a:extLst xmlns:a="http://schemas.openxmlformats.org/drawingml/2006/main">
              <a:ext uri="{FF2B5EF4-FFF2-40B4-BE49-F238E27FC236}">
                <a16:creationId xmlns:a16="http://schemas.microsoft.com/office/drawing/2014/main" id="{B3C2EBC6-EEED-4615-AF89-3BBC58EB4F35}"/>
              </a:ext>
            </a:extLst>
          </p:cNvPr>
          <p:cNvSpPr>
            <a:spLocks xmlns:a="http://schemas.openxmlformats.org/drawingml/2006/main" noGrp="1"/>
          </p:cNvSpPr>
          <p:nvPr/>
        </p:nvSpPr>
        <p:spPr>
          <a:xfrm xmlns:a="http://schemas.openxmlformats.org/drawingml/2006/main">
            <a:off x="4686300" y="25241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변경</a:t>
            </a:r>
          </a:p>
        </p:txBody>
      </p:sp>
      <p:sp>
        <p:nvSpPr>
          <p:cNvPr id="12" name="">
            <a:extLst xmlns:a="http://schemas.openxmlformats.org/drawingml/2006/main">
              <a:ext uri="{FF2B5EF4-FFF2-40B4-BE49-F238E27FC236}">
                <a16:creationId xmlns:a16="http://schemas.microsoft.com/office/drawing/2014/main" id="{3666282A-1903-4CAC-9233-DD003544474C}"/>
              </a:ext>
            </a:extLst>
          </p:cNvPr>
          <p:cNvSpPr>
            <a:spLocks xmlns:a="http://schemas.openxmlformats.org/drawingml/2006/main" noGrp="1"/>
          </p:cNvSpPr>
          <p:nvPr/>
        </p:nvSpPr>
        <p:spPr>
          <a:xfrm xmlns:a="http://schemas.openxmlformats.org/drawingml/2006/main">
            <a:off x="4686300" y="2990850"/>
            <a:ext cx="28194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3" name="선택한 후보로&#10;계산 코드 변경">
            <a:extLst xmlns:a="http://schemas.openxmlformats.org/drawingml/2006/main">
              <a:ext uri="{FF2B5EF4-FFF2-40B4-BE49-F238E27FC236}">
                <a16:creationId xmlns:a16="http://schemas.microsoft.com/office/drawing/2014/main" id="{7A117C12-0303-4079-BB9D-FE041B6DF86C}"/>
              </a:ext>
            </a:extLst>
          </p:cNvPr>
          <p:cNvSpPr>
            <a:spLocks xmlns:a="http://schemas.openxmlformats.org/drawingml/2006/main" noGrp="1"/>
          </p:cNvSpPr>
          <p:nvPr/>
        </p:nvSpPr>
        <p:spPr>
          <a:xfrm xmlns:a="http://schemas.openxmlformats.org/drawingml/2006/main">
            <a:off x="4686300" y="3209925"/>
            <a:ext cx="281940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선택한 후보로</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계산 코드 변경</a:t>
            </a:r>
          </a:p>
        </p:txBody>
      </p:sp>
      <p:sp>
        <p:nvSpPr>
          <p:cNvPr id="14" name="검증">
            <a:extLst xmlns:a="http://schemas.openxmlformats.org/drawingml/2006/main">
              <a:ext uri="{FF2B5EF4-FFF2-40B4-BE49-F238E27FC236}">
                <a16:creationId xmlns:a16="http://schemas.microsoft.com/office/drawing/2014/main" id="{0F2640B8-0C28-48B9-B502-85B6BD51DF72}"/>
              </a:ext>
            </a:extLst>
          </p:cNvPr>
          <p:cNvSpPr>
            <a:spLocks xmlns:a="http://schemas.openxmlformats.org/drawingml/2006/main" noGrp="1"/>
          </p:cNvSpPr>
          <p:nvPr/>
        </p:nvSpPr>
        <p:spPr>
          <a:xfrm xmlns:a="http://schemas.openxmlformats.org/drawingml/2006/main">
            <a:off x="8763000" y="25241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검증</a:t>
            </a:r>
          </a:p>
        </p:txBody>
      </p:sp>
      <p:sp>
        <p:nvSpPr>
          <p:cNvPr id="15" name="">
            <a:extLst xmlns:a="http://schemas.openxmlformats.org/drawingml/2006/main">
              <a:ext uri="{FF2B5EF4-FFF2-40B4-BE49-F238E27FC236}">
                <a16:creationId xmlns:a16="http://schemas.microsoft.com/office/drawing/2014/main" id="{E67B2E5D-EB6A-41AA-9815-89C4E3937D41}"/>
              </a:ext>
            </a:extLst>
          </p:cNvPr>
          <p:cNvSpPr>
            <a:spLocks xmlns:a="http://schemas.openxmlformats.org/drawingml/2006/main" noGrp="1"/>
          </p:cNvSpPr>
          <p:nvPr/>
        </p:nvSpPr>
        <p:spPr>
          <a:xfrm xmlns:a="http://schemas.openxmlformats.org/drawingml/2006/main">
            <a:off x="8763000" y="2990850"/>
            <a:ext cx="28194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6" name="출력·테스트 확인&#10;시간·할당량 측정">
            <a:extLst xmlns:a="http://schemas.openxmlformats.org/drawingml/2006/main">
              <a:ext uri="{FF2B5EF4-FFF2-40B4-BE49-F238E27FC236}">
                <a16:creationId xmlns:a16="http://schemas.microsoft.com/office/drawing/2014/main" id="{6282BE30-DDCD-4EC9-B865-DCB1EEB070C4}"/>
              </a:ext>
            </a:extLst>
          </p:cNvPr>
          <p:cNvSpPr>
            <a:spLocks xmlns:a="http://schemas.openxmlformats.org/drawingml/2006/main" noGrp="1"/>
          </p:cNvSpPr>
          <p:nvPr/>
        </p:nvSpPr>
        <p:spPr>
          <a:xfrm xmlns:a="http://schemas.openxmlformats.org/drawingml/2006/main">
            <a:off x="8763000" y="3209925"/>
            <a:ext cx="281940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출력·테스트 확인</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시간·할당량 측정</a:t>
            </a:r>
          </a:p>
        </p:txBody>
      </p:sp>
      <p:sp>
        <p:nvSpPr>
          <p:cNvPr id="17" name="조사 결과">
            <a:extLst xmlns:a="http://schemas.openxmlformats.org/drawingml/2006/main">
              <a:ext uri="{FF2B5EF4-FFF2-40B4-BE49-F238E27FC236}">
                <a16:creationId xmlns:a16="http://schemas.microsoft.com/office/drawing/2014/main" id="{C5ADA981-8871-4569-B34E-E2B6510F7FD9}"/>
              </a:ext>
            </a:extLst>
          </p:cNvPr>
          <p:cNvSpPr>
            <a:spLocks xmlns:a="http://schemas.openxmlformats.org/drawingml/2006/main" noGrp="1"/>
          </p:cNvSpPr>
          <p:nvPr/>
        </p:nvSpPr>
        <p:spPr>
          <a:xfrm xmlns:a="http://schemas.openxmlformats.org/drawingml/2006/main">
            <a:off x="3581400" y="3067050"/>
            <a:ext cx="990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Malgun Gothic"/>
                <a:ea typeface="Malgun Gothic"/>
                <a:cs typeface="Malgun Gothic"/>
              </a:defRPr>
            </a:defPPr>
            <a:lvl1pPr algn="ctr">
              <a:defRPr sz="1725" b="0">
                <a:solidFill>
                  <a:srgbClr val="4D5A68"/>
                </a:solidFill>
                <a:latin typeface="Malgun Gothic"/>
                <a:ea typeface="Malgun Gothic"/>
                <a:cs typeface="Malgun Gothic"/>
              </a:defRPr>
            </a:lvl1pPr>
            <a:lvl2pPr algn="ctr">
              <a:defRPr sz="1725" b="0">
                <a:solidFill>
                  <a:srgbClr val="4D5A68"/>
                </a:solidFill>
                <a:latin typeface="Malgun Gothic"/>
                <a:ea typeface="Malgun Gothic"/>
                <a:cs typeface="Malgun Gothic"/>
              </a:defRPr>
            </a:lvl2pPr>
            <a:lvl3pPr algn="ctr">
              <a:defRPr sz="1725" b="0">
                <a:solidFill>
                  <a:srgbClr val="4D5A68"/>
                </a:solidFill>
                <a:latin typeface="Malgun Gothic"/>
                <a:ea typeface="Malgun Gothic"/>
                <a:cs typeface="Malgun Gothic"/>
              </a:defRPr>
            </a:lvl3pPr>
            <a:lvl4pPr algn="ctr">
              <a:defRPr sz="1725" b="0">
                <a:solidFill>
                  <a:srgbClr val="4D5A68"/>
                </a:solidFill>
                <a:latin typeface="Malgun Gothic"/>
                <a:ea typeface="Malgun Gothic"/>
                <a:cs typeface="Malgun Gothic"/>
              </a:defRPr>
            </a:lvl4pPr>
            <a:lvl5pPr algn="ctr">
              <a:defRPr sz="1725" b="0">
                <a:solidFill>
                  <a:srgbClr val="4D5A68"/>
                </a:solidFill>
                <a:latin typeface="Malgun Gothic"/>
                <a:ea typeface="Malgun Gothic"/>
                <a:cs typeface="Malgun Gothic"/>
              </a:defRPr>
            </a:lvl5pPr>
            <a:lvl6pPr algn="ctr">
              <a:defRPr sz="1725" b="0">
                <a:solidFill>
                  <a:srgbClr val="4D5A68"/>
                </a:solidFill>
                <a:latin typeface="Malgun Gothic"/>
                <a:ea typeface="Malgun Gothic"/>
                <a:cs typeface="Malgun Gothic"/>
              </a:defRPr>
            </a:lvl6pPr>
            <a:lvl7pPr algn="ctr">
              <a:defRPr sz="1725" b="0">
                <a:solidFill>
                  <a:srgbClr val="4D5A68"/>
                </a:solidFill>
                <a:latin typeface="Malgun Gothic"/>
                <a:ea typeface="Malgun Gothic"/>
                <a:cs typeface="Malgun Gothic"/>
              </a:defRPr>
            </a:lvl7pPr>
            <a:lvl8pPr algn="ctr">
              <a:defRPr sz="1725" b="0">
                <a:solidFill>
                  <a:srgbClr val="4D5A68"/>
                </a:solidFill>
                <a:latin typeface="Malgun Gothic"/>
                <a:ea typeface="Malgun Gothic"/>
                <a:cs typeface="Malgun Gothic"/>
              </a:defRPr>
            </a:lvl8pPr>
            <a:lvl9pPr algn="ctr">
              <a:defRPr sz="1725" b="0">
                <a:solidFill>
                  <a:srgbClr val="4D5A68"/>
                </a:solidFill>
                <a:latin typeface="Malgun Gothic"/>
                <a:ea typeface="Malgun Gothic"/>
                <a:cs typeface="Malgun Gothic"/>
              </a:defRPr>
            </a:lvl9pPr>
          </a:lstStyle>
          <a:p xmlns:a="http://schemas.openxmlformats.org/drawingml/2006/main">
            <a:pPr algn="ctr">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조사 결과</a:t>
            </a:r>
          </a:p>
        </p:txBody>
      </p:sp>
      <p:cxnSp>
        <p:nvCxnSpPr>
          <p:cNvPr id="18" name="">
            <a:extLst xmlns:a="http://schemas.openxmlformats.org/drawingml/2006/main">
              <a:ext uri="{FF2B5EF4-FFF2-40B4-BE49-F238E27FC236}">
                <a16:creationId xmlns:a16="http://schemas.microsoft.com/office/drawing/2014/main" id="{49E3D77E-E61C-4C66-81BF-B1AF54AF5BA4}"/>
              </a:ext>
            </a:extLst>
          </p:cNvPr>
          <p:cNvCxnSpPr/>
          <p:nvPr/>
        </p:nvCxnSpPr>
        <p:spPr>
          <a:xfrm xmlns:a="http://schemas.openxmlformats.org/drawingml/2006/main">
            <a:off x="3581400" y="3619500"/>
            <a:ext cx="9906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9" name="바뀐 코드">
            <a:extLst xmlns:a="http://schemas.openxmlformats.org/drawingml/2006/main">
              <a:ext uri="{FF2B5EF4-FFF2-40B4-BE49-F238E27FC236}">
                <a16:creationId xmlns:a16="http://schemas.microsoft.com/office/drawing/2014/main" id="{654C7440-8F7D-4688-8B3F-E4218DB0216C}"/>
              </a:ext>
            </a:extLst>
          </p:cNvPr>
          <p:cNvSpPr>
            <a:spLocks xmlns:a="http://schemas.openxmlformats.org/drawingml/2006/main" noGrp="1"/>
          </p:cNvSpPr>
          <p:nvPr/>
        </p:nvSpPr>
        <p:spPr>
          <a:xfrm xmlns:a="http://schemas.openxmlformats.org/drawingml/2006/main">
            <a:off x="7658100" y="3067050"/>
            <a:ext cx="990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Malgun Gothic"/>
                <a:ea typeface="Malgun Gothic"/>
                <a:cs typeface="Malgun Gothic"/>
              </a:defRPr>
            </a:defPPr>
            <a:lvl1pPr algn="ctr">
              <a:defRPr sz="1725" b="0">
                <a:solidFill>
                  <a:srgbClr val="4D5A68"/>
                </a:solidFill>
                <a:latin typeface="Malgun Gothic"/>
                <a:ea typeface="Malgun Gothic"/>
                <a:cs typeface="Malgun Gothic"/>
              </a:defRPr>
            </a:lvl1pPr>
            <a:lvl2pPr algn="ctr">
              <a:defRPr sz="1725" b="0">
                <a:solidFill>
                  <a:srgbClr val="4D5A68"/>
                </a:solidFill>
                <a:latin typeface="Malgun Gothic"/>
                <a:ea typeface="Malgun Gothic"/>
                <a:cs typeface="Malgun Gothic"/>
              </a:defRPr>
            </a:lvl2pPr>
            <a:lvl3pPr algn="ctr">
              <a:defRPr sz="1725" b="0">
                <a:solidFill>
                  <a:srgbClr val="4D5A68"/>
                </a:solidFill>
                <a:latin typeface="Malgun Gothic"/>
                <a:ea typeface="Malgun Gothic"/>
                <a:cs typeface="Malgun Gothic"/>
              </a:defRPr>
            </a:lvl3pPr>
            <a:lvl4pPr algn="ctr">
              <a:defRPr sz="1725" b="0">
                <a:solidFill>
                  <a:srgbClr val="4D5A68"/>
                </a:solidFill>
                <a:latin typeface="Malgun Gothic"/>
                <a:ea typeface="Malgun Gothic"/>
                <a:cs typeface="Malgun Gothic"/>
              </a:defRPr>
            </a:lvl4pPr>
            <a:lvl5pPr algn="ctr">
              <a:defRPr sz="1725" b="0">
                <a:solidFill>
                  <a:srgbClr val="4D5A68"/>
                </a:solidFill>
                <a:latin typeface="Malgun Gothic"/>
                <a:ea typeface="Malgun Gothic"/>
                <a:cs typeface="Malgun Gothic"/>
              </a:defRPr>
            </a:lvl5pPr>
            <a:lvl6pPr algn="ctr">
              <a:defRPr sz="1725" b="0">
                <a:solidFill>
                  <a:srgbClr val="4D5A68"/>
                </a:solidFill>
                <a:latin typeface="Malgun Gothic"/>
                <a:ea typeface="Malgun Gothic"/>
                <a:cs typeface="Malgun Gothic"/>
              </a:defRPr>
            </a:lvl6pPr>
            <a:lvl7pPr algn="ctr">
              <a:defRPr sz="1725" b="0">
                <a:solidFill>
                  <a:srgbClr val="4D5A68"/>
                </a:solidFill>
                <a:latin typeface="Malgun Gothic"/>
                <a:ea typeface="Malgun Gothic"/>
                <a:cs typeface="Malgun Gothic"/>
              </a:defRPr>
            </a:lvl7pPr>
            <a:lvl8pPr algn="ctr">
              <a:defRPr sz="1725" b="0">
                <a:solidFill>
                  <a:srgbClr val="4D5A68"/>
                </a:solidFill>
                <a:latin typeface="Malgun Gothic"/>
                <a:ea typeface="Malgun Gothic"/>
                <a:cs typeface="Malgun Gothic"/>
              </a:defRPr>
            </a:lvl8pPr>
            <a:lvl9pPr algn="ctr">
              <a:defRPr sz="1725" b="0">
                <a:solidFill>
                  <a:srgbClr val="4D5A68"/>
                </a:solidFill>
                <a:latin typeface="Malgun Gothic"/>
                <a:ea typeface="Malgun Gothic"/>
                <a:cs typeface="Malgun Gothic"/>
              </a:defRPr>
            </a:lvl9pPr>
          </a:lstStyle>
          <a:p xmlns:a="http://schemas.openxmlformats.org/drawingml/2006/main">
            <a:pPr algn="ctr">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바뀐 코드</a:t>
            </a:r>
          </a:p>
        </p:txBody>
      </p:sp>
      <p:cxnSp>
        <p:nvCxnSpPr>
          <p:cNvPr id="20" name="">
            <a:extLst xmlns:a="http://schemas.openxmlformats.org/drawingml/2006/main">
              <a:ext uri="{FF2B5EF4-FFF2-40B4-BE49-F238E27FC236}">
                <a16:creationId xmlns:a16="http://schemas.microsoft.com/office/drawing/2014/main" id="{0F94557C-CC7B-4A71-8AAC-721EAA10CA25}"/>
              </a:ext>
            </a:extLst>
          </p:cNvPr>
          <p:cNvCxnSpPr/>
          <p:nvPr/>
        </p:nvCxnSpPr>
        <p:spPr>
          <a:xfrm xmlns:a="http://schemas.openxmlformats.org/drawingml/2006/main">
            <a:off x="7658100" y="3619500"/>
            <a:ext cx="9906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1" name="이번 작업은 한 Agent가 끝까지 수행">
            <a:extLst xmlns:a="http://schemas.openxmlformats.org/drawingml/2006/main">
              <a:ext uri="{FF2B5EF4-FFF2-40B4-BE49-F238E27FC236}">
                <a16:creationId xmlns:a16="http://schemas.microsoft.com/office/drawing/2014/main" id="{95667FC1-1D7C-41DD-87A4-DEA18CC61C4D}"/>
              </a:ext>
            </a:extLst>
          </p:cNvPr>
          <p:cNvSpPr>
            <a:spLocks xmlns:a="http://schemas.openxmlformats.org/drawingml/2006/main" noGrp="1"/>
          </p:cNvSpPr>
          <p:nvPr/>
        </p:nvSpPr>
        <p:spPr>
          <a:xfrm xmlns:a="http://schemas.openxmlformats.org/drawingml/2006/main">
            <a:off x="609600" y="4695825"/>
            <a:ext cx="1097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이번 작업은 한 Agent가 끝까지 수행</a:t>
            </a:r>
          </a:p>
        </p:txBody>
      </p:sp>
      <p:sp>
        <p:nvSpPr>
          <p:cNvPr id="22" name="나누면 같은 코드·명세 전달과 결과 통합이 필요">
            <a:extLst xmlns:a="http://schemas.openxmlformats.org/drawingml/2006/main">
              <a:ext uri="{FF2B5EF4-FFF2-40B4-BE49-F238E27FC236}">
                <a16:creationId xmlns:a16="http://schemas.microsoft.com/office/drawing/2014/main" id="{6486D830-EBDA-497A-B24E-94C07295F7DE}"/>
              </a:ext>
            </a:extLst>
          </p:cNvPr>
          <p:cNvSpPr>
            <a:spLocks xmlns:a="http://schemas.openxmlformats.org/drawingml/2006/main" noGrp="1"/>
          </p:cNvSpPr>
          <p:nvPr/>
        </p:nvSpPr>
        <p:spPr>
          <a:xfrm xmlns:a="http://schemas.openxmlformats.org/drawingml/2006/main">
            <a:off x="609600" y="52292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나누면 같은 코드·명세 전달과 결과 통합이 필요</a:t>
            </a:r>
          </a:p>
        </p:txBody>
      </p:sp>
      <p:sp>
        <p:nvSpPr>
          <p:cNvPr id="23" name="Legacy module connection">
            <a:extLst xmlns:a="http://schemas.openxmlformats.org/drawingml/2006/main">
              <a:ext uri="{FF2B5EF4-FFF2-40B4-BE49-F238E27FC236}">
                <a16:creationId xmlns:a16="http://schemas.microsoft.com/office/drawing/2014/main" id="{2D71BAD7-ED3F-4075-B1F1-D736EE55311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365435523"/>
      </p:ext>
    </p:extLst>
  </p:cSld>
</p:sld>
</file>

<file path=ppt/slides/slide1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3 · Context와 Memory의 역할">
            <a:extLst xmlns:a="http://schemas.openxmlformats.org/drawingml/2006/main">
              <a:ext uri="{FF2B5EF4-FFF2-40B4-BE49-F238E27FC236}">
                <a16:creationId xmlns:a16="http://schemas.microsoft.com/office/drawing/2014/main" id="{966C29CD-1799-442D-B3F4-A43C790B71C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Context와 Memory의 역할</a:t>
            </a:r>
          </a:p>
        </p:txBody>
      </p:sp>
      <p:sp>
        <p:nvSpPr>
          <p:cNvPr id="2" name="S70">
            <a:extLst xmlns:a="http://schemas.openxmlformats.org/drawingml/2006/main">
              <a:ext uri="{FF2B5EF4-FFF2-40B4-BE49-F238E27FC236}">
                <a16:creationId xmlns:a16="http://schemas.microsoft.com/office/drawing/2014/main" id="{30C88E4D-60CC-4051-8BB6-CA5703CA135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S70</a:t>
            </a:r>
          </a:p>
        </p:txBody>
      </p:sp>
      <p:sp>
        <p:nvSpPr>
          <p:cNvPr id="3" name="이번 Context와 다시 쓸 지식">
            <a:extLst xmlns:a="http://schemas.openxmlformats.org/drawingml/2006/main">
              <a:ext uri="{FF2B5EF4-FFF2-40B4-BE49-F238E27FC236}">
                <a16:creationId xmlns:a16="http://schemas.microsoft.com/office/drawing/2014/main" id="{DE6CD9E9-810A-418D-AEFE-BDF1059E6FC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이번 Context와 다시 쓸 지식</a:t>
            </a:r>
          </a:p>
        </p:txBody>
      </p:sp>
      <p:sp>
        <p:nvSpPr>
          <p:cNvPr id="4" name="">
            <a:extLst xmlns:a="http://schemas.openxmlformats.org/drawingml/2006/main">
              <a:ext uri="{FF2B5EF4-FFF2-40B4-BE49-F238E27FC236}">
                <a16:creationId xmlns:a16="http://schemas.microsoft.com/office/drawing/2014/main" id="{1DC4CE52-90FA-4A38-83B2-912435EDB09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CONCEPTUAL · 재현 조건을 다음 작업에도 쓴다는 가정 · 실제 Memory 사용 아님">
            <a:extLst xmlns:a="http://schemas.openxmlformats.org/drawingml/2006/main">
              <a:ext uri="{FF2B5EF4-FFF2-40B4-BE49-F238E27FC236}">
                <a16:creationId xmlns:a16="http://schemas.microsoft.com/office/drawing/2014/main" id="{3E6CF9AE-61B5-41B4-B6C5-29D4E75EAED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CONCEPTUAL · 재현 조건을 다음 작업에도 쓴다는 가정 · 실제 Memory 사용 아님</a:t>
            </a:r>
          </a:p>
        </p:txBody>
      </p:sp>
      <p:sp>
        <p:nvSpPr>
          <p:cNvPr id="6" name="이미 문서에 있으면 그 출처를 참조 · 제품의 자동 저장·회수를 확인한 사례가 아님">
            <a:extLst xmlns:a="http://schemas.openxmlformats.org/drawingml/2006/main">
              <a:ext uri="{FF2B5EF4-FFF2-40B4-BE49-F238E27FC236}">
                <a16:creationId xmlns:a16="http://schemas.microsoft.com/office/drawing/2014/main" id="{5FD860F5-EB91-46AF-B6A3-2D7AEEFEA1B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이미 문서에 있으면 그 출처를 참조 · 제품의 자동 저장·회수를 확인한 사례가 아님</a:t>
            </a:r>
          </a:p>
        </p:txBody>
      </p:sp>
      <p:sp>
        <p:nvSpPr>
          <p:cNvPr id="7" name="가정: 다음 작업에도 필요한 재현 조건을 확인했다면?">
            <a:extLst xmlns:a="http://schemas.openxmlformats.org/drawingml/2006/main">
              <a:ext uri="{FF2B5EF4-FFF2-40B4-BE49-F238E27FC236}">
                <a16:creationId xmlns:a16="http://schemas.microsoft.com/office/drawing/2014/main" id="{180ECBAE-F3A0-42A1-BC52-E0DA589B7D01}"/>
              </a:ext>
            </a:extLst>
          </p:cNvPr>
          <p:cNvSpPr>
            <a:spLocks xmlns:a="http://schemas.openxmlformats.org/drawingml/2006/main" noGrp="1"/>
          </p:cNvSpPr>
          <p:nvPr/>
        </p:nvSpPr>
        <p:spPr>
          <a:xfrm xmlns:a="http://schemas.openxmlformats.org/drawingml/2006/main">
            <a:off x="609600" y="17526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가정: 다음 작업에도 필요한 재현 조건을 확인했다면?</a:t>
            </a:r>
          </a:p>
        </p:txBody>
      </p:sp>
      <p:sp>
        <p:nvSpPr>
          <p:cNvPr id="8" name="이번 작업 Context">
            <a:extLst xmlns:a="http://schemas.openxmlformats.org/drawingml/2006/main">
              <a:ext uri="{FF2B5EF4-FFF2-40B4-BE49-F238E27FC236}">
                <a16:creationId xmlns:a16="http://schemas.microsoft.com/office/drawing/2014/main" id="{905B8ABA-2CF2-4D56-BF5C-36D19F0BBC66}"/>
              </a:ext>
            </a:extLst>
          </p:cNvPr>
          <p:cNvSpPr>
            <a:spLocks xmlns:a="http://schemas.openxmlformats.org/drawingml/2006/main" noGrp="1"/>
          </p:cNvSpPr>
          <p:nvPr/>
        </p:nvSpPr>
        <p:spPr>
          <a:xfrm xmlns:a="http://schemas.openxmlformats.org/drawingml/2006/main">
            <a:off x="609600" y="2514600"/>
            <a:ext cx="4381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이번 작업 Context</a:t>
            </a:r>
          </a:p>
        </p:txBody>
      </p:sp>
      <p:sp>
        <p:nvSpPr>
          <p:cNvPr id="9" name="다시 쓸 지식 · Memory 후보">
            <a:extLst xmlns:a="http://schemas.openxmlformats.org/drawingml/2006/main">
              <a:ext uri="{FF2B5EF4-FFF2-40B4-BE49-F238E27FC236}">
                <a16:creationId xmlns:a16="http://schemas.microsoft.com/office/drawing/2014/main" id="{C5AABAA1-42CB-4DC8-B918-73ACD99271D5}"/>
              </a:ext>
            </a:extLst>
          </p:cNvPr>
          <p:cNvSpPr>
            <a:spLocks xmlns:a="http://schemas.openxmlformats.org/drawingml/2006/main" noGrp="1"/>
          </p:cNvSpPr>
          <p:nvPr/>
        </p:nvSpPr>
        <p:spPr>
          <a:xfrm xmlns:a="http://schemas.openxmlformats.org/drawingml/2006/main">
            <a:off x="6991350" y="2514600"/>
            <a:ext cx="4591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805400"/>
                </a:solidFill>
                <a:latin typeface="Malgun Gothic"/>
                <a:ea typeface="Malgun Gothic"/>
                <a:cs typeface="Malgun Gothic"/>
              </a:defRPr>
            </a:defPPr>
            <a:lvl1pPr algn="l">
              <a:defRPr sz="2250" b="1">
                <a:solidFill>
                  <a:srgbClr val="805400"/>
                </a:solidFill>
                <a:latin typeface="Malgun Gothic"/>
                <a:ea typeface="Malgun Gothic"/>
                <a:cs typeface="Malgun Gothic"/>
              </a:defRPr>
            </a:lvl1pPr>
            <a:lvl2pPr algn="l">
              <a:defRPr sz="2250" b="1">
                <a:solidFill>
                  <a:srgbClr val="805400"/>
                </a:solidFill>
                <a:latin typeface="Malgun Gothic"/>
                <a:ea typeface="Malgun Gothic"/>
                <a:cs typeface="Malgun Gothic"/>
              </a:defRPr>
            </a:lvl2pPr>
            <a:lvl3pPr algn="l">
              <a:defRPr sz="2250" b="1">
                <a:solidFill>
                  <a:srgbClr val="805400"/>
                </a:solidFill>
                <a:latin typeface="Malgun Gothic"/>
                <a:ea typeface="Malgun Gothic"/>
                <a:cs typeface="Malgun Gothic"/>
              </a:defRPr>
            </a:lvl3pPr>
            <a:lvl4pPr algn="l">
              <a:defRPr sz="2250" b="1">
                <a:solidFill>
                  <a:srgbClr val="805400"/>
                </a:solidFill>
                <a:latin typeface="Malgun Gothic"/>
                <a:ea typeface="Malgun Gothic"/>
                <a:cs typeface="Malgun Gothic"/>
              </a:defRPr>
            </a:lvl4pPr>
            <a:lvl5pPr algn="l">
              <a:defRPr sz="2250" b="1">
                <a:solidFill>
                  <a:srgbClr val="805400"/>
                </a:solidFill>
                <a:latin typeface="Malgun Gothic"/>
                <a:ea typeface="Malgun Gothic"/>
                <a:cs typeface="Malgun Gothic"/>
              </a:defRPr>
            </a:lvl5pPr>
            <a:lvl6pPr algn="l">
              <a:defRPr sz="2250" b="1">
                <a:solidFill>
                  <a:srgbClr val="805400"/>
                </a:solidFill>
                <a:latin typeface="Malgun Gothic"/>
                <a:ea typeface="Malgun Gothic"/>
                <a:cs typeface="Malgun Gothic"/>
              </a:defRPr>
            </a:lvl6pPr>
            <a:lvl7pPr algn="l">
              <a:defRPr sz="2250" b="1">
                <a:solidFill>
                  <a:srgbClr val="805400"/>
                </a:solidFill>
                <a:latin typeface="Malgun Gothic"/>
                <a:ea typeface="Malgun Gothic"/>
                <a:cs typeface="Malgun Gothic"/>
              </a:defRPr>
            </a:lvl7pPr>
            <a:lvl8pPr algn="l">
              <a:defRPr sz="2250" b="1">
                <a:solidFill>
                  <a:srgbClr val="805400"/>
                </a:solidFill>
                <a:latin typeface="Malgun Gothic"/>
                <a:ea typeface="Malgun Gothic"/>
                <a:cs typeface="Malgun Gothic"/>
              </a:defRPr>
            </a:lvl8pPr>
            <a:lvl9pPr algn="l">
              <a:defRPr sz="2250" b="1">
                <a:solidFill>
                  <a:srgbClr val="805400"/>
                </a:solidFill>
                <a:latin typeface="Malgun Gothic"/>
                <a:ea typeface="Malgun Gothic"/>
                <a:cs typeface="Malgun Gothic"/>
              </a:defRPr>
            </a:lvl9pPr>
          </a:lstStyle>
          <a:p xmlns:a="http://schemas.openxmlformats.org/drawingml/2006/main">
            <a:pPr algn="l">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다시 쓸 지식 · Memory 후보</a:t>
            </a:r>
          </a:p>
        </p:txBody>
      </p:sp>
      <p:sp>
        <p:nvSpPr>
          <p:cNvPr id="10" name="">
            <a:extLst xmlns:a="http://schemas.openxmlformats.org/drawingml/2006/main">
              <a:ext uri="{FF2B5EF4-FFF2-40B4-BE49-F238E27FC236}">
                <a16:creationId xmlns:a16="http://schemas.microsoft.com/office/drawing/2014/main" id="{CC9C26F7-E9E2-43B8-A319-C52613CA57DC}"/>
              </a:ext>
            </a:extLst>
          </p:cNvPr>
          <p:cNvSpPr>
            <a:spLocks xmlns:a="http://schemas.openxmlformats.org/drawingml/2006/main" noGrp="1"/>
          </p:cNvSpPr>
          <p:nvPr/>
        </p:nvSpPr>
        <p:spPr>
          <a:xfrm xmlns:a="http://schemas.openxmlformats.org/drawingml/2006/main">
            <a:off x="609600" y="3048000"/>
            <a:ext cx="4381500" cy="16192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목표·현재 명세">
            <a:extLst xmlns:a="http://schemas.openxmlformats.org/drawingml/2006/main">
              <a:ext uri="{FF2B5EF4-FFF2-40B4-BE49-F238E27FC236}">
                <a16:creationId xmlns:a16="http://schemas.microsoft.com/office/drawing/2014/main" id="{C6663B4A-46AD-4D7E-8CAF-F1C895C55458}"/>
              </a:ext>
            </a:extLst>
          </p:cNvPr>
          <p:cNvSpPr>
            <a:spLocks xmlns:a="http://schemas.openxmlformats.org/drawingml/2006/main" noGrp="1"/>
          </p:cNvSpPr>
          <p:nvPr/>
        </p:nvSpPr>
        <p:spPr>
          <a:xfrm xmlns:a="http://schemas.openxmlformats.org/drawingml/2006/main">
            <a:off x="800100" y="3162300"/>
            <a:ext cx="40005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목표·현재 명세</a:t>
            </a:r>
          </a:p>
        </p:txBody>
      </p:sp>
      <p:sp>
        <p:nvSpPr>
          <p:cNvPr id="12" name="현재 입력·로그">
            <a:extLst xmlns:a="http://schemas.openxmlformats.org/drawingml/2006/main">
              <a:ext uri="{FF2B5EF4-FFF2-40B4-BE49-F238E27FC236}">
                <a16:creationId xmlns:a16="http://schemas.microsoft.com/office/drawing/2014/main" id="{BD4FCD0D-91DB-41BD-B45B-37CB45E6BDE1}"/>
              </a:ext>
            </a:extLst>
          </p:cNvPr>
          <p:cNvSpPr>
            <a:spLocks xmlns:a="http://schemas.openxmlformats.org/drawingml/2006/main" noGrp="1"/>
          </p:cNvSpPr>
          <p:nvPr/>
        </p:nvSpPr>
        <p:spPr>
          <a:xfrm xmlns:a="http://schemas.openxmlformats.org/drawingml/2006/main">
            <a:off x="800100" y="3562350"/>
            <a:ext cx="40005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현재 입력·로그</a:t>
            </a:r>
          </a:p>
        </p:txBody>
      </p:sp>
      <p:sp>
        <p:nvSpPr>
          <p:cNvPr id="13" name="">
            <a:extLst xmlns:a="http://schemas.openxmlformats.org/drawingml/2006/main">
              <a:ext uri="{FF2B5EF4-FFF2-40B4-BE49-F238E27FC236}">
                <a16:creationId xmlns:a16="http://schemas.microsoft.com/office/drawing/2014/main" id="{51B8D6CA-8ED9-4DC3-A135-DD34C5492C84}"/>
              </a:ext>
            </a:extLst>
          </p:cNvPr>
          <p:cNvSpPr>
            <a:spLocks xmlns:a="http://schemas.openxmlformats.org/drawingml/2006/main" noGrp="1"/>
          </p:cNvSpPr>
          <p:nvPr/>
        </p:nvSpPr>
        <p:spPr>
          <a:xfrm xmlns:a="http://schemas.openxmlformats.org/drawingml/2006/main">
            <a:off x="762000" y="3981450"/>
            <a:ext cx="4076700" cy="533400"/>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14" name="확인한 재현 조건">
            <a:extLst xmlns:a="http://schemas.openxmlformats.org/drawingml/2006/main">
              <a:ext uri="{FF2B5EF4-FFF2-40B4-BE49-F238E27FC236}">
                <a16:creationId xmlns:a16="http://schemas.microsoft.com/office/drawing/2014/main" id="{DD668902-FC45-47DF-957F-CA815131DE33}"/>
              </a:ext>
            </a:extLst>
          </p:cNvPr>
          <p:cNvSpPr>
            <a:spLocks xmlns:a="http://schemas.openxmlformats.org/drawingml/2006/main" noGrp="1"/>
          </p:cNvSpPr>
          <p:nvPr/>
        </p:nvSpPr>
        <p:spPr>
          <a:xfrm xmlns:a="http://schemas.openxmlformats.org/drawingml/2006/main">
            <a:off x="914400" y="4067175"/>
            <a:ext cx="3771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확인한 재현 조건</a:t>
            </a:r>
          </a:p>
        </p:txBody>
      </p:sp>
      <p:sp>
        <p:nvSpPr>
          <p:cNvPr id="15" name="다시 쓸 내용">
            <a:extLst xmlns:a="http://schemas.openxmlformats.org/drawingml/2006/main">
              <a:ext uri="{FF2B5EF4-FFF2-40B4-BE49-F238E27FC236}">
                <a16:creationId xmlns:a16="http://schemas.microsoft.com/office/drawing/2014/main" id="{FE80DEA8-2162-4721-BC46-B39D7396ACCA}"/>
              </a:ext>
            </a:extLst>
          </p:cNvPr>
          <p:cNvSpPr>
            <a:spLocks xmlns:a="http://schemas.openxmlformats.org/drawingml/2006/main" noGrp="1"/>
          </p:cNvSpPr>
          <p:nvPr/>
        </p:nvSpPr>
        <p:spPr>
          <a:xfrm xmlns:a="http://schemas.openxmlformats.org/drawingml/2006/main">
            <a:off x="5219700" y="3743325"/>
            <a:ext cx="14668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Malgun Gothic"/>
                <a:ea typeface="Malgun Gothic"/>
                <a:cs typeface="Malgun Gothic"/>
              </a:defRPr>
            </a:defPPr>
            <a:lvl1pPr algn="ctr">
              <a:defRPr sz="1725" b="0">
                <a:solidFill>
                  <a:srgbClr val="4D5A68"/>
                </a:solidFill>
                <a:latin typeface="Malgun Gothic"/>
                <a:ea typeface="Malgun Gothic"/>
                <a:cs typeface="Malgun Gothic"/>
              </a:defRPr>
            </a:lvl1pPr>
            <a:lvl2pPr algn="ctr">
              <a:defRPr sz="1725" b="0">
                <a:solidFill>
                  <a:srgbClr val="4D5A68"/>
                </a:solidFill>
                <a:latin typeface="Malgun Gothic"/>
                <a:ea typeface="Malgun Gothic"/>
                <a:cs typeface="Malgun Gothic"/>
              </a:defRPr>
            </a:lvl2pPr>
            <a:lvl3pPr algn="ctr">
              <a:defRPr sz="1725" b="0">
                <a:solidFill>
                  <a:srgbClr val="4D5A68"/>
                </a:solidFill>
                <a:latin typeface="Malgun Gothic"/>
                <a:ea typeface="Malgun Gothic"/>
                <a:cs typeface="Malgun Gothic"/>
              </a:defRPr>
            </a:lvl3pPr>
            <a:lvl4pPr algn="ctr">
              <a:defRPr sz="1725" b="0">
                <a:solidFill>
                  <a:srgbClr val="4D5A68"/>
                </a:solidFill>
                <a:latin typeface="Malgun Gothic"/>
                <a:ea typeface="Malgun Gothic"/>
                <a:cs typeface="Malgun Gothic"/>
              </a:defRPr>
            </a:lvl4pPr>
            <a:lvl5pPr algn="ctr">
              <a:defRPr sz="1725" b="0">
                <a:solidFill>
                  <a:srgbClr val="4D5A68"/>
                </a:solidFill>
                <a:latin typeface="Malgun Gothic"/>
                <a:ea typeface="Malgun Gothic"/>
                <a:cs typeface="Malgun Gothic"/>
              </a:defRPr>
            </a:lvl5pPr>
            <a:lvl6pPr algn="ctr">
              <a:defRPr sz="1725" b="0">
                <a:solidFill>
                  <a:srgbClr val="4D5A68"/>
                </a:solidFill>
                <a:latin typeface="Malgun Gothic"/>
                <a:ea typeface="Malgun Gothic"/>
                <a:cs typeface="Malgun Gothic"/>
              </a:defRPr>
            </a:lvl6pPr>
            <a:lvl7pPr algn="ctr">
              <a:defRPr sz="1725" b="0">
                <a:solidFill>
                  <a:srgbClr val="4D5A68"/>
                </a:solidFill>
                <a:latin typeface="Malgun Gothic"/>
                <a:ea typeface="Malgun Gothic"/>
                <a:cs typeface="Malgun Gothic"/>
              </a:defRPr>
            </a:lvl7pPr>
            <a:lvl8pPr algn="ctr">
              <a:defRPr sz="1725" b="0">
                <a:solidFill>
                  <a:srgbClr val="4D5A68"/>
                </a:solidFill>
                <a:latin typeface="Malgun Gothic"/>
                <a:ea typeface="Malgun Gothic"/>
                <a:cs typeface="Malgun Gothic"/>
              </a:defRPr>
            </a:lvl8pPr>
            <a:lvl9pPr algn="ctr">
              <a:defRPr sz="1725" b="0">
                <a:solidFill>
                  <a:srgbClr val="4D5A68"/>
                </a:solidFill>
                <a:latin typeface="Malgun Gothic"/>
                <a:ea typeface="Malgun Gothic"/>
                <a:cs typeface="Malgun Gothic"/>
              </a:defRPr>
            </a:lvl9pPr>
          </a:lstStyle>
          <a:p xmlns:a="http://schemas.openxmlformats.org/drawingml/2006/main">
            <a:pPr algn="ctr">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다시 쓸 내용</a:t>
            </a:r>
          </a:p>
        </p:txBody>
      </p:sp>
      <p:cxnSp>
        <p:nvCxnSpPr>
          <p:cNvPr id="16" name="">
            <a:extLst xmlns:a="http://schemas.openxmlformats.org/drawingml/2006/main">
              <a:ext uri="{FF2B5EF4-FFF2-40B4-BE49-F238E27FC236}">
                <a16:creationId xmlns:a16="http://schemas.microsoft.com/office/drawing/2014/main" id="{BFBE7409-C2B5-429B-B64C-165B4361DF9C}"/>
              </a:ext>
            </a:extLst>
          </p:cNvPr>
          <p:cNvCxnSpPr/>
          <p:nvPr/>
        </p:nvCxnSpPr>
        <p:spPr>
          <a:xfrm xmlns:a="http://schemas.openxmlformats.org/drawingml/2006/main">
            <a:off x="5219700" y="4238625"/>
            <a:ext cx="1466850" cy="0"/>
          </a:xfrm>
          <a:prstGeom xmlns:a="http://schemas.openxmlformats.org/drawingml/2006/main" prst="straightConnector1">
            <a:avLst/>
          </a:prstGeom>
          <a:ln xmlns:a="http://schemas.openxmlformats.org/drawingml/2006/main" w="23813">
            <a:solidFill>
              <a:srgbClr val="805400"/>
            </a:solidFill>
            <a:tailEnd type="triangle" w="sm" len="sm"/>
          </a:ln>
        </p:spPr>
      </p:cxnSp>
      <p:sp>
        <p:nvSpPr>
          <p:cNvPr id="17" name="">
            <a:extLst xmlns:a="http://schemas.openxmlformats.org/drawingml/2006/main">
              <a:ext uri="{FF2B5EF4-FFF2-40B4-BE49-F238E27FC236}">
                <a16:creationId xmlns:a16="http://schemas.microsoft.com/office/drawing/2014/main" id="{3D29490D-51DD-456E-B03C-5BC8BD092867}"/>
              </a:ext>
            </a:extLst>
          </p:cNvPr>
          <p:cNvSpPr>
            <a:spLocks xmlns:a="http://schemas.openxmlformats.org/drawingml/2006/main" noGrp="1"/>
          </p:cNvSpPr>
          <p:nvPr/>
        </p:nvSpPr>
        <p:spPr>
          <a:xfrm xmlns:a="http://schemas.openxmlformats.org/drawingml/2006/main">
            <a:off x="6991350" y="3048000"/>
            <a:ext cx="4591050" cy="16192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검증된 재현 조건">
            <a:extLst xmlns:a="http://schemas.openxmlformats.org/drawingml/2006/main">
              <a:ext uri="{FF2B5EF4-FFF2-40B4-BE49-F238E27FC236}">
                <a16:creationId xmlns:a16="http://schemas.microsoft.com/office/drawing/2014/main" id="{83728A77-3547-4E0E-9363-D37A44431FFD}"/>
              </a:ext>
            </a:extLst>
          </p:cNvPr>
          <p:cNvSpPr>
            <a:spLocks xmlns:a="http://schemas.openxmlformats.org/drawingml/2006/main" noGrp="1"/>
          </p:cNvSpPr>
          <p:nvPr/>
        </p:nvSpPr>
        <p:spPr>
          <a:xfrm xmlns:a="http://schemas.openxmlformats.org/drawingml/2006/main">
            <a:off x="7181850" y="3209925"/>
            <a:ext cx="421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805400"/>
                </a:solidFill>
                <a:latin typeface="Malgun Gothic"/>
                <a:ea typeface="Malgun Gothic"/>
                <a:cs typeface="Malgun Gothic"/>
              </a:defRPr>
            </a:defPPr>
            <a:lvl1pPr algn="l">
              <a:defRPr sz="2325" b="1">
                <a:solidFill>
                  <a:srgbClr val="805400"/>
                </a:solidFill>
                <a:latin typeface="Malgun Gothic"/>
                <a:ea typeface="Malgun Gothic"/>
                <a:cs typeface="Malgun Gothic"/>
              </a:defRPr>
            </a:lvl1pPr>
            <a:lvl2pPr algn="l">
              <a:defRPr sz="2325" b="1">
                <a:solidFill>
                  <a:srgbClr val="805400"/>
                </a:solidFill>
                <a:latin typeface="Malgun Gothic"/>
                <a:ea typeface="Malgun Gothic"/>
                <a:cs typeface="Malgun Gothic"/>
              </a:defRPr>
            </a:lvl2pPr>
            <a:lvl3pPr algn="l">
              <a:defRPr sz="2325" b="1">
                <a:solidFill>
                  <a:srgbClr val="805400"/>
                </a:solidFill>
                <a:latin typeface="Malgun Gothic"/>
                <a:ea typeface="Malgun Gothic"/>
                <a:cs typeface="Malgun Gothic"/>
              </a:defRPr>
            </a:lvl3pPr>
            <a:lvl4pPr algn="l">
              <a:defRPr sz="2325" b="1">
                <a:solidFill>
                  <a:srgbClr val="805400"/>
                </a:solidFill>
                <a:latin typeface="Malgun Gothic"/>
                <a:ea typeface="Malgun Gothic"/>
                <a:cs typeface="Malgun Gothic"/>
              </a:defRPr>
            </a:lvl4pPr>
            <a:lvl5pPr algn="l">
              <a:defRPr sz="2325" b="1">
                <a:solidFill>
                  <a:srgbClr val="805400"/>
                </a:solidFill>
                <a:latin typeface="Malgun Gothic"/>
                <a:ea typeface="Malgun Gothic"/>
                <a:cs typeface="Malgun Gothic"/>
              </a:defRPr>
            </a:lvl5pPr>
            <a:lvl6pPr algn="l">
              <a:defRPr sz="2325" b="1">
                <a:solidFill>
                  <a:srgbClr val="805400"/>
                </a:solidFill>
                <a:latin typeface="Malgun Gothic"/>
                <a:ea typeface="Malgun Gothic"/>
                <a:cs typeface="Malgun Gothic"/>
              </a:defRPr>
            </a:lvl6pPr>
            <a:lvl7pPr algn="l">
              <a:defRPr sz="2325" b="1">
                <a:solidFill>
                  <a:srgbClr val="805400"/>
                </a:solidFill>
                <a:latin typeface="Malgun Gothic"/>
                <a:ea typeface="Malgun Gothic"/>
                <a:cs typeface="Malgun Gothic"/>
              </a:defRPr>
            </a:lvl7pPr>
            <a:lvl8pPr algn="l">
              <a:defRPr sz="2325" b="1">
                <a:solidFill>
                  <a:srgbClr val="805400"/>
                </a:solidFill>
                <a:latin typeface="Malgun Gothic"/>
                <a:ea typeface="Malgun Gothic"/>
                <a:cs typeface="Malgun Gothic"/>
              </a:defRPr>
            </a:lvl8pPr>
            <a:lvl9pPr algn="l">
              <a:defRPr sz="2325" b="1">
                <a:solidFill>
                  <a:srgbClr val="805400"/>
                </a:solidFill>
                <a:latin typeface="Malgun Gothic"/>
                <a:ea typeface="Malgun Gothic"/>
                <a:cs typeface="Malgun Gothic"/>
              </a:defRPr>
            </a:lvl9pPr>
          </a:lstStyle>
          <a:p xmlns:a="http://schemas.openxmlformats.org/drawingml/2006/main">
            <a:pPr algn="l">
              <a:defRPr sz="2325" b="1">
                <a:solidFill>
                  <a:srgbClr val="805400"/>
                </a:solidFill>
                <a:latin typeface="Malgun Gothic"/>
                <a:ea typeface="Malgun Gothic"/>
                <a:cs typeface="Malgun Gothic"/>
              </a:defRPr>
            </a:pPr>
            <a:r>
              <a:rPr sz="2325" b="1">
                <a:solidFill>
                  <a:srgbClr val="805400"/>
                </a:solidFill>
                <a:latin typeface="Malgun Gothic"/>
                <a:ea typeface="Malgun Gothic"/>
                <a:cs typeface="Malgun Gothic"/>
              </a:rPr>
              <a:t>검증된 재현 조건</a:t>
            </a:r>
          </a:p>
        </p:txBody>
      </p:sp>
      <p:sp>
        <p:nvSpPr>
          <p:cNvPr id="19" name="필요한 입력·명령과 출처&#10;적용 범위·다시 확인할 조건">
            <a:extLst xmlns:a="http://schemas.openxmlformats.org/drawingml/2006/main">
              <a:ext uri="{FF2B5EF4-FFF2-40B4-BE49-F238E27FC236}">
                <a16:creationId xmlns:a16="http://schemas.microsoft.com/office/drawing/2014/main" id="{750B0718-DEA5-4FF9-9BB8-B2624B034EC4}"/>
              </a:ext>
            </a:extLst>
          </p:cNvPr>
          <p:cNvSpPr>
            <a:spLocks xmlns:a="http://schemas.openxmlformats.org/drawingml/2006/main" noGrp="1"/>
          </p:cNvSpPr>
          <p:nvPr/>
        </p:nvSpPr>
        <p:spPr>
          <a:xfrm xmlns:a="http://schemas.openxmlformats.org/drawingml/2006/main">
            <a:off x="7181850" y="3714750"/>
            <a:ext cx="421005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필요한 입력·명령과 출처</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적용 범위·다시 확인할 조건</a:t>
            </a:r>
          </a:p>
        </p:txBody>
      </p:sp>
      <p:cxnSp>
        <p:nvCxnSpPr>
          <p:cNvPr id="20" name="">
            <a:extLst xmlns:a="http://schemas.openxmlformats.org/drawingml/2006/main">
              <a:ext uri="{FF2B5EF4-FFF2-40B4-BE49-F238E27FC236}">
                <a16:creationId xmlns:a16="http://schemas.microsoft.com/office/drawing/2014/main" id="{7CB61FAD-182F-45D8-B7EB-B1A4AE7F0DB9}"/>
              </a:ext>
            </a:extLst>
          </p:cNvPr>
          <p:cNvCxnSpPr/>
          <p:nvPr/>
        </p:nvCxnSpPr>
        <p:spPr>
          <a:xfrm xmlns:a="http://schemas.openxmlformats.org/drawingml/2006/main">
            <a:off x="9286875" y="4667250"/>
            <a:ext cx="0" cy="400050"/>
          </a:xfrm>
          <a:prstGeom xmlns:a="http://schemas.openxmlformats.org/drawingml/2006/main" prst="straightConnector1">
            <a:avLst/>
          </a:prstGeom>
          <a:ln xmlns:a="http://schemas.openxmlformats.org/drawingml/2006/main" w="23813">
            <a:solidFill>
              <a:srgbClr val="805400"/>
            </a:solidFill>
            <a:tailEnd type="triangle" w="sm" len="sm"/>
          </a:ln>
        </p:spPr>
      </p:cxnSp>
      <p:sp>
        <p:nvSpPr>
          <p:cNvPr id="21" name="목적: 같은 조건을 다시 조사하지 않도록">
            <a:extLst xmlns:a="http://schemas.openxmlformats.org/drawingml/2006/main">
              <a:ext uri="{FF2B5EF4-FFF2-40B4-BE49-F238E27FC236}">
                <a16:creationId xmlns:a16="http://schemas.microsoft.com/office/drawing/2014/main" id="{4D1ACBFB-51EA-4446-8765-33F6114828B4}"/>
              </a:ext>
            </a:extLst>
          </p:cNvPr>
          <p:cNvSpPr>
            <a:spLocks xmlns:a="http://schemas.openxmlformats.org/drawingml/2006/main" noGrp="1"/>
          </p:cNvSpPr>
          <p:nvPr/>
        </p:nvSpPr>
        <p:spPr>
          <a:xfrm xmlns:a="http://schemas.openxmlformats.org/drawingml/2006/main">
            <a:off x="609600" y="5200650"/>
            <a:ext cx="5810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목적: 같은 조건을 다시 조사하지 않도록</a:t>
            </a:r>
          </a:p>
        </p:txBody>
      </p:sp>
      <p:sp>
        <p:nvSpPr>
          <p:cNvPr id="22" name="다음 작업에서 현재 명세와 대조">
            <a:extLst xmlns:a="http://schemas.openxmlformats.org/drawingml/2006/main">
              <a:ext uri="{FF2B5EF4-FFF2-40B4-BE49-F238E27FC236}">
                <a16:creationId xmlns:a16="http://schemas.microsoft.com/office/drawing/2014/main" id="{C0562530-6A22-4B69-9F41-AED3E6452BF2}"/>
              </a:ext>
            </a:extLst>
          </p:cNvPr>
          <p:cNvSpPr>
            <a:spLocks xmlns:a="http://schemas.openxmlformats.org/drawingml/2006/main" noGrp="1"/>
          </p:cNvSpPr>
          <p:nvPr/>
        </p:nvSpPr>
        <p:spPr>
          <a:xfrm xmlns:a="http://schemas.openxmlformats.org/drawingml/2006/main">
            <a:off x="6991350" y="5200650"/>
            <a:ext cx="4591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다음 작업에서 현재 명세와 대조</a:t>
            </a:r>
          </a:p>
        </p:txBody>
      </p:sp>
      <p:sp>
        <p:nvSpPr>
          <p:cNvPr id="23" name="">
            <a:extLst xmlns:a="http://schemas.openxmlformats.org/drawingml/2006/main">
              <a:ext uri="{FF2B5EF4-FFF2-40B4-BE49-F238E27FC236}">
                <a16:creationId xmlns:a16="http://schemas.microsoft.com/office/drawing/2014/main" id="{3DDEBF5D-86A7-4B03-BABC-726D650B4AAB}"/>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4" name="Practical application tip badge">
            <a:extLst xmlns:a="http://schemas.openxmlformats.org/drawingml/2006/main">
              <a:ext uri="{FF2B5EF4-FFF2-40B4-BE49-F238E27FC236}">
                <a16:creationId xmlns:a16="http://schemas.microsoft.com/office/drawing/2014/main" id="{A97A5A1A-44FD-448B-B501-A78965E9D748}"/>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Context 관리</a:t>
            </a:r>
          </a:p>
        </p:txBody>
      </p:sp>
      <p:sp>
        <p:nvSpPr>
          <p:cNvPr id="25" name="Legacy module connection">
            <a:extLst xmlns:a="http://schemas.openxmlformats.org/drawingml/2006/main">
              <a:ext uri="{FF2B5EF4-FFF2-40B4-BE49-F238E27FC236}">
                <a16:creationId xmlns:a16="http://schemas.microsoft.com/office/drawing/2014/main" id="{ECE7E709-E632-496E-B763-48641B9077C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874757788"/>
      </p:ext>
    </p:extLst>
  </p:cSld>
</p:sld>
</file>

<file path=ppt/slides/slide1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6" name="ACT 3 · 기존 출처를 확인한 Memory 판단">
            <a:extLst xmlns:a="http://schemas.openxmlformats.org/drawingml/2006/main">
              <a:ext uri="{FF2B5EF4-FFF2-40B4-BE49-F238E27FC236}">
                <a16:creationId xmlns:a16="http://schemas.microsoft.com/office/drawing/2014/main" id="{5A034253-6114-485E-8632-A8318C24015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기존 출처를 확인한 Memory 판단</a:t>
            </a:r>
          </a:p>
        </p:txBody>
      </p:sp>
      <p:sp>
        <p:nvSpPr>
          <p:cNvPr id="2" name="S71">
            <a:extLst xmlns:a="http://schemas.openxmlformats.org/drawingml/2006/main">
              <a:ext uri="{FF2B5EF4-FFF2-40B4-BE49-F238E27FC236}">
                <a16:creationId xmlns:a16="http://schemas.microsoft.com/office/drawing/2014/main" id="{1C30B0FC-A4BA-45DB-B9EA-B191B63093C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S71</a:t>
            </a:r>
          </a:p>
        </p:txBody>
      </p:sp>
      <p:sp>
        <p:nvSpPr>
          <p:cNvPr id="3" name="실제 Demo 지식의 원래 출처">
            <a:extLst xmlns:a="http://schemas.openxmlformats.org/drawingml/2006/main">
              <a:ext uri="{FF2B5EF4-FFF2-40B4-BE49-F238E27FC236}">
                <a16:creationId xmlns:a16="http://schemas.microsoft.com/office/drawing/2014/main" id="{3EF0C282-CA46-4143-B23B-1955CB74D54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실제 Demo 지식의 원래 출처</a:t>
            </a:r>
          </a:p>
        </p:txBody>
      </p:sp>
      <p:sp>
        <p:nvSpPr>
          <p:cNvPr id="4" name="">
            <a:extLst xmlns:a="http://schemas.openxmlformats.org/drawingml/2006/main">
              <a:ext uri="{FF2B5EF4-FFF2-40B4-BE49-F238E27FC236}">
                <a16:creationId xmlns:a16="http://schemas.microsoft.com/office/drawing/2014/main" id="{DA94D0CB-E23A-49E6-ADF4-135A87C49D7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18 · 기존 Demo 지식 출처 감사 요약 · 제품 Memory 사용 기록 아님">
            <a:extLst xmlns:a="http://schemas.openxmlformats.org/drawingml/2006/main">
              <a:ext uri="{FF2B5EF4-FFF2-40B4-BE49-F238E27FC236}">
                <a16:creationId xmlns:a16="http://schemas.microsoft.com/office/drawing/2014/main" id="{9FCFF25B-83AB-4996-A8F1-A1741AD05E9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DEC-0018 · 기존 Demo 지식 출처 감사 요약 · 제품 Memory 사용 기록 아님</a:t>
            </a:r>
          </a:p>
        </p:txBody>
      </p:sp>
      <p:sp>
        <p:nvSpPr>
          <p:cNvPr id="6" name="이 Demo에서 별도 후보를 찾지 못한 판단 · Memory의 일반적 불필요성을 주장하지 않음">
            <a:extLst xmlns:a="http://schemas.openxmlformats.org/drawingml/2006/main">
              <a:ext uri="{FF2B5EF4-FFF2-40B4-BE49-F238E27FC236}">
                <a16:creationId xmlns:a16="http://schemas.microsoft.com/office/drawing/2014/main" id="{202E1538-5F51-4807-A6BC-9F1B1CAAEA4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이 Demo에서 별도 후보를 찾지 못한 판단 · Memory의 일반적 불필요성을 주장하지 않음</a:t>
            </a:r>
          </a:p>
        </p:txBody>
      </p:sp>
      <p:sp>
        <p:nvSpPr>
          <p:cNvPr id="7" name="">
            <a:extLst xmlns:a="http://schemas.openxmlformats.org/drawingml/2006/main">
              <a:ext uri="{FF2B5EF4-FFF2-40B4-BE49-F238E27FC236}">
                <a16:creationId xmlns:a16="http://schemas.microsoft.com/office/drawing/2014/main" id="{F5109E9C-8266-4D5F-8194-20E0E5A3899F}"/>
              </a:ext>
            </a:extLst>
          </p:cNvPr>
          <p:cNvSpPr>
            <a:spLocks xmlns:a="http://schemas.openxmlformats.org/drawingml/2006/main" noGrp="1"/>
          </p:cNvSpPr>
          <p:nvPr/>
        </p:nvSpPr>
        <p:spPr>
          <a:xfrm xmlns:a="http://schemas.openxmlformats.org/drawingml/2006/main">
            <a:off x="609600" y="2209800"/>
            <a:ext cx="2571750" cy="20288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코드">
            <a:extLst xmlns:a="http://schemas.openxmlformats.org/drawingml/2006/main">
              <a:ext uri="{FF2B5EF4-FFF2-40B4-BE49-F238E27FC236}">
                <a16:creationId xmlns:a16="http://schemas.microsoft.com/office/drawing/2014/main" id="{A0BAEA2F-19E5-46D7-89CA-23D751ADCCF7}"/>
              </a:ext>
            </a:extLst>
          </p:cNvPr>
          <p:cNvSpPr>
            <a:spLocks xmlns:a="http://schemas.openxmlformats.org/drawingml/2006/main" noGrp="1"/>
          </p:cNvSpPr>
          <p:nvPr/>
        </p:nvSpPr>
        <p:spPr>
          <a:xfrm xmlns:a="http://schemas.openxmlformats.org/drawingml/2006/main">
            <a:off x="800100" y="232410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코드</a:t>
            </a:r>
          </a:p>
        </p:txBody>
      </p:sp>
      <p:sp>
        <p:nvSpPr>
          <p:cNvPr id="9" name="">
            <a:extLst xmlns:a="http://schemas.openxmlformats.org/drawingml/2006/main">
              <a:ext uri="{FF2B5EF4-FFF2-40B4-BE49-F238E27FC236}">
                <a16:creationId xmlns:a16="http://schemas.microsoft.com/office/drawing/2014/main" id="{1BF5BB19-6EAD-48F0-8711-27A9636B3E68}"/>
              </a:ext>
            </a:extLst>
          </p:cNvPr>
          <p:cNvSpPr>
            <a:spLocks xmlns:a="http://schemas.openxmlformats.org/drawingml/2006/main" noGrp="1"/>
          </p:cNvSpPr>
          <p:nvPr/>
        </p:nvSpPr>
        <p:spPr>
          <a:xfrm xmlns:a="http://schemas.openxmlformats.org/drawingml/2006/main">
            <a:off x="800100" y="2838450"/>
            <a:ext cx="2190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crop 구현&#10;끝 좌표 제외">
            <a:extLst xmlns:a="http://schemas.openxmlformats.org/drawingml/2006/main">
              <a:ext uri="{FF2B5EF4-FFF2-40B4-BE49-F238E27FC236}">
                <a16:creationId xmlns:a16="http://schemas.microsoft.com/office/drawing/2014/main" id="{6FB09908-F6E2-4781-A4BD-2A6AB56FDEFD}"/>
              </a:ext>
            </a:extLst>
          </p:cNvPr>
          <p:cNvSpPr>
            <a:spLocks xmlns:a="http://schemas.openxmlformats.org/drawingml/2006/main" noGrp="1"/>
          </p:cNvSpPr>
          <p:nvPr/>
        </p:nvSpPr>
        <p:spPr>
          <a:xfrm xmlns:a="http://schemas.openxmlformats.org/drawingml/2006/main">
            <a:off x="800100" y="2990850"/>
            <a:ext cx="2190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crop 구현</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끝 좌표 제외</a:t>
            </a:r>
          </a:p>
        </p:txBody>
      </p:sp>
      <p:sp>
        <p:nvSpPr>
          <p:cNvPr id="11" name="transform.py">
            <a:extLst xmlns:a="http://schemas.openxmlformats.org/drawingml/2006/main">
              <a:ext uri="{FF2B5EF4-FFF2-40B4-BE49-F238E27FC236}">
                <a16:creationId xmlns:a16="http://schemas.microsoft.com/office/drawing/2014/main" id="{F22FE1BC-4677-4F6C-9741-8F68D3AC7D93}"/>
              </a:ext>
            </a:extLst>
          </p:cNvPr>
          <p:cNvSpPr>
            <a:spLocks xmlns:a="http://schemas.openxmlformats.org/drawingml/2006/main" noGrp="1"/>
          </p:cNvSpPr>
          <p:nvPr/>
        </p:nvSpPr>
        <p:spPr>
          <a:xfrm xmlns:a="http://schemas.openxmlformats.org/drawingml/2006/main">
            <a:off x="800100" y="3838575"/>
            <a:ext cx="219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transform.py</a:t>
            </a:r>
          </a:p>
        </p:txBody>
      </p:sp>
      <p:sp>
        <p:nvSpPr>
          <p:cNvPr id="12" name="">
            <a:extLst xmlns:a="http://schemas.openxmlformats.org/drawingml/2006/main">
              <a:ext uri="{FF2B5EF4-FFF2-40B4-BE49-F238E27FC236}">
                <a16:creationId xmlns:a16="http://schemas.microsoft.com/office/drawing/2014/main" id="{AB85E56E-D813-404D-B78B-E2B48BE137B7}"/>
              </a:ext>
            </a:extLst>
          </p:cNvPr>
          <p:cNvSpPr>
            <a:spLocks xmlns:a="http://schemas.openxmlformats.org/drawingml/2006/main" noGrp="1"/>
          </p:cNvSpPr>
          <p:nvPr/>
        </p:nvSpPr>
        <p:spPr>
          <a:xfrm xmlns:a="http://schemas.openxmlformats.org/drawingml/2006/main">
            <a:off x="1895475" y="4238625"/>
            <a:ext cx="0" cy="400050"/>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13" name="">
            <a:extLst xmlns:a="http://schemas.openxmlformats.org/drawingml/2006/main">
              <a:ext uri="{FF2B5EF4-FFF2-40B4-BE49-F238E27FC236}">
                <a16:creationId xmlns:a16="http://schemas.microsoft.com/office/drawing/2014/main" id="{47BB3D9B-C83A-47C8-B86F-EFECF93FF37A}"/>
              </a:ext>
            </a:extLst>
          </p:cNvPr>
          <p:cNvSpPr>
            <a:spLocks xmlns:a="http://schemas.openxmlformats.org/drawingml/2006/main" noGrp="1"/>
          </p:cNvSpPr>
          <p:nvPr/>
        </p:nvSpPr>
        <p:spPr>
          <a:xfrm xmlns:a="http://schemas.openxmlformats.org/drawingml/2006/main">
            <a:off x="3409950" y="2209800"/>
            <a:ext cx="2571750" cy="20288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4" name="문서">
            <a:extLst xmlns:a="http://schemas.openxmlformats.org/drawingml/2006/main">
              <a:ext uri="{FF2B5EF4-FFF2-40B4-BE49-F238E27FC236}">
                <a16:creationId xmlns:a16="http://schemas.microsoft.com/office/drawing/2014/main" id="{640C0528-4F6F-4195-A1E2-A6F4CB5C64EF}"/>
              </a:ext>
            </a:extLst>
          </p:cNvPr>
          <p:cNvSpPr>
            <a:spLocks xmlns:a="http://schemas.openxmlformats.org/drawingml/2006/main" noGrp="1"/>
          </p:cNvSpPr>
          <p:nvPr/>
        </p:nvSpPr>
        <p:spPr>
          <a:xfrm xmlns:a="http://schemas.openxmlformats.org/drawingml/2006/main">
            <a:off x="3600450" y="232410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문서</a:t>
            </a:r>
          </a:p>
        </p:txBody>
      </p:sp>
      <p:sp>
        <p:nvSpPr>
          <p:cNvPr id="15" name="">
            <a:extLst xmlns:a="http://schemas.openxmlformats.org/drawingml/2006/main">
              <a:ext uri="{FF2B5EF4-FFF2-40B4-BE49-F238E27FC236}">
                <a16:creationId xmlns:a16="http://schemas.microsoft.com/office/drawing/2014/main" id="{A0948E02-1D42-4C45-965A-9FF29A8CF11C}"/>
              </a:ext>
            </a:extLst>
          </p:cNvPr>
          <p:cNvSpPr>
            <a:spLocks xmlns:a="http://schemas.openxmlformats.org/drawingml/2006/main" noGrp="1"/>
          </p:cNvSpPr>
          <p:nvPr/>
        </p:nvSpPr>
        <p:spPr>
          <a:xfrm xmlns:a="http://schemas.openxmlformats.org/drawingml/2006/main">
            <a:off x="3600450" y="2838450"/>
            <a:ext cx="2190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이미지 명세&#10;모듈 연결 순서">
            <a:extLst xmlns:a="http://schemas.openxmlformats.org/drawingml/2006/main">
              <a:ext uri="{FF2B5EF4-FFF2-40B4-BE49-F238E27FC236}">
                <a16:creationId xmlns:a16="http://schemas.microsoft.com/office/drawing/2014/main" id="{376898A1-BCED-48F0-96BC-B7E8D677E351}"/>
              </a:ext>
            </a:extLst>
          </p:cNvPr>
          <p:cNvSpPr>
            <a:spLocks xmlns:a="http://schemas.openxmlformats.org/drawingml/2006/main" noGrp="1"/>
          </p:cNvSpPr>
          <p:nvPr/>
        </p:nvSpPr>
        <p:spPr>
          <a:xfrm xmlns:a="http://schemas.openxmlformats.org/drawingml/2006/main">
            <a:off x="3600450" y="2990850"/>
            <a:ext cx="2190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이미지 명세</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모듈 연결 순서</a:t>
            </a:r>
          </a:p>
        </p:txBody>
      </p:sp>
      <p:sp>
        <p:nvSpPr>
          <p:cNvPr id="17" name="docs/">
            <a:extLst xmlns:a="http://schemas.openxmlformats.org/drawingml/2006/main">
              <a:ext uri="{FF2B5EF4-FFF2-40B4-BE49-F238E27FC236}">
                <a16:creationId xmlns:a16="http://schemas.microsoft.com/office/drawing/2014/main" id="{1113D406-3D21-4031-A478-AF9FC1C7DF8F}"/>
              </a:ext>
            </a:extLst>
          </p:cNvPr>
          <p:cNvSpPr>
            <a:spLocks xmlns:a="http://schemas.openxmlformats.org/drawingml/2006/main" noGrp="1"/>
          </p:cNvSpPr>
          <p:nvPr/>
        </p:nvSpPr>
        <p:spPr>
          <a:xfrm xmlns:a="http://schemas.openxmlformats.org/drawingml/2006/main">
            <a:off x="3600450" y="3838575"/>
            <a:ext cx="219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docs/</a:t>
            </a:r>
          </a:p>
        </p:txBody>
      </p:sp>
      <p:sp>
        <p:nvSpPr>
          <p:cNvPr id="18" name="">
            <a:extLst xmlns:a="http://schemas.openxmlformats.org/drawingml/2006/main">
              <a:ext uri="{FF2B5EF4-FFF2-40B4-BE49-F238E27FC236}">
                <a16:creationId xmlns:a16="http://schemas.microsoft.com/office/drawing/2014/main" id="{BC25E5C6-D824-46C3-9056-1869FECF5241}"/>
              </a:ext>
            </a:extLst>
          </p:cNvPr>
          <p:cNvSpPr>
            <a:spLocks xmlns:a="http://schemas.openxmlformats.org/drawingml/2006/main" noGrp="1"/>
          </p:cNvSpPr>
          <p:nvPr/>
        </p:nvSpPr>
        <p:spPr>
          <a:xfrm xmlns:a="http://schemas.openxmlformats.org/drawingml/2006/main">
            <a:off x="4695825" y="4238625"/>
            <a:ext cx="0" cy="400050"/>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19" name="">
            <a:extLst xmlns:a="http://schemas.openxmlformats.org/drawingml/2006/main">
              <a:ext uri="{FF2B5EF4-FFF2-40B4-BE49-F238E27FC236}">
                <a16:creationId xmlns:a16="http://schemas.microsoft.com/office/drawing/2014/main" id="{D62386D6-FAF9-46F9-B8E3-EBDFD8128251}"/>
              </a:ext>
            </a:extLst>
          </p:cNvPr>
          <p:cNvSpPr>
            <a:spLocks xmlns:a="http://schemas.openxmlformats.org/drawingml/2006/main" noGrp="1"/>
          </p:cNvSpPr>
          <p:nvPr/>
        </p:nvSpPr>
        <p:spPr>
          <a:xfrm xmlns:a="http://schemas.openxmlformats.org/drawingml/2006/main">
            <a:off x="6210300" y="2209800"/>
            <a:ext cx="2571750" cy="20288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0" name="Skill">
            <a:extLst xmlns:a="http://schemas.openxmlformats.org/drawingml/2006/main">
              <a:ext uri="{FF2B5EF4-FFF2-40B4-BE49-F238E27FC236}">
                <a16:creationId xmlns:a16="http://schemas.microsoft.com/office/drawing/2014/main" id="{54801C9A-7691-4D14-9835-C424B0839177}"/>
              </a:ext>
            </a:extLst>
          </p:cNvPr>
          <p:cNvSpPr>
            <a:spLocks xmlns:a="http://schemas.openxmlformats.org/drawingml/2006/main" noGrp="1"/>
          </p:cNvSpPr>
          <p:nvPr/>
        </p:nvSpPr>
        <p:spPr>
          <a:xfrm xmlns:a="http://schemas.openxmlformats.org/drawingml/2006/main">
            <a:off x="6400800" y="232410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Skill</a:t>
            </a:r>
          </a:p>
        </p:txBody>
      </p:sp>
      <p:sp>
        <p:nvSpPr>
          <p:cNvPr id="21" name="">
            <a:extLst xmlns:a="http://schemas.openxmlformats.org/drawingml/2006/main">
              <a:ext uri="{FF2B5EF4-FFF2-40B4-BE49-F238E27FC236}">
                <a16:creationId xmlns:a16="http://schemas.microsoft.com/office/drawing/2014/main" id="{02BC6209-2001-4964-9FF5-EBBD786ECF28}"/>
              </a:ext>
            </a:extLst>
          </p:cNvPr>
          <p:cNvSpPr>
            <a:spLocks xmlns:a="http://schemas.openxmlformats.org/drawingml/2006/main" noGrp="1"/>
          </p:cNvSpPr>
          <p:nvPr/>
        </p:nvSpPr>
        <p:spPr>
          <a:xfrm xmlns:a="http://schemas.openxmlformats.org/drawingml/2006/main">
            <a:off x="6400800" y="2838450"/>
            <a:ext cx="2190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성능 작업의&#10;조사·검증 절차">
            <a:extLst xmlns:a="http://schemas.openxmlformats.org/drawingml/2006/main">
              <a:ext uri="{FF2B5EF4-FFF2-40B4-BE49-F238E27FC236}">
                <a16:creationId xmlns:a16="http://schemas.microsoft.com/office/drawing/2014/main" id="{1BADC1BA-0201-4337-841F-9B8A6A463552}"/>
              </a:ext>
            </a:extLst>
          </p:cNvPr>
          <p:cNvSpPr>
            <a:spLocks xmlns:a="http://schemas.openxmlformats.org/drawingml/2006/main" noGrp="1"/>
          </p:cNvSpPr>
          <p:nvPr/>
        </p:nvSpPr>
        <p:spPr>
          <a:xfrm xmlns:a="http://schemas.openxmlformats.org/drawingml/2006/main">
            <a:off x="6400800" y="2990850"/>
            <a:ext cx="2190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성능 작업의</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조사·검증 절차</a:t>
            </a:r>
          </a:p>
        </p:txBody>
      </p:sp>
      <p:sp>
        <p:nvSpPr>
          <p:cNvPr id="23" name="SKILL.md">
            <a:extLst xmlns:a="http://schemas.openxmlformats.org/drawingml/2006/main">
              <a:ext uri="{FF2B5EF4-FFF2-40B4-BE49-F238E27FC236}">
                <a16:creationId xmlns:a16="http://schemas.microsoft.com/office/drawing/2014/main" id="{C2B77EA1-86E9-4BFA-816B-2D2C6BEE5551}"/>
              </a:ext>
            </a:extLst>
          </p:cNvPr>
          <p:cNvSpPr>
            <a:spLocks xmlns:a="http://schemas.openxmlformats.org/drawingml/2006/main" noGrp="1"/>
          </p:cNvSpPr>
          <p:nvPr/>
        </p:nvSpPr>
        <p:spPr>
          <a:xfrm xmlns:a="http://schemas.openxmlformats.org/drawingml/2006/main">
            <a:off x="6400800" y="3838575"/>
            <a:ext cx="219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SKILL.md</a:t>
            </a:r>
          </a:p>
        </p:txBody>
      </p:sp>
      <p:sp>
        <p:nvSpPr>
          <p:cNvPr id="24" name="">
            <a:extLst xmlns:a="http://schemas.openxmlformats.org/drawingml/2006/main">
              <a:ext uri="{FF2B5EF4-FFF2-40B4-BE49-F238E27FC236}">
                <a16:creationId xmlns:a16="http://schemas.microsoft.com/office/drawing/2014/main" id="{284DD0B1-A71C-4299-84AB-64208809F556}"/>
              </a:ext>
            </a:extLst>
          </p:cNvPr>
          <p:cNvSpPr>
            <a:spLocks xmlns:a="http://schemas.openxmlformats.org/drawingml/2006/main" noGrp="1"/>
          </p:cNvSpPr>
          <p:nvPr/>
        </p:nvSpPr>
        <p:spPr>
          <a:xfrm xmlns:a="http://schemas.openxmlformats.org/drawingml/2006/main">
            <a:off x="7496175" y="4238625"/>
            <a:ext cx="0" cy="400050"/>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25" name="">
            <a:extLst xmlns:a="http://schemas.openxmlformats.org/drawingml/2006/main">
              <a:ext uri="{FF2B5EF4-FFF2-40B4-BE49-F238E27FC236}">
                <a16:creationId xmlns:a16="http://schemas.microsoft.com/office/drawing/2014/main" id="{8B6175E8-52B6-4671-8285-917D957A9099}"/>
              </a:ext>
            </a:extLst>
          </p:cNvPr>
          <p:cNvSpPr>
            <a:spLocks xmlns:a="http://schemas.openxmlformats.org/drawingml/2006/main" noGrp="1"/>
          </p:cNvSpPr>
          <p:nvPr/>
        </p:nvSpPr>
        <p:spPr>
          <a:xfrm xmlns:a="http://schemas.openxmlformats.org/drawingml/2006/main">
            <a:off x="9010650" y="2209800"/>
            <a:ext cx="2571750" cy="20288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6" name="Trial 기록">
            <a:extLst xmlns:a="http://schemas.openxmlformats.org/drawingml/2006/main">
              <a:ext uri="{FF2B5EF4-FFF2-40B4-BE49-F238E27FC236}">
                <a16:creationId xmlns:a16="http://schemas.microsoft.com/office/drawing/2014/main" id="{CBCA7AAE-2D07-42CC-915A-19C641FE6A27}"/>
              </a:ext>
            </a:extLst>
          </p:cNvPr>
          <p:cNvSpPr>
            <a:spLocks xmlns:a="http://schemas.openxmlformats.org/drawingml/2006/main" noGrp="1"/>
          </p:cNvSpPr>
          <p:nvPr/>
        </p:nvSpPr>
        <p:spPr>
          <a:xfrm xmlns:a="http://schemas.openxmlformats.org/drawingml/2006/main">
            <a:off x="9201150" y="232410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Trial 기록</a:t>
            </a:r>
          </a:p>
        </p:txBody>
      </p:sp>
      <p:sp>
        <p:nvSpPr>
          <p:cNvPr id="27" name="">
            <a:extLst xmlns:a="http://schemas.openxmlformats.org/drawingml/2006/main">
              <a:ext uri="{FF2B5EF4-FFF2-40B4-BE49-F238E27FC236}">
                <a16:creationId xmlns:a16="http://schemas.microsoft.com/office/drawing/2014/main" id="{CE9EF3FC-E640-4149-8306-981FFA06DCA5}"/>
              </a:ext>
            </a:extLst>
          </p:cNvPr>
          <p:cNvSpPr>
            <a:spLocks xmlns:a="http://schemas.openxmlformats.org/drawingml/2006/main" noGrp="1"/>
          </p:cNvSpPr>
          <p:nvPr/>
        </p:nvSpPr>
        <p:spPr>
          <a:xfrm xmlns:a="http://schemas.openxmlformats.org/drawingml/2006/main">
            <a:off x="9201150" y="2838450"/>
            <a:ext cx="2190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8" name="측정값·입력·환경&#10;날짜·Git 이력">
            <a:extLst xmlns:a="http://schemas.openxmlformats.org/drawingml/2006/main">
              <a:ext uri="{FF2B5EF4-FFF2-40B4-BE49-F238E27FC236}">
                <a16:creationId xmlns:a16="http://schemas.microsoft.com/office/drawing/2014/main" id="{4544E319-EABA-4B01-8F14-ADB26735B0D9}"/>
              </a:ext>
            </a:extLst>
          </p:cNvPr>
          <p:cNvSpPr>
            <a:spLocks xmlns:a="http://schemas.openxmlformats.org/drawingml/2006/main" noGrp="1"/>
          </p:cNvSpPr>
          <p:nvPr/>
        </p:nvSpPr>
        <p:spPr>
          <a:xfrm xmlns:a="http://schemas.openxmlformats.org/drawingml/2006/main">
            <a:off x="9201150" y="2990850"/>
            <a:ext cx="2190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측정값·입력·환경</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날짜·Git 이력</a:t>
            </a:r>
          </a:p>
        </p:txBody>
      </p:sp>
      <p:sp>
        <p:nvSpPr>
          <p:cNvPr id="29" name="DEMO_MATRIX.md">
            <a:extLst xmlns:a="http://schemas.openxmlformats.org/drawingml/2006/main">
              <a:ext uri="{FF2B5EF4-FFF2-40B4-BE49-F238E27FC236}">
                <a16:creationId xmlns:a16="http://schemas.microsoft.com/office/drawing/2014/main" id="{0F1949DA-ED2C-4536-873B-CA969D01FECB}"/>
              </a:ext>
            </a:extLst>
          </p:cNvPr>
          <p:cNvSpPr>
            <a:spLocks xmlns:a="http://schemas.openxmlformats.org/drawingml/2006/main" noGrp="1"/>
          </p:cNvSpPr>
          <p:nvPr/>
        </p:nvSpPr>
        <p:spPr>
          <a:xfrm xmlns:a="http://schemas.openxmlformats.org/drawingml/2006/main">
            <a:off x="9201150" y="3838575"/>
            <a:ext cx="219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DEMO_MATRIX.md</a:t>
            </a:r>
          </a:p>
        </p:txBody>
      </p:sp>
      <p:sp>
        <p:nvSpPr>
          <p:cNvPr id="30" name="">
            <a:extLst xmlns:a="http://schemas.openxmlformats.org/drawingml/2006/main">
              <a:ext uri="{FF2B5EF4-FFF2-40B4-BE49-F238E27FC236}">
                <a16:creationId xmlns:a16="http://schemas.microsoft.com/office/drawing/2014/main" id="{27F96A17-F14F-4CEE-92DE-B2FD669F1E29}"/>
              </a:ext>
            </a:extLst>
          </p:cNvPr>
          <p:cNvSpPr>
            <a:spLocks xmlns:a="http://schemas.openxmlformats.org/drawingml/2006/main" noGrp="1"/>
          </p:cNvSpPr>
          <p:nvPr/>
        </p:nvSpPr>
        <p:spPr>
          <a:xfrm xmlns:a="http://schemas.openxmlformats.org/drawingml/2006/main">
            <a:off x="10296525" y="4238625"/>
            <a:ext cx="0" cy="400050"/>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31" name="">
            <a:extLst xmlns:a="http://schemas.openxmlformats.org/drawingml/2006/main">
              <a:ext uri="{FF2B5EF4-FFF2-40B4-BE49-F238E27FC236}">
                <a16:creationId xmlns:a16="http://schemas.microsoft.com/office/drawing/2014/main" id="{874C5FB0-458F-498C-9DA6-A8C12875A46E}"/>
              </a:ext>
            </a:extLst>
          </p:cNvPr>
          <p:cNvSpPr>
            <a:spLocks xmlns:a="http://schemas.openxmlformats.org/drawingml/2006/main" noGrp="1"/>
          </p:cNvSpPr>
          <p:nvPr/>
        </p:nvSpPr>
        <p:spPr>
          <a:xfrm xmlns:a="http://schemas.openxmlformats.org/drawingml/2006/main">
            <a:off x="1895475" y="4638675"/>
            <a:ext cx="840105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32" name="">
            <a:extLst xmlns:a="http://schemas.openxmlformats.org/drawingml/2006/main">
              <a:ext uri="{FF2B5EF4-FFF2-40B4-BE49-F238E27FC236}">
                <a16:creationId xmlns:a16="http://schemas.microsoft.com/office/drawing/2014/main" id="{E8995631-B01C-4D25-A967-B2BC45CC2F3D}"/>
              </a:ext>
            </a:extLst>
          </p:cNvPr>
          <p:cNvCxnSpPr/>
          <p:nvPr/>
        </p:nvCxnSpPr>
        <p:spPr>
          <a:xfrm xmlns:a="http://schemas.openxmlformats.org/drawingml/2006/main">
            <a:off x="6096000" y="4638675"/>
            <a:ext cx="0" cy="25717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33" name="확인할 정보는 이미 원래 출처에 있었다">
            <a:extLst xmlns:a="http://schemas.openxmlformats.org/drawingml/2006/main">
              <a:ext uri="{FF2B5EF4-FFF2-40B4-BE49-F238E27FC236}">
                <a16:creationId xmlns:a16="http://schemas.microsoft.com/office/drawing/2014/main" id="{75AFBABD-8E08-401C-9821-3E8046AFC211}"/>
              </a:ext>
            </a:extLst>
          </p:cNvPr>
          <p:cNvSpPr>
            <a:spLocks xmlns:a="http://schemas.openxmlformats.org/drawingml/2006/main" noGrp="1"/>
          </p:cNvSpPr>
          <p:nvPr/>
        </p:nvSpPr>
        <p:spPr>
          <a:xfrm xmlns:a="http://schemas.openxmlformats.org/drawingml/2006/main">
            <a:off x="609600" y="49625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325" b="1">
                <a:solidFill>
                  <a:srgbClr val="17212B"/>
                </a:solidFill>
                <a:latin typeface="Malgun Gothic"/>
                <a:ea typeface="Malgun Gothic"/>
                <a:cs typeface="Malgun Gothic"/>
              </a:defRPr>
            </a:defPPr>
            <a:lvl1pPr algn="ctr">
              <a:defRPr sz="2325" b="1">
                <a:solidFill>
                  <a:srgbClr val="17212B"/>
                </a:solidFill>
                <a:latin typeface="Malgun Gothic"/>
                <a:ea typeface="Malgun Gothic"/>
                <a:cs typeface="Malgun Gothic"/>
              </a:defRPr>
            </a:lvl1pPr>
            <a:lvl2pPr algn="ctr">
              <a:defRPr sz="2325" b="1">
                <a:solidFill>
                  <a:srgbClr val="17212B"/>
                </a:solidFill>
                <a:latin typeface="Malgun Gothic"/>
                <a:ea typeface="Malgun Gothic"/>
                <a:cs typeface="Malgun Gothic"/>
              </a:defRPr>
            </a:lvl2pPr>
            <a:lvl3pPr algn="ctr">
              <a:defRPr sz="2325" b="1">
                <a:solidFill>
                  <a:srgbClr val="17212B"/>
                </a:solidFill>
                <a:latin typeface="Malgun Gothic"/>
                <a:ea typeface="Malgun Gothic"/>
                <a:cs typeface="Malgun Gothic"/>
              </a:defRPr>
            </a:lvl3pPr>
            <a:lvl4pPr algn="ctr">
              <a:defRPr sz="2325" b="1">
                <a:solidFill>
                  <a:srgbClr val="17212B"/>
                </a:solidFill>
                <a:latin typeface="Malgun Gothic"/>
                <a:ea typeface="Malgun Gothic"/>
                <a:cs typeface="Malgun Gothic"/>
              </a:defRPr>
            </a:lvl4pPr>
            <a:lvl5pPr algn="ctr">
              <a:defRPr sz="2325" b="1">
                <a:solidFill>
                  <a:srgbClr val="17212B"/>
                </a:solidFill>
                <a:latin typeface="Malgun Gothic"/>
                <a:ea typeface="Malgun Gothic"/>
                <a:cs typeface="Malgun Gothic"/>
              </a:defRPr>
            </a:lvl5pPr>
            <a:lvl6pPr algn="ctr">
              <a:defRPr sz="2325" b="1">
                <a:solidFill>
                  <a:srgbClr val="17212B"/>
                </a:solidFill>
                <a:latin typeface="Malgun Gothic"/>
                <a:ea typeface="Malgun Gothic"/>
                <a:cs typeface="Malgun Gothic"/>
              </a:defRPr>
            </a:lvl6pPr>
            <a:lvl7pPr algn="ctr">
              <a:defRPr sz="2325" b="1">
                <a:solidFill>
                  <a:srgbClr val="17212B"/>
                </a:solidFill>
                <a:latin typeface="Malgun Gothic"/>
                <a:ea typeface="Malgun Gothic"/>
                <a:cs typeface="Malgun Gothic"/>
              </a:defRPr>
            </a:lvl7pPr>
            <a:lvl8pPr algn="ctr">
              <a:defRPr sz="2325" b="1">
                <a:solidFill>
                  <a:srgbClr val="17212B"/>
                </a:solidFill>
                <a:latin typeface="Malgun Gothic"/>
                <a:ea typeface="Malgun Gothic"/>
                <a:cs typeface="Malgun Gothic"/>
              </a:defRPr>
            </a:lvl8pPr>
            <a:lvl9pPr algn="ctr">
              <a:defRPr sz="2325" b="1">
                <a:solidFill>
                  <a:srgbClr val="17212B"/>
                </a:solidFill>
                <a:latin typeface="Malgun Gothic"/>
                <a:ea typeface="Malgun Gothic"/>
                <a:cs typeface="Malgun Gothic"/>
              </a:defRPr>
            </a:lvl9pPr>
          </a:lstStyle>
          <a:p xmlns:a="http://schemas.openxmlformats.org/drawingml/2006/main">
            <a:pPr algn="ctr">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확인할 정보는 이미 원래 출처에 있었다</a:t>
            </a:r>
          </a:p>
        </p:txBody>
      </p:sp>
      <p:sp>
        <p:nvSpPr>
          <p:cNvPr id="34" name="별도 보존 후보가 없어 Memory는 추가하지 않았다">
            <a:extLst xmlns:a="http://schemas.openxmlformats.org/drawingml/2006/main">
              <a:ext uri="{FF2B5EF4-FFF2-40B4-BE49-F238E27FC236}">
                <a16:creationId xmlns:a16="http://schemas.microsoft.com/office/drawing/2014/main" id="{E8BCCD6C-0D76-4330-85E3-C34CC548E4CD}"/>
              </a:ext>
            </a:extLst>
          </p:cNvPr>
          <p:cNvSpPr>
            <a:spLocks xmlns:a="http://schemas.openxmlformats.org/drawingml/2006/main" noGrp="1"/>
          </p:cNvSpPr>
          <p:nvPr/>
        </p:nvSpPr>
        <p:spPr>
          <a:xfrm xmlns:a="http://schemas.openxmlformats.org/drawingml/2006/main">
            <a:off x="609600" y="541020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별도 보존 후보가 없어 Memory는 추가하지 않았다</a:t>
            </a:r>
          </a:p>
        </p:txBody>
      </p:sp>
      <p:sp>
        <p:nvSpPr>
          <p:cNvPr id="35" name="Legacy module connection">
            <a:extLst xmlns:a="http://schemas.openxmlformats.org/drawingml/2006/main">
              <a:ext uri="{FF2B5EF4-FFF2-40B4-BE49-F238E27FC236}">
                <a16:creationId xmlns:a16="http://schemas.microsoft.com/office/drawing/2014/main" id="{90DC7B32-2844-4782-9435-4DD1475EC9C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620442377"/>
      </p:ext>
    </p:extLst>
  </p:cSld>
</p:sld>
</file>

<file path=ppt/slides/slide1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3 · 실제 밝기 통계 작업의 구성">
            <a:extLst xmlns:a="http://schemas.openxmlformats.org/drawingml/2006/main">
              <a:ext uri="{FF2B5EF4-FFF2-40B4-BE49-F238E27FC236}">
                <a16:creationId xmlns:a16="http://schemas.microsoft.com/office/drawing/2014/main" id="{5F95AD95-68D1-49D9-A7EF-F469A29B26B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실제 밝기 통계 작업의 구성</a:t>
            </a:r>
          </a:p>
        </p:txBody>
      </p:sp>
      <p:sp>
        <p:nvSpPr>
          <p:cNvPr id="2" name="S72">
            <a:extLst xmlns:a="http://schemas.openxmlformats.org/drawingml/2006/main">
              <a:ext uri="{FF2B5EF4-FFF2-40B4-BE49-F238E27FC236}">
                <a16:creationId xmlns:a16="http://schemas.microsoft.com/office/drawing/2014/main" id="{54EB15D2-1DCE-4DF3-A110-9F5340B2E3C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S72</a:t>
            </a:r>
          </a:p>
        </p:txBody>
      </p:sp>
      <p:sp>
        <p:nvSpPr>
          <p:cNvPr id="3" name="밝기 통계 작업에 쓰인 구성의 역할">
            <a:extLst xmlns:a="http://schemas.openxmlformats.org/drawingml/2006/main">
              <a:ext uri="{FF2B5EF4-FFF2-40B4-BE49-F238E27FC236}">
                <a16:creationId xmlns:a16="http://schemas.microsoft.com/office/drawing/2014/main" id="{8B0EFA8C-9FA3-49A3-B53F-51FDC522D2D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밝기 통계 작업에 쓰인 구성의 역할</a:t>
            </a:r>
          </a:p>
        </p:txBody>
      </p:sp>
      <p:sp>
        <p:nvSpPr>
          <p:cNvPr id="4" name="">
            <a:extLst xmlns:a="http://schemas.openxmlformats.org/drawingml/2006/main">
              <a:ext uri="{FF2B5EF4-FFF2-40B4-BE49-F238E27FC236}">
                <a16:creationId xmlns:a16="http://schemas.microsoft.com/office/drawing/2014/main" id="{9C228A42-2187-45DE-B042-4BBA6C40A62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PERF · 실제 구성·작업 기록 요약 · 도식 재구성">
            <a:extLst xmlns:a="http://schemas.openxmlformats.org/drawingml/2006/main">
              <a:ext uri="{FF2B5EF4-FFF2-40B4-BE49-F238E27FC236}">
                <a16:creationId xmlns:a16="http://schemas.microsoft.com/office/drawing/2014/main" id="{EC067972-A0DD-4F01-B756-F6B909F3400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STATE-04-PERF · 실제 구성·작업 기록 요약 · 도식 재구성</a:t>
            </a:r>
          </a:p>
        </p:txBody>
      </p:sp>
      <p:sp>
        <p:nvSpPr>
          <p:cNvPr id="6" name="Subagent·별도 Memory는 추가하지 않음 · 각 요소의 단독 성능 효과는 입증하지 않음">
            <a:extLst xmlns:a="http://schemas.openxmlformats.org/drawingml/2006/main">
              <a:ext uri="{FF2B5EF4-FFF2-40B4-BE49-F238E27FC236}">
                <a16:creationId xmlns:a16="http://schemas.microsoft.com/office/drawing/2014/main" id="{1170CDF6-0DFB-48F0-A566-1D239394720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Subagent·별도 Memory는 추가하지 않음 · 각 요소의 단독 성능 효과는 입증하지 않음</a:t>
            </a:r>
          </a:p>
        </p:txBody>
      </p:sp>
      <p:sp>
        <p:nvSpPr>
          <p:cNvPr id="7" name="">
            <a:extLst xmlns:a="http://schemas.openxmlformats.org/drawingml/2006/main">
              <a:ext uri="{FF2B5EF4-FFF2-40B4-BE49-F238E27FC236}">
                <a16:creationId xmlns:a16="http://schemas.microsoft.com/office/drawing/2014/main" id="{84A2A4BA-178B-4820-BCC5-A1AD555E5B28}"/>
              </a:ext>
            </a:extLst>
          </p:cNvPr>
          <p:cNvSpPr>
            <a:spLocks xmlns:a="http://schemas.openxmlformats.org/drawingml/2006/main" noGrp="1"/>
          </p:cNvSpPr>
          <p:nvPr/>
        </p:nvSpPr>
        <p:spPr>
          <a:xfrm xmlns:a="http://schemas.openxmlformats.org/drawingml/2006/main">
            <a:off x="609600" y="1885950"/>
            <a:ext cx="3695700" cy="11430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8" name="목표">
            <a:extLst xmlns:a="http://schemas.openxmlformats.org/drawingml/2006/main">
              <a:ext uri="{FF2B5EF4-FFF2-40B4-BE49-F238E27FC236}">
                <a16:creationId xmlns:a16="http://schemas.microsoft.com/office/drawing/2014/main" id="{3FED03EB-AF67-4251-A3B0-7F96CE048356}"/>
              </a:ext>
            </a:extLst>
          </p:cNvPr>
          <p:cNvSpPr>
            <a:spLocks xmlns:a="http://schemas.openxmlformats.org/drawingml/2006/main" noGrp="1"/>
          </p:cNvSpPr>
          <p:nvPr/>
        </p:nvSpPr>
        <p:spPr>
          <a:xfrm xmlns:a="http://schemas.openxmlformats.org/drawingml/2006/main">
            <a:off x="800100" y="1971675"/>
            <a:ext cx="3314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목표</a:t>
            </a:r>
          </a:p>
        </p:txBody>
      </p:sp>
      <p:sp>
        <p:nvSpPr>
          <p:cNvPr id="9" name="밝기 통계 성능 조사&#10;출력 6항목 유지">
            <a:extLst xmlns:a="http://schemas.openxmlformats.org/drawingml/2006/main">
              <a:ext uri="{FF2B5EF4-FFF2-40B4-BE49-F238E27FC236}">
                <a16:creationId xmlns:a16="http://schemas.microsoft.com/office/drawing/2014/main" id="{4F505807-E1AD-43F5-B9D8-8CFA65F0BC3A}"/>
              </a:ext>
            </a:extLst>
          </p:cNvPr>
          <p:cNvSpPr>
            <a:spLocks xmlns:a="http://schemas.openxmlformats.org/drawingml/2006/main" noGrp="1"/>
          </p:cNvSpPr>
          <p:nvPr/>
        </p:nvSpPr>
        <p:spPr>
          <a:xfrm xmlns:a="http://schemas.openxmlformats.org/drawingml/2006/main">
            <a:off x="800100" y="2352675"/>
            <a:ext cx="33147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밝기 통계 성능 조사</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출력 6항목 유지</a:t>
            </a:r>
          </a:p>
        </p:txBody>
      </p:sp>
      <p:sp>
        <p:nvSpPr>
          <p:cNvPr id="10" name="">
            <a:extLst xmlns:a="http://schemas.openxmlformats.org/drawingml/2006/main">
              <a:ext uri="{FF2B5EF4-FFF2-40B4-BE49-F238E27FC236}">
                <a16:creationId xmlns:a16="http://schemas.microsoft.com/office/drawing/2014/main" id="{0CDA8ADA-E9A8-4B79-9E8C-54BFD553A06A}"/>
              </a:ext>
            </a:extLst>
          </p:cNvPr>
          <p:cNvSpPr>
            <a:spLocks xmlns:a="http://schemas.openxmlformats.org/drawingml/2006/main" noGrp="1"/>
          </p:cNvSpPr>
          <p:nvPr/>
        </p:nvSpPr>
        <p:spPr>
          <a:xfrm xmlns:a="http://schemas.openxmlformats.org/drawingml/2006/main">
            <a:off x="4305300" y="2457450"/>
            <a:ext cx="66675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1" name="">
            <a:extLst xmlns:a="http://schemas.openxmlformats.org/drawingml/2006/main">
              <a:ext uri="{FF2B5EF4-FFF2-40B4-BE49-F238E27FC236}">
                <a16:creationId xmlns:a16="http://schemas.microsoft.com/office/drawing/2014/main" id="{8CBC097C-D46A-43C1-84BE-48D0138182D8}"/>
              </a:ext>
            </a:extLst>
          </p:cNvPr>
          <p:cNvSpPr>
            <a:spLocks xmlns:a="http://schemas.openxmlformats.org/drawingml/2006/main" noGrp="1"/>
          </p:cNvSpPr>
          <p:nvPr/>
        </p:nvSpPr>
        <p:spPr>
          <a:xfrm xmlns:a="http://schemas.openxmlformats.org/drawingml/2006/main">
            <a:off x="609600" y="3190875"/>
            <a:ext cx="3695700" cy="11430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2" name="Context">
            <a:extLst xmlns:a="http://schemas.openxmlformats.org/drawingml/2006/main">
              <a:ext uri="{FF2B5EF4-FFF2-40B4-BE49-F238E27FC236}">
                <a16:creationId xmlns:a16="http://schemas.microsoft.com/office/drawing/2014/main" id="{7D3C5662-9245-4870-A657-44E78F0E020C}"/>
              </a:ext>
            </a:extLst>
          </p:cNvPr>
          <p:cNvSpPr>
            <a:spLocks xmlns:a="http://schemas.openxmlformats.org/drawingml/2006/main" noGrp="1"/>
          </p:cNvSpPr>
          <p:nvPr/>
        </p:nvSpPr>
        <p:spPr>
          <a:xfrm xmlns:a="http://schemas.openxmlformats.org/drawingml/2006/main">
            <a:off x="800100" y="3276600"/>
            <a:ext cx="3314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Context</a:t>
            </a:r>
          </a:p>
        </p:txBody>
      </p:sp>
      <p:sp>
        <p:nvSpPr>
          <p:cNvPr id="13" name="명세·명령·참고 위치&#10;AGENTS.md · 상세 문서">
            <a:extLst xmlns:a="http://schemas.openxmlformats.org/drawingml/2006/main">
              <a:ext uri="{FF2B5EF4-FFF2-40B4-BE49-F238E27FC236}">
                <a16:creationId xmlns:a16="http://schemas.microsoft.com/office/drawing/2014/main" id="{2C6DB75A-B736-4CA0-9E3E-E0416A53D213}"/>
              </a:ext>
            </a:extLst>
          </p:cNvPr>
          <p:cNvSpPr>
            <a:spLocks xmlns:a="http://schemas.openxmlformats.org/drawingml/2006/main" noGrp="1"/>
          </p:cNvSpPr>
          <p:nvPr/>
        </p:nvSpPr>
        <p:spPr>
          <a:xfrm xmlns:a="http://schemas.openxmlformats.org/drawingml/2006/main">
            <a:off x="800100" y="3657600"/>
            <a:ext cx="33147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명세·명령·참고 위치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AGENTS.md · 상세 문서</a:t>
            </a:r>
          </a:p>
        </p:txBody>
      </p:sp>
      <p:sp>
        <p:nvSpPr>
          <p:cNvPr id="14" name="">
            <a:extLst xmlns:a="http://schemas.openxmlformats.org/drawingml/2006/main">
              <a:ext uri="{FF2B5EF4-FFF2-40B4-BE49-F238E27FC236}">
                <a16:creationId xmlns:a16="http://schemas.microsoft.com/office/drawing/2014/main" id="{D1B396F0-9BB5-48A2-870F-9FB73C74280F}"/>
              </a:ext>
            </a:extLst>
          </p:cNvPr>
          <p:cNvSpPr>
            <a:spLocks xmlns:a="http://schemas.openxmlformats.org/drawingml/2006/main" noGrp="1"/>
          </p:cNvSpPr>
          <p:nvPr/>
        </p:nvSpPr>
        <p:spPr>
          <a:xfrm xmlns:a="http://schemas.openxmlformats.org/drawingml/2006/main">
            <a:off x="4305300" y="3762375"/>
            <a:ext cx="66675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5" name="">
            <a:extLst xmlns:a="http://schemas.openxmlformats.org/drawingml/2006/main">
              <a:ext uri="{FF2B5EF4-FFF2-40B4-BE49-F238E27FC236}">
                <a16:creationId xmlns:a16="http://schemas.microsoft.com/office/drawing/2014/main" id="{068B2376-5247-4E5C-A1EE-73CB8CE9C015}"/>
              </a:ext>
            </a:extLst>
          </p:cNvPr>
          <p:cNvSpPr>
            <a:spLocks xmlns:a="http://schemas.openxmlformats.org/drawingml/2006/main" noGrp="1"/>
          </p:cNvSpPr>
          <p:nvPr/>
        </p:nvSpPr>
        <p:spPr>
          <a:xfrm xmlns:a="http://schemas.openxmlformats.org/drawingml/2006/main">
            <a:off x="609600" y="4495800"/>
            <a:ext cx="3695700" cy="11430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Skill">
            <a:extLst xmlns:a="http://schemas.openxmlformats.org/drawingml/2006/main">
              <a:ext uri="{FF2B5EF4-FFF2-40B4-BE49-F238E27FC236}">
                <a16:creationId xmlns:a16="http://schemas.microsoft.com/office/drawing/2014/main" id="{C5B28B24-ABB0-4E77-B400-9302F1CF1883}"/>
              </a:ext>
            </a:extLst>
          </p:cNvPr>
          <p:cNvSpPr>
            <a:spLocks xmlns:a="http://schemas.openxmlformats.org/drawingml/2006/main" noGrp="1"/>
          </p:cNvSpPr>
          <p:nvPr/>
        </p:nvSpPr>
        <p:spPr>
          <a:xfrm xmlns:a="http://schemas.openxmlformats.org/drawingml/2006/main">
            <a:off x="800100" y="4581525"/>
            <a:ext cx="3314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Skill</a:t>
            </a:r>
          </a:p>
        </p:txBody>
      </p:sp>
      <p:sp>
        <p:nvSpPr>
          <p:cNvPr id="17" name="기준선·조사·변경·비교&#10;Repository 성능 Skill">
            <a:extLst xmlns:a="http://schemas.openxmlformats.org/drawingml/2006/main">
              <a:ext uri="{FF2B5EF4-FFF2-40B4-BE49-F238E27FC236}">
                <a16:creationId xmlns:a16="http://schemas.microsoft.com/office/drawing/2014/main" id="{94B419C9-7ECD-4BDB-A27B-A05E34D61ED7}"/>
              </a:ext>
            </a:extLst>
          </p:cNvPr>
          <p:cNvSpPr>
            <a:spLocks xmlns:a="http://schemas.openxmlformats.org/drawingml/2006/main" noGrp="1"/>
          </p:cNvSpPr>
          <p:nvPr/>
        </p:nvSpPr>
        <p:spPr>
          <a:xfrm xmlns:a="http://schemas.openxmlformats.org/drawingml/2006/main">
            <a:off x="800100" y="4962525"/>
            <a:ext cx="33147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기준선·조사·변경·비교</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Repository 성능 Skill</a:t>
            </a:r>
          </a:p>
        </p:txBody>
      </p:sp>
      <p:sp>
        <p:nvSpPr>
          <p:cNvPr id="18" name="">
            <a:extLst xmlns:a="http://schemas.openxmlformats.org/drawingml/2006/main">
              <a:ext uri="{FF2B5EF4-FFF2-40B4-BE49-F238E27FC236}">
                <a16:creationId xmlns:a16="http://schemas.microsoft.com/office/drawing/2014/main" id="{B41DC0FF-27EC-4E77-99C5-942DC7AC77E8}"/>
              </a:ext>
            </a:extLst>
          </p:cNvPr>
          <p:cNvSpPr>
            <a:spLocks xmlns:a="http://schemas.openxmlformats.org/drawingml/2006/main" noGrp="1"/>
          </p:cNvSpPr>
          <p:nvPr/>
        </p:nvSpPr>
        <p:spPr>
          <a:xfrm xmlns:a="http://schemas.openxmlformats.org/drawingml/2006/main">
            <a:off x="4305300" y="5067300"/>
            <a:ext cx="66675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9" name="">
            <a:extLst xmlns:a="http://schemas.openxmlformats.org/drawingml/2006/main">
              <a:ext uri="{FF2B5EF4-FFF2-40B4-BE49-F238E27FC236}">
                <a16:creationId xmlns:a16="http://schemas.microsoft.com/office/drawing/2014/main" id="{55F93C83-D598-4CAA-9220-227A76AFF09B}"/>
              </a:ext>
            </a:extLst>
          </p:cNvPr>
          <p:cNvSpPr>
            <a:spLocks xmlns:a="http://schemas.openxmlformats.org/drawingml/2006/main" noGrp="1"/>
          </p:cNvSpPr>
          <p:nvPr/>
        </p:nvSpPr>
        <p:spPr>
          <a:xfrm xmlns:a="http://schemas.openxmlformats.org/drawingml/2006/main">
            <a:off x="4972050" y="2457450"/>
            <a:ext cx="0" cy="2609850"/>
          </a:xfrm>
          <a:prstGeom xmlns:a="http://schemas.openxmlformats.org/drawingml/2006/main" prst="line">
            <a:avLst/>
          </a:prstGeom>
          <a:ln xmlns:a="http://schemas.openxmlformats.org/drawingml/2006/main" w="23813">
            <a:solidFill>
              <a:srgbClr val="0B6172"/>
            </a:solidFill>
          </a:ln>
        </p:spPr>
      </p:sp>
      <p:cxnSp>
        <p:nvCxnSpPr>
          <p:cNvPr id="20" name="">
            <a:extLst xmlns:a="http://schemas.openxmlformats.org/drawingml/2006/main">
              <a:ext uri="{FF2B5EF4-FFF2-40B4-BE49-F238E27FC236}">
                <a16:creationId xmlns:a16="http://schemas.microsoft.com/office/drawing/2014/main" id="{5BD043F9-1E25-49D8-B70F-4A7015AB6812}"/>
              </a:ext>
            </a:extLst>
          </p:cNvPr>
          <p:cNvCxnSpPr/>
          <p:nvPr/>
        </p:nvCxnSpPr>
        <p:spPr>
          <a:xfrm xmlns:a="http://schemas.openxmlformats.org/drawingml/2006/main">
            <a:off x="4972050" y="3762375"/>
            <a:ext cx="3048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1" name="">
            <a:extLst xmlns:a="http://schemas.openxmlformats.org/drawingml/2006/main">
              <a:ext uri="{FF2B5EF4-FFF2-40B4-BE49-F238E27FC236}">
                <a16:creationId xmlns:a16="http://schemas.microsoft.com/office/drawing/2014/main" id="{B7336599-EF52-4AE5-BECA-915390B82AA5}"/>
              </a:ext>
            </a:extLst>
          </p:cNvPr>
          <p:cNvSpPr>
            <a:spLocks xmlns:a="http://schemas.openxmlformats.org/drawingml/2006/main" noGrp="1"/>
          </p:cNvSpPr>
          <p:nvPr/>
        </p:nvSpPr>
        <p:spPr>
          <a:xfrm xmlns:a="http://schemas.openxmlformats.org/drawingml/2006/main">
            <a:off x="5334000" y="3076575"/>
            <a:ext cx="2324100" cy="14097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2" name="Agent">
            <a:extLst xmlns:a="http://schemas.openxmlformats.org/drawingml/2006/main">
              <a:ext uri="{FF2B5EF4-FFF2-40B4-BE49-F238E27FC236}">
                <a16:creationId xmlns:a16="http://schemas.microsoft.com/office/drawing/2014/main" id="{3E2571C2-9853-40A4-ADF3-CF7FBDAAB9B9}"/>
              </a:ext>
            </a:extLst>
          </p:cNvPr>
          <p:cNvSpPr>
            <a:spLocks xmlns:a="http://schemas.openxmlformats.org/drawingml/2006/main" noGrp="1"/>
          </p:cNvSpPr>
          <p:nvPr/>
        </p:nvSpPr>
        <p:spPr>
          <a:xfrm xmlns:a="http://schemas.openxmlformats.org/drawingml/2006/main">
            <a:off x="5524500" y="3248025"/>
            <a:ext cx="1943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550" b="1">
                <a:solidFill>
                  <a:srgbClr val="0B6172"/>
                </a:solidFill>
                <a:latin typeface="Malgun Gothic"/>
                <a:ea typeface="Malgun Gothic"/>
                <a:cs typeface="Malgun Gothic"/>
              </a:defRPr>
            </a:defPPr>
            <a:lvl1pPr algn="ctr">
              <a:defRPr sz="2550" b="1">
                <a:solidFill>
                  <a:srgbClr val="0B6172"/>
                </a:solidFill>
                <a:latin typeface="Malgun Gothic"/>
                <a:ea typeface="Malgun Gothic"/>
                <a:cs typeface="Malgun Gothic"/>
              </a:defRPr>
            </a:lvl1pPr>
            <a:lvl2pPr algn="ctr">
              <a:defRPr sz="2550" b="1">
                <a:solidFill>
                  <a:srgbClr val="0B6172"/>
                </a:solidFill>
                <a:latin typeface="Malgun Gothic"/>
                <a:ea typeface="Malgun Gothic"/>
                <a:cs typeface="Malgun Gothic"/>
              </a:defRPr>
            </a:lvl2pPr>
            <a:lvl3pPr algn="ctr">
              <a:defRPr sz="2550" b="1">
                <a:solidFill>
                  <a:srgbClr val="0B6172"/>
                </a:solidFill>
                <a:latin typeface="Malgun Gothic"/>
                <a:ea typeface="Malgun Gothic"/>
                <a:cs typeface="Malgun Gothic"/>
              </a:defRPr>
            </a:lvl3pPr>
            <a:lvl4pPr algn="ctr">
              <a:defRPr sz="2550" b="1">
                <a:solidFill>
                  <a:srgbClr val="0B6172"/>
                </a:solidFill>
                <a:latin typeface="Malgun Gothic"/>
                <a:ea typeface="Malgun Gothic"/>
                <a:cs typeface="Malgun Gothic"/>
              </a:defRPr>
            </a:lvl4pPr>
            <a:lvl5pPr algn="ctr">
              <a:defRPr sz="2550" b="1">
                <a:solidFill>
                  <a:srgbClr val="0B6172"/>
                </a:solidFill>
                <a:latin typeface="Malgun Gothic"/>
                <a:ea typeface="Malgun Gothic"/>
                <a:cs typeface="Malgun Gothic"/>
              </a:defRPr>
            </a:lvl5pPr>
            <a:lvl6pPr algn="ctr">
              <a:defRPr sz="2550" b="1">
                <a:solidFill>
                  <a:srgbClr val="0B6172"/>
                </a:solidFill>
                <a:latin typeface="Malgun Gothic"/>
                <a:ea typeface="Malgun Gothic"/>
                <a:cs typeface="Malgun Gothic"/>
              </a:defRPr>
            </a:lvl6pPr>
            <a:lvl7pPr algn="ctr">
              <a:defRPr sz="2550" b="1">
                <a:solidFill>
                  <a:srgbClr val="0B6172"/>
                </a:solidFill>
                <a:latin typeface="Malgun Gothic"/>
                <a:ea typeface="Malgun Gothic"/>
                <a:cs typeface="Malgun Gothic"/>
              </a:defRPr>
            </a:lvl7pPr>
            <a:lvl8pPr algn="ctr">
              <a:defRPr sz="2550" b="1">
                <a:solidFill>
                  <a:srgbClr val="0B6172"/>
                </a:solidFill>
                <a:latin typeface="Malgun Gothic"/>
                <a:ea typeface="Malgun Gothic"/>
                <a:cs typeface="Malgun Gothic"/>
              </a:defRPr>
            </a:lvl8pPr>
            <a:lvl9pPr algn="ctr">
              <a:defRPr sz="2550" b="1">
                <a:solidFill>
                  <a:srgbClr val="0B6172"/>
                </a:solidFill>
                <a:latin typeface="Malgun Gothic"/>
                <a:ea typeface="Malgun Gothic"/>
                <a:cs typeface="Malgun Gothic"/>
              </a:defRPr>
            </a:lvl9pPr>
          </a:lstStyle>
          <a:p xmlns:a="http://schemas.openxmlformats.org/drawingml/2006/main">
            <a:pPr algn="ctr">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Agent</a:t>
            </a:r>
          </a:p>
        </p:txBody>
      </p:sp>
      <p:sp>
        <p:nvSpPr>
          <p:cNvPr id="23" name="밝기 통계&#10;조사·변경">
            <a:extLst xmlns:a="http://schemas.openxmlformats.org/drawingml/2006/main">
              <a:ext uri="{FF2B5EF4-FFF2-40B4-BE49-F238E27FC236}">
                <a16:creationId xmlns:a16="http://schemas.microsoft.com/office/drawing/2014/main" id="{A757AB76-0751-422E-8519-601171CFC902}"/>
              </a:ext>
            </a:extLst>
          </p:cNvPr>
          <p:cNvSpPr>
            <a:spLocks xmlns:a="http://schemas.openxmlformats.org/drawingml/2006/main" noGrp="1"/>
          </p:cNvSpPr>
          <p:nvPr/>
        </p:nvSpPr>
        <p:spPr>
          <a:xfrm xmlns:a="http://schemas.openxmlformats.org/drawingml/2006/main">
            <a:off x="5524500" y="3724275"/>
            <a:ext cx="1943100" cy="676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밝기 통계</a:t>
            </a:r>
          </a:p>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조사·변경</a:t>
            </a:r>
          </a:p>
        </p:txBody>
      </p:sp>
      <p:cxnSp>
        <p:nvCxnSpPr>
          <p:cNvPr id="24" name="">
            <a:extLst xmlns:a="http://schemas.openxmlformats.org/drawingml/2006/main">
              <a:ext uri="{FF2B5EF4-FFF2-40B4-BE49-F238E27FC236}">
                <a16:creationId xmlns:a16="http://schemas.microsoft.com/office/drawing/2014/main" id="{66F42BBA-AA31-438C-A132-72A3AC3C18E0}"/>
              </a:ext>
            </a:extLst>
          </p:cNvPr>
          <p:cNvCxnSpPr/>
          <p:nvPr/>
        </p:nvCxnSpPr>
        <p:spPr>
          <a:xfrm xmlns:a="http://schemas.openxmlformats.org/drawingml/2006/main">
            <a:off x="7658100" y="3762375"/>
            <a:ext cx="10668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5" name="">
            <a:extLst xmlns:a="http://schemas.openxmlformats.org/drawingml/2006/main">
              <a:ext uri="{FF2B5EF4-FFF2-40B4-BE49-F238E27FC236}">
                <a16:creationId xmlns:a16="http://schemas.microsoft.com/office/drawing/2014/main" id="{C6D9C0B0-C293-477F-A9E7-1D8EBC857D78}"/>
              </a:ext>
            </a:extLst>
          </p:cNvPr>
          <p:cNvSpPr>
            <a:spLocks xmlns:a="http://schemas.openxmlformats.org/drawingml/2006/main" noGrp="1"/>
          </p:cNvSpPr>
          <p:nvPr/>
        </p:nvSpPr>
        <p:spPr>
          <a:xfrm xmlns:a="http://schemas.openxmlformats.org/drawingml/2006/main">
            <a:off x="8801100" y="2905125"/>
            <a:ext cx="2781300" cy="17145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26" name="검증 도구">
            <a:extLst xmlns:a="http://schemas.openxmlformats.org/drawingml/2006/main">
              <a:ext uri="{FF2B5EF4-FFF2-40B4-BE49-F238E27FC236}">
                <a16:creationId xmlns:a16="http://schemas.microsoft.com/office/drawing/2014/main" id="{A9FBDFDE-6ACF-4487-B9F1-23FE44B219D1}"/>
              </a:ext>
            </a:extLst>
          </p:cNvPr>
          <p:cNvSpPr>
            <a:spLocks xmlns:a="http://schemas.openxmlformats.org/drawingml/2006/main" noGrp="1"/>
          </p:cNvSpPr>
          <p:nvPr/>
        </p:nvSpPr>
        <p:spPr>
          <a:xfrm xmlns:a="http://schemas.openxmlformats.org/drawingml/2006/main">
            <a:off x="8991600" y="3048000"/>
            <a:ext cx="24003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검증 도구</a:t>
            </a:r>
          </a:p>
        </p:txBody>
      </p:sp>
      <p:sp>
        <p:nvSpPr>
          <p:cNvPr id="27" name="테스트 · benchmark">
            <a:extLst xmlns:a="http://schemas.openxmlformats.org/drawingml/2006/main">
              <a:ext uri="{FF2B5EF4-FFF2-40B4-BE49-F238E27FC236}">
                <a16:creationId xmlns:a16="http://schemas.microsoft.com/office/drawing/2014/main" id="{FBD6492A-1A3D-4479-8BC2-7B940AC4A3AE}"/>
              </a:ext>
            </a:extLst>
          </p:cNvPr>
          <p:cNvSpPr>
            <a:spLocks xmlns:a="http://schemas.openxmlformats.org/drawingml/2006/main" noGrp="1"/>
          </p:cNvSpPr>
          <p:nvPr/>
        </p:nvSpPr>
        <p:spPr>
          <a:xfrm xmlns:a="http://schemas.openxmlformats.org/drawingml/2006/main">
            <a:off x="8991600" y="3543300"/>
            <a:ext cx="2400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테스트 · benchmark</a:t>
            </a:r>
          </a:p>
        </p:txBody>
      </p:sp>
      <p:sp>
        <p:nvSpPr>
          <p:cNvPr id="28" name="출력·시간·할당량&#10;같은 입력·환경">
            <a:extLst xmlns:a="http://schemas.openxmlformats.org/drawingml/2006/main">
              <a:ext uri="{FF2B5EF4-FFF2-40B4-BE49-F238E27FC236}">
                <a16:creationId xmlns:a16="http://schemas.microsoft.com/office/drawing/2014/main" id="{E7184875-9A5F-4E4D-A0CA-C4C4BE8A8952}"/>
              </a:ext>
            </a:extLst>
          </p:cNvPr>
          <p:cNvSpPr>
            <a:spLocks xmlns:a="http://schemas.openxmlformats.org/drawingml/2006/main" noGrp="1"/>
          </p:cNvSpPr>
          <p:nvPr/>
        </p:nvSpPr>
        <p:spPr>
          <a:xfrm xmlns:a="http://schemas.openxmlformats.org/drawingml/2006/main">
            <a:off x="8991600" y="3971925"/>
            <a:ext cx="24003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출력·시간·할당량</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같은 입력·환경</a:t>
            </a:r>
          </a:p>
        </p:txBody>
      </p:sp>
      <p:sp>
        <p:nvSpPr>
          <p:cNvPr id="29" name="Legacy module connection">
            <a:extLst xmlns:a="http://schemas.openxmlformats.org/drawingml/2006/main">
              <a:ext uri="{FF2B5EF4-FFF2-40B4-BE49-F238E27FC236}">
                <a16:creationId xmlns:a16="http://schemas.microsoft.com/office/drawing/2014/main" id="{8DA3A211-D910-45F3-8E0A-38C5549E5A1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125254823"/>
      </p:ext>
    </p:extLst>
  </p:cSld>
</p:sld>
</file>

<file path=ppt/slides/slide1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6" name="ACT 3 · 구성에 실행 조건과 검토 책임을 연결">
            <a:extLst xmlns:a="http://schemas.openxmlformats.org/drawingml/2006/main">
              <a:ext uri="{FF2B5EF4-FFF2-40B4-BE49-F238E27FC236}">
                <a16:creationId xmlns:a16="http://schemas.microsoft.com/office/drawing/2014/main" id="{71AAD8C1-1F21-4E51-832C-8BB266AE8D0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구성에 실행 조건과 검토 책임을 연결</a:t>
            </a:r>
          </a:p>
        </p:txBody>
      </p:sp>
      <p:sp>
        <p:nvSpPr>
          <p:cNvPr id="2" name="S73">
            <a:extLst xmlns:a="http://schemas.openxmlformats.org/drawingml/2006/main">
              <a:ext uri="{FF2B5EF4-FFF2-40B4-BE49-F238E27FC236}">
                <a16:creationId xmlns:a16="http://schemas.microsoft.com/office/drawing/2014/main" id="{7AC07341-970F-4D82-B3E2-E76C4E1D902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S73</a:t>
            </a:r>
          </a:p>
        </p:txBody>
      </p:sp>
      <p:sp>
        <p:nvSpPr>
          <p:cNvPr id="3" name="함께 작동하는 작업 환경, Harness">
            <a:extLst xmlns:a="http://schemas.openxmlformats.org/drawingml/2006/main">
              <a:ext uri="{FF2B5EF4-FFF2-40B4-BE49-F238E27FC236}">
                <a16:creationId xmlns:a16="http://schemas.microsoft.com/office/drawing/2014/main" id="{E4FB9733-8694-4B75-B85A-32F392D66EA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함께 작동하는 작업 환경, Harness</a:t>
            </a:r>
          </a:p>
        </p:txBody>
      </p:sp>
      <p:sp>
        <p:nvSpPr>
          <p:cNvPr id="4" name="">
            <a:extLst xmlns:a="http://schemas.openxmlformats.org/drawingml/2006/main">
              <a:ext uri="{FF2B5EF4-FFF2-40B4-BE49-F238E27FC236}">
                <a16:creationId xmlns:a16="http://schemas.microsoft.com/office/drawing/2014/main" id="{09BDDEDC-192C-410A-B47F-61F5674BB2D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Harness 모델 · 사례 대응: AGENTS.md · docs · Skill · tests · b">
            <a:extLst xmlns:a="http://schemas.openxmlformats.org/drawingml/2006/main">
              <a:ext uri="{FF2B5EF4-FFF2-40B4-BE49-F238E27FC236}">
                <a16:creationId xmlns:a16="http://schemas.microsoft.com/office/drawing/2014/main" id="{4177E328-4AE1-4727-BA81-4150F723F8C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Harness 모델 · 사례 대응: AGENTS.md · docs · Skill · tests · benchmark</a:t>
            </a:r>
          </a:p>
        </p:txBody>
      </p:sp>
      <p:sp>
        <p:nvSpPr>
          <p:cNvPr id="6" name="공식 정의·필수 목록이 아님 · 모든 실행 조건의 감사·각 요소의 단독 성능 효과는 미입증">
            <a:extLst xmlns:a="http://schemas.openxmlformats.org/drawingml/2006/main">
              <a:ext uri="{FF2B5EF4-FFF2-40B4-BE49-F238E27FC236}">
                <a16:creationId xmlns:a16="http://schemas.microsoft.com/office/drawing/2014/main" id="{B60926A0-B1BC-4F6B-B399-E8498A4DE5F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공식 정의·필수 목록이 아님 · 모든 실행 조건의 감사·각 요소의 단독 성능 효과는 미입증</a:t>
            </a:r>
          </a:p>
        </p:txBody>
      </p:sp>
      <p:sp>
        <p:nvSpPr>
          <p:cNvPr id="7" name="">
            <a:extLst xmlns:a="http://schemas.openxmlformats.org/drawingml/2006/main">
              <a:ext uri="{FF2B5EF4-FFF2-40B4-BE49-F238E27FC236}">
                <a16:creationId xmlns:a16="http://schemas.microsoft.com/office/drawing/2014/main" id="{33CBA4C2-98FC-426D-8CEB-42DCF650172D}"/>
              </a:ext>
            </a:extLst>
          </p:cNvPr>
          <p:cNvSpPr>
            <a:spLocks xmlns:a="http://schemas.openxmlformats.org/drawingml/2006/main" noGrp="1"/>
          </p:cNvSpPr>
          <p:nvPr/>
        </p:nvSpPr>
        <p:spPr>
          <a:xfrm xmlns:a="http://schemas.openxmlformats.org/drawingml/2006/main">
            <a:off x="609600" y="1828800"/>
            <a:ext cx="10972800" cy="38862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8" name="">
            <a:extLst xmlns:a="http://schemas.openxmlformats.org/drawingml/2006/main">
              <a:ext uri="{FF2B5EF4-FFF2-40B4-BE49-F238E27FC236}">
                <a16:creationId xmlns:a16="http://schemas.microsoft.com/office/drawing/2014/main" id="{D5656C9E-2AFB-444C-A05E-4C6FF3B713BE}"/>
              </a:ext>
            </a:extLst>
          </p:cNvPr>
          <p:cNvSpPr>
            <a:spLocks xmlns:a="http://schemas.openxmlformats.org/drawingml/2006/main" noGrp="1"/>
          </p:cNvSpPr>
          <p:nvPr/>
        </p:nvSpPr>
        <p:spPr>
          <a:xfrm xmlns:a="http://schemas.openxmlformats.org/drawingml/2006/main">
            <a:off x="838200" y="2057400"/>
            <a:ext cx="2857500" cy="8001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9" name="목표">
            <a:extLst xmlns:a="http://schemas.openxmlformats.org/drawingml/2006/main">
              <a:ext uri="{FF2B5EF4-FFF2-40B4-BE49-F238E27FC236}">
                <a16:creationId xmlns:a16="http://schemas.microsoft.com/office/drawing/2014/main" id="{E00841A7-3599-4E99-8969-3C61A40435A8}"/>
              </a:ext>
            </a:extLst>
          </p:cNvPr>
          <p:cNvSpPr>
            <a:spLocks xmlns:a="http://schemas.openxmlformats.org/drawingml/2006/main" noGrp="1"/>
          </p:cNvSpPr>
          <p:nvPr/>
        </p:nvSpPr>
        <p:spPr>
          <a:xfrm xmlns:a="http://schemas.openxmlformats.org/drawingml/2006/main">
            <a:off x="1009650" y="2095500"/>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목표</a:t>
            </a:r>
          </a:p>
        </p:txBody>
      </p:sp>
      <p:sp>
        <p:nvSpPr>
          <p:cNvPr id="10" name="바꿀 것 · 지킬 조건">
            <a:extLst xmlns:a="http://schemas.openxmlformats.org/drawingml/2006/main">
              <a:ext uri="{FF2B5EF4-FFF2-40B4-BE49-F238E27FC236}">
                <a16:creationId xmlns:a16="http://schemas.microsoft.com/office/drawing/2014/main" id="{A9A2849C-449E-4577-80A6-01B185827A41}"/>
              </a:ext>
            </a:extLst>
          </p:cNvPr>
          <p:cNvSpPr>
            <a:spLocks xmlns:a="http://schemas.openxmlformats.org/drawingml/2006/main" noGrp="1"/>
          </p:cNvSpPr>
          <p:nvPr/>
        </p:nvSpPr>
        <p:spPr>
          <a:xfrm xmlns:a="http://schemas.openxmlformats.org/drawingml/2006/main">
            <a:off x="1009650" y="2457450"/>
            <a:ext cx="2514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바꿀 것 · 지킬 조건</a:t>
            </a:r>
          </a:p>
        </p:txBody>
      </p:sp>
      <p:sp>
        <p:nvSpPr>
          <p:cNvPr id="11" name="">
            <a:extLst xmlns:a="http://schemas.openxmlformats.org/drawingml/2006/main">
              <a:ext uri="{FF2B5EF4-FFF2-40B4-BE49-F238E27FC236}">
                <a16:creationId xmlns:a16="http://schemas.microsoft.com/office/drawing/2014/main" id="{F4E038FF-DD40-4A5C-8E5B-198EA1E9DED2}"/>
              </a:ext>
            </a:extLst>
          </p:cNvPr>
          <p:cNvSpPr>
            <a:spLocks xmlns:a="http://schemas.openxmlformats.org/drawingml/2006/main" noGrp="1"/>
          </p:cNvSpPr>
          <p:nvPr/>
        </p:nvSpPr>
        <p:spPr>
          <a:xfrm xmlns:a="http://schemas.openxmlformats.org/drawingml/2006/main">
            <a:off x="3695700" y="2457450"/>
            <a:ext cx="4572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2" name="">
            <a:extLst xmlns:a="http://schemas.openxmlformats.org/drawingml/2006/main">
              <a:ext uri="{FF2B5EF4-FFF2-40B4-BE49-F238E27FC236}">
                <a16:creationId xmlns:a16="http://schemas.microsoft.com/office/drawing/2014/main" id="{A2C5C271-386E-403D-9B08-7F70D4D239DD}"/>
              </a:ext>
            </a:extLst>
          </p:cNvPr>
          <p:cNvSpPr>
            <a:spLocks xmlns:a="http://schemas.openxmlformats.org/drawingml/2006/main" noGrp="1"/>
          </p:cNvSpPr>
          <p:nvPr/>
        </p:nvSpPr>
        <p:spPr>
          <a:xfrm xmlns:a="http://schemas.openxmlformats.org/drawingml/2006/main">
            <a:off x="838200" y="2990850"/>
            <a:ext cx="2857500" cy="800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Context">
            <a:extLst xmlns:a="http://schemas.openxmlformats.org/drawingml/2006/main">
              <a:ext uri="{FF2B5EF4-FFF2-40B4-BE49-F238E27FC236}">
                <a16:creationId xmlns:a16="http://schemas.microsoft.com/office/drawing/2014/main" id="{F451A0A0-2112-4A58-B982-D6564C8584E3}"/>
              </a:ext>
            </a:extLst>
          </p:cNvPr>
          <p:cNvSpPr>
            <a:spLocks xmlns:a="http://schemas.openxmlformats.org/drawingml/2006/main" noGrp="1"/>
          </p:cNvSpPr>
          <p:nvPr/>
        </p:nvSpPr>
        <p:spPr>
          <a:xfrm xmlns:a="http://schemas.openxmlformats.org/drawingml/2006/main">
            <a:off x="1009650" y="3028950"/>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Context</a:t>
            </a:r>
          </a:p>
        </p:txBody>
      </p:sp>
      <p:sp>
        <p:nvSpPr>
          <p:cNvPr id="14" name="프로젝트 사실·명세">
            <a:extLst xmlns:a="http://schemas.openxmlformats.org/drawingml/2006/main">
              <a:ext uri="{FF2B5EF4-FFF2-40B4-BE49-F238E27FC236}">
                <a16:creationId xmlns:a16="http://schemas.microsoft.com/office/drawing/2014/main" id="{ED17E40F-7D44-4278-AD36-3030B7D69002}"/>
              </a:ext>
            </a:extLst>
          </p:cNvPr>
          <p:cNvSpPr>
            <a:spLocks xmlns:a="http://schemas.openxmlformats.org/drawingml/2006/main" noGrp="1"/>
          </p:cNvSpPr>
          <p:nvPr/>
        </p:nvSpPr>
        <p:spPr>
          <a:xfrm xmlns:a="http://schemas.openxmlformats.org/drawingml/2006/main">
            <a:off x="1009650" y="3390900"/>
            <a:ext cx="2514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프로젝트 사실·명세</a:t>
            </a:r>
          </a:p>
        </p:txBody>
      </p:sp>
      <p:sp>
        <p:nvSpPr>
          <p:cNvPr id="15" name="">
            <a:extLst xmlns:a="http://schemas.openxmlformats.org/drawingml/2006/main">
              <a:ext uri="{FF2B5EF4-FFF2-40B4-BE49-F238E27FC236}">
                <a16:creationId xmlns:a16="http://schemas.microsoft.com/office/drawing/2014/main" id="{C5A8DDC4-4B92-4DA4-889C-D9A658F5CFC0}"/>
              </a:ext>
            </a:extLst>
          </p:cNvPr>
          <p:cNvSpPr>
            <a:spLocks xmlns:a="http://schemas.openxmlformats.org/drawingml/2006/main" noGrp="1"/>
          </p:cNvSpPr>
          <p:nvPr/>
        </p:nvSpPr>
        <p:spPr>
          <a:xfrm xmlns:a="http://schemas.openxmlformats.org/drawingml/2006/main">
            <a:off x="3695700" y="3390900"/>
            <a:ext cx="4572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6" name="">
            <a:extLst xmlns:a="http://schemas.openxmlformats.org/drawingml/2006/main">
              <a:ext uri="{FF2B5EF4-FFF2-40B4-BE49-F238E27FC236}">
                <a16:creationId xmlns:a16="http://schemas.microsoft.com/office/drawing/2014/main" id="{4A9A82FF-8EBC-4B9B-8F5C-9515927D4B7B}"/>
              </a:ext>
            </a:extLst>
          </p:cNvPr>
          <p:cNvSpPr>
            <a:spLocks xmlns:a="http://schemas.openxmlformats.org/drawingml/2006/main" noGrp="1"/>
          </p:cNvSpPr>
          <p:nvPr/>
        </p:nvSpPr>
        <p:spPr>
          <a:xfrm xmlns:a="http://schemas.openxmlformats.org/drawingml/2006/main">
            <a:off x="838200" y="3924300"/>
            <a:ext cx="2857500" cy="800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Skill">
            <a:extLst xmlns:a="http://schemas.openxmlformats.org/drawingml/2006/main">
              <a:ext uri="{FF2B5EF4-FFF2-40B4-BE49-F238E27FC236}">
                <a16:creationId xmlns:a16="http://schemas.microsoft.com/office/drawing/2014/main" id="{A699C437-6E72-4F72-B8A1-C18314A4E704}"/>
              </a:ext>
            </a:extLst>
          </p:cNvPr>
          <p:cNvSpPr>
            <a:spLocks xmlns:a="http://schemas.openxmlformats.org/drawingml/2006/main" noGrp="1"/>
          </p:cNvSpPr>
          <p:nvPr/>
        </p:nvSpPr>
        <p:spPr>
          <a:xfrm xmlns:a="http://schemas.openxmlformats.org/drawingml/2006/main">
            <a:off x="1009650" y="3962400"/>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Skill</a:t>
            </a:r>
          </a:p>
        </p:txBody>
      </p:sp>
      <p:sp>
        <p:nvSpPr>
          <p:cNvPr id="18" name="재사용할 수행 방법">
            <a:extLst xmlns:a="http://schemas.openxmlformats.org/drawingml/2006/main">
              <a:ext uri="{FF2B5EF4-FFF2-40B4-BE49-F238E27FC236}">
                <a16:creationId xmlns:a16="http://schemas.microsoft.com/office/drawing/2014/main" id="{638A5B7F-44E7-4205-89DC-FDACC6DA4BC3}"/>
              </a:ext>
            </a:extLst>
          </p:cNvPr>
          <p:cNvSpPr>
            <a:spLocks xmlns:a="http://schemas.openxmlformats.org/drawingml/2006/main" noGrp="1"/>
          </p:cNvSpPr>
          <p:nvPr/>
        </p:nvSpPr>
        <p:spPr>
          <a:xfrm xmlns:a="http://schemas.openxmlformats.org/drawingml/2006/main">
            <a:off x="1009650" y="4324350"/>
            <a:ext cx="2514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재사용할 수행 방법</a:t>
            </a:r>
          </a:p>
        </p:txBody>
      </p:sp>
      <p:sp>
        <p:nvSpPr>
          <p:cNvPr id="19" name="">
            <a:extLst xmlns:a="http://schemas.openxmlformats.org/drawingml/2006/main">
              <a:ext uri="{FF2B5EF4-FFF2-40B4-BE49-F238E27FC236}">
                <a16:creationId xmlns:a16="http://schemas.microsoft.com/office/drawing/2014/main" id="{EB146A85-DF46-4B1A-9EF5-71430576AE31}"/>
              </a:ext>
            </a:extLst>
          </p:cNvPr>
          <p:cNvSpPr>
            <a:spLocks xmlns:a="http://schemas.openxmlformats.org/drawingml/2006/main" noGrp="1"/>
          </p:cNvSpPr>
          <p:nvPr/>
        </p:nvSpPr>
        <p:spPr>
          <a:xfrm xmlns:a="http://schemas.openxmlformats.org/drawingml/2006/main">
            <a:off x="3695700" y="4324350"/>
            <a:ext cx="4572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20" name="">
            <a:extLst xmlns:a="http://schemas.openxmlformats.org/drawingml/2006/main">
              <a:ext uri="{FF2B5EF4-FFF2-40B4-BE49-F238E27FC236}">
                <a16:creationId xmlns:a16="http://schemas.microsoft.com/office/drawing/2014/main" id="{AE0B4820-E8B2-4CCA-9CF3-F68AA06CCB6F}"/>
              </a:ext>
            </a:extLst>
          </p:cNvPr>
          <p:cNvSpPr>
            <a:spLocks xmlns:a="http://schemas.openxmlformats.org/drawingml/2006/main" noGrp="1"/>
          </p:cNvSpPr>
          <p:nvPr/>
        </p:nvSpPr>
        <p:spPr>
          <a:xfrm xmlns:a="http://schemas.openxmlformats.org/drawingml/2006/main">
            <a:off x="4152900" y="2457450"/>
            <a:ext cx="0" cy="1866900"/>
          </a:xfrm>
          <a:prstGeom xmlns:a="http://schemas.openxmlformats.org/drawingml/2006/main" prst="line">
            <a:avLst/>
          </a:prstGeom>
          <a:ln xmlns:a="http://schemas.openxmlformats.org/drawingml/2006/main" w="23813">
            <a:solidFill>
              <a:srgbClr val="0B6172"/>
            </a:solidFill>
          </a:ln>
        </p:spPr>
      </p:sp>
      <p:cxnSp>
        <p:nvCxnSpPr>
          <p:cNvPr id="21" name="">
            <a:extLst xmlns:a="http://schemas.openxmlformats.org/drawingml/2006/main">
              <a:ext uri="{FF2B5EF4-FFF2-40B4-BE49-F238E27FC236}">
                <a16:creationId xmlns:a16="http://schemas.microsoft.com/office/drawing/2014/main" id="{780069F6-DDAA-42B8-AAB6-2BF8E14A6C80}"/>
              </a:ext>
            </a:extLst>
          </p:cNvPr>
          <p:cNvCxnSpPr/>
          <p:nvPr/>
        </p:nvCxnSpPr>
        <p:spPr>
          <a:xfrm xmlns:a="http://schemas.openxmlformats.org/drawingml/2006/main">
            <a:off x="4152900" y="3619500"/>
            <a:ext cx="5905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2" name="">
            <a:extLst xmlns:a="http://schemas.openxmlformats.org/drawingml/2006/main">
              <a:ext uri="{FF2B5EF4-FFF2-40B4-BE49-F238E27FC236}">
                <a16:creationId xmlns:a16="http://schemas.microsoft.com/office/drawing/2014/main" id="{56077219-9B53-4E0E-953E-B7C0B44F2BD3}"/>
              </a:ext>
            </a:extLst>
          </p:cNvPr>
          <p:cNvSpPr>
            <a:spLocks xmlns:a="http://schemas.openxmlformats.org/drawingml/2006/main" noGrp="1"/>
          </p:cNvSpPr>
          <p:nvPr/>
        </p:nvSpPr>
        <p:spPr>
          <a:xfrm xmlns:a="http://schemas.openxmlformats.org/drawingml/2006/main">
            <a:off x="4819650" y="2933700"/>
            <a:ext cx="2381250" cy="13716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3" name="Agent">
            <a:extLst xmlns:a="http://schemas.openxmlformats.org/drawingml/2006/main">
              <a:ext uri="{FF2B5EF4-FFF2-40B4-BE49-F238E27FC236}">
                <a16:creationId xmlns:a16="http://schemas.microsoft.com/office/drawing/2014/main" id="{7513FEA7-AAEA-483F-BB22-51CCE5BD7507}"/>
              </a:ext>
            </a:extLst>
          </p:cNvPr>
          <p:cNvSpPr>
            <a:spLocks xmlns:a="http://schemas.openxmlformats.org/drawingml/2006/main" noGrp="1"/>
          </p:cNvSpPr>
          <p:nvPr/>
        </p:nvSpPr>
        <p:spPr>
          <a:xfrm xmlns:a="http://schemas.openxmlformats.org/drawingml/2006/main">
            <a:off x="5010150" y="3048000"/>
            <a:ext cx="2000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550" b="1">
                <a:solidFill>
                  <a:srgbClr val="0B6172"/>
                </a:solidFill>
                <a:latin typeface="Malgun Gothic"/>
                <a:ea typeface="Malgun Gothic"/>
                <a:cs typeface="Malgun Gothic"/>
              </a:defRPr>
            </a:defPPr>
            <a:lvl1pPr algn="ctr">
              <a:defRPr sz="2550" b="1">
                <a:solidFill>
                  <a:srgbClr val="0B6172"/>
                </a:solidFill>
                <a:latin typeface="Malgun Gothic"/>
                <a:ea typeface="Malgun Gothic"/>
                <a:cs typeface="Malgun Gothic"/>
              </a:defRPr>
            </a:lvl1pPr>
            <a:lvl2pPr algn="ctr">
              <a:defRPr sz="2550" b="1">
                <a:solidFill>
                  <a:srgbClr val="0B6172"/>
                </a:solidFill>
                <a:latin typeface="Malgun Gothic"/>
                <a:ea typeface="Malgun Gothic"/>
                <a:cs typeface="Malgun Gothic"/>
              </a:defRPr>
            </a:lvl2pPr>
            <a:lvl3pPr algn="ctr">
              <a:defRPr sz="2550" b="1">
                <a:solidFill>
                  <a:srgbClr val="0B6172"/>
                </a:solidFill>
                <a:latin typeface="Malgun Gothic"/>
                <a:ea typeface="Malgun Gothic"/>
                <a:cs typeface="Malgun Gothic"/>
              </a:defRPr>
            </a:lvl3pPr>
            <a:lvl4pPr algn="ctr">
              <a:defRPr sz="2550" b="1">
                <a:solidFill>
                  <a:srgbClr val="0B6172"/>
                </a:solidFill>
                <a:latin typeface="Malgun Gothic"/>
                <a:ea typeface="Malgun Gothic"/>
                <a:cs typeface="Malgun Gothic"/>
              </a:defRPr>
            </a:lvl4pPr>
            <a:lvl5pPr algn="ctr">
              <a:defRPr sz="2550" b="1">
                <a:solidFill>
                  <a:srgbClr val="0B6172"/>
                </a:solidFill>
                <a:latin typeface="Malgun Gothic"/>
                <a:ea typeface="Malgun Gothic"/>
                <a:cs typeface="Malgun Gothic"/>
              </a:defRPr>
            </a:lvl5pPr>
            <a:lvl6pPr algn="ctr">
              <a:defRPr sz="2550" b="1">
                <a:solidFill>
                  <a:srgbClr val="0B6172"/>
                </a:solidFill>
                <a:latin typeface="Malgun Gothic"/>
                <a:ea typeface="Malgun Gothic"/>
                <a:cs typeface="Malgun Gothic"/>
              </a:defRPr>
            </a:lvl6pPr>
            <a:lvl7pPr algn="ctr">
              <a:defRPr sz="2550" b="1">
                <a:solidFill>
                  <a:srgbClr val="0B6172"/>
                </a:solidFill>
                <a:latin typeface="Malgun Gothic"/>
                <a:ea typeface="Malgun Gothic"/>
                <a:cs typeface="Malgun Gothic"/>
              </a:defRPr>
            </a:lvl7pPr>
            <a:lvl8pPr algn="ctr">
              <a:defRPr sz="2550" b="1">
                <a:solidFill>
                  <a:srgbClr val="0B6172"/>
                </a:solidFill>
                <a:latin typeface="Malgun Gothic"/>
                <a:ea typeface="Malgun Gothic"/>
                <a:cs typeface="Malgun Gothic"/>
              </a:defRPr>
            </a:lvl8pPr>
            <a:lvl9pPr algn="ctr">
              <a:defRPr sz="2550" b="1">
                <a:solidFill>
                  <a:srgbClr val="0B6172"/>
                </a:solidFill>
                <a:latin typeface="Malgun Gothic"/>
                <a:ea typeface="Malgun Gothic"/>
                <a:cs typeface="Malgun Gothic"/>
              </a:defRPr>
            </a:lvl9pPr>
          </a:lstStyle>
          <a:p xmlns:a="http://schemas.openxmlformats.org/drawingml/2006/main">
            <a:pPr algn="ctr">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Agent</a:t>
            </a:r>
          </a:p>
        </p:txBody>
      </p:sp>
      <p:sp>
        <p:nvSpPr>
          <p:cNvPr id="24" name="조사 · 판단 · 변경">
            <a:extLst xmlns:a="http://schemas.openxmlformats.org/drawingml/2006/main">
              <a:ext uri="{FF2B5EF4-FFF2-40B4-BE49-F238E27FC236}">
                <a16:creationId xmlns:a16="http://schemas.microsoft.com/office/drawing/2014/main" id="{53920897-67B7-4293-B0AE-14678757DC39}"/>
              </a:ext>
            </a:extLst>
          </p:cNvPr>
          <p:cNvSpPr>
            <a:spLocks xmlns:a="http://schemas.openxmlformats.org/drawingml/2006/main" noGrp="1"/>
          </p:cNvSpPr>
          <p:nvPr/>
        </p:nvSpPr>
        <p:spPr>
          <a:xfrm xmlns:a="http://schemas.openxmlformats.org/drawingml/2006/main">
            <a:off x="5010150" y="3657600"/>
            <a:ext cx="2000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조사 · 판단 · 변경</a:t>
            </a:r>
          </a:p>
        </p:txBody>
      </p:sp>
      <p:cxnSp>
        <p:nvCxnSpPr>
          <p:cNvPr id="25" name="">
            <a:extLst xmlns:a="http://schemas.openxmlformats.org/drawingml/2006/main">
              <a:ext uri="{FF2B5EF4-FFF2-40B4-BE49-F238E27FC236}">
                <a16:creationId xmlns:a16="http://schemas.microsoft.com/office/drawing/2014/main" id="{096CD4C7-9F26-469A-A573-A4B8067E76D9}"/>
              </a:ext>
            </a:extLst>
          </p:cNvPr>
          <p:cNvCxnSpPr/>
          <p:nvPr/>
        </p:nvCxnSpPr>
        <p:spPr>
          <a:xfrm xmlns:a="http://schemas.openxmlformats.org/drawingml/2006/main">
            <a:off x="7200900" y="3619500"/>
            <a:ext cx="11620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6" name="">
            <a:extLst xmlns:a="http://schemas.openxmlformats.org/drawingml/2006/main">
              <a:ext uri="{FF2B5EF4-FFF2-40B4-BE49-F238E27FC236}">
                <a16:creationId xmlns:a16="http://schemas.microsoft.com/office/drawing/2014/main" id="{F3696EF1-4FB3-476F-8DED-A73DB3E8B2A6}"/>
              </a:ext>
            </a:extLst>
          </p:cNvPr>
          <p:cNvSpPr>
            <a:spLocks xmlns:a="http://schemas.openxmlformats.org/drawingml/2006/main" noGrp="1"/>
          </p:cNvSpPr>
          <p:nvPr/>
        </p:nvSpPr>
        <p:spPr>
          <a:xfrm xmlns:a="http://schemas.openxmlformats.org/drawingml/2006/main">
            <a:off x="8439150" y="2933700"/>
            <a:ext cx="2914650" cy="13716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27" name="검증 도구">
            <a:extLst xmlns:a="http://schemas.openxmlformats.org/drawingml/2006/main">
              <a:ext uri="{FF2B5EF4-FFF2-40B4-BE49-F238E27FC236}">
                <a16:creationId xmlns:a16="http://schemas.microsoft.com/office/drawing/2014/main" id="{37AD6FCE-3E58-4355-9230-70766E1DF6DB}"/>
              </a:ext>
            </a:extLst>
          </p:cNvPr>
          <p:cNvSpPr>
            <a:spLocks xmlns:a="http://schemas.openxmlformats.org/drawingml/2006/main" noGrp="1"/>
          </p:cNvSpPr>
          <p:nvPr/>
        </p:nvSpPr>
        <p:spPr>
          <a:xfrm xmlns:a="http://schemas.openxmlformats.org/drawingml/2006/main">
            <a:off x="8629650" y="3019425"/>
            <a:ext cx="25336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검증 도구</a:t>
            </a:r>
          </a:p>
        </p:txBody>
      </p:sp>
      <p:sp>
        <p:nvSpPr>
          <p:cNvPr id="28" name="테스트 · benchmark">
            <a:extLst xmlns:a="http://schemas.openxmlformats.org/drawingml/2006/main">
              <a:ext uri="{FF2B5EF4-FFF2-40B4-BE49-F238E27FC236}">
                <a16:creationId xmlns:a16="http://schemas.microsoft.com/office/drawing/2014/main" id="{EEDA296C-F27E-4E2E-9D65-DE075392F4BE}"/>
              </a:ext>
            </a:extLst>
          </p:cNvPr>
          <p:cNvSpPr>
            <a:spLocks xmlns:a="http://schemas.openxmlformats.org/drawingml/2006/main" noGrp="1"/>
          </p:cNvSpPr>
          <p:nvPr/>
        </p:nvSpPr>
        <p:spPr>
          <a:xfrm xmlns:a="http://schemas.openxmlformats.org/drawingml/2006/main">
            <a:off x="8629650" y="3467100"/>
            <a:ext cx="25336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테스트 · benchmark</a:t>
            </a:r>
          </a:p>
        </p:txBody>
      </p:sp>
      <p:sp>
        <p:nvSpPr>
          <p:cNvPr id="29" name="사람이 근거·결과 검토">
            <a:extLst xmlns:a="http://schemas.openxmlformats.org/drawingml/2006/main">
              <a:ext uri="{FF2B5EF4-FFF2-40B4-BE49-F238E27FC236}">
                <a16:creationId xmlns:a16="http://schemas.microsoft.com/office/drawing/2014/main" id="{AD723E90-C8C1-44CE-8FE0-C0CF039F3F10}"/>
              </a:ext>
            </a:extLst>
          </p:cNvPr>
          <p:cNvSpPr>
            <a:spLocks xmlns:a="http://schemas.openxmlformats.org/drawingml/2006/main" noGrp="1"/>
          </p:cNvSpPr>
          <p:nvPr/>
        </p:nvSpPr>
        <p:spPr>
          <a:xfrm xmlns:a="http://schemas.openxmlformats.org/drawingml/2006/main">
            <a:off x="8629650" y="3914775"/>
            <a:ext cx="25336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사람이 근거·결과 검토</a:t>
            </a:r>
          </a:p>
        </p:txBody>
      </p:sp>
      <p:cxnSp>
        <p:nvCxnSpPr>
          <p:cNvPr id="30" name="">
            <a:extLst xmlns:a="http://schemas.openxmlformats.org/drawingml/2006/main">
              <a:ext uri="{FF2B5EF4-FFF2-40B4-BE49-F238E27FC236}">
                <a16:creationId xmlns:a16="http://schemas.microsoft.com/office/drawing/2014/main" id="{01FE145E-BF82-4C61-8DDE-4D54CD2E33B5}"/>
              </a:ext>
            </a:extLst>
          </p:cNvPr>
          <p:cNvCxnSpPr/>
          <p:nvPr/>
        </p:nvCxnSpPr>
        <p:spPr>
          <a:xfrm xmlns:a="http://schemas.openxmlformats.org/drawingml/2006/main">
            <a:off x="6010275" y="4305300"/>
            <a:ext cx="0" cy="723900"/>
          </a:xfrm>
          <a:prstGeom xmlns:a="http://schemas.openxmlformats.org/drawingml/2006/main" prst="straightConnector1">
            <a:avLst/>
          </a:prstGeom>
          <a:ln xmlns:a="http://schemas.openxmlformats.org/drawingml/2006/main" w="23813">
            <a:solidFill>
              <a:srgbClr val="0B6172"/>
            </a:solidFill>
            <a:headEnd type="triangle" w="sm" len="sm"/>
          </a:ln>
        </p:spPr>
      </p:cxnSp>
      <p:cxnSp>
        <p:nvCxnSpPr>
          <p:cNvPr id="31" name="">
            <a:extLst xmlns:a="http://schemas.openxmlformats.org/drawingml/2006/main">
              <a:ext uri="{FF2B5EF4-FFF2-40B4-BE49-F238E27FC236}">
                <a16:creationId xmlns:a16="http://schemas.microsoft.com/office/drawing/2014/main" id="{CA898A3A-DF25-4181-A28A-CC58A2B5203A}"/>
              </a:ext>
            </a:extLst>
          </p:cNvPr>
          <p:cNvCxnSpPr/>
          <p:nvPr/>
        </p:nvCxnSpPr>
        <p:spPr>
          <a:xfrm xmlns:a="http://schemas.openxmlformats.org/drawingml/2006/main">
            <a:off x="9896475" y="4305300"/>
            <a:ext cx="0" cy="723900"/>
          </a:xfrm>
          <a:prstGeom xmlns:a="http://schemas.openxmlformats.org/drawingml/2006/main" prst="straightConnector1">
            <a:avLst/>
          </a:prstGeom>
          <a:ln xmlns:a="http://schemas.openxmlformats.org/drawingml/2006/main" w="23813">
            <a:solidFill>
              <a:srgbClr val="0B6172"/>
            </a:solidFill>
            <a:headEnd type="triangle" w="sm" len="sm"/>
          </a:ln>
        </p:spPr>
      </p:cxnSp>
      <p:sp>
        <p:nvSpPr>
          <p:cNvPr id="32" name="">
            <a:extLst xmlns:a="http://schemas.openxmlformats.org/drawingml/2006/main">
              <a:ext uri="{FF2B5EF4-FFF2-40B4-BE49-F238E27FC236}">
                <a16:creationId xmlns:a16="http://schemas.microsoft.com/office/drawing/2014/main" id="{3CF56E89-4682-4B04-83A7-3253D97C3FA7}"/>
              </a:ext>
            </a:extLst>
          </p:cNvPr>
          <p:cNvSpPr>
            <a:spLocks xmlns:a="http://schemas.openxmlformats.org/drawingml/2006/main" noGrp="1"/>
          </p:cNvSpPr>
          <p:nvPr/>
        </p:nvSpPr>
        <p:spPr>
          <a:xfrm xmlns:a="http://schemas.openxmlformats.org/drawingml/2006/main">
            <a:off x="838200" y="5029200"/>
            <a:ext cx="10515600" cy="5334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3" name="실행 환경">
            <a:extLst xmlns:a="http://schemas.openxmlformats.org/drawingml/2006/main">
              <a:ext uri="{FF2B5EF4-FFF2-40B4-BE49-F238E27FC236}">
                <a16:creationId xmlns:a16="http://schemas.microsoft.com/office/drawing/2014/main" id="{333EAB07-53BA-4D25-92CA-0443958478F7}"/>
              </a:ext>
            </a:extLst>
          </p:cNvPr>
          <p:cNvSpPr>
            <a:spLocks xmlns:a="http://schemas.openxmlformats.org/drawingml/2006/main" noGrp="1"/>
          </p:cNvSpPr>
          <p:nvPr/>
        </p:nvSpPr>
        <p:spPr>
          <a:xfrm xmlns:a="http://schemas.openxmlformats.org/drawingml/2006/main">
            <a:off x="1009650" y="5114925"/>
            <a:ext cx="1562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실행 환경</a:t>
            </a:r>
          </a:p>
        </p:txBody>
      </p:sp>
      <p:sp>
        <p:nvSpPr>
          <p:cNvPr id="34" name="Repository · 입력 · 권한 · 실행·측정 조건">
            <a:extLst xmlns:a="http://schemas.openxmlformats.org/drawingml/2006/main">
              <a:ext uri="{FF2B5EF4-FFF2-40B4-BE49-F238E27FC236}">
                <a16:creationId xmlns:a16="http://schemas.microsoft.com/office/drawing/2014/main" id="{3EC99361-1A85-4823-AD2B-0373F7AA64D0}"/>
              </a:ext>
            </a:extLst>
          </p:cNvPr>
          <p:cNvSpPr>
            <a:spLocks xmlns:a="http://schemas.openxmlformats.org/drawingml/2006/main" noGrp="1"/>
          </p:cNvSpPr>
          <p:nvPr/>
        </p:nvSpPr>
        <p:spPr>
          <a:xfrm xmlns:a="http://schemas.openxmlformats.org/drawingml/2006/main">
            <a:off x="2781300" y="5114925"/>
            <a:ext cx="8382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Repository · 입력 · 권한 · 실행·측정 조건</a:t>
            </a:r>
          </a:p>
        </p:txBody>
      </p:sp>
      <p:sp>
        <p:nvSpPr>
          <p:cNvPr id="35" name="Legacy module connection">
            <a:extLst xmlns:a="http://schemas.openxmlformats.org/drawingml/2006/main">
              <a:ext uri="{FF2B5EF4-FFF2-40B4-BE49-F238E27FC236}">
                <a16:creationId xmlns:a16="http://schemas.microsoft.com/office/drawing/2014/main" id="{6E05A8C7-8117-4AF5-95FE-9072EF41536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209077855"/>
      </p:ext>
    </p:extLst>
  </p:cSld>
</p:sld>
</file>

<file path=ppt/slides/slide1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구축한 작업 체계의 재사용">
            <a:extLst xmlns:a="http://schemas.openxmlformats.org/drawingml/2006/main">
              <a:ext uri="{FF2B5EF4-FFF2-40B4-BE49-F238E27FC236}">
                <a16:creationId xmlns:a16="http://schemas.microsoft.com/office/drawing/2014/main" id="{F2149385-0152-491D-A5E1-7C5737E758F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구축한 작업 체계의 재사용</a:t>
            </a:r>
          </a:p>
        </p:txBody>
      </p:sp>
      <p:sp>
        <p:nvSpPr>
          <p:cNvPr id="2" name="S74">
            <a:extLst xmlns:a="http://schemas.openxmlformats.org/drawingml/2006/main">
              <a:ext uri="{FF2B5EF4-FFF2-40B4-BE49-F238E27FC236}">
                <a16:creationId xmlns:a16="http://schemas.microsoft.com/office/drawing/2014/main" id="{9D641963-CC7B-4AAA-B238-4EB233E7CEE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S74</a:t>
            </a:r>
          </a:p>
        </p:txBody>
      </p:sp>
      <p:sp>
        <p:nvSpPr>
          <p:cNvPr id="3" name="만든 Harness를 다음 프로젝트의 기반으로">
            <a:extLst xmlns:a="http://schemas.openxmlformats.org/drawingml/2006/main">
              <a:ext uri="{FF2B5EF4-FFF2-40B4-BE49-F238E27FC236}">
                <a16:creationId xmlns:a16="http://schemas.microsoft.com/office/drawing/2014/main" id="{B6882ECD-747B-4FF4-9B46-1D9E100CC64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만든 Harness를 다음 프로젝트의 기반으로</a:t>
            </a:r>
          </a:p>
        </p:txBody>
      </p:sp>
      <p:sp>
        <p:nvSpPr>
          <p:cNvPr id="4" name="">
            <a:extLst xmlns:a="http://schemas.openxmlformats.org/drawingml/2006/main">
              <a:ext uri="{FF2B5EF4-FFF2-40B4-BE49-F238E27FC236}">
                <a16:creationId xmlns:a16="http://schemas.microsoft.com/office/drawing/2014/main" id="{4E2F96B3-3CEA-463B-BCB2-1EFC3C0CAF0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재사용 설계 예 · 조사·검증 방법과 도구 연결 방식을 축적">
            <a:extLst xmlns:a="http://schemas.openxmlformats.org/drawingml/2006/main">
              <a:ext uri="{FF2B5EF4-FFF2-40B4-BE49-F238E27FC236}">
                <a16:creationId xmlns:a16="http://schemas.microsoft.com/office/drawing/2014/main" id="{5A33CB22-CF82-4522-A330-36EF0A481B7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재사용 설계 예 · 조사·검증 방법과 도구 연결 방식을 축적</a:t>
            </a:r>
          </a:p>
        </p:txBody>
      </p:sp>
      <p:sp>
        <p:nvSpPr>
          <p:cNvPr id="6" name="다른 프로젝트로 옮겨 실행한 Demo는 아님 · 프로젝트별 적용 조건은 다음 장에서 연결">
            <a:extLst xmlns:a="http://schemas.openxmlformats.org/drawingml/2006/main">
              <a:ext uri="{FF2B5EF4-FFF2-40B4-BE49-F238E27FC236}">
                <a16:creationId xmlns:a16="http://schemas.microsoft.com/office/drawing/2014/main" id="{21CEFDF2-AF87-4F38-9172-ADD46D1F2DA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다른 프로젝트로 옮겨 실행한 Demo는 아님 · 프로젝트별 적용 조건은 다음 장에서 연결</a:t>
            </a:r>
          </a:p>
        </p:txBody>
      </p:sp>
      <p:sp>
        <p:nvSpPr>
          <p:cNvPr id="7" name="">
            <a:extLst xmlns:a="http://schemas.openxmlformats.org/drawingml/2006/main">
              <a:ext uri="{FF2B5EF4-FFF2-40B4-BE49-F238E27FC236}">
                <a16:creationId xmlns:a16="http://schemas.microsoft.com/office/drawing/2014/main" id="{A255AB5A-D861-4F4B-A750-1A754E7C0EBD}"/>
              </a:ext>
            </a:extLst>
          </p:cNvPr>
          <p:cNvSpPr>
            <a:spLocks xmlns:a="http://schemas.openxmlformats.org/drawingml/2006/main" noGrp="1"/>
          </p:cNvSpPr>
          <p:nvPr/>
        </p:nvSpPr>
        <p:spPr>
          <a:xfrm xmlns:a="http://schemas.openxmlformats.org/drawingml/2006/main">
            <a:off x="609600" y="2324100"/>
            <a:ext cx="4438650" cy="25336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8" name="검토해 둔 Harness 기반">
            <a:extLst xmlns:a="http://schemas.openxmlformats.org/drawingml/2006/main">
              <a:ext uri="{FF2B5EF4-FFF2-40B4-BE49-F238E27FC236}">
                <a16:creationId xmlns:a16="http://schemas.microsoft.com/office/drawing/2014/main" id="{82368A29-E569-4D2E-9488-61A9544ACC12}"/>
              </a:ext>
            </a:extLst>
          </p:cNvPr>
          <p:cNvSpPr>
            <a:spLocks xmlns:a="http://schemas.openxmlformats.org/drawingml/2006/main" noGrp="1"/>
          </p:cNvSpPr>
          <p:nvPr/>
        </p:nvSpPr>
        <p:spPr>
          <a:xfrm xmlns:a="http://schemas.openxmlformats.org/drawingml/2006/main">
            <a:off x="838200" y="2505075"/>
            <a:ext cx="39814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검토해 둔 Harness 기반</a:t>
            </a:r>
          </a:p>
        </p:txBody>
      </p:sp>
      <p:sp>
        <p:nvSpPr>
          <p:cNvPr id="9" name="조사 · 변경 · 검증 절차">
            <a:extLst xmlns:a="http://schemas.openxmlformats.org/drawingml/2006/main">
              <a:ext uri="{FF2B5EF4-FFF2-40B4-BE49-F238E27FC236}">
                <a16:creationId xmlns:a16="http://schemas.microsoft.com/office/drawing/2014/main" id="{515F9965-4D2C-464A-A55A-B5C8B45ADF27}"/>
              </a:ext>
            </a:extLst>
          </p:cNvPr>
          <p:cNvSpPr>
            <a:spLocks xmlns:a="http://schemas.openxmlformats.org/drawingml/2006/main" noGrp="1"/>
          </p:cNvSpPr>
          <p:nvPr/>
        </p:nvSpPr>
        <p:spPr>
          <a:xfrm xmlns:a="http://schemas.openxmlformats.org/drawingml/2006/main">
            <a:off x="838200" y="3248025"/>
            <a:ext cx="39814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조사 · 변경 · 검증 절차</a:t>
            </a:r>
          </a:p>
        </p:txBody>
      </p:sp>
      <p:sp>
        <p:nvSpPr>
          <p:cNvPr id="10" name="도구 연결 · 결과 보고 방식">
            <a:extLst xmlns:a="http://schemas.openxmlformats.org/drawingml/2006/main">
              <a:ext uri="{FF2B5EF4-FFF2-40B4-BE49-F238E27FC236}">
                <a16:creationId xmlns:a16="http://schemas.microsoft.com/office/drawing/2014/main" id="{921756BF-4C4B-4330-83D7-3056917B7DEC}"/>
              </a:ext>
            </a:extLst>
          </p:cNvPr>
          <p:cNvSpPr>
            <a:spLocks xmlns:a="http://schemas.openxmlformats.org/drawingml/2006/main" noGrp="1"/>
          </p:cNvSpPr>
          <p:nvPr/>
        </p:nvSpPr>
        <p:spPr>
          <a:xfrm xmlns:a="http://schemas.openxmlformats.org/drawingml/2006/main">
            <a:off x="838200" y="3886200"/>
            <a:ext cx="39814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도구 연결 · 결과 보고 방식</a:t>
            </a:r>
          </a:p>
        </p:txBody>
      </p:sp>
      <p:sp>
        <p:nvSpPr>
          <p:cNvPr id="11" name="">
            <a:extLst xmlns:a="http://schemas.openxmlformats.org/drawingml/2006/main">
              <a:ext uri="{FF2B5EF4-FFF2-40B4-BE49-F238E27FC236}">
                <a16:creationId xmlns:a16="http://schemas.microsoft.com/office/drawing/2014/main" id="{8603B836-4960-46F3-9846-B3AFE70C0145}"/>
              </a:ext>
            </a:extLst>
          </p:cNvPr>
          <p:cNvSpPr>
            <a:spLocks xmlns:a="http://schemas.openxmlformats.org/drawingml/2006/main" noGrp="1"/>
          </p:cNvSpPr>
          <p:nvPr/>
        </p:nvSpPr>
        <p:spPr>
          <a:xfrm xmlns:a="http://schemas.openxmlformats.org/drawingml/2006/main">
            <a:off x="5048250" y="3590925"/>
            <a:ext cx="120015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2" name="">
            <a:extLst xmlns:a="http://schemas.openxmlformats.org/drawingml/2006/main">
              <a:ext uri="{FF2B5EF4-FFF2-40B4-BE49-F238E27FC236}">
                <a16:creationId xmlns:a16="http://schemas.microsoft.com/office/drawing/2014/main" id="{BF1BCACC-0432-486C-98D2-7C1E61D05C07}"/>
              </a:ext>
            </a:extLst>
          </p:cNvPr>
          <p:cNvSpPr>
            <a:spLocks xmlns:a="http://schemas.openxmlformats.org/drawingml/2006/main" noGrp="1"/>
          </p:cNvSpPr>
          <p:nvPr/>
        </p:nvSpPr>
        <p:spPr>
          <a:xfrm xmlns:a="http://schemas.openxmlformats.org/drawingml/2006/main">
            <a:off x="6248400" y="2676525"/>
            <a:ext cx="0" cy="1943100"/>
          </a:xfrm>
          <a:prstGeom xmlns:a="http://schemas.openxmlformats.org/drawingml/2006/main" prst="line">
            <a:avLst/>
          </a:prstGeom>
          <a:ln xmlns:a="http://schemas.openxmlformats.org/drawingml/2006/main" w="23813">
            <a:solidFill>
              <a:srgbClr val="0B6172"/>
            </a:solidFill>
          </a:ln>
        </p:spPr>
      </p:sp>
      <p:cxnSp>
        <p:nvCxnSpPr>
          <p:cNvPr id="13" name="">
            <a:extLst xmlns:a="http://schemas.openxmlformats.org/drawingml/2006/main">
              <a:ext uri="{FF2B5EF4-FFF2-40B4-BE49-F238E27FC236}">
                <a16:creationId xmlns:a16="http://schemas.microsoft.com/office/drawing/2014/main" id="{6A77C040-65FD-4423-9D44-3A2F908646CC}"/>
              </a:ext>
            </a:extLst>
          </p:cNvPr>
          <p:cNvCxnSpPr/>
          <p:nvPr/>
        </p:nvCxnSpPr>
        <p:spPr>
          <a:xfrm xmlns:a="http://schemas.openxmlformats.org/drawingml/2006/main">
            <a:off x="6248400" y="2676525"/>
            <a:ext cx="1162050" cy="0"/>
          </a:xfrm>
          <a:prstGeom xmlns:a="http://schemas.openxmlformats.org/drawingml/2006/main" prst="straightConnector1">
            <a:avLst/>
          </a:prstGeom>
          <a:ln xmlns:a="http://schemas.openxmlformats.org/drawingml/2006/main" w="23813">
            <a:solidFill>
              <a:srgbClr val="0B6172"/>
            </a:solidFill>
            <a:prstDash val="solid"/>
            <a:tailEnd type="triangle" w="sm" len="sm"/>
          </a:ln>
        </p:spPr>
      </p:cxnSp>
      <p:sp>
        <p:nvSpPr>
          <p:cNvPr id="14" name="">
            <a:extLst xmlns:a="http://schemas.openxmlformats.org/drawingml/2006/main">
              <a:ext uri="{FF2B5EF4-FFF2-40B4-BE49-F238E27FC236}">
                <a16:creationId xmlns:a16="http://schemas.microsoft.com/office/drawing/2014/main" id="{4F441B1E-2059-494C-88F5-E3333F9810AA}"/>
              </a:ext>
            </a:extLst>
          </p:cNvPr>
          <p:cNvSpPr>
            <a:spLocks xmlns:a="http://schemas.openxmlformats.org/drawingml/2006/main" noGrp="1"/>
          </p:cNvSpPr>
          <p:nvPr/>
        </p:nvSpPr>
        <p:spPr>
          <a:xfrm xmlns:a="http://schemas.openxmlformats.org/drawingml/2006/main">
            <a:off x="7524750" y="2314575"/>
            <a:ext cx="4057650" cy="7239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5" name="프로젝트 A">
            <a:extLst xmlns:a="http://schemas.openxmlformats.org/drawingml/2006/main">
              <a:ext uri="{FF2B5EF4-FFF2-40B4-BE49-F238E27FC236}">
                <a16:creationId xmlns:a16="http://schemas.microsoft.com/office/drawing/2014/main" id="{5AC5CA20-8748-4BA9-97BF-4C60FACBCFC4}"/>
              </a:ext>
            </a:extLst>
          </p:cNvPr>
          <p:cNvSpPr>
            <a:spLocks xmlns:a="http://schemas.openxmlformats.org/drawingml/2006/main" noGrp="1"/>
          </p:cNvSpPr>
          <p:nvPr/>
        </p:nvSpPr>
        <p:spPr>
          <a:xfrm xmlns:a="http://schemas.openxmlformats.org/drawingml/2006/main">
            <a:off x="7715250" y="2457450"/>
            <a:ext cx="36766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프로젝트 A</a:t>
            </a:r>
          </a:p>
        </p:txBody>
      </p:sp>
      <p:cxnSp>
        <p:nvCxnSpPr>
          <p:cNvPr id="16" name="">
            <a:extLst xmlns:a="http://schemas.openxmlformats.org/drawingml/2006/main">
              <a:ext uri="{FF2B5EF4-FFF2-40B4-BE49-F238E27FC236}">
                <a16:creationId xmlns:a16="http://schemas.microsoft.com/office/drawing/2014/main" id="{679761D3-4375-44B9-8719-9B11D0EAFC17}"/>
              </a:ext>
            </a:extLst>
          </p:cNvPr>
          <p:cNvCxnSpPr/>
          <p:nvPr/>
        </p:nvCxnSpPr>
        <p:spPr>
          <a:xfrm xmlns:a="http://schemas.openxmlformats.org/drawingml/2006/main">
            <a:off x="6248400" y="3648075"/>
            <a:ext cx="1162050" cy="0"/>
          </a:xfrm>
          <a:prstGeom xmlns:a="http://schemas.openxmlformats.org/drawingml/2006/main" prst="straightConnector1">
            <a:avLst/>
          </a:prstGeom>
          <a:ln xmlns:a="http://schemas.openxmlformats.org/drawingml/2006/main" w="23813">
            <a:solidFill>
              <a:srgbClr val="0B6172"/>
            </a:solidFill>
            <a:prstDash val="solid"/>
            <a:tailEnd type="triangle" w="sm" len="sm"/>
          </a:ln>
        </p:spPr>
      </p:cxnSp>
      <p:sp>
        <p:nvSpPr>
          <p:cNvPr id="17" name="">
            <a:extLst xmlns:a="http://schemas.openxmlformats.org/drawingml/2006/main">
              <a:ext uri="{FF2B5EF4-FFF2-40B4-BE49-F238E27FC236}">
                <a16:creationId xmlns:a16="http://schemas.microsoft.com/office/drawing/2014/main" id="{EE4C3F3D-3A62-48B6-8F9D-F86BB24B67D8}"/>
              </a:ext>
            </a:extLst>
          </p:cNvPr>
          <p:cNvSpPr>
            <a:spLocks xmlns:a="http://schemas.openxmlformats.org/drawingml/2006/main" noGrp="1"/>
          </p:cNvSpPr>
          <p:nvPr/>
        </p:nvSpPr>
        <p:spPr>
          <a:xfrm xmlns:a="http://schemas.openxmlformats.org/drawingml/2006/main">
            <a:off x="7524750" y="3286125"/>
            <a:ext cx="4057650" cy="7239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8" name="프로젝트 B">
            <a:extLst xmlns:a="http://schemas.openxmlformats.org/drawingml/2006/main">
              <a:ext uri="{FF2B5EF4-FFF2-40B4-BE49-F238E27FC236}">
                <a16:creationId xmlns:a16="http://schemas.microsoft.com/office/drawing/2014/main" id="{A274EF5C-C5C5-4FF5-9E1B-15C64C4679B3}"/>
              </a:ext>
            </a:extLst>
          </p:cNvPr>
          <p:cNvSpPr>
            <a:spLocks xmlns:a="http://schemas.openxmlformats.org/drawingml/2006/main" noGrp="1"/>
          </p:cNvSpPr>
          <p:nvPr/>
        </p:nvSpPr>
        <p:spPr>
          <a:xfrm xmlns:a="http://schemas.openxmlformats.org/drawingml/2006/main">
            <a:off x="7715250" y="3429000"/>
            <a:ext cx="36766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프로젝트 B</a:t>
            </a:r>
          </a:p>
        </p:txBody>
      </p:sp>
      <p:cxnSp>
        <p:nvCxnSpPr>
          <p:cNvPr id="19" name="">
            <a:extLst xmlns:a="http://schemas.openxmlformats.org/drawingml/2006/main">
              <a:ext uri="{FF2B5EF4-FFF2-40B4-BE49-F238E27FC236}">
                <a16:creationId xmlns:a16="http://schemas.microsoft.com/office/drawing/2014/main" id="{1897E102-273C-4A3F-9131-BD49CB77F3DF}"/>
              </a:ext>
            </a:extLst>
          </p:cNvPr>
          <p:cNvCxnSpPr/>
          <p:nvPr/>
        </p:nvCxnSpPr>
        <p:spPr>
          <a:xfrm xmlns:a="http://schemas.openxmlformats.org/drawingml/2006/main">
            <a:off x="6248400" y="4619625"/>
            <a:ext cx="1162050" cy="0"/>
          </a:xfrm>
          <a:prstGeom xmlns:a="http://schemas.openxmlformats.org/drawingml/2006/main" prst="straightConnector1">
            <a:avLst/>
          </a:prstGeom>
          <a:ln xmlns:a="http://schemas.openxmlformats.org/drawingml/2006/main" w="23813">
            <a:solidFill>
              <a:srgbClr val="0B6172"/>
            </a:solidFill>
            <a:prstDash val="solid"/>
            <a:tailEnd type="triangle" w="sm" len="sm"/>
          </a:ln>
        </p:spPr>
      </p:cxnSp>
      <p:sp>
        <p:nvSpPr>
          <p:cNvPr id="20" name="">
            <a:extLst xmlns:a="http://schemas.openxmlformats.org/drawingml/2006/main">
              <a:ext uri="{FF2B5EF4-FFF2-40B4-BE49-F238E27FC236}">
                <a16:creationId xmlns:a16="http://schemas.microsoft.com/office/drawing/2014/main" id="{EF7302A1-AF6C-4E3D-8846-ED7E7867C936}"/>
              </a:ext>
            </a:extLst>
          </p:cNvPr>
          <p:cNvSpPr>
            <a:spLocks xmlns:a="http://schemas.openxmlformats.org/drawingml/2006/main" noGrp="1"/>
          </p:cNvSpPr>
          <p:nvPr/>
        </p:nvSpPr>
        <p:spPr>
          <a:xfrm xmlns:a="http://schemas.openxmlformats.org/drawingml/2006/main">
            <a:off x="7524750" y="4257675"/>
            <a:ext cx="4057650" cy="7239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1" name="프로젝트 C">
            <a:extLst xmlns:a="http://schemas.openxmlformats.org/drawingml/2006/main">
              <a:ext uri="{FF2B5EF4-FFF2-40B4-BE49-F238E27FC236}">
                <a16:creationId xmlns:a16="http://schemas.microsoft.com/office/drawing/2014/main" id="{EA669DD4-E723-419F-BBE1-7641C410D90E}"/>
              </a:ext>
            </a:extLst>
          </p:cNvPr>
          <p:cNvSpPr>
            <a:spLocks xmlns:a="http://schemas.openxmlformats.org/drawingml/2006/main" noGrp="1"/>
          </p:cNvSpPr>
          <p:nvPr/>
        </p:nvSpPr>
        <p:spPr>
          <a:xfrm xmlns:a="http://schemas.openxmlformats.org/drawingml/2006/main">
            <a:off x="7715250" y="4400550"/>
            <a:ext cx="36766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프로젝트 C</a:t>
            </a:r>
          </a:p>
        </p:txBody>
      </p:sp>
      <p:sp>
        <p:nvSpPr>
          <p:cNvPr id="22" name="다음 프로젝트는, 만들어 둔 작업 체계에서 출발한다">
            <a:extLst xmlns:a="http://schemas.openxmlformats.org/drawingml/2006/main">
              <a:ext uri="{FF2B5EF4-FFF2-40B4-BE49-F238E27FC236}">
                <a16:creationId xmlns:a16="http://schemas.microsoft.com/office/drawing/2014/main" id="{6C0A22A1-C2EB-4101-AA4D-03EE702248E6}"/>
              </a:ext>
            </a:extLst>
          </p:cNvPr>
          <p:cNvSpPr>
            <a:spLocks xmlns:a="http://schemas.openxmlformats.org/drawingml/2006/main" noGrp="1"/>
          </p:cNvSpPr>
          <p:nvPr/>
        </p:nvSpPr>
        <p:spPr>
          <a:xfrm xmlns:a="http://schemas.openxmlformats.org/drawingml/2006/main">
            <a:off x="609600" y="52578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다음 프로젝트는, 만들어 둔 작업 체계에서 출발한다</a:t>
            </a:r>
          </a:p>
        </p:txBody>
      </p:sp>
      <p:sp>
        <p:nvSpPr>
          <p:cNvPr id="23" name="Legacy module connection">
            <a:extLst xmlns:a="http://schemas.openxmlformats.org/drawingml/2006/main">
              <a:ext uri="{FF2B5EF4-FFF2-40B4-BE49-F238E27FC236}">
                <a16:creationId xmlns:a16="http://schemas.microsoft.com/office/drawing/2014/main" id="{86221858-D978-48A2-A3DD-46A609D4689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731952343"/>
      </p:ext>
    </p:extLst>
  </p:cSld>
</p:sld>
</file>

<file path=ppt/slides/slide2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3 · 재사용할 부분과 새로 연결할 부분">
            <a:extLst xmlns:a="http://schemas.openxmlformats.org/drawingml/2006/main">
              <a:ext uri="{FF2B5EF4-FFF2-40B4-BE49-F238E27FC236}">
                <a16:creationId xmlns:a16="http://schemas.microsoft.com/office/drawing/2014/main" id="{19BC706B-AB7C-4DE7-8388-852FF734F03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재사용할 부분과 새로 연결할 부분</a:t>
            </a:r>
          </a:p>
        </p:txBody>
      </p:sp>
      <p:sp>
        <p:nvSpPr>
          <p:cNvPr id="2" name="S75">
            <a:extLst xmlns:a="http://schemas.openxmlformats.org/drawingml/2006/main">
              <a:ext uri="{FF2B5EF4-FFF2-40B4-BE49-F238E27FC236}">
                <a16:creationId xmlns:a16="http://schemas.microsoft.com/office/drawing/2014/main" id="{9FA1EFA6-C060-42C9-80C7-A54E5ED22F7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S75</a:t>
            </a:r>
          </a:p>
        </p:txBody>
      </p:sp>
      <p:sp>
        <p:nvSpPr>
          <p:cNvPr id="3" name="공통 기반에 프로젝트 기준을 연결한다">
            <a:extLst xmlns:a="http://schemas.openxmlformats.org/drawingml/2006/main">
              <a:ext uri="{FF2B5EF4-FFF2-40B4-BE49-F238E27FC236}">
                <a16:creationId xmlns:a16="http://schemas.microsoft.com/office/drawing/2014/main" id="{67186D6B-5037-4836-9EDE-5785E8AA180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공통 기반에 프로젝트 기준을 연결한다</a:t>
            </a:r>
          </a:p>
        </p:txBody>
      </p:sp>
      <p:sp>
        <p:nvSpPr>
          <p:cNvPr id="4" name="">
            <a:extLst xmlns:a="http://schemas.openxmlformats.org/drawingml/2006/main">
              <a:ext uri="{FF2B5EF4-FFF2-40B4-BE49-F238E27FC236}">
                <a16:creationId xmlns:a16="http://schemas.microsoft.com/office/drawing/2014/main" id="{00A467A5-2047-4798-B573-E6D0CDB9CFA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Harness 적용 모델 · 공통 수행 틀 + 프로젝트별 기준">
            <a:extLst xmlns:a="http://schemas.openxmlformats.org/drawingml/2006/main">
              <a:ext uri="{FF2B5EF4-FFF2-40B4-BE49-F238E27FC236}">
                <a16:creationId xmlns:a16="http://schemas.microsoft.com/office/drawing/2014/main" id="{CE3AD9F8-7107-4483-87CF-C675F8C22AA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Harness 적용 모델 · 공통 수행 틀 + 프로젝트별 기준</a:t>
            </a:r>
          </a:p>
        </p:txBody>
      </p:sp>
      <p:sp>
        <p:nvSpPr>
          <p:cNvPr id="6" name="전체 구성을 그대로 복사해도 작동한다는 보장이 아님 · 이식 결과·시간 절감은 미측정">
            <a:extLst xmlns:a="http://schemas.openxmlformats.org/drawingml/2006/main">
              <a:ext uri="{FF2B5EF4-FFF2-40B4-BE49-F238E27FC236}">
                <a16:creationId xmlns:a16="http://schemas.microsoft.com/office/drawing/2014/main" id="{594980EE-E686-42A9-AD5A-3C2F50D46BC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전체 구성을 그대로 복사해도 작동한다는 보장이 아님 · 이식 결과·시간 절감은 미측정</a:t>
            </a:r>
          </a:p>
        </p:txBody>
      </p:sp>
      <p:sp>
        <p:nvSpPr>
          <p:cNvPr id="7" name="다시 쓰는 기반">
            <a:extLst xmlns:a="http://schemas.openxmlformats.org/drawingml/2006/main">
              <a:ext uri="{FF2B5EF4-FFF2-40B4-BE49-F238E27FC236}">
                <a16:creationId xmlns:a16="http://schemas.microsoft.com/office/drawing/2014/main" id="{3081A6D8-6977-43FB-8A02-8155A5A86184}"/>
              </a:ext>
            </a:extLst>
          </p:cNvPr>
          <p:cNvSpPr>
            <a:spLocks xmlns:a="http://schemas.openxmlformats.org/drawingml/2006/main" noGrp="1"/>
          </p:cNvSpPr>
          <p:nvPr/>
        </p:nvSpPr>
        <p:spPr>
          <a:xfrm xmlns:a="http://schemas.openxmlformats.org/drawingml/2006/main">
            <a:off x="609600" y="2028825"/>
            <a:ext cx="4876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다시 쓰는 기반</a:t>
            </a:r>
          </a:p>
        </p:txBody>
      </p:sp>
      <p:sp>
        <p:nvSpPr>
          <p:cNvPr id="8" name="프로젝트마다 연결">
            <a:extLst xmlns:a="http://schemas.openxmlformats.org/drawingml/2006/main">
              <a:ext uri="{FF2B5EF4-FFF2-40B4-BE49-F238E27FC236}">
                <a16:creationId xmlns:a16="http://schemas.microsoft.com/office/drawing/2014/main" id="{2DC66667-4D60-4F85-B76E-5E344ACC6C5F}"/>
              </a:ext>
            </a:extLst>
          </p:cNvPr>
          <p:cNvSpPr>
            <a:spLocks xmlns:a="http://schemas.openxmlformats.org/drawingml/2006/main" noGrp="1"/>
          </p:cNvSpPr>
          <p:nvPr/>
        </p:nvSpPr>
        <p:spPr>
          <a:xfrm xmlns:a="http://schemas.openxmlformats.org/drawingml/2006/main">
            <a:off x="6705600" y="2028825"/>
            <a:ext cx="4876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프로젝트마다 연결</a:t>
            </a:r>
          </a:p>
        </p:txBody>
      </p:sp>
      <p:sp>
        <p:nvSpPr>
          <p:cNvPr id="9" name="">
            <a:extLst xmlns:a="http://schemas.openxmlformats.org/drawingml/2006/main">
              <a:ext uri="{FF2B5EF4-FFF2-40B4-BE49-F238E27FC236}">
                <a16:creationId xmlns:a16="http://schemas.microsoft.com/office/drawing/2014/main" id="{971D434F-62F9-4AC4-A476-89A7906025A8}"/>
              </a:ext>
            </a:extLst>
          </p:cNvPr>
          <p:cNvSpPr>
            <a:spLocks xmlns:a="http://schemas.openxmlformats.org/drawingml/2006/main" noGrp="1"/>
          </p:cNvSpPr>
          <p:nvPr/>
        </p:nvSpPr>
        <p:spPr>
          <a:xfrm xmlns:a="http://schemas.openxmlformats.org/drawingml/2006/main">
            <a:off x="609600" y="2647950"/>
            <a:ext cx="4876800" cy="22860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0" name="">
            <a:extLst xmlns:a="http://schemas.openxmlformats.org/drawingml/2006/main">
              <a:ext uri="{FF2B5EF4-FFF2-40B4-BE49-F238E27FC236}">
                <a16:creationId xmlns:a16="http://schemas.microsoft.com/office/drawing/2014/main" id="{F454186F-BFA3-46E2-98B9-164D8A4E6777}"/>
              </a:ext>
            </a:extLst>
          </p:cNvPr>
          <p:cNvSpPr>
            <a:spLocks xmlns:a="http://schemas.openxmlformats.org/drawingml/2006/main" noGrp="1"/>
          </p:cNvSpPr>
          <p:nvPr/>
        </p:nvSpPr>
        <p:spPr>
          <a:xfrm xmlns:a="http://schemas.openxmlformats.org/drawingml/2006/main">
            <a:off x="6705600" y="2647950"/>
            <a:ext cx="4876800" cy="22860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1" name="조사·변경·검증의 수행 흐름">
            <a:extLst xmlns:a="http://schemas.openxmlformats.org/drawingml/2006/main">
              <a:ext uri="{FF2B5EF4-FFF2-40B4-BE49-F238E27FC236}">
                <a16:creationId xmlns:a16="http://schemas.microsoft.com/office/drawing/2014/main" id="{4767C2B0-DF8F-4BF3-88E6-746286B61229}"/>
              </a:ext>
            </a:extLst>
          </p:cNvPr>
          <p:cNvSpPr>
            <a:spLocks xmlns:a="http://schemas.openxmlformats.org/drawingml/2006/main" noGrp="1"/>
          </p:cNvSpPr>
          <p:nvPr/>
        </p:nvSpPr>
        <p:spPr>
          <a:xfrm xmlns:a="http://schemas.openxmlformats.org/drawingml/2006/main">
            <a:off x="819150" y="2876550"/>
            <a:ext cx="44577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조사·변경·검증의 수행 흐름</a:t>
            </a:r>
          </a:p>
        </p:txBody>
      </p:sp>
      <p:sp>
        <p:nvSpPr>
          <p:cNvPr id="12" name="도구를 연결하는 방식">
            <a:extLst xmlns:a="http://schemas.openxmlformats.org/drawingml/2006/main">
              <a:ext uri="{FF2B5EF4-FFF2-40B4-BE49-F238E27FC236}">
                <a16:creationId xmlns:a16="http://schemas.microsoft.com/office/drawing/2014/main" id="{416FFBD6-7C0A-4364-8192-5234003DB12E}"/>
              </a:ext>
            </a:extLst>
          </p:cNvPr>
          <p:cNvSpPr>
            <a:spLocks xmlns:a="http://schemas.openxmlformats.org/drawingml/2006/main" noGrp="1"/>
          </p:cNvSpPr>
          <p:nvPr/>
        </p:nvSpPr>
        <p:spPr>
          <a:xfrm xmlns:a="http://schemas.openxmlformats.org/drawingml/2006/main">
            <a:off x="819150" y="3524250"/>
            <a:ext cx="44577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도구를 연결하는 방식</a:t>
            </a:r>
          </a:p>
        </p:txBody>
      </p:sp>
      <p:sp>
        <p:nvSpPr>
          <p:cNvPr id="13" name="검증·보고에 남길 항목">
            <a:extLst xmlns:a="http://schemas.openxmlformats.org/drawingml/2006/main">
              <a:ext uri="{FF2B5EF4-FFF2-40B4-BE49-F238E27FC236}">
                <a16:creationId xmlns:a16="http://schemas.microsoft.com/office/drawing/2014/main" id="{A09582C2-B007-4A76-B9D7-846434311E47}"/>
              </a:ext>
            </a:extLst>
          </p:cNvPr>
          <p:cNvSpPr>
            <a:spLocks xmlns:a="http://schemas.openxmlformats.org/drawingml/2006/main" noGrp="1"/>
          </p:cNvSpPr>
          <p:nvPr/>
        </p:nvSpPr>
        <p:spPr>
          <a:xfrm xmlns:a="http://schemas.openxmlformats.org/drawingml/2006/main">
            <a:off x="819150" y="4171950"/>
            <a:ext cx="44577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검증·보고에 남길 항목</a:t>
            </a:r>
          </a:p>
        </p:txBody>
      </p:sp>
      <p:sp>
        <p:nvSpPr>
          <p:cNvPr id="14" name="목표 · 명세 · 프로젝트 Context">
            <a:extLst xmlns:a="http://schemas.openxmlformats.org/drawingml/2006/main">
              <a:ext uri="{FF2B5EF4-FFF2-40B4-BE49-F238E27FC236}">
                <a16:creationId xmlns:a16="http://schemas.microsoft.com/office/drawing/2014/main" id="{7BD8A185-B32C-4193-961E-4E39E9F00BB6}"/>
              </a:ext>
            </a:extLst>
          </p:cNvPr>
          <p:cNvSpPr>
            <a:spLocks xmlns:a="http://schemas.openxmlformats.org/drawingml/2006/main" noGrp="1"/>
          </p:cNvSpPr>
          <p:nvPr/>
        </p:nvSpPr>
        <p:spPr>
          <a:xfrm xmlns:a="http://schemas.openxmlformats.org/drawingml/2006/main">
            <a:off x="6915150" y="2876550"/>
            <a:ext cx="44577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목표 · 명세 · 프로젝트 Context</a:t>
            </a:r>
          </a:p>
        </p:txBody>
      </p:sp>
      <p:sp>
        <p:nvSpPr>
          <p:cNvPr id="15" name="실제 빌드·테스트·측정 명령">
            <a:extLst xmlns:a="http://schemas.openxmlformats.org/drawingml/2006/main">
              <a:ext uri="{FF2B5EF4-FFF2-40B4-BE49-F238E27FC236}">
                <a16:creationId xmlns:a16="http://schemas.microsoft.com/office/drawing/2014/main" id="{578EFFE1-7EA1-4F4B-8762-F6E5C92D1A49}"/>
              </a:ext>
            </a:extLst>
          </p:cNvPr>
          <p:cNvSpPr>
            <a:spLocks xmlns:a="http://schemas.openxmlformats.org/drawingml/2006/main" noGrp="1"/>
          </p:cNvSpPr>
          <p:nvPr/>
        </p:nvSpPr>
        <p:spPr>
          <a:xfrm xmlns:a="http://schemas.openxmlformats.org/drawingml/2006/main">
            <a:off x="6915150" y="3524250"/>
            <a:ext cx="44577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실제 빌드·테스트·측정 명령</a:t>
            </a:r>
          </a:p>
        </p:txBody>
      </p:sp>
      <p:sp>
        <p:nvSpPr>
          <p:cNvPr id="16" name="허용 권한 · 실행 조건">
            <a:extLst xmlns:a="http://schemas.openxmlformats.org/drawingml/2006/main">
              <a:ext uri="{FF2B5EF4-FFF2-40B4-BE49-F238E27FC236}">
                <a16:creationId xmlns:a16="http://schemas.microsoft.com/office/drawing/2014/main" id="{BD6970CD-E5C2-4BB8-BD68-E8C2700A338D}"/>
              </a:ext>
            </a:extLst>
          </p:cNvPr>
          <p:cNvSpPr>
            <a:spLocks xmlns:a="http://schemas.openxmlformats.org/drawingml/2006/main" noGrp="1"/>
          </p:cNvSpPr>
          <p:nvPr/>
        </p:nvSpPr>
        <p:spPr>
          <a:xfrm xmlns:a="http://schemas.openxmlformats.org/drawingml/2006/main">
            <a:off x="6915150" y="4171950"/>
            <a:ext cx="44577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허용 권한 · 실행 조건</a:t>
            </a:r>
          </a:p>
        </p:txBody>
      </p:sp>
      <p:sp>
        <p:nvSpPr>
          <p:cNvPr id="17" name="+">
            <a:extLst xmlns:a="http://schemas.openxmlformats.org/drawingml/2006/main">
              <a:ext uri="{FF2B5EF4-FFF2-40B4-BE49-F238E27FC236}">
                <a16:creationId xmlns:a16="http://schemas.microsoft.com/office/drawing/2014/main" id="{2FB36E8D-F6BA-4E26-AD43-53615EAB02C8}"/>
              </a:ext>
            </a:extLst>
          </p:cNvPr>
          <p:cNvSpPr>
            <a:spLocks xmlns:a="http://schemas.openxmlformats.org/drawingml/2006/main" noGrp="1"/>
          </p:cNvSpPr>
          <p:nvPr/>
        </p:nvSpPr>
        <p:spPr>
          <a:xfrm xmlns:a="http://schemas.openxmlformats.org/drawingml/2006/main">
            <a:off x="5676900" y="3476625"/>
            <a:ext cx="8382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3600" b="1">
                <a:solidFill>
                  <a:srgbClr val="0B6172"/>
                </a:solidFill>
                <a:latin typeface="Malgun Gothic"/>
                <a:ea typeface="Malgun Gothic"/>
                <a:cs typeface="Malgun Gothic"/>
              </a:defRPr>
            </a:defPPr>
            <a:lvl1pPr algn="ctr">
              <a:defRPr sz="3600" b="1">
                <a:solidFill>
                  <a:srgbClr val="0B6172"/>
                </a:solidFill>
                <a:latin typeface="Malgun Gothic"/>
                <a:ea typeface="Malgun Gothic"/>
                <a:cs typeface="Malgun Gothic"/>
              </a:defRPr>
            </a:lvl1pPr>
            <a:lvl2pPr algn="ctr">
              <a:defRPr sz="3600" b="1">
                <a:solidFill>
                  <a:srgbClr val="0B6172"/>
                </a:solidFill>
                <a:latin typeface="Malgun Gothic"/>
                <a:ea typeface="Malgun Gothic"/>
                <a:cs typeface="Malgun Gothic"/>
              </a:defRPr>
            </a:lvl2pPr>
            <a:lvl3pPr algn="ctr">
              <a:defRPr sz="3600" b="1">
                <a:solidFill>
                  <a:srgbClr val="0B6172"/>
                </a:solidFill>
                <a:latin typeface="Malgun Gothic"/>
                <a:ea typeface="Malgun Gothic"/>
                <a:cs typeface="Malgun Gothic"/>
              </a:defRPr>
            </a:lvl3pPr>
            <a:lvl4pPr algn="ctr">
              <a:defRPr sz="3600" b="1">
                <a:solidFill>
                  <a:srgbClr val="0B6172"/>
                </a:solidFill>
                <a:latin typeface="Malgun Gothic"/>
                <a:ea typeface="Malgun Gothic"/>
                <a:cs typeface="Malgun Gothic"/>
              </a:defRPr>
            </a:lvl4pPr>
            <a:lvl5pPr algn="ctr">
              <a:defRPr sz="3600" b="1">
                <a:solidFill>
                  <a:srgbClr val="0B6172"/>
                </a:solidFill>
                <a:latin typeface="Malgun Gothic"/>
                <a:ea typeface="Malgun Gothic"/>
                <a:cs typeface="Malgun Gothic"/>
              </a:defRPr>
            </a:lvl5pPr>
            <a:lvl6pPr algn="ctr">
              <a:defRPr sz="3600" b="1">
                <a:solidFill>
                  <a:srgbClr val="0B6172"/>
                </a:solidFill>
                <a:latin typeface="Malgun Gothic"/>
                <a:ea typeface="Malgun Gothic"/>
                <a:cs typeface="Malgun Gothic"/>
              </a:defRPr>
            </a:lvl6pPr>
            <a:lvl7pPr algn="ctr">
              <a:defRPr sz="3600" b="1">
                <a:solidFill>
                  <a:srgbClr val="0B6172"/>
                </a:solidFill>
                <a:latin typeface="Malgun Gothic"/>
                <a:ea typeface="Malgun Gothic"/>
                <a:cs typeface="Malgun Gothic"/>
              </a:defRPr>
            </a:lvl7pPr>
            <a:lvl8pPr algn="ctr">
              <a:defRPr sz="3600" b="1">
                <a:solidFill>
                  <a:srgbClr val="0B6172"/>
                </a:solidFill>
                <a:latin typeface="Malgun Gothic"/>
                <a:ea typeface="Malgun Gothic"/>
                <a:cs typeface="Malgun Gothic"/>
              </a:defRPr>
            </a:lvl8pPr>
            <a:lvl9pPr algn="ctr">
              <a:defRPr sz="3600" b="1">
                <a:solidFill>
                  <a:srgbClr val="0B6172"/>
                </a:solidFill>
                <a:latin typeface="Malgun Gothic"/>
                <a:ea typeface="Malgun Gothic"/>
                <a:cs typeface="Malgun Gothic"/>
              </a:defRPr>
            </a:lvl9pPr>
          </a:lstStyle>
          <a:p xmlns:a="http://schemas.openxmlformats.org/drawingml/2006/main">
            <a:pPr algn="ctr">
              <a:defRPr sz="3600" b="1">
                <a:solidFill>
                  <a:srgbClr val="0B6172"/>
                </a:solidFill>
                <a:latin typeface="Malgun Gothic"/>
                <a:ea typeface="Malgun Gothic"/>
                <a:cs typeface="Malgun Gothic"/>
              </a:defRPr>
            </a:pPr>
            <a:r>
              <a:rPr sz="3600" b="1">
                <a:solidFill>
                  <a:srgbClr val="0B6172"/>
                </a:solidFill>
                <a:latin typeface="Malgun Gothic"/>
                <a:ea typeface="Malgun Gothic"/>
                <a:cs typeface="Malgun Gothic"/>
              </a:rPr>
              <a:t>+</a:t>
            </a:r>
          </a:p>
        </p:txBody>
      </p:sp>
      <p:sp>
        <p:nvSpPr>
          <p:cNvPr id="18" name="기반은 재사용하고, 적용 조건은 프로젝트에 맞춘다">
            <a:extLst xmlns:a="http://schemas.openxmlformats.org/drawingml/2006/main">
              <a:ext uri="{FF2B5EF4-FFF2-40B4-BE49-F238E27FC236}">
                <a16:creationId xmlns:a16="http://schemas.microsoft.com/office/drawing/2014/main" id="{3D70B11C-2CF3-4591-A870-C9354D9E6505}"/>
              </a:ext>
            </a:extLst>
          </p:cNvPr>
          <p:cNvSpPr>
            <a:spLocks xmlns:a="http://schemas.openxmlformats.org/drawingml/2006/main" noGrp="1"/>
          </p:cNvSpPr>
          <p:nvPr/>
        </p:nvSpPr>
        <p:spPr>
          <a:xfrm xmlns:a="http://schemas.openxmlformats.org/drawingml/2006/main">
            <a:off x="609600" y="52578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기반은 재사용하고, 적용 조건은 프로젝트에 맞춘다</a:t>
            </a:r>
          </a:p>
        </p:txBody>
      </p:sp>
      <p:sp>
        <p:nvSpPr>
          <p:cNvPr id="19" name="Legacy module connection">
            <a:extLst xmlns:a="http://schemas.openxmlformats.org/drawingml/2006/main">
              <a:ext uri="{FF2B5EF4-FFF2-40B4-BE49-F238E27FC236}">
                <a16:creationId xmlns:a16="http://schemas.microsoft.com/office/drawing/2014/main" id="{83CC8A00-EB68-4F9D-9938-787CE2A1EE8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072793000"/>
      </p:ext>
    </p:extLst>
  </p:cSld>
</p:sld>
</file>

<file path=ppt/slides/slide2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3 · 재사용할 기반과 확인한 범위">
            <a:extLst xmlns:a="http://schemas.openxmlformats.org/drawingml/2006/main">
              <a:ext uri="{FF2B5EF4-FFF2-40B4-BE49-F238E27FC236}">
                <a16:creationId xmlns:a16="http://schemas.microsoft.com/office/drawing/2014/main" id="{3E8E057A-73D6-4886-8B5E-3034A32F797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재사용할 기반과 확인한 범위</a:t>
            </a:r>
          </a:p>
        </p:txBody>
      </p:sp>
      <p:sp>
        <p:nvSpPr>
          <p:cNvPr id="2" name="S76">
            <a:extLst xmlns:a="http://schemas.openxmlformats.org/drawingml/2006/main">
              <a:ext uri="{FF2B5EF4-FFF2-40B4-BE49-F238E27FC236}">
                <a16:creationId xmlns:a16="http://schemas.microsoft.com/office/drawing/2014/main" id="{C2640D23-DD6F-464F-BC9A-164CE5921FF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S76</a:t>
            </a:r>
          </a:p>
        </p:txBody>
      </p:sp>
      <p:sp>
        <p:nvSpPr>
          <p:cNvPr id="3" name="이번 성공만으로 다음 작업까지 확인되지는 않는다">
            <a:extLst xmlns:a="http://schemas.openxmlformats.org/drawingml/2006/main">
              <a:ext uri="{FF2B5EF4-FFF2-40B4-BE49-F238E27FC236}">
                <a16:creationId xmlns:a16="http://schemas.microsoft.com/office/drawing/2014/main" id="{65940E81-4A66-4CCF-9534-B12AB218BD8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이번 성공만으로 다음 작업까지 확인되지는 않는다</a:t>
            </a:r>
          </a:p>
        </p:txBody>
      </p:sp>
      <p:sp>
        <p:nvSpPr>
          <p:cNvPr id="4" name="">
            <a:extLst xmlns:a="http://schemas.openxmlformats.org/drawingml/2006/main">
              <a:ext uri="{FF2B5EF4-FFF2-40B4-BE49-F238E27FC236}">
                <a16:creationId xmlns:a16="http://schemas.microsoft.com/office/drawing/2014/main" id="{FB449536-A882-4C5A-A44D-603F06975B2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OBSERVED_PRODUCT · STATE-04-PERF의 성공 회수 / 오른쪽은 다음 작업에 대한 질문">
            <a:extLst xmlns:a="http://schemas.openxmlformats.org/drawingml/2006/main">
              <a:ext uri="{FF2B5EF4-FFF2-40B4-BE49-F238E27FC236}">
                <a16:creationId xmlns:a16="http://schemas.microsoft.com/office/drawing/2014/main" id="{57FFEB53-7B85-42F1-8D40-801514E05F5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OBSERVED_PRODUCT · STATE-04-PERF의 성공 회수 / 오른쪽은 다음 작업에 대한 질문</a:t>
            </a:r>
          </a:p>
        </p:txBody>
      </p:sp>
      <p:sp>
        <p:nvSpPr>
          <p:cNvPr id="6" name="기록된 코드·입력·환경에서 확인한 결과 · 이후 모든 작업의 성공이나 실패를 관찰한 것은 아님">
            <a:extLst xmlns:a="http://schemas.openxmlformats.org/drawingml/2006/main">
              <a:ext uri="{FF2B5EF4-FFF2-40B4-BE49-F238E27FC236}">
                <a16:creationId xmlns:a16="http://schemas.microsoft.com/office/drawing/2014/main" id="{7D178CB6-4FE5-45D0-99D0-B8C7120E9BA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기록된 코드·입력·환경에서 확인한 결과 · 이후 모든 작업의 성공이나 실패를 관찰한 것은 아님</a:t>
            </a:r>
          </a:p>
        </p:txBody>
      </p:sp>
      <p:sp>
        <p:nvSpPr>
          <p:cNvPr id="7" name="이번 작업에서 확인">
            <a:extLst xmlns:a="http://schemas.openxmlformats.org/drawingml/2006/main">
              <a:ext uri="{FF2B5EF4-FFF2-40B4-BE49-F238E27FC236}">
                <a16:creationId xmlns:a16="http://schemas.microsoft.com/office/drawing/2014/main" id="{57CC6CB2-3CBF-41B2-A9E9-812BE4CE3145}"/>
              </a:ext>
            </a:extLst>
          </p:cNvPr>
          <p:cNvSpPr>
            <a:spLocks xmlns:a="http://schemas.openxmlformats.org/drawingml/2006/main" noGrp="1"/>
          </p:cNvSpPr>
          <p:nvPr/>
        </p:nvSpPr>
        <p:spPr>
          <a:xfrm xmlns:a="http://schemas.openxmlformats.org/drawingml/2006/main">
            <a:off x="609600" y="2095500"/>
            <a:ext cx="4572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이번 작업에서 확인</a:t>
            </a:r>
          </a:p>
        </p:txBody>
      </p:sp>
      <p:sp>
        <p:nvSpPr>
          <p:cNvPr id="8" name="다음 작업에서도 같을까?">
            <a:extLst xmlns:a="http://schemas.openxmlformats.org/drawingml/2006/main">
              <a:ext uri="{FF2B5EF4-FFF2-40B4-BE49-F238E27FC236}">
                <a16:creationId xmlns:a16="http://schemas.microsoft.com/office/drawing/2014/main" id="{ACE32D2A-1F7F-418A-A897-394563EC5BEA}"/>
              </a:ext>
            </a:extLst>
          </p:cNvPr>
          <p:cNvSpPr>
            <a:spLocks xmlns:a="http://schemas.openxmlformats.org/drawingml/2006/main" noGrp="1"/>
          </p:cNvSpPr>
          <p:nvPr/>
        </p:nvSpPr>
        <p:spPr>
          <a:xfrm xmlns:a="http://schemas.openxmlformats.org/drawingml/2006/main">
            <a:off x="7010400" y="2095500"/>
            <a:ext cx="4572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다음 작업에서도 같을까?</a:t>
            </a:r>
          </a:p>
        </p:txBody>
      </p:sp>
      <p:sp>
        <p:nvSpPr>
          <p:cNvPr id="9" name="">
            <a:extLst xmlns:a="http://schemas.openxmlformats.org/drawingml/2006/main">
              <a:ext uri="{FF2B5EF4-FFF2-40B4-BE49-F238E27FC236}">
                <a16:creationId xmlns:a16="http://schemas.microsoft.com/office/drawing/2014/main" id="{087B08A4-0A06-4D0C-9543-B836B519FFC3}"/>
              </a:ext>
            </a:extLst>
          </p:cNvPr>
          <p:cNvSpPr>
            <a:spLocks xmlns:a="http://schemas.openxmlformats.org/drawingml/2006/main" noGrp="1"/>
          </p:cNvSpPr>
          <p:nvPr/>
        </p:nvSpPr>
        <p:spPr>
          <a:xfrm xmlns:a="http://schemas.openxmlformats.org/drawingml/2006/main">
            <a:off x="609600" y="2724150"/>
            <a:ext cx="4572000" cy="20764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0" name="밝기 통계 변경">
            <a:extLst xmlns:a="http://schemas.openxmlformats.org/drawingml/2006/main">
              <a:ext uri="{FF2B5EF4-FFF2-40B4-BE49-F238E27FC236}">
                <a16:creationId xmlns:a16="http://schemas.microsoft.com/office/drawing/2014/main" id="{044C0024-8A1C-4951-8DFA-3411237E2F27}"/>
              </a:ext>
            </a:extLst>
          </p:cNvPr>
          <p:cNvSpPr>
            <a:spLocks xmlns:a="http://schemas.openxmlformats.org/drawingml/2006/main" noGrp="1"/>
          </p:cNvSpPr>
          <p:nvPr/>
        </p:nvSpPr>
        <p:spPr>
          <a:xfrm xmlns:a="http://schemas.openxmlformats.org/drawingml/2006/main">
            <a:off x="838200" y="2952750"/>
            <a:ext cx="41148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밝기 통계 변경</a:t>
            </a:r>
          </a:p>
        </p:txBody>
      </p:sp>
      <p:sp>
        <p:nvSpPr>
          <p:cNvPr id="11" name="명세 · 수행 방법 · 검증 근거">
            <a:extLst xmlns:a="http://schemas.openxmlformats.org/drawingml/2006/main">
              <a:ext uri="{FF2B5EF4-FFF2-40B4-BE49-F238E27FC236}">
                <a16:creationId xmlns:a16="http://schemas.microsoft.com/office/drawing/2014/main" id="{2C91E120-42EF-4C74-8EC9-091B039A39F9}"/>
              </a:ext>
            </a:extLst>
          </p:cNvPr>
          <p:cNvSpPr>
            <a:spLocks xmlns:a="http://schemas.openxmlformats.org/drawingml/2006/main" noGrp="1"/>
          </p:cNvSpPr>
          <p:nvPr/>
        </p:nvSpPr>
        <p:spPr>
          <a:xfrm xmlns:a="http://schemas.openxmlformats.org/drawingml/2006/main">
            <a:off x="838200" y="3638550"/>
            <a:ext cx="4114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명세 · 수행 방법 · 검증 근거</a:t>
            </a:r>
          </a:p>
        </p:txBody>
      </p:sp>
      <p:sp>
        <p:nvSpPr>
          <p:cNvPr id="12" name="기록된 입력·코드·환경에서 확인">
            <a:extLst xmlns:a="http://schemas.openxmlformats.org/drawingml/2006/main">
              <a:ext uri="{FF2B5EF4-FFF2-40B4-BE49-F238E27FC236}">
                <a16:creationId xmlns:a16="http://schemas.microsoft.com/office/drawing/2014/main" id="{68BF7605-9A58-422A-9372-61C422487ABC}"/>
              </a:ext>
            </a:extLst>
          </p:cNvPr>
          <p:cNvSpPr>
            <a:spLocks xmlns:a="http://schemas.openxmlformats.org/drawingml/2006/main" noGrp="1"/>
          </p:cNvSpPr>
          <p:nvPr/>
        </p:nvSpPr>
        <p:spPr>
          <a:xfrm xmlns:a="http://schemas.openxmlformats.org/drawingml/2006/main">
            <a:off x="838200" y="4276725"/>
            <a:ext cx="4114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기록된 입력·코드·환경에서 확인</a:t>
            </a:r>
          </a:p>
        </p:txBody>
      </p:sp>
      <p:cxnSp>
        <p:nvCxnSpPr>
          <p:cNvPr id="13" name="">
            <a:extLst xmlns:a="http://schemas.openxmlformats.org/drawingml/2006/main">
              <a:ext uri="{FF2B5EF4-FFF2-40B4-BE49-F238E27FC236}">
                <a16:creationId xmlns:a16="http://schemas.microsoft.com/office/drawing/2014/main" id="{407C0364-20F9-4B11-AF41-64C89078D062}"/>
              </a:ext>
            </a:extLst>
          </p:cNvPr>
          <p:cNvCxnSpPr/>
          <p:nvPr/>
        </p:nvCxnSpPr>
        <p:spPr>
          <a:xfrm xmlns:a="http://schemas.openxmlformats.org/drawingml/2006/main">
            <a:off x="5314950" y="3762375"/>
            <a:ext cx="1447800" cy="0"/>
          </a:xfrm>
          <a:prstGeom xmlns:a="http://schemas.openxmlformats.org/drawingml/2006/main" prst="straightConnector1">
            <a:avLst/>
          </a:prstGeom>
          <a:ln xmlns:a="http://schemas.openxmlformats.org/drawingml/2006/main" w="23813">
            <a:solidFill>
              <a:srgbClr val="0B6172"/>
            </a:solidFill>
            <a:prstDash val="solid"/>
            <a:tailEnd type="triangle" w="sm" len="sm"/>
          </a:ln>
        </p:spPr>
      </p:cxnSp>
      <p:sp>
        <p:nvSpPr>
          <p:cNvPr id="14" name="">
            <a:extLst xmlns:a="http://schemas.openxmlformats.org/drawingml/2006/main">
              <a:ext uri="{FF2B5EF4-FFF2-40B4-BE49-F238E27FC236}">
                <a16:creationId xmlns:a16="http://schemas.microsoft.com/office/drawing/2014/main" id="{94DA147D-F924-4DC3-9CA6-6C8BBE6D4556}"/>
              </a:ext>
            </a:extLst>
          </p:cNvPr>
          <p:cNvSpPr>
            <a:spLocks xmlns:a="http://schemas.openxmlformats.org/drawingml/2006/main" noGrp="1"/>
          </p:cNvSpPr>
          <p:nvPr/>
        </p:nvSpPr>
        <p:spPr>
          <a:xfrm xmlns:a="http://schemas.openxmlformats.org/drawingml/2006/main">
            <a:off x="7010400" y="2724150"/>
            <a:ext cx="4572000" cy="20764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dash"/>
          </a:ln>
        </p:spPr>
      </p:sp>
      <p:sp>
        <p:nvSpPr>
          <p:cNvPr id="15" name="?">
            <a:extLst xmlns:a="http://schemas.openxmlformats.org/drawingml/2006/main">
              <a:ext uri="{FF2B5EF4-FFF2-40B4-BE49-F238E27FC236}">
                <a16:creationId xmlns:a16="http://schemas.microsoft.com/office/drawing/2014/main" id="{124019B6-5A15-43D5-BD5A-5FBB31BEF416}"/>
              </a:ext>
            </a:extLst>
          </p:cNvPr>
          <p:cNvSpPr>
            <a:spLocks xmlns:a="http://schemas.openxmlformats.org/drawingml/2006/main" noGrp="1"/>
          </p:cNvSpPr>
          <p:nvPr/>
        </p:nvSpPr>
        <p:spPr>
          <a:xfrm xmlns:a="http://schemas.openxmlformats.org/drawingml/2006/main">
            <a:off x="7200900" y="2886075"/>
            <a:ext cx="4191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5175" b="1">
                <a:solidFill>
                  <a:srgbClr val="0B6172"/>
                </a:solidFill>
                <a:latin typeface="Malgun Gothic"/>
                <a:ea typeface="Malgun Gothic"/>
                <a:cs typeface="Malgun Gothic"/>
              </a:defRPr>
            </a:defPPr>
            <a:lvl1pPr algn="ctr">
              <a:defRPr sz="5175" b="1">
                <a:solidFill>
                  <a:srgbClr val="0B6172"/>
                </a:solidFill>
                <a:latin typeface="Malgun Gothic"/>
                <a:ea typeface="Malgun Gothic"/>
                <a:cs typeface="Malgun Gothic"/>
              </a:defRPr>
            </a:lvl1pPr>
            <a:lvl2pPr algn="ctr">
              <a:defRPr sz="5175" b="1">
                <a:solidFill>
                  <a:srgbClr val="0B6172"/>
                </a:solidFill>
                <a:latin typeface="Malgun Gothic"/>
                <a:ea typeface="Malgun Gothic"/>
                <a:cs typeface="Malgun Gothic"/>
              </a:defRPr>
            </a:lvl2pPr>
            <a:lvl3pPr algn="ctr">
              <a:defRPr sz="5175" b="1">
                <a:solidFill>
                  <a:srgbClr val="0B6172"/>
                </a:solidFill>
                <a:latin typeface="Malgun Gothic"/>
                <a:ea typeface="Malgun Gothic"/>
                <a:cs typeface="Malgun Gothic"/>
              </a:defRPr>
            </a:lvl3pPr>
            <a:lvl4pPr algn="ctr">
              <a:defRPr sz="5175" b="1">
                <a:solidFill>
                  <a:srgbClr val="0B6172"/>
                </a:solidFill>
                <a:latin typeface="Malgun Gothic"/>
                <a:ea typeface="Malgun Gothic"/>
                <a:cs typeface="Malgun Gothic"/>
              </a:defRPr>
            </a:lvl4pPr>
            <a:lvl5pPr algn="ctr">
              <a:defRPr sz="5175" b="1">
                <a:solidFill>
                  <a:srgbClr val="0B6172"/>
                </a:solidFill>
                <a:latin typeface="Malgun Gothic"/>
                <a:ea typeface="Malgun Gothic"/>
                <a:cs typeface="Malgun Gothic"/>
              </a:defRPr>
            </a:lvl5pPr>
            <a:lvl6pPr algn="ctr">
              <a:defRPr sz="5175" b="1">
                <a:solidFill>
                  <a:srgbClr val="0B6172"/>
                </a:solidFill>
                <a:latin typeface="Malgun Gothic"/>
                <a:ea typeface="Malgun Gothic"/>
                <a:cs typeface="Malgun Gothic"/>
              </a:defRPr>
            </a:lvl6pPr>
            <a:lvl7pPr algn="ctr">
              <a:defRPr sz="5175" b="1">
                <a:solidFill>
                  <a:srgbClr val="0B6172"/>
                </a:solidFill>
                <a:latin typeface="Malgun Gothic"/>
                <a:ea typeface="Malgun Gothic"/>
                <a:cs typeface="Malgun Gothic"/>
              </a:defRPr>
            </a:lvl7pPr>
            <a:lvl8pPr algn="ctr">
              <a:defRPr sz="5175" b="1">
                <a:solidFill>
                  <a:srgbClr val="0B6172"/>
                </a:solidFill>
                <a:latin typeface="Malgun Gothic"/>
                <a:ea typeface="Malgun Gothic"/>
                <a:cs typeface="Malgun Gothic"/>
              </a:defRPr>
            </a:lvl8pPr>
            <a:lvl9pPr algn="ctr">
              <a:defRPr sz="5175" b="1">
                <a:solidFill>
                  <a:srgbClr val="0B6172"/>
                </a:solidFill>
                <a:latin typeface="Malgun Gothic"/>
                <a:ea typeface="Malgun Gothic"/>
                <a:cs typeface="Malgun Gothic"/>
              </a:defRPr>
            </a:lvl9pPr>
          </a:lstStyle>
          <a:p xmlns:a="http://schemas.openxmlformats.org/drawingml/2006/main">
            <a:pPr algn="ctr">
              <a:defRPr sz="5175" b="1">
                <a:solidFill>
                  <a:srgbClr val="0B6172"/>
                </a:solidFill>
                <a:latin typeface="Malgun Gothic"/>
                <a:ea typeface="Malgun Gothic"/>
                <a:cs typeface="Malgun Gothic"/>
              </a:defRPr>
            </a:pPr>
            <a:r>
              <a:rPr sz="5175" b="1">
                <a:solidFill>
                  <a:srgbClr val="0B6172"/>
                </a:solidFill>
                <a:latin typeface="Malgun Gothic"/>
                <a:ea typeface="Malgun Gothic"/>
                <a:cs typeface="Malgun Gothic"/>
              </a:rPr>
              <a:t>?</a:t>
            </a:r>
          </a:p>
        </p:txBody>
      </p:sp>
      <p:sp>
        <p:nvSpPr>
          <p:cNvPr id="16" name="다른 요구 · 입력 · 검증 범위">
            <a:extLst xmlns:a="http://schemas.openxmlformats.org/drawingml/2006/main">
              <a:ext uri="{FF2B5EF4-FFF2-40B4-BE49-F238E27FC236}">
                <a16:creationId xmlns:a16="http://schemas.microsoft.com/office/drawing/2014/main" id="{AEFFFFEC-0B86-4EA7-A647-3CE19E11A130}"/>
              </a:ext>
            </a:extLst>
          </p:cNvPr>
          <p:cNvSpPr>
            <a:spLocks xmlns:a="http://schemas.openxmlformats.org/drawingml/2006/main" noGrp="1"/>
          </p:cNvSpPr>
          <p:nvPr/>
        </p:nvSpPr>
        <p:spPr>
          <a:xfrm xmlns:a="http://schemas.openxmlformats.org/drawingml/2006/main">
            <a:off x="7219950" y="4038600"/>
            <a:ext cx="41529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다른 요구 · 입력 · 검증 범위</a:t>
            </a:r>
          </a:p>
        </p:txBody>
      </p:sp>
      <p:sp>
        <p:nvSpPr>
          <p:cNvPr id="17" name="잘 만든 기반도, 운영하며 새로 확인할 점이 생길 수 있다">
            <a:extLst xmlns:a="http://schemas.openxmlformats.org/drawingml/2006/main">
              <a:ext uri="{FF2B5EF4-FFF2-40B4-BE49-F238E27FC236}">
                <a16:creationId xmlns:a16="http://schemas.microsoft.com/office/drawing/2014/main" id="{6E96707E-CFE6-4E95-AA56-FDACD1A13CE2}"/>
              </a:ext>
            </a:extLst>
          </p:cNvPr>
          <p:cNvSpPr>
            <a:spLocks xmlns:a="http://schemas.openxmlformats.org/drawingml/2006/main" noGrp="1"/>
          </p:cNvSpPr>
          <p:nvPr/>
        </p:nvSpPr>
        <p:spPr>
          <a:xfrm xmlns:a="http://schemas.openxmlformats.org/drawingml/2006/main">
            <a:off x="609600" y="523875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잘 만든 기반도, 운영하며 새로 확인할 점이 생길 수 있다</a:t>
            </a:r>
          </a:p>
        </p:txBody>
      </p:sp>
      <p:sp>
        <p:nvSpPr>
          <p:cNvPr id="18" name="Legacy module connection">
            <a:extLst xmlns:a="http://schemas.openxmlformats.org/drawingml/2006/main">
              <a:ext uri="{FF2B5EF4-FFF2-40B4-BE49-F238E27FC236}">
                <a16:creationId xmlns:a16="http://schemas.microsoft.com/office/drawing/2014/main" id="{248D9D48-9449-4344-8A83-19B6714ED1B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2094489791"/>
      </p:ext>
    </p:extLst>
  </p:cSld>
</p:sld>
</file>

<file path=ppt/slides/slide2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1" name="ACT 3 · CONCEPTUAL / 운영하며 발견하는 확인의 빈틈">
            <a:extLst xmlns:a="http://schemas.openxmlformats.org/drawingml/2006/main">
              <a:ext uri="{FF2B5EF4-FFF2-40B4-BE49-F238E27FC236}">
                <a16:creationId xmlns:a16="http://schemas.microsoft.com/office/drawing/2014/main" id="{AE2BC207-5510-48B5-B0D2-6F434E776DA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CONCEPTUAL / 운영하며 발견하는 확인의 빈틈</a:t>
            </a:r>
          </a:p>
        </p:txBody>
      </p:sp>
      <p:sp>
        <p:nvSpPr>
          <p:cNvPr id="2" name="S77">
            <a:extLst xmlns:a="http://schemas.openxmlformats.org/drawingml/2006/main">
              <a:ext uri="{FF2B5EF4-FFF2-40B4-BE49-F238E27FC236}">
                <a16:creationId xmlns:a16="http://schemas.microsoft.com/office/drawing/2014/main" id="{9802FC55-70FF-42F5-BAFF-0F3792D0AC1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S77</a:t>
            </a:r>
          </a:p>
        </p:txBody>
      </p:sp>
      <p:sp>
        <p:nvSpPr>
          <p:cNvPr id="3" name="작업 중 사람이 보정할 일이 생긴다면?">
            <a:extLst xmlns:a="http://schemas.openxmlformats.org/drawingml/2006/main">
              <a:ext uri="{FF2B5EF4-FFF2-40B4-BE49-F238E27FC236}">
                <a16:creationId xmlns:a16="http://schemas.microsoft.com/office/drawing/2014/main" id="{6C1C4A42-09F4-46F2-82D0-ADEDFABB6A1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작업 중 사람이 보정할 일이 생긴다면?</a:t>
            </a:r>
          </a:p>
        </p:txBody>
      </p:sp>
      <p:sp>
        <p:nvSpPr>
          <p:cNvPr id="4" name="">
            <a:extLst xmlns:a="http://schemas.openxmlformats.org/drawingml/2006/main">
              <a:ext uri="{FF2B5EF4-FFF2-40B4-BE49-F238E27FC236}">
                <a16:creationId xmlns:a16="http://schemas.microsoft.com/office/drawing/2014/main" id="{2631A6E8-21A6-41F1-A864-F467EE4500E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상황도 · 관련 동작의 확인이 더 필요하다는 가정">
            <a:extLst xmlns:a="http://schemas.openxmlformats.org/drawingml/2006/main">
              <a:ext uri="{FF2B5EF4-FFF2-40B4-BE49-F238E27FC236}">
                <a16:creationId xmlns:a16="http://schemas.microsoft.com/office/drawing/2014/main" id="{E0FF08BD-2F71-4300-BDF7-10E17BE5D24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상황도 · 관련 동작의 확인이 더 필요하다는 가정</a:t>
            </a:r>
          </a:p>
        </p:txBody>
      </p:sp>
      <p:sp>
        <p:nvSpPr>
          <p:cNvPr id="6" name="실제 graypipe의 실패·누락 이력이 아님 · 원인은 아직 미확인 · 다음 장의 보정도 실행 결과가 아님">
            <a:extLst xmlns:a="http://schemas.openxmlformats.org/drawingml/2006/main">
              <a:ext uri="{FF2B5EF4-FFF2-40B4-BE49-F238E27FC236}">
                <a16:creationId xmlns:a16="http://schemas.microsoft.com/office/drawing/2014/main" id="{98B2F2C4-8595-4492-B7C3-63BF3811602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graypipe의 실패·누락 이력이 아님 · 원인은 아직 미확인 · 다음 장의 보정도 실행 결과가 아님</a:t>
            </a:r>
          </a:p>
        </p:txBody>
      </p:sp>
      <p:sp>
        <p:nvSpPr>
          <p:cNvPr id="7" name="이번 결과를 검토하다가, 추가로 확인할 부분을 찾았다면">
            <a:extLst xmlns:a="http://schemas.openxmlformats.org/drawingml/2006/main">
              <a:ext uri="{FF2B5EF4-FFF2-40B4-BE49-F238E27FC236}">
                <a16:creationId xmlns:a16="http://schemas.microsoft.com/office/drawing/2014/main" id="{D15695EB-80C9-42B6-853B-371F9D6209A9}"/>
              </a:ext>
            </a:extLst>
          </p:cNvPr>
          <p:cNvSpPr>
            <a:spLocks xmlns:a="http://schemas.openxmlformats.org/drawingml/2006/main" noGrp="1"/>
          </p:cNvSpPr>
          <p:nvPr/>
        </p:nvSpPr>
        <p:spPr>
          <a:xfrm xmlns:a="http://schemas.openxmlformats.org/drawingml/2006/main">
            <a:off x="609600" y="18002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이번 결과를 검토하다가, 추가로 확인할 부분을 찾았다면</a:t>
            </a:r>
          </a:p>
        </p:txBody>
      </p:sp>
      <p:sp>
        <p:nvSpPr>
          <p:cNvPr id="8" name="">
            <a:extLst xmlns:a="http://schemas.openxmlformats.org/drawingml/2006/main">
              <a:ext uri="{FF2B5EF4-FFF2-40B4-BE49-F238E27FC236}">
                <a16:creationId xmlns:a16="http://schemas.microsoft.com/office/drawing/2014/main" id="{6E0139EB-5BD6-47E5-8EFC-6DF3B5F42AB7}"/>
              </a:ext>
            </a:extLst>
          </p:cNvPr>
          <p:cNvSpPr>
            <a:spLocks xmlns:a="http://schemas.openxmlformats.org/drawingml/2006/main" noGrp="1"/>
          </p:cNvSpPr>
          <p:nvPr/>
        </p:nvSpPr>
        <p:spPr>
          <a:xfrm xmlns:a="http://schemas.openxmlformats.org/drawingml/2006/main">
            <a:off x="609600" y="2762250"/>
            <a:ext cx="3352800" cy="19812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9" name="Agent 작업">
            <a:extLst xmlns:a="http://schemas.openxmlformats.org/drawingml/2006/main">
              <a:ext uri="{FF2B5EF4-FFF2-40B4-BE49-F238E27FC236}">
                <a16:creationId xmlns:a16="http://schemas.microsoft.com/office/drawing/2014/main" id="{923637E1-54AA-4C49-BE8C-0C4D9F4009CD}"/>
              </a:ext>
            </a:extLst>
          </p:cNvPr>
          <p:cNvSpPr>
            <a:spLocks xmlns:a="http://schemas.openxmlformats.org/drawingml/2006/main" noGrp="1"/>
          </p:cNvSpPr>
          <p:nvPr/>
        </p:nvSpPr>
        <p:spPr>
          <a:xfrm xmlns:a="http://schemas.openxmlformats.org/drawingml/2006/main">
            <a:off x="800100" y="2952750"/>
            <a:ext cx="2971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Agent 작업</a:t>
            </a:r>
          </a:p>
        </p:txBody>
      </p:sp>
      <p:sp>
        <p:nvSpPr>
          <p:cNvPr id="10" name="변경한 부분 확인">
            <a:extLst xmlns:a="http://schemas.openxmlformats.org/drawingml/2006/main">
              <a:ext uri="{FF2B5EF4-FFF2-40B4-BE49-F238E27FC236}">
                <a16:creationId xmlns:a16="http://schemas.microsoft.com/office/drawing/2014/main" id="{3590EE2D-EAD1-49F0-8D5B-8CFDBAEDBFDB}"/>
              </a:ext>
            </a:extLst>
          </p:cNvPr>
          <p:cNvSpPr>
            <a:spLocks xmlns:a="http://schemas.openxmlformats.org/drawingml/2006/main" noGrp="1"/>
          </p:cNvSpPr>
          <p:nvPr/>
        </p:nvSpPr>
        <p:spPr>
          <a:xfrm xmlns:a="http://schemas.openxmlformats.org/drawingml/2006/main">
            <a:off x="800100" y="3590925"/>
            <a:ext cx="29718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변경한 부분 확인</a:t>
            </a:r>
          </a:p>
        </p:txBody>
      </p:sp>
      <p:cxnSp>
        <p:nvCxnSpPr>
          <p:cNvPr id="11" name="">
            <a:extLst xmlns:a="http://schemas.openxmlformats.org/drawingml/2006/main">
              <a:ext uri="{FF2B5EF4-FFF2-40B4-BE49-F238E27FC236}">
                <a16:creationId xmlns:a16="http://schemas.microsoft.com/office/drawing/2014/main" id="{9B96FE0E-9DC8-4316-8D7A-D5E304EE9299}"/>
              </a:ext>
            </a:extLst>
          </p:cNvPr>
          <p:cNvCxnSpPr/>
          <p:nvPr/>
        </p:nvCxnSpPr>
        <p:spPr>
          <a:xfrm xmlns:a="http://schemas.openxmlformats.org/drawingml/2006/main">
            <a:off x="4000500" y="3752850"/>
            <a:ext cx="361950" cy="0"/>
          </a:xfrm>
          <a:prstGeom xmlns:a="http://schemas.openxmlformats.org/drawingml/2006/main" prst="straightConnector1">
            <a:avLst/>
          </a:prstGeom>
          <a:ln xmlns:a="http://schemas.openxmlformats.org/drawingml/2006/main" w="23813">
            <a:solidFill>
              <a:srgbClr val="0B6172"/>
            </a:solidFill>
            <a:prstDash val="solid"/>
            <a:tailEnd type="triangle" w="sm" len="sm"/>
          </a:ln>
        </p:spPr>
      </p:cxnSp>
      <p:sp>
        <p:nvSpPr>
          <p:cNvPr id="12" name="">
            <a:extLst xmlns:a="http://schemas.openxmlformats.org/drawingml/2006/main">
              <a:ext uri="{FF2B5EF4-FFF2-40B4-BE49-F238E27FC236}">
                <a16:creationId xmlns:a16="http://schemas.microsoft.com/office/drawing/2014/main" id="{1788C022-25AD-4581-AC86-4228155D2594}"/>
              </a:ext>
            </a:extLst>
          </p:cNvPr>
          <p:cNvSpPr>
            <a:spLocks xmlns:a="http://schemas.openxmlformats.org/drawingml/2006/main" noGrp="1"/>
          </p:cNvSpPr>
          <p:nvPr/>
        </p:nvSpPr>
        <p:spPr>
          <a:xfrm xmlns:a="http://schemas.openxmlformats.org/drawingml/2006/main">
            <a:off x="4419600" y="2762250"/>
            <a:ext cx="3352800" cy="19812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3" name="사람의 검토">
            <a:extLst xmlns:a="http://schemas.openxmlformats.org/drawingml/2006/main">
              <a:ext uri="{FF2B5EF4-FFF2-40B4-BE49-F238E27FC236}">
                <a16:creationId xmlns:a16="http://schemas.microsoft.com/office/drawing/2014/main" id="{281939A1-D01D-4E72-BEB9-DBF6E1C52F22}"/>
              </a:ext>
            </a:extLst>
          </p:cNvPr>
          <p:cNvSpPr>
            <a:spLocks xmlns:a="http://schemas.openxmlformats.org/drawingml/2006/main" noGrp="1"/>
          </p:cNvSpPr>
          <p:nvPr/>
        </p:nvSpPr>
        <p:spPr>
          <a:xfrm xmlns:a="http://schemas.openxmlformats.org/drawingml/2006/main">
            <a:off x="4610100" y="2952750"/>
            <a:ext cx="2971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사람의 검토</a:t>
            </a:r>
          </a:p>
        </p:txBody>
      </p:sp>
      <p:sp>
        <p:nvSpPr>
          <p:cNvPr id="14" name="관련 동작은?">
            <a:extLst xmlns:a="http://schemas.openxmlformats.org/drawingml/2006/main">
              <a:ext uri="{FF2B5EF4-FFF2-40B4-BE49-F238E27FC236}">
                <a16:creationId xmlns:a16="http://schemas.microsoft.com/office/drawing/2014/main" id="{94025B45-FBC2-4075-8308-76096E01D0C7}"/>
              </a:ext>
            </a:extLst>
          </p:cNvPr>
          <p:cNvSpPr>
            <a:spLocks xmlns:a="http://schemas.openxmlformats.org/drawingml/2006/main" noGrp="1"/>
          </p:cNvSpPr>
          <p:nvPr/>
        </p:nvSpPr>
        <p:spPr>
          <a:xfrm xmlns:a="http://schemas.openxmlformats.org/drawingml/2006/main">
            <a:off x="4610100" y="3590925"/>
            <a:ext cx="29718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관련 동작은?</a:t>
            </a:r>
          </a:p>
        </p:txBody>
      </p:sp>
      <p:cxnSp>
        <p:nvCxnSpPr>
          <p:cNvPr id="15" name="">
            <a:extLst xmlns:a="http://schemas.openxmlformats.org/drawingml/2006/main">
              <a:ext uri="{FF2B5EF4-FFF2-40B4-BE49-F238E27FC236}">
                <a16:creationId xmlns:a16="http://schemas.microsoft.com/office/drawing/2014/main" id="{EEA69BBE-D006-4073-9883-3A9D69ED45BD}"/>
              </a:ext>
            </a:extLst>
          </p:cNvPr>
          <p:cNvCxnSpPr/>
          <p:nvPr/>
        </p:nvCxnSpPr>
        <p:spPr>
          <a:xfrm xmlns:a="http://schemas.openxmlformats.org/drawingml/2006/main">
            <a:off x="7810500" y="3752850"/>
            <a:ext cx="361950" cy="0"/>
          </a:xfrm>
          <a:prstGeom xmlns:a="http://schemas.openxmlformats.org/drawingml/2006/main" prst="straightConnector1">
            <a:avLst/>
          </a:prstGeom>
          <a:ln xmlns:a="http://schemas.openxmlformats.org/drawingml/2006/main" w="23813">
            <a:solidFill>
              <a:srgbClr val="0B6172"/>
            </a:solidFill>
            <a:prstDash val="solid"/>
            <a:tailEnd type="triangle" w="sm" len="sm"/>
          </a:ln>
        </p:spPr>
      </p:cxnSp>
      <p:sp>
        <p:nvSpPr>
          <p:cNvPr id="16" name="">
            <a:extLst xmlns:a="http://schemas.openxmlformats.org/drawingml/2006/main">
              <a:ext uri="{FF2B5EF4-FFF2-40B4-BE49-F238E27FC236}">
                <a16:creationId xmlns:a16="http://schemas.microsoft.com/office/drawing/2014/main" id="{9C62A51C-0048-4129-BBC8-BC367996448C}"/>
              </a:ext>
            </a:extLst>
          </p:cNvPr>
          <p:cNvSpPr>
            <a:spLocks xmlns:a="http://schemas.openxmlformats.org/drawingml/2006/main" noGrp="1"/>
          </p:cNvSpPr>
          <p:nvPr/>
        </p:nvSpPr>
        <p:spPr>
          <a:xfrm xmlns:a="http://schemas.openxmlformats.org/drawingml/2006/main">
            <a:off x="8229600" y="2762250"/>
            <a:ext cx="3352800" cy="1981200"/>
          </a:xfrm>
          <a:prstGeom xmlns:a="http://schemas.openxmlformats.org/drawingml/2006/main" prst="rect">
            <a:avLst/>
          </a:prstGeom>
          <a:solidFill xmlns:a="http://schemas.openxmlformats.org/drawingml/2006/main">
            <a:srgbClr val="FAEAC9"/>
          </a:solidFill>
          <a:ln xmlns:a="http://schemas.openxmlformats.org/drawingml/2006/main" w="14288">
            <a:solidFill>
              <a:srgbClr val="805400"/>
            </a:solidFill>
            <a:prstDash val="dash"/>
          </a:ln>
        </p:spPr>
      </p:sp>
      <p:sp>
        <p:nvSpPr>
          <p:cNvPr id="17" name="추가 요청">
            <a:extLst xmlns:a="http://schemas.openxmlformats.org/drawingml/2006/main">
              <a:ext uri="{FF2B5EF4-FFF2-40B4-BE49-F238E27FC236}">
                <a16:creationId xmlns:a16="http://schemas.microsoft.com/office/drawing/2014/main" id="{7FB684CB-20C7-4D77-9B86-23381A962A8F}"/>
              </a:ext>
            </a:extLst>
          </p:cNvPr>
          <p:cNvSpPr>
            <a:spLocks xmlns:a="http://schemas.openxmlformats.org/drawingml/2006/main" noGrp="1"/>
          </p:cNvSpPr>
          <p:nvPr/>
        </p:nvSpPr>
        <p:spPr>
          <a:xfrm xmlns:a="http://schemas.openxmlformats.org/drawingml/2006/main">
            <a:off x="8420100" y="2952750"/>
            <a:ext cx="2971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805400"/>
                </a:solidFill>
                <a:latin typeface="Malgun Gothic"/>
                <a:ea typeface="Malgun Gothic"/>
                <a:cs typeface="Malgun Gothic"/>
              </a:defRPr>
            </a:defPPr>
            <a:lvl1pPr algn="l">
              <a:defRPr sz="2250" b="1">
                <a:solidFill>
                  <a:srgbClr val="805400"/>
                </a:solidFill>
                <a:latin typeface="Malgun Gothic"/>
                <a:ea typeface="Malgun Gothic"/>
                <a:cs typeface="Malgun Gothic"/>
              </a:defRPr>
            </a:lvl1pPr>
            <a:lvl2pPr algn="l">
              <a:defRPr sz="2250" b="1">
                <a:solidFill>
                  <a:srgbClr val="805400"/>
                </a:solidFill>
                <a:latin typeface="Malgun Gothic"/>
                <a:ea typeface="Malgun Gothic"/>
                <a:cs typeface="Malgun Gothic"/>
              </a:defRPr>
            </a:lvl2pPr>
            <a:lvl3pPr algn="l">
              <a:defRPr sz="2250" b="1">
                <a:solidFill>
                  <a:srgbClr val="805400"/>
                </a:solidFill>
                <a:latin typeface="Malgun Gothic"/>
                <a:ea typeface="Malgun Gothic"/>
                <a:cs typeface="Malgun Gothic"/>
              </a:defRPr>
            </a:lvl3pPr>
            <a:lvl4pPr algn="l">
              <a:defRPr sz="2250" b="1">
                <a:solidFill>
                  <a:srgbClr val="805400"/>
                </a:solidFill>
                <a:latin typeface="Malgun Gothic"/>
                <a:ea typeface="Malgun Gothic"/>
                <a:cs typeface="Malgun Gothic"/>
              </a:defRPr>
            </a:lvl4pPr>
            <a:lvl5pPr algn="l">
              <a:defRPr sz="2250" b="1">
                <a:solidFill>
                  <a:srgbClr val="805400"/>
                </a:solidFill>
                <a:latin typeface="Malgun Gothic"/>
                <a:ea typeface="Malgun Gothic"/>
                <a:cs typeface="Malgun Gothic"/>
              </a:defRPr>
            </a:lvl5pPr>
            <a:lvl6pPr algn="l">
              <a:defRPr sz="2250" b="1">
                <a:solidFill>
                  <a:srgbClr val="805400"/>
                </a:solidFill>
                <a:latin typeface="Malgun Gothic"/>
                <a:ea typeface="Malgun Gothic"/>
                <a:cs typeface="Malgun Gothic"/>
              </a:defRPr>
            </a:lvl6pPr>
            <a:lvl7pPr algn="l">
              <a:defRPr sz="2250" b="1">
                <a:solidFill>
                  <a:srgbClr val="805400"/>
                </a:solidFill>
                <a:latin typeface="Malgun Gothic"/>
                <a:ea typeface="Malgun Gothic"/>
                <a:cs typeface="Malgun Gothic"/>
              </a:defRPr>
            </a:lvl7pPr>
            <a:lvl8pPr algn="l">
              <a:defRPr sz="2250" b="1">
                <a:solidFill>
                  <a:srgbClr val="805400"/>
                </a:solidFill>
                <a:latin typeface="Malgun Gothic"/>
                <a:ea typeface="Malgun Gothic"/>
                <a:cs typeface="Malgun Gothic"/>
              </a:defRPr>
            </a:lvl8pPr>
            <a:lvl9pPr algn="l">
              <a:defRPr sz="2250" b="1">
                <a:solidFill>
                  <a:srgbClr val="805400"/>
                </a:solidFill>
                <a:latin typeface="Malgun Gothic"/>
                <a:ea typeface="Malgun Gothic"/>
                <a:cs typeface="Malgun Gothic"/>
              </a:defRPr>
            </a:lvl9pPr>
          </a:lstStyle>
          <a:p xmlns:a="http://schemas.openxmlformats.org/drawingml/2006/main">
            <a:pPr algn="l">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추가 요청</a:t>
            </a:r>
          </a:p>
        </p:txBody>
      </p:sp>
      <p:sp>
        <p:nvSpPr>
          <p:cNvPr id="18" name="관련 동작도&#10;확인해 주세요.">
            <a:extLst xmlns:a="http://schemas.openxmlformats.org/drawingml/2006/main">
              <a:ext uri="{FF2B5EF4-FFF2-40B4-BE49-F238E27FC236}">
                <a16:creationId xmlns:a16="http://schemas.microsoft.com/office/drawing/2014/main" id="{2BEFDACA-D090-4093-89DD-ECEFC4D4FDFD}"/>
              </a:ext>
            </a:extLst>
          </p:cNvPr>
          <p:cNvSpPr>
            <a:spLocks xmlns:a="http://schemas.openxmlformats.org/drawingml/2006/main" noGrp="1"/>
          </p:cNvSpPr>
          <p:nvPr/>
        </p:nvSpPr>
        <p:spPr>
          <a:xfrm xmlns:a="http://schemas.openxmlformats.org/drawingml/2006/main">
            <a:off x="8420100" y="3590925"/>
            <a:ext cx="29718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관련 동작도</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확인해 주세요.</a:t>
            </a:r>
          </a:p>
        </p:txBody>
      </p:sp>
      <p:sp>
        <p:nvSpPr>
          <p:cNvPr id="19" name="이 보정은 다음 작업에도 필요한 내용일까?">
            <a:extLst xmlns:a="http://schemas.openxmlformats.org/drawingml/2006/main">
              <a:ext uri="{FF2B5EF4-FFF2-40B4-BE49-F238E27FC236}">
                <a16:creationId xmlns:a16="http://schemas.microsoft.com/office/drawing/2014/main" id="{2401784E-75ED-4524-80B3-28159E3F5F6A}"/>
              </a:ext>
            </a:extLst>
          </p:cNvPr>
          <p:cNvSpPr>
            <a:spLocks xmlns:a="http://schemas.openxmlformats.org/drawingml/2006/main" noGrp="1"/>
          </p:cNvSpPr>
          <p:nvPr/>
        </p:nvSpPr>
        <p:spPr>
          <a:xfrm xmlns:a="http://schemas.openxmlformats.org/drawingml/2006/main">
            <a:off x="609600" y="523875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이 보정은 다음 작업에도 필요한 내용일까?</a:t>
            </a:r>
          </a:p>
        </p:txBody>
      </p:sp>
      <p:sp>
        <p:nvSpPr>
          <p:cNvPr id="20" name="Legacy module connection">
            <a:extLst xmlns:a="http://schemas.openxmlformats.org/drawingml/2006/main">
              <a:ext uri="{FF2B5EF4-FFF2-40B4-BE49-F238E27FC236}">
                <a16:creationId xmlns:a16="http://schemas.microsoft.com/office/drawing/2014/main" id="{A7DD466F-7E0E-41FB-A0D5-FC071F7FAFC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678649694"/>
      </p:ext>
    </p:extLst>
  </p:cSld>
</p:sld>
</file>

<file path=ppt/slides/slide2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7" name="ACT 3 · CONCEPTUAL / 현재 작업의 보정과 공통 수행 체계">
            <a:extLst xmlns:a="http://schemas.openxmlformats.org/drawingml/2006/main">
              <a:ext uri="{FF2B5EF4-FFF2-40B4-BE49-F238E27FC236}">
                <a16:creationId xmlns:a16="http://schemas.microsoft.com/office/drawing/2014/main" id="{E18898E3-EB37-4B78-AC6B-85A41F2D627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CONCEPTUAL / 현재 작업의 보정과 공통 수행 체계</a:t>
            </a:r>
          </a:p>
        </p:txBody>
      </p:sp>
      <p:sp>
        <p:nvSpPr>
          <p:cNvPr id="2" name="S78">
            <a:extLst xmlns:a="http://schemas.openxmlformats.org/drawingml/2006/main">
              <a:ext uri="{FF2B5EF4-FFF2-40B4-BE49-F238E27FC236}">
                <a16:creationId xmlns:a16="http://schemas.microsoft.com/office/drawing/2014/main" id="{F82C3B3A-54E8-49BE-B894-8A8407CBF28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S78</a:t>
            </a:r>
          </a:p>
        </p:txBody>
      </p:sp>
      <p:sp>
        <p:nvSpPr>
          <p:cNvPr id="3" name="이번 요청은 보정해도, 공통 지침은 그대로다">
            <a:extLst xmlns:a="http://schemas.openxmlformats.org/drawingml/2006/main">
              <a:ext uri="{FF2B5EF4-FFF2-40B4-BE49-F238E27FC236}">
                <a16:creationId xmlns:a16="http://schemas.microsoft.com/office/drawing/2014/main" id="{F2CE1C8A-A4AC-453B-8CBC-4FAD8B106E7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이번 요청은 보정해도, 공통 지침은 그대로다</a:t>
            </a:r>
          </a:p>
        </p:txBody>
      </p:sp>
      <p:sp>
        <p:nvSpPr>
          <p:cNvPr id="4" name="">
            <a:extLst xmlns:a="http://schemas.openxmlformats.org/drawingml/2006/main">
              <a:ext uri="{FF2B5EF4-FFF2-40B4-BE49-F238E27FC236}">
                <a16:creationId xmlns:a16="http://schemas.microsoft.com/office/drawing/2014/main" id="{1BD14931-C6C1-4A19-A4EC-A75111D3651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앞 장의 교육용 상황을 이어서 비교 · 실제 요청·지침 변경 기록이 아님">
            <a:extLst xmlns:a="http://schemas.openxmlformats.org/drawingml/2006/main">
              <a:ext uri="{FF2B5EF4-FFF2-40B4-BE49-F238E27FC236}">
                <a16:creationId xmlns:a16="http://schemas.microsoft.com/office/drawing/2014/main" id="{FD1D05D0-85E1-4787-9D22-AA14CDC5DC6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앞 장의 교육용 상황을 이어서 비교 · 실제 요청·지침 변경 기록이 아님</a:t>
            </a:r>
          </a:p>
        </p:txBody>
      </p:sp>
      <p:sp>
        <p:nvSpPr>
          <p:cNvPr id="6" name="이번 작업 범위를 보정하는 것과 공통 체계를 바꾸는 것은 별개 · 지침이 원인이라고 확정하지 않음">
            <a:extLst xmlns:a="http://schemas.openxmlformats.org/drawingml/2006/main">
              <a:ext uri="{FF2B5EF4-FFF2-40B4-BE49-F238E27FC236}">
                <a16:creationId xmlns:a16="http://schemas.microsoft.com/office/drawing/2014/main" id="{917097ED-37BF-4D6F-AABA-E9C130C8179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이번 작업 범위를 보정하는 것과 공통 체계를 바꾸는 것은 별개 · 지침이 원인이라고 확정하지 않음</a:t>
            </a:r>
          </a:p>
        </p:txBody>
      </p:sp>
      <p:sp>
        <p:nvSpPr>
          <p:cNvPr id="7" name="이번 작업의 요청">
            <a:extLst xmlns:a="http://schemas.openxmlformats.org/drawingml/2006/main">
              <a:ext uri="{FF2B5EF4-FFF2-40B4-BE49-F238E27FC236}">
                <a16:creationId xmlns:a16="http://schemas.microsoft.com/office/drawing/2014/main" id="{5C0F1784-D35E-454F-A2D0-36F146E2164E}"/>
              </a:ext>
            </a:extLst>
          </p:cNvPr>
          <p:cNvSpPr>
            <a:spLocks xmlns:a="http://schemas.openxmlformats.org/drawingml/2006/main" noGrp="1"/>
          </p:cNvSpPr>
          <p:nvPr/>
        </p:nvSpPr>
        <p:spPr>
          <a:xfrm xmlns:a="http://schemas.openxmlformats.org/drawingml/2006/main">
            <a:off x="609600" y="2114550"/>
            <a:ext cx="4876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이번 작업의 요청</a:t>
            </a:r>
          </a:p>
        </p:txBody>
      </p:sp>
      <p:sp>
        <p:nvSpPr>
          <p:cNvPr id="8" name="다음에도 읽을 공통 지침">
            <a:extLst xmlns:a="http://schemas.openxmlformats.org/drawingml/2006/main">
              <a:ext uri="{FF2B5EF4-FFF2-40B4-BE49-F238E27FC236}">
                <a16:creationId xmlns:a16="http://schemas.microsoft.com/office/drawing/2014/main" id="{176B182B-B52C-4EFD-BD42-3B9A35C6CFDA}"/>
              </a:ext>
            </a:extLst>
          </p:cNvPr>
          <p:cNvSpPr>
            <a:spLocks xmlns:a="http://schemas.openxmlformats.org/drawingml/2006/main" noGrp="1"/>
          </p:cNvSpPr>
          <p:nvPr/>
        </p:nvSpPr>
        <p:spPr>
          <a:xfrm xmlns:a="http://schemas.openxmlformats.org/drawingml/2006/main">
            <a:off x="6705600" y="2114550"/>
            <a:ext cx="4876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805400"/>
                </a:solidFill>
                <a:latin typeface="Malgun Gothic"/>
                <a:ea typeface="Malgun Gothic"/>
                <a:cs typeface="Malgun Gothic"/>
              </a:defRPr>
            </a:defPPr>
            <a:lvl1pPr algn="l">
              <a:defRPr sz="2400" b="1">
                <a:solidFill>
                  <a:srgbClr val="805400"/>
                </a:solidFill>
                <a:latin typeface="Malgun Gothic"/>
                <a:ea typeface="Malgun Gothic"/>
                <a:cs typeface="Malgun Gothic"/>
              </a:defRPr>
            </a:lvl1pPr>
            <a:lvl2pPr algn="l">
              <a:defRPr sz="2400" b="1">
                <a:solidFill>
                  <a:srgbClr val="805400"/>
                </a:solidFill>
                <a:latin typeface="Malgun Gothic"/>
                <a:ea typeface="Malgun Gothic"/>
                <a:cs typeface="Malgun Gothic"/>
              </a:defRPr>
            </a:lvl2pPr>
            <a:lvl3pPr algn="l">
              <a:defRPr sz="2400" b="1">
                <a:solidFill>
                  <a:srgbClr val="805400"/>
                </a:solidFill>
                <a:latin typeface="Malgun Gothic"/>
                <a:ea typeface="Malgun Gothic"/>
                <a:cs typeface="Malgun Gothic"/>
              </a:defRPr>
            </a:lvl3pPr>
            <a:lvl4pPr algn="l">
              <a:defRPr sz="2400" b="1">
                <a:solidFill>
                  <a:srgbClr val="805400"/>
                </a:solidFill>
                <a:latin typeface="Malgun Gothic"/>
                <a:ea typeface="Malgun Gothic"/>
                <a:cs typeface="Malgun Gothic"/>
              </a:defRPr>
            </a:lvl4pPr>
            <a:lvl5pPr algn="l">
              <a:defRPr sz="2400" b="1">
                <a:solidFill>
                  <a:srgbClr val="805400"/>
                </a:solidFill>
                <a:latin typeface="Malgun Gothic"/>
                <a:ea typeface="Malgun Gothic"/>
                <a:cs typeface="Malgun Gothic"/>
              </a:defRPr>
            </a:lvl5pPr>
            <a:lvl6pPr algn="l">
              <a:defRPr sz="2400" b="1">
                <a:solidFill>
                  <a:srgbClr val="805400"/>
                </a:solidFill>
                <a:latin typeface="Malgun Gothic"/>
                <a:ea typeface="Malgun Gothic"/>
                <a:cs typeface="Malgun Gothic"/>
              </a:defRPr>
            </a:lvl6pPr>
            <a:lvl7pPr algn="l">
              <a:defRPr sz="2400" b="1">
                <a:solidFill>
                  <a:srgbClr val="805400"/>
                </a:solidFill>
                <a:latin typeface="Malgun Gothic"/>
                <a:ea typeface="Malgun Gothic"/>
                <a:cs typeface="Malgun Gothic"/>
              </a:defRPr>
            </a:lvl7pPr>
            <a:lvl8pPr algn="l">
              <a:defRPr sz="2400" b="1">
                <a:solidFill>
                  <a:srgbClr val="805400"/>
                </a:solidFill>
                <a:latin typeface="Malgun Gothic"/>
                <a:ea typeface="Malgun Gothic"/>
                <a:cs typeface="Malgun Gothic"/>
              </a:defRPr>
            </a:lvl8pPr>
            <a:lvl9pPr algn="l">
              <a:defRPr sz="2400" b="1">
                <a:solidFill>
                  <a:srgbClr val="805400"/>
                </a:solidFill>
                <a:latin typeface="Malgun Gothic"/>
                <a:ea typeface="Malgun Gothic"/>
                <a:cs typeface="Malgun Gothic"/>
              </a:defRPr>
            </a:lvl9pPr>
          </a:lstStyle>
          <a:p xmlns:a="http://schemas.openxmlformats.org/drawingml/2006/main">
            <a:pPr algn="l">
              <a:defRPr sz="2400" b="1">
                <a:solidFill>
                  <a:srgbClr val="805400"/>
                </a:solidFill>
                <a:latin typeface="Malgun Gothic"/>
                <a:ea typeface="Malgun Gothic"/>
                <a:cs typeface="Malgun Gothic"/>
              </a:defRPr>
            </a:pPr>
            <a:r>
              <a:rPr sz="2400" b="1">
                <a:solidFill>
                  <a:srgbClr val="805400"/>
                </a:solidFill>
                <a:latin typeface="Malgun Gothic"/>
                <a:ea typeface="Malgun Gothic"/>
                <a:cs typeface="Malgun Gothic"/>
              </a:rPr>
              <a:t>다음에도 읽을 공통 지침</a:t>
            </a:r>
          </a:p>
        </p:txBody>
      </p:sp>
      <p:sp>
        <p:nvSpPr>
          <p:cNvPr id="9" name="">
            <a:extLst xmlns:a="http://schemas.openxmlformats.org/drawingml/2006/main">
              <a:ext uri="{FF2B5EF4-FFF2-40B4-BE49-F238E27FC236}">
                <a16:creationId xmlns:a16="http://schemas.microsoft.com/office/drawing/2014/main" id="{ABC44496-43B6-4ADF-9112-58A781FE446C}"/>
              </a:ext>
            </a:extLst>
          </p:cNvPr>
          <p:cNvSpPr>
            <a:spLocks xmlns:a="http://schemas.openxmlformats.org/drawingml/2006/main" noGrp="1"/>
          </p:cNvSpPr>
          <p:nvPr/>
        </p:nvSpPr>
        <p:spPr>
          <a:xfrm xmlns:a="http://schemas.openxmlformats.org/drawingml/2006/main">
            <a:off x="609600" y="2752725"/>
            <a:ext cx="4876800" cy="20574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0" name="관련 동작도&#10;확인해 주세요.">
            <a:extLst xmlns:a="http://schemas.openxmlformats.org/drawingml/2006/main">
              <a:ext uri="{FF2B5EF4-FFF2-40B4-BE49-F238E27FC236}">
                <a16:creationId xmlns:a16="http://schemas.microsoft.com/office/drawing/2014/main" id="{47B7329C-22A1-4C65-8490-3E95016C0F30}"/>
              </a:ext>
            </a:extLst>
          </p:cNvPr>
          <p:cNvSpPr>
            <a:spLocks xmlns:a="http://schemas.openxmlformats.org/drawingml/2006/main" noGrp="1"/>
          </p:cNvSpPr>
          <p:nvPr/>
        </p:nvSpPr>
        <p:spPr>
          <a:xfrm xmlns:a="http://schemas.openxmlformats.org/drawingml/2006/main">
            <a:off x="838200" y="3000375"/>
            <a:ext cx="44196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관련 동작도</a:t>
            </a:r>
          </a:p>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확인해 주세요.</a:t>
            </a:r>
          </a:p>
        </p:txBody>
      </p:sp>
      <p:sp>
        <p:nvSpPr>
          <p:cNvPr id="11" name="현재 작업의 검증 범위를 보정">
            <a:extLst xmlns:a="http://schemas.openxmlformats.org/drawingml/2006/main">
              <a:ext uri="{FF2B5EF4-FFF2-40B4-BE49-F238E27FC236}">
                <a16:creationId xmlns:a16="http://schemas.microsoft.com/office/drawing/2014/main" id="{30EBDD9F-94F6-4FC1-BC73-44171868613E}"/>
              </a:ext>
            </a:extLst>
          </p:cNvPr>
          <p:cNvSpPr>
            <a:spLocks xmlns:a="http://schemas.openxmlformats.org/drawingml/2006/main" noGrp="1"/>
          </p:cNvSpPr>
          <p:nvPr/>
        </p:nvSpPr>
        <p:spPr>
          <a:xfrm xmlns:a="http://schemas.openxmlformats.org/drawingml/2006/main">
            <a:off x="838200" y="4229100"/>
            <a:ext cx="44196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현재 작업의 검증 범위를 보정</a:t>
            </a:r>
          </a:p>
        </p:txBody>
      </p:sp>
      <p:sp>
        <p:nvSpPr>
          <p:cNvPr id="12" name="">
            <a:extLst xmlns:a="http://schemas.openxmlformats.org/drawingml/2006/main">
              <a:ext uri="{FF2B5EF4-FFF2-40B4-BE49-F238E27FC236}">
                <a16:creationId xmlns:a16="http://schemas.microsoft.com/office/drawing/2014/main" id="{F7BC1934-2196-4532-978C-8B09D1686BDE}"/>
              </a:ext>
            </a:extLst>
          </p:cNvPr>
          <p:cNvSpPr>
            <a:spLocks xmlns:a="http://schemas.openxmlformats.org/drawingml/2006/main" noGrp="1"/>
          </p:cNvSpPr>
          <p:nvPr/>
        </p:nvSpPr>
        <p:spPr>
          <a:xfrm xmlns:a="http://schemas.openxmlformats.org/drawingml/2006/main">
            <a:off x="6705600" y="2752725"/>
            <a:ext cx="4876800" cy="2057400"/>
          </a:xfrm>
          <a:prstGeom xmlns:a="http://schemas.openxmlformats.org/drawingml/2006/main" prst="rect">
            <a:avLst/>
          </a:prstGeom>
          <a:solidFill xmlns:a="http://schemas.openxmlformats.org/drawingml/2006/main">
            <a:srgbClr val="FFFFFF"/>
          </a:solidFill>
          <a:ln xmlns:a="http://schemas.openxmlformats.org/drawingml/2006/main" w="14288">
            <a:solidFill>
              <a:srgbClr val="805400"/>
            </a:solidFill>
            <a:prstDash val="dash"/>
          </a:ln>
        </p:spPr>
      </p:sp>
      <p:sp>
        <p:nvSpPr>
          <p:cNvPr id="13" name="이전 수행 방법 그대로">
            <a:extLst xmlns:a="http://schemas.openxmlformats.org/drawingml/2006/main">
              <a:ext uri="{FF2B5EF4-FFF2-40B4-BE49-F238E27FC236}">
                <a16:creationId xmlns:a16="http://schemas.microsoft.com/office/drawing/2014/main" id="{1CAD00EF-F47B-4669-8BF5-B14CF0557AC6}"/>
              </a:ext>
            </a:extLst>
          </p:cNvPr>
          <p:cNvSpPr>
            <a:spLocks xmlns:a="http://schemas.openxmlformats.org/drawingml/2006/main" noGrp="1"/>
          </p:cNvSpPr>
          <p:nvPr/>
        </p:nvSpPr>
        <p:spPr>
          <a:xfrm xmlns:a="http://schemas.openxmlformats.org/drawingml/2006/main">
            <a:off x="6934200" y="3276600"/>
            <a:ext cx="44196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이전 수행 방법 그대로</a:t>
            </a:r>
          </a:p>
        </p:txBody>
      </p:sp>
      <p:sp>
        <p:nvSpPr>
          <p:cNvPr id="14" name="공통 지침은 따로 갱신하지 않은 가정">
            <a:extLst xmlns:a="http://schemas.openxmlformats.org/drawingml/2006/main">
              <a:ext uri="{FF2B5EF4-FFF2-40B4-BE49-F238E27FC236}">
                <a16:creationId xmlns:a16="http://schemas.microsoft.com/office/drawing/2014/main" id="{6D1697B1-21F2-41DF-8E6F-50CD56DD20D4}"/>
              </a:ext>
            </a:extLst>
          </p:cNvPr>
          <p:cNvSpPr>
            <a:spLocks xmlns:a="http://schemas.openxmlformats.org/drawingml/2006/main" noGrp="1"/>
          </p:cNvSpPr>
          <p:nvPr/>
        </p:nvSpPr>
        <p:spPr>
          <a:xfrm xmlns:a="http://schemas.openxmlformats.org/drawingml/2006/main">
            <a:off x="6934200" y="4229100"/>
            <a:ext cx="44196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공통 지침은 따로 갱신하지 않은 가정</a:t>
            </a:r>
          </a:p>
        </p:txBody>
      </p:sp>
      <p:sp>
        <p:nvSpPr>
          <p:cNvPr id="15" name="대화에서 바로잡은 내용이, 공통 체계에 자동 반영되지는 않는다">
            <a:extLst xmlns:a="http://schemas.openxmlformats.org/drawingml/2006/main">
              <a:ext uri="{FF2B5EF4-FFF2-40B4-BE49-F238E27FC236}">
                <a16:creationId xmlns:a16="http://schemas.microsoft.com/office/drawing/2014/main" id="{C97AA96C-F270-4A48-A8C5-82D8C98B0E39}"/>
              </a:ext>
            </a:extLst>
          </p:cNvPr>
          <p:cNvSpPr>
            <a:spLocks xmlns:a="http://schemas.openxmlformats.org/drawingml/2006/main" noGrp="1"/>
          </p:cNvSpPr>
          <p:nvPr/>
        </p:nvSpPr>
        <p:spPr>
          <a:xfrm xmlns:a="http://schemas.openxmlformats.org/drawingml/2006/main">
            <a:off x="609600" y="523875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대화에서 바로잡은 내용이, 공통 체계에 자동 반영되지는 않는다</a:t>
            </a:r>
          </a:p>
        </p:txBody>
      </p:sp>
      <p:sp>
        <p:nvSpPr>
          <p:cNvPr id="16" name="Legacy module connection">
            <a:extLst xmlns:a="http://schemas.openxmlformats.org/drawingml/2006/main">
              <a:ext uri="{FF2B5EF4-FFF2-40B4-BE49-F238E27FC236}">
                <a16:creationId xmlns:a16="http://schemas.microsoft.com/office/drawing/2014/main" id="{D1915DDA-6EF7-47B9-91FE-6CDCF445F0C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707798012"/>
      </p:ext>
    </p:extLst>
  </p:cSld>
</p:sld>
</file>

<file path=ppt/slides/slide2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8" name="ACT 3 · CONCEPTUAL / 다음 작업에 돌아오지 않는 경험">
            <a:extLst xmlns:a="http://schemas.openxmlformats.org/drawingml/2006/main">
              <a:ext uri="{FF2B5EF4-FFF2-40B4-BE49-F238E27FC236}">
                <a16:creationId xmlns:a16="http://schemas.microsoft.com/office/drawing/2014/main" id="{3A835BAE-B0B8-4D91-B1CD-76233F1321E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CONCEPTUAL / 다음 작업에 돌아오지 않는 경험</a:t>
            </a:r>
          </a:p>
        </p:txBody>
      </p:sp>
      <p:sp>
        <p:nvSpPr>
          <p:cNvPr id="2" name="S79">
            <a:extLst xmlns:a="http://schemas.openxmlformats.org/drawingml/2006/main">
              <a:ext uri="{FF2B5EF4-FFF2-40B4-BE49-F238E27FC236}">
                <a16:creationId xmlns:a16="http://schemas.microsoft.com/office/drawing/2014/main" id="{517C065F-0929-4A68-BB23-AD8B35510B7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S79</a:t>
            </a:r>
          </a:p>
        </p:txBody>
      </p:sp>
      <p:sp>
        <p:nvSpPr>
          <p:cNvPr id="3" name="다음 작업에서도 같은 보정이 반복된다면?">
            <a:extLst xmlns:a="http://schemas.openxmlformats.org/drawingml/2006/main">
              <a:ext uri="{FF2B5EF4-FFF2-40B4-BE49-F238E27FC236}">
                <a16:creationId xmlns:a16="http://schemas.microsoft.com/office/drawing/2014/main" id="{EE92020F-DD14-4C42-B0FD-62E4FE7EEC3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다음 작업에서도 같은 보정이 반복된다면?</a:t>
            </a:r>
          </a:p>
        </p:txBody>
      </p:sp>
      <p:sp>
        <p:nvSpPr>
          <p:cNvPr id="4" name="">
            <a:extLst xmlns:a="http://schemas.openxmlformats.org/drawingml/2006/main">
              <a:ext uri="{FF2B5EF4-FFF2-40B4-BE49-F238E27FC236}">
                <a16:creationId xmlns:a16="http://schemas.microsoft.com/office/drawing/2014/main" id="{735AC938-EA98-4FC2-B99E-E7FC8A8ACDF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반복 도식 · 작업 A/B/C는 실제 Trial이나 Subagent 실행이 아님">
            <a:extLst xmlns:a="http://schemas.openxmlformats.org/drawingml/2006/main">
              <a:ext uri="{FF2B5EF4-FFF2-40B4-BE49-F238E27FC236}">
                <a16:creationId xmlns:a16="http://schemas.microsoft.com/office/drawing/2014/main" id="{D1EB4EC0-0016-4CB6-AF34-7ED588A48D1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반복 도식 · 작업 A/B/C는 실제 Trial이나 Subagent 실행이 아님</a:t>
            </a:r>
          </a:p>
        </p:txBody>
      </p:sp>
      <p:sp>
        <p:nvSpPr>
          <p:cNvPr id="6" name="반복 횟수·토큰·시간·성공률을 측정한 결과가 아님 · 공통 지침을 갱신하지 않은 상황의 설명">
            <a:extLst xmlns:a="http://schemas.openxmlformats.org/drawingml/2006/main">
              <a:ext uri="{FF2B5EF4-FFF2-40B4-BE49-F238E27FC236}">
                <a16:creationId xmlns:a16="http://schemas.microsoft.com/office/drawing/2014/main" id="{C6662048-497E-4E44-9F35-30593B40B09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반복 횟수·토큰·시간·성공률을 측정한 결과가 아님 · 공통 지침을 갱신하지 않은 상황의 설명</a:t>
            </a:r>
          </a:p>
        </p:txBody>
      </p:sp>
      <p:sp>
        <p:nvSpPr>
          <p:cNvPr id="7" name="">
            <a:extLst xmlns:a="http://schemas.openxmlformats.org/drawingml/2006/main">
              <a:ext uri="{FF2B5EF4-FFF2-40B4-BE49-F238E27FC236}">
                <a16:creationId xmlns:a16="http://schemas.microsoft.com/office/drawing/2014/main" id="{DEE15B62-7908-4076-BE66-9C76CA94DEB5}"/>
              </a:ext>
            </a:extLst>
          </p:cNvPr>
          <p:cNvSpPr>
            <a:spLocks xmlns:a="http://schemas.openxmlformats.org/drawingml/2006/main" noGrp="1"/>
          </p:cNvSpPr>
          <p:nvPr/>
        </p:nvSpPr>
        <p:spPr>
          <a:xfrm xmlns:a="http://schemas.openxmlformats.org/drawingml/2006/main">
            <a:off x="609600" y="1943100"/>
            <a:ext cx="10972800" cy="5810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다음 작업이 읽는 공통 수행 지침은 그대로">
            <a:extLst xmlns:a="http://schemas.openxmlformats.org/drawingml/2006/main">
              <a:ext uri="{FF2B5EF4-FFF2-40B4-BE49-F238E27FC236}">
                <a16:creationId xmlns:a16="http://schemas.microsoft.com/office/drawing/2014/main" id="{4B9C2A26-50BB-4C0D-AA9B-E28AAFAC239F}"/>
              </a:ext>
            </a:extLst>
          </p:cNvPr>
          <p:cNvSpPr>
            <a:spLocks xmlns:a="http://schemas.openxmlformats.org/drawingml/2006/main" noGrp="1"/>
          </p:cNvSpPr>
          <p:nvPr/>
        </p:nvSpPr>
        <p:spPr>
          <a:xfrm xmlns:a="http://schemas.openxmlformats.org/drawingml/2006/main">
            <a:off x="800100" y="2038350"/>
            <a:ext cx="10591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다음 작업이 읽는 공통 수행 지침은 그대로</a:t>
            </a:r>
          </a:p>
        </p:txBody>
      </p:sp>
      <p:sp>
        <p:nvSpPr>
          <p:cNvPr id="9" name="">
            <a:extLst xmlns:a="http://schemas.openxmlformats.org/drawingml/2006/main">
              <a:ext uri="{FF2B5EF4-FFF2-40B4-BE49-F238E27FC236}">
                <a16:creationId xmlns:a16="http://schemas.microsoft.com/office/drawing/2014/main" id="{AAF0D53D-13C3-49BE-9F83-D38F70CD16F0}"/>
              </a:ext>
            </a:extLst>
          </p:cNvPr>
          <p:cNvSpPr>
            <a:spLocks xmlns:a="http://schemas.openxmlformats.org/drawingml/2006/main" noGrp="1"/>
          </p:cNvSpPr>
          <p:nvPr/>
        </p:nvSpPr>
        <p:spPr>
          <a:xfrm xmlns:a="http://schemas.openxmlformats.org/drawingml/2006/main">
            <a:off x="609600" y="2905125"/>
            <a:ext cx="3352800" cy="6762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0" name="작업 A">
            <a:extLst xmlns:a="http://schemas.openxmlformats.org/drawingml/2006/main">
              <a:ext uri="{FF2B5EF4-FFF2-40B4-BE49-F238E27FC236}">
                <a16:creationId xmlns:a16="http://schemas.microsoft.com/office/drawing/2014/main" id="{34C75069-179F-44C2-9CBB-771299403AD3}"/>
              </a:ext>
            </a:extLst>
          </p:cNvPr>
          <p:cNvSpPr>
            <a:spLocks xmlns:a="http://schemas.openxmlformats.org/drawingml/2006/main" noGrp="1"/>
          </p:cNvSpPr>
          <p:nvPr/>
        </p:nvSpPr>
        <p:spPr>
          <a:xfrm xmlns:a="http://schemas.openxmlformats.org/drawingml/2006/main">
            <a:off x="781050" y="3057525"/>
            <a:ext cx="3009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작업 A</a:t>
            </a:r>
          </a:p>
        </p:txBody>
      </p:sp>
      <p:cxnSp>
        <p:nvCxnSpPr>
          <p:cNvPr id="11" name="">
            <a:extLst xmlns:a="http://schemas.openxmlformats.org/drawingml/2006/main">
              <a:ext uri="{FF2B5EF4-FFF2-40B4-BE49-F238E27FC236}">
                <a16:creationId xmlns:a16="http://schemas.microsoft.com/office/drawing/2014/main" id="{6A0E3C73-1D58-4DFD-87A9-E9C4ADC02153}"/>
              </a:ext>
            </a:extLst>
          </p:cNvPr>
          <p:cNvCxnSpPr/>
          <p:nvPr/>
        </p:nvCxnSpPr>
        <p:spPr>
          <a:xfrm xmlns:a="http://schemas.openxmlformats.org/drawingml/2006/main">
            <a:off x="2286000" y="3629025"/>
            <a:ext cx="0" cy="285750"/>
          </a:xfrm>
          <a:prstGeom xmlns:a="http://schemas.openxmlformats.org/drawingml/2006/main" prst="straightConnector1">
            <a:avLst/>
          </a:prstGeom>
          <a:ln xmlns:a="http://schemas.openxmlformats.org/drawingml/2006/main" w="23813">
            <a:solidFill>
              <a:srgbClr val="0B6172"/>
            </a:solidFill>
            <a:prstDash val="solid"/>
            <a:tailEnd type="triangle" w="sm" len="sm"/>
          </a:ln>
        </p:spPr>
      </p:cxnSp>
      <p:sp>
        <p:nvSpPr>
          <p:cNvPr id="12" name="">
            <a:extLst xmlns:a="http://schemas.openxmlformats.org/drawingml/2006/main">
              <a:ext uri="{FF2B5EF4-FFF2-40B4-BE49-F238E27FC236}">
                <a16:creationId xmlns:a16="http://schemas.microsoft.com/office/drawing/2014/main" id="{EE680FF9-951C-40AD-982C-A9F9308AF138}"/>
              </a:ext>
            </a:extLst>
          </p:cNvPr>
          <p:cNvSpPr>
            <a:spLocks xmlns:a="http://schemas.openxmlformats.org/drawingml/2006/main" noGrp="1"/>
          </p:cNvSpPr>
          <p:nvPr/>
        </p:nvSpPr>
        <p:spPr>
          <a:xfrm xmlns:a="http://schemas.openxmlformats.org/drawingml/2006/main">
            <a:off x="609600" y="4000500"/>
            <a:ext cx="3352800" cy="971550"/>
          </a:xfrm>
          <a:prstGeom xmlns:a="http://schemas.openxmlformats.org/drawingml/2006/main" prst="rect">
            <a:avLst/>
          </a:prstGeom>
          <a:solidFill xmlns:a="http://schemas.openxmlformats.org/drawingml/2006/main">
            <a:srgbClr val="FAEAC9"/>
          </a:solidFill>
          <a:ln xmlns:a="http://schemas.openxmlformats.org/drawingml/2006/main" w="14288">
            <a:solidFill>
              <a:srgbClr val="805400"/>
            </a:solidFill>
            <a:prstDash val="dash"/>
          </a:ln>
        </p:spPr>
      </p:sp>
      <p:sp>
        <p:nvSpPr>
          <p:cNvPr id="13" name="사람: 관련 동작도&#10;확인해 주세요.">
            <a:extLst xmlns:a="http://schemas.openxmlformats.org/drawingml/2006/main">
              <a:ext uri="{FF2B5EF4-FFF2-40B4-BE49-F238E27FC236}">
                <a16:creationId xmlns:a16="http://schemas.microsoft.com/office/drawing/2014/main" id="{D3E3265E-0470-4E8F-BB45-9244F02B8660}"/>
              </a:ext>
            </a:extLst>
          </p:cNvPr>
          <p:cNvSpPr>
            <a:spLocks xmlns:a="http://schemas.openxmlformats.org/drawingml/2006/main" noGrp="1"/>
          </p:cNvSpPr>
          <p:nvPr/>
        </p:nvSpPr>
        <p:spPr>
          <a:xfrm xmlns:a="http://schemas.openxmlformats.org/drawingml/2006/main">
            <a:off x="781050" y="4143375"/>
            <a:ext cx="30099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사람: 관련 동작도</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확인해 주세요.</a:t>
            </a:r>
          </a:p>
        </p:txBody>
      </p:sp>
      <p:cxnSp>
        <p:nvCxnSpPr>
          <p:cNvPr id="14" name="">
            <a:extLst xmlns:a="http://schemas.openxmlformats.org/drawingml/2006/main">
              <a:ext uri="{FF2B5EF4-FFF2-40B4-BE49-F238E27FC236}">
                <a16:creationId xmlns:a16="http://schemas.microsoft.com/office/drawing/2014/main" id="{3BD1F608-6743-4361-BFE3-3D97E86BFC1B}"/>
              </a:ext>
            </a:extLst>
          </p:cNvPr>
          <p:cNvCxnSpPr/>
          <p:nvPr/>
        </p:nvCxnSpPr>
        <p:spPr>
          <a:xfrm xmlns:a="http://schemas.openxmlformats.org/drawingml/2006/main">
            <a:off x="4000500" y="3248025"/>
            <a:ext cx="361950" cy="0"/>
          </a:xfrm>
          <a:prstGeom xmlns:a="http://schemas.openxmlformats.org/drawingml/2006/main" prst="straightConnector1">
            <a:avLst/>
          </a:prstGeom>
          <a:ln xmlns:a="http://schemas.openxmlformats.org/drawingml/2006/main" w="23813">
            <a:solidFill>
              <a:srgbClr val="0B6172"/>
            </a:solidFill>
            <a:prstDash val="solid"/>
            <a:tailEnd type="triangle" w="sm" len="sm"/>
          </a:ln>
        </p:spPr>
      </p:cxnSp>
      <p:sp>
        <p:nvSpPr>
          <p:cNvPr id="15" name="">
            <a:extLst xmlns:a="http://schemas.openxmlformats.org/drawingml/2006/main">
              <a:ext uri="{FF2B5EF4-FFF2-40B4-BE49-F238E27FC236}">
                <a16:creationId xmlns:a16="http://schemas.microsoft.com/office/drawing/2014/main" id="{C3D21C7E-32A4-4CFA-8B0F-2745FB3D5A08}"/>
              </a:ext>
            </a:extLst>
          </p:cNvPr>
          <p:cNvSpPr>
            <a:spLocks xmlns:a="http://schemas.openxmlformats.org/drawingml/2006/main" noGrp="1"/>
          </p:cNvSpPr>
          <p:nvPr/>
        </p:nvSpPr>
        <p:spPr>
          <a:xfrm xmlns:a="http://schemas.openxmlformats.org/drawingml/2006/main">
            <a:off x="4419600" y="2905125"/>
            <a:ext cx="3352800" cy="6762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6" name="다음 작업 B">
            <a:extLst xmlns:a="http://schemas.openxmlformats.org/drawingml/2006/main">
              <a:ext uri="{FF2B5EF4-FFF2-40B4-BE49-F238E27FC236}">
                <a16:creationId xmlns:a16="http://schemas.microsoft.com/office/drawing/2014/main" id="{9679DA96-46CE-4AAA-ADA8-A71D02DDD27F}"/>
              </a:ext>
            </a:extLst>
          </p:cNvPr>
          <p:cNvSpPr>
            <a:spLocks xmlns:a="http://schemas.openxmlformats.org/drawingml/2006/main" noGrp="1"/>
          </p:cNvSpPr>
          <p:nvPr/>
        </p:nvSpPr>
        <p:spPr>
          <a:xfrm xmlns:a="http://schemas.openxmlformats.org/drawingml/2006/main">
            <a:off x="4591050" y="3057525"/>
            <a:ext cx="3009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다음 작업 B</a:t>
            </a:r>
          </a:p>
        </p:txBody>
      </p:sp>
      <p:cxnSp>
        <p:nvCxnSpPr>
          <p:cNvPr id="17" name="">
            <a:extLst xmlns:a="http://schemas.openxmlformats.org/drawingml/2006/main">
              <a:ext uri="{FF2B5EF4-FFF2-40B4-BE49-F238E27FC236}">
                <a16:creationId xmlns:a16="http://schemas.microsoft.com/office/drawing/2014/main" id="{C4471AC5-6617-4A3A-A5FC-BB9D742456C3}"/>
              </a:ext>
            </a:extLst>
          </p:cNvPr>
          <p:cNvCxnSpPr/>
          <p:nvPr/>
        </p:nvCxnSpPr>
        <p:spPr>
          <a:xfrm xmlns:a="http://schemas.openxmlformats.org/drawingml/2006/main">
            <a:off x="6096000" y="3629025"/>
            <a:ext cx="0" cy="285750"/>
          </a:xfrm>
          <a:prstGeom xmlns:a="http://schemas.openxmlformats.org/drawingml/2006/main" prst="straightConnector1">
            <a:avLst/>
          </a:prstGeom>
          <a:ln xmlns:a="http://schemas.openxmlformats.org/drawingml/2006/main" w="23813">
            <a:solidFill>
              <a:srgbClr val="0B6172"/>
            </a:solidFill>
            <a:prstDash val="solid"/>
            <a:tailEnd type="triangle" w="sm" len="sm"/>
          </a:ln>
        </p:spPr>
      </p:cxnSp>
      <p:sp>
        <p:nvSpPr>
          <p:cNvPr id="18" name="">
            <a:extLst xmlns:a="http://schemas.openxmlformats.org/drawingml/2006/main">
              <a:ext uri="{FF2B5EF4-FFF2-40B4-BE49-F238E27FC236}">
                <a16:creationId xmlns:a16="http://schemas.microsoft.com/office/drawing/2014/main" id="{68492C35-C70C-4F67-A1DF-AFEB0109C5A3}"/>
              </a:ext>
            </a:extLst>
          </p:cNvPr>
          <p:cNvSpPr>
            <a:spLocks xmlns:a="http://schemas.openxmlformats.org/drawingml/2006/main" noGrp="1"/>
          </p:cNvSpPr>
          <p:nvPr/>
        </p:nvSpPr>
        <p:spPr>
          <a:xfrm xmlns:a="http://schemas.openxmlformats.org/drawingml/2006/main">
            <a:off x="4419600" y="4000500"/>
            <a:ext cx="3352800" cy="971550"/>
          </a:xfrm>
          <a:prstGeom xmlns:a="http://schemas.openxmlformats.org/drawingml/2006/main" prst="rect">
            <a:avLst/>
          </a:prstGeom>
          <a:solidFill xmlns:a="http://schemas.openxmlformats.org/drawingml/2006/main">
            <a:srgbClr val="FAEAC9"/>
          </a:solidFill>
          <a:ln xmlns:a="http://schemas.openxmlformats.org/drawingml/2006/main" w="14288">
            <a:solidFill>
              <a:srgbClr val="805400"/>
            </a:solidFill>
            <a:prstDash val="dash"/>
          </a:ln>
        </p:spPr>
      </p:sp>
      <p:sp>
        <p:nvSpPr>
          <p:cNvPr id="19" name="사람: 관련 동작도&#10;확인해 주세요.">
            <a:extLst xmlns:a="http://schemas.openxmlformats.org/drawingml/2006/main">
              <a:ext uri="{FF2B5EF4-FFF2-40B4-BE49-F238E27FC236}">
                <a16:creationId xmlns:a16="http://schemas.microsoft.com/office/drawing/2014/main" id="{800F9CF9-7DAD-4903-8002-5ACBDBFDFAF1}"/>
              </a:ext>
            </a:extLst>
          </p:cNvPr>
          <p:cNvSpPr>
            <a:spLocks xmlns:a="http://schemas.openxmlformats.org/drawingml/2006/main" noGrp="1"/>
          </p:cNvSpPr>
          <p:nvPr/>
        </p:nvSpPr>
        <p:spPr>
          <a:xfrm xmlns:a="http://schemas.openxmlformats.org/drawingml/2006/main">
            <a:off x="4591050" y="4143375"/>
            <a:ext cx="30099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사람: 관련 동작도</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확인해 주세요.</a:t>
            </a:r>
          </a:p>
        </p:txBody>
      </p:sp>
      <p:cxnSp>
        <p:nvCxnSpPr>
          <p:cNvPr id="20" name="">
            <a:extLst xmlns:a="http://schemas.openxmlformats.org/drawingml/2006/main">
              <a:ext uri="{FF2B5EF4-FFF2-40B4-BE49-F238E27FC236}">
                <a16:creationId xmlns:a16="http://schemas.microsoft.com/office/drawing/2014/main" id="{4FD6DE13-D418-4AF0-95B7-0530384D7D79}"/>
              </a:ext>
            </a:extLst>
          </p:cNvPr>
          <p:cNvCxnSpPr/>
          <p:nvPr/>
        </p:nvCxnSpPr>
        <p:spPr>
          <a:xfrm xmlns:a="http://schemas.openxmlformats.org/drawingml/2006/main">
            <a:off x="7810500" y="3248025"/>
            <a:ext cx="361950" cy="0"/>
          </a:xfrm>
          <a:prstGeom xmlns:a="http://schemas.openxmlformats.org/drawingml/2006/main" prst="straightConnector1">
            <a:avLst/>
          </a:prstGeom>
          <a:ln xmlns:a="http://schemas.openxmlformats.org/drawingml/2006/main" w="23813">
            <a:solidFill>
              <a:srgbClr val="0B6172"/>
            </a:solidFill>
            <a:prstDash val="solid"/>
            <a:tailEnd type="triangle" w="sm" len="sm"/>
          </a:ln>
        </p:spPr>
      </p:cxnSp>
      <p:sp>
        <p:nvSpPr>
          <p:cNvPr id="21" name="">
            <a:extLst xmlns:a="http://schemas.openxmlformats.org/drawingml/2006/main">
              <a:ext uri="{FF2B5EF4-FFF2-40B4-BE49-F238E27FC236}">
                <a16:creationId xmlns:a16="http://schemas.microsoft.com/office/drawing/2014/main" id="{A598BB2F-07AE-426D-874B-92B8987CA5D8}"/>
              </a:ext>
            </a:extLst>
          </p:cNvPr>
          <p:cNvSpPr>
            <a:spLocks xmlns:a="http://schemas.openxmlformats.org/drawingml/2006/main" noGrp="1"/>
          </p:cNvSpPr>
          <p:nvPr/>
        </p:nvSpPr>
        <p:spPr>
          <a:xfrm xmlns:a="http://schemas.openxmlformats.org/drawingml/2006/main">
            <a:off x="8229600" y="2905125"/>
            <a:ext cx="3352800" cy="6762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2" name="다음 작업 C">
            <a:extLst xmlns:a="http://schemas.openxmlformats.org/drawingml/2006/main">
              <a:ext uri="{FF2B5EF4-FFF2-40B4-BE49-F238E27FC236}">
                <a16:creationId xmlns:a16="http://schemas.microsoft.com/office/drawing/2014/main" id="{C65BA7AC-BCED-4524-B41B-44AA5B443FC6}"/>
              </a:ext>
            </a:extLst>
          </p:cNvPr>
          <p:cNvSpPr>
            <a:spLocks xmlns:a="http://schemas.openxmlformats.org/drawingml/2006/main" noGrp="1"/>
          </p:cNvSpPr>
          <p:nvPr/>
        </p:nvSpPr>
        <p:spPr>
          <a:xfrm xmlns:a="http://schemas.openxmlformats.org/drawingml/2006/main">
            <a:off x="8401050" y="3057525"/>
            <a:ext cx="3009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다음 작업 C</a:t>
            </a:r>
          </a:p>
        </p:txBody>
      </p:sp>
      <p:cxnSp>
        <p:nvCxnSpPr>
          <p:cNvPr id="23" name="">
            <a:extLst xmlns:a="http://schemas.openxmlformats.org/drawingml/2006/main">
              <a:ext uri="{FF2B5EF4-FFF2-40B4-BE49-F238E27FC236}">
                <a16:creationId xmlns:a16="http://schemas.microsoft.com/office/drawing/2014/main" id="{EA568DB0-1902-4C3C-81CD-9D8274557B8D}"/>
              </a:ext>
            </a:extLst>
          </p:cNvPr>
          <p:cNvCxnSpPr/>
          <p:nvPr/>
        </p:nvCxnSpPr>
        <p:spPr>
          <a:xfrm xmlns:a="http://schemas.openxmlformats.org/drawingml/2006/main">
            <a:off x="9906000" y="3629025"/>
            <a:ext cx="0" cy="285750"/>
          </a:xfrm>
          <a:prstGeom xmlns:a="http://schemas.openxmlformats.org/drawingml/2006/main" prst="straightConnector1">
            <a:avLst/>
          </a:prstGeom>
          <a:ln xmlns:a="http://schemas.openxmlformats.org/drawingml/2006/main" w="23813">
            <a:solidFill>
              <a:srgbClr val="0B6172"/>
            </a:solidFill>
            <a:prstDash val="solid"/>
            <a:tailEnd type="triangle" w="sm" len="sm"/>
          </a:ln>
        </p:spPr>
      </p:cxnSp>
      <p:sp>
        <p:nvSpPr>
          <p:cNvPr id="24" name="">
            <a:extLst xmlns:a="http://schemas.openxmlformats.org/drawingml/2006/main">
              <a:ext uri="{FF2B5EF4-FFF2-40B4-BE49-F238E27FC236}">
                <a16:creationId xmlns:a16="http://schemas.microsoft.com/office/drawing/2014/main" id="{E65AB88F-A970-4ED8-876C-1C6CC7ADD030}"/>
              </a:ext>
            </a:extLst>
          </p:cNvPr>
          <p:cNvSpPr>
            <a:spLocks xmlns:a="http://schemas.openxmlformats.org/drawingml/2006/main" noGrp="1"/>
          </p:cNvSpPr>
          <p:nvPr/>
        </p:nvSpPr>
        <p:spPr>
          <a:xfrm xmlns:a="http://schemas.openxmlformats.org/drawingml/2006/main">
            <a:off x="8229600" y="4000500"/>
            <a:ext cx="3352800" cy="971550"/>
          </a:xfrm>
          <a:prstGeom xmlns:a="http://schemas.openxmlformats.org/drawingml/2006/main" prst="rect">
            <a:avLst/>
          </a:prstGeom>
          <a:solidFill xmlns:a="http://schemas.openxmlformats.org/drawingml/2006/main">
            <a:srgbClr val="FAEAC9"/>
          </a:solidFill>
          <a:ln xmlns:a="http://schemas.openxmlformats.org/drawingml/2006/main" w="14288">
            <a:solidFill>
              <a:srgbClr val="805400"/>
            </a:solidFill>
            <a:prstDash val="dash"/>
          </a:ln>
        </p:spPr>
      </p:sp>
      <p:sp>
        <p:nvSpPr>
          <p:cNvPr id="25" name="사람: 관련 동작도&#10;확인해 주세요.">
            <a:extLst xmlns:a="http://schemas.openxmlformats.org/drawingml/2006/main">
              <a:ext uri="{FF2B5EF4-FFF2-40B4-BE49-F238E27FC236}">
                <a16:creationId xmlns:a16="http://schemas.microsoft.com/office/drawing/2014/main" id="{3D8C21B1-1E57-4AE2-8D34-604475F5F460}"/>
              </a:ext>
            </a:extLst>
          </p:cNvPr>
          <p:cNvSpPr>
            <a:spLocks xmlns:a="http://schemas.openxmlformats.org/drawingml/2006/main" noGrp="1"/>
          </p:cNvSpPr>
          <p:nvPr/>
        </p:nvSpPr>
        <p:spPr>
          <a:xfrm xmlns:a="http://schemas.openxmlformats.org/drawingml/2006/main">
            <a:off x="8401050" y="4143375"/>
            <a:ext cx="30099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사람: 관련 동작도</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확인해 주세요.</a:t>
            </a:r>
          </a:p>
        </p:txBody>
      </p:sp>
      <p:sp>
        <p:nvSpPr>
          <p:cNvPr id="26" name="사람은 같은 보정을 반복하고, 다음 작업의 체계는 그대로다">
            <a:extLst xmlns:a="http://schemas.openxmlformats.org/drawingml/2006/main">
              <a:ext uri="{FF2B5EF4-FFF2-40B4-BE49-F238E27FC236}">
                <a16:creationId xmlns:a16="http://schemas.microsoft.com/office/drawing/2014/main" id="{1C0D2920-DDBA-4D83-B9AF-1BA3E387F132}"/>
              </a:ext>
            </a:extLst>
          </p:cNvPr>
          <p:cNvSpPr>
            <a:spLocks xmlns:a="http://schemas.openxmlformats.org/drawingml/2006/main" noGrp="1"/>
          </p:cNvSpPr>
          <p:nvPr/>
        </p:nvSpPr>
        <p:spPr>
          <a:xfrm xmlns:a="http://schemas.openxmlformats.org/drawingml/2006/main">
            <a:off x="609600" y="52673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사람은 같은 보정을 반복하고, 다음 작업의 체계는 그대로다</a:t>
            </a:r>
          </a:p>
        </p:txBody>
      </p:sp>
      <p:sp>
        <p:nvSpPr>
          <p:cNvPr id="27" name="Legacy module connection">
            <a:extLst xmlns:a="http://schemas.openxmlformats.org/drawingml/2006/main">
              <a:ext uri="{FF2B5EF4-FFF2-40B4-BE49-F238E27FC236}">
                <a16:creationId xmlns:a16="http://schemas.microsoft.com/office/drawing/2014/main" id="{5E85E1AF-93FB-4103-AC75-2E12754D3C6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M8</a:t>
            </a:r>
          </a:p>
        </p:txBody>
      </p:sp>
    </p:spTree>
    <p:extLst>
      <p:ext uri="{BB962C8B-B14F-4D97-AF65-F5344CB8AC3E}">
        <p14:creationId xmlns:p14="http://schemas.microsoft.com/office/powerpoint/2010/main" val="798293595"/>
      </p:ext>
    </p:extLst>
  </p:cSld>
</p:sld>
</file>

<file path=ppt/slides/slide2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3 · 다음 작업의 체계를 검토할 근거">
            <a:extLst xmlns:a="http://schemas.openxmlformats.org/drawingml/2006/main">
              <a:ext uri="{FF2B5EF4-FFF2-40B4-BE49-F238E27FC236}">
                <a16:creationId xmlns:a16="http://schemas.microsoft.com/office/drawing/2014/main" id="{AED106BD-3893-49F3-AA7B-E9D0E4A990A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다음 작업의 체계를 검토할 근거</a:t>
            </a:r>
          </a:p>
        </p:txBody>
      </p:sp>
      <p:sp>
        <p:nvSpPr>
          <p:cNvPr id="2" name="S80">
            <a:extLst xmlns:a="http://schemas.openxmlformats.org/drawingml/2006/main">
              <a:ext uri="{FF2B5EF4-FFF2-40B4-BE49-F238E27FC236}">
                <a16:creationId xmlns:a16="http://schemas.microsoft.com/office/drawing/2014/main" id="{9993B232-6F45-4096-912B-FC208AEEA12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S80</a:t>
            </a:r>
          </a:p>
        </p:txBody>
      </p:sp>
      <p:sp>
        <p:nvSpPr>
          <p:cNvPr id="3" name="반복 보정을 개선으로 잇는 기록">
            <a:extLst xmlns:a="http://schemas.openxmlformats.org/drawingml/2006/main">
              <a:ext uri="{FF2B5EF4-FFF2-40B4-BE49-F238E27FC236}">
                <a16:creationId xmlns:a16="http://schemas.microsoft.com/office/drawing/2014/main" id="{753E42C0-393D-48ED-8758-9BAB7BBD624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반복 보정을 개선으로 잇는 기록</a:t>
            </a:r>
          </a:p>
        </p:txBody>
      </p:sp>
      <p:sp>
        <p:nvSpPr>
          <p:cNvPr id="4" name="">
            <a:extLst xmlns:a="http://schemas.openxmlformats.org/drawingml/2006/main">
              <a:ext uri="{FF2B5EF4-FFF2-40B4-BE49-F238E27FC236}">
                <a16:creationId xmlns:a16="http://schemas.microsoft.com/office/drawing/2014/main" id="{ACD73689-49BC-42A0-921D-CB8B24BC16A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EACHING_MODEL · 수행 기록과 사람의 보정을 연결하는 기록 틀">
            <a:extLst xmlns:a="http://schemas.openxmlformats.org/drawingml/2006/main">
              <a:ext uri="{FF2B5EF4-FFF2-40B4-BE49-F238E27FC236}">
                <a16:creationId xmlns:a16="http://schemas.microsoft.com/office/drawing/2014/main" id="{93D0D70F-E671-46B3-9C83-7B804AAFACA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TEACHING_MODEL · 수행 기록과 사람의 보정을 연결하는 기록 틀</a:t>
            </a:r>
          </a:p>
        </p:txBody>
      </p:sp>
      <p:sp>
        <p:nvSpPr>
          <p:cNvPr id="6" name="원인·변경 대상은 아직 미확정 · 실제 갱신·재평가 결과나 자동 학습을 보여주는 도식이 아님">
            <a:extLst xmlns:a="http://schemas.openxmlformats.org/drawingml/2006/main">
              <a:ext uri="{FF2B5EF4-FFF2-40B4-BE49-F238E27FC236}">
                <a16:creationId xmlns:a16="http://schemas.microsoft.com/office/drawing/2014/main" id="{81708C21-B63E-4985-9896-738C680A245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원인·변경 대상은 아직 미확정 · 실제 갱신·재평가 결과나 자동 학습을 보여주는 도식이 아님</a:t>
            </a:r>
          </a:p>
        </p:txBody>
      </p:sp>
      <p:sp>
        <p:nvSpPr>
          <p:cNvPr id="7" name="보정한 문장만 남기면, 어디를 고칠지 판단하기 어렵다">
            <a:extLst xmlns:a="http://schemas.openxmlformats.org/drawingml/2006/main">
              <a:ext uri="{FF2B5EF4-FFF2-40B4-BE49-F238E27FC236}">
                <a16:creationId xmlns:a16="http://schemas.microsoft.com/office/drawing/2014/main" id="{71377FE9-95FA-4462-912F-E82F8959757F}"/>
              </a:ext>
            </a:extLst>
          </p:cNvPr>
          <p:cNvSpPr>
            <a:spLocks xmlns:a="http://schemas.openxmlformats.org/drawingml/2006/main" noGrp="1"/>
          </p:cNvSpPr>
          <p:nvPr/>
        </p:nvSpPr>
        <p:spPr>
          <a:xfrm xmlns:a="http://schemas.openxmlformats.org/drawingml/2006/main">
            <a:off x="609600" y="17526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보정한 문장만 남기면, 어디를 고칠지 판단하기 어렵다</a:t>
            </a:r>
          </a:p>
        </p:txBody>
      </p:sp>
      <p:sp>
        <p:nvSpPr>
          <p:cNvPr id="8" name="">
            <a:extLst xmlns:a="http://schemas.openxmlformats.org/drawingml/2006/main">
              <a:ext uri="{FF2B5EF4-FFF2-40B4-BE49-F238E27FC236}">
                <a16:creationId xmlns:a16="http://schemas.microsoft.com/office/drawing/2014/main" id="{F208165E-37C4-468C-B640-EF294F3D6C84}"/>
              </a:ext>
            </a:extLst>
          </p:cNvPr>
          <p:cNvSpPr>
            <a:spLocks xmlns:a="http://schemas.openxmlformats.org/drawingml/2006/main" noGrp="1"/>
          </p:cNvSpPr>
          <p:nvPr/>
        </p:nvSpPr>
        <p:spPr>
          <a:xfrm xmlns:a="http://schemas.openxmlformats.org/drawingml/2006/main">
            <a:off x="609600" y="2457450"/>
            <a:ext cx="6248400" cy="260032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9" name="기준과 지침">
            <a:extLst xmlns:a="http://schemas.openxmlformats.org/drawingml/2006/main">
              <a:ext uri="{FF2B5EF4-FFF2-40B4-BE49-F238E27FC236}">
                <a16:creationId xmlns:a16="http://schemas.microsoft.com/office/drawing/2014/main" id="{116997DB-967A-4236-9848-30DBBD9CAA27}"/>
              </a:ext>
            </a:extLst>
          </p:cNvPr>
          <p:cNvSpPr>
            <a:spLocks xmlns:a="http://schemas.openxmlformats.org/drawingml/2006/main" noGrp="1"/>
          </p:cNvSpPr>
          <p:nvPr/>
        </p:nvSpPr>
        <p:spPr>
          <a:xfrm xmlns:a="http://schemas.openxmlformats.org/drawingml/2006/main">
            <a:off x="819150" y="2676525"/>
            <a:ext cx="1676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기준과 지침</a:t>
            </a:r>
          </a:p>
        </p:txBody>
      </p:sp>
      <p:sp>
        <p:nvSpPr>
          <p:cNvPr id="10" name="무엇을 지키고 어떻게 일해야 했나?">
            <a:extLst xmlns:a="http://schemas.openxmlformats.org/drawingml/2006/main">
              <a:ext uri="{FF2B5EF4-FFF2-40B4-BE49-F238E27FC236}">
                <a16:creationId xmlns:a16="http://schemas.microsoft.com/office/drawing/2014/main" id="{3C668C54-2FEB-4A8A-9D7C-7B09E89B2B5E}"/>
              </a:ext>
            </a:extLst>
          </p:cNvPr>
          <p:cNvSpPr>
            <a:spLocks xmlns:a="http://schemas.openxmlformats.org/drawingml/2006/main" noGrp="1"/>
          </p:cNvSpPr>
          <p:nvPr/>
        </p:nvSpPr>
        <p:spPr>
          <a:xfrm xmlns:a="http://schemas.openxmlformats.org/drawingml/2006/main">
            <a:off x="2667000" y="2676525"/>
            <a:ext cx="3962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무엇을 지키고 어떻게 일해야 했나?</a:t>
            </a:r>
          </a:p>
        </p:txBody>
      </p:sp>
      <p:sp>
        <p:nvSpPr>
          <p:cNvPr id="11" name="">
            <a:extLst xmlns:a="http://schemas.openxmlformats.org/drawingml/2006/main">
              <a:ext uri="{FF2B5EF4-FFF2-40B4-BE49-F238E27FC236}">
                <a16:creationId xmlns:a16="http://schemas.microsoft.com/office/drawing/2014/main" id="{F92A62FF-641B-4132-8ADB-F004B5DBA9B4}"/>
              </a:ext>
            </a:extLst>
          </p:cNvPr>
          <p:cNvSpPr>
            <a:spLocks xmlns:a="http://schemas.openxmlformats.org/drawingml/2006/main" noGrp="1"/>
          </p:cNvSpPr>
          <p:nvPr/>
        </p:nvSpPr>
        <p:spPr>
          <a:xfrm xmlns:a="http://schemas.openxmlformats.org/drawingml/2006/main">
            <a:off x="819150" y="3362325"/>
            <a:ext cx="58293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실제 수행">
            <a:extLst xmlns:a="http://schemas.openxmlformats.org/drawingml/2006/main">
              <a:ext uri="{FF2B5EF4-FFF2-40B4-BE49-F238E27FC236}">
                <a16:creationId xmlns:a16="http://schemas.microsoft.com/office/drawing/2014/main" id="{BACD450C-F15C-4E44-BDBB-8F076CC46AD5}"/>
              </a:ext>
            </a:extLst>
          </p:cNvPr>
          <p:cNvSpPr>
            <a:spLocks xmlns:a="http://schemas.openxmlformats.org/drawingml/2006/main" noGrp="1"/>
          </p:cNvSpPr>
          <p:nvPr/>
        </p:nvSpPr>
        <p:spPr>
          <a:xfrm xmlns:a="http://schemas.openxmlformats.org/drawingml/2006/main">
            <a:off x="819150" y="3438525"/>
            <a:ext cx="1676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실제 수행</a:t>
            </a:r>
          </a:p>
        </p:txBody>
      </p:sp>
      <p:sp>
        <p:nvSpPr>
          <p:cNvPr id="13" name="어디까지 실행·확인했나?">
            <a:extLst xmlns:a="http://schemas.openxmlformats.org/drawingml/2006/main">
              <a:ext uri="{FF2B5EF4-FFF2-40B4-BE49-F238E27FC236}">
                <a16:creationId xmlns:a16="http://schemas.microsoft.com/office/drawing/2014/main" id="{3C119F65-2855-4E87-9A04-6797EA019ABD}"/>
              </a:ext>
            </a:extLst>
          </p:cNvPr>
          <p:cNvSpPr>
            <a:spLocks xmlns:a="http://schemas.openxmlformats.org/drawingml/2006/main" noGrp="1"/>
          </p:cNvSpPr>
          <p:nvPr/>
        </p:nvSpPr>
        <p:spPr>
          <a:xfrm xmlns:a="http://schemas.openxmlformats.org/drawingml/2006/main">
            <a:off x="2667000" y="3438525"/>
            <a:ext cx="3962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어디까지 실행·확인했나?</a:t>
            </a:r>
          </a:p>
        </p:txBody>
      </p:sp>
      <p:sp>
        <p:nvSpPr>
          <p:cNvPr id="14" name="">
            <a:extLst xmlns:a="http://schemas.openxmlformats.org/drawingml/2006/main">
              <a:ext uri="{FF2B5EF4-FFF2-40B4-BE49-F238E27FC236}">
                <a16:creationId xmlns:a16="http://schemas.microsoft.com/office/drawing/2014/main" id="{831B815A-C19A-4D03-A1BC-9C9EC5540B35}"/>
              </a:ext>
            </a:extLst>
          </p:cNvPr>
          <p:cNvSpPr>
            <a:spLocks xmlns:a="http://schemas.openxmlformats.org/drawingml/2006/main" noGrp="1"/>
          </p:cNvSpPr>
          <p:nvPr/>
        </p:nvSpPr>
        <p:spPr>
          <a:xfrm xmlns:a="http://schemas.openxmlformats.org/drawingml/2006/main">
            <a:off x="819150" y="4124325"/>
            <a:ext cx="58293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사람의 보정">
            <a:extLst xmlns:a="http://schemas.openxmlformats.org/drawingml/2006/main">
              <a:ext uri="{FF2B5EF4-FFF2-40B4-BE49-F238E27FC236}">
                <a16:creationId xmlns:a16="http://schemas.microsoft.com/office/drawing/2014/main" id="{A8242D7B-7C21-4891-8615-72538B03E192}"/>
              </a:ext>
            </a:extLst>
          </p:cNvPr>
          <p:cNvSpPr>
            <a:spLocks xmlns:a="http://schemas.openxmlformats.org/drawingml/2006/main" noGrp="1"/>
          </p:cNvSpPr>
          <p:nvPr/>
        </p:nvSpPr>
        <p:spPr>
          <a:xfrm xmlns:a="http://schemas.openxmlformats.org/drawingml/2006/main">
            <a:off x="819150" y="4200525"/>
            <a:ext cx="1676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사람의 보정</a:t>
            </a:r>
          </a:p>
        </p:txBody>
      </p:sp>
      <p:sp>
        <p:nvSpPr>
          <p:cNvPr id="16" name="무엇을 추가로 확인하게 했나?">
            <a:extLst xmlns:a="http://schemas.openxmlformats.org/drawingml/2006/main">
              <a:ext uri="{FF2B5EF4-FFF2-40B4-BE49-F238E27FC236}">
                <a16:creationId xmlns:a16="http://schemas.microsoft.com/office/drawing/2014/main" id="{DEBE9328-5C97-4365-A008-9201E6F1B679}"/>
              </a:ext>
            </a:extLst>
          </p:cNvPr>
          <p:cNvSpPr>
            <a:spLocks xmlns:a="http://schemas.openxmlformats.org/drawingml/2006/main" noGrp="1"/>
          </p:cNvSpPr>
          <p:nvPr/>
        </p:nvSpPr>
        <p:spPr>
          <a:xfrm xmlns:a="http://schemas.openxmlformats.org/drawingml/2006/main">
            <a:off x="2667000" y="4200525"/>
            <a:ext cx="3962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무엇을 추가로 확인하게 했나?</a:t>
            </a:r>
          </a:p>
        </p:txBody>
      </p:sp>
      <p:cxnSp>
        <p:nvCxnSpPr>
          <p:cNvPr id="17" name="">
            <a:extLst xmlns:a="http://schemas.openxmlformats.org/drawingml/2006/main">
              <a:ext uri="{FF2B5EF4-FFF2-40B4-BE49-F238E27FC236}">
                <a16:creationId xmlns:a16="http://schemas.microsoft.com/office/drawing/2014/main" id="{6184A94D-7530-4237-996B-F9A323A92E8F}"/>
              </a:ext>
            </a:extLst>
          </p:cNvPr>
          <p:cNvCxnSpPr/>
          <p:nvPr/>
        </p:nvCxnSpPr>
        <p:spPr>
          <a:xfrm xmlns:a="http://schemas.openxmlformats.org/drawingml/2006/main">
            <a:off x="6953250" y="3752850"/>
            <a:ext cx="1066800" cy="0"/>
          </a:xfrm>
          <a:prstGeom xmlns:a="http://schemas.openxmlformats.org/drawingml/2006/main" prst="straightConnector1">
            <a:avLst/>
          </a:prstGeom>
          <a:ln xmlns:a="http://schemas.openxmlformats.org/drawingml/2006/main" w="23813">
            <a:solidFill>
              <a:srgbClr val="0B6172"/>
            </a:solidFill>
            <a:prstDash val="solid"/>
            <a:tailEnd type="triangle" w="sm" len="sm"/>
          </a:ln>
        </p:spPr>
      </p:cxnSp>
      <p:sp>
        <p:nvSpPr>
          <p:cNvPr id="18" name="원인은 무엇일까?">
            <a:extLst xmlns:a="http://schemas.openxmlformats.org/drawingml/2006/main">
              <a:ext uri="{FF2B5EF4-FFF2-40B4-BE49-F238E27FC236}">
                <a16:creationId xmlns:a16="http://schemas.microsoft.com/office/drawing/2014/main" id="{26359ED9-0ECB-4471-A913-5FEBC6D6460B}"/>
              </a:ext>
            </a:extLst>
          </p:cNvPr>
          <p:cNvSpPr>
            <a:spLocks xmlns:a="http://schemas.openxmlformats.org/drawingml/2006/main" noGrp="1"/>
          </p:cNvSpPr>
          <p:nvPr/>
        </p:nvSpPr>
        <p:spPr>
          <a:xfrm xmlns:a="http://schemas.openxmlformats.org/drawingml/2006/main">
            <a:off x="8229600" y="2647950"/>
            <a:ext cx="335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원인은 무엇일까?</a:t>
            </a:r>
          </a:p>
        </p:txBody>
      </p:sp>
      <p:sp>
        <p:nvSpPr>
          <p:cNvPr id="19" name="어디를 바꿀까?">
            <a:extLst xmlns:a="http://schemas.openxmlformats.org/drawingml/2006/main">
              <a:ext uri="{FF2B5EF4-FFF2-40B4-BE49-F238E27FC236}">
                <a16:creationId xmlns:a16="http://schemas.microsoft.com/office/drawing/2014/main" id="{69C10F3A-329A-495B-8A4F-13B6A7AB2A2D}"/>
              </a:ext>
            </a:extLst>
          </p:cNvPr>
          <p:cNvSpPr>
            <a:spLocks xmlns:a="http://schemas.openxmlformats.org/drawingml/2006/main" noGrp="1"/>
          </p:cNvSpPr>
          <p:nvPr/>
        </p:nvSpPr>
        <p:spPr>
          <a:xfrm xmlns:a="http://schemas.openxmlformats.org/drawingml/2006/main">
            <a:off x="8229600" y="3486150"/>
            <a:ext cx="335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어디를 바꿀까?</a:t>
            </a:r>
          </a:p>
        </p:txBody>
      </p:sp>
      <p:sp>
        <p:nvSpPr>
          <p:cNvPr id="20" name="무엇으로 다시 확인할까?">
            <a:extLst xmlns:a="http://schemas.openxmlformats.org/drawingml/2006/main">
              <a:ext uri="{FF2B5EF4-FFF2-40B4-BE49-F238E27FC236}">
                <a16:creationId xmlns:a16="http://schemas.microsoft.com/office/drawing/2014/main" id="{DCB93C6F-C872-491B-B7B0-65C03AF146A8}"/>
              </a:ext>
            </a:extLst>
          </p:cNvPr>
          <p:cNvSpPr>
            <a:spLocks xmlns:a="http://schemas.openxmlformats.org/drawingml/2006/main" noGrp="1"/>
          </p:cNvSpPr>
          <p:nvPr/>
        </p:nvSpPr>
        <p:spPr>
          <a:xfrm xmlns:a="http://schemas.openxmlformats.org/drawingml/2006/main">
            <a:off x="8229600" y="4324350"/>
            <a:ext cx="335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무엇으로 다시 확인할까?</a:t>
            </a:r>
          </a:p>
        </p:txBody>
      </p:sp>
      <p:sp>
        <p:nvSpPr>
          <p:cNvPr id="21" name="기록을 근거로, 다음 작업에 쓸 체계를 검토해야 한다">
            <a:extLst xmlns:a="http://schemas.openxmlformats.org/drawingml/2006/main">
              <a:ext uri="{FF2B5EF4-FFF2-40B4-BE49-F238E27FC236}">
                <a16:creationId xmlns:a16="http://schemas.microsoft.com/office/drawing/2014/main" id="{9D44AE91-6960-449B-8CB3-26C4E06B0B41}"/>
              </a:ext>
            </a:extLst>
          </p:cNvPr>
          <p:cNvSpPr>
            <a:spLocks xmlns:a="http://schemas.openxmlformats.org/drawingml/2006/main" noGrp="1"/>
          </p:cNvSpPr>
          <p:nvPr/>
        </p:nvSpPr>
        <p:spPr>
          <a:xfrm xmlns:a="http://schemas.openxmlformats.org/drawingml/2006/main">
            <a:off x="609600" y="52578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기록을 근거로, 다음 작업에 쓸 체계를 검토해야 한다</a:t>
            </a:r>
          </a:p>
        </p:txBody>
      </p:sp>
      <p:sp>
        <p:nvSpPr>
          <p:cNvPr id="22" name="">
            <a:extLst xmlns:a="http://schemas.openxmlformats.org/drawingml/2006/main">
              <a:ext uri="{FF2B5EF4-FFF2-40B4-BE49-F238E27FC236}">
                <a16:creationId xmlns:a16="http://schemas.microsoft.com/office/drawing/2014/main" id="{ED7EA7F0-6D3A-4DAA-906D-F8EF9C874AB6}"/>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3" name="Practical application tip badge">
            <a:extLst xmlns:a="http://schemas.openxmlformats.org/drawingml/2006/main">
              <a:ext uri="{FF2B5EF4-FFF2-40B4-BE49-F238E27FC236}">
                <a16:creationId xmlns:a16="http://schemas.microsoft.com/office/drawing/2014/main" id="{98C2FB07-FAD7-4F8A-BFCE-11CA29BB00D2}"/>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수행 방법</a:t>
            </a:r>
          </a:p>
        </p:txBody>
      </p:sp>
      <p:sp>
        <p:nvSpPr>
          <p:cNvPr id="24" name="Legacy module connection">
            <a:extLst xmlns:a="http://schemas.openxmlformats.org/drawingml/2006/main">
              <a:ext uri="{FF2B5EF4-FFF2-40B4-BE49-F238E27FC236}">
                <a16:creationId xmlns:a16="http://schemas.microsoft.com/office/drawing/2014/main" id="{4D5F9F4B-73DE-45E6-8095-B03A7D7FA64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 · M8</a:t>
            </a:r>
          </a:p>
        </p:txBody>
      </p:sp>
    </p:spTree>
    <p:extLst>
      <p:ext uri="{BB962C8B-B14F-4D97-AF65-F5344CB8AC3E}">
        <p14:creationId xmlns:p14="http://schemas.microsoft.com/office/powerpoint/2010/main" val="1241516702"/>
      </p:ext>
    </p:extLst>
  </p:cSld>
</p:sld>
</file>

<file path=ppt/slides/slide2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3" name="ACT 3 · 내 업무의 반복 보정에서 Loop의 필요로">
            <a:extLst xmlns:a="http://schemas.openxmlformats.org/drawingml/2006/main">
              <a:ext uri="{FF2B5EF4-FFF2-40B4-BE49-F238E27FC236}">
                <a16:creationId xmlns:a16="http://schemas.microsoft.com/office/drawing/2014/main" id="{DE5F6F1D-3356-46B8-ACF2-7D58489A3B6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내 업무의 반복 보정에서 Loop의 필요로</a:t>
            </a:r>
          </a:p>
        </p:txBody>
      </p:sp>
      <p:sp>
        <p:nvSpPr>
          <p:cNvPr id="2" name="S81">
            <a:extLst xmlns:a="http://schemas.openxmlformats.org/drawingml/2006/main">
              <a:ext uri="{FF2B5EF4-FFF2-40B4-BE49-F238E27FC236}">
                <a16:creationId xmlns:a16="http://schemas.microsoft.com/office/drawing/2014/main" id="{AD01BBAB-81E4-42B9-A649-AE3D18A7D6D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S81</a:t>
            </a:r>
          </a:p>
        </p:txBody>
      </p:sp>
      <p:sp>
        <p:nvSpPr>
          <p:cNvPr id="3" name="같은 보정을 되풀이하지 않으려면?">
            <a:extLst xmlns:a="http://schemas.openxmlformats.org/drawingml/2006/main">
              <a:ext uri="{FF2B5EF4-FFF2-40B4-BE49-F238E27FC236}">
                <a16:creationId xmlns:a16="http://schemas.microsoft.com/office/drawing/2014/main" id="{ECB1EC01-0FCF-4200-8B2D-F390EF90234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같은 보정을 되풀이하지 않으려면?</a:t>
            </a:r>
          </a:p>
        </p:txBody>
      </p:sp>
      <p:sp>
        <p:nvSpPr>
          <p:cNvPr id="4" name="">
            <a:extLst xmlns:a="http://schemas.openxmlformats.org/drawingml/2006/main">
              <a:ext uri="{FF2B5EF4-FFF2-40B4-BE49-F238E27FC236}">
                <a16:creationId xmlns:a16="http://schemas.microsoft.com/office/drawing/2014/main" id="{89903BE3-A597-4BF4-B075-8DB3882EB0D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개인 성찰 · 공유는 선택 · 앞의 반복 상황은 교육용 가정">
            <a:extLst xmlns:a="http://schemas.openxmlformats.org/drawingml/2006/main">
              <a:ext uri="{FF2B5EF4-FFF2-40B4-BE49-F238E27FC236}">
                <a16:creationId xmlns:a16="http://schemas.microsoft.com/office/drawing/2014/main" id="{2F4A5271-8DCB-4669-B5CC-651F0BFC965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개인 성찰 · 공유는 선택 · 앞의 반복 상황은 교육용 가정</a:t>
            </a:r>
          </a:p>
        </p:txBody>
      </p:sp>
      <p:sp>
        <p:nvSpPr>
          <p:cNvPr id="6" name="어떤 원인·수정 대상·담당도 미리 확정하지 않음 · ACT 4에서 원인 확인·변경·재평가를 다룸">
            <a:extLst xmlns:a="http://schemas.openxmlformats.org/drawingml/2006/main">
              <a:ext uri="{FF2B5EF4-FFF2-40B4-BE49-F238E27FC236}">
                <a16:creationId xmlns:a16="http://schemas.microsoft.com/office/drawing/2014/main" id="{B1CF6EFE-D1EC-440A-B5F2-A7B8787F107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어떤 원인·수정 대상·담당도 미리 확정하지 않음 · ACT 4에서 원인 확인·변경·재평가를 다룸</a:t>
            </a:r>
          </a:p>
        </p:txBody>
      </p:sp>
      <p:sp>
        <p:nvSpPr>
          <p:cNvPr id="7" name="">
            <a:extLst xmlns:a="http://schemas.openxmlformats.org/drawingml/2006/main">
              <a:ext uri="{FF2B5EF4-FFF2-40B4-BE49-F238E27FC236}">
                <a16:creationId xmlns:a16="http://schemas.microsoft.com/office/drawing/2014/main" id="{815A71DA-E812-48D7-9AB8-4A05E804AD94}"/>
              </a:ext>
            </a:extLst>
          </p:cNvPr>
          <p:cNvSpPr>
            <a:spLocks xmlns:a="http://schemas.openxmlformats.org/drawingml/2006/main" noGrp="1"/>
          </p:cNvSpPr>
          <p:nvPr/>
        </p:nvSpPr>
        <p:spPr>
          <a:xfrm xmlns:a="http://schemas.openxmlformats.org/drawingml/2006/main">
            <a:off x="609600" y="2028825"/>
            <a:ext cx="3352800" cy="9715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다시 알려주는 정보">
            <a:extLst xmlns:a="http://schemas.openxmlformats.org/drawingml/2006/main">
              <a:ext uri="{FF2B5EF4-FFF2-40B4-BE49-F238E27FC236}">
                <a16:creationId xmlns:a16="http://schemas.microsoft.com/office/drawing/2014/main" id="{FC6735F3-1C12-4D27-960A-5B0CA5324917}"/>
              </a:ext>
            </a:extLst>
          </p:cNvPr>
          <p:cNvSpPr>
            <a:spLocks xmlns:a="http://schemas.openxmlformats.org/drawingml/2006/main" noGrp="1"/>
          </p:cNvSpPr>
          <p:nvPr/>
        </p:nvSpPr>
        <p:spPr>
          <a:xfrm xmlns:a="http://schemas.openxmlformats.org/drawingml/2006/main">
            <a:off x="781050" y="2143125"/>
            <a:ext cx="3009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다시 알려주는 정보</a:t>
            </a:r>
          </a:p>
        </p:txBody>
      </p:sp>
      <p:sp>
        <p:nvSpPr>
          <p:cNvPr id="9" name="현재 기준 · 참고 위치">
            <a:extLst xmlns:a="http://schemas.openxmlformats.org/drawingml/2006/main">
              <a:ext uri="{FF2B5EF4-FFF2-40B4-BE49-F238E27FC236}">
                <a16:creationId xmlns:a16="http://schemas.microsoft.com/office/drawing/2014/main" id="{48D7A318-E2A7-4953-9D48-2C086C5DBD3E}"/>
              </a:ext>
            </a:extLst>
          </p:cNvPr>
          <p:cNvSpPr>
            <a:spLocks xmlns:a="http://schemas.openxmlformats.org/drawingml/2006/main" noGrp="1"/>
          </p:cNvSpPr>
          <p:nvPr/>
        </p:nvSpPr>
        <p:spPr>
          <a:xfrm xmlns:a="http://schemas.openxmlformats.org/drawingml/2006/main">
            <a:off x="781050" y="2571750"/>
            <a:ext cx="3009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현재 기준 · 참고 위치</a:t>
            </a:r>
          </a:p>
        </p:txBody>
      </p:sp>
      <p:sp>
        <p:nvSpPr>
          <p:cNvPr id="10" name="">
            <a:extLst xmlns:a="http://schemas.openxmlformats.org/drawingml/2006/main">
              <a:ext uri="{FF2B5EF4-FFF2-40B4-BE49-F238E27FC236}">
                <a16:creationId xmlns:a16="http://schemas.microsoft.com/office/drawing/2014/main" id="{C32DA5BC-2042-4051-90F3-6CB7ABAAB438}"/>
              </a:ext>
            </a:extLst>
          </p:cNvPr>
          <p:cNvSpPr>
            <a:spLocks xmlns:a="http://schemas.openxmlformats.org/drawingml/2006/main" noGrp="1"/>
          </p:cNvSpPr>
          <p:nvPr/>
        </p:nvSpPr>
        <p:spPr>
          <a:xfrm xmlns:a="http://schemas.openxmlformats.org/drawingml/2006/main">
            <a:off x="2286000" y="3000375"/>
            <a:ext cx="0" cy="314325"/>
          </a:xfrm>
          <a:prstGeom xmlns:a="http://schemas.openxmlformats.org/drawingml/2006/main" prst="line">
            <a:avLst/>
          </a:prstGeom>
          <a:ln xmlns:a="http://schemas.openxmlformats.org/drawingml/2006/main" w="23813">
            <a:solidFill>
              <a:srgbClr val="0B6172"/>
            </a:solidFill>
          </a:ln>
        </p:spPr>
      </p:sp>
      <p:sp>
        <p:nvSpPr>
          <p:cNvPr id="11" name="">
            <a:extLst xmlns:a="http://schemas.openxmlformats.org/drawingml/2006/main">
              <a:ext uri="{FF2B5EF4-FFF2-40B4-BE49-F238E27FC236}">
                <a16:creationId xmlns:a16="http://schemas.microsoft.com/office/drawing/2014/main" id="{6F251DBB-7DC8-4D13-BFE4-A4B6137DA29F}"/>
              </a:ext>
            </a:extLst>
          </p:cNvPr>
          <p:cNvSpPr>
            <a:spLocks xmlns:a="http://schemas.openxmlformats.org/drawingml/2006/main" noGrp="1"/>
          </p:cNvSpPr>
          <p:nvPr/>
        </p:nvSpPr>
        <p:spPr>
          <a:xfrm xmlns:a="http://schemas.openxmlformats.org/drawingml/2006/main">
            <a:off x="4419600" y="2028825"/>
            <a:ext cx="3352800" cy="9715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2" name="다시 지시하는 절차">
            <a:extLst xmlns:a="http://schemas.openxmlformats.org/drawingml/2006/main">
              <a:ext uri="{FF2B5EF4-FFF2-40B4-BE49-F238E27FC236}">
                <a16:creationId xmlns:a16="http://schemas.microsoft.com/office/drawing/2014/main" id="{6AA15FDB-1FA6-4A0B-A538-8AEEC3CEFB7B}"/>
              </a:ext>
            </a:extLst>
          </p:cNvPr>
          <p:cNvSpPr>
            <a:spLocks xmlns:a="http://schemas.openxmlformats.org/drawingml/2006/main" noGrp="1"/>
          </p:cNvSpPr>
          <p:nvPr/>
        </p:nvSpPr>
        <p:spPr>
          <a:xfrm xmlns:a="http://schemas.openxmlformats.org/drawingml/2006/main">
            <a:off x="4591050" y="2143125"/>
            <a:ext cx="3009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다시 지시하는 절차</a:t>
            </a:r>
          </a:p>
        </p:txBody>
      </p:sp>
      <p:sp>
        <p:nvSpPr>
          <p:cNvPr id="13" name="조사 · 변경 · 보고">
            <a:extLst xmlns:a="http://schemas.openxmlformats.org/drawingml/2006/main">
              <a:ext uri="{FF2B5EF4-FFF2-40B4-BE49-F238E27FC236}">
                <a16:creationId xmlns:a16="http://schemas.microsoft.com/office/drawing/2014/main" id="{FBCD59A0-5C86-49C8-9710-2C09D1DEF8D9}"/>
              </a:ext>
            </a:extLst>
          </p:cNvPr>
          <p:cNvSpPr>
            <a:spLocks xmlns:a="http://schemas.openxmlformats.org/drawingml/2006/main" noGrp="1"/>
          </p:cNvSpPr>
          <p:nvPr/>
        </p:nvSpPr>
        <p:spPr>
          <a:xfrm xmlns:a="http://schemas.openxmlformats.org/drawingml/2006/main">
            <a:off x="4591050" y="2571750"/>
            <a:ext cx="3009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조사 · 변경 · 보고</a:t>
            </a:r>
          </a:p>
        </p:txBody>
      </p:sp>
      <p:sp>
        <p:nvSpPr>
          <p:cNvPr id="14" name="">
            <a:extLst xmlns:a="http://schemas.openxmlformats.org/drawingml/2006/main">
              <a:ext uri="{FF2B5EF4-FFF2-40B4-BE49-F238E27FC236}">
                <a16:creationId xmlns:a16="http://schemas.microsoft.com/office/drawing/2014/main" id="{FC745611-10C2-45B1-BA3A-9C0EA404BF8B}"/>
              </a:ext>
            </a:extLst>
          </p:cNvPr>
          <p:cNvSpPr>
            <a:spLocks xmlns:a="http://schemas.openxmlformats.org/drawingml/2006/main" noGrp="1"/>
          </p:cNvSpPr>
          <p:nvPr/>
        </p:nvSpPr>
        <p:spPr>
          <a:xfrm xmlns:a="http://schemas.openxmlformats.org/drawingml/2006/main">
            <a:off x="6096000" y="3000375"/>
            <a:ext cx="0" cy="314325"/>
          </a:xfrm>
          <a:prstGeom xmlns:a="http://schemas.openxmlformats.org/drawingml/2006/main" prst="line">
            <a:avLst/>
          </a:prstGeom>
          <a:ln xmlns:a="http://schemas.openxmlformats.org/drawingml/2006/main" w="23813">
            <a:solidFill>
              <a:srgbClr val="0B6172"/>
            </a:solidFill>
          </a:ln>
        </p:spPr>
      </p:sp>
      <p:sp>
        <p:nvSpPr>
          <p:cNvPr id="15" name="">
            <a:extLst xmlns:a="http://schemas.openxmlformats.org/drawingml/2006/main">
              <a:ext uri="{FF2B5EF4-FFF2-40B4-BE49-F238E27FC236}">
                <a16:creationId xmlns:a16="http://schemas.microsoft.com/office/drawing/2014/main" id="{56CFC401-2F4D-4BBB-862A-EE4743C8CA7A}"/>
              </a:ext>
            </a:extLst>
          </p:cNvPr>
          <p:cNvSpPr>
            <a:spLocks xmlns:a="http://schemas.openxmlformats.org/drawingml/2006/main" noGrp="1"/>
          </p:cNvSpPr>
          <p:nvPr/>
        </p:nvSpPr>
        <p:spPr>
          <a:xfrm xmlns:a="http://schemas.openxmlformats.org/drawingml/2006/main">
            <a:off x="8229600" y="2028825"/>
            <a:ext cx="3352800" cy="9715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빠뜨린 확인 기준">
            <a:extLst xmlns:a="http://schemas.openxmlformats.org/drawingml/2006/main">
              <a:ext uri="{FF2B5EF4-FFF2-40B4-BE49-F238E27FC236}">
                <a16:creationId xmlns:a16="http://schemas.microsoft.com/office/drawing/2014/main" id="{7852CE87-F3B5-414B-BD07-22654127FDDE}"/>
              </a:ext>
            </a:extLst>
          </p:cNvPr>
          <p:cNvSpPr>
            <a:spLocks xmlns:a="http://schemas.openxmlformats.org/drawingml/2006/main" noGrp="1"/>
          </p:cNvSpPr>
          <p:nvPr/>
        </p:nvSpPr>
        <p:spPr>
          <a:xfrm xmlns:a="http://schemas.openxmlformats.org/drawingml/2006/main">
            <a:off x="8401050" y="2143125"/>
            <a:ext cx="3009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빠뜨린 확인 기준</a:t>
            </a:r>
          </a:p>
        </p:txBody>
      </p:sp>
      <p:sp>
        <p:nvSpPr>
          <p:cNvPr id="17" name="관련 동작 · 검증 범위">
            <a:extLst xmlns:a="http://schemas.openxmlformats.org/drawingml/2006/main">
              <a:ext uri="{FF2B5EF4-FFF2-40B4-BE49-F238E27FC236}">
                <a16:creationId xmlns:a16="http://schemas.microsoft.com/office/drawing/2014/main" id="{E489D687-928C-4C10-A69B-655D30D069AD}"/>
              </a:ext>
            </a:extLst>
          </p:cNvPr>
          <p:cNvSpPr>
            <a:spLocks xmlns:a="http://schemas.openxmlformats.org/drawingml/2006/main" noGrp="1"/>
          </p:cNvSpPr>
          <p:nvPr/>
        </p:nvSpPr>
        <p:spPr>
          <a:xfrm xmlns:a="http://schemas.openxmlformats.org/drawingml/2006/main">
            <a:off x="8401050" y="2571750"/>
            <a:ext cx="3009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관련 동작 · 검증 범위</a:t>
            </a:r>
          </a:p>
        </p:txBody>
      </p:sp>
      <p:sp>
        <p:nvSpPr>
          <p:cNvPr id="18" name="">
            <a:extLst xmlns:a="http://schemas.openxmlformats.org/drawingml/2006/main">
              <a:ext uri="{FF2B5EF4-FFF2-40B4-BE49-F238E27FC236}">
                <a16:creationId xmlns:a16="http://schemas.microsoft.com/office/drawing/2014/main" id="{5D7AA6B0-B1C4-45EC-A8BF-B49AC70A425A}"/>
              </a:ext>
            </a:extLst>
          </p:cNvPr>
          <p:cNvSpPr>
            <a:spLocks xmlns:a="http://schemas.openxmlformats.org/drawingml/2006/main" noGrp="1"/>
          </p:cNvSpPr>
          <p:nvPr/>
        </p:nvSpPr>
        <p:spPr>
          <a:xfrm xmlns:a="http://schemas.openxmlformats.org/drawingml/2006/main">
            <a:off x="9906000" y="3000375"/>
            <a:ext cx="0" cy="314325"/>
          </a:xfrm>
          <a:prstGeom xmlns:a="http://schemas.openxmlformats.org/drawingml/2006/main" prst="line">
            <a:avLst/>
          </a:prstGeom>
          <a:ln xmlns:a="http://schemas.openxmlformats.org/drawingml/2006/main" w="23813">
            <a:solidFill>
              <a:srgbClr val="0B6172"/>
            </a:solidFill>
          </a:ln>
        </p:spPr>
      </p:sp>
      <p:sp>
        <p:nvSpPr>
          <p:cNvPr id="19" name="">
            <a:extLst xmlns:a="http://schemas.openxmlformats.org/drawingml/2006/main">
              <a:ext uri="{FF2B5EF4-FFF2-40B4-BE49-F238E27FC236}">
                <a16:creationId xmlns:a16="http://schemas.microsoft.com/office/drawing/2014/main" id="{6D336FDD-7125-4F86-A891-BB1C43D387E6}"/>
              </a:ext>
            </a:extLst>
          </p:cNvPr>
          <p:cNvSpPr>
            <a:spLocks xmlns:a="http://schemas.openxmlformats.org/drawingml/2006/main" noGrp="1"/>
          </p:cNvSpPr>
          <p:nvPr/>
        </p:nvSpPr>
        <p:spPr>
          <a:xfrm xmlns:a="http://schemas.openxmlformats.org/drawingml/2006/main">
            <a:off x="2286000" y="3314700"/>
            <a:ext cx="76200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20" name="">
            <a:extLst xmlns:a="http://schemas.openxmlformats.org/drawingml/2006/main">
              <a:ext uri="{FF2B5EF4-FFF2-40B4-BE49-F238E27FC236}">
                <a16:creationId xmlns:a16="http://schemas.microsoft.com/office/drawing/2014/main" id="{63F5777A-A75E-4BF2-B9CC-9CAE7352EC8F}"/>
              </a:ext>
            </a:extLst>
          </p:cNvPr>
          <p:cNvCxnSpPr/>
          <p:nvPr/>
        </p:nvCxnSpPr>
        <p:spPr>
          <a:xfrm xmlns:a="http://schemas.openxmlformats.org/drawingml/2006/main">
            <a:off x="6096000" y="3314700"/>
            <a:ext cx="0" cy="219075"/>
          </a:xfrm>
          <a:prstGeom xmlns:a="http://schemas.openxmlformats.org/drawingml/2006/main" prst="straightConnector1">
            <a:avLst/>
          </a:prstGeom>
          <a:ln xmlns:a="http://schemas.openxmlformats.org/drawingml/2006/main" w="23813">
            <a:solidFill>
              <a:srgbClr val="0B6172"/>
            </a:solidFill>
            <a:prstDash val="solid"/>
            <a:tailEnd type="triangle" w="sm" len="sm"/>
          </a:ln>
        </p:spPr>
      </p:cxnSp>
      <p:sp>
        <p:nvSpPr>
          <p:cNvPr id="21" name="">
            <a:extLst xmlns:a="http://schemas.openxmlformats.org/drawingml/2006/main">
              <a:ext uri="{FF2B5EF4-FFF2-40B4-BE49-F238E27FC236}">
                <a16:creationId xmlns:a16="http://schemas.microsoft.com/office/drawing/2014/main" id="{583181C2-A773-431E-99A2-52F0556F8D63}"/>
              </a:ext>
            </a:extLst>
          </p:cNvPr>
          <p:cNvSpPr>
            <a:spLocks xmlns:a="http://schemas.openxmlformats.org/drawingml/2006/main" noGrp="1"/>
          </p:cNvSpPr>
          <p:nvPr/>
        </p:nvSpPr>
        <p:spPr>
          <a:xfrm xmlns:a="http://schemas.openxmlformats.org/drawingml/2006/main">
            <a:off x="4572000" y="3600450"/>
            <a:ext cx="3048000" cy="523875"/>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22" name="반복 보정 하나 선택">
            <a:extLst xmlns:a="http://schemas.openxmlformats.org/drawingml/2006/main">
              <a:ext uri="{FF2B5EF4-FFF2-40B4-BE49-F238E27FC236}">
                <a16:creationId xmlns:a16="http://schemas.microsoft.com/office/drawing/2014/main" id="{C820CD0E-0AE6-4009-92D4-9349D7F45CBE}"/>
              </a:ext>
            </a:extLst>
          </p:cNvPr>
          <p:cNvSpPr>
            <a:spLocks xmlns:a="http://schemas.openxmlformats.org/drawingml/2006/main" noGrp="1"/>
          </p:cNvSpPr>
          <p:nvPr/>
        </p:nvSpPr>
        <p:spPr>
          <a:xfrm xmlns:a="http://schemas.openxmlformats.org/drawingml/2006/main">
            <a:off x="4724400" y="3667125"/>
            <a:ext cx="2743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반복 보정 하나 선택</a:t>
            </a:r>
          </a:p>
        </p:txBody>
      </p:sp>
      <p:sp>
        <p:nvSpPr>
          <p:cNvPr id="23" name="">
            <a:extLst xmlns:a="http://schemas.openxmlformats.org/drawingml/2006/main">
              <a:ext uri="{FF2B5EF4-FFF2-40B4-BE49-F238E27FC236}">
                <a16:creationId xmlns:a16="http://schemas.microsoft.com/office/drawing/2014/main" id="{BD5E7B4E-168E-4B31-9911-40972A94EBCE}"/>
              </a:ext>
            </a:extLst>
          </p:cNvPr>
          <p:cNvSpPr>
            <a:spLocks xmlns:a="http://schemas.openxmlformats.org/drawingml/2006/main" noGrp="1"/>
          </p:cNvSpPr>
          <p:nvPr/>
        </p:nvSpPr>
        <p:spPr>
          <a:xfrm xmlns:a="http://schemas.openxmlformats.org/drawingml/2006/main">
            <a:off x="6096000" y="4124325"/>
            <a:ext cx="0" cy="180975"/>
          </a:xfrm>
          <a:prstGeom xmlns:a="http://schemas.openxmlformats.org/drawingml/2006/main" prst="line">
            <a:avLst/>
          </a:prstGeom>
          <a:ln xmlns:a="http://schemas.openxmlformats.org/drawingml/2006/main" w="23813">
            <a:solidFill>
              <a:srgbClr val="0B6172"/>
            </a:solidFill>
          </a:ln>
        </p:spPr>
      </p:sp>
      <p:sp>
        <p:nvSpPr>
          <p:cNvPr id="24" name="">
            <a:extLst xmlns:a="http://schemas.openxmlformats.org/drawingml/2006/main">
              <a:ext uri="{FF2B5EF4-FFF2-40B4-BE49-F238E27FC236}">
                <a16:creationId xmlns:a16="http://schemas.microsoft.com/office/drawing/2014/main" id="{5C557C89-4993-4D7B-89D2-05D01B0C09C4}"/>
              </a:ext>
            </a:extLst>
          </p:cNvPr>
          <p:cNvSpPr>
            <a:spLocks xmlns:a="http://schemas.openxmlformats.org/drawingml/2006/main" noGrp="1"/>
          </p:cNvSpPr>
          <p:nvPr/>
        </p:nvSpPr>
        <p:spPr>
          <a:xfrm xmlns:a="http://schemas.openxmlformats.org/drawingml/2006/main">
            <a:off x="3200400" y="4305300"/>
            <a:ext cx="57912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25" name="">
            <a:extLst xmlns:a="http://schemas.openxmlformats.org/drawingml/2006/main">
              <a:ext uri="{FF2B5EF4-FFF2-40B4-BE49-F238E27FC236}">
                <a16:creationId xmlns:a16="http://schemas.microsoft.com/office/drawing/2014/main" id="{160944FA-FD68-4DB1-B67F-82D531AC9D4C}"/>
              </a:ext>
            </a:extLst>
          </p:cNvPr>
          <p:cNvCxnSpPr/>
          <p:nvPr/>
        </p:nvCxnSpPr>
        <p:spPr>
          <a:xfrm xmlns:a="http://schemas.openxmlformats.org/drawingml/2006/main">
            <a:off x="3200400" y="4305300"/>
            <a:ext cx="0" cy="180975"/>
          </a:xfrm>
          <a:prstGeom xmlns:a="http://schemas.openxmlformats.org/drawingml/2006/main" prst="straightConnector1">
            <a:avLst/>
          </a:prstGeom>
          <a:ln xmlns:a="http://schemas.openxmlformats.org/drawingml/2006/main" w="23813">
            <a:solidFill>
              <a:srgbClr val="0B6172"/>
            </a:solidFill>
            <a:prstDash val="solid"/>
            <a:tailEnd type="triangle" w="sm" len="sm"/>
          </a:ln>
        </p:spPr>
      </p:cxnSp>
      <p:cxnSp>
        <p:nvCxnSpPr>
          <p:cNvPr id="26" name="">
            <a:extLst xmlns:a="http://schemas.openxmlformats.org/drawingml/2006/main">
              <a:ext uri="{FF2B5EF4-FFF2-40B4-BE49-F238E27FC236}">
                <a16:creationId xmlns:a16="http://schemas.microsoft.com/office/drawing/2014/main" id="{7E0E27B6-0872-46B4-BCBB-F09952FD8A4E}"/>
              </a:ext>
            </a:extLst>
          </p:cNvPr>
          <p:cNvCxnSpPr/>
          <p:nvPr/>
        </p:nvCxnSpPr>
        <p:spPr>
          <a:xfrm xmlns:a="http://schemas.openxmlformats.org/drawingml/2006/main">
            <a:off x="8991600" y="4305300"/>
            <a:ext cx="0" cy="180975"/>
          </a:xfrm>
          <a:prstGeom xmlns:a="http://schemas.openxmlformats.org/drawingml/2006/main" prst="straightConnector1">
            <a:avLst/>
          </a:prstGeom>
          <a:ln xmlns:a="http://schemas.openxmlformats.org/drawingml/2006/main" w="23813">
            <a:solidFill>
              <a:srgbClr val="0B6172"/>
            </a:solidFill>
            <a:prstDash val="solid"/>
            <a:tailEnd type="triangle" w="sm" len="sm"/>
          </a:ln>
        </p:spPr>
      </p:cxnSp>
      <p:sp>
        <p:nvSpPr>
          <p:cNvPr id="27" name="">
            <a:extLst xmlns:a="http://schemas.openxmlformats.org/drawingml/2006/main">
              <a:ext uri="{FF2B5EF4-FFF2-40B4-BE49-F238E27FC236}">
                <a16:creationId xmlns:a16="http://schemas.microsoft.com/office/drawing/2014/main" id="{500F90FD-C966-46C3-93F1-3BDBE1CEC7A0}"/>
              </a:ext>
            </a:extLst>
          </p:cNvPr>
          <p:cNvSpPr>
            <a:spLocks xmlns:a="http://schemas.openxmlformats.org/drawingml/2006/main" noGrp="1"/>
          </p:cNvSpPr>
          <p:nvPr/>
        </p:nvSpPr>
        <p:spPr>
          <a:xfrm xmlns:a="http://schemas.openxmlformats.org/drawingml/2006/main">
            <a:off x="609600" y="4562475"/>
            <a:ext cx="5181600" cy="6286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어떤 근거·출처를 볼까?">
            <a:extLst xmlns:a="http://schemas.openxmlformats.org/drawingml/2006/main">
              <a:ext uri="{FF2B5EF4-FFF2-40B4-BE49-F238E27FC236}">
                <a16:creationId xmlns:a16="http://schemas.microsoft.com/office/drawing/2014/main" id="{68D4CE07-3321-4452-9D8A-6351418C9AA7}"/>
              </a:ext>
            </a:extLst>
          </p:cNvPr>
          <p:cNvSpPr>
            <a:spLocks xmlns:a="http://schemas.openxmlformats.org/drawingml/2006/main" noGrp="1"/>
          </p:cNvSpPr>
          <p:nvPr/>
        </p:nvSpPr>
        <p:spPr>
          <a:xfrm xmlns:a="http://schemas.openxmlformats.org/drawingml/2006/main">
            <a:off x="762000" y="4657725"/>
            <a:ext cx="4876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어떤 근거·출처를 볼까?</a:t>
            </a:r>
          </a:p>
        </p:txBody>
      </p:sp>
      <p:sp>
        <p:nvSpPr>
          <p:cNvPr id="29" name="">
            <a:extLst xmlns:a="http://schemas.openxmlformats.org/drawingml/2006/main">
              <a:ext uri="{FF2B5EF4-FFF2-40B4-BE49-F238E27FC236}">
                <a16:creationId xmlns:a16="http://schemas.microsoft.com/office/drawing/2014/main" id="{97FEC8F2-79D5-4050-B998-80F2C5DAE012}"/>
              </a:ext>
            </a:extLst>
          </p:cNvPr>
          <p:cNvSpPr>
            <a:spLocks xmlns:a="http://schemas.openxmlformats.org/drawingml/2006/main" noGrp="1"/>
          </p:cNvSpPr>
          <p:nvPr/>
        </p:nvSpPr>
        <p:spPr>
          <a:xfrm xmlns:a="http://schemas.openxmlformats.org/drawingml/2006/main">
            <a:off x="6400800" y="4562475"/>
            <a:ext cx="5181600" cy="6286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0" name="누가 검토하고 다시 확인할까?">
            <a:extLst xmlns:a="http://schemas.openxmlformats.org/drawingml/2006/main">
              <a:ext uri="{FF2B5EF4-FFF2-40B4-BE49-F238E27FC236}">
                <a16:creationId xmlns:a16="http://schemas.microsoft.com/office/drawing/2014/main" id="{6C96DACE-3B71-430C-AC52-18D002D7C880}"/>
              </a:ext>
            </a:extLst>
          </p:cNvPr>
          <p:cNvSpPr>
            <a:spLocks xmlns:a="http://schemas.openxmlformats.org/drawingml/2006/main" noGrp="1"/>
          </p:cNvSpPr>
          <p:nvPr/>
        </p:nvSpPr>
        <p:spPr>
          <a:xfrm xmlns:a="http://schemas.openxmlformats.org/drawingml/2006/main">
            <a:off x="6553200" y="4657725"/>
            <a:ext cx="4876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누가 검토하고 다시 확인할까?</a:t>
            </a:r>
          </a:p>
        </p:txBody>
      </p:sp>
      <p:sp>
        <p:nvSpPr>
          <p:cNvPr id="31" name="다음 ACT: 기록으로 원인을 확인하고, 체계를 고친 뒤 다시 평가한다">
            <a:extLst xmlns:a="http://schemas.openxmlformats.org/drawingml/2006/main">
              <a:ext uri="{FF2B5EF4-FFF2-40B4-BE49-F238E27FC236}">
                <a16:creationId xmlns:a16="http://schemas.microsoft.com/office/drawing/2014/main" id="{C95D468E-A33C-42C8-B88C-9D5C3AAFFD20}"/>
              </a:ext>
            </a:extLst>
          </p:cNvPr>
          <p:cNvSpPr>
            <a:spLocks xmlns:a="http://schemas.openxmlformats.org/drawingml/2006/main" noGrp="1"/>
          </p:cNvSpPr>
          <p:nvPr/>
        </p:nvSpPr>
        <p:spPr>
          <a:xfrm xmlns:a="http://schemas.openxmlformats.org/drawingml/2006/main">
            <a:off x="609600" y="538162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다음 ACT: 기록으로 원인을 확인하고, 체계를 고친 뒤 다시 평가한다</a:t>
            </a:r>
          </a:p>
        </p:txBody>
      </p:sp>
      <p:sp>
        <p:nvSpPr>
          <p:cNvPr id="32" name="Legacy module connection">
            <a:extLst xmlns:a="http://schemas.openxmlformats.org/drawingml/2006/main">
              <a:ext uri="{FF2B5EF4-FFF2-40B4-BE49-F238E27FC236}">
                <a16:creationId xmlns:a16="http://schemas.microsoft.com/office/drawing/2014/main" id="{83E444E0-041F-4851-8328-BC1ABA4C87B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527125628"/>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2026-10-25T11:26:05.1880000Z</dcterms:created>
  <dcterms:modified xsi:type="dcterms:W3CDTF">2026-10-25T11:26:05.1880000Z</dcterms:modified>
</coreProperties>
</file>