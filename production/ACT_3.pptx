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dcefe76476846b1" /><Relationship Type="http://schemas.openxmlformats.org/officeDocument/2006/relationships/extended-properties" Target="/docProps/app.xml" Id="R551679752bd54ea7" /><Relationship Type="http://schemas.openxmlformats.org/officeDocument/2006/relationships/officeDocument" Target="/ppt/presentation.xml" Id="Rff33864561ab40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09a16af8ef44cb"/>
  </p:sldMasterIdLst>
  <p:notesMasterIdLst>
    <p:notesMasterId xmlns:r="http://schemas.openxmlformats.org/officeDocument/2006/relationships" r:id="Rf60a631c4bda49dc"/>
  </p:notesMasterIdLst>
  <p:sldIdLst>
    <p:sldId xmlns:r="http://schemas.openxmlformats.org/officeDocument/2006/relationships" id="256" r:id="R8ffeaa79aa714454"/>
    <p:sldId xmlns:r="http://schemas.openxmlformats.org/officeDocument/2006/relationships" id="257" r:id="R0dba449179ad4ba5"/>
    <p:sldId xmlns:r="http://schemas.openxmlformats.org/officeDocument/2006/relationships" id="258" r:id="R91d189fcd1a04717"/>
    <p:sldId xmlns:r="http://schemas.openxmlformats.org/officeDocument/2006/relationships" id="259" r:id="Rab3ec0dfa92b4eba"/>
    <p:sldId xmlns:r="http://schemas.openxmlformats.org/officeDocument/2006/relationships" id="260" r:id="Rf45497b48f5a4061"/>
    <p:sldId xmlns:r="http://schemas.openxmlformats.org/officeDocument/2006/relationships" id="261" r:id="R0aea27631436489e"/>
    <p:sldId xmlns:r="http://schemas.openxmlformats.org/officeDocument/2006/relationships" id="262" r:id="R5c6c99d812c140b2"/>
    <p:sldId xmlns:r="http://schemas.openxmlformats.org/officeDocument/2006/relationships" id="263" r:id="R82030c18fcef426e"/>
    <p:sldId xmlns:r="http://schemas.openxmlformats.org/officeDocument/2006/relationships" id="264" r:id="R59ff6debc7a446e7"/>
    <p:sldId xmlns:r="http://schemas.openxmlformats.org/officeDocument/2006/relationships" id="265" r:id="Rf083f8c1806b475c"/>
    <p:sldId xmlns:r="http://schemas.openxmlformats.org/officeDocument/2006/relationships" id="266" r:id="R8e39c5f834be4b9c"/>
    <p:sldId xmlns:r="http://schemas.openxmlformats.org/officeDocument/2006/relationships" id="267" r:id="R2f3c8df0cfc042c9"/>
    <p:sldId xmlns:r="http://schemas.openxmlformats.org/officeDocument/2006/relationships" id="268" r:id="R95a90f97f8284892"/>
    <p:sldId xmlns:r="http://schemas.openxmlformats.org/officeDocument/2006/relationships" id="269" r:id="R81edc8b6224146fd"/>
    <p:sldId xmlns:r="http://schemas.openxmlformats.org/officeDocument/2006/relationships" id="270" r:id="Rbafc643e6dbc4d7e"/>
    <p:sldId xmlns:r="http://schemas.openxmlformats.org/officeDocument/2006/relationships" id="271" r:id="Rda50245d609b46d2"/>
    <p:sldId xmlns:r="http://schemas.openxmlformats.org/officeDocument/2006/relationships" id="272" r:id="R1e3e640399d149f8"/>
    <p:sldId xmlns:r="http://schemas.openxmlformats.org/officeDocument/2006/relationships" id="273" r:id="Rbfffd354df76409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5c137d0ac9044ca" /><Relationship Type="http://schemas.openxmlformats.org/officeDocument/2006/relationships/slideMaster" Target="/ppt/slideMasters/slideMaster1.xml" Id="Rc209a16af8ef44cb" /><Relationship Type="http://schemas.openxmlformats.org/officeDocument/2006/relationships/notesMaster" Target="/ppt/notesMasters/notesMaster1.xml" Id="Rf60a631c4bda49dc" /><Relationship Type="http://schemas.openxmlformats.org/officeDocument/2006/relationships/presProps" Target="/ppt/presProps.xml" Id="Ra5869658aa12412a" /><Relationship Type="http://schemas.openxmlformats.org/officeDocument/2006/relationships/tableStyles" Target="/ppt/tableStyles.xml" Id="R894762874a694371" /><Relationship Type="http://schemas.openxmlformats.org/officeDocument/2006/relationships/slide" Target="/ppt/slides/slide1.xml" Id="R8ffeaa79aa714454" /><Relationship Type="http://schemas.openxmlformats.org/officeDocument/2006/relationships/slide" Target="/ppt/slides/slide2.xml" Id="R0dba449179ad4ba5" /><Relationship Type="http://schemas.openxmlformats.org/officeDocument/2006/relationships/slide" Target="/ppt/slides/slide3.xml" Id="R91d189fcd1a04717" /><Relationship Type="http://schemas.openxmlformats.org/officeDocument/2006/relationships/slide" Target="/ppt/slides/slide4.xml" Id="Rab3ec0dfa92b4eba" /><Relationship Type="http://schemas.openxmlformats.org/officeDocument/2006/relationships/slide" Target="/ppt/slides/slide5.xml" Id="Rf45497b48f5a4061" /><Relationship Type="http://schemas.openxmlformats.org/officeDocument/2006/relationships/slide" Target="/ppt/slides/slide6.xml" Id="R0aea27631436489e" /><Relationship Type="http://schemas.openxmlformats.org/officeDocument/2006/relationships/slide" Target="/ppt/slides/slide7.xml" Id="R5c6c99d812c140b2" /><Relationship Type="http://schemas.openxmlformats.org/officeDocument/2006/relationships/slide" Target="/ppt/slides/slide8.xml" Id="R82030c18fcef426e" /><Relationship Type="http://schemas.openxmlformats.org/officeDocument/2006/relationships/slide" Target="/ppt/slides/slide9.xml" Id="R59ff6debc7a446e7" /><Relationship Type="http://schemas.openxmlformats.org/officeDocument/2006/relationships/slide" Target="/ppt/slides/slide10.xml" Id="Rf083f8c1806b475c" /><Relationship Type="http://schemas.openxmlformats.org/officeDocument/2006/relationships/slide" Target="/ppt/slides/slide11.xml" Id="R8e39c5f834be4b9c" /><Relationship Type="http://schemas.openxmlformats.org/officeDocument/2006/relationships/slide" Target="/ppt/slides/slide12.xml" Id="R2f3c8df0cfc042c9" /><Relationship Type="http://schemas.openxmlformats.org/officeDocument/2006/relationships/slide" Target="/ppt/slides/slide13.xml" Id="R95a90f97f8284892" /><Relationship Type="http://schemas.openxmlformats.org/officeDocument/2006/relationships/slide" Target="/ppt/slides/slide14.xml" Id="R81edc8b6224146fd" /><Relationship Type="http://schemas.openxmlformats.org/officeDocument/2006/relationships/slide" Target="/ppt/slides/slide15.xml" Id="Rbafc643e6dbc4d7e" /><Relationship Type="http://schemas.openxmlformats.org/officeDocument/2006/relationships/slide" Target="/ppt/slides/slide16.xml" Id="Rda50245d609b46d2" /><Relationship Type="http://schemas.openxmlformats.org/officeDocument/2006/relationships/slide" Target="/ppt/slides/slide17.xml" Id="R1e3e640399d149f8" /><Relationship Type="http://schemas.openxmlformats.org/officeDocument/2006/relationships/slide" Target="/ppt/slides/slide18.xml" Id="Rbfffd354df7640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d913c29acff4b8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aaf81f2cfba4152" /><Relationship Type="http://schemas.openxmlformats.org/officeDocument/2006/relationships/notesMaster" Target="/ppt/notesMasters/notesMaster1.xml" Id="R3c3c745d6b2645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88c38a28e7a4c79" /><Relationship Type="http://schemas.openxmlformats.org/officeDocument/2006/relationships/notesMaster" Target="/ppt/notesMasters/notesMaster1.xml" Id="Re680dce29a654e8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e74d26a7ac04ba3" /><Relationship Type="http://schemas.openxmlformats.org/officeDocument/2006/relationships/notesMaster" Target="/ppt/notesMasters/notesMaster1.xml" Id="Rd2b8279deb8b4ed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973712df113410d" /><Relationship Type="http://schemas.openxmlformats.org/officeDocument/2006/relationships/notesMaster" Target="/ppt/notesMasters/notesMaster1.xml" Id="Rbad30168f4d944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53fc85bb5d443b3" /><Relationship Type="http://schemas.openxmlformats.org/officeDocument/2006/relationships/notesMaster" Target="/ppt/notesMasters/notesMaster1.xml" Id="R1356c7f5d072462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9127bbfc26147e3" /><Relationship Type="http://schemas.openxmlformats.org/officeDocument/2006/relationships/notesMaster" Target="/ppt/notesMasters/notesMaster1.xml" Id="R675c3465c881453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d790d6a809f48ef" /><Relationship Type="http://schemas.openxmlformats.org/officeDocument/2006/relationships/notesMaster" Target="/ppt/notesMasters/notesMaster1.xml" Id="Rc5978889e43f41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980bf6c5e04641" /><Relationship Type="http://schemas.openxmlformats.org/officeDocument/2006/relationships/notesMaster" Target="/ppt/notesMasters/notesMaster1.xml" Id="Radbd29e254f34d3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38daf49c39c4df9" /><Relationship Type="http://schemas.openxmlformats.org/officeDocument/2006/relationships/notesMaster" Target="/ppt/notesMasters/notesMaster1.xml" Id="Rd80db288ba98437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c1bc129833e4273" /><Relationship Type="http://schemas.openxmlformats.org/officeDocument/2006/relationships/notesMaster" Target="/ppt/notesMasters/notesMaster1.xml" Id="Rc145674ca6aa440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445c8f044e642f9" /><Relationship Type="http://schemas.openxmlformats.org/officeDocument/2006/relationships/notesMaster" Target="/ppt/notesMasters/notesMaster1.xml" Id="R884c85ee2b554c7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2810a1f2be24b45" /><Relationship Type="http://schemas.openxmlformats.org/officeDocument/2006/relationships/notesMaster" Target="/ppt/notesMasters/notesMaster1.xml" Id="R292352e1abe5448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a59cfe5a178473c" /><Relationship Type="http://schemas.openxmlformats.org/officeDocument/2006/relationships/notesMaster" Target="/ppt/notesMasters/notesMaster1.xml" Id="R0a1c9e8555f540b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5227e21bac04cb1" /><Relationship Type="http://schemas.openxmlformats.org/officeDocument/2006/relationships/notesMaster" Target="/ppt/notesMasters/notesMaster1.xml" Id="Rf623aff988dc423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95bbeec7d40427b" /><Relationship Type="http://schemas.openxmlformats.org/officeDocument/2006/relationships/notesMaster" Target="/ppt/notesMasters/notesMaster1.xml" Id="R75b8f292de894c2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6b2804635c24442" /><Relationship Type="http://schemas.openxmlformats.org/officeDocument/2006/relationships/notesMaster" Target="/ppt/notesMasters/notesMaster1.xml" Id="R6f6eac0d6f744ff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135017b06f642c0" /><Relationship Type="http://schemas.openxmlformats.org/officeDocument/2006/relationships/notesMaster" Target="/ppt/notesMasters/notesMaster1.xml" Id="R38bb7e381fda4ca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bbdc4b200774567" /><Relationship Type="http://schemas.openxmlformats.org/officeDocument/2006/relationships/notesMaster" Target="/ppt/notesMasters/notesMaster1.xml" Id="R76d4dcf5d86f48c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S37 — 서로 다른 Performance Task, 반복되는 절차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서로 다른 Performance Task, 반복되는 절차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TRIAL-006의 `resize_nearest`와 TRIAL-007의 `normalize`처럼 서로 다른 목표에서도 유사한 performance procedure가 반복될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“Task가 달라도 왜 같은 작업 방법을 계속 쓰고 있지?”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(0:00–2:00) 처음 30초에 그림으로 작업 대상을 확인한다. 왼쪽은 크기 변경, 오른쪽은 선언된 max_value를 255로 스케일하는 값 범위 변환이다. 0→0, 2048→128, 4095→255를 설명할 수 있지만 화질 개선으로 표현하지 않는다. 이어 두 Task goal을 비교한다.</a:t>
            </a:r>
          </a:p>
          <a:p xmlns:a="http://schemas.openxmlformats.org/drawingml/2006/main">
            <a:r>
              <a:t>2. (2:00–4:00) 두 기록에 반복된 baseline, 조사, 계획, 변경, test, benchmark, 비교, review를 강조한다.</a:t>
            </a:r>
          </a:p>
          <a:p xmlns:a="http://schemas.openxmlformats.org/drawingml/2006/main">
            <a:r>
              <a:t>3. (4:00–5:00) 반복 관찰과 원인 귀속을 분리하고 Prompt-only attribution이 PARTIAL임을 밝힌다.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TRIAL-006 (`resize_nearest`), TRIAL-007 (`normalize`), BEAT-018/020. Codex CLI 기록 실행의 workflow 비교. 함수 계약 참고: Demo STATE-04의 src/graypipe/transform.py 및 normalize.py. 삽화 출처: prototype/image-illustration-pilot/assets/S37.png, built-in image_gen, 2026-10-18. 생성 프롬프트: prototype/image-illustration-pilot/PROMPTS.md. 실제 화면·현장 사진·관찰 자료가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유사한 절차가 관찰됐지만 Prompt만의 효과로 귀속하지 않는다. 개별 성능 결과는 해당 코드·입력·환경에 한정한다. 그림은 기능 설명용 개념 예시이며 Trial의 입력·출력 파일이나 최적화 전후 결과가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서로 다른 작업에서도 조사하고 확인하는 순서가 반복될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Task별 목표와 지속해서 재사용할 절차를 구분하고, Global Harness가 미친 영향을 고려한다.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위는 기능 설명용 AI 삽화, 아래는 TRIAL-006/007 기록에서 확인한 반복 절차 요약이다. 같은 grayscale tile을 크기만 달리하거나 동일 크기로 배치해 작업의 차이를 설명한다. 새로운 실행이나 실제 터미널 화면이라고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두 Task의 공통 절차를 잠시 관찰하게 한다. 공개 답변은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“Project 지식과 작업 절차는 각각 어떤 질문에 답할까?”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 5분을 두 Task 비교, 공통 절차, attribution 한계 순으로 쓴다. 수치 설명으로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발표 경로는 production/preview/act3/S37.png와 production/preview/full/S37.png다. 같은 그림을 가리키며 원래 질문과 Claim 경계를 설명한다. 설명용 삽화를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사용자 승인 삽화를 전체 제작본에 반영했다. PPT/Notes/PNG 대조와 S72 잘림 재검토 결과는 production/evaluation/FULL_DECK_IMAGE_INTEGRATION.md에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S38 — Project 사실과 작업 절차는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 사실과 작업 절차는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Project에서 일반적으로 참인 사실과 반복되는 작업 방법은 서로 다른 설계 문제다.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“Agent가 알아야 할 것과 따라야 할 방법은 같은가?”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왼쪽 crop의 끝 열 제외 계약을 ‘무엇이 참인가?’와 연결한다.</a:t>
            </a:r>
          </a:p>
          <a:p xmlns:a="http://schemas.openxmlformats.org/drawingml/2006/main">
            <a:r>
              <a:t>2. (1:00–3:00) 오른쪽 변경 전 측정과 동일 입력 비교를 ‘어떤 순서로 일할까?’와 연결한다. 화면 아래의 현재 목표 질문은 Task Prompt의 책임이다.</a:t>
            </a:r>
          </a:p>
          <a:p xmlns:a="http://schemas.openxmlformats.org/drawingml/2006/main">
            <a:r>
              <a:t>3. (3:00–4:00) 사실과 절차는 둘 다 Prompt 밖에 놓일 수 있지만 유지할 책임이 다르다고 정리한다. 아직 Harness 전체 정의를 완성하지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BEAT-019, TRIAL-006/007.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교육용 구분이다. 공식 제품 분류나 특정 제품 기능이라고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프로젝트 설명은 무엇이 참인지 말하고, workflow는 어떤 순서로 일할지 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 Context를 늘리는 것만으로 반복 절차의 유지 문제가 해결되지는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세 질문과 항목을 조용히 따라오게 한다. 분류 실습은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“작업 방법도 Repository가 재사용할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4분 동안 세 질문의 책임만 구분한다. Harness 전체 정의는 아직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S38 또는 `production/preview/act3/S38.png`다.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S39 — Task, Context, Workflow의 역할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Task, Context, Workflow의 역할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 Prompt는 현재 목표, Project Context는 사실과 제약, Reusable Workflow는 특정 작업을 수행하는 방법을 담는다.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“현재 목표, Project 사실, 반복 절차는 어디에 속하는가?”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첫 행의 normalize 성능 조사로 이번 Task 목표를 설명한다.</a:t>
            </a:r>
          </a:p>
          <a:p xmlns:a="http://schemas.openxmlformats.org/drawingml/2006/main">
            <a:r>
              <a:t>2. (1:00–2:30) 둘째 행에서 기존 이미지 동작과 공개 계약은 작업 중 지켜야 할 Project Context임을 짚는다.</a:t>
            </a:r>
          </a:p>
          <a:p xmlns:a="http://schemas.openxmlformats.org/drawingml/2006/main">
            <a:r>
              <a:t>3. (2:30–4:00) 셋째 행의 baseline → 조사 → 검증 → 비교를 재사용 Workflow와 연결한다.</a:t>
            </a:r>
          </a:p>
          <a:p xmlns:a="http://schemas.openxmlformats.org/drawingml/2006/main">
            <a:r>
              <a:t>4. (4:00–5:00) 세 책임의 위치가 Prompt 밖일 수 있다는 것과 책임이 같다는 것을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BEAT-019, TRIAL-006/007.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세 Layer는 교육용 모델이다. Harness 전체 정의나 제품의 공식 분류로 부르지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지금 원하는 일, 계속 유효한 프로젝트 정보, 반복할 작업 순서를 나눠 볼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같은 위치에 저장될 수 있어도 소유권, 갱신 주기, Task별 적용은 다를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각 Layer 예시를 조용히 따라오게 한다. 노트북 실습은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40에서 반복 절차를 repository-owned asset으로 옮길지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5분 동안 세 책임과 한 개의 workflow 예시만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S39 또는 `production/preview/act3/S39.png`다.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S40 — 반복 절차를 Skill로 옮길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반복 절차를 Skill로 옮길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반복 절차를 repository-owned Skill에 두는 것은 Task 목표와 Project 절차를 분리하려는 선택이다.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“긴 Procedure를 Prompt에서 빼도 같은 작업 흐름을 유지할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(0:00–1:30) 목표와 반복 절차가 함께 들어간 Before를 보여준다.</a:t>
            </a:r>
          </a:p>
          <a:p xmlns:a="http://schemas.openxmlformats.org/drawingml/2006/main">
            <a:r>
              <a:t>2. (1:30–3:00) `$graypipe-performance`와 repository Skill을 후보 구조로 보여준다.</a:t>
            </a:r>
          </a:p>
          <a:p xmlns:a="http://schemas.openxmlformats.org/drawingml/2006/main">
            <a:r>
              <a:t>3. (3:00–4:00) 성공 결과를 앞당기지 않고 대상 surface와 호출 경로는 확인 대상이라고 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DEC-0017, BEAT-020/021, TRIAL-006/007/008. Skill 선택은 ACCEPTED; 동작 근거는 뒤의 TRIAL-008에 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여기서는 설계 질문과 후보만 소개한다. 현재 Desktop/계정에서 이용 가능하다고 보장하거나 Skill 우월성을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방법을 매번 Prompt에 복사하는 대신 프로젝트가 소유하는 위치를 검토할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반복 근거에 따른 workflow 소유권 선택과 실제 발견·호출 증거를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성공 여부를 추측하지 않도록 잠깐 멈추고 질문을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41에서 TRIAL-008의 발견과 명시적 호출 기록을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4분 중 3분은 문제와 후보를 설명하고, 마지막 1분에 product check 경계를 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S40 또는 `production/preview/act3/S40.png`다.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S41 — Skill을 어떻게 발견하고 호출할까?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Skill을 어떻게 발견하고 호출할까?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5 minutes (HYBRID planned; activation unverified)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TRIAL-008에서 Codex CLI 0.154.0의 `/skills` 목록으로 repository Skill을 찾고 `$graypipe-performance`를 명시적으로 호출했으며, 실행 trace에 Skill 본문이 있었다.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“반복할 작업 절차를 Repository에서 어떻게 찾고 불러올까?”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세 단계는 TRIAL-008 기록을 읽기 좋게 재구성한 도식이며 실제 제품 UI 캡처가 아님을 밝힌다.</a:t>
            </a:r>
          </a:p>
          <a:p xmlns:a="http://schemas.openxmlformats.org/drawingml/2006/main">
            <a:r>
              <a:t>2. (1:00–2:30) /skills 목록에서 graypipe-performance와 잘린 설명이 표시된 기록을 가리킨다. 그 selector 화면에 Skill 경로가 표시됐다고 말하지 않는다.</a:t>
            </a:r>
          </a:p>
          <a:p xmlns:a="http://schemas.openxmlformats.org/drawingml/2006/main">
            <a:r>
              <a:t>3. (2:30–4:00) 명시적 $graypipe-performance 호출과 image_statistics 작업 목표를 보여준 뒤, 실행 trace에서 Skill 경로·본문 포함을 확인했다는 세 번째 행으로 이동한다.</a:t>
            </a:r>
          </a:p>
          <a:p xmlns:a="http://schemas.openxmlformats.org/drawingml/2006/main">
            <a:r>
              <a:t>4. (4:00–5:00) Codex CLI 0.154.0에서 확인한 범위다. 현재 Desktop, 암묵적 호출, 교육 계정의 표면은 별도 확인 대상으로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TRIAL-008, DEC-0017, BEAT-021. Codex CLI 0.154.0, 명시적 호출, disposable workspace. 시각 자료는 기록의 재구성이다.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Product UI 스크린샷이나 현재 Codex Desktop 동작으로 표현하지 않는다. Skill path는 selector가 아니라 실행 trace에서 확인됐다. Implicit invocation은 테스트하지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기록된 CLI 실행에서 Skill을 목록으로 찾고, 호출 표기를 입력해 사용했다.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Selector의 발견 증거와 실행 context의 본문 증거를 구별한다. 다른 surface·계정에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기본 경로는 재구성된 TRIAL-008 기록이다. 실제 Codex CLI 실행으로 전환하지 않는다. 현재 제품 표면은 REQUIRES PRODUCT CHECK.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발견, 명시적 호출, 본문 확인의 세 단계를 따라오게 한다. 조작을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“호출한 뒤 작업 Prompt에서는 무엇이 달라졌을까?”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발견 1.5분, 호출·본문 근거 1.5분, 범위 제한 1분. 실시간 제품 설명을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S41 또는 `production/preview/act3/S41.png`다.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S42 — 절차의 책임이 Prompt에서 Repository로 이동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절차의 책임이 Prompt에서 Repository로 이동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3 minutes (HYBRID planned; activation unverified) + Case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TRIAL-007의 긴 Prompt가 포함하던 절차를 TRIAL-008에서는 명시적으로 호출한 Skill에 맡기고 Prompt에는 목표와 Task별 제약을 남겼다.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“같은 작업 절차를 매번 Prompt에 길게 적어야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(0:00–1:30) TRIAL-007의 goal, 제약, 긴 procedure를 요약한다.</a:t>
            </a:r>
          </a:p>
          <a:p xmlns:a="http://schemas.openxmlformats.org/drawingml/2006/main">
            <a:r>
              <a:t>2. (1:30–3:00) TRIAL-008의 goal, Task별 제약, 명시적 Skill 호출을 비교한다.</a:t>
            </a:r>
          </a:p>
          <a:p xmlns:a="http://schemas.openxmlformats.org/drawingml/2006/main">
            <a:r>
              <a:t>3. (3:00–5:00) 양쪽에 반복된 baseline, 조사, test, benchmark, compare, review를 잇는다.</a:t>
            </a:r>
          </a:p>
          <a:p xmlns:a="http://schemas.openxmlformats.org/drawingml/2006/main">
            <a:r>
              <a:t>4. (5:00–6:00) 책임 위치 변화만 관찰됐고 토큰 절감은 측정되지 않았다고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TRIAL-007/008, DEC-0017, BEAT-021. 관찰된 CLI 기록을 요약한 비교.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Skill 우월성, 속도 향상, token/character 절감은 입증되지 않았다. Prompt 구조와 다른 전역 요인의 인과 효과를 따로 분리하지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반복되는 절차를 저장한 위치를 바꿔도 각 작업의 목표는 Prompt에 남는다.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절차의 재사용 설계와 Prompt 길이·효율의 측정 주장을 혼동하지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두 Trial을 요약한 정적 비교를 사용한다. 긴 Prompt 전문이나 실제 터미널 화면을 재현하지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Case 시간에 공통 절차만 비교하도록 안내하고, 공개 응답은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 Skill에는 구체적인 답이 들어 있을까, 재사용할 작업 방법이 들어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 3분은 구조 비교, Case 3분은 공통 procedure와 책임 경계에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S42 또는 `production/preview/act3/S42.png`다.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S43 — 답을 담지 않는 Workflow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답을 담지 않는 Workflow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Reusable Skill은 검증 절차를 담고 특정 최적화 답이나 측정 결과를 미리 정답으로 고정하지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“Skill이 작업 방법을 담는다면, 어디까지 미리 정해도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실제 Skill 발췌의 ‘편집 전 재현 가능한 baseline’과 ‘근거가 없으면 no-change도 유효’ 두 지시를 가리킨다. 영어를 모두 낭독하지 않고 한국어로 뜻을 설명한다.</a:t>
            </a:r>
          </a:p>
          <a:p xmlns:a="http://schemas.openxmlformats.org/drawingml/2006/main">
            <a:r>
              <a:t>2. (1:00–2:00) 아래의 알고리즘, 실제 측정값, 감수할 trade-off는 이번 Task에서 결정할 내용임을 구분한다.</a:t>
            </a:r>
          </a:p>
          <a:p xmlns:a="http://schemas.openxmlformats.org/drawingml/2006/main">
            <a:r>
              <a:t>3. (2:00–3:00) Skill에 특정 알고리즘·Trial 숫자를 정답으로 넣지 않았음을 확인하고, 실제 후보 비교로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TRIAL-008, `graypipe-performance` Skill, DEC-0017, BEAT-022.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절차 재사용은 관찰됐지만 Skill이 더 나은 최적화 답을 제공한다는 근거는 아니다. Workflow는 task 결과를 고정하지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작업 순서는 재사용할 수 있지만, 어떤 답이 맞는지는 매번 확인해야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Input, runtime, benchmark, trade-off를 procedure definition과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STATE-04의 `.agents/skills/graypipe-performance/SKILL.md`에서 확인한 두 문장만 발췌한 정적 화면을 사용한다. 코드/제품 UI screenshot으로 표현하지 않으며 전체 Skill 본문을 낭독하지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왼쪽의 절차와 오른쪽의 Task 판단을 구별하도록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“실제로 후보를 선택할 때는 무엇을 근거로 삼았을까?”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3분 동안 두 책임만 구분하며 algorithm 설명은 생략한다.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S43 또는 `production/preview/act3/S43.png`다.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S44 — 측정으로 후보를 고르다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측정으로 후보를 고르다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TRIAL-008의 `image_statistics` 후보 중 row-level built-in reduction은 수동 단일 순회보다 빠르면서 낮은 traced-memory 사용을 유지해 선택됐다.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“여러 구현 후보 중 무엇을 선택할지 어떻게 판단했을까?”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후보 비교가 STATE-04 → STATE-04-PERF 공식 결과와 다른 Trial 단계임을 밝힌다.</a:t>
            </a:r>
          </a:p>
          <a:p xmlns:a="http://schemas.openxmlformats.org/drawingml/2006/main">
            <a:r>
              <a:t>2. (1:00–3:00) 수동 단일 순회는 traced memory가 적었지만 훨씬 느렸다는 정성 비교를 보여준다.</a:t>
            </a:r>
          </a:p>
          <a:p xmlns:a="http://schemas.openxmlformats.org/drawingml/2006/main">
            <a:r>
              <a:t>3. (3:00–4:00) Row-level built-in reduction 후보가 시간·메모리 trade-off에서 선택된 근거를 말한다.</a:t>
            </a:r>
          </a:p>
          <a:p xmlns:a="http://schemas.openxmlformats.org/drawingml/2006/main">
            <a:r>
              <a:t>4. (4:00–5:00) 동일한 six-field correctness guard와 workload 한계를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TRIAL-008 candidate comparison; `image_statistics`; synthetic 1024×768 image, CPython 3.9.6 / macOS 26.6.2 arm64; same six-field correctness guard.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정확한 candidate 수치는 표시하지 않는다. Candidate 결과를 S45의 formal state benchmark와 섞지 않는다. Skill이 algorithm이나 결과를 만들었다고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적은 메모리만 보고 선택하지 않고 같은 조건에서 실행시간과 정확성을 함께 확인했다.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Candidate comparison과 named product-state before/after 측정은 Evidence 단계가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두 후보의 Python 할당량과 실행 시간 정성 비교를 사용한다. 후보별 새 숫자나 측정 그래프를 추가하지 않는다. 공식 STATE-04 전후 수치는 다음 S45에서 별도로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Case 질문을 제시하고 실행시간과 메모리의 trade-off를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“선택한 변화는 어떤 검증을 거쳐 제품 상태에 반영됐을까?”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5분 중 3분은 두 후보 차이, 1분은 correctness guard, 1분은 evidence 경계에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S44 또는 `production/preview/act3/S44.png`다.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S45 — Working Harness Success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Working Harness Success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STATE-04 → STATE-04-PERF의 bounded `image_statistics` 변경은 기록된 조건에서 median과 traced allocation이 달랐고 정해진 tests, CLI, benchmark guards를 통과했다.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“조사와 비교가 실제로 확인 가능한 결과로 이어졌을까?”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이전 장의 후보 선택을 회수한다. 정식 STATE-04 baseline에서 변경한 결과이며 TRIAL-008의 후보 수치를 재사용한 것이 아님을 밝힌다.</a:t>
            </a:r>
          </a:p>
          <a:p xmlns:a="http://schemas.openxmlformats.org/drawingml/2006/main">
            <a:r>
              <a:t>2. (1:00–2:30) 0에서 시작하는 실행 시간 막대를 변경 전 15.468 → 변경 후 10.769 ms/call 순서로 가리킨다. 동일 입력에서 상태별 7회 one-call 측정의 중앙값이다.</a:t>
            </a:r>
          </a:p>
          <a:p xmlns:a="http://schemas.openxmlformats.org/drawingml/2006/main">
            <a:r>
              <a:t>3. (2:30–3:30) Python 할당 피크 6,675,804 → 380 bytes를 보여준다. 평탄화 임시 리스트 제거와 연결하되 프로세스 전체 메모리(RSS)나 일반 성능 보장으로 확대하지 않는다.</a:t>
            </a:r>
          </a:p>
          <a:p xmlns:a="http://schemas.openxmlformats.org/drawingml/2006/main">
            <a:r>
              <a:t>4. (3:30–5:00) 집중 Test 1/1, 전체 11/11, CLI와 입력/결과 guard 통과를 확인한다. 이 결과가 Harness/Skill 단독 인과효과를 입증하지 않음을 말하고 Subagent 필요성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`plan/DEMO_MATRIX.md` STEP 07 §§191–200, STATE-04 → STATE-04-PERF; `plan/CLAIM_FREEZE.md` §8; DEC-0019. Baseline `822f1c12c5f602d934a2fd29e48f05bf498b4bfa`, result `6153b81c0187dd7d82c88bd1817fb683c98eb431`; `image_statistics`; deterministic synthetic 1024×768, 786,432 pixels, max255; CPython3.9.6 / macOS26.6.2 arm64; same input fingerprint, seven one-call samples per state. Median 15.468→10.769 ms/call; separate tracemalloc call peak 6,675,804→380 bytes; six-field result guard, focused1/1, full11/11, CLI smoke PASS. TRIAL-008 is candidate history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숫자는 이 입력, 코드 경로, host, runtime, 측정 조건에 한정한다. `tracemalloc`은 Python allocation peak이지 RSS가 아니다. Harness나 Skill이 성능 향상을 일으켰다고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바뀐 코드가 맞는지 Test와 같은 benchmark로 확인한 기록이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Observed product change와 시스템 구성요소의 단독 인과를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`production/ACT_3.pptx`의 S45 및 `production/preview/act3/S45.png`의 native chart와 수치 비교를 가리킨다. 새 Trial 또는 benchmark를 실행하지 않는다. 막대는 실행 시간만 표현하며 할당량은 별도 수치 비교다.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Case로 측정 조건과 verification을 짚고 일반화하지 않도록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결과를 위해 Subagent도 필요했을까?”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5분을 metric 2.5분, test/CLI guards 1.5분, attribution limit 1분으로 나눈다.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S45 또는 `production/preview/act3/S45.png`다.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S46 — 이 작업에 Subagent가 필요했을까?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이 작업에 Subagent가 필요했을까?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3 minutes (VISUAL) + Q&amp;A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현재 performance 작업은 하나의 Agent가 처리할 수 있었고 별도 Context의 병렬화 이득이 작아 Subagent를 정당화하지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“성능 작업을 여러 Agent로 나누는 게 이 사례에 도움이 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조사 → 변경 → 검증을 왼쪽부터 가리킨다. 뒤 단계가 앞 결과를 사용하는 현재 성능 Task의 의존 관계다.</a:t>
            </a:r>
          </a:p>
          <a:p xmlns:a="http://schemas.openxmlformats.org/drawingml/2006/main">
            <a:r>
              <a:t>2. (1:00–3:00 / Demo) 작업 독립성, 병렬 이득, 결과 통합 비용을 기준으로 이번 사례에서 Subagent 추가 근거가 부족했음을 설명한다.</a:t>
            </a:r>
          </a:p>
          <a:p xmlns:a="http://schemas.openxmlformats.org/drawingml/2006/main">
            <a:r>
              <a:t>3. (3:00–4:00 / Q&amp;A) 질문이 없으면 ‘어느 단계를 독립 실행할 수 있었나?’를 묻는다. 일반적 Subagent 불필요 주장으로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DEC-0018, BEAT-023–025; STATE-04 / STATE-04-PERF의 project/task complexity review.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`NOT JUSTIFIED YET`는 현재 사례의 판단이다. Subagent 기능이 없거나 일반적으로 불필요하다는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Agent를 늘리기 전에 실제로 독립시킬 작업이 있는지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병렬화 이득, context separation, coordination 및 merge 비용을 함께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다음 Slide의 가정적 C++ 예시에서만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세 기준을 보여주는 정적 VISUAL Demo다. Product Subagent를 호출하지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마지막 1분 질문을 받는다. 질문이 없으면 “무엇을 독립 실행할 수 있었나?”를 짧게 던지고 계속한다.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“어떤 작업 구조라면 Subagent 검토가 타당해질까?”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시각 검토 3분, Q&amp;A 1분을 보호한다.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S46 또는 `production/preview/act3/S46.png`다.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S47 — Subagent를 고려할 조건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Subagent를 고려할 조건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1 minute + Demo 2 minutes (VISUAL) + Q&amp;A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독립된 조사와 Context, 병렬 가능성, 명확한 handoff가 있을 때 Subagent를 검토하고 조정 비용이 더 크면 보류한다.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“어떤 일이 실제로 독립된 병렬 작업일까?”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실제 Demo가 아닌 조건부 C++ 조사 예시라고 먼저 밝힌다.</a:t>
            </a:r>
          </a:p>
          <a:p xmlns:a="http://schemas.openxmlformats.org/drawingml/2006/main">
            <a:r>
              <a:t>2. (1:00–3:00 / Demo) 성능 경로, 빌드 환경, 테스트 구조 조사가 서로 결과를 기다리지 않아도 된다는 가정을 비교한다. 세 화살표가 모이는 하단에서 결과 형식, 전달 지점, 합칠 책임을 시작 전에 정할 필요를 짚는다.</a:t>
            </a:r>
          </a:p>
          <a:p xmlns:a="http://schemas.openxmlformats.org/drawingml/2006/main">
            <a:r>
              <a:t>3. (3:00–4:00 / Q&amp;A) 질문이 없으면 ‘결과를 합칠 책임자는 누구인가?’를 묻는다. 작업과 Context가 강하게 연결되거나 조정 비용이 크면 보류한다고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BEAT-023–025, DEC-0018. TEACHING_MODEL; hypothetical C++ case.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현재 Demo에서 관찰한 Subagent 결과가 아니다. 제품 동작·사용법은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서로 영향을 덜 주는 일을 나눌 수 있을 때만 여러 Agent를 고려한다.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Context 경계와 병렬 결과의 integration cost가 역할 분리의 이익보다 작아야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C++ Repository에서 성능, build toolchain, test 조사가 실제로 독립적일 수 있다는 가정 예만 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Conceptual decision visual. Subagent 제품 실행이나 지원 여부를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Q&amp;A 1분. 질문이 없으면 “결과를 합칠 책임자는 누구인가?”를 fallback 질문으로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“반복 절차 말고, 다시 찾기 어려운 지식도 남길 필요가 있었을까?”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세 조건, 보류 신호, 가정 예시를 각 한 번만 다룬다.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S47 또는 `production/preview/act3/S47.png`다.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S48 — 무엇이 다시 찾기 어려운 지식인가?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무엇이 다시 찾기 어려운 지식인가?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 minutes (VISUAL) + Case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현재 Demo의 계약·명령·구조·절차·Trial 기록은 각각 유지 중인 Source of Truth에 있었고, 별도 Memory 후보는 발견되지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“다음 작업에서 다시 발견하기 어려운 지식은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Demo) 네 행의 질문을 실제 유지 위치에 연결한다. crop 계약은 코드/계약 문서, 모듈 순서는 architecture, 조사 절차는 Skill, 측정 결과는 날짜 있는 Trial/Git 기록이다.</a:t>
            </a:r>
          </a:p>
          <a:p xmlns:a="http://schemas.openxmlformats.org/drawingml/2006/main">
            <a:r>
              <a:t>2. (2:00–3:00 / Case) 현재 Demo에서 별도 Memory로 남길 후보를 찾지 못한 제한된 감사 결과임을 밝힌다.</a:t>
            </a:r>
          </a:p>
          <a:p xmlns:a="http://schemas.openxmlformats.org/drawingml/2006/main">
            <a:r>
              <a:t>3. (3:00–4:00 / Case) 새 기록을 만들기 전에 기존 출처를 먼저 찾는다는 질문을 다음 판단 기준으로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DEC-0018, DEMO-08 knowledge audit, BEAT-026–028.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제품 Memory 기능의 존재, 범위, 성능에 관한 주장이 아니다. 현재 Demo에서 별도 보존 후보를 찾지 못했다는 범위다.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새 기억을 만들기 전에 같은 사실이 이미 어디에 기록돼 있는지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출처, 적용 범위, 갱신 가능성과 기존 Source of Truth의 중복 여부를 검토한다.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네 지식 범주를 정적으로 연결하는 VISUAL Demo. Memory 기능을 실행하거나 흉내내지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Case 2분 동안 어떤 지식이 어디에 이미 있는지 생각하도록 한다. 공유나 기록은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“그럼 어떤 지식에 Memory를 검토할 조건이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네 행을 빠르게 연결한 뒤 계약과 측정 결과 두 범주의 출처 차이에 설명을 집중한다. 정적 Demo 2분, Case 2분을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S48 또는 `production/preview/act3/S48.png`다.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S49 — Memory는 재발견 비용으로 판단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Memory는 재발견 비용으로 판단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재발견 비용이 크고 Project 간 재사용 가능하며 출처·범위·신선도를 관리할 수 있을 때 Memory를 검토한다.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“무엇을 기억해 두어야 다음 작업의 비용이 실제로 줄어들까?”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재발견 비용과 재사용성을 첫 질문으로 둔다.</a:t>
            </a:r>
          </a:p>
          <a:p xmlns:a="http://schemas.openxmlformats.org/drawingml/2006/main">
            <a:r>
              <a:t>2. (1:00–3:00) 출처·적용 범위·신선도·무효화 기준을 점검한다.</a:t>
            </a:r>
          </a:p>
          <a:p xmlns:a="http://schemas.openxmlformats.org/drawingml/2006/main">
            <a:r>
              <a:t>3. (3:00–4:00) 현재 Demo에서는 해당 조건을 만족하는 항목을 찾지 못했다고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DEC-0018, BEAT-026–028, INV-DEMO-003.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조건은 교육용 판단 model이지 제품 Memory 기능의 효과나 범위에 관한 claim이 아니다. 현재 Demo의 결정으로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나중에 다시 찾기 어렵고 실제로 반복해서 쓰는 지식인지 먼저 따져본다.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Provenance, scope, freshness, invalidation이 없으면 유지되는 기억이 오래된 정보가 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네 판단 질문을 하나씩 따라오게 한다. Memory를 만들라는 과제는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“현재 문제를 해결하는 데 실제로 필요했던 구조는 무엇이었을까?”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4분 동안 조건을 설명하고 기준을 feature checklist로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S49 또는 `production/preview/act3/S49.png`다.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S50 — Minimum Effective Harness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Minimum Effective Harness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3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STATE-04-PERF까지 이어진 현재 사례는 Prompt, Context와 Routing, reusable Skill, Benchmark, Tests, Tools/Environment를 사용했고 Subagent와 Memory를 추가하지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“이번 작업을 위해 실제로 무엇이 필요했을까?”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왼쪽의 이번 목표·반복 정보·반복 절차·확인 근거라는 문제를 순서대로 읽는다.</a:t>
            </a:r>
          </a:p>
          <a:p xmlns:a="http://schemas.openxmlformats.org/drawingml/2006/main">
            <a:r>
              <a:t>2. (1:00–2:00) 오른쪽의 Task Prompt, AGENTS.md/docs Routing, graypipe-performance Skill, Tests/Benchmark/Tools/Environment에 연결한다. 현재 사례의 구성을 정리한 표다.</a:t>
            </a:r>
          </a:p>
          <a:p xmlns:a="http://schemas.openxmlformats.org/drawingml/2006/main">
            <a:r>
              <a:t>3. (2:00–3:00) Subagent와 별도 Memory는 추가하지 않았으며 필요한 구성은 문제와 검증 조건에 따라 달라진다고 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STATE-00 → STATE-04-PERF, DEC-0018, INV-VERIFY-001, DEMO-09.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현재 프로젝트의 구성 감사다. 일반적인 최적 기능 수나 Harness가 성능을 개선한 인과 claim이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Harness는 기능을 많이 모으는 일이 아니라 현재 문제에 필요한 작업 환경을 마련하는 일이다.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“Minimum Effective”는 신뢰성 있게 해결할 조건을 충족하는 문제별 heuristic이며 숫자 기준이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Slide 51–53에서 Project별 build, test, benchmark 절차로 연결한다. Python Skill을 C++로 복사하지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기록된 State의 구성을 표로 재구성한 CAPTURED 범위 요약이다. 실제 실행 캡처가 아니며 Demo Repository나 현재 제품을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구성요소보다 문제와 evidence가 연결되는 흐름을 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다음 Slide에서 Tools, Environment, Verification을 포함한 Harness 운영 정의를 묶는다.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3분 동안 실제 구성과 빠진 두 요소를 확인한다. 일반론으로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S50 또는 `production/preview/act3/S50.png`다.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S51 — Harness는 작업 환경 설계다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Harness는 작업 환경 설계다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 + Demo 2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이 교육에서 Harness는 Agent가 Project에서 안정적으로 일하도록 설계한 작업 환경과 절차를 뜻하는 운영 model이다.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“Harness는 결국 무엇을 의미하는가?”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Lecture) 큰 프레임은 Project 작업 환경을 뜻하는 교육용 모델이라고 밝힌다. 현재 목표 → 개발자와 Agent → 확인할 결과를 가리킨다.</a:t>
            </a:r>
          </a:p>
          <a:p xmlns:a="http://schemas.openxmlformats.org/drawingml/2006/main">
            <a:r>
              <a:t>2. (2:00–4:00 / Lecture) 그 안의 Context/Routing, Workflow, Verification/Tools가 서로 다른 책임으로 연결됨을 설명한다.</a:t>
            </a:r>
          </a:p>
          <a:p xmlns:a="http://schemas.openxmlformats.org/drawingml/2006/main">
            <a:r>
              <a:t>3. (4:00–6:00 / Demo) 프레임 바깥 아래의 ‘관찰한 구성’ 줄에서 STATE-04-PERF의 실제 요소를 확인한다. 전체 환경 모델과 제한된 구성 관찰을 같은 증거로 취급하지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DEC-0023, BEAT-035/036, STATE-04-PERF.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과정의 operational definition이다. 공식 OpenAI 정의나 보편적 industry standard로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Agent가 알 정보뿐 아니라 일하는 절차와 결과를 확인하는 환경도 함께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Harness는 특정 파일이나 기능 목록이 아니라 Project별 신뢰성 문제를 해결하는 system model이다.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Slide 53에서 C++ Project 환경에 같은 Engineering Pattern을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큰 프레임의 교육용 전체 모델과 아래 STATE-04-PERF 관찰 구성 줄을 분리해 보인다. 관찰 구성의 CAPTURED 요약도 기록 기반 재구성이며 실제 UI 캡처가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Evidence inset과 교육용 전체 model의 시각적 경계를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 작업 환경은 Repository 파일만으로 결정될까?”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개념 설명 4분, 관찰된 구성 2분. 기능 이름 열거에 시간을 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S51 또는 `production/preview/act3/S51.png`다.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S52 — Repository 밖의 환경도 결과에 영향을 준다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Repository 밖의 환경도 결과에 영향을 준다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 결과를 해석할 때 Project repository 바깥의 Global instructions, Skills, Hooks, MCP, Permissions, Model/configuration, OS/runtime도 가능한 환경 층이다.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“Repository가 같으면 Agent 실행 환경도 같은가?”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왼쪽 Repository와 오른쪽 가능한 외부 조건을 나눠 가리킨다.</a:t>
            </a:r>
          </a:p>
          <a:p xmlns:a="http://schemas.openxmlformats.org/drawingml/2006/main">
            <a:r>
              <a:t>2. (1:00–2:00) 지침, 실행, 도구와 권한이라는 세 묶음 중 기록에서 확인된 것은 global Skills와 hook/MCP 시작 흔적 일부라고 말한다.</a:t>
            </a:r>
          </a:p>
          <a:p xmlns:a="http://schemas.openxmlformats.org/drawingml/2006/main">
            <a:r>
              <a:t>3. (2:00–3:00) 모든 요소의 작동·효과를 관찰한 목록이 아님을 한정한다. 자세한 제작 이력 근거는 ACT 4에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TRIAL-006/007/008, DEC-0016/0021, BEAT-033/036. OBSERVED_META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전체 영향의 완전한 inventory가 아니다. Hook 실행이나 MCP task result가 관찰됐다고 말하지 않는다. TRIAL-007의 보고와 stderr 차이를 이 장에서 재해석하지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repository여도 실행 설정이나 주변 지침은 다를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Ambient Harness 요인을 기록하고 Trial의 attribution 범위를 제한하되 미확인 인과를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같은 C++ repository도 Toolchain, 권한, runtime 조건이 다를 수 있다는 정도로만 잇는다.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ACT 4에서 다룰 Meta 근거는 상세히 재생하지 않는다. 정적 preview visual로만 다룬다.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가능한 환경 층과 실제 확인된 흔적을 구분해 보도록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환경 설계 원칙은 C++ Vision Project에 어떻게 옮겨갈까?”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3분 동안 환경 경계와 evidence 한계를 설명한다. 요소별 제품 기능 강의는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`production/ACT_3.pptx`의 S52 또는 `production/preview/act3/S52.png`의 Repository/외부 환경 경계 비교를 사용한다. 새 화면과 경로의 최종 release 일치는 통합 검토에서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S53 — Engineering Pattern은 C++에도 전이된다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Engineering Pattern은 C++에도 전이된다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Python Demo의 코드나 도구를 복사하는 대신 Context, Verification, Benchmark, Reusable Workflow의 Engineering Pattern을 C++ Vision 업무에 대응시킨다.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“우리 Repository에서는 무엇이 Project Context이고 무엇이 Workflow인가?”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가정적 Vision 업무 장면임을 밝히고, 입력·처리·결과를 가리키며 Python Demo와 C++ Vision의 공통 질문을 안내한다.</a:t>
            </a:r>
          </a:p>
          <a:p xmlns:a="http://schemas.openxmlformats.org/drawingml/2006/main">
            <a:r>
              <a:t>2. (1:00–3:30) 기준 조건, 조사 경로, 확인 방법의 세 질문을 따라 입력/계약에서 빌드·알고리즘·하드웨어 조건으로, Python 경로에서 해당 모듈 측정으로, 동작 계약/테스트에서 회귀·통합 검증으로 연결한다.</a:t>
            </a:r>
          </a:p>
          <a:p xmlns:a="http://schemas.openxmlformats.org/drawingml/2006/main">
            <a:r>
              <a:t>3. (3:30–5:00) baseline → profile → change → regression check를 공통 패턴으로 회수한다. 구체 도구는 팀 표준 확인 후 선택하며 화면을 도구 목록 강의로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BEAT-036, CLM-0016/0017/0030, OQ-011. TEACHING_MODEL. 삽화 출처: prototype/image-illustration-pilot/assets/S53.png, built-in image_gen, 2026-10-18. 생성 프롬프트: prototype/image-illustration-pilot/PROMPTS.md. 실제 화면·현장 사진·관찰 자료가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교육용 전이 예다. C++ Demo를 구현하거나 팀별 실제 도구 규칙을 검증한 것이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언어가 달라도 먼저 프로젝트 규칙과 확인 방법을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Build mode, hardware assumptions, module contracts, and regression criteria belong to the actual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PRIMARY — Python `unittest` → GoogleTest/CTest or integration checks; benchmark script → benchmark/profiler; Project Context → build, algorithm, hardware constraints. Team standards must be checked before choosing tools.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 그림은 가정적 Vision 업무의 Lecture용 삽화다. 입력·처리·결과를 가리키며 기준 조건, 조사 위치, 검증 범위를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청중이 자사 Project의 Context와 Workflow를 구분할 질문을 제시한다. 답변을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“현재 업무에서 어떤 구조가 실제로 필요한지 되돌아보자.”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5분 동안 도구 이름보다 패턴 대응을 중심으로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발표 경로는 production/preview/act3/S53.png와 production/preview/full/S53.png다. 같은 그림을 가리키며 원래 질문과 Claim 경계를 설명한다. 설명용 삽화를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사용자 승인 삽화를 전체 제작본에 반영했다. PPT/Notes/PNG 대조와 S72 잘림 재검토 결과는 production/evaluation/FULL_DECK_IMAGE_INTEGRATION.md에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S54 — 필요한 구조부터 질문하기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필요한 구조부터 질문하기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10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Reflection 3 minutes + Q&amp;A 5 minutes + Transition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기능을 더하기 전에 반복되는 마찰을 찾고 원인과 검증 요구에 맞는 최소 구조를 판단한다.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“내 업무에서 지금 가장 반복되는 마찰은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(0:00–3:00 / Reflection) 화면의 ‘우리 프로젝트의 제약은…’과 ‘먼저 측정하고, 끝나면 확인해…’를 가리킨다. 청중 업무의 반복이 사실인지 절차인지 조용히 생각하게 한다. 독립 조사, 재발견 비용, 검증 필요도 개인 점검 후보다.</a:t>
            </a:r>
          </a:p>
          <a:p xmlns:a="http://schemas.openxmlformats.org/drawingml/2006/main">
            <a:r>
              <a:t>2. (3:00–8:00 / Q&amp;A) 원할 때만 마찰과 근거를 공유하게 한다. 질문이 없으면 ‘이 반복은 Context, Workflow, Coordination, 기억 중 무엇에 가까운가?’를 사용한다.</a:t>
            </a:r>
          </a:p>
          <a:p xmlns:a="http://schemas.openxmlformats.org/drawingml/2006/main">
            <a:r>
              <a:t>3. (8:00–10:00 / Transition) STATE-04-PERF의 제한된 성공을 유지하면서 화면 아래 ‘Project가 바뀐 뒤에도 계속 맞을까?’를 가리킨다. 다음 ACT의 가상 사례를 실제 제품 실패로 앞당기지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STATE-04-PERF, DEC-0018/0021, BEAT-035–038, INV-VERIFY-001. TEACHING_MODEL; bounded observed product success.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이 작업을 실패한 Harness로 재해석하지 않는다. Subagent와 Memory는 조건부 선택이다. 다음 ACT의 개념 사례를 실제 Demo Product failure로 미리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먼저 반복되는 문제를 찾고, 필요한 구조만 고른다.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 변화가 가정을 무효화할 수 있는지 생각하되, 다음 ACT의 사례 결과를 먼저 공개하지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앞 Slide의 Project별 C++ 적용 질문을 청중 업무로 가져온다.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개인 reflection은 선택적이며 노트북·실습·필수 공개 응답은 없다. 질문은 5분만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“지금은 잘 동작하는 Harness도 Project가 바뀐 뒤 계속 맞을까?”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Reflection 3분, Q&amp;A 5분, Transition 2분. Q&amp;A가 비어도 마지막 질문을 지키고, 초과 응답은 별도 질의로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S54 또는 `production/preview/act3/S54.png`다. 수정 초안 정적 화면은 존재하며 최종 release 경로·내용 일치는 통합 검토에서 확인한다. 실제 Trial 캡처나 현재 제품 실행으로 표현하지 않는다. 질문이 없으면 Audience Interaction의 준비 질문으로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4d0cb3a16d485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e8fd5c9e5e4a8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8f8f0787e84b1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bef24b34f041d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a7e631f34047d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e02e78923044e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0082B71-8C91-4202-9091-07E811FEF1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565E682-CED0-45C8-9CCE-1949CC85B47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025C847-10C4-45ED-8A32-B067108A76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B587845-2A63-4B41-ADD4-51CB6B9534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2C29F28-5672-4785-AFAB-3453EDD2CB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A836BED-932B-4BEE-B2F7-BB67574AA1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E712C6E-74B8-40EE-B21D-DC8D7C7951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D8B3323-C6E6-4F17-B128-16713DDA77A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A076EAB-2ED6-48BD-8CB4-6AC9E1828B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2E88935-CA5B-43C0-8264-2439293571F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8f741f4b17424f" /><Relationship Type="http://schemas.openxmlformats.org/officeDocument/2006/relationships/slideLayout" Target="/ppt/slideLayouts/slideLayout1.xml" Id="Rba50b429c2a34923" /><Relationship Type="http://schemas.openxmlformats.org/officeDocument/2006/relationships/slideLayout" Target="/ppt/slideLayouts/slideLayout2.xml" Id="R0091f6a40e2e470d" /><Relationship Type="http://schemas.openxmlformats.org/officeDocument/2006/relationships/slideLayout" Target="/ppt/slideLayouts/slideLayout3.xml" Id="R1dd1ead4938a4a43" /><Relationship Type="http://schemas.openxmlformats.org/officeDocument/2006/relationships/slideLayout" Target="/ppt/slideLayouts/slideLayout4.xml" Id="R992e2bf04781484c" /><Relationship Type="http://schemas.openxmlformats.org/officeDocument/2006/relationships/slideLayout" Target="/ppt/slideLayouts/slideLayout5.xml" Id="R6b7aef5e6c494191" /><Relationship Type="http://schemas.openxmlformats.org/officeDocument/2006/relationships/slideLayout" Target="/ppt/slideLayouts/slideLayout6.xml" Id="Rcb9a628a50254a3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50b429c2a34923"/>
    <p:sldLayoutId xmlns:r="http://schemas.openxmlformats.org/officeDocument/2006/relationships" id="2147483650" r:id="R0091f6a40e2e470d"/>
    <p:sldLayoutId xmlns:r="http://schemas.openxmlformats.org/officeDocument/2006/relationships" id="2147483651" r:id="R1dd1ead4938a4a43"/>
    <p:sldLayoutId xmlns:r="http://schemas.openxmlformats.org/officeDocument/2006/relationships" id="2147483652" r:id="R992e2bf04781484c"/>
    <p:sldLayoutId xmlns:r="http://schemas.openxmlformats.org/officeDocument/2006/relationships" id="2147483653" r:id="R6b7aef5e6c494191"/>
    <p:sldLayoutId xmlns:r="http://schemas.openxmlformats.org/officeDocument/2006/relationships" id="2147483654" r:id="Rcb9a628a50254a3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2480f1e07e4ad7" /><Relationship Type="http://schemas.openxmlformats.org/officeDocument/2006/relationships/image" Target="/ppt/media/image.png" Id="Rd198b9adb6d14e3b" /><Relationship Type="http://schemas.openxmlformats.org/officeDocument/2006/relationships/image" Target="/ppt/media/image2.png" Id="R53d5274bb9d84cac" /><Relationship Type="http://schemas.openxmlformats.org/officeDocument/2006/relationships/image" Target="/ppt/media/image3.png" Id="Rccc7be66a1354a01" /><Relationship Type="http://schemas.openxmlformats.org/officeDocument/2006/relationships/image" Target="/ppt/media/image4.png" Id="R09f99966706d43f3" /><Relationship Type="http://schemas.openxmlformats.org/officeDocument/2006/relationships/notesSlide" Target="/ppt/notesSlides/notesSlide1.xml" Id="R6cf3c0c6cd7943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8dbc4e54c3462c" /><Relationship Type="http://schemas.openxmlformats.org/officeDocument/2006/relationships/notesSlide" Target="/ppt/notesSlides/notesSlide2.xml" Id="Re0f6fa3d5bc046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dec43680874e3f" /><Relationship Type="http://schemas.openxmlformats.org/officeDocument/2006/relationships/notesSlide" Target="/ppt/notesSlides/notesSlide3.xml" Id="R46192ad41d9441e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aa3bdaa8754f64" /><Relationship Type="http://schemas.openxmlformats.org/officeDocument/2006/relationships/notesSlide" Target="/ppt/notesSlides/notesSlide4.xml" Id="R0c9002ed53c64b2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c8455c1b174db9" /><Relationship Type="http://schemas.openxmlformats.org/officeDocument/2006/relationships/notesSlide" Target="/ppt/notesSlides/notesSlide5.xml" Id="Ra7e648f417df4e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30b399168c4165" /><Relationship Type="http://schemas.openxmlformats.org/officeDocument/2006/relationships/notesSlide" Target="/ppt/notesSlides/notesSlide6.xml" Id="Redea9ae9230d4c2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4f646395144f14" /><Relationship Type="http://schemas.openxmlformats.org/officeDocument/2006/relationships/notesSlide" Target="/ppt/notesSlides/notesSlide7.xml" Id="R6a4e577c8e9b402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70f52fb3604581" /><Relationship Type="http://schemas.openxmlformats.org/officeDocument/2006/relationships/notesSlide" Target="/ppt/notesSlides/notesSlide8.xml" Id="Rc4e22eca9412413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cacd141e5442b6" /><Relationship Type="http://schemas.openxmlformats.org/officeDocument/2006/relationships/chart" Target="/ppt/slides/charts/chart1.xml" Id="Reda096d040d34ba6" /><Relationship Type="http://schemas.openxmlformats.org/officeDocument/2006/relationships/notesSlide" Target="/ppt/notesSlides/notesSlide9.xml" Id="Rbd6cc4fa297e490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ed0632f4f74481" /><Relationship Type="http://schemas.openxmlformats.org/officeDocument/2006/relationships/notesSlide" Target="/ppt/notesSlides/notesSlide10.xml" Id="Re082d41adcf34a4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899a23cd9b4486" /><Relationship Type="http://schemas.openxmlformats.org/officeDocument/2006/relationships/notesSlide" Target="/ppt/notesSlides/notesSlide11.xml" Id="R9c7c0346be70464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247cbdfc474ef0" /><Relationship Type="http://schemas.openxmlformats.org/officeDocument/2006/relationships/notesSlide" Target="/ppt/notesSlides/notesSlide12.xml" Id="R7c984c066177464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48569057f64257" /><Relationship Type="http://schemas.openxmlformats.org/officeDocument/2006/relationships/notesSlide" Target="/ppt/notesSlides/notesSlide13.xml" Id="Ra09934a1ce0a460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f363ed0546482c" /><Relationship Type="http://schemas.openxmlformats.org/officeDocument/2006/relationships/notesSlide" Target="/ppt/notesSlides/notesSlide14.xml" Id="Reaacc7461b0e41c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91b6aaf421476f" /><Relationship Type="http://schemas.openxmlformats.org/officeDocument/2006/relationships/notesSlide" Target="/ppt/notesSlides/notesSlide15.xml" Id="R2cc0c0d219214f1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dfcfa28d524d1e" /><Relationship Type="http://schemas.openxmlformats.org/officeDocument/2006/relationships/notesSlide" Target="/ppt/notesSlides/notesSlide16.xml" Id="R3b4547a5bb01480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dbdc33a7344a2f" /><Relationship Type="http://schemas.openxmlformats.org/officeDocument/2006/relationships/image" Target="/ppt/media/image5.png" Id="R3928fda157884ecf" /><Relationship Type="http://schemas.openxmlformats.org/officeDocument/2006/relationships/notesSlide" Target="/ppt/notesSlides/notesSlide17.xml" Id="R2eb942e4de9c49f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4cc034ce2546f8" /><Relationship Type="http://schemas.openxmlformats.org/officeDocument/2006/relationships/notesSlide" Target="/ppt/notesSlides/notesSlide18.xml" Id="R017b99ab36204a8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1"/>
        <c:ser>
          <c:idx val="0"/>
          <c:order val="0"/>
          <c:tx>
            <c:v>Median ms/call</c:v>
          </c:tx>
          <c:invertIfNegative val="0"/>
          <c:dPt>
            <c:idx val="0"/>
            <c:invertIfNegative val="0"/>
            <c:spPr>
              <a:solidFill xmlns:a="http://schemas.openxmlformats.org/drawingml/2006/main">
                <a:srgbClr val="0B6172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9BA8B5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변경 후</c:v>
                </c:pt>
                <c:pt idx="1">
                  <c:v>변경 전</c:v>
                </c:pt>
              </c:strCache>
            </c:strRef>
          </c:cat>
          <c:val>
            <c:numRef>
              <c:f>'Chart Data'!$B$2:$B$3</c:f>
              <c:numCache>
                <c:formatCode>0.000</c:formatCode>
                <c:ptCount val="2"/>
                <c:pt idx="0">
                  <c:v>10.769</c:v>
                </c:pt>
                <c:pt idx="1">
                  <c:v>15.468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025" b="1">
                  <a:solidFill>
                    <a:srgbClr val="17212B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7D0DA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C7D0DA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4F6F8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4F6F8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3 · 작업 방법도 반복된다">
            <a:extLst xmlns:a="http://schemas.openxmlformats.org/drawingml/2006/main">
              <a:ext uri="{FF2B5EF4-FFF2-40B4-BE49-F238E27FC236}">
                <a16:creationId xmlns:a16="http://schemas.microsoft.com/office/drawing/2014/main" id="{9C04F7AD-0713-4CAB-B573-78AF5FEDE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작업 방법도 반복된다</a:t>
            </a:r>
          </a:p>
        </p:txBody>
      </p:sp>
      <p:sp>
        <p:nvSpPr>
          <p:cNvPr id="2" name="S37">
            <a:extLst xmlns:a="http://schemas.openxmlformats.org/drawingml/2006/main">
              <a:ext uri="{FF2B5EF4-FFF2-40B4-BE49-F238E27FC236}">
                <a16:creationId xmlns:a16="http://schemas.microsoft.com/office/drawing/2014/main" id="{FCAFC26E-37CF-48A0-BA87-B5C86695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S37</a:t>
            </a:r>
          </a:p>
        </p:txBody>
      </p:sp>
      <p:sp>
        <p:nvSpPr>
          <p:cNvPr id="3" name="서로 다른 Performance Task,&#10;반복되는 절차">
            <a:extLst xmlns:a="http://schemas.openxmlformats.org/drawingml/2006/main">
              <a:ext uri="{FF2B5EF4-FFF2-40B4-BE49-F238E27FC236}">
                <a16:creationId xmlns:a16="http://schemas.microsoft.com/office/drawing/2014/main" id="{2D1D7C97-A1D0-41CC-AFE5-E12DF892D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서로 다른 Performance Task,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반복되는 절차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FE8720-0C8B-4B23-9AFC-79172B6BD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6 / TRIAL-007 · 반복 절차는 기록 요약 · 위 그림은 AI 생성 설명용 삽화">
            <a:extLst xmlns:a="http://schemas.openxmlformats.org/drawingml/2006/main">
              <a:ext uri="{FF2B5EF4-FFF2-40B4-BE49-F238E27FC236}">
                <a16:creationId xmlns:a16="http://schemas.microsoft.com/office/drawing/2014/main" id="{16003E17-D08E-4843-AB5E-1529F821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/ TRIAL-007 · 반복 절차는 기록 요약 · 위 그림은 AI 생성 설명용 삽화</a:t>
            </a:r>
          </a:p>
        </p:txBody>
      </p:sp>
      <p:sp>
        <p:nvSpPr>
          <p:cNvPr id="6" name="Global Harness 영향이 있어 Prompt만의 효과로 귀속하지 않음 · 그림은 최적화 전후 결과가 ">
            <a:extLst xmlns:a="http://schemas.openxmlformats.org/drawingml/2006/main">
              <a:ext uri="{FF2B5EF4-FFF2-40B4-BE49-F238E27FC236}">
                <a16:creationId xmlns:a16="http://schemas.microsoft.com/office/drawing/2014/main" id="{6CAC8568-B762-4B76-8CA4-9E1F91D7D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Global Harness 영향이 있어 Prompt만의 효과로 귀속하지 않음 · 그림은 최적화 전후 결과가 아님</a:t>
            </a:r>
          </a:p>
        </p:txBody>
      </p:sp>
      <p:sp>
        <p:nvSpPr>
          <p:cNvPr id="7" name="A · 이미지 크기 변경">
            <a:extLst xmlns:a="http://schemas.openxmlformats.org/drawingml/2006/main">
              <a:ext uri="{FF2B5EF4-FFF2-40B4-BE49-F238E27FC236}">
                <a16:creationId xmlns:a16="http://schemas.microsoft.com/office/drawing/2014/main" id="{536D2D89-17A2-4568-A5C0-42B819EB7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 · 이미지 크기 변경</a:t>
            </a:r>
          </a:p>
        </p:txBody>
      </p:sp>
      <p:sp>
        <p:nvSpPr>
          <p:cNvPr id="8" name="B · 픽셀값 범위 변환">
            <a:extLst xmlns:a="http://schemas.openxmlformats.org/drawingml/2006/main">
              <a:ext uri="{FF2B5EF4-FFF2-40B4-BE49-F238E27FC236}">
                <a16:creationId xmlns:a16="http://schemas.microsoft.com/office/drawing/2014/main" id="{E7A2FD35-8570-451D-A15B-00D4845C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00250"/>
            <a:ext cx="520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B · 픽셀값 범위 변환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71B8DE-D04C-4EB0-AB4F-F92C7B15CC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98b9adb6d14e3b"/>
          <a:srcRect xmlns:a="http://schemas.openxmlformats.org/drawingml/2006/main" l="53664" t="30891" r="28410" b="33258"/>
          <a:stretch xmlns:a="http://schemas.openxmlformats.org/drawingml/2006/main"/>
        </p:blipFill>
        <p:spPr>
          <a:xfrm xmlns:a="http://schemas.openxmlformats.org/drawingml/2006/main">
            <a:off x="1200150" y="2905125"/>
            <a:ext cx="1104900" cy="110490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AD8235-D0E8-49AF-BD74-D6222E707C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d5274bb9d84cac"/>
          <a:srcRect xmlns:a="http://schemas.openxmlformats.org/drawingml/2006/main" l="53664" t="30891" r="28410" b="33258"/>
          <a:stretch xmlns:a="http://schemas.openxmlformats.org/drawingml/2006/main"/>
        </p:blipFill>
        <p:spPr>
          <a:xfrm xmlns:a="http://schemas.openxmlformats.org/drawingml/2006/main">
            <a:off x="3371850" y="2476500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D26EA5-D47C-4D50-A7B5-D8735CC7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257550"/>
            <a:ext cx="4191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C2844B-945B-474B-9FD2-5116DAE86D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7be66a1354a01"/>
          <a:srcRect xmlns:a="http://schemas.openxmlformats.org/drawingml/2006/main" l="53664" t="30891" r="28410" b="33258"/>
          <a:stretch xmlns:a="http://schemas.openxmlformats.org/drawingml/2006/main"/>
        </p:blipFill>
        <p:spPr>
          <a:xfrm xmlns:a="http://schemas.openxmlformats.org/drawingml/2006/main">
            <a:off x="6762750" y="2571750"/>
            <a:ext cx="1524000" cy="1524000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4D953E-A765-45BD-9478-EAFA7BF3DC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f99966706d43f3"/>
          <a:srcRect xmlns:a="http://schemas.openxmlformats.org/drawingml/2006/main" l="53664" t="30891" r="28410" b="33258"/>
          <a:stretch xmlns:a="http://schemas.openxmlformats.org/drawingml/2006/main"/>
        </p:blipFill>
        <p:spPr>
          <a:xfrm xmlns:a="http://schemas.openxmlformats.org/drawingml/2006/main">
            <a:off x="9810750" y="2571750"/>
            <a:ext cx="1524000" cy="152400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CE616E-3540-4514-816F-9D41C5032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219450"/>
            <a:ext cx="4191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5" name="값 예: 2048 → 128">
            <a:extLst xmlns:a="http://schemas.openxmlformats.org/drawingml/2006/main">
              <a:ext uri="{FF2B5EF4-FFF2-40B4-BE49-F238E27FC236}">
                <a16:creationId xmlns:a16="http://schemas.microsoft.com/office/drawing/2014/main" id="{5DC3059D-D4B3-41F2-AB4E-172AD599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71950"/>
            <a:ext cx="520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값 예: 2048 → 128</a:t>
            </a:r>
          </a:p>
        </p:txBody>
      </p:sp>
      <p:sp>
        <p:nvSpPr>
          <p:cNvPr id="16" name="resize_nearest">
            <a:extLst xmlns:a="http://schemas.openxmlformats.org/drawingml/2006/main">
              <a:ext uri="{FF2B5EF4-FFF2-40B4-BE49-F238E27FC236}">
                <a16:creationId xmlns:a16="http://schemas.microsoft.com/office/drawing/2014/main" id="{C82E3D39-D95F-4EBC-8FA1-B85F88FC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resize_nearest</a:t>
            </a:r>
          </a:p>
        </p:txBody>
      </p:sp>
      <p:sp>
        <p:nvSpPr>
          <p:cNvPr id="17" name="normalize  ·  0–4095 → 0–255">
            <a:extLst xmlns:a="http://schemas.openxmlformats.org/drawingml/2006/main">
              <a:ext uri="{FF2B5EF4-FFF2-40B4-BE49-F238E27FC236}">
                <a16:creationId xmlns:a16="http://schemas.microsoft.com/office/drawing/2014/main" id="{2758CFEF-6DCB-45D3-BF69-A3A9222D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76750"/>
            <a:ext cx="5200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normalize  ·  0–4095 → 0–255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D951B4-BBDE-468A-A588-411125E9C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523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2CCDD8-25FA-496D-9318-56616DBA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895850"/>
            <a:ext cx="5200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0" name="Baseline → 조사 → 계획 → 변경">
            <a:extLst xmlns:a="http://schemas.openxmlformats.org/drawingml/2006/main">
              <a:ext uri="{FF2B5EF4-FFF2-40B4-BE49-F238E27FC236}">
                <a16:creationId xmlns:a16="http://schemas.microsoft.com/office/drawing/2014/main" id="{4B336C26-DBE3-40D9-8D6E-C9E54852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520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Baseline → 조사 → 계획 → 변경</a:t>
            </a:r>
          </a:p>
        </p:txBody>
      </p:sp>
      <p:sp>
        <p:nvSpPr>
          <p:cNvPr id="21" name="Test → Benchmark → 비교 → Review">
            <a:extLst xmlns:a="http://schemas.openxmlformats.org/drawingml/2006/main">
              <a:ext uri="{FF2B5EF4-FFF2-40B4-BE49-F238E27FC236}">
                <a16:creationId xmlns:a16="http://schemas.microsoft.com/office/drawing/2014/main" id="{8468D896-D3A0-4D76-8B6F-892A2A8E9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520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Test → Benchmark → 비교 → Review</a:t>
            </a:r>
          </a:p>
        </p:txBody>
      </p:sp>
      <p:sp>
        <p:nvSpPr>
          <p:cNvPr id="22" name="Baseline → 조사 → 계획 → 변경">
            <a:extLst xmlns:a="http://schemas.openxmlformats.org/drawingml/2006/main">
              <a:ext uri="{FF2B5EF4-FFF2-40B4-BE49-F238E27FC236}">
                <a16:creationId xmlns:a16="http://schemas.microsoft.com/office/drawing/2014/main" id="{6BEE7D25-3A59-4344-81F5-61844B7B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010150"/>
            <a:ext cx="520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Baseline → 조사 → 계획 → 변경</a:t>
            </a:r>
          </a:p>
        </p:txBody>
      </p:sp>
      <p:sp>
        <p:nvSpPr>
          <p:cNvPr id="23" name="Test → Benchmark → 비교 → Review">
            <a:extLst xmlns:a="http://schemas.openxmlformats.org/drawingml/2006/main">
              <a:ext uri="{FF2B5EF4-FFF2-40B4-BE49-F238E27FC236}">
                <a16:creationId xmlns:a16="http://schemas.microsoft.com/office/drawing/2014/main" id="{BEE48AD0-95EA-4EB4-8281-0AF6296F3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43525"/>
            <a:ext cx="520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Test → Benchmark → 비교 → Review</a:t>
            </a:r>
          </a:p>
        </p:txBody>
      </p:sp>
    </p:spTree>
    <p:extLst>
      <p:ext uri="{BB962C8B-B14F-4D97-AF65-F5344CB8AC3E}">
        <p14:creationId xmlns:p14="http://schemas.microsoft.com/office/powerpoint/2010/main" val="8292854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3 · 알아야 할 것과 따라야 할 방법">
            <a:extLst xmlns:a="http://schemas.openxmlformats.org/drawingml/2006/main">
              <a:ext uri="{FF2B5EF4-FFF2-40B4-BE49-F238E27FC236}">
                <a16:creationId xmlns:a16="http://schemas.microsoft.com/office/drawing/2014/main" id="{12DDD542-FD05-4E4B-B554-8845E706D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알아야 할 것과 따라야 할 방법</a:t>
            </a:r>
          </a:p>
        </p:txBody>
      </p:sp>
      <p:sp>
        <p:nvSpPr>
          <p:cNvPr id="2" name="S38">
            <a:extLst xmlns:a="http://schemas.openxmlformats.org/drawingml/2006/main">
              <a:ext uri="{FF2B5EF4-FFF2-40B4-BE49-F238E27FC236}">
                <a16:creationId xmlns:a16="http://schemas.microsoft.com/office/drawing/2014/main" id="{02AD4932-D306-42C2-A4E0-8E91B91D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S38</a:t>
            </a:r>
          </a:p>
        </p:txBody>
      </p:sp>
      <p:sp>
        <p:nvSpPr>
          <p:cNvPr id="3" name="Project 사실과 작업 절차는 다르다">
            <a:extLst xmlns:a="http://schemas.openxmlformats.org/drawingml/2006/main">
              <a:ext uri="{FF2B5EF4-FFF2-40B4-BE49-F238E27FC236}">
                <a16:creationId xmlns:a16="http://schemas.microsoft.com/office/drawing/2014/main" id="{7F8E6007-2BBF-4646-A5C1-767FA2385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 사실과 작업 절차는 다르다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F363E8-6A4A-4D65-A3C0-CEA63158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구분 · TRIAL-006/007의 반복 절차에서 출발">
            <a:extLst xmlns:a="http://schemas.openxmlformats.org/drawingml/2006/main">
              <a:ext uri="{FF2B5EF4-FFF2-40B4-BE49-F238E27FC236}">
                <a16:creationId xmlns:a16="http://schemas.microsoft.com/office/drawing/2014/main" id="{F33B9C46-0DA5-42CA-906A-B42F7B9C7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구분 · TRIAL-006/007의 반복 절차에서 출발</a:t>
            </a:r>
          </a:p>
        </p:txBody>
      </p:sp>
      <p:sp>
        <p:nvSpPr>
          <p:cNvPr id="6" name="Project 정보를 더 주는 것만으로 반복되는 절차의 유지 문제가 해결되지는 않는다">
            <a:extLst xmlns:a="http://schemas.openxmlformats.org/drawingml/2006/main">
              <a:ext uri="{FF2B5EF4-FFF2-40B4-BE49-F238E27FC236}">
                <a16:creationId xmlns:a16="http://schemas.microsoft.com/office/drawing/2014/main" id="{56C62B08-D130-4263-9C38-A8F61355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Project 정보를 더 주는 것만으로 반복되는 절차의 유지 문제가 해결되지는 않는다</a:t>
            </a:r>
          </a:p>
        </p:txBody>
      </p:sp>
      <p:sp>
        <p:nvSpPr>
          <p:cNvPr id="7" name="무엇이 참인가?">
            <a:extLst xmlns:a="http://schemas.openxmlformats.org/drawingml/2006/main">
              <a:ext uri="{FF2B5EF4-FFF2-40B4-BE49-F238E27FC236}">
                <a16:creationId xmlns:a16="http://schemas.microsoft.com/office/drawing/2014/main" id="{C40F448B-B378-4D0C-8B82-2C84E5CF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무엇이 참인가?</a:t>
            </a:r>
          </a:p>
        </p:txBody>
      </p:sp>
      <p:sp>
        <p:nvSpPr>
          <p:cNvPr id="8" name="어떤 순서로 일할까?">
            <a:extLst xmlns:a="http://schemas.openxmlformats.org/drawingml/2006/main">
              <a:ext uri="{FF2B5EF4-FFF2-40B4-BE49-F238E27FC236}">
                <a16:creationId xmlns:a16="http://schemas.microsoft.com/office/drawing/2014/main" id="{C885EE28-12D9-4385-9887-9C773135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1932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어떤 순서로 일할까?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A7CC7A-FDF5-4367-80BC-85EE3391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C5E055-58B6-4879-BC49-2EBE21EC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47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crop은 끝 열을 제외한다&#10;[x_start, x_end)">
            <a:extLst xmlns:a="http://schemas.openxmlformats.org/drawingml/2006/main">
              <a:ext uri="{FF2B5EF4-FFF2-40B4-BE49-F238E27FC236}">
                <a16:creationId xmlns:a16="http://schemas.microsoft.com/office/drawing/2014/main" id="{A4688FCC-9A45-4D7F-B09B-74E7C641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28975"/>
            <a:ext cx="4953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crop은 끝 열을 제외한다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[x_start, x_end)</a:t>
            </a:r>
          </a:p>
        </p:txBody>
      </p:sp>
      <p:sp>
        <p:nvSpPr>
          <p:cNvPr id="12" name="변경 전에 측정한다&#10;변경 후 같은 입력으로 비교한다">
            <a:extLst xmlns:a="http://schemas.openxmlformats.org/drawingml/2006/main">
              <a:ext uri="{FF2B5EF4-FFF2-40B4-BE49-F238E27FC236}">
                <a16:creationId xmlns:a16="http://schemas.microsoft.com/office/drawing/2014/main" id="{F6E8365F-1AB7-47BF-A5B8-21688320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28975"/>
            <a:ext cx="48768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전에 측정한다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후 같은 입력으로 비교한다</a:t>
            </a:r>
          </a:p>
        </p:txBody>
      </p:sp>
      <p:sp>
        <p:nvSpPr>
          <p:cNvPr id="13" name="Project Context">
            <a:extLst xmlns:a="http://schemas.openxmlformats.org/drawingml/2006/main">
              <a:ext uri="{FF2B5EF4-FFF2-40B4-BE49-F238E27FC236}">
                <a16:creationId xmlns:a16="http://schemas.microsoft.com/office/drawing/2014/main" id="{BD7EC139-9F2F-418C-963E-09DA45FF9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Project Context</a:t>
            </a:r>
          </a:p>
        </p:txBody>
      </p:sp>
      <p:sp>
        <p:nvSpPr>
          <p:cNvPr id="14" name="Workflow">
            <a:extLst xmlns:a="http://schemas.openxmlformats.org/drawingml/2006/main">
              <a:ext uri="{FF2B5EF4-FFF2-40B4-BE49-F238E27FC236}">
                <a16:creationId xmlns:a16="http://schemas.microsoft.com/office/drawing/2014/main" id="{95236DB0-7CB8-40BF-A751-400A389F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33900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15" name="이번에 무엇을 원하는가?  →  현재 목표는 Task Prompt에">
            <a:extLst xmlns:a="http://schemas.openxmlformats.org/drawingml/2006/main">
              <a:ext uri="{FF2B5EF4-FFF2-40B4-BE49-F238E27FC236}">
                <a16:creationId xmlns:a16="http://schemas.microsoft.com/office/drawing/2014/main" id="{CA424905-D335-4C10-B4D6-C274ADF9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이번에 무엇을 원하는가?  →  현재 목표는 Task Prompt에</a:t>
            </a:r>
          </a:p>
        </p:txBody>
      </p:sp>
    </p:spTree>
    <p:extLst>
      <p:ext uri="{BB962C8B-B14F-4D97-AF65-F5344CB8AC3E}">
        <p14:creationId xmlns:p14="http://schemas.microsoft.com/office/powerpoint/2010/main" val="10739245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3 · 세 가지 책임을 나누기">
            <a:extLst xmlns:a="http://schemas.openxmlformats.org/drawingml/2006/main">
              <a:ext uri="{FF2B5EF4-FFF2-40B4-BE49-F238E27FC236}">
                <a16:creationId xmlns:a16="http://schemas.microsoft.com/office/drawing/2014/main" id="{6125F5DE-545D-4ABD-A455-B22CCCB6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세 가지 책임을 나누기</a:t>
            </a:r>
          </a:p>
        </p:txBody>
      </p:sp>
      <p:sp>
        <p:nvSpPr>
          <p:cNvPr id="2" name="S39">
            <a:extLst xmlns:a="http://schemas.openxmlformats.org/drawingml/2006/main">
              <a:ext uri="{FF2B5EF4-FFF2-40B4-BE49-F238E27FC236}">
                <a16:creationId xmlns:a16="http://schemas.microsoft.com/office/drawing/2014/main" id="{53F83A2C-4DB4-4565-87B9-02A30676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S39</a:t>
            </a:r>
          </a:p>
        </p:txBody>
      </p:sp>
      <p:sp>
        <p:nvSpPr>
          <p:cNvPr id="3" name="Task, Context, Workflow의 역할">
            <a:extLst xmlns:a="http://schemas.openxmlformats.org/drawingml/2006/main">
              <a:ext uri="{FF2B5EF4-FFF2-40B4-BE49-F238E27FC236}">
                <a16:creationId xmlns:a16="http://schemas.microsoft.com/office/drawing/2014/main" id="{0D9C393A-F8B7-4913-A39E-45D7D968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Task, Context, Workflow의 역할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6043A1-157F-40DC-9A20-6412F14C5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책임 구분 · 현재 목표 / 프로젝트 사실 / 반복 절차">
            <a:extLst xmlns:a="http://schemas.openxmlformats.org/drawingml/2006/main">
              <a:ext uri="{FF2B5EF4-FFF2-40B4-BE49-F238E27FC236}">
                <a16:creationId xmlns:a16="http://schemas.microsoft.com/office/drawing/2014/main" id="{F65487F8-2319-4B56-841E-60DC6992F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책임 구분 · 현재 목표 / 프로젝트 사실 / 반복 절차</a:t>
            </a:r>
          </a:p>
        </p:txBody>
      </p:sp>
      <p:sp>
        <p:nvSpPr>
          <p:cNvPr id="6" name="Prompt 밖에 둘 수 있는 정보라도 유지해야 할 책임은 서로 다르다">
            <a:extLst xmlns:a="http://schemas.openxmlformats.org/drawingml/2006/main">
              <a:ext uri="{FF2B5EF4-FFF2-40B4-BE49-F238E27FC236}">
                <a16:creationId xmlns:a16="http://schemas.microsoft.com/office/drawing/2014/main" id="{A466B33B-EEAA-4284-A202-0B4A540B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Prompt 밖에 둘 수 있는 정보라도 유지해야 할 책임은 서로 다르다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5C954A-0EC9-4E66-9B75-F0D46475F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Task Prompt">
            <a:extLst xmlns:a="http://schemas.openxmlformats.org/drawingml/2006/main">
              <a:ext uri="{FF2B5EF4-FFF2-40B4-BE49-F238E27FC236}">
                <a16:creationId xmlns:a16="http://schemas.microsoft.com/office/drawing/2014/main" id="{36176130-6B3E-44C9-83BA-878E319B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3086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</p:txBody>
      </p:sp>
      <p:sp>
        <p:nvSpPr>
          <p:cNvPr id="9" name="지금 무엇을 바꿀까?">
            <a:extLst xmlns:a="http://schemas.openxmlformats.org/drawingml/2006/main">
              <a:ext uri="{FF2B5EF4-FFF2-40B4-BE49-F238E27FC236}">
                <a16:creationId xmlns:a16="http://schemas.microsoft.com/office/drawing/2014/main" id="{9340B993-B778-4B9D-B25F-3B36139B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352675"/>
            <a:ext cx="74390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지금 무엇을 바꿀까?</a:t>
            </a:r>
          </a:p>
        </p:txBody>
      </p:sp>
      <p:sp>
        <p:nvSpPr>
          <p:cNvPr id="10" name="normalize의 성능 조사">
            <a:extLst xmlns:a="http://schemas.openxmlformats.org/drawingml/2006/main">
              <a:ext uri="{FF2B5EF4-FFF2-40B4-BE49-F238E27FC236}">
                <a16:creationId xmlns:a16="http://schemas.microsoft.com/office/drawing/2014/main" id="{CA34AE2F-7271-4E43-A1DD-19DC3B4D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819400"/>
            <a:ext cx="74390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normalize의 성능 조사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B8F1DA-E3FC-4644-847E-A7540C869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Project Context">
            <a:extLst xmlns:a="http://schemas.openxmlformats.org/drawingml/2006/main">
              <a:ext uri="{FF2B5EF4-FFF2-40B4-BE49-F238E27FC236}">
                <a16:creationId xmlns:a16="http://schemas.microsoft.com/office/drawing/2014/main" id="{00B87C1D-71F6-46C1-9605-588F3CAA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3086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Project Context</a:t>
            </a:r>
          </a:p>
        </p:txBody>
      </p:sp>
      <p:sp>
        <p:nvSpPr>
          <p:cNvPr id="13" name="무엇을 지켜야 할까?">
            <a:extLst xmlns:a="http://schemas.openxmlformats.org/drawingml/2006/main">
              <a:ext uri="{FF2B5EF4-FFF2-40B4-BE49-F238E27FC236}">
                <a16:creationId xmlns:a16="http://schemas.microsoft.com/office/drawing/2014/main" id="{36317143-EFB1-4DD1-9400-66FE1D91A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457575"/>
            <a:ext cx="74390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지켜야 할까?</a:t>
            </a:r>
          </a:p>
        </p:txBody>
      </p:sp>
      <p:sp>
        <p:nvSpPr>
          <p:cNvPr id="14" name="기존 이미지 동작과 공개 계약 보존">
            <a:extLst xmlns:a="http://schemas.openxmlformats.org/drawingml/2006/main">
              <a:ext uri="{FF2B5EF4-FFF2-40B4-BE49-F238E27FC236}">
                <a16:creationId xmlns:a16="http://schemas.microsoft.com/office/drawing/2014/main" id="{683C5628-A0D0-4496-8030-7CD01149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924300"/>
            <a:ext cx="74390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이미지 동작과 공개 계약 보존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D2EAC5-2EAF-4179-8B8B-ED5F448F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Reusable Workflow">
            <a:extLst xmlns:a="http://schemas.openxmlformats.org/drawingml/2006/main">
              <a:ext uri="{FF2B5EF4-FFF2-40B4-BE49-F238E27FC236}">
                <a16:creationId xmlns:a16="http://schemas.microsoft.com/office/drawing/2014/main" id="{46D4394C-F64F-4890-9A59-82EC3E2C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3086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Reusable Workflow</a:t>
            </a:r>
          </a:p>
        </p:txBody>
      </p:sp>
      <p:sp>
        <p:nvSpPr>
          <p:cNvPr id="17" name="어떤 순서로 확인할까?">
            <a:extLst xmlns:a="http://schemas.openxmlformats.org/drawingml/2006/main">
              <a:ext uri="{FF2B5EF4-FFF2-40B4-BE49-F238E27FC236}">
                <a16:creationId xmlns:a16="http://schemas.microsoft.com/office/drawing/2014/main" id="{F4C5D048-B0B8-41E5-9578-467ECCF1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562475"/>
            <a:ext cx="74390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순서로 확인할까?</a:t>
            </a:r>
          </a:p>
        </p:txBody>
      </p:sp>
      <p:sp>
        <p:nvSpPr>
          <p:cNvPr id="18" name="baseline → 조사 → 검증 → 비교">
            <a:extLst xmlns:a="http://schemas.openxmlformats.org/drawingml/2006/main">
              <a:ext uri="{FF2B5EF4-FFF2-40B4-BE49-F238E27FC236}">
                <a16:creationId xmlns:a16="http://schemas.microsoft.com/office/drawing/2014/main" id="{34DCEBCC-FD96-44B9-AB14-BBDDBF00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029200"/>
            <a:ext cx="74390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baseline → 조사 → 검증 → 비교</a:t>
            </a:r>
          </a:p>
        </p:txBody>
      </p:sp>
    </p:spTree>
    <p:extLst>
      <p:ext uri="{BB962C8B-B14F-4D97-AF65-F5344CB8AC3E}">
        <p14:creationId xmlns:p14="http://schemas.microsoft.com/office/powerpoint/2010/main" val="21264642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3 · 재사용할 구조를 선택하기">
            <a:extLst xmlns:a="http://schemas.openxmlformats.org/drawingml/2006/main">
              <a:ext uri="{FF2B5EF4-FFF2-40B4-BE49-F238E27FC236}">
                <a16:creationId xmlns:a16="http://schemas.microsoft.com/office/drawing/2014/main" id="{4E268DF8-A284-42A1-BE82-BA1A29808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재사용할 구조를 선택하기</a:t>
            </a:r>
          </a:p>
        </p:txBody>
      </p:sp>
      <p:sp>
        <p:nvSpPr>
          <p:cNvPr id="2" name="S40">
            <a:extLst xmlns:a="http://schemas.openxmlformats.org/drawingml/2006/main">
              <a:ext uri="{FF2B5EF4-FFF2-40B4-BE49-F238E27FC236}">
                <a16:creationId xmlns:a16="http://schemas.microsoft.com/office/drawing/2014/main" id="{81D07243-F432-44BF-A379-DE05DF9B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S40</a:t>
            </a:r>
          </a:p>
        </p:txBody>
      </p:sp>
      <p:sp>
        <p:nvSpPr>
          <p:cNvPr id="3" name="반복 절차를 Skill로 옮길 수 있을까?">
            <a:extLst xmlns:a="http://schemas.openxmlformats.org/drawingml/2006/main">
              <a:ext uri="{FF2B5EF4-FFF2-40B4-BE49-F238E27FC236}">
                <a16:creationId xmlns:a16="http://schemas.microsoft.com/office/drawing/2014/main" id="{AA9C7790-7198-478A-8831-5C02EAC93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 절차를 Skill로 옮길 수 있을까?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C37694-6820-4E6F-8EF7-621E05C9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17 · 반복 절차를 Repository Skill로 옮기는 설계 후보">
            <a:extLst xmlns:a="http://schemas.openxmlformats.org/drawingml/2006/main">
              <a:ext uri="{FF2B5EF4-FFF2-40B4-BE49-F238E27FC236}">
                <a16:creationId xmlns:a16="http://schemas.microsoft.com/office/drawing/2014/main" id="{815D0DBC-8520-45E5-8E2A-B878A627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DEC-0017 · 반복 절차를 Repository Skill로 옮기는 설계 후보</a:t>
            </a:r>
          </a:p>
        </p:txBody>
      </p:sp>
      <p:sp>
        <p:nvSpPr>
          <p:cNvPr id="6" name="아직 성공 결과를 제시하는 장이 아님 · 대상 제품·계정·호출 방식은 별도 확인 필요">
            <a:extLst xmlns:a="http://schemas.openxmlformats.org/drawingml/2006/main">
              <a:ext uri="{FF2B5EF4-FFF2-40B4-BE49-F238E27FC236}">
                <a16:creationId xmlns:a16="http://schemas.microsoft.com/office/drawing/2014/main" id="{AA74EE4F-667A-4652-9AC0-CA8C59C5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아직 성공 결과를 제시하는 장이 아님 · 대상 제품·계정·호출 방식은 별도 확인 필요</a:t>
            </a:r>
          </a:p>
        </p:txBody>
      </p:sp>
      <p:sp>
        <p:nvSpPr>
          <p:cNvPr id="7" name="매번 Prompt에 쓰기">
            <a:extLst xmlns:a="http://schemas.openxmlformats.org/drawingml/2006/main">
              <a:ext uri="{FF2B5EF4-FFF2-40B4-BE49-F238E27FC236}">
                <a16:creationId xmlns:a16="http://schemas.microsoft.com/office/drawing/2014/main" id="{99528BA7-C67F-4417-9667-525D86B9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매번 Prompt에 쓰기</a:t>
            </a:r>
          </a:p>
        </p:txBody>
      </p:sp>
      <p:sp>
        <p:nvSpPr>
          <p:cNvPr id="8" name="후보: 절차는 Repository에">
            <a:extLst xmlns:a="http://schemas.openxmlformats.org/drawingml/2006/main">
              <a:ext uri="{FF2B5EF4-FFF2-40B4-BE49-F238E27FC236}">
                <a16:creationId xmlns:a16="http://schemas.microsoft.com/office/drawing/2014/main" id="{DF93E50B-A8AE-4BBF-BB61-0753F626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002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후보: 절차는 Repository에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F9CE9A-7744-49AA-84CB-819150DFF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91B83A-A0E7-4471-99CD-852A5B77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098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현재 목표 + 이번 제약">
            <a:extLst xmlns:a="http://schemas.openxmlformats.org/drawingml/2006/main">
              <a:ext uri="{FF2B5EF4-FFF2-40B4-BE49-F238E27FC236}">
                <a16:creationId xmlns:a16="http://schemas.microsoft.com/office/drawing/2014/main" id="{CCA13181-4C40-45AC-A4C8-35F854FA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목표 + 이번 제약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EAFACA-6D8F-48FE-B462-E9A217FE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49530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aseline → 조사 → 변경&#10;테스트 → 측정 → 비교 → 검토">
            <a:extLst xmlns:a="http://schemas.openxmlformats.org/drawingml/2006/main">
              <a:ext uri="{FF2B5EF4-FFF2-40B4-BE49-F238E27FC236}">
                <a16:creationId xmlns:a16="http://schemas.microsoft.com/office/drawing/2014/main" id="{22CC21EB-D1EB-4179-9CBC-6BBF9991B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0"/>
            <a:ext cx="457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baseline → 조사 → 변경</a:t>
            </a:r>
          </a:p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→ 측정 → 비교 → 검토</a:t>
            </a:r>
          </a:p>
        </p:txBody>
      </p:sp>
      <p:sp>
        <p:nvSpPr>
          <p:cNvPr id="14" name="현재 목표 + 이번 제약">
            <a:extLst xmlns:a="http://schemas.openxmlformats.org/drawingml/2006/main">
              <a:ext uri="{FF2B5EF4-FFF2-40B4-BE49-F238E27FC236}">
                <a16:creationId xmlns:a16="http://schemas.microsoft.com/office/drawing/2014/main" id="{A9C7CB4D-A735-4ED1-B3A7-9958D097C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목표 + 이번 제약</a:t>
            </a:r>
          </a:p>
        </p:txBody>
      </p:sp>
      <p:sp>
        <p:nvSpPr>
          <p:cNvPr id="15" name="$graypipe-performance">
            <a:extLst xmlns:a="http://schemas.openxmlformats.org/drawingml/2006/main">
              <a:ext uri="{FF2B5EF4-FFF2-40B4-BE49-F238E27FC236}">
                <a16:creationId xmlns:a16="http://schemas.microsoft.com/office/drawing/2014/main" id="{228E67EF-42AD-4791-A0A0-F042FE90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71900"/>
            <a:ext cx="4876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3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$graypipe-performance</a:t>
            </a:r>
          </a:p>
        </p:txBody>
      </p:sp>
      <p:sp>
        <p:nvSpPr>
          <p:cNvPr id="16" name="반복 절차는 Repository Skill에">
            <a:extLst xmlns:a="http://schemas.openxmlformats.org/drawingml/2006/main">
              <a:ext uri="{FF2B5EF4-FFF2-40B4-BE49-F238E27FC236}">
                <a16:creationId xmlns:a16="http://schemas.microsoft.com/office/drawing/2014/main" id="{B95F5F18-0764-400D-AD91-06195636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91025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반복 절차는 Repository Skill에</a:t>
            </a:r>
          </a:p>
        </p:txBody>
      </p:sp>
      <p:sp>
        <p:nvSpPr>
          <p:cNvPr id="17" name="긴 절차를 빼도, 같은 작업 흐름을 유지할 수 있을까?">
            <a:extLst xmlns:a="http://schemas.openxmlformats.org/drawingml/2006/main">
              <a:ext uri="{FF2B5EF4-FFF2-40B4-BE49-F238E27FC236}">
                <a16:creationId xmlns:a16="http://schemas.microsoft.com/office/drawing/2014/main" id="{22C8488A-D9EE-42C7-BB49-129C209C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긴 절차를 빼도, 같은 작업 흐름을 유지할 수 있을까?</a:t>
            </a:r>
          </a:p>
        </p:txBody>
      </p:sp>
    </p:spTree>
    <p:extLst>
      <p:ext uri="{BB962C8B-B14F-4D97-AF65-F5344CB8AC3E}">
        <p14:creationId xmlns:p14="http://schemas.microsoft.com/office/powerpoint/2010/main" val="5598991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3 · TRIAL-008에서 확인한 경로">
            <a:extLst xmlns:a="http://schemas.openxmlformats.org/drawingml/2006/main">
              <a:ext uri="{FF2B5EF4-FFF2-40B4-BE49-F238E27FC236}">
                <a16:creationId xmlns:a16="http://schemas.microsoft.com/office/drawing/2014/main" id="{041E858E-C3A9-4D24-AE61-D25363E8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TRIAL-008에서 확인한 경로</a:t>
            </a:r>
          </a:p>
        </p:txBody>
      </p:sp>
      <p:sp>
        <p:nvSpPr>
          <p:cNvPr id="2" name="S41">
            <a:extLst xmlns:a="http://schemas.openxmlformats.org/drawingml/2006/main">
              <a:ext uri="{FF2B5EF4-FFF2-40B4-BE49-F238E27FC236}">
                <a16:creationId xmlns:a16="http://schemas.microsoft.com/office/drawing/2014/main" id="{4BC0E36E-3695-4FE3-A0E0-0DBB43A59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S41</a:t>
            </a:r>
          </a:p>
        </p:txBody>
      </p:sp>
      <p:sp>
        <p:nvSpPr>
          <p:cNvPr id="3" name="Skill을 어떻게 발견하고 호출할까?">
            <a:extLst xmlns:a="http://schemas.openxmlformats.org/drawingml/2006/main">
              <a:ext uri="{FF2B5EF4-FFF2-40B4-BE49-F238E27FC236}">
                <a16:creationId xmlns:a16="http://schemas.microsoft.com/office/drawing/2014/main" id="{3673CF56-4923-4A3B-9916-AACC0EA0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Skill을 어떻게 발견하고 호출할까?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13978A-D8C4-43F3-9BCA-DA05E5D75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8 · Codex CLI 0.154.0 · 기록 재구성, 실제 UI 캡처 아님">
            <a:extLst xmlns:a="http://schemas.openxmlformats.org/drawingml/2006/main">
              <a:ext uri="{FF2B5EF4-FFF2-40B4-BE49-F238E27FC236}">
                <a16:creationId xmlns:a16="http://schemas.microsoft.com/office/drawing/2014/main" id="{804217A1-7762-48D2-B224-6D6AA26F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TRIAL-008 · Codex CLI 0.154.0 · 기록 재구성, 실제 UI 캡처 아님</a:t>
            </a:r>
          </a:p>
        </p:txBody>
      </p:sp>
      <p:sp>
        <p:nvSpPr>
          <p:cNvPr id="6" name="경로·본문은 실행 trace에서 확인 · 현재 Desktop·암묵적 호출·교육 계정은 미검증">
            <a:extLst xmlns:a="http://schemas.openxmlformats.org/drawingml/2006/main">
              <a:ext uri="{FF2B5EF4-FFF2-40B4-BE49-F238E27FC236}">
                <a16:creationId xmlns:a16="http://schemas.microsoft.com/office/drawing/2014/main" id="{3B64C541-4BA4-4609-AE07-741B9A732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경로·본문은 실행 trace에서 확인 · 현재 Desktop·암묵적 호출·교육 계정은 미검증</a:t>
            </a:r>
          </a:p>
        </p:txBody>
      </p:sp>
      <p:sp>
        <p:nvSpPr>
          <p:cNvPr id="7" name="01  목록에서 발견">
            <a:extLst xmlns:a="http://schemas.openxmlformats.org/drawingml/2006/main">
              <a:ext uri="{FF2B5EF4-FFF2-40B4-BE49-F238E27FC236}">
                <a16:creationId xmlns:a16="http://schemas.microsoft.com/office/drawing/2014/main" id="{A9D30C9E-195C-4A26-9928-7C7EB284D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  목록에서 발견</a:t>
            </a:r>
          </a:p>
        </p:txBody>
      </p:sp>
      <p:sp>
        <p:nvSpPr>
          <p:cNvPr id="8" name="/skills  →  graypipe-performance">
            <a:extLst xmlns:a="http://schemas.openxmlformats.org/drawingml/2006/main">
              <a:ext uri="{FF2B5EF4-FFF2-40B4-BE49-F238E27FC236}">
                <a16:creationId xmlns:a16="http://schemas.microsoft.com/office/drawing/2014/main" id="{4DE0764B-FDA3-418A-B887-460B2351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32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/skills  →  graypipe-performance</a:t>
            </a:r>
          </a:p>
        </p:txBody>
      </p:sp>
      <p:sp>
        <p:nvSpPr>
          <p:cNvPr id="9" name="표시된 설명: “Investigate repository performance with reproduc…”">
            <a:extLst xmlns:a="http://schemas.openxmlformats.org/drawingml/2006/main">
              <a:ext uri="{FF2B5EF4-FFF2-40B4-BE49-F238E27FC236}">
                <a16:creationId xmlns:a16="http://schemas.microsoft.com/office/drawing/2014/main" id="{CD8DC4AB-1B00-432F-8CDC-4AB637B4F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0972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표시된 설명: “Investigate repository performance with reproduc…”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B65F65-D9B9-41A2-8BBA-FA90C0CA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02  작업 목표와 함께 명시적으로 호출">
            <a:extLst xmlns:a="http://schemas.openxmlformats.org/drawingml/2006/main">
              <a:ext uri="{FF2B5EF4-FFF2-40B4-BE49-F238E27FC236}">
                <a16:creationId xmlns:a16="http://schemas.microsoft.com/office/drawing/2014/main" id="{F703462D-1FE1-49B4-83FB-108A40B7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  작업 목표와 함께 명시적으로 호출</a:t>
            </a:r>
          </a:p>
        </p:txBody>
      </p:sp>
      <p:sp>
        <p:nvSpPr>
          <p:cNvPr id="12" name="$graypipe-performance">
            <a:extLst xmlns:a="http://schemas.openxmlformats.org/drawingml/2006/main">
              <a:ext uri="{FF2B5EF4-FFF2-40B4-BE49-F238E27FC236}">
                <a16:creationId xmlns:a16="http://schemas.microsoft.com/office/drawing/2014/main" id="{A4039A9B-3DE0-4A5E-87A8-21C841ACB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5667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7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$graypipe-performance</a:t>
            </a:r>
          </a:p>
        </p:txBody>
      </p:sp>
      <p:sp>
        <p:nvSpPr>
          <p:cNvPr id="13" name="+ image_statistics 성능 조사">
            <a:extLst xmlns:a="http://schemas.openxmlformats.org/drawingml/2006/main">
              <a:ext uri="{FF2B5EF4-FFF2-40B4-BE49-F238E27FC236}">
                <a16:creationId xmlns:a16="http://schemas.microsoft.com/office/drawing/2014/main" id="{230592F6-9D27-460B-B3B6-5A6832E04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38625"/>
            <a:ext cx="5372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+ image_statistics 성능 조사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56A714-D81C-450A-BD44-44F89B4D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03  실행 기록에서 Skill 본문 포함을 확인">
            <a:extLst xmlns:a="http://schemas.openxmlformats.org/drawingml/2006/main">
              <a:ext uri="{FF2B5EF4-FFF2-40B4-BE49-F238E27FC236}">
                <a16:creationId xmlns:a16="http://schemas.microsoft.com/office/drawing/2014/main" id="{00F9AA19-0EA4-4744-BE3C-713C6CD8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  실행 기록에서 Skill 본문 포함을 확인</a:t>
            </a:r>
          </a:p>
        </p:txBody>
      </p:sp>
    </p:spTree>
    <p:extLst>
      <p:ext uri="{BB962C8B-B14F-4D97-AF65-F5344CB8AC3E}">
        <p14:creationId xmlns:p14="http://schemas.microsoft.com/office/powerpoint/2010/main" val="15158935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3 · 두 Trial의 요청 구조 비교">
            <a:extLst xmlns:a="http://schemas.openxmlformats.org/drawingml/2006/main">
              <a:ext uri="{FF2B5EF4-FFF2-40B4-BE49-F238E27FC236}">
                <a16:creationId xmlns:a16="http://schemas.microsoft.com/office/drawing/2014/main" id="{AF2CEC6F-E012-4806-B3A6-6D4192BA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두 Trial의 요청 구조 비교</a:t>
            </a:r>
          </a:p>
        </p:txBody>
      </p:sp>
      <p:sp>
        <p:nvSpPr>
          <p:cNvPr id="2" name="S42">
            <a:extLst xmlns:a="http://schemas.openxmlformats.org/drawingml/2006/main">
              <a:ext uri="{FF2B5EF4-FFF2-40B4-BE49-F238E27FC236}">
                <a16:creationId xmlns:a16="http://schemas.microsoft.com/office/drawing/2014/main" id="{F8506186-227F-456E-A6A4-9F3B95552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S42</a:t>
            </a:r>
          </a:p>
        </p:txBody>
      </p:sp>
      <p:sp>
        <p:nvSpPr>
          <p:cNvPr id="3" name="절차의 책임이 Prompt에서&#10;Repository로 이동">
            <a:extLst xmlns:a="http://schemas.openxmlformats.org/drawingml/2006/main">
              <a:ext uri="{FF2B5EF4-FFF2-40B4-BE49-F238E27FC236}">
                <a16:creationId xmlns:a16="http://schemas.microsoft.com/office/drawing/2014/main" id="{4E370EC1-C1BD-4D9F-8AB6-64729E93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절차의 책임이 Prompt에서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Repository로 이동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B518AC-CD2E-4B35-AB79-A5AD06BF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7 / TRIAL-008 · 서로 다른 Task의 Prompt 구조를 요약">
            <a:extLst xmlns:a="http://schemas.openxmlformats.org/drawingml/2006/main">
              <a:ext uri="{FF2B5EF4-FFF2-40B4-BE49-F238E27FC236}">
                <a16:creationId xmlns:a16="http://schemas.microsoft.com/office/drawing/2014/main" id="{43D34B95-4627-46A4-8226-E66AA77D7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TRIAL-007 / TRIAL-008 · 서로 다른 Task의 Prompt 구조를 요약</a:t>
            </a:r>
          </a:p>
        </p:txBody>
      </p:sp>
      <p:sp>
        <p:nvSpPr>
          <p:cNvPr id="6" name="절차를 둔 위치의 변화만 관찰 · Skill 우월성·토큰 절감·속도 향상은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F554AD75-0887-4EBC-96E5-FEFDD191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절차를 둔 위치의 변화만 관찰 · Skill 우월성·토큰 절감·속도 향상은 입증하지 않음</a:t>
            </a:r>
          </a:p>
        </p:txBody>
      </p:sp>
      <p:sp>
        <p:nvSpPr>
          <p:cNvPr id="7" name="TRIAL-007 · normalize">
            <a:extLst xmlns:a="http://schemas.openxmlformats.org/drawingml/2006/main">
              <a:ext uri="{FF2B5EF4-FFF2-40B4-BE49-F238E27FC236}">
                <a16:creationId xmlns:a16="http://schemas.microsoft.com/office/drawing/2014/main" id="{EF04456F-EBF3-450E-AB47-D7DEBC96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4953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TRIAL-007 · normalize</a:t>
            </a:r>
          </a:p>
        </p:txBody>
      </p:sp>
      <p:sp>
        <p:nvSpPr>
          <p:cNvPr id="8" name="TRIAL-008 · image_statistics">
            <a:extLst xmlns:a="http://schemas.openxmlformats.org/drawingml/2006/main">
              <a:ext uri="{FF2B5EF4-FFF2-40B4-BE49-F238E27FC236}">
                <a16:creationId xmlns:a16="http://schemas.microsoft.com/office/drawing/2014/main" id="{15D33ABB-C961-4944-BA7D-16B72AF4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09800"/>
            <a:ext cx="4876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TRIAL-008 · image_statistics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FEC443-4408-4820-A5D4-A6BC9F975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379A26-BFCA-4EAF-B044-948B930C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목표 + 작업별 제약">
            <a:extLst xmlns:a="http://schemas.openxmlformats.org/drawingml/2006/main">
              <a:ext uri="{FF2B5EF4-FFF2-40B4-BE49-F238E27FC236}">
                <a16:creationId xmlns:a16="http://schemas.microsoft.com/office/drawing/2014/main" id="{97A75A7E-A0F9-4963-B9F8-73F45264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4953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 + 작업별 제약</a:t>
            </a:r>
          </a:p>
        </p:txBody>
      </p:sp>
      <p:sp>
        <p:nvSpPr>
          <p:cNvPr id="12" name="목표 + 작업별 제약">
            <a:extLst xmlns:a="http://schemas.openxmlformats.org/drawingml/2006/main">
              <a:ext uri="{FF2B5EF4-FFF2-40B4-BE49-F238E27FC236}">
                <a16:creationId xmlns:a16="http://schemas.microsoft.com/office/drawing/2014/main" id="{72CAE563-7BCD-4AD5-8F28-81674E56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90850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 + 작업별 제약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2686C4-215F-441E-9AD8-6BE68BED2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495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긴 조사·검증 절차를&#10;Prompt에 다시 작성">
            <a:extLst xmlns:a="http://schemas.openxmlformats.org/drawingml/2006/main">
              <a:ext uri="{FF2B5EF4-FFF2-40B4-BE49-F238E27FC236}">
                <a16:creationId xmlns:a16="http://schemas.microsoft.com/office/drawing/2014/main" id="{84276CFB-D276-4814-B98E-00343C629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71900"/>
            <a:ext cx="4533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긴 조사·검증 절차를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Prompt에 다시 작성</a:t>
            </a:r>
          </a:p>
        </p:txBody>
      </p:sp>
      <p:sp>
        <p:nvSpPr>
          <p:cNvPr id="15" name="$graypipe-performance">
            <a:extLst xmlns:a="http://schemas.openxmlformats.org/drawingml/2006/main">
              <a:ext uri="{FF2B5EF4-FFF2-40B4-BE49-F238E27FC236}">
                <a16:creationId xmlns:a16="http://schemas.microsoft.com/office/drawing/2014/main" id="{608E3D34-A171-483D-A204-7362848E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24275"/>
            <a:ext cx="487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3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$graypipe-performance</a:t>
            </a:r>
          </a:p>
        </p:txBody>
      </p:sp>
      <p:sp>
        <p:nvSpPr>
          <p:cNvPr id="16" name="절차는 Repository Skill에">
            <a:extLst xmlns:a="http://schemas.openxmlformats.org/drawingml/2006/main">
              <a:ext uri="{FF2B5EF4-FFF2-40B4-BE49-F238E27FC236}">
                <a16:creationId xmlns:a16="http://schemas.microsoft.com/office/drawing/2014/main" id="{6A10F5EC-0A72-4402-90C1-DAE15976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86250"/>
            <a:ext cx="4876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절차는 Repository Skill에</a:t>
            </a:r>
          </a:p>
        </p:txBody>
      </p:sp>
      <p:sp>
        <p:nvSpPr>
          <p:cNvPr id="17" name="공통 흐름: baseline → 조사 → test / benchmark → 비교 / review">
            <a:extLst xmlns:a="http://schemas.openxmlformats.org/drawingml/2006/main">
              <a:ext uri="{FF2B5EF4-FFF2-40B4-BE49-F238E27FC236}">
                <a16:creationId xmlns:a16="http://schemas.microsoft.com/office/drawing/2014/main" id="{E506E719-DDF1-4F7E-87E5-F7A1C3607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공통 흐름: baseline → 조사 → test / benchmark → 비교 / review</a:t>
            </a:r>
          </a:p>
        </p:txBody>
      </p:sp>
    </p:spTree>
    <p:extLst>
      <p:ext uri="{BB962C8B-B14F-4D97-AF65-F5344CB8AC3E}">
        <p14:creationId xmlns:p14="http://schemas.microsoft.com/office/powerpoint/2010/main" val="901839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3 · 절차와 과제별 판단">
            <a:extLst xmlns:a="http://schemas.openxmlformats.org/drawingml/2006/main">
              <a:ext uri="{FF2B5EF4-FFF2-40B4-BE49-F238E27FC236}">
                <a16:creationId xmlns:a16="http://schemas.microsoft.com/office/drawing/2014/main" id="{13B0008C-A37C-4BCA-A652-349412DF1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절차와 과제별 판단</a:t>
            </a:r>
          </a:p>
        </p:txBody>
      </p:sp>
      <p:sp>
        <p:nvSpPr>
          <p:cNvPr id="2" name="S43">
            <a:extLst xmlns:a="http://schemas.openxmlformats.org/drawingml/2006/main">
              <a:ext uri="{FF2B5EF4-FFF2-40B4-BE49-F238E27FC236}">
                <a16:creationId xmlns:a16="http://schemas.microsoft.com/office/drawing/2014/main" id="{3E0332E3-2615-4403-A039-74DC52DB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S43</a:t>
            </a:r>
          </a:p>
        </p:txBody>
      </p:sp>
      <p:sp>
        <p:nvSpPr>
          <p:cNvPr id="3" name="답을 담지 않는 Workflow">
            <a:extLst xmlns:a="http://schemas.openxmlformats.org/drawingml/2006/main">
              <a:ext uri="{FF2B5EF4-FFF2-40B4-BE49-F238E27FC236}">
                <a16:creationId xmlns:a16="http://schemas.microsoft.com/office/drawing/2014/main" id="{3DA161FC-3693-4341-84DF-298EECE2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담지 않는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9B4F8E-F799-4084-BA39-F652C0714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의 SKILL.md 원문 일부 + 교육용 책임 구분">
            <a:extLst xmlns:a="http://schemas.openxmlformats.org/drawingml/2006/main">
              <a:ext uri="{FF2B5EF4-FFF2-40B4-BE49-F238E27FC236}">
                <a16:creationId xmlns:a16="http://schemas.microsoft.com/office/drawing/2014/main" id="{4FF80B5D-1C5A-422F-9AC1-9D4B4CA1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STATE-04의 SKILL.md 원문 일부 + 교육용 책임 구분</a:t>
            </a:r>
          </a:p>
        </p:txBody>
      </p:sp>
      <p:sp>
        <p:nvSpPr>
          <p:cNvPr id="6" name="특정 최적화 답·알고리즘·Trial 수치를 Skill의 정답으로 넣지 않았다">
            <a:extLst xmlns:a="http://schemas.openxmlformats.org/drawingml/2006/main">
              <a:ext uri="{FF2B5EF4-FFF2-40B4-BE49-F238E27FC236}">
                <a16:creationId xmlns:a16="http://schemas.microsoft.com/office/drawing/2014/main" id="{4D5C8B8C-8B1E-4376-B816-32E9DD7B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특정 최적화 답·알고리즘·Trial 수치를 Skill의 정답으로 넣지 않았다</a:t>
            </a:r>
          </a:p>
        </p:txBody>
      </p:sp>
      <p:sp>
        <p:nvSpPr>
          <p:cNvPr id="7" name="Skill에 실제로 담긴 지시">
            <a:extLst xmlns:a="http://schemas.openxmlformats.org/drawingml/2006/main">
              <a:ext uri="{FF2B5EF4-FFF2-40B4-BE49-F238E27FC236}">
                <a16:creationId xmlns:a16="http://schemas.microsoft.com/office/drawing/2014/main" id="{1AA5BA25-50AB-4BA2-B68A-775470B5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Skill에 실제로 담긴 지시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158BC1-DCA3-41A7-AA9C-8AD6F53F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109728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“Establish a reproducible baseline before editing.”">
            <a:extLst xmlns:a="http://schemas.openxmlformats.org/drawingml/2006/main">
              <a:ext uri="{FF2B5EF4-FFF2-40B4-BE49-F238E27FC236}">
                <a16:creationId xmlns:a16="http://schemas.microsoft.com/office/drawing/2014/main" id="{51331DC2-1223-42ED-AC5F-A85E416D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62275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“Establish a reproducible baseline before editing.”</a:t>
            </a:r>
          </a:p>
        </p:txBody>
      </p:sp>
      <p:sp>
        <p:nvSpPr>
          <p:cNvPr id="10" name="“A measured result that does not justify a change is a&#10;valid">
            <a:extLst xmlns:a="http://schemas.openxmlformats.org/drawingml/2006/main">
              <a:ext uri="{FF2B5EF4-FFF2-40B4-BE49-F238E27FC236}">
                <a16:creationId xmlns:a16="http://schemas.microsoft.com/office/drawing/2014/main" id="{DCDA1E22-3DA0-4D44-9381-0C68E919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95675"/>
            <a:ext cx="105156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“A measured result that does not justify a change is a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valid no-change conclusion.”</a:t>
            </a:r>
          </a:p>
        </p:txBody>
      </p:sp>
      <p:sp>
        <p:nvSpPr>
          <p:cNvPr id="11" name="작업마다 판단할 것">
            <a:extLst xmlns:a="http://schemas.openxmlformats.org/drawingml/2006/main">
              <a:ext uri="{FF2B5EF4-FFF2-40B4-BE49-F238E27FC236}">
                <a16:creationId xmlns:a16="http://schemas.microsoft.com/office/drawing/2014/main" id="{A1B4C5F7-EBD5-4AF2-B4CC-DB1120DE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작업마다 판단할 것</a:t>
            </a:r>
          </a:p>
        </p:txBody>
      </p:sp>
      <p:sp>
        <p:nvSpPr>
          <p:cNvPr id="12" name="어떤 알고리즘?   ·   실제 측정값?   ·   감수할 trade-off?">
            <a:extLst xmlns:a="http://schemas.openxmlformats.org/drawingml/2006/main">
              <a:ext uri="{FF2B5EF4-FFF2-40B4-BE49-F238E27FC236}">
                <a16:creationId xmlns:a16="http://schemas.microsoft.com/office/drawing/2014/main" id="{4F049693-DDC1-478D-B118-DCA7545A7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629150"/>
            <a:ext cx="802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알고리즘?   ·   실제 측정값?   ·   감수할 trade-off?</a:t>
            </a:r>
          </a:p>
        </p:txBody>
      </p:sp>
      <p:sp>
        <p:nvSpPr>
          <p:cNvPr id="13" name="절차는 재사용하고, 답은 이번 근거로 결정한다">
            <a:extLst xmlns:a="http://schemas.openxmlformats.org/drawingml/2006/main">
              <a:ext uri="{FF2B5EF4-FFF2-40B4-BE49-F238E27FC236}">
                <a16:creationId xmlns:a16="http://schemas.microsoft.com/office/drawing/2014/main" id="{334971F0-E6ED-403A-B5AB-F01573FD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절차는 재사용하고, 답은 이번 근거로 결정한다</a:t>
            </a:r>
          </a:p>
        </p:txBody>
      </p:sp>
    </p:spTree>
    <p:extLst>
      <p:ext uri="{BB962C8B-B14F-4D97-AF65-F5344CB8AC3E}">
        <p14:creationId xmlns:p14="http://schemas.microsoft.com/office/powerpoint/2010/main" val="14448030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3 · 시간과 메모리를 함께 비교">
            <a:extLst xmlns:a="http://schemas.openxmlformats.org/drawingml/2006/main">
              <a:ext uri="{FF2B5EF4-FFF2-40B4-BE49-F238E27FC236}">
                <a16:creationId xmlns:a16="http://schemas.microsoft.com/office/drawing/2014/main" id="{0E2DD5BB-EE6A-4C85-99E7-D84903D8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시간과 메모리를 함께 비교</a:t>
            </a:r>
          </a:p>
        </p:txBody>
      </p:sp>
      <p:sp>
        <p:nvSpPr>
          <p:cNvPr id="2" name="S44">
            <a:extLst xmlns:a="http://schemas.openxmlformats.org/drawingml/2006/main">
              <a:ext uri="{FF2B5EF4-FFF2-40B4-BE49-F238E27FC236}">
                <a16:creationId xmlns:a16="http://schemas.microsoft.com/office/drawing/2014/main" id="{8E4AC3D8-7386-46B3-8259-7749A1755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S44</a:t>
            </a:r>
          </a:p>
        </p:txBody>
      </p:sp>
      <p:sp>
        <p:nvSpPr>
          <p:cNvPr id="3" name="측정으로 후보를 고르다">
            <a:extLst xmlns:a="http://schemas.openxmlformats.org/drawingml/2006/main">
              <a:ext uri="{FF2B5EF4-FFF2-40B4-BE49-F238E27FC236}">
                <a16:creationId xmlns:a16="http://schemas.microsoft.com/office/drawing/2014/main" id="{AB153640-C306-45C5-94BD-D757B1DC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측정으로 후보를 고르다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CB42D-7919-437D-9FC8-F179E3BC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8 · image_statistics 후보 비교 · 최종 STATE-04 전후 측정과는 별개">
            <a:extLst xmlns:a="http://schemas.openxmlformats.org/drawingml/2006/main">
              <a:ext uri="{FF2B5EF4-FFF2-40B4-BE49-F238E27FC236}">
                <a16:creationId xmlns:a16="http://schemas.microsoft.com/office/drawing/2014/main" id="{67A3229E-45B3-4790-8DAC-6B9357EA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TRIAL-008 · image_statistics 후보 비교 · 최종 STATE-04 전후 측정과는 별개</a:t>
            </a:r>
          </a:p>
        </p:txBody>
      </p:sp>
      <p:sp>
        <p:nvSpPr>
          <p:cNvPr id="6" name="합성 1024×768 · CPython 3.9.6 / macOS arm64 · 같은 6개 출력값 검증 · 정">
            <a:extLst xmlns:a="http://schemas.openxmlformats.org/drawingml/2006/main">
              <a:ext uri="{FF2B5EF4-FFF2-40B4-BE49-F238E27FC236}">
                <a16:creationId xmlns:a16="http://schemas.microsoft.com/office/drawing/2014/main" id="{C89A7B18-836F-4B3A-A8D3-C8658E4DB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합성 1024×768 · CPython 3.9.6 / macOS arm64 · 같은 6개 출력값 검증 · 정성 비교</a:t>
            </a:r>
          </a:p>
        </p:txBody>
      </p:sp>
      <p:sp>
        <p:nvSpPr>
          <p:cNvPr id="7" name="메모리가 적다는 이유만으로 고르지 않았다">
            <a:extLst xmlns:a="http://schemas.openxmlformats.org/drawingml/2006/main">
              <a:ext uri="{FF2B5EF4-FFF2-40B4-BE49-F238E27FC236}">
                <a16:creationId xmlns:a16="http://schemas.microsoft.com/office/drawing/2014/main" id="{436B44B8-E23C-4ACA-B565-15A45DC7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메모리가 적다는 이유만으로 고르지 않았다</a:t>
            </a:r>
          </a:p>
        </p:txBody>
      </p:sp>
      <p:sp>
        <p:nvSpPr>
          <p:cNvPr id="8" name="후보">
            <a:extLst xmlns:a="http://schemas.openxmlformats.org/drawingml/2006/main">
              <a:ext uri="{FF2B5EF4-FFF2-40B4-BE49-F238E27FC236}">
                <a16:creationId xmlns:a16="http://schemas.microsoft.com/office/drawing/2014/main" id="{55FA9A3D-05CC-4E20-B4E3-C2CEE3CD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45910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후보</a:t>
            </a:r>
          </a:p>
        </p:txBody>
      </p:sp>
      <p:sp>
        <p:nvSpPr>
          <p:cNvPr id="9" name="Python 할당량">
            <a:extLst xmlns:a="http://schemas.openxmlformats.org/drawingml/2006/main">
              <a:ext uri="{FF2B5EF4-FFF2-40B4-BE49-F238E27FC236}">
                <a16:creationId xmlns:a16="http://schemas.microsoft.com/office/drawing/2014/main" id="{CD9B5471-8D75-42F9-9B61-0A117BF8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67025"/>
            <a:ext cx="26479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Python 할당량</a:t>
            </a:r>
          </a:p>
        </p:txBody>
      </p:sp>
      <p:sp>
        <p:nvSpPr>
          <p:cNvPr id="10" name="실행 시간">
            <a:extLst xmlns:a="http://schemas.openxmlformats.org/drawingml/2006/main">
              <a:ext uri="{FF2B5EF4-FFF2-40B4-BE49-F238E27FC236}">
                <a16:creationId xmlns:a16="http://schemas.microsoft.com/office/drawing/2014/main" id="{3E427DDA-820B-4351-B5D5-BFDBDB76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867025"/>
            <a:ext cx="26098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시간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1E0070-4DA0-447D-B76D-41F155B83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수동 단일 순회">
            <a:extLst xmlns:a="http://schemas.openxmlformats.org/drawingml/2006/main">
              <a:ext uri="{FF2B5EF4-FFF2-40B4-BE49-F238E27FC236}">
                <a16:creationId xmlns:a16="http://schemas.microsoft.com/office/drawing/2014/main" id="{42CB521A-E197-430D-863D-06275877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4591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수동 단일 순회</a:t>
            </a:r>
          </a:p>
        </p:txBody>
      </p:sp>
      <p:sp>
        <p:nvSpPr>
          <p:cNvPr id="13" name="낮음">
            <a:extLst xmlns:a="http://schemas.openxmlformats.org/drawingml/2006/main">
              <a:ext uri="{FF2B5EF4-FFF2-40B4-BE49-F238E27FC236}">
                <a16:creationId xmlns:a16="http://schemas.microsoft.com/office/drawing/2014/main" id="{38CB99C4-B479-427E-B959-4611D6C65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60045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낮음</a:t>
            </a:r>
          </a:p>
        </p:txBody>
      </p:sp>
      <p:sp>
        <p:nvSpPr>
          <p:cNvPr id="14" name="훨씬 느림">
            <a:extLst xmlns:a="http://schemas.openxmlformats.org/drawingml/2006/main">
              <a:ext uri="{FF2B5EF4-FFF2-40B4-BE49-F238E27FC236}">
                <a16:creationId xmlns:a16="http://schemas.microsoft.com/office/drawing/2014/main" id="{C6B9B851-5BB4-42CC-A465-4E6B2095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600450"/>
            <a:ext cx="2609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훨씬 느림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4706FE-FF7B-40B9-AF76-5673B3135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09728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행 단위 built-in reduction">
            <a:extLst xmlns:a="http://schemas.openxmlformats.org/drawingml/2006/main">
              <a:ext uri="{FF2B5EF4-FFF2-40B4-BE49-F238E27FC236}">
                <a16:creationId xmlns:a16="http://schemas.microsoft.com/office/drawing/2014/main" id="{E70D346C-B656-4A56-8A68-3E13CB65D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4724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행 단위 built-in reduction</a:t>
            </a:r>
          </a:p>
        </p:txBody>
      </p:sp>
      <p:sp>
        <p:nvSpPr>
          <p:cNvPr id="17" name="낮게 유지">
            <a:extLst xmlns:a="http://schemas.openxmlformats.org/drawingml/2006/main">
              <a:ext uri="{FF2B5EF4-FFF2-40B4-BE49-F238E27FC236}">
                <a16:creationId xmlns:a16="http://schemas.microsoft.com/office/drawing/2014/main" id="{A0E18106-A4BA-4741-9A34-04B7CDB78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610100"/>
            <a:ext cx="26479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낮게 유지</a:t>
            </a:r>
          </a:p>
        </p:txBody>
      </p:sp>
      <p:sp>
        <p:nvSpPr>
          <p:cNvPr id="18" name="더 나음 → 선택">
            <a:extLst xmlns:a="http://schemas.openxmlformats.org/drawingml/2006/main">
              <a:ext uri="{FF2B5EF4-FFF2-40B4-BE49-F238E27FC236}">
                <a16:creationId xmlns:a16="http://schemas.microsoft.com/office/drawing/2014/main" id="{8D503E90-38B1-4AFA-8B1B-867421817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10100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더 나음 → 선택</a:t>
            </a:r>
          </a:p>
        </p:txBody>
      </p:sp>
    </p:spTree>
    <p:extLst>
      <p:ext uri="{BB962C8B-B14F-4D97-AF65-F5344CB8AC3E}">
        <p14:creationId xmlns:p14="http://schemas.microsoft.com/office/powerpoint/2010/main" val="21167755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3  ·  Harness로 조사하고 검증하기">
            <a:extLst xmlns:a="http://schemas.openxmlformats.org/drawingml/2006/main">
              <a:ext uri="{FF2B5EF4-FFF2-40B4-BE49-F238E27FC236}">
                <a16:creationId xmlns:a16="http://schemas.microsoft.com/office/drawing/2014/main" id="{135AF0E8-D520-4B35-842D-AD964617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 ·  Harness로 조사하고 검증하기</a:t>
            </a:r>
          </a:p>
        </p:txBody>
      </p:sp>
      <p:sp>
        <p:nvSpPr>
          <p:cNvPr id="2" name="S45">
            <a:extLst xmlns:a="http://schemas.openxmlformats.org/drawingml/2006/main">
              <a:ext uri="{FF2B5EF4-FFF2-40B4-BE49-F238E27FC236}">
                <a16:creationId xmlns:a16="http://schemas.microsoft.com/office/drawing/2014/main" id="{276DAC27-AEEA-4D0E-B76C-17FEFDD4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S45</a:t>
            </a:r>
          </a:p>
        </p:txBody>
      </p:sp>
      <p:sp>
        <p:nvSpPr>
          <p:cNvPr id="3" name="Working Harness Success">
            <a:extLst xmlns:a="http://schemas.openxmlformats.org/drawingml/2006/main">
              <a:ext uri="{FF2B5EF4-FFF2-40B4-BE49-F238E27FC236}">
                <a16:creationId xmlns:a16="http://schemas.microsoft.com/office/drawing/2014/main" id="{6FA77BD8-33E1-47B8-B8AF-EE66DA00C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Working Harness Success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D37EA2-8289-4CD1-B53E-98D22057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 → STATE-04-PERF  |  image_statistics · 합성 1024×768 ">
            <a:extLst xmlns:a="http://schemas.openxmlformats.org/drawingml/2006/main">
              <a:ext uri="{FF2B5EF4-FFF2-40B4-BE49-F238E27FC236}">
                <a16:creationId xmlns:a16="http://schemas.microsoft.com/office/drawing/2014/main" id="{FE28F074-4BA7-43EE-B0CD-DAB184A7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 → STATE-04-PERF  |  image_statistics · 합성 1024×768 · CPython 3.9.6 / macOS arm64</a:t>
            </a:r>
          </a:p>
        </p:txBody>
      </p:sp>
      <p:sp>
        <p:nvSpPr>
          <p:cNvPr id="6" name="동일 입력·상태별 7회 측정 · 이 환경의 코드 변경 결과이며 Harness 단독 효과는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E556E9F8-ED62-47D7-A338-DD5065E0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동일 입력·상태별 7회 측정 · 이 환경의 코드 변경 결과이며 Harness 단독 효과는 입증하지 않음</a:t>
            </a:r>
          </a:p>
        </p:txBody>
      </p:sp>
      <p:sp>
        <p:nvSpPr>
          <p:cNvPr id="7" name="결과가 맞는지 확인하고, 같은 조건에서 비교했다">
            <a:extLst xmlns:a="http://schemas.openxmlformats.org/drawingml/2006/main">
              <a:ext uri="{FF2B5EF4-FFF2-40B4-BE49-F238E27FC236}">
                <a16:creationId xmlns:a16="http://schemas.microsoft.com/office/drawing/2014/main" id="{A7E3CFC2-75EE-44B1-B1E0-E65212892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결과가 맞는지 확인하고, 같은 조건에서 비교했다</a:t>
            </a:r>
          </a:p>
        </p:txBody>
      </p:sp>
      <p:sp>
        <p:nvSpPr>
          <p:cNvPr id="8" name="실행 시간 중앙값">
            <a:extLst xmlns:a="http://schemas.openxmlformats.org/drawingml/2006/main">
              <a:ext uri="{FF2B5EF4-FFF2-40B4-BE49-F238E27FC236}">
                <a16:creationId xmlns:a16="http://schemas.microsoft.com/office/drawing/2014/main" id="{EEA61C96-D967-4C29-9D77-1709154B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5667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시간 중앙값</a:t>
            </a:r>
          </a:p>
        </p:txBody>
      </p:sp>
      <p:sp>
        <p:nvSpPr>
          <p:cNvPr id="9" name="ms/call · 낮을수록 짧음">
            <a:extLst xmlns:a="http://schemas.openxmlformats.org/drawingml/2006/main">
              <a:ext uri="{FF2B5EF4-FFF2-40B4-BE49-F238E27FC236}">
                <a16:creationId xmlns:a16="http://schemas.microsoft.com/office/drawing/2014/main" id="{C91E3CB9-8BE7-469A-9C67-C6D95FA7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667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ms/call · 낮을수록 짧음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EC7CBD78-E368-4907-B95E-94B9BA955A5C}"/>
              </a:ext>
            </a:extLst>
          </p:cNvPr>
          <p:cNvGraphicFramePr/>
          <p:nvPr/>
        </p:nvGraphicFramePr>
        <p:xfrm>
          <a:off xmlns:a="http://schemas.openxmlformats.org/drawingml/2006/main" x="609600" y="3067050"/>
          <a:ext xmlns:a="http://schemas.openxmlformats.org/drawingml/2006/main" cx="6191250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da096d040d34ba6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A78CA6-9DCA-4C48-AE2A-1A9968D18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24100"/>
            <a:ext cx="19050" cy="2819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ython 할당 피크">
            <a:extLst xmlns:a="http://schemas.openxmlformats.org/drawingml/2006/main">
              <a:ext uri="{FF2B5EF4-FFF2-40B4-BE49-F238E27FC236}">
                <a16:creationId xmlns:a16="http://schemas.microsoft.com/office/drawing/2014/main" id="{793C1137-5115-4FE6-AF85-45C9A973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324100"/>
            <a:ext cx="3981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Python 할당 피크</a:t>
            </a:r>
          </a:p>
        </p:txBody>
      </p:sp>
      <p:sp>
        <p:nvSpPr>
          <p:cNvPr id="13" name="tracemalloc · 프로세스 RSS 아님">
            <a:extLst xmlns:a="http://schemas.openxmlformats.org/drawingml/2006/main">
              <a:ext uri="{FF2B5EF4-FFF2-40B4-BE49-F238E27FC236}">
                <a16:creationId xmlns:a16="http://schemas.microsoft.com/office/drawing/2014/main" id="{2030EB29-1302-40D7-ABF1-1F517CF57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714625"/>
            <a:ext cx="398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tracemalloc · 프로세스 RSS 아님</a:t>
            </a:r>
          </a:p>
        </p:txBody>
      </p:sp>
      <p:sp>
        <p:nvSpPr>
          <p:cNvPr id="14" name="6,675,804 B">
            <a:extLst xmlns:a="http://schemas.openxmlformats.org/drawingml/2006/main">
              <a:ext uri="{FF2B5EF4-FFF2-40B4-BE49-F238E27FC236}">
                <a16:creationId xmlns:a16="http://schemas.microsoft.com/office/drawing/2014/main" id="{EDE3B6EB-C1FA-4175-8E0E-E4EDE3E53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248025"/>
            <a:ext cx="39814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6,675,804 B</a:t>
            </a:r>
          </a:p>
        </p:txBody>
      </p:sp>
      <p:sp>
        <p:nvSpPr>
          <p:cNvPr id="15" name="↓">
            <a:extLst xmlns:a="http://schemas.openxmlformats.org/drawingml/2006/main">
              <a:ext uri="{FF2B5EF4-FFF2-40B4-BE49-F238E27FC236}">
                <a16:creationId xmlns:a16="http://schemas.microsoft.com/office/drawing/2014/main" id="{667183E0-FD98-4BB3-A8A7-27D860D8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781425"/>
            <a:ext cx="43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↓</a:t>
            </a:r>
          </a:p>
        </p:txBody>
      </p:sp>
      <p:sp>
        <p:nvSpPr>
          <p:cNvPr id="16" name="380 B">
            <a:extLst xmlns:a="http://schemas.openxmlformats.org/drawingml/2006/main">
              <a:ext uri="{FF2B5EF4-FFF2-40B4-BE49-F238E27FC236}">
                <a16:creationId xmlns:a16="http://schemas.microsoft.com/office/drawing/2014/main" id="{8CFBDA4E-65C1-4DBE-9DA7-BA590784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380 B</a:t>
            </a:r>
          </a:p>
        </p:txBody>
      </p:sp>
      <p:sp>
        <p:nvSpPr>
          <p:cNvPr id="17" name="평탄화 임시 리스트 제거">
            <a:extLst xmlns:a="http://schemas.openxmlformats.org/drawingml/2006/main">
              <a:ext uri="{FF2B5EF4-FFF2-40B4-BE49-F238E27FC236}">
                <a16:creationId xmlns:a16="http://schemas.microsoft.com/office/drawing/2014/main" id="{9ABE2A4C-0022-4A71-B87A-F6B67FEB2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648200"/>
            <a:ext cx="3981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평탄화 임시 리스트 제거</a:t>
            </a:r>
          </a:p>
        </p:txBody>
      </p:sp>
      <p:sp>
        <p:nvSpPr>
          <p:cNvPr id="18" name="검증 완료">
            <a:extLst xmlns:a="http://schemas.openxmlformats.org/drawingml/2006/main">
              <a:ext uri="{FF2B5EF4-FFF2-40B4-BE49-F238E27FC236}">
                <a16:creationId xmlns:a16="http://schemas.microsoft.com/office/drawing/2014/main" id="{DE828B29-8CD7-423E-AAE6-63B31720F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검증 완료</a:t>
            </a:r>
          </a:p>
        </p:txBody>
      </p:sp>
      <p:sp>
        <p:nvSpPr>
          <p:cNvPr id="19" name="집중 테스트 1/1  ·  전체 11/11  ·  CLI  ·  입력·결과 guard">
            <a:extLst xmlns:a="http://schemas.openxmlformats.org/drawingml/2006/main">
              <a:ext uri="{FF2B5EF4-FFF2-40B4-BE49-F238E27FC236}">
                <a16:creationId xmlns:a16="http://schemas.microsoft.com/office/drawing/2014/main" id="{C753D825-0294-4B54-A018-E49A14DCF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391150"/>
            <a:ext cx="931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집중 테스트 1/1  ·  전체 11/11  ·  CLI  ·  입력·결과 guard</a:t>
            </a:r>
          </a:p>
        </p:txBody>
      </p:sp>
    </p:spTree>
    <p:extLst>
      <p:ext uri="{BB962C8B-B14F-4D97-AF65-F5344CB8AC3E}">
        <p14:creationId xmlns:p14="http://schemas.microsoft.com/office/powerpoint/2010/main" val="15677475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3 · 현재 Task의 분리 가능성">
            <a:extLst xmlns:a="http://schemas.openxmlformats.org/drawingml/2006/main">
              <a:ext uri="{FF2B5EF4-FFF2-40B4-BE49-F238E27FC236}">
                <a16:creationId xmlns:a16="http://schemas.microsoft.com/office/drawing/2014/main" id="{B6AE1F89-6E8B-477D-8A7B-FFC5178E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현재 Task의 분리 가능성</a:t>
            </a:r>
          </a:p>
        </p:txBody>
      </p:sp>
      <p:sp>
        <p:nvSpPr>
          <p:cNvPr id="2" name="S46">
            <a:extLst xmlns:a="http://schemas.openxmlformats.org/drawingml/2006/main">
              <a:ext uri="{FF2B5EF4-FFF2-40B4-BE49-F238E27FC236}">
                <a16:creationId xmlns:a16="http://schemas.microsoft.com/office/drawing/2014/main" id="{EFD72160-18F9-48C8-B666-3A51AC94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S46</a:t>
            </a:r>
          </a:p>
        </p:txBody>
      </p:sp>
      <p:sp>
        <p:nvSpPr>
          <p:cNvPr id="3" name="이 작업에 Subagent가 필요했을까?">
            <a:extLst xmlns:a="http://schemas.openxmlformats.org/drawingml/2006/main">
              <a:ext uri="{FF2B5EF4-FFF2-40B4-BE49-F238E27FC236}">
                <a16:creationId xmlns:a16="http://schemas.microsoft.com/office/drawing/2014/main" id="{3B535F0D-5168-4014-BF9E-7A7645E5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작업에 Subagent가 필요했을까?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D1535C-CFB8-4210-944E-F1F5A203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18 · 현재 성능 작업에 대한 판단과 교육용 작업 구조">
            <a:extLst xmlns:a="http://schemas.openxmlformats.org/drawingml/2006/main">
              <a:ext uri="{FF2B5EF4-FFF2-40B4-BE49-F238E27FC236}">
                <a16:creationId xmlns:a16="http://schemas.microsoft.com/office/drawing/2014/main" id="{F22F8A85-68D9-4D24-9754-4B60ECC31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DEC-0018 · 현재 성능 작업에 대한 판단과 교육용 작업 구조</a:t>
            </a:r>
          </a:p>
        </p:txBody>
      </p:sp>
      <p:sp>
        <p:nvSpPr>
          <p:cNvPr id="6" name="현재 사례에서 추가하지 않았다는 결과 · 일반적으로 Subagent가 불필요하다는 뜻은 아님">
            <a:extLst xmlns:a="http://schemas.openxmlformats.org/drawingml/2006/main">
              <a:ext uri="{FF2B5EF4-FFF2-40B4-BE49-F238E27FC236}">
                <a16:creationId xmlns:a16="http://schemas.microsoft.com/office/drawing/2014/main" id="{31959CDD-BF9B-46E0-BABD-7606785F6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사례에서 추가하지 않았다는 결과 · 일반적으로 Subagent가 불필요하다는 뜻은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F1B0C0-5F25-4FD1-AB1F-EE44B87D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9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조사">
            <a:extLst xmlns:a="http://schemas.openxmlformats.org/drawingml/2006/main">
              <a:ext uri="{FF2B5EF4-FFF2-40B4-BE49-F238E27FC236}">
                <a16:creationId xmlns:a16="http://schemas.microsoft.com/office/drawing/2014/main" id="{424674CA-3D7A-4F21-8D52-445CCBD7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</a:t>
            </a:r>
          </a:p>
        </p:txBody>
      </p:sp>
      <p:sp>
        <p:nvSpPr>
          <p:cNvPr id="9" name="같은 성능 경로와&#10;계약을 확인">
            <a:extLst xmlns:a="http://schemas.openxmlformats.org/drawingml/2006/main">
              <a:ext uri="{FF2B5EF4-FFF2-40B4-BE49-F238E27FC236}">
                <a16:creationId xmlns:a16="http://schemas.microsoft.com/office/drawing/2014/main" id="{F8B8E334-C94C-4F12-B198-3D706601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3390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성능 경로와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계약을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E708C7-F74E-42E8-8696-B8F7A2780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270510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98EDFD-80B2-43EC-BDE3-C55E4BD5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86000"/>
            <a:ext cx="339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변경">
            <a:extLst xmlns:a="http://schemas.openxmlformats.org/drawingml/2006/main">
              <a:ext uri="{FF2B5EF4-FFF2-40B4-BE49-F238E27FC236}">
                <a16:creationId xmlns:a16="http://schemas.microsoft.com/office/drawing/2014/main" id="{38F67D5C-2FA4-4668-9B3A-71D334BC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76500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</a:t>
            </a:r>
          </a:p>
        </p:txBody>
      </p:sp>
      <p:sp>
        <p:nvSpPr>
          <p:cNvPr id="13" name="조사 결과를 사용">
            <a:extLst xmlns:a="http://schemas.openxmlformats.org/drawingml/2006/main">
              <a:ext uri="{FF2B5EF4-FFF2-40B4-BE49-F238E27FC236}">
                <a16:creationId xmlns:a16="http://schemas.microsoft.com/office/drawing/2014/main" id="{7A2F1EBC-7E59-4D49-A88C-072CD48D4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38500"/>
            <a:ext cx="3390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조사 결과를 사용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6BE937-B57E-4212-9C8A-E14C0F19B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70510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ED550C-5EF2-4F65-92EF-A55CDF58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86000"/>
            <a:ext cx="339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6" name="검증">
            <a:extLst xmlns:a="http://schemas.openxmlformats.org/drawingml/2006/main">
              <a:ext uri="{FF2B5EF4-FFF2-40B4-BE49-F238E27FC236}">
                <a16:creationId xmlns:a16="http://schemas.microsoft.com/office/drawing/2014/main" id="{2D02C585-9713-434E-84A6-AA250C1C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76500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7" name="변경 결과를 확인">
            <a:extLst xmlns:a="http://schemas.openxmlformats.org/drawingml/2006/main">
              <a:ext uri="{FF2B5EF4-FFF2-40B4-BE49-F238E27FC236}">
                <a16:creationId xmlns:a16="http://schemas.microsoft.com/office/drawing/2014/main" id="{5AA454D6-58D6-4DC6-838D-194B78CDE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38500"/>
            <a:ext cx="3390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변경 결과를 확인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071364-D533-403E-895B-90F24B992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작업 독립성 낮음  ·  병렬 이득 제한적  ·  결과 통합 비용 존재">
            <a:extLst xmlns:a="http://schemas.openxmlformats.org/drawingml/2006/main">
              <a:ext uri="{FF2B5EF4-FFF2-40B4-BE49-F238E27FC236}">
                <a16:creationId xmlns:a16="http://schemas.microsoft.com/office/drawing/2014/main" id="{3B38E390-03D8-4674-BDB6-3C5F754B0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독립성 낮음  ·  병렬 이득 제한적  ·  결과 통합 비용 존재</a:t>
            </a:r>
          </a:p>
        </p:txBody>
      </p:sp>
      <p:sp>
        <p:nvSpPr>
          <p:cNvPr id="20" name="이 Task에서는 Agent를 더 나눌 근거가 부족했다">
            <a:extLst xmlns:a="http://schemas.openxmlformats.org/drawingml/2006/main">
              <a:ext uri="{FF2B5EF4-FFF2-40B4-BE49-F238E27FC236}">
                <a16:creationId xmlns:a16="http://schemas.microsoft.com/office/drawing/2014/main" id="{87EC34A6-5A45-40BA-B74A-6338A51CD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 Task에서는 Agent를 더 나눌 근거가 부족했다</a:t>
            </a:r>
          </a:p>
        </p:txBody>
      </p:sp>
    </p:spTree>
    <p:extLst>
      <p:ext uri="{BB962C8B-B14F-4D97-AF65-F5344CB8AC3E}">
        <p14:creationId xmlns:p14="http://schemas.microsoft.com/office/powerpoint/2010/main" val="16569071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3 · 독립 조사와 결과 통합">
            <a:extLst xmlns:a="http://schemas.openxmlformats.org/drawingml/2006/main">
              <a:ext uri="{FF2B5EF4-FFF2-40B4-BE49-F238E27FC236}">
                <a16:creationId xmlns:a16="http://schemas.microsoft.com/office/drawing/2014/main" id="{21A9B3AC-C688-45BC-8F82-62984D012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독립 조사와 결과 통합</a:t>
            </a:r>
          </a:p>
        </p:txBody>
      </p:sp>
      <p:sp>
        <p:nvSpPr>
          <p:cNvPr id="2" name="S47">
            <a:extLst xmlns:a="http://schemas.openxmlformats.org/drawingml/2006/main">
              <a:ext uri="{FF2B5EF4-FFF2-40B4-BE49-F238E27FC236}">
                <a16:creationId xmlns:a16="http://schemas.microsoft.com/office/drawing/2014/main" id="{7F20F649-53C8-4678-912D-0367EE2FB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S47</a:t>
            </a:r>
          </a:p>
        </p:txBody>
      </p:sp>
      <p:sp>
        <p:nvSpPr>
          <p:cNvPr id="3" name="Subagent를 고려할 조건">
            <a:extLst xmlns:a="http://schemas.openxmlformats.org/drawingml/2006/main">
              <a:ext uri="{FF2B5EF4-FFF2-40B4-BE49-F238E27FC236}">
                <a16:creationId xmlns:a16="http://schemas.microsoft.com/office/drawing/2014/main" id="{AC2EBB8D-0D9C-476B-B4BE-69A58A88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Subagent를 고려할 조건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775E35-5D6E-48C7-9C23-2DA30B47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가정 · C++ Repository의 조사들이 실제로 독립적일 때">
            <a:extLst xmlns:a="http://schemas.openxmlformats.org/drawingml/2006/main">
              <a:ext uri="{FF2B5EF4-FFF2-40B4-BE49-F238E27FC236}">
                <a16:creationId xmlns:a16="http://schemas.microsoft.com/office/drawing/2014/main" id="{97580745-DC8A-46BD-9DBC-F95C1C93E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가정 · C++ Repository의 조사들이 실제로 독립적일 때</a:t>
            </a:r>
          </a:p>
        </p:txBody>
      </p:sp>
      <p:sp>
        <p:nvSpPr>
          <p:cNvPr id="6" name="제품 실행 사례가 아님 · 작고 연결된 작업·Context 반복·큰 조정 비용이면 보류">
            <a:extLst xmlns:a="http://schemas.openxmlformats.org/drawingml/2006/main">
              <a:ext uri="{FF2B5EF4-FFF2-40B4-BE49-F238E27FC236}">
                <a16:creationId xmlns:a16="http://schemas.microsoft.com/office/drawing/2014/main" id="{58407F0C-1382-4E03-A206-C0666A109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실행 사례가 아님 · 작고 연결된 작업·Context 반복·큰 조정 비용이면 보류</a:t>
            </a:r>
          </a:p>
        </p:txBody>
      </p:sp>
      <p:sp>
        <p:nvSpPr>
          <p:cNvPr id="7" name="독립적으로 조사할 수 있는가?">
            <a:extLst xmlns:a="http://schemas.openxmlformats.org/drawingml/2006/main">
              <a:ext uri="{FF2B5EF4-FFF2-40B4-BE49-F238E27FC236}">
                <a16:creationId xmlns:a16="http://schemas.microsoft.com/office/drawing/2014/main" id="{A8AE2344-C550-4360-B9FD-AD602BD8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독립적으로 조사할 수 있는가?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21EE60-E79B-4690-BBCD-E33A83471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성능 경로 조사">
            <a:extLst xmlns:a="http://schemas.openxmlformats.org/drawingml/2006/main">
              <a:ext uri="{FF2B5EF4-FFF2-40B4-BE49-F238E27FC236}">
                <a16:creationId xmlns:a16="http://schemas.microsoft.com/office/drawing/2014/main" id="{1E8F36DE-B505-4DCD-B75D-07886310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289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경로 조사</a:t>
            </a:r>
          </a:p>
        </p:txBody>
      </p:sp>
      <p:sp>
        <p:nvSpPr>
          <p:cNvPr id="10" name="가정: 다른 조사 결과를&#10;기다리지 않고 진행 가능">
            <a:extLst xmlns:a="http://schemas.openxmlformats.org/drawingml/2006/main">
              <a:ext uri="{FF2B5EF4-FFF2-40B4-BE49-F238E27FC236}">
                <a16:creationId xmlns:a16="http://schemas.microsoft.com/office/drawing/2014/main" id="{CA7C9CDE-30D7-4836-946F-FF7039D85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가정: 다른 조사 결과를</a:t>
            </a:r>
          </a:p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기다리지 않고 진행 가능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69AA43-7B6C-4169-BB44-1872184F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480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빌드 환경 조사">
            <a:extLst xmlns:a="http://schemas.openxmlformats.org/drawingml/2006/main">
              <a:ext uri="{FF2B5EF4-FFF2-40B4-BE49-F238E27FC236}">
                <a16:creationId xmlns:a16="http://schemas.microsoft.com/office/drawing/2014/main" id="{2D320825-7703-48D0-AE5A-EFE480E3D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289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빌드 환경 조사</a:t>
            </a:r>
          </a:p>
        </p:txBody>
      </p:sp>
      <p:sp>
        <p:nvSpPr>
          <p:cNvPr id="13" name="가정: 다른 조사 결과를&#10;기다리지 않고 진행 가능">
            <a:extLst xmlns:a="http://schemas.openxmlformats.org/drawingml/2006/main">
              <a:ext uri="{FF2B5EF4-FFF2-40B4-BE49-F238E27FC236}">
                <a16:creationId xmlns:a16="http://schemas.microsoft.com/office/drawing/2014/main" id="{CD751F7F-D74B-4398-9964-E726B3D94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19525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가정: 다른 조사 결과를</a:t>
            </a:r>
          </a:p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기다리지 않고 진행 가능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5DC9A9-E6AF-4998-9C7D-DD166237D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0480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테스트 구조 조사">
            <a:extLst xmlns:a="http://schemas.openxmlformats.org/drawingml/2006/main">
              <a:ext uri="{FF2B5EF4-FFF2-40B4-BE49-F238E27FC236}">
                <a16:creationId xmlns:a16="http://schemas.microsoft.com/office/drawing/2014/main" id="{1A328779-60F9-42EC-BA34-1466D5B8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289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구조 조사</a:t>
            </a:r>
          </a:p>
        </p:txBody>
      </p:sp>
      <p:sp>
        <p:nvSpPr>
          <p:cNvPr id="16" name="가정: 다른 조사 결과를&#10;기다리지 않고 진행 가능">
            <a:extLst xmlns:a="http://schemas.openxmlformats.org/drawingml/2006/main">
              <a:ext uri="{FF2B5EF4-FFF2-40B4-BE49-F238E27FC236}">
                <a16:creationId xmlns:a16="http://schemas.microsoft.com/office/drawing/2014/main" id="{4C47950E-D2E7-42D3-A354-5B467A3D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19525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가정: 다른 조사 결과를</a:t>
            </a:r>
          </a:p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기다리지 않고 진행 가능</a:t>
            </a:r>
          </a:p>
        </p:txBody>
      </p:sp>
      <p:sp>
        <p:nvSpPr>
          <p:cNvPr id="17" name="↓">
            <a:extLst xmlns:a="http://schemas.openxmlformats.org/drawingml/2006/main">
              <a:ext uri="{FF2B5EF4-FFF2-40B4-BE49-F238E27FC236}">
                <a16:creationId xmlns:a16="http://schemas.microsoft.com/office/drawing/2014/main" id="{5C9F9494-C80E-4AD2-B7AC-EEDD540D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657725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↓</a:t>
            </a:r>
          </a:p>
        </p:txBody>
      </p:sp>
      <p:sp>
        <p:nvSpPr>
          <p:cNvPr id="18" name="↓">
            <a:extLst xmlns:a="http://schemas.openxmlformats.org/drawingml/2006/main">
              <a:ext uri="{FF2B5EF4-FFF2-40B4-BE49-F238E27FC236}">
                <a16:creationId xmlns:a16="http://schemas.microsoft.com/office/drawing/2014/main" id="{0A6C04F7-A93E-4224-9144-653E7BC80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657725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↓</a:t>
            </a:r>
          </a:p>
        </p:txBody>
      </p:sp>
      <p:sp>
        <p:nvSpPr>
          <p:cNvPr id="19" name="↓">
            <a:extLst xmlns:a="http://schemas.openxmlformats.org/drawingml/2006/main">
              <a:ext uri="{FF2B5EF4-FFF2-40B4-BE49-F238E27FC236}">
                <a16:creationId xmlns:a16="http://schemas.microsoft.com/office/drawing/2014/main" id="{97D171A1-90B9-4499-AC90-9C0164E3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657725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A4871A-243D-444F-A9A4-EA316993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시작 전에 정할 것: 결과 형식 · 전달 지점 · 합칠 책임">
            <a:extLst xmlns:a="http://schemas.openxmlformats.org/drawingml/2006/main">
              <a:ext uri="{FF2B5EF4-FFF2-40B4-BE49-F238E27FC236}">
                <a16:creationId xmlns:a16="http://schemas.microsoft.com/office/drawing/2014/main" id="{E50CD173-FF5C-493C-AFB6-A6A30E8C6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00650"/>
            <a:ext cx="1055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시작 전에 정할 것: 결과 형식 · 전달 지점 · 합칠 책임</a:t>
            </a:r>
          </a:p>
        </p:txBody>
      </p:sp>
    </p:spTree>
    <p:extLst>
      <p:ext uri="{BB962C8B-B14F-4D97-AF65-F5344CB8AC3E}">
        <p14:creationId xmlns:p14="http://schemas.microsoft.com/office/powerpoint/2010/main" val="10190691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3 · 이미 있는 기록부터 확인하기">
            <a:extLst xmlns:a="http://schemas.openxmlformats.org/drawingml/2006/main">
              <a:ext uri="{FF2B5EF4-FFF2-40B4-BE49-F238E27FC236}">
                <a16:creationId xmlns:a16="http://schemas.microsoft.com/office/drawing/2014/main" id="{9279E884-93D3-4C5F-B0FD-DECDEEBC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이미 있는 기록부터 확인하기</a:t>
            </a:r>
          </a:p>
        </p:txBody>
      </p:sp>
      <p:sp>
        <p:nvSpPr>
          <p:cNvPr id="2" name="S48">
            <a:extLst xmlns:a="http://schemas.openxmlformats.org/drawingml/2006/main">
              <a:ext uri="{FF2B5EF4-FFF2-40B4-BE49-F238E27FC236}">
                <a16:creationId xmlns:a16="http://schemas.microsoft.com/office/drawing/2014/main" id="{DAC38D93-C755-4502-93A2-43D3251D0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S48</a:t>
            </a:r>
          </a:p>
        </p:txBody>
      </p:sp>
      <p:sp>
        <p:nvSpPr>
          <p:cNvPr id="3" name="무엇이 다시 찾기 어려운 지식인가?">
            <a:extLst xmlns:a="http://schemas.openxmlformats.org/drawingml/2006/main">
              <a:ext uri="{FF2B5EF4-FFF2-40B4-BE49-F238E27FC236}">
                <a16:creationId xmlns:a16="http://schemas.microsoft.com/office/drawing/2014/main" id="{53376A4E-4C8C-436D-A8C8-C603311B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무엇이 다시 찾기 어려운 지식인가?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F1494F-D90F-4FC4-BBE7-717B646CF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현재 Demo Repository의 지식 분류와 Memory 후보 점검">
            <a:extLst xmlns:a="http://schemas.openxmlformats.org/drawingml/2006/main">
              <a:ext uri="{FF2B5EF4-FFF2-40B4-BE49-F238E27FC236}">
                <a16:creationId xmlns:a16="http://schemas.microsoft.com/office/drawing/2014/main" id="{B8DA9C26-CF68-42E1-A642-0583E784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Demo Repository의 지식 분류와 Memory 후보 점검</a:t>
            </a:r>
          </a:p>
        </p:txBody>
      </p:sp>
      <p:sp>
        <p:nvSpPr>
          <p:cNvPr id="6" name="별도 Memory로 남길 지속적 지식 후보는 찾지 못함 · 제품 Memory 동작 주장은 아님">
            <a:extLst xmlns:a="http://schemas.openxmlformats.org/drawingml/2006/main">
              <a:ext uri="{FF2B5EF4-FFF2-40B4-BE49-F238E27FC236}">
                <a16:creationId xmlns:a16="http://schemas.microsoft.com/office/drawing/2014/main" id="{ADCD6DD7-7C22-4E24-BA7C-F71EC280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별도 Memory로 남길 지속적 지식 후보는 찾지 못함 · 제품 Memory 동작 주장은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06DB59-7982-4311-9CBC-9EA520AB8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crop은 끝 열을 제외한다">
            <a:extLst xmlns:a="http://schemas.openxmlformats.org/drawingml/2006/main">
              <a:ext uri="{FF2B5EF4-FFF2-40B4-BE49-F238E27FC236}">
                <a16:creationId xmlns:a16="http://schemas.microsoft.com/office/drawing/2014/main" id="{17A39558-5A25-453B-A60F-3E11E87B3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crop은 끝 열을 제외한다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42FA48-751A-4AFB-A797-874E373F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2486025"/>
            <a:ext cx="3333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0" name="코드 · image-contracts.md">
            <a:extLst xmlns:a="http://schemas.openxmlformats.org/drawingml/2006/main">
              <a:ext uri="{FF2B5EF4-FFF2-40B4-BE49-F238E27FC236}">
                <a16:creationId xmlns:a16="http://schemas.microsoft.com/office/drawing/2014/main" id="{7F416E33-93EC-4B90-A2AE-C23699DD0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62200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코드 · image-contracts.md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1A3806-DCCF-49E5-AA7C-7E91E29E6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모듈은 어떤 순서로 이어지나">
            <a:extLst xmlns:a="http://schemas.openxmlformats.org/drawingml/2006/main">
              <a:ext uri="{FF2B5EF4-FFF2-40B4-BE49-F238E27FC236}">
                <a16:creationId xmlns:a16="http://schemas.microsoft.com/office/drawing/2014/main" id="{7092BD16-BABA-45C3-900F-3BC7CE19F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모듈은 어떤 순서로 이어지나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DC1C48-7C9E-4B41-886D-7185326E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3276600"/>
            <a:ext cx="3333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architecture.md">
            <a:extLst xmlns:a="http://schemas.openxmlformats.org/drawingml/2006/main">
              <a:ext uri="{FF2B5EF4-FFF2-40B4-BE49-F238E27FC236}">
                <a16:creationId xmlns:a16="http://schemas.microsoft.com/office/drawing/2014/main" id="{C14D5E23-5504-4CBF-8A78-4204AF0C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5277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architecture.md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E104D9-F3F0-44C6-8238-599EE50A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성능을 어떻게 조사하고 확인하나">
            <a:extLst xmlns:a="http://schemas.openxmlformats.org/drawingml/2006/main">
              <a:ext uri="{FF2B5EF4-FFF2-40B4-BE49-F238E27FC236}">
                <a16:creationId xmlns:a16="http://schemas.microsoft.com/office/drawing/2014/main" id="{72F76E29-0A2C-4533-B179-21171123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성능을 어떻게 조사하고 확인하나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A2AB12-4F72-49D9-BFCD-D48A56847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067175"/>
            <a:ext cx="3333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Repository Skill">
            <a:extLst xmlns:a="http://schemas.openxmlformats.org/drawingml/2006/main">
              <a:ext uri="{FF2B5EF4-FFF2-40B4-BE49-F238E27FC236}">
                <a16:creationId xmlns:a16="http://schemas.microsoft.com/office/drawing/2014/main" id="{F6132ACF-4FA2-4138-951C-974C472BF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43350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Repository Skill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8BB92D-9171-4D15-9AAB-B8DA02C38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이번 실행에서 무엇을 측정했나">
            <a:extLst xmlns:a="http://schemas.openxmlformats.org/drawingml/2006/main">
              <a:ext uri="{FF2B5EF4-FFF2-40B4-BE49-F238E27FC236}">
                <a16:creationId xmlns:a16="http://schemas.microsoft.com/office/drawing/2014/main" id="{46840D61-A428-49E8-B983-5C6C12321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실행에서 무엇을 측정했나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FACBBA-0ED1-43B5-A086-9AFF1BD75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857750"/>
            <a:ext cx="3333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날짜가 있는 Trial 기록 · Git 이력">
            <a:extLst xmlns:a="http://schemas.openxmlformats.org/drawingml/2006/main">
              <a:ext uri="{FF2B5EF4-FFF2-40B4-BE49-F238E27FC236}">
                <a16:creationId xmlns:a16="http://schemas.microsoft.com/office/drawing/2014/main" id="{F0E01C62-1BF9-4876-8577-D6C7CFB12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3392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날짜가 있는 Trial 기록 · Git 이력</a:t>
            </a:r>
          </a:p>
        </p:txBody>
      </p:sp>
      <p:sp>
        <p:nvSpPr>
          <p:cNvPr id="23" name="새 기록을 만들기 전에, 원래 출처를 먼저 찾는다">
            <a:extLst xmlns:a="http://schemas.openxmlformats.org/drawingml/2006/main">
              <a:ext uri="{FF2B5EF4-FFF2-40B4-BE49-F238E27FC236}">
                <a16:creationId xmlns:a16="http://schemas.microsoft.com/office/drawing/2014/main" id="{6CE2F81F-5EE5-4825-93EE-E117D60D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기록을 만들기 전에, 원래 출처를 먼저 찾는다</a:t>
            </a:r>
          </a:p>
        </p:txBody>
      </p:sp>
    </p:spTree>
    <p:extLst>
      <p:ext uri="{BB962C8B-B14F-4D97-AF65-F5344CB8AC3E}">
        <p14:creationId xmlns:p14="http://schemas.microsoft.com/office/powerpoint/2010/main" val="53368409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3 · 무엇을 남길 가치가 있는가">
            <a:extLst xmlns:a="http://schemas.openxmlformats.org/drawingml/2006/main">
              <a:ext uri="{FF2B5EF4-FFF2-40B4-BE49-F238E27FC236}">
                <a16:creationId xmlns:a16="http://schemas.microsoft.com/office/drawing/2014/main" id="{C644E84B-E13D-459F-B1FB-21A41875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무엇을 남길 가치가 있는가</a:t>
            </a:r>
          </a:p>
        </p:txBody>
      </p:sp>
      <p:sp>
        <p:nvSpPr>
          <p:cNvPr id="2" name="S49">
            <a:extLst xmlns:a="http://schemas.openxmlformats.org/drawingml/2006/main">
              <a:ext uri="{FF2B5EF4-FFF2-40B4-BE49-F238E27FC236}">
                <a16:creationId xmlns:a16="http://schemas.microsoft.com/office/drawing/2014/main" id="{BA35BA53-D0D7-4E1F-9F60-86D914589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S49</a:t>
            </a:r>
          </a:p>
        </p:txBody>
      </p:sp>
      <p:sp>
        <p:nvSpPr>
          <p:cNvPr id="3" name="Memory는 재발견 비용으로 판단">
            <a:extLst xmlns:a="http://schemas.openxmlformats.org/drawingml/2006/main">
              <a:ext uri="{FF2B5EF4-FFF2-40B4-BE49-F238E27FC236}">
                <a16:creationId xmlns:a16="http://schemas.microsoft.com/office/drawing/2014/main" id="{7169D795-E599-434D-B646-522614CE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Memory는 재발견 비용으로 판단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8474C2-6B97-44D8-BCFF-D72F20BC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의사결정 기준 · 별도 Memory의 필요성을 검토하는 질문">
            <a:extLst xmlns:a="http://schemas.openxmlformats.org/drawingml/2006/main">
              <a:ext uri="{FF2B5EF4-FFF2-40B4-BE49-F238E27FC236}">
                <a16:creationId xmlns:a16="http://schemas.microsoft.com/office/drawing/2014/main" id="{F4377CF6-2AD4-4784-A951-CEE056942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의사결정 기준 · 별도 Memory의 필요성을 검토하는 질문</a:t>
            </a:r>
          </a:p>
        </p:txBody>
      </p:sp>
      <p:sp>
        <p:nvSpPr>
          <p:cNvPr id="6" name="현재 Demo에서는 조건에 맞는 후보 없음 · Memory 사용 여부는 성숙도 점수가 아님">
            <a:extLst xmlns:a="http://schemas.openxmlformats.org/drawingml/2006/main">
              <a:ext uri="{FF2B5EF4-FFF2-40B4-BE49-F238E27FC236}">
                <a16:creationId xmlns:a16="http://schemas.microsoft.com/office/drawing/2014/main" id="{CD094CB6-18FF-4DEE-8F5A-A22B32203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Demo에서는 조건에 맞는 후보 없음 · Memory 사용 여부는 성숙도 점수가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51F4E4-B4B3-4511-A5F8-8E2984014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D2E8AD0A-B97D-4D13-8F65-4D9BD488F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다시 찾는 비용이 큰가?">
            <a:extLst xmlns:a="http://schemas.openxmlformats.org/drawingml/2006/main">
              <a:ext uri="{FF2B5EF4-FFF2-40B4-BE49-F238E27FC236}">
                <a16:creationId xmlns:a16="http://schemas.microsoft.com/office/drawing/2014/main" id="{09EC359C-CC1E-49BE-8BD3-EF2E1A19F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76475"/>
            <a:ext cx="10115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다시 찾는 비용이 큰가?</a:t>
            </a:r>
          </a:p>
        </p:txBody>
      </p:sp>
      <p:sp>
        <p:nvSpPr>
          <p:cNvPr id="10" name="이미 잘 관리되는 출처가 있다면 그곳을 참고">
            <a:extLst xmlns:a="http://schemas.openxmlformats.org/drawingml/2006/main">
              <a:ext uri="{FF2B5EF4-FFF2-40B4-BE49-F238E27FC236}">
                <a16:creationId xmlns:a16="http://schemas.microsoft.com/office/drawing/2014/main" id="{10696B49-E2A5-4CD9-BE15-82AA0350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657475"/>
            <a:ext cx="10115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이미 잘 관리되는 출처가 있다면 그곳을 참고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34A576-DB1A-4FC4-B1F4-331B4582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95B7C3DD-50AB-44E7-BC56-94160B55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다음 작업에도 쓸 수 있는가?">
            <a:extLst xmlns:a="http://schemas.openxmlformats.org/drawingml/2006/main">
              <a:ext uri="{FF2B5EF4-FFF2-40B4-BE49-F238E27FC236}">
                <a16:creationId xmlns:a16="http://schemas.microsoft.com/office/drawing/2014/main" id="{5B62FB14-7717-46F5-BE1D-DC165620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124200"/>
            <a:ext cx="10115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작업에도 쓸 수 있는가?</a:t>
            </a:r>
          </a:p>
        </p:txBody>
      </p:sp>
      <p:sp>
        <p:nvSpPr>
          <p:cNvPr id="14" name="일회성 실행 상태와 프로젝트 지식을 구별">
            <a:extLst xmlns:a="http://schemas.openxmlformats.org/drawingml/2006/main">
              <a:ext uri="{FF2B5EF4-FFF2-40B4-BE49-F238E27FC236}">
                <a16:creationId xmlns:a16="http://schemas.microsoft.com/office/drawing/2014/main" id="{B56397E3-5D91-4850-9127-2C4F31D03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505200"/>
            <a:ext cx="10115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일회성 실행 상태와 프로젝트 지식을 구별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338C91-F9C0-4491-8875-29C807D4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03">
            <a:extLst xmlns:a="http://schemas.openxmlformats.org/drawingml/2006/main">
              <a:ext uri="{FF2B5EF4-FFF2-40B4-BE49-F238E27FC236}">
                <a16:creationId xmlns:a16="http://schemas.microsoft.com/office/drawing/2014/main" id="{531F47CC-1502-47E8-90EE-3F08BC42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출처와 적용 범위를 아는가?">
            <a:extLst xmlns:a="http://schemas.openxmlformats.org/drawingml/2006/main">
              <a:ext uri="{FF2B5EF4-FFF2-40B4-BE49-F238E27FC236}">
                <a16:creationId xmlns:a16="http://schemas.microsoft.com/office/drawing/2014/main" id="{11D04AF7-A3F7-4AC8-9F51-6B0176E6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971925"/>
            <a:ext cx="10115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출처와 적용 범위를 아는가?</a:t>
            </a:r>
          </a:p>
        </p:txBody>
      </p:sp>
      <p:sp>
        <p:nvSpPr>
          <p:cNvPr id="18" name="어떤 프로젝트·조건에서 유효한지 기록">
            <a:extLst xmlns:a="http://schemas.openxmlformats.org/drawingml/2006/main">
              <a:ext uri="{FF2B5EF4-FFF2-40B4-BE49-F238E27FC236}">
                <a16:creationId xmlns:a16="http://schemas.microsoft.com/office/drawing/2014/main" id="{8D28D1D3-33B6-4E8D-BAE5-D6D1ABC2B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52925"/>
            <a:ext cx="10115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프로젝트·조건에서 유효한지 기록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D0525D-BF14-4A0A-9213-047C0FDBC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04">
            <a:extLst xmlns:a="http://schemas.openxmlformats.org/drawingml/2006/main">
              <a:ext uri="{FF2B5EF4-FFF2-40B4-BE49-F238E27FC236}">
                <a16:creationId xmlns:a16="http://schemas.microsoft.com/office/drawing/2014/main" id="{8C6E4D09-23CB-480A-9B30-958ED865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언제 다시 확인해야 하는가?">
            <a:extLst xmlns:a="http://schemas.openxmlformats.org/drawingml/2006/main">
              <a:ext uri="{FF2B5EF4-FFF2-40B4-BE49-F238E27FC236}">
                <a16:creationId xmlns:a16="http://schemas.microsoft.com/office/drawing/2014/main" id="{33279DD2-4953-465A-A1C0-42F84D14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819650"/>
            <a:ext cx="10115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언제 다시 확인해야 하는가?</a:t>
            </a:r>
          </a:p>
        </p:txBody>
      </p:sp>
      <p:sp>
        <p:nvSpPr>
          <p:cNvPr id="22" name="갱신 또는 무효화할 조건을 함께 관리">
            <a:extLst xmlns:a="http://schemas.openxmlformats.org/drawingml/2006/main">
              <a:ext uri="{FF2B5EF4-FFF2-40B4-BE49-F238E27FC236}">
                <a16:creationId xmlns:a16="http://schemas.microsoft.com/office/drawing/2014/main" id="{B57553F7-CAFD-48C7-A5DF-5445AC7A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200650"/>
            <a:ext cx="10115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갱신 또는 무효화할 조건을 함께 관리</a:t>
            </a:r>
          </a:p>
        </p:txBody>
      </p:sp>
    </p:spTree>
    <p:extLst>
      <p:ext uri="{BB962C8B-B14F-4D97-AF65-F5344CB8AC3E}">
        <p14:creationId xmlns:p14="http://schemas.microsoft.com/office/powerpoint/2010/main" val="193924572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3 · 이번 문제에 실제로 필요했던 구조">
            <a:extLst xmlns:a="http://schemas.openxmlformats.org/drawingml/2006/main">
              <a:ext uri="{FF2B5EF4-FFF2-40B4-BE49-F238E27FC236}">
                <a16:creationId xmlns:a16="http://schemas.microsoft.com/office/drawing/2014/main" id="{ED7D39C8-4AD9-4CE9-A5B9-69049F9D2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이번 문제에 실제로 필요했던 구조</a:t>
            </a:r>
          </a:p>
        </p:txBody>
      </p:sp>
      <p:sp>
        <p:nvSpPr>
          <p:cNvPr id="2" name="S50">
            <a:extLst xmlns:a="http://schemas.openxmlformats.org/drawingml/2006/main">
              <a:ext uri="{FF2B5EF4-FFF2-40B4-BE49-F238E27FC236}">
                <a16:creationId xmlns:a16="http://schemas.microsoft.com/office/drawing/2014/main" id="{6A5E1D90-E4D9-4A7F-8835-62D2D4867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S50</a:t>
            </a:r>
          </a:p>
        </p:txBody>
      </p:sp>
      <p:sp>
        <p:nvSpPr>
          <p:cNvPr id="3" name="Minimum Effective Harness">
            <a:extLst xmlns:a="http://schemas.openxmlformats.org/drawingml/2006/main">
              <a:ext uri="{FF2B5EF4-FFF2-40B4-BE49-F238E27FC236}">
                <a16:creationId xmlns:a16="http://schemas.microsoft.com/office/drawing/2014/main" id="{51333179-FADF-4E67-BEEC-FFE88B50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Minimum Effective Harness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3D71A3-871D-4B91-BB38-A1E5F58E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까지의 구성 · 현재 프로젝트 사례를 정리한 교육용 모델">
            <a:extLst xmlns:a="http://schemas.openxmlformats.org/drawingml/2006/main">
              <a:ext uri="{FF2B5EF4-FFF2-40B4-BE49-F238E27FC236}">
                <a16:creationId xmlns:a16="http://schemas.microsoft.com/office/drawing/2014/main" id="{309DF1BB-F688-4C67-9A68-2605B456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STATE-04-PERF까지의 구성 · 현재 프로젝트 사례를 정리한 교육용 모델</a:t>
            </a:r>
          </a:p>
        </p:txBody>
      </p:sp>
      <p:sp>
        <p:nvSpPr>
          <p:cNvPr id="6" name="Subagent·별도 Memory는 추가하지 않음 · 필요한 구성은 문제와 검증 요건에 따라 달라짐">
            <a:extLst xmlns:a="http://schemas.openxmlformats.org/drawingml/2006/main">
              <a:ext uri="{FF2B5EF4-FFF2-40B4-BE49-F238E27FC236}">
                <a16:creationId xmlns:a16="http://schemas.microsoft.com/office/drawing/2014/main" id="{58F2DFEE-E654-495D-B776-9375A9D1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Subagent·별도 Memory는 추가하지 않음 · 필요한 구성은 문제와 검증 요건에 따라 달라짐</a:t>
            </a:r>
          </a:p>
        </p:txBody>
      </p:sp>
      <p:sp>
        <p:nvSpPr>
          <p:cNvPr id="7" name="반복해서 부딪힌 문제 → 실제로 둔 구조">
            <a:extLst xmlns:a="http://schemas.openxmlformats.org/drawingml/2006/main">
              <a:ext uri="{FF2B5EF4-FFF2-40B4-BE49-F238E27FC236}">
                <a16:creationId xmlns:a16="http://schemas.microsoft.com/office/drawing/2014/main" id="{3CB5644A-9246-4109-8C0E-328B56CBB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반복해서 부딪힌 문제 → 실제로 둔 구조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D6ADAA-A4BD-429A-B786-64D4A1A86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이번 목표와 범위">
            <a:extLst xmlns:a="http://schemas.openxmlformats.org/drawingml/2006/main">
              <a:ext uri="{FF2B5EF4-FFF2-40B4-BE49-F238E27FC236}">
                <a16:creationId xmlns:a16="http://schemas.microsoft.com/office/drawing/2014/main" id="{DA928F7E-D095-4762-94D3-D538E421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46577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목표와 범위</a:t>
            </a:r>
          </a:p>
        </p:txBody>
      </p:sp>
      <p:sp>
        <p:nvSpPr>
          <p:cNvPr id="10" name="→">
            <a:extLst xmlns:a="http://schemas.openxmlformats.org/drawingml/2006/main">
              <a:ext uri="{FF2B5EF4-FFF2-40B4-BE49-F238E27FC236}">
                <a16:creationId xmlns:a16="http://schemas.microsoft.com/office/drawing/2014/main" id="{F206CB35-3423-4642-819A-67F6DEFF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2943225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1" name="Task Prompt">
            <a:extLst xmlns:a="http://schemas.openxmlformats.org/drawingml/2006/main">
              <a:ext uri="{FF2B5EF4-FFF2-40B4-BE49-F238E27FC236}">
                <a16:creationId xmlns:a16="http://schemas.microsoft.com/office/drawing/2014/main" id="{3F863A4F-3F8B-4404-B4ED-6268F80C9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43225"/>
            <a:ext cx="5372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06C58-8A8D-4DD4-A19A-70C791DE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프로젝트 사실과 상세 정보">
            <a:extLst xmlns:a="http://schemas.openxmlformats.org/drawingml/2006/main">
              <a:ext uri="{FF2B5EF4-FFF2-40B4-BE49-F238E27FC236}">
                <a16:creationId xmlns:a16="http://schemas.microsoft.com/office/drawing/2014/main" id="{7E7989A4-CA05-46D2-883E-A20B592C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46577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사실과 상세 정보</a:t>
            </a:r>
          </a:p>
        </p:txBody>
      </p:sp>
      <p:sp>
        <p:nvSpPr>
          <p:cNvPr id="14" name="→">
            <a:extLst xmlns:a="http://schemas.openxmlformats.org/drawingml/2006/main">
              <a:ext uri="{FF2B5EF4-FFF2-40B4-BE49-F238E27FC236}">
                <a16:creationId xmlns:a16="http://schemas.microsoft.com/office/drawing/2014/main" id="{80AB7D5C-715F-40F4-834B-BA392152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35814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5" name="AGENTS.md + docs Routing">
            <a:extLst xmlns:a="http://schemas.openxmlformats.org/drawingml/2006/main">
              <a:ext uri="{FF2B5EF4-FFF2-40B4-BE49-F238E27FC236}">
                <a16:creationId xmlns:a16="http://schemas.microsoft.com/office/drawing/2014/main" id="{1591FDDE-06B7-480A-A9AD-98C4CB9D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81400"/>
            <a:ext cx="5372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AGENTS.md + docs Routing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0D8B9D-B26D-4280-AEDF-A6860096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052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같은 조사·검증 절차">
            <a:extLst xmlns:a="http://schemas.openxmlformats.org/drawingml/2006/main">
              <a:ext uri="{FF2B5EF4-FFF2-40B4-BE49-F238E27FC236}">
                <a16:creationId xmlns:a16="http://schemas.microsoft.com/office/drawing/2014/main" id="{200B9697-225F-4DB0-ADA9-FE170D83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46577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조사·검증 절차</a:t>
            </a:r>
          </a:p>
        </p:txBody>
      </p:sp>
      <p:sp>
        <p:nvSpPr>
          <p:cNvPr id="18" name="→">
            <a:extLst xmlns:a="http://schemas.openxmlformats.org/drawingml/2006/main">
              <a:ext uri="{FF2B5EF4-FFF2-40B4-BE49-F238E27FC236}">
                <a16:creationId xmlns:a16="http://schemas.microsoft.com/office/drawing/2014/main" id="{814C75CC-A9F1-4360-9D3D-781AD12C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219575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9" name="graypipe-performance Skill">
            <a:extLst xmlns:a="http://schemas.openxmlformats.org/drawingml/2006/main">
              <a:ext uri="{FF2B5EF4-FFF2-40B4-BE49-F238E27FC236}">
                <a16:creationId xmlns:a16="http://schemas.microsoft.com/office/drawing/2014/main" id="{084D22F6-B8BA-4148-B427-56F03E416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19575"/>
            <a:ext cx="5372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graypipe-performance Skill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3ABA02-F4A3-4308-80F8-841AB6AE6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변경을 믿을 근거">
            <a:extLst xmlns:a="http://schemas.openxmlformats.org/drawingml/2006/main">
              <a:ext uri="{FF2B5EF4-FFF2-40B4-BE49-F238E27FC236}">
                <a16:creationId xmlns:a16="http://schemas.microsoft.com/office/drawing/2014/main" id="{682FC2F7-18B6-488B-9C1F-579240B16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46577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변경을 믿을 근거</a:t>
            </a:r>
          </a:p>
        </p:txBody>
      </p:sp>
      <p:sp>
        <p:nvSpPr>
          <p:cNvPr id="22" name="→">
            <a:extLst xmlns:a="http://schemas.openxmlformats.org/drawingml/2006/main">
              <a:ext uri="{FF2B5EF4-FFF2-40B4-BE49-F238E27FC236}">
                <a16:creationId xmlns:a16="http://schemas.microsoft.com/office/drawing/2014/main" id="{1432ECE5-EA32-4E34-8B55-E3BF7292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85775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3" name="Tests + Benchmark + Tools / Environment">
            <a:extLst xmlns:a="http://schemas.openxmlformats.org/drawingml/2006/main">
              <a:ext uri="{FF2B5EF4-FFF2-40B4-BE49-F238E27FC236}">
                <a16:creationId xmlns:a16="http://schemas.microsoft.com/office/drawing/2014/main" id="{A491DE77-099E-4785-B271-BA0C54ACA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57750"/>
            <a:ext cx="5372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Tests + Benchmark + Tools / Environment</a:t>
            </a:r>
          </a:p>
        </p:txBody>
      </p:sp>
    </p:spTree>
    <p:extLst>
      <p:ext uri="{BB962C8B-B14F-4D97-AF65-F5344CB8AC3E}">
        <p14:creationId xmlns:p14="http://schemas.microsoft.com/office/powerpoint/2010/main" val="132495136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3 · 개발자와 Agent가 일하는 환경">
            <a:extLst xmlns:a="http://schemas.openxmlformats.org/drawingml/2006/main">
              <a:ext uri="{FF2B5EF4-FFF2-40B4-BE49-F238E27FC236}">
                <a16:creationId xmlns:a16="http://schemas.microsoft.com/office/drawing/2014/main" id="{7AF13887-2311-4843-B7B3-6AD187B7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개발자와 Agent가 일하는 환경</a:t>
            </a:r>
          </a:p>
        </p:txBody>
      </p:sp>
      <p:sp>
        <p:nvSpPr>
          <p:cNvPr id="2" name="S51">
            <a:extLst xmlns:a="http://schemas.openxmlformats.org/drawingml/2006/main">
              <a:ext uri="{FF2B5EF4-FFF2-40B4-BE49-F238E27FC236}">
                <a16:creationId xmlns:a16="http://schemas.microsoft.com/office/drawing/2014/main" id="{14121609-76B1-4A1F-BB8E-10AF6286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S51</a:t>
            </a:r>
          </a:p>
        </p:txBody>
      </p:sp>
      <p:sp>
        <p:nvSpPr>
          <p:cNvPr id="3" name="Harness는 작업 환경 설계다">
            <a:extLst xmlns:a="http://schemas.openxmlformats.org/drawingml/2006/main">
              <a:ext uri="{FF2B5EF4-FFF2-40B4-BE49-F238E27FC236}">
                <a16:creationId xmlns:a16="http://schemas.microsoft.com/office/drawing/2014/main" id="{ADFABBB0-D506-4400-AD17-412225FBD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Harness는 작업 환경 설계다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313601-062C-49C6-A03A-B235E9A7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Harness: Agent가 Project에서 신뢰성 있게 일하도록 설계한 작업 환경 · 이 과정의 운영 모">
            <a:extLst xmlns:a="http://schemas.openxmlformats.org/drawingml/2006/main">
              <a:ext uri="{FF2B5EF4-FFF2-40B4-BE49-F238E27FC236}">
                <a16:creationId xmlns:a16="http://schemas.microsoft.com/office/drawing/2014/main" id="{AC54EBBE-4C72-4691-8232-0E10CB5E2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Harness: Agent가 Project에서 신뢰성 있게 일하도록 설계한 작업 환경 · 이 과정의 운영 모델</a:t>
            </a:r>
          </a:p>
        </p:txBody>
      </p:sp>
      <p:sp>
        <p:nvSpPr>
          <p:cNvPr id="6" name="공식 제품 분류가 아님 · STATE-04-PERF 관찰 요소와 교육용 전체 모델을 구분한다">
            <a:extLst xmlns:a="http://schemas.openxmlformats.org/drawingml/2006/main">
              <a:ext uri="{FF2B5EF4-FFF2-40B4-BE49-F238E27FC236}">
                <a16:creationId xmlns:a16="http://schemas.microsoft.com/office/drawing/2014/main" id="{6968A3F8-4DAE-441A-A3C8-CEE14E3A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공식 제품 분류가 아님 · STATE-04-PERF 관찰 요소와 교육용 전체 모델을 구분한다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E73216-AEDD-4E86-A2A3-BF660006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2600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Project 작업 환경">
            <a:extLst xmlns:a="http://schemas.openxmlformats.org/drawingml/2006/main">
              <a:ext uri="{FF2B5EF4-FFF2-40B4-BE49-F238E27FC236}">
                <a16:creationId xmlns:a16="http://schemas.microsoft.com/office/drawing/2014/main" id="{094A70AB-75E5-4932-8EE5-4D088407A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14575"/>
            <a:ext cx="10515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Project 작업 환경</a:t>
            </a:r>
          </a:p>
        </p:txBody>
      </p:sp>
      <p:sp>
        <p:nvSpPr>
          <p:cNvPr id="9" name="개발자 + Agent">
            <a:extLst xmlns:a="http://schemas.openxmlformats.org/drawingml/2006/main">
              <a:ext uri="{FF2B5EF4-FFF2-40B4-BE49-F238E27FC236}">
                <a16:creationId xmlns:a16="http://schemas.microsoft.com/office/drawing/2014/main" id="{B2DFE712-5502-443B-A66C-5ECEF9A7E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76550"/>
            <a:ext cx="4762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개발자 + Agent</a:t>
            </a:r>
          </a:p>
        </p:txBody>
      </p:sp>
      <p:sp>
        <p:nvSpPr>
          <p:cNvPr id="10" name="현재 목표">
            <a:extLst xmlns:a="http://schemas.openxmlformats.org/drawingml/2006/main">
              <a:ext uri="{FF2B5EF4-FFF2-40B4-BE49-F238E27FC236}">
                <a16:creationId xmlns:a16="http://schemas.microsoft.com/office/drawing/2014/main" id="{BD89F178-E11A-42C6-BCC0-EEBB8DA1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956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목표</a:t>
            </a:r>
          </a:p>
        </p:txBody>
      </p:sp>
      <p:sp>
        <p:nvSpPr>
          <p:cNvPr id="11" name="확인할 결과">
            <a:extLst xmlns:a="http://schemas.openxmlformats.org/drawingml/2006/main">
              <a:ext uri="{FF2B5EF4-FFF2-40B4-BE49-F238E27FC236}">
                <a16:creationId xmlns:a16="http://schemas.microsoft.com/office/drawing/2014/main" id="{B1364185-7C28-4937-A2B8-EC149859C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0956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5B9BE8-2E68-4F05-98A6-E647246EC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209925"/>
            <a:ext cx="3810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5678F9-786A-4DA4-919C-DF7EDEA69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09925"/>
            <a:ext cx="23812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CE899B-16D6-48EF-99C0-B7631743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38575"/>
            <a:ext cx="1051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Project Context / Routing     ·     Workflow     ·     Verif">
            <a:extLst xmlns:a="http://schemas.openxmlformats.org/drawingml/2006/main">
              <a:ext uri="{FF2B5EF4-FFF2-40B4-BE49-F238E27FC236}">
                <a16:creationId xmlns:a16="http://schemas.microsoft.com/office/drawing/2014/main" id="{3F3CD357-884F-4088-BFFF-AAE4727FF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48125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 Context / Routing     ·     Workflow     ·     Verification / Tools</a:t>
            </a:r>
          </a:p>
        </p:txBody>
      </p:sp>
      <p:sp>
        <p:nvSpPr>
          <p:cNvPr id="16" name="관찰한 구성">
            <a:extLst xmlns:a="http://schemas.openxmlformats.org/drawingml/2006/main">
              <a:ext uri="{FF2B5EF4-FFF2-40B4-BE49-F238E27FC236}">
                <a16:creationId xmlns:a16="http://schemas.microsoft.com/office/drawing/2014/main" id="{4D4DC0F6-D16F-462A-91F6-357653BA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962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관찰한 구성</a:t>
            </a:r>
          </a:p>
        </p:txBody>
      </p:sp>
      <p:sp>
        <p:nvSpPr>
          <p:cNvPr id="17" name="AGENTS.md · docs · Skill · Tests · Benchmark">
            <a:extLst xmlns:a="http://schemas.openxmlformats.org/drawingml/2006/main">
              <a:ext uri="{FF2B5EF4-FFF2-40B4-BE49-F238E27FC236}">
                <a16:creationId xmlns:a16="http://schemas.microsoft.com/office/drawing/2014/main" id="{0F998D36-F480-4695-BFDE-F4B7DFDC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133975"/>
            <a:ext cx="882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AGENTS.md · docs · Skill · Tests · Benchmark</a:t>
            </a:r>
          </a:p>
        </p:txBody>
      </p:sp>
    </p:spTree>
    <p:extLst>
      <p:ext uri="{BB962C8B-B14F-4D97-AF65-F5344CB8AC3E}">
        <p14:creationId xmlns:p14="http://schemas.microsoft.com/office/powerpoint/2010/main" val="31033865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3 · 실행 환경의 경계">
            <a:extLst xmlns:a="http://schemas.openxmlformats.org/drawingml/2006/main">
              <a:ext uri="{FF2B5EF4-FFF2-40B4-BE49-F238E27FC236}">
                <a16:creationId xmlns:a16="http://schemas.microsoft.com/office/drawing/2014/main" id="{2503E3C2-A35D-4464-B3FF-C4D87B2D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실행 환경의 경계</a:t>
            </a:r>
          </a:p>
        </p:txBody>
      </p:sp>
      <p:sp>
        <p:nvSpPr>
          <p:cNvPr id="2" name="S52">
            <a:extLst xmlns:a="http://schemas.openxmlformats.org/drawingml/2006/main">
              <a:ext uri="{FF2B5EF4-FFF2-40B4-BE49-F238E27FC236}">
                <a16:creationId xmlns:a16="http://schemas.microsoft.com/office/drawing/2014/main" id="{2D8FF950-0E75-4527-906E-008D1729F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S52</a:t>
            </a:r>
          </a:p>
        </p:txBody>
      </p:sp>
      <p:sp>
        <p:nvSpPr>
          <p:cNvPr id="3" name="Repository 밖의 환경도 결과에 영향을 준다">
            <a:extLst xmlns:a="http://schemas.openxmlformats.org/drawingml/2006/main">
              <a:ext uri="{FF2B5EF4-FFF2-40B4-BE49-F238E27FC236}">
                <a16:creationId xmlns:a16="http://schemas.microsoft.com/office/drawing/2014/main" id="{558EF0D4-15E4-411C-BF63-68C63030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 밖의 환경도 결과에 영향을 준다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613BB4-D499-4FD3-9B02-F01E246A7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6E0F81-323F-403A-B960-6E4E5E799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관찰된 제작 이력의 예고 · Global Skills와 hook/MCP 시작 경고의 기록 존재">
            <a:extLst xmlns:a="http://schemas.openxmlformats.org/drawingml/2006/main">
              <a:ext uri="{FF2B5EF4-FFF2-40B4-BE49-F238E27FC236}">
                <a16:creationId xmlns:a16="http://schemas.microsoft.com/office/drawing/2014/main" id="{D5AA5E8D-57DA-4BB7-B762-B9A613E13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관찰된 제작 이력의 예고 · Global Skills와 hook/MCP 시작 경고의 기록 존재</a:t>
            </a:r>
          </a:p>
        </p:txBody>
      </p:sp>
      <p:sp>
        <p:nvSpPr>
          <p:cNvPr id="7" name="전체 환경 목록이나 모든 요소의 인과 효과를 확인한 것은 아님 · 상세 근거는 ACT 4에서 확인">
            <a:extLst xmlns:a="http://schemas.openxmlformats.org/drawingml/2006/main">
              <a:ext uri="{FF2B5EF4-FFF2-40B4-BE49-F238E27FC236}">
                <a16:creationId xmlns:a16="http://schemas.microsoft.com/office/drawing/2014/main" id="{A5E6FA46-930B-4738-8671-683D1864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전체 환경 목록이나 모든 요소의 인과 효과를 확인한 것은 아님 · 상세 근거는 ACT 4에서 확인</a:t>
            </a:r>
          </a:p>
        </p:txBody>
      </p:sp>
      <p:sp>
        <p:nvSpPr>
          <p:cNvPr id="8" name="같은 Repository가 같은 실행 환경을 뜻할까?">
            <a:extLst xmlns:a="http://schemas.openxmlformats.org/drawingml/2006/main">
              <a:ext uri="{FF2B5EF4-FFF2-40B4-BE49-F238E27FC236}">
                <a16:creationId xmlns:a16="http://schemas.microsoft.com/office/drawing/2014/main" id="{28D5A6A9-840B-47FA-9540-522E1140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Repository가 같은 실행 환경을 뜻할까?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DB11A3-99A0-4F6A-A9F7-6C5BDDEE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4476750" cy="2028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Project Repository">
            <a:extLst xmlns:a="http://schemas.openxmlformats.org/drawingml/2006/main">
              <a:ext uri="{FF2B5EF4-FFF2-40B4-BE49-F238E27FC236}">
                <a16:creationId xmlns:a16="http://schemas.microsoft.com/office/drawing/2014/main" id="{2565000B-701C-486C-89D8-F011BC0A8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14675"/>
            <a:ext cx="401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 Repository</a:t>
            </a:r>
          </a:p>
        </p:txBody>
      </p:sp>
      <p:sp>
        <p:nvSpPr>
          <p:cNvPr id="11" name="코드 · AGENTS.md&#10;Project docs · Skill">
            <a:extLst xmlns:a="http://schemas.openxmlformats.org/drawingml/2006/main">
              <a:ext uri="{FF2B5EF4-FFF2-40B4-BE49-F238E27FC236}">
                <a16:creationId xmlns:a16="http://schemas.microsoft.com/office/drawing/2014/main" id="{CD9B63AE-B1C7-42B7-8AB8-020D28AA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0195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코드 · AGENTS.md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 docs · Skill</a:t>
            </a:r>
          </a:p>
        </p:txBody>
      </p:sp>
      <p:sp>
        <p:nvSpPr>
          <p:cNvPr id="12" name="바깥에서 함께 들어올 수 있는 조건">
            <a:extLst xmlns:a="http://schemas.openxmlformats.org/drawingml/2006/main">
              <a:ext uri="{FF2B5EF4-FFF2-40B4-BE49-F238E27FC236}">
                <a16:creationId xmlns:a16="http://schemas.microsoft.com/office/drawing/2014/main" id="{4B146166-9927-4ABC-8A10-706A514F9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924175"/>
            <a:ext cx="5543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바깥에서 함께 들어올 수 있는 조건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F50727-EEC3-4065-960A-F5F3D9F4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495675"/>
            <a:ext cx="5543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지침">
            <a:extLst xmlns:a="http://schemas.openxmlformats.org/drawingml/2006/main">
              <a:ext uri="{FF2B5EF4-FFF2-40B4-BE49-F238E27FC236}">
                <a16:creationId xmlns:a16="http://schemas.microsoft.com/office/drawing/2014/main" id="{0D9C90D8-AC74-41B4-8F97-774B02595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5909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지침</a:t>
            </a:r>
          </a:p>
        </p:txBody>
      </p:sp>
      <p:sp>
        <p:nvSpPr>
          <p:cNvPr id="15" name="Global instructions · Skills">
            <a:extLst xmlns:a="http://schemas.openxmlformats.org/drawingml/2006/main">
              <a:ext uri="{FF2B5EF4-FFF2-40B4-BE49-F238E27FC236}">
                <a16:creationId xmlns:a16="http://schemas.microsoft.com/office/drawing/2014/main" id="{AB416D88-5303-4EB3-A59F-63790D859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590925"/>
            <a:ext cx="4010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Global instructions · Skills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E7A4A6-A6A0-4D08-834A-0B063B2CD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076700"/>
            <a:ext cx="5543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실행">
            <a:extLst xmlns:a="http://schemas.openxmlformats.org/drawingml/2006/main">
              <a:ext uri="{FF2B5EF4-FFF2-40B4-BE49-F238E27FC236}">
                <a16:creationId xmlns:a16="http://schemas.microsoft.com/office/drawing/2014/main" id="{D95F39D4-6EBA-4FC4-A14C-0BCDC02B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1719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</a:t>
            </a:r>
          </a:p>
        </p:txBody>
      </p:sp>
      <p:sp>
        <p:nvSpPr>
          <p:cNvPr id="18" name="Model/config · OS/runtime">
            <a:extLst xmlns:a="http://schemas.openxmlformats.org/drawingml/2006/main">
              <a:ext uri="{FF2B5EF4-FFF2-40B4-BE49-F238E27FC236}">
                <a16:creationId xmlns:a16="http://schemas.microsoft.com/office/drawing/2014/main" id="{D23A3371-E8AD-4A20-87E3-33A88BAF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171950"/>
            <a:ext cx="4010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Model/config · OS/runtime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EBD38F-4B22-4CB2-BE99-10F6840A6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657725"/>
            <a:ext cx="5543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도구와 권한">
            <a:extLst xmlns:a="http://schemas.openxmlformats.org/drawingml/2006/main">
              <a:ext uri="{FF2B5EF4-FFF2-40B4-BE49-F238E27FC236}">
                <a16:creationId xmlns:a16="http://schemas.microsoft.com/office/drawing/2014/main" id="{AA3A3CED-6314-4847-BCED-E57AA5347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75297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도구와 권한</a:t>
            </a:r>
          </a:p>
        </p:txBody>
      </p:sp>
      <p:sp>
        <p:nvSpPr>
          <p:cNvPr id="21" name="Hooks · MCP · Permissions">
            <a:extLst xmlns:a="http://schemas.openxmlformats.org/drawingml/2006/main">
              <a:ext uri="{FF2B5EF4-FFF2-40B4-BE49-F238E27FC236}">
                <a16:creationId xmlns:a16="http://schemas.microsoft.com/office/drawing/2014/main" id="{9DBAB636-1DFE-4BCE-B172-9844AD34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752975"/>
            <a:ext cx="4010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Hooks · MCP · Permissions</a:t>
            </a:r>
          </a:p>
        </p:txBody>
      </p:sp>
      <p:sp>
        <p:nvSpPr>
          <p:cNvPr id="22" name="Repository 바깥의 흔적도, 결과를 해석할 때 기록한다">
            <a:extLst xmlns:a="http://schemas.openxmlformats.org/drawingml/2006/main">
              <a:ext uri="{FF2B5EF4-FFF2-40B4-BE49-F238E27FC236}">
                <a16:creationId xmlns:a16="http://schemas.microsoft.com/office/drawing/2014/main" id="{5817EBFD-3DA2-4CF3-9436-888300893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 바깥의 흔적도, 결과를 해석할 때 기록한다</a:t>
            </a:r>
          </a:p>
        </p:txBody>
      </p:sp>
    </p:spTree>
    <p:extLst>
      <p:ext uri="{BB962C8B-B14F-4D97-AF65-F5344CB8AC3E}">
        <p14:creationId xmlns:p14="http://schemas.microsoft.com/office/powerpoint/2010/main" val="17950455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3 · 도구를 넘어 같은 판단을 적용하기">
            <a:extLst xmlns:a="http://schemas.openxmlformats.org/drawingml/2006/main">
              <a:ext uri="{FF2B5EF4-FFF2-40B4-BE49-F238E27FC236}">
                <a16:creationId xmlns:a16="http://schemas.microsoft.com/office/drawing/2014/main" id="{C2787ABE-558E-4EE6-A549-A8734600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도구를 넘어 같은 판단을 적용하기</a:t>
            </a:r>
          </a:p>
        </p:txBody>
      </p:sp>
      <p:sp>
        <p:nvSpPr>
          <p:cNvPr id="2" name="S53">
            <a:extLst xmlns:a="http://schemas.openxmlformats.org/drawingml/2006/main">
              <a:ext uri="{FF2B5EF4-FFF2-40B4-BE49-F238E27FC236}">
                <a16:creationId xmlns:a16="http://schemas.microsoft.com/office/drawing/2014/main" id="{EAD8EEDE-7C83-41F9-9EED-563019336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S53</a:t>
            </a:r>
          </a:p>
        </p:txBody>
      </p:sp>
      <p:sp>
        <p:nvSpPr>
          <p:cNvPr id="3" name="Engineering Pattern은 C++에도 전이된다">
            <a:extLst xmlns:a="http://schemas.openxmlformats.org/drawingml/2006/main">
              <a:ext uri="{FF2B5EF4-FFF2-40B4-BE49-F238E27FC236}">
                <a16:creationId xmlns:a16="http://schemas.microsoft.com/office/drawing/2014/main" id="{9837F7C5-79C5-4BAB-8304-53C390A83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Engineering Pattern은 C++에도 전이된다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775AF8-7936-413F-8F3A-4A58C5EEC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C++ Vision 전이를 위한 교육용 예시 · AI 생성 설명용 삽화">
            <a:extLst xmlns:a="http://schemas.openxmlformats.org/drawingml/2006/main">
              <a:ext uri="{FF2B5EF4-FFF2-40B4-BE49-F238E27FC236}">
                <a16:creationId xmlns:a16="http://schemas.microsoft.com/office/drawing/2014/main" id="{481C0BAA-0BC8-45C4-8F98-81064833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Vision 전이를 위한 교육용 예시 · AI 생성 설명용 삽화</a:t>
            </a:r>
          </a:p>
        </p:txBody>
      </p:sp>
      <p:sp>
        <p:nvSpPr>
          <p:cNvPr id="6" name="실제 C++ Demo·회사 장비·측정 결과가 아닙니다. 도구·빌드·하드웨어 조건은 프로젝트별 확인 필요">
            <a:extLst xmlns:a="http://schemas.openxmlformats.org/drawingml/2006/main">
              <a:ext uri="{FF2B5EF4-FFF2-40B4-BE49-F238E27FC236}">
                <a16:creationId xmlns:a16="http://schemas.microsoft.com/office/drawing/2014/main" id="{89EE8E0F-F6EA-4BA8-A651-320318CA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C++ Demo·회사 장비·측정 결과가 아닙니다. 도구·빌드·하드웨어 조건은 프로젝트별 확인 필요</a:t>
            </a:r>
          </a:p>
        </p:txBody>
      </p:sp>
      <p:sp>
        <p:nvSpPr>
          <p:cNvPr id="7" name="Python Demo에서 확인한 질문을 C++ Vision 업무로">
            <a:extLst xmlns:a="http://schemas.openxmlformats.org/drawingml/2006/main">
              <a:ext uri="{FF2B5EF4-FFF2-40B4-BE49-F238E27FC236}">
                <a16:creationId xmlns:a16="http://schemas.microsoft.com/office/drawing/2014/main" id="{CB028F8E-2634-43F6-8D5C-3B33F7D9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Python Demo에서 확인한 질문을 C++ Vision 업무로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0A1F1C-445A-4E5C-A9BA-0539D34D1A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28fda157884ecf"/>
          <a:srcRect xmlns:a="http://schemas.openxmlformats.org/drawingml/2006/main" l="0" t="8000" r="0" b="12000"/>
          <a:stretch xmlns:a="http://schemas.openxmlformats.org/drawingml/2006/main"/>
        </p:blipFill>
        <p:spPr>
          <a:xfrm xmlns:a="http://schemas.openxmlformats.org/drawingml/2006/main">
            <a:off x="1881188" y="1914525"/>
            <a:ext cx="8429625" cy="2247900"/>
          </a:xfrm>
          <a:prstGeom xmlns:a="http://schemas.openxmlformats.org/drawingml/2006/main" prst="rect">
            <a:avLst/>
          </a:prstGeom>
        </p:spPr>
      </p:pic>
      <p:sp>
        <p:nvSpPr>
          <p:cNvPr id="9" name="기준 조건은?">
            <a:extLst xmlns:a="http://schemas.openxmlformats.org/drawingml/2006/main">
              <a:ext uri="{FF2B5EF4-FFF2-40B4-BE49-F238E27FC236}">
                <a16:creationId xmlns:a16="http://schemas.microsoft.com/office/drawing/2014/main" id="{D2347107-4053-4E1C-AA80-B67DE989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기준 조건은?</a:t>
            </a:r>
          </a:p>
        </p:txBody>
      </p:sp>
      <p:sp>
        <p:nvSpPr>
          <p:cNvPr id="10" name="입력·계약에서&#10;빌드·하드웨어 가정까지">
            <a:extLst xmlns:a="http://schemas.openxmlformats.org/drawingml/2006/main">
              <a:ext uri="{FF2B5EF4-FFF2-40B4-BE49-F238E27FC236}">
                <a16:creationId xmlns:a16="http://schemas.microsoft.com/office/drawing/2014/main" id="{15F365E1-060A-4FA4-82A7-B9AF676A1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350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입력·계약에서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빌드·하드웨어 가정까지</a:t>
            </a:r>
          </a:p>
        </p:txBody>
      </p:sp>
      <p:sp>
        <p:nvSpPr>
          <p:cNvPr id="11" name="어디를 조사할까?">
            <a:extLst xmlns:a="http://schemas.openxmlformats.org/drawingml/2006/main">
              <a:ext uri="{FF2B5EF4-FFF2-40B4-BE49-F238E27FC236}">
                <a16:creationId xmlns:a16="http://schemas.microsoft.com/office/drawing/2014/main" id="{32E8273A-59EC-47F4-9508-D2D35BDF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17195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어디를 조사할까?</a:t>
            </a:r>
          </a:p>
        </p:txBody>
      </p:sp>
      <p:sp>
        <p:nvSpPr>
          <p:cNvPr id="12" name="측정한 코드 경로에서&#10;해당 모듈의 profile로">
            <a:extLst xmlns:a="http://schemas.openxmlformats.org/drawingml/2006/main">
              <a:ext uri="{FF2B5EF4-FFF2-40B4-BE49-F238E27FC236}">
                <a16:creationId xmlns:a16="http://schemas.microsoft.com/office/drawing/2014/main" id="{6FA39FD0-534E-4C9B-8138-C77180FE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533900"/>
            <a:ext cx="350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측정한 코드 경로에서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해당 모듈의 profile로</a:t>
            </a:r>
          </a:p>
        </p:txBody>
      </p:sp>
      <p:sp>
        <p:nvSpPr>
          <p:cNvPr id="13" name="무엇을 확인할까?">
            <a:extLst xmlns:a="http://schemas.openxmlformats.org/drawingml/2006/main">
              <a:ext uri="{FF2B5EF4-FFF2-40B4-BE49-F238E27FC236}">
                <a16:creationId xmlns:a16="http://schemas.microsoft.com/office/drawing/2014/main" id="{8E27F3AD-4D9F-412C-9899-031B958A6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17195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확인할까?</a:t>
            </a:r>
          </a:p>
        </p:txBody>
      </p:sp>
      <p:sp>
        <p:nvSpPr>
          <p:cNvPr id="14" name="동작 계약에서&#10;모듈·회귀·통합 검증으로">
            <a:extLst xmlns:a="http://schemas.openxmlformats.org/drawingml/2006/main">
              <a:ext uri="{FF2B5EF4-FFF2-40B4-BE49-F238E27FC236}">
                <a16:creationId xmlns:a16="http://schemas.microsoft.com/office/drawing/2014/main" id="{06B79309-61EF-42E1-9390-C593EBBB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33900"/>
            <a:ext cx="350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 계약에서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모듈·회귀·통합 검증으로</a:t>
            </a:r>
          </a:p>
        </p:txBody>
      </p:sp>
      <p:sp>
        <p:nvSpPr>
          <p:cNvPr id="15" name="baseline → profile → change → regression check">
            <a:extLst xmlns:a="http://schemas.openxmlformats.org/drawingml/2006/main">
              <a:ext uri="{FF2B5EF4-FFF2-40B4-BE49-F238E27FC236}">
                <a16:creationId xmlns:a16="http://schemas.microsoft.com/office/drawing/2014/main" id="{F7B8EE7B-2CEB-486C-A96F-41B1B19CB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baseline → profile → change → regression check</a:t>
            </a:r>
          </a:p>
        </p:txBody>
      </p:sp>
    </p:spTree>
    <p:extLst>
      <p:ext uri="{BB962C8B-B14F-4D97-AF65-F5344CB8AC3E}">
        <p14:creationId xmlns:p14="http://schemas.microsoft.com/office/powerpoint/2010/main" val="61203852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3 · 내 업무의 반복을 돌아보기">
            <a:extLst xmlns:a="http://schemas.openxmlformats.org/drawingml/2006/main">
              <a:ext uri="{FF2B5EF4-FFF2-40B4-BE49-F238E27FC236}">
                <a16:creationId xmlns:a16="http://schemas.microsoft.com/office/drawing/2014/main" id="{3152B828-D590-4DF1-B439-AA7B7DF1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내 업무의 반복을 돌아보기</a:t>
            </a:r>
          </a:p>
        </p:txBody>
      </p:sp>
      <p:sp>
        <p:nvSpPr>
          <p:cNvPr id="2" name="S54">
            <a:extLst xmlns:a="http://schemas.openxmlformats.org/drawingml/2006/main">
              <a:ext uri="{FF2B5EF4-FFF2-40B4-BE49-F238E27FC236}">
                <a16:creationId xmlns:a16="http://schemas.microsoft.com/office/drawing/2014/main" id="{E1298BD3-481B-43E9-B792-F820A1FA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S54</a:t>
            </a:r>
          </a:p>
        </p:txBody>
      </p:sp>
      <p:sp>
        <p:nvSpPr>
          <p:cNvPr id="3" name="필요한 구조부터 질문하기">
            <a:extLst xmlns:a="http://schemas.openxmlformats.org/drawingml/2006/main">
              <a:ext uri="{FF2B5EF4-FFF2-40B4-BE49-F238E27FC236}">
                <a16:creationId xmlns:a16="http://schemas.microsoft.com/office/drawing/2014/main" id="{0582F00A-C8CE-4F66-9D44-E00B8E02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필요한 구조부터 질문하기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5FCC94-5663-4234-8DAE-D5B05022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자신의 업무를 생각해보기 · 공유는 선택">
            <a:extLst xmlns:a="http://schemas.openxmlformats.org/drawingml/2006/main">
              <a:ext uri="{FF2B5EF4-FFF2-40B4-BE49-F238E27FC236}">
                <a16:creationId xmlns:a16="http://schemas.microsoft.com/office/drawing/2014/main" id="{3F2C9D64-DDE7-4ABA-BF98-AED710FB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자신의 업무를 생각해보기 · 공유는 선택</a:t>
            </a:r>
          </a:p>
        </p:txBody>
      </p:sp>
      <p:sp>
        <p:nvSpPr>
          <p:cNvPr id="6" name="STATE-04-PERF는 이 작업에서 잘 동작한 결과 · Subagent와 Memory는 조건부 선택">
            <a:extLst xmlns:a="http://schemas.openxmlformats.org/drawingml/2006/main">
              <a:ext uri="{FF2B5EF4-FFF2-40B4-BE49-F238E27FC236}">
                <a16:creationId xmlns:a16="http://schemas.microsoft.com/office/drawing/2014/main" id="{4F0963D2-6607-4189-BE86-7F1DBE47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STATE-04-PERF는 이 작업에서 잘 동작한 결과 · Subagent와 Memory는 조건부 선택</a:t>
            </a:r>
          </a:p>
        </p:txBody>
      </p:sp>
      <p:sp>
        <p:nvSpPr>
          <p:cNvPr id="7" name="내 업무에서 가장 자주 반복하는 설명은?">
            <a:extLst xmlns:a="http://schemas.openxmlformats.org/drawingml/2006/main">
              <a:ext uri="{FF2B5EF4-FFF2-40B4-BE49-F238E27FC236}">
                <a16:creationId xmlns:a16="http://schemas.microsoft.com/office/drawing/2014/main" id="{1FF3DC49-2F29-4D42-93FE-3A3AE5E49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내 업무에서 가장 자주 반복하는 설명은?</a:t>
            </a:r>
          </a:p>
        </p:txBody>
      </p:sp>
      <p:sp>
        <p:nvSpPr>
          <p:cNvPr id="8" name="“우리 프로젝트의 제약은…”">
            <a:extLst xmlns:a="http://schemas.openxmlformats.org/drawingml/2006/main">
              <a:ext uri="{FF2B5EF4-FFF2-40B4-BE49-F238E27FC236}">
                <a16:creationId xmlns:a16="http://schemas.microsoft.com/office/drawing/2014/main" id="{57F6047E-8742-4644-BFA6-D3A0EB540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5238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“우리 프로젝트의 제약은…”</a:t>
            </a:r>
          </a:p>
        </p:txBody>
      </p:sp>
      <p:sp>
        <p:nvSpPr>
          <p:cNvPr id="9" name="“먼저 측정하고, 끝나면 확인해…”">
            <a:extLst xmlns:a="http://schemas.openxmlformats.org/drawingml/2006/main">
              <a:ext uri="{FF2B5EF4-FFF2-40B4-BE49-F238E27FC236}">
                <a16:creationId xmlns:a16="http://schemas.microsoft.com/office/drawing/2014/main" id="{F519AFCB-9599-41B9-B843-8206B9A18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14675"/>
            <a:ext cx="4876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“먼저 측정하고, 끝나면 확인해…”</a:t>
            </a:r>
          </a:p>
        </p:txBody>
      </p:sp>
      <p:sp>
        <p:nvSpPr>
          <p:cNvPr id="10" name="반복되는 사실">
            <a:extLst xmlns:a="http://schemas.openxmlformats.org/drawingml/2006/main">
              <a:ext uri="{FF2B5EF4-FFF2-40B4-BE49-F238E27FC236}">
                <a16:creationId xmlns:a16="http://schemas.microsoft.com/office/drawing/2014/main" id="{570B308F-0B28-48AF-A8CA-CCD7C571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5238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반복되는 사실</a:t>
            </a:r>
          </a:p>
        </p:txBody>
      </p:sp>
      <p:sp>
        <p:nvSpPr>
          <p:cNvPr id="11" name="반복되는 절차">
            <a:extLst xmlns:a="http://schemas.openxmlformats.org/drawingml/2006/main">
              <a:ext uri="{FF2B5EF4-FFF2-40B4-BE49-F238E27FC236}">
                <a16:creationId xmlns:a16="http://schemas.microsoft.com/office/drawing/2014/main" id="{0BE7C45F-75F6-4454-A99B-D160F4F1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52850"/>
            <a:ext cx="4876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반복되는 절차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515DB3-530E-4274-A8BA-7F87664B0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862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지금 잘 동작한다면,&#10;Project가 바뀐 뒤에도 계속 맞을까?">
            <a:extLst xmlns:a="http://schemas.openxmlformats.org/drawingml/2006/main">
              <a:ext uri="{FF2B5EF4-FFF2-40B4-BE49-F238E27FC236}">
                <a16:creationId xmlns:a16="http://schemas.microsoft.com/office/drawing/2014/main" id="{06EFC6B6-136A-480E-BEF4-A5D4BC33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29175"/>
            <a:ext cx="109728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지금 잘 동작한다면,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Project가 바뀐 뒤에도 계속 맞을까?</a:t>
            </a:r>
          </a:p>
        </p:txBody>
      </p:sp>
    </p:spTree>
    <p:extLst>
      <p:ext uri="{BB962C8B-B14F-4D97-AF65-F5344CB8AC3E}">
        <p14:creationId xmlns:p14="http://schemas.microsoft.com/office/powerpoint/2010/main" val="3998780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2026-10-18T14:27:44.8780000Z</dcterms:created>
  <dcterms:modified xsi:type="dcterms:W3CDTF">2026-10-18T14:27:44.8790000Z</dcterms:modified>
</coreProperties>
</file>