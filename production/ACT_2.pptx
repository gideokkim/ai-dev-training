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45609709e44f77" /><Relationship Type="http://schemas.openxmlformats.org/officeDocument/2006/relationships/extended-properties" Target="/docProps/app.xml" Id="R6da2470192bd4b8f" /><Relationship Type="http://schemas.openxmlformats.org/officeDocument/2006/relationships/officeDocument" Target="/ppt/presentation.xml" Id="R9110001f89b24e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5b982a934f4095"/>
  </p:sldMasterIdLst>
  <p:notesMasterIdLst>
    <p:notesMasterId xmlns:r="http://schemas.openxmlformats.org/officeDocument/2006/relationships" r:id="Rd5c6840128ae4088"/>
  </p:notesMasterIdLst>
  <p:sldIdLst>
    <p:sldId xmlns:r="http://schemas.openxmlformats.org/officeDocument/2006/relationships" id="256" r:id="Rf9aa51abf9e64336"/>
    <p:sldId xmlns:r="http://schemas.openxmlformats.org/officeDocument/2006/relationships" id="257" r:id="Re3842fe5fc174b83"/>
    <p:sldId xmlns:r="http://schemas.openxmlformats.org/officeDocument/2006/relationships" id="258" r:id="R93135c02e94e4e1d"/>
    <p:sldId xmlns:r="http://schemas.openxmlformats.org/officeDocument/2006/relationships" id="259" r:id="Ra107381e95824a91"/>
    <p:sldId xmlns:r="http://schemas.openxmlformats.org/officeDocument/2006/relationships" id="260" r:id="R71f97b8b620343db"/>
    <p:sldId xmlns:r="http://schemas.openxmlformats.org/officeDocument/2006/relationships" id="261" r:id="R77bedacb35834aab"/>
    <p:sldId xmlns:r="http://schemas.openxmlformats.org/officeDocument/2006/relationships" id="262" r:id="Rf346991e28fb4917"/>
    <p:sldId xmlns:r="http://schemas.openxmlformats.org/officeDocument/2006/relationships" id="263" r:id="R62b6b02fddb847ed"/>
    <p:sldId xmlns:r="http://schemas.openxmlformats.org/officeDocument/2006/relationships" id="264" r:id="Ra60d46dc667a4ac1"/>
    <p:sldId xmlns:r="http://schemas.openxmlformats.org/officeDocument/2006/relationships" id="265" r:id="R48a45b7516854c9b"/>
    <p:sldId xmlns:r="http://schemas.openxmlformats.org/officeDocument/2006/relationships" id="266" r:id="R158325c94c3b4012"/>
    <p:sldId xmlns:r="http://schemas.openxmlformats.org/officeDocument/2006/relationships" id="267" r:id="R2ebd43d471eb4f3e"/>
    <p:sldId xmlns:r="http://schemas.openxmlformats.org/officeDocument/2006/relationships" id="268" r:id="R4e6516a9b764438c"/>
    <p:sldId xmlns:r="http://schemas.openxmlformats.org/officeDocument/2006/relationships" id="269" r:id="R3293ac5b97f7429f"/>
    <p:sldId xmlns:r="http://schemas.openxmlformats.org/officeDocument/2006/relationships" id="270" r:id="R6ea4cbd3274442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028cedfdcf4836" /><Relationship Type="http://schemas.openxmlformats.org/officeDocument/2006/relationships/slideMaster" Target="/ppt/slideMasters/slideMaster1.xml" Id="Rb15b982a934f4095" /><Relationship Type="http://schemas.openxmlformats.org/officeDocument/2006/relationships/notesMaster" Target="/ppt/notesMasters/notesMaster1.xml" Id="Rd5c6840128ae4088" /><Relationship Type="http://schemas.openxmlformats.org/officeDocument/2006/relationships/presProps" Target="/ppt/presProps.xml" Id="R7ea08c0c9f3048a7" /><Relationship Type="http://schemas.openxmlformats.org/officeDocument/2006/relationships/tableStyles" Target="/ppt/tableStyles.xml" Id="R5f864e48a90c4fd0" /><Relationship Type="http://schemas.openxmlformats.org/officeDocument/2006/relationships/slide" Target="/ppt/slides/slide1.xml" Id="Rf9aa51abf9e64336" /><Relationship Type="http://schemas.openxmlformats.org/officeDocument/2006/relationships/slide" Target="/ppt/slides/slide2.xml" Id="Re3842fe5fc174b83" /><Relationship Type="http://schemas.openxmlformats.org/officeDocument/2006/relationships/slide" Target="/ppt/slides/slide3.xml" Id="R93135c02e94e4e1d" /><Relationship Type="http://schemas.openxmlformats.org/officeDocument/2006/relationships/slide" Target="/ppt/slides/slide4.xml" Id="Ra107381e95824a91" /><Relationship Type="http://schemas.openxmlformats.org/officeDocument/2006/relationships/slide" Target="/ppt/slides/slide5.xml" Id="R71f97b8b620343db" /><Relationship Type="http://schemas.openxmlformats.org/officeDocument/2006/relationships/slide" Target="/ppt/slides/slide6.xml" Id="R77bedacb35834aab" /><Relationship Type="http://schemas.openxmlformats.org/officeDocument/2006/relationships/slide" Target="/ppt/slides/slide7.xml" Id="Rf346991e28fb4917" /><Relationship Type="http://schemas.openxmlformats.org/officeDocument/2006/relationships/slide" Target="/ppt/slides/slide8.xml" Id="R62b6b02fddb847ed" /><Relationship Type="http://schemas.openxmlformats.org/officeDocument/2006/relationships/slide" Target="/ppt/slides/slide9.xml" Id="Ra60d46dc667a4ac1" /><Relationship Type="http://schemas.openxmlformats.org/officeDocument/2006/relationships/slide" Target="/ppt/slides/slide10.xml" Id="R48a45b7516854c9b" /><Relationship Type="http://schemas.openxmlformats.org/officeDocument/2006/relationships/slide" Target="/ppt/slides/slide11.xml" Id="R158325c94c3b4012" /><Relationship Type="http://schemas.openxmlformats.org/officeDocument/2006/relationships/slide" Target="/ppt/slides/slide12.xml" Id="R2ebd43d471eb4f3e" /><Relationship Type="http://schemas.openxmlformats.org/officeDocument/2006/relationships/slide" Target="/ppt/slides/slide13.xml" Id="R4e6516a9b764438c" /><Relationship Type="http://schemas.openxmlformats.org/officeDocument/2006/relationships/slide" Target="/ppt/slides/slide14.xml" Id="R3293ac5b97f7429f" /><Relationship Type="http://schemas.openxmlformats.org/officeDocument/2006/relationships/slide" Target="/ppt/slides/slide15.xml" Id="R6ea4cbd3274442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abe520120a41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995c66089b4f6b" /><Relationship Type="http://schemas.openxmlformats.org/officeDocument/2006/relationships/notesMaster" Target="/ppt/notesMasters/notesMaster1.xml" Id="Re6b800f37ed944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6959c6cd3d417c" /><Relationship Type="http://schemas.openxmlformats.org/officeDocument/2006/relationships/notesMaster" Target="/ppt/notesMasters/notesMaster1.xml" Id="R3316fc8a696b43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dda83273b94487" /><Relationship Type="http://schemas.openxmlformats.org/officeDocument/2006/relationships/notesMaster" Target="/ppt/notesMasters/notesMaster1.xml" Id="R98a31dc56d5b47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163bb9b47d4113" /><Relationship Type="http://schemas.openxmlformats.org/officeDocument/2006/relationships/notesMaster" Target="/ppt/notesMasters/notesMaster1.xml" Id="R90c867896bf748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10cf71c01b448a" /><Relationship Type="http://schemas.openxmlformats.org/officeDocument/2006/relationships/notesMaster" Target="/ppt/notesMasters/notesMaster1.xml" Id="R02cc174234eb44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23f76e4bf1482c" /><Relationship Type="http://schemas.openxmlformats.org/officeDocument/2006/relationships/notesMaster" Target="/ppt/notesMasters/notesMaster1.xml" Id="R4bbb7e6ea19043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eddbfd76154110" /><Relationship Type="http://schemas.openxmlformats.org/officeDocument/2006/relationships/notesMaster" Target="/ppt/notesMasters/notesMaster1.xml" Id="R2f534a85de6f45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7a2e65d6e04cf7" /><Relationship Type="http://schemas.openxmlformats.org/officeDocument/2006/relationships/notesMaster" Target="/ppt/notesMasters/notesMaster1.xml" Id="R324018f02dc043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5d3db2d3b846c4" /><Relationship Type="http://schemas.openxmlformats.org/officeDocument/2006/relationships/notesMaster" Target="/ppt/notesMasters/notesMaster1.xml" Id="R770efd2d260446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bd2a6c3eec47b8" /><Relationship Type="http://schemas.openxmlformats.org/officeDocument/2006/relationships/notesMaster" Target="/ppt/notesMasters/notesMaster1.xml" Id="R152d27f4ffb0404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63b53af18d4202" /><Relationship Type="http://schemas.openxmlformats.org/officeDocument/2006/relationships/notesMaster" Target="/ppt/notesMasters/notesMaster1.xml" Id="Ra41a9c77f250427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3bb4ad2804b469d" /><Relationship Type="http://schemas.openxmlformats.org/officeDocument/2006/relationships/notesMaster" Target="/ppt/notesMasters/notesMaster1.xml" Id="R721616a4e8d84c1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bdc5ceea68f43a7" /><Relationship Type="http://schemas.openxmlformats.org/officeDocument/2006/relationships/notesMaster" Target="/ppt/notesMasters/notesMaster1.xml" Id="Rba4ed09f0ee944f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2c009b8a4aa4ed8" /><Relationship Type="http://schemas.openxmlformats.org/officeDocument/2006/relationships/notesMaster" Target="/ppt/notesMasters/notesMaster1.xml" Id="R9317b7b3673f40e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d8cbda18c74a22" /><Relationship Type="http://schemas.openxmlformats.org/officeDocument/2006/relationships/notesMaster" Target="/ppt/notesMasters/notesMaster1.xml" Id="R25eea792042f4a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S22 —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Bug fix, performance, and README Tasks can repeat the same Project facts because task-specific instructions and durable Project context have different scopes.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“Task는 다른데 왜 같은 설명을 계속 복사하고 있지?”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버그 수정, 성능 조사, README 수정의 서로 다른 목표를 왼쪽부터 가리킨다.</a:t>
            </a:r>
          </a:p>
          <a:p xmlns:a="http://schemas.openxmlformats.org/drawingml/2006/main">
            <a:r>
              <a:t>2. (2:00–4:00) 아래에 반복된 네 줄을 비교한다. 테스트 실행, 근거가 있을 때 의존성 추가, 로컬 합성 데이터, 기존 동작 보존이다. 세 요청은 교육용 구성 예시이며 Trial 원문이 아니다.</a:t>
            </a:r>
          </a:p>
          <a:p xmlns:a="http://schemas.openxmlformats.org/drawingml/2006/main">
            <a:r>
              <a:t>3. (4:00–5:00) 같은 설명이 왜 다시 들어가는지 잠시 생각하게 한다. 아직 저장 위치나 기능을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BEAT-008, CLM-0003, CLM-0005. TEACHING_MODEL / CONCEPTUAL; the three cards are a constructed example, not a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Repetition can indicate a scope and lifetime question. This slide does not claim a product failure or introduce a repository instruction file as the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If every Task needs the same Project facts, consider whether those facts belong with the Task or with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durable constraints before choosing where to maintain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final minute as a quiet case prompt. No hands-on activity or public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“공통 정보를 Prompt 밖에 둘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Spend four minutes on the repeated facts and one minute on the question. Do not preview the solution.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S22 또는 `production/preview/act2/S22.png`다.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S23 —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STATE-01의 실제 AGENTS.md에는 반복되는 프로젝트 목적, 실행 방법, 테스트 명령, 기본 제약이 기록되어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“반복되는 Project 정보를 한 번 기록하면 어떤 점이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STATE-00-FIXED에서 STATE-01로 바뀐 것은 root AGENTS.md 한 파일 추가임을 설명한다.</a:t>
            </a:r>
          </a:p>
          <a:p xmlns:a="http://schemas.openxmlformats.org/drawingml/2006/main">
            <a:r>
              <a:t>2. (1:00–3:00) 네 발췌를 순서대로 가리킨다. 목적: 로컬 grayscale CLI. 실행: README의 준비된 명령. 테스트: 원문 명령. 제약: 범위를 지키고 관련 동작을 검증. 영어 문장을 모두 낭독하지 않는다.</a:t>
            </a:r>
          </a:p>
          <a:p xmlns:a="http://schemas.openxmlformats.org/drawingml/2006/main">
            <a:r>
              <a:t>3. (3:00–4:00) Task마다 반복 설명하던 사실을 저장소에 둔 설계 의도를 정리하고, 실제 활용 관찰은 S24로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한국어 의미를 먼저 읽고 바로 위의 실제 AGENTS.md 발췌와 대조한다. 강조한 CLI 목적·README·범위/검증 문구만 짚고 테스트 명령은 입력 실습이나 CLI 설명으로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/ DEMO-02 / OBSERVED_PRODUCT. Demo tag `14baf81746a981d7cd96b7a014ea06f28c3dd6b4`, root `AGENTS.md` 2, 5, 9, 15행 발췌. 15줄/567bytes는 원문 메타데이터이며 화면의 중심 메시지로 쓰지 않는다. 테스트 명령은 `Run`과 구두점을 제외한 원문 명령 문자열이다. Source: `plan/DEMO_MATRIX.md` STATE-01 기록.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파일이 그 상태에 존재했다는 근거다. 성능, 정확도, 토큰 절감 또는 AGENTS.md 단독 인과효과를 주장하지 않는다. 제품 코드·테스트·README는 그 상태 전환에서 바뀌지 않았다. S24의 지침 활용 관찰을 이 장의 결과로 앞당기지 않는다. 현재 Desktop 자동 로딩이나 교육 환경을 검증한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small set of facts that applies across Project Tasks can be written down once in the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design choice is about context scope and maintenance ownership, not a measured quality or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`production/ACT_2.pptx`의 S23 및 `production/preview/act2/S23.png`에 있는 실제 AGENTS.md 원문 발췌를 가리킨다. 편집기 screenshot이 아니다. Live/HYBRID는 발표 환경 검증 전까지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Point out the recurring facts without asking the audience to inspect a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안내가 실제 Task에서 어떻게 사용됐는지 기록을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4분 유지. 1분 상태 전환, 2분 네 발췌, 1분 의미와 S24 handoff. 명령어 옵션별 설명은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S23 또는 `production/preview/act2/S23.png`다.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S24 —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the recorded TRIAL-003 run, the agent inspected `AGENTS.md` and used the documented test command that was absent from the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“Prompt에 없던 test command는 어디서 왔을까?”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요청에는 README-only 범위가 있었지만 전체 테스트 명령은 없었다고 짚는다.</a:t>
            </a:r>
          </a:p>
          <a:p xmlns:a="http://schemas.openxmlformats.org/drawingml/2006/main">
            <a:r>
              <a:t>2. (1:00–3:00) 가운데 AGENTS.md 접근과 기록된 테스트 명령 사용을 오른쪽 11/11 PASS 기록에 연결한다. 화면은 Trial 기록을 요약한 설명 구조다.</a:t>
            </a:r>
          </a:p>
          <a:p xmlns:a="http://schemas.openxmlformats.org/drawingml/2006/main">
            <a:r>
              <a:t>3. (3:00–4:00) Personal/global Skills도 실행됐으므로 AGENTS.md 단독 효과를 분리할 수 없다고 밝힌다. README-only 범위는 요청에도 있었다고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TRIAL-003, STATE-01, DEMO-02. OBSERVED_PRODUCT; one recorded CLI run. Personal/global Skills also ran.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run does not isolate an independent causal effect of `AGENTS.md`, establish general superiority, or show that repository guidance alone determined file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record shows one example where a Project test command was available outside the current Prompt and was used.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the observed action, other active instructions, and Task scope separate when interpreting causality.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Present the captured/reconstructed Trial record. Do not represent it as a current Desktop run or a live screenshot. HYBRID activation is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opening question, pause briefly, then reveal the record. Do not require an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Task의 Prompt와 Project가 계속 유지할 Context는 어떻게 다른가?”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three minutes for the recorded sequence and one minute for the causal boundary. Do not elaborate on unrelated Trial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S24 또는 `production/preview/act2/S24.png`다.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S25 —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A Task Prompt describes what is wanted now; Project Context describes facts and constraints that generally remain true for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정보는 언제까지 유효한가?”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‘이번 작업이 끝나면?’이라는 질문으로 정보의 수명을 비교한다.</a:t>
            </a:r>
          </a:p>
          <a:p xmlns:a="http://schemas.openxmlformats.org/drawingml/2006/main">
            <a:r>
              <a:t>2. (1:00–4:00) 왼쪽 crop 수정과 README-only 범위, 오른쪽 테스트 명령과 근거 기반 의존성 정책을 연결한다. Prompt는 현재 목표를 표현하는 데 계속 필요하다.</a:t>
            </a:r>
          </a:p>
          <a:p xmlns:a="http://schemas.openxmlformats.org/drawingml/2006/main">
            <a:r>
              <a:t>3. (4:00–5:00) 어떤 사실이 다음 Task에도 유효한지 질문한다. C++에서도 공통 제약과 이번 알고리즘 변경 조건의 범위가 다를 수 있다는 짧은 예만 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S24에서 본 기록을 회수한 뒤 두 열의 수명을 비교한다. 왼쪽은 다음 작업에서 바뀔 목표, 오른쪽은 여러 작업에서 다시 참고할 사실이다. S21의 분류 질문을 처음부터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BEAT-009–010, TRANS-003, CLM-0003, CLM-0005. TEACHING_MODEL / CONCEPTUAL; examples summarize S22–S24.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teaching model for scope and lifetime, not a formal OpenAI taxonomy or proof that one layer is always better.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Put the current goal in the Task request and distinguish it from facts the Project keeps using.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Scope and lifetime are useful dimensions for deciding ownership and update responsibility.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Briefly distinguish a general Project constraint from a Task-specific algorithm condition; do not list tools or hardware.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Give the audience a brief silent pause to classify the examples mentally. Do not turn it into a hands-on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“정확한 정보를 더 많이 넣으면 언제나 괜찮을까?”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model to two layers and four examples. Leave research and detailed routing for later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S25 또는 `production/preview/act2/S25.png`다.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S26 —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STATE-02 grew from 15 lines / 567 bytes to 32 lines / 1,303 bytes as the Project recorded more details; growth alone is not evidence of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“정확한 Project 정보라면 모든 Task에 늘 넣어도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STATE-01의 목적·실행·테스트·기본 제약에서 출발한다. 15줄/567 bytes와 32줄/1,303 bytes는 상태를 식별하는 크기 정보다.</a:t>
            </a:r>
          </a:p>
          <a:p xmlns:a="http://schemas.openxmlformats.org/drawingml/2006/main">
            <a:r>
              <a:t>2. (1:00–3:00) STATE-02에 더해진 처리 순서, 이미지 계약, 테스트 구조, CLI 출력의 실제 항목을 가리킨다. 처리 순서의 말줄임표는 선택적 invert/crop/resize 등의 중간 단계를 생략했다는 뜻이다.</a:t>
            </a:r>
          </a:p>
          <a:p xmlns:a="http://schemas.openxmlformats.org/drawingml/2006/main">
            <a:r>
              <a:t>3. (3:00–4:00) 크기 자체의 성능 의미를 부여하지 않고 ‘이번 Task에도 필요할까?’로 다음 장을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and STATE-02, BEAT-011, CLM-0014, CLM-0015. OBSERVED_PRODUCT; counts describe these recorded states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label the growth as a failure threshold, claim that it caused an error, or imply that the content was inaccurate.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More documented facts create a follow-up question: does each Task need all of them?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Maintenance cost and stale information are review considerations, not observed failures in this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two recorded state summaries; no live repository interaction is planned.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Treat the slide as a case question. Allow a short pause without requiring a public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“작은 README Task에서 어떤 정보가 실제로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크기 식별은 짧게 끝내고 추가된 실제 정보 네 항목에 시간을 쓴다. 마지막 1분에는 관련성 질문으로 이동하며 문서 크기의 인과 효과를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S26 또는 `production/preview/act2/S26.png`다.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S27 —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(CAPTURED) + Reflection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TRIAL-004 included Image context that was unnecessary for the README build-guidance Task, but no agent confusion or context-related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“README build 안내를 고치는 데 어떤 정보가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README의 build tools 안내를 고친 기록된 Task를 제시한다.</a:t>
            </a:r>
          </a:p>
          <a:p xmlns:a="http://schemas.openxmlformats.org/drawingml/2006/main">
            <a:r>
              <a:t>2. (1:00–2:00 / Demo) 왼쪽 README/build 설정과 오른쪽 crop·resize 계약/pipeline 상세를 비교한다. Agent 혼란과 Context 관련 실패는 관찰되지 않았음을 먼저 밝힌다.</a:t>
            </a:r>
          </a:p>
          <a:p xmlns:a="http://schemas.openxmlformats.org/drawingml/2006/main">
            <a:r>
              <a:t>3. (2:00–4:00 / Reflection) 정확한 정보와 이번 질문에 관련된 정보를 구분해 보게 한다. 공개 응답이나 작업은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TRIAL-004, BEAT-012, CLM-0014, CLM-0015. OBSERVED_PRODUCT; CAPTURED record of one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Presence of unnecessary context is not evidence that the model failed, became confused, or performed worse. No such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Correct information can still be unrelated to the current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Distinguish context relevance from outcome quality; this Trial does not measure a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Show the captured/reconstructed Trial record for two minutes. Do not run a new Trial or simulate a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last two minutes for private reflection: which context was relevant to this Task? No response or written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정보를 항상 한 번에 넣지 않는 방법은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two-minute Reflection. Explicitly state the absence of observed confusion before moving 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S27 또는 `production/preview/act2/S27.png`다.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S28 —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The course model separates always-on Project facts, task-relevant detail, and reusable workflow by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“무엇은 항상 필요하고, 무엇은 Task에 따라 찾아야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세 행이 이 과정에서 쓰는 정보 설계 모델임을 밝힌다.</a:t>
            </a:r>
          </a:p>
          <a:p xmlns:a="http://schemas.openxmlformats.org/drawingml/2006/main">
            <a:r>
              <a:t>2. (1:00–3:00) 기본 안내, 질문에 따른 상세, 특정 작업의 수행 방법을 순서대로 가리킨다. 각 행의 구체 예시를 하나씩 설명한다.</a:t>
            </a:r>
          </a:p>
          <a:p xmlns:a="http://schemas.openxmlformats.org/drawingml/2006/main">
            <a:r>
              <a:t>3. (3:00–4:00) 성능 조사 절차 예가 STATE-02에 저장돼 있었다는 뜻은 아니라고 한정한다. 방금은 정보의 범위와 제공 시점을 나눴고, 다음에는 ‘Context 양만 늘리면 충분할까?’를 연구의 제한된 범위 안에서 살펴본다고 예고한다.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BEAT-012, BEAT-014, STATE-02, CLM-0014, CLM-0015,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Always-on / On-demand / Workflow is a course model, not an official OpenAI classification. Do not claim token savings or improved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Some facts apply broadly; details matter for a smaller set of Tasks; a work procedure says how to approach a class of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durable facts, selectively needed details, and workflow responsibility conceptually distinct even when they can all appear outside a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audience to notice that information has different scopes; no category-writing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때 찾게 하는 대신 모두 넣어두면 충분할까? 이 질문을 Long Context 연구의 범위 안에서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minutes, one minute per bucket plus the boundary. Do not present this as a product feature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S28 또는 `production/preview/act2/S28.png`다.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S29 —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Research in specific models and tasks supports a bounded caution: more context is not automatically better, and relevance or information position can matter under some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“정보의 범위와 시점을 나눠봤는데, Context 양만 늘리면 충분할까?”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장의 정보 분류에서 잠시 물러나 ‘양만 늘리면 충분한가?’라는 질문을 보는 목적을 밝힌다. ‘더 많은 Context가 항상 더 좋은 것은 아니다’의 적용 범위를 특정 모델·과제에 한정한다.</a:t>
            </a:r>
          </a:p>
          <a:p xmlns:a="http://schemas.openxmlformats.org/drawingml/2006/main">
            <a:r>
              <a:t>2. (1:00–3:00) 왼쪽 Lost in the Middle의 여러 문서 질문 답변/key-value 검색, 오른쪽 RepoQA의 50개 Repository 코드 검색을 비교한다. 논문이 답한 질문과 승인된 핵심 결론만 말한다. 수치 그래프나 현재 Codex 성능 추정은 추가하지 않는다.</a:t>
            </a:r>
          </a:p>
          <a:p xmlns:a="http://schemas.openxmlformats.org/drawingml/2006/main">
            <a:r>
              <a:t>3. (3:00–4:00) 화면 하단의 두 출처와 Notes의 원문 링크를 안내한다. 이 Demo의 현재 Codex Repository coding을 직접 시험한 연구가 아님을 명시한다. 연구 소개를 마치고, 이번 Task에 필요한 상세 정보와 그 위치를 설계하는 질문으로 돌아간다.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왼쪽은 관련 정보의 위치를 바꾸는 질적 과제 구조, 오른쪽은 Repository에서 관련 코드를 찾는 과제 구조다. 칠해진 블록은 정보 위치 표시이며 점수·성능·현재 Codex 결과를 뜻하지 않는다. 수치 그래프처럼 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RESEARCH. Liu et al., “Lost in the Middle: How Language Models Use Long Contexts,” TACL 2024, 12:157–173, https://aclanthology.org/2024.tacl-1.9/; RepoQA (2024), arXiv:2406.06025, https://arxiv.org/abs/2406.06025. RepoQA venue remains TODO in the source plan and is not invented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claim current Codex fails because of Lost in the Middle, create a context-length threshold, generalize results across all models/tasks, or invent numeric/curve data. Keep study conditions beside the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larger context window does not guarantee that every included detail is equally useful in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cited work covers specific historical models and benchmark settings, including multi-document QA and synthetic retrieval; it does not establish a present-day Codex limitation.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This is a research summary, not a deterministic product demonstration.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opening question to invite a short mental prediction, then answer within the cited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연구가 Demo의 Routing을 검증한 것은 아닙니다. 이제 Task에 필요한 상세 정보를 어디서 찾게 할지 설계로 돌아가겠습니다.”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paper descriptions concise and reserve the final minute for the transfer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S29 또는 `production/preview/act2/S29.png`다.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S30 —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Context design asks what information a Task needs and when it should be available, rather than placing every detail in one 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“Task가 필요한 상세 정보에 도달하는 경로는 어떻게 설계할까?”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Move from the question of context amount to the question of relevance and timing.</a:t>
            </a:r>
          </a:p>
          <a:p xmlns:a="http://schemas.openxmlformats.org/drawingml/2006/main">
            <a:r>
              <a:t>2. (1:00–2:00) Show `Task → Core Context → Relevant Detail when needed` as a course diagram.</a:t>
            </a:r>
          </a:p>
          <a:p xmlns:a="http://schemas.openxmlformats.org/drawingml/2006/main">
            <a:r>
              <a:t>3. (2:00–3:00) Give one short C++ example and reserve STATE-03 for the next sequence. 이 장에서는 찾아가는 경로를 보았고, 다음 장에서는 그 출발점인 Core에 무엇을 남길지 정한다고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현재 Task 질문에서 출발해 Core의 안내를 거쳐 상세 정보로 이동한다. 이 장의 초점은 어디로 찾아갈지이며, 다음 장에서 Core에 무엇을 남길지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STATE-03 as the upcoming example, CLM-0003, CLM-0005, CLM-0014, CLM-0015.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routing question, not evidence of performance improvement, token savings, or a product's automatic retrieval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short starting point can direct a reader toward more detail when a Task needs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Discovery and maintenance remain design concerns; this slide does not claim perfect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Distinguish a general Project constraint from a Task-specific CMake or algorithm contract. Do not list tools, hardware, or environment commands.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STATE-03 results are reserved for the following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Let the routing question sit for a moment; do not reveal the Trial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“경로를 봤으니, 이제 그 출발점인 Core에 무엇을 남길지 정해보겠습니다.”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this to one diagram and one brief C++ example. No product-specific implementation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S30 또는 `production/preview/act2/S30.png`다.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S31 —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Root/Core Context can be a starting point that points toward detail, rather than an encyclopedia of all Project knowledge.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“그 경로의 출발점인 Core에는 무엇을 남길까?”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장에서 본 탐색 경로의 출발점에 초점을 맞춘다. 왼쪽 기본 안내에 남길 목적, 상시 제약, 상세 정보 위치를 읽는 순서대로 가리킨다.</a:t>
            </a:r>
          </a:p>
          <a:p xmlns:a="http://schemas.openxmlformats.org/drawingml/2006/main">
            <a:r>
              <a:t>2. (1:00–2:30) 오른쪽 architecture, image contracts, testing으로 이어지는 관계를 설명한다. 화살표는 교육용 정보 설계 관계다.</a:t>
            </a:r>
          </a:p>
          <a:p xmlns:a="http://schemas.openxmlformats.org/drawingml/2006/main">
            <a:r>
              <a:t>3. (2:30–4:00) C++에서는 build/test 진입점과 기본 제약에서 해당 알고리즘 계약·하드웨어 조건으로 안내할 수 있음을 짧게 연결한다. Routing 성능 효과는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Core의 세 항목을 먼저 읽고 필요한 상세의 세 행으로 이동한다. S30의 탐색 경로를 반복 설명하기보다 항상 읽을 기본 안내와 필요할 때 찾을 상세의 경계를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CLM-0003, CLM-0005, CLM-0014, CLM-0015. TEACHING_MODEL / CONCEPTUAL; describe STATE-03 structure in S32.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model does not demonstrate better retrieval or lower cost. No automatic product behavior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Keep a small starting page and put specialized details in topic pages that it points 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core facts for cross-task stability and details for a narrower task scope; routing quality remains an empirical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Core: build/test entry and Project constraints. Detail: algorithm contract and hardware assumptions. Keep it to this scope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observed repository structure follows on S32.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belongs in the core; do not solicit a complete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“Demo Repository에서는 이 Mental Model이 어떻게 반영됐을까?”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minutes; keep the C++ bridge to one integrated minute and avoid listing CMake/hardware items.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S31 또는 `production/preview/act2/S31.png`다.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S32 —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 + Demo 2 minutes (CAPTURED)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STATE-03 reorganized the recorded detail from one growing `AGENTS.md` into a smaller core with links to topic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“정보를 나누면 무엇이 바뀌고, 무엇을 그대로 보존해야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STATE-02와 STATE-03은 실제 Repository 상태이며, 정보의 위치가 달라졌다고 밝힌다.</a:t>
            </a:r>
          </a:p>
          <a:p xmlns:a="http://schemas.openxmlformats.org/drawingml/2006/main">
            <a:r>
              <a:t>2. (1:00–3:00 / Demo) 커진 AGENTS.md와 분리된 docs를 비교한다. 오른쪽 실제 Routing 문구에서 어떤 질문을 어떤 문서로 안내하는지 발췌 한 줄씩 가리킨다.</a:t>
            </a:r>
          </a:p>
          <a:p xmlns:a="http://schemas.openxmlformats.org/drawingml/2006/main">
            <a:r>
              <a:t>3. (3:00–4:00 / Case) 정보를 없애기보다 Scope에 따라 놓을 위치를 나눈 설계 의도를 설명한다.</a:t>
            </a:r>
          </a:p>
          <a:p xmlns:a="http://schemas.openxmlformats.org/drawingml/2006/main">
            <a:r>
              <a:t>4. (4:00–5:00 / Lecture) C++도 기본 안내와 알고리즘/모듈 상세를 나누는 패턴으로 연결한다. 실제 접근 결과는 다음 두 Task에서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STATE-02, STATE-03, DEMO-06, BEAT-014–015, CLM-0003, CLM-0005, CLM-0014, CLM-0015. OBSERVED_PRODUCT for file structure; TEACHING_MODEL for the routing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State structure is observed. Progressive Disclosure is a course pattern here; perfect routing, performance improvement, or token savings are not proven.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information was reorganized by topic; the slide does not show it being deleted.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the evidence of file placement from the inference about how such a structure may help readers navigate.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 constraints stay at the entry point; algorithm, module, and hardware details belong with their relevant topic.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STATE-02 → STATE-03 record; no live file browsing. Do not portray the diagram as a product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must remain unchanged when information is moved; accept silent reflection.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“두 Task가 같은 상세 문서를 읽는지 관찰해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the two Demo minutes for the before/after state, one for the Case, and keep the C++ bridge integrated into the lecture flow as approved.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S32 또는 `production/preview/act2/S32.png`다.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S33 —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Compare two read-only Task questions by observing what evidence each run actually accesses.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Task에서 Agent가 같은 상세 문서를 읽을까?”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(0:00–0:30) Set the watch-for question without proposing an answer.</a:t>
            </a:r>
          </a:p>
          <a:p xmlns:a="http://schemas.openxmlformats.org/drawingml/2006/main">
            <a:r>
              <a:t>2. (0:30–1:30) Show Task A: “crop 1 3에서 어떤 source column을 포함하는가?” and Task B: “runtime dependency가 있는가?”</a:t>
            </a:r>
          </a:p>
          <a:p xmlns:a="http://schemas.openxmlformats.org/drawingml/2006/main">
            <a:r>
              <a:t>3. (1:30–2:00) Invite the audience to notice whether the same detail appears in both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BEAT-015–016, CLM-0003, CLM-0005, CLM-0014, CLM-0015. OBSERVED_PRODUCT setup; results are withheld until the next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predict file access or reveal the observed result in advance. This setup does not imply perfect routing.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Different questions may require different Project details; the next slides show what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Evaluate actual accesses rather than infer behavior from the directory structure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this is the watch setup; no new Trial is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viewers to keep the comparison question in mind. No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“Crop Task의 기록에서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Two minutes only. Do not give the answer or turn the prompt into an exercise.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S33 또는 `production/preview/act2/S33.png`다.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S34 —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TRIAL-005A’s final run, the recorded Crop answer was supported by access to the image contract; some broader context was also read.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“Crop 계약을 묻는 Task에서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image-contracts.md에 있는 반열린 구간 [x_start, x_end)을 가리킨다.</a:t>
            </a:r>
          </a:p>
          <a:p xmlns:a="http://schemas.openxmlformats.org/drawingml/2006/main">
            <a:r>
              <a:t>2. (1:00–3:00) 아래 숫자는 픽셀 값이 아니라 source column index임을 밝힌다. crop 1 3에서 강조한 열 1과 2, 결과 너비 2, 제외된 끝 좌표 3을 순서대로 짚는다.</a:t>
            </a:r>
          </a:p>
          <a:p xmlns:a="http://schemas.openxmlformats.org/drawingml/2006/main">
            <a:r>
              <a:t>3. (3:00–4:00) 하단에서 AGENTS.md, architecture.md도 읽었으며 testing.md는 최종 실행에서 읽었음을 확인한다. 완벽한 최소 문서 선택으로 해석하지 않는다.</a:t>
            </a:r>
          </a:p>
          <a:p xmlns:a="http://schemas.openxmlformats.org/drawingml/2006/main">
            <a:r>
              <a:t>4. (4:00–5:00) 계약이 필요한 Task에서 관련 문서 접근과 답이 관찰됐다는 범위로 마무리하고 Task B로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TRIAL-005A, BEAT-016, CLM-0014, CLM-0015. OBSERVED_PRODUCT; recorded CLI final run and its access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record supports that image-contract detail was accessed and the answer was observed in this run. It does not show perfect routing, that only relevant documents were read, or a measured efficiency 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Crop question had a matching contract document, and the recorded final run read it before giving the boundary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Include run variability and broader reads in the interpretation; `testing.md` access was not consistent across iterations.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record. Show the image contract and concise answer, not a full file-access log or fabricated terminal capture.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which evidence supports the boundary answer; let the audience inspect the concise summary.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“Dependency Task와 비교하면 어떤 차이가 보일까?”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Give the answer two minutes, the supporting document and limitation two minutes, then one minute for transition.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S34 또는 `production/preview/act2/S34.png`다.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S35 —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1 minute (CAPTURED) + Case 3 minutes + Reflection 2 minutes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TRIAL-005A/B showed a task-specific difference in detailed document access, but did not prove perfect routing, token savings, or performance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“Task별 차이를 관찰한 것만으로 완벽한 Routing을 말할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강조한 첫 행에서 A는 image-contracts.md를 읽고 B는 읽지 않았음을 가리킨다.</a:t>
            </a:r>
          </a:p>
          <a:p xmlns:a="http://schemas.openxmlformats.org/drawingml/2006/main">
            <a:r>
              <a:t>2. (1:00–3:00 / Case) architecture는 둘 다 읽었고 testing은 A의 최종 실행에서만 읽었다고 확인한다. B는 설정·README·source도 확인했다. A의 더 넓은 읽기와 실행 간 변동도 남아 있다.</a:t>
            </a:r>
          </a:p>
          <a:p xmlns:a="http://schemas.openxmlformats.org/drawingml/2006/main">
            <a:r>
              <a:t>3. (3:00–4:00 / Case) 완벽한 Routing 미입증, 토큰 절약·성능 개선 미측정을 분명히 말한다.</a:t>
            </a:r>
          </a:p>
          <a:p xmlns:a="http://schemas.openxmlformats.org/drawingml/2006/main">
            <a:r>
              <a:t>4. (4:00–6:00 / Reflection) 이 비교로 말할 수 있는 사실과 없는 효과를 조용히 구분해 보게 한다.</a:t>
            </a:r>
          </a:p>
          <a:p xmlns:a="http://schemas.openxmlformats.org/drawingml/2006/main">
            <a:r>
              <a:t>5. (6:00–7:00 / Q&amp;A) 질문 하나를 받거나 준비된 질문을 던진다. 파일 접근 차이라는 관찰로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BEAT-016–017, CLM-0014, CLM-0015, CLM-0003, CLM-0005. OBSERVED_PRODUCT; captured records, with observed run variability.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Task-specific access difference is observed. Broad reads also occurred. Do not claim complete routing, a general advantage, token savings, or performance gains.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relevant document was read for one Task and not another, but the agent still read some shared and broader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A/B access differences are evidence about these runs only; they do not establish a stable policy or causal efficiency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실제 기록을 요약한 문서 접근 비교표를 사용한다. image-contracts, architecture, testing 순서로 가리키며 testing의 최종 실행 범위와 변동을 유지한다. 토큰·성능 효과나 실제 터미널 화면으로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Keep three minutes for the Case, two for private Reflection, and one for Q&amp;A. If no one responds, ask: “이 기록으로 말할 수 있는 범위는 어디까지일까요?”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“정보를 정리했는데도 남아 있는 반복은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Mode boundaries. If discussion runs long, cut secondary file names before shortening the explicit claim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S35 또는 `production/preview/act2/S35.png`다.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S36 —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Transition 4 minutes + Q&amp;A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Prompt, Project Context, and routing address different information responsibilities; a repeated work procedure can remain as a separate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“Project 정보를 잘 정리했으면 문제가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Transition) 왼쪽의 현재 목표, 공통 사실, 상세 정보 위치를 순서대로 회수한다.</a:t>
            </a:r>
          </a:p>
          <a:p xmlns:a="http://schemas.openxmlformats.org/drawingml/2006/main">
            <a:r>
              <a:t>2. (2:00–4:00 / Transition) 오른쪽 ‘먼저 측정하고, 조사한 뒤 변경하고, 같은 조건으로 확인’이라는 반복 절차를 보여준다. Context 선택을 완전히 해결했다는 뜻은 아니라고 밝힌다.</a:t>
            </a:r>
          </a:p>
          <a:p xmlns:a="http://schemas.openxmlformats.org/drawingml/2006/main">
            <a:r>
              <a:t>3. (4:00–10:00 / Q&amp;A) ‘같은 작업 절차도 다시 써야 할까?’로 질문을 받는다. 질문이 없으면 사실과 절차의 책임 차이를 짚고 ‘Project 지식과 별개로 같은 조사·검증 절차도 매번 다시 적어야 할까?’를 던진다. 두 Task의 공통 절차를 다음 관찰 대상으로 삼는다. 마지막 짧은 handoff도 이 6분 안에 포함한다.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BEAT-017–018, TRANS-005, TRIAL-006/007 as context for the upcoming problem. OBSERVED_PRODUCT for repeated prompt structure with PARTIAL attribution; TEACHING_MODEL for the three responsibilities and the transition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attribute the repeated procedure solely to the Trial Prompt; global Harness influence remains. Do not present Skill or another solution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Knowing Project facts and repeating a reliable way of working are different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can reduce repeated fact explanation while process ownership remains unresolved; keep observed repetition separate from its cause.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use the concise recorded prompt-structure summary; no live run or new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0–4분 Transition 뒤 4–10분 Q&amp;A를 운영한다. 공개 응답은 선택이며 질문이 없으면 사실과 절차의 차이를 묻는 준비 질문을 사용한다. 별도 실습은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“Project 지식과 별개로 같은 조사·검증 절차도 매번 다시 적어야 할까? 다음 두 성능 Task의 기록에서 반복된 부분을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Transition 4분 → Q&amp;A 6분, 총 10분을 유지한다. 마지막 handoff 문구도 Q&amp;A 종료 전에 포함하며 추가 Transition 시간을 만들지 않는다. 답변이 길어지면 다음 질문을 받지 않고 ACT 3로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S36 또는 `production/preview/act2/S36.png`다. 수정 초안 정적 화면은 존재하며 최종 release 경로·내용 일치는 통합 검토에서 확인한다. 실제 Trial 캡처나 현재 제품 실행으로 표현하지 않는다. 질문이 없으면 Audience Interaction의 준비 질문으로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863e3316b740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7351b8c722452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5a6d6829634eb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50c0089c41409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a61e22baf6465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6abb41249246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F44484A-8373-45D3-9197-2D22D04417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1EB19BF-D588-455A-9FB9-37D4A7FB101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12692CD-16F9-46F4-BC45-AD4207BB30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424EA21-A17A-4257-866D-0C89406E52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22B6982-B14E-4E2E-B409-6C76988E36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4D4037D-FCA9-4A9B-9A86-2553968A40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A040CF5-CC79-420C-BC07-EB12A4F52E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A8EA5B2-38EC-4B52-9E74-EAA6C615A8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351FDA2-AF44-4691-94BF-A789F09E7C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0056701-F41C-42DE-964F-4C6E823F52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fba003cfdd4185" /><Relationship Type="http://schemas.openxmlformats.org/officeDocument/2006/relationships/slideLayout" Target="/ppt/slideLayouts/slideLayout1.xml" Id="Re83592381816476c" /><Relationship Type="http://schemas.openxmlformats.org/officeDocument/2006/relationships/slideLayout" Target="/ppt/slideLayouts/slideLayout2.xml" Id="Rb8d9749d79fd4238" /><Relationship Type="http://schemas.openxmlformats.org/officeDocument/2006/relationships/slideLayout" Target="/ppt/slideLayouts/slideLayout3.xml" Id="R9793cd447ded4abd" /><Relationship Type="http://schemas.openxmlformats.org/officeDocument/2006/relationships/slideLayout" Target="/ppt/slideLayouts/slideLayout4.xml" Id="Ra9fce87c9bb14f19" /><Relationship Type="http://schemas.openxmlformats.org/officeDocument/2006/relationships/slideLayout" Target="/ppt/slideLayouts/slideLayout5.xml" Id="Rafabb61bd42f40e8" /><Relationship Type="http://schemas.openxmlformats.org/officeDocument/2006/relationships/slideLayout" Target="/ppt/slideLayouts/slideLayout6.xml" Id="Rc20c461b6eeb4b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3592381816476c"/>
    <p:sldLayoutId xmlns:r="http://schemas.openxmlformats.org/officeDocument/2006/relationships" id="2147483650" r:id="Rb8d9749d79fd4238"/>
    <p:sldLayoutId xmlns:r="http://schemas.openxmlformats.org/officeDocument/2006/relationships" id="2147483651" r:id="R9793cd447ded4abd"/>
    <p:sldLayoutId xmlns:r="http://schemas.openxmlformats.org/officeDocument/2006/relationships" id="2147483652" r:id="Ra9fce87c9bb14f19"/>
    <p:sldLayoutId xmlns:r="http://schemas.openxmlformats.org/officeDocument/2006/relationships" id="2147483653" r:id="Rafabb61bd42f40e8"/>
    <p:sldLayoutId xmlns:r="http://schemas.openxmlformats.org/officeDocument/2006/relationships" id="2147483654" r:id="Rc20c461b6eeb4b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2451204f2a4582" /><Relationship Type="http://schemas.openxmlformats.org/officeDocument/2006/relationships/notesSlide" Target="/ppt/notesSlides/notesSlide1.xml" Id="R8e38374d9f4a4c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64b3f9ec404d4d" /><Relationship Type="http://schemas.openxmlformats.org/officeDocument/2006/relationships/notesSlide" Target="/ppt/notesSlides/notesSlide2.xml" Id="R19ec401c14f447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af1a1ca38e45e9" /><Relationship Type="http://schemas.openxmlformats.org/officeDocument/2006/relationships/notesSlide" Target="/ppt/notesSlides/notesSlide3.xml" Id="Rc0e32e3c38da42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19d5e75a254d0b" /><Relationship Type="http://schemas.openxmlformats.org/officeDocument/2006/relationships/notesSlide" Target="/ppt/notesSlides/notesSlide4.xml" Id="Ra33cef8debac48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92fd390a6d4ce4" /><Relationship Type="http://schemas.openxmlformats.org/officeDocument/2006/relationships/notesSlide" Target="/ppt/notesSlides/notesSlide5.xml" Id="R212f49d4154d4f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c4a8df34ad43cc" /><Relationship Type="http://schemas.openxmlformats.org/officeDocument/2006/relationships/notesSlide" Target="/ppt/notesSlides/notesSlide6.xml" Id="Rfd4050996c8943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c84d36fb9e4aed" /><Relationship Type="http://schemas.openxmlformats.org/officeDocument/2006/relationships/notesSlide" Target="/ppt/notesSlides/notesSlide7.xml" Id="R5e4b5674d78e44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b16f6d78a54692" /><Relationship Type="http://schemas.openxmlformats.org/officeDocument/2006/relationships/notesSlide" Target="/ppt/notesSlides/notesSlide8.xml" Id="Ra3fd808d38034a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6a16bcdbb54ac9" /><Relationship Type="http://schemas.openxmlformats.org/officeDocument/2006/relationships/notesSlide" Target="/ppt/notesSlides/notesSlide9.xml" Id="Rb746067da2fa4b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091efbac374bc4" /><Relationship Type="http://schemas.openxmlformats.org/officeDocument/2006/relationships/notesSlide" Target="/ppt/notesSlides/notesSlide10.xml" Id="Rb7107a2915bd424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c6fee1d3d34a23" /><Relationship Type="http://schemas.openxmlformats.org/officeDocument/2006/relationships/notesSlide" Target="/ppt/notesSlides/notesSlide11.xml" Id="Rd4782d51b29d45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d2f4c733574c96" /><Relationship Type="http://schemas.openxmlformats.org/officeDocument/2006/relationships/notesSlide" Target="/ppt/notesSlides/notesSlide12.xml" Id="Rf515341faf9b460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af82d8edf240b6" /><Relationship Type="http://schemas.openxmlformats.org/officeDocument/2006/relationships/notesSlide" Target="/ppt/notesSlides/notesSlide13.xml" Id="R12259d1475b34c7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fc930bc155445b" /><Relationship Type="http://schemas.openxmlformats.org/officeDocument/2006/relationships/notesSlide" Target="/ppt/notesSlides/notesSlide14.xml" Id="Rb6d70bcae0cf42b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cc3e8028364880" /><Relationship Type="http://schemas.openxmlformats.org/officeDocument/2006/relationships/notesSlide" Target="/ppt/notesSlides/notesSlide15.xml" Id="R4c9a923a56e344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반복되는 프로젝트 설명">
            <a:extLst xmlns:a="http://schemas.openxmlformats.org/drawingml/2006/main">
              <a:ext uri="{FF2B5EF4-FFF2-40B4-BE49-F238E27FC236}">
                <a16:creationId xmlns:a16="http://schemas.microsoft.com/office/drawing/2014/main" id="{77ED2A16-70BC-4D7C-AD79-837B40DA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반복되는 프로젝트 설명</a:t>
            </a:r>
          </a:p>
        </p:txBody>
      </p:sp>
      <p:sp>
        <p:nvSpPr>
          <p:cNvPr id="2" name="S22">
            <a:extLst xmlns:a="http://schemas.openxmlformats.org/drawingml/2006/main">
              <a:ext uri="{FF2B5EF4-FFF2-40B4-BE49-F238E27FC236}">
                <a16:creationId xmlns:a16="http://schemas.microsoft.com/office/drawing/2014/main" id="{7CED4F98-9F52-473F-916D-0AC1D513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S22</a:t>
            </a:r>
          </a:p>
        </p:txBody>
      </p:sp>
      <p:sp>
        <p:nvSpPr>
          <p:cNvPr id="3" name="다른 Task에 같은 설명이 반복된다">
            <a:extLst xmlns:a="http://schemas.openxmlformats.org/drawingml/2006/main">
              <a:ext uri="{FF2B5EF4-FFF2-40B4-BE49-F238E27FC236}">
                <a16:creationId xmlns:a16="http://schemas.microsoft.com/office/drawing/2014/main" id="{39030513-D34F-4EEB-AD4C-A387AEEF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Task에 같은 설명이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68C533-7F56-4EC4-A546-3DCF702D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성 사례 · Bug fix / Performance / README 작업">
            <a:extLst xmlns:a="http://schemas.openxmlformats.org/drawingml/2006/main">
              <a:ext uri="{FF2B5EF4-FFF2-40B4-BE49-F238E27FC236}">
                <a16:creationId xmlns:a16="http://schemas.microsoft.com/office/drawing/2014/main" id="{EE660958-6B32-45FF-8CCB-E970D063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구성 사례 · Bug fix / Performance / README 작업</a:t>
            </a:r>
          </a:p>
        </p:txBody>
      </p:sp>
      <p:sp>
        <p:nvSpPr>
          <p:cNvPr id="6" name="서로 다른 요청에 같은 프로젝트 정보가 반복되는 상황을 보여준다">
            <a:extLst xmlns:a="http://schemas.openxmlformats.org/drawingml/2006/main">
              <a:ext uri="{FF2B5EF4-FFF2-40B4-BE49-F238E27FC236}">
                <a16:creationId xmlns:a16="http://schemas.microsoft.com/office/drawing/2014/main" id="{87FACEA2-14C1-42E2-A6B2-A9B928AF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서로 다른 요청에 같은 프로젝트 정보가 반복되는 상황을 보여준다</a:t>
            </a:r>
          </a:p>
        </p:txBody>
      </p:sp>
      <p:sp>
        <p:nvSpPr>
          <p:cNvPr id="7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7B34FDE4-DB58-4651-B5CD-8F322709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8" name="crop 경계를 수정해줘">
            <a:extLst xmlns:a="http://schemas.openxmlformats.org/drawingml/2006/main">
              <a:ext uri="{FF2B5EF4-FFF2-40B4-BE49-F238E27FC236}">
                <a16:creationId xmlns:a16="http://schemas.microsoft.com/office/drawing/2014/main" id="{1DEB9CC5-E05A-41B9-827E-3B7C9BC1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경계를 수정해줘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29B269-A97A-4816-AEA1-7372A672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375A6E-22BC-4C52-8F50-A257F0EC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EA55D69D-AAC9-497F-A309-8DEDB45C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2" name="성능 조사">
            <a:extLst xmlns:a="http://schemas.openxmlformats.org/drawingml/2006/main">
              <a:ext uri="{FF2B5EF4-FFF2-40B4-BE49-F238E27FC236}">
                <a16:creationId xmlns:a16="http://schemas.microsoft.com/office/drawing/2014/main" id="{A273231A-77C9-40D6-8D37-CDC31F0B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</a:t>
            </a:r>
          </a:p>
        </p:txBody>
      </p:sp>
      <p:sp>
        <p:nvSpPr>
          <p:cNvPr id="13" name="통계 계산을 조사해줘">
            <a:extLst xmlns:a="http://schemas.openxmlformats.org/drawingml/2006/main">
              <a:ext uri="{FF2B5EF4-FFF2-40B4-BE49-F238E27FC236}">
                <a16:creationId xmlns:a16="http://schemas.microsoft.com/office/drawing/2014/main" id="{EE255E33-E39E-43B5-94A3-6ED9AAEA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계산을 조사해줘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738F9-B4CD-4A44-AA7C-DAAD5FE5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E2F03-9E79-4F99-A127-273DD82A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2BA5B58A-6A0C-4335-87CF-CA3EB9B5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7" name="README 수정">
            <a:extLst xmlns:a="http://schemas.openxmlformats.org/drawingml/2006/main">
              <a:ext uri="{FF2B5EF4-FFF2-40B4-BE49-F238E27FC236}">
                <a16:creationId xmlns:a16="http://schemas.microsoft.com/office/drawing/2014/main" id="{BFAA674A-E8E1-4796-A9B3-11B25F60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README 수정</a:t>
            </a:r>
          </a:p>
        </p:txBody>
      </p:sp>
      <p:sp>
        <p:nvSpPr>
          <p:cNvPr id="18" name="빌드 안내를 명확히 해줘">
            <a:extLst xmlns:a="http://schemas.openxmlformats.org/drawingml/2006/main">
              <a:ext uri="{FF2B5EF4-FFF2-40B4-BE49-F238E27FC236}">
                <a16:creationId xmlns:a16="http://schemas.microsoft.com/office/drawing/2014/main" id="{E67E2B38-12CE-4F4C-A003-1751B636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안내를 명확히 해줘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6EE306-E97D-47F4-BFE9-3B0688CE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07823E-1831-4A4B-B89B-1176ECB2D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B11AD1C9-EA19-4177-9F37-E7252B88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22" name="요청은 다른데, 아래 설명은 왜 계속 같을까?">
            <a:extLst xmlns:a="http://schemas.openxmlformats.org/drawingml/2006/main">
              <a:ext uri="{FF2B5EF4-FFF2-40B4-BE49-F238E27FC236}">
                <a16:creationId xmlns:a16="http://schemas.microsoft.com/office/drawing/2014/main" id="{389EE18B-429B-49A0-BEE2-4A2D20C2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요청은 다른데, 아래 설명은 왜 계속 같을까?</a:t>
            </a:r>
          </a:p>
        </p:txBody>
      </p:sp>
    </p:spTree>
    <p:extLst>
      <p:ext uri="{BB962C8B-B14F-4D97-AF65-F5344CB8AC3E}">
        <p14:creationId xmlns:p14="http://schemas.microsoft.com/office/powerpoint/2010/main" val="3555618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2  ·  Project Context">
            <a:extLst xmlns:a="http://schemas.openxmlformats.org/drawingml/2006/main">
              <a:ext uri="{FF2B5EF4-FFF2-40B4-BE49-F238E27FC236}">
                <a16:creationId xmlns:a16="http://schemas.microsoft.com/office/drawing/2014/main" id="{349057BC-7840-4F59-8A64-F419E1B2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 ·  Project Context</a:t>
            </a:r>
          </a:p>
        </p:txBody>
      </p:sp>
      <p:sp>
        <p:nvSpPr>
          <p:cNvPr id="2" name="S23">
            <a:extLst xmlns:a="http://schemas.openxmlformats.org/drawingml/2006/main">
              <a:ext uri="{FF2B5EF4-FFF2-40B4-BE49-F238E27FC236}">
                <a16:creationId xmlns:a16="http://schemas.microsoft.com/office/drawing/2014/main" id="{7CE63E44-9518-482E-9443-2BDEA8B9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S23</a:t>
            </a:r>
          </a:p>
        </p:txBody>
      </p:sp>
      <p:sp>
        <p:nvSpPr>
          <p:cNvPr id="3" name="작은 Project Context의 첫 기록">
            <a:extLst xmlns:a="http://schemas.openxmlformats.org/drawingml/2006/main">
              <a:ext uri="{FF2B5EF4-FFF2-40B4-BE49-F238E27FC236}">
                <a16:creationId xmlns:a16="http://schemas.microsoft.com/office/drawing/2014/main" id="{3BA7DC3A-FD82-4EA7-8F9F-0B5D7747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Project Context의 첫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FD38E5-0A74-4131-8B22-0BDE9A0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OBSERVED PRODUCT  |  STATE-01 · AGENTS.md 실제 원문 발췌">
            <a:extLst xmlns:a="http://schemas.openxmlformats.org/drawingml/2006/main">
              <a:ext uri="{FF2B5EF4-FFF2-40B4-BE49-F238E27FC236}">
                <a16:creationId xmlns:a16="http://schemas.microsoft.com/office/drawing/2014/main" id="{D1735B73-4D65-4DF6-8774-4FFD741E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OBSERVED PRODUCT  |  STATE-01 · AGENTS.md 실제 원문 발췌</a:t>
            </a:r>
          </a:p>
        </p:txBody>
      </p:sp>
      <p:sp>
        <p:nvSpPr>
          <p:cNvPr id="6" name="파일의 내용과 기록 위치를 보여주는 장 · Agent의 활용 관찰은 다음 장에서 확인">
            <a:extLst xmlns:a="http://schemas.openxmlformats.org/drawingml/2006/main">
              <a:ext uri="{FF2B5EF4-FFF2-40B4-BE49-F238E27FC236}">
                <a16:creationId xmlns:a16="http://schemas.microsoft.com/office/drawing/2014/main" id="{58731211-54B7-4563-A534-9751537F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파일의 내용과 기록 위치를 보여주는 장 · Agent의 활용 관찰은 다음 장에서 확인</a:t>
            </a:r>
          </a:p>
        </p:txBody>
      </p:sp>
      <p:sp>
        <p:nvSpPr>
          <p:cNvPr id="7" name="반복해서 설명하던 내용을 저장소에 남겼다">
            <a:extLst xmlns:a="http://schemas.openxmlformats.org/drawingml/2006/main">
              <a:ext uri="{FF2B5EF4-FFF2-40B4-BE49-F238E27FC236}">
                <a16:creationId xmlns:a16="http://schemas.microsoft.com/office/drawing/2014/main" id="{E99C2490-4052-4209-8303-D26A69DE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설명하던 내용을 저장소에 남겼다</a:t>
            </a:r>
          </a:p>
        </p:txBody>
      </p:sp>
      <p:sp>
        <p:nvSpPr>
          <p:cNvPr id="8" name="AGENTS.md">
            <a:extLst xmlns:a="http://schemas.openxmlformats.org/drawingml/2006/main">
              <a:ext uri="{FF2B5EF4-FFF2-40B4-BE49-F238E27FC236}">
                <a16:creationId xmlns:a16="http://schemas.microsoft.com/office/drawing/2014/main" id="{B3774276-4EB4-4180-AA3F-4390092D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9" name="STATE-00-FIXED → STATE-01">
            <a:extLst xmlns:a="http://schemas.openxmlformats.org/drawingml/2006/main">
              <a:ext uri="{FF2B5EF4-FFF2-40B4-BE49-F238E27FC236}">
                <a16:creationId xmlns:a16="http://schemas.microsoft.com/office/drawing/2014/main" id="{B9C1F748-71EB-4FA8-9FBA-8FD0B672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57425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STATE-00-FIXED → STATE-01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A5DE7-F4F8-4F1A-801B-06944455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프로젝트 목적">
            <a:extLst xmlns:a="http://schemas.openxmlformats.org/drawingml/2006/main">
              <a:ext uri="{FF2B5EF4-FFF2-40B4-BE49-F238E27FC236}">
                <a16:creationId xmlns:a16="http://schemas.microsoft.com/office/drawing/2014/main" id="{7E3287D2-828E-434D-B6BF-2095AD45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목적</a:t>
            </a:r>
          </a:p>
        </p:txBody>
      </p:sp>
      <p:sp>
        <p:nvSpPr>
          <p:cNvPr id="12" name="Local grayscale image-processing CLI using synthetic ASCII P">
            <a:extLst xmlns:a="http://schemas.openxmlformats.org/drawingml/2006/main">
              <a:ext uri="{FF2B5EF4-FFF2-40B4-BE49-F238E27FC236}">
                <a16:creationId xmlns:a16="http://schemas.microsoft.com/office/drawing/2014/main" id="{8C25F2B5-3ED4-4C9B-9A3C-662DA293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8130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Local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grayscale image-processing CLI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using synthetic ASCII PGM data.</a:t>
            </a:r>
          </a:p>
        </p:txBody>
      </p:sp>
      <p:sp>
        <p:nvSpPr>
          <p:cNvPr id="13" name="로컬 합성 이미지로 동작하는 흑백 처리 CLI">
            <a:extLst xmlns:a="http://schemas.openxmlformats.org/drawingml/2006/main">
              <a:ext uri="{FF2B5EF4-FFF2-40B4-BE49-F238E27FC236}">
                <a16:creationId xmlns:a16="http://schemas.microsoft.com/office/drawing/2014/main" id="{6E78A0DB-9CA4-4F28-A036-02DA4C74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8610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로컬 합성 이미지로 동작하는 흑백 처리 CLI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003973-50F5-484F-8441-830B2ADE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실행 방법">
            <a:extLst xmlns:a="http://schemas.openxmlformats.org/drawingml/2006/main">
              <a:ext uri="{FF2B5EF4-FFF2-40B4-BE49-F238E27FC236}">
                <a16:creationId xmlns:a16="http://schemas.microsoft.com/office/drawing/2014/main" id="{258D42E0-2F31-42FF-8B73-D181AFB7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방법</a:t>
            </a:r>
          </a:p>
        </p:txBody>
      </p:sp>
      <p:sp>
        <p:nvSpPr>
          <p:cNvPr id="16" name="Use the prepared build and CLI commands documented in `READM">
            <a:extLst xmlns:a="http://schemas.openxmlformats.org/drawingml/2006/main">
              <a:ext uri="{FF2B5EF4-FFF2-40B4-BE49-F238E27FC236}">
                <a16:creationId xmlns:a16="http://schemas.microsoft.com/office/drawing/2014/main" id="{E2BAF48C-4267-4A6E-9165-6991287F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1472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Use the prepared build and CLI commands documented in `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README.md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`.</a:t>
            </a:r>
          </a:p>
        </p:txBody>
      </p:sp>
      <p:sp>
        <p:nvSpPr>
          <p:cNvPr id="17" name="실행 방법은 README에서 확인">
            <a:extLst xmlns:a="http://schemas.openxmlformats.org/drawingml/2006/main">
              <a:ext uri="{FF2B5EF4-FFF2-40B4-BE49-F238E27FC236}">
                <a16:creationId xmlns:a16="http://schemas.microsoft.com/office/drawing/2014/main" id="{AD968EAE-6C97-485B-9F17-439C7255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952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방법은 README에서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8C04D3-A415-4827-89E0-7DECA6EB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명령">
            <a:extLst xmlns:a="http://schemas.openxmlformats.org/drawingml/2006/main">
              <a:ext uri="{FF2B5EF4-FFF2-40B4-BE49-F238E27FC236}">
                <a16:creationId xmlns:a16="http://schemas.microsoft.com/office/drawing/2014/main" id="{D26E96CA-E5BF-49DE-B466-8A02FE9E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명령</a:t>
            </a:r>
          </a:p>
        </p:txBody>
      </p:sp>
      <p:sp>
        <p:nvSpPr>
          <p:cNvPr id="20" name="PYTHONPATH=src python3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66BFE832-4080-4243-9360-CFE64AB6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4815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PYTHONPATH=src python3 -m unittest discover -s tests -v</a:t>
            </a:r>
          </a:p>
        </p:txBody>
      </p:sp>
      <p:sp>
        <p:nvSpPr>
          <p:cNvPr id="21" name="반복해서 쓸 테스트 명령">
            <a:extLst xmlns:a="http://schemas.openxmlformats.org/drawingml/2006/main">
              <a:ext uri="{FF2B5EF4-FFF2-40B4-BE49-F238E27FC236}">
                <a16:creationId xmlns:a16="http://schemas.microsoft.com/office/drawing/2014/main" id="{7DA5375C-261F-490E-A3BE-D2A871E4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5295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쓸 테스트 명령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A8A73F-2250-42B9-96FE-0718CB3B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기본 제약">
            <a:extLst xmlns:a="http://schemas.openxmlformats.org/drawingml/2006/main">
              <a:ext uri="{FF2B5EF4-FFF2-40B4-BE49-F238E27FC236}">
                <a16:creationId xmlns:a16="http://schemas.microsoft.com/office/drawing/2014/main" id="{DEEE32F9-7084-4087-9545-3621A2E9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24" name="Keep changes scoped and verify relevant behavior.">
            <a:extLst xmlns:a="http://schemas.openxmlformats.org/drawingml/2006/main">
              <a:ext uri="{FF2B5EF4-FFF2-40B4-BE49-F238E27FC236}">
                <a16:creationId xmlns:a16="http://schemas.microsoft.com/office/drawing/2014/main" id="{AF8CFBA1-C814-46B1-8963-4A6F5E4B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8157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Keep changes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scoped and verify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relevant behavior.</a:t>
            </a:r>
          </a:p>
        </p:txBody>
      </p:sp>
      <p:sp>
        <p:nvSpPr>
          <p:cNvPr id="25" name="범위를 지키고 관련 동작을 검증">
            <a:extLst xmlns:a="http://schemas.openxmlformats.org/drawingml/2006/main">
              <a:ext uri="{FF2B5EF4-FFF2-40B4-BE49-F238E27FC236}">
                <a16:creationId xmlns:a16="http://schemas.microsoft.com/office/drawing/2014/main" id="{94187C73-0003-41E8-A209-D01914052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8637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범위를 지키고 관련 동작을 검증</a:t>
            </a:r>
          </a:p>
        </p:txBody>
      </p:sp>
    </p:spTree>
    <p:extLst>
      <p:ext uri="{BB962C8B-B14F-4D97-AF65-F5344CB8AC3E}">
        <p14:creationId xmlns:p14="http://schemas.microsoft.com/office/powerpoint/2010/main" val="13194963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지침을 활용한 관찰">
            <a:extLst xmlns:a="http://schemas.openxmlformats.org/drawingml/2006/main">
              <a:ext uri="{FF2B5EF4-FFF2-40B4-BE49-F238E27FC236}">
                <a16:creationId xmlns:a16="http://schemas.microsoft.com/office/drawing/2014/main" id="{A2D23296-6BC9-4F9A-BC76-A9B5A65C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지침을 활용한 관찰</a:t>
            </a:r>
          </a:p>
        </p:txBody>
      </p:sp>
      <p:sp>
        <p:nvSpPr>
          <p:cNvPr id="2" name="S24">
            <a:extLst xmlns:a="http://schemas.openxmlformats.org/drawingml/2006/main">
              <a:ext uri="{FF2B5EF4-FFF2-40B4-BE49-F238E27FC236}">
                <a16:creationId xmlns:a16="http://schemas.microsoft.com/office/drawing/2014/main" id="{4754E805-026F-499E-BE77-B49D55EB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S24</a:t>
            </a:r>
          </a:p>
        </p:txBody>
      </p:sp>
      <p:sp>
        <p:nvSpPr>
          <p:cNvPr id="3" name="한 번의 사용에서 확인된 것">
            <a:extLst xmlns:a="http://schemas.openxmlformats.org/drawingml/2006/main">
              <a:ext uri="{FF2B5EF4-FFF2-40B4-BE49-F238E27FC236}">
                <a16:creationId xmlns:a16="http://schemas.microsoft.com/office/drawing/2014/main" id="{519885CC-4C93-480E-AF28-44F36FFC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번의 사용에서 확인된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DBD93-9ED8-43AA-A6D5-31F64EDC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3 · Codex CLI 기록을 재구성 · 전체 테스트 11/11 PASS">
            <a:extLst xmlns:a="http://schemas.openxmlformats.org/drawingml/2006/main">
              <a:ext uri="{FF2B5EF4-FFF2-40B4-BE49-F238E27FC236}">
                <a16:creationId xmlns:a16="http://schemas.microsoft.com/office/drawing/2014/main" id="{2B8CD001-3E4A-40EA-AC55-6A929914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TRIAL-003 · Codex CLI 기록을 재구성 · 전체 테스트 11/11 PASS</a:t>
            </a:r>
          </a:p>
        </p:txBody>
      </p:sp>
      <p:sp>
        <p:nvSpPr>
          <p:cNvPr id="6" name="Personal/global Skills도 실행됨 · AGENTS.md만의 독립적인 효과로 해석하지 않음">
            <a:extLst xmlns:a="http://schemas.openxmlformats.org/drawingml/2006/main">
              <a:ext uri="{FF2B5EF4-FFF2-40B4-BE49-F238E27FC236}">
                <a16:creationId xmlns:a16="http://schemas.microsoft.com/office/drawing/2014/main" id="{A5225122-8A59-4A1D-A6D0-1740B9A1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Personal/global Skills도 실행됨 · AGENTS.md만의 독립적인 효과로 해석하지 않음</a:t>
            </a:r>
          </a:p>
        </p:txBody>
      </p:sp>
      <p:sp>
        <p:nvSpPr>
          <p:cNvPr id="7" name="요청">
            <a:extLst xmlns:a="http://schemas.openxmlformats.org/drawingml/2006/main">
              <a:ext uri="{FF2B5EF4-FFF2-40B4-BE49-F238E27FC236}">
                <a16:creationId xmlns:a16="http://schemas.microsoft.com/office/drawing/2014/main" id="{FC284514-D61C-49C9-B575-6568625A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9BE0D8-B9CB-467B-AF75-293DAF10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읽은 파일">
            <a:extLst xmlns:a="http://schemas.openxmlformats.org/drawingml/2006/main">
              <a:ext uri="{FF2B5EF4-FFF2-40B4-BE49-F238E27FC236}">
                <a16:creationId xmlns:a16="http://schemas.microsoft.com/office/drawing/2014/main" id="{A98BF887-87BD-4B97-87D0-9D2362A9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읽은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5C2C1C-0E4E-4115-8F3E-8C30AC90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실행 기록">
            <a:extLst xmlns:a="http://schemas.openxmlformats.org/drawingml/2006/main">
              <a:ext uri="{FF2B5EF4-FFF2-40B4-BE49-F238E27FC236}">
                <a16:creationId xmlns:a16="http://schemas.microsoft.com/office/drawing/2014/main" id="{D24FFCD0-78B8-4D77-B7BC-DD389037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기록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CB4EEE-E647-4A39-BF25-469470EF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README만 수정&#10;테스트 명령은 없음">
            <a:extLst xmlns:a="http://schemas.openxmlformats.org/drawingml/2006/main">
              <a:ext uri="{FF2B5EF4-FFF2-40B4-BE49-F238E27FC236}">
                <a16:creationId xmlns:a16="http://schemas.microsoft.com/office/drawing/2014/main" id="{22F58911-4EB3-47BD-B305-A5841FD1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14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README만 수정</a:t>
            </a:r>
          </a:p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명령은 없음</a:t>
            </a:r>
          </a:p>
        </p:txBody>
      </p:sp>
      <p:sp>
        <p:nvSpPr>
          <p:cNvPr id="14" name="AGENTS.md">
            <a:extLst xmlns:a="http://schemas.openxmlformats.org/drawingml/2006/main">
              <a:ext uri="{FF2B5EF4-FFF2-40B4-BE49-F238E27FC236}">
                <a16:creationId xmlns:a16="http://schemas.microsoft.com/office/drawing/2014/main" id="{B3C6FD4D-5863-4E5A-91FF-B731F9BF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76550"/>
            <a:ext cx="3314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15" name="기록된 테스트&#10;명령을 사용">
            <a:extLst xmlns:a="http://schemas.openxmlformats.org/drawingml/2006/main">
              <a:ext uri="{FF2B5EF4-FFF2-40B4-BE49-F238E27FC236}">
                <a16:creationId xmlns:a16="http://schemas.microsoft.com/office/drawing/2014/main" id="{3D199F7E-80F2-4ABB-A620-64A6C4BB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33775"/>
            <a:ext cx="3314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기록된 테스트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명령을 사용</a:t>
            </a:r>
          </a:p>
        </p:txBody>
      </p:sp>
      <p:sp>
        <p:nvSpPr>
          <p:cNvPr id="16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672FC87D-AE67-48AA-B0BB-5EEA0EA8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76550"/>
            <a:ext cx="331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7" name="11 / 11">
            <a:extLst xmlns:a="http://schemas.openxmlformats.org/drawingml/2006/main">
              <a:ext uri="{FF2B5EF4-FFF2-40B4-BE49-F238E27FC236}">
                <a16:creationId xmlns:a16="http://schemas.microsoft.com/office/drawing/2014/main" id="{5D858D41-8D28-40E9-8CF3-FA8939AA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76625"/>
            <a:ext cx="3314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11 / 11</a:t>
            </a:r>
          </a:p>
        </p:txBody>
      </p:sp>
      <p:sp>
        <p:nvSpPr>
          <p:cNvPr id="18" name="PASS">
            <a:extLst xmlns:a="http://schemas.openxmlformats.org/drawingml/2006/main">
              <a:ext uri="{FF2B5EF4-FFF2-40B4-BE49-F238E27FC236}">
                <a16:creationId xmlns:a16="http://schemas.microsoft.com/office/drawing/2014/main" id="{0BF5E292-B589-41F0-8237-37BAA36A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05275"/>
            <a:ext cx="3314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2B5471-6D19-4E91-8D51-8DA19B6A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7346A-BFA9-4BBB-A7D7-3E7AB0C1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4E51AC-D991-4EA9-A0A2-B933DDE3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README-only 범위는 작업 요청에도 명시돼 있었다">
            <a:extLst xmlns:a="http://schemas.openxmlformats.org/drawingml/2006/main">
              <a:ext uri="{FF2B5EF4-FFF2-40B4-BE49-F238E27FC236}">
                <a16:creationId xmlns:a16="http://schemas.microsoft.com/office/drawing/2014/main" id="{D2155498-BE48-4E38-A759-6D1499EA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README-only 범위는 작업 요청에도 명시돼 있었다</a:t>
            </a:r>
          </a:p>
        </p:txBody>
      </p:sp>
    </p:spTree>
    <p:extLst>
      <p:ext uri="{BB962C8B-B14F-4D97-AF65-F5344CB8AC3E}">
        <p14:creationId xmlns:p14="http://schemas.microsoft.com/office/powerpoint/2010/main" val="9445866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2 · 정보의 범위와 수명">
            <a:extLst xmlns:a="http://schemas.openxmlformats.org/drawingml/2006/main">
              <a:ext uri="{FF2B5EF4-FFF2-40B4-BE49-F238E27FC236}">
                <a16:creationId xmlns:a16="http://schemas.microsoft.com/office/drawing/2014/main" id="{7F56C700-16E1-40BF-A711-739CA569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범위와 수명</a:t>
            </a:r>
          </a:p>
        </p:txBody>
      </p:sp>
      <p:sp>
        <p:nvSpPr>
          <p:cNvPr id="2" name="S25">
            <a:extLst xmlns:a="http://schemas.openxmlformats.org/drawingml/2006/main">
              <a:ext uri="{FF2B5EF4-FFF2-40B4-BE49-F238E27FC236}">
                <a16:creationId xmlns:a16="http://schemas.microsoft.com/office/drawing/2014/main" id="{1EA67E31-9043-4924-9B4F-E9502CE7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S25</a:t>
            </a:r>
          </a:p>
        </p:txBody>
      </p:sp>
      <p:sp>
        <p:nvSpPr>
          <p:cNvPr id="3" name="Task Prompt와 Project Context">
            <a:extLst xmlns:a="http://schemas.openxmlformats.org/drawingml/2006/main">
              <a:ext uri="{FF2B5EF4-FFF2-40B4-BE49-F238E27FC236}">
                <a16:creationId xmlns:a16="http://schemas.microsoft.com/office/drawing/2014/main" id="{2844A6FB-A62F-46AD-86B9-29781F24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Prompt와 Project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0F2CC4-F964-4341-8B1A-10C8055F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분 · 현재 목표와 지속되는 프로젝트 사실">
            <a:extLst xmlns:a="http://schemas.openxmlformats.org/drawingml/2006/main">
              <a:ext uri="{FF2B5EF4-FFF2-40B4-BE49-F238E27FC236}">
                <a16:creationId xmlns:a16="http://schemas.microsoft.com/office/drawing/2014/main" id="{B4A929AA-87EC-480C-A3E2-0686221C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구분 · 현재 목표와 지속되는 프로젝트 사실</a:t>
            </a:r>
          </a:p>
        </p:txBody>
      </p:sp>
      <p:sp>
        <p:nvSpPr>
          <p:cNvPr id="6" name="C++에서도 프로젝트 공통 제약과 이번 알고리즘 변경 조건은 범위가 다를 수 있다">
            <a:extLst xmlns:a="http://schemas.openxmlformats.org/drawingml/2006/main">
              <a:ext uri="{FF2B5EF4-FFF2-40B4-BE49-F238E27FC236}">
                <a16:creationId xmlns:a16="http://schemas.microsoft.com/office/drawing/2014/main" id="{C85EDD66-0377-4A27-90A1-3D775C34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C++에서도 프로젝트 공통 제약과 이번 알고리즘 변경 조건은 범위가 다를 수 있다</a:t>
            </a:r>
          </a:p>
        </p:txBody>
      </p:sp>
      <p:sp>
        <p:nvSpPr>
          <p:cNvPr id="7" name="방금 본 기록을 범위와 수명으로 읽어보면">
            <a:extLst xmlns:a="http://schemas.openxmlformats.org/drawingml/2006/main">
              <a:ext uri="{FF2B5EF4-FFF2-40B4-BE49-F238E27FC236}">
                <a16:creationId xmlns:a16="http://schemas.microsoft.com/office/drawing/2014/main" id="{688D7E81-338B-4D77-ADE5-E8B6380A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방금 본 기록을 범위와 수명으로 읽어보면</a:t>
            </a:r>
          </a:p>
        </p:txBody>
      </p:sp>
      <p:sp>
        <p:nvSpPr>
          <p:cNvPr id="8" name="Task Prompt">
            <a:extLst xmlns:a="http://schemas.openxmlformats.org/drawingml/2006/main">
              <a:ext uri="{FF2B5EF4-FFF2-40B4-BE49-F238E27FC236}">
                <a16:creationId xmlns:a16="http://schemas.microsoft.com/office/drawing/2014/main" id="{445665D9-EAB0-451A-B495-BAB5C6B3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491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9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245A52E1-5C72-4F18-9873-8FF31E00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7652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5D9690-A3A3-46C9-8BCB-B7B55C64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546948-7A55-44C2-A067-89F364F8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금 원하는 결과">
            <a:extLst xmlns:a="http://schemas.openxmlformats.org/drawingml/2006/main">
              <a:ext uri="{FF2B5EF4-FFF2-40B4-BE49-F238E27FC236}">
                <a16:creationId xmlns:a16="http://schemas.microsoft.com/office/drawing/2014/main" id="{B82A0FB1-34B3-42E2-A8FD-BB29EAD1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91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원하는 결과</a:t>
            </a:r>
          </a:p>
        </p:txBody>
      </p:sp>
      <p:sp>
        <p:nvSpPr>
          <p:cNvPr id="13" name="계속 참이어야 할 사실">
            <a:extLst xmlns:a="http://schemas.openxmlformats.org/drawingml/2006/main">
              <a:ext uri="{FF2B5EF4-FFF2-40B4-BE49-F238E27FC236}">
                <a16:creationId xmlns:a16="http://schemas.microsoft.com/office/drawing/2014/main" id="{9652BF72-50BD-4810-9EF5-828B7587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참이어야 할 사실</a:t>
            </a:r>
          </a:p>
        </p:txBody>
      </p:sp>
      <p:sp>
        <p:nvSpPr>
          <p:cNvPr id="14" name="crop 경계 버그 수정&#10;이번에는 README만 변경">
            <a:extLst xmlns:a="http://schemas.openxmlformats.org/drawingml/2006/main">
              <a:ext uri="{FF2B5EF4-FFF2-40B4-BE49-F238E27FC236}">
                <a16:creationId xmlns:a16="http://schemas.microsoft.com/office/drawing/2014/main" id="{DC600B69-E53B-42AE-88FE-094D4B4B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49149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버그 수정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변경</a:t>
            </a:r>
          </a:p>
        </p:txBody>
      </p:sp>
      <p:sp>
        <p:nvSpPr>
          <p:cNvPr id="15" name="프로젝트의 테스트 명령&#10;의존성 추가에는 작업상 근거 필요">
            <a:extLst xmlns:a="http://schemas.openxmlformats.org/drawingml/2006/main">
              <a:ext uri="{FF2B5EF4-FFF2-40B4-BE49-F238E27FC236}">
                <a16:creationId xmlns:a16="http://schemas.microsoft.com/office/drawing/2014/main" id="{C674801E-BA19-479A-B34B-CF5BFF13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1925"/>
            <a:ext cx="4876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테스트 명령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FA8E34-EE53-4A07-B831-B368A235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49149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80724F-E3FB-4334-A5BB-CAA0B7F3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0"/>
            <a:ext cx="4876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다음 작업에서는 목표가 달라짐">
            <a:extLst xmlns:a="http://schemas.openxmlformats.org/drawingml/2006/main">
              <a:ext uri="{FF2B5EF4-FFF2-40B4-BE49-F238E27FC236}">
                <a16:creationId xmlns:a16="http://schemas.microsoft.com/office/drawing/2014/main" id="{72DF5D90-E641-4C53-ACE6-5F56C94A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461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작업에서는 목표가 달라짐</a:t>
            </a:r>
          </a:p>
        </p:txBody>
      </p:sp>
      <p:sp>
        <p:nvSpPr>
          <p:cNvPr id="19" name="여러 작업에서 다시 참고">
            <a:extLst xmlns:a="http://schemas.openxmlformats.org/drawingml/2006/main">
              <a:ext uri="{FF2B5EF4-FFF2-40B4-BE49-F238E27FC236}">
                <a16:creationId xmlns:a16="http://schemas.microsoft.com/office/drawing/2014/main" id="{F3A4C6F1-6AF8-4D0F-A80C-2321ED73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여러 작업에서 다시 참고</a:t>
            </a:r>
          </a:p>
        </p:txBody>
      </p:sp>
    </p:spTree>
    <p:extLst>
      <p:ext uri="{BB962C8B-B14F-4D97-AF65-F5344CB8AC3E}">
        <p14:creationId xmlns:p14="http://schemas.microsoft.com/office/powerpoint/2010/main" val="4008823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2 · Context가 쌓이는 과정">
            <a:extLst xmlns:a="http://schemas.openxmlformats.org/drawingml/2006/main">
              <a:ext uri="{FF2B5EF4-FFF2-40B4-BE49-F238E27FC236}">
                <a16:creationId xmlns:a16="http://schemas.microsoft.com/office/drawing/2014/main" id="{1B44C9A3-6989-4BFB-AA46-D3EC7074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Context가 쌓이는 과정</a:t>
            </a:r>
          </a:p>
        </p:txBody>
      </p:sp>
      <p:sp>
        <p:nvSpPr>
          <p:cNvPr id="2" name="S26">
            <a:extLst xmlns:a="http://schemas.openxmlformats.org/drawingml/2006/main">
              <a:ext uri="{FF2B5EF4-FFF2-40B4-BE49-F238E27FC236}">
                <a16:creationId xmlns:a16="http://schemas.microsoft.com/office/drawing/2014/main" id="{1486B537-1460-44D0-8501-7DD17C2E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S26</a:t>
            </a:r>
          </a:p>
        </p:txBody>
      </p:sp>
      <p:sp>
        <p:nvSpPr>
          <p:cNvPr id="3" name="정확한 정보도 계속 늘어난다">
            <a:extLst xmlns:a="http://schemas.openxmlformats.org/drawingml/2006/main">
              <a:ext uri="{FF2B5EF4-FFF2-40B4-BE49-F238E27FC236}">
                <a16:creationId xmlns:a16="http://schemas.microsoft.com/office/drawing/2014/main" id="{BE927105-068D-4639-8B53-64A4458B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정확한 정보도 계속 늘어난다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2C25F-BD56-4040-A684-DBFB94CBA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1 → STATE-02 · 실제 AGENTS.md 상태 비교">
            <a:extLst xmlns:a="http://schemas.openxmlformats.org/drawingml/2006/main">
              <a:ext uri="{FF2B5EF4-FFF2-40B4-BE49-F238E27FC236}">
                <a16:creationId xmlns:a16="http://schemas.microsoft.com/office/drawing/2014/main" id="{22AFF68A-878F-4960-93B0-3F830C13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STATE-01 → STATE-02 · 실제 AGENTS.md 상태 비교</a:t>
            </a:r>
          </a:p>
        </p:txBody>
      </p:sp>
      <p:sp>
        <p:nvSpPr>
          <p:cNvPr id="6" name="문서 크기는 상태 식별 정보 · Context 증가가 실패를 일으켰다는 근거는 아님">
            <a:extLst xmlns:a="http://schemas.openxmlformats.org/drawingml/2006/main">
              <a:ext uri="{FF2B5EF4-FFF2-40B4-BE49-F238E27FC236}">
                <a16:creationId xmlns:a16="http://schemas.microsoft.com/office/drawing/2014/main" id="{41524FCC-0F3A-4BBB-AEEC-C3E2E740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 크기는 상태 식별 정보 · Context 증가가 실패를 일으켰다는 근거는 아님</a:t>
            </a:r>
          </a:p>
        </p:txBody>
      </p:sp>
      <p:sp>
        <p:nvSpPr>
          <p:cNvPr id="7" name="STATE-01">
            <a:extLst xmlns:a="http://schemas.openxmlformats.org/drawingml/2006/main">
              <a:ext uri="{FF2B5EF4-FFF2-40B4-BE49-F238E27FC236}">
                <a16:creationId xmlns:a16="http://schemas.microsoft.com/office/drawing/2014/main" id="{45141453-D735-4924-86EE-EFF25B47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8" name="목적 · 실행 · 테스트&#10;기본 제약">
            <a:extLst xmlns:a="http://schemas.openxmlformats.org/drawingml/2006/main">
              <a:ext uri="{FF2B5EF4-FFF2-40B4-BE49-F238E27FC236}">
                <a16:creationId xmlns:a16="http://schemas.microsoft.com/office/drawing/2014/main" id="{0A6D8A35-44AC-466E-B52F-E851D822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295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목적 · 실행 · 테스트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9" name="15줄 · 567 bytes">
            <a:extLst xmlns:a="http://schemas.openxmlformats.org/drawingml/2006/main">
              <a:ext uri="{FF2B5EF4-FFF2-40B4-BE49-F238E27FC236}">
                <a16:creationId xmlns:a16="http://schemas.microsoft.com/office/drawing/2014/main" id="{92805A75-DF76-4AA3-A10A-76DC8D33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15줄 · 567 bytes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43CCF3-8CE0-408A-8535-F96BF30C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76575"/>
            <a:ext cx="4762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STATE-02에 추가된 실제 정보">
            <a:extLst xmlns:a="http://schemas.openxmlformats.org/drawingml/2006/main">
              <a:ext uri="{FF2B5EF4-FFF2-40B4-BE49-F238E27FC236}">
                <a16:creationId xmlns:a16="http://schemas.microsoft.com/office/drawing/2014/main" id="{836B223B-7A4F-495A-9A45-A0CB26F7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0275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STATE-02에 추가된 실제 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538EAC-CF86-4B26-9219-7353E5CC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4320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처리 순서">
            <a:extLst xmlns:a="http://schemas.openxmlformats.org/drawingml/2006/main">
              <a:ext uri="{FF2B5EF4-FFF2-40B4-BE49-F238E27FC236}">
                <a16:creationId xmlns:a16="http://schemas.microsoft.com/office/drawing/2014/main" id="{3B681EA9-692C-47A7-AECB-D930A763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3845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처리 순서</a:t>
            </a:r>
          </a:p>
        </p:txBody>
      </p:sp>
      <p:sp>
        <p:nvSpPr>
          <p:cNvPr id="14" name="load → normalize → … → write">
            <a:extLst xmlns:a="http://schemas.openxmlformats.org/drawingml/2006/main">
              <a:ext uri="{FF2B5EF4-FFF2-40B4-BE49-F238E27FC236}">
                <a16:creationId xmlns:a16="http://schemas.microsoft.com/office/drawing/2014/main" id="{A2DA7FFD-A6A9-4081-92E4-DEE90E0E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83845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load → normalize → … → write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259343-EE1A-40F6-A7F6-3BEFF31D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8612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미지 계약">
            <a:extLst xmlns:a="http://schemas.openxmlformats.org/drawingml/2006/main">
              <a:ext uri="{FF2B5EF4-FFF2-40B4-BE49-F238E27FC236}">
                <a16:creationId xmlns:a16="http://schemas.microsoft.com/office/drawing/2014/main" id="{C98E3716-5E48-4467-9389-0A399610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8137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이미지 계약</a:t>
            </a:r>
          </a:p>
        </p:txBody>
      </p:sp>
      <p:sp>
        <p:nvSpPr>
          <p:cNvPr id="17" name="crop: [x_start, x_end)">
            <a:extLst xmlns:a="http://schemas.openxmlformats.org/drawingml/2006/main">
              <a:ext uri="{FF2B5EF4-FFF2-40B4-BE49-F238E27FC236}">
                <a16:creationId xmlns:a16="http://schemas.microsoft.com/office/drawing/2014/main" id="{7CC2117E-351D-4EB8-9C2D-1FECFA77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38137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crop: [x_start, x_end)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7984AF-6A5F-4580-A841-6F321980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2905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구조">
            <a:extLst xmlns:a="http://schemas.openxmlformats.org/drawingml/2006/main">
              <a:ext uri="{FF2B5EF4-FFF2-40B4-BE49-F238E27FC236}">
                <a16:creationId xmlns:a16="http://schemas.microsoft.com/office/drawing/2014/main" id="{67AFFF37-45CC-49F9-B859-73DD4FD6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92430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구조</a:t>
            </a:r>
          </a:p>
        </p:txBody>
      </p:sp>
      <p:sp>
        <p:nvSpPr>
          <p:cNvPr id="20" name="tests/test_pipeline.py">
            <a:extLst xmlns:a="http://schemas.openxmlformats.org/drawingml/2006/main">
              <a:ext uri="{FF2B5EF4-FFF2-40B4-BE49-F238E27FC236}">
                <a16:creationId xmlns:a16="http://schemas.microsoft.com/office/drawing/2014/main" id="{8F01B361-F862-4480-96B7-B2AF9378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92430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tests/test_pipeline.py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F161B2-DD70-42CC-98BD-7781F3C6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7197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CLI 출력">
            <a:extLst xmlns:a="http://schemas.openxmlformats.org/drawingml/2006/main">
              <a:ext uri="{FF2B5EF4-FFF2-40B4-BE49-F238E27FC236}">
                <a16:creationId xmlns:a16="http://schemas.microsoft.com/office/drawing/2014/main" id="{69D107F1-2109-410D-AE1B-EBFF9E39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6722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출력</a:t>
            </a:r>
          </a:p>
        </p:txBody>
      </p:sp>
      <p:sp>
        <p:nvSpPr>
          <p:cNvPr id="23" name="width · height · pixel_count …">
            <a:extLst xmlns:a="http://schemas.openxmlformats.org/drawingml/2006/main">
              <a:ext uri="{FF2B5EF4-FFF2-40B4-BE49-F238E27FC236}">
                <a16:creationId xmlns:a16="http://schemas.microsoft.com/office/drawing/2014/main" id="{ABDA8895-399F-488D-9BBF-B6CCD80F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6722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width · height · pixel_count …</a:t>
            </a:r>
          </a:p>
        </p:txBody>
      </p:sp>
      <p:sp>
        <p:nvSpPr>
          <p:cNvPr id="24" name="32줄 · 1,303 bytes">
            <a:extLst xmlns:a="http://schemas.openxmlformats.org/drawingml/2006/main">
              <a:ext uri="{FF2B5EF4-FFF2-40B4-BE49-F238E27FC236}">
                <a16:creationId xmlns:a16="http://schemas.microsoft.com/office/drawing/2014/main" id="{A07831D8-4577-4477-B9C3-6A475B8D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067300"/>
            <a:ext cx="6972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32줄 · 1,303 bytes</a:t>
            </a:r>
          </a:p>
        </p:txBody>
      </p:sp>
      <p:sp>
        <p:nvSpPr>
          <p:cNvPr id="25" name="이번 Task에도 필요할까?">
            <a:extLst xmlns:a="http://schemas.openxmlformats.org/drawingml/2006/main">
              <a:ext uri="{FF2B5EF4-FFF2-40B4-BE49-F238E27FC236}">
                <a16:creationId xmlns:a16="http://schemas.microsoft.com/office/drawing/2014/main" id="{967DFC57-F058-4CC1-8A9B-03DF2DB3E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Task에도 필요할까?</a:t>
            </a:r>
          </a:p>
        </p:txBody>
      </p:sp>
    </p:spTree>
    <p:extLst>
      <p:ext uri="{BB962C8B-B14F-4D97-AF65-F5344CB8AC3E}">
        <p14:creationId xmlns:p14="http://schemas.microsoft.com/office/powerpoint/2010/main" val="1983706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2 · 관련성을 확인하기">
            <a:extLst xmlns:a="http://schemas.openxmlformats.org/drawingml/2006/main">
              <a:ext uri="{FF2B5EF4-FFF2-40B4-BE49-F238E27FC236}">
                <a16:creationId xmlns:a16="http://schemas.microsoft.com/office/drawing/2014/main" id="{CC83437F-AA1E-47D9-A07C-B7375EE4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관련성을 확인하기</a:t>
            </a:r>
          </a:p>
        </p:txBody>
      </p:sp>
      <p:sp>
        <p:nvSpPr>
          <p:cNvPr id="2" name="S27">
            <a:extLst xmlns:a="http://schemas.openxmlformats.org/drawingml/2006/main">
              <a:ext uri="{FF2B5EF4-FFF2-40B4-BE49-F238E27FC236}">
                <a16:creationId xmlns:a16="http://schemas.microsoft.com/office/drawing/2014/main" id="{1B77A33A-6EE6-403C-8155-219E65A7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S27</a:t>
            </a:r>
          </a:p>
        </p:txBody>
      </p:sp>
      <p:sp>
        <p:nvSpPr>
          <p:cNvPr id="3" name="정확하지만 이번 Task에는 불필요한 정보">
            <a:extLst xmlns:a="http://schemas.openxmlformats.org/drawingml/2006/main">
              <a:ext uri="{FF2B5EF4-FFF2-40B4-BE49-F238E27FC236}">
                <a16:creationId xmlns:a16="http://schemas.microsoft.com/office/drawing/2014/main" id="{1F4D6F6D-BE2E-4DDD-BDE6-9F09BADB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정확하지만 이번 Task에는 불필요한 정보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95C9DA-78F2-4A82-8FEF-10310F39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4 · README의 build tools 안내를 명확히 하는 작업">
            <a:extLst xmlns:a="http://schemas.openxmlformats.org/drawingml/2006/main">
              <a:ext uri="{FF2B5EF4-FFF2-40B4-BE49-F238E27FC236}">
                <a16:creationId xmlns:a16="http://schemas.microsoft.com/office/drawing/2014/main" id="{F7D7757C-41D0-448A-8BD9-A1104683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TRIAL-004 · README의 build tools 안내를 명확히 하는 작업</a:t>
            </a:r>
          </a:p>
        </p:txBody>
      </p:sp>
      <p:sp>
        <p:nvSpPr>
          <p:cNvPr id="6" name="Agent 혼란과 Context 관련 실패는 관찰되지 않았다">
            <a:extLst xmlns:a="http://schemas.openxmlformats.org/drawingml/2006/main">
              <a:ext uri="{FF2B5EF4-FFF2-40B4-BE49-F238E27FC236}">
                <a16:creationId xmlns:a16="http://schemas.microsoft.com/office/drawing/2014/main" id="{E214E4E5-C297-4181-8FF8-CEA21E70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 혼란과 Context 관련 실패는 관찰되지 않았다</a:t>
            </a:r>
          </a:p>
        </p:txBody>
      </p:sp>
      <p:sp>
        <p:nvSpPr>
          <p:cNvPr id="7" name="작업: README의 빌드 도구 안내를 고친다">
            <a:extLst xmlns:a="http://schemas.openxmlformats.org/drawingml/2006/main">
              <a:ext uri="{FF2B5EF4-FFF2-40B4-BE49-F238E27FC236}">
                <a16:creationId xmlns:a16="http://schemas.microsoft.com/office/drawing/2014/main" id="{A62055C8-089B-40A2-BEF6-99BBB84A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작업: README의 빌드 도구 안내를 고친다</a:t>
            </a:r>
          </a:p>
        </p:txBody>
      </p:sp>
      <p:sp>
        <p:nvSpPr>
          <p:cNvPr id="8" name="이번 질문과 직접 관련">
            <a:extLst xmlns:a="http://schemas.openxmlformats.org/drawingml/2006/main">
              <a:ext uri="{FF2B5EF4-FFF2-40B4-BE49-F238E27FC236}">
                <a16:creationId xmlns:a16="http://schemas.microsoft.com/office/drawing/2014/main" id="{8CB7DA8B-FA4F-4D52-8A60-2451E251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질문과 직접 관련</a:t>
            </a:r>
          </a:p>
        </p:txBody>
      </p:sp>
      <p:sp>
        <p:nvSpPr>
          <p:cNvPr id="9" name="함께 있었지만 관련이 낮은 정보">
            <a:extLst xmlns:a="http://schemas.openxmlformats.org/drawingml/2006/main">
              <a:ext uri="{FF2B5EF4-FFF2-40B4-BE49-F238E27FC236}">
                <a16:creationId xmlns:a16="http://schemas.microsoft.com/office/drawing/2014/main" id="{1E209C04-75FE-48E6-B108-BDDC14FF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있었지만 관련이 낮은 정보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5F688-097B-4473-8723-F87250AF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F622A-D334-46DB-8B2F-984CB77D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3472E4-DD26-48A2-8F19-7E44FAC1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495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ADME&#10;pyproject.toml의 빌드 설정">
            <a:extLst xmlns:a="http://schemas.openxmlformats.org/drawingml/2006/main">
              <a:ext uri="{FF2B5EF4-FFF2-40B4-BE49-F238E27FC236}">
                <a16:creationId xmlns:a16="http://schemas.microsoft.com/office/drawing/2014/main" id="{B7297723-294E-4077-9021-A75042DF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4495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pyproject.toml의 빌드 설정</a:t>
            </a:r>
          </a:p>
        </p:txBody>
      </p:sp>
      <p:sp>
        <p:nvSpPr>
          <p:cNvPr id="14" name="crop / resize 계약&#10;이미지 처리 pipeline 세부사항">
            <a:extLst xmlns:a="http://schemas.openxmlformats.org/drawingml/2006/main">
              <a:ext uri="{FF2B5EF4-FFF2-40B4-BE49-F238E27FC236}">
                <a16:creationId xmlns:a16="http://schemas.microsoft.com/office/drawing/2014/main" id="{BEC81D87-3220-4B25-B152-55C29F4F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crop / resize 계약</a:t>
            </a:r>
          </a:p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처리 pipeline 세부사항</a:t>
            </a:r>
          </a:p>
        </p:txBody>
      </p:sp>
      <p:sp>
        <p:nvSpPr>
          <p:cNvPr id="15" name="정확한 정보라도, 모든 질문에 필요한 것은 아니다">
            <a:extLst xmlns:a="http://schemas.openxmlformats.org/drawingml/2006/main">
              <a:ext uri="{FF2B5EF4-FFF2-40B4-BE49-F238E27FC236}">
                <a16:creationId xmlns:a16="http://schemas.microsoft.com/office/drawing/2014/main" id="{A9BD39B4-1815-4F5F-B01D-7F3F3772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정확한 정보라도, 모든 질문에 필요한 것은 아니다</a:t>
            </a:r>
          </a:p>
        </p:txBody>
      </p:sp>
    </p:spTree>
    <p:extLst>
      <p:ext uri="{BB962C8B-B14F-4D97-AF65-F5344CB8AC3E}">
        <p14:creationId xmlns:p14="http://schemas.microsoft.com/office/powerpoint/2010/main" val="15889967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2 · 언제 필요한 정보인가">
            <a:extLst xmlns:a="http://schemas.openxmlformats.org/drawingml/2006/main">
              <a:ext uri="{FF2B5EF4-FFF2-40B4-BE49-F238E27FC236}">
                <a16:creationId xmlns:a16="http://schemas.microsoft.com/office/drawing/2014/main" id="{0D7D9789-6676-464A-A079-C5E20E76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언제 필요한 정보인가</a:t>
            </a:r>
          </a:p>
        </p:txBody>
      </p:sp>
      <p:sp>
        <p:nvSpPr>
          <p:cNvPr id="2" name="S28">
            <a:extLst xmlns:a="http://schemas.openxmlformats.org/drawingml/2006/main">
              <a:ext uri="{FF2B5EF4-FFF2-40B4-BE49-F238E27FC236}">
                <a16:creationId xmlns:a16="http://schemas.microsoft.com/office/drawing/2014/main" id="{9BA4E2EB-7BCE-45CA-8DB3-B53317B8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S28</a:t>
            </a:r>
          </a:p>
        </p:txBody>
      </p:sp>
      <p:sp>
        <p:nvSpPr>
          <p:cNvPr id="3" name="정보의 범위와 제공 시점">
            <a:extLst xmlns:a="http://schemas.openxmlformats.org/drawingml/2006/main">
              <a:ext uri="{FF2B5EF4-FFF2-40B4-BE49-F238E27FC236}">
                <a16:creationId xmlns:a16="http://schemas.microsoft.com/office/drawing/2014/main" id="{13F055EE-FA28-4731-8E79-4E40126E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정보의 범위와 제공 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DF1AD9-6A4B-429F-9F25-5077AD53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분류 모델 · OpenAI의 공식 기능 분류가 아님">
            <a:extLst xmlns:a="http://schemas.openxmlformats.org/drawingml/2006/main">
              <a:ext uri="{FF2B5EF4-FFF2-40B4-BE49-F238E27FC236}">
                <a16:creationId xmlns:a16="http://schemas.microsoft.com/office/drawing/2014/main" id="{5B562F9C-74C2-44FD-A0CF-7AC5208A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분류 모델 · OpenAI의 공식 기능 분류가 아님</a:t>
            </a:r>
          </a:p>
        </p:txBody>
      </p:sp>
      <p:sp>
        <p:nvSpPr>
          <p:cNvPr id="6" name="성능 조사 절차는 설명을 위한 예시이며 STATE-02에 저장돼 있었다는 뜻이 아님">
            <a:extLst xmlns:a="http://schemas.openxmlformats.org/drawingml/2006/main">
              <a:ext uri="{FF2B5EF4-FFF2-40B4-BE49-F238E27FC236}">
                <a16:creationId xmlns:a16="http://schemas.microsoft.com/office/drawing/2014/main" id="{856DF5D0-BFB6-4616-855E-E0A4D4DA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성능 조사 절차는 설명을 위한 예시이며 STATE-02에 저장돼 있었다는 뜻이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E3FF26-C5B0-488B-8EF2-CA875914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항상 알아야 할 안내">
            <a:extLst xmlns:a="http://schemas.openxmlformats.org/drawingml/2006/main">
              <a:ext uri="{FF2B5EF4-FFF2-40B4-BE49-F238E27FC236}">
                <a16:creationId xmlns:a16="http://schemas.microsoft.com/office/drawing/2014/main" id="{45EE05D6-98B4-4E48-B958-F3624816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알아야 할 안내</a:t>
            </a:r>
          </a:p>
        </p:txBody>
      </p:sp>
      <p:sp>
        <p:nvSpPr>
          <p:cNvPr id="9" name="프로젝트 목적 · 기본 제약">
            <a:extLst xmlns:a="http://schemas.openxmlformats.org/drawingml/2006/main">
              <a:ext uri="{FF2B5EF4-FFF2-40B4-BE49-F238E27FC236}">
                <a16:creationId xmlns:a16="http://schemas.microsoft.com/office/drawing/2014/main" id="{EA93CA48-AA68-4EAA-A6C5-9F7065F9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812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목적 · 기본 제약</a:t>
            </a:r>
          </a:p>
        </p:txBody>
      </p:sp>
      <p:sp>
        <p:nvSpPr>
          <p:cNvPr id="10" name="ALWAYS-ON">
            <a:extLst xmlns:a="http://schemas.openxmlformats.org/drawingml/2006/main">
              <a:ext uri="{FF2B5EF4-FFF2-40B4-BE49-F238E27FC236}">
                <a16:creationId xmlns:a16="http://schemas.microsoft.com/office/drawing/2014/main" id="{239ED942-FE56-49A1-B304-32F137C8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ALWAYS-ON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B2441B-A99C-4D4C-BCC9-606DDF00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질문에 따라 찾아볼 상세">
            <a:extLst xmlns:a="http://schemas.openxmlformats.org/drawingml/2006/main">
              <a:ext uri="{FF2B5EF4-FFF2-40B4-BE49-F238E27FC236}">
                <a16:creationId xmlns:a16="http://schemas.microsoft.com/office/drawing/2014/main" id="{C60BBA22-717D-4789-ADCD-F0B7B739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질문에 따라 찾아볼 상세</a:t>
            </a:r>
          </a:p>
        </p:txBody>
      </p:sp>
      <p:sp>
        <p:nvSpPr>
          <p:cNvPr id="13" name="crop 계약 · 모듈 구조">
            <a:extLst xmlns:a="http://schemas.openxmlformats.org/drawingml/2006/main">
              <a:ext uri="{FF2B5EF4-FFF2-40B4-BE49-F238E27FC236}">
                <a16:creationId xmlns:a16="http://schemas.microsoft.com/office/drawing/2014/main" id="{1661AAD4-24A3-49C1-AA92-43A6A733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4861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· 모듈 구조</a:t>
            </a:r>
          </a:p>
        </p:txBody>
      </p:sp>
      <p:sp>
        <p:nvSpPr>
          <p:cNvPr id="14" name="ON-DEMAND">
            <a:extLst xmlns:a="http://schemas.openxmlformats.org/drawingml/2006/main">
              <a:ext uri="{FF2B5EF4-FFF2-40B4-BE49-F238E27FC236}">
                <a16:creationId xmlns:a16="http://schemas.microsoft.com/office/drawing/2014/main" id="{B9CB5E8F-3DAC-4360-80F5-144C1B0E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ON-DEMAND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AFB86E-E1BB-4D03-B7A1-A77964CA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런 일을 수행하는 방법">
            <a:extLst xmlns:a="http://schemas.openxmlformats.org/drawingml/2006/main">
              <a:ext uri="{FF2B5EF4-FFF2-40B4-BE49-F238E27FC236}">
                <a16:creationId xmlns:a16="http://schemas.microsoft.com/office/drawing/2014/main" id="{18563B42-DB60-4C7E-8FCD-F7313C1E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이런 일을 수행하는 방법</a:t>
            </a:r>
          </a:p>
        </p:txBody>
      </p:sp>
      <p:sp>
        <p:nvSpPr>
          <p:cNvPr id="17" name="변경 전 측정 → 조사 → 검증">
            <a:extLst xmlns:a="http://schemas.openxmlformats.org/drawingml/2006/main">
              <a:ext uri="{FF2B5EF4-FFF2-40B4-BE49-F238E27FC236}">
                <a16:creationId xmlns:a16="http://schemas.microsoft.com/office/drawing/2014/main" id="{40D7A104-7FB2-4671-AD1E-984AFBFB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5910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전 측정 → 조사 → 검증</a:t>
            </a:r>
          </a:p>
        </p:txBody>
      </p:sp>
      <p:sp>
        <p:nvSpPr>
          <p:cNvPr id="18" name="WORKFLOW">
            <a:extLst xmlns:a="http://schemas.openxmlformats.org/drawingml/2006/main">
              <a:ext uri="{FF2B5EF4-FFF2-40B4-BE49-F238E27FC236}">
                <a16:creationId xmlns:a16="http://schemas.microsoft.com/office/drawing/2014/main" id="{C4B4CABC-2D33-44C0-AB78-50ADCD84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538270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ACT 2 · 정보의 양을 다시 묻는 연구">
            <a:extLst xmlns:a="http://schemas.openxmlformats.org/drawingml/2006/main">
              <a:ext uri="{FF2B5EF4-FFF2-40B4-BE49-F238E27FC236}">
                <a16:creationId xmlns:a16="http://schemas.microsoft.com/office/drawing/2014/main" id="{24305BBC-B29B-49FD-B95B-95E3A42C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양을 다시 묻는 연구</a:t>
            </a:r>
          </a:p>
        </p:txBody>
      </p:sp>
      <p:sp>
        <p:nvSpPr>
          <p:cNvPr id="2" name="S29">
            <a:extLst xmlns:a="http://schemas.openxmlformats.org/drawingml/2006/main">
              <a:ext uri="{FF2B5EF4-FFF2-40B4-BE49-F238E27FC236}">
                <a16:creationId xmlns:a16="http://schemas.microsoft.com/office/drawing/2014/main" id="{CD2B4116-8A4C-4E3B-B57C-C10CECD9C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S29</a:t>
            </a:r>
          </a:p>
        </p:txBody>
      </p:sp>
      <p:sp>
        <p:nvSpPr>
          <p:cNvPr id="3" name="Long Context 연구가 말해주는 범위">
            <a:extLst xmlns:a="http://schemas.openxmlformats.org/drawingml/2006/main">
              <a:ext uri="{FF2B5EF4-FFF2-40B4-BE49-F238E27FC236}">
                <a16:creationId xmlns:a16="http://schemas.microsoft.com/office/drawing/2014/main" id="{07AEAF4E-55FB-4B16-86C1-1F9EBB7F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Long Context 연구가 말해주는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CEC08-FC78-4224-BCB4-FA11EAD9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Liu et al., Lost in the Middle, TACL 2024 · RepoQA, 2024">
            <a:extLst xmlns:a="http://schemas.openxmlformats.org/drawingml/2006/main">
              <a:ext uri="{FF2B5EF4-FFF2-40B4-BE49-F238E27FC236}">
                <a16:creationId xmlns:a16="http://schemas.microsoft.com/office/drawing/2014/main" id="{34E8D688-B135-4206-AA17-33A383E8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Liu et al., Lost in the Middle, TACL 2024 · RepoQA, 2024</a:t>
            </a:r>
          </a:p>
        </p:txBody>
      </p:sp>
      <p:sp>
        <p:nvSpPr>
          <p:cNvPr id="6" name="특정 모델·과제의 결과 · 현재 Codex의 Repository coding 한계를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D9FEABBA-E8ED-4CCD-9A48-39EF432C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모델·과제의 결과 · 현재 Codex의 Repository coding 한계를 입증하지 않음</a:t>
            </a:r>
          </a:p>
        </p:txBody>
      </p:sp>
      <p:sp>
        <p:nvSpPr>
          <p:cNvPr id="7" name="더 많은 Context가 항상 더 좋은 것은 아니다">
            <a:extLst xmlns:a="http://schemas.openxmlformats.org/drawingml/2006/main">
              <a:ext uri="{FF2B5EF4-FFF2-40B4-BE49-F238E27FC236}">
                <a16:creationId xmlns:a16="http://schemas.microsoft.com/office/drawing/2014/main" id="{B82175DE-493A-40C8-AB01-B3D96DE2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많은 Context가 항상 더 좋은 것은 아니다</a:t>
            </a:r>
          </a:p>
        </p:txBody>
      </p:sp>
      <p:sp>
        <p:nvSpPr>
          <p:cNvPr id="8" name="Lost in the Middle">
            <a:extLst xmlns:a="http://schemas.openxmlformats.org/drawingml/2006/main">
              <a:ext uri="{FF2B5EF4-FFF2-40B4-BE49-F238E27FC236}">
                <a16:creationId xmlns:a16="http://schemas.microsoft.com/office/drawing/2014/main" id="{A351098D-832F-4A4F-ADE1-0E87EBE5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Lost in the Middle</a:t>
            </a:r>
          </a:p>
        </p:txBody>
      </p:sp>
      <p:sp>
        <p:nvSpPr>
          <p:cNvPr id="9" name="RepoQA">
            <a:extLst xmlns:a="http://schemas.openxmlformats.org/drawingml/2006/main">
              <a:ext uri="{FF2B5EF4-FFF2-40B4-BE49-F238E27FC236}">
                <a16:creationId xmlns:a16="http://schemas.microsoft.com/office/drawing/2014/main" id="{D1C4064A-B940-465E-9D87-6B27A2ED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6697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RepoQA</a:t>
            </a:r>
          </a:p>
        </p:txBody>
      </p:sp>
      <p:sp>
        <p:nvSpPr>
          <p:cNvPr id="10" name="여러 문서의 질문 답변 · key-value 검색">
            <a:extLst xmlns:a="http://schemas.openxmlformats.org/drawingml/2006/main">
              <a:ext uri="{FF2B5EF4-FFF2-40B4-BE49-F238E27FC236}">
                <a16:creationId xmlns:a16="http://schemas.microsoft.com/office/drawing/2014/main" id="{D1C531B7-F545-4462-9287-A17F0BE0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문서의 질문 답변 · key-value 검색</a:t>
            </a:r>
          </a:p>
        </p:txBody>
      </p:sp>
      <p:sp>
        <p:nvSpPr>
          <p:cNvPr id="11" name="50개 Repository의 코드 검색 과제">
            <a:extLst xmlns:a="http://schemas.openxmlformats.org/drawingml/2006/main">
              <a:ext uri="{FF2B5EF4-FFF2-40B4-BE49-F238E27FC236}">
                <a16:creationId xmlns:a16="http://schemas.microsoft.com/office/drawing/2014/main" id="{A0EAA96F-4AE9-42DF-8A94-1CFD98E2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50개 Repository의 코드 검색 과제</a:t>
            </a:r>
          </a:p>
        </p:txBody>
      </p:sp>
      <p:sp>
        <p:nvSpPr>
          <p:cNvPr id="12" name="관련 정보의 위치를 달리하는 구성">
            <a:extLst xmlns:a="http://schemas.openxmlformats.org/drawingml/2006/main">
              <a:ext uri="{FF2B5EF4-FFF2-40B4-BE49-F238E27FC236}">
                <a16:creationId xmlns:a16="http://schemas.microsoft.com/office/drawing/2014/main" id="{B6D80274-125D-4F30-B51F-DA9D8867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관련 정보의 위치를 달리하는 구성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31AEC6-63D4-45B8-9CAB-4E8C45F5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E89FBD-8BBA-4D43-925B-EC8964E2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71872D-5B07-4528-A9D4-8F557470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79D025-629D-479B-866B-F9E2B615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AB9085-8184-45A5-9B31-334125F9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017979-543C-4FD5-B831-5F0A277E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AA09AB-7FA2-4E4D-BF02-CD490600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CC02E5-52EA-4064-8284-9FF40ADC7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E41790-CDE7-444F-B43F-00746686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2170D0-FEC8-44EF-AF46-B43564DD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174FEC-444C-4D06-8318-8015BF46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1EDA81-386F-40FB-8442-D78291C6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E4C46E-06C8-44C3-89FC-D40950C7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D84AAE-6ED7-41B3-B997-4D19DE78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A67AF4-603A-4D39-ACE3-E231D234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질문">
            <a:extLst xmlns:a="http://schemas.openxmlformats.org/drawingml/2006/main">
              <a:ext uri="{FF2B5EF4-FFF2-40B4-BE49-F238E27FC236}">
                <a16:creationId xmlns:a16="http://schemas.microsoft.com/office/drawing/2014/main" id="{76318589-54E9-423E-99BC-4EF800F4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1085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질문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C3CAE5-0897-4B6E-91B4-E7D96C58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76625"/>
            <a:ext cx="342900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42EED0-9280-423A-8792-E16300D5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24225"/>
            <a:ext cx="31623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1" name="Repository의 코드">
            <a:extLst xmlns:a="http://schemas.openxmlformats.org/drawingml/2006/main">
              <a:ext uri="{FF2B5EF4-FFF2-40B4-BE49-F238E27FC236}">
                <a16:creationId xmlns:a16="http://schemas.microsoft.com/office/drawing/2014/main" id="{B699C1F9-9FDB-4CF2-9BDF-B8A16C64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480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Repository의 코드</a:t>
            </a:r>
          </a:p>
        </p:txBody>
      </p:sp>
      <p:sp>
        <p:nvSpPr>
          <p:cNvPr id="32" name="관련 코드 찾기">
            <a:extLst xmlns:a="http://schemas.openxmlformats.org/drawingml/2006/main">
              <a:ext uri="{FF2B5EF4-FFF2-40B4-BE49-F238E27FC236}">
                <a16:creationId xmlns:a16="http://schemas.microsoft.com/office/drawing/2014/main" id="{0828C954-7654-4398-B71C-D9C469F3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052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코드 찾기</a:t>
            </a:r>
          </a:p>
        </p:txBody>
      </p:sp>
      <p:sp>
        <p:nvSpPr>
          <p:cNvPr id="33" name="관련 정보의 위치가&#10;일부 조건에서 중요할 수 있다">
            <a:extLst xmlns:a="http://schemas.openxmlformats.org/drawingml/2006/main">
              <a:ext uri="{FF2B5EF4-FFF2-40B4-BE49-F238E27FC236}">
                <a16:creationId xmlns:a16="http://schemas.microsoft.com/office/drawing/2014/main" id="{B6A85BFC-CD5D-4864-8080-5F1B320A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정보의 위치가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일부 조건에서 중요할 수 있다</a:t>
            </a:r>
          </a:p>
        </p:txBody>
      </p:sp>
      <p:sp>
        <p:nvSpPr>
          <p:cNvPr id="34" name="관련 코드 정보를&#10;선택하고 찾는 능력을 평가">
            <a:extLst xmlns:a="http://schemas.openxmlformats.org/drawingml/2006/main">
              <a:ext uri="{FF2B5EF4-FFF2-40B4-BE49-F238E27FC236}">
                <a16:creationId xmlns:a16="http://schemas.microsoft.com/office/drawing/2014/main" id="{08DCF009-13E7-49D6-B429-FB4E4B15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52975"/>
            <a:ext cx="4876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코드 정보를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선택하고 찾는 능력을 평가</a:t>
            </a:r>
          </a:p>
        </p:txBody>
      </p:sp>
      <p:sp>
        <p:nvSpPr>
          <p:cNvPr id="35" name="aclanthology.org/2024.tacl-1.9/">
            <a:extLst xmlns:a="http://schemas.openxmlformats.org/drawingml/2006/main">
              <a:ext uri="{FF2B5EF4-FFF2-40B4-BE49-F238E27FC236}">
                <a16:creationId xmlns:a16="http://schemas.microsoft.com/office/drawing/2014/main" id="{3E48014D-2DA2-4F12-A55C-B1095A04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523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aclanthology.org/2024.tacl-1.9/</a:t>
            </a:r>
          </a:p>
        </p:txBody>
      </p:sp>
      <p:sp>
        <p:nvSpPr>
          <p:cNvPr id="36" name="arxiv.org/abs/2406.06025">
            <a:extLst xmlns:a="http://schemas.openxmlformats.org/drawingml/2006/main">
              <a:ext uri="{FF2B5EF4-FFF2-40B4-BE49-F238E27FC236}">
                <a16:creationId xmlns:a16="http://schemas.microsoft.com/office/drawing/2014/main" id="{C55DD358-AC0F-469F-ADCE-D7ED51BF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495925"/>
            <a:ext cx="4876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arxiv.org/abs/2406.06025</a:t>
            </a:r>
          </a:p>
        </p:txBody>
      </p:sp>
    </p:spTree>
    <p:extLst>
      <p:ext uri="{BB962C8B-B14F-4D97-AF65-F5344CB8AC3E}">
        <p14:creationId xmlns:p14="http://schemas.microsoft.com/office/powerpoint/2010/main" val="2388965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2 · 필요한 상세 정보의 탐색 경로">
            <a:extLst xmlns:a="http://schemas.openxmlformats.org/drawingml/2006/main">
              <a:ext uri="{FF2B5EF4-FFF2-40B4-BE49-F238E27FC236}">
                <a16:creationId xmlns:a16="http://schemas.microsoft.com/office/drawing/2014/main" id="{4660E4E5-DFAC-462B-BD9B-A5229E3D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필요한 상세 정보의 탐색 경로</a:t>
            </a:r>
          </a:p>
        </p:txBody>
      </p:sp>
      <p:sp>
        <p:nvSpPr>
          <p:cNvPr id="2" name="S30">
            <a:extLst xmlns:a="http://schemas.openxmlformats.org/drawingml/2006/main">
              <a:ext uri="{FF2B5EF4-FFF2-40B4-BE49-F238E27FC236}">
                <a16:creationId xmlns:a16="http://schemas.microsoft.com/office/drawing/2014/main" id="{5FA279D2-1F39-4924-92D9-B7514833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S30</a:t>
            </a:r>
          </a:p>
        </p:txBody>
      </p:sp>
      <p:sp>
        <p:nvSpPr>
          <p:cNvPr id="3" name="필요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11A7C445-158C-4B2F-9D4D-908B719E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EAA62C-3E18-48B7-8A3B-F28C58AA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Routing 모델 · 실제 문서 접근 결과는 다음 구간에서 확인">
            <a:extLst xmlns:a="http://schemas.openxmlformats.org/drawingml/2006/main">
              <a:ext uri="{FF2B5EF4-FFF2-40B4-BE49-F238E27FC236}">
                <a16:creationId xmlns:a16="http://schemas.microsoft.com/office/drawing/2014/main" id="{3CC58BC5-310A-4AFE-B73E-AD67C4AA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Routing 모델 · 실제 문서 접근 결과는 다음 구간에서 확인</a:t>
            </a:r>
          </a:p>
        </p:txBody>
      </p:sp>
      <p:sp>
        <p:nvSpPr>
          <p:cNvPr id="6" name="검색 성능 향상이나 토큰 절약을 입증한 그림이 아님">
            <a:extLst xmlns:a="http://schemas.openxmlformats.org/drawingml/2006/main">
              <a:ext uri="{FF2B5EF4-FFF2-40B4-BE49-F238E27FC236}">
                <a16:creationId xmlns:a16="http://schemas.microsoft.com/office/drawing/2014/main" id="{D195A35F-F593-4A63-8B59-2DEA453D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검색 성능 향상이나 토큰 절약을 입증한 그림이 아님</a:t>
            </a:r>
          </a:p>
        </p:txBody>
      </p:sp>
      <p:sp>
        <p:nvSpPr>
          <p:cNvPr id="7" name="어떤 질문에서 어떤 상세 정보가 필요할까?">
            <a:extLst xmlns:a="http://schemas.openxmlformats.org/drawingml/2006/main">
              <a:ext uri="{FF2B5EF4-FFF2-40B4-BE49-F238E27FC236}">
                <a16:creationId xmlns:a16="http://schemas.microsoft.com/office/drawing/2014/main" id="{1F33B4BA-F4C4-4C34-A798-9BEEEC27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어떤 질문에서 어떤 상세 정보가 필요할까?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29D97-9C38-495D-81A4-9F41B980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9" name="Task">
            <a:extLst xmlns:a="http://schemas.openxmlformats.org/drawingml/2006/main">
              <a:ext uri="{FF2B5EF4-FFF2-40B4-BE49-F238E27FC236}">
                <a16:creationId xmlns:a16="http://schemas.microsoft.com/office/drawing/2014/main" id="{B16E67B9-6FF4-4794-8F6E-991286ED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0" name="지금 해결할 질문">
            <a:extLst xmlns:a="http://schemas.openxmlformats.org/drawingml/2006/main">
              <a:ext uri="{FF2B5EF4-FFF2-40B4-BE49-F238E27FC236}">
                <a16:creationId xmlns:a16="http://schemas.microsoft.com/office/drawing/2014/main" id="{757E536D-5058-4C38-B52F-4BB89D37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해결할 질문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73A335-5B59-4619-B738-AEC998B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C112B-1668-4714-803A-C18F4AF4E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28950"/>
            <a:ext cx="3209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Core Context">
            <a:extLst xmlns:a="http://schemas.openxmlformats.org/drawingml/2006/main">
              <a:ext uri="{FF2B5EF4-FFF2-40B4-BE49-F238E27FC236}">
                <a16:creationId xmlns:a16="http://schemas.microsoft.com/office/drawing/2014/main" id="{A8B82F8E-097E-413F-86AA-0C7C2EDC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257550"/>
            <a:ext cx="3209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</a:t>
            </a:r>
          </a:p>
        </p:txBody>
      </p:sp>
      <p:sp>
        <p:nvSpPr>
          <p:cNvPr id="14" name="프로젝트 안내와&#10;찾아갈 위치">
            <a:extLst xmlns:a="http://schemas.openxmlformats.org/drawingml/2006/main">
              <a:ext uri="{FF2B5EF4-FFF2-40B4-BE49-F238E27FC236}">
                <a16:creationId xmlns:a16="http://schemas.microsoft.com/office/drawing/2014/main" id="{1B081A7B-4115-4CED-9EFF-7687E736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81450"/>
            <a:ext cx="32099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안내와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찾아갈 위치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91A82D-E068-4CFA-A22A-2F4018EC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612FD8-E5C4-4F53-8BC6-7B7B07E5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289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련 상세 정보">
            <a:extLst xmlns:a="http://schemas.openxmlformats.org/drawingml/2006/main">
              <a:ext uri="{FF2B5EF4-FFF2-40B4-BE49-F238E27FC236}">
                <a16:creationId xmlns:a16="http://schemas.microsoft.com/office/drawing/2014/main" id="{5D51DE27-8E73-495E-8991-38D5069D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57550"/>
            <a:ext cx="3371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상세 정보</a:t>
            </a:r>
          </a:p>
        </p:txBody>
      </p:sp>
      <p:sp>
        <p:nvSpPr>
          <p:cNvPr id="18" name="질문에 필요한&#10;계약 · 구조 · 테스트">
            <a:extLst xmlns:a="http://schemas.openxmlformats.org/drawingml/2006/main">
              <a:ext uri="{FF2B5EF4-FFF2-40B4-BE49-F238E27FC236}">
                <a16:creationId xmlns:a16="http://schemas.microsoft.com/office/drawing/2014/main" id="{BE86A12F-BA35-4F7B-BF6A-C592277B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81450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질문에 필요한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계약 · 구조 · 테스트</a:t>
            </a:r>
          </a:p>
        </p:txBody>
      </p:sp>
      <p:sp>
        <p:nvSpPr>
          <p:cNvPr id="19" name="C++ 예: 공통 제약을 확인한 뒤, 해당 알고리즘의 계약으로">
            <a:extLst xmlns:a="http://schemas.openxmlformats.org/drawingml/2006/main">
              <a:ext uri="{FF2B5EF4-FFF2-40B4-BE49-F238E27FC236}">
                <a16:creationId xmlns:a16="http://schemas.microsoft.com/office/drawing/2014/main" id="{FB39CE3D-2A88-4A1D-AB63-16929397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공통 제약을 확인한 뒤, 해당 알고리즘의 계약으로</a:t>
            </a:r>
          </a:p>
        </p:txBody>
      </p:sp>
    </p:spTree>
    <p:extLst>
      <p:ext uri="{BB962C8B-B14F-4D97-AF65-F5344CB8AC3E}">
        <p14:creationId xmlns:p14="http://schemas.microsoft.com/office/powerpoint/2010/main" val="9689153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Core에 남길 기본 안내">
            <a:extLst xmlns:a="http://schemas.openxmlformats.org/drawingml/2006/main">
              <a:ext uri="{FF2B5EF4-FFF2-40B4-BE49-F238E27FC236}">
                <a16:creationId xmlns:a16="http://schemas.microsoft.com/office/drawing/2014/main" id="{ADCEBC69-D4F1-41EB-A0A4-9B47F4EA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Core에 남길 기본 안내</a:t>
            </a:r>
          </a:p>
        </p:txBody>
      </p:sp>
      <p:sp>
        <p:nvSpPr>
          <p:cNvPr id="2" name="S31">
            <a:extLst xmlns:a="http://schemas.openxmlformats.org/drawingml/2006/main">
              <a:ext uri="{FF2B5EF4-FFF2-40B4-BE49-F238E27FC236}">
                <a16:creationId xmlns:a16="http://schemas.microsoft.com/office/drawing/2014/main" id="{323C9C73-1648-46A3-997F-3319A863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S31</a:t>
            </a:r>
          </a:p>
        </p:txBody>
      </p:sp>
      <p:sp>
        <p:nvSpPr>
          <p:cNvPr id="3" name="Core Context에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84C51265-6182-4B9D-B973-0B87EDE1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Context에서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DE9186-EE07-4C20-BD27-B6F338DE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정보 설계 · Root/Core는 상세 정보의 출발점">
            <a:extLst xmlns:a="http://schemas.openxmlformats.org/drawingml/2006/main">
              <a:ext uri="{FF2B5EF4-FFF2-40B4-BE49-F238E27FC236}">
                <a16:creationId xmlns:a16="http://schemas.microsoft.com/office/drawing/2014/main" id="{558DCF9C-064D-4201-A9DD-6ECA5E17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정보 설계 · Root/Core는 상세 정보의 출발점</a:t>
            </a:r>
          </a:p>
        </p:txBody>
      </p:sp>
      <p:sp>
        <p:nvSpPr>
          <p:cNvPr id="6" name="C++ 예: build/test 진입점과 기본 제약 → 알고리즘 계약·하드웨어 조건">
            <a:extLst xmlns:a="http://schemas.openxmlformats.org/drawingml/2006/main">
              <a:ext uri="{FF2B5EF4-FFF2-40B4-BE49-F238E27FC236}">
                <a16:creationId xmlns:a16="http://schemas.microsoft.com/office/drawing/2014/main" id="{7F2F62FC-B8ED-4F20-B4E7-71FE3E5E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build/test 진입점과 기본 제약 → 알고리즘 계약·하드웨어 조건</a:t>
            </a:r>
          </a:p>
        </p:txBody>
      </p:sp>
      <p:sp>
        <p:nvSpPr>
          <p:cNvPr id="7" name="무엇을 항상 읽고, 무엇을 필요할 때 찾게 할까?">
            <a:extLst xmlns:a="http://schemas.openxmlformats.org/drawingml/2006/main">
              <a:ext uri="{FF2B5EF4-FFF2-40B4-BE49-F238E27FC236}">
                <a16:creationId xmlns:a16="http://schemas.microsoft.com/office/drawing/2014/main" id="{9C5A6E5C-7564-428A-8F0D-F725491C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항상 읽고, 무엇을 필요할 때 찾게 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F4B93-6964-4F28-A6EE-2918F2E6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1719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RE · 기본 안내">
            <a:extLst xmlns:a="http://schemas.openxmlformats.org/drawingml/2006/main">
              <a:ext uri="{FF2B5EF4-FFF2-40B4-BE49-F238E27FC236}">
                <a16:creationId xmlns:a16="http://schemas.microsoft.com/office/drawing/2014/main" id="{F49D0563-9CD6-46C5-A746-FAB9F29F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67025"/>
            <a:ext cx="3714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CORE · 기본 안내</a:t>
            </a:r>
          </a:p>
        </p:txBody>
      </p:sp>
      <p:sp>
        <p:nvSpPr>
          <p:cNvPr id="10" name="프로젝트의 목적&#10;항상 지켜야 할 제약&#10;상세 정보를 찾을 위치">
            <a:extLst xmlns:a="http://schemas.openxmlformats.org/drawingml/2006/main">
              <a:ext uri="{FF2B5EF4-FFF2-40B4-BE49-F238E27FC236}">
                <a16:creationId xmlns:a16="http://schemas.microsoft.com/office/drawing/2014/main" id="{C9E0E2D1-4B17-48C3-BF33-3985DB51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38525"/>
            <a:ext cx="371475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목적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지켜야 할 제약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정보를 찾을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3E1015-79AA-4D5C-8405-F812C034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43325"/>
            <a:ext cx="504825" cy="2762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ETAIL · 필요한 상세">
            <a:extLst xmlns:a="http://schemas.openxmlformats.org/drawingml/2006/main">
              <a:ext uri="{FF2B5EF4-FFF2-40B4-BE49-F238E27FC236}">
                <a16:creationId xmlns:a16="http://schemas.microsoft.com/office/drawing/2014/main" id="{7B9676E9-18B7-4A4D-92B3-06A3F073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24150"/>
            <a:ext cx="53911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DETAIL · 필요한 상세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99B240-3333-4F78-8484-1EA6C242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architecture">
            <a:extLst xmlns:a="http://schemas.openxmlformats.org/drawingml/2006/main">
              <a:ext uri="{FF2B5EF4-FFF2-40B4-BE49-F238E27FC236}">
                <a16:creationId xmlns:a16="http://schemas.microsoft.com/office/drawing/2014/main" id="{843F0B8F-2E23-4F61-BFFA-FD656B2C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9090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architecture</a:t>
            </a:r>
          </a:p>
        </p:txBody>
      </p:sp>
      <p:sp>
        <p:nvSpPr>
          <p:cNvPr id="15" name="모듈과 처리 순서">
            <a:extLst xmlns:a="http://schemas.openxmlformats.org/drawingml/2006/main">
              <a:ext uri="{FF2B5EF4-FFF2-40B4-BE49-F238E27FC236}">
                <a16:creationId xmlns:a16="http://schemas.microsoft.com/office/drawing/2014/main" id="{9AB8323A-6BE7-44A1-8456-E7DC453C3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39090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모듈과 처리 순서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F70072-DC9C-4D5D-87BB-2CD2D3DA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862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image contracts">
            <a:extLst xmlns:a="http://schemas.openxmlformats.org/drawingml/2006/main">
              <a:ext uri="{FF2B5EF4-FFF2-40B4-BE49-F238E27FC236}">
                <a16:creationId xmlns:a16="http://schemas.microsoft.com/office/drawing/2014/main" id="{CC76344E-C5BC-468D-9ACD-924B3D8C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90975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image contracts</a:t>
            </a:r>
          </a:p>
        </p:txBody>
      </p:sp>
      <p:sp>
        <p:nvSpPr>
          <p:cNvPr id="18" name="이미지 동작의 계약">
            <a:extLst xmlns:a="http://schemas.openxmlformats.org/drawingml/2006/main">
              <a:ext uri="{FF2B5EF4-FFF2-40B4-BE49-F238E27FC236}">
                <a16:creationId xmlns:a16="http://schemas.microsoft.com/office/drawing/2014/main" id="{75CA4429-B4F3-4EC0-8843-1A78323D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990975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동작의 계약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6BAF6D-2924-484B-9A37-DC52DC55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8627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">
            <a:extLst xmlns:a="http://schemas.openxmlformats.org/drawingml/2006/main">
              <a:ext uri="{FF2B5EF4-FFF2-40B4-BE49-F238E27FC236}">
                <a16:creationId xmlns:a16="http://schemas.microsoft.com/office/drawing/2014/main" id="{39F9C643-309F-469C-A4D0-C22F5F74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9105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testing</a:t>
            </a:r>
          </a:p>
        </p:txBody>
      </p:sp>
      <p:sp>
        <p:nvSpPr>
          <p:cNvPr id="21" name="테스트 위치와 범위">
            <a:extLst xmlns:a="http://schemas.openxmlformats.org/drawingml/2006/main">
              <a:ext uri="{FF2B5EF4-FFF2-40B4-BE49-F238E27FC236}">
                <a16:creationId xmlns:a16="http://schemas.microsoft.com/office/drawing/2014/main" id="{1D146159-B543-4475-9AB6-C7160C0A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9105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위치와 범위</a:t>
            </a:r>
          </a:p>
        </p:txBody>
      </p:sp>
      <p:sp>
        <p:nvSpPr>
          <p:cNvPr id="22" name="모든 지식을 넣기보다, 상세 정보까지 가는 길을 안내한다">
            <a:extLst xmlns:a="http://schemas.openxmlformats.org/drawingml/2006/main">
              <a:ext uri="{FF2B5EF4-FFF2-40B4-BE49-F238E27FC236}">
                <a16:creationId xmlns:a16="http://schemas.microsoft.com/office/drawing/2014/main" id="{9B41C65B-346A-41FE-B444-CB7F19ED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모든 지식을 넣기보다, 상세 정보까지 가는 길을 안내한다</a:t>
            </a:r>
          </a:p>
        </p:txBody>
      </p:sp>
    </p:spTree>
    <p:extLst>
      <p:ext uri="{BB962C8B-B14F-4D97-AF65-F5344CB8AC3E}">
        <p14:creationId xmlns:p14="http://schemas.microsoft.com/office/powerpoint/2010/main" val="5481257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2 · STATE-03의 문서 구조">
            <a:extLst xmlns:a="http://schemas.openxmlformats.org/drawingml/2006/main">
              <a:ext uri="{FF2B5EF4-FFF2-40B4-BE49-F238E27FC236}">
                <a16:creationId xmlns:a16="http://schemas.microsoft.com/office/drawing/2014/main" id="{67CB7BAC-0DAD-4A21-AF57-D904ACE8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STATE-03의 문서 구조</a:t>
            </a:r>
          </a:p>
        </p:txBody>
      </p:sp>
      <p:sp>
        <p:nvSpPr>
          <p:cNvPr id="2" name="S32">
            <a:extLst xmlns:a="http://schemas.openxmlformats.org/drawingml/2006/main">
              <a:ext uri="{FF2B5EF4-FFF2-40B4-BE49-F238E27FC236}">
                <a16:creationId xmlns:a16="http://schemas.microsoft.com/office/drawing/2014/main" id="{2DD61501-0F9C-4D1E-B27A-DC24CE82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S32</a:t>
            </a:r>
          </a:p>
        </p:txBody>
      </p:sp>
      <p:sp>
        <p:nvSpPr>
          <p:cNvPr id="3" name="정보를 지우지 않고 위치를 나누기">
            <a:extLst xmlns:a="http://schemas.openxmlformats.org/drawingml/2006/main">
              <a:ext uri="{FF2B5EF4-FFF2-40B4-BE49-F238E27FC236}">
                <a16:creationId xmlns:a16="http://schemas.microsoft.com/office/drawing/2014/main" id="{FCB99A8C-BCC6-4739-A30F-B08E7834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정보를 지우지 않고 위치를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50E115-114D-4C6F-A7A9-26DB23E9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2 → STATE-03 · 실제 파일 구조와 Routing 문구 발췌">
            <a:extLst xmlns:a="http://schemas.openxmlformats.org/drawingml/2006/main">
              <a:ext uri="{FF2B5EF4-FFF2-40B4-BE49-F238E27FC236}">
                <a16:creationId xmlns:a16="http://schemas.microsoft.com/office/drawing/2014/main" id="{95B88FD3-DF45-41FD-AE4D-8AE2EC16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STATE-02 → STATE-03 · 실제 파일 구조와 Routing 문구 발췌</a:t>
            </a:r>
          </a:p>
        </p:txBody>
      </p:sp>
      <p:sp>
        <p:nvSpPr>
          <p:cNvPr id="6" name="내용을 Scope에 맞춰 이동 · 구조 변화 자체가 완벽한 Routing이나 성능 향상 증거는 아님">
            <a:extLst xmlns:a="http://schemas.openxmlformats.org/drawingml/2006/main">
              <a:ext uri="{FF2B5EF4-FFF2-40B4-BE49-F238E27FC236}">
                <a16:creationId xmlns:a16="http://schemas.microsoft.com/office/drawing/2014/main" id="{E4A801F2-0276-4FCB-A649-62BEC99B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내용을 Scope에 맞춰 이동 · 구조 변화 자체가 완벽한 Routing이나 성능 향상 증거는 아님</a:t>
            </a:r>
          </a:p>
        </p:txBody>
      </p:sp>
      <p:sp>
        <p:nvSpPr>
          <p:cNvPr id="7" name="이전: AGENTS.md 안에 세부사항까지">
            <a:extLst xmlns:a="http://schemas.openxmlformats.org/drawingml/2006/main">
              <a:ext uri="{FF2B5EF4-FFF2-40B4-BE49-F238E27FC236}">
                <a16:creationId xmlns:a16="http://schemas.microsoft.com/office/drawing/2014/main" id="{AD68C43A-10FC-4212-BF47-6B6FF3C8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이전: AGENTS.md 안에 세부사항까지</a:t>
            </a:r>
          </a:p>
        </p:txBody>
      </p:sp>
      <p:sp>
        <p:nvSpPr>
          <p:cNvPr id="8" name="이후: 기본 안내 + 상세 문서로 가는 링크">
            <a:extLst xmlns:a="http://schemas.openxmlformats.org/drawingml/2006/main">
              <a:ext uri="{FF2B5EF4-FFF2-40B4-BE49-F238E27FC236}">
                <a16:creationId xmlns:a16="http://schemas.microsoft.com/office/drawing/2014/main" id="{6147612F-2EC1-4043-9668-6E5A2CED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이후: 기본 안내 + 상세 문서로 가는 링크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80AF4-603A-4E2F-9492-9E32E941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처리 순서 · 모듈 역할">
            <a:extLst xmlns:a="http://schemas.openxmlformats.org/drawingml/2006/main">
              <a:ext uri="{FF2B5EF4-FFF2-40B4-BE49-F238E27FC236}">
                <a16:creationId xmlns:a16="http://schemas.microsoft.com/office/drawing/2014/main" id="{F6E20261-1107-415F-83D1-C0E930F8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처리 순서 · 모듈 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FC2801-5E47-4FF7-A7AF-561DF08E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47662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ocs/architecture.md">
            <a:extLst xmlns:a="http://schemas.openxmlformats.org/drawingml/2006/main">
              <a:ext uri="{FF2B5EF4-FFF2-40B4-BE49-F238E27FC236}">
                <a16:creationId xmlns:a16="http://schemas.microsoft.com/office/drawing/2014/main" id="{B19931F7-523F-4596-94EE-C1F3A31A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docs/architecture.md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37C0A3-250C-4DD8-B050-13A0E12C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이미지 형식 · crop · resize">
            <a:extLst xmlns:a="http://schemas.openxmlformats.org/drawingml/2006/main">
              <a:ext uri="{FF2B5EF4-FFF2-40B4-BE49-F238E27FC236}">
                <a16:creationId xmlns:a16="http://schemas.microsoft.com/office/drawing/2014/main" id="{0A9C0F3A-88CD-47FE-96AD-48631937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이미지 형식 · crop · resize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573F31-CA15-4795-94FB-B26E3073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057650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docs/image-contracts.md">
            <a:extLst xmlns:a="http://schemas.openxmlformats.org/drawingml/2006/main">
              <a:ext uri="{FF2B5EF4-FFF2-40B4-BE49-F238E27FC236}">
                <a16:creationId xmlns:a16="http://schemas.microsoft.com/office/drawing/2014/main" id="{C00809C1-FD46-4DBA-BE3D-5EF5E4D8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528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docs/image-contracts.md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703EE3-0F50-4FDD-88D2-962E83A9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테스트 구조 · 관련 테스트">
            <a:extLst xmlns:a="http://schemas.openxmlformats.org/drawingml/2006/main">
              <a:ext uri="{FF2B5EF4-FFF2-40B4-BE49-F238E27FC236}">
                <a16:creationId xmlns:a16="http://schemas.microsoft.com/office/drawing/2014/main" id="{ADC8F997-983D-4EEE-BD34-C18239B8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구조 · 관련 테스트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3401E4-55F8-4FBE-84EE-D196972F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63867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docs/testing.md">
            <a:extLst xmlns:a="http://schemas.openxmlformats.org/drawingml/2006/main">
              <a:ext uri="{FF2B5EF4-FFF2-40B4-BE49-F238E27FC236}">
                <a16:creationId xmlns:a16="http://schemas.microsoft.com/office/drawing/2014/main" id="{982E1DB2-61DD-422B-86DB-60D7BDF4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docs/testing.md</a:t>
            </a:r>
          </a:p>
        </p:txBody>
      </p:sp>
      <p:sp>
        <p:nvSpPr>
          <p:cNvPr id="21" name="원문: Test organization or relevant tests → docs/testing.md">
            <a:extLst xmlns:a="http://schemas.openxmlformats.org/drawingml/2006/main">
              <a:ext uri="{FF2B5EF4-FFF2-40B4-BE49-F238E27FC236}">
                <a16:creationId xmlns:a16="http://schemas.microsoft.com/office/drawing/2014/main" id="{DFC77901-FAF1-442E-A59A-05364D2B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원문: Test organization or relevant tests → docs/testing.md</a:t>
            </a:r>
          </a:p>
        </p:txBody>
      </p:sp>
    </p:spTree>
    <p:extLst>
      <p:ext uri="{BB962C8B-B14F-4D97-AF65-F5344CB8AC3E}">
        <p14:creationId xmlns:p14="http://schemas.microsoft.com/office/powerpoint/2010/main" val="368453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2 · 관찰하기 전에 질문하기">
            <a:extLst xmlns:a="http://schemas.openxmlformats.org/drawingml/2006/main">
              <a:ext uri="{FF2B5EF4-FFF2-40B4-BE49-F238E27FC236}">
                <a16:creationId xmlns:a16="http://schemas.microsoft.com/office/drawing/2014/main" id="{86385382-024B-4353-80B3-5EBCAEDF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관찰하기 전에 질문하기</a:t>
            </a:r>
          </a:p>
        </p:txBody>
      </p:sp>
      <p:sp>
        <p:nvSpPr>
          <p:cNvPr id="2" name="S33">
            <a:extLst xmlns:a="http://schemas.openxmlformats.org/drawingml/2006/main">
              <a:ext uri="{FF2B5EF4-FFF2-40B4-BE49-F238E27FC236}">
                <a16:creationId xmlns:a16="http://schemas.microsoft.com/office/drawing/2014/main" id="{0D057EF5-8F7F-4A2F-9D95-52ADBA53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S33</a:t>
            </a:r>
          </a:p>
        </p:txBody>
      </p:sp>
      <p:sp>
        <p:nvSpPr>
          <p:cNvPr id="3" name="서로 다른 두 Task가 무엇을 읽을까?">
            <a:extLst xmlns:a="http://schemas.openxmlformats.org/drawingml/2006/main">
              <a:ext uri="{FF2B5EF4-FFF2-40B4-BE49-F238E27FC236}">
                <a16:creationId xmlns:a16="http://schemas.microsoft.com/office/drawing/2014/main" id="{1607B26E-A9B8-4819-9F3A-EC8ADC1F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두 Task가 무엇을 읽을까?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A77A8-7596-458F-8D79-69E79DF9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읽기 전용 Task의 질문을 재구성">
            <a:extLst xmlns:a="http://schemas.openxmlformats.org/drawingml/2006/main">
              <a:ext uri="{FF2B5EF4-FFF2-40B4-BE49-F238E27FC236}">
                <a16:creationId xmlns:a16="http://schemas.microsoft.com/office/drawing/2014/main" id="{F70EEF7B-C4E9-4C03-AE4F-FAE0A937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읽기 전용 Task의 질문을 재구성</a:t>
            </a:r>
          </a:p>
        </p:txBody>
      </p:sp>
      <p:sp>
        <p:nvSpPr>
          <p:cNvPr id="6" name="어떤 상세 문서를 읽을지는 실제 접근 기록으로 확인한다">
            <a:extLst xmlns:a="http://schemas.openxmlformats.org/drawingml/2006/main">
              <a:ext uri="{FF2B5EF4-FFF2-40B4-BE49-F238E27FC236}">
                <a16:creationId xmlns:a16="http://schemas.microsoft.com/office/drawing/2014/main" id="{EF683EBC-7F9E-4E1F-8F16-1AB00310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상세 문서를 읽을지는 실제 접근 기록으로 확인한다</a:t>
            </a:r>
          </a:p>
        </p:txBody>
      </p:sp>
      <p:sp>
        <p:nvSpPr>
          <p:cNvPr id="7" name="Task A">
            <a:extLst xmlns:a="http://schemas.openxmlformats.org/drawingml/2006/main">
              <a:ext uri="{FF2B5EF4-FFF2-40B4-BE49-F238E27FC236}">
                <a16:creationId xmlns:a16="http://schemas.microsoft.com/office/drawing/2014/main" id="{3B15A2FD-3A2E-481E-827A-AF78AD04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A</a:t>
            </a:r>
          </a:p>
        </p:txBody>
      </p:sp>
      <p:sp>
        <p:nvSpPr>
          <p:cNvPr id="8" name="Task B">
            <a:extLst xmlns:a="http://schemas.openxmlformats.org/drawingml/2006/main">
              <a:ext uri="{FF2B5EF4-FFF2-40B4-BE49-F238E27FC236}">
                <a16:creationId xmlns:a16="http://schemas.microsoft.com/office/drawing/2014/main" id="{89CDC520-0338-4693-97F2-81A6008A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1932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DD680-5553-4F3B-BE4D-906F9D17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113CC4-29D2-46CF-A54E-7C866E43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crop 1 3은&#10;어떤 source column을&#10;포함하는가?">
            <a:extLst xmlns:a="http://schemas.openxmlformats.org/drawingml/2006/main">
              <a:ext uri="{FF2B5EF4-FFF2-40B4-BE49-F238E27FC236}">
                <a16:creationId xmlns:a16="http://schemas.microsoft.com/office/drawing/2014/main" id="{B9AD704B-6500-455C-A2F9-4A696637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1 3은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source column을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포함하는가?</a:t>
            </a:r>
          </a:p>
        </p:txBody>
      </p:sp>
      <p:sp>
        <p:nvSpPr>
          <p:cNvPr id="12" name="이 Project에&#10;runtime dependency가&#10;있는가?">
            <a:extLst xmlns:a="http://schemas.openxmlformats.org/drawingml/2006/main">
              <a:ext uri="{FF2B5EF4-FFF2-40B4-BE49-F238E27FC236}">
                <a16:creationId xmlns:a16="http://schemas.microsoft.com/office/drawing/2014/main" id="{0717640E-7687-4BB0-AA9F-08E3A3E1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48768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Project에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runtime dependency가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있는가?</a:t>
            </a:r>
          </a:p>
        </p:txBody>
      </p:sp>
      <p:sp>
        <p:nvSpPr>
          <p:cNvPr id="13" name="두 Task에서 같은 상세 문서를 읽을까?">
            <a:extLst xmlns:a="http://schemas.openxmlformats.org/drawingml/2006/main">
              <a:ext uri="{FF2B5EF4-FFF2-40B4-BE49-F238E27FC236}">
                <a16:creationId xmlns:a16="http://schemas.microsoft.com/office/drawing/2014/main" id="{05746C10-3899-41CA-A439-C7A7EF38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Task에서 같은 상세 문서를 읽을까?</a:t>
            </a:r>
          </a:p>
        </p:txBody>
      </p:sp>
    </p:spTree>
    <p:extLst>
      <p:ext uri="{BB962C8B-B14F-4D97-AF65-F5344CB8AC3E}">
        <p14:creationId xmlns:p14="http://schemas.microsoft.com/office/powerpoint/2010/main" val="3418225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질문과 근거를 연결하기">
            <a:extLst xmlns:a="http://schemas.openxmlformats.org/drawingml/2006/main">
              <a:ext uri="{FF2B5EF4-FFF2-40B4-BE49-F238E27FC236}">
                <a16:creationId xmlns:a16="http://schemas.microsoft.com/office/drawing/2014/main" id="{05A9DD85-75FE-4C17-991A-F627AE3F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질문과 근거를 연결하기</a:t>
            </a:r>
          </a:p>
        </p:txBody>
      </p:sp>
      <p:sp>
        <p:nvSpPr>
          <p:cNvPr id="2" name="S34">
            <a:extLst xmlns:a="http://schemas.openxmlformats.org/drawingml/2006/main">
              <a:ext uri="{FF2B5EF4-FFF2-40B4-BE49-F238E27FC236}">
                <a16:creationId xmlns:a16="http://schemas.microsoft.com/office/drawing/2014/main" id="{BDD19BDC-D011-4354-92D7-B1AD9070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S34</a:t>
            </a:r>
          </a:p>
        </p:txBody>
      </p:sp>
      <p:sp>
        <p:nvSpPr>
          <p:cNvPr id="3" name="Crop Task에서 관찰한 접근">
            <a:extLst xmlns:a="http://schemas.openxmlformats.org/drawingml/2006/main">
              <a:ext uri="{FF2B5EF4-FFF2-40B4-BE49-F238E27FC236}">
                <a16:creationId xmlns:a16="http://schemas.microsoft.com/office/drawing/2014/main" id="{D51FB849-E20C-4F58-B3AE-4465D6F6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Task에서 관찰한 접근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A49F8-2808-42E4-95F1-04C6475B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 · 최종 실행의 접근과 답을 기록에서 재구성">
            <a:extLst xmlns:a="http://schemas.openxmlformats.org/drawingml/2006/main">
              <a:ext uri="{FF2B5EF4-FFF2-40B4-BE49-F238E27FC236}">
                <a16:creationId xmlns:a16="http://schemas.microsoft.com/office/drawing/2014/main" id="{24B7EED5-A0E0-43E5-83DF-1BD8261F9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 · 최종 실행의 접근과 답을 기록에서 재구성</a:t>
            </a:r>
          </a:p>
        </p:txBody>
      </p:sp>
      <p:sp>
        <p:nvSpPr>
          <p:cNvPr id="6" name="architecture 등 넓은 Context도 접근 · testing.md는 최종 실행에서 관찰, 반복 간">
            <a:extLst xmlns:a="http://schemas.openxmlformats.org/drawingml/2006/main">
              <a:ext uri="{FF2B5EF4-FFF2-40B4-BE49-F238E27FC236}">
                <a16:creationId xmlns:a16="http://schemas.microsoft.com/office/drawing/2014/main" id="{2AC35616-4ECE-492D-9456-126E844B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architecture 등 넓은 Context도 접근 · testing.md는 최종 실행에서 관찰, 반복 간 차이 존재</a:t>
            </a:r>
          </a:p>
        </p:txBody>
      </p:sp>
      <p:sp>
        <p:nvSpPr>
          <p:cNvPr id="7" name="접근한 계약 문서">
            <a:extLst xmlns:a="http://schemas.openxmlformats.org/drawingml/2006/main">
              <a:ext uri="{FF2B5EF4-FFF2-40B4-BE49-F238E27FC236}">
                <a16:creationId xmlns:a16="http://schemas.microsoft.com/office/drawing/2014/main" id="{DE108C18-AF71-448A-9E4A-278D1CBE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접근한 계약 문서</a:t>
            </a:r>
          </a:p>
        </p:txBody>
      </p:sp>
      <p:sp>
        <p:nvSpPr>
          <p:cNvPr id="8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05AE04E4-8830-4108-8C56-37607B8A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3E27F-E6C3-40E2-AF0C-441C1B0F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628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[x_start, x_end)">
            <a:extLst xmlns:a="http://schemas.openxmlformats.org/drawingml/2006/main">
              <a:ext uri="{FF2B5EF4-FFF2-40B4-BE49-F238E27FC236}">
                <a16:creationId xmlns:a16="http://schemas.microsoft.com/office/drawing/2014/main" id="{A389F1C1-105E-42E8-8151-338F2E7E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0425"/>
            <a:ext cx="582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[x_start, x_end)</a:t>
            </a:r>
          </a:p>
        </p:txBody>
      </p:sp>
      <p:sp>
        <p:nvSpPr>
          <p:cNvPr id="11" name="시작 열 포함 · 끝 좌표 제외">
            <a:extLst xmlns:a="http://schemas.openxmlformats.org/drawingml/2006/main">
              <a:ext uri="{FF2B5EF4-FFF2-40B4-BE49-F238E27FC236}">
                <a16:creationId xmlns:a16="http://schemas.microsoft.com/office/drawing/2014/main" id="{D09F8657-EDC2-41EA-B7F5-F8E82CF6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58293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열 포함 · 끝 좌표 제외</a:t>
            </a:r>
          </a:p>
        </p:txBody>
      </p:sp>
      <p:sp>
        <p:nvSpPr>
          <p:cNvPr id="12" name="기록된 답">
            <a:extLst xmlns:a="http://schemas.openxmlformats.org/drawingml/2006/main">
              <a:ext uri="{FF2B5EF4-FFF2-40B4-BE49-F238E27FC236}">
                <a16:creationId xmlns:a16="http://schemas.microsoft.com/office/drawing/2014/main" id="{C1C7385C-00E6-4A53-BA0C-B66678CDE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기록된 답</a:t>
            </a:r>
          </a:p>
        </p:txBody>
      </p:sp>
      <p:sp>
        <p:nvSpPr>
          <p:cNvPr id="13" name="crop 1 3">
            <a:extLst xmlns:a="http://schemas.openxmlformats.org/drawingml/2006/main">
              <a:ext uri="{FF2B5EF4-FFF2-40B4-BE49-F238E27FC236}">
                <a16:creationId xmlns:a16="http://schemas.microsoft.com/office/drawing/2014/main" id="{A26775C9-AD4E-42B0-B9AF-AC08CE84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 1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F99B20-B66B-4F49-9971-FBA67EA6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">
            <a:extLst xmlns:a="http://schemas.openxmlformats.org/drawingml/2006/main">
              <a:ext uri="{FF2B5EF4-FFF2-40B4-BE49-F238E27FC236}">
                <a16:creationId xmlns:a16="http://schemas.microsoft.com/office/drawing/2014/main" id="{DB250FE9-8118-487B-BE0E-450FF003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028EFC-9406-47FA-A753-E47AA41A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1">
            <a:extLst xmlns:a="http://schemas.openxmlformats.org/drawingml/2006/main">
              <a:ext uri="{FF2B5EF4-FFF2-40B4-BE49-F238E27FC236}">
                <a16:creationId xmlns:a16="http://schemas.microsoft.com/office/drawing/2014/main" id="{D3138FC0-C6D9-4889-AEF7-9B92616B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D1925F-E70F-43C9-99E2-65F1F2AA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2">
            <a:extLst xmlns:a="http://schemas.openxmlformats.org/drawingml/2006/main">
              <a:ext uri="{FF2B5EF4-FFF2-40B4-BE49-F238E27FC236}">
                <a16:creationId xmlns:a16="http://schemas.microsoft.com/office/drawing/2014/main" id="{B30B977D-CDD5-4460-BB65-78457A35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84001-0553-46E0-8468-AE580518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3">
            <a:extLst xmlns:a="http://schemas.openxmlformats.org/drawingml/2006/main">
              <a:ext uri="{FF2B5EF4-FFF2-40B4-BE49-F238E27FC236}">
                <a16:creationId xmlns:a16="http://schemas.microsoft.com/office/drawing/2014/main" id="{F3F8B0DE-AAFD-4231-A847-5B5FC89A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포함 열: 1, 2&#10;출력 폭: 2">
            <a:extLst xmlns:a="http://schemas.openxmlformats.org/drawingml/2006/main">
              <a:ext uri="{FF2B5EF4-FFF2-40B4-BE49-F238E27FC236}">
                <a16:creationId xmlns:a16="http://schemas.microsoft.com/office/drawing/2014/main" id="{5FDB2A8C-0D3C-4BBD-92EF-569F1943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381500"/>
            <a:ext cx="38862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 열: 1, 2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 폭: 2</a:t>
            </a:r>
          </a:p>
        </p:txBody>
      </p:sp>
      <p:sp>
        <p:nvSpPr>
          <p:cNvPr id="23" name="답을 파일의 계약과 연결해 확인했다">
            <a:extLst xmlns:a="http://schemas.openxmlformats.org/drawingml/2006/main">
              <a:ext uri="{FF2B5EF4-FFF2-40B4-BE49-F238E27FC236}">
                <a16:creationId xmlns:a16="http://schemas.microsoft.com/office/drawing/2014/main" id="{71C1A8FA-AAC9-4DD3-BAD8-472F5894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647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답을 파일의 계약과 연결해 확인했다</a:t>
            </a:r>
          </a:p>
        </p:txBody>
      </p:sp>
    </p:spTree>
    <p:extLst>
      <p:ext uri="{BB962C8B-B14F-4D97-AF65-F5344CB8AC3E}">
        <p14:creationId xmlns:p14="http://schemas.microsoft.com/office/powerpoint/2010/main" val="2364690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두 Task의 문서 접근 비교">
            <a:extLst xmlns:a="http://schemas.openxmlformats.org/drawingml/2006/main">
              <a:ext uri="{FF2B5EF4-FFF2-40B4-BE49-F238E27FC236}">
                <a16:creationId xmlns:a16="http://schemas.microsoft.com/office/drawing/2014/main" id="{04A5AB56-0D43-47F0-8073-88D17FE5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두 Task의 문서 접근 비교</a:t>
            </a:r>
          </a:p>
        </p:txBody>
      </p:sp>
      <p:sp>
        <p:nvSpPr>
          <p:cNvPr id="2" name="S35">
            <a:extLst xmlns:a="http://schemas.openxmlformats.org/drawingml/2006/main">
              <a:ext uri="{FF2B5EF4-FFF2-40B4-BE49-F238E27FC236}">
                <a16:creationId xmlns:a16="http://schemas.microsoft.com/office/drawing/2014/main" id="{801FE131-DD97-42E7-84E4-0D784AC8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S35</a:t>
            </a:r>
          </a:p>
        </p:txBody>
      </p:sp>
      <p:sp>
        <p:nvSpPr>
          <p:cNvPr id="3" name="Task별 접근은 달랐지만 완벽하지는 않다">
            <a:extLst xmlns:a="http://schemas.openxmlformats.org/drawingml/2006/main">
              <a:ext uri="{FF2B5EF4-FFF2-40B4-BE49-F238E27FC236}">
                <a16:creationId xmlns:a16="http://schemas.microsoft.com/office/drawing/2014/main" id="{AC40988B-181F-436A-8440-4956DFCC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Task별 접근은 달랐지만 완벽하지는 않다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1700F-FE48-4158-AC7B-934B8E39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실제 접근 기록을 요약한 비교">
            <a:extLst xmlns:a="http://schemas.openxmlformats.org/drawingml/2006/main">
              <a:ext uri="{FF2B5EF4-FFF2-40B4-BE49-F238E27FC236}">
                <a16:creationId xmlns:a16="http://schemas.microsoft.com/office/drawing/2014/main" id="{916F1839-F329-4250-89EE-CBE96961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실제 접근 기록을 요약한 비교</a:t>
            </a:r>
          </a:p>
        </p:txBody>
      </p:sp>
      <p:sp>
        <p:nvSpPr>
          <p:cNvPr id="6" name="완벽한 Routing 미입증 · 토큰 절약·성능 개선 미측정 · 실행 간 변동 존재">
            <a:extLst xmlns:a="http://schemas.openxmlformats.org/drawingml/2006/main">
              <a:ext uri="{FF2B5EF4-FFF2-40B4-BE49-F238E27FC236}">
                <a16:creationId xmlns:a16="http://schemas.microsoft.com/office/drawing/2014/main" id="{7F5DFF7A-C702-44FE-85DE-D7F9D370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완벽한 Routing 미입증 · 토큰 절약·성능 개선 미측정 · 실행 간 변동 존재</a:t>
            </a:r>
          </a:p>
        </p:txBody>
      </p:sp>
      <p:sp>
        <p:nvSpPr>
          <p:cNvPr id="7" name="같은 Repository에서 질문이 달랐다">
            <a:extLst xmlns:a="http://schemas.openxmlformats.org/drawingml/2006/main">
              <a:ext uri="{FF2B5EF4-FFF2-40B4-BE49-F238E27FC236}">
                <a16:creationId xmlns:a16="http://schemas.microsoft.com/office/drawing/2014/main" id="{490C8803-89C0-4781-922D-ED18B1BB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Repository에서 질문이 달랐다</a:t>
            </a:r>
          </a:p>
        </p:txBody>
      </p:sp>
      <p:sp>
        <p:nvSpPr>
          <p:cNvPr id="8" name="문서">
            <a:extLst xmlns:a="http://schemas.openxmlformats.org/drawingml/2006/main">
              <a:ext uri="{FF2B5EF4-FFF2-40B4-BE49-F238E27FC236}">
                <a16:creationId xmlns:a16="http://schemas.microsoft.com/office/drawing/2014/main" id="{39F4EF3C-603A-48DF-AB47-879AB595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686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</a:t>
            </a:r>
          </a:p>
        </p:txBody>
      </p:sp>
      <p:sp>
        <p:nvSpPr>
          <p:cNvPr id="9" name="A · crop 계약">
            <a:extLst xmlns:a="http://schemas.openxmlformats.org/drawingml/2006/main">
              <a:ext uri="{FF2B5EF4-FFF2-40B4-BE49-F238E27FC236}">
                <a16:creationId xmlns:a16="http://schemas.microsoft.com/office/drawing/2014/main" id="{C62D673F-D65B-416E-BDF5-8AD7E546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7527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 · crop 계약</a:t>
            </a:r>
          </a:p>
        </p:txBody>
      </p:sp>
      <p:sp>
        <p:nvSpPr>
          <p:cNvPr id="10" name="B · 실행 의존성">
            <a:extLst xmlns:a="http://schemas.openxmlformats.org/drawingml/2006/main">
              <a:ext uri="{FF2B5EF4-FFF2-40B4-BE49-F238E27FC236}">
                <a16:creationId xmlns:a16="http://schemas.microsoft.com/office/drawing/2014/main" id="{8B2928E1-DB2D-4965-8D2B-7E39E33D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52725"/>
            <a:ext cx="2838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 · 실행 의존성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B0877A-27D7-4598-A852-6BB06C59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ADFDE182-5F9E-4564-8C69-809D4C9B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13" name="읽음">
            <a:extLst xmlns:a="http://schemas.openxmlformats.org/drawingml/2006/main">
              <a:ext uri="{FF2B5EF4-FFF2-40B4-BE49-F238E27FC236}">
                <a16:creationId xmlns:a16="http://schemas.microsoft.com/office/drawing/2014/main" id="{EBB8F1B8-1AF2-4784-9B4B-22F373E8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337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4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C15FC24C-35BA-415E-8ABA-A59A38CD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337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1D3762-20AD-42C5-9828-2E270E01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057917D6-D34A-4287-AD59-C10C4EEE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architecture.md</a:t>
            </a:r>
          </a:p>
        </p:txBody>
      </p:sp>
      <p:sp>
        <p:nvSpPr>
          <p:cNvPr id="17" name="읽음">
            <a:extLst xmlns:a="http://schemas.openxmlformats.org/drawingml/2006/main">
              <a:ext uri="{FF2B5EF4-FFF2-40B4-BE49-F238E27FC236}">
                <a16:creationId xmlns:a16="http://schemas.microsoft.com/office/drawing/2014/main" id="{1639EA5B-54F6-4F00-B9C3-CB6C62E9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624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8" name="읽음">
            <a:extLst xmlns:a="http://schemas.openxmlformats.org/drawingml/2006/main">
              <a:ext uri="{FF2B5EF4-FFF2-40B4-BE49-F238E27FC236}">
                <a16:creationId xmlns:a16="http://schemas.microsoft.com/office/drawing/2014/main" id="{1A5CBA30-3AFB-47FC-A8EA-E15F6BDD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6240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7E3E3E-46B5-499E-8D41-B17CF83F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.md">
            <a:extLst xmlns:a="http://schemas.openxmlformats.org/drawingml/2006/main">
              <a:ext uri="{FF2B5EF4-FFF2-40B4-BE49-F238E27FC236}">
                <a16:creationId xmlns:a16="http://schemas.microsoft.com/office/drawing/2014/main" id="{84E51FC5-3451-4969-89E5-C58C4B600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910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testing.md</a:t>
            </a:r>
          </a:p>
        </p:txBody>
      </p:sp>
      <p:sp>
        <p:nvSpPr>
          <p:cNvPr id="21" name="최종 실행에서 읽음">
            <a:extLst xmlns:a="http://schemas.openxmlformats.org/drawingml/2006/main">
              <a:ext uri="{FF2B5EF4-FFF2-40B4-BE49-F238E27FC236}">
                <a16:creationId xmlns:a16="http://schemas.microsoft.com/office/drawing/2014/main" id="{2620FC38-BF72-4F91-8E58-609DA5E0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5910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실행에서 읽음</a:t>
            </a:r>
          </a:p>
        </p:txBody>
      </p:sp>
      <p:sp>
        <p:nvSpPr>
          <p:cNvPr id="22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CE3E6039-1507-46D3-8A90-3C697843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5910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23" name="A에는 더 넓은 읽기도 존재 · B는 설정·README·source도 확인">
            <a:extLst xmlns:a="http://schemas.openxmlformats.org/drawingml/2006/main">
              <a:ext uri="{FF2B5EF4-FFF2-40B4-BE49-F238E27FC236}">
                <a16:creationId xmlns:a16="http://schemas.microsoft.com/office/drawing/2014/main" id="{9E58C67B-A677-4670-83E2-65FB2AB8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A에는 더 넓은 읽기도 존재 · B는 설정·README·source도 확인</a:t>
            </a:r>
          </a:p>
        </p:txBody>
      </p:sp>
    </p:spTree>
    <p:extLst>
      <p:ext uri="{BB962C8B-B14F-4D97-AF65-F5344CB8AC3E}">
        <p14:creationId xmlns:p14="http://schemas.microsoft.com/office/powerpoint/2010/main" val="788068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2 · 다음 문제로 넘어가기">
            <a:extLst xmlns:a="http://schemas.openxmlformats.org/drawingml/2006/main">
              <a:ext uri="{FF2B5EF4-FFF2-40B4-BE49-F238E27FC236}">
                <a16:creationId xmlns:a16="http://schemas.microsoft.com/office/drawing/2014/main" id="{CF83008D-C2FB-4EB8-8847-9B518167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다음 문제로 넘어가기</a:t>
            </a:r>
          </a:p>
        </p:txBody>
      </p:sp>
      <p:sp>
        <p:nvSpPr>
          <p:cNvPr id="2" name="S36">
            <a:extLst xmlns:a="http://schemas.openxmlformats.org/drawingml/2006/main">
              <a:ext uri="{FF2B5EF4-FFF2-40B4-BE49-F238E27FC236}">
                <a16:creationId xmlns:a16="http://schemas.microsoft.com/office/drawing/2014/main" id="{DBAB9CC3-15D6-4020-BEBF-91356069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S36</a:t>
            </a:r>
          </a:p>
        </p:txBody>
      </p:sp>
      <p:sp>
        <p:nvSpPr>
          <p:cNvPr id="3" name="지식은 정리됐지만 절차는 반복된다">
            <a:extLst xmlns:a="http://schemas.openxmlformats.org/drawingml/2006/main">
              <a:ext uri="{FF2B5EF4-FFF2-40B4-BE49-F238E27FC236}">
                <a16:creationId xmlns:a16="http://schemas.microsoft.com/office/drawing/2014/main" id="{1355BD05-654B-4957-A41D-DD547DD3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지식은 정리됐지만 절차는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6D295F-1A23-46CF-BBDC-FD851557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Project Context 정리 + TRIAL-006/007의 반복 절차 · 기록 요약과 교육용 해석">
            <a:extLst xmlns:a="http://schemas.openxmlformats.org/drawingml/2006/main">
              <a:ext uri="{FF2B5EF4-FFF2-40B4-BE49-F238E27FC236}">
                <a16:creationId xmlns:a16="http://schemas.microsoft.com/office/drawing/2014/main" id="{94C3CE02-5559-4B7A-A71D-B1B3CAB7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Context 정리 + TRIAL-006/007의 반복 절차 · 기록 요약과 교육용 해석</a:t>
            </a:r>
          </a:p>
        </p:txBody>
      </p:sp>
      <p:sp>
        <p:nvSpPr>
          <p:cNvPr id="6" name="절차가 반복된 원인을 Prompt만으로 분리하지 않음">
            <a:extLst xmlns:a="http://schemas.openxmlformats.org/drawingml/2006/main">
              <a:ext uri="{FF2B5EF4-FFF2-40B4-BE49-F238E27FC236}">
                <a16:creationId xmlns:a16="http://schemas.microsoft.com/office/drawing/2014/main" id="{0C4A462E-1294-417D-822A-983068C0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절차가 반복된 원인을 Prompt만으로 분리하지 않음</a:t>
            </a:r>
          </a:p>
        </p:txBody>
      </p:sp>
      <p:sp>
        <p:nvSpPr>
          <p:cNvPr id="7" name="정리한 것">
            <a:extLst xmlns:a="http://schemas.openxmlformats.org/drawingml/2006/main">
              <a:ext uri="{FF2B5EF4-FFF2-40B4-BE49-F238E27FC236}">
                <a16:creationId xmlns:a16="http://schemas.microsoft.com/office/drawing/2014/main" id="{6F6FBB32-15C6-4906-9A84-8D483F8B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정리한 것</a:t>
            </a:r>
          </a:p>
        </p:txBody>
      </p:sp>
      <p:sp>
        <p:nvSpPr>
          <p:cNvPr id="8" name="아직 반복되는 것">
            <a:extLst xmlns:a="http://schemas.openxmlformats.org/drawingml/2006/main">
              <a:ext uri="{FF2B5EF4-FFF2-40B4-BE49-F238E27FC236}">
                <a16:creationId xmlns:a16="http://schemas.microsoft.com/office/drawing/2014/main" id="{1580596F-DCE4-4D33-BB00-B1B08254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아직 반복되는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928711-3B0C-4A81-9ACC-CB8E7F93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8934CB-CE37-472C-89CB-F8C88F7E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527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현재 목표는 Prompt에&#10;공통 사실은 Project Context에&#10;상세 정보는 Routing으로">
            <a:extLst xmlns:a="http://schemas.openxmlformats.org/drawingml/2006/main">
              <a:ext uri="{FF2B5EF4-FFF2-40B4-BE49-F238E27FC236}">
                <a16:creationId xmlns:a16="http://schemas.microsoft.com/office/drawing/2014/main" id="{377F3E50-F927-4433-972A-1A091EA6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5143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목표는 Prompt에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공통 사실은 Project Context에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정보는 Routing으로</a:t>
            </a:r>
          </a:p>
        </p:txBody>
      </p:sp>
      <p:sp>
        <p:nvSpPr>
          <p:cNvPr id="12" name="먼저 측정하고&#10;조사한 뒤 변경하고&#10;같은 조건으로 확인해줘">
            <a:extLst xmlns:a="http://schemas.openxmlformats.org/drawingml/2006/main">
              <a:ext uri="{FF2B5EF4-FFF2-40B4-BE49-F238E27FC236}">
                <a16:creationId xmlns:a16="http://schemas.microsoft.com/office/drawing/2014/main" id="{5FFD8D00-99F5-418B-B04E-9E4C94C0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측정하고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조사한 뒤 변경하고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조건으로 확인해줘</a:t>
            </a:r>
          </a:p>
        </p:txBody>
      </p:sp>
      <p:sp>
        <p:nvSpPr>
          <p:cNvPr id="13" name="같은 작업 절차도 다시 써야 할까?">
            <a:extLst xmlns:a="http://schemas.openxmlformats.org/drawingml/2006/main">
              <a:ext uri="{FF2B5EF4-FFF2-40B4-BE49-F238E27FC236}">
                <a16:creationId xmlns:a16="http://schemas.microsoft.com/office/drawing/2014/main" id="{CE685C2C-6E93-400F-A5D4-A4E9FF18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작업 절차도 다시 써야 할까?</a:t>
            </a:r>
          </a:p>
        </p:txBody>
      </p:sp>
    </p:spTree>
    <p:extLst>
      <p:ext uri="{BB962C8B-B14F-4D97-AF65-F5344CB8AC3E}">
        <p14:creationId xmlns:p14="http://schemas.microsoft.com/office/powerpoint/2010/main" val="20133537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2026-10-20T01:26:48.2960000Z</dcterms:created>
  <dcterms:modified xsi:type="dcterms:W3CDTF">2026-10-20T01:26:48.2960000Z</dcterms:modified>
</coreProperties>
</file>