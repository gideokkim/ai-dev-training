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31d602b9a5346e8" /><Relationship Type="http://schemas.openxmlformats.org/officeDocument/2006/relationships/extended-properties" Target="/docProps/app.xml" Id="Rae2fa0d4f6cf42b1" /><Relationship Type="http://schemas.openxmlformats.org/officeDocument/2006/relationships/officeDocument" Target="/ppt/presentation.xml" Id="R0765880ac2b4458b" /></Relationships>
</file>

<file path=ppt/presentation.xml><?xml version="1.0" encoding="utf-8"?>
<p:presentation xmlns:p="http://schemas.openxmlformats.org/presentationml/2006/main">
  <p:sldMasterIdLst>
    <p:sldMasterId xmlns:r="http://schemas.openxmlformats.org/officeDocument/2006/relationships" id="2147483648" r:id="R6509c520dab14544"/>
  </p:sldMasterIdLst>
  <p:notesMasterIdLst>
    <p:notesMasterId xmlns:r="http://schemas.openxmlformats.org/officeDocument/2006/relationships" r:id="R4286dda84e524d5b"/>
  </p:notesMasterIdLst>
  <p:sldIdLst>
    <p:sldId xmlns:r="http://schemas.openxmlformats.org/officeDocument/2006/relationships" id="256" r:id="R6c450eacdbba4e54"/>
    <p:sldId xmlns:r="http://schemas.openxmlformats.org/officeDocument/2006/relationships" id="257" r:id="R9f16fc52da3549d7"/>
    <p:sldId xmlns:r="http://schemas.openxmlformats.org/officeDocument/2006/relationships" id="258" r:id="Raab386c6dcac44c4"/>
    <p:sldId xmlns:r="http://schemas.openxmlformats.org/officeDocument/2006/relationships" id="259" r:id="Rb36bd5fab5da4819"/>
    <p:sldId xmlns:r="http://schemas.openxmlformats.org/officeDocument/2006/relationships" id="260" r:id="R94d16cbedcd84157"/>
    <p:sldId xmlns:r="http://schemas.openxmlformats.org/officeDocument/2006/relationships" id="261" r:id="Rbb0fdffe49be4fa1"/>
    <p:sldId xmlns:r="http://schemas.openxmlformats.org/officeDocument/2006/relationships" id="262" r:id="R93dd91ca4e8148c5"/>
    <p:sldId xmlns:r="http://schemas.openxmlformats.org/officeDocument/2006/relationships" id="263" r:id="Rf685c7e5f6ba4046"/>
    <p:sldId xmlns:r="http://schemas.openxmlformats.org/officeDocument/2006/relationships" id="264" r:id="R91b51fe24129451b"/>
    <p:sldId xmlns:r="http://schemas.openxmlformats.org/officeDocument/2006/relationships" id="265" r:id="Rf2ecfa59b0e347ba"/>
    <p:sldId xmlns:r="http://schemas.openxmlformats.org/officeDocument/2006/relationships" id="266" r:id="R5df90fb4a2734b3e"/>
    <p:sldId xmlns:r="http://schemas.openxmlformats.org/officeDocument/2006/relationships" id="267" r:id="R8c0971a7d6a744c1"/>
    <p:sldId xmlns:r="http://schemas.openxmlformats.org/officeDocument/2006/relationships" id="268" r:id="R3d56d0ab7a104165"/>
    <p:sldId xmlns:r="http://schemas.openxmlformats.org/officeDocument/2006/relationships" id="269" r:id="Rac4cf77666bb45d0"/>
    <p:sldId xmlns:r="http://schemas.openxmlformats.org/officeDocument/2006/relationships" id="270" r:id="R0d1d96d964c649f6"/>
    <p:sldId xmlns:r="http://schemas.openxmlformats.org/officeDocument/2006/relationships" id="271" r:id="R42655c32cd3d4282"/>
    <p:sldId xmlns:r="http://schemas.openxmlformats.org/officeDocument/2006/relationships" id="272" r:id="R59f9f98a7ee2461b"/>
    <p:sldId xmlns:r="http://schemas.openxmlformats.org/officeDocument/2006/relationships" id="273" r:id="R347b8a3e23c74f02"/>
    <p:sldId xmlns:r="http://schemas.openxmlformats.org/officeDocument/2006/relationships" id="275" r:id="AgentsScopeTip1"/>
    <p:sldId xmlns:r="http://schemas.openxmlformats.org/officeDocument/2006/relationships" id="276" r:id="AgentsScopeTip2"/>
    <p:sldId xmlns:r="http://schemas.openxmlformats.org/officeDocument/2006/relationships" id="277" r:id="AgentsScopeTip3"/>
    <p:sldId xmlns:r="http://schemas.openxmlformats.org/officeDocument/2006/relationships" id="274" r:id="R748ee43f6af1461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d35d812d651b43ff"/><Relationship Type="http://schemas.openxmlformats.org/officeDocument/2006/relationships/slideMaster" Target="/ppt/slideMasters/slideMaster1.xml" Id="R6509c520dab14544"/><Relationship Type="http://schemas.openxmlformats.org/officeDocument/2006/relationships/notesMaster" Target="/ppt/notesMasters/notesMaster1.xml" Id="R4286dda84e524d5b"/><Relationship Type="http://schemas.openxmlformats.org/officeDocument/2006/relationships/presProps" Target="/ppt/presProps.xml" Id="Ree85c44983fc48d6"/><Relationship Type="http://schemas.openxmlformats.org/officeDocument/2006/relationships/tableStyles" Target="/ppt/tableStyles.xml" Id="R6202b52fb25644f2"/><Relationship Type="http://schemas.openxmlformats.org/officeDocument/2006/relationships/slide" Target="/ppt/slides/slide1.xml" Id="R6c450eacdbba4e54"/><Relationship Type="http://schemas.openxmlformats.org/officeDocument/2006/relationships/slide" Target="/ppt/slides/slide2.xml" Id="R9f16fc52da3549d7"/><Relationship Type="http://schemas.openxmlformats.org/officeDocument/2006/relationships/slide" Target="/ppt/slides/slide3.xml" Id="Raab386c6dcac44c4"/><Relationship Type="http://schemas.openxmlformats.org/officeDocument/2006/relationships/slide" Target="/ppt/slides/slide4.xml" Id="Rb36bd5fab5da4819"/><Relationship Type="http://schemas.openxmlformats.org/officeDocument/2006/relationships/slide" Target="/ppt/slides/slide5.xml" Id="R94d16cbedcd84157"/><Relationship Type="http://schemas.openxmlformats.org/officeDocument/2006/relationships/slide" Target="/ppt/slides/slide6.xml" Id="Rbb0fdffe49be4fa1"/><Relationship Type="http://schemas.openxmlformats.org/officeDocument/2006/relationships/slide" Target="/ppt/slides/slide7.xml" Id="R93dd91ca4e8148c5"/><Relationship Type="http://schemas.openxmlformats.org/officeDocument/2006/relationships/slide" Target="/ppt/slides/slide8.xml" Id="Rf685c7e5f6ba4046"/><Relationship Type="http://schemas.openxmlformats.org/officeDocument/2006/relationships/slide" Target="/ppt/slides/slide9.xml" Id="R91b51fe24129451b"/><Relationship Type="http://schemas.openxmlformats.org/officeDocument/2006/relationships/slide" Target="/ppt/slides/slide10.xml" Id="Rf2ecfa59b0e347ba"/><Relationship Type="http://schemas.openxmlformats.org/officeDocument/2006/relationships/slide" Target="/ppt/slides/slide11.xml" Id="R5df90fb4a2734b3e"/><Relationship Type="http://schemas.openxmlformats.org/officeDocument/2006/relationships/slide" Target="/ppt/slides/slide12.xml" Id="R8c0971a7d6a744c1"/><Relationship Type="http://schemas.openxmlformats.org/officeDocument/2006/relationships/slide" Target="/ppt/slides/slide13.xml" Id="R3d56d0ab7a104165"/><Relationship Type="http://schemas.openxmlformats.org/officeDocument/2006/relationships/slide" Target="/ppt/slides/slide14.xml" Id="Rac4cf77666bb45d0"/><Relationship Type="http://schemas.openxmlformats.org/officeDocument/2006/relationships/slide" Target="/ppt/slides/slide15.xml" Id="R0d1d96d964c649f6"/><Relationship Type="http://schemas.openxmlformats.org/officeDocument/2006/relationships/slide" Target="/ppt/slides/slide16.xml" Id="R42655c32cd3d4282"/><Relationship Type="http://schemas.openxmlformats.org/officeDocument/2006/relationships/slide" Target="/ppt/slides/slide17.xml" Id="R59f9f98a7ee2461b"/><Relationship Type="http://schemas.openxmlformats.org/officeDocument/2006/relationships/slide" Target="/ppt/slides/slide18.xml" Id="R347b8a3e23c74f02"/><Relationship Type="http://schemas.openxmlformats.org/officeDocument/2006/relationships/slide" Target="/ppt/slides/slide22.xml" Id="R748ee43f6af14616"/><Relationship Id="AgentsScopeTip1" Type="http://schemas.openxmlformats.org/officeDocument/2006/relationships/slide" Target="/ppt/slides/slide19.xml"/><Relationship Id="AgentsScopeTip2" Type="http://schemas.openxmlformats.org/officeDocument/2006/relationships/slide" Target="/ppt/slides/slide20.xml"/><Relationship Id="AgentsScopeTip3" Type="http://schemas.openxmlformats.org/officeDocument/2006/relationships/slide" Target="/ppt/slides/slide21.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5d312b6d3c1419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c60923480df4dc3" /><Relationship Type="http://schemas.openxmlformats.org/officeDocument/2006/relationships/notesMaster" Target="/ppt/notesMasters/notesMaster1.xml" Id="Rf975236fad1347e6" /></Relationships>
</file>

<file path=ppt/notesSlides/_rels/notesSlide2.xml.rels>&#65279;<?xml version="1.0" encoding="utf-8"?><Relationships xmlns="http://schemas.openxmlformats.org/package/2006/relationships"><Relationship Type="http://schemas.openxmlformats.org/officeDocument/2006/relationships/slide" Target="/ppt/slides/slide2.xml" Id="Rb97793de0d6042b8" /><Relationship Type="http://schemas.openxmlformats.org/officeDocument/2006/relationships/notesMaster" Target="/ppt/notesMasters/notesMaster1.xml" Id="R5d88c22b5cb04faf" /></Relationships>
</file>

<file path=ppt/notesSlides/_rels/notesSlide3.xml.rels>&#65279;<?xml version="1.0" encoding="utf-8"?><Relationships xmlns="http://schemas.openxmlformats.org/package/2006/relationships"><Relationship Type="http://schemas.openxmlformats.org/officeDocument/2006/relationships/slide" Target="/ppt/slides/slide3.xml" Id="R562d596326f84a8c" /><Relationship Type="http://schemas.openxmlformats.org/officeDocument/2006/relationships/notesMaster" Target="/ppt/notesMasters/notesMaster1.xml" Id="R192971fe0fd04a07" /></Relationships>
</file>

<file path=ppt/notesSlides/_rels/notesSlide4.xml.rels>&#65279;<?xml version="1.0" encoding="utf-8"?><Relationships xmlns="http://schemas.openxmlformats.org/package/2006/relationships"><Relationship Type="http://schemas.openxmlformats.org/officeDocument/2006/relationships/slide" Target="/ppt/slides/slide4.xml" Id="R7ce4242b45944c5a" /><Relationship Type="http://schemas.openxmlformats.org/officeDocument/2006/relationships/notesMaster" Target="/ppt/notesMasters/notesMaster1.xml" Id="R4a9d9f70f9c948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3e58913c6bd9402a" /><Relationship Type="http://schemas.openxmlformats.org/officeDocument/2006/relationships/notesMaster" Target="/ppt/notesMasters/notesMaster1.xml" Id="R19649659cc1c4d4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f040102660e4135" /><Relationship Type="http://schemas.openxmlformats.org/officeDocument/2006/relationships/notesMaster" Target="/ppt/notesMasters/notesMaster1.xml" Id="R0387ae7f1844491f"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53ba447fe34065" /><Relationship Type="http://schemas.openxmlformats.org/officeDocument/2006/relationships/notesMaster" Target="/ppt/notesMasters/notesMaster1.xml" Id="Re5a8ba5af0f540c4"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6c9baf27bd4249" /><Relationship Type="http://schemas.openxmlformats.org/officeDocument/2006/relationships/notesMaster" Target="/ppt/notesMasters/notesMaster1.xml" Id="R03d2a4b660a742ed" /></Relationships>
</file>

<file path=ppt/notesSlides/_rels/notesSlide9.xml.rels>&#65279;<?xml version="1.0" encoding="utf-8"?><Relationships xmlns="http://schemas.openxmlformats.org/package/2006/relationships"><Relationship Type="http://schemas.openxmlformats.org/officeDocument/2006/relationships/slide" Target="/ppt/slides/slide9.xml" Id="Rc763f11e92864dcc" /><Relationship Type="http://schemas.openxmlformats.org/officeDocument/2006/relationships/notesMaster" Target="/ppt/notesMasters/notesMaster1.xml" Id="R3bf46180fd07488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0d2a5080977462c" /><Relationship Type="http://schemas.openxmlformats.org/officeDocument/2006/relationships/notesMaster" Target="/ppt/notesMasters/notesMaster1.xml" Id="R008c6351308e4c9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f55f08f874c46cd" /><Relationship Type="http://schemas.openxmlformats.org/officeDocument/2006/relationships/notesMaster" Target="/ppt/notesMasters/notesMaster1.xml" Id="R4b39179d12934c2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754f0dd3a5344e2" /><Relationship Type="http://schemas.openxmlformats.org/officeDocument/2006/relationships/notesMaster" Target="/ppt/notesMasters/notesMaster1.xml" Id="R6af6ed1ca2bd467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243be9a590a435f" /><Relationship Type="http://schemas.openxmlformats.org/officeDocument/2006/relationships/notesMaster" Target="/ppt/notesMasters/notesMaster1.xml" Id="R0cbabe3e12334af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cf898dec51a429f" /><Relationship Type="http://schemas.openxmlformats.org/officeDocument/2006/relationships/notesMaster" Target="/ppt/notesMasters/notesMaster1.xml" Id="Rf11cce30820d49a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e774d0ed0454100" /><Relationship Type="http://schemas.openxmlformats.org/officeDocument/2006/relationships/notesMaster" Target="/ppt/notesMasters/notesMaster1.xml" Id="R09322b1194cc4fd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11f4d84ecb14ab7" /><Relationship Type="http://schemas.openxmlformats.org/officeDocument/2006/relationships/notesMaster" Target="/ppt/notesMasters/notesMaster1.xml" Id="R8745b2a69d2b4d4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77570bf880a4837" /><Relationship Type="http://schemas.openxmlformats.org/officeDocument/2006/relationships/notesMaster" Target="/ppt/notesMasters/notesMaster1.xml" Id="Rabe952e42a084a8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47937791d404376" /><Relationship Type="http://schemas.openxmlformats.org/officeDocument/2006/relationships/notesMaster" Target="/ppt/notesMasters/notesMaster1.xml" Id="R342ad15c33094314" /></Relationships>
</file>

<file path=ppt/notesSlides/_rels/notesSlide19.xml.rels><?xml version="1.0" encoding="utf-8"?><Relationships xmlns="http://schemas.openxmlformats.org/package/2006/relationships"><Relationship Type="http://schemas.openxmlformats.org/officeDocument/2006/relationships/slide" Target="/ppt/slides/slide19.xml" Id="Rc318f49d3acc4830"/><Relationship Type="http://schemas.openxmlformats.org/officeDocument/2006/relationships/notesMaster" Target="/ppt/notesMasters/notesMaster1.xml" Id="Rab283a938dc64efe"/></Relationships>
</file>

<file path=ppt/notesSlides/_rels/notesSlide20.xml.rels><?xml version="1.0" encoding="utf-8"?><Relationships xmlns="http://schemas.openxmlformats.org/package/2006/relationships"><Relationship Type="http://schemas.openxmlformats.org/officeDocument/2006/relationships/slide" Target="/ppt/slides/slide20.xml" Id="R37b3914b36894636"/><Relationship Type="http://schemas.openxmlformats.org/officeDocument/2006/relationships/notesMaster" Target="/ppt/notesMasters/notesMaster1.xml" Id="Rd01408e265974e05"/></Relationships>
</file>

<file path=ppt/notesSlides/_rels/notesSlide21.xml.rels><?xml version="1.0" encoding="utf-8"?><Relationships xmlns="http://schemas.openxmlformats.org/package/2006/relationships"><Relationship Type="http://schemas.openxmlformats.org/officeDocument/2006/relationships/slide" Target="/ppt/slides/slide21.xml" Id="R04c54d61fbfb4c39"/><Relationship Type="http://schemas.openxmlformats.org/officeDocument/2006/relationships/notesMaster" Target="/ppt/notesMasters/notesMaster1.xml" Id="R50058a4ee4ca4c37"/></Relationships>
</file>

<file path=ppt/notesSlides/_rels/notesSlide22.xml.rels><?xml version="1.0" encoding="utf-8"?><Relationships xmlns="http://schemas.openxmlformats.org/package/2006/relationships"><Relationship Type="http://schemas.openxmlformats.org/officeDocument/2006/relationships/slide" Target="/ppt/slides/slide22.xml" Id="R47cc988c197d4989" /><Relationship Type="http://schemas.openxmlformats.org/officeDocument/2006/relationships/notesMaster" Target="/ppt/notesMasters/notesMaster1.xml" Id="Rdab77de531ad42a2"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필요한 정보를 찾아 쓰게 하기</a:t>
            </a:r>
          </a:p>
          <a:p>
            <a:r>
              <a:t xml:space="preserve"/>
            </a:r>
          </a:p>
          <a:p>
            <a:r>
              <a:t xml:space="preserve">**Slide ID:**</a:t>
            </a:r>
          </a:p>
          <a:p>
            <a:r>
              <a:t xml:space="preserve">S38</a:t>
            </a:r>
          </a:p>
          <a:p>
            <a:r>
              <a:t xml:space="preserve"/>
            </a:r>
          </a:p>
          <a:p>
            <a:r>
              <a:t xml:space="preserve">**Working Title:**</a:t>
            </a:r>
          </a:p>
          <a:p>
            <a:r>
              <a:t xml:space="preserve">필요한 정보를 찾아 쓰게 하기</a:t>
            </a:r>
          </a:p>
          <a:p>
            <a:r>
              <a:t xml:space="preserve"/>
            </a:r>
          </a:p>
          <a:p>
            <a:r>
              <a:t xml:space="preserve">**ACT / Section:**</a:t>
            </a:r>
          </a:p>
          <a:p>
            <a:r>
              <a:t xml:space="preserve">ACT 2 / 2A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필요한 정보를 찾아 쓰게 하기 — Context Engineering · 정보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2의 제목 “필요한 정보를 찾아 쓰게 하기”을 가리키며 구간을 연다.</a:t>
            </a:r>
          </a:p>
          <a:p>
            <a:r>
              <a:t xml:space="preserve">2. (0:20–0:40 / Transition) 부제 “Context Engineering · 정보 설계”는 이번 구간의 관점만 안내한다. 구체적 기능·해결 방법·결과는 앞서 설명하지 않는다.</a:t>
            </a:r>
          </a:p>
          <a:p>
            <a:r>
              <a:t xml:space="preserve">3. (0:40–1:00 / Transition) S39의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S39 — 다른 Task에 같은 설명이 반복된다로 이어간다.</a:t>
            </a:r>
          </a:p>
          <a:p>
            <a:r>
              <a:t xml:space="preserve"/>
            </a:r>
          </a:p>
          <a:p>
            <a:r>
              <a:t xml:space="preserve">**Time Management:**</a:t>
            </a:r>
          </a:p>
          <a:p>
            <a:r>
              <a:t xml:space="preserve">Transition 1분. 기존 본문 시간을 줄이거나 중복 계산하지 않는다. ACT 2 총90분, 전체420분이다. 제목·부제만 안내하고1분에 S39로 넘긴다. 실측 리허설 UNVERIFIED.</a:t>
            </a:r>
          </a:p>
          <a:p>
            <a:r>
              <a:t xml:space="preserve"/>
            </a:r>
          </a:p>
          <a:p>
            <a:r>
              <a:t xml:space="preserve">**Fallback:**</a:t>
            </a:r>
          </a:p>
          <a:p>
            <a:r>
              <a:t xml:space="preserve">LOCAL STATIC ARTIFACT — production/preview/full/S38.png 또는 production/ACT_2.pptx의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S39 — 다른 Task에 같은 설명이 반복된다</a:t>
            </a:r>
          </a:p>
          <a:p>
            <a:r>
              <a:t xml:space="preserve"/>
            </a:r>
          </a:p>
          <a:p>
            <a:r>
              <a:t xml:space="preserve">Slide ID:</a:t>
            </a:r>
          </a:p>
          <a:p>
            <a:r>
              <a:t xml:space="preserve">S39</a:t>
            </a:r>
          </a:p>
          <a:p>
            <a:r>
              <a:t xml:space="preserve"/>
            </a:r>
          </a:p>
          <a:p>
            <a:r>
              <a:t xml:space="preserve">Working Title: 다른 Task에 같은 설명이 반복된다</a:t>
            </a:r>
          </a:p>
          <a:p>
            <a:r>
              <a:t xml:space="preserve"/>
            </a:r>
          </a:p>
          <a:p>
            <a:r>
              <a:t xml:space="preserve">ACT / Section: ACT 2 / 2A</a:t>
            </a:r>
          </a:p>
          <a:p>
            <a:r>
              <a:t xml:space="preserve"/>
            </a:r>
          </a:p>
          <a:p>
            <a:r>
              <a:t xml:space="preserve">Allocated Time: 5 minutes</a:t>
            </a:r>
          </a:p>
          <a:p>
            <a:r>
              <a:t xml:space="preserve"/>
            </a:r>
          </a:p>
          <a:p>
            <a:r>
              <a:t xml:space="preserve">Mode Split: Lecture 4 minutes + Case 1 minute</a:t>
            </a:r>
          </a:p>
          <a:p>
            <a:r>
              <a:t xml:space="preserve"/>
            </a:r>
          </a:p>
          <a:p>
            <a:r>
              <a:t xml:space="preserve">Primary Message: Bug fix, performance, and README Tasks can repeat the same Project facts because task-specific instructions and durable Project context have different scopes.</a:t>
            </a:r>
          </a:p>
          <a:p>
            <a:r>
              <a:t xml:space="preserve"/>
            </a:r>
          </a:p>
          <a:p>
            <a:r>
              <a:t xml:space="preserve">Opening Question: “Task는 다른데 왜 같은 설명을 계속 복사하고 있지?”</a:t>
            </a:r>
          </a:p>
          <a:p>
            <a:r>
              <a:t xml:space="preserve"/>
            </a:r>
          </a:p>
          <a:p>
            <a:r>
              <a:t xml:space="preserve">Speaker Flow:</a:t>
            </a:r>
          </a:p>
          <a:p>
            <a:r>
              <a:t xml:space="preserve"/>
            </a:r>
          </a:p>
          <a:p>
            <a:r>
              <a:t xml:space="preserve">1. (0:00–2:00) 버그 수정, 성능 조사, README 수정의 서로 다른 목표를 왼쪽부터 가리킨다.</a:t>
            </a:r>
          </a:p>
          <a:p>
            <a:r>
              <a:t xml:space="preserve">2. (2:00–4:00) 아래에 반복된 네 줄을 비교한다. 테스트 실행, 근거가 있을 때 의존성 추가, 로컬 합성 데이터, 기존 동작 보존이다. 세 요청은 교육용 구성 예시이며 Trial 원문이 아니다.</a:t>
            </a:r>
          </a:p>
          <a:p>
            <a:r>
              <a:t xml:space="preserve">3. (4:00–5:00) 같은 설명이 왜 다시 들어가는지 잠시 생각하게 한다. 아직 저장 위치나 기능을 답으로 제시하지 않는다.</a:t>
            </a:r>
          </a:p>
          <a:p>
            <a:r>
              <a:t xml:space="preserve"/>
            </a:r>
          </a:p>
          <a:p>
            <a:r>
              <a:t xml:space="preserve">Evidence / Source: BEAT-008, CLM-0003, CLM-0005. TEACHING_MODEL / CONCEPTUAL; the three cards are a constructed example, not a Trial.</a:t>
            </a:r>
          </a:p>
          <a:p>
            <a:r>
              <a:t xml:space="preserve"/>
            </a:r>
          </a:p>
          <a:p>
            <a:r>
              <a:t xml:space="preserve">보존된 상세 출처: 교육용 구성 사례 · Bug fix / Performance / README 작업</a:t>
            </a:r>
          </a:p>
          <a:p>
            <a:r>
              <a:t xml:space="preserve"/>
            </a:r>
          </a:p>
          <a:p>
            <a:r>
              <a:t xml:space="preserve">Claim Boundary: Repetition can indicate a scope and lifetime question. This slide does not claim a product failure or introduce a repository instruction file as the answer.</a:t>
            </a:r>
          </a:p>
          <a:p>
            <a:r>
              <a:t xml:space="preserve"/>
            </a:r>
          </a:p>
          <a:p>
            <a:r>
              <a:t xml:space="preserve">보존된 상세 범위: 서로 다른 요청에 같은 프로젝트 정보가 반복되는 상황을 보여준다</a:t>
            </a:r>
          </a:p>
          <a:p>
            <a:r>
              <a:t xml:space="preserve"/>
            </a:r>
          </a:p>
          <a:p>
            <a:r>
              <a:t xml:space="preserve">Beginner Explanation: If every Task needs the same Project facts, consider whether those facts belong with the Task or with the Project.</a:t>
            </a:r>
          </a:p>
          <a:p>
            <a:r>
              <a:t xml:space="preserve"/>
            </a:r>
          </a:p>
          <a:p>
            <a:r>
              <a:t xml:space="preserve">Advanced Insight: Separate Task intent from durable constraints before choosing where to maintain them.</a:t>
            </a:r>
          </a:p>
          <a:p>
            <a:r>
              <a:t xml:space="preserve"/>
            </a:r>
          </a:p>
          <a:p>
            <a:r>
              <a:t xml:space="preserve">C++ Vision Bridge: N/A.</a:t>
            </a:r>
          </a:p>
          <a:p>
            <a:r>
              <a:t xml:space="preserve"/>
            </a:r>
          </a:p>
          <a:p>
            <a:r>
              <a:t xml:space="preserve">Demo Operation: N/A.</a:t>
            </a:r>
          </a:p>
          <a:p>
            <a:r>
              <a:t xml:space="preserve"/>
            </a:r>
          </a:p>
          <a:p>
            <a:r>
              <a:t xml:space="preserve">Audience Interaction: Use the final minute as a quiet case prompt. No hands-on activity or public response is required.</a:t>
            </a:r>
          </a:p>
          <a:p>
            <a:r>
              <a:t xml:space="preserve"/>
            </a:r>
          </a:p>
          <a:p>
            <a:r>
              <a:t xml:space="preserve">Transition: “공통 정보를 Prompt 밖에 둘 수 있을까?”</a:t>
            </a:r>
          </a:p>
          <a:p>
            <a:r>
              <a:t xml:space="preserve"/>
            </a:r>
          </a:p>
          <a:p>
            <a:r>
              <a:t xml:space="preserve">Time Management: Spend four minutes on the repeated facts and one minute on the question. Do not preview the solution.</a:t>
            </a:r>
          </a:p>
          <a:p>
            <a:r>
              <a:t xml:space="preserve"/>
            </a:r>
          </a:p>
          <a:p>
            <a:r>
              <a:t xml:space="preserve">Fallback:</a:t>
            </a:r>
          </a:p>
          <a:p>
            <a:r>
              <a:t xml:space="preserve">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S40 — 작은 Project Context의 첫 기록</a:t>
            </a:r>
          </a:p>
          <a:p>
            <a:r>
              <a:t xml:space="preserve"/>
            </a:r>
          </a:p>
          <a:p>
            <a:r>
              <a:t xml:space="preserve">Slide ID:</a:t>
            </a:r>
          </a:p>
          <a:p>
            <a:r>
              <a:t xml:space="preserve">S40</a:t>
            </a:r>
          </a:p>
          <a:p>
            <a:r>
              <a:t xml:space="preserve"/>
            </a:r>
          </a:p>
          <a:p>
            <a:r>
              <a:t xml:space="preserve">Working Title: 작은 Project Context의 첫 기록</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STATE-01의 실제 AGENTS.md에는 반복되는 프로젝트 목적, 실행 방법, 테스트 명령, 기본 제약이 기록되어 있다.</a:t>
            </a:r>
          </a:p>
          <a:p>
            <a:r>
              <a:t xml:space="preserve"/>
            </a:r>
          </a:p>
          <a:p>
            <a:r>
              <a:t xml:space="preserve">Opening Question: “반복되는 Project 정보를 한 번 기록하면 어떤 점이 달라질까?”</a:t>
            </a:r>
          </a:p>
          <a:p>
            <a:r>
              <a:t xml:space="preserve"/>
            </a:r>
          </a:p>
          <a:p>
            <a:r>
              <a:t xml:space="preserve">Speaker Flow:</a:t>
            </a:r>
          </a:p>
          <a:p>
            <a:r>
              <a:t xml:space="preserve">1. (0:00–1:00) STATE-00-FIXED에서 STATE-01로 바뀐 것은 root AGENTS.md 한 파일 추가임을 설명한다.</a:t>
            </a:r>
          </a:p>
          <a:p>
            <a:r>
              <a:t xml:space="preserve">2. (1:00–3:00) 네 발췌를 순서대로 가리킨다. 목적: 로컬 grayscale CLI. 실행: README의 준비된 명령. 테스트: 원문 명령. 제약: 범위를 지키고 관련 동작을 검증. 영어 문장을 모두 낭독하지 않는다.</a:t>
            </a:r>
          </a:p>
          <a:p>
            <a:r>
              <a:t xml:space="preserve">3. (3:00–4:00) Task마다 반복 설명하던 사실을 저장소에 둔 설계 의도를 정리하고, 실제 활용 관찰은 S41로 넘긴다.</a:t>
            </a:r>
          </a:p>
          <a:p>
            <a:r>
              <a:t xml:space="preserve"/>
            </a:r>
          </a:p>
          <a:p>
            <a:r>
              <a:t xml:space="preserve">화면 진행: 한국어 의미를 먼저 읽고 바로 위의 실제 AGENTS.md 발췌와 대조한다. 강조한 CLI 목적·README·범위/검증 문구만 짚고 테스트 명령은 입력 실습이나 CLI 설명으로 확장하지 않는다.</a:t>
            </a:r>
          </a:p>
          <a:p>
            <a:r>
              <a:t xml:space="preserve"/>
            </a:r>
          </a:p>
          <a:p>
            <a:r>
              <a:t xml:space="preserve">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a:r>
              <a:t xml:space="preserve"/>
            </a:r>
          </a:p>
          <a:p>
            <a:r>
              <a:t xml:space="preserve">보존된 상세 출처: OBSERVED PRODUCT  |  STATE-01 · AGENTS.md 실제 원문 발췌</a:t>
            </a:r>
          </a:p>
          <a:p>
            <a:r>
              <a:t xml:space="preserve"/>
            </a:r>
          </a:p>
          <a:p>
            <a:r>
              <a:t xml:space="preserve">Claim Boundary:</a:t>
            </a:r>
          </a:p>
          <a:p>
            <a:r>
              <a:t xml:space="preserve">실제 파일이 그 상태에 존재했다는 근거다. 성능, 정확도, 토큰 절감 또는 AGENTS.md 단독 인과효과를 주장하지 않는다. 제품 코드·테스트·README는 그 상태 전환에서 바뀌지 않았다. S41의 지침 활용 관찰을 이 장의 결과로 앞당기지 않는다. 현재 Desktop 자동 로딩이나 교육 환경을 검증한 것이 아니다.</a:t>
            </a:r>
          </a:p>
          <a:p>
            <a:r>
              <a:t xml:space="preserve"/>
            </a:r>
          </a:p>
          <a:p>
            <a:r>
              <a:t xml:space="preserve">보존된 상세 범위: 파일의 내용과 기록 위치를 보여주는 장 · Agent의 활용 관찰은 다음 장에서 확인</a:t>
            </a:r>
          </a:p>
          <a:p>
            <a:r>
              <a:t xml:space="preserve"/>
            </a:r>
          </a:p>
          <a:p>
            <a:r>
              <a:t xml:space="preserve">Beginner Explanation: A small set of facts that applies across Project Tasks can be written down once in the repository.</a:t>
            </a:r>
          </a:p>
          <a:p>
            <a:r>
              <a:t xml:space="preserve"/>
            </a:r>
          </a:p>
          <a:p>
            <a:r>
              <a:t xml:space="preserve">Advanced Insight: The design choice is about context scope and maintenance ownership, not a measured quality or performance effect.</a:t>
            </a:r>
          </a:p>
          <a:p>
            <a:r>
              <a:t xml:space="preserve"/>
            </a:r>
          </a:p>
          <a:p>
            <a:r>
              <a:t xml:space="preserve">C++ Vision Bridge: N/A.</a:t>
            </a:r>
          </a:p>
          <a:p>
            <a:r>
              <a:t xml:space="preserve"/>
            </a:r>
          </a:p>
          <a:p>
            <a:r>
              <a:t xml:space="preserve">Demo Operation:</a:t>
            </a:r>
          </a:p>
          <a:p>
            <a:r>
              <a:t xml:space="preserve">`production/ACT_2.pptx`의 S40 및 `production/preview/act2/S40.png`에 있는 실제 AGENTS.md 원문 발췌를 가리킨다. 편집기 screenshot이 아니다. Live/HYBRID는 발표 환경 검증 전까지 비활성이다.</a:t>
            </a:r>
          </a:p>
          <a:p>
            <a:r>
              <a:t xml:space="preserve"/>
            </a:r>
          </a:p>
          <a:p>
            <a:r>
              <a:t xml:space="preserve">Audience Interaction: Point out the recurring facts without asking the audience to inspect a repository.</a:t>
            </a:r>
          </a:p>
          <a:p>
            <a:r>
              <a:t xml:space="preserve"/>
            </a:r>
          </a:p>
          <a:p>
            <a:r>
              <a:t xml:space="preserve">Transition: “이 안내가 실제 Task에서 어떻게 사용됐는지 기록을 보겠습니다.”</a:t>
            </a:r>
          </a:p>
          <a:p>
            <a:r>
              <a:t xml:space="preserve"/>
            </a:r>
          </a:p>
          <a:p>
            <a:r>
              <a:t xml:space="preserve">Time Management:</a:t>
            </a:r>
          </a:p>
          <a:p>
            <a:r>
              <a:t xml:space="preserve">Demo 4분 유지. 1분 상태 전환, 2분 네 발췌, 1분 의미와 S41 handoff. 명령어 옵션별 설명은 생략한다.</a:t>
            </a:r>
          </a:p>
          <a:p>
            <a:r>
              <a:t xml:space="preserve"/>
            </a:r>
          </a:p>
          <a:p>
            <a:r>
              <a:t xml:space="preserve">Fallback:</a:t>
            </a:r>
          </a:p>
          <a:p>
            <a:r>
              <a:t xml:space="preserve">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S41 — AGENTS.md의 지침대로 검증했다</a:t>
            </a:r>
          </a:p>
          <a:p>
            <a:r>
              <a:t xml:space="preserve"/>
            </a:r>
          </a:p>
          <a:p>
            <a:r>
              <a:t xml:space="preserve">Slide ID:</a:t>
            </a:r>
          </a:p>
          <a:p>
            <a:r>
              <a:t xml:space="preserve">S41</a:t>
            </a:r>
          </a:p>
          <a:p>
            <a:r>
              <a:t xml:space="preserve"/>
            </a:r>
          </a:p>
          <a:p>
            <a:r>
              <a:t xml:space="preserve">Working Title: AGENTS.md의 지침대로 검증했다</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이번 기록에서는 Agent가 AGENTS.md의 테스트 지침을 실제 작업에 적용했다. 작업 Prompt에는 검증 근거 보고가 있었지만 테스트 실행 명령은 없었다.</a:t>
            </a:r>
          </a:p>
          <a:p>
            <a:r>
              <a:t xml:space="preserve"/>
            </a:r>
          </a:p>
          <a:p>
            <a:r>
              <a:t xml:space="preserve">Opening Question: “Prompt에 다시 적지 않은 테스트 명령을 Agent는 어디에서 확인했을까?”</a:t>
            </a:r>
          </a:p>
          <a:p>
            <a:r>
              <a:t xml:space="preserve"/>
            </a:r>
          </a:p>
          <a:p>
            <a:r>
              <a:t xml:space="preserve">Speaker Flow:</a:t>
            </a:r>
          </a:p>
          <a:p>
            <a:r>
              <a:t xml:space="preserve">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a:r>
              <a:t xml:space="preserve">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a:r>
              <a:t xml:space="preserve">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a:r>
              <a:t xml:space="preserve">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S42로 연결한다.</a:t>
            </a:r>
          </a:p>
          <a:p>
            <a:r>
              <a:t xml:space="preserve"/>
            </a:r>
          </a:p>
          <a:p>
            <a:r>
              <a:t xml:space="preserve">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a:r>
              <a:t xml:space="preserve"/>
            </a:r>
          </a:p>
          <a:p>
            <a:r>
              <a:t xml:space="preserve">보존된 상세 출처: TRIAL-003 · 실제 요청 발췌·번역 / 실행 기록 요약 · Codex CLI 0.154.0</a:t>
            </a:r>
          </a:p>
          <a:p>
            <a:r>
              <a:t xml:space="preserve"/>
            </a:r>
          </a:p>
          <a:p>
            <a:r>
              <a:t xml:space="preserve">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a:r>
              <a:t xml:space="preserve"/>
            </a:r>
          </a:p>
          <a:p>
            <a:r>
              <a:t xml:space="preserve">보존된 상세 범위: Skills도 실행 · README-only는 Prompt에도 명시 · AGENTS.md 단독 효과·강제 준수 보장은 미입증</a:t>
            </a:r>
          </a:p>
          <a:p>
            <a:r>
              <a:t xml:space="preserve"/>
            </a:r>
          </a:p>
          <a:p>
            <a:r>
              <a:t xml:space="preserve">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a:r>
              <a:t xml:space="preserve"/>
            </a:r>
          </a:p>
          <a:p>
            <a:r>
              <a:t xml:space="preserve">Advanced Insight: Observed use of the repository test instruction is supported. Enforcement, an isolated instruction-loading cause and attribution of README-only scope to AGENTS.md are not established by this run.</a:t>
            </a:r>
          </a:p>
          <a:p>
            <a:r>
              <a:t xml:space="preserve"/>
            </a:r>
          </a:p>
          <a:p>
            <a:r>
              <a:t xml:space="preserve">C++ Vision Bridge: N/A.</a:t>
            </a:r>
          </a:p>
          <a:p>
            <a:r>
              <a:t xml:space="preserve"/>
            </a:r>
          </a:p>
          <a:p>
            <a:r>
              <a:t xml:space="preserve">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a:r>
              <a:t xml:space="preserve"/>
            </a:r>
          </a:p>
          <a:p>
            <a:r>
              <a:t xml:space="preserve">Audience Interaction: Ask the opening question, pause briefly, then reveal the record. Do not require an answer.</a:t>
            </a:r>
          </a:p>
          <a:p>
            <a:r>
              <a:t xml:space="preserve"/>
            </a:r>
          </a:p>
          <a:p>
            <a:r>
              <a:t xml:space="preserve">Transition: “이번 Task의 Prompt와 Project가 계속 유지할 Context는 어떻게 다른가?”</a:t>
            </a:r>
          </a:p>
          <a:p>
            <a:r>
              <a:t xml:space="preserve"/>
            </a:r>
          </a:p>
          <a:p>
            <a:r>
              <a:t xml:space="preserve">Time Management:</a:t>
            </a:r>
          </a:p>
          <a:p>
            <a:r>
              <a:t xml:space="preserve">1분 실제 요청과 외부 주석,1분 프로젝트 작업 지침,1분 테스트 실행·11/11 결과,1분 해석 한계와 S42 연결. Demo4분·기존 Mode는 유지하며 실측 리허설은 UNVERIFIED다.</a:t>
            </a:r>
          </a:p>
          <a:p>
            <a:r>
              <a:t xml:space="preserve"/>
            </a:r>
          </a:p>
          <a:p>
            <a:r>
              <a:t xml:space="preserve">Fallback:</a:t>
            </a:r>
          </a:p>
          <a:p>
            <a:r>
              <a:t xml:space="preserve">production/ACT_2.pptx S41 또는 production/preview/act2/S41.png를 정적 기본 경로로 사용한다. 실제 Prompt 발췌·번역과 원문 밖 주석을 구분한다. 로컬 렌더·내장 Notes 대조는 production/evaluation/S34_GUIDANCE_REVISION.md를 따른다. 원본 Trial 캡처나 새 실행을 만들지 않는다.</a:t>
            </a:r>
          </a:p>
          <a:p>
            <a:r>
              <a:t xml:space="preserve"/>
            </a:r>
          </a:p>
          <a:p>
            <a:r>
              <a:t xml:space="preserve">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S42 — Task Prompt와 Project Context</a:t>
            </a:r>
          </a:p>
          <a:p>
            <a:r>
              <a:t xml:space="preserve"/>
            </a:r>
          </a:p>
          <a:p>
            <a:r>
              <a:t xml:space="preserve">Slide ID:</a:t>
            </a:r>
          </a:p>
          <a:p>
            <a:r>
              <a:t xml:space="preserve">S42</a:t>
            </a:r>
          </a:p>
          <a:p>
            <a:r>
              <a:t xml:space="preserve"/>
            </a:r>
          </a:p>
          <a:p>
            <a:r>
              <a:t xml:space="preserve">Working Title: Task Prompt와 Project Context</a:t>
            </a:r>
          </a:p>
          <a:p>
            <a:r>
              <a:t xml:space="preserve"/>
            </a:r>
          </a:p>
          <a:p>
            <a:r>
              <a:t xml:space="preserve">ACT / Section: ACT 2 / 2C</a:t>
            </a:r>
          </a:p>
          <a:p>
            <a:r>
              <a:t xml:space="preserve"/>
            </a:r>
          </a:p>
          <a:p>
            <a:r>
              <a:t xml:space="preserve">Allocated Time: 5 minutes</a:t>
            </a:r>
          </a:p>
          <a:p>
            <a:r>
              <a:t xml:space="preserve"/>
            </a:r>
          </a:p>
          <a:p>
            <a:r>
              <a:t xml:space="preserve">Mode Split: Lecture 5 minutes</a:t>
            </a:r>
          </a:p>
          <a:p>
            <a:r>
              <a:t xml:space="preserve"/>
            </a:r>
          </a:p>
          <a:p>
            <a:r>
              <a:t xml:space="preserve">Primary Message: 현재 Task의 목표와 지속되는 Project 사실·규칙은 수명과 적용 범위가 다르다.</a:t>
            </a:r>
          </a:p>
          <a:p>
            <a:r>
              <a:t xml:space="preserve"/>
            </a:r>
          </a:p>
          <a:p>
            <a:r>
              <a:t xml:space="preserve">Opening Question: “이 정보는 언제까지 유효한가?”</a:t>
            </a:r>
          </a:p>
          <a:p>
            <a:r>
              <a:t xml:space="preserve"/>
            </a:r>
          </a:p>
          <a:p>
            <a:r>
              <a:t xml:space="preserve">Speaker Flow: 1. (0–2분) 직전 기록의 현재 README 요청과 재참고한 테스트 명령을 나눈다.</a:t>
            </a:r>
          </a:p>
          <a:p>
            <a:r>
              <a:t xml:space="preserve">2. (2–4분) 이번 목표·수정 범위는 요청에, 공통 명령·규칙은 Project 안내에 남는 수명 차이를 짚는다.</a:t>
            </a:r>
          </a:p>
          <a:p>
            <a:r>
              <a:t xml:space="preserve">3. (4–5분) 검증 규칙도 Project 안내에 들어갈 수 있음을 말한다. 이후의 Workflow 문제는 수행 단계의 유지·판단 책임이며 파일 종류의 배타적 구분이 아니다.</a:t>
            </a:r>
          </a:p>
          <a:p>
            <a:r>
              <a:t xml:space="preserve"/>
            </a:r>
          </a:p>
          <a:p>
            <a:r>
              <a:t xml:space="preserve">Evidence / Source: BEAT-009–010, TRANS-003, CLM-0003, CLM-0005, DEC-0047. TEACHING_MODEL / CONCEPTUAL; examples summarize S40–S38. Generated visual provenance and prompts: assets/slide-illustrations/task-context/README.md. No new Trial or product capture.</a:t>
            </a:r>
          </a:p>
          <a:p>
            <a:r>
              <a:t xml:space="preserve"/>
            </a:r>
          </a:p>
          <a:p>
            <a:r>
              <a:t xml:space="preserve">보존된 상세 출처: 교육용 구분 · 창과 문서는 생성 도식이며 실제 제품 화면이 아님</a:t>
            </a:r>
          </a:p>
          <a:p>
            <a:r>
              <a:t xml:space="preserve"/>
            </a:r>
          </a:p>
          <a:p>
            <a:r>
              <a:t xml:space="preserve">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a:r>
              <a:t xml:space="preserve"/>
            </a:r>
          </a:p>
          <a:p>
            <a:r>
              <a:t xml:space="preserve">보존된 상세 범위: C++에서도 프로젝트 공통 제약과 이번 알고리즘 변경 조건은 범위가 다를 수 있다</a:t>
            </a:r>
          </a:p>
          <a:p>
            <a:r>
              <a:t xml:space="preserve"/>
            </a:r>
          </a:p>
          <a:p>
            <a:r>
              <a:t xml:space="preserve">Beginner Explanation: Put the current goal in the Task request and distinguish it from facts the Project keeps using.</a:t>
            </a:r>
          </a:p>
          <a:p>
            <a:r>
              <a:t xml:space="preserve"/>
            </a:r>
          </a:p>
          <a:p>
            <a:r>
              <a:t xml:space="preserve">Advanced Insight: Scope and lifetime are useful dimensions for deciding ownership and update responsibility.</a:t>
            </a:r>
          </a:p>
          <a:p>
            <a:r>
              <a:t xml:space="preserve"/>
            </a:r>
          </a:p>
          <a:p>
            <a:r>
              <a:t xml:space="preserve">C++ Vision Bridge: Briefly distinguish a general Project constraint from a Task-specific algorithm condition; do not list tools or hardware.</a:t>
            </a:r>
          </a:p>
          <a:p>
            <a:r>
              <a:t xml:space="preserve"/>
            </a:r>
          </a:p>
          <a:p>
            <a:r>
              <a:t xml:space="preserve">Demo Operation: N/A.</a:t>
            </a:r>
          </a:p>
          <a:p>
            <a:r>
              <a:t xml:space="preserve"/>
            </a:r>
          </a:p>
          <a:p>
            <a:r>
              <a:t xml:space="preserve">Audience Interaction: Give the audience a brief silent pause to classify the examples mentally. Do not turn it into a hands-on task.</a:t>
            </a:r>
          </a:p>
          <a:p>
            <a:r>
              <a:t xml:space="preserve"/>
            </a:r>
          </a:p>
          <a:p>
            <a:r>
              <a:t xml:space="preserve">Transition: “정확한 정보를 더 많이 넣으면 언제나 괜찮을까?”</a:t>
            </a:r>
          </a:p>
          <a:p>
            <a:r>
              <a:t xml:space="preserve"/>
            </a:r>
          </a:p>
          <a:p>
            <a:r>
              <a:t xml:space="preserve">Time Management: Keep the model to two layers and four examples. Leave research and detailed routing for later slides.</a:t>
            </a:r>
          </a:p>
          <a:p>
            <a:r>
              <a:t xml:space="preserve"/>
            </a:r>
          </a:p>
          <a:p>
            <a:r>
              <a:t xml:space="preserve">Fallback:</a:t>
            </a:r>
          </a:p>
          <a:p>
            <a:r>
              <a:t xml:space="preserve">LOCAL STATIC ARTIFACT — production/ACT_2.pptx의 S42 또는 production/preview/act2/S42.png를 사용한다. 최종 패키지·PNG·Notes 일치는 production/evaluation/S35_CONTEXT_PLACEMENT_REVISION.md와 검증 JSON으로 확인한다.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S43 — 정확한 정보도 계속 늘어난다</a:t>
            </a:r>
          </a:p>
          <a:p>
            <a:r>
              <a:t xml:space="preserve"/>
            </a:r>
          </a:p>
          <a:p>
            <a:r>
              <a:t xml:space="preserve">Slide ID:</a:t>
            </a:r>
          </a:p>
          <a:p>
            <a:r>
              <a:t xml:space="preserve">S43</a:t>
            </a:r>
          </a:p>
          <a:p>
            <a:r>
              <a:t xml:space="preserve"/>
            </a:r>
          </a:p>
          <a:p>
            <a:r>
              <a:t xml:space="preserve">Working Title: 정확한 정보도 계속 늘어난다</a:t>
            </a:r>
          </a:p>
          <a:p>
            <a:r>
              <a:t xml:space="preserve"/>
            </a:r>
          </a:p>
          <a:p>
            <a:r>
              <a:t xml:space="preserve">ACT / Section: ACT 2 / 2D</a:t>
            </a:r>
          </a:p>
          <a:p>
            <a:r>
              <a:t xml:space="preserve"/>
            </a:r>
          </a:p>
          <a:p>
            <a:r>
              <a:t xml:space="preserve">Allocated Time: 4 minutes</a:t>
            </a:r>
          </a:p>
          <a:p>
            <a:r>
              <a:t xml:space="preserve"/>
            </a:r>
          </a:p>
          <a:p>
            <a:r>
              <a:t xml:space="preserve">Mode Split: Case 4 minutes</a:t>
            </a:r>
          </a:p>
          <a:p>
            <a:r>
              <a:t xml:space="preserve"/>
            </a:r>
          </a:p>
          <a:p>
            <a:r>
              <a:t xml:space="preserve">Primary Message: Context가 늘어난 사실만으로 실패를 뜻하지 않는다. 다음 질문은 각 Task에서의 관련성이다.</a:t>
            </a:r>
          </a:p>
          <a:p>
            <a:r>
              <a:t xml:space="preserve"/>
            </a:r>
          </a:p>
          <a:p>
            <a:r>
              <a:t xml:space="preserve">Opening Question: “정확한 Project 정보라면 모든 Task에 늘 넣어도 될까?”</a:t>
            </a:r>
          </a:p>
          <a:p>
            <a:r>
              <a:t xml:space="preserve"/>
            </a:r>
          </a:p>
          <a:p>
            <a:r>
              <a:t xml:space="preserve">Speaker Flow:</a:t>
            </a:r>
          </a:p>
          <a:p>
            <a:r>
              <a:t xml:space="preserve">1. (0:00–1:00) 왼쪽 ‘프로젝트 초기’와 짧은 AGENTS.md를 가리킨다. 목적·실행·테스트·기본 제약처럼 처음의 공통 안내가 담겨 있었다. 저장소 State 번호나 줄 수를 외우게 하지 않는다.</a:t>
            </a:r>
          </a:p>
          <a:p>
            <a:r>
              <a:t xml:space="preserve">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a:r>
              <a:t xml:space="preserve">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a:r>
              <a:t xml:space="preserve">4. (3:00–4:00) ‘이번 작업에도 모두 필요할까?’를 질문한다. 정확한 정보가 추가됐지만 증가 자체가 Agent 오류를 일으켰다는 관찰은 아니다. S44의 작은 README 작업에서 관련성을 확인한다.</a:t>
            </a:r>
          </a:p>
          <a:p>
            <a:r>
              <a:t xml:space="preserve"/>
            </a:r>
          </a:p>
          <a:p>
            <a:r>
              <a:t xml:space="preserve">화면 진행: 초기 문서 → 프로젝트 진행 → 길어진 같은 문서 → 새 정보 네 유형 → 이번 Task의 관련성 질문. 문서 길이는 정보 축적의 생성 도식이며 실제 스크린샷이나 정확한 비율 비교가 아니다.</a:t>
            </a:r>
          </a:p>
          <a:p>
            <a:r>
              <a:t xml:space="preserve"/>
            </a:r>
          </a:p>
          <a:p>
            <a:r>
              <a:t xml:space="preserve">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a:r>
              <a:t xml:space="preserve"/>
            </a:r>
          </a:p>
          <a:p>
            <a:r>
              <a:t xml:space="preserve">보존된 상세 출처: 실제 AGENTS.md 전후 내용을 바탕으로 재구성 · 문서는 교육용 생성 도식</a:t>
            </a:r>
          </a:p>
          <a:p>
            <a:r>
              <a:t xml:space="preserve"/>
            </a:r>
          </a:p>
          <a:p>
            <a:r>
              <a:t xml:space="preserve">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a:r>
              <a:t xml:space="preserve"/>
            </a:r>
          </a:p>
          <a:p>
            <a:r>
              <a:t xml:space="preserve">보존된 상세 범위: 이야기 속 두 시점 비교 · 정보 증가가 실패를 일으켰다는 관찰은 아님</a:t>
            </a:r>
          </a:p>
          <a:p>
            <a:r>
              <a:t xml:space="preserve"/>
            </a:r>
          </a:p>
          <a:p>
            <a:r>
              <a:t xml:space="preserve">Beginner Explanation: More documented facts create a follow-up question: does each Task need all of them?</a:t>
            </a:r>
          </a:p>
          <a:p>
            <a:r>
              <a:t xml:space="preserve"/>
            </a:r>
          </a:p>
          <a:p>
            <a:r>
              <a:t xml:space="preserve">Advanced Insight: Maintenance cost and stale information are review considerations, not observed failures in this comparison.</a:t>
            </a:r>
          </a:p>
          <a:p>
            <a:r>
              <a:t xml:space="preserve"/>
            </a:r>
          </a:p>
          <a:p>
            <a:r>
              <a:t xml:space="preserve">C++ Vision Bridge: N/A.</a:t>
            </a:r>
          </a:p>
          <a:p>
            <a:r>
              <a:t xml:space="preserve"/>
            </a:r>
          </a:p>
          <a:p>
            <a:r>
              <a:t xml:space="preserve">Demo Operation: Use the static before/after document-content reconstruction. No live repository interaction, new Trial or elapsed-time experiment is planned.</a:t>
            </a:r>
          </a:p>
          <a:p>
            <a:r>
              <a:t xml:space="preserve"/>
            </a:r>
          </a:p>
          <a:p>
            <a:r>
              <a:t xml:space="preserve">Audience Interaction: Treat the slide as a case question. Allow a short pause without requiring a public answer.</a:t>
            </a:r>
          </a:p>
          <a:p>
            <a:r>
              <a:t xml:space="preserve"/>
            </a:r>
          </a:p>
          <a:p>
            <a:r>
              <a:t xml:space="preserve">Transition: Slide 37에서 작은 문서 Task가 실제로 어떤 정보를 필요로 했는지 본다.</a:t>
            </a:r>
          </a:p>
          <a:p>
            <a:r>
              <a:t xml:space="preserve"/>
            </a:r>
          </a:p>
          <a:p>
            <a:r>
              <a:t xml:space="preserve">Time Management: 초기 안내1분, 프로젝트 진행과 누적 모습1분, 새 정보 네 유형1분, 관련성 질문1분으로 Case4분을 유지한다. 숫자·용량 해설과 기간 추측을 하지 않고 문서 크기의 인과 효과를 만들지 않는다.</a:t>
            </a:r>
          </a:p>
          <a:p>
            <a:r>
              <a:t xml:space="preserve"/>
            </a:r>
          </a:p>
          <a:p>
            <a:r>
              <a:t xml:space="preserve">Fallback:</a:t>
            </a:r>
          </a:p>
          <a:p>
            <a:r>
              <a:t xml:space="preserve">LOCAL STATIC ARTIFACT — production/ACT_2.pptx의 S43 또는 production/preview/act2/S43.png를 사용한다. 최종 패키지·PNG·Notes 일치는 production/evaluation/S36_CONTEXT_GROWTH_REVISION.md와 검증 JSON을 따른다. 실제 문서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S44 — 정확하지만 이번 작업에는 불필요한 정보</a:t>
            </a:r>
          </a:p>
          <a:p>
            <a:r>
              <a:t xml:space="preserve"/>
            </a:r>
          </a:p>
          <a:p>
            <a:r>
              <a:t xml:space="preserve">Slide ID:</a:t>
            </a:r>
          </a:p>
          <a:p>
            <a:r>
              <a:t xml:space="preserve">S44</a:t>
            </a:r>
          </a:p>
          <a:p>
            <a:r>
              <a:t xml:space="preserve"/>
            </a:r>
          </a:p>
          <a:p>
            <a:r>
              <a:t xml:space="preserve">Working Title: 정확하지만 이번 작업에는 불필요한 정보</a:t>
            </a:r>
          </a:p>
          <a:p>
            <a:r>
              <a:t xml:space="preserve"/>
            </a:r>
          </a:p>
          <a:p>
            <a:r>
              <a:t xml:space="preserve">ACT / Section: ACT 2 / 2D</a:t>
            </a:r>
          </a:p>
          <a:p>
            <a:r>
              <a:t xml:space="preserve"/>
            </a:r>
          </a:p>
          <a:p>
            <a:r>
              <a:t xml:space="preserve">Allocated Time: 4 minutes</a:t>
            </a:r>
          </a:p>
          <a:p>
            <a:r>
              <a:t xml:space="preserve"/>
            </a:r>
          </a:p>
          <a:p>
            <a:r>
              <a:t xml:space="preserve">Mode Split: Demo 2 minutes (CAPTURED) + Reflection 2 minutes</a:t>
            </a:r>
          </a:p>
          <a:p>
            <a:r>
              <a:t xml:space="preserve"/>
            </a:r>
          </a:p>
          <a:p>
            <a:r>
              <a:t xml:space="preserve">Primary Message: TRIAL-004에서는 필요한 정보와 무관한 정보가 함께 있었지만, Agent 혼란이나 Context 관련 실패는 관찰되지 않았다.</a:t>
            </a:r>
          </a:p>
          <a:p>
            <a:r>
              <a:t xml:space="preserve"/>
            </a:r>
          </a:p>
          <a:p>
            <a:r>
              <a:t xml:space="preserve">Opening Question: “README build 안내를 고치는 데 어떤 정보가 필요했을까?”</a:t>
            </a:r>
          </a:p>
          <a:p>
            <a:r>
              <a:t xml:space="preserve"/>
            </a:r>
          </a:p>
          <a:p>
            <a:r>
              <a:t xml:space="preserve">Speaker Flow:</a:t>
            </a:r>
          </a:p>
          <a:p>
            <a:r>
              <a:t xml:space="preserve">1. (0:00–1:00 / Demo) S43의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a:r>
              <a:t xml:space="preserve">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a:r>
              <a:t xml:space="preserve">3. (2:00–4:00 / Reflection) 하단 메시지를 짚고 마지막2분을 개인 생각 시간으로 남긴다. 질문이 달라지면 어떤 Context가 필요해지는지 떠올리게 하되 답변·기록·실습을 요구하지 않는다. S45에서 정보의 범위·제공 시점을 정리한다.</a:t>
            </a:r>
          </a:p>
          <a:p>
            <a:r>
              <a:t xml:space="preserve"/>
            </a:r>
          </a:p>
          <a:p>
            <a:r>
              <a:t xml:space="preserve">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a:r>
              <a:t xml:space="preserve"/>
            </a:r>
          </a:p>
          <a:p>
            <a:r>
              <a:t xml:space="preserve">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a:r>
              <a:t xml:space="preserve"/>
            </a:r>
          </a:p>
          <a:p>
            <a:r>
              <a:t xml:space="preserve">보존된 상세 출처: TRIAL-004 · Codex CLI 0.154.0 · 실제 요청 / AGENTS.md 지침 발췌·번역</a:t>
            </a:r>
          </a:p>
          <a:p>
            <a:r>
              <a:t xml:space="preserve"/>
            </a:r>
          </a:p>
          <a:p>
            <a:r>
              <a:t xml:space="preserve">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a:r>
              <a:t xml:space="preserve"/>
            </a:r>
          </a:p>
          <a:p>
            <a:r>
              <a:t xml:space="preserve">보존된 상세 범위: AGENTS.md도 읽음 · 혼란·Context 관련 실패는 관찰되지 않음 · 성능 효과 미측정</a:t>
            </a:r>
          </a:p>
          <a:p>
            <a:r>
              <a:t xml:space="preserve"/>
            </a:r>
          </a:p>
          <a:p>
            <a:r>
              <a:t xml:space="preserve">Beginner Explanation: Correct information can still be unrelated to the current Task.</a:t>
            </a:r>
          </a:p>
          <a:p>
            <a:r>
              <a:t xml:space="preserve"/>
            </a:r>
          </a:p>
          <a:p>
            <a:r>
              <a:t xml:space="preserve">Advanced Insight: Distinguish context relevance from outcome quality; this Trial does not measure a performance effect.</a:t>
            </a:r>
          </a:p>
          <a:p>
            <a:r>
              <a:t xml:space="preserve"/>
            </a:r>
          </a:p>
          <a:p>
            <a:r>
              <a:t xml:space="preserve">C++ Vision Bridge: N/A.</a:t>
            </a:r>
          </a:p>
          <a:p>
            <a:r>
              <a:t xml:space="preserve"/>
            </a:r>
          </a:p>
          <a:p>
            <a:r>
              <a:t xml:space="preserve">Demo Operation: Use the static native reconstruction of the recorded request and relevance comparison for two minutes. No raw execution screenshot or current live product is shown. Preserve the two-minute Reflection; do not run a new Trial or simulate a failure.</a:t>
            </a:r>
          </a:p>
          <a:p>
            <a:r>
              <a:t xml:space="preserve"/>
            </a:r>
          </a:p>
          <a:p>
            <a:r>
              <a:t xml:space="preserve">Audience Interaction: Use the last two minutes for private reflection: which context was relevant to this Task? No response or written exercise is required.</a:t>
            </a:r>
          </a:p>
          <a:p>
            <a:r>
              <a:t xml:space="preserve"/>
            </a:r>
          </a:p>
          <a:p>
            <a:r>
              <a:t xml:space="preserve">Transition: “필요한 정보를 항상 한 번에 넣지 않는 방법은 무엇일까?”</a:t>
            </a:r>
          </a:p>
          <a:p>
            <a:r>
              <a:t xml:space="preserve"/>
            </a:r>
          </a:p>
          <a:p>
            <a:r>
              <a:t xml:space="preserve">Time Management: Protect the two-minute Reflection. Explicitly state the absence of observed confusion before moving on.</a:t>
            </a:r>
          </a:p>
          <a:p>
            <a:r>
              <a:t xml:space="preserve"/>
            </a:r>
          </a:p>
          <a:p>
            <a:r>
              <a:t xml:space="preserve">Fallback:</a:t>
            </a:r>
          </a:p>
          <a:p>
            <a:r>
              <a:t xml:space="preserve">LOCAL STATIC ARTIFACT — production/ACT_2.pptx의 S44 또는 production/preview/act2/S44.png를 사용한다. 최종 패키지·PNG·Notes 일치는 production/evaluation/S37_AGENTS_CONTEXT_REVISION.md와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S45 — 정보의 범위와 제공 시점</a:t>
            </a:r>
          </a:p>
          <a:p>
            <a:r>
              <a:t xml:space="preserve"/>
            </a:r>
          </a:p>
          <a:p>
            <a:r>
              <a:t xml:space="preserve">Slide ID:</a:t>
            </a:r>
          </a:p>
          <a:p>
            <a:r>
              <a:t xml:space="preserve">S45</a:t>
            </a:r>
          </a:p>
          <a:p>
            <a:r>
              <a:t xml:space="preserve"/>
            </a:r>
          </a:p>
          <a:p>
            <a:r>
              <a:t xml:space="preserve">Working Title: 정보의 범위와 제공 시점</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공통 안내와 작업별 상세는 범위·제공 시점을 나눌 수 있다. 반복되는 수행 절차의 유지 방법은 다음 ACT에서 검토할 질문으로 남긴다.</a:t>
            </a:r>
          </a:p>
          <a:p>
            <a:r>
              <a:t xml:space="preserve"/>
            </a:r>
          </a:p>
          <a:p>
            <a:r>
              <a:t xml:space="preserve">Opening Question: “무엇은 항상 필요하고, 무엇은 Task에 따라 찾아야 할까?”</a:t>
            </a:r>
          </a:p>
          <a:p>
            <a:r>
              <a:t xml:space="preserve"/>
            </a:r>
          </a:p>
          <a:p>
            <a:r>
              <a:t xml:space="preserve">Speaker Flow: 1. (0–1분) 앞 장 AGENTS.md에서 모든 상세가 이번 작업에 필요하지 않았음을 회수한다.</a:t>
            </a:r>
          </a:p>
          <a:p>
            <a:r>
              <a:t xml:space="preserve">2. (1–3분) 공통 안내와 질문별 상세를 필요한 범위·시점으로 나눈다.</a:t>
            </a:r>
          </a:p>
          <a:p>
            <a:r>
              <a:t xml:space="preserve">3. (3–4분) 오른쪽 절차는 아직 남은 질문임을 짚고 해결책을 소개하지 않는다. 다음은 “정보를 넣음”과 “근거를 활용함”의 차이에 관한 연구 질문이다.</a:t>
            </a:r>
          </a:p>
          <a:p>
            <a:r>
              <a:t xml:space="preserve"/>
            </a:r>
          </a:p>
          <a:p>
            <a:r>
              <a:t xml:space="preserve">Evidence / Source: BEAT-012, BEAT-014, STATE-02, CLM-0014, CLM-0015, CLM-0003, CLM-0005, DEC-0051. TEACHING_MODEL / CONCEPTUAL. S45/TRIAL-004의 관련성 관찰을 회수한 설계 모델이다. 도식의 작업별 상세 연결과 성능 절차는 설명용 구성이고 새 Product 관찰·Trial이 아니다.</a:t>
            </a:r>
          </a:p>
          <a:p>
            <a:r>
              <a:t xml:space="preserve"/>
            </a:r>
          </a:p>
          <a:p>
            <a:r>
              <a:t xml:space="preserve">보존된 상세 출처: 교육용 구분 · 정보의 범위와 수행 방법은 서로 다른 축</a:t>
            </a:r>
          </a:p>
          <a:p>
            <a:r>
              <a:t xml:space="preserve"/>
            </a:r>
          </a:p>
          <a:p>
            <a:r>
              <a:t xml:space="preserve">Claim Boundary:</a:t>
            </a:r>
          </a:p>
          <a:p>
            <a:r>
              <a:t xml:space="preserve">FROZEN — 93장 구조·Story·시간·Demo 범위; TEACHING_MODEL; CONCEPTUAL. OpenAI의 공식 분류 체계로 표현하지 않는다. S44의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a:r>
              <a:t xml:space="preserve"/>
            </a:r>
          </a:p>
          <a:p>
            <a:r>
              <a:t xml:space="preserve">보존된 상세 범위: 공식 제품 분류가 아님 · 오른쪽은 다음 ACT의 미해결 질문</a:t>
            </a:r>
          </a:p>
          <a:p>
            <a:r>
              <a:t xml:space="preserve"/>
            </a:r>
          </a:p>
          <a:p>
            <a:r>
              <a:t xml:space="preserve">Beginner Explanation: Some facts apply broadly; details matter for a smaller set of Tasks; a work procedure says how to approach a class of work.</a:t>
            </a:r>
          </a:p>
          <a:p>
            <a:r>
              <a:t xml:space="preserve"/>
            </a:r>
          </a:p>
          <a:p>
            <a:r>
              <a:t xml:space="preserve">Advanced Insight: Keep durable facts, selectively needed details, and workflow responsibility conceptually distinct even when they can all appear outside a Task Prompt.</a:t>
            </a:r>
          </a:p>
          <a:p>
            <a:r>
              <a:t xml:space="preserve"/>
            </a:r>
          </a:p>
          <a:p>
            <a:r>
              <a:t xml:space="preserve">C++ Vision Bridge: N/A.</a:t>
            </a:r>
          </a:p>
          <a:p>
            <a:r>
              <a:t xml:space="preserve"/>
            </a:r>
          </a:p>
          <a:p>
            <a:r>
              <a:t xml:space="preserve">Demo Operation: N/A.</a:t>
            </a:r>
          </a:p>
          <a:p>
            <a:r>
              <a:t xml:space="preserve"/>
            </a:r>
          </a:p>
          <a:p>
            <a:r>
              <a:t xml:space="preserve">Audience Interaction: Ask the audience to notice that information has different scopes; no category-writing exercise is required.</a:t>
            </a:r>
          </a:p>
          <a:p>
            <a:r>
              <a:t xml:space="preserve"/>
            </a:r>
          </a:p>
          <a:p>
            <a:r>
              <a:t xml:space="preserve">Transition: “정보를 제공했다는 사실과 필요한 근거를 활용했다는 사실을 구분해야 할까요? 두 연구가 실제로 확인한 질문을 각각 보겠습니다.”</a:t>
            </a:r>
          </a:p>
          <a:p>
            <a:r>
              <a:t xml:space="preserve"/>
            </a:r>
          </a:p>
          <a:p>
            <a:r>
              <a:t xml:space="preserve">Time Management:</a:t>
            </a:r>
          </a:p>
          <a:p>
            <a:r>
              <a:t xml:space="preserve">S44 회수30초, 공통 안내1분, 요청별 상세1분, 재사용 절차1분, 경계·S46 연결30초로 Lecture4분을 유지한다. 제품 기능이나 Skill 호출 설명으로 확장하지 않는다.</a:t>
            </a:r>
          </a:p>
          <a:p>
            <a:r>
              <a:t xml:space="preserve"/>
            </a:r>
          </a:p>
          <a:p>
            <a:r>
              <a:t xml:space="preserve">Fallback:</a:t>
            </a:r>
          </a:p>
          <a:p>
            <a:r>
              <a:t xml:space="preserve">LOCAL STATIC ARTIFACT — production/ACT_2.pptx의 S45 또는 production/preview/act2/S45.png를 사용한다. 최종 패키지·PNG·Notes 일치는 production/evaluation/S38_CONTEXT_MODEL_REVISION.md와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S46 — 많이 담아도 같은 근거를 똑같이 쓰는가?</a:t>
            </a:r>
          </a:p>
          <a:p>
            <a:r>
              <a:t xml:space="preserve"/>
            </a:r>
          </a:p>
          <a:p>
            <a:r>
              <a:t xml:space="preserve">Slide ID:</a:t>
            </a:r>
          </a:p>
          <a:p>
            <a:r>
              <a:t xml:space="preserve">S46</a:t>
            </a:r>
          </a:p>
          <a:p>
            <a:r>
              <a:t xml:space="preserve"/>
            </a:r>
          </a:p>
          <a:p>
            <a:r>
              <a:t xml:space="preserve">Working Title: 많이 담아도 같은 근거를 똑같이 쓰는가?</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Lost in the Middle은 문서 QA와 key-value 검색에서 근거 위치를 바꿨을 때 일부 당시 모델·과제의 성능이 달라지는 현상을 관찰했다.</a:t>
            </a:r>
          </a:p>
          <a:p>
            <a:r>
              <a:t xml:space="preserve"/>
            </a:r>
          </a:p>
          <a:p>
            <a:r>
              <a:t xml:space="preserve">Opening Question: “같은 근거가 입력의 어디에 있느냐에 따라 결과가 달랐을까?”</a:t>
            </a:r>
          </a:p>
          <a:p>
            <a:r>
              <a:t xml:space="preserve"/>
            </a:r>
          </a:p>
          <a:p>
            <a:r>
              <a:t xml:space="preserve">Speaker Flow:</a:t>
            </a:r>
          </a:p>
          <a:p>
            <a:r>
              <a:t xml:space="preserve">1. (0:00–1:00) 문서 QA와 합성 key-value 검색 과제에서 같은 근거의 위치를 바꾸는 질문을 설명한다.</a:t>
            </a:r>
          </a:p>
          <a:p>
            <a:r>
              <a:t xml:space="preserve">2. (1:00–3:00) 앞/중간/뒤 도식을 가리키고 당시 일부 모델·과제에서 중간 근거 정답률이 낮아진 관찰을 말한다. 수치 없는 구조 그림을 실제 성능 곡선으로 말하지 않는다.</a:t>
            </a:r>
          </a:p>
          <a:p>
            <a:r>
              <a:t xml:space="preserve">3. (3:00–4:00) 현재 Codex의 일반 실패나 Routing 효과로 확대하지 않는다. 마지막에 필요한 코드에 도달했다는 답을 어떤 근거로 확인할지 S47으로 넘긴다.</a:t>
            </a:r>
          </a:p>
          <a:p>
            <a:r>
              <a:t xml:space="preserve"/>
            </a:r>
          </a:p>
          <a:p>
            <a:r>
              <a:t xml:space="preserve">Evidence / Source: Lost in the Middle, Liu et al., TACL2024,12:157–173; https://aclanthology.org/2024.tacl-1.9/; CLM-0014/SRC-0201; DEC-0052/0060. Reconstructed task-position diagram, no numeric score curve.</a:t>
            </a:r>
          </a:p>
          <a:p>
            <a:r>
              <a:t xml:space="preserve"/>
            </a:r>
          </a:p>
          <a:p>
            <a:r>
              <a:t xml:space="preserve">보존된 상세 출처: Liu et al., TACL 2024 · aclanthology.org/2024.tacl-1.9/ · CLM-0014</a:t>
            </a:r>
          </a:p>
          <a:p>
            <a:r>
              <a:t xml:space="preserve"/>
            </a:r>
          </a:p>
          <a:p>
            <a:r>
              <a:t xml:space="preserve">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a:r>
              <a:t xml:space="preserve"/>
            </a:r>
          </a:p>
          <a:p>
            <a:r>
              <a:t xml:space="preserve">보존된 상세 범위: 연구 과제 재구성 · 현재 Codex의 실패율·보편 한계·Routing 효과를 입증하지 않음</a:t>
            </a:r>
          </a:p>
          <a:p>
            <a:r>
              <a:t xml:space="preserve"/>
            </a:r>
          </a:p>
          <a:p>
            <a:r>
              <a:t xml:space="preserve">Beginner Explanation: 정보가 입력에 있다는 사실만으로 답에 같은 수준으로 활용됐다고 가정하지 않는다. 다음 장에서는 코드 탐색 결과를 확인할 때 어떤 근거를 요구할지 생각한다.</a:t>
            </a:r>
          </a:p>
          <a:p>
            <a:r>
              <a:t xml:space="preserve"/>
            </a:r>
          </a:p>
          <a:p>
            <a:r>
              <a:t xml:space="preserve">Advanced Insight: 당시 연구의 과제·모델별 결과와 이번 업무의 교육용 확인 기준을 분리한다. 현재 제품의 내부 활용이나 효과를 이 연구로 확정하지 않는다.</a:t>
            </a:r>
          </a:p>
          <a:p>
            <a:r>
              <a:t xml:space="preserve"/>
            </a:r>
          </a:p>
          <a:p>
            <a:r>
              <a:t xml:space="preserve">C++ Vision Bridge: N/A.</a:t>
            </a:r>
          </a:p>
          <a:p>
            <a:r>
              <a:t xml:space="preserve"/>
            </a:r>
          </a:p>
          <a:p>
            <a:r>
              <a:t xml:space="preserve">Demo Operation: N/A. 논문 과제의 native 재구성 도식이며 실제 Trial/현재 Codex Screenshot이나 결정론적 실패 Demo가 아니다.</a:t>
            </a:r>
          </a:p>
          <a:p>
            <a:r>
              <a:t xml:space="preserve"/>
            </a:r>
          </a:p>
          <a:p>
            <a:r>
              <a:t xml:space="preserve">Audience Interaction: 같은 근거의 위치만 바꾼 세 입력을 차례로 가리킨다. 다음 장의 코드 확인 질문은 예고만 하고 연구 둘을 병렬로 다시 설명하지 않는다.</a:t>
            </a:r>
          </a:p>
          <a:p>
            <a:r>
              <a:t xml:space="preserve"/>
            </a:r>
          </a:p>
          <a:p>
            <a:r>
              <a:t xml:space="preserve">Transition: “코드에서도 필요한 구현을 찾았다는 답을 무엇으로 확인할까요?”</a:t>
            </a:r>
          </a:p>
          <a:p>
            <a:r>
              <a:t xml:space="preserve"/>
            </a:r>
          </a:p>
          <a:p>
            <a:r>
              <a:t xml:space="preserve">Time Management: 도입/과제1분, 위치 비교/관찰2분, 적용 한계/다음 질문1분으로 Lecture4분. RepoQA 설명 시간을 이 장에 다시 넣지 않는다.</a:t>
            </a:r>
          </a:p>
          <a:p>
            <a:r>
              <a:t xml:space="preserve"/>
            </a:r>
          </a:p>
          <a:p>
            <a:r>
              <a:t xml:space="preserve">Fallback:</a:t>
            </a:r>
          </a:p>
          <a:p>
            <a:r>
              <a:t xml:space="preserve">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S47 — AI가 필요한 코드를 찾았다는 것을 무엇으로 확인할까?</a:t>
            </a:r>
          </a:p>
          <a:p>
            <a:r>
              <a:t xml:space="preserve"/>
            </a:r>
          </a:p>
          <a:p>
            <a:r>
              <a:t xml:space="preserve">Slide ID:</a:t>
            </a:r>
          </a:p>
          <a:p>
            <a:r>
              <a:t xml:space="preserve">S47</a:t>
            </a:r>
          </a:p>
          <a:p>
            <a:r>
              <a:t xml:space="preserve"/>
            </a:r>
          </a:p>
          <a:p>
            <a:r>
              <a:t xml:space="preserve">Working Title: AI가 필요한 코드를 찾았다는 것을 무엇으로 확인할까?</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함수 이름이나 찾았다는 답만 받지 말고 파일·함수·관련 줄, 요청 조건과 코드의 대응, 필요한 호출부·테스트 기대값을 확인한다. 세 질문은 이 교육의 업무용 확인 기준이다.</a:t>
            </a:r>
          </a:p>
          <a:p>
            <a:r>
              <a:t xml:space="preserve"/>
            </a:r>
          </a:p>
          <a:p>
            <a:r>
              <a:t xml:space="preserve">Opening Question: “AI가 필요한 코드를 찾았다는 것을 무엇으로 확인할까?”</a:t>
            </a:r>
          </a:p>
          <a:p>
            <a:r>
              <a:t xml:space="preserve"/>
            </a:r>
          </a:p>
          <a:p>
            <a:r>
              <a:t xml:space="preserve">Speaker Flow:</a:t>
            </a:r>
          </a:p>
          <a:p>
            <a:r>
              <a:t xml:space="preserve">1. (0:00–0:40) S46의 “정보가 있다는 것과 활용했다는 것은 다르다”를 받아, 코드에서도 찾았다는 답을 무엇으로 확인할지 묻는다. 왼쪽 요청은 교육용이며 새 탐색 실행이 아니다.</a:t>
            </a:r>
          </a:p>
          <a:p>
            <a:r>
              <a:t xml:space="preserve">2. (0:40–1:20) 01 위치: 파일 경로·함수·관련 줄을 특정한다. 이름만 같은 함수나 파일 경로만 제시한 답으로는 요청과의 관련성을 확인하기 어렵다.</a:t>
            </a:r>
          </a:p>
          <a:p>
            <a:r>
              <a:t xml:space="preserve">3. (1:20–2:20) 02 동작: 보존된 row[x_start : x_end]를 끝 좌표 제외 명세와 대조한다. 새 코드 실행이나 전체 구현 검증을 했다고 말하지 않는다.</a:t>
            </a:r>
          </a:p>
          <a:p>
            <a:r>
              <a:t xml:space="preserve">4. (2:20–3:20) 03 주변 근거: 필요한 호출부와 테스트 기대값을 연결해 확인하도록 요청한다. 한 코드 줄만으로 전체 구현의 정당성을 확정하지 않는다. 새로운 호출부·테스트 결과는 만들지 않는다.</a:t>
            </a:r>
          </a:p>
          <a:p>
            <a:r>
              <a:t xml:space="preserve">5. (3:20–4:00) 아래의 “확인할 근거를 정했다면, 어디서 찾게 할까?”를 가리킨다. S48의 요청→기본 안내→상세 명세 경로로 넘긴다. RepoQA는 선택 참고이며 정규 발표 흐름에서 소개하지 않는다.</a:t>
            </a:r>
          </a:p>
          <a:p>
            <a:r>
              <a:t xml:space="preserve"/>
            </a:r>
          </a:p>
          <a:p>
            <a:r>
              <a:t xml:space="preserve">Evidence / Source: 화면은 TEACHING_MODEL. 관련 연구는 Notes/참고 자료에만 보존한다.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선택 참고 연구: RepoQA(2024), https://arxiv.org/abs/2406.06025 / CLM-0015 / SRC-0204. DEC-0061/DEC-0105. 참고 해설: references/research/repoqa.md. 정규 발표에서는 연구 소개를 생략하며 이 자료를 세 업무용 질문의 직접 검증 근거로 사용하지 않는다.</a:t>
            </a:r>
          </a:p>
          <a:p>
            <a:r>
              <a:t xml:space="preserve"/>
            </a:r>
          </a:p>
          <a:p>
            <a:r>
              <a:t xml:space="preserve">보존된 상세 출처: 교육용 확인 예 · STATE-00-FIXED crop 발췌 / RepoQA(2024): arxiv.org/abs/2406.06025</a:t>
            </a:r>
          </a:p>
          <a:p>
            <a:r>
              <a:t xml:space="preserve"/>
            </a:r>
          </a:p>
          <a:p>
            <a:r>
              <a:t xml:space="preserve">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a:r>
              <a:t xml:space="preserve"/>
            </a:r>
          </a:p>
          <a:p>
            <a:r>
              <a:t xml:space="preserve">보존된 상세 범위: 세 질문은 교육용 기준 · RepoQA가 이 Routing·현재 Codex의 업무 성능을 검증한 것은 아님</a:t>
            </a:r>
          </a:p>
          <a:p>
            <a:r>
              <a:t xml:space="preserve"/>
            </a:r>
          </a:p>
          <a:p>
            <a:r>
              <a:t xml:space="preserve">Beginner Explanation: 찾았다는 답을 받으면 파일 위치와 관련 코드를 확인하고, 내가 물은 조건에 맞는지 대조한다. 필요한 경우 호출부와 관련 테스트의 기대값도 확인한다.</a:t>
            </a:r>
          </a:p>
          <a:p>
            <a:r>
              <a:t xml:space="preserve"/>
            </a:r>
          </a:p>
          <a:p>
            <a:r>
              <a:t xml:space="preserve">Advanced Insight: 선택 참고(정규 발표 제외).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a:r>
              <a:t xml:space="preserve"/>
            </a:r>
          </a:p>
          <a:p>
            <a:r>
              <a:t xml:space="preserve">C++ Vision Bridge: N/A.</a:t>
            </a:r>
          </a:p>
          <a:p>
            <a:r>
              <a:t xml:space="preserve"/>
            </a:r>
          </a:p>
          <a:p>
            <a:r>
              <a:t xml:space="preserve">Demo Operation: N/A — 정적 교육용 확인 예. 보존된 코드 한 줄을 인용하며 새 Trial, 검색, 설치, 테스트 실행, PASS/FAIL, 실제 Agent 응답 캡처를 만들지 않는다.</a:t>
            </a:r>
          </a:p>
          <a:p>
            <a:r>
              <a:t xml:space="preserve"/>
            </a:r>
          </a:p>
          <a:p>
            <a:r>
              <a:t xml:space="preserve">Audience Interaction: “crop 함수입니다라는 이름만 받으면 충분할까요?”를 짧게 던진 뒤 오른쪽 세 질문을 순서대로 가리킨다. 추가 실습·Q&amp;A·소요 시간을 만들지 않는다.</a:t>
            </a:r>
          </a:p>
          <a:p>
            <a:r>
              <a:t xml:space="preserve"/>
            </a:r>
          </a:p>
          <a:p>
            <a:r>
              <a:t xml:space="preserve">Transition: “확인할 근거를 정했다면, 그 명세와 코드를 어디서 찾게 할까요?”</a:t>
            </a:r>
          </a:p>
          <a:p>
            <a:r>
              <a:t xml:space="preserve"/>
            </a:r>
          </a:p>
          <a:p>
            <a:r>
              <a:t xml:space="preserve">Time Management:</a:t>
            </a:r>
          </a:p>
          <a:p>
            <a:r>
              <a:t xml:space="preserve">Lecture4분 유지. S46 연결40초, 위치 확인40초, 명세·코드 대응60초, 주변 근거60초, S48 연결40초. 논문 소개 시간을 추가하지 않는다. 청중 질문이 있을 때만 선택 참고 자료를 안내하며 별도 강의나 새 실험으로 확장하지 않는다. 실제 리허설 UNVERIFIED.</a:t>
            </a:r>
          </a:p>
          <a:p>
            <a:r>
              <a:t xml:space="preserve"/>
            </a:r>
          </a:p>
          <a:p>
            <a:r>
              <a:t xml:space="preserve">Fallback:</a:t>
            </a:r>
          </a:p>
          <a:p>
            <a:r>
              <a:t xml:space="preserve">LOCAL STATIC ARTIFACT — production/ACT_2.pptx / S47; production/preview/act2/S47.png. 화면은 코드 발췌와 교육용 확인 질문이며 실제 Agent 탐색 실행 캡처가 아니다. 현재 PNG/Notes 대조는 production/evaluation/S47_CODE_CHECK_REVISION.md를 따른다. RepoQA는 Notes와 references/research/repoqa.md의 선택 참고다.</a:t>
            </a:r>
          </a:p>
          <a:p>
            <a:r>
              <a:t xml:space="preserve"/>
            </a:r>
          </a:p>
          <a:p>
            <a:r>
              <a:t xml:space="preserve">Validation Status:</a:t>
            </a:r>
          </a:p>
          <a:p>
            <a:r>
              <a:t xml:space="preserve">DEC-0105 — S46→S47→S48 연결, 화면의 세 확인 질문, 코드 출처와 Notes의 관련 연구 경계를 대조한다. 최종 렌더링/패키지 결과는 production/evaluation/S47_CODE_CHECK_REVISION.md에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S48 — 필요한 상세 정보로 가는 길</a:t>
            </a:r>
          </a:p>
          <a:p>
            <a:r>
              <a:t xml:space="preserve"/>
            </a:r>
          </a:p>
          <a:p>
            <a:r>
              <a:t xml:space="preserve">Slide ID:</a:t>
            </a:r>
          </a:p>
          <a:p>
            <a:r>
              <a:t xml:space="preserve">S48</a:t>
            </a:r>
          </a:p>
          <a:p>
            <a:r>
              <a:t xml:space="preserve"/>
            </a:r>
          </a:p>
          <a:p>
            <a:r>
              <a:t xml:space="preserve">Working Title: 필요한 상세 정보로 가는 길</a:t>
            </a:r>
          </a:p>
          <a:p>
            <a:r>
              <a:t xml:space="preserve"/>
            </a:r>
          </a:p>
          <a:p>
            <a:r>
              <a:t xml:space="preserve">ACT / Section: ACT 2 / 2F</a:t>
            </a:r>
          </a:p>
          <a:p>
            <a:r>
              <a:t xml:space="preserve"/>
            </a:r>
          </a:p>
          <a:p>
            <a:r>
              <a:t xml:space="preserve">Allocated Time: 3 minutes</a:t>
            </a:r>
          </a:p>
          <a:p>
            <a:r>
              <a:t xml:space="preserve"/>
            </a:r>
          </a:p>
          <a:p>
            <a:r>
              <a:t xml:space="preserve">Mode Split: Lecture 3 minutes</a:t>
            </a:r>
          </a:p>
          <a:p>
            <a:r>
              <a:t xml:space="preserve"/>
            </a:r>
          </a:p>
          <a:p>
            <a:r>
              <a:t xml:space="preserve">Primary Message: 작업 질문에서 관련 상세 명세까지 도달할 위치를 기본 안내에서 찾게 설계한다.</a:t>
            </a:r>
          </a:p>
          <a:p>
            <a:r>
              <a:t xml:space="preserve"/>
            </a:r>
          </a:p>
          <a:p>
            <a:r>
              <a:t xml:space="preserve">Opening Question: “이 요청은 어떤 문서를 근거로 답해야 할까?”</a:t>
            </a:r>
          </a:p>
          <a:p>
            <a:r>
              <a:t xml:space="preserve"/>
            </a:r>
          </a:p>
          <a:p>
            <a:r>
              <a:t xml:space="preserve">Speaker Flow: 1. (0:00–0:30) “앞 장에서 위치·동작·주변 근거를 확인할 질문을 정했습니다. 이제 그 근거를 어디서 찾게 할까요?”로 시작한다.</a:t>
            </a:r>
          </a:p>
          <a:p>
            <a:r>
              <a:t xml:space="preserve">2. (0:30–2:10) 요청→AGENTS.md 위치 안내→관련 상세 명세의 관계만 가리킨다. 이 그림은 설계 경로이며 실제 읽기 순서가 아니다.</a:t>
            </a:r>
          </a:p>
          <a:p>
            <a:r>
              <a:t xml:space="preserve">3. (2:10–3:00) C++ 알고리즘 명세에도 같은 위치 안내 패턴을 짧게 연결하고 다음 장의 기본 안내/상세 배치 기준으로 넘긴다.</a:t>
            </a:r>
          </a:p>
          <a:p>
            <a:r>
              <a:t xml:space="preserve"/>
            </a:r>
          </a:p>
          <a:p>
            <a:r>
              <a:t xml:space="preserve">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a:r>
              <a:t xml:space="preserve"/>
            </a:r>
          </a:p>
          <a:p>
            <a:r>
              <a:t xml:space="preserve">보존된 상세 출처: 교육용 탐색 경로 · 저장된 명세 기반 재구성 · 실제 읽기 순서가 아님</a:t>
            </a:r>
          </a:p>
          <a:p>
            <a:r>
              <a:t xml:space="preserve"/>
            </a:r>
          </a:p>
          <a:p>
            <a:r>
              <a:t xml:space="preserve">**Claim Boundary:**</a:t>
            </a:r>
          </a:p>
          <a:p>
            <a:r>
              <a:t xml:space="preserve">FROZEN — 93장 구조·Story·시간·Demo 범위; TEACHING_MODEL; REQUIRES PRODUCT CHECK — 구체적 Windows·shell·IDE·hardware 지시를 추가하는 경우; CONCEPTUAL. Routing으로 성능 향상이나 Token 절약이 입증됐다고 주장하지 않는다. S46–S47의 연구에서 과제별 근거 확인으로 돌아온다. 질문·위치 안내·답변 근거의 서로 다른 역할만 짚고, 다음 장의 배치 기준과 그다음 장의 실제 파일 재구성을 미리 해설하지 않는다.</a:t>
            </a:r>
          </a:p>
          <a:p>
            <a:r>
              <a:t xml:space="preserve"/>
            </a:r>
          </a:p>
          <a:p>
            <a:r>
              <a:t xml:space="preserve">보존된 상세 범위: 자동 탐색·완벽한 선택·성능 향상·토큰 절약을 입증한 그림이 아님</a:t>
            </a:r>
          </a:p>
          <a:p>
            <a:r>
              <a:t xml:space="preserve"/>
            </a:r>
          </a:p>
          <a:p>
            <a:r>
              <a:t xml:space="preserve">Beginner Explanation: 작업 요청에는 궁금한 것을 쓰고, AGENTS.md에는 어느 상세 문서를 볼지 안내한다. 구체적인 답에 필요한 규칙은 그 문서의 명세에서 확인한다.</a:t>
            </a:r>
          </a:p>
          <a:p>
            <a:r>
              <a:t xml:space="preserve"/>
            </a:r>
          </a:p>
          <a:p>
            <a:r>
              <a:t xml:space="preserve">Advanced Insight: 위치 안내와 상세 명세를 분리하면 발견성·유지 비용을 설계할 수 있다. 실제로 무엇을 읽고 활용했는지는 별도 관찰·검증 문제이며 이 도식만으로 성공을 보장하지 않는다.</a:t>
            </a:r>
          </a:p>
          <a:p>
            <a:r>
              <a:t xml:space="preserve"/>
            </a:r>
          </a:p>
          <a:p>
            <a:r>
              <a:t xml:space="preserve">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a:r>
              <a:t xml:space="preserve"/>
            </a:r>
          </a:p>
          <a:p>
            <a:r>
              <a:t xml:space="preserve">Demo Operation: N/A. 하나의 native 교육용 안내 관계도다. 실제 STATE-03 문서 분리 구조와 TRIAL-005 접근 기록은 뒤 구간에 남긴다.</a:t>
            </a:r>
          </a:p>
          <a:p>
            <a:r>
              <a:t xml:space="preserve"/>
            </a:r>
          </a:p>
          <a:p>
            <a:r>
              <a:t xml:space="preserve">Audience Interaction: 작업 질문, 위치 안내, 상세 명세를 순서대로 가리켜 각자의 역할을 구분한다. 새 실습이나 토론 시간을 추가하지 않는다.</a:t>
            </a:r>
          </a:p>
          <a:p>
            <a:r>
              <a:t xml:space="preserve"/>
            </a:r>
          </a:p>
          <a:p>
            <a:r>
              <a:t xml:space="preserve">Transition: “그렇다면 기본 안내와 상세를 나눌 기준은 무엇일까요?”</a:t>
            </a:r>
          </a:p>
          <a:p>
            <a:r>
              <a:t xml:space="preserve"/>
            </a:r>
          </a:p>
          <a:p>
            <a:r>
              <a:t xml:space="preserve">Time Management: 도입30초, 관계도100초, C++ 패턴과 다음 질문50초로3분을 유지한다. 시간이 부족하면 C++ 설명을 줄이고 작업 질문·안내·명세의 구분과 실제 읽기 순서가 아니라는 경계를 남긴다.</a:t>
            </a:r>
          </a:p>
          <a:p>
            <a:r>
              <a:t xml:space="preserve"/>
            </a:r>
          </a:p>
          <a:p>
            <a:r>
              <a:t xml:space="preserve">Fallback:</a:t>
            </a:r>
          </a:p>
          <a:p>
            <a:r>
              <a:t xml:space="preserve">LOCAL STATIC ARTIFACT — production/ACT_2.pptx / S48; production/preview/act2/S48.png.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S49 — AGENTS.md에는 무엇을 남길까?</a:t>
            </a:r>
          </a:p>
          <a:p>
            <a:r>
              <a:t xml:space="preserve"/>
            </a:r>
          </a:p>
          <a:p>
            <a:r>
              <a:t xml:space="preserve">Slide ID:</a:t>
            </a:r>
          </a:p>
          <a:p>
            <a:r>
              <a:t xml:space="preserve">S49</a:t>
            </a:r>
          </a:p>
          <a:p>
            <a:r>
              <a:t xml:space="preserve"/>
            </a:r>
          </a:p>
          <a:p>
            <a:r>
              <a:t xml:space="preserve">Working Title: AGENTS.md에는 무엇을 남길까?</a:t>
            </a:r>
          </a:p>
          <a:p>
            <a:r>
              <a:t xml:space="preserve"/>
            </a:r>
          </a:p>
          <a:p>
            <a:r>
              <a:t xml:space="preserve">ACT / Section: ACT 2 / 2F</a:t>
            </a:r>
          </a:p>
          <a:p>
            <a:r>
              <a:t xml:space="preserve"/>
            </a:r>
          </a:p>
          <a:p>
            <a:r>
              <a:t xml:space="preserve">Allocated Time: 4 minutes</a:t>
            </a:r>
          </a:p>
          <a:p>
            <a:r>
              <a:t xml:space="preserve"/>
            </a:r>
          </a:p>
          <a:p>
            <a:r>
              <a:t xml:space="preserve">Mode Split: Lecture 4 minutes</a:t>
            </a:r>
          </a:p>
          <a:p>
            <a:r>
              <a:t xml:space="preserve"/>
            </a:r>
          </a:p>
          <a:p>
            <a:r>
              <a:t xml:space="preserve">Primary Message: 여러 작업의 출발점이 되는 안내는 공통 위치에, 특정 질문의 깊은 명세는 관련 상세에 두고 참조 위치를 남긴다.</a:t>
            </a:r>
          </a:p>
          <a:p>
            <a:r>
              <a:t xml:space="preserve"/>
            </a:r>
          </a:p>
          <a:p>
            <a:r>
              <a:t xml:space="preserve">Opening Question: “무엇을 항상 읽고, 무엇을 필요할 때 찾게 할까?”</a:t>
            </a:r>
          </a:p>
          <a:p>
            <a:r>
              <a:t xml:space="preserve"/>
            </a:r>
          </a:p>
          <a:p>
            <a:r>
              <a:t xml:space="preserve">**Speaker Flow:**</a:t>
            </a:r>
          </a:p>
          <a:p>
            <a:r>
              <a:t xml:space="preserve">1. (0–1분) 적용 범위가 여러 Task인지 특정 질문인지 비교한다.</a:t>
            </a:r>
          </a:p>
          <a:p>
            <a:r>
              <a:t xml:space="preserve">2. (1–3분) 기본 방향/공통 제약/실행·검증 진입점은 출발점, 깊은 명세/설정은 관련 작업의 상세로 두는 기준을 설명한다.</a:t>
            </a:r>
          </a:p>
          <a:p>
            <a:r>
              <a:t xml:space="preserve">3. (3–4분) C++ 공통 빌드 진입점과 장비별 조건을 짧게 대조한다. 실제 파일 세 개의 이름은 다음 전후 장에서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S51 이후에 구분한다.</a:t>
            </a:r>
          </a:p>
          <a:p>
            <a:r>
              <a:t xml:space="preserve"/>
            </a:r>
          </a:p>
          <a:p>
            <a:r>
              <a:t xml:space="preserve">보존된 상세 출처: 교육용 배치 기준 · 명령·검증 규칙도 Project 안내에 포함될 수 있음</a:t>
            </a:r>
          </a:p>
          <a:p>
            <a:r>
              <a:t xml:space="preserve"/>
            </a:r>
          </a:p>
          <a:p>
            <a:r>
              <a:t xml:space="preserve">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a:r>
              <a:t xml:space="preserve"/>
            </a:r>
          </a:p>
          <a:p>
            <a:r>
              <a:t xml:space="preserve">보존된 상세 범위: 원칙과 상세의 구분은 유지·참조 설계 · 실제 자동 읽기 결과나 제품의 강제 분류가 아님</a:t>
            </a:r>
          </a:p>
          <a:p>
            <a:r>
              <a:t xml:space="preserve"/>
            </a:r>
          </a:p>
          <a:p>
            <a:r>
              <a:t xml:space="preserve">Beginner Explanation: 여러 작업에서 공통으로 필요한 안내와 그 작업을 해결할 때 자세히 볼 규칙을 나눠둔다. AGENTS.md에는 상세 문서의 위치도 남겨 어디서 확인할지 알 수 있게 한다.</a:t>
            </a:r>
          </a:p>
          <a:p>
            <a:r>
              <a:t xml:space="preserve"/>
            </a:r>
          </a:p>
          <a:p>
            <a:r>
              <a:t xml:space="preserve">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a:r>
              <a:t xml:space="preserve"/>
            </a:r>
          </a:p>
          <a:p>
            <a:r>
              <a:t xml:space="preserve">C++ Vision Bridge: 기본 안내의 빌드·검증 진입점/공통 제약과 관련 상세의 알고리즘 명세/하드웨어 조건을 비교한다. 통합1분 범위이며 도구 목록·구체적 환경 명령·C++ 실행 검증을 추가하지 않는다.</a:t>
            </a:r>
          </a:p>
          <a:p>
            <a:r>
              <a:t xml:space="preserve"/>
            </a:r>
          </a:p>
          <a:p>
            <a:r>
              <a:t xml:space="preserve">**Demo Operation:**</a:t>
            </a:r>
          </a:p>
          <a:p>
            <a:r>
              <a:t xml:space="preserve">N/A. 이 장은 native 정보 배치 모델이다. 실제 문서 분리 전후는 S50, 문서 접근의 관찰과 한계는 S52–S54에 남긴다.</a:t>
            </a:r>
          </a:p>
          <a:p>
            <a:r>
              <a:t xml:space="preserve"/>
            </a:r>
          </a:p>
          <a:p>
            <a:r>
              <a:t xml:space="preserve">Audience Interaction: 상단 질문으로 공통 안내와 특정 작업의 상세를 비교하게 한다. 완전한 분류표를 만들게 하거나 실습·별도 토론 시간을 추가하지 않는다.</a:t>
            </a:r>
          </a:p>
          <a:p>
            <a:r>
              <a:t xml:space="preserve"/>
            </a:r>
          </a:p>
          <a:p>
            <a:r>
              <a:t xml:space="preserve">Transition: “이 기준을 보존된 프로젝트 문서에 실제로 적용한 전후를 보겠습니다.”</a:t>
            </a:r>
          </a:p>
          <a:p>
            <a:r>
              <a:t xml:space="preserve"/>
            </a:r>
          </a:p>
          <a:p>
            <a:r>
              <a:t xml:space="preserve">Time Management: 도입30초, 기본 안내60초, 관련 상세90초, C++ 연결과 Transition60초로4분을 유지한다. 시간이 부족하면 상세 예의 반복 설명을 줄이고 기본 안내/상세 범위와 자동 로딩 미보장 경계를 남긴다.</a:t>
            </a:r>
          </a:p>
          <a:p>
            <a:r>
              <a:t xml:space="preserve"/>
            </a:r>
          </a:p>
          <a:p>
            <a:r>
              <a:t xml:space="preserve">Fallback:</a:t>
            </a:r>
          </a:p>
          <a:p>
            <a:r>
              <a:t xml:space="preserve">LOCAL STATIC ARTIFACT — production/ACT_2.pptx의 S49 또는 production/preview/act2/S49.png를 사용한다. 최종 패키지·PNG·Notes 일치는 production/evaluation/S42_CORE_DETAIL_REVISION.md와 검증 JSON을 따른다. 실제 실행 Screenshot이나 자동 로딩 기록으로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S50 — 정보를 지우지 않고 위치를 나누기</a:t>
            </a:r>
          </a:p>
          <a:p>
            <a:r>
              <a:t xml:space="preserve"/>
            </a:r>
          </a:p>
          <a:p>
            <a:r>
              <a:t xml:space="preserve">Slide ID:</a:t>
            </a:r>
          </a:p>
          <a:p>
            <a:r>
              <a:t xml:space="preserve">S50</a:t>
            </a:r>
          </a:p>
          <a:p>
            <a:r>
              <a:t xml:space="preserve"/>
            </a:r>
          </a:p>
          <a:p>
            <a:r>
              <a:t xml:space="preserve">Working Title: 정보를 지우지 않고 위치를 나누기</a:t>
            </a:r>
          </a:p>
          <a:p>
            <a:r>
              <a:t xml:space="preserve"/>
            </a:r>
          </a:p>
          <a:p>
            <a:r>
              <a:t xml:space="preserve">ACT / Section: ACT 2 / 2F</a:t>
            </a:r>
          </a:p>
          <a:p>
            <a:r>
              <a:t xml:space="preserve"/>
            </a:r>
          </a:p>
          <a:p>
            <a:r>
              <a:t xml:space="preserve">Allocated Time: 5 minutes</a:t>
            </a:r>
          </a:p>
          <a:p>
            <a:r>
              <a:t xml:space="preserve"/>
            </a:r>
          </a:p>
          <a:p>
            <a:r>
              <a:t xml:space="preserve">Mode Split: Lecture 2 minutes + Demo 2 minutes (CAPTURED) + Case 1 minute</a:t>
            </a:r>
          </a:p>
          <a:p>
            <a:r>
              <a:t xml:space="preserve"/>
            </a:r>
          </a:p>
          <a:p>
            <a:r>
              <a:t xml:space="preserve">Primary Message: STATE-03은 세부 정보를 삭제하는 변화가 아니라 Scope에 맞는 위치로 옮기는 변화다.</a:t>
            </a:r>
          </a:p>
          <a:p>
            <a:r>
              <a:t xml:space="preserve"/>
            </a:r>
          </a:p>
          <a:p>
            <a:r>
              <a:t xml:space="preserve">Opening Question: “정보를 나누면 무엇이 바뀌고, 무엇을 그대로 보존해야 할까?”</a:t>
            </a:r>
          </a:p>
          <a:p>
            <a:r>
              <a:t xml:space="preserve"/>
            </a:r>
          </a:p>
          <a:p>
            <a:r>
              <a:t xml:space="preserve">Speaker Flow: 1. (0–2분, Lecture) 앞 장의 기준을 실제 문서 변화에 적용했음을 설명한다.</a:t>
            </a:r>
          </a:p>
          <a:p>
            <a:r>
              <a:t xml:space="preserve">2. (2–4분, Demo/CAPTURED) 보존된 State 문서의 A/B/C 핵심 주제가 각 상세 파일로 간 대응과 기본 안내·참조 위치 추가를 확인한다.</a:t>
            </a:r>
          </a:p>
          <a:p>
            <a:r>
              <a:t xml:space="preserve">3. (4–5분, Case) 문자 그대로 복사한 것이 아니라 재서술·상세화도 있었다고 말한다. 정보가 사라지지 않았는지 대조하는 책임을 회수한다.</a:t>
            </a:r>
          </a:p>
          <a:p>
            <a:r>
              <a:t xml:space="preserve"/>
            </a:r>
          </a:p>
          <a:p>
            <a:r>
              <a:t xml:space="preserve">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a:r>
              <a:t xml:space="preserve"/>
            </a:r>
          </a:p>
          <a:p>
            <a:r>
              <a:t xml:space="preserve">보존된 상세 출처: STATE-02 → STATE-03 · 실제 문서 재구성의 요약 · 원본 실행 화면 아님</a:t>
            </a:r>
          </a:p>
          <a:p>
            <a:r>
              <a:t xml:space="preserve"/>
            </a:r>
          </a:p>
          <a:p>
            <a:r>
              <a:t xml:space="preserve">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a:r>
              <a:t xml:space="preserve"/>
            </a:r>
          </a:p>
          <a:p>
            <a:r>
              <a:t xml:space="preserve">보존된 상세 범위: 핵심 정보 보존·재서술/상세화 포함 · 자동 탐색·성능·토큰 효과는 미검증</a:t>
            </a:r>
          </a:p>
          <a:p>
            <a:r>
              <a:t xml:space="preserve"/>
            </a:r>
          </a:p>
          <a:p>
            <a:r>
              <a:t xml:space="preserve">Beginner Explanation: 기본 안내는 남겨두고 자세한 규칙을 주제별 문서로 옮겼다. 기존에 중요했던 정보가 어디로 갔는지 A/B/C를 따라 확인할 수 있다.</a:t>
            </a:r>
          </a:p>
          <a:p>
            <a:r>
              <a:t xml:space="preserve"/>
            </a:r>
          </a:p>
          <a:p>
            <a:r>
              <a:t xml:space="preserve">Advanced Insight: 핵심 사실 보존, 문구 재서술·상세화, 안내 경로 추가를 구분한다. 문서 배치의 변화와 실제 Agent의 근거 접근·활용은 다른 관찰 대상이다.</a:t>
            </a:r>
          </a:p>
          <a:p>
            <a:r>
              <a:t xml:space="preserve"/>
            </a:r>
          </a:p>
          <a:p>
            <a:r>
              <a:t xml:space="preserve">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a:r>
              <a:t xml:space="preserve"/>
            </a:r>
          </a:p>
          <a:p>
            <a:r>
              <a:t xml:space="preserve">**Demo Operation:**</a:t>
            </a:r>
          </a:p>
          <a:p>
            <a:r>
              <a:t xml:space="preserve">CAPTURED / RECONSTRUCTED EVIDENCE — 고정된 STATE-02→STATE-03 문서 구조 기록의 native 재구성 도식을2분간 비교한다. 원본 Screenshot이나 현재 제품 실행이 아니다. 실제 문서 접근 결과는 S52–S54에 남기고 Live 탐색은 하지 않는다.</a:t>
            </a:r>
          </a:p>
          <a:p>
            <a:r>
              <a:t xml:space="preserve"/>
            </a:r>
          </a:p>
          <a:p>
            <a:r>
              <a:t xml:space="preserve">Audience Interaction: Case1분에 정보를 나눠도 무엇이 남아야 하는지 비교 질문을 던진다. 공개 답변 없이 생각해도 되며 실습이나 별도 시간을 추가하지 않는다.</a:t>
            </a:r>
          </a:p>
          <a:p>
            <a:r>
              <a:t xml:space="preserve"/>
            </a:r>
          </a:p>
          <a:p>
            <a:r>
              <a:t xml:space="preserve">Transition: “파일 구조를 나눴으니, 실제 두 요청은 어떤 근거를 열었는지 관찰하겠습니다.”</a:t>
            </a:r>
          </a:p>
          <a:p>
            <a:r>
              <a:t xml:space="preserve"/>
            </a:r>
          </a:p>
          <a:p>
            <a:r>
              <a:t xml:space="preserve">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a:r>
              <a:t xml:space="preserve"/>
            </a:r>
          </a:p>
          <a:p>
            <a:r>
              <a:t xml:space="preserve">Fallback:</a:t>
            </a:r>
          </a:p>
          <a:p>
            <a:r>
              <a:t xml:space="preserve">LOCAL STATIC ARTIFACT — production/ACT_2.pptx의 S50 또는 production/preview/full/S50.png, production/preview/act2/S50.png를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S51 — 서로 다른 두 Task가 무엇을 읽을까?</a:t>
            </a:r>
          </a:p>
          <a:p>
            <a:r>
              <a:t xml:space="preserve"/>
            </a:r>
          </a:p>
          <a:p>
            <a:r>
              <a:t xml:space="preserve">Slide ID:</a:t>
            </a:r>
          </a:p>
          <a:p>
            <a:r>
              <a:t xml:space="preserve">S51</a:t>
            </a:r>
          </a:p>
          <a:p>
            <a:r>
              <a:t xml:space="preserve"/>
            </a:r>
          </a:p>
          <a:p>
            <a:r>
              <a:t xml:space="preserve">Working Title: 서로 다른 두 Task가 무엇을 읽을까?</a:t>
            </a:r>
          </a:p>
          <a:p>
            <a:r>
              <a:t xml:space="preserve"/>
            </a:r>
          </a:p>
          <a:p>
            <a:r>
              <a:t xml:space="preserve">ACT / Section: ACT 2 / 2G</a:t>
            </a:r>
          </a:p>
          <a:p>
            <a:r>
              <a:t xml:space="preserve"/>
            </a:r>
          </a:p>
          <a:p>
            <a:r>
              <a:t xml:space="preserve">Allocated Time: 2 minutes</a:t>
            </a:r>
          </a:p>
          <a:p>
            <a:r>
              <a:t xml:space="preserve"/>
            </a:r>
          </a:p>
          <a:p>
            <a:r>
              <a:t xml:space="preserve">Mode Split: Lecture 2 minutes</a:t>
            </a:r>
          </a:p>
          <a:p>
            <a:r>
              <a:t xml:space="preserve"/>
            </a:r>
          </a:p>
          <a:p>
            <a:r>
              <a:t xml:space="preserve">Primary Message: 관련 정보 접근을 확인하려면 Task별 실제 접근을 살펴봐야 한다.</a:t>
            </a:r>
          </a:p>
          <a:p>
            <a:r>
              <a:t xml:space="preserve"/>
            </a:r>
          </a:p>
          <a:p>
            <a:r>
              <a:t xml:space="preserve">Opening Question: “정답을 말하는 것과 실제 근거 접근을 확인하는 것은 어떻게 다를까?”</a:t>
            </a:r>
          </a:p>
          <a:p>
            <a:r>
              <a:t xml:space="preserve"/>
            </a:r>
          </a:p>
          <a:p>
            <a:r>
              <a:t xml:space="preserve">Speaker Flow: 1. (0–1분) A/B 실제 요청 핵심 발췌·번역과 읽기 전용 조건을 읽는다.</a:t>
            </a:r>
          </a:p>
          <a:p>
            <a:r>
              <a:t xml:space="preserve">2. (1–2분) crop 정답을 맞히는 퀴즈가 아니라 어떤 근거를 열고 답에 연결했는지를 관찰한다고 안내한다. A와 B의 답은 각각 다음 두 장, 접근 차이는 그다음 장에서 회수한다.</a:t>
            </a:r>
          </a:p>
          <a:p>
            <a:r>
              <a:t xml:space="preserve"/>
            </a:r>
          </a:p>
          <a:p>
            <a:r>
              <a:t xml:space="preserve">**Evidence / Source:**</a:t>
            </a:r>
          </a:p>
          <a:p>
            <a:r>
              <a:t xml:space="preserve">OBSERVED_PRODUCT setup; outcomes remain on S53–S54.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a:r>
              <a:t xml:space="preserve"/>
            </a:r>
          </a:p>
          <a:p>
            <a:r>
              <a:t xml:space="preserve">보존된 상세 출처: TRIAL-005A/B · Codex CLI 0.154.0 · 실제 요청의 핵심 발췌·번역</a:t>
            </a:r>
          </a:p>
          <a:p>
            <a:r>
              <a:t xml:space="preserve"/>
            </a:r>
          </a:p>
          <a:p>
            <a:r>
              <a:t xml:space="preserve">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a:r>
              <a:t xml:space="preserve"/>
            </a:r>
          </a:p>
          <a:p>
            <a:r>
              <a:t xml:space="preserve">보존된 상세 범위: 프롬프트창 재구성 · 현재 Desktop 검증 아님 · 문서 접근 결과는 다음 구간에서 확인</a:t>
            </a:r>
          </a:p>
          <a:p>
            <a:r>
              <a:t xml:space="preserve"/>
            </a:r>
          </a:p>
          <a:p>
            <a:r>
              <a:t xml:space="preserve">Beginner Explanation: 질문의 목적이 달라도 실제로 어떤 자료를 확인했는지는 기록을 봐야 한다. A는 이미지 동작, B는 실행에 필요한 의존성을 묻지만 어느 파일을 읽었는지는 아직 답하지 않는다.</a:t>
            </a:r>
          </a:p>
          <a:p>
            <a:r>
              <a:t xml:space="preserve"/>
            </a:r>
          </a:p>
          <a:p>
            <a:r>
              <a:t xml:space="preserve">Advanced Insight: 구조에서 예상하는 경로와 실제 접근/답변 근거를 구분한다. 공통 접근과 요청별 차이, 기록으로 확인할 수 있는 범위에 집중하며 통제된 성능 비교 실험으로 취급하지 않는다.</a:t>
            </a:r>
          </a:p>
          <a:p>
            <a:r>
              <a:t xml:space="preserve"/>
            </a:r>
          </a:p>
          <a:p>
            <a:r>
              <a:t xml:space="preserve">C++ Vision Bridge: N/A.</a:t>
            </a:r>
          </a:p>
          <a:p>
            <a:r>
              <a:t xml:space="preserve"/>
            </a:r>
          </a:p>
          <a:p>
            <a:r>
              <a:t xml:space="preserve">**Demo Operation:**</a:t>
            </a:r>
          </a:p>
          <a:p>
            <a:r>
              <a:t xml:space="preserve">N/A — TRIAL-005A/B 관찰 준비 장이다. 새 요청을 입력하거나 실행하지 않고 정적 프롬프트창2개로 실제 요청의 의미를 비교한다. S52–S54의 기록과 한계를 미리 공개하지 않는다.</a:t>
            </a:r>
          </a:p>
          <a:p>
            <a:r>
              <a:t xml:space="preserve"/>
            </a:r>
          </a:p>
          <a:p>
            <a:r>
              <a:t xml:space="preserve">Audience Interaction: 관찰 질문3개를 기억하도록 안내한다. 특정 문서 선택이나 정답 발표를 요구하지 않으며 별도 실습·토론 시간을 추가하지 않는다.</a:t>
            </a:r>
          </a:p>
          <a:p>
            <a:r>
              <a:t xml:space="preserve"/>
            </a:r>
          </a:p>
          <a:p>
            <a:r>
              <a:t xml:space="preserve">Transition: “먼저 요청 A에서 실제로 읽은 문서와 답변 근거를 확인합니다.”</a:t>
            </a:r>
          </a:p>
          <a:p>
            <a:r>
              <a:t xml:space="preserve"/>
            </a:r>
          </a:p>
          <a:p>
            <a:r>
              <a:t xml:space="preserve">Time Management: 구조/관찰 구분20초, 두 요청60초, 관찰 질문과 전환40초로2분을 유지한다. 시간이 부족하면 원문의 재낭독을 줄이고 읽기 전용/근거 조건과 결과 미공개를 유지한다.</a:t>
            </a:r>
          </a:p>
          <a:p>
            <a:r>
              <a:t xml:space="preserve"/>
            </a:r>
          </a:p>
          <a:p>
            <a:r>
              <a:t xml:space="preserve">Fallback:</a:t>
            </a:r>
          </a:p>
          <a:p>
            <a:r>
              <a:t xml:space="preserve">LOCAL STATIC ARTIFACT — production/ACT_2.pptx의 S51 또는 production/preview/act2/S51.png를 사용한다. 최종 패키지·PNG·Notes 일치는 production/evaluation/S44_PROMPT_WATCH_REVISION.md와 검증 JSON을 따른다. 실제 실행 캡처나 현재 제품의 입력 화면으로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S52 — Crop Task에서 관찰한 접근</a:t>
            </a:r>
          </a:p>
          <a:p>
            <a:r>
              <a:t xml:space="preserve"/>
            </a:r>
          </a:p>
          <a:p>
            <a:r>
              <a:t xml:space="preserve">Slide ID:</a:t>
            </a:r>
          </a:p>
          <a:p>
            <a:r>
              <a:t xml:space="preserve">S52</a:t>
            </a:r>
          </a:p>
          <a:p>
            <a:r>
              <a:t xml:space="preserve"/>
            </a:r>
          </a:p>
          <a:p>
            <a:r>
              <a:t xml:space="preserve">Working Title: Crop Task에서 관찰한 접근</a:t>
            </a:r>
          </a:p>
          <a:p>
            <a:r>
              <a:t xml:space="preserve"/>
            </a:r>
          </a:p>
          <a:p>
            <a:r>
              <a:t xml:space="preserve">ACT / Section: ACT 2 / 2G</a:t>
            </a:r>
          </a:p>
          <a:p>
            <a:r>
              <a:t xml:space="preserve"/>
            </a:r>
          </a:p>
          <a:p>
            <a:r>
              <a:t xml:space="preserve">Allocated Time: 5 minutes</a:t>
            </a:r>
          </a:p>
          <a:p>
            <a:r>
              <a:t xml:space="preserve"/>
            </a:r>
          </a:p>
          <a:p>
            <a:r>
              <a:t xml:space="preserve">Mode Split: Case 5 minutes</a:t>
            </a:r>
          </a:p>
          <a:p>
            <a:r>
              <a:t xml:space="preserve"/>
            </a:r>
          </a:p>
          <a:p>
            <a:r>
              <a:t xml:space="preserve">Primary Message: TRIAL-005A의 최종 실행에서 image contract 문서 접근과 함께 정확한 crop 결과를 관찰했다.</a:t>
            </a:r>
          </a:p>
          <a:p>
            <a:r>
              <a:t xml:space="preserve"/>
            </a:r>
          </a:p>
          <a:p>
            <a:r>
              <a:t xml:space="preserve">Opening Question: “Crop 명세를 묻는 Task에서 어떤 문서를 읽었고, 어떤 답을 얻었을까?”</a:t>
            </a:r>
          </a:p>
          <a:p>
            <a:r>
              <a:t xml:space="preserve"/>
            </a:r>
          </a:p>
          <a:p>
            <a:r>
              <a:t xml:space="preserve">Speaker Flow: 1. (0–1분) A 요청의 질문을 짧게 회수한다.</a:t>
            </a:r>
          </a:p>
          <a:p>
            <a:r>
              <a:t xml:space="preserve">2. (1–3분) 실제 접근 문서 요약 중 명세 문서를 가리키고, 그 명세와 기록된 열1·2/폭2/끝3제외 답의 일치를 확인한다.</a:t>
            </a:r>
          </a:p>
          <a:p>
            <a:r>
              <a:t xml:space="preserve">3. (3–5분) 소스·관련 테스트·넓은 문서도 읽었으며 testing.md는 최종 실행에서 관찰했다는 범위를 설명한다. 반개구간 문법 강의·로그 전문 낭독을 하지 않는다.</a:t>
            </a:r>
          </a:p>
          <a:p>
            <a:r>
              <a:t xml:space="preserve"/>
            </a:r>
          </a:p>
          <a:p>
            <a:r>
              <a:t xml:space="preserve">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a:r>
              <a:t xml:space="preserve"/>
            </a:r>
          </a:p>
          <a:p>
            <a:r>
              <a:t xml:space="preserve">보존된 상세 출처: TRIAL-005A 최종 실행 · Codex CLI 0.154.0 · 문서 접근과 답을 요약·재구성</a:t>
            </a:r>
          </a:p>
          <a:p>
            <a:r>
              <a:t xml:space="preserve"/>
            </a:r>
          </a:p>
          <a:p>
            <a:r>
              <a:t xml:space="preserve">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a:r>
              <a:t xml:space="preserve"/>
            </a:r>
          </a:p>
          <a:p>
            <a:r>
              <a:t xml:space="preserve">보존된 상세 범위: * testing.md는 최종 실행에서 관찰(이전 실행과 다름) · 현재 Desktop 검증 아님</a:t>
            </a:r>
          </a:p>
          <a:p>
            <a:r>
              <a:t xml:space="preserve"/>
            </a:r>
          </a:p>
          <a:p>
            <a:r>
              <a:t xml:space="preserve">Beginner Explanation: 문서를 열었다는 기록과 그 문서의 명세, 실제 답을 나란히 확인한다. 끝 좌표는 제외하므로 열1과2 두 개가 남는다는 답이 명세와 일치한다.</a:t>
            </a:r>
          </a:p>
          <a:p>
            <a:r>
              <a:t xml:space="preserve"/>
            </a:r>
          </a:p>
          <a:p>
            <a:r>
              <a:t xml:space="preserve">Advanced Insight: Access evidence and answer agreement are separate observations. Broader reads and test-context variability prevent an exclusive causal or efficiency conclusion. The list is not a chronological trace.</a:t>
            </a:r>
          </a:p>
          <a:p>
            <a:r>
              <a:t xml:space="preserve"/>
            </a:r>
          </a:p>
          <a:p>
            <a:r>
              <a:t xml:space="preserve">C++ Vision Bridge: N/A.</a:t>
            </a:r>
          </a:p>
          <a:p>
            <a:r>
              <a:t xml:space="preserve"/>
            </a:r>
          </a:p>
          <a:p>
            <a:r>
              <a:t xml:space="preserve">Demo Operation:</a:t>
            </a:r>
          </a:p>
          <a:p>
            <a:r>
              <a:t xml:space="preserve">RECONSTRUCTED RECORD — 실제 접근 기록과 명세·답의 요약을 S52 정적 화면으로 보여준다. 입력창 Screenshot이나 실행 로그처럼 꾸미지 않는다. 현재 제품에서 명령을 실행하지 않고 전체 접근 로그를 읽지 않는다. Task B의 접근 차이는 S54에서 확인한다.</a:t>
            </a:r>
          </a:p>
          <a:p>
            <a:r>
              <a:t xml:space="preserve"/>
            </a:r>
          </a:p>
          <a:p>
            <a:r>
              <a:t xml:space="preserve">Audience Interaction: 가운데 명세와 오른쪽 열 번호를 보고 ‘끝 좌표3은 포함될까?’를 짧게 확인한 뒤 기록된 답으로 회수한다. 별도 실습·공유·비교 실험은 없다.</a:t>
            </a:r>
          </a:p>
          <a:p>
            <a:r>
              <a:t xml:space="preserve"/>
            </a:r>
          </a:p>
          <a:p>
            <a:r>
              <a:t xml:space="preserve">Transition: “다른 질문인 실행 의존성 요청에서는 어떤 근거로 어떤 답을 얻었을까요?”</a:t>
            </a:r>
          </a:p>
          <a:p>
            <a:r>
              <a:t xml:space="preserve"/>
            </a:r>
          </a:p>
          <a:p>
            <a:r>
              <a:t xml:space="preserve">Time Management:</a:t>
            </a:r>
          </a:p>
          <a:p>
            <a:r>
              <a:t xml:space="preserve">요청·접근 요약1분, 명세1분, 답 대조1분, 넓은 접근·실행 간 차이1분, 한계 회수·S54 연결1분으로 Case5분을 유지한다. 파일명 전체나 Python 구현 문법 설명이 길어지면 줄이고 명세와 열1·2/폭2/끝 제외를 먼저 회수한다.</a:t>
            </a:r>
          </a:p>
          <a:p>
            <a:r>
              <a:t xml:space="preserve"/>
            </a:r>
          </a:p>
          <a:p>
            <a:r>
              <a:t xml:space="preserve">Fallback:</a:t>
            </a:r>
          </a:p>
          <a:p>
            <a:r>
              <a:t xml:space="preserve">LOCAL STATIC ARTIFACT — production/ACT_2.pptx의 S52 또는 production/preview/act2/S52.png가 발표 기본 경로다. 동일한 Full S52·ACT2 PNG·내장 Notes 대조는 production/evaluation/S45_CROP_EVIDENCE_REVISION.md와 검증 JSON에 기록한다. 과거 기록 재구성이며 실제 실행 캡처나 현재 제품 실행으로 표현하지 않는다. Live 승인을 추가하지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S53 — 의존성 질문은 설정과 소스로 답했다</a:t>
            </a:r>
          </a:p>
          <a:p>
            <a:r>
              <a:t xml:space="preserve"/>
            </a:r>
          </a:p>
          <a:p>
            <a:r>
              <a:t xml:space="preserve">Slide ID:</a:t>
            </a:r>
          </a:p>
          <a:p>
            <a:r>
              <a:t xml:space="preserve">S53</a:t>
            </a:r>
          </a:p>
          <a:p>
            <a:r>
              <a:t xml:space="preserve"/>
            </a:r>
          </a:p>
          <a:p>
            <a:r>
              <a:t xml:space="preserve">Working Title: 의존성 질문은 설정과 소스로 답했다</a:t>
            </a:r>
          </a:p>
          <a:p>
            <a:r>
              <a:t xml:space="preserve"/>
            </a:r>
          </a:p>
          <a:p>
            <a:r>
              <a:t xml:space="preserve">ACT / Section: ACT 2 / 2G Structured Context</a:t>
            </a:r>
          </a:p>
          <a:p>
            <a:r>
              <a:t xml:space="preserve"/>
            </a:r>
          </a:p>
          <a:p>
            <a:r>
              <a:t xml:space="preserve">Allocated Time: 4 minutes</a:t>
            </a:r>
          </a:p>
          <a:p>
            <a:r>
              <a:t xml:space="preserve"/>
            </a:r>
          </a:p>
          <a:p>
            <a:r>
              <a:t xml:space="preserve">Mode Split: Case 4 minutes</a:t>
            </a:r>
          </a:p>
          <a:p>
            <a:r>
              <a:t xml:space="preserve"/>
            </a:r>
          </a:p>
          <a:p>
            <a:r>
              <a:t xml:space="preserve">Primary Message: TRIAL-005B는 설정·README·소스 등을 확인해 Python/표준 라이브러리 실행 조건과 별도 빌드 도구를 구분하고 third-party runtime dependency가 없다고 답했다.</a:t>
            </a:r>
          </a:p>
          <a:p>
            <a:r>
              <a:t xml:space="preserve"/>
            </a:r>
          </a:p>
          <a:p>
            <a:r>
              <a:t xml:space="preserve">Opening Question: “실행에 필요한 것과 빌드에만 쓰는 도구는 어떻게 구분했을까?”</a:t>
            </a:r>
          </a:p>
          <a:p>
            <a:r>
              <a:t xml:space="preserve"/>
            </a:r>
          </a:p>
          <a:p>
            <a:r>
              <a:t xml:space="preserve">Speaker Flow:</a:t>
            </a:r>
          </a:p>
          <a:p>
            <a:r>
              <a:t xml:space="preserve">1. (0–1분) S51의 실행 의존성 질문을 회수한다.</a:t>
            </a:r>
          </a:p>
          <a:p>
            <a:r>
              <a:t xml:space="preserve">2. (1–3분) 실제 설정/README/소스 확인과 기록된 답을 연결한다. 실행은 Python3.9+표준 라이브러리, 별도 third-party runtime dependency 없음. setuptools/wheel은 빌드/패키징 도구이며 pip는 문서의 빌드 명령에 사용된다.</a:t>
            </a:r>
          </a:p>
          <a:p>
            <a:r>
              <a:t xml:space="preserve">3. (3–4분) 이미지 명세/testing 문서는 열지 않았지만 다른 공통 문서와 소스는 읽었다고 말한다. 새 설치·검증 결과가 아니다. 다음 장에서 접근 표를 비교한다.</a:t>
            </a:r>
          </a:p>
          <a:p>
            <a:r>
              <a:t xml:space="preserve"/>
            </a:r>
          </a:p>
          <a:p>
            <a:r>
              <a:t xml:space="preserve">Evidence / Source: BEAT-016, TRIAL-005B, STATE-03, CLM-0003, CLM-0005, DEC-0060 / OBSERVED_PRODUCT</a:t>
            </a:r>
          </a:p>
          <a:p>
            <a:r>
              <a:t xml:space="preserve"/>
            </a:r>
          </a:p>
          <a:p>
            <a:r>
              <a:t xml:space="preserve">보존된 상세 출처: TRIAL-005B 최종 실행 · Codex CLI 0.154.0 · 실제 접근/답변 기록 요약</a:t>
            </a:r>
          </a:p>
          <a:p>
            <a:r>
              <a:t xml:space="preserve"/>
            </a:r>
          </a:p>
          <a:p>
            <a:r>
              <a:t xml:space="preserve">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a:r>
              <a:t xml:space="preserve"/>
            </a:r>
          </a:p>
          <a:p>
            <a:r>
              <a:t xml:space="preserve">보존된 상세 범위: 과거 읽기 전용 실행의 재구성 · 새 설치 검사·현재 Desktop 검증 결과가 아님</a:t>
            </a:r>
          </a:p>
          <a:p>
            <a:r>
              <a:t xml:space="preserve"/>
            </a:r>
          </a:p>
          <a:p>
            <a:r>
              <a:t xml:space="preserve">Beginner Explanation: 결과 주장을 repository 근거와 연결해 본다.</a:t>
            </a:r>
          </a:p>
          <a:p>
            <a:r>
              <a:t xml:space="preserve"/>
            </a:r>
          </a:p>
          <a:p>
            <a:r>
              <a:t xml:space="preserve">Advanced Insight: 선택적 접근이 관찰됐어도 접근 범위가 완벽히 좁지는 않았음을 확인한다.</a:t>
            </a:r>
          </a:p>
          <a:p>
            <a:r>
              <a:t xml:space="preserve"/>
            </a:r>
          </a:p>
          <a:p>
            <a:r>
              <a:t xml:space="preserve">C++ Vision Bridge: N/A.</a:t>
            </a:r>
          </a:p>
          <a:p>
            <a:r>
              <a:t xml:space="preserve"/>
            </a:r>
          </a:p>
          <a:p>
            <a:r>
              <a:t xml:space="preserve">Demo Operation: CAPTURED SUMMARY / case only. Historical TRIAL-005B final read-only CLI record; no current-product replay or fresh installation. Read this static slide and stop before interpreting the access comparison.</a:t>
            </a:r>
          </a:p>
          <a:p>
            <a:r>
              <a:t xml:space="preserve"/>
            </a:r>
          </a:p>
          <a:p>
            <a:r>
              <a:t xml:space="preserve">Audience Interaction: N/A.</a:t>
            </a:r>
          </a:p>
          <a:p>
            <a:r>
              <a:t xml:space="preserve"/>
            </a:r>
          </a:p>
          <a:p>
            <a:r>
              <a:t xml:space="preserve">Transition: “이제 A와 B의 답이 아니라 실제 문서 접근 목록을 같은 기준으로 비교합니다.”</a:t>
            </a:r>
          </a:p>
          <a:p>
            <a:r>
              <a:t xml:space="preserve"/>
            </a:r>
          </a:p>
          <a:p>
            <a:r>
              <a:t xml:space="preserve">Time Management: Case4분. 패키지 도구 사용법 강의로 확장하지 않는다.</a:t>
            </a:r>
          </a:p>
          <a:p>
            <a:r>
              <a:t xml:space="preserve"/>
            </a:r>
          </a:p>
          <a:p>
            <a:r>
              <a:t xml:space="preserve">Fallback:</a:t>
            </a:r>
          </a:p>
          <a:p>
            <a:r>
              <a:t xml:space="preserve">LOCAL STATIC ARTIFACT — production/ACT_2.pptx / S53; production/preview/act2/S53.png.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S54 — Task별 접근은 달랐지만 완벽하지는 않다</a:t>
            </a:r>
          </a:p>
          <a:p>
            <a:r>
              <a:t xml:space="preserve"/>
            </a:r>
          </a:p>
          <a:p>
            <a:r>
              <a:t xml:space="preserve">Slide ID:</a:t>
            </a:r>
          </a:p>
          <a:p>
            <a:r>
              <a:t xml:space="preserve">S54</a:t>
            </a:r>
          </a:p>
          <a:p>
            <a:r>
              <a:t xml:space="preserve"/>
            </a:r>
          </a:p>
          <a:p>
            <a:r>
              <a:t xml:space="preserve">Working Title: 두 Task에서 상세 문서 접근이 달랐다</a:t>
            </a:r>
          </a:p>
          <a:p>
            <a:r>
              <a:t xml:space="preserve"/>
            </a:r>
          </a:p>
          <a:p>
            <a:r>
              <a:t xml:space="preserve">ACT / Section: ACT 2 / 2G</a:t>
            </a:r>
          </a:p>
          <a:p>
            <a:r>
              <a:t xml:space="preserve"/>
            </a:r>
          </a:p>
          <a:p>
            <a:r>
              <a:t xml:space="preserve">Allocated Time: 7 minutes</a:t>
            </a:r>
          </a:p>
          <a:p>
            <a:r>
              <a:t xml:space="preserve"/>
            </a:r>
          </a:p>
          <a:p>
            <a:r>
              <a:t xml:space="preserve">Mode Split: Demo 1 minute (CAPTURED) + Case 3 minutes + Reflection 2 minutes + Q&amp;A 1 minute</a:t>
            </a:r>
          </a:p>
          <a:p>
            <a:r>
              <a:t xml:space="preserve"/>
            </a:r>
          </a:p>
          <a:p>
            <a:r>
              <a:t xml:space="preserve">Primary Message: Task에 따른 상세 문서 접근 차이는 관찰됐지만 perfect routing, token saving, 성능 향상은 입증되지 않았다.</a:t>
            </a:r>
          </a:p>
          <a:p>
            <a:r>
              <a:t xml:space="preserve"/>
            </a:r>
          </a:p>
          <a:p>
            <a:r>
              <a:t xml:space="preserve">Opening Question: “Task별 차이를 관찰한 것만으로 완벽한 Routing을 말할 수 있을까?”</a:t>
            </a:r>
          </a:p>
          <a:p>
            <a:r>
              <a:t xml:space="preserve"/>
            </a:r>
          </a:p>
          <a:p>
            <a:r>
              <a:t xml:space="preserve">Speaker Flow: 1. (0–1분, Demo/CAPTURED) 최종 기록을 요약한 비교표임을 밝힌다.</a:t>
            </a:r>
          </a:p>
          <a:p>
            <a:r>
              <a:t xml:space="preserve">2. (1–4분, Case) 양쪽 공통3문서와 다른 상세/설정4행만 비교한다. A/B의 정답과 각 문서 역할은 앞 장 설명을 반복하지 않는다.</a:t>
            </a:r>
          </a:p>
          <a:p>
            <a:r>
              <a:t xml:space="preserve">3. (4–6분, Reflection) “접근 차이”와 “효율 개선”을 같은 주장으로 볼 수 있는지 조용히 생각하게 한다.</a:t>
            </a:r>
          </a:p>
          <a:p>
            <a:r>
              <a:t xml:space="preserve">4. (6–7분, Q&amp;A) 한 질문을 받고 최소 선택·일관된 접근 보장·성능/토큰 효과는 미입증임을 회수한다.</a:t>
            </a:r>
          </a:p>
          <a:p>
            <a:r>
              <a:t xml:space="preserve"/>
            </a:r>
          </a:p>
          <a:p>
            <a:r>
              <a:t xml:space="preserve">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a:r>
              <a:t xml:space="preserve"/>
            </a:r>
          </a:p>
          <a:p>
            <a:r>
              <a:t xml:space="preserve">보존된 상세 출처: TRIAL-005A/B 최종 실행 · Codex CLI 0.154.0 · 실제 접근 기록의 요약·재구성</a:t>
            </a:r>
          </a:p>
          <a:p>
            <a:r>
              <a:t xml:space="preserve"/>
            </a:r>
          </a:p>
          <a:p>
            <a:r>
              <a:t xml:space="preserve">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a:r>
              <a:t xml:space="preserve"/>
            </a:r>
          </a:p>
          <a:p>
            <a:r>
              <a:t xml:space="preserve">보존된 상세 범위: * testing.md는 A 최종 실행에서 관찰(이전 A와 다름) · 현재 Desktop 검증 아님</a:t>
            </a:r>
          </a:p>
          <a:p>
            <a:r>
              <a:t xml:space="preserve"/>
            </a:r>
          </a:p>
          <a:p>
            <a:r>
              <a:t xml:space="preserve">Beginner Explanation: 같은 저장소라도 질문에 따라 읽은 상세 정보가 달랐다. 두 열에서 같은 파일과 달랐던 파일을 비교하되 ‘다르게 읽었다’는 기록과 ‘항상 잘 선택한다’는 보장을 구분한다.</a:t>
            </a:r>
          </a:p>
          <a:p>
            <a:r>
              <a:t xml:space="preserve"/>
            </a:r>
          </a:p>
          <a:p>
            <a:r>
              <a:t xml:space="preserve">Advanced Insight: Compare the actual access sets, broader reads and invocation variability. This is not a controlled attribution experiment or a token/performance benchmark. File access and answer support remain separate observations.</a:t>
            </a:r>
          </a:p>
          <a:p>
            <a:r>
              <a:t xml:space="preserve"/>
            </a:r>
          </a:p>
          <a:p>
            <a:r>
              <a:t xml:space="preserve">C++ Vision Bridge: N/A.</a:t>
            </a:r>
          </a:p>
          <a:p>
            <a:r>
              <a:t xml:space="preserve"/>
            </a:r>
          </a:p>
          <a:p>
            <a:r>
              <a:t xml:space="preserve">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a:r>
              <a:t xml:space="preserve"/>
            </a:r>
          </a:p>
          <a:p>
            <a:r>
              <a:t xml:space="preserve">Audience Interaction: Case3분·개인 Reflection2분·Q&amp;A1분을 보호한다. 무응답 시 질문은 ‘이 기록만으로 문서 선택을 보장할 수 있을까요?’이며 관찰과 해석의 한계를 회수한다.</a:t>
            </a:r>
          </a:p>
          <a:p>
            <a:r>
              <a:t xml:space="preserve"/>
            </a:r>
          </a:p>
          <a:p>
            <a:r>
              <a:t xml:space="preserve">Transition: “이 관찰을 포함해, Context를 정리하며 실제로 확인한 성과를 정리하겠습니다.”</a:t>
            </a:r>
          </a:p>
          <a:p>
            <a:r>
              <a:t xml:space="preserve"/>
            </a:r>
          </a:p>
          <a:p>
            <a:r>
              <a:t xml:space="preserve">Time Management: Demo0–1분, Case1–4분, Reflection4–6분, Q&amp;A6–7분으로7분을 유지한다. 설명이 길어지면 공통 파일명과 build 도구의 부연을 줄인다. 관찰/해석 경계와 Reflection2분을 삭제하지 않는다.</a:t>
            </a:r>
          </a:p>
          <a:p>
            <a:r>
              <a:t xml:space="preserve"/>
            </a:r>
          </a:p>
          <a:p>
            <a:r>
              <a:t xml:space="preserve">Fallback:</a:t>
            </a:r>
          </a:p>
          <a:p>
            <a:r>
              <a:t xml:space="preserve">LOCAL STATIC ARTIFACT — production/ACT_2.pptx의 S54 또는 production/preview/full/S54.png를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S55 — Context 정리에서 확인한 네 가지</a:t>
            </a:r>
          </a:p>
          <a:p>
            <a:r>
              <a:t xml:space="preserve"/>
            </a:r>
          </a:p>
          <a:p>
            <a:r>
              <a:t xml:space="preserve">Slide ID:</a:t>
            </a:r>
          </a:p>
          <a:p>
            <a:r>
              <a:t xml:space="preserve">S55</a:t>
            </a:r>
          </a:p>
          <a:p>
            <a:r>
              <a:t xml:space="preserve"/>
            </a:r>
          </a:p>
          <a:p>
            <a:r>
              <a:t xml:space="preserve">Working Title: Context 정리에서 확인한 네 가지</a:t>
            </a:r>
          </a:p>
          <a:p>
            <a:r>
              <a:t xml:space="preserve"/>
            </a:r>
          </a:p>
          <a:p>
            <a:r>
              <a:t xml:space="preserve">ACT / Section: ACT 2 / 2I Discussion·Transition</a:t>
            </a:r>
          </a:p>
          <a:p>
            <a:r>
              <a:t xml:space="preserve"/>
            </a:r>
          </a:p>
          <a:p>
            <a:r>
              <a:t xml:space="preserve">Allocated Time: 3 minutes</a:t>
            </a:r>
          </a:p>
          <a:p>
            <a:r>
              <a:t xml:space="preserve"/>
            </a:r>
          </a:p>
          <a:p>
            <a:r>
              <a:t xml:space="preserve">Mode Split: Lecture 2 minutes + Reflection 1 minutes</a:t>
            </a:r>
          </a:p>
          <a:p>
            <a:r>
              <a:t xml:space="preserve"/>
            </a:r>
          </a:p>
          <a:p>
            <a:r>
              <a:t xml:space="preserve">Primary Message: 공통 정보의 기록, 지침 활용, 핵심 정보를 보존한 재구성, Task별 상세 접근 차이는 각각의 보존된 근거로 확인했다. 일반적 효율 향상은 측정하지 않았다.</a:t>
            </a:r>
          </a:p>
          <a:p>
            <a:r>
              <a:t xml:space="preserve"/>
            </a:r>
          </a:p>
          <a:p>
            <a:r>
              <a:t xml:space="preserve">Opening Question: “무엇을 바꾸었고, 무엇까지 실제로 확인했을까?”</a:t>
            </a:r>
          </a:p>
          <a:p>
            <a:r>
              <a:t xml:space="preserve"/>
            </a:r>
          </a:p>
          <a:p>
            <a:r>
              <a:t xml:space="preserve">**Speaker Flow:**</a:t>
            </a:r>
          </a:p>
          <a:p>
            <a:r>
              <a:t xml:space="preserve">1. (0–2분, Lecture) 기록/지침 적용/정보 보존 재구성/Task별 접근이라는 네 근거를 짧게 회수한다. 각각의 State/Trial을 가리키되 다시 로그를 낭독하지 않는다.</a:t>
            </a:r>
          </a:p>
          <a:p>
            <a:r>
              <a:t xml:space="preserve">2. (2–3분, Reflection) 팀에서 먼저 정리할 공통 안내 또는 상세 정보 하나를 조용히 떠올린다. 해결한 범위를 성능/정확도/토큰 효과로 확대하지 않고 남은 수행 방법 질문으로 넘긴다.</a:t>
            </a:r>
          </a:p>
          <a:p>
            <a:r>
              <a:t xml:space="preserve"/>
            </a:r>
          </a:p>
          <a:p>
            <a:r>
              <a:t xml:space="preserve">Evidence / Source: STATE-01; TRIAL-003; STATE-02→STATE-03; TRIAL-005A/B; BEAT-009–017; DEC-0060. The four scoped observations remain separate from the teaching recap.</a:t>
            </a:r>
          </a:p>
          <a:p>
            <a:r>
              <a:t xml:space="preserve"/>
            </a:r>
          </a:p>
          <a:p>
            <a:r>
              <a:t xml:space="preserve">보존된 상세 출처: STATE-01 · TRIAL-003 · STATE-02→03 · TRIAL-005A/B의 개별 관찰 요약</a:t>
            </a:r>
          </a:p>
          <a:p>
            <a:r>
              <a:t xml:space="preserve"/>
            </a:r>
          </a:p>
          <a:p>
            <a:r>
              <a:t xml:space="preserve">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a:r>
              <a:t xml:space="preserve"/>
            </a:r>
          </a:p>
          <a:p>
            <a:r>
              <a:t xml:space="preserve">보존된 상세 범위: 개별 관찰의 교육용 정리 · 보편적 정확도/효율 개선·독립적 인과성은 입증하지 않음</a:t>
            </a:r>
          </a:p>
          <a:p>
            <a:r>
              <a:t xml:space="preserve"/>
            </a:r>
          </a:p>
          <a:p>
            <a:r>
              <a:t xml:space="preserve">Beginner Explanation: Context 작업으로 실제 무엇을 했는지 네 가지로 기억한다.</a:t>
            </a:r>
          </a:p>
          <a:p>
            <a:r>
              <a:t xml:space="preserve"/>
            </a:r>
          </a:p>
          <a:p>
            <a:r>
              <a:t xml:space="preserve">Advanced Insight: 구조/행동/효과 측정을 다른 수준의 주장으로 구분한다.</a:t>
            </a:r>
          </a:p>
          <a:p>
            <a:r>
              <a:t xml:space="preserve"/>
            </a:r>
          </a:p>
          <a:p>
            <a:r>
              <a:t xml:space="preserve">C++ Vision Bridge: N/A.</a:t>
            </a:r>
          </a:p>
          <a:p>
            <a:r>
              <a:t xml:space="preserve"/>
            </a:r>
          </a:p>
          <a:p>
            <a:r>
              <a:t xml:space="preserve">Demo Operation: N/A.</a:t>
            </a:r>
          </a:p>
          <a:p>
            <a:r>
              <a:t xml:space="preserve"/>
            </a:r>
          </a:p>
          <a:p>
            <a:r>
              <a:t xml:space="preserve">Audience Interaction: “우리 팀에서 공통 안내와 상세로 나눌 정보 한 가지는?” 조용한 성찰이며 별도 실습·Q&amp;A를 추가하지 않는다.</a:t>
            </a:r>
          </a:p>
          <a:p>
            <a:r>
              <a:t xml:space="preserve"/>
            </a:r>
          </a:p>
          <a:p>
            <a:r>
              <a:t xml:space="preserve">**Transition:**</a:t>
            </a:r>
          </a:p>
          <a:p>
            <a:r>
              <a:t xml:space="preserve">“우리 프로젝트에서는 AGENTS.md를 어디에 두고, 어느 범위의 지침을 확인할까요?” S56–S58의 팁을 거친 뒤 S59의 기존 수행 방법 질문으로 돌아간다.</a:t>
            </a:r>
          </a:p>
          <a:p>
            <a:r>
              <a:t xml:space="preserve"/>
            </a:r>
          </a:p>
          <a:p>
            <a:r>
              <a:t xml:space="preserve">Time Management: Lecture2+Reflection1분. 과거 Trial을 다시 시연하지 않는다.</a:t>
            </a:r>
          </a:p>
          <a:p>
            <a:r>
              <a:t xml:space="preserve"/>
            </a:r>
          </a:p>
          <a:p>
            <a:r>
              <a:t xml:space="preserve">Fallback:</a:t>
            </a:r>
          </a:p>
          <a:p>
            <a:r>
              <a:t xml:space="preserve">LOCAL STATIC ARTIFACT — production/ACT_2.pptx / S55; production/preview/act2/S55.png.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S56 — AGENTS.md는 어디에 둘까?</a:t>
            </a:r>
          </a:p>
          <a:p>
            <a:r>
              <a:t xml:space="preserve"/>
            </a:r>
          </a:p>
          <a:p>
            <a:r>
              <a:t xml:space="preserve">**Slide ID:**</a:t>
            </a:r>
          </a:p>
          <a:p>
            <a:r>
              <a:t xml:space="preserve">S56</a:t>
            </a:r>
          </a:p>
          <a:p>
            <a:r>
              <a:t xml:space="preserve"/>
            </a:r>
          </a:p>
          <a:p>
            <a:r>
              <a:t xml:space="preserve">**Working Title:**</a:t>
            </a:r>
          </a:p>
          <a:p>
            <a:r>
              <a:t xml:space="preserve">AGENTS.md는 어디에 둘까?</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개인 기본값과 프로젝트 공통 규칙, 모듈별 지침을 구분해 두고 현재 작업에 해당하는 범위를 확인한다.</a:t>
            </a:r>
          </a:p>
          <a:p>
            <a:r>
              <a:t xml:space="preserve"/>
            </a:r>
          </a:p>
          <a:p>
            <a:r>
              <a:t xml:space="preserve">**Opening Question:**</a:t>
            </a:r>
          </a:p>
          <a:p>
            <a:r>
              <a:t xml:space="preserve">“공통 규칙과 특정 모듈 규칙을 어디에 둘까?”</a:t>
            </a:r>
          </a:p>
          <a:p>
            <a:r>
              <a:t xml:space="preserve"/>
            </a:r>
          </a:p>
          <a:p>
            <a:r>
              <a:t xml:space="preserve">**Speaker Flow:**</a:t>
            </a:r>
          </a:p>
          <a:p>
            <a:r>
              <a:t xml:space="preserve">1. (0–1분) S55는 실제 Demo의 Context 정리 회수였다. 여기부터 공식 지침을 적용한 별도 검사 프로젝트 예다. 개인 기본값의 언어/Git 규칙을 가리킨다.</a:t>
            </a:r>
          </a:p>
          <a:p>
            <a:r>
              <a:t xml:space="preserve">2. (1–2분) 루트 공통 API 보존과 vision의 ROI 명세를 폴더 위치에 연결한다. device의 하드웨어 연동 규칙은 형제 모듈 규칙이다.</a:t>
            </a:r>
          </a:p>
          <a:p>
            <a:r>
              <a:t xml:space="preserve">3. (2–3분) crop.cpp가 속한 가지를 짚는다. 이 그림은 적용 범위를 설명하며 전체 하위 파일의 자동 로드를 뜻하지 않는다. 다음은 공통·전용 규칙의 결합이다.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루트의 공통 규칙과 작업 폴더에만 필요한 규칙을 구분한다.</a:t>
            </a:r>
          </a:p>
          <a:p>
            <a:r>
              <a:t xml:space="preserve"/>
            </a:r>
          </a:p>
          <a:p>
            <a:r>
              <a:t xml:space="preserve">**Advanced Insight:**</a:t>
            </a:r>
          </a:p>
          <a:p>
            <a:r>
              <a:t xml:space="preserve">규칙의 논리적 범위와 런타임 수집 여부를 혼동하지 않고 다음 장에서 병합 관계를 본다.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“crop.cpp를 수정할 때, 공통 지침과 vision 지침은 어떻게 함께 적용될까요?” S57로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S56; production/preview/act2/S56.png.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S57 — 공통 지침에 모듈 지침을 더한다</a:t>
            </a:r>
          </a:p>
          <a:p>
            <a:r>
              <a:t xml:space="preserve"/>
            </a:r>
          </a:p>
          <a:p>
            <a:r>
              <a:t xml:space="preserve">**Slide ID:**</a:t>
            </a:r>
          </a:p>
          <a:p>
            <a:r>
              <a:t xml:space="preserve">S57</a:t>
            </a:r>
          </a:p>
          <a:p>
            <a:r>
              <a:t xml:space="preserve"/>
            </a:r>
          </a:p>
          <a:p>
            <a:r>
              <a:t xml:space="preserve">**Working Title:**</a:t>
            </a:r>
          </a:p>
          <a:p>
            <a:r>
              <a:t xml:space="preserve">공통 지침에 모듈 지침을 더한다</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공통 지침을 유지하면서 모듈 전용 지침을 더한다. 충돌하는 기본값은 더 가까운 지침을 우선한다.</a:t>
            </a:r>
          </a:p>
          <a:p>
            <a:r>
              <a:t xml:space="preserve"/>
            </a:r>
          </a:p>
          <a:p>
            <a:r>
              <a:t xml:space="preserve">**Opening Question:**</a:t>
            </a:r>
          </a:p>
          <a:p>
            <a:r>
              <a:t xml:space="preserve">“모듈 지침이 있으면 루트 지침은 없어질까?”</a:t>
            </a:r>
          </a:p>
          <a:p>
            <a:r>
              <a:t xml:space="preserve"/>
            </a:r>
          </a:p>
          <a:p>
            <a:r>
              <a:t xml:space="preserve">**Speaker Flow:**</a:t>
            </a:r>
          </a:p>
          <a:p>
            <a:r>
              <a:t xml:space="preserve">1. (0–1분) 수정 대상은 같은 src/vision/crop.cpp다. 루트의 공개 API 유지와 기본 검증 진입점을 읽는다.</a:t>
            </a:r>
          </a:p>
          <a:p>
            <a:r>
              <a:t xml:space="preserve">2. (1–2분) vision의 ROI 명세와 전용 검증 진입점을 더한다. 결합한 목록에서 공개 API 유지가 사라지지 않았음을 확인한다.</a:t>
            </a:r>
          </a:p>
          <a:p>
            <a:r>
              <a:t xml:space="preserve">3. (2–3분) 충돌하는 기본값만 더 가까운 지침을 우선한다. ctest 예시는 기본 진입점 선택이며, 의무적인 전체 회귀 검사를 생략하거나 상위 승인·권한을 우회하는 규칙이 아니다. 다음 장에서 실제 수집을 따로 확인한다.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모듈 규칙을 추가해도 공통 제약이 남는다는 점을 이해한다.</a:t>
            </a:r>
          </a:p>
          <a:p>
            <a:r>
              <a:t xml:space="preserve"/>
            </a:r>
          </a:p>
          <a:p>
            <a:r>
              <a:t xml:space="preserve">**Advanced Insight:**</a:t>
            </a:r>
          </a:p>
          <a:p>
            <a:r>
              <a:t xml:space="preserve">상속과 충돌 해결을 구별하고 검증 진입점 기본값과 필수 검증 의무를 혼동하지 않는다.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“적용할 규칙을 배치했다면, Codex가 실제로 그 파일을 읽었을까요?” S58로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S57; production/preview/act2/S57.png.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S58 — 적용할 지침을 실제로 읽었을까?</a:t>
            </a:r>
          </a:p>
          <a:p>
            <a:r>
              <a:t xml:space="preserve"/>
            </a:r>
          </a:p>
          <a:p>
            <a:r>
              <a:t xml:space="preserve">**Slide ID:**</a:t>
            </a:r>
          </a:p>
          <a:p>
            <a:r>
              <a:t xml:space="preserve">S58</a:t>
            </a:r>
          </a:p>
          <a:p>
            <a:r>
              <a:t xml:space="preserve"/>
            </a:r>
          </a:p>
          <a:p>
            <a:r>
              <a:t xml:space="preserve">**Working Title:**</a:t>
            </a:r>
          </a:p>
          <a:p>
            <a:r>
              <a:t xml:space="preserve">적용할 지침을 실제로 읽었을까?</a:t>
            </a:r>
          </a:p>
          <a:p>
            <a:r>
              <a:t xml:space="preserve"/>
            </a:r>
          </a:p>
          <a:p>
            <a:r>
              <a:t xml:space="preserve">**ACT / Section:**</a:t>
            </a:r>
          </a:p>
          <a:p>
            <a:r>
              <a:t xml:space="preserve">ACT 2 / 2I Discussion·Transition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시작 시 자동 수집은 루트에서 시작 작업 폴더까지의 경로를 따른다. 작업에 필요한 하위 지침은 적용 경로와 본문을 확인해 읽도록 요청한다.</a:t>
            </a:r>
          </a:p>
          <a:p>
            <a:r>
              <a:t xml:space="preserve"/>
            </a:r>
          </a:p>
          <a:p>
            <a:r>
              <a:t xml:space="preserve">**Opening Question:**</a:t>
            </a:r>
          </a:p>
          <a:p>
            <a:r>
              <a:t xml:space="preserve">“파일이 그 위치에 있으면 반드시 읽혔다고 볼 수 있을까?”</a:t>
            </a:r>
          </a:p>
          <a:p>
            <a:r>
              <a:t xml:space="preserve"/>
            </a:r>
          </a:p>
          <a:p>
            <a:r>
              <a:t xml:space="preserve">**Speaker Flow:**</a:t>
            </a:r>
          </a:p>
          <a:p>
            <a:r>
              <a:t xml:space="preserve">1. (0–1분) 같은 폴더 구조에서 시작 위치만 비교한다. 루트 시작은 자동 검색이 루트에서 멈추며, vision에서 시작하면 경로의 모듈 지침까지 포함된다. 전체 하위 폴더를 재귀적으로 자동 수집한다는 뜻은 아니다.</a:t>
            </a:r>
          </a:p>
          <a:p>
            <a:r>
              <a:t xml:space="preserve">2. (1–2분) 화면의 요청을 읽는다. 루트에서 시작해 하위 코드를 다룬다면 적용할 중첩 지침도 찾아 본문을 읽도록 한다. 응답 경로를 실제 파일과 대조하고 필요하면 로드/읽기 기록을 확인한다. 수행 방법 반복 질문으로 돌아간다.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 시작 시 지침 체인은 새 실행/세션에서 구성된다. 실행 중 터미널 cd만으로 기존 세션이 재수집한다고 말하지 않는다. Desktop의 주 작업 폴더와 추가 첨부 폴더의 자동 발견도 구별한다. 같은 디렉터리의 AGENTS.override.md가 일반 AGENTS.md보다 먼저 선택되고, fallback 이름/크기 설정도 수집에 영향을 줄 수 있다. 상세 설정은 공식 문서로 안내한다.</a:t>
            </a:r>
          </a:p>
          <a:p>
            <a:r>
              <a:t xml:space="preserve"/>
            </a:r>
          </a:p>
          <a:p>
            <a:r>
              <a:t xml:space="preserve">**Beginner Explanation:**</a:t>
            </a:r>
          </a:p>
          <a:p>
            <a:r>
              <a:t xml:space="preserve">파일을 두는 것과 실제로 읽히는 것을 구분하고 확인할 요청을 쓸 수 있다.</a:t>
            </a:r>
          </a:p>
          <a:p>
            <a:r>
              <a:t xml:space="preserve"/>
            </a:r>
          </a:p>
          <a:p>
            <a:r>
              <a:t xml:space="preserve">**Advanced Insight:**</a:t>
            </a:r>
          </a:p>
          <a:p>
            <a:r>
              <a:t xml:space="preserve">시작 시 instruction chain과 이후 명시적 파일 읽기를 구분하며 경로·내용·필요 시 로그를 대조한다.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“지침의 위치와 읽을 범위를 정리해도, 작업마다 같은 수행 절차를 다시 요청하는 문제는 남습니다.” S59의 기존 Harness 질문으로 돌아간다.</a:t>
            </a:r>
          </a:p>
          <a:p>
            <a:r>
              <a:t xml:space="preserve"/>
            </a:r>
          </a:p>
          <a:p>
            <a:r>
              <a:t xml:space="preserve">**Time Management:**</a:t>
            </a:r>
          </a:p>
          <a:p>
            <a:r>
              <a:t xml:space="preserve">Lecture 2분. 화면의 질문·도식·다음 질문을 정해진 순서로 짚고 시간에 넘긴다. 실제 리허설 UNVERIFIED.</a:t>
            </a:r>
          </a:p>
          <a:p>
            <a:r>
              <a:t xml:space="preserve"/>
            </a:r>
          </a:p>
          <a:p>
            <a:r>
              <a:t xml:space="preserve">**Fallback:**</a:t>
            </a:r>
          </a:p>
          <a:p>
            <a:r>
              <a:t xml:space="preserve">LOCAL STATIC ARTIFACT — production/ACT_2.pptx / S58; production/preview/act2/S58.png.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S59 — 지식은 정리됐지만 절차는 반복된다</a:t>
            </a:r>
          </a:p>
          <a:p>
            <a:r>
              <a:t xml:space="preserve"/>
            </a:r>
          </a:p>
          <a:p>
            <a:r>
              <a:t xml:space="preserve">Slide ID:</a:t>
            </a:r>
          </a:p>
          <a:p>
            <a:r>
              <a:t xml:space="preserve">S59</a:t>
            </a:r>
          </a:p>
          <a:p>
            <a:r>
              <a:t xml:space="preserve"/>
            </a:r>
          </a:p>
          <a:p>
            <a:r>
              <a:t xml:space="preserve">Working Title: 지식은 정리됐지만 절차는 반복된다</a:t>
            </a:r>
          </a:p>
          <a:p>
            <a:r>
              <a:t xml:space="preserve"/>
            </a:r>
          </a:p>
          <a:p>
            <a:r>
              <a:t xml:space="preserve">ACT / Section: ACT 2 / 2I</a:t>
            </a:r>
          </a:p>
          <a:p>
            <a:r>
              <a:t xml:space="preserve"/>
            </a:r>
          </a:p>
          <a:p>
            <a:r>
              <a:t xml:space="preserve">Allocated Time: 10 minutes</a:t>
            </a:r>
          </a:p>
          <a:p>
            <a:r>
              <a:t xml:space="preserve"/>
            </a:r>
          </a:p>
          <a:p>
            <a:r>
              <a:t xml:space="preserve">Mode Split: Transition 4 minutes + Q&amp;A 6 minutes</a:t>
            </a:r>
          </a:p>
          <a:p>
            <a:r>
              <a:t xml:space="preserve"/>
            </a:r>
          </a:p>
          <a:p>
            <a:r>
              <a:t xml:space="preserve">Primary Message: Prompt는 현재 원하는 것을, Project Context는 일반적으로 참인 것을, Routing은 관련 상세 정보의 위치를 다룬다. 반복되는 작업 절차는 별도의 문제로 남을 수 있다.</a:t>
            </a:r>
          </a:p>
          <a:p>
            <a:r>
              <a:t xml:space="preserve"/>
            </a:r>
          </a:p>
          <a:p>
            <a:r>
              <a:t xml:space="preserve">Opening Question: “Project 정보를 잘 정리했으면 문제가 끝난 걸까?”</a:t>
            </a:r>
          </a:p>
          <a:p>
            <a:r>
              <a:t xml:space="preserve"/>
            </a:r>
          </a:p>
          <a:p>
            <a:r>
              <a:t xml:space="preserve">**Speaker Flow:**</a:t>
            </a:r>
          </a:p>
          <a:p>
            <a:r>
              <a:t xml:space="preserve">1. (0–1분, Transition) 정보의 위치와 근거 접근을 정리했다는 앞 장 성과를 한 문장으로 회수한다.</a:t>
            </a:r>
          </a:p>
          <a:p>
            <a:r>
              <a:t xml:space="preserve">2. (1–4분, Transition) 하나의 성능 요청에 여전히 조사·검증 절차를 다시 적는 그림을 보여주며 유지 책임을 묻는다. 다음 장의 두 기록 비교를 미리 설명하지 않는다.</a:t>
            </a:r>
          </a:p>
          <a:p>
            <a:r>
              <a:t xml:space="preserve">3. (4–9:40, Q&amp;A) “우리 팀은 어떤 절차를 매번 다시 요청합니까?”로 팀의 방법 반복을 묻는다. 질문이 없으면 변경 전 측정/동일 입력 비교/완료 보고 중 하나를 선택하게 한다.</a:t>
            </a:r>
          </a:p>
          <a:p>
            <a:r>
              <a:t xml:space="preserve">4. (9:40–10분, Q&amp;A 마무리) 두 실제 성능 요청에 반복된 지시를 보겠다고 S61으로 넘긴다.</a:t>
            </a:r>
          </a:p>
          <a:p>
            <a:r>
              <a:t xml:space="preserve">기존 연결 질문을 유지한 채 ACT 3 제목 S60를 거쳐 S61의 첫 문제로 이어간다. 제목의 Transition1분은 다음 ACT에 별도로 배정한다.</a:t>
            </a:r>
          </a:p>
          <a:p>
            <a:r>
              <a:t xml:space="preserve"/>
            </a:r>
          </a:p>
          <a:p>
            <a:r>
              <a:t xml:space="preserve">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a:r>
              <a:t xml:space="preserve"/>
            </a:r>
          </a:p>
          <a:p>
            <a:r>
              <a:t xml:space="preserve">보존된 상세 출처: 교육용 요청 재구성 · 다음 ACT에서 TRIAL-006/007의 실제 기록을 비교</a:t>
            </a:r>
          </a:p>
          <a:p>
            <a:r>
              <a:t xml:space="preserve"/>
            </a:r>
          </a:p>
          <a:p>
            <a:r>
              <a:t xml:space="preserve">Claim Boundary:</a:t>
            </a:r>
          </a:p>
          <a:p>
            <a:r>
              <a:t xml:space="preserve">FROZEN — 93장 구조·Story·시간·Demo 범위; TEACHING_MODEL; Context 정리는 ACT 2의 주제이며, 다음 절차 반복 예시는 ACT 3의 질문이다. Trial Prompt만으로 전체 절차의 원인을 귀속하지 않는다. S55의 성과를 반복 해설하지 않고 수행 방법을 누가 유지할지 질문한다. Transition4 뒤 Q&amp;A6은 팀의 반복되는 방법을 묻고 마지막20초에 다음 기록으로 넘어간다. 두 실제 요청의 대응 기록은 S61에 남겨 역할을 나눈다.</a:t>
            </a:r>
          </a:p>
          <a:p>
            <a:r>
              <a:t xml:space="preserve"/>
            </a:r>
          </a:p>
          <a:p>
            <a:r>
              <a:t xml:space="preserve">보존된 상세 범위: Context 선택 완전 해결 미입증 · 다음 예시도 Prompt 단독 효과로 귀속하지 않음</a:t>
            </a:r>
          </a:p>
          <a:p>
            <a:r>
              <a:t xml:space="preserve"/>
            </a:r>
          </a:p>
          <a:p>
            <a:r>
              <a:t xml:space="preserve">Beginner Explanation: 명세·구조·테스트 안내를 어디서 찾을지 알려두는 것과, 어떤 순서로 조사하고 확인할지 요청하는 것은 책임이 다르다. 현재 목표가 달라도 같은 작업 방법을 다시 적는 부분을 살핀다.</a:t>
            </a:r>
          </a:p>
          <a:p>
            <a:r>
              <a:t xml:space="preserve"/>
            </a:r>
          </a:p>
          <a:p>
            <a:r>
              <a:t xml:space="preserve">Advanced Insight: The screen contrasts information scope/location with repeated procedure ownership. The recorded common workflow motivates a design question; it does not establish isolated Prompt causality or measured Context efficiency.</a:t>
            </a:r>
          </a:p>
          <a:p>
            <a:r>
              <a:t xml:space="preserve"/>
            </a:r>
          </a:p>
          <a:p>
            <a:r>
              <a:t xml:space="preserve">C++ Vision Bridge: N/A.</a:t>
            </a:r>
          </a:p>
          <a:p>
            <a:r>
              <a:t xml:space="preserve"/>
            </a:r>
          </a:p>
          <a:p>
            <a:r>
              <a:t xml:space="preserve">Demo Operation:</a:t>
            </a:r>
          </a:p>
          <a:p>
            <a:r>
              <a:t xml:space="preserve">N/A — native 문서 배치와 두 성능 요청의 압축 요약을 정적으로 보여준다. Prompt 전문·실제 Screenshot·현재 제품 실행으로 표현하지 않는다. 이 장은 새 Trial이나 추가 Demo 시간이 아니다. 다음 S61에서 기록의 반복 구조를 확인한다.</a:t>
            </a:r>
          </a:p>
          <a:p>
            <a:r>
              <a:t xml:space="preserve"/>
            </a:r>
          </a:p>
          <a:p>
            <a:r>
              <a:t xml:space="preserve">Audience Interaction:</a:t>
            </a:r>
          </a:p>
          <a:p>
            <a:r>
              <a:t xml:space="preserve">Q&amp;A6分은 팀에서 반복하는 작업 방법을 묻는다. S54의 근거 주장 해석 Q&amp;A와 구분한다. 무응답 때는 “변경 전 측정, 테스트, 비교·보고 중 무엇을 매번 적습니까?”를 사용한다.</a:t>
            </a:r>
          </a:p>
          <a:p>
            <a:r>
              <a:t xml:space="preserve"/>
            </a:r>
          </a:p>
          <a:p>
            <a:r>
              <a:t xml:space="preserve">**Transition:**</a:t>
            </a:r>
          </a:p>
          <a:p>
            <a:r>
              <a:t xml:space="preserve">“우리 팀은 어떤 절차를 매번 다시 요청합니까? 다음에는 두 성능 Task의 실제 요청 기록에서 반복된 지시를 확인합니다.”</a:t>
            </a:r>
          </a:p>
          <a:p>
            <a:r>
              <a:t xml:space="preserve">기존 연결 질문을 유지한 채 ACT 3 제목 S60를 거쳐 S61의 첫 문제로 이어간다. 제목의 Transition1분은 다음 ACT에 별도로 배정한다.</a:t>
            </a:r>
          </a:p>
          <a:p>
            <a:r>
              <a:t xml:space="preserve"/>
            </a:r>
          </a:p>
          <a:p>
            <a:r>
              <a:t xml:space="preserve">Time Management:</a:t>
            </a:r>
          </a:p>
          <a:p>
            <a:r>
              <a:t xml:space="preserve">Transition4분 후 Q&amp;A6분을 유지한다. 두 실제 요청 전문 비교는 여기서 하지 않는다. 질문은9:40에 마무리하고 마지막20초에 S61으로 handoff한다.</a:t>
            </a:r>
          </a:p>
          <a:p>
            <a:r>
              <a:t xml:space="preserve"/>
            </a:r>
          </a:p>
          <a:p>
            <a:r>
              <a:t xml:space="preserve">Fallback:</a:t>
            </a:r>
          </a:p>
          <a:p>
            <a:r>
              <a:t xml:space="preserve">LOCAL STATIC ARTIFACT — production/ACT_2.pptx의 S59 또는 production/preview/act2/S59.png를 사용한다. Full/ACT2 PNG·내장 Notes 일치는 production/evaluation/S49_WORKFLOW_HANDOFF_REVISION.md와 검증 JSON을 따른다. 실제 실행 캡처나 현재 제품 화면이 아니다. 무응답 시 Audience Interaction의 준비 질문으로 진행한다.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eb38eddd7f146a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899cb71eda74c2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6d702677e0e464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a40e1ac7a7645a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b2d605ec0a242a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caeb2a76628479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BB1EAFF-D1A2-4142-8680-B417AAA8E05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8041A85-9F26-4A6F-986B-8DEDA0822C1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F071B22-FAF3-4D70-A685-1603FA44B09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B54DB6C-F82A-46AB-B76B-34283EE3A97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BBF8880-233C-4D39-935A-62A4510091C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485AB7B-170E-46EB-9A45-A19F88FEE24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5C7E208-4F7F-462B-9B8F-D6B4BDB3C88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B3446D8-4075-4E27-9AD0-371FA78A558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835B0B8-8A01-4A43-A583-1BAB851CB20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0801B9-CACC-4672-8A82-F2BABE572EA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d6fd0a205c34e54" /><Relationship Type="http://schemas.openxmlformats.org/officeDocument/2006/relationships/slideLayout" Target="/ppt/slideLayouts/slideLayout1.xml" Id="Raa493cf1c9764cf8" /><Relationship Type="http://schemas.openxmlformats.org/officeDocument/2006/relationships/slideLayout" Target="/ppt/slideLayouts/slideLayout2.xml" Id="R47eada682c894e05" /><Relationship Type="http://schemas.openxmlformats.org/officeDocument/2006/relationships/slideLayout" Target="/ppt/slideLayouts/slideLayout3.xml" Id="Ra8527dac15e5418e" /><Relationship Type="http://schemas.openxmlformats.org/officeDocument/2006/relationships/slideLayout" Target="/ppt/slideLayouts/slideLayout4.xml" Id="Rae0d0acd3c2d4a68" /><Relationship Type="http://schemas.openxmlformats.org/officeDocument/2006/relationships/slideLayout" Target="/ppt/slideLayouts/slideLayout5.xml" Id="Rb94cc54bf3ef41ed" /><Relationship Type="http://schemas.openxmlformats.org/officeDocument/2006/relationships/slideLayout" Target="/ppt/slideLayouts/slideLayout6.xml" Id="Rabf0dffedfc34e0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a493cf1c9764cf8"/>
    <p:sldLayoutId xmlns:r="http://schemas.openxmlformats.org/officeDocument/2006/relationships" id="2147483650" r:id="R47eada682c894e05"/>
    <p:sldLayoutId xmlns:r="http://schemas.openxmlformats.org/officeDocument/2006/relationships" id="2147483651" r:id="Ra8527dac15e5418e"/>
    <p:sldLayoutId xmlns:r="http://schemas.openxmlformats.org/officeDocument/2006/relationships" id="2147483652" r:id="Rae0d0acd3c2d4a68"/>
    <p:sldLayoutId xmlns:r="http://schemas.openxmlformats.org/officeDocument/2006/relationships" id="2147483653" r:id="Rb94cc54bf3ef41ed"/>
    <p:sldLayoutId xmlns:r="http://schemas.openxmlformats.org/officeDocument/2006/relationships" id="2147483654" r:id="Rabf0dffedfc34e0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76d24dfb0cd4689" /><Relationship Type="http://schemas.openxmlformats.org/officeDocument/2006/relationships/notesSlide" Target="/ppt/notesSlides/notesSlide1.xml" Id="Rd4879cffa24b47b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fb1fd63a1734995" /><Relationship Type="http://schemas.openxmlformats.org/officeDocument/2006/relationships/notesSlide" Target="/ppt/notesSlides/notesSlide2.xml" Id="R779b08c79d1e45e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9605ebc7ecb473e" /><Relationship Type="http://schemas.openxmlformats.org/officeDocument/2006/relationships/notesSlide" Target="/ppt/notesSlides/notesSlide3.xml" Id="R7fe721245dd1473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be02345771849f1" /><Relationship Type="http://schemas.openxmlformats.org/officeDocument/2006/relationships/notesSlide" Target="/ppt/notesSlides/notesSlide4.xml" Id="R29893988724e478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b57fdba5c64445f" /><Relationship Type="http://schemas.openxmlformats.org/officeDocument/2006/relationships/image" Target="/ppt/media/image.png" Id="Rb050f57369144992" /><Relationship Type="http://schemas.openxmlformats.org/officeDocument/2006/relationships/image" Target="/ppt/media/image2.png" Id="Raec96372be43428d" /><Relationship Type="http://schemas.openxmlformats.org/officeDocument/2006/relationships/notesSlide" Target="/ppt/notesSlides/notesSlide5.xml" Id="Rce3dbe064e2a441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6edb428bd6f4fb3" /><Relationship Type="http://schemas.openxmlformats.org/officeDocument/2006/relationships/image" Target="/ppt/media/image3.png" Id="Rb9be77206dfa4f0b" /><Relationship Type="http://schemas.openxmlformats.org/officeDocument/2006/relationships/notesSlide" Target="/ppt/notesSlides/notesSlide6.xml" Id="R90be2053eea942f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7fb7024b1214a4c" /><Relationship Type="http://schemas.openxmlformats.org/officeDocument/2006/relationships/notesSlide" Target="/ppt/notesSlides/notesSlide7.xml" Id="R8a8c48751bca494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be72e0ba65e4af5" /><Relationship Type="http://schemas.openxmlformats.org/officeDocument/2006/relationships/notesSlide" Target="/ppt/notesSlides/notesSlide8.xml" Id="R827dbb66ee954b7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975dbe2393146a3" /><Relationship Type="http://schemas.openxmlformats.org/officeDocument/2006/relationships/notesSlide" Target="/ppt/notesSlides/notesSlide9.xml" Id="R5175270c146340b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83bc2e79ebb4033" /><Relationship Type="http://schemas.openxmlformats.org/officeDocument/2006/relationships/notesSlide" Target="/ppt/notesSlides/notesSlide10.xml" Id="R804fafc66a98451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39eeb3325a744cd" /><Relationship Type="http://schemas.openxmlformats.org/officeDocument/2006/relationships/notesSlide" Target="/ppt/notesSlides/notesSlide11.xml" Id="Re2d2f3b0657449f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afbd41b37b04316" /><Relationship Type="http://schemas.openxmlformats.org/officeDocument/2006/relationships/notesSlide" Target="/ppt/notesSlides/notesSlide12.xml" Id="R2d40ea8638844d6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e1867bf2b784593" /><Relationship Type="http://schemas.openxmlformats.org/officeDocument/2006/relationships/notesSlide" Target="/ppt/notesSlides/notesSlide13.xml" Id="Ra3ce857999e4417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cbb4e6803bd4e91" /><Relationship Type="http://schemas.openxmlformats.org/officeDocument/2006/relationships/notesSlide" Target="/ppt/notesSlides/notesSlide14.xml" Id="R071afb9340cf4a8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19d81cd96204fcd" /><Relationship Type="http://schemas.openxmlformats.org/officeDocument/2006/relationships/notesSlide" Target="/ppt/notesSlides/notesSlide15.xml" Id="Ra2553c021f6b4f2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937549e6cb74ec2" /><Relationship Type="http://schemas.openxmlformats.org/officeDocument/2006/relationships/notesSlide" Target="/ppt/notesSlides/notesSlide16.xml" Id="Rd87c45cc5e2e45b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a2a4181b4374d68" /><Relationship Type="http://schemas.openxmlformats.org/officeDocument/2006/relationships/notesSlide" Target="/ppt/notesSlides/notesSlide17.xml" Id="R7d34f4654bf2438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1067819d4b64e68" /><Relationship Type="http://schemas.openxmlformats.org/officeDocument/2006/relationships/notesSlide" Target="/ppt/notesSlides/notesSlide18.xml" Id="Rffc4d9777ecb4408" /></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4f3f0b9e46444438"/><Relationship Type="http://schemas.openxmlformats.org/officeDocument/2006/relationships/notesSlide" Target="/ppt/notesSlides/notesSlide19.xml" Id="R2fb43c6f70404522"/></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f9b181a721ea4b18"/><Relationship Type="http://schemas.openxmlformats.org/officeDocument/2006/relationships/notesSlide" Target="/ppt/notesSlides/notesSlide20.xml" Id="R20a4959413924f22"/></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ba57701f641f4d65"/><Relationship Type="http://schemas.openxmlformats.org/officeDocument/2006/relationships/notesSlide" Target="/ppt/notesSlides/notesSlide21.xml" Id="R438ccbd9d6504e36"/></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4d15b662c0204d7e" /><Relationship Type="http://schemas.openxmlformats.org/officeDocument/2006/relationships/notesSlide" Target="/ppt/notesSlides/notesSlide22.xml" Id="R4678ccd46f3e4657" /></Relationships>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75E84DCD-9D31-40BF-9263-FFC79F03FCF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8">
            <a:extLst xmlns:a="http://schemas.openxmlformats.org/drawingml/2006/main">
              <a:ext uri="{FF2B5EF4-FFF2-40B4-BE49-F238E27FC236}">
                <a16:creationId xmlns:a16="http://schemas.microsoft.com/office/drawing/2014/main" id="{FCF97581-7962-4C54-B5E4-0A4CBB525F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
            <a:extLst xmlns:a="http://schemas.openxmlformats.org/drawingml/2006/main">
              <a:ext uri="{FF2B5EF4-FFF2-40B4-BE49-F238E27FC236}">
                <a16:creationId xmlns:a16="http://schemas.microsoft.com/office/drawing/2014/main" id="{7C07D2B6-9CE1-45F1-A3F8-079A05A2DBC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240A73EB-13C7-4D32-A234-3295B0C20AF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38F72F04-BA50-4260-ADD6-D3C0D188A122}"/>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23D6EBB3-09BF-4695-9520-119DE73DFAD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13AC415-A787-49FF-AC3D-C0AD5E3F58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89074690"/>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FD68EC6E-5BC1-4D6D-A055-BF3C935811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9">
            <a:extLst xmlns:a="http://schemas.openxmlformats.org/drawingml/2006/main">
              <a:ext uri="{FF2B5EF4-FFF2-40B4-BE49-F238E27FC236}">
                <a16:creationId xmlns:a16="http://schemas.microsoft.com/office/drawing/2014/main" id="{99B574F2-2A55-44F3-8C9A-039F2709AF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다른 Task에 같은 설명이 반복된다">
            <a:extLst xmlns:a="http://schemas.openxmlformats.org/drawingml/2006/main">
              <a:ext uri="{FF2B5EF4-FFF2-40B4-BE49-F238E27FC236}">
                <a16:creationId xmlns:a16="http://schemas.microsoft.com/office/drawing/2014/main" id="{CE4BC32C-9B83-4F53-814E-513D788F0E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B3983D40-D9F5-4829-A4C4-6A9971FECE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976BD102-07A1-4EE2-AF2D-E4F4916B93EB}"/>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D5644000-40E2-43FA-8A29-531BB532000B}"/>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5BCC1C29-1593-4AC1-B028-DE5B8A78FB09}"/>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89F06089-0C3E-4715-822F-89C6AB94219D}"/>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3462F3C-33A6-4064-AF49-99FB6D57B110}"/>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38A4DFB3-2678-4F31-AE8F-9434B96C7EDC}"/>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D784111-2B77-496F-956F-3772E5321B36}"/>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D5719924-35D4-4429-8057-AB3B888F1408}"/>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DB8F558A-766F-4BEB-A212-CBF71C2628DC}"/>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A8CDA387-E9BA-4B5C-8CAA-A059CAED1795}"/>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E3BBFA32-697C-4C8B-A196-3C2EFB9E1EE9}"/>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517C98A6-6832-49B9-8657-BC20F8479EE7}"/>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4B40A197-1C54-463B-B4BE-9108481F7BE9}"/>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73852D0-AAC7-45D0-BC20-0B9D864C5D01}"/>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4FFBD0B7-4BAE-4283-A5D0-A05017A46B96}"/>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8A62B817-94E7-46FB-B524-F58F76C8BE82}"/>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BFEC46DF-12AC-4B92-9385-472C796908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33601686"/>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6BAA2024-DBDA-469D-BE83-47E83DE07B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40">
            <a:extLst xmlns:a="http://schemas.openxmlformats.org/drawingml/2006/main">
              <a:ext uri="{FF2B5EF4-FFF2-40B4-BE49-F238E27FC236}">
                <a16:creationId xmlns:a16="http://schemas.microsoft.com/office/drawing/2014/main" id="{05AEC579-A093-4214-BC4A-03B575492A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작은 Project Context의 첫 기록">
            <a:extLst xmlns:a="http://schemas.openxmlformats.org/drawingml/2006/main">
              <a:ext uri="{FF2B5EF4-FFF2-40B4-BE49-F238E27FC236}">
                <a16:creationId xmlns:a16="http://schemas.microsoft.com/office/drawing/2014/main" id="{34950F1C-8506-44B6-8085-C4E4EA0855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A56F589C-589F-427C-AD1A-AF959E26A7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B3673A2-CF40-4452-9C93-EBD8E9EAC5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7F4C3962-0861-405D-B35C-A1BAAECA1B35}"/>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9F7D1B08-BABB-4085-B60F-55002BD5C772}"/>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298EE402-9E6F-4C27-A052-12F1628798F2}"/>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33B69EDF-50D6-4F51-8BD3-4CD2AAF21795}"/>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A05D28C2-762C-49DF-84A2-8DBC6781E747}"/>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72B7B294-BFE9-4E8A-B785-60A42DAA793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F9108B54-3AEB-4C23-9036-9A768B98BE33}"/>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286A9E30-0AAD-47AD-B73D-72805BC89D24}"/>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E4E1FEAE-2E3E-40CD-AB44-C2C24E9FAD04}"/>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A7D4C6EE-E943-489D-B67C-76F4267E318C}"/>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D38DD38-7429-4395-A95C-599CCC5B97E1}"/>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7A45E512-EBCC-43B5-AEA3-5C78D9B4F51F}"/>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FFE6199E-EEC8-40DD-8083-AE4C0EFBC8BD}"/>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12501390-C4BC-4C4C-A00C-ACFB62C4F757}"/>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27ABBA84-E8E3-4375-8D0D-8B7E93BA5E6E}"/>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9D745D5E-D600-49C0-AC1F-49C0039625DC}"/>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D2D6D7E0-E2A2-41C5-8958-CB0985160403}"/>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F107A58-B5FB-4600-B5FC-3B6328CEF7DE}"/>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E81D9C51-43FB-4569-B1C0-BE96CA18AE43}"/>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1F0C83FE-34F6-4556-A404-F1ED3AF167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492326"/>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315E3E02-BB2D-4279-897E-BA3F485858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1">
            <a:extLst xmlns:a="http://schemas.openxmlformats.org/drawingml/2006/main">
              <a:ext uri="{FF2B5EF4-FFF2-40B4-BE49-F238E27FC236}">
                <a16:creationId xmlns:a16="http://schemas.microsoft.com/office/drawing/2014/main" id="{C4A39C16-D9C4-4FD8-8DCB-89DFFCE194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의 지침대로 검증했다">
            <a:extLst xmlns:a="http://schemas.openxmlformats.org/drawingml/2006/main">
              <a:ext uri="{FF2B5EF4-FFF2-40B4-BE49-F238E27FC236}">
                <a16:creationId xmlns:a16="http://schemas.microsoft.com/office/drawing/2014/main" id="{A1529EC6-2D2B-44B1-AF17-1F734FDF20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15C6C0D-1A3E-4637-88B4-FD4AAE3425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6D7FB9F-2F92-4751-86BE-3AC20763DB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65B38CC2-B3BA-4425-8288-F022777E4C28}"/>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DC3AD5C6-188E-43A2-9FBE-6EC3C924AB3B}"/>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B64B24B5-AE51-437B-9F80-AE52A084C774}"/>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55F721F3-A0BD-4B7F-B654-FAD1DD5EE12E}"/>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B2A9931D-2861-4828-94FB-FF7E23C3E610}"/>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873BCCCC-9FA7-42F6-8FDA-7933359C389E}"/>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A381185B-E247-4467-BB82-FBE215002439}"/>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38476D16-C03A-495F-849D-C6E1D7EC81B6}"/>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88488A7A-14F7-481F-B907-4467EA28AC8C}"/>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117B82EC-7AB9-4F5D-9D60-3CE817CD9FB2}"/>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CAC3F473-3048-49C9-9341-1E32D9E4546D}"/>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B1A92389-1EB0-4C00-A97B-2EB40F616FD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F5AAD3CE-1B90-4C38-952E-202B321C8D7B}"/>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8F7FA5A2-8AB5-428A-98AF-20849378137C}"/>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EC6CC42B-572C-493A-9F5C-15D5BA00CA68}"/>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235FB82B-CB08-48E5-9E8E-1EA3C9A2ECEB}"/>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952661B5-AD9A-4DFC-B5A0-7C00CF6689D4}"/>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469E9BE8-59B0-4C9F-B395-72BB14F2E6E9}"/>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0DC06636-F10C-43FB-BCAF-B69416604119}"/>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CBD6DD58-1834-4104-8682-7E299B403AF6}"/>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65147F68-F5A0-4884-ACCF-B7A9D1A8CB1C}"/>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9B37988B-855A-48A4-8AED-B11A666AD2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93215221"/>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97BAF56C-1D4C-4D93-91AC-766FDBBE6A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2">
            <a:extLst xmlns:a="http://schemas.openxmlformats.org/drawingml/2006/main">
              <a:ext uri="{FF2B5EF4-FFF2-40B4-BE49-F238E27FC236}">
                <a16:creationId xmlns:a16="http://schemas.microsoft.com/office/drawing/2014/main" id="{7B8D9D90-0BBA-4C92-A95A-28F03EEDF1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Task Prompt와 Project Context">
            <a:extLst xmlns:a="http://schemas.openxmlformats.org/drawingml/2006/main">
              <a:ext uri="{FF2B5EF4-FFF2-40B4-BE49-F238E27FC236}">
                <a16:creationId xmlns:a16="http://schemas.microsoft.com/office/drawing/2014/main" id="{DAD8A59E-3C67-42A1-8E10-1C71F6BD46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A0C8CED0-2F33-4000-96EA-BD7EA19D73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3F0B36E-BB02-4AB5-9D76-720467C433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9FBDFC58-8829-46D6-94B1-D1D1709FDBA9}"/>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FC312430-F18F-4FBE-A7F7-A27BD9E161AC}"/>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6F9F6A71-3B80-4F1E-9545-261C0D080FD7}"/>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A12B3332-28D8-4FFB-B155-4C210B13DEFC}"/>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9C5BA45F-310C-42DF-9B87-47B5A05C00ED}"/>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32BE39A4-E0C7-42D6-8412-89A7773039DC}"/>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67C1F860-62B4-4F90-962D-91DB9146AA86}"/>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C98559AA-AF75-4125-818B-B5900B035B03}"/>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A94526E7-8BC5-46D6-8AA4-81B5F7F24B84}"/>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3A457F7-DA51-420C-9218-7F922E399EC3}"/>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1BE02FA8-408A-4985-9BB5-78AAB1280CAA}"/>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867DF3F-4CB6-4012-B07F-94D614EF1167}"/>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D1859DD3-7517-4D7C-B8C9-04B0F825C66B}"/>
              </a:ext>
            </a:extLst>
          </p:cNvPr>
          <p:cNvPicPr>
            <a:picLocks xmlns:a="http://schemas.openxmlformats.org/drawingml/2006/main" noChangeAspect="1"/>
          </p:cNvPicPr>
          <p:nvPr/>
        </p:nvPicPr>
        <p:blipFill>
          <a:blip xmlns:r="http://schemas.openxmlformats.org/officeDocument/2006/relationships" xmlns:a="http://schemas.openxmlformats.org/drawingml/2006/main" r:embed="Rb050f57369144992"/>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D4CE69E6-8298-40EA-988A-F0E96F9D0FD2}"/>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F3DF867C-AE78-47F4-B64D-7987C35E3A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F1B07D86-2C76-4CFC-9D9A-C4C50226D04B}"/>
              </a:ext>
            </a:extLst>
          </p:cNvPr>
          <p:cNvPicPr>
            <a:picLocks xmlns:a="http://schemas.openxmlformats.org/drawingml/2006/main" noChangeAspect="1"/>
          </p:cNvPicPr>
          <p:nvPr/>
        </p:nvPicPr>
        <p:blipFill>
          <a:blip xmlns:r="http://schemas.openxmlformats.org/officeDocument/2006/relationships" xmlns:a="http://schemas.openxmlformats.org/drawingml/2006/main" r:embed="Raec96372be43428d"/>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30DDA66-8988-438E-BCF9-C3CE4C3217E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ED5E4786-0909-4D44-84E2-FCDB4DE4E469}"/>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7C9ABD3-167E-42CA-B645-02FF384D2AFD}"/>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BC3DF81A-770B-41E8-B6E3-9091144B2AEC}"/>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86C0E6EB-46A1-4BB8-BC70-732D7031D27C}"/>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22BBDDF8-E04F-4DFE-A35D-1C38F69D7C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05555037"/>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BD9E765E-46B6-4979-A3FF-CF974E2C5B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3">
            <a:extLst xmlns:a="http://schemas.openxmlformats.org/drawingml/2006/main">
              <a:ext uri="{FF2B5EF4-FFF2-40B4-BE49-F238E27FC236}">
                <a16:creationId xmlns:a16="http://schemas.microsoft.com/office/drawing/2014/main" id="{D52239E9-7E0C-46D7-B35E-E35EB3923B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한 정보도 계속 늘어난다">
            <a:extLst xmlns:a="http://schemas.openxmlformats.org/drawingml/2006/main">
              <a:ext uri="{FF2B5EF4-FFF2-40B4-BE49-F238E27FC236}">
                <a16:creationId xmlns:a16="http://schemas.microsoft.com/office/drawing/2014/main" id="{810C1E46-3EAA-4D8D-8195-3F65936709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CD23EEDC-A633-4040-BF77-FA3563F2CA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55D7F3-6B6B-4DFC-A250-D4027739D5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57386FB0-D0EF-4AFC-88E7-9730B404DA9A}"/>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62EB3F7A-3F82-4DB2-A590-6A303D9BD54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A9866926-5F02-43DC-86EE-73DE6222EB79}"/>
              </a:ext>
            </a:extLst>
          </p:cNvPr>
          <p:cNvPicPr>
            <a:picLocks xmlns:a="http://schemas.openxmlformats.org/drawingml/2006/main" noChangeAspect="1"/>
          </p:cNvPicPr>
          <p:nvPr/>
        </p:nvPicPr>
        <p:blipFill>
          <a:blip xmlns:r="http://schemas.openxmlformats.org/officeDocument/2006/relationships" xmlns:a="http://schemas.openxmlformats.org/drawingml/2006/main" r:embed="Rb9be77206dfa4f0b"/>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2D36FBFF-5900-435D-B169-0270766AA420}"/>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9942A5C2-7800-4E73-B7AC-5CF8EE56948C}"/>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EC80DCA1-F128-4C18-AEDC-94854EE8C05D}"/>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A1EF82EC-248E-43FD-BE88-6CA17012ADBA}"/>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D59D1B6A-A523-4983-A5BA-587D11E4A523}"/>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40F8FBC7-2486-4698-8CCE-68DF1CEA48F4}"/>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B8194749-0559-4B44-8616-DA0752424CA6}"/>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3866A1F-6E4C-4894-8D7C-D6858A355E82}"/>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4FB2C8C6-8E50-4731-BA04-B85B7D150F30}"/>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2BD35B5F-E0E2-43EB-B933-2A33BCE2B48C}"/>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FA9C654D-496A-4185-82CA-CBAB23F81662}"/>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D4093E17-741A-4EF4-AB3A-2BE80F813EAF}"/>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AADBC539-5839-452C-9A6D-6242388440F4}"/>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CCC272D8-85D8-48B3-8518-FA719E512EC1}"/>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52FD0D4D-4671-4A59-9509-43AA7CE4D926}"/>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2119918C-AA28-45D8-B39B-AC0F87FD791F}"/>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76C596CC-14EC-4368-87C6-5809F306B7C5}"/>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8345B6B1-851B-4A19-A7D1-CE8602790042}"/>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03F972F2-5928-4254-B3DB-CC15B5E6955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7B4A4191-8E86-4752-807D-6FA7F8AB6D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60720356"/>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B4C1D52B-4471-4FC5-9DD7-28DF85754E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4">
            <a:extLst xmlns:a="http://schemas.openxmlformats.org/drawingml/2006/main">
              <a:ext uri="{FF2B5EF4-FFF2-40B4-BE49-F238E27FC236}">
                <a16:creationId xmlns:a16="http://schemas.microsoft.com/office/drawing/2014/main" id="{1F69B34A-A13B-41DD-B2D2-5391FF49C7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확하지만 이번 작업에는 불필요한 정보">
            <a:extLst xmlns:a="http://schemas.openxmlformats.org/drawingml/2006/main">
              <a:ext uri="{FF2B5EF4-FFF2-40B4-BE49-F238E27FC236}">
                <a16:creationId xmlns:a16="http://schemas.microsoft.com/office/drawing/2014/main" id="{B3DCFD0F-0242-4998-B1A6-3D14D534E3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F94A8295-32C0-4454-972B-B320150D22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6EC20DC-F8B0-437C-8D5B-C88145F472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858E0BB4-A1E8-4A8E-86D6-89A385F5F5C5}"/>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A966819A-2633-4495-9655-9676BAFF4F83}"/>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FFC215B6-2502-40A3-8508-40112B4E97B3}"/>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2A887018-59A1-40C6-9240-5D9FA4B91858}"/>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8B438E69-B81C-414A-A336-87201E889AAA}"/>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80A025A6-16FA-4F40-A6E4-5836032FF1B8}"/>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51D8346-AAB2-4217-82B3-A2ECF03DA618}"/>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8496F3D-5A36-483E-AB13-C3901886443F}"/>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EF171D4E-13B0-4A8C-ADFC-6C922CB6A8A5}"/>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383D6C63-7EBE-4313-8950-591CBB7CA3DB}"/>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48F37FDE-FF2D-45DB-BFB0-66CF9641686D}"/>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AAA7E106-6A76-4919-9C75-912C742FA0C2}"/>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9681B2E4-3D8A-44DA-94A5-BBB636B8748F}"/>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B5DC1354-237D-4ADC-8CED-532B7F8BE848}"/>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68029E03-005F-48D9-B682-A8C4A4B6D6C8}"/>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19D49976-8042-4035-80FD-648867755EB9}"/>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B6B7AF05-96A5-4304-91E6-8E41B61BE5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32508433"/>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09CA9FAD-4831-45D5-A7A5-0D1B6BF5AD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5">
            <a:extLst xmlns:a="http://schemas.openxmlformats.org/drawingml/2006/main">
              <a:ext uri="{FF2B5EF4-FFF2-40B4-BE49-F238E27FC236}">
                <a16:creationId xmlns:a16="http://schemas.microsoft.com/office/drawing/2014/main" id="{7403187A-1B43-4937-BA75-B09BEA18FD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정보의 범위와 제공 시점">
            <a:extLst xmlns:a="http://schemas.openxmlformats.org/drawingml/2006/main">
              <a:ext uri="{FF2B5EF4-FFF2-40B4-BE49-F238E27FC236}">
                <a16:creationId xmlns:a16="http://schemas.microsoft.com/office/drawing/2014/main" id="{101701A2-FEBB-4C51-A6AB-6B777B91DF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CFB615A7-BFE1-4B1D-8E81-B1222DA4D8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AB46527A-01A7-488D-9345-3487836FEA82}"/>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ED4A63E5-3A1B-4BBC-82FF-C0D76856626F}"/>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05CC7A7A-4968-41E6-A1D5-64DF6F632FF4}"/>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21862051-A595-49B5-A7B1-928480F33F6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7F402365-E1AD-4A4B-BD13-0B354750028B}"/>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3BC585A5-596C-4901-8CA6-08A6DBCF1423}"/>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F4968D5C-966E-4395-A237-D011EE5FB21C}"/>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CD9021E8-822E-4F06-9EAD-86E63F1A5B41}"/>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BCD3A744-D8FC-440C-9587-C5C347158DC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FC4B10B3-C8D3-4251-8BCD-B5D75DF9457D}"/>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929131EE-262C-41EE-8ACF-A00DD8C4B066}"/>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27AF42F4-549F-42B1-87B2-3D2C808BF9AF}"/>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D4081442-37F6-4274-98DC-08406D4B8E67}"/>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40A00576-BCA5-4523-B63E-C57EA679B5F9}"/>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279B9DC-F37A-4251-B14F-F55D5338456A}"/>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D79650B7-BB02-4200-8A42-C59D2A4CF49F}"/>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701D1D6C-F9F1-417C-BD99-33CAF6D8B07B}"/>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C9DB2406-31F6-43B1-9994-2EE9B9378C70}"/>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A0113E9E-3C15-45E6-845A-51E19BE3081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74A782A6-65CA-41D2-88D6-2DD8A658C4E0}"/>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B020DE8F-2FE8-44EA-9754-D51DED29EC34}"/>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D64B9675-8AD5-4C01-BE77-E28DE7A205D2}"/>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AECD9915-F286-4C32-B70D-EB6876F9A179}"/>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5D5F9B1-F92F-45EE-BC99-0A54BB3C4F19}"/>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00D75A71-CB58-4C96-86C2-1D7EA73BCB8A}"/>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1501E42E-6833-4229-9606-1D4C1B0871EC}"/>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14D7D09E-6D14-4969-9272-AA0E1779DC25}"/>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05FEF81D-FF86-46AA-8C54-53590BCDAEF4}"/>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ECEF1BD2-B3C1-4585-8D9D-80069779024B}"/>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82A40B68-CA7F-4F30-98DD-9E979B18F0DA}"/>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79088AE0-A4B4-4F76-8713-BB70D76EE2EE}"/>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B7DD99B0-7C1A-4E51-96E9-E837B8DCF4A6}"/>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C5B51D0D-17DA-4796-8B7B-F5DDC277C155}"/>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F9CB362B-5FF1-4747-BADC-4346F6869E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8124658"/>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EFBA6FD7-3F51-4097-A42A-F5ADA87D1C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6">
            <a:extLst xmlns:a="http://schemas.openxmlformats.org/drawingml/2006/main">
              <a:ext uri="{FF2B5EF4-FFF2-40B4-BE49-F238E27FC236}">
                <a16:creationId xmlns:a16="http://schemas.microsoft.com/office/drawing/2014/main" id="{79350CAC-7054-46FB-95D7-6C450B8D0B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많이 담아도 같은 근거를 똑같이 쓰는가?">
            <a:extLst xmlns:a="http://schemas.openxmlformats.org/drawingml/2006/main">
              <a:ext uri="{FF2B5EF4-FFF2-40B4-BE49-F238E27FC236}">
                <a16:creationId xmlns:a16="http://schemas.microsoft.com/office/drawing/2014/main" id="{7629A936-140A-48AE-8003-7034D9EAAE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2292F62E-0A32-4BE2-9DDB-2AED98DDF5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206C6A8-1BAB-4D57-8CC7-B90DECF134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3FB309CD-D38A-406C-9031-0D328A3512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419FAEC7-173C-437E-B4B8-DCFCD02FB7EF}"/>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A79829F0-8F41-46FF-9A20-AF41E1B79141}"/>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A593D389-D800-49DD-827A-8B39E5244EDC}"/>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EB7FB9A5-5385-4B13-896E-D0E37A58A41E}"/>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ADBFC9DA-CA5E-4B53-A9BA-24078DBFF733}"/>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89BED6BB-DC3C-4E2F-B406-30D4AA80F91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90FD51E5-5FF4-4C26-AD3F-FF0B91D50629}"/>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4752C779-AECA-4F97-B8F8-7C6B32A85CC1}"/>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34FA57DE-1D30-43C1-9AA1-3C59F28918E8}"/>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1D4DEF43-9452-4281-A451-EC6EDBD7E07B}"/>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16B5A37A-5768-4A42-89FF-929676739AB5}"/>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3548AF30-971A-4F45-A7D2-3B887AA696B7}"/>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DDDAC09-5D43-470F-95F8-71C5477431A7}"/>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F22A6DB2-EC0B-448A-8CCB-6A45E647CFF8}"/>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C7376684-BA5C-48FD-BFF4-F89BA9553B26}"/>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E5AE8660-93D4-4402-A414-4C505A9FF6D8}"/>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123E4FE3-3355-4DBE-9868-3E64E406B39C}"/>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967C5FFA-E071-4044-BA7F-5E2C77E4FDC5}"/>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4404D823-0E99-47A2-AA14-E30E758984A4}"/>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F764FB98-AC42-402C-A813-DF1950AB0793}"/>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BB9C9AB9-18D5-43D1-ABC4-529D2EF202D6}"/>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EE8B4DA8-D6EB-420A-B688-56F5524090DB}"/>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64064EFB-1735-4FE1-B65A-B8C8D7D3D729}"/>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2E4899F1-6462-4A08-9AD1-A91A920D5DA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0565189E-D1CB-4B37-986A-6F303DF5A45A}"/>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4253507D-6706-4D09-8B99-A6CB43E2F43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089352CB-A89F-48D1-8389-A6DF0050AF21}"/>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5E16C4C4-3DFD-4906-9047-2B6233D2354F}"/>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F6B220D2-BD6E-4BCA-A689-EAD5B107F8AB}"/>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0BB89B2F-141F-4D10-A200-BA28A2384F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3141946"/>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137B7E5C-DE3F-4DD6-803A-AE1B3B63E1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7">
            <a:extLst xmlns:a="http://schemas.openxmlformats.org/drawingml/2006/main">
              <a:ext uri="{FF2B5EF4-FFF2-40B4-BE49-F238E27FC236}">
                <a16:creationId xmlns:a16="http://schemas.microsoft.com/office/drawing/2014/main" id="{9262E609-1759-4BCE-8A7A-A1EF95855B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BB2E77FF-3D53-42BD-B2E1-C96CBB418EB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75A77AE1-F4E7-48FD-AD57-C6ECDD8005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확인할 작업 요청">
            <a:extLst xmlns:a="http://schemas.openxmlformats.org/drawingml/2006/main">
              <a:ext uri="{FF2B5EF4-FFF2-40B4-BE49-F238E27FC236}">
                <a16:creationId xmlns:a16="http://schemas.microsoft.com/office/drawing/2014/main" id="{853408AE-62C1-4958-AA6A-C7B4795CEBE4}"/>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6E160513-7671-4C60-9874-806712E3D6FA}"/>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CA01BF74-BB52-47AC-818E-BB811E7E9A7B}"/>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49AC5AC7-C452-4438-B560-0017D36203C3}"/>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7FDEDD12-F4A8-427C-871C-B2EC022F58C2}"/>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B562BAC-FC72-4ACE-9930-4F9929054874}"/>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EB095F43-4615-4030-8F9E-4FA4C0FCA890}"/>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8725F32E-C8DB-4890-826E-3DDDD479FC07}"/>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BDDCE6BC-7F4E-4D54-A30B-6D482F7ECE11}"/>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DAB8FFCA-9AA3-4E1E-A51B-B48C8CE8574D}"/>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541E63B7-175B-42C0-A508-51DB567C62DD}"/>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4285BAB-4F5D-47A1-85CC-D0DA8EB78671}"/>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39DBEB5B-4053-44FF-A456-3D6D9EC0C06C}"/>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E2AF9ABE-2225-4576-9687-7B931981B0AE}"/>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CAE87072-9508-422B-B09E-73838A9AED65}"/>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402E0478-61DF-403E-83C7-6B903189117E}"/>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C0DBA60-EE7D-4335-B6AC-05A4A425F4BC}"/>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E63EF0C-20FC-4590-823B-8818B0591F0A}"/>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F34D628A-24C1-4E6F-9658-C945A77F280D}"/>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FD55126A-D7F7-4C87-8FF4-93BF929292E7}"/>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0C021712-BE99-41F5-A549-EAF91D3D30E8}"/>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138340AA-42E4-4D69-9DAD-78FA771CBFAE}"/>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30" name="확인할 근거를 정했다면, 어디서 찾게 할까?">
            <a:extLst xmlns:a="http://schemas.openxmlformats.org/drawingml/2006/main">
              <a:ext uri="{FF2B5EF4-FFF2-40B4-BE49-F238E27FC236}">
                <a16:creationId xmlns:a16="http://schemas.microsoft.com/office/drawing/2014/main" id="{7245092D-0380-4316-B42D-85CE6849683F}"/>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a:r>
              <a:rPr sz="2100" b="1">
                <a:solidFill>
                  <a:srgbClr val="0B6172"/>
                </a:solidFill>
                <a:latin typeface="Malgun Gothic"/>
                <a:ea typeface="Malgun Gothic"/>
                <a:cs typeface="Malgun Gothic"/>
              </a:rPr>
              <a:t xml:space="preserve">확인할 근거를 정했다면, 어디서 찾게 할까?</a:t>
            </a:r>
          </a:p>
        </p:txBody>
      </p:sp>
      <p:sp>
        <p:nvSpPr>
          <p:cNvPr id="32" name="Legacy module connection">
            <a:extLst xmlns:a="http://schemas.openxmlformats.org/drawingml/2006/main">
              <a:ext uri="{FF2B5EF4-FFF2-40B4-BE49-F238E27FC236}">
                <a16:creationId xmlns:a16="http://schemas.microsoft.com/office/drawing/2014/main" id="{1D9B2C82-8DBC-446F-AB67-0BC3EF7EEB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250186"/>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E0467543-7522-46D3-BCA8-FA07F73452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8">
            <a:extLst xmlns:a="http://schemas.openxmlformats.org/drawingml/2006/main">
              <a:ext uri="{FF2B5EF4-FFF2-40B4-BE49-F238E27FC236}">
                <a16:creationId xmlns:a16="http://schemas.microsoft.com/office/drawing/2014/main" id="{7E08EBDD-EB2E-425F-B615-58E745FA83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필요한 상세 정보로 가는 길">
            <a:extLst xmlns:a="http://schemas.openxmlformats.org/drawingml/2006/main">
              <a:ext uri="{FF2B5EF4-FFF2-40B4-BE49-F238E27FC236}">
                <a16:creationId xmlns:a16="http://schemas.microsoft.com/office/drawing/2014/main" id="{2990DC8E-068B-42EC-BC3F-C6FF352648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DDE16953-6221-4AD1-8C9F-DF20D61B31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FDA0FA-548F-4C3C-AB6F-5324591ABD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5D1430EA-A05D-4E61-BBB9-1E28E155783E}"/>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E703D275-77EF-498E-A218-6B6FC0580E4B}"/>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2E9F7535-59B4-4F57-AA58-3CF9D45F5534}"/>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D7E1699-A1EC-4B9F-BBC6-17511E3E32AE}"/>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723D6C00-B7F6-4DB1-B43F-3021518042E2}"/>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07F14A21-94DD-4F6A-A9C4-B8DF8E8E787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D3C8C821-4243-4066-914B-0E4F211B87F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ACB5CC9D-40DE-4EF0-B43A-4051A2D8C485}"/>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1ACC8656-1312-45CD-B925-8064860ECBB8}"/>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32D6816C-80DE-4167-9D2E-F9C9D5AA9510}"/>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A00DC62A-FA70-49E2-B895-026435D829F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4B8D9338-2C19-4121-ADEB-B526F2783378}"/>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32235602-B1D6-4D2E-AB43-E839C2A465D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973A1DD0-0CA2-4DDB-BA7F-414FC7654B33}"/>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C434C100-8FE5-41A2-B9EB-A3A9E665C9BB}"/>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E6B7269-7BF6-436A-9DAB-D5265C10C274}"/>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32F1BD0B-97C3-4433-9D80-12FDBCB3F95E}"/>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23702C1D-8A48-4490-AE9E-01DB0CEB8C2D}"/>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DAE70191-53A3-4E7B-8A1D-A3931CF9D3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99951143"/>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9D236AFB-493A-4329-AAB1-67F4806009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9">
            <a:extLst xmlns:a="http://schemas.openxmlformats.org/drawingml/2006/main">
              <a:ext uri="{FF2B5EF4-FFF2-40B4-BE49-F238E27FC236}">
                <a16:creationId xmlns:a16="http://schemas.microsoft.com/office/drawing/2014/main" id="{18BB3691-4817-418F-B9BA-53B1825F46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AGENTS.md에는 무엇을 남길까?">
            <a:extLst xmlns:a="http://schemas.openxmlformats.org/drawingml/2006/main">
              <a:ext uri="{FF2B5EF4-FFF2-40B4-BE49-F238E27FC236}">
                <a16:creationId xmlns:a16="http://schemas.microsoft.com/office/drawing/2014/main" id="{365C9DF7-0A1A-4FBE-A2AA-C8B0DBC5D7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0F2D4103-6EA6-4711-8A0B-01DCEACA39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178B34F-4196-48DA-84BD-7963AD97BF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0B36C27F-2C26-4400-BCDD-68988403321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2A7DF1C8-D7D5-4DE3-9C85-77280181BF0F}"/>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8D4F44C5-1C16-4EC0-991A-C82E9A064A99}"/>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CFE83F98-3475-4A5F-8490-DA7C215E7CD4}"/>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74BD4456-4B5F-4663-9518-A09492F58B2C}"/>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8E0B6F8A-4D49-4335-BAEA-52E128185091}"/>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29D59AC4-94D9-4115-BE39-83F100C7358C}"/>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B6C8C2EB-0FA1-4562-956A-E8D5DAF331BA}"/>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7450D2C-6B53-47CB-8215-16031DB6A7EA}"/>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7A53C52A-BADD-4731-A7BE-C0A97876B412}"/>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192EDF9A-DA63-4AAE-A604-DA28303A5A97}"/>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1ACED104-CD78-42AA-9C22-5F0F8884CFC6}"/>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A042576E-C83D-495C-8D06-DBFA54E1451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CD4D8ACF-4BA1-4935-BD92-8A29471BE362}"/>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8E7C4EE1-CFC5-4B05-8BE3-C7023C8CEC12}"/>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419F10AC-3179-4B55-9C37-99EE61EBB637}"/>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D4073C78-2F68-466D-AFDD-120538370181}"/>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B34C2B9C-D74B-43C2-8D89-B7E58C48B24F}"/>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9102DEC8-6D64-4295-BA84-EC4B05C002A7}"/>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BF587AF2-64D5-4A4D-A05C-EC807ADC7E66}"/>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D4FB3E0B-2305-4704-99A3-B620CCB7ED39}"/>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2192015D-8DE8-4508-BE7D-2746060E4D42}"/>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708E8E9A-9AF7-4DA0-BA5B-C223F8422E01}"/>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96B0D940-71E0-4984-A8E9-85133218B10B}"/>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933C0CE9-4CB0-4CE8-B241-2D3605EBAC3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CB264FB6-DD1C-4F24-BEA8-60916A1F77A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0EB5D6EF-5720-46DD-9E97-21810AF036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00033033"/>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61ECDF07-A96C-4225-93E5-71C978C5C2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50">
            <a:extLst xmlns:a="http://schemas.openxmlformats.org/drawingml/2006/main">
              <a:ext uri="{FF2B5EF4-FFF2-40B4-BE49-F238E27FC236}">
                <a16:creationId xmlns:a16="http://schemas.microsoft.com/office/drawing/2014/main" id="{5C4470B0-3741-4687-B856-A9C244C5FB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정보를 지우지 않고 위치를 나누기">
            <a:extLst xmlns:a="http://schemas.openxmlformats.org/drawingml/2006/main">
              <a:ext uri="{FF2B5EF4-FFF2-40B4-BE49-F238E27FC236}">
                <a16:creationId xmlns:a16="http://schemas.microsoft.com/office/drawing/2014/main" id="{3C9769C9-0F0C-4074-9B9A-ECB82E8F92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C60DA742-982F-4FE1-8E22-BCA1E0E89A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D3489D4-74E9-4EC5-8DDF-21B6BF7627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C2FC85FB-04E8-4650-903A-11DD81F7C72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EFEB3928-41B0-4459-99CA-F4D0D9C46ABD}"/>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17E21C73-A2D5-4FE6-9BCB-5F82B216385A}"/>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F2808EAC-B8BD-442E-9E62-60262B495065}"/>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E59B1494-24F8-485B-A8A6-9F28EE87324A}"/>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0A0EEF5B-18F4-42F0-A14C-A53009492E79}"/>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7ACEB21A-D515-4F2A-B411-CB1A66336520}"/>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CF8CE922-2ECF-428F-A136-60325A6F48B7}"/>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5C877BB0-14BE-45F2-AC01-00138119E172}"/>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A68EB3C8-8CF1-4269-9517-847EE4AFD734}"/>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3A336F99-8A28-4E01-9159-A539F0016638}"/>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B02ED11-4E13-41BF-B5BC-5D23BE715C0E}"/>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CF1927DE-CA40-4160-9641-73277619ED95}"/>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73097E6B-6745-44DC-ABEF-E657A84D0896}"/>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D4097C82-D2CA-468E-988B-DE0BF210DE4C}"/>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6F69231-F528-4CB4-85F5-53070A024EBB}"/>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48FAC68-CC1D-4CCA-8A3E-C2CC9D6774CA}"/>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2B51BA68-CADE-4813-A92A-620FE7C39DB5}"/>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89CC44-E14E-4A60-B628-C4D392A49D19}"/>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2FCE3193-05E2-4E11-9118-7D6FD44A6E96}"/>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47B8B0F-65CE-4980-8725-86FE64D243E1}"/>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C28D30F8-F145-4C6C-BE00-42638652226E}"/>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D63FEDAC-EE5F-4C4F-A9A7-8F1179B46375}"/>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C1CDEC1F-3FB4-4DE5-8E7C-40CCE3ECD24C}"/>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26D7579B-26B5-4377-94E4-0E29F2F47AC8}"/>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110E6CCA-48F7-4AAE-8CEF-8EABD279D8E0}"/>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302A8084-026F-48FA-BE7C-A1A5B236F59A}"/>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849E624F-CF62-4C42-A5CA-3DD207A1FF17}"/>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0A0834E4-996D-4229-B44A-D4CED1CC04C9}"/>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5E14BA3C-BE56-4306-9F79-332239CB61AC}"/>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F8DCFFC5-2008-43CC-94F6-AF0639D42E39}"/>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0243C75A-29EF-42F1-AA2C-A050E2FDA71D}"/>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8EDF8306-F041-4300-ABC5-4B37AFB65473}"/>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80A5AB2B-D5B5-4A1D-BE93-AAA651BFD795}"/>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1E0F826-1720-44B3-BFCD-78531B2921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2099095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50D26345-2A30-464A-8C62-71AB380BFD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1">
            <a:extLst xmlns:a="http://schemas.openxmlformats.org/drawingml/2006/main">
              <a:ext uri="{FF2B5EF4-FFF2-40B4-BE49-F238E27FC236}">
                <a16:creationId xmlns:a16="http://schemas.microsoft.com/office/drawing/2014/main" id="{3D2E2B10-6C12-4D67-A752-2D9BA87896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서로 다른 두 Task가 무엇을 읽을까?">
            <a:extLst xmlns:a="http://schemas.openxmlformats.org/drawingml/2006/main">
              <a:ext uri="{FF2B5EF4-FFF2-40B4-BE49-F238E27FC236}">
                <a16:creationId xmlns:a16="http://schemas.microsoft.com/office/drawing/2014/main" id="{A3F62298-DD74-475C-8DD5-F3D1AB1D28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5B6D9DCA-FBB9-49EE-9C54-580F687307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897BF8A-3288-4CF6-874A-188A00B68A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6FB018D-3ABD-4A6C-BDA1-29E41A52190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EE33D913-DC0F-442A-988E-8DE99AD2E33A}"/>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C839DF7-2997-430E-9B47-836701793A1D}"/>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2AC847FD-178B-407E-B7D1-27F7CD129ED4}"/>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F0287CB2-5D05-4036-9706-4BFDDDBD7C91}"/>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AB21EAF2-1EEC-4D81-9E42-861DD232CD73}"/>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18D7E6C5-0878-48B7-BC19-AE6A089EB8A3}"/>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74DE61A-0AD9-4AB3-885D-028717F01676}"/>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E00B35D2-F783-4DF4-AEE5-2590B90A4E78}"/>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BA15FD18-C100-428D-B96F-831FF0B16527}"/>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41F095D1-5FFF-4ADF-932F-A85676EC6245}"/>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F8F742F8-5E2B-4C5D-910E-53A1C668D0D0}"/>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1DED8329-151F-4AE8-BE0D-76AD63B9838B}"/>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3197211C-6049-47F8-B6C8-5D7945EDC2E1}"/>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C0CBBBC-C577-47E3-9426-16FD15DA8EFB}"/>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9E261237-F30C-495B-89A6-81966A04A7F4}"/>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7C58437B-98BB-447F-956B-264314F404AE}"/>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A8F544AF-DA40-480C-97E3-93A61031C992}"/>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2A503607-6563-4639-842E-8DD45E7C1760}"/>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8004DFCF-BB89-4747-8695-8E472F48365D}"/>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47E8A6D2-8A1B-40DA-A7F8-237F12E4CCFF}"/>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4E5CE925-3424-477E-BEA8-D42A283B8CB2}"/>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EA7562B2-C5AC-4222-B570-E69C138A7D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09302922"/>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82CCF818-5E22-4C53-9E49-9D19EBA4F8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2">
            <a:extLst xmlns:a="http://schemas.openxmlformats.org/drawingml/2006/main">
              <a:ext uri="{FF2B5EF4-FFF2-40B4-BE49-F238E27FC236}">
                <a16:creationId xmlns:a16="http://schemas.microsoft.com/office/drawing/2014/main" id="{3A65C8B0-F9C2-4513-9975-2D562525C7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Crop Task에서 관찰한 접근">
            <a:extLst xmlns:a="http://schemas.openxmlformats.org/drawingml/2006/main">
              <a:ext uri="{FF2B5EF4-FFF2-40B4-BE49-F238E27FC236}">
                <a16:creationId xmlns:a16="http://schemas.microsoft.com/office/drawing/2014/main" id="{7FF32D65-95BD-4E2F-A7D3-B59196ACA1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DB80EE88-34C7-4A6A-B379-48B19BF4B6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98A6223-D8D7-4A64-96F2-38078CE85C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0DF4DD73-49A7-46CB-AD0C-729137277DB4}"/>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7B5B13DC-F371-4C77-AF05-2ED8CB765B26}"/>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AC5CA993-B26E-4135-93E6-3D4E0D9B7D4F}"/>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3924EF19-DF25-4F62-94C2-A836F6AFFE6E}"/>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1003C3CC-AF30-40EB-B7BF-411B81572F76}"/>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28D8E387-5A96-4211-A707-B22BC37806F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B4F68D4A-8D5D-489D-88D7-7C910110FBA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6E16EE4-3AAB-4D11-B184-AD184AE4A5B6}"/>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AD967FB8-9AA8-43BF-8D36-A4EFB1F92010}"/>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0F9C7B2F-01A1-4732-B590-E8FC2165DCF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05EC753E-44D5-408A-ADDB-6A935B43F7A5}"/>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334ABB63-3542-4F30-A4DC-C5CE5DEC6352}"/>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4E9AEE8-0CDC-4F7D-A125-C72AF1D78219}"/>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E4709DF9-F198-427A-93B2-6F792AED2EFC}"/>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43E9B321-B19B-4AD8-B4A1-E20BDE700953}"/>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93D21CC6-8D7D-4FA4-A7DD-257FA669909A}"/>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F2BC4B91-A435-445E-BF39-08F8B50728B9}"/>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F9A01100-86DA-43FB-B555-15EB57AB9F74}"/>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82099708-D7B0-4910-884B-F4608DE2690A}"/>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5CA179F-89CD-494E-B8BF-6E9F5F8C8F7A}"/>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FEA56357-3E70-480E-A46E-9F10373BB1AA}"/>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57CE62E4-C780-4985-AD10-9DB1C2DE100F}"/>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02999EB0-E4D9-47D6-AE6B-91A5F40FA62D}"/>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40D7F7A7-1246-4670-8410-222CA7505AA9}"/>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370472D9-F70A-44F8-BD93-B5A8CE4E46ED}"/>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F02367DE-4208-47FC-8A7E-E1495CCD0AA2}"/>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97F77570-0804-4EAC-890D-55CDF6031FF8}"/>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184A4332-627E-4B61-890E-C2948BB9265F}"/>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3B54B41D-490E-40FA-915C-3A620F97A134}"/>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C82D3012-9F24-46D5-923A-9CB7EECDE44D}"/>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6CF65844-E97A-45BF-AB79-CC919994505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A0021265-588F-486F-B976-4A4CB40B8C7F}"/>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C42D62A8-DD1E-468B-807B-6ACC36F0E5CD}"/>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60E5A44F-7FAE-4A88-8536-9E552A113A27}"/>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B44A2371-BEAE-4EB6-949A-B3D9636480B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E6B264F9-4770-45B7-BA62-012EE226DF64}"/>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4F491BDA-72A5-4E0A-B8DD-FF4009C30B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713653016"/>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3B6D16AF-D2A0-41E6-A701-5433D9F270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3">
            <a:extLst xmlns:a="http://schemas.openxmlformats.org/drawingml/2006/main">
              <a:ext uri="{FF2B5EF4-FFF2-40B4-BE49-F238E27FC236}">
                <a16:creationId xmlns:a16="http://schemas.microsoft.com/office/drawing/2014/main" id="{6FE06E32-A561-49C2-AFFD-A7397990AA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의존성 질문은 설정과 소스로 답했다">
            <a:extLst xmlns:a="http://schemas.openxmlformats.org/drawingml/2006/main">
              <a:ext uri="{FF2B5EF4-FFF2-40B4-BE49-F238E27FC236}">
                <a16:creationId xmlns:a16="http://schemas.microsoft.com/office/drawing/2014/main" id="{21CA4DEE-0366-4B1A-B2B9-72FF0101A0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24AF420E-CA13-485C-BC96-F528FA0073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59698CD-C9D6-402A-B345-032B05FBC2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DF453EBC-6F29-4909-94C3-258729583EC2}"/>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A3FCA92D-CCA6-47B7-B413-14D56ADF263A}"/>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147E4C24-5042-483C-B192-9A321F85521E}"/>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3406FCB8-DF66-4F3E-B5E9-645BF40478A5}"/>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4FF69FEB-5311-4A24-996E-150DCAF60330}"/>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DECD8A53-AC2C-48AA-B7B9-2CAD8D898F91}"/>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593E2117-ECB7-468A-8870-7EDF3BC2029F}"/>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3D1F87D1-C10E-4015-939C-C3E4EA7D156F}"/>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8822F053-1853-405B-852F-9E15252D23EC}"/>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7C0BECA0-3A4C-4131-BF36-7E4C4D20E863}"/>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D3A743CC-B7A1-42B4-A917-8489FA80C7C6}"/>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6B3EF066-78A7-4CED-9693-FF5F8A76215E}"/>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438F2B34-8BD3-4C44-AD04-D6D04A2CF5E7}"/>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58D77C7A-4620-4036-BDF4-8821C1A8B4AE}"/>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82A75DEF-C0EA-4563-9E60-D20F126D9E10}"/>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2AFECC1C-858B-4154-AE60-0E89EFEBF34C}"/>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E3DB668-840D-4EF1-9CDC-703C34136BC4}"/>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732D7638-6B78-4DAA-9697-480F655606AA}"/>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B9BA6F4C-4A90-41F8-8285-44F7E155E7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19138537"/>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3474495-4015-4994-A174-6D0407B471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4">
            <a:extLst xmlns:a="http://schemas.openxmlformats.org/drawingml/2006/main">
              <a:ext uri="{FF2B5EF4-FFF2-40B4-BE49-F238E27FC236}">
                <a16:creationId xmlns:a16="http://schemas.microsoft.com/office/drawing/2014/main" id="{74ECB671-6768-48D1-9062-7D3872AB34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두 Task에서 상세 문서 접근이 달랐다">
            <a:extLst xmlns:a="http://schemas.openxmlformats.org/drawingml/2006/main">
              <a:ext uri="{FF2B5EF4-FFF2-40B4-BE49-F238E27FC236}">
                <a16:creationId xmlns:a16="http://schemas.microsoft.com/office/drawing/2014/main" id="{54A80F00-2B94-44C3-8A05-4122428EA1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C688F681-31D1-492F-BFD0-F7F2062157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0EBB2B9-A51C-4ABD-9E2F-8985D0FD6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9B8E4B47-FAEC-4FCA-91E8-1F7A8C11526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B20210A4-563A-4AE4-AF05-5C9CA0AF1B35}"/>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BA5413B9-4E87-4E5E-8EAB-A71F96075966}"/>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8288423D-031A-41EB-96D9-D5195BC0674E}"/>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6A146877-11F9-45A5-BC10-72B00C81C906}"/>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DC5AC04A-9B7D-490D-8186-CC7AA04BA5BD}"/>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4010CCA2-5FED-400E-8326-02080AFFD8D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A9175929-E7CC-43EF-B669-0603B172A8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33779466"/>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5B5C7475-0288-4C94-BDC6-4273445EC3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5">
            <a:extLst xmlns:a="http://schemas.openxmlformats.org/drawingml/2006/main">
              <a:ext uri="{FF2B5EF4-FFF2-40B4-BE49-F238E27FC236}">
                <a16:creationId xmlns:a16="http://schemas.microsoft.com/office/drawing/2014/main" id="{19248C6F-2214-4435-972D-8B148D29C1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Context 정리에서 확인한 네 가지">
            <a:extLst xmlns:a="http://schemas.openxmlformats.org/drawingml/2006/main">
              <a:ext uri="{FF2B5EF4-FFF2-40B4-BE49-F238E27FC236}">
                <a16:creationId xmlns:a16="http://schemas.microsoft.com/office/drawing/2014/main" id="{C3516909-E55B-4C78-B756-807442BCA2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67BAAE79-2579-46E9-ACB6-F51790236E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01054F82-EF46-485E-A1CC-E389E766418E}"/>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EF770833-8842-45B0-A956-B66F32E1734B}"/>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5D2AD0F1-B86B-44A3-AE49-D5946D7C1856}"/>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210B3676-08DA-4FDE-81EF-E9067AB522F6}"/>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3D5240D0-E824-4B95-8936-9E8CD615831F}"/>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76F67A38-EC90-4810-A87F-0530FEF98FCD}"/>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E99C58D8-D7CD-4D47-ABAF-4517A5DB4279}"/>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90021A32-E07D-4D9F-9FC8-98899B62EE93}"/>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E94E37A8-1E52-4661-9726-B5DB8D93C81D}"/>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6385674-CF1F-49ED-9620-3679F9F018B9}"/>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C22BD9A7-6461-4719-891B-241367BCA522}"/>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9E8F2232-3AB1-4ABD-B469-8E03209F0919}"/>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6E7D3B86-C53B-4CC1-B089-F497638DFB3E}"/>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B8E84E4-1A50-45AA-92D4-11082AA22827}"/>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B118A950-4039-495B-AA91-772BCCE2F035}"/>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434DA7C8-C5EE-43AF-AB1C-F9E70BBA28B0}"/>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CCAD89EE-4FCA-4003-B671-A3E13616801E}"/>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6247492D-D7D5-4A52-93E1-E3ADC7C6563F}"/>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1034A77-E43D-4FBE-8C3E-EAEC4618765E}"/>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749C5C00-935E-4F68-86AF-E8E48F5CFA33}"/>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F2C4932F-4CBB-4485-B545-83C86FC95F7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98391C99-C796-4F4E-A5C0-3B834BE0B8BC}"/>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0A34F6DA-D40B-412E-986D-4A95E110D323}"/>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04C26897-A3DE-4540-AAD2-6C41BB83E0DD}"/>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D1ECD713-BF44-4B05-8CD6-E8A9A5AEBF3E}"/>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94804EF5-447F-4375-B3AE-92B45C22AD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16152378"/>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1/3">
            <a:extLst xmlns:a="http://schemas.openxmlformats.org/drawingml/2006/main">
              <a:ext uri="{FF2B5EF4-FFF2-40B4-BE49-F238E27FC236}">
                <a16:creationId xmlns:a16="http://schemas.microsoft.com/office/drawing/2014/main" id="{BA8BDBCE-7635-4719-9125-3ACA869F2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1/3</a:t>
            </a:r>
          </a:p>
        </p:txBody>
      </p:sp>
      <p:sp>
        <p:nvSpPr>
          <p:cNvPr id="2" name="S56">
            <a:extLst xmlns:a="http://schemas.openxmlformats.org/drawingml/2006/main">
              <a:ext uri="{FF2B5EF4-FFF2-40B4-BE49-F238E27FC236}">
                <a16:creationId xmlns:a16="http://schemas.microsoft.com/office/drawing/2014/main" id="{780B073F-E640-47AF-B6D7-DBD9A44A81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AGENTS.md는 어디에 둘까?">
            <a:extLst xmlns:a="http://schemas.openxmlformats.org/drawingml/2006/main">
              <a:ext uri="{FF2B5EF4-FFF2-40B4-BE49-F238E27FC236}">
                <a16:creationId xmlns:a16="http://schemas.microsoft.com/office/drawing/2014/main" id="{35F0ADD1-49FF-4BD3-A92A-46442965D4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AGENTS.md는 어디에 둘까?</a:t>
            </a:r>
          </a:p>
        </p:txBody>
      </p:sp>
      <p:sp>
        <p:nvSpPr>
          <p:cNvPr id="4" name="">
            <a:extLst xmlns:a="http://schemas.openxmlformats.org/drawingml/2006/main">
              <a:ext uri="{FF2B5EF4-FFF2-40B4-BE49-F238E27FC236}">
                <a16:creationId xmlns:a16="http://schemas.microsoft.com/office/drawing/2014/main" id="{6269577B-B2F2-4F29-8D74-D828F80EDA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64ADA2-119F-456A-815D-320C9647D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공통 규칙은 루트에, 모듈 전용 규칙은 해당 폴더에">
            <a:extLst xmlns:a="http://schemas.openxmlformats.org/drawingml/2006/main">
              <a:ext uri="{FF2B5EF4-FFF2-40B4-BE49-F238E27FC236}">
                <a16:creationId xmlns:a16="http://schemas.microsoft.com/office/drawing/2014/main" id="{0084CC11-89C6-46B4-AC1B-41A8064960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규칙은 루트에, 모듈 전용 규칙은 해당 폴더에</a:t>
            </a:r>
          </a:p>
        </p:txBody>
      </p:sp>
      <p:sp>
        <p:nvSpPr>
          <p:cNvPr id="8" name="">
            <a:extLst xmlns:a="http://schemas.openxmlformats.org/drawingml/2006/main">
              <a:ext uri="{FF2B5EF4-FFF2-40B4-BE49-F238E27FC236}">
                <a16:creationId xmlns:a16="http://schemas.microsoft.com/office/drawing/2014/main" id="{63DE4DC1-653E-4A6C-86CA-E77DC35C2169}"/>
              </a:ext>
            </a:extLst>
          </p:cNvPr>
          <p:cNvSpPr>
            <a:spLocks xmlns:a="http://schemas.openxmlformats.org/drawingml/2006/main" noGrp="1"/>
          </p:cNvSpPr>
          <p:nvPr/>
        </p:nvSpPr>
        <p:spPr>
          <a:xfrm xmlns:a="http://schemas.openxmlformats.org/drawingml/2006/main">
            <a:off x="609600" y="2266950"/>
            <a:ext cx="10972800" cy="62865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9" name="~/.codex/AGENTS.md">
            <a:extLst xmlns:a="http://schemas.openxmlformats.org/drawingml/2006/main">
              <a:ext uri="{FF2B5EF4-FFF2-40B4-BE49-F238E27FC236}">
                <a16:creationId xmlns:a16="http://schemas.microsoft.com/office/drawing/2014/main" id="{5D0D0789-D250-474B-A7E7-9435422F9F0B}"/>
              </a:ext>
            </a:extLst>
          </p:cNvPr>
          <p:cNvSpPr>
            <a:spLocks xmlns:a="http://schemas.openxmlformats.org/drawingml/2006/main" noGrp="1"/>
          </p:cNvSpPr>
          <p:nvPr/>
        </p:nvSpPr>
        <p:spPr>
          <a:xfrm xmlns:a="http://schemas.openxmlformats.org/drawingml/2006/main">
            <a:off x="819150" y="24098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~/.codex/AGENTS.md</a:t>
            </a:r>
          </a:p>
        </p:txBody>
      </p:sp>
      <p:sp>
        <p:nvSpPr>
          <p:cNvPr id="10" name="개인 기본값 · 언어 / Git 규칙">
            <a:extLst xmlns:a="http://schemas.openxmlformats.org/drawingml/2006/main">
              <a:ext uri="{FF2B5EF4-FFF2-40B4-BE49-F238E27FC236}">
                <a16:creationId xmlns:a16="http://schemas.microsoft.com/office/drawing/2014/main" id="{4282B173-5974-4078-9FFB-20C7A92C3C74}"/>
              </a:ext>
            </a:extLst>
          </p:cNvPr>
          <p:cNvSpPr>
            <a:spLocks xmlns:a="http://schemas.openxmlformats.org/drawingml/2006/main" noGrp="1"/>
          </p:cNvSpPr>
          <p:nvPr/>
        </p:nvSpPr>
        <p:spPr>
          <a:xfrm xmlns:a="http://schemas.openxmlformats.org/drawingml/2006/main">
            <a:off x="6534150" y="2409825"/>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개인 기본값 · 언어 / Git 규칙</a:t>
            </a:r>
          </a:p>
        </p:txBody>
      </p:sp>
      <p:sp>
        <p:nvSpPr>
          <p:cNvPr id="11" name="">
            <a:extLst xmlns:a="http://schemas.openxmlformats.org/drawingml/2006/main">
              <a:ext uri="{FF2B5EF4-FFF2-40B4-BE49-F238E27FC236}">
                <a16:creationId xmlns:a16="http://schemas.microsoft.com/office/drawing/2014/main" id="{E536D009-91EE-4420-9D1A-81D30769616B}"/>
              </a:ext>
            </a:extLst>
          </p:cNvPr>
          <p:cNvSpPr>
            <a:spLocks xmlns:a="http://schemas.openxmlformats.org/drawingml/2006/main" noGrp="1"/>
          </p:cNvSpPr>
          <p:nvPr/>
        </p:nvSpPr>
        <p:spPr>
          <a:xfrm xmlns:a="http://schemas.openxmlformats.org/drawingml/2006/main">
            <a:off x="609600" y="3181350"/>
            <a:ext cx="10972800" cy="628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inspection/AGENTS.md">
            <a:extLst xmlns:a="http://schemas.openxmlformats.org/drawingml/2006/main">
              <a:ext uri="{FF2B5EF4-FFF2-40B4-BE49-F238E27FC236}">
                <a16:creationId xmlns:a16="http://schemas.microsoft.com/office/drawing/2014/main" id="{E2BB3012-6C90-46C0-ADD7-B1B9232FEA72}"/>
              </a:ext>
            </a:extLst>
          </p:cNvPr>
          <p:cNvSpPr>
            <a:spLocks xmlns:a="http://schemas.openxmlformats.org/drawingml/2006/main" noGrp="1"/>
          </p:cNvSpPr>
          <p:nvPr/>
        </p:nvSpPr>
        <p:spPr>
          <a:xfrm xmlns:a="http://schemas.openxmlformats.org/drawingml/2006/main">
            <a:off x="819150" y="33337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inspection/AGENTS.md</a:t>
            </a:r>
          </a:p>
        </p:txBody>
      </p:sp>
      <p:sp>
        <p:nvSpPr>
          <p:cNvPr id="13" name="프로젝트 공통 · 공개 API 보존">
            <a:extLst xmlns:a="http://schemas.openxmlformats.org/drawingml/2006/main">
              <a:ext uri="{FF2B5EF4-FFF2-40B4-BE49-F238E27FC236}">
                <a16:creationId xmlns:a16="http://schemas.microsoft.com/office/drawing/2014/main" id="{AA66F46E-DD85-48D3-A5DE-A72AD383D896}"/>
              </a:ext>
            </a:extLst>
          </p:cNvPr>
          <p:cNvSpPr>
            <a:spLocks xmlns:a="http://schemas.openxmlformats.org/drawingml/2006/main" noGrp="1"/>
          </p:cNvSpPr>
          <p:nvPr/>
        </p:nvSpPr>
        <p:spPr>
          <a:xfrm xmlns:a="http://schemas.openxmlformats.org/drawingml/2006/main">
            <a:off x="6534150" y="33337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프로젝트 공통 · 공개 API 보존</a:t>
            </a:r>
          </a:p>
        </p:txBody>
      </p:sp>
      <p:sp>
        <p:nvSpPr>
          <p:cNvPr id="14" name="">
            <a:extLst xmlns:a="http://schemas.openxmlformats.org/drawingml/2006/main">
              <a:ext uri="{FF2B5EF4-FFF2-40B4-BE49-F238E27FC236}">
                <a16:creationId xmlns:a16="http://schemas.microsoft.com/office/drawing/2014/main" id="{25EDD08E-7B8B-448D-97EE-116F8155B3F8}"/>
              </a:ext>
            </a:extLst>
          </p:cNvPr>
          <p:cNvSpPr>
            <a:spLocks xmlns:a="http://schemas.openxmlformats.org/drawingml/2006/main" noGrp="1"/>
          </p:cNvSpPr>
          <p:nvPr/>
        </p:nvSpPr>
        <p:spPr>
          <a:xfrm xmlns:a="http://schemas.openxmlformats.org/drawingml/2006/main">
            <a:off x="971550" y="3810000"/>
            <a:ext cx="19050" cy="139065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9E3DCF-89CC-46FE-881D-92776762FBCD}"/>
              </a:ext>
            </a:extLst>
          </p:cNvPr>
          <p:cNvSpPr>
            <a:spLocks xmlns:a="http://schemas.openxmlformats.org/drawingml/2006/main" noGrp="1"/>
          </p:cNvSpPr>
          <p:nvPr/>
        </p:nvSpPr>
        <p:spPr>
          <a:xfrm xmlns:a="http://schemas.openxmlformats.org/drawingml/2006/main">
            <a:off x="971550" y="4343400"/>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
            <a:extLst xmlns:a="http://schemas.openxmlformats.org/drawingml/2006/main">
              <a:ext uri="{FF2B5EF4-FFF2-40B4-BE49-F238E27FC236}">
                <a16:creationId xmlns:a16="http://schemas.microsoft.com/office/drawing/2014/main" id="{9BC47BF7-BB49-42EC-9B17-F01F429556B4}"/>
              </a:ext>
            </a:extLst>
          </p:cNvPr>
          <p:cNvSpPr>
            <a:spLocks xmlns:a="http://schemas.openxmlformats.org/drawingml/2006/main" noGrp="1"/>
          </p:cNvSpPr>
          <p:nvPr/>
        </p:nvSpPr>
        <p:spPr>
          <a:xfrm xmlns:a="http://schemas.openxmlformats.org/drawingml/2006/main">
            <a:off x="971550" y="5200650"/>
            <a:ext cx="571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949A66C-ECFF-4333-ACB0-9A58B2CD4908}"/>
              </a:ext>
            </a:extLst>
          </p:cNvPr>
          <p:cNvSpPr>
            <a:spLocks xmlns:a="http://schemas.openxmlformats.org/drawingml/2006/main" noGrp="1"/>
          </p:cNvSpPr>
          <p:nvPr/>
        </p:nvSpPr>
        <p:spPr>
          <a:xfrm xmlns:a="http://schemas.openxmlformats.org/drawingml/2006/main">
            <a:off x="1543050" y="4019550"/>
            <a:ext cx="10039350" cy="647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8" name="src/vision/AGENTS.md">
            <a:extLst xmlns:a="http://schemas.openxmlformats.org/drawingml/2006/main">
              <a:ext uri="{FF2B5EF4-FFF2-40B4-BE49-F238E27FC236}">
                <a16:creationId xmlns:a16="http://schemas.microsoft.com/office/drawing/2014/main" id="{4396A007-DC12-4CAE-A759-11D4F8717252}"/>
              </a:ext>
            </a:extLst>
          </p:cNvPr>
          <p:cNvSpPr>
            <a:spLocks xmlns:a="http://schemas.openxmlformats.org/drawingml/2006/main" noGrp="1"/>
          </p:cNvSpPr>
          <p:nvPr/>
        </p:nvSpPr>
        <p:spPr>
          <a:xfrm xmlns:a="http://schemas.openxmlformats.org/drawingml/2006/main">
            <a:off x="1733550" y="417195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src/vision/AGENTS.md</a:t>
            </a:r>
          </a:p>
        </p:txBody>
      </p:sp>
      <p:sp>
        <p:nvSpPr>
          <p:cNvPr id="19" name="crop.cpp 작업 · ROI 명세">
            <a:extLst xmlns:a="http://schemas.openxmlformats.org/drawingml/2006/main">
              <a:ext uri="{FF2B5EF4-FFF2-40B4-BE49-F238E27FC236}">
                <a16:creationId xmlns:a16="http://schemas.microsoft.com/office/drawing/2014/main" id="{6B68B802-9895-40D3-A6A5-BDF08101A1D1}"/>
              </a:ext>
            </a:extLst>
          </p:cNvPr>
          <p:cNvSpPr>
            <a:spLocks xmlns:a="http://schemas.openxmlformats.org/drawingml/2006/main" noGrp="1"/>
          </p:cNvSpPr>
          <p:nvPr/>
        </p:nvSpPr>
        <p:spPr>
          <a:xfrm xmlns:a="http://schemas.openxmlformats.org/drawingml/2006/main">
            <a:off x="6534150" y="41719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crop.cpp 작업 · ROI 명세</a:t>
            </a:r>
          </a:p>
        </p:txBody>
      </p:sp>
      <p:sp>
        <p:nvSpPr>
          <p:cNvPr id="20" name="">
            <a:extLst xmlns:a="http://schemas.openxmlformats.org/drawingml/2006/main">
              <a:ext uri="{FF2B5EF4-FFF2-40B4-BE49-F238E27FC236}">
                <a16:creationId xmlns:a16="http://schemas.microsoft.com/office/drawing/2014/main" id="{25BAC545-0854-486B-9649-6078DAD5F1A1}"/>
              </a:ext>
            </a:extLst>
          </p:cNvPr>
          <p:cNvSpPr>
            <a:spLocks xmlns:a="http://schemas.openxmlformats.org/drawingml/2006/main" noGrp="1"/>
          </p:cNvSpPr>
          <p:nvPr/>
        </p:nvSpPr>
        <p:spPr>
          <a:xfrm xmlns:a="http://schemas.openxmlformats.org/drawingml/2006/main">
            <a:off x="1543050" y="4876800"/>
            <a:ext cx="10039350" cy="64770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1" name="src/device/AGENTS.md">
            <a:extLst xmlns:a="http://schemas.openxmlformats.org/drawingml/2006/main">
              <a:ext uri="{FF2B5EF4-FFF2-40B4-BE49-F238E27FC236}">
                <a16:creationId xmlns:a16="http://schemas.microsoft.com/office/drawing/2014/main" id="{AF91101A-3F73-463A-86E2-4E3EE048BF14}"/>
              </a:ext>
            </a:extLst>
          </p:cNvPr>
          <p:cNvSpPr>
            <a:spLocks xmlns:a="http://schemas.openxmlformats.org/drawingml/2006/main" noGrp="1"/>
          </p:cNvSpPr>
          <p:nvPr/>
        </p:nvSpPr>
        <p:spPr>
          <a:xfrm xmlns:a="http://schemas.openxmlformats.org/drawingml/2006/main">
            <a:off x="1733550" y="502920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Consolas"/>
                <a:ea typeface="Consolas"/>
                <a:cs typeface="Consolas"/>
              </a:defRPr>
            </a:defPPr>
            <a:lvl1pPr algn="l">
              <a:defRPr sz="2025" b="0">
                <a:solidFill>
                  <a:srgbClr val="4D5A68"/>
                </a:solidFill>
                <a:latin typeface="Consolas"/>
                <a:ea typeface="Consolas"/>
                <a:cs typeface="Consolas"/>
              </a:defRPr>
            </a:lvl1pPr>
            <a:lvl2pPr algn="l">
              <a:defRPr sz="2025" b="0">
                <a:solidFill>
                  <a:srgbClr val="4D5A68"/>
                </a:solidFill>
                <a:latin typeface="Consolas"/>
                <a:ea typeface="Consolas"/>
                <a:cs typeface="Consolas"/>
              </a:defRPr>
            </a:lvl2pPr>
            <a:lvl3pPr algn="l">
              <a:defRPr sz="2025" b="0">
                <a:solidFill>
                  <a:srgbClr val="4D5A68"/>
                </a:solidFill>
                <a:latin typeface="Consolas"/>
                <a:ea typeface="Consolas"/>
                <a:cs typeface="Consolas"/>
              </a:defRPr>
            </a:lvl3pPr>
            <a:lvl4pPr algn="l">
              <a:defRPr sz="2025" b="0">
                <a:solidFill>
                  <a:srgbClr val="4D5A68"/>
                </a:solidFill>
                <a:latin typeface="Consolas"/>
                <a:ea typeface="Consolas"/>
                <a:cs typeface="Consolas"/>
              </a:defRPr>
            </a:lvl4pPr>
            <a:lvl5pPr algn="l">
              <a:defRPr sz="2025" b="0">
                <a:solidFill>
                  <a:srgbClr val="4D5A68"/>
                </a:solidFill>
                <a:latin typeface="Consolas"/>
                <a:ea typeface="Consolas"/>
                <a:cs typeface="Consolas"/>
              </a:defRPr>
            </a:lvl5pPr>
            <a:lvl6pPr algn="l">
              <a:defRPr sz="2025" b="0">
                <a:solidFill>
                  <a:srgbClr val="4D5A68"/>
                </a:solidFill>
                <a:latin typeface="Consolas"/>
                <a:ea typeface="Consolas"/>
                <a:cs typeface="Consolas"/>
              </a:defRPr>
            </a:lvl6pPr>
            <a:lvl7pPr algn="l">
              <a:defRPr sz="2025" b="0">
                <a:solidFill>
                  <a:srgbClr val="4D5A68"/>
                </a:solidFill>
                <a:latin typeface="Consolas"/>
                <a:ea typeface="Consolas"/>
                <a:cs typeface="Consolas"/>
              </a:defRPr>
            </a:lvl7pPr>
            <a:lvl8pPr algn="l">
              <a:defRPr sz="2025" b="0">
                <a:solidFill>
                  <a:srgbClr val="4D5A68"/>
                </a:solidFill>
                <a:latin typeface="Consolas"/>
                <a:ea typeface="Consolas"/>
                <a:cs typeface="Consolas"/>
              </a:defRPr>
            </a:lvl8pPr>
            <a:lvl9pPr algn="l">
              <a:defRPr sz="2025" b="0">
                <a:solidFill>
                  <a:srgbClr val="4D5A68"/>
                </a:solidFill>
                <a:latin typeface="Consolas"/>
                <a:ea typeface="Consolas"/>
                <a:cs typeface="Consolas"/>
              </a:defRPr>
            </a:lvl9pPr>
          </a:lstStyle>
          <a:p xmlns:a="http://schemas.openxmlformats.org/drawingml/2006/main">
            <a:pPr algn="l">
              <a:defRPr sz="2025" b="0">
                <a:solidFill>
                  <a:srgbClr val="4D5A68"/>
                </a:solidFill>
                <a:latin typeface="Consolas"/>
                <a:ea typeface="Consolas"/>
                <a:cs typeface="Consolas"/>
              </a:defRPr>
            </a:pPr>
            <a:r>
              <a:rPr sz="2025" b="0">
                <a:solidFill>
                  <a:srgbClr val="4D5A68"/>
                </a:solidFill>
                <a:latin typeface="Consolas"/>
                <a:ea typeface="Consolas"/>
                <a:cs typeface="Consolas"/>
              </a:rPr>
              <a:t>src/device/AGENTS.md</a:t>
            </a:r>
          </a:p>
        </p:txBody>
      </p:sp>
      <p:sp>
        <p:nvSpPr>
          <p:cNvPr id="22" name="다른 모듈 · 이번 코드의 범위 밖">
            <a:extLst xmlns:a="http://schemas.openxmlformats.org/drawingml/2006/main">
              <a:ext uri="{FF2B5EF4-FFF2-40B4-BE49-F238E27FC236}">
                <a16:creationId xmlns:a16="http://schemas.microsoft.com/office/drawing/2014/main" id="{C216A97B-9BF7-4818-B922-72B57326CD48}"/>
              </a:ext>
            </a:extLst>
          </p:cNvPr>
          <p:cNvSpPr>
            <a:spLocks xmlns:a="http://schemas.openxmlformats.org/drawingml/2006/main" noGrp="1"/>
          </p:cNvSpPr>
          <p:nvPr/>
        </p:nvSpPr>
        <p:spPr>
          <a:xfrm xmlns:a="http://schemas.openxmlformats.org/drawingml/2006/main">
            <a:off x="6534150" y="502920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다른 모듈 · 이번 코드의 범위 밖</a:t>
            </a:r>
          </a:p>
        </p:txBody>
      </p:sp>
      <p:sp>
        <p:nvSpPr>
          <p:cNvPr id="23" name="">
            <a:extLst xmlns:a="http://schemas.openxmlformats.org/drawingml/2006/main">
              <a:ext uri="{FF2B5EF4-FFF2-40B4-BE49-F238E27FC236}">
                <a16:creationId xmlns:a16="http://schemas.microsoft.com/office/drawing/2014/main" id="{D6B3DE94-579F-4518-A466-4C9BADAB7CF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4FAEC4F-6556-4CA4-8154-C9D199DC3DD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4C213CF-2DD8-454C-8668-126A6C1C82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7747481"/>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2/3">
            <a:extLst xmlns:a="http://schemas.openxmlformats.org/drawingml/2006/main">
              <a:ext uri="{FF2B5EF4-FFF2-40B4-BE49-F238E27FC236}">
                <a16:creationId xmlns:a16="http://schemas.microsoft.com/office/drawing/2014/main" id="{81D6714D-D5D1-4717-8575-F369AD3069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2/3</a:t>
            </a:r>
          </a:p>
        </p:txBody>
      </p:sp>
      <p:sp>
        <p:nvSpPr>
          <p:cNvPr id="2" name="S57">
            <a:extLst xmlns:a="http://schemas.openxmlformats.org/drawingml/2006/main">
              <a:ext uri="{FF2B5EF4-FFF2-40B4-BE49-F238E27FC236}">
                <a16:creationId xmlns:a16="http://schemas.microsoft.com/office/drawing/2014/main" id="{A260F716-A979-4BEE-8B62-F6453A268F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공통 지침에 모듈 지침을 더한다">
            <a:extLst xmlns:a="http://schemas.openxmlformats.org/drawingml/2006/main">
              <a:ext uri="{FF2B5EF4-FFF2-40B4-BE49-F238E27FC236}">
                <a16:creationId xmlns:a16="http://schemas.microsoft.com/office/drawing/2014/main" id="{77B30FF1-02B1-49B2-BA15-F1EA47F38F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지침에 모듈 지침을 더한다</a:t>
            </a:r>
          </a:p>
        </p:txBody>
      </p:sp>
      <p:sp>
        <p:nvSpPr>
          <p:cNvPr id="4" name="">
            <a:extLst xmlns:a="http://schemas.openxmlformats.org/drawingml/2006/main">
              <a:ext uri="{FF2B5EF4-FFF2-40B4-BE49-F238E27FC236}">
                <a16:creationId xmlns:a16="http://schemas.microsoft.com/office/drawing/2014/main" id="{BD823448-78D5-451E-AA12-3B8AD0FE15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E483C5-B5C6-4C5C-8FB1-B7374E2FE1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이번 작업: src/vision/crop.cpp 수정">
            <a:extLst xmlns:a="http://schemas.openxmlformats.org/drawingml/2006/main">
              <a:ext uri="{FF2B5EF4-FFF2-40B4-BE49-F238E27FC236}">
                <a16:creationId xmlns:a16="http://schemas.microsoft.com/office/drawing/2014/main" id="{BE9153E3-2CF9-4F2B-81C8-6E1DACFE7B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src/vision/crop.cpp 수정</a:t>
            </a:r>
          </a:p>
        </p:txBody>
      </p:sp>
      <p:sp>
        <p:nvSpPr>
          <p:cNvPr id="8" name="">
            <a:extLst xmlns:a="http://schemas.openxmlformats.org/drawingml/2006/main">
              <a:ext uri="{FF2B5EF4-FFF2-40B4-BE49-F238E27FC236}">
                <a16:creationId xmlns:a16="http://schemas.microsoft.com/office/drawing/2014/main" id="{E9D74928-C59F-46A8-AC0B-2F48B6EAA0F0}"/>
              </a:ext>
            </a:extLst>
          </p:cNvPr>
          <p:cNvSpPr>
            <a:spLocks xmlns:a="http://schemas.openxmlformats.org/drawingml/2006/main" noGrp="1"/>
          </p:cNvSpPr>
          <p:nvPr/>
        </p:nvSpPr>
        <p:spPr>
          <a:xfrm xmlns:a="http://schemas.openxmlformats.org/drawingml/2006/main">
            <a:off x="609600" y="2400300"/>
            <a:ext cx="302895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루트의 공통 지침">
            <a:extLst xmlns:a="http://schemas.openxmlformats.org/drawingml/2006/main">
              <a:ext uri="{FF2B5EF4-FFF2-40B4-BE49-F238E27FC236}">
                <a16:creationId xmlns:a16="http://schemas.microsoft.com/office/drawing/2014/main" id="{FC9983F8-FBD4-4A89-9CF8-AC0873254E8C}"/>
              </a:ext>
            </a:extLst>
          </p:cNvPr>
          <p:cNvSpPr>
            <a:spLocks xmlns:a="http://schemas.openxmlformats.org/drawingml/2006/main" noGrp="1"/>
          </p:cNvSpPr>
          <p:nvPr/>
        </p:nvSpPr>
        <p:spPr>
          <a:xfrm xmlns:a="http://schemas.openxmlformats.org/drawingml/2006/main">
            <a:off x="80010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루트의 공통 지침</a:t>
            </a:r>
          </a:p>
        </p:txBody>
      </p:sp>
      <p:sp>
        <p:nvSpPr>
          <p:cNvPr id="10" name="공개 API 유지&#10;기본 검증: ctest">
            <a:extLst xmlns:a="http://schemas.openxmlformats.org/drawingml/2006/main">
              <a:ext uri="{FF2B5EF4-FFF2-40B4-BE49-F238E27FC236}">
                <a16:creationId xmlns:a16="http://schemas.microsoft.com/office/drawing/2014/main" id="{3012D183-C63C-48DD-9916-F515CA3F84BB}"/>
              </a:ext>
            </a:extLst>
          </p:cNvPr>
          <p:cNvSpPr>
            <a:spLocks xmlns:a="http://schemas.openxmlformats.org/drawingml/2006/main" noGrp="1"/>
          </p:cNvSpPr>
          <p:nvPr/>
        </p:nvSpPr>
        <p:spPr>
          <a:xfrm xmlns:a="http://schemas.openxmlformats.org/drawingml/2006/main">
            <a:off x="80010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기본 검증: ctest</a:t>
            </a:r>
          </a:p>
        </p:txBody>
      </p:sp>
      <p:sp>
        <p:nvSpPr>
          <p:cNvPr id="11" name="">
            <a:extLst xmlns:a="http://schemas.openxmlformats.org/drawingml/2006/main">
              <a:ext uri="{FF2B5EF4-FFF2-40B4-BE49-F238E27FC236}">
                <a16:creationId xmlns:a16="http://schemas.microsoft.com/office/drawing/2014/main" id="{9546759E-7FE6-4DBB-9B23-77D255A5D8F3}"/>
              </a:ext>
            </a:extLst>
          </p:cNvPr>
          <p:cNvSpPr>
            <a:spLocks xmlns:a="http://schemas.openxmlformats.org/drawingml/2006/main" noGrp="1"/>
          </p:cNvSpPr>
          <p:nvPr/>
        </p:nvSpPr>
        <p:spPr>
          <a:xfrm xmlns:a="http://schemas.openxmlformats.org/drawingml/2006/main">
            <a:off x="4362450" y="2400300"/>
            <a:ext cx="3028950" cy="21717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2" name="vision의 전용 지침">
            <a:extLst xmlns:a="http://schemas.openxmlformats.org/drawingml/2006/main">
              <a:ext uri="{FF2B5EF4-FFF2-40B4-BE49-F238E27FC236}">
                <a16:creationId xmlns:a16="http://schemas.microsoft.com/office/drawing/2014/main" id="{790A2796-7E9B-4760-A2E3-7CFE460845C1}"/>
              </a:ext>
            </a:extLst>
          </p:cNvPr>
          <p:cNvSpPr>
            <a:spLocks xmlns:a="http://schemas.openxmlformats.org/drawingml/2006/main" noGrp="1"/>
          </p:cNvSpPr>
          <p:nvPr/>
        </p:nvSpPr>
        <p:spPr>
          <a:xfrm xmlns:a="http://schemas.openxmlformats.org/drawingml/2006/main">
            <a:off x="455295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vision의 전용 지침</a:t>
            </a:r>
          </a:p>
        </p:txBody>
      </p:sp>
      <p:sp>
        <p:nvSpPr>
          <p:cNvPr id="13" name="ROI 명세 준수&#10;검증: ctest -L vision">
            <a:extLst xmlns:a="http://schemas.openxmlformats.org/drawingml/2006/main">
              <a:ext uri="{FF2B5EF4-FFF2-40B4-BE49-F238E27FC236}">
                <a16:creationId xmlns:a16="http://schemas.microsoft.com/office/drawing/2014/main" id="{263C0575-A74F-49D0-8D21-9AA63A0332A7}"/>
              </a:ext>
            </a:extLst>
          </p:cNvPr>
          <p:cNvSpPr>
            <a:spLocks xmlns:a="http://schemas.openxmlformats.org/drawingml/2006/main" noGrp="1"/>
          </p:cNvSpPr>
          <p:nvPr/>
        </p:nvSpPr>
        <p:spPr>
          <a:xfrm xmlns:a="http://schemas.openxmlformats.org/drawingml/2006/main">
            <a:off x="455295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ctest -L vision</a:t>
            </a:r>
          </a:p>
        </p:txBody>
      </p:sp>
      <p:sp>
        <p:nvSpPr>
          <p:cNvPr id="14" name="">
            <a:extLst xmlns:a="http://schemas.openxmlformats.org/drawingml/2006/main">
              <a:ext uri="{FF2B5EF4-FFF2-40B4-BE49-F238E27FC236}">
                <a16:creationId xmlns:a16="http://schemas.microsoft.com/office/drawing/2014/main" id="{18F01C59-E2A3-46B5-8E6B-5ECCF1665E26}"/>
              </a:ext>
            </a:extLst>
          </p:cNvPr>
          <p:cNvSpPr>
            <a:spLocks xmlns:a="http://schemas.openxmlformats.org/drawingml/2006/main" noGrp="1"/>
          </p:cNvSpPr>
          <p:nvPr/>
        </p:nvSpPr>
        <p:spPr>
          <a:xfrm xmlns:a="http://schemas.openxmlformats.org/drawingml/2006/main">
            <a:off x="8382000" y="2400300"/>
            <a:ext cx="320040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5" name="함께 적용할 지침">
            <a:extLst xmlns:a="http://schemas.openxmlformats.org/drawingml/2006/main">
              <a:ext uri="{FF2B5EF4-FFF2-40B4-BE49-F238E27FC236}">
                <a16:creationId xmlns:a16="http://schemas.microsoft.com/office/drawing/2014/main" id="{7E9CF3FE-5100-4C0A-BBA1-3CBF84BD64C0}"/>
              </a:ext>
            </a:extLst>
          </p:cNvPr>
          <p:cNvSpPr>
            <a:spLocks xmlns:a="http://schemas.openxmlformats.org/drawingml/2006/main" noGrp="1"/>
          </p:cNvSpPr>
          <p:nvPr/>
        </p:nvSpPr>
        <p:spPr>
          <a:xfrm xmlns:a="http://schemas.openxmlformats.org/drawingml/2006/main">
            <a:off x="8572500" y="2590800"/>
            <a:ext cx="2819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함께 적용할 지침</a:t>
            </a:r>
          </a:p>
        </p:txBody>
      </p:sp>
      <p:sp>
        <p:nvSpPr>
          <p:cNvPr id="16" name="공개 API 유지&#10;ROI 명세 준수&#10;ctest -L vision">
            <a:extLst xmlns:a="http://schemas.openxmlformats.org/drawingml/2006/main">
              <a:ext uri="{FF2B5EF4-FFF2-40B4-BE49-F238E27FC236}">
                <a16:creationId xmlns:a16="http://schemas.microsoft.com/office/drawing/2014/main" id="{29B5A8AC-DED3-4991-92A5-85F37F5A3440}"/>
              </a:ext>
            </a:extLst>
          </p:cNvPr>
          <p:cNvSpPr>
            <a:spLocks xmlns:a="http://schemas.openxmlformats.org/drawingml/2006/main" noGrp="1"/>
          </p:cNvSpPr>
          <p:nvPr/>
        </p:nvSpPr>
        <p:spPr>
          <a:xfrm xmlns:a="http://schemas.openxmlformats.org/drawingml/2006/main">
            <a:off x="8572500" y="3105150"/>
            <a:ext cx="281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ctest -L vision</a:t>
            </a:r>
          </a:p>
        </p:txBody>
      </p:sp>
      <p:sp>
        <p:nvSpPr>
          <p:cNvPr id="17" name="+">
            <a:extLst xmlns:a="http://schemas.openxmlformats.org/drawingml/2006/main">
              <a:ext uri="{FF2B5EF4-FFF2-40B4-BE49-F238E27FC236}">
                <a16:creationId xmlns:a16="http://schemas.microsoft.com/office/drawing/2014/main" id="{CA91A3BF-F161-4329-83D3-79227C9C4251}"/>
              </a:ext>
            </a:extLst>
          </p:cNvPr>
          <p:cNvSpPr>
            <a:spLocks xmlns:a="http://schemas.openxmlformats.org/drawingml/2006/main" noGrp="1"/>
          </p:cNvSpPr>
          <p:nvPr/>
        </p:nvSpPr>
        <p:spPr>
          <a:xfrm xmlns:a="http://schemas.openxmlformats.org/drawingml/2006/main">
            <a:off x="3790950" y="31242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150" b="1">
                <a:solidFill>
                  <a:srgbClr val="0B6172"/>
                </a:solidFill>
                <a:latin typeface="Malgun Gothic"/>
                <a:ea typeface="Malgun Gothic"/>
                <a:cs typeface="Malgun Gothic"/>
              </a:defRPr>
            </a:defPPr>
            <a:lvl1pPr algn="ctr">
              <a:defRPr sz="3150" b="1">
                <a:solidFill>
                  <a:srgbClr val="0B6172"/>
                </a:solidFill>
                <a:latin typeface="Malgun Gothic"/>
                <a:ea typeface="Malgun Gothic"/>
                <a:cs typeface="Malgun Gothic"/>
              </a:defRPr>
            </a:lvl1pPr>
            <a:lvl2pPr algn="ctr">
              <a:defRPr sz="3150" b="1">
                <a:solidFill>
                  <a:srgbClr val="0B6172"/>
                </a:solidFill>
                <a:latin typeface="Malgun Gothic"/>
                <a:ea typeface="Malgun Gothic"/>
                <a:cs typeface="Malgun Gothic"/>
              </a:defRPr>
            </a:lvl2pPr>
            <a:lvl3pPr algn="ctr">
              <a:defRPr sz="3150" b="1">
                <a:solidFill>
                  <a:srgbClr val="0B6172"/>
                </a:solidFill>
                <a:latin typeface="Malgun Gothic"/>
                <a:ea typeface="Malgun Gothic"/>
                <a:cs typeface="Malgun Gothic"/>
              </a:defRPr>
            </a:lvl3pPr>
            <a:lvl4pPr algn="ctr">
              <a:defRPr sz="3150" b="1">
                <a:solidFill>
                  <a:srgbClr val="0B6172"/>
                </a:solidFill>
                <a:latin typeface="Malgun Gothic"/>
                <a:ea typeface="Malgun Gothic"/>
                <a:cs typeface="Malgun Gothic"/>
              </a:defRPr>
            </a:lvl4pPr>
            <a:lvl5pPr algn="ctr">
              <a:defRPr sz="3150" b="1">
                <a:solidFill>
                  <a:srgbClr val="0B6172"/>
                </a:solidFill>
                <a:latin typeface="Malgun Gothic"/>
                <a:ea typeface="Malgun Gothic"/>
                <a:cs typeface="Malgun Gothic"/>
              </a:defRPr>
            </a:lvl5pPr>
            <a:lvl6pPr algn="ctr">
              <a:defRPr sz="3150" b="1">
                <a:solidFill>
                  <a:srgbClr val="0B6172"/>
                </a:solidFill>
                <a:latin typeface="Malgun Gothic"/>
                <a:ea typeface="Malgun Gothic"/>
                <a:cs typeface="Malgun Gothic"/>
              </a:defRPr>
            </a:lvl6pPr>
            <a:lvl7pPr algn="ctr">
              <a:defRPr sz="3150" b="1">
                <a:solidFill>
                  <a:srgbClr val="0B6172"/>
                </a:solidFill>
                <a:latin typeface="Malgun Gothic"/>
                <a:ea typeface="Malgun Gothic"/>
                <a:cs typeface="Malgun Gothic"/>
              </a:defRPr>
            </a:lvl7pPr>
            <a:lvl8pPr algn="ctr">
              <a:defRPr sz="3150" b="1">
                <a:solidFill>
                  <a:srgbClr val="0B6172"/>
                </a:solidFill>
                <a:latin typeface="Malgun Gothic"/>
                <a:ea typeface="Malgun Gothic"/>
                <a:cs typeface="Malgun Gothic"/>
              </a:defRPr>
            </a:lvl8pPr>
            <a:lvl9pPr algn="ctr">
              <a:defRPr sz="3150" b="1">
                <a:solidFill>
                  <a:srgbClr val="0B6172"/>
                </a:solidFill>
                <a:latin typeface="Malgun Gothic"/>
                <a:ea typeface="Malgun Gothic"/>
                <a:cs typeface="Malgun Gothic"/>
              </a:defRPr>
            </a:lvl9pPr>
          </a:lstStyle>
          <a:p xmlns:a="http://schemas.openxmlformats.org/drawingml/2006/main">
            <a:pPr algn="ctr">
              <a:defRPr sz="3150" b="1">
                <a:solidFill>
                  <a:srgbClr val="0B6172"/>
                </a:solidFill>
                <a:latin typeface="Malgun Gothic"/>
                <a:ea typeface="Malgun Gothic"/>
                <a:cs typeface="Malgun Gothic"/>
              </a:defRPr>
            </a:pPr>
            <a:r>
              <a:rPr sz="3150" b="1">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DE24DB14-F860-4CC3-BE26-59B60CF1DAC5}"/>
              </a:ext>
            </a:extLst>
          </p:cNvPr>
          <p:cNvSpPr>
            <a:spLocks xmlns:a="http://schemas.openxmlformats.org/drawingml/2006/main" noGrp="1"/>
          </p:cNvSpPr>
          <p:nvPr/>
        </p:nvSpPr>
        <p:spPr>
          <a:xfrm xmlns:a="http://schemas.openxmlformats.org/drawingml/2006/main">
            <a:off x="7658100" y="3314700"/>
            <a:ext cx="4572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충돌하는 기본값은 더 가까운 지침을 우선">
            <a:extLst xmlns:a="http://schemas.openxmlformats.org/drawingml/2006/main">
              <a:ext uri="{FF2B5EF4-FFF2-40B4-BE49-F238E27FC236}">
                <a16:creationId xmlns:a16="http://schemas.microsoft.com/office/drawing/2014/main" id="{3C1BA01E-ED91-4A00-954B-70D4131BD9D4}"/>
              </a:ext>
            </a:extLst>
          </p:cNvPr>
          <p:cNvSpPr>
            <a:spLocks xmlns:a="http://schemas.openxmlformats.org/drawingml/2006/main" noGrp="1"/>
          </p:cNvSpPr>
          <p:nvPr/>
        </p:nvSpPr>
        <p:spPr>
          <a:xfrm xmlns:a="http://schemas.openxmlformats.org/drawingml/2006/main">
            <a:off x="609600" y="4895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충돌하는 기본값은 더 가까운 지침을 우선</a:t>
            </a:r>
          </a:p>
        </p:txBody>
      </p:sp>
      <p:sp>
        <p:nvSpPr>
          <p:cNvPr id="20" name="공통 지침 전체가 사라지는 것은 아닙니다">
            <a:extLst xmlns:a="http://schemas.openxmlformats.org/drawingml/2006/main">
              <a:ext uri="{FF2B5EF4-FFF2-40B4-BE49-F238E27FC236}">
                <a16:creationId xmlns:a16="http://schemas.microsoft.com/office/drawing/2014/main" id="{4A33110F-FD17-485C-9078-4024ED33FAE3}"/>
              </a:ext>
            </a:extLst>
          </p:cNvPr>
          <p:cNvSpPr>
            <a:spLocks xmlns:a="http://schemas.openxmlformats.org/drawingml/2006/main" noGrp="1"/>
          </p:cNvSpPr>
          <p:nvPr/>
        </p:nvSpPr>
        <p:spPr>
          <a:xfrm xmlns:a="http://schemas.openxmlformats.org/drawingml/2006/main">
            <a:off x="609600" y="53244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공통 지침 전체가 사라지는 것은 아닙니다</a:t>
            </a:r>
          </a:p>
        </p:txBody>
      </p:sp>
      <p:sp>
        <p:nvSpPr>
          <p:cNvPr id="21" name="">
            <a:extLst xmlns:a="http://schemas.openxmlformats.org/drawingml/2006/main">
              <a:ext uri="{FF2B5EF4-FFF2-40B4-BE49-F238E27FC236}">
                <a16:creationId xmlns:a16="http://schemas.microsoft.com/office/drawing/2014/main" id="{A1DAC673-757E-418B-934C-8D7FD99404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2A24202-1167-4239-8E06-2B5BF6704D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58A8A1EC-42C3-4DD3-A773-2837FBE8A6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5929992"/>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3/3">
            <a:extLst xmlns:a="http://schemas.openxmlformats.org/drawingml/2006/main">
              <a:ext uri="{FF2B5EF4-FFF2-40B4-BE49-F238E27FC236}">
                <a16:creationId xmlns:a16="http://schemas.microsoft.com/office/drawing/2014/main" id="{A607E94D-E5F7-4E2F-BE57-18F185D5B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3/3</a:t>
            </a:r>
          </a:p>
        </p:txBody>
      </p:sp>
      <p:sp>
        <p:nvSpPr>
          <p:cNvPr id="2" name="S58">
            <a:extLst xmlns:a="http://schemas.openxmlformats.org/drawingml/2006/main">
              <a:ext uri="{FF2B5EF4-FFF2-40B4-BE49-F238E27FC236}">
                <a16:creationId xmlns:a16="http://schemas.microsoft.com/office/drawing/2014/main" id="{5039CF5A-E60C-42EA-8889-E730AEB0F9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적용할 지침을 실제로 읽었을까?">
            <a:extLst xmlns:a="http://schemas.openxmlformats.org/drawingml/2006/main">
              <a:ext uri="{FF2B5EF4-FFF2-40B4-BE49-F238E27FC236}">
                <a16:creationId xmlns:a16="http://schemas.microsoft.com/office/drawing/2014/main" id="{ED62561B-790A-4EE9-83B9-A04BDCC813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적용할 지침을 실제로 읽었을까?</a:t>
            </a:r>
          </a:p>
        </p:txBody>
      </p:sp>
      <p:sp>
        <p:nvSpPr>
          <p:cNvPr id="4" name="">
            <a:extLst xmlns:a="http://schemas.openxmlformats.org/drawingml/2006/main">
              <a:ext uri="{FF2B5EF4-FFF2-40B4-BE49-F238E27FC236}">
                <a16:creationId xmlns:a16="http://schemas.microsoft.com/office/drawing/2014/main" id="{B4A0E212-9420-4926-910D-7859E660A2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B7A9F6A-FFAD-421E-AB29-C2286F36B2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시작 시 자동 수집 기준 · 파일 경로와 본문을 확인</a:t>
            </a:r>
          </a:p>
        </p:txBody>
      </p:sp>
      <p:sp>
        <p:nvSpPr>
          <p:cNvPr id="7" name="적용 범위와 시작 시 자동 수집 범위는 다릅니다">
            <a:extLst xmlns:a="http://schemas.openxmlformats.org/drawingml/2006/main">
              <a:ext uri="{FF2B5EF4-FFF2-40B4-BE49-F238E27FC236}">
                <a16:creationId xmlns:a16="http://schemas.microsoft.com/office/drawing/2014/main" id="{AFB2FA88-B28F-4642-AC79-EC12616D020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적용 범위와 시작 시 자동 수집 범위는 다릅니다</a:t>
            </a:r>
          </a:p>
        </p:txBody>
      </p:sp>
      <p:sp>
        <p:nvSpPr>
          <p:cNvPr id="8" name="루트에서 시작">
            <a:extLst xmlns:a="http://schemas.openxmlformats.org/drawingml/2006/main">
              <a:ext uri="{FF2B5EF4-FFF2-40B4-BE49-F238E27FC236}">
                <a16:creationId xmlns:a16="http://schemas.microsoft.com/office/drawing/2014/main" id="{1D60F754-1E69-4E9F-9E14-CDB9CBCDF7C9}"/>
              </a:ext>
            </a:extLst>
          </p:cNvPr>
          <p:cNvSpPr>
            <a:spLocks xmlns:a="http://schemas.openxmlformats.org/drawingml/2006/main" noGrp="1"/>
          </p:cNvSpPr>
          <p:nvPr/>
        </p:nvSpPr>
        <p:spPr>
          <a:xfrm xmlns:a="http://schemas.openxmlformats.org/drawingml/2006/main">
            <a:off x="609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루트에서 시작</a:t>
            </a:r>
          </a:p>
        </p:txBody>
      </p:sp>
      <p:sp>
        <p:nvSpPr>
          <p:cNvPr id="9" name="inspection/">
            <a:extLst xmlns:a="http://schemas.openxmlformats.org/drawingml/2006/main">
              <a:ext uri="{FF2B5EF4-FFF2-40B4-BE49-F238E27FC236}">
                <a16:creationId xmlns:a16="http://schemas.microsoft.com/office/drawing/2014/main" id="{E5BE2A4A-042E-407E-A711-9DE1AD920578}"/>
              </a:ext>
            </a:extLst>
          </p:cNvPr>
          <p:cNvSpPr>
            <a:spLocks xmlns:a="http://schemas.openxmlformats.org/drawingml/2006/main" noGrp="1"/>
          </p:cNvSpPr>
          <p:nvPr/>
        </p:nvSpPr>
        <p:spPr>
          <a:xfrm xmlns:a="http://schemas.openxmlformats.org/drawingml/2006/main">
            <a:off x="609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a:t>
            </a:r>
          </a:p>
        </p:txBody>
      </p:sp>
      <p:sp>
        <p:nvSpPr>
          <p:cNvPr id="10" name="">
            <a:extLst xmlns:a="http://schemas.openxmlformats.org/drawingml/2006/main">
              <a:ext uri="{FF2B5EF4-FFF2-40B4-BE49-F238E27FC236}">
                <a16:creationId xmlns:a16="http://schemas.microsoft.com/office/drawing/2014/main" id="{06999919-B979-4939-B2D6-97AC9554A1E5}"/>
              </a:ext>
            </a:extLst>
          </p:cNvPr>
          <p:cNvSpPr>
            <a:spLocks xmlns:a="http://schemas.openxmlformats.org/drawingml/2006/main" noGrp="1"/>
          </p:cNvSpPr>
          <p:nvPr/>
        </p:nvSpPr>
        <p:spPr>
          <a:xfrm xmlns:a="http://schemas.openxmlformats.org/drawingml/2006/main">
            <a:off x="609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개인 기본값  →  루트">
            <a:extLst xmlns:a="http://schemas.openxmlformats.org/drawingml/2006/main">
              <a:ext uri="{FF2B5EF4-FFF2-40B4-BE49-F238E27FC236}">
                <a16:creationId xmlns:a16="http://schemas.microsoft.com/office/drawing/2014/main" id="{23A6BE02-7BDB-4139-95F0-F805AFD9B0D8}"/>
              </a:ext>
            </a:extLst>
          </p:cNvPr>
          <p:cNvSpPr>
            <a:spLocks xmlns:a="http://schemas.openxmlformats.org/drawingml/2006/main" noGrp="1"/>
          </p:cNvSpPr>
          <p:nvPr/>
        </p:nvSpPr>
        <p:spPr>
          <a:xfrm xmlns:a="http://schemas.openxmlformats.org/drawingml/2006/main">
            <a:off x="762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a:t>
            </a:r>
          </a:p>
        </p:txBody>
      </p:sp>
      <p:sp>
        <p:nvSpPr>
          <p:cNvPr id="12" name="vision 지침은 별도로 찾아 읽기">
            <a:extLst xmlns:a="http://schemas.openxmlformats.org/drawingml/2006/main">
              <a:ext uri="{FF2B5EF4-FFF2-40B4-BE49-F238E27FC236}">
                <a16:creationId xmlns:a16="http://schemas.microsoft.com/office/drawing/2014/main" id="{9A9CA466-B210-4014-8955-038697E57FF7}"/>
              </a:ext>
            </a:extLst>
          </p:cNvPr>
          <p:cNvSpPr>
            <a:spLocks xmlns:a="http://schemas.openxmlformats.org/drawingml/2006/main" noGrp="1"/>
          </p:cNvSpPr>
          <p:nvPr/>
        </p:nvSpPr>
        <p:spPr>
          <a:xfrm xmlns:a="http://schemas.openxmlformats.org/drawingml/2006/main">
            <a:off x="609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vision 지침은 별도로 찾아 읽기</a:t>
            </a:r>
          </a:p>
        </p:txBody>
      </p:sp>
      <p:sp>
        <p:nvSpPr>
          <p:cNvPr id="13" name="작업 폴더에서 시작">
            <a:extLst xmlns:a="http://schemas.openxmlformats.org/drawingml/2006/main">
              <a:ext uri="{FF2B5EF4-FFF2-40B4-BE49-F238E27FC236}">
                <a16:creationId xmlns:a16="http://schemas.microsoft.com/office/drawing/2014/main" id="{A944C6B2-93D1-4672-A416-4A069DF214E4}"/>
              </a:ext>
            </a:extLst>
          </p:cNvPr>
          <p:cNvSpPr>
            <a:spLocks xmlns:a="http://schemas.openxmlformats.org/drawingml/2006/main" noGrp="1"/>
          </p:cNvSpPr>
          <p:nvPr/>
        </p:nvSpPr>
        <p:spPr>
          <a:xfrm xmlns:a="http://schemas.openxmlformats.org/drawingml/2006/main">
            <a:off x="6324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폴더에서 시작</a:t>
            </a:r>
          </a:p>
        </p:txBody>
      </p:sp>
      <p:sp>
        <p:nvSpPr>
          <p:cNvPr id="14" name="inspection/src/vision/">
            <a:extLst xmlns:a="http://schemas.openxmlformats.org/drawingml/2006/main">
              <a:ext uri="{FF2B5EF4-FFF2-40B4-BE49-F238E27FC236}">
                <a16:creationId xmlns:a16="http://schemas.microsoft.com/office/drawing/2014/main" id="{7843567F-BF23-4CF3-9C46-29BFFD2914CA}"/>
              </a:ext>
            </a:extLst>
          </p:cNvPr>
          <p:cNvSpPr>
            <a:spLocks xmlns:a="http://schemas.openxmlformats.org/drawingml/2006/main" noGrp="1"/>
          </p:cNvSpPr>
          <p:nvPr/>
        </p:nvSpPr>
        <p:spPr>
          <a:xfrm xmlns:a="http://schemas.openxmlformats.org/drawingml/2006/main">
            <a:off x="6324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inspection/src/vision/</a:t>
            </a:r>
          </a:p>
        </p:txBody>
      </p:sp>
      <p:sp>
        <p:nvSpPr>
          <p:cNvPr id="15" name="">
            <a:extLst xmlns:a="http://schemas.openxmlformats.org/drawingml/2006/main">
              <a:ext uri="{FF2B5EF4-FFF2-40B4-BE49-F238E27FC236}">
                <a16:creationId xmlns:a16="http://schemas.microsoft.com/office/drawing/2014/main" id="{242381F2-1FA1-4029-A504-B4085A595035}"/>
              </a:ext>
            </a:extLst>
          </p:cNvPr>
          <p:cNvSpPr>
            <a:spLocks xmlns:a="http://schemas.openxmlformats.org/drawingml/2006/main" noGrp="1"/>
          </p:cNvSpPr>
          <p:nvPr/>
        </p:nvSpPr>
        <p:spPr>
          <a:xfrm xmlns:a="http://schemas.openxmlformats.org/drawingml/2006/main">
            <a:off x="6324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개인 기본값  →  루트  →  vision">
            <a:extLst xmlns:a="http://schemas.openxmlformats.org/drawingml/2006/main">
              <a:ext uri="{FF2B5EF4-FFF2-40B4-BE49-F238E27FC236}">
                <a16:creationId xmlns:a16="http://schemas.microsoft.com/office/drawing/2014/main" id="{7D61B439-721F-4A34-BEBA-F8575D96C46E}"/>
              </a:ext>
            </a:extLst>
          </p:cNvPr>
          <p:cNvSpPr>
            <a:spLocks xmlns:a="http://schemas.openxmlformats.org/drawingml/2006/main" noGrp="1"/>
          </p:cNvSpPr>
          <p:nvPr/>
        </p:nvSpPr>
        <p:spPr>
          <a:xfrm xmlns:a="http://schemas.openxmlformats.org/drawingml/2006/main">
            <a:off x="6477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  →  vision</a:t>
            </a:r>
          </a:p>
        </p:txBody>
      </p:sp>
      <p:sp>
        <p:nvSpPr>
          <p:cNvPr id="17" name="시작 경로의 vision 지침까지 수집">
            <a:extLst xmlns:a="http://schemas.openxmlformats.org/drawingml/2006/main">
              <a:ext uri="{FF2B5EF4-FFF2-40B4-BE49-F238E27FC236}">
                <a16:creationId xmlns:a16="http://schemas.microsoft.com/office/drawing/2014/main" id="{CC88A27D-19B4-44DB-A61F-D6FBA9883427}"/>
              </a:ext>
            </a:extLst>
          </p:cNvPr>
          <p:cNvSpPr>
            <a:spLocks xmlns:a="http://schemas.openxmlformats.org/drawingml/2006/main" noGrp="1"/>
          </p:cNvSpPr>
          <p:nvPr/>
        </p:nvSpPr>
        <p:spPr>
          <a:xfrm xmlns:a="http://schemas.openxmlformats.org/drawingml/2006/main">
            <a:off x="6324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시작 경로의 vision 지침까지 수집</a:t>
            </a:r>
          </a:p>
        </p:txBody>
      </p:sp>
      <p:sp>
        <p:nvSpPr>
          <p:cNvPr id="18" name="변경 전에, 작업 폴더의 지침까지 확인하도록 요청">
            <a:extLst xmlns:a="http://schemas.openxmlformats.org/drawingml/2006/main">
              <a:ext uri="{FF2B5EF4-FFF2-40B4-BE49-F238E27FC236}">
                <a16:creationId xmlns:a16="http://schemas.microsoft.com/office/drawing/2014/main" id="{554CEC6C-47D6-4D2D-94C8-F23060D2D778}"/>
              </a:ext>
            </a:extLst>
          </p:cNvPr>
          <p:cNvSpPr>
            <a:spLocks xmlns:a="http://schemas.openxmlformats.org/drawingml/2006/main" noGrp="1"/>
          </p:cNvSpPr>
          <p:nvPr/>
        </p:nvSpPr>
        <p:spPr>
          <a:xfrm xmlns:a="http://schemas.openxmlformats.org/drawingml/2006/main">
            <a:off x="609600" y="43434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전에, 작업 폴더의 지침까지 확인하도록 요청</a:t>
            </a:r>
          </a:p>
        </p:txBody>
      </p:sp>
      <p:sp>
        <p:nvSpPr>
          <p:cNvPr id="19" name="">
            <a:extLst xmlns:a="http://schemas.openxmlformats.org/drawingml/2006/main">
              <a:ext uri="{FF2B5EF4-FFF2-40B4-BE49-F238E27FC236}">
                <a16:creationId xmlns:a16="http://schemas.microsoft.com/office/drawing/2014/main" id="{568006CC-FBF8-4FB0-BAA0-AAA37CEC94CC}"/>
              </a:ext>
            </a:extLst>
          </p:cNvPr>
          <p:cNvSpPr>
            <a:spLocks xmlns:a="http://schemas.openxmlformats.org/drawingml/2006/main" noGrp="1"/>
          </p:cNvSpPr>
          <p:nvPr/>
        </p:nvSpPr>
        <p:spPr>
          <a:xfrm xmlns:a="http://schemas.openxmlformats.org/drawingml/2006/main">
            <a:off x="609600" y="4772025"/>
            <a:ext cx="10972800"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수정 전에 적용할 AGENTS.md의 경로와 핵심 규칙을 확인해줘.&#10;공통 규칙과 모듈별 규칙을 구분해줘.">
            <a:extLst xmlns:a="http://schemas.openxmlformats.org/drawingml/2006/main">
              <a:ext uri="{FF2B5EF4-FFF2-40B4-BE49-F238E27FC236}">
                <a16:creationId xmlns:a16="http://schemas.microsoft.com/office/drawing/2014/main" id="{23BAE5FC-F345-4845-B463-FD59DDF17A70}"/>
              </a:ext>
            </a:extLst>
          </p:cNvPr>
          <p:cNvSpPr>
            <a:spLocks xmlns:a="http://schemas.openxmlformats.org/drawingml/2006/main" noGrp="1"/>
          </p:cNvSpPr>
          <p:nvPr/>
        </p:nvSpPr>
        <p:spPr>
          <a:xfrm xmlns:a="http://schemas.openxmlformats.org/drawingml/2006/main">
            <a:off x="800100" y="486727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수정 전에 적용할 AGENTS.md의 경로와 핵심 규칙을 확인해줘.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공통 규칙과 모듈별 규칙을 구분해줘.</a:t>
            </a:r>
          </a:p>
        </p:txBody>
      </p:sp>
      <p:sp>
        <p:nvSpPr>
          <p:cNvPr id="21" name="">
            <a:extLst xmlns:a="http://schemas.openxmlformats.org/drawingml/2006/main">
              <a:ext uri="{FF2B5EF4-FFF2-40B4-BE49-F238E27FC236}">
                <a16:creationId xmlns:a16="http://schemas.microsoft.com/office/drawing/2014/main" id="{332E22B6-3C6B-4182-B7F0-6E4A5153788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936A8F9-7B44-4D30-AB98-A077F2E142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EF982498-02A8-488D-AED9-119C03A24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8096523"/>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B2C2D0BE-0876-4428-B4F0-7858645B01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9">
            <a:extLst xmlns:a="http://schemas.openxmlformats.org/drawingml/2006/main">
              <a:ext uri="{FF2B5EF4-FFF2-40B4-BE49-F238E27FC236}">
                <a16:creationId xmlns:a16="http://schemas.microsoft.com/office/drawing/2014/main" id="{C66996AE-240B-4D04-9B99-ECA664682B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지식은 정리됐지만 절차는 반복된다">
            <a:extLst xmlns:a="http://schemas.openxmlformats.org/drawingml/2006/main">
              <a:ext uri="{FF2B5EF4-FFF2-40B4-BE49-F238E27FC236}">
                <a16:creationId xmlns:a16="http://schemas.microsoft.com/office/drawing/2014/main" id="{5A67EDCB-AA65-46E1-927D-443C3B7B53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0CAA00FB-988B-4BE9-9448-8299883470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1CA9C72-0959-4284-B10F-E2713A951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54EA417D-6A9E-4220-88AA-98C8D41ED5F5}"/>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EDC5DA91-8A1A-4133-8B3E-49443883D0A2}"/>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38BF095B-B4DD-4675-B128-7E1C842BA55D}"/>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CDA2D8C1-507F-47C4-B656-2F24474387AF}"/>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C87315E5-0FBD-48B1-AF8B-786DB120D3DA}"/>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F1144847-3761-4CF8-9BEB-12DBE180F98B}"/>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70E94496-5C1A-4401-944B-69062AE2CEC0}"/>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2C8BF08C-63E2-4CE7-9C74-CB2B2974C75B}"/>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361B0339-ACCE-4AE3-A119-2719CF81393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34943D54-0799-4FA2-B2B1-45ED51DA7534}"/>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98265A75-A277-4400-95FE-F2D42CF790EC}"/>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A18B2C02-2A9C-4C75-9576-3393FD9E12B8}"/>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A5F1AE73-2463-4905-94E1-155F2242DD5C}"/>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1873C337-5021-43D2-B0B1-D27AC6481FC7}"/>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202DD484-1AB8-42FA-8037-D700C0A28E76}"/>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E0B39AAF-ED21-455B-B31D-F787155DC3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42567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22</ap:Slides>
  <ap:Notes>22</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2026-10-25T11:25:59.6660000Z</dcterms:created>
  <dcterms:modified xsi:type="dcterms:W3CDTF">2026-10-25T11:25:59.6660000Z</dcterms:modified>
</coreProperties>
</file>