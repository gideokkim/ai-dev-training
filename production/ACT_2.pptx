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7a733cb26c4de4" /><Relationship Type="http://schemas.openxmlformats.org/officeDocument/2006/relationships/extended-properties" Target="/docProps/app.xml" Id="R133f7fa16de14541" /><Relationship Type="http://schemas.openxmlformats.org/officeDocument/2006/relationships/officeDocument" Target="/ppt/presentation.xml" Id="Ra5868e1484d94f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e6753ade3a4969"/>
  </p:sldMasterIdLst>
  <p:notesMasterIdLst>
    <p:notesMasterId xmlns:r="http://schemas.openxmlformats.org/officeDocument/2006/relationships" r:id="Rcbfa6c063d274d0c"/>
  </p:notesMasterIdLst>
  <p:sldIdLst>
    <p:sldId xmlns:r="http://schemas.openxmlformats.org/officeDocument/2006/relationships" id="256" r:id="R2c781d7d032a4105"/>
    <p:sldId xmlns:r="http://schemas.openxmlformats.org/officeDocument/2006/relationships" id="257" r:id="R30d075eb5be14490"/>
    <p:sldId xmlns:r="http://schemas.openxmlformats.org/officeDocument/2006/relationships" id="258" r:id="R1c155e570dc34f63"/>
    <p:sldId xmlns:r="http://schemas.openxmlformats.org/officeDocument/2006/relationships" id="259" r:id="Rfbfd711d8dc14881"/>
    <p:sldId xmlns:r="http://schemas.openxmlformats.org/officeDocument/2006/relationships" id="260" r:id="R8b5e30b3a121496b"/>
    <p:sldId xmlns:r="http://schemas.openxmlformats.org/officeDocument/2006/relationships" id="261" r:id="Rc5204b05b5c14b59"/>
    <p:sldId xmlns:r="http://schemas.openxmlformats.org/officeDocument/2006/relationships" id="262" r:id="Re0597e6c33fe4a4d"/>
    <p:sldId xmlns:r="http://schemas.openxmlformats.org/officeDocument/2006/relationships" id="263" r:id="R2f2236cb1953404a"/>
    <p:sldId xmlns:r="http://schemas.openxmlformats.org/officeDocument/2006/relationships" id="264" r:id="R155053507f1b453d"/>
    <p:sldId xmlns:r="http://schemas.openxmlformats.org/officeDocument/2006/relationships" id="265" r:id="R5100a09c97d546f3"/>
    <p:sldId xmlns:r="http://schemas.openxmlformats.org/officeDocument/2006/relationships" id="266" r:id="R00f8908e436b467a"/>
    <p:sldId xmlns:r="http://schemas.openxmlformats.org/officeDocument/2006/relationships" id="267" r:id="R8cca08415d064fd4"/>
    <p:sldId xmlns:r="http://schemas.openxmlformats.org/officeDocument/2006/relationships" id="268" r:id="R096b96132dbd48e8"/>
    <p:sldId xmlns:r="http://schemas.openxmlformats.org/officeDocument/2006/relationships" id="269" r:id="R9ca327edd7a74c17"/>
    <p:sldId xmlns:r="http://schemas.openxmlformats.org/officeDocument/2006/relationships" id="270" r:id="Ra2d90fa2a39d4aa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2d72d6a0f04d93" /><Relationship Type="http://schemas.openxmlformats.org/officeDocument/2006/relationships/slideMaster" Target="/ppt/slideMasters/slideMaster1.xml" Id="R3fe6753ade3a4969" /><Relationship Type="http://schemas.openxmlformats.org/officeDocument/2006/relationships/notesMaster" Target="/ppt/notesMasters/notesMaster1.xml" Id="Rcbfa6c063d274d0c" /><Relationship Type="http://schemas.openxmlformats.org/officeDocument/2006/relationships/presProps" Target="/ppt/presProps.xml" Id="Rd9e1156706d94709" /><Relationship Type="http://schemas.openxmlformats.org/officeDocument/2006/relationships/tableStyles" Target="/ppt/tableStyles.xml" Id="Rf0e9c78a20624a6a" /><Relationship Type="http://schemas.openxmlformats.org/officeDocument/2006/relationships/slide" Target="/ppt/slides/slide1.xml" Id="R2c781d7d032a4105" /><Relationship Type="http://schemas.openxmlformats.org/officeDocument/2006/relationships/slide" Target="/ppt/slides/slide2.xml" Id="R30d075eb5be14490" /><Relationship Type="http://schemas.openxmlformats.org/officeDocument/2006/relationships/slide" Target="/ppt/slides/slide3.xml" Id="R1c155e570dc34f63" /><Relationship Type="http://schemas.openxmlformats.org/officeDocument/2006/relationships/slide" Target="/ppt/slides/slide4.xml" Id="Rfbfd711d8dc14881" /><Relationship Type="http://schemas.openxmlformats.org/officeDocument/2006/relationships/slide" Target="/ppt/slides/slide5.xml" Id="R8b5e30b3a121496b" /><Relationship Type="http://schemas.openxmlformats.org/officeDocument/2006/relationships/slide" Target="/ppt/slides/slide6.xml" Id="Rc5204b05b5c14b59" /><Relationship Type="http://schemas.openxmlformats.org/officeDocument/2006/relationships/slide" Target="/ppt/slides/slide7.xml" Id="Re0597e6c33fe4a4d" /><Relationship Type="http://schemas.openxmlformats.org/officeDocument/2006/relationships/slide" Target="/ppt/slides/slide8.xml" Id="R2f2236cb1953404a" /><Relationship Type="http://schemas.openxmlformats.org/officeDocument/2006/relationships/slide" Target="/ppt/slides/slide9.xml" Id="R155053507f1b453d" /><Relationship Type="http://schemas.openxmlformats.org/officeDocument/2006/relationships/slide" Target="/ppt/slides/slide10.xml" Id="R5100a09c97d546f3" /><Relationship Type="http://schemas.openxmlformats.org/officeDocument/2006/relationships/slide" Target="/ppt/slides/slide11.xml" Id="R00f8908e436b467a" /><Relationship Type="http://schemas.openxmlformats.org/officeDocument/2006/relationships/slide" Target="/ppt/slides/slide12.xml" Id="R8cca08415d064fd4" /><Relationship Type="http://schemas.openxmlformats.org/officeDocument/2006/relationships/slide" Target="/ppt/slides/slide13.xml" Id="R096b96132dbd48e8" /><Relationship Type="http://schemas.openxmlformats.org/officeDocument/2006/relationships/slide" Target="/ppt/slides/slide14.xml" Id="R9ca327edd7a74c17" /><Relationship Type="http://schemas.openxmlformats.org/officeDocument/2006/relationships/slide" Target="/ppt/slides/slide15.xml" Id="Ra2d90fa2a39d4a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e0d40c03414a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9a83df1e824bde" /><Relationship Type="http://schemas.openxmlformats.org/officeDocument/2006/relationships/notesMaster" Target="/ppt/notesMasters/notesMaster1.xml" Id="R54bd980b154b4f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6e1037156e4fb7" /><Relationship Type="http://schemas.openxmlformats.org/officeDocument/2006/relationships/notesMaster" Target="/ppt/notesMasters/notesMaster1.xml" Id="Rc6d7c30f694148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f4809373e54907" /><Relationship Type="http://schemas.openxmlformats.org/officeDocument/2006/relationships/notesMaster" Target="/ppt/notesMasters/notesMaster1.xml" Id="Rd86ac228a09a44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cb1eb80673427d" /><Relationship Type="http://schemas.openxmlformats.org/officeDocument/2006/relationships/notesMaster" Target="/ppt/notesMasters/notesMaster1.xml" Id="R79d4c3fb778649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cc3a0c3d16417d" /><Relationship Type="http://schemas.openxmlformats.org/officeDocument/2006/relationships/notesMaster" Target="/ppt/notesMasters/notesMaster1.xml" Id="Ra2754ddefae741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3160d100b94cee" /><Relationship Type="http://schemas.openxmlformats.org/officeDocument/2006/relationships/notesMaster" Target="/ppt/notesMasters/notesMaster1.xml" Id="Rfdaaf1d8d39542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e78554824547f8" /><Relationship Type="http://schemas.openxmlformats.org/officeDocument/2006/relationships/notesMaster" Target="/ppt/notesMasters/notesMaster1.xml" Id="R9f902fb7370a44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04690f9c814775" /><Relationship Type="http://schemas.openxmlformats.org/officeDocument/2006/relationships/notesMaster" Target="/ppt/notesMasters/notesMaster1.xml" Id="R0562e2c46c9246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4135e71bfc4706" /><Relationship Type="http://schemas.openxmlformats.org/officeDocument/2006/relationships/notesMaster" Target="/ppt/notesMasters/notesMaster1.xml" Id="R751a56a3ad5c44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8f25c6a68847b6" /><Relationship Type="http://schemas.openxmlformats.org/officeDocument/2006/relationships/notesMaster" Target="/ppt/notesMasters/notesMaster1.xml" Id="R05093d467d2d4f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c14759849d4f8a" /><Relationship Type="http://schemas.openxmlformats.org/officeDocument/2006/relationships/notesMaster" Target="/ppt/notesMasters/notesMaster1.xml" Id="Rd38304ca1efb47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c00f65a6534884" /><Relationship Type="http://schemas.openxmlformats.org/officeDocument/2006/relationships/notesMaster" Target="/ppt/notesMasters/notesMaster1.xml" Id="R22d20591e3e2421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6186291cff34e80" /><Relationship Type="http://schemas.openxmlformats.org/officeDocument/2006/relationships/notesMaster" Target="/ppt/notesMasters/notesMaster1.xml" Id="Rcffac2fb29134a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598f97c82e492f" /><Relationship Type="http://schemas.openxmlformats.org/officeDocument/2006/relationships/notesMaster" Target="/ppt/notesMasters/notesMaster1.xml" Id="R3d14cb35131449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0b374da4a143b7" /><Relationship Type="http://schemas.openxmlformats.org/officeDocument/2006/relationships/notesMaster" Target="/ppt/notesMasters/notesMaster1.xml" Id="R2c088e3f4d7247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S24 —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다른 Task에 같은 설명이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Bug fix, performance, and README Tasks can repeat the same Project facts because task-specific instructions and durable Project context have different scopes.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“Task는 다른데 왜 같은 설명을 계속 복사하고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버그 수정, 성능 조사, README 수정의 서로 다른 목표를 왼쪽부터 가리킨다.</a:t>
            </a:r>
          </a:p>
          <a:p xmlns:a="http://schemas.openxmlformats.org/drawingml/2006/main">
            <a:r>
              <a:t>2. (2:00–4:00) 아래에 반복된 네 줄을 비교한다. 테스트 실행, 근거가 있을 때 의존성 추가, 로컬 합성 데이터, 기존 동작 보존이다. 세 요청은 교육용 구성 예시이며 Trial 원문이 아니다.</a:t>
            </a:r>
          </a:p>
          <a:p xmlns:a="http://schemas.openxmlformats.org/drawingml/2006/main">
            <a:r>
              <a:t>3. (4:00–5:00) 같은 설명이 왜 다시 들어가는지 잠시 생각하게 한다. 아직 저장 위치나 기능을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BEAT-008, CLM-0003, CLM-0005. TEACHING_MODEL / CONCEPTUAL; the three cards are a constructed example, not a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Repetition can indicate a scope and lifetime question. This slide does not claim a product failure or introduce a repository instruction file as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If every Task needs the same Project facts, consider whether those facts belong with the Task or with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durable constraints before choosing where to maintain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final minute as a quiet case prompt. No hands-on activity or public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“공통 정보를 Prompt 밖에 둘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Spend four minutes on the repeated facts and one minute on the question. Do not preview the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S24 또는 `production/preview/act2/S24.png`다.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S25 —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작은 Project Context의 첫 기록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STATE-01의 실제 AGENTS.md에는 반복되는 프로젝트 목적, 실행 방법, 테스트 명령, 기본 제약이 기록되어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“반복되는 Project 정보를 한 번 기록하면 어떤 점이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STATE-00-FIXED에서 STATE-01로 바뀐 것은 root AGENTS.md 한 파일 추가임을 설명한다.</a:t>
            </a:r>
          </a:p>
          <a:p xmlns:a="http://schemas.openxmlformats.org/drawingml/2006/main">
            <a:r>
              <a:t>2. (1:00–3:00) 네 발췌를 순서대로 가리킨다. 목적: 로컬 grayscale CLI. 실행: README의 준비된 명령. 테스트: 원문 명령. 제약: 범위를 지키고 관련 동작을 검증. 영어 문장을 모두 낭독하지 않는다.</a:t>
            </a:r>
          </a:p>
          <a:p xmlns:a="http://schemas.openxmlformats.org/drawingml/2006/main">
            <a:r>
              <a:t>3. (3:00–4:00) Task마다 반복 설명하던 사실을 저장소에 둔 설계 의도를 정리하고, 실제 활용 관찰은 S26로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한국어 의미를 먼저 읽고 바로 위의 실제 AGENTS.md 발췌와 대조한다. 강조한 CLI 목적·README·범위/검증 문구만 짚고 테스트 명령은 입력 실습이나 CLI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/ DEMO-02 / OBSERVED_PRODUCT. Demo tag `14baf81746a981d7cd96b7a014ea06f28c3dd6b4`, root `AGENTS.md` 2, 5, 9, 15행 발췌. 15줄/567bytes는 원문 메타데이터이며 화면의 중심 메시지로 쓰지 않는다. 테스트 명령은 `Run`과 구두점을 제외한 원문 명령 문자열이다. Source: `plan/DEMO_MATRIX.md` STATE-01 기록.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파일이 그 상태에 존재했다는 근거다. 성능, 정확도, 토큰 절감 또는 AGENTS.md 단독 인과효과를 주장하지 않는다. 제품 코드·테스트·README는 그 상태 전환에서 바뀌지 않았다. S26의 지침 활용 관찰을 이 장의 결과로 앞당기지 않는다. 현재 Desktop 자동 로딩이나 교육 환경을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small set of facts that applies across Project Tasks can be written down once in the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design choice is about context scope and maintenance ownership, not a measured quality or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`production/ACT_2.pptx`의 S25 및 `production/preview/act2/S25.png`에 있는 실제 AGENTS.md 원문 발췌를 가리킨다. 편집기 screenshot이 아니다. Live/HYBRID는 발표 환경 검증 전까지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Point out the recurring facts without asking the audience to inspect a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안내가 실제 Task에서 어떻게 사용됐는지 기록을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4분 유지. 1분 상태 전환, 2분 네 발췌, 1분 의미와 S26 handoff. 명령어 옵션별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S25 또는 `production/preview/act2/S25.png`다.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S26 —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번의 사용에서 확인된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the recorded TRIAL-003 run, the agent inspected `AGENTS.md` and used the documented test command that was absent from the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“Prompt에 없던 test command는 어디서 왔을까?”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요청에는 README-only 범위가 있었지만 전체 테스트 명령은 없었다고 짚는다.</a:t>
            </a:r>
          </a:p>
          <a:p xmlns:a="http://schemas.openxmlformats.org/drawingml/2006/main">
            <a:r>
              <a:t>2. (1:00–3:00) 가운데 AGENTS.md 접근과 기록된 테스트 명령 사용을 오른쪽 11/11 PASS 기록에 연결한다. 화면은 Trial 기록을 요약한 설명 구조다.</a:t>
            </a:r>
          </a:p>
          <a:p xmlns:a="http://schemas.openxmlformats.org/drawingml/2006/main">
            <a:r>
              <a:t>3. (3:00–4:00) Personal/global Skills도 실행됐으므로 AGENTS.md 단독 효과를 분리할 수 없다고 밝힌다. README-only 범위는 요청에도 있었다고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TRIAL-003, STATE-01, DEMO-02. OBSERVED_PRODUCT; one recorded CLI run. Personal/global Skills also ran.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run does not isolate an independent causal effect of `AGENTS.md`, establish general superiority, or show that repository guidance alone determined file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record shows one example where a Project test command was available outside the current Prompt and was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the observed action, other active instructions, and Task scope separate when interpreting causality.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Present the captured/reconstructed Trial record. Do not represent it as a current Desktop run or a live screenshot. HYBRID activation is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opening question, pause briefly, then reveal the record. Do not require an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Task의 Prompt와 Project가 계속 유지할 Context는 어떻게 다른가?”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three minutes for the recorded sequence and one minute for the causal boundary. Do not elaborate on unrelated Trial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S26 또는 `production/preview/act2/S26.png`다.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S27 —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Prompt와 Project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A Task Prompt describes what is wanted now; Project Context describes facts and constraints that generally remain true for the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정보는 언제까지 유효한가?”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‘이번 작업이 끝나면?’이라는 질문으로 정보의 수명을 비교한다.</a:t>
            </a:r>
          </a:p>
          <a:p xmlns:a="http://schemas.openxmlformats.org/drawingml/2006/main">
            <a:r>
              <a:t>2. (1:00–4:00) 왼쪽 crop 수정과 README-only 범위, 오른쪽 테스트 명령과 근거 기반 의존성 정책을 연결한다. Prompt는 현재 목표를 표현하는 데 계속 필요하다.</a:t>
            </a:r>
          </a:p>
          <a:p xmlns:a="http://schemas.openxmlformats.org/drawingml/2006/main">
            <a:r>
              <a:t>3. (4:00–5:00) 어떤 사실이 다음 Task에도 유효한지 질문한다. C++에서도 공통 제약과 이번 알고리즘 변경 조건의 범위가 다를 수 있다는 짧은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S26에서 본 기록을 회수한 뒤 두 열의 수명을 비교한다. 왼쪽은 다음 작업에서 바뀔 목표, 오른쪽은 여러 작업에서 다시 참고할 사실이다. S23의 분류 질문을 처음부터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BEAT-009–010, TRANS-003, CLM-0003, CLM-0005. TEACHING_MODEL / CONCEPTUAL; examples summarize S24–S26.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teaching model for scope and lifetime, not a formal OpenAI taxonomy or proof that one layer is always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Put the current goal in the Task request and distinguish it from facts the Project keeps using.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Scope and lifetime are useful dimensions for deciding ownership and update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Briefly distinguish a general Project constraint from a Task-specific algorithm condition; do not list tools or hardware.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Give the audience a brief silent pause to classify the examples mentally. Do not turn it into a hands-on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“정확한 정보를 더 많이 넣으면 언제나 괜찮을까?”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model to two layers and four examples. Leave research and detailed routing for later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S27 또는 `production/preview/act2/S27.png`다.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S28 —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정확한 정보도 계속 늘어난다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STATE-02 grew from 15 lines / 567 bytes to 32 lines / 1,303 bytes as the Project recorded more details; growth alone is not evidence of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“정확한 Project 정보라면 모든 Task에 늘 넣어도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STATE-01의 목적·실행·테스트·기본 제약에서 출발한다. 15줄/567 bytes와 32줄/1,303 bytes는 상태를 식별하는 크기 정보다.</a:t>
            </a:r>
          </a:p>
          <a:p xmlns:a="http://schemas.openxmlformats.org/drawingml/2006/main">
            <a:r>
              <a:t>2. (1:00–3:00) STATE-02에 더해진 처리 순서, 이미지 계약, 테스트 구조, CLI 출력의 실제 항목을 가리킨다. 처리 순서의 말줄임표는 선택적 invert/crop/resize 등의 중간 단계를 생략했다는 뜻이다.</a:t>
            </a:r>
          </a:p>
          <a:p xmlns:a="http://schemas.openxmlformats.org/drawingml/2006/main">
            <a:r>
              <a:t>3. (3:00–4:00) 크기 자체의 성능 의미를 부여하지 않고 ‘이번 Task에도 필요할까?’로 다음 장을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STATE-01 and STATE-02, BEAT-011, CLM-0014, CLM-0015. OBSERVED_PRODUCT; counts describe these recorded states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label the growth as a failure threshold, claim that it caused an error, or imply that the content was inaccurate.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More documented facts create a follow-up question: does each Task need all of them?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Maintenance cost and stale information are review considerations, not observed failures in this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two recorded state summaries; no live repository interaction is planned.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Treat the slide as a case question. Allow a short pause without requiring a public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“작은 README Task에서 어떤 정보가 실제로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크기 식별은 짧게 끝내고 추가된 실제 정보 네 항목에 시간을 쓴다. 마지막 1분에는 관련성 질문으로 이동하며 문서 크기의 인과 효과를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S28 또는 `production/preview/act2/S28.png`다.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S29 —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정확하지만 이번 Task에는 불필요한 정보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(CAPTURED) + Reflection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TRIAL-004 included Image context that was unnecessary for the README build-guidance Task, but no agent confusion or context-related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“README build 안내를 고치는 데 어떤 정보가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README의 build tools 안내를 고친 기록된 Task를 제시한다.</a:t>
            </a:r>
          </a:p>
          <a:p xmlns:a="http://schemas.openxmlformats.org/drawingml/2006/main">
            <a:r>
              <a:t>2. (1:00–2:00 / Demo) 왼쪽 README/build 설정과 오른쪽 crop·resize 계약/pipeline 상세를 비교한다. Agent 혼란과 Context 관련 실패는 관찰되지 않았음을 먼저 밝힌다.</a:t>
            </a:r>
          </a:p>
          <a:p xmlns:a="http://schemas.openxmlformats.org/drawingml/2006/main">
            <a:r>
              <a:t>3. (2:00–4:00 / Reflection) 정확한 정보와 이번 질문에 관련된 정보를 구분해 보게 한다. 공개 응답이나 작업은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TRIAL-004, BEAT-012, CLM-0014, CLM-0015. OBSERVED_PRODUCT; CAPTURED record of one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Presence of unnecessary context is not evidence that the model failed, became confused, or performed worse. No such failure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Correct information can still be unrelated to the current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Distinguish context relevance from outcome quality; this Trial does not measure a performance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Show the captured/reconstructed Trial record for two minutes. Do not run a new Trial or simulate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last two minutes for private reflection: which context was relevant to this Task? No response or written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정보를 항상 한 번에 넣지 않는 방법은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two-minute Reflection. Explicitly state the absence of observed confusion before moving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S29 또는 `production/preview/act2/S29.png`다.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S30 —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정보의 범위와 제공 시점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The course model separates always-on Project facts, task-relevant detail, and reusable workflow by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“무엇은 항상 필요하고, 무엇은 Task에 따라 찾아야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행이 이 과정에서 쓰는 정보 설계 모델임을 밝힌다.</a:t>
            </a:r>
          </a:p>
          <a:p xmlns:a="http://schemas.openxmlformats.org/drawingml/2006/main">
            <a:r>
              <a:t>2. (1:00–3:00) 기본 안내, 질문에 따른 상세, 특정 작업의 수행 방법을 순서대로 가리킨다. 각 행의 구체 예시를 하나씩 설명한다.</a:t>
            </a:r>
          </a:p>
          <a:p xmlns:a="http://schemas.openxmlformats.org/drawingml/2006/main">
            <a:r>
              <a:t>3. (3:00–4:00) 성능 조사 절차 예가 STATE-02에 저장돼 있었다는 뜻은 아니라고 한정한다. 방금은 정보의 범위와 제공 시점을 나눴고, 다음에는 ‘Context 양만 늘리면 충분할까?’를 연구의 제한된 범위 안에서 살펴본다고 예고한다.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BEAT-012, BEAT-014, STATE-02, CLM-0014, CLM-0015,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Always-on / On-demand / Workflow is a course model, not an official OpenAI classification. Do not claim token savings or improved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Some facts apply broadly; details matter for a smaller set of Tasks; a work procedure says how to approach a class of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durable facts, selectively needed details, and workflow responsibility conceptually distinct even when they can all appear outside a Task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the audience to notice that information has different scopes; no category-writing exercise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“필요한 때 찾게 하는 대신 모두 넣어두면 충분할까? 이 질문을 Long Context 연구의 범위 안에서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minutes, one minute per bucket plus the boundary. Do not present this as a product feature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S30 또는 `production/preview/act2/S30.png`다.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S31 —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Long Context 연구가 말해주는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Research in specific models and tasks supports a bounded caution: more context is not automatically better, and relevance or information position can matter under some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“정보의 범위와 시점을 나눠봤는데, Context 양만 늘리면 충분할까?”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정보 분류에서 잠시 물러나 ‘양만 늘리면 충분한가?’라는 질문을 보는 목적을 밝힌다. ‘더 많은 Context가 항상 더 좋은 것은 아니다’의 적용 범위를 특정 모델·과제에 한정한다.</a:t>
            </a:r>
          </a:p>
          <a:p xmlns:a="http://schemas.openxmlformats.org/drawingml/2006/main">
            <a:r>
              <a:t>2. (1:00–3:00) 왼쪽 Lost in the Middle의 여러 문서 질문 답변/key-value 검색, 오른쪽 RepoQA의 50개 Repository 코드 검색을 비교한다. 논문이 답한 질문과 승인된 핵심 결론만 말한다. 수치 그래프나 현재 Codex 성능 추정은 추가하지 않는다.</a:t>
            </a:r>
          </a:p>
          <a:p xmlns:a="http://schemas.openxmlformats.org/drawingml/2006/main">
            <a:r>
              <a:t>3. (3:00–4:00) 화면 하단의 두 출처와 Notes의 원문 링크를 안내한다. 이 Demo의 현재 Codex Repository coding을 직접 시험한 연구가 아님을 명시한다. 연구 소개를 마치고, 이번 Task에 필요한 상세 정보와 그 위치를 설계하는 질문으로 돌아간다.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왼쪽은 관련 정보의 위치를 바꾸는 질적 과제 구조, 오른쪽은 Repository에서 관련 코드를 찾는 과제 구조다. 칠해진 블록은 정보 위치 표시이며 점수·성능·현재 Codex 결과를 뜻하지 않는다. 수치 그래프처럼 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claim current Codex fails because of Lost in the Middle, create a context-length threshold, generalize results across all models/tasks, or invent numeric/curve data. Keep study conditions beside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larger context window does not guarantee that every included detail is equally useful in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cited work covers specific historical models and benchmark settings, including multi-document QA and synthetic retrieval; it does not establish a present-day Codex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This is a research summary, not a deterministic product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Use the opening question to invite a short mental prediction, then answer within the cited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연구가 Demo의 Routing을 검증한 것은 아닙니다. 이제 Task에 필요한 상세 정보를 어디서 찾게 할지 설계로 돌아가겠습니다.”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the paper descriptions concise and reserve the final minute for the transfer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S31 또는 `production/preview/act2/S31.png`다.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S32 —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Context design asks what information a Task needs and when it should be available, rather than placing every detail in one 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필요한 상세 정보에 도달하는 경로는 어떻게 설계할까?”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Move from the question of context amount to the question of relevance and timing.</a:t>
            </a:r>
          </a:p>
          <a:p xmlns:a="http://schemas.openxmlformats.org/drawingml/2006/main">
            <a:r>
              <a:t>2. (1:00–2:00) Show `Task → Core Context → Relevant Detail when needed` as a course diagram.</a:t>
            </a:r>
          </a:p>
          <a:p xmlns:a="http://schemas.openxmlformats.org/drawingml/2006/main">
            <a:r>
              <a:t>3. (2:00–3:00) Give one short C++ example and reserve STATE-03 for the next sequence. 이 장에서는 찾아가는 경로를 보았고, 다음 장에서는 그 출발점인 Core에 무엇을 남길지 정한다고 마무리한다.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현재 Task 질문에서 출발해 Core의 안내를 거쳐 상세 정보로 이동한다. 이 장의 초점은 어디로 찾아갈지이며, 다음 장에서 Core에 무엇을 남길지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STATE-03 as the upcoming example, CLM-0003, CLM-0005, CLM-0014, CLM-0015.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This is a routing question, not evidence of performance improvement, token savings, or a product's automatic retrieval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short starting point can direct a reader toward more detail when a Task needs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Discovery and maintenance remain design concerns; this slide does not claim perfect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Distinguish a general Project constraint from a Task-specific CMake or algorithm contract. Do not list tools, hardware, or environment commands.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STATE-03 results are reserved for the following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Let the routing question sit for a moment; do not reveal the Trial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“경로를 봤으니, 이제 그 출발점인 Core에 무엇을 남길지 정해보겠습니다.”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Keep this to one diagram and one brief C++ example. No product-specific implementation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S32 또는 `production/preview/act2/S32.png`다.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S33 —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Core Context에서 상세 정보로 가는 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Root/Core Context can be a starting point that points toward detail, rather than an encyclopedia of all Project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“그 경로의 출발점인 Core에는 무엇을 남길까?”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장에서 본 탐색 경로의 출발점에 초점을 맞춘다. 왼쪽 기본 안내에 남길 목적, 상시 제약, 상세 정보 위치를 읽는 순서대로 가리킨다.</a:t>
            </a:r>
          </a:p>
          <a:p xmlns:a="http://schemas.openxmlformats.org/drawingml/2006/main">
            <a:r>
              <a:t>2. (1:00–2:30) 오른쪽 architecture, image contracts, testing으로 이어지는 관계를 설명한다. 화살표는 교육용 정보 설계 관계다.</a:t>
            </a:r>
          </a:p>
          <a:p xmlns:a="http://schemas.openxmlformats.org/drawingml/2006/main">
            <a:r>
              <a:t>3. (2:30–4:00) C++에서는 build/test 진입점과 기본 제약에서 해당 알고리즘 계약·하드웨어 조건으로 안내할 수 있음을 짧게 연결한다. Routing 성능 효과는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Core의 세 항목을 먼저 읽고 필요한 상세의 세 행으로 이동한다. S32의 탐색 경로를 반복 설명하기보다 항상 읽을 기본 안내와 필요할 때 찾을 상세의 경계를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BEAT-014, CLM-0003, CLM-0005, CLM-0014, CLM-0015. TEACHING_MODEL / CONCEPTUAL; describe STATE-03 structure in S34.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model does not demonstrate better retrieval or lower cost. No automatic product behavior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Keep a small starting page and put specialized details in topic pages that it points 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core facts for cross-task stability and details for a narrower task scope; routing quality remains an empirical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Core: build/test entry and Project constraints. Detail: algorithm contract and hardware assumptions. Keep it to this scope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observed repository structure follows on S34.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belongs in the core; do not solicit a complete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“Demo Repository에서는 이 Mental Model이 어떻게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Four minutes; keep the C++ bridge to one integrated minute and avoid listing CMake/hardware items.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S33 또는 `production/preview/act2/S33.png`다.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S34 —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정보를 지우지 않고 위치를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 + Demo 2 minutes (CAPTURED) + Case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STATE-03 reorganized the recorded detail from one growing `AGENTS.md` into a smaller core with links to topic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“정보를 나누면 무엇이 바뀌고, 무엇을 그대로 보존해야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STATE-02와 STATE-03은 실제 Repository 상태이며, 정보의 위치가 달라졌다고 밝힌다.</a:t>
            </a:r>
          </a:p>
          <a:p xmlns:a="http://schemas.openxmlformats.org/drawingml/2006/main">
            <a:r>
              <a:t>2. (1:00–3:00 / Demo) 커진 AGENTS.md와 분리된 docs를 비교한다. 오른쪽 실제 Routing 문구에서 어떤 질문을 어떤 문서로 안내하는지 발췌 한 줄씩 가리킨다.</a:t>
            </a:r>
          </a:p>
          <a:p xmlns:a="http://schemas.openxmlformats.org/drawingml/2006/main">
            <a:r>
              <a:t>3. (3:00–4:00 / Case) 정보를 없애기보다 Scope에 따라 놓을 위치를 나눈 설계 의도를 설명한다.</a:t>
            </a:r>
          </a:p>
          <a:p xmlns:a="http://schemas.openxmlformats.org/drawingml/2006/main">
            <a:r>
              <a:t>4. (4:00–5:00 / Lecture) C++도 기본 안내와 알고리즘/모듈 상세를 나누는 패턴으로 연결한다. 실제 접근 결과는 다음 두 Task에서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STATE-02, STATE-03, DEMO-06, BEAT-014–015, CLM-0003, CLM-0005, CLM-0014, CLM-0015. OBSERVED_PRODUCT for file structure; TEACHING_MODEL for the routing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State structure is observed. Progressive Disclosure is a course pattern here; perfect routing, performance improvement, or token savings are not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information was reorganized by topic; the slide does not show it being deleted.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the evidence of file placement from the inference about how such a structure may help readers navigate.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Core constraints stay at the entry point; algorithm, module, and hardware details belong with their relevant topic.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STATE-02 → STATE-03 record; no live file browsing. Do not portray the diagram as a product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what must remain unchanged when information is moved; accept silent reflection.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“두 Task가 같은 상세 문서를 읽는지 관찰해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Use the two Demo minutes for the before/after state, one for the Case, and keep the C++ bridge integrated into the lecture flow as approved.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S34 또는 `production/preview/act2/S34.png`다.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S35 —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두 Task가 무엇을 읽을까?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Compare two read-only Task questions by observing what evidence each run actually accesses.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Task에서 Agent가 같은 상세 문서를 읽을까?”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Set the watch-for question without proposing an answer.</a:t>
            </a:r>
          </a:p>
          <a:p xmlns:a="http://schemas.openxmlformats.org/drawingml/2006/main">
            <a:r>
              <a:t>2. (0:30–1:30) Show Task A: “crop 1 3에서 어떤 source column을 포함하는가?” and Task B: “runtime dependency가 있는가?”</a:t>
            </a:r>
          </a:p>
          <a:p xmlns:a="http://schemas.openxmlformats.org/drawingml/2006/main">
            <a:r>
              <a:t>3. (1:30–2:00) Invite the audience to notice whether the same detail appears in both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BEAT-015–016, CLM-0003, CLM-0005, CLM-0014, CLM-0015. OBSERVED_PRODUCT setup; results are withheld until the next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predict file access or reveal the observed result in advance. This setup does not imply perfect routing.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Different questions may require different Project details; the next slides show what was observed.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Evaluate actual accesses rather than infer behavior from the directory structure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this is the watch setup; no new Trial is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viewers to keep the comparison question in mind. No response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“Crop Task의 기록에서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Two minutes only. Do not give the answer or turn the prompt into an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S35 또는 `production/preview/act2/S35.png`다.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S36 —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Crop Task에서 관찰한 접근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In TRIAL-005A’s final run, the recorded Crop answer was supported by access to the image contract; some broader context was also 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“Crop 계약을 묻는 Task에서 어떤 근거가 사용됐을까?”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image-contracts.md에 있는 반열린 구간 [x_start, x_end)을 가리킨다.</a:t>
            </a:r>
          </a:p>
          <a:p xmlns:a="http://schemas.openxmlformats.org/drawingml/2006/main">
            <a:r>
              <a:t>2. (1:00–3:00) 아래 숫자는 픽셀 값이 아니라 source column index임을 밝힌다. crop 1 3에서 강조한 열 1과 2, 결과 너비 2, 제외된 끝 좌표 3을 순서대로 짚는다.</a:t>
            </a:r>
          </a:p>
          <a:p xmlns:a="http://schemas.openxmlformats.org/drawingml/2006/main">
            <a:r>
              <a:t>3. (3:00–4:00) 하단에서 AGENTS.md, architecture.md도 읽었으며 testing.md는 최종 실행에서 읽었음을 확인한다. 완벽한 최소 문서 선택으로 해석하지 않는다.</a:t>
            </a:r>
          </a:p>
          <a:p xmlns:a="http://schemas.openxmlformats.org/drawingml/2006/main">
            <a:r>
              <a:t>4. (4:00–5:00) 계약이 필요한 Task에서 관련 문서 접근과 답이 관찰됐다는 범위로 마무리하고 Task B로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TRIAL-005A, BEAT-016, CLM-0014, CLM-0015. OBSERVED_PRODUCT; recorded CLI final run and its access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The record supports that image-contract detail was accessed and the answer was observed in this run. It does not show perfect routing, that only relevant documents were read, or a measured efficiency 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The Crop question had a matching contract document, and the recorded final run read it before giving the boundary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Include run variability and broader reads in the interpretation; `testing.md` access was not consistent across iterations.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Use the captured/reconstructed record. Show the image contract and concise answer, not a full file-access log or fabricated terminal capture.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Ask which evidence supports the boundary answer; let the audience inspect the concise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“Dependency Task와 비교하면 어떤 차이가 보일까?”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Give the answer two minutes, the supporting document and limitation two minutes, then one minute for transition.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S36 또는 `production/preview/act2/S36.png`다.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Task별 접근은 달랐지만 완벽하지는 않다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1 minute (CAPTURED) + Case 3 minutes + Reflection 2 minutes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TRIAL-005A/B showed a task-specific difference in detailed document access, but did not prove perfect routing, token savings, or performance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“Task별 차이를 관찰한 것만으로 완벽한 Routing을 말할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강조한 첫 행에서 A는 image-contracts.md를 읽고 B는 읽지 않았음을 가리킨다.</a:t>
            </a:r>
          </a:p>
          <a:p xmlns:a="http://schemas.openxmlformats.org/drawingml/2006/main">
            <a:r>
              <a:t>2. (1:00–3:00 / Case) architecture는 둘 다 읽었고 testing은 A의 최종 실행에서만 읽었다고 확인한다. B는 설정·README·source도 확인했다. A의 더 넓은 읽기와 실행 간 변동도 남아 있다.</a:t>
            </a:r>
          </a:p>
          <a:p xmlns:a="http://schemas.openxmlformats.org/drawingml/2006/main">
            <a:r>
              <a:t>3. (3:00–4:00 / Case) 완벽한 Routing 미입증, 토큰 절약·성능 개선 미측정을 분명히 말한다.</a:t>
            </a:r>
          </a:p>
          <a:p xmlns:a="http://schemas.openxmlformats.org/drawingml/2006/main">
            <a:r>
              <a:t>4. (4:00–6:00 / Reflection) 이 비교로 말할 수 있는 사실과 없는 효과를 조용히 구분해 보게 한다.</a:t>
            </a:r>
          </a:p>
          <a:p xmlns:a="http://schemas.openxmlformats.org/drawingml/2006/main">
            <a:r>
              <a:t>5. (6:00–7:00 / Q&amp;A) 질문 하나를 받거나 준비된 질문을 던진다. 파일 접근 차이라는 관찰로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TRIAL-005A/B, BEAT-016–017, CLM-0014, CLM-0015, CLM-0003, CLM-0005. OBSERVED_PRODUCT; captured records, with observed run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Task-specific access difference is observed. Broad reads also occurred. Do not claim complete routing, a general advantage, token savings, or performance gains.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 relevant document was read for one Task and not another, but the agent still read some shared and broader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A/B access differences are evidence about these runs only; they do not establish a stable policy or causal efficiency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실제 기록을 요약한 문서 접근 비교표를 사용한다. image-contracts, architecture, testing 순서로 가리키며 testing의 최종 실행 범위와 변동을 유지한다. 토큰·성능 효과나 실제 터미널 화면으로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Keep three minutes for the Case, two for private Reflection, and one for Q&amp;A. If no one responds, ask: “이 기록으로 말할 수 있는 범위는 어디까지일까요?”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“정보를 정리했는데도 남아 있는 반복은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Protect the Mode boundaries. If discussion runs long, cut secondary file names before shortening the explicit claim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S37 또는 `production/preview/act2/S37.png`다.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S38 —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지식은 정리됐지만 절차는 반복된다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2 / 2I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Transition 4 minutes + Q&amp;A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Prompt, Project Context, and routing address different information responsibilities; a repeated work procedure can remain as a separate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“Project 정보를 잘 정리했으면 문제가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Transition) 왼쪽의 현재 목표, 공통 사실, 상세 정보 위치를 순서대로 회수한다.</a:t>
            </a:r>
          </a:p>
          <a:p xmlns:a="http://schemas.openxmlformats.org/drawingml/2006/main">
            <a:r>
              <a:t>2. (2:00–4:00 / Transition) 오른쪽 ‘먼저 측정하고, 조사한 뒤 변경하고, 같은 조건으로 확인’이라는 반복 절차를 보여준다. Context 선택을 완전히 해결했다는 뜻은 아니라고 밝힌다.</a:t>
            </a:r>
          </a:p>
          <a:p xmlns:a="http://schemas.openxmlformats.org/drawingml/2006/main">
            <a:r>
              <a:t>3. (4:00–10:00 / Q&amp;A) ‘같은 작업 절차도 다시 써야 할까?’로 질문을 받는다. 질문이 없으면 사실과 절차의 책임 차이를 짚고 ‘Project 지식과 별개로 같은 조사·검증 절차도 매번 다시 적어야 할까?’를 던진다. 두 Task의 공통 절차를 다음 관찰 대상으로 삼는다. 마지막 짧은 handoff도 이 6분 안에 포함한다.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BEAT-017–018, TRANS-005, TRIAL-006/007 as context for the upcoming problem. OBSERVED_PRODUCT for repeated prompt structure with PARTIAL attribution; TEACHING_MODEL for the three responsibilities and the transition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Do not attribute the repeated procedure solely to the Trial Prompt; global Harness influence remains. Do not present Skill or another solution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Knowing Project facts and repeating a reliable way of working are different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can reduce repeated fact explanation while process ownership remains unresolved; keep observed repetition separate from its cause.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use the concise recorded prompt-structure summary; no live run or new Trial.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0–4분 Transition 뒤 4–10분 Q&amp;A를 운영한다. 공개 응답은 선택이며 질문이 없으면 사실과 절차의 차이를 묻는 준비 질문을 사용한다. 별도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별개로 같은 조사·검증 절차도 매번 다시 적어야 할까? 다음 두 성능 Task의 기록에서 반복된 부분을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Transition 4분 → Q&amp;A 6분, 총 10분을 유지한다. 마지막 handoff 문구도 Q&amp;A 종료 전에 포함하며 추가 Transition 시간을 만들지 않는다. 답변이 길어지면 다음 질문을 받지 않고 ACT 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`production/ACT_2.pptx`의 S38 또는 `production/preview/act2/S38.png`다.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46affc439451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d770e5ae674c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2e854e99df4c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7f540169c344a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a8f2b8d04942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de7699739542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5AA4F9-44D3-41D6-82D9-9857035AA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1DA430D-D4B9-46B1-BCE3-281A973B6C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CFC81A1-A640-4D48-9EB6-2D2FFD2F88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68D8D4-16C7-4257-92D1-EC2BB04A03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AAB1DE-13CE-4D56-93DB-006873E60E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C2CC74D-674A-4342-9737-97268476AC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884949-8E5E-41A0-8D77-C8945E8444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A623C67-415A-47DD-AC15-5F48F408D3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E3289F-6B7B-4AD6-BF51-24C557B956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D240CBA-2679-494D-8F8C-75CA73460C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29baf91b4f4eb7" /><Relationship Type="http://schemas.openxmlformats.org/officeDocument/2006/relationships/slideLayout" Target="/ppt/slideLayouts/slideLayout1.xml" Id="R52d0a4563072455c" /><Relationship Type="http://schemas.openxmlformats.org/officeDocument/2006/relationships/slideLayout" Target="/ppt/slideLayouts/slideLayout2.xml" Id="Rdbd468a25e6d4380" /><Relationship Type="http://schemas.openxmlformats.org/officeDocument/2006/relationships/slideLayout" Target="/ppt/slideLayouts/slideLayout3.xml" Id="Rba9be64c0092470b" /><Relationship Type="http://schemas.openxmlformats.org/officeDocument/2006/relationships/slideLayout" Target="/ppt/slideLayouts/slideLayout4.xml" Id="Rd188ade1b3854ab5" /><Relationship Type="http://schemas.openxmlformats.org/officeDocument/2006/relationships/slideLayout" Target="/ppt/slideLayouts/slideLayout5.xml" Id="R33da9d9613b048b7" /><Relationship Type="http://schemas.openxmlformats.org/officeDocument/2006/relationships/slideLayout" Target="/ppt/slideLayouts/slideLayout6.xml" Id="R5ad62035cb234d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d0a4563072455c"/>
    <p:sldLayoutId xmlns:r="http://schemas.openxmlformats.org/officeDocument/2006/relationships" id="2147483650" r:id="Rdbd468a25e6d4380"/>
    <p:sldLayoutId xmlns:r="http://schemas.openxmlformats.org/officeDocument/2006/relationships" id="2147483651" r:id="Rba9be64c0092470b"/>
    <p:sldLayoutId xmlns:r="http://schemas.openxmlformats.org/officeDocument/2006/relationships" id="2147483652" r:id="Rd188ade1b3854ab5"/>
    <p:sldLayoutId xmlns:r="http://schemas.openxmlformats.org/officeDocument/2006/relationships" id="2147483653" r:id="R33da9d9613b048b7"/>
    <p:sldLayoutId xmlns:r="http://schemas.openxmlformats.org/officeDocument/2006/relationships" id="2147483654" r:id="R5ad62035cb234d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142c65844e4477" /><Relationship Type="http://schemas.openxmlformats.org/officeDocument/2006/relationships/notesSlide" Target="/ppt/notesSlides/notesSlide1.xml" Id="Rc374c868f42247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3ea90e169a4b69" /><Relationship Type="http://schemas.openxmlformats.org/officeDocument/2006/relationships/notesSlide" Target="/ppt/notesSlides/notesSlide2.xml" Id="Ra98e5b456e2947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d15f7d3b9d4bca" /><Relationship Type="http://schemas.openxmlformats.org/officeDocument/2006/relationships/notesSlide" Target="/ppt/notesSlides/notesSlide3.xml" Id="R65cf76837bbf4d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239d37b0e141a2" /><Relationship Type="http://schemas.openxmlformats.org/officeDocument/2006/relationships/notesSlide" Target="/ppt/notesSlides/notesSlide4.xml" Id="R09c6d4685df04a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7d4993b7fe4814" /><Relationship Type="http://schemas.openxmlformats.org/officeDocument/2006/relationships/notesSlide" Target="/ppt/notesSlides/notesSlide5.xml" Id="Rf1206c28b98648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bb7fdc7cf74dc3" /><Relationship Type="http://schemas.openxmlformats.org/officeDocument/2006/relationships/notesSlide" Target="/ppt/notesSlides/notesSlide6.xml" Id="Rd2226eea791346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f4f300f2a74e88" /><Relationship Type="http://schemas.openxmlformats.org/officeDocument/2006/relationships/notesSlide" Target="/ppt/notesSlides/notesSlide7.xml" Id="R1a22dad6a1904b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38e941e938420c" /><Relationship Type="http://schemas.openxmlformats.org/officeDocument/2006/relationships/notesSlide" Target="/ppt/notesSlides/notesSlide8.xml" Id="Raada55f9e29e43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8f5768776e493d" /><Relationship Type="http://schemas.openxmlformats.org/officeDocument/2006/relationships/notesSlide" Target="/ppt/notesSlides/notesSlide9.xml" Id="R17f82bfe6c104e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3e29630e1641ea" /><Relationship Type="http://schemas.openxmlformats.org/officeDocument/2006/relationships/notesSlide" Target="/ppt/notesSlides/notesSlide10.xml" Id="R034885e4eb194c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d487652e03488b" /><Relationship Type="http://schemas.openxmlformats.org/officeDocument/2006/relationships/notesSlide" Target="/ppt/notesSlides/notesSlide11.xml" Id="Rf7206dcbe36c4e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718ef173964dbb" /><Relationship Type="http://schemas.openxmlformats.org/officeDocument/2006/relationships/notesSlide" Target="/ppt/notesSlides/notesSlide12.xml" Id="R4b79af185f2a42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832a8f7c6e449f" /><Relationship Type="http://schemas.openxmlformats.org/officeDocument/2006/relationships/notesSlide" Target="/ppt/notesSlides/notesSlide13.xml" Id="R657069e3784f4a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f6113785d04a7f" /><Relationship Type="http://schemas.openxmlformats.org/officeDocument/2006/relationships/notesSlide" Target="/ppt/notesSlides/notesSlide14.xml" Id="R0bd8046ff1de4d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cbc9066dcd4176" /><Relationship Type="http://schemas.openxmlformats.org/officeDocument/2006/relationships/notesSlide" Target="/ppt/notesSlides/notesSlide15.xml" Id="R1be16b80b62c48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반복되는 프로젝트 설명">
            <a:extLst xmlns:a="http://schemas.openxmlformats.org/drawingml/2006/main">
              <a:ext uri="{FF2B5EF4-FFF2-40B4-BE49-F238E27FC236}">
                <a16:creationId xmlns:a16="http://schemas.microsoft.com/office/drawing/2014/main" id="{D3466745-7086-4799-A2B4-210DCBEC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반복되는 프로젝트 설명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D9D048CA-3E44-4B40-91F2-D725F597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다른 Task에 같은 설명이 반복된다">
            <a:extLst xmlns:a="http://schemas.openxmlformats.org/drawingml/2006/main">
              <a:ext uri="{FF2B5EF4-FFF2-40B4-BE49-F238E27FC236}">
                <a16:creationId xmlns:a16="http://schemas.microsoft.com/office/drawing/2014/main" id="{26895B03-7C22-4664-B0BA-6E93F702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Task에 같은 설명이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25458-C137-4679-802C-1315305F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성 사례 · Bug fix / Performance / README 작업">
            <a:extLst xmlns:a="http://schemas.openxmlformats.org/drawingml/2006/main">
              <a:ext uri="{FF2B5EF4-FFF2-40B4-BE49-F238E27FC236}">
                <a16:creationId xmlns:a16="http://schemas.microsoft.com/office/drawing/2014/main" id="{60820342-7D9F-43A0-B314-382C3F85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구성 사례 · Bug fix / Performance / README 작업</a:t>
            </a:r>
          </a:p>
        </p:txBody>
      </p:sp>
      <p:sp>
        <p:nvSpPr>
          <p:cNvPr id="6" name="서로 다른 요청에 같은 프로젝트 정보가 반복되는 상황을 보여준다">
            <a:extLst xmlns:a="http://schemas.openxmlformats.org/drawingml/2006/main">
              <a:ext uri="{FF2B5EF4-FFF2-40B4-BE49-F238E27FC236}">
                <a16:creationId xmlns:a16="http://schemas.microsoft.com/office/drawing/2014/main" id="{DC44D61A-160F-4BB4-9BAF-FBD54335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서로 다른 요청에 같은 프로젝트 정보가 반복되는 상황을 보여준다</a:t>
            </a:r>
          </a:p>
        </p:txBody>
      </p:sp>
      <p:sp>
        <p:nvSpPr>
          <p:cNvPr id="7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72524DA4-1D0F-495E-9B2B-5A09F09C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8" name="crop 경계를 수정해줘">
            <a:extLst xmlns:a="http://schemas.openxmlformats.org/drawingml/2006/main">
              <a:ext uri="{FF2B5EF4-FFF2-40B4-BE49-F238E27FC236}">
                <a16:creationId xmlns:a16="http://schemas.microsoft.com/office/drawing/2014/main" id="{04F9214B-4EAE-4C70-A30A-7A785AF9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경계를 수정해줘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5DC843-DFB6-4200-8AB0-C9DBAB10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02E61-B39D-4306-B3F5-E526F977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4A6092B1-2D09-4BA8-9FF9-B08D7AAA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2" name="성능 조사">
            <a:extLst xmlns:a="http://schemas.openxmlformats.org/drawingml/2006/main">
              <a:ext uri="{FF2B5EF4-FFF2-40B4-BE49-F238E27FC236}">
                <a16:creationId xmlns:a16="http://schemas.microsoft.com/office/drawing/2014/main" id="{CFFF52F9-CAE1-49FD-8F64-D24C80F3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</a:t>
            </a:r>
          </a:p>
        </p:txBody>
      </p:sp>
      <p:sp>
        <p:nvSpPr>
          <p:cNvPr id="13" name="통계 계산을 조사해줘">
            <a:extLst xmlns:a="http://schemas.openxmlformats.org/drawingml/2006/main">
              <a:ext uri="{FF2B5EF4-FFF2-40B4-BE49-F238E27FC236}">
                <a16:creationId xmlns:a16="http://schemas.microsoft.com/office/drawing/2014/main" id="{F90DD313-9B47-4DB3-BC95-6E70961A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계산을 조사해줘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1DA25-4AA8-416B-876F-63F12BA4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B974C-6407-47C4-809D-30AB2B3D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922DAC3A-178C-4814-A300-C853C3F4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17" name="README 수정">
            <a:extLst xmlns:a="http://schemas.openxmlformats.org/drawingml/2006/main">
              <a:ext uri="{FF2B5EF4-FFF2-40B4-BE49-F238E27FC236}">
                <a16:creationId xmlns:a16="http://schemas.microsoft.com/office/drawing/2014/main" id="{0092E21B-311F-4F6F-8AFA-1601F602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098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README 수정</a:t>
            </a:r>
          </a:p>
        </p:txBody>
      </p:sp>
      <p:sp>
        <p:nvSpPr>
          <p:cNvPr id="18" name="빌드 안내를 명확히 해줘">
            <a:extLst xmlns:a="http://schemas.openxmlformats.org/drawingml/2006/main">
              <a:ext uri="{FF2B5EF4-FFF2-40B4-BE49-F238E27FC236}">
                <a16:creationId xmlns:a16="http://schemas.microsoft.com/office/drawing/2014/main" id="{126DF129-70AB-444B-9C35-86F3541E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안내를 명확히 해줘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8F7A3F-F079-44C7-891E-4CE9E2D4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76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91894A-C516-41DA-80DF-8B092C0F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67100"/>
            <a:ext cx="3429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지정된 테스트 실행&#10;의존성 추가에는 근거 필요&#10;로컬 합성 데이터 사용&#10;기존 동작 보존">
            <a:extLst xmlns:a="http://schemas.openxmlformats.org/drawingml/2006/main">
              <a:ext uri="{FF2B5EF4-FFF2-40B4-BE49-F238E27FC236}">
                <a16:creationId xmlns:a16="http://schemas.microsoft.com/office/drawing/2014/main" id="{006D8636-F730-450E-8B88-B3B8F4B4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1242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지정된 테스트 실행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근거 필요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로컬 합성 데이터 사용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 보존</a:t>
            </a:r>
          </a:p>
        </p:txBody>
      </p:sp>
      <p:sp>
        <p:nvSpPr>
          <p:cNvPr id="22" name="요청은 다른데, 아래 설명은 왜 계속 같을까?">
            <a:extLst xmlns:a="http://schemas.openxmlformats.org/drawingml/2006/main">
              <a:ext uri="{FF2B5EF4-FFF2-40B4-BE49-F238E27FC236}">
                <a16:creationId xmlns:a16="http://schemas.microsoft.com/office/drawing/2014/main" id="{6501C640-C329-4596-AD6F-C42FD6A5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요청은 다른데, 아래 설명은 왜 계속 같을까?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290108A-3614-4841-A0DA-26D805D3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0072477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 ·  Project Context">
            <a:extLst xmlns:a="http://schemas.openxmlformats.org/drawingml/2006/main">
              <a:ext uri="{FF2B5EF4-FFF2-40B4-BE49-F238E27FC236}">
                <a16:creationId xmlns:a16="http://schemas.microsoft.com/office/drawing/2014/main" id="{5EA525EC-3102-4308-B12A-FF7DCA77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 ·  Project Context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8A020322-D3A4-4D7E-A1A7-94B1B6C5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작은 Project Context의 첫 기록">
            <a:extLst xmlns:a="http://schemas.openxmlformats.org/drawingml/2006/main">
              <a:ext uri="{FF2B5EF4-FFF2-40B4-BE49-F238E27FC236}">
                <a16:creationId xmlns:a16="http://schemas.microsoft.com/office/drawing/2014/main" id="{2AF56E88-9176-416D-BB44-E60AD4DA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Project Context의 첫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6C66F-53A2-4207-B823-A18ADC0D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BSERVED PRODUCT  |  STATE-01 · AGENTS.md 실제 원문 발췌">
            <a:extLst xmlns:a="http://schemas.openxmlformats.org/drawingml/2006/main">
              <a:ext uri="{FF2B5EF4-FFF2-40B4-BE49-F238E27FC236}">
                <a16:creationId xmlns:a16="http://schemas.microsoft.com/office/drawing/2014/main" id="{AB30341F-4C1A-423A-874E-32B4E498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 PRODUCT  |  STATE-01 · AGENTS.md 실제 원문 발췌</a:t>
            </a:r>
          </a:p>
        </p:txBody>
      </p:sp>
      <p:sp>
        <p:nvSpPr>
          <p:cNvPr id="6" name="파일의 내용과 기록 위치를 보여주는 장 · Agent의 활용 관찰은 다음 장에서 확인">
            <a:extLst xmlns:a="http://schemas.openxmlformats.org/drawingml/2006/main">
              <a:ext uri="{FF2B5EF4-FFF2-40B4-BE49-F238E27FC236}">
                <a16:creationId xmlns:a16="http://schemas.microsoft.com/office/drawing/2014/main" id="{C2035953-989D-465A-A1D4-B18FC3F2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파일의 내용과 기록 위치를 보여주는 장 · Agent의 활용 관찰은 다음 장에서 확인</a:t>
            </a:r>
          </a:p>
        </p:txBody>
      </p:sp>
      <p:sp>
        <p:nvSpPr>
          <p:cNvPr id="7" name="반복해서 설명하던 내용을 저장소에 남겼다">
            <a:extLst xmlns:a="http://schemas.openxmlformats.org/drawingml/2006/main">
              <a:ext uri="{FF2B5EF4-FFF2-40B4-BE49-F238E27FC236}">
                <a16:creationId xmlns:a16="http://schemas.microsoft.com/office/drawing/2014/main" id="{52D8D9EE-7919-4948-9DE4-D5254778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설명하던 내용을 저장소에 남겼다</a:t>
            </a:r>
          </a:p>
        </p:txBody>
      </p:sp>
      <p:sp>
        <p:nvSpPr>
          <p:cNvPr id="8" name="AGENTS.md">
            <a:extLst xmlns:a="http://schemas.openxmlformats.org/drawingml/2006/main">
              <a:ext uri="{FF2B5EF4-FFF2-40B4-BE49-F238E27FC236}">
                <a16:creationId xmlns:a16="http://schemas.microsoft.com/office/drawing/2014/main" id="{E76EDB8E-F916-492A-9DA3-BA11A088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9" name="STATE-00-FIXED → STATE-01">
            <a:extLst xmlns:a="http://schemas.openxmlformats.org/drawingml/2006/main">
              <a:ext uri="{FF2B5EF4-FFF2-40B4-BE49-F238E27FC236}">
                <a16:creationId xmlns:a16="http://schemas.microsoft.com/office/drawing/2014/main" id="{570D8D2A-35D9-467A-A070-61E2582F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574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r">
              <a:defRPr sz="165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STATE-00-FIXED → STATE-01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B208C-BA99-4DA9-A154-523D566D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프로젝트 목적">
            <a:extLst xmlns:a="http://schemas.openxmlformats.org/drawingml/2006/main">
              <a:ext uri="{FF2B5EF4-FFF2-40B4-BE49-F238E27FC236}">
                <a16:creationId xmlns:a16="http://schemas.microsoft.com/office/drawing/2014/main" id="{99FE8E53-F31F-4261-BD05-5CF3FB12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목적</a:t>
            </a:r>
          </a:p>
        </p:txBody>
      </p:sp>
      <p:sp>
        <p:nvSpPr>
          <p:cNvPr id="12" name="Local grayscale image-processing CLI using synthetic ASCII P">
            <a:extLst xmlns:a="http://schemas.openxmlformats.org/drawingml/2006/main">
              <a:ext uri="{FF2B5EF4-FFF2-40B4-BE49-F238E27FC236}">
                <a16:creationId xmlns:a16="http://schemas.microsoft.com/office/drawing/2014/main" id="{654B969D-3CE6-49D8-A9AB-03034356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Local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grayscale image-processing CLI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using synthetic ASCII PGM data.</a:t>
            </a:r>
          </a:p>
        </p:txBody>
      </p:sp>
      <p:sp>
        <p:nvSpPr>
          <p:cNvPr id="13" name="로컬 합성 이미지로 동작하는 흑백 처리 CLI">
            <a:extLst xmlns:a="http://schemas.openxmlformats.org/drawingml/2006/main">
              <a:ext uri="{FF2B5EF4-FFF2-40B4-BE49-F238E27FC236}">
                <a16:creationId xmlns:a16="http://schemas.microsoft.com/office/drawing/2014/main" id="{C549EF8A-0ABC-4549-B806-CEA94221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8610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로컬 합성 이미지로 동작하는 흑백 처리 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F0CF9-8264-45F4-AA14-39FDC363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실행 방법">
            <a:extLst xmlns:a="http://schemas.openxmlformats.org/drawingml/2006/main">
              <a:ext uri="{FF2B5EF4-FFF2-40B4-BE49-F238E27FC236}">
                <a16:creationId xmlns:a16="http://schemas.microsoft.com/office/drawing/2014/main" id="{268491DD-CC6F-4491-B16C-D9997829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방법</a:t>
            </a:r>
          </a:p>
        </p:txBody>
      </p:sp>
      <p:sp>
        <p:nvSpPr>
          <p:cNvPr id="16" name="Use the prepared build and CLI commands documented in `READM">
            <a:extLst xmlns:a="http://schemas.openxmlformats.org/drawingml/2006/main">
              <a:ext uri="{FF2B5EF4-FFF2-40B4-BE49-F238E27FC236}">
                <a16:creationId xmlns:a16="http://schemas.microsoft.com/office/drawing/2014/main" id="{96F0DDF4-AD7A-4B2D-8CC0-FBF1A6B3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1472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Use the prepared build and CLI commands documented in `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README.md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`.</a:t>
            </a:r>
          </a:p>
        </p:txBody>
      </p:sp>
      <p:sp>
        <p:nvSpPr>
          <p:cNvPr id="17" name="실행 방법은 README에서 확인">
            <a:extLst xmlns:a="http://schemas.openxmlformats.org/drawingml/2006/main">
              <a:ext uri="{FF2B5EF4-FFF2-40B4-BE49-F238E27FC236}">
                <a16:creationId xmlns:a16="http://schemas.microsoft.com/office/drawing/2014/main" id="{2DA3F826-9F61-45AF-8E0F-FDE9B55D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방법은 README에서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F27CE2-BC28-45DB-91AE-A1D6A2D4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명령">
            <a:extLst xmlns:a="http://schemas.openxmlformats.org/drawingml/2006/main">
              <a:ext uri="{FF2B5EF4-FFF2-40B4-BE49-F238E27FC236}">
                <a16:creationId xmlns:a16="http://schemas.microsoft.com/office/drawing/2014/main" id="{B351ADAA-A0CA-4E03-BC27-AEEEBFA5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명령</a:t>
            </a:r>
          </a:p>
        </p:txBody>
      </p:sp>
      <p:sp>
        <p:nvSpPr>
          <p:cNvPr id="20" name="PYTHONPATH=src python3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1FBB4BA4-3D15-46C8-B025-D0C7B021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PYTHONPATH=src python3 -m unittest discover -s tests -v</a:t>
            </a:r>
          </a:p>
        </p:txBody>
      </p:sp>
      <p:sp>
        <p:nvSpPr>
          <p:cNvPr id="21" name="반복해서 쓸 테스트 명령">
            <a:extLst xmlns:a="http://schemas.openxmlformats.org/drawingml/2006/main">
              <a:ext uri="{FF2B5EF4-FFF2-40B4-BE49-F238E27FC236}">
                <a16:creationId xmlns:a16="http://schemas.microsoft.com/office/drawing/2014/main" id="{0C3327A6-9CC1-4AFC-9246-54C5C3A6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50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쓸 테스트 명령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6D1D36-0E7C-4288-B764-5D6BC26B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기본 제약">
            <a:extLst xmlns:a="http://schemas.openxmlformats.org/drawingml/2006/main">
              <a:ext uri="{FF2B5EF4-FFF2-40B4-BE49-F238E27FC236}">
                <a16:creationId xmlns:a16="http://schemas.microsoft.com/office/drawing/2014/main" id="{8DBF654B-0266-48A3-827E-FEF961A8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2124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24" name="Keep changes scoped and verify relevant behavior.">
            <a:extLst xmlns:a="http://schemas.openxmlformats.org/drawingml/2006/main">
              <a:ext uri="{FF2B5EF4-FFF2-40B4-BE49-F238E27FC236}">
                <a16:creationId xmlns:a16="http://schemas.microsoft.com/office/drawing/2014/main" id="{6D05210F-EC13-4142-BF5A-BBEABABD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81575"/>
            <a:ext cx="862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Keep changes </a:t>
            </a: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scoped and verify</a:t>
            </a: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 relevant behavior.</a:t>
            </a:r>
          </a:p>
        </p:txBody>
      </p:sp>
      <p:sp>
        <p:nvSpPr>
          <p:cNvPr id="25" name="범위를 지키고 관련 동작을 검증">
            <a:extLst xmlns:a="http://schemas.openxmlformats.org/drawingml/2006/main">
              <a:ext uri="{FF2B5EF4-FFF2-40B4-BE49-F238E27FC236}">
                <a16:creationId xmlns:a16="http://schemas.microsoft.com/office/drawing/2014/main" id="{6F40A8AD-75E7-455D-80DC-65D0568D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86375"/>
            <a:ext cx="862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범위를 지키고 관련 동작을 검증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D1D38B8-D1E0-4986-990C-BC141E7F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7282198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지침을 활용한 관찰">
            <a:extLst xmlns:a="http://schemas.openxmlformats.org/drawingml/2006/main">
              <a:ext uri="{FF2B5EF4-FFF2-40B4-BE49-F238E27FC236}">
                <a16:creationId xmlns:a16="http://schemas.microsoft.com/office/drawing/2014/main" id="{CB99CDCC-E303-484B-BF87-CF0995DE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지침을 활용한 관찰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A8FDA1EC-3BCA-417F-A956-23D9A049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한 번의 사용에서 확인된 것">
            <a:extLst xmlns:a="http://schemas.openxmlformats.org/drawingml/2006/main">
              <a:ext uri="{FF2B5EF4-FFF2-40B4-BE49-F238E27FC236}">
                <a16:creationId xmlns:a16="http://schemas.microsoft.com/office/drawing/2014/main" id="{009264A7-602D-4D0A-AA2B-854C4A62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번의 사용에서 확인된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E68DA-B049-450E-B579-541DCCA0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3 · Codex CLI 기록을 재구성 · 전체 테스트 11/11 PASS">
            <a:extLst xmlns:a="http://schemas.openxmlformats.org/drawingml/2006/main">
              <a:ext uri="{FF2B5EF4-FFF2-40B4-BE49-F238E27FC236}">
                <a16:creationId xmlns:a16="http://schemas.microsoft.com/office/drawing/2014/main" id="{8A73DE97-3F8B-4CAD-98F7-CB0FF1C8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TRIAL-003 · Codex CLI 기록을 재구성 · 전체 테스트 11/11 PASS</a:t>
            </a:r>
          </a:p>
        </p:txBody>
      </p:sp>
      <p:sp>
        <p:nvSpPr>
          <p:cNvPr id="6" name="Personal/global Skills도 실행됨 · AGENTS.md만의 독립적인 효과로 해석하지 않음">
            <a:extLst xmlns:a="http://schemas.openxmlformats.org/drawingml/2006/main">
              <a:ext uri="{FF2B5EF4-FFF2-40B4-BE49-F238E27FC236}">
                <a16:creationId xmlns:a16="http://schemas.microsoft.com/office/drawing/2014/main" id="{CC7D92F6-E4D2-44A1-9F82-5C253986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Personal/global Skills도 실행됨 · AGENTS.md만의 독립적인 효과로 해석하지 않음</a:t>
            </a:r>
          </a:p>
        </p:txBody>
      </p:sp>
      <p:sp>
        <p:nvSpPr>
          <p:cNvPr id="7" name="요청">
            <a:extLst xmlns:a="http://schemas.openxmlformats.org/drawingml/2006/main">
              <a:ext uri="{FF2B5EF4-FFF2-40B4-BE49-F238E27FC236}">
                <a16:creationId xmlns:a16="http://schemas.microsoft.com/office/drawing/2014/main" id="{A478A99F-DB61-49B2-A990-5BDD7E93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EB8DC-F2D0-4BB9-9CA2-61521F36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읽은 파일">
            <a:extLst xmlns:a="http://schemas.openxmlformats.org/drawingml/2006/main">
              <a:ext uri="{FF2B5EF4-FFF2-40B4-BE49-F238E27FC236}">
                <a16:creationId xmlns:a16="http://schemas.microsoft.com/office/drawing/2014/main" id="{676F8199-ABF1-42EB-89C3-CE7CFB57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읽은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FC57F-0BA5-4EB7-B2EB-9BCE237A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실행 기록">
            <a:extLst xmlns:a="http://schemas.openxmlformats.org/drawingml/2006/main">
              <a:ext uri="{FF2B5EF4-FFF2-40B4-BE49-F238E27FC236}">
                <a16:creationId xmlns:a16="http://schemas.microsoft.com/office/drawing/2014/main" id="{1708ABA0-44BE-43C0-9AAF-FF3C6817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98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09ACAF-6B78-49A6-85D0-A26BFEDD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67000"/>
            <a:ext cx="331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README만 수정&#10;테스트 명령은 없음">
            <a:extLst xmlns:a="http://schemas.openxmlformats.org/drawingml/2006/main">
              <a:ext uri="{FF2B5EF4-FFF2-40B4-BE49-F238E27FC236}">
                <a16:creationId xmlns:a16="http://schemas.microsoft.com/office/drawing/2014/main" id="{12B29FE3-B576-4305-8692-3682D8DF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14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README만 수정</a:t>
            </a:r>
          </a:p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명령은 없음</a:t>
            </a:r>
          </a:p>
        </p:txBody>
      </p:sp>
      <p:sp>
        <p:nvSpPr>
          <p:cNvPr id="14" name="AGENTS.md">
            <a:extLst xmlns:a="http://schemas.openxmlformats.org/drawingml/2006/main">
              <a:ext uri="{FF2B5EF4-FFF2-40B4-BE49-F238E27FC236}">
                <a16:creationId xmlns:a16="http://schemas.microsoft.com/office/drawing/2014/main" id="{4A19CFDC-BDC7-4879-BBE4-FAC8B350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3314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5" name="기록된 테스트&#10;명령을 사용">
            <a:extLst xmlns:a="http://schemas.openxmlformats.org/drawingml/2006/main">
              <a:ext uri="{FF2B5EF4-FFF2-40B4-BE49-F238E27FC236}">
                <a16:creationId xmlns:a16="http://schemas.microsoft.com/office/drawing/2014/main" id="{E19084F2-0CD5-4D89-88ED-5CBE7ECC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33775"/>
            <a:ext cx="33147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기록된 테스트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명령을 사용</a:t>
            </a:r>
          </a:p>
        </p:txBody>
      </p:sp>
      <p:sp>
        <p:nvSpPr>
          <p:cNvPr id="16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389E83DA-161D-4DE2-8DF9-D230FEED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31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7" name="11 / 11">
            <a:extLst xmlns:a="http://schemas.openxmlformats.org/drawingml/2006/main">
              <a:ext uri="{FF2B5EF4-FFF2-40B4-BE49-F238E27FC236}">
                <a16:creationId xmlns:a16="http://schemas.microsoft.com/office/drawing/2014/main" id="{F7ECB9CE-103B-4281-8B38-082FABE7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76625"/>
            <a:ext cx="3314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37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11 / 11</a:t>
            </a:r>
          </a:p>
        </p:txBody>
      </p:sp>
      <p:sp>
        <p:nvSpPr>
          <p:cNvPr id="18" name="PASS">
            <a:extLst xmlns:a="http://schemas.openxmlformats.org/drawingml/2006/main">
              <a:ext uri="{FF2B5EF4-FFF2-40B4-BE49-F238E27FC236}">
                <a16:creationId xmlns:a16="http://schemas.microsoft.com/office/drawing/2014/main" id="{92DE243C-4484-43D5-AB88-AAAC14EF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05275"/>
            <a:ext cx="331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843F9B-6EFE-4291-994B-16B4B6E3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6111BE-A0DA-4F50-9645-0D49011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90875"/>
            <a:ext cx="2857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747271-9CAF-42BC-91ED-0C9BB883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README-only 범위는 작업 요청에도 명시돼 있었다">
            <a:extLst xmlns:a="http://schemas.openxmlformats.org/drawingml/2006/main">
              <a:ext uri="{FF2B5EF4-FFF2-40B4-BE49-F238E27FC236}">
                <a16:creationId xmlns:a16="http://schemas.microsoft.com/office/drawing/2014/main" id="{57DD5FD7-A2BC-4EB2-95DD-7A65B7EB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README-only 범위는 작업 요청에도 명시돼 있었다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7BFE52-4DC5-42A9-9B96-E3676187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8234085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정보의 범위와 수명">
            <a:extLst xmlns:a="http://schemas.openxmlformats.org/drawingml/2006/main">
              <a:ext uri="{FF2B5EF4-FFF2-40B4-BE49-F238E27FC236}">
                <a16:creationId xmlns:a16="http://schemas.microsoft.com/office/drawing/2014/main" id="{DDF9F7F7-00C1-40A8-BB4E-33F6448E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범위와 수명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19882B97-0979-46D7-B684-19A4E67C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Task Prompt와 Project Context">
            <a:extLst xmlns:a="http://schemas.openxmlformats.org/drawingml/2006/main">
              <a:ext uri="{FF2B5EF4-FFF2-40B4-BE49-F238E27FC236}">
                <a16:creationId xmlns:a16="http://schemas.microsoft.com/office/drawing/2014/main" id="{727B0D5C-D876-4E28-BFBF-E389D570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Prompt와 Project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0BFE9-30DA-4029-8872-B904D070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현재 목표와 지속되는 프로젝트 사실">
            <a:extLst xmlns:a="http://schemas.openxmlformats.org/drawingml/2006/main">
              <a:ext uri="{FF2B5EF4-FFF2-40B4-BE49-F238E27FC236}">
                <a16:creationId xmlns:a16="http://schemas.microsoft.com/office/drawing/2014/main" id="{5C2A53C1-3793-4D1F-BFA2-7286AA4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현재 목표와 지속되는 프로젝트 사실</a:t>
            </a:r>
          </a:p>
        </p:txBody>
      </p:sp>
      <p:sp>
        <p:nvSpPr>
          <p:cNvPr id="6" name="C++에서도 프로젝트 공통 제약과 이번 알고리즘 변경 조건은 범위가 다를 수 있다">
            <a:extLst xmlns:a="http://schemas.openxmlformats.org/drawingml/2006/main">
              <a:ext uri="{FF2B5EF4-FFF2-40B4-BE49-F238E27FC236}">
                <a16:creationId xmlns:a16="http://schemas.microsoft.com/office/drawing/2014/main" id="{776C1879-6E91-40CB-AE66-0DB0C0EA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C++에서도 프로젝트 공통 제약과 이번 알고리즘 변경 조건은 범위가 다를 수 있다</a:t>
            </a:r>
          </a:p>
        </p:txBody>
      </p:sp>
      <p:sp>
        <p:nvSpPr>
          <p:cNvPr id="7" name="방금 본 기록을 범위와 수명으로 읽어보면">
            <a:extLst xmlns:a="http://schemas.openxmlformats.org/drawingml/2006/main">
              <a:ext uri="{FF2B5EF4-FFF2-40B4-BE49-F238E27FC236}">
                <a16:creationId xmlns:a16="http://schemas.microsoft.com/office/drawing/2014/main" id="{7CA50D52-8953-414C-996B-1121289F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방금 본 기록을 범위와 수명으로 읽어보면</a:t>
            </a:r>
          </a:p>
        </p:txBody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9AF4AA50-EB37-4967-B446-79F93826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491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45FBA96C-4C6B-4378-8D96-49B08F2E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7652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9ED89-5982-4218-B16B-DB25BB05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D16CD-1DDC-4A0F-956F-6C0D7054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금 원하는 결과">
            <a:extLst xmlns:a="http://schemas.openxmlformats.org/drawingml/2006/main">
              <a:ext uri="{FF2B5EF4-FFF2-40B4-BE49-F238E27FC236}">
                <a16:creationId xmlns:a16="http://schemas.microsoft.com/office/drawing/2014/main" id="{606F025D-05A1-469E-8C15-3897978D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914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원하는 결과</a:t>
            </a:r>
          </a:p>
        </p:txBody>
      </p:sp>
      <p:sp>
        <p:nvSpPr>
          <p:cNvPr id="13" name="계속 참이어야 할 사실">
            <a:extLst xmlns:a="http://schemas.openxmlformats.org/drawingml/2006/main">
              <a:ext uri="{FF2B5EF4-FFF2-40B4-BE49-F238E27FC236}">
                <a16:creationId xmlns:a16="http://schemas.microsoft.com/office/drawing/2014/main" id="{0CDB6F0B-F99A-477D-9F1B-87F43B5C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참이어야 할 사실</a:t>
            </a:r>
          </a:p>
        </p:txBody>
      </p:sp>
      <p:sp>
        <p:nvSpPr>
          <p:cNvPr id="14" name="crop 경계 버그 수정&#10;이번에는 README만 변경">
            <a:extLst xmlns:a="http://schemas.openxmlformats.org/drawingml/2006/main">
              <a:ext uri="{FF2B5EF4-FFF2-40B4-BE49-F238E27FC236}">
                <a16:creationId xmlns:a16="http://schemas.microsoft.com/office/drawing/2014/main" id="{D71A95B9-A257-44C1-BAFA-55101ADD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914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버그 수정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변경</a:t>
            </a:r>
          </a:p>
        </p:txBody>
      </p:sp>
      <p:sp>
        <p:nvSpPr>
          <p:cNvPr id="15" name="프로젝트의 테스트 명령&#10;의존성 추가에는 작업상 근거 필요">
            <a:extLst xmlns:a="http://schemas.openxmlformats.org/drawingml/2006/main">
              <a:ext uri="{FF2B5EF4-FFF2-40B4-BE49-F238E27FC236}">
                <a16:creationId xmlns:a16="http://schemas.microsoft.com/office/drawing/2014/main" id="{2B3E1366-1C2E-49E9-B9B2-0A3E3DDA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1925"/>
            <a:ext cx="4876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테스트 명령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E3AEF-BF2E-4F2B-90AC-135E420E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49149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3085C-ECC0-4F65-9506-F5679E04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0"/>
            <a:ext cx="48768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다음 작업에서는 목표가 달라짐">
            <a:extLst xmlns:a="http://schemas.openxmlformats.org/drawingml/2006/main">
              <a:ext uri="{FF2B5EF4-FFF2-40B4-BE49-F238E27FC236}">
                <a16:creationId xmlns:a16="http://schemas.microsoft.com/office/drawing/2014/main" id="{6827BB06-FBD1-404F-B25C-9F846236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461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작업에서는 목표가 달라짐</a:t>
            </a:r>
          </a:p>
        </p:txBody>
      </p:sp>
      <p:sp>
        <p:nvSpPr>
          <p:cNvPr id="19" name="여러 작업에서 다시 참고">
            <a:extLst xmlns:a="http://schemas.openxmlformats.org/drawingml/2006/main">
              <a:ext uri="{FF2B5EF4-FFF2-40B4-BE49-F238E27FC236}">
                <a16:creationId xmlns:a16="http://schemas.microsoft.com/office/drawing/2014/main" id="{B035E686-B62F-4F3C-B393-9C315FEC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작업에서 다시 참고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1893FA-6A02-46FF-969B-6BEC2B97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4809380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2 · Context가 쌓이는 과정">
            <a:extLst xmlns:a="http://schemas.openxmlformats.org/drawingml/2006/main">
              <a:ext uri="{FF2B5EF4-FFF2-40B4-BE49-F238E27FC236}">
                <a16:creationId xmlns:a16="http://schemas.microsoft.com/office/drawing/2014/main" id="{751E7FFA-F00F-41B4-8923-F8DBBE9F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Context가 쌓이는 과정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267A8194-166F-44B6-9441-F3CB79FE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정확한 정보도 계속 늘어난다">
            <a:extLst xmlns:a="http://schemas.openxmlformats.org/drawingml/2006/main">
              <a:ext uri="{FF2B5EF4-FFF2-40B4-BE49-F238E27FC236}">
                <a16:creationId xmlns:a16="http://schemas.microsoft.com/office/drawing/2014/main" id="{2884C122-122D-4EF5-A896-E7A8C060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정확한 정보도 계속 늘어난다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B0CC4-133F-4BE4-A31E-C3570805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1 → STATE-02 · 실제 AGENTS.md 상태 비교">
            <a:extLst xmlns:a="http://schemas.openxmlformats.org/drawingml/2006/main">
              <a:ext uri="{FF2B5EF4-FFF2-40B4-BE49-F238E27FC236}">
                <a16:creationId xmlns:a16="http://schemas.microsoft.com/office/drawing/2014/main" id="{40FB8DC8-327A-4A7B-AE7E-60B14FD7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STATE-01 → STATE-02 · 실제 AGENTS.md 상태 비교</a:t>
            </a:r>
          </a:p>
        </p:txBody>
      </p:sp>
      <p:sp>
        <p:nvSpPr>
          <p:cNvPr id="6" name="문서 크기는 상태 식별 정보 · Context 증가가 실패를 일으켰다는 근거는 아님">
            <a:extLst xmlns:a="http://schemas.openxmlformats.org/drawingml/2006/main">
              <a:ext uri="{FF2B5EF4-FFF2-40B4-BE49-F238E27FC236}">
                <a16:creationId xmlns:a16="http://schemas.microsoft.com/office/drawing/2014/main" id="{A7DFAD1E-8361-4461-91F6-A8E755E6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 크기는 상태 식별 정보 · Context 증가가 실패를 일으켰다는 근거는 아님</a:t>
            </a:r>
          </a:p>
        </p:txBody>
      </p:sp>
      <p:sp>
        <p:nvSpPr>
          <p:cNvPr id="7" name="STATE-01">
            <a:extLst xmlns:a="http://schemas.openxmlformats.org/drawingml/2006/main">
              <a:ext uri="{FF2B5EF4-FFF2-40B4-BE49-F238E27FC236}">
                <a16:creationId xmlns:a16="http://schemas.microsoft.com/office/drawing/2014/main" id="{04C525CC-BC9D-4306-9044-1DF71EEF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8" name="목적 · 실행 · 테스트&#10;기본 제약">
            <a:extLst xmlns:a="http://schemas.openxmlformats.org/drawingml/2006/main">
              <a:ext uri="{FF2B5EF4-FFF2-40B4-BE49-F238E27FC236}">
                <a16:creationId xmlns:a16="http://schemas.microsoft.com/office/drawing/2014/main" id="{5A6E8518-A49F-4457-AACA-76A79DC7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95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목적 · 실행 · 테스트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기본 제약</a:t>
            </a:r>
          </a:p>
        </p:txBody>
      </p:sp>
      <p:sp>
        <p:nvSpPr>
          <p:cNvPr id="9" name="15줄 · 567 bytes">
            <a:extLst xmlns:a="http://schemas.openxmlformats.org/drawingml/2006/main">
              <a:ext uri="{FF2B5EF4-FFF2-40B4-BE49-F238E27FC236}">
                <a16:creationId xmlns:a16="http://schemas.microsoft.com/office/drawing/2014/main" id="{E739AD71-6302-4D72-8FFD-8BBAEAD3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15줄 · 567 bytes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4C7B35-EC9D-487A-9978-CB82612D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76575"/>
            <a:ext cx="4762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STATE-02에 추가된 실제 정보">
            <a:extLst xmlns:a="http://schemas.openxmlformats.org/drawingml/2006/main">
              <a:ext uri="{FF2B5EF4-FFF2-40B4-BE49-F238E27FC236}">
                <a16:creationId xmlns:a16="http://schemas.microsoft.com/office/drawing/2014/main" id="{56E77DB3-C74B-4432-992A-752B4C77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0275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STATE-02에 추가된 실제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67596-A136-4460-8441-C62C5EF5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432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처리 순서">
            <a:extLst xmlns:a="http://schemas.openxmlformats.org/drawingml/2006/main">
              <a:ext uri="{FF2B5EF4-FFF2-40B4-BE49-F238E27FC236}">
                <a16:creationId xmlns:a16="http://schemas.microsoft.com/office/drawing/2014/main" id="{19BDFD19-B872-4069-9455-79A2383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3845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처리 순서</a:t>
            </a:r>
          </a:p>
        </p:txBody>
      </p:sp>
      <p:sp>
        <p:nvSpPr>
          <p:cNvPr id="14" name="load → normalize → … → write">
            <a:extLst xmlns:a="http://schemas.openxmlformats.org/drawingml/2006/main">
              <a:ext uri="{FF2B5EF4-FFF2-40B4-BE49-F238E27FC236}">
                <a16:creationId xmlns:a16="http://schemas.microsoft.com/office/drawing/2014/main" id="{FB99D8FC-F51F-481F-866E-9E2308C0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83845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load → normalize → … → write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2D990-09B6-4947-93E1-2C8CECF2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미지 계약">
            <a:extLst xmlns:a="http://schemas.openxmlformats.org/drawingml/2006/main">
              <a:ext uri="{FF2B5EF4-FFF2-40B4-BE49-F238E27FC236}">
                <a16:creationId xmlns:a16="http://schemas.microsoft.com/office/drawing/2014/main" id="{F938C6A1-EFE1-4BC8-9D43-AFC7322B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8137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이미지 계약</a:t>
            </a:r>
          </a:p>
        </p:txBody>
      </p:sp>
      <p:sp>
        <p:nvSpPr>
          <p:cNvPr id="17" name="crop: [x_start, x_end)">
            <a:extLst xmlns:a="http://schemas.openxmlformats.org/drawingml/2006/main">
              <a:ext uri="{FF2B5EF4-FFF2-40B4-BE49-F238E27FC236}">
                <a16:creationId xmlns:a16="http://schemas.microsoft.com/office/drawing/2014/main" id="{C54741AD-F773-48FB-9F5F-ECF666BF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8137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crop: [x_start, x_end)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21A30-CFE0-4129-8565-EDB515A1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2905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테스트 구조">
            <a:extLst xmlns:a="http://schemas.openxmlformats.org/drawingml/2006/main">
              <a:ext uri="{FF2B5EF4-FFF2-40B4-BE49-F238E27FC236}">
                <a16:creationId xmlns:a16="http://schemas.microsoft.com/office/drawing/2014/main" id="{63B27F2D-0A87-41C0-AE49-C8ABC9CA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</a:t>
            </a:r>
          </a:p>
        </p:txBody>
      </p:sp>
      <p:sp>
        <p:nvSpPr>
          <p:cNvPr id="20" name="tests/test_pipeline.py">
            <a:extLst xmlns:a="http://schemas.openxmlformats.org/drawingml/2006/main">
              <a:ext uri="{FF2B5EF4-FFF2-40B4-BE49-F238E27FC236}">
                <a16:creationId xmlns:a16="http://schemas.microsoft.com/office/drawing/2014/main" id="{3DCE8FA0-4C58-4DC8-903E-550B6BDC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924300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tests/test_pipeline.py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44379A-2DF8-4A8A-9720-066C7157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71975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CLI 출력">
            <a:extLst xmlns:a="http://schemas.openxmlformats.org/drawingml/2006/main">
              <a:ext uri="{FF2B5EF4-FFF2-40B4-BE49-F238E27FC236}">
                <a16:creationId xmlns:a16="http://schemas.microsoft.com/office/drawing/2014/main" id="{AB282F90-DA8F-4E15-BBD7-51C912B9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67225"/>
            <a:ext cx="1828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출력</a:t>
            </a:r>
          </a:p>
        </p:txBody>
      </p:sp>
      <p:sp>
        <p:nvSpPr>
          <p:cNvPr id="23" name="width · height · pixel_count …">
            <a:extLst xmlns:a="http://schemas.openxmlformats.org/drawingml/2006/main">
              <a:ext uri="{FF2B5EF4-FFF2-40B4-BE49-F238E27FC236}">
                <a16:creationId xmlns:a16="http://schemas.microsoft.com/office/drawing/2014/main" id="{40AE1C97-9B1B-4CD6-A530-DB76761A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67225"/>
            <a:ext cx="4772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width · height · pixel_count …</a:t>
            </a:r>
          </a:p>
        </p:txBody>
      </p:sp>
      <p:sp>
        <p:nvSpPr>
          <p:cNvPr id="24" name="32줄 · 1,303 bytes">
            <a:extLst xmlns:a="http://schemas.openxmlformats.org/drawingml/2006/main">
              <a:ext uri="{FF2B5EF4-FFF2-40B4-BE49-F238E27FC236}">
                <a16:creationId xmlns:a16="http://schemas.microsoft.com/office/drawing/2014/main" id="{7A5A97A7-4E8B-41E5-AD9E-E9010A54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067300"/>
            <a:ext cx="6972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32줄 · 1,303 bytes</a:t>
            </a:r>
          </a:p>
        </p:txBody>
      </p:sp>
      <p:sp>
        <p:nvSpPr>
          <p:cNvPr id="25" name="이번 Task에도 필요할까?">
            <a:extLst xmlns:a="http://schemas.openxmlformats.org/drawingml/2006/main">
              <a:ext uri="{FF2B5EF4-FFF2-40B4-BE49-F238E27FC236}">
                <a16:creationId xmlns:a16="http://schemas.microsoft.com/office/drawing/2014/main" id="{9D0588BF-43DE-416C-85B8-0D3F088F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Task에도 필요할까?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ACFF834-11D3-4093-B92A-6DD95B36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491554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2 · 관련성을 확인하기">
            <a:extLst xmlns:a="http://schemas.openxmlformats.org/drawingml/2006/main">
              <a:ext uri="{FF2B5EF4-FFF2-40B4-BE49-F238E27FC236}">
                <a16:creationId xmlns:a16="http://schemas.microsoft.com/office/drawing/2014/main" id="{BA60A74B-9FE1-4A38-939C-E234BCA3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관련성을 확인하기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0BEEA1F5-042D-4227-BB9D-536A1A53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정확하지만 이번 Task에는 불필요한 정보">
            <a:extLst xmlns:a="http://schemas.openxmlformats.org/drawingml/2006/main">
              <a:ext uri="{FF2B5EF4-FFF2-40B4-BE49-F238E27FC236}">
                <a16:creationId xmlns:a16="http://schemas.microsoft.com/office/drawing/2014/main" id="{B3647C86-E620-4D7F-998C-73FC8C4D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정확하지만 이번 Task에는 불필요한 정보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77B39E-F96D-4938-9DF9-71DA7145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4 · README의 build tools 안내를 명확히 하는 작업">
            <a:extLst xmlns:a="http://schemas.openxmlformats.org/drawingml/2006/main">
              <a:ext uri="{FF2B5EF4-FFF2-40B4-BE49-F238E27FC236}">
                <a16:creationId xmlns:a16="http://schemas.microsoft.com/office/drawing/2014/main" id="{004E45D6-947B-4A18-BBFA-6BD3D1AE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TRIAL-004 · README의 build tools 안내를 명확히 하는 작업</a:t>
            </a:r>
          </a:p>
        </p:txBody>
      </p:sp>
      <p:sp>
        <p:nvSpPr>
          <p:cNvPr id="6" name="Agent 혼란과 Context 관련 실패는 관찰되지 않았다">
            <a:extLst xmlns:a="http://schemas.openxmlformats.org/drawingml/2006/main">
              <a:ext uri="{FF2B5EF4-FFF2-40B4-BE49-F238E27FC236}">
                <a16:creationId xmlns:a16="http://schemas.microsoft.com/office/drawing/2014/main" id="{039AFD3D-9268-421F-896C-7A079296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 혼란과 Context 관련 실패는 관찰되지 않았다</a:t>
            </a:r>
          </a:p>
        </p:txBody>
      </p:sp>
      <p:sp>
        <p:nvSpPr>
          <p:cNvPr id="7" name="작업: README의 빌드 도구 안내를 고친다">
            <a:extLst xmlns:a="http://schemas.openxmlformats.org/drawingml/2006/main">
              <a:ext uri="{FF2B5EF4-FFF2-40B4-BE49-F238E27FC236}">
                <a16:creationId xmlns:a16="http://schemas.microsoft.com/office/drawing/2014/main" id="{CB1CEFF0-7C15-4708-A0BE-BD23E1EA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작업: README의 빌드 도구 안내를 고친다</a:t>
            </a:r>
          </a:p>
        </p:txBody>
      </p:sp>
      <p:sp>
        <p:nvSpPr>
          <p:cNvPr id="8" name="이번 질문과 직접 관련">
            <a:extLst xmlns:a="http://schemas.openxmlformats.org/drawingml/2006/main">
              <a:ext uri="{FF2B5EF4-FFF2-40B4-BE49-F238E27FC236}">
                <a16:creationId xmlns:a16="http://schemas.microsoft.com/office/drawing/2014/main" id="{AB8BFB26-AAE1-48DD-935D-21CDF7D9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질문과 직접 관련</a:t>
            </a:r>
          </a:p>
        </p:txBody>
      </p:sp>
      <p:sp>
        <p:nvSpPr>
          <p:cNvPr id="9" name="함께 있었지만 관련이 낮은 정보">
            <a:extLst xmlns:a="http://schemas.openxmlformats.org/drawingml/2006/main">
              <a:ext uri="{FF2B5EF4-FFF2-40B4-BE49-F238E27FC236}">
                <a16:creationId xmlns:a16="http://schemas.microsoft.com/office/drawing/2014/main" id="{847AEF8D-694B-432B-B9C9-080468D8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337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있었지만 관련이 낮은 정보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26CD2-CA53-44C0-8A85-86207A91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C3813-961A-4EAC-94DA-68BFE875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5FF71-D8D3-40E2-A254-5905A63C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495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DME&#10;pyproject.toml의 빌드 설정">
            <a:extLst xmlns:a="http://schemas.openxmlformats.org/drawingml/2006/main">
              <a:ext uri="{FF2B5EF4-FFF2-40B4-BE49-F238E27FC236}">
                <a16:creationId xmlns:a16="http://schemas.microsoft.com/office/drawing/2014/main" id="{9930D8EB-8275-4793-8A13-44EFB3F3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4495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README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pyproject.toml의 빌드 설정</a:t>
            </a:r>
          </a:p>
        </p:txBody>
      </p:sp>
      <p:sp>
        <p:nvSpPr>
          <p:cNvPr id="14" name="crop / resize 계약&#10;이미지 처리 pipeline 세부사항">
            <a:extLst xmlns:a="http://schemas.openxmlformats.org/drawingml/2006/main">
              <a:ext uri="{FF2B5EF4-FFF2-40B4-BE49-F238E27FC236}">
                <a16:creationId xmlns:a16="http://schemas.microsoft.com/office/drawing/2014/main" id="{9FBEBDAA-4C8E-4114-AEDF-24E720F2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crop / resize 계약</a:t>
            </a:r>
          </a:p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처리 pipeline 세부사항</a:t>
            </a:r>
          </a:p>
        </p:txBody>
      </p:sp>
      <p:sp>
        <p:nvSpPr>
          <p:cNvPr id="15" name="정확한 정보라도, 모든 질문에 필요한 것은 아니다">
            <a:extLst xmlns:a="http://schemas.openxmlformats.org/drawingml/2006/main">
              <a:ext uri="{FF2B5EF4-FFF2-40B4-BE49-F238E27FC236}">
                <a16:creationId xmlns:a16="http://schemas.microsoft.com/office/drawing/2014/main" id="{FCD20457-5927-4A21-93D9-53A39F48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정확한 정보라도, 모든 질문에 필요한 것은 아니다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41ADE80-D6D0-4628-9B09-6A427469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7522232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2 · 언제 필요한 정보인가">
            <a:extLst xmlns:a="http://schemas.openxmlformats.org/drawingml/2006/main">
              <a:ext uri="{FF2B5EF4-FFF2-40B4-BE49-F238E27FC236}">
                <a16:creationId xmlns:a16="http://schemas.microsoft.com/office/drawing/2014/main" id="{C799C139-460B-4845-8E25-10D3BDCC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언제 필요한 정보인가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5A1CA48B-DBD9-4319-8D2D-EAFA5D14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정보의 범위와 제공 시점">
            <a:extLst xmlns:a="http://schemas.openxmlformats.org/drawingml/2006/main">
              <a:ext uri="{FF2B5EF4-FFF2-40B4-BE49-F238E27FC236}">
                <a16:creationId xmlns:a16="http://schemas.microsoft.com/office/drawing/2014/main" id="{8EBEB1EF-6888-42CC-B06C-2A76CF8E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정보의 범위와 제공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24DDE-BEEE-470D-B586-40CF6E19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류 모델 · OpenAI의 공식 기능 분류가 아님">
            <a:extLst xmlns:a="http://schemas.openxmlformats.org/drawingml/2006/main">
              <a:ext uri="{FF2B5EF4-FFF2-40B4-BE49-F238E27FC236}">
                <a16:creationId xmlns:a16="http://schemas.microsoft.com/office/drawing/2014/main" id="{376F206B-20A7-42D9-815F-431C9FC4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분류 모델 · OpenAI의 공식 기능 분류가 아님</a:t>
            </a:r>
          </a:p>
        </p:txBody>
      </p:sp>
      <p:sp>
        <p:nvSpPr>
          <p:cNvPr id="6" name="성능 조사 절차는 설명을 위한 예시이며 STATE-02에 저장돼 있었다는 뜻이 아님">
            <a:extLst xmlns:a="http://schemas.openxmlformats.org/drawingml/2006/main">
              <a:ext uri="{FF2B5EF4-FFF2-40B4-BE49-F238E27FC236}">
                <a16:creationId xmlns:a16="http://schemas.microsoft.com/office/drawing/2014/main" id="{6C4B2FDF-7633-4FB3-84D6-2BC798AD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조사 절차는 설명을 위한 예시이며 STATE-02에 저장돼 있었다는 뜻이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DC095-7868-41D8-9C56-BD285306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항상 알아야 할 안내">
            <a:extLst xmlns:a="http://schemas.openxmlformats.org/drawingml/2006/main">
              <a:ext uri="{FF2B5EF4-FFF2-40B4-BE49-F238E27FC236}">
                <a16:creationId xmlns:a16="http://schemas.microsoft.com/office/drawing/2014/main" id="{0B112C6C-189E-4AF1-BD90-F0D6A080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알아야 할 안내</a:t>
            </a:r>
          </a:p>
        </p:txBody>
      </p:sp>
      <p:sp>
        <p:nvSpPr>
          <p:cNvPr id="9" name="프로젝트 목적 · 기본 제약">
            <a:extLst xmlns:a="http://schemas.openxmlformats.org/drawingml/2006/main">
              <a:ext uri="{FF2B5EF4-FFF2-40B4-BE49-F238E27FC236}">
                <a16:creationId xmlns:a16="http://schemas.microsoft.com/office/drawing/2014/main" id="{9C92B6E3-71D9-4EA1-B5F9-9DC080AC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812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목적 · 기본 제약</a:t>
            </a:r>
          </a:p>
        </p:txBody>
      </p:sp>
      <p:sp>
        <p:nvSpPr>
          <p:cNvPr id="10" name="ALWAYS-ON">
            <a:extLst xmlns:a="http://schemas.openxmlformats.org/drawingml/2006/main">
              <a:ext uri="{FF2B5EF4-FFF2-40B4-BE49-F238E27FC236}">
                <a16:creationId xmlns:a16="http://schemas.microsoft.com/office/drawing/2014/main" id="{0AB0C1B4-55D2-4A23-AEFE-65C7A641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ALWAYS-ON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AB3D7-987F-49C9-A916-3F1032F3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질문에 따라 찾아볼 상세">
            <a:extLst xmlns:a="http://schemas.openxmlformats.org/drawingml/2006/main">
              <a:ext uri="{FF2B5EF4-FFF2-40B4-BE49-F238E27FC236}">
                <a16:creationId xmlns:a16="http://schemas.microsoft.com/office/drawing/2014/main" id="{9A5F14DC-1486-4C2C-8717-5E50FE4A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질문에 따라 찾아볼 상세</a:t>
            </a:r>
          </a:p>
        </p:txBody>
      </p:sp>
      <p:sp>
        <p:nvSpPr>
          <p:cNvPr id="13" name="crop 계약 · 모듈 구조">
            <a:extLst xmlns:a="http://schemas.openxmlformats.org/drawingml/2006/main">
              <a:ext uri="{FF2B5EF4-FFF2-40B4-BE49-F238E27FC236}">
                <a16:creationId xmlns:a16="http://schemas.microsoft.com/office/drawing/2014/main" id="{486EC4FF-1DAC-4060-8580-93BD5190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4861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· 모듈 구조</a:t>
            </a:r>
          </a:p>
        </p:txBody>
      </p:sp>
      <p:sp>
        <p:nvSpPr>
          <p:cNvPr id="14" name="ON-DEMAND">
            <a:extLst xmlns:a="http://schemas.openxmlformats.org/drawingml/2006/main">
              <a:ext uri="{FF2B5EF4-FFF2-40B4-BE49-F238E27FC236}">
                <a16:creationId xmlns:a16="http://schemas.microsoft.com/office/drawing/2014/main" id="{222F3500-9D07-4B50-87B9-D35CF695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ON-DEMAND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08687C-06DD-479A-BD91-AC15B2B4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이런 일을 수행하는 방법">
            <a:extLst xmlns:a="http://schemas.openxmlformats.org/drawingml/2006/main">
              <a:ext uri="{FF2B5EF4-FFF2-40B4-BE49-F238E27FC236}">
                <a16:creationId xmlns:a16="http://schemas.microsoft.com/office/drawing/2014/main" id="{9DE5B00E-3C28-4E47-842D-AB307B0F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이런 일을 수행하는 방법</a:t>
            </a:r>
          </a:p>
        </p:txBody>
      </p:sp>
      <p:sp>
        <p:nvSpPr>
          <p:cNvPr id="17" name="변경 전 측정 → 조사 → 검증">
            <a:extLst xmlns:a="http://schemas.openxmlformats.org/drawingml/2006/main">
              <a:ext uri="{FF2B5EF4-FFF2-40B4-BE49-F238E27FC236}">
                <a16:creationId xmlns:a16="http://schemas.microsoft.com/office/drawing/2014/main" id="{18DCA656-CD64-4452-900F-08DF3AFC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91050"/>
            <a:ext cx="6276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 측정 → 조사 → 검증</a:t>
            </a:r>
          </a:p>
        </p:txBody>
      </p:sp>
      <p:sp>
        <p:nvSpPr>
          <p:cNvPr id="18" name="WORKFLOW">
            <a:extLst xmlns:a="http://schemas.openxmlformats.org/drawingml/2006/main">
              <a:ext uri="{FF2B5EF4-FFF2-40B4-BE49-F238E27FC236}">
                <a16:creationId xmlns:a16="http://schemas.microsoft.com/office/drawing/2014/main" id="{CDF5EC49-7E6A-4C99-992E-8DD25E99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B5B132F-2EE7-420D-8EEB-92FBE5F9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944348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2 · 정보의 양을 다시 묻는 연구">
            <a:extLst xmlns:a="http://schemas.openxmlformats.org/drawingml/2006/main">
              <a:ext uri="{FF2B5EF4-FFF2-40B4-BE49-F238E27FC236}">
                <a16:creationId xmlns:a16="http://schemas.microsoft.com/office/drawing/2014/main" id="{425BB323-B1F3-4994-8B43-806E9CF0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정보의 양을 다시 묻는 연구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7C977493-1307-4323-9284-F7CAF613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Long Context 연구가 말해주는 범위">
            <a:extLst xmlns:a="http://schemas.openxmlformats.org/drawingml/2006/main">
              <a:ext uri="{FF2B5EF4-FFF2-40B4-BE49-F238E27FC236}">
                <a16:creationId xmlns:a16="http://schemas.microsoft.com/office/drawing/2014/main" id="{702852F1-E955-4DD5-8B3A-B9A7A584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Long Context 연구가 말해주는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B2ABB-CD44-4D89-9200-BB34DAD3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Liu et al., Lost in the Middle, TACL 2024 · RepoQA, 2024">
            <a:extLst xmlns:a="http://schemas.openxmlformats.org/drawingml/2006/main">
              <a:ext uri="{FF2B5EF4-FFF2-40B4-BE49-F238E27FC236}">
                <a16:creationId xmlns:a16="http://schemas.microsoft.com/office/drawing/2014/main" id="{9E95174A-A7DD-4826-89F8-F44D90B8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Liu et al., Lost in the Middle, TACL 2024 · RepoQA, 2024</a:t>
            </a:r>
          </a:p>
        </p:txBody>
      </p:sp>
      <p:sp>
        <p:nvSpPr>
          <p:cNvPr id="6" name="특정 모델·과제의 결과 · 현재 Codex의 Repository coding 한계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66389AF9-4D63-4C6D-AA2B-A732FBBB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모델·과제의 결과 · 현재 Codex의 Repository coding 한계를 입증하지 않음</a:t>
            </a:r>
          </a:p>
        </p:txBody>
      </p:sp>
      <p:sp>
        <p:nvSpPr>
          <p:cNvPr id="7" name="더 많은 Context가 항상 더 좋은 것은 아니다">
            <a:extLst xmlns:a="http://schemas.openxmlformats.org/drawingml/2006/main">
              <a:ext uri="{FF2B5EF4-FFF2-40B4-BE49-F238E27FC236}">
                <a16:creationId xmlns:a16="http://schemas.microsoft.com/office/drawing/2014/main" id="{5E898CA4-C755-45A1-B81A-FF0CC58C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많은 Context가 항상 더 좋은 것은 아니다</a:t>
            </a:r>
          </a:p>
        </p:txBody>
      </p:sp>
      <p:sp>
        <p:nvSpPr>
          <p:cNvPr id="8" name="Lost in the Middle">
            <a:extLst xmlns:a="http://schemas.openxmlformats.org/drawingml/2006/main">
              <a:ext uri="{FF2B5EF4-FFF2-40B4-BE49-F238E27FC236}">
                <a16:creationId xmlns:a16="http://schemas.microsoft.com/office/drawing/2014/main" id="{387E86CD-5BE3-4B72-A847-04396F23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Lost in the Middle</a:t>
            </a:r>
          </a:p>
        </p:txBody>
      </p:sp>
      <p:sp>
        <p:nvSpPr>
          <p:cNvPr id="9" name="RepoQA">
            <a:extLst xmlns:a="http://schemas.openxmlformats.org/drawingml/2006/main">
              <a:ext uri="{FF2B5EF4-FFF2-40B4-BE49-F238E27FC236}">
                <a16:creationId xmlns:a16="http://schemas.microsoft.com/office/drawing/2014/main" id="{D94CA73A-1F37-4CDF-90AA-1DCB10B1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669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RepoQA</a:t>
            </a:r>
          </a:p>
        </p:txBody>
      </p:sp>
      <p:sp>
        <p:nvSpPr>
          <p:cNvPr id="10" name="여러 문서의 질문 답변 · key-value 검색">
            <a:extLst xmlns:a="http://schemas.openxmlformats.org/drawingml/2006/main">
              <a:ext uri="{FF2B5EF4-FFF2-40B4-BE49-F238E27FC236}">
                <a16:creationId xmlns:a16="http://schemas.microsoft.com/office/drawing/2014/main" id="{4B875860-D597-419A-9B03-75CC7ABE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문서의 질문 답변 · key-value 검색</a:t>
            </a:r>
          </a:p>
        </p:txBody>
      </p:sp>
      <p:sp>
        <p:nvSpPr>
          <p:cNvPr id="11" name="50개 Repository의 코드 검색 과제">
            <a:extLst xmlns:a="http://schemas.openxmlformats.org/drawingml/2006/main">
              <a:ext uri="{FF2B5EF4-FFF2-40B4-BE49-F238E27FC236}">
                <a16:creationId xmlns:a16="http://schemas.microsoft.com/office/drawing/2014/main" id="{D041D59E-19F1-4166-A0E8-8A6755B3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50개 Repository의 코드 검색 과제</a:t>
            </a:r>
          </a:p>
        </p:txBody>
      </p:sp>
      <p:sp>
        <p:nvSpPr>
          <p:cNvPr id="12" name="관련 정보의 위치를 달리하는 구성">
            <a:extLst xmlns:a="http://schemas.openxmlformats.org/drawingml/2006/main">
              <a:ext uri="{FF2B5EF4-FFF2-40B4-BE49-F238E27FC236}">
                <a16:creationId xmlns:a16="http://schemas.microsoft.com/office/drawing/2014/main" id="{8557B346-DE4A-47A1-AB33-1E33AA57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관련 정보의 위치를 달리하는 구성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2A3C9-505F-4ACE-B507-E94908B4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E9A65-5F93-46D0-B973-6C82FA4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0351D-17F5-401F-AE3E-7E5D8D8B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0F157-E65F-4C4D-BAED-9B94A768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127F3-6185-4FDE-9192-6DAF888C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3A8A1-BE2C-406C-B6CF-5B2E2B94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EB6308-5A8F-4A14-A1DC-77F55F40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472CA9-0F63-48A1-80BA-82A78323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498836-6345-4D1F-98CD-CB7A51C0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E3F25-2374-4AF2-B99F-B7024835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7670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1E22D-361B-45D2-A8B5-41B8931D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1F7B1-5A54-4909-8D4F-18460AA5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4D2960-15B4-4FC9-B68D-8302296F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CAC182-08CE-4C22-806F-5C70D0A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06434E-293D-4135-BD12-2CE5A2DB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62450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질문">
            <a:extLst xmlns:a="http://schemas.openxmlformats.org/drawingml/2006/main">
              <a:ext uri="{FF2B5EF4-FFF2-40B4-BE49-F238E27FC236}">
                <a16:creationId xmlns:a16="http://schemas.microsoft.com/office/drawing/2014/main" id="{EB561274-93C6-4329-8AD7-9724F6CA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1085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질문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428B5F-7BBB-4481-B0E4-474334D9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76625"/>
            <a:ext cx="34290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7D9954-692B-4336-8CF2-10461D5B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24225"/>
            <a:ext cx="31623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Repository의 코드">
            <a:extLst xmlns:a="http://schemas.openxmlformats.org/drawingml/2006/main">
              <a:ext uri="{FF2B5EF4-FFF2-40B4-BE49-F238E27FC236}">
                <a16:creationId xmlns:a16="http://schemas.microsoft.com/office/drawing/2014/main" id="{CF8C2BB8-1F16-47EB-9A79-8595637D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480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Repository의 코드</a:t>
            </a:r>
          </a:p>
        </p:txBody>
      </p:sp>
      <p:sp>
        <p:nvSpPr>
          <p:cNvPr id="32" name="관련 코드 찾기">
            <a:extLst xmlns:a="http://schemas.openxmlformats.org/drawingml/2006/main">
              <a:ext uri="{FF2B5EF4-FFF2-40B4-BE49-F238E27FC236}">
                <a16:creationId xmlns:a16="http://schemas.microsoft.com/office/drawing/2014/main" id="{6B0F6515-AD04-49FA-9E03-AC2A1DE1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05250"/>
            <a:ext cx="281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코드 찾기</a:t>
            </a:r>
          </a:p>
        </p:txBody>
      </p:sp>
      <p:sp>
        <p:nvSpPr>
          <p:cNvPr id="33" name="관련 정보의 위치가&#10;일부 조건에서 중요할 수 있다">
            <a:extLst xmlns:a="http://schemas.openxmlformats.org/drawingml/2006/main">
              <a:ext uri="{FF2B5EF4-FFF2-40B4-BE49-F238E27FC236}">
                <a16:creationId xmlns:a16="http://schemas.microsoft.com/office/drawing/2014/main" id="{F776B4D8-3FB0-474F-8148-8B1A7CD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정보의 위치가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일부 조건에서 중요할 수 있다</a:t>
            </a:r>
          </a:p>
        </p:txBody>
      </p:sp>
      <p:sp>
        <p:nvSpPr>
          <p:cNvPr id="34" name="관련 코드 정보를&#10;선택하고 찾는 능력을 평가">
            <a:extLst xmlns:a="http://schemas.openxmlformats.org/drawingml/2006/main">
              <a:ext uri="{FF2B5EF4-FFF2-40B4-BE49-F238E27FC236}">
                <a16:creationId xmlns:a16="http://schemas.microsoft.com/office/drawing/2014/main" id="{703AA459-F52C-4E2E-BDF0-3911DDA4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4876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코드 정보를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선택하고 찾는 능력을 평가</a:t>
            </a:r>
          </a:p>
        </p:txBody>
      </p:sp>
      <p:sp>
        <p:nvSpPr>
          <p:cNvPr id="35" name="aclanthology.org/2024.tacl-1.9/">
            <a:extLst xmlns:a="http://schemas.openxmlformats.org/drawingml/2006/main">
              <a:ext uri="{FF2B5EF4-FFF2-40B4-BE49-F238E27FC236}">
                <a16:creationId xmlns:a16="http://schemas.microsoft.com/office/drawing/2014/main" id="{FF420632-78C8-41AE-86B4-F0725B5E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aclanthology.org/2024.tacl-1.9/</a:t>
            </a:r>
          </a:p>
        </p:txBody>
      </p:sp>
      <p:sp>
        <p:nvSpPr>
          <p:cNvPr id="36" name="arxiv.org/abs/2406.06025">
            <a:extLst xmlns:a="http://schemas.openxmlformats.org/drawingml/2006/main">
              <a:ext uri="{FF2B5EF4-FFF2-40B4-BE49-F238E27FC236}">
                <a16:creationId xmlns:a16="http://schemas.microsoft.com/office/drawing/2014/main" id="{A364B8D8-DD78-4483-8719-9F4A5E31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495925"/>
            <a:ext cx="4876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arxiv.org/abs/2406.06025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2E4C352-53E6-4BD3-8F4C-B18F17D9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483194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2 · 필요한 상세 정보의 탐색 경로">
            <a:extLst xmlns:a="http://schemas.openxmlformats.org/drawingml/2006/main">
              <a:ext uri="{FF2B5EF4-FFF2-40B4-BE49-F238E27FC236}">
                <a16:creationId xmlns:a16="http://schemas.microsoft.com/office/drawing/2014/main" id="{4667B5C0-B1D0-425D-910E-3B29253F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필요한 상세 정보의 탐색 경로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313C36CD-13BF-4148-9745-8DE91CDB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필요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EF02402D-E93E-45E3-AEE9-72C1E162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C1BA9-3629-477C-A2F4-08D0D6BC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Routing 모델 · 실제 문서 접근 결과는 다음 구간에서 확인">
            <a:extLst xmlns:a="http://schemas.openxmlformats.org/drawingml/2006/main">
              <a:ext uri="{FF2B5EF4-FFF2-40B4-BE49-F238E27FC236}">
                <a16:creationId xmlns:a16="http://schemas.microsoft.com/office/drawing/2014/main" id="{9B0D8327-90FB-4F9F-AB02-842ADC6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Routing 모델 · 실제 문서 접근 결과는 다음 구간에서 확인</a:t>
            </a:r>
          </a:p>
        </p:txBody>
      </p:sp>
      <p:sp>
        <p:nvSpPr>
          <p:cNvPr id="6" name="검색 성능 향상이나 토큰 절약을 입증한 그림이 아님">
            <a:extLst xmlns:a="http://schemas.openxmlformats.org/drawingml/2006/main">
              <a:ext uri="{FF2B5EF4-FFF2-40B4-BE49-F238E27FC236}">
                <a16:creationId xmlns:a16="http://schemas.microsoft.com/office/drawing/2014/main" id="{339E2E1C-C8BE-416C-A95D-00F2D418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검색 성능 향상이나 토큰 절약을 입증한 그림이 아님</a:t>
            </a:r>
          </a:p>
        </p:txBody>
      </p:sp>
      <p:sp>
        <p:nvSpPr>
          <p:cNvPr id="7" name="어떤 질문에서 어떤 상세 정보가 필요할까?">
            <a:extLst xmlns:a="http://schemas.openxmlformats.org/drawingml/2006/main">
              <a:ext uri="{FF2B5EF4-FFF2-40B4-BE49-F238E27FC236}">
                <a16:creationId xmlns:a16="http://schemas.microsoft.com/office/drawing/2014/main" id="{71C29E6D-3D2C-4C45-BAFA-5045859A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질문에서 어떤 상세 정보가 필요할까?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1E14C-81DD-4541-968B-9DB0BC00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9" name="Task">
            <a:extLst xmlns:a="http://schemas.openxmlformats.org/drawingml/2006/main">
              <a:ext uri="{FF2B5EF4-FFF2-40B4-BE49-F238E27FC236}">
                <a16:creationId xmlns:a16="http://schemas.microsoft.com/office/drawing/2014/main" id="{9C3A81C5-E12B-40BD-8833-CB3B9D9B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0" name="지금 해결할 질문">
            <a:extLst xmlns:a="http://schemas.openxmlformats.org/drawingml/2006/main">
              <a:ext uri="{FF2B5EF4-FFF2-40B4-BE49-F238E27FC236}">
                <a16:creationId xmlns:a16="http://schemas.microsoft.com/office/drawing/2014/main" id="{F0905F7D-B4AC-4622-9E42-19DCCCC7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지금 해결할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299D9-871E-4535-B05B-F991D1DF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08C2B-943A-4C76-A84D-AD4BFDDB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28950"/>
            <a:ext cx="3209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Core Context">
            <a:extLst xmlns:a="http://schemas.openxmlformats.org/drawingml/2006/main">
              <a:ext uri="{FF2B5EF4-FFF2-40B4-BE49-F238E27FC236}">
                <a16:creationId xmlns:a16="http://schemas.microsoft.com/office/drawing/2014/main" id="{4BF8B9C9-FF72-4DCF-98A9-DBA1BE83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257550"/>
            <a:ext cx="3209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</a:t>
            </a:r>
          </a:p>
        </p:txBody>
      </p:sp>
      <p:sp>
        <p:nvSpPr>
          <p:cNvPr id="14" name="프로젝트 안내와&#10;찾아갈 위치">
            <a:extLst xmlns:a="http://schemas.openxmlformats.org/drawingml/2006/main">
              <a:ext uri="{FF2B5EF4-FFF2-40B4-BE49-F238E27FC236}">
                <a16:creationId xmlns:a16="http://schemas.microsoft.com/office/drawing/2014/main" id="{3BEFA54B-C41F-4C7D-A9BC-88CC1B97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2099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안내와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찾아갈 위치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87EAC6-51C7-4D74-9EA8-3CFA6E39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62350"/>
            <a:ext cx="33337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CAF7B5-DFE4-48FE-9BF4-3F00EED2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련 상세 정보">
            <a:extLst xmlns:a="http://schemas.openxmlformats.org/drawingml/2006/main">
              <a:ext uri="{FF2B5EF4-FFF2-40B4-BE49-F238E27FC236}">
                <a16:creationId xmlns:a16="http://schemas.microsoft.com/office/drawing/2014/main" id="{8ECAA4D7-9200-4071-BD8E-800928B2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57550"/>
            <a:ext cx="3371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상세 정보</a:t>
            </a:r>
          </a:p>
        </p:txBody>
      </p:sp>
      <p:sp>
        <p:nvSpPr>
          <p:cNvPr id="18" name="질문에 필요한&#10;계약 · 구조 · 테스트">
            <a:extLst xmlns:a="http://schemas.openxmlformats.org/drawingml/2006/main">
              <a:ext uri="{FF2B5EF4-FFF2-40B4-BE49-F238E27FC236}">
                <a16:creationId xmlns:a16="http://schemas.microsoft.com/office/drawing/2014/main" id="{EA66A5B8-A7CF-4918-9494-2D91DBD4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질문에 필요한</a:t>
            </a:r>
          </a:p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 · 구조 · 테스트</a:t>
            </a:r>
          </a:p>
        </p:txBody>
      </p:sp>
      <p:sp>
        <p:nvSpPr>
          <p:cNvPr id="19" name="C++ 예: 공통 제약을 확인한 뒤, 해당 알고리즘의 계약으로">
            <a:extLst xmlns:a="http://schemas.openxmlformats.org/drawingml/2006/main">
              <a:ext uri="{FF2B5EF4-FFF2-40B4-BE49-F238E27FC236}">
                <a16:creationId xmlns:a16="http://schemas.microsoft.com/office/drawing/2014/main" id="{6FF09B60-E5E9-4470-9257-D3BB603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공통 제약을 확인한 뒤, 해당 알고리즘의 계약으로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FCAB07-84AD-4ED4-A9A5-4C4DD725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5804771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2 · Core에 남길 기본 안내">
            <a:extLst xmlns:a="http://schemas.openxmlformats.org/drawingml/2006/main">
              <a:ext uri="{FF2B5EF4-FFF2-40B4-BE49-F238E27FC236}">
                <a16:creationId xmlns:a16="http://schemas.microsoft.com/office/drawing/2014/main" id="{8A3A73D2-3997-43A9-AC7B-1719455D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Core에 남길 기본 안내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B5115B91-9E4E-4496-AD3B-4E628F3B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Core Context에서 상세 정보로 가는 길">
            <a:extLst xmlns:a="http://schemas.openxmlformats.org/drawingml/2006/main">
              <a:ext uri="{FF2B5EF4-FFF2-40B4-BE49-F238E27FC236}">
                <a16:creationId xmlns:a16="http://schemas.microsoft.com/office/drawing/2014/main" id="{D70A43BF-F1D3-4E90-80F3-81023D8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Core Context에서 상세 정보로 가는 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F4016-D7A2-4651-9A67-B6D1146A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정보 설계 · Root/Core는 상세 정보의 출발점">
            <a:extLst xmlns:a="http://schemas.openxmlformats.org/drawingml/2006/main">
              <a:ext uri="{FF2B5EF4-FFF2-40B4-BE49-F238E27FC236}">
                <a16:creationId xmlns:a16="http://schemas.microsoft.com/office/drawing/2014/main" id="{6CFF8BFC-8B3E-4C10-88D7-8E3BC77A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정보 설계 · Root/Core는 상세 정보의 출발점</a:t>
            </a:r>
          </a:p>
        </p:txBody>
      </p:sp>
      <p:sp>
        <p:nvSpPr>
          <p:cNvPr id="6" name="C++ 예: build/test 진입점과 기본 제약 → 알고리즘 계약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27111A9B-27E8-4CB5-B61C-9B15AF96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예: build/test 진입점과 기본 제약 → 알고리즘 계약·하드웨어 조건</a:t>
            </a:r>
          </a:p>
        </p:txBody>
      </p:sp>
      <p:sp>
        <p:nvSpPr>
          <p:cNvPr id="7" name="무엇을 항상 읽고, 무엇을 필요할 때 찾게 할까?">
            <a:extLst xmlns:a="http://schemas.openxmlformats.org/drawingml/2006/main">
              <a:ext uri="{FF2B5EF4-FFF2-40B4-BE49-F238E27FC236}">
                <a16:creationId xmlns:a16="http://schemas.microsoft.com/office/drawing/2014/main" id="{70FC77B1-F8E9-45C6-91D9-440D4DB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항상 읽고, 무엇을 필요할 때 찾게 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62897-D382-4D7B-802A-EEDCE54C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719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RE · 기본 안내">
            <a:extLst xmlns:a="http://schemas.openxmlformats.org/drawingml/2006/main">
              <a:ext uri="{FF2B5EF4-FFF2-40B4-BE49-F238E27FC236}">
                <a16:creationId xmlns:a16="http://schemas.microsoft.com/office/drawing/2014/main" id="{C901F962-E276-45FC-9F73-A5B45C22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67025"/>
            <a:ext cx="3714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CORE · 기본 안내</a:t>
            </a:r>
          </a:p>
        </p:txBody>
      </p:sp>
      <p:sp>
        <p:nvSpPr>
          <p:cNvPr id="10" name="프로젝트의 목적&#10;항상 지켜야 할 제약&#10;상세 정보를 찾을 위치">
            <a:extLst xmlns:a="http://schemas.openxmlformats.org/drawingml/2006/main">
              <a:ext uri="{FF2B5EF4-FFF2-40B4-BE49-F238E27FC236}">
                <a16:creationId xmlns:a16="http://schemas.microsoft.com/office/drawing/2014/main" id="{F63D33FC-C5DF-4B82-B14A-FA9A3527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38525"/>
            <a:ext cx="37147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목적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항상 지켜야 할 제약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정보를 찾을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0FB86-E057-4B5E-842D-A780021D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43325"/>
            <a:ext cx="504825" cy="2762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ETAIL · 필요한 상세">
            <a:extLst xmlns:a="http://schemas.openxmlformats.org/drawingml/2006/main">
              <a:ext uri="{FF2B5EF4-FFF2-40B4-BE49-F238E27FC236}">
                <a16:creationId xmlns:a16="http://schemas.microsoft.com/office/drawing/2014/main" id="{996FCB9D-3978-4D7B-BC45-709B391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24150"/>
            <a:ext cx="5391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DETAIL · 필요한 상세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C7A149-9317-4827-B8D5-505E8C81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523D9235-4A74-46B4-A852-DDAC9C5D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9090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15" name="모듈과 처리 순서">
            <a:extLst xmlns:a="http://schemas.openxmlformats.org/drawingml/2006/main">
              <a:ext uri="{FF2B5EF4-FFF2-40B4-BE49-F238E27FC236}">
                <a16:creationId xmlns:a16="http://schemas.microsoft.com/office/drawing/2014/main" id="{5F85CDF1-6E11-4A01-9869-53C3754A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9090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모듈과 처리 순서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0C6CE-0D26-4B56-B48D-7E295A7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image contracts">
            <a:extLst xmlns:a="http://schemas.openxmlformats.org/drawingml/2006/main">
              <a:ext uri="{FF2B5EF4-FFF2-40B4-BE49-F238E27FC236}">
                <a16:creationId xmlns:a16="http://schemas.microsoft.com/office/drawing/2014/main" id="{6AD5821C-513A-446F-9127-5C4883CD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image contracts</a:t>
            </a:r>
          </a:p>
        </p:txBody>
      </p:sp>
      <p:sp>
        <p:nvSpPr>
          <p:cNvPr id="18" name="이미지 동작의 계약">
            <a:extLst xmlns:a="http://schemas.openxmlformats.org/drawingml/2006/main">
              <a:ext uri="{FF2B5EF4-FFF2-40B4-BE49-F238E27FC236}">
                <a16:creationId xmlns:a16="http://schemas.microsoft.com/office/drawing/2014/main" id="{D1ADE284-4830-4234-9EBB-BD49236A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990975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이미지 동작의 계약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5D4D2-AB93-407B-86C6-743A2A1B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">
            <a:extLst xmlns:a="http://schemas.openxmlformats.org/drawingml/2006/main">
              <a:ext uri="{FF2B5EF4-FFF2-40B4-BE49-F238E27FC236}">
                <a16:creationId xmlns:a16="http://schemas.microsoft.com/office/drawing/2014/main" id="{E6C96C3D-33F1-4127-AF14-91D708C9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91050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testing</a:t>
            </a:r>
          </a:p>
        </p:txBody>
      </p:sp>
      <p:sp>
        <p:nvSpPr>
          <p:cNvPr id="21" name="테스트 위치와 범위">
            <a:extLst xmlns:a="http://schemas.openxmlformats.org/drawingml/2006/main">
              <a:ext uri="{FF2B5EF4-FFF2-40B4-BE49-F238E27FC236}">
                <a16:creationId xmlns:a16="http://schemas.microsoft.com/office/drawing/2014/main" id="{153D5219-50E7-414E-9432-A120315A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91050"/>
            <a:ext cx="2981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위치와 범위</a:t>
            </a:r>
          </a:p>
        </p:txBody>
      </p:sp>
      <p:sp>
        <p:nvSpPr>
          <p:cNvPr id="22" name="모든 지식을 넣기보다, 상세 정보까지 가는 길을 안내한다">
            <a:extLst xmlns:a="http://schemas.openxmlformats.org/drawingml/2006/main">
              <a:ext uri="{FF2B5EF4-FFF2-40B4-BE49-F238E27FC236}">
                <a16:creationId xmlns:a16="http://schemas.microsoft.com/office/drawing/2014/main" id="{37620AA0-4208-4932-8D09-41D00F09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모든 지식을 넣기보다, 상세 정보까지 가는 길을 안내한다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A5C5B8D-C21F-4F35-A061-8AF35263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925497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2 · STATE-03의 문서 구조">
            <a:extLst xmlns:a="http://schemas.openxmlformats.org/drawingml/2006/main">
              <a:ext uri="{FF2B5EF4-FFF2-40B4-BE49-F238E27FC236}">
                <a16:creationId xmlns:a16="http://schemas.microsoft.com/office/drawing/2014/main" id="{5806ED22-8CCE-4E0F-B9C5-D060D0E0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STATE-03의 문서 구조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F071112A-145F-4AF9-AF3B-CE6B7E4A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정보를 지우지 않고 위치를 나누기">
            <a:extLst xmlns:a="http://schemas.openxmlformats.org/drawingml/2006/main">
              <a:ext uri="{FF2B5EF4-FFF2-40B4-BE49-F238E27FC236}">
                <a16:creationId xmlns:a16="http://schemas.microsoft.com/office/drawing/2014/main" id="{82CE19EC-F016-4C44-85FF-23AC4FC6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정보를 지우지 않고 위치를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74C30-238A-4BD1-933B-5C365F3C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2 → STATE-03 · 실제 파일 구조와 Routing 문구 발췌">
            <a:extLst xmlns:a="http://schemas.openxmlformats.org/drawingml/2006/main">
              <a:ext uri="{FF2B5EF4-FFF2-40B4-BE49-F238E27FC236}">
                <a16:creationId xmlns:a16="http://schemas.microsoft.com/office/drawing/2014/main" id="{AD060CC0-DAB5-4FC9-A6C0-42A0A92E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STATE-02 → STATE-03 · 실제 파일 구조와 Routing 문구 발췌</a:t>
            </a:r>
          </a:p>
        </p:txBody>
      </p:sp>
      <p:sp>
        <p:nvSpPr>
          <p:cNvPr id="6" name="내용을 Scope에 맞춰 이동 · 구조 변화 자체가 완벽한 Routing이나 성능 향상 증거는 아님">
            <a:extLst xmlns:a="http://schemas.openxmlformats.org/drawingml/2006/main">
              <a:ext uri="{FF2B5EF4-FFF2-40B4-BE49-F238E27FC236}">
                <a16:creationId xmlns:a16="http://schemas.microsoft.com/office/drawing/2014/main" id="{1C6073C8-B1B4-4ECC-B43B-2F649465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내용을 Scope에 맞춰 이동 · 구조 변화 자체가 완벽한 Routing이나 성능 향상 증거는 아님</a:t>
            </a:r>
          </a:p>
        </p:txBody>
      </p:sp>
      <p:sp>
        <p:nvSpPr>
          <p:cNvPr id="7" name="이전: AGENTS.md 안에 세부사항까지">
            <a:extLst xmlns:a="http://schemas.openxmlformats.org/drawingml/2006/main">
              <a:ext uri="{FF2B5EF4-FFF2-40B4-BE49-F238E27FC236}">
                <a16:creationId xmlns:a16="http://schemas.microsoft.com/office/drawing/2014/main" id="{7A93CFD9-3078-4C3F-80EE-BE7ABD96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이전: AGENTS.md 안에 세부사항까지</a:t>
            </a:r>
          </a:p>
        </p:txBody>
      </p:sp>
      <p:sp>
        <p:nvSpPr>
          <p:cNvPr id="8" name="이후: 기본 안내 + 상세 문서로 가는 링크">
            <a:extLst xmlns:a="http://schemas.openxmlformats.org/drawingml/2006/main">
              <a:ext uri="{FF2B5EF4-FFF2-40B4-BE49-F238E27FC236}">
                <a16:creationId xmlns:a16="http://schemas.microsoft.com/office/drawing/2014/main" id="{8587CEB5-4243-4CED-AED7-E3C8A148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이후: 기본 안내 + 상세 문서로 가는 링크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5C30B-670F-4864-9B96-16FED35E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처리 순서 · 모듈 역할">
            <a:extLst xmlns:a="http://schemas.openxmlformats.org/drawingml/2006/main">
              <a:ext uri="{FF2B5EF4-FFF2-40B4-BE49-F238E27FC236}">
                <a16:creationId xmlns:a16="http://schemas.microsoft.com/office/drawing/2014/main" id="{46227097-5539-4D01-9FF9-92ADCCCC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처리 순서 · 모듈 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FAF25-2D07-4277-B7A8-B12919C9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47662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docs/architecture.md">
            <a:extLst xmlns:a="http://schemas.openxmlformats.org/drawingml/2006/main">
              <a:ext uri="{FF2B5EF4-FFF2-40B4-BE49-F238E27FC236}">
                <a16:creationId xmlns:a16="http://schemas.microsoft.com/office/drawing/2014/main" id="{0F3AE027-15B6-4D71-8020-C96DB6C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docs/architecture.md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26E129-64E8-4CD9-B6FC-80640EED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이미지 형식 · crop · resize">
            <a:extLst xmlns:a="http://schemas.openxmlformats.org/drawingml/2006/main">
              <a:ext uri="{FF2B5EF4-FFF2-40B4-BE49-F238E27FC236}">
                <a16:creationId xmlns:a16="http://schemas.microsoft.com/office/drawing/2014/main" id="{AC8CDBB6-9D0D-4CEF-9FFD-2DB8E42E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이미지 형식 · crop · resize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82B81-7BF0-4448-AAC3-656E1E47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057650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docs/image-contracts.md">
            <a:extLst xmlns:a="http://schemas.openxmlformats.org/drawingml/2006/main">
              <a:ext uri="{FF2B5EF4-FFF2-40B4-BE49-F238E27FC236}">
                <a16:creationId xmlns:a16="http://schemas.microsoft.com/office/drawing/2014/main" id="{38C9D747-98B0-441C-951E-14780455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528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docs/image-contracts.md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0019F-845F-4823-AFF6-93B452DC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테스트 구조 · 관련 테스트">
            <a:extLst xmlns:a="http://schemas.openxmlformats.org/drawingml/2006/main">
              <a:ext uri="{FF2B5EF4-FFF2-40B4-BE49-F238E27FC236}">
                <a16:creationId xmlns:a16="http://schemas.microsoft.com/office/drawing/2014/main" id="{667420AD-D3F7-4DFC-AD2D-714D13AD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· 관련 테스트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B00C2D-EA8D-4DD7-9741-27F0C1D2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638675"/>
            <a:ext cx="419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docs/testing.md">
            <a:extLst xmlns:a="http://schemas.openxmlformats.org/drawingml/2006/main">
              <a:ext uri="{FF2B5EF4-FFF2-40B4-BE49-F238E27FC236}">
                <a16:creationId xmlns:a16="http://schemas.microsoft.com/office/drawing/2014/main" id="{FC28BF48-B360-4BF0-9B7F-EFE28FB7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docs/testing.md</a:t>
            </a:r>
          </a:p>
        </p:txBody>
      </p:sp>
      <p:sp>
        <p:nvSpPr>
          <p:cNvPr id="21" name="원문: Test organization or relevant tests → docs/testing.md">
            <a:extLst xmlns:a="http://schemas.openxmlformats.org/drawingml/2006/main">
              <a:ext uri="{FF2B5EF4-FFF2-40B4-BE49-F238E27FC236}">
                <a16:creationId xmlns:a16="http://schemas.microsoft.com/office/drawing/2014/main" id="{39FD4B9F-92AA-4D62-9F7D-820D4032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원문: Test organization or relevant tests → docs/testing.md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25AB7D9-09BD-499A-AB5C-8435D5FD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4826262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관찰하기 전에 질문하기">
            <a:extLst xmlns:a="http://schemas.openxmlformats.org/drawingml/2006/main">
              <a:ext uri="{FF2B5EF4-FFF2-40B4-BE49-F238E27FC236}">
                <a16:creationId xmlns:a16="http://schemas.microsoft.com/office/drawing/2014/main" id="{A4C75A6D-D273-429E-B0D4-C84F3DD6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관찰하기 전에 질문하기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0B89FD35-12C9-482C-BD5D-D053857E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서로 다른 두 Task가 무엇을 읽을까?">
            <a:extLst xmlns:a="http://schemas.openxmlformats.org/drawingml/2006/main">
              <a:ext uri="{FF2B5EF4-FFF2-40B4-BE49-F238E27FC236}">
                <a16:creationId xmlns:a16="http://schemas.microsoft.com/office/drawing/2014/main" id="{3EB3115B-F0C1-4369-9432-5D6F207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두 Task가 무엇을 읽을까?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E2CAB-84DA-46BB-A7B6-9D2A29C1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읽기 전용 Task의 질문을 재구성">
            <a:extLst xmlns:a="http://schemas.openxmlformats.org/drawingml/2006/main">
              <a:ext uri="{FF2B5EF4-FFF2-40B4-BE49-F238E27FC236}">
                <a16:creationId xmlns:a16="http://schemas.microsoft.com/office/drawing/2014/main" id="{967BCFFA-8C42-4149-890D-C313E0A3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읽기 전용 Task의 질문을 재구성</a:t>
            </a:r>
          </a:p>
        </p:txBody>
      </p:sp>
      <p:sp>
        <p:nvSpPr>
          <p:cNvPr id="6" name="어떤 상세 문서를 읽을지는 실제 접근 기록으로 확인한다">
            <a:extLst xmlns:a="http://schemas.openxmlformats.org/drawingml/2006/main">
              <a:ext uri="{FF2B5EF4-FFF2-40B4-BE49-F238E27FC236}">
                <a16:creationId xmlns:a16="http://schemas.microsoft.com/office/drawing/2014/main" id="{A8946A90-EE9D-4384-8545-F8FC3723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상세 문서를 읽을지는 실제 접근 기록으로 확인한다</a:t>
            </a:r>
          </a:p>
        </p:txBody>
      </p:sp>
      <p:sp>
        <p:nvSpPr>
          <p:cNvPr id="7" name="Task A">
            <a:extLst xmlns:a="http://schemas.openxmlformats.org/drawingml/2006/main">
              <a:ext uri="{FF2B5EF4-FFF2-40B4-BE49-F238E27FC236}">
                <a16:creationId xmlns:a16="http://schemas.microsoft.com/office/drawing/2014/main" id="{9C17FACC-C644-46AC-B655-6DC7F633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</a:t>
            </a:r>
          </a:p>
        </p:txBody>
      </p:sp>
      <p:sp>
        <p:nvSpPr>
          <p:cNvPr id="8" name="Task B">
            <a:extLst xmlns:a="http://schemas.openxmlformats.org/drawingml/2006/main">
              <a:ext uri="{FF2B5EF4-FFF2-40B4-BE49-F238E27FC236}">
                <a16:creationId xmlns:a16="http://schemas.microsoft.com/office/drawing/2014/main" id="{A8553834-12E9-4316-89F2-064DCB12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F6A44-68C4-45BD-9948-1C3D5C61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0A006-4B12-4921-A45A-DC9988D3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 1 3은&#10;어떤 source column을&#10;포함하는가?">
            <a:extLst xmlns:a="http://schemas.openxmlformats.org/drawingml/2006/main">
              <a:ext uri="{FF2B5EF4-FFF2-40B4-BE49-F238E27FC236}">
                <a16:creationId xmlns:a16="http://schemas.microsoft.com/office/drawing/2014/main" id="{E4932F89-EC71-44E9-9E74-9C0AC131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1 3은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source column을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포함하는가?</a:t>
            </a:r>
          </a:p>
        </p:txBody>
      </p:sp>
      <p:sp>
        <p:nvSpPr>
          <p:cNvPr id="12" name="이 Project에&#10;runtime dependency가&#10;있는가?">
            <a:extLst xmlns:a="http://schemas.openxmlformats.org/drawingml/2006/main">
              <a:ext uri="{FF2B5EF4-FFF2-40B4-BE49-F238E27FC236}">
                <a16:creationId xmlns:a16="http://schemas.microsoft.com/office/drawing/2014/main" id="{EC9A7992-87C9-4681-A80D-F14FA2DE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48768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Project에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runtime dependency가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있는가?</a:t>
            </a:r>
          </a:p>
        </p:txBody>
      </p:sp>
      <p:sp>
        <p:nvSpPr>
          <p:cNvPr id="13" name="두 Task에서 같은 상세 문서를 읽을까?">
            <a:extLst xmlns:a="http://schemas.openxmlformats.org/drawingml/2006/main">
              <a:ext uri="{FF2B5EF4-FFF2-40B4-BE49-F238E27FC236}">
                <a16:creationId xmlns:a16="http://schemas.microsoft.com/office/drawing/2014/main" id="{C6070B1B-B787-437D-A70D-B0CB8F61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Task에서 같은 상세 문서를 읽을까?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7DABF67-F294-455F-98EC-31A27434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055143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질문과 근거를 연결하기">
            <a:extLst xmlns:a="http://schemas.openxmlformats.org/drawingml/2006/main">
              <a:ext uri="{FF2B5EF4-FFF2-40B4-BE49-F238E27FC236}">
                <a16:creationId xmlns:a16="http://schemas.microsoft.com/office/drawing/2014/main" id="{DE628AB9-7F53-489E-A3F3-FE1368E5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질문과 근거를 연결하기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9E552FFC-E12D-41CB-BAAC-7CCF0356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Crop Task에서 관찰한 접근">
            <a:extLst xmlns:a="http://schemas.openxmlformats.org/drawingml/2006/main">
              <a:ext uri="{FF2B5EF4-FFF2-40B4-BE49-F238E27FC236}">
                <a16:creationId xmlns:a16="http://schemas.microsoft.com/office/drawing/2014/main" id="{BBA18BFE-0524-49C2-9D60-246F4F6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Task에서 관찰한 접근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29B7C-49C1-424E-BB32-E3962B3F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 · 최종 실행의 접근과 답을 기록에서 재구성">
            <a:extLst xmlns:a="http://schemas.openxmlformats.org/drawingml/2006/main">
              <a:ext uri="{FF2B5EF4-FFF2-40B4-BE49-F238E27FC236}">
                <a16:creationId xmlns:a16="http://schemas.microsoft.com/office/drawing/2014/main" id="{E49C2A36-C0EA-4346-84FC-6DC5B2EB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 · 최종 실행의 접근과 답을 기록에서 재구성</a:t>
            </a:r>
          </a:p>
        </p:txBody>
      </p:sp>
      <p:sp>
        <p:nvSpPr>
          <p:cNvPr id="6" name="architecture 등 넓은 Context도 접근 · testing.md는 최종 실행에서 관찰, 반복 간">
            <a:extLst xmlns:a="http://schemas.openxmlformats.org/drawingml/2006/main">
              <a:ext uri="{FF2B5EF4-FFF2-40B4-BE49-F238E27FC236}">
                <a16:creationId xmlns:a16="http://schemas.microsoft.com/office/drawing/2014/main" id="{D9AB5C2B-69EE-4CA2-87B2-06E5BDC5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 등 넓은 Context도 접근 · testing.md는 최종 실행에서 관찰, 반복 간 차이 존재</a:t>
            </a:r>
          </a:p>
        </p:txBody>
      </p:sp>
      <p:sp>
        <p:nvSpPr>
          <p:cNvPr id="7" name="접근한 계약 문서">
            <a:extLst xmlns:a="http://schemas.openxmlformats.org/drawingml/2006/main">
              <a:ext uri="{FF2B5EF4-FFF2-40B4-BE49-F238E27FC236}">
                <a16:creationId xmlns:a16="http://schemas.microsoft.com/office/drawing/2014/main" id="{A6972D9A-6E37-460A-B547-23CC1308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접근한 계약 문서</a:t>
            </a:r>
          </a:p>
        </p:txBody>
      </p:sp>
      <p:sp>
        <p:nvSpPr>
          <p:cNvPr id="8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720F8481-3546-465B-A183-05786D73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0A8BA-A06F-43D6-BB22-DA4B9A30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28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[x_start, x_end)">
            <a:extLst xmlns:a="http://schemas.openxmlformats.org/drawingml/2006/main">
              <a:ext uri="{FF2B5EF4-FFF2-40B4-BE49-F238E27FC236}">
                <a16:creationId xmlns:a16="http://schemas.microsoft.com/office/drawing/2014/main" id="{63E26A71-FCB1-48A3-AA96-FD794F65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0425"/>
            <a:ext cx="582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[x_start, x_end)</a:t>
            </a:r>
          </a:p>
        </p:txBody>
      </p:sp>
      <p:sp>
        <p:nvSpPr>
          <p:cNvPr id="11" name="시작 열 포함 · 끝 좌표 제외">
            <a:extLst xmlns:a="http://schemas.openxmlformats.org/drawingml/2006/main">
              <a:ext uri="{FF2B5EF4-FFF2-40B4-BE49-F238E27FC236}">
                <a16:creationId xmlns:a16="http://schemas.microsoft.com/office/drawing/2014/main" id="{94BEFA3D-74B1-42D0-8769-CF94E745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5829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열 포함 · 끝 좌표 제외</a:t>
            </a:r>
          </a:p>
        </p:txBody>
      </p:sp>
      <p:sp>
        <p:nvSpPr>
          <p:cNvPr id="12" name="기록된 답">
            <a:extLst xmlns:a="http://schemas.openxmlformats.org/drawingml/2006/main">
              <a:ext uri="{FF2B5EF4-FFF2-40B4-BE49-F238E27FC236}">
                <a16:creationId xmlns:a16="http://schemas.microsoft.com/office/drawing/2014/main" id="{6654A380-E6D8-4D9C-8034-DBCE9168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기록된 답</a:t>
            </a:r>
          </a:p>
        </p:txBody>
      </p:sp>
      <p:sp>
        <p:nvSpPr>
          <p:cNvPr id="13" name="crop 1 3">
            <a:extLst xmlns:a="http://schemas.openxmlformats.org/drawingml/2006/main">
              <a:ext uri="{FF2B5EF4-FFF2-40B4-BE49-F238E27FC236}">
                <a16:creationId xmlns:a16="http://schemas.microsoft.com/office/drawing/2014/main" id="{2E993104-471E-4F7E-8061-6AA1B0DC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crop 1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5738D-3BE7-4C90-A19F-8F02DD38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994359DD-5EC6-409B-A8BE-C2B088A8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CCEAC3-2A6C-4A80-9D70-638AA35E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D7AAC234-B950-417E-9574-FFDC9809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8071A-B9D3-4BDD-BEE3-09DD8B34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2">
            <a:extLst xmlns:a="http://schemas.openxmlformats.org/drawingml/2006/main">
              <a:ext uri="{FF2B5EF4-FFF2-40B4-BE49-F238E27FC236}">
                <a16:creationId xmlns:a16="http://schemas.microsoft.com/office/drawing/2014/main" id="{2E1E0DA1-85CC-46D3-AF2F-E27CF3C9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F5A02-0F6B-4717-8BEF-323BB441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742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3">
            <a:extLst xmlns:a="http://schemas.openxmlformats.org/drawingml/2006/main">
              <a:ext uri="{FF2B5EF4-FFF2-40B4-BE49-F238E27FC236}">
                <a16:creationId xmlns:a16="http://schemas.microsoft.com/office/drawing/2014/main" id="{C6602D89-1B2E-492B-8B17-F8D60645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74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포함 열: 1, 2&#10;출력 폭: 2">
            <a:extLst xmlns:a="http://schemas.openxmlformats.org/drawingml/2006/main">
              <a:ext uri="{FF2B5EF4-FFF2-40B4-BE49-F238E27FC236}">
                <a16:creationId xmlns:a16="http://schemas.microsoft.com/office/drawing/2014/main" id="{B6DEADCF-64D0-415B-B2E3-731BBB66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81500"/>
            <a:ext cx="38862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포함 열: 1, 2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 폭: 2</a:t>
            </a:r>
          </a:p>
        </p:txBody>
      </p:sp>
      <p:sp>
        <p:nvSpPr>
          <p:cNvPr id="23" name="답을 파일의 계약과 연결해 확인했다">
            <a:extLst xmlns:a="http://schemas.openxmlformats.org/drawingml/2006/main">
              <a:ext uri="{FF2B5EF4-FFF2-40B4-BE49-F238E27FC236}">
                <a16:creationId xmlns:a16="http://schemas.microsoft.com/office/drawing/2014/main" id="{127815BD-A9CC-4617-AC74-9FB34CA7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6477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답을 파일의 계약과 연결해 확인했다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D0047D5-33A6-493D-8746-27C0C46A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20033502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2 · 두 Task의 문서 접근 비교">
            <a:extLst xmlns:a="http://schemas.openxmlformats.org/drawingml/2006/main">
              <a:ext uri="{FF2B5EF4-FFF2-40B4-BE49-F238E27FC236}">
                <a16:creationId xmlns:a16="http://schemas.microsoft.com/office/drawing/2014/main" id="{793CBDF5-15FA-46B0-AE76-4345D8B8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두 Task의 문서 접근 비교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D3E00EC0-CE38-494D-B750-13E3489A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Task별 접근은 달랐지만 완벽하지는 않다">
            <a:extLst xmlns:a="http://schemas.openxmlformats.org/drawingml/2006/main">
              <a:ext uri="{FF2B5EF4-FFF2-40B4-BE49-F238E27FC236}">
                <a16:creationId xmlns:a16="http://schemas.microsoft.com/office/drawing/2014/main" id="{DAD21BAC-8852-4E1A-91D1-736A7FD4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Task별 접근은 달랐지만 완벽하지는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E8DE2-2DE9-4532-AAF0-FF2A9349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5A/B · 실제 접근 기록을 요약한 비교">
            <a:extLst xmlns:a="http://schemas.openxmlformats.org/drawingml/2006/main">
              <a:ext uri="{FF2B5EF4-FFF2-40B4-BE49-F238E27FC236}">
                <a16:creationId xmlns:a16="http://schemas.microsoft.com/office/drawing/2014/main" id="{255900DB-965F-4EC9-8673-F4172294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TRIAL-005A/B · 실제 접근 기록을 요약한 비교</a:t>
            </a:r>
          </a:p>
        </p:txBody>
      </p:sp>
      <p:sp>
        <p:nvSpPr>
          <p:cNvPr id="6" name="완벽한 Routing 미입증 · 토큰 절약·성능 개선 미측정 · 실행 간 변동 존재">
            <a:extLst xmlns:a="http://schemas.openxmlformats.org/drawingml/2006/main">
              <a:ext uri="{FF2B5EF4-FFF2-40B4-BE49-F238E27FC236}">
                <a16:creationId xmlns:a16="http://schemas.microsoft.com/office/drawing/2014/main" id="{2090F088-FAED-4082-815C-52704093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완벽한 Routing 미입증 · 토큰 절약·성능 개선 미측정 · 실행 간 변동 존재</a:t>
            </a:r>
          </a:p>
        </p:txBody>
      </p:sp>
      <p:sp>
        <p:nvSpPr>
          <p:cNvPr id="7" name="같은 Repository에서 질문이 달랐다">
            <a:extLst xmlns:a="http://schemas.openxmlformats.org/drawingml/2006/main">
              <a:ext uri="{FF2B5EF4-FFF2-40B4-BE49-F238E27FC236}">
                <a16:creationId xmlns:a16="http://schemas.microsoft.com/office/drawing/2014/main" id="{AD2FA958-55FE-4CEF-BBFB-C7E4830B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Repository에서 질문이 달랐다</a:t>
            </a:r>
          </a:p>
        </p:txBody>
      </p:sp>
      <p:sp>
        <p:nvSpPr>
          <p:cNvPr id="8" name="문서">
            <a:extLst xmlns:a="http://schemas.openxmlformats.org/drawingml/2006/main">
              <a:ext uri="{FF2B5EF4-FFF2-40B4-BE49-F238E27FC236}">
                <a16:creationId xmlns:a16="http://schemas.microsoft.com/office/drawing/2014/main" id="{8352376E-43DA-452E-B9B7-B7EC144B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686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9" name="A · crop 계약">
            <a:extLst xmlns:a="http://schemas.openxmlformats.org/drawingml/2006/main">
              <a:ext uri="{FF2B5EF4-FFF2-40B4-BE49-F238E27FC236}">
                <a16:creationId xmlns:a16="http://schemas.microsoft.com/office/drawing/2014/main" id="{45D4E11F-41AA-4286-8BCB-C8713DEF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527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 · crop 계약</a:t>
            </a:r>
          </a:p>
        </p:txBody>
      </p:sp>
      <p:sp>
        <p:nvSpPr>
          <p:cNvPr id="10" name="B · 실행 의존성">
            <a:extLst xmlns:a="http://schemas.openxmlformats.org/drawingml/2006/main">
              <a:ext uri="{FF2B5EF4-FFF2-40B4-BE49-F238E27FC236}">
                <a16:creationId xmlns:a16="http://schemas.microsoft.com/office/drawing/2014/main" id="{4A1B3610-47BB-4CFF-B48C-9CFF2E14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52725"/>
            <a:ext cx="2838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 · 실행 의존성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5CC5A-5C7E-4101-8FDD-AE8AF5D9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age-contracts.md">
            <a:extLst xmlns:a="http://schemas.openxmlformats.org/drawingml/2006/main">
              <a:ext uri="{FF2B5EF4-FFF2-40B4-BE49-F238E27FC236}">
                <a16:creationId xmlns:a16="http://schemas.microsoft.com/office/drawing/2014/main" id="{60DD992B-3694-483C-8F13-6DD25664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image-contracts.md</a:t>
            </a:r>
          </a:p>
        </p:txBody>
      </p:sp>
      <p:sp>
        <p:nvSpPr>
          <p:cNvPr id="13" name="읽음">
            <a:extLst xmlns:a="http://schemas.openxmlformats.org/drawingml/2006/main">
              <a:ext uri="{FF2B5EF4-FFF2-40B4-BE49-F238E27FC236}">
                <a16:creationId xmlns:a16="http://schemas.microsoft.com/office/drawing/2014/main" id="{892848F4-FF14-44F7-AFDA-80570F35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337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4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DB0C7DDB-6ABA-4699-A51E-6F7C16E7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337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15A9A-6993-48C2-B8D6-2EE369DD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AAB4FA31-84BB-452C-90BA-850FDF72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architecture.md</a:t>
            </a:r>
          </a:p>
        </p:txBody>
      </p:sp>
      <p:sp>
        <p:nvSpPr>
          <p:cNvPr id="17" name="읽음">
            <a:extLst xmlns:a="http://schemas.openxmlformats.org/drawingml/2006/main">
              <a:ext uri="{FF2B5EF4-FFF2-40B4-BE49-F238E27FC236}">
                <a16:creationId xmlns:a16="http://schemas.microsoft.com/office/drawing/2014/main" id="{E9728C91-2B3B-44FA-94AF-858C42CB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6240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8" name="읽음">
            <a:extLst xmlns:a="http://schemas.openxmlformats.org/drawingml/2006/main">
              <a:ext uri="{FF2B5EF4-FFF2-40B4-BE49-F238E27FC236}">
                <a16:creationId xmlns:a16="http://schemas.microsoft.com/office/drawing/2014/main" id="{83B45993-FCB1-49C6-99BA-F7B22538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6240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6034A-59C1-45CD-B77E-8D8FCA62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testing.md">
            <a:extLst xmlns:a="http://schemas.openxmlformats.org/drawingml/2006/main">
              <a:ext uri="{FF2B5EF4-FFF2-40B4-BE49-F238E27FC236}">
                <a16:creationId xmlns:a16="http://schemas.microsoft.com/office/drawing/2014/main" id="{75DAD287-871B-4CB4-82DD-07EE63F7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testing.md</a:t>
            </a:r>
          </a:p>
        </p:txBody>
      </p:sp>
      <p:sp>
        <p:nvSpPr>
          <p:cNvPr id="21" name="최종 실행에서 읽음">
            <a:extLst xmlns:a="http://schemas.openxmlformats.org/drawingml/2006/main">
              <a:ext uri="{FF2B5EF4-FFF2-40B4-BE49-F238E27FC236}">
                <a16:creationId xmlns:a16="http://schemas.microsoft.com/office/drawing/2014/main" id="{C461EFEF-7848-4854-B4C5-D20DB421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실행에서 읽음</a:t>
            </a:r>
          </a:p>
        </p:txBody>
      </p:sp>
      <p:sp>
        <p:nvSpPr>
          <p:cNvPr id="22" name="읽지 않음">
            <a:extLst xmlns:a="http://schemas.openxmlformats.org/drawingml/2006/main">
              <a:ext uri="{FF2B5EF4-FFF2-40B4-BE49-F238E27FC236}">
                <a16:creationId xmlns:a16="http://schemas.microsoft.com/office/drawing/2014/main" id="{E09E663C-F7B0-445A-9B59-980E1091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5910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읽지 않음</a:t>
            </a:r>
          </a:p>
        </p:txBody>
      </p:sp>
      <p:sp>
        <p:nvSpPr>
          <p:cNvPr id="23" name="A에는 더 넓은 읽기도 존재 · B는 설정·README·source도 확인">
            <a:extLst xmlns:a="http://schemas.openxmlformats.org/drawingml/2006/main">
              <a:ext uri="{FF2B5EF4-FFF2-40B4-BE49-F238E27FC236}">
                <a16:creationId xmlns:a16="http://schemas.microsoft.com/office/drawing/2014/main" id="{DFFF32B3-E9E2-4BEB-970B-A46CEFF3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A에는 더 넓은 읽기도 존재 · B는 설정·README·source도 확인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1AA4D3C-4EAD-4A79-B439-E66CE52B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770440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2 · 다음 문제로 넘어가기">
            <a:extLst xmlns:a="http://schemas.openxmlformats.org/drawingml/2006/main">
              <a:ext uri="{FF2B5EF4-FFF2-40B4-BE49-F238E27FC236}">
                <a16:creationId xmlns:a16="http://schemas.microsoft.com/office/drawing/2014/main" id="{F2F59B86-25DA-46F3-A351-54D55D03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2 · 다음 문제로 넘어가기</a:t>
            </a:r>
          </a:p>
        </p:txBody>
      </p:sp>
      <p:sp>
        <p:nvSpPr>
          <p:cNvPr id="2" name="S38">
            <a:extLst xmlns:a="http://schemas.openxmlformats.org/drawingml/2006/main">
              <a:ext uri="{FF2B5EF4-FFF2-40B4-BE49-F238E27FC236}">
                <a16:creationId xmlns:a16="http://schemas.microsoft.com/office/drawing/2014/main" id="{1D0091E2-F529-45FE-91DD-9E403622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S38</a:t>
            </a:r>
          </a:p>
        </p:txBody>
      </p:sp>
      <p:sp>
        <p:nvSpPr>
          <p:cNvPr id="3" name="지식은 정리됐지만 절차는 반복된다">
            <a:extLst xmlns:a="http://schemas.openxmlformats.org/drawingml/2006/main">
              <a:ext uri="{FF2B5EF4-FFF2-40B4-BE49-F238E27FC236}">
                <a16:creationId xmlns:a16="http://schemas.microsoft.com/office/drawing/2014/main" id="{AB1EC7B7-316B-4338-BF80-88A92D25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지식은 정리됐지만 절차는 반복된다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2D1AF-0C06-418D-9990-A4D4B2F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Project Context 정리 + TRIAL-006/007의 반복 절차 · 기록 요약과 교육용 해석">
            <a:extLst xmlns:a="http://schemas.openxmlformats.org/drawingml/2006/main">
              <a:ext uri="{FF2B5EF4-FFF2-40B4-BE49-F238E27FC236}">
                <a16:creationId xmlns:a16="http://schemas.microsoft.com/office/drawing/2014/main" id="{DDBC6394-132B-4EF0-9626-E1686EC6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 정리 + TRIAL-006/007의 반복 절차 · 기록 요약과 교육용 해석</a:t>
            </a:r>
          </a:p>
        </p:txBody>
      </p:sp>
      <p:sp>
        <p:nvSpPr>
          <p:cNvPr id="6" name="절차가 반복된 원인을 Prompt만으로 분리하지 않음">
            <a:extLst xmlns:a="http://schemas.openxmlformats.org/drawingml/2006/main">
              <a:ext uri="{FF2B5EF4-FFF2-40B4-BE49-F238E27FC236}">
                <a16:creationId xmlns:a16="http://schemas.microsoft.com/office/drawing/2014/main" id="{393946CD-5EE2-4C34-898C-8D83C48A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절차가 반복된 원인을 Prompt만으로 분리하지 않음</a:t>
            </a:r>
          </a:p>
        </p:txBody>
      </p:sp>
      <p:sp>
        <p:nvSpPr>
          <p:cNvPr id="7" name="정리한 것">
            <a:extLst xmlns:a="http://schemas.openxmlformats.org/drawingml/2006/main">
              <a:ext uri="{FF2B5EF4-FFF2-40B4-BE49-F238E27FC236}">
                <a16:creationId xmlns:a16="http://schemas.microsoft.com/office/drawing/2014/main" id="{EF6CA940-CEE3-43A4-9243-71208E2A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정리한 것</a:t>
            </a:r>
          </a:p>
        </p:txBody>
      </p:sp>
      <p:sp>
        <p:nvSpPr>
          <p:cNvPr id="8" name="아직 반복되는 것">
            <a:extLst xmlns:a="http://schemas.openxmlformats.org/drawingml/2006/main">
              <a:ext uri="{FF2B5EF4-FFF2-40B4-BE49-F238E27FC236}">
                <a16:creationId xmlns:a16="http://schemas.microsoft.com/office/drawing/2014/main" id="{EBCBB723-29BC-4BA2-ACF3-CCAF77E3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아직 반복되는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F96E6-26B2-4773-98B1-831B29A3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0A84A-26F5-46DB-B12E-F414D746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는 Prompt에&#10;공통 사실은 Project Context에&#10;상세 정보는 Routing으로">
            <a:extLst xmlns:a="http://schemas.openxmlformats.org/drawingml/2006/main">
              <a:ext uri="{FF2B5EF4-FFF2-40B4-BE49-F238E27FC236}">
                <a16:creationId xmlns:a16="http://schemas.microsoft.com/office/drawing/2014/main" id="{FB457EF7-BBA0-4F93-B996-8346A712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143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목표는 Prompt에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사실은 Project Context에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정보는 Routing으로</a:t>
            </a:r>
          </a:p>
        </p:txBody>
      </p:sp>
      <p:sp>
        <p:nvSpPr>
          <p:cNvPr id="12" name="먼저 측정하고&#10;조사한 뒤 변경하고&#10;같은 조건으로 확인해줘">
            <a:extLst xmlns:a="http://schemas.openxmlformats.org/drawingml/2006/main">
              <a:ext uri="{FF2B5EF4-FFF2-40B4-BE49-F238E27FC236}">
                <a16:creationId xmlns:a16="http://schemas.microsoft.com/office/drawing/2014/main" id="{006EDA5A-516F-40EA-A686-FC290C24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조사한 뒤 변경하고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확인해줘</a:t>
            </a:r>
          </a:p>
        </p:txBody>
      </p:sp>
      <p:sp>
        <p:nvSpPr>
          <p:cNvPr id="13" name="같은 작업 절차도 다시 써야 할까?">
            <a:extLst xmlns:a="http://schemas.openxmlformats.org/drawingml/2006/main">
              <a:ext uri="{FF2B5EF4-FFF2-40B4-BE49-F238E27FC236}">
                <a16:creationId xmlns:a16="http://schemas.microsoft.com/office/drawing/2014/main" id="{91FD492B-DF20-46AE-BDC3-F23BAF88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작업 절차도 다시 써야 할까?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7292C99-5DC7-48AB-99CC-64A1391B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702055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2026-10-21T12:43:17.5410000Z</dcterms:created>
  <dcterms:modified xsi:type="dcterms:W3CDTF">2026-10-21T12:43:17.5410000Z</dcterms:modified>
</coreProperties>
</file>