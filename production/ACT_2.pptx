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5d812d651b43ff" /><Relationship Type="http://schemas.openxmlformats.org/officeDocument/2006/relationships/slideMaster" Target="/ppt/slideMasters/slideMaster1.xml" Id="R6509c520dab14544" /><Relationship Type="http://schemas.openxmlformats.org/officeDocument/2006/relationships/notesMaster" Target="/ppt/notesMasters/notesMaster1.xml" Id="R4286dda84e524d5b" /><Relationship Type="http://schemas.openxmlformats.org/officeDocument/2006/relationships/presProps" Target="/ppt/presProps.xml" Id="Ree85c44983fc48d6" /><Relationship Type="http://schemas.openxmlformats.org/officeDocument/2006/relationships/tableStyles" Target="/ppt/tableStyles.xml" Id="R6202b52fb25644f2" /><Relationship Type="http://schemas.openxmlformats.org/officeDocument/2006/relationships/slide" Target="/ppt/slides/slide1.xml" Id="R6c450eacdbba4e54" /><Relationship Type="http://schemas.openxmlformats.org/officeDocument/2006/relationships/slide" Target="/ppt/slides/slide2.xml" Id="R9f16fc52da3549d7" /><Relationship Type="http://schemas.openxmlformats.org/officeDocument/2006/relationships/slide" Target="/ppt/slides/slide3.xml" Id="Raab386c6dcac44c4" /><Relationship Type="http://schemas.openxmlformats.org/officeDocument/2006/relationships/slide" Target="/ppt/slides/slide4.xml" Id="Rb36bd5fab5da4819" /><Relationship Type="http://schemas.openxmlformats.org/officeDocument/2006/relationships/slide" Target="/ppt/slides/slide5.xml" Id="R94d16cbedcd84157" /><Relationship Type="http://schemas.openxmlformats.org/officeDocument/2006/relationships/slide" Target="/ppt/slides/slide6.xml" Id="Rbb0fdffe49be4fa1" /><Relationship Type="http://schemas.openxmlformats.org/officeDocument/2006/relationships/slide" Target="/ppt/slides/slide7.xml" Id="R93dd91ca4e8148c5" /><Relationship Type="http://schemas.openxmlformats.org/officeDocument/2006/relationships/slide" Target="/ppt/slides/slide8.xml" Id="Rf685c7e5f6ba4046" /><Relationship Type="http://schemas.openxmlformats.org/officeDocument/2006/relationships/slide" Target="/ppt/slides/slide9.xml" Id="R91b51fe24129451b" /><Relationship Type="http://schemas.openxmlformats.org/officeDocument/2006/relationships/slide" Target="/ppt/slides/slide10.xml" Id="Rf2ecfa59b0e347ba" /><Relationship Type="http://schemas.openxmlformats.org/officeDocument/2006/relationships/slide" Target="/ppt/slides/slide11.xml" Id="R5df90fb4a2734b3e" /><Relationship Type="http://schemas.openxmlformats.org/officeDocument/2006/relationships/slide" Target="/ppt/slides/slide12.xml" Id="R8c0971a7d6a744c1" /><Relationship Type="http://schemas.openxmlformats.org/officeDocument/2006/relationships/slide" Target="/ppt/slides/slide13.xml" Id="R3d56d0ab7a104165" /><Relationship Type="http://schemas.openxmlformats.org/officeDocument/2006/relationships/slide" Target="/ppt/slides/slide14.xml" Id="Rac4cf77666bb45d0" /><Relationship Type="http://schemas.openxmlformats.org/officeDocument/2006/relationships/slide" Target="/ppt/slides/slide15.xml" Id="R0d1d96d964c649f6" /><Relationship Type="http://schemas.openxmlformats.org/officeDocument/2006/relationships/slide" Target="/ppt/slides/slide16.xml" Id="R42655c32cd3d4282" /><Relationship Type="http://schemas.openxmlformats.org/officeDocument/2006/relationships/slide" Target="/ppt/slides/slide17.xml" Id="R59f9f98a7ee2461b" /><Relationship Type="http://schemas.openxmlformats.org/officeDocument/2006/relationships/slide" Target="/ppt/slides/slide18.xml" Id="R347b8a3e23c74f02" /><Relationship Type="http://schemas.openxmlformats.org/officeDocument/2006/relationships/slide" Target="/ppt/slides/slide19.xml" Id="R748ee43f6af146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필요한 정보를 찾아 쓰게 하기</a:t>
            </a:r>
          </a:p>
          <a:p xmlns:a="http://schemas.openxmlformats.org/drawingml/2006/main">
            <a:r>
              <a:t/>
            </a:r>
          </a:p>
          <a:p xmlns:a="http://schemas.openxmlformats.org/drawingml/2006/main">
            <a:r>
              <a:t>**Slide ID:**</a:t>
            </a:r>
          </a:p>
          <a:p xmlns:a="http://schemas.openxmlformats.org/drawingml/2006/main">
            <a:r>
              <a:t>S38</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S39의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S39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S39로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production/preview/full/S38.png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다른 Task에 같은 설명이 반복된다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a:r>
              <a:t xml:space="preserve">보존된 상세 출처: 교육용 구성 사례 · Bug fix / Performance / README 작업</a:t>
            </a:r>
          </a:p>
          <a:p>
            <a:r>
              <a:t xml:space="preserve"/>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a:r>
              <a:t xml:space="preserve">보존된 상세 범위: 서로 다른 요청에 같은 프로젝트 정보가 반복되는 상황을 보여준다</a:t>
            </a:r>
          </a:p>
          <a:p>
            <a:r>
              <a:t xml:space="preserve"/>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작은 Project Context의 첫 기록</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S41로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a:r>
              <a:t xml:space="preserve">보존된 상세 출처: OBSERVED PRODUCT  |  STATE-01 · AGENTS.md 실제 원문 발췌</a:t>
            </a:r>
          </a:p>
          <a:p>
            <a:r>
              <a:t xml:space="preserve"/>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xmlns:a="http://schemas.openxmlformats.org/drawingml/2006/main">
            <a:r>
              <a:t/>
            </a:r>
          </a:p>
          <a:p>
            <a:r>
              <a:t xml:space="preserve">보존된 상세 범위: 파일의 내용과 기록 위치를 보여주는 장 · Agent의 활용 관찰은 다음 장에서 확인</a:t>
            </a:r>
          </a:p>
          <a:p>
            <a:r>
              <a:t xml:space="preserve"/>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S40 및 `production/preview/act2/S40.png`에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S41 handoff. 명령어 옵션별 설명은 생략한다.</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AGENTS.md의 지침대로 검증했다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a:r>
              <a:t xml:space="preserve">보존된 상세 출처: TRIAL-003 · 실제 요청 발췌·번역 / 실행 기록 요약 · Codex CLI 0.154.0</a:t>
            </a:r>
          </a:p>
          <a:p>
            <a:r>
              <a:t xml:space="preserve"/>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a:r>
              <a:t xml:space="preserve">보존된 상세 범위: Skills도 실행 · README-only는 Prompt에도 명시 · AGENTS.md 단독 효과·강제 준수 보장은 미입증</a:t>
            </a:r>
          </a:p>
          <a:p>
            <a:r>
              <a:t xml:space="preserve"/>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S42 연결. Demo4분·기존 Mode는 유지하며 실측 리허설은 UNVERIFIED다.</a:t>
            </a:r>
          </a:p>
          <a:p xmlns:a="http://schemas.openxmlformats.org/drawingml/2006/main">
            <a:r>
              <a:t/>
            </a:r>
          </a:p>
          <a:p xmlns:a="http://schemas.openxmlformats.org/drawingml/2006/main">
            <a:r>
              <a:t>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Task Prompt와 Project Context</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S39–S37. Generated visual provenance and prompts: assets/slide-illustrations/task-context/README.md. No new Trial or product capture.</a:t>
            </a:r>
          </a:p>
          <a:p xmlns:a="http://schemas.openxmlformats.org/drawingml/2006/main">
            <a:r>
              <a:t/>
            </a:r>
          </a:p>
          <a:p>
            <a:r>
              <a:t xml:space="preserve">보존된 상세 출처: 교육용 구분 · 창과 문서는 생성 도식이며 실제 제품 화면이 아님</a:t>
            </a:r>
          </a:p>
          <a:p>
            <a:r>
              <a:t xml:space="preserve"/>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a:r>
              <a:t xml:space="preserve">보존된 상세 범위: C++에서도 프로젝트 공통 제약과 이번 알고리즘 변경 조건은 범위가 다를 수 있다</a:t>
            </a:r>
          </a:p>
          <a:p>
            <a:r>
              <a:t xml:space="preserve"/>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정확한 정보도 계속 늘어난다</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S44의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a:r>
              <a:t xml:space="preserve">보존된 상세 출처: 실제 AGENTS.md 전후 내용을 바탕으로 재구성 · 문서는 교육용 생성 도식</a:t>
            </a:r>
          </a:p>
          <a:p>
            <a:r>
              <a:t xml:space="preserve"/>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a:r>
              <a:t xml:space="preserve">보존된 상세 범위: 이야기 속 두 시점 비교 · 정보 증가가 실패를 일으켰다는 관찰은 아님</a:t>
            </a:r>
          </a:p>
          <a:p>
            <a:r>
              <a:t xml:space="preserve"/>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정확하지만 이번 작업에는 불필요한 정보</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a:r>
              <a:t xml:space="preserve">보존된 상세 출처: TRIAL-004 · Codex CLI 0.154.0 · 실제 요청 / AGENTS.md 지침 발췌·번역</a:t>
            </a:r>
          </a:p>
          <a:p>
            <a:r>
              <a:t xml:space="preserve"/>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a:r>
              <a:t xml:space="preserve">보존된 상세 범위: AGENTS.md도 읽음 · 혼란·Context 관련 실패는 관찰되지 않음 · 성능 효과 미측정</a:t>
            </a:r>
          </a:p>
          <a:p>
            <a:r>
              <a:t xml:space="preserve"/>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정보의 범위와 제공 시점</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xmlns:a="http://schemas.openxmlformats.org/drawingml/2006/main">
            <a:r>
              <a:t/>
            </a:r>
          </a:p>
          <a:p>
            <a:r>
              <a:t xml:space="preserve">보존된 상세 출처: 교육용 구분 · 정보의 범위와 수행 방법은 서로 다른 축</a:t>
            </a:r>
          </a:p>
          <a:p>
            <a:r>
              <a:t xml:space="preserve"/>
            </a:r>
          </a:p>
          <a:p xmlns:a="http://schemas.openxmlformats.org/drawingml/2006/main">
            <a:r>
              <a:t>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a:r>
              <a:t xml:space="preserve">보존된 상세 범위: 공식 제품 분류가 아님 · 오른쪽은 다음 ACT의 미해결 질문</a:t>
            </a:r>
          </a:p>
          <a:p>
            <a:r>
              <a:t xml:space="preserve"/>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S44 회수30초, 공통 안내1분, 요청별 상세1분, 재사용 절차1분, 경계·S46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많이 담아도 같은 근거를 똑같이 쓰는가?</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S47으로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a:r>
              <a:t xml:space="preserve">보존된 상세 출처: Liu et al., TACL 2024 · aclanthology.org/2024.tacl-1.9/ · CLM-0014</a:t>
            </a:r>
          </a:p>
          <a:p>
            <a:r>
              <a:t xml:space="preserve"/>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a:r>
              <a:t xml:space="preserve">보존된 상세 범위: 연구 과제 재구성 · 현재 Codex의 실패율·보편 한계·Routing 효과를 입증하지 않음</a:t>
            </a:r>
          </a:p>
          <a:p>
            <a:r>
              <a:t xml:space="preserve"/>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AI가 필요한 코드를 찾았다는 것을 무엇으로 확인할까?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S46에서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S48의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a:r>
              <a:t xml:space="preserve">보존된 상세 출처: 교육용 확인 예 · STATE-00-FIXED crop 발췌 / RepoQA(2024): arxiv.org/abs/2406.06025</a:t>
            </a:r>
          </a:p>
          <a:p>
            <a:r>
              <a:t xml:space="preserve"/>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a:r>
              <a:t xml:space="preserve">보존된 상세 범위: 세 질문은 교육용 기준 · RepoQA가 이 Routing·현재 Codex의 업무 성능을 검증한 것은 아님</a:t>
            </a:r>
          </a:p>
          <a:p>
            <a:r>
              <a:t xml:space="preserve"/>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S48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필요한 상세 정보로 가는 길</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a:r>
              <a:t xml:space="preserve">보존된 상세 출처: 교육용 탐색 경로 · 저장된 명세 기반 재구성 · 실제 읽기 순서가 아님</a:t>
            </a:r>
          </a:p>
          <a:p>
            <a:r>
              <a:t xml:space="preserve"/>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a:r>
              <a:t xml:space="preserve">보존된 상세 범위: 자동 탐색·완벽한 선택·성능 향상·토큰 절약을 입증한 그림이 아님</a:t>
            </a:r>
          </a:p>
          <a:p>
            <a:r>
              <a:t xml:space="preserve"/>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AGENTS.md에는 무엇을 남길까?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xmlns:a="http://schemas.openxmlformats.org/drawingml/2006/main">
            <a:r>
              <a:t/>
            </a:r>
          </a:p>
          <a:p>
            <a:r>
              <a:t xml:space="preserve">보존된 상세 출처: 교육용 배치 기준 · 명령·검증 규칙도 Project 안내에 포함될 수 있음</a:t>
            </a:r>
          </a:p>
          <a:p>
            <a:r>
              <a:t xml:space="preserve"/>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a:r>
              <a:t xml:space="preserve">보존된 상세 범위: 원칙과 상세의 구분은 유지·참조 설계 · 실제 자동 읽기 결과나 제품의 강제 분류가 아님</a:t>
            </a:r>
          </a:p>
          <a:p>
            <a:r>
              <a:t xml:space="preserve"/>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S50, 문서 접근의 관찰과 한계는 S52–S54에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정보를 지우지 않고 위치를 나누기</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a:r>
              <a:t xml:space="preserve">보존된 상세 출처: STATE-02 → STATE-03 · 실제 문서 재구성의 요약 · 원본 실행 화면 아님</a:t>
            </a:r>
          </a:p>
          <a:p>
            <a:r>
              <a:t xml:space="preserve"/>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a:r>
              <a:t xml:space="preserve">보존된 상세 범위: 핵심 정보 보존·재서술/상세화 포함 · 자동 탐색·성능·토큰 효과는 미검증</a:t>
            </a:r>
          </a:p>
          <a:p>
            <a:r>
              <a:t xml:space="preserve"/>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서로 다른 두 Task가 무엇을 읽을까?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a:r>
              <a:t xml:space="preserve">보존된 상세 출처: TRIAL-005A/B · Codex CLI 0.154.0 · 실제 요청의 핵심 발췌·번역</a:t>
            </a:r>
          </a:p>
          <a:p>
            <a:r>
              <a:t xml:space="preserve"/>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a:r>
              <a:t xml:space="preserve">보존된 상세 범위: 프롬프트창 재구성 · 현재 Desktop 검증 아님 · 문서 접근 결과는 다음 구간에서 확인</a:t>
            </a:r>
          </a:p>
          <a:p>
            <a:r>
              <a:t xml:space="preserve"/>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S52–S54의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Crop Task에서 관찰한 접근</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a:r>
              <a:t xml:space="preserve">보존된 상세 출처: TRIAL-005A 최종 실행 · Codex CLI 0.154.0 · 문서 접근과 답을 요약·재구성</a:t>
            </a:r>
          </a:p>
          <a:p>
            <a:r>
              <a:t xml:space="preserve"/>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a:r>
              <a:t xml:space="preserve">보존된 상세 범위: * testing.md는 최종 실행에서 관찰(이전 실행과 다름) · 현재 Desktop 검증 아님</a:t>
            </a:r>
          </a:p>
          <a:p>
            <a:r>
              <a:t xml:space="preserve"/>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의존성 질문은 설정과 소스로 답했다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S51의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a:r>
              <a:t xml:space="preserve">보존된 상세 출처: TRIAL-005B 최종 실행 · Codex CLI 0.154.0 · 실제 접근/답변 기록 요약</a:t>
            </a:r>
          </a:p>
          <a:p>
            <a:r>
              <a:t xml:space="preserve"/>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a:r>
              <a:t xml:space="preserve">보존된 상세 범위: 과거 읽기 전용 실행의 재구성 · 새 설치 검사·현재 Desktop 검증 결과가 아님</a:t>
            </a:r>
          </a:p>
          <a:p>
            <a:r>
              <a:t xml:space="preserve"/>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Task별 접근은 달랐지만 완벽하지는 않다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a:r>
              <a:t xml:space="preserve">보존된 상세 출처: TRIAL-005A/B 최종 실행 · Codex CLI 0.154.0 · 실제 접근 기록의 요약·재구성</a:t>
            </a:r>
          </a:p>
          <a:p>
            <a:r>
              <a:t xml:space="preserve"/>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a:r>
              <a:t xml:space="preserve">보존된 상세 범위: * testing.md는 A 최종 실행에서 관찰(이전 A와 다름) · 현재 Desktop 검증 아님</a:t>
            </a:r>
          </a:p>
          <a:p>
            <a:r>
              <a:t xml:space="preserve"/>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Context 정리에서 확인한 네 가지</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a:r>
              <a:t xml:space="preserve">보존된 상세 출처: STATE-01 · TRIAL-003 · STATE-02→03 · TRIAL-005A/B의 개별 관찰 요약</a:t>
            </a:r>
          </a:p>
          <a:p>
            <a:r>
              <a:t xml:space="preserve"/>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a:r>
              <a:t xml:space="preserve">보존된 상세 범위: 개별 관찰의 교육용 정리 · 보편적 정확도/효율 개선·독립적 인과성은 입증하지 않음</a:t>
            </a:r>
          </a:p>
          <a:p>
            <a:r>
              <a:t xml:space="preserve"/>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S55; production/preview/act2/S55.png.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지식은 정리됐지만 절차는 반복된다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S58으로 넘긴다.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a:r>
              <a:t xml:space="preserve">보존된 상세 출처: 교육용 요청 재구성 · 다음 ACT에서 TRIAL-006/007의 실제 기록을 비교</a:t>
            </a:r>
          </a:p>
          <a:p>
            <a:r>
              <a:t xml:space="preserve"/>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S58에 남겨 역할을 나눈다.</a:t>
            </a:r>
          </a:p>
          <a:p xmlns:a="http://schemas.openxmlformats.org/drawingml/2006/main">
            <a:r>
              <a:t/>
            </a:r>
          </a:p>
          <a:p>
            <a:r>
              <a:t xml:space="preserve">보존된 상세 범위: Context 선택 완전 해결 미입증 · 다음 예시도 Prompt 단독 효과로 귀속하지 않음</a:t>
            </a:r>
          </a:p>
          <a:p>
            <a:r>
              <a:t xml:space="preserve"/>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S58에서 기록의 반복 구조를 확인한다.</a:t>
            </a:r>
          </a:p>
          <a:p xmlns:a="http://schemas.openxmlformats.org/drawingml/2006/main">
            <a:r>
              <a:t/>
            </a:r>
          </a:p>
          <a:p xmlns:a="http://schemas.openxmlformats.org/drawingml/2006/main">
            <a:r>
              <a:t>Audience Interaction: Q&amp;A6分은 팀에서 반복하는 작업 방법을 묻는다. S54의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S58으로 handoff한다.</a:t>
            </a:r>
          </a:p>
          <a:p xmlns:a="http://schemas.openxmlformats.org/drawingml/2006/main">
            <a:r>
              <a:t/>
            </a:r>
          </a:p>
          <a:p xmlns:a="http://schemas.openxmlformats.org/drawingml/2006/main">
            <a:r>
              <a:t>Fallback: LOCAL STATIC ARTIFACT — production/ACT_2.pptx의 S56 또는 production/preview/act2/S56.png를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19.xml" Id="R4678ccd46f3e465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B0AC4C3-B413-4A98-8B00-36AF3F3683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RepoQA(2024) · 연구 참고</a:t>
            </a:r>
          </a:p>
        </p:txBody>
      </p:sp>
      <p:sp>
        <p:nvSpPr>
          <p:cNvPr id="6" name="Audience footer 2">
            <a:extLst xmlns:a="http://schemas.openxmlformats.org/drawingml/2006/main">
              <a:ext uri="{FF2B5EF4-FFF2-40B4-BE49-F238E27FC236}">
                <a16:creationId xmlns:a16="http://schemas.microsoft.com/office/drawing/2014/main" id="{1840F86C-9C1B-42AC-8AB0-312FC323F0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Codex나 이 Routing의 업무 성능을 검증한 결과는 아님</a:t>
            </a:r>
          </a:p>
        </p:txBody>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F8BE4A02-CE16-4C23-917C-F45486880DE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A613F18-AF01-42FD-91A9-FE646C3CC0A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