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27928ef9054e5a" /><Relationship Type="http://schemas.openxmlformats.org/officeDocument/2006/relationships/extended-properties" Target="/docProps/app.xml" Id="R5ee6de2e7d064618" /><Relationship Type="http://schemas.openxmlformats.org/officeDocument/2006/relationships/officeDocument" Target="/ppt/presentation.xml" Id="R04f61e62ef4641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583a1ca4bc4136"/>
  </p:sldMasterIdLst>
  <p:notesMasterIdLst>
    <p:notesMasterId xmlns:r="http://schemas.openxmlformats.org/officeDocument/2006/relationships" r:id="R57399d0a2704471f"/>
  </p:notesMasterIdLst>
  <p:sldIdLst>
    <p:sldId xmlns:r="http://schemas.openxmlformats.org/officeDocument/2006/relationships" id="256" r:id="Rbd33941d71a644d3"/>
    <p:sldId xmlns:r="http://schemas.openxmlformats.org/officeDocument/2006/relationships" id="257" r:id="Re583e4d889bd40b8"/>
    <p:sldId xmlns:r="http://schemas.openxmlformats.org/officeDocument/2006/relationships" id="258" r:id="R4a51f6e3e1f54e49"/>
    <p:sldId xmlns:r="http://schemas.openxmlformats.org/officeDocument/2006/relationships" id="259" r:id="R091c5567c3a9421c"/>
    <p:sldId xmlns:r="http://schemas.openxmlformats.org/officeDocument/2006/relationships" id="260" r:id="R53ec26c3f0974755"/>
    <p:sldId xmlns:r="http://schemas.openxmlformats.org/officeDocument/2006/relationships" id="261" r:id="R9912b1e2be7a40f0"/>
    <p:sldId xmlns:r="http://schemas.openxmlformats.org/officeDocument/2006/relationships" id="262" r:id="R606dde547d7f4509"/>
    <p:sldId xmlns:r="http://schemas.openxmlformats.org/officeDocument/2006/relationships" id="263" r:id="Rb7031b3883a944ea"/>
    <p:sldId xmlns:r="http://schemas.openxmlformats.org/officeDocument/2006/relationships" id="264" r:id="Rdf0323b6aadb4b3a"/>
    <p:sldId xmlns:r="http://schemas.openxmlformats.org/officeDocument/2006/relationships" id="265" r:id="Rd2a68ef184184f97"/>
    <p:sldId xmlns:r="http://schemas.openxmlformats.org/officeDocument/2006/relationships" id="266" r:id="R4bc9260dd3e5429b"/>
    <p:sldId xmlns:r="http://schemas.openxmlformats.org/officeDocument/2006/relationships" id="267" r:id="R0b2d4374a2ef472b"/>
    <p:sldId xmlns:r="http://schemas.openxmlformats.org/officeDocument/2006/relationships" id="268" r:id="Rb8354d5a31184ec2"/>
    <p:sldId xmlns:r="http://schemas.openxmlformats.org/officeDocument/2006/relationships" id="269" r:id="Rd4495791af69446e"/>
    <p:sldId xmlns:r="http://schemas.openxmlformats.org/officeDocument/2006/relationships" id="270" r:id="Re09766b44c6b479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65e37831e9437a" /><Relationship Type="http://schemas.openxmlformats.org/officeDocument/2006/relationships/slideMaster" Target="/ppt/slideMasters/slideMaster1.xml" Id="R62583a1ca4bc4136" /><Relationship Type="http://schemas.openxmlformats.org/officeDocument/2006/relationships/notesMaster" Target="/ppt/notesMasters/notesMaster1.xml" Id="R57399d0a2704471f" /><Relationship Type="http://schemas.openxmlformats.org/officeDocument/2006/relationships/presProps" Target="/ppt/presProps.xml" Id="Re0ab762c751d4905" /><Relationship Type="http://schemas.openxmlformats.org/officeDocument/2006/relationships/tableStyles" Target="/ppt/tableStyles.xml" Id="R291f2504bd5e4907" /><Relationship Type="http://schemas.openxmlformats.org/officeDocument/2006/relationships/slide" Target="/ppt/slides/slide1.xml" Id="Rbd33941d71a644d3" /><Relationship Type="http://schemas.openxmlformats.org/officeDocument/2006/relationships/slide" Target="/ppt/slides/slide2.xml" Id="Re583e4d889bd40b8" /><Relationship Type="http://schemas.openxmlformats.org/officeDocument/2006/relationships/slide" Target="/ppt/slides/slide3.xml" Id="R4a51f6e3e1f54e49" /><Relationship Type="http://schemas.openxmlformats.org/officeDocument/2006/relationships/slide" Target="/ppt/slides/slide4.xml" Id="R091c5567c3a9421c" /><Relationship Type="http://schemas.openxmlformats.org/officeDocument/2006/relationships/slide" Target="/ppt/slides/slide5.xml" Id="R53ec26c3f0974755" /><Relationship Type="http://schemas.openxmlformats.org/officeDocument/2006/relationships/slide" Target="/ppt/slides/slide6.xml" Id="R9912b1e2be7a40f0" /><Relationship Type="http://schemas.openxmlformats.org/officeDocument/2006/relationships/slide" Target="/ppt/slides/slide7.xml" Id="R606dde547d7f4509" /><Relationship Type="http://schemas.openxmlformats.org/officeDocument/2006/relationships/slide" Target="/ppt/slides/slide8.xml" Id="Rb7031b3883a944ea" /><Relationship Type="http://schemas.openxmlformats.org/officeDocument/2006/relationships/slide" Target="/ppt/slides/slide9.xml" Id="Rdf0323b6aadb4b3a" /><Relationship Type="http://schemas.openxmlformats.org/officeDocument/2006/relationships/slide" Target="/ppt/slides/slide10.xml" Id="Rd2a68ef184184f97" /><Relationship Type="http://schemas.openxmlformats.org/officeDocument/2006/relationships/slide" Target="/ppt/slides/slide11.xml" Id="R4bc9260dd3e5429b" /><Relationship Type="http://schemas.openxmlformats.org/officeDocument/2006/relationships/slide" Target="/ppt/slides/slide12.xml" Id="R0b2d4374a2ef472b" /><Relationship Type="http://schemas.openxmlformats.org/officeDocument/2006/relationships/slide" Target="/ppt/slides/slide13.xml" Id="Rb8354d5a31184ec2" /><Relationship Type="http://schemas.openxmlformats.org/officeDocument/2006/relationships/slide" Target="/ppt/slides/slide14.xml" Id="Rd4495791af69446e" /><Relationship Type="http://schemas.openxmlformats.org/officeDocument/2006/relationships/slide" Target="/ppt/slides/slide15.xml" Id="Re09766b44c6b47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ec62ef566142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cdb3bc93d44e4e" /><Relationship Type="http://schemas.openxmlformats.org/officeDocument/2006/relationships/notesMaster" Target="/ppt/notesMasters/notesMaster1.xml" Id="R16d930e6dc1845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0979b759994b46" /><Relationship Type="http://schemas.openxmlformats.org/officeDocument/2006/relationships/notesMaster" Target="/ppt/notesMasters/notesMaster1.xml" Id="Re39c086e2c6f457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805dc61dec94115" /><Relationship Type="http://schemas.openxmlformats.org/officeDocument/2006/relationships/notesMaster" Target="/ppt/notesMasters/notesMaster1.xml" Id="R73bc68fb956a43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e37acc4a0949a5" /><Relationship Type="http://schemas.openxmlformats.org/officeDocument/2006/relationships/notesMaster" Target="/ppt/notesMasters/notesMaster1.xml" Id="R01ef7e1024c344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8ac793ec5e4e48" /><Relationship Type="http://schemas.openxmlformats.org/officeDocument/2006/relationships/notesMaster" Target="/ppt/notesMasters/notesMaster1.xml" Id="Rfbe8735fb01d4fe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787e810aa5493a" /><Relationship Type="http://schemas.openxmlformats.org/officeDocument/2006/relationships/notesMaster" Target="/ppt/notesMasters/notesMaster1.xml" Id="R4a67cb2b766241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ad526e8eef414c" /><Relationship Type="http://schemas.openxmlformats.org/officeDocument/2006/relationships/notesMaster" Target="/ppt/notesMasters/notesMaster1.xml" Id="R82cbaba65afe47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d358927026434a" /><Relationship Type="http://schemas.openxmlformats.org/officeDocument/2006/relationships/notesMaster" Target="/ppt/notesMasters/notesMaster1.xml" Id="Rc0a866ab648843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e18fa29b074712" /><Relationship Type="http://schemas.openxmlformats.org/officeDocument/2006/relationships/notesMaster" Target="/ppt/notesMasters/notesMaster1.xml" Id="Rb44992bb4b644c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0a393398174e75" /><Relationship Type="http://schemas.openxmlformats.org/officeDocument/2006/relationships/notesMaster" Target="/ppt/notesMasters/notesMaster1.xml" Id="Rafe653c3a9f54d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24247d09f7444b" /><Relationship Type="http://schemas.openxmlformats.org/officeDocument/2006/relationships/notesMaster" Target="/ppt/notesMasters/notesMaster1.xml" Id="Re9c99d8380d24e6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905fc8c75214b66" /><Relationship Type="http://schemas.openxmlformats.org/officeDocument/2006/relationships/notesMaster" Target="/ppt/notesMasters/notesMaster1.xml" Id="R26ac092b9f18478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3ec047b9a104577" /><Relationship Type="http://schemas.openxmlformats.org/officeDocument/2006/relationships/notesMaster" Target="/ppt/notesMasters/notesMaster1.xml" Id="Rd78bb0d01852446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e280ee24901463e" /><Relationship Type="http://schemas.openxmlformats.org/officeDocument/2006/relationships/notesMaster" Target="/ppt/notesMasters/notesMaster1.xml" Id="Rb279c75729f941b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50633d3e5b14f6b" /><Relationship Type="http://schemas.openxmlformats.org/officeDocument/2006/relationships/notesMaster" Target="/ppt/notesMasters/notesMaster1.xml" Id="R214f1b558f2646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S22 —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Bug fix, performance, and README Tasks can repeat the same Project facts because task-specific instructions and durable Project context have different scopes.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“Task는 다른데 왜 같은 설명을 계속 복사하고 있지?”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버그 수정, 성능 조사, README 수정의 서로 다른 목표를 왼쪽부터 가리킨다.</a:t>
            </a:r>
          </a:p>
          <a:p xmlns:a="http://schemas.openxmlformats.org/drawingml/2006/main">
            <a:r>
              <a:t>2. (2:00–4:00) 아래에 반복된 네 줄을 비교한다. 테스트 실행, 근거가 있을 때 의존성 추가, 로컬 합성 데이터, 기존 동작 보존이다. 세 요청은 교육용 구성 예시이며 Trial 원문이 아니다.</a:t>
            </a:r>
          </a:p>
          <a:p xmlns:a="http://schemas.openxmlformats.org/drawingml/2006/main">
            <a:r>
              <a:t>3. (4:00–5:00) 같은 설명이 왜 다시 들어가는지 잠시 생각하게 한다. 아직 저장 위치나 기능을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BEAT-008, CLM-0003, CLM-0005. TEACHING_MODEL / CONCEPTUAL; the three cards are a constructed example, not a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Repetition can indicate a scope and lifetime question. This slide does not claim a product failure or introduce a repository instruction file as the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If every Task needs the same Project facts, consider whether those facts belong with the Task or with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durable constraints before choosing where to maintain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final minute as a quiet case prompt. No hands-on activity or public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“공통 정보를 Prompt 밖에 둘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Spend four minutes on the repeated facts and one minute on the question. Do not preview the solution.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S22 또는 `production/preview/act2/S22.png`다.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S23 —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STATE-01의 실제 AGENTS.md에는 반복되는 프로젝트 목적, 실행 방법, 테스트 명령, 기본 제약이 기록되어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“반복되는 Project 정보를 한 번 기록하면 어떤 점이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STATE-00-FIXED에서 STATE-01로 바뀐 것은 root AGENTS.md 한 파일 추가임을 설명한다.</a:t>
            </a:r>
          </a:p>
          <a:p xmlns:a="http://schemas.openxmlformats.org/drawingml/2006/main">
            <a:r>
              <a:t>2. (1:00–3:00) 네 발췌를 순서대로 가리킨다. 목적: 로컬 grayscale CLI. 실행: README의 준비된 명령. 테스트: 원문 명령. 제약: 범위를 지키고 관련 동작을 검증. 영어 문장을 모두 낭독하지 않는다.</a:t>
            </a:r>
          </a:p>
          <a:p xmlns:a="http://schemas.openxmlformats.org/drawingml/2006/main">
            <a:r>
              <a:t>3. (3:00–4:00) Task마다 반복 설명하던 사실을 저장소에 둔 설계 의도를 정리하고, 실제 활용 관찰은 S24로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/ DEMO-02 / OBSERVED_PRODUCT. Demo tag `14baf81746a981d7cd96b7a014ea06f28c3dd6b4`, root `AGENTS.md` 2, 5, 9, 15행 발췌. 15줄/567bytes는 원문 메타데이터이며 화면의 중심 메시지로 쓰지 않는다. 테스트 명령은 `Run`과 구두점을 제외한 원문 명령 문자열이다. Source: `plan/DEMO_MATRIX.md` STATE-01 기록.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파일이 그 상태에 존재했다는 근거다. 성능, 정확도, 토큰 절감 또는 AGENTS.md 단독 인과효과를 주장하지 않는다. 제품 코드·테스트·README는 그 상태 전환에서 바뀌지 않았다. S24의 지침 활용 관찰을 이 장의 결과로 앞당기지 않는다. 현재 Desktop 자동 로딩이나 교육 환경을 검증한 것이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small set of facts that applies across Project Tasks can be written down once in the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design choice is about context scope and maintenance ownership, not a measured quality or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`production/ACT_2.pptx`의 S23 및 `production/preview/act2/S23.png`에 있는 실제 AGENTS.md 원문 발췌를 가리킨다. 편집기 screenshot이 아니다. Live/HYBRID는 발표 환경 검증 전까지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Point out the recurring facts without asking the audience to inspect a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안내가 실제 Task에서 어떻게 사용됐는지 기록을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4분 유지. 1분 상태 전환, 2분 네 발췌, 1분 의미와 S24 handoff. 명령어 옵션별 설명은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S23 또는 `production/preview/act2/S23.png`다.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S24 —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the recorded TRIAL-003 run, the agent inspected `AGENTS.md` and used the documented test command that was absent from the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“Prompt에 없던 test command는 어디서 왔을까?”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요청에는 README-only 범위가 있었지만 전체 테스트 명령은 없었다고 짚는다.</a:t>
            </a:r>
          </a:p>
          <a:p xmlns:a="http://schemas.openxmlformats.org/drawingml/2006/main">
            <a:r>
              <a:t>2. (1:00–3:00) 가운데 AGENTS.md 접근과 기록된 테스트 명령 사용을 오른쪽 11/11 PASS 기록에 연결한다. 화면은 Trial 기록을 요약한 설명 구조다.</a:t>
            </a:r>
          </a:p>
          <a:p xmlns:a="http://schemas.openxmlformats.org/drawingml/2006/main">
            <a:r>
              <a:t>3. (3:00–4:00) Personal/global Skills도 실행됐으므로 AGENTS.md 단독 효과를 분리할 수 없다고 밝힌다. README-only 범위는 요청에도 있었다고 마무리한다.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TRIAL-003, STATE-01, DEMO-02. OBSERVED_PRODUCT; one recorded CLI run. Personal/global Skills also ran.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run does not isolate an independent causal effect of `AGENTS.md`, establish general superiority, or show that repository guidance alone determined file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record shows one example where a Project test command was available outside the current Prompt and was used.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the observed action, other active instructions, and Task scope separate when interpreting causality.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Present the captured/reconstructed Trial record. Do not represent it as a current Desktop run or a live screenshot. HYBRID activation is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opening question, pause briefly, then reveal the record. Do not require an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Task의 Prompt와 Project가 계속 유지할 Context는 어떻게 다른가?”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three minutes for the recorded sequence and one minute for the causal boundary. Do not elaborate on unrelated Trial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S24 또는 `production/preview/act2/S24.png`다.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S25 —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A Task Prompt describes what is wanted now; Project Context describes facts and constraints that generally remain true for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정보는 언제까지 유효한가?”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‘이번 작업이 끝나면?’이라는 질문으로 정보의 수명을 비교한다.</a:t>
            </a:r>
          </a:p>
          <a:p xmlns:a="http://schemas.openxmlformats.org/drawingml/2006/main">
            <a:r>
              <a:t>2. (1:00–4:00) 왼쪽 crop 수정과 README-only 범위, 오른쪽 테스트 명령과 근거 기반 의존성 정책을 연결한다. Prompt는 현재 목표를 표현하는 데 계속 필요하다.</a:t>
            </a:r>
          </a:p>
          <a:p xmlns:a="http://schemas.openxmlformats.org/drawingml/2006/main">
            <a:r>
              <a:t>3. (4:00–5:00) 어떤 사실이 다음 Task에도 유효한지 질문한다. C++에서도 공통 제약과 이번 알고리즘 변경 조건의 범위가 다를 수 있다는 짧은 예만 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BEAT-009–010, TRANS-003, CLM-0003, CLM-0005. TEACHING_MODEL / CONCEPTUAL; examples summarize S22–S24.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teaching model for scope and lifetime, not a formal OpenAI taxonomy or proof that one layer is always better.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Put the current goal in the Task request and distinguish it from facts the Project keeps using.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Scope and lifetime are useful dimensions for deciding ownership and update responsibility.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Briefly distinguish a general Project constraint from a Task-specific algorithm condition; do not list tools or hardware.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Give the audience a brief silent pause to classify the examples mentally. Do not turn it into a hands-on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“정확한 정보를 더 많이 넣으면 언제나 괜찮을까?”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model to two layers and four examples. Leave research and detailed routing for later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S25 또는 `production/preview/act2/S25.png`다.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S26 —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STATE-02 grew from 15 lines / 567 bytes to 32 lines / 1,303 bytes as the Project recorded more details; growth alone is not evidence of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“정확한 Project 정보라면 모든 Task에 늘 넣어도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STATE-01의 목적·실행·테스트·기본 제약에서 출발한다. 15줄/567 bytes와 32줄/1,303 bytes는 상태를 식별하는 크기 정보다.</a:t>
            </a:r>
          </a:p>
          <a:p xmlns:a="http://schemas.openxmlformats.org/drawingml/2006/main">
            <a:r>
              <a:t>2. (1:00–3:00) STATE-02에 더해진 처리 순서, 이미지 계약, 테스트 구조, CLI 출력의 실제 항목을 가리킨다. 처리 순서의 말줄임표는 선택적 invert/crop/resize 등의 중간 단계를 생략했다는 뜻이다.</a:t>
            </a:r>
          </a:p>
          <a:p xmlns:a="http://schemas.openxmlformats.org/drawingml/2006/main">
            <a:r>
              <a:t>3. (3:00–4:00) 크기 자체의 성능 의미를 부여하지 않고 ‘이번 Task에도 필요할까?’로 다음 장을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and STATE-02, BEAT-011, CLM-0014, CLM-0015. OBSERVED_PRODUCT; counts describe these recorded states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label the growth as a failure threshold, claim that it caused an error, or imply that the content was inaccurate.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More documented facts create a follow-up question: does each Task need all of them?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Maintenance cost and stale information are review considerations, not observed failures in this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two recorded state summaries; no live repository interaction is planned.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Treat the slide as a case question. Allow a short pause without requiring a public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“작은 README Task에서 어떤 정보가 실제로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크기 식별은 짧게 끝내고 추가된 실제 정보 네 항목에 시간을 쓴다. 마지막 1분에는 관련성 질문으로 이동하며 문서 크기의 인과 효과를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S26 또는 `production/preview/act2/S26.png`다.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S27 —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(CAPTURED) + Reflection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TRIAL-004 included Image context that was unnecessary for the README build-guidance Task, but no agent confusion or context-related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“README build 안내를 고치는 데 어떤 정보가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README의 build tools 안내를 고친 기록된 Task를 제시한다.</a:t>
            </a:r>
          </a:p>
          <a:p xmlns:a="http://schemas.openxmlformats.org/drawingml/2006/main">
            <a:r>
              <a:t>2. (1:00–2:00 / Demo) 왼쪽 README/build 설정과 오른쪽 crop·resize 계약/pipeline 상세를 비교한다. Agent 혼란과 Context 관련 실패는 관찰되지 않았음을 먼저 밝힌다.</a:t>
            </a:r>
          </a:p>
          <a:p xmlns:a="http://schemas.openxmlformats.org/drawingml/2006/main">
            <a:r>
              <a:t>3. (2:00–4:00 / Reflection) 정확한 정보와 이번 질문에 관련된 정보를 구분해 보게 한다. 공개 응답이나 작업은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TRIAL-004, BEAT-012, CLM-0014, CLM-0015. OBSERVED_PRODUCT; CAPTURED record of one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Presence of unnecessary context is not evidence that the model failed, became confused, or performed worse. No such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Correct information can still be unrelated to the current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Distinguish context relevance from outcome quality; this Trial does not measure a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Show the captured/reconstructed Trial record for two minutes. Do not run a new Trial or simulate a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last two minutes for private reflection: which context was relevant to this Task? No response or written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정보를 항상 한 번에 넣지 않는 방법은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two-minute Reflection. Explicitly state the absence of observed confusion before moving 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S27 또는 `production/preview/act2/S27.png`다.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S28 —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The course model separates always-on Project facts, task-relevant detail, and reusable workflow by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“무엇은 항상 필요하고, 무엇은 Task에 따라 찾아야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세 행이 이 과정에서 쓰는 정보 설계 모델임을 밝힌다.</a:t>
            </a:r>
          </a:p>
          <a:p xmlns:a="http://schemas.openxmlformats.org/drawingml/2006/main">
            <a:r>
              <a:t>2. (1:00–3:00) 기본 안내, 질문에 따른 상세, 특정 작업의 수행 방법을 순서대로 가리킨다. 각 행의 구체 예시를 하나씩 설명한다.</a:t>
            </a:r>
          </a:p>
          <a:p xmlns:a="http://schemas.openxmlformats.org/drawingml/2006/main">
            <a:r>
              <a:t>3. (3:00–4:00) 성능 조사 절차 예가 STATE-02에 저장돼 있었다는 뜻은 아니라고 한정한다. Context 양만으로 충분한지 연구 질문으로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BEAT-012, BEAT-014, STATE-02, CLM-0014, CLM-0015,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Always-on / On-demand / Workflow is a course model, not an official OpenAI classification. Do not claim token savings or improved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Some facts apply broadly; details matter for a smaller set of Tasks; a work procedure says how to approach a class of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durable facts, selectively needed details, and workflow responsibility conceptually distinct even when they can all appear outside a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audience to notice that information has different scopes; no category-writing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“Context window가 크면 모든 정보가 똑같이 활용될까?”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minutes, one minute per bucket plus the boundary. Do not present this as a product feature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S28 또는 `production/preview/act2/S28.png`다.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S29 —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Research in specific models and tasks supports a bounded caution: more context is not automatically better, and relevance or information position can matter under some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“Context window가 크면 모든 정보가 똑같이 활용될까?”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‘더 많은 Context가 항상 더 좋은 것은 아니다’의 적용 범위를 특정 모델·과제에 한정한다.</a:t>
            </a:r>
          </a:p>
          <a:p xmlns:a="http://schemas.openxmlformats.org/drawingml/2006/main">
            <a:r>
              <a:t>2. (1:00–3:00) 왼쪽 Lost in the Middle의 여러 문서 질문 답변/key-value 검색, 오른쪽 RepoQA의 50개 Repository 코드 검색을 비교한다. 논문이 답한 질문과 승인된 핵심 결론만 말한다. 수치 그래프나 현재 Codex 성능 추정은 추가하지 않는다.</a:t>
            </a:r>
          </a:p>
          <a:p xmlns:a="http://schemas.openxmlformats.org/drawingml/2006/main">
            <a:r>
              <a:t>3. (3:00–4:00) 화면 하단의 두 출처와 Notes의 원문 링크를 안내한다. 이 Demo의 현재 Codex Repository coding을 직접 시험한 연구가 아님을 명시한다.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RESEARCH. Liu et al., “Lost in the Middle: How Language Models Use Long Contexts,” TACL 2024, 12:157–173, https://aclanthology.org/2024.tacl-1.9/; RepoQA (2024), arXiv:2406.06025, https://arxiv.org/abs/2406.06025. RepoQA venue remains TODO in the source plan and is not invented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claim current Codex fails because of Lost in the Middle, create a context-length threshold, generalize results across all models/tasks, or invent numeric/curve data. Keep study conditions beside the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larger context window does not guarantee that every included detail is equally useful in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cited work covers specific historical models and benchmark settings, including multi-document QA and synthetic retrieval; it does not establish a present-day Codex limitation.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 This is a research summary, not a deterministic product demonstration.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opening question to invite a short mental prediction, then answer within the cited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정보를 Task에 맞춰 어떻게 찾게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paper descriptions concise and reserve the final minute for the transfer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S29 또는 `production/preview/act2/S29.png`다.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S30 —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Context design asks what information a Task needs and when it should be available, rather than placing every detail in one 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“모든 정보를 한 곳에 넣지 않고 필요한 정보에 도달할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Move from the question of context amount to the question of relevance and timing.</a:t>
            </a:r>
          </a:p>
          <a:p xmlns:a="http://schemas.openxmlformats.org/drawingml/2006/main">
            <a:r>
              <a:t>2. (1:00–2:00) Show `Task → Core Context → Relevant Detail when needed` as a course diagram.</a:t>
            </a:r>
          </a:p>
          <a:p xmlns:a="http://schemas.openxmlformats.org/drawingml/2006/main">
            <a:r>
              <a:t>3. (2:00–3:00) Give one short C++ example and reserve STATE-03 for the next sequence.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STATE-03 as the upcoming example, CLM-0003, CLM-0005, CLM-0014, CLM-0015.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routing question, not evidence of performance improvement, token savings, or a product's automatic retrieval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short starting point can direct a reader toward more detail when a Task needs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Discovery and maintenance remain design concerns; this slide does not claim perfect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Distinguish a general Project constraint from a Task-specific CMake or algorithm contract. Do not list tools, hardware, or environment commands.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STATE-03 results are reserved for the following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Let the routing question sit for a moment; do not reveal the Trial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“무엇을 항상 읽고, 무엇을 필요할 때 찾게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this to one diagram and one brief C++ example. No product-specific implementation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S30 또는 `production/preview/act2/S30.png`다.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S31 —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Root/Core Context can be a starting point that points toward detail, rather than an encyclopedia of all Project knowledge.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“무엇을 항상 읽고, 무엇을 필요할 때 찾게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기본 안내의 목적, 상시 제약, 상세 정보 위치를 읽는 순서대로 가리킨다.</a:t>
            </a:r>
          </a:p>
          <a:p xmlns:a="http://schemas.openxmlformats.org/drawingml/2006/main">
            <a:r>
              <a:t>2. (1:00–2:30) 오른쪽 architecture, image contracts, testing으로 이어지는 관계를 설명한다. 화살표는 교육용 정보 설계 관계다.</a:t>
            </a:r>
          </a:p>
          <a:p xmlns:a="http://schemas.openxmlformats.org/drawingml/2006/main">
            <a:r>
              <a:t>3. (2:30–4:00) C++에서는 build/test 진입점과 기본 제약에서 해당 알고리즘 계약·하드웨어 조건으로 안내할 수 있음을 짧게 연결한다. Routing 성능 효과는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CLM-0003, CLM-0005, CLM-0014, CLM-0015. TEACHING_MODEL / CONCEPTUAL; describe STATE-03 structure in S32.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model does not demonstrate better retrieval or lower cost. No automatic product behavior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Keep a small starting page and put specialized details in topic pages that it points 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core facts for cross-task stability and details for a narrower task scope; routing quality remains an empirical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Core: build/test entry and Project constraints. Detail: algorithm contract and hardware assumptions. Keep it to this scope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observed repository structure follows on S32.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belongs in the core; do not solicit a complete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“Demo Repository에서는 이 Mental Model이 어떻게 반영됐을까?”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minutes; keep the C++ bridge to one integrated minute and avoid listing CMake/hardware items.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S31 또는 `production/preview/act2/S31.png`다.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S32 —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 + Demo 2 minutes (CAPTURED)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STATE-03 reorganized the recorded detail from one growing `AGENTS.md` into a smaller core with links to topic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“정보를 나누면 무엇이 바뀌고, 무엇을 그대로 보존해야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STATE-02와 STATE-03은 실제 Repository 상태이며, 정보의 위치가 달라졌다고 밝힌다.</a:t>
            </a:r>
          </a:p>
          <a:p xmlns:a="http://schemas.openxmlformats.org/drawingml/2006/main">
            <a:r>
              <a:t>2. (1:00–3:00 / Demo) 커진 AGENTS.md와 분리된 docs를 비교한다. 오른쪽 실제 Routing 문구에서 어떤 질문을 어떤 문서로 안내하는지 발췌 한 줄씩 가리킨다.</a:t>
            </a:r>
          </a:p>
          <a:p xmlns:a="http://schemas.openxmlformats.org/drawingml/2006/main">
            <a:r>
              <a:t>3. (3:00–4:00 / Case) 정보를 없애기보다 Scope에 따라 놓을 위치를 나눈 설계 의도를 설명한다.</a:t>
            </a:r>
          </a:p>
          <a:p xmlns:a="http://schemas.openxmlformats.org/drawingml/2006/main">
            <a:r>
              <a:t>4. (4:00–5:00 / Lecture) C++도 기본 안내와 알고리즘/모듈 상세를 나누는 패턴으로 연결한다. 실제 접근 결과는 다음 두 Task에서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STATE-02, STATE-03, DEMO-06, BEAT-014–015, CLM-0003, CLM-0005, CLM-0014, CLM-0015. OBSERVED_PRODUCT for file structure; TEACHING_MODEL for the routing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State structure is observed. Progressive Disclosure is a course pattern here; perfect routing, performance improvement, or token savings are not proven.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information was reorganized by topic; the slide does not show it being deleted.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the evidence of file placement from the inference about how such a structure may help readers navigate.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 constraints stay at the entry point; algorithm, module, and hardware details belong with their relevant topic.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STATE-02 → STATE-03 record; no live file browsing. Do not portray the diagram as a product screenshot.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must remain unchanged when information is moved; accept silent reflection.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“두 Task가 같은 상세 문서를 읽는지 관찰해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the two Demo minutes for the before/after state, one for the Case, and keep the C++ bridge integrated into the lecture flow as approved.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S32 또는 `production/preview/act2/S32.png`다.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S33 —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Compare two read-only Task questions by observing what evidence each run actually accesses.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Task에서 Agent가 같은 상세 문서를 읽을까?”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(0:00–0:30) Set the watch-for question without proposing an answer.</a:t>
            </a:r>
          </a:p>
          <a:p xmlns:a="http://schemas.openxmlformats.org/drawingml/2006/main">
            <a:r>
              <a:t>2. (0:30–1:30) Show Task A: “crop 1 3에서 어떤 source column을 포함하는가?” and Task B: “runtime dependency가 있는가?”</a:t>
            </a:r>
          </a:p>
          <a:p xmlns:a="http://schemas.openxmlformats.org/drawingml/2006/main">
            <a:r>
              <a:t>3. (1:30–2:00) Invite the audience to notice whether the same detail appears in both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BEAT-015–016, CLM-0003, CLM-0005, CLM-0014, CLM-0015. OBSERVED_PRODUCT setup; results are withheld until the next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predict file access or reveal the observed result in advance. This setup does not imply perfect routing.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Different questions may require different Project details; the next slides show what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Evaluate actual accesses rather than infer behavior from the directory structure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this is the watch setup; no new Trial is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viewers to keep the comparison question in mind. No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“Crop Task의 기록에서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Two minutes only. Do not give the answer or turn the prompt into an exercise.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S33 또는 `production/preview/act2/S33.png`다.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S34 —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TRIAL-005A’s final run, the recorded Crop answer was supported by access to the image contract; some broader context was also read.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“Crop 계약을 묻는 Task에서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image-contracts.md에 있는 반열린 구간 [x_start, x_end)을 가리킨다.</a:t>
            </a:r>
          </a:p>
          <a:p xmlns:a="http://schemas.openxmlformats.org/drawingml/2006/main">
            <a:r>
              <a:t>2. (1:00–3:00) 아래 숫자는 픽셀 값이 아니라 source column index임을 밝힌다. crop 1 3에서 강조한 열 1과 2, 결과 너비 2, 제외된 끝 좌표 3을 순서대로 짚는다.</a:t>
            </a:r>
          </a:p>
          <a:p xmlns:a="http://schemas.openxmlformats.org/drawingml/2006/main">
            <a:r>
              <a:t>3. (3:00–4:00) 하단에서 AGENTS.md, architecture.md도 읽었으며 testing.md는 최종 실행에서 읽었음을 확인한다. 완벽한 최소 문서 선택으로 해석하지 않는다.</a:t>
            </a:r>
          </a:p>
          <a:p xmlns:a="http://schemas.openxmlformats.org/drawingml/2006/main">
            <a:r>
              <a:t>4. (4:00–5:00) 계약이 필요한 Task에서 관련 문서 접근과 답이 관찰됐다는 범위로 마무리하고 Task B로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TRIAL-005A, BEAT-016, CLM-0014, CLM-0015. OBSERVED_PRODUCT; recorded CLI final run and its access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record supports that image-contract detail was accessed and the answer was observed in this run. It does not show perfect routing, that only relevant documents were read, or a measured efficiency 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Crop question had a matching contract document, and the recorded final run read it before giving the boundary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Include run variability and broader reads in the interpretation; `testing.md` access was not consistent across iterations.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record. Show the image contract and concise answer, not a full file-access log or fabricated terminal capture.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which evidence supports the boundary answer; let the audience inspect the concise summary.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“Dependency Task와 비교하면 어떤 차이가 보일까?”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Give the answer two minutes, the supporting document and limitation two minutes, then one minute for transition.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S34 또는 `production/preview/act2/S34.png`다.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S35 —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1 minute (CAPTURED) + Case 3 minutes + Reflection 2 minutes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TRIAL-005A/B showed a task-specific difference in detailed document access, but did not prove perfect routing, token savings, or performance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“Task별 차이를 관찰한 것만으로 완벽한 Routing을 말할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강조한 첫 행에서 A는 image-contracts.md를 읽고 B는 읽지 않았음을 가리킨다.</a:t>
            </a:r>
          </a:p>
          <a:p xmlns:a="http://schemas.openxmlformats.org/drawingml/2006/main">
            <a:r>
              <a:t>2. (1:00–3:00 / Demo) architecture는 둘 다 읽었고 testing은 A의 최종 실행에서만 읽었다고 확인한다. B는 설정·README·source도 확인했다. A의 더 넓은 읽기와 실행 간 변동도 남아 있다.</a:t>
            </a:r>
          </a:p>
          <a:p xmlns:a="http://schemas.openxmlformats.org/drawingml/2006/main">
            <a:r>
              <a:t>3. (3:00–4:00 / Lecture) 완벽한 Routing 미입증, 토큰 절약·성능 개선 미측정을 분명히 말한다.</a:t>
            </a:r>
          </a:p>
          <a:p xmlns:a="http://schemas.openxmlformats.org/drawingml/2006/main">
            <a:r>
              <a:t>4. (4:00–6:00 / Reflection) 이 비교로 말할 수 있는 사실과 없는 효과를 조용히 구분해 보게 한다.</a:t>
            </a:r>
          </a:p>
          <a:p xmlns:a="http://schemas.openxmlformats.org/drawingml/2006/main">
            <a:r>
              <a:t>5. (6:00–7:00 / Q&amp;A) 질문 하나를 받거나 준비된 질문을 던진다. 파일 접근 차이라는 관찰로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BEAT-016–017, CLM-0014, CLM-0015, CLM-0003, CLM-0005. OBSERVED_PRODUCT; captured records, with observed run variability.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Task-specific access difference is observed. Broad reads also occurred. Do not claim complete routing, a general advantage, token savings, or performance gains.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relevant document was read for one Task and not another, but the agent still read some shared and broader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A/B access differences are evidence about these runs only; they do not establish a stable policy or causal efficiency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실제 기록을 요약한 문서 접근 비교표를 사용한다. image-contracts, architecture, testing 순서로 가리키며 testing의 최종 실행 범위와 변동을 유지한다. 토큰·성능 효과나 실제 터미널 화면으로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Keep three minutes for the Case, two for private Reflection, and one for Q&amp;A. If no one responds, ask: “이 기록으로 말할 수 있는 범위는 어디까지일까요?”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“정보를 정리했는데도 남아 있는 반복은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Mode boundaries. If discussion runs long, cut secondary file names before shortening the explicit claim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S35 또는 `production/preview/act2/S35.png`다.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S36 —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Transition 4 minutes + Q&amp;A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Prompt, Project Context, and routing address different information responsibilities; a repeated work procedure can remain as a separate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“Project 정보를 잘 정리했으면 문제가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Transition) 왼쪽의 현재 목표, 공통 사실, 상세 정보 위치를 순서대로 회수한다.</a:t>
            </a:r>
          </a:p>
          <a:p xmlns:a="http://schemas.openxmlformats.org/drawingml/2006/main">
            <a:r>
              <a:t>2. (2:00–4:00 / Transition) 오른쪽 ‘먼저 측정하고, 조사한 뒤 변경하고, 같은 조건으로 확인’이라는 반복 절차를 보여준다. Context 선택을 완전히 해결했다는 뜻은 아니라고 밝힌다.</a:t>
            </a:r>
          </a:p>
          <a:p xmlns:a="http://schemas.openxmlformats.org/drawingml/2006/main">
            <a:r>
              <a:t>3. (4:00–10:00 / Q&amp;A) ‘이 반복도 Context만의 문제일까?’로 질문을 받는다. 질문이 없으면 사실과 절차의 책임 차이를 짚고 ‘Agent가 Project를 알아도 왜 작업 방법은 달라질까?’를 던진다. 마지막 짧은 handoff도 이 6분 안에 포함한다.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BEAT-017–018, TRANS-005, TRIAL-006/007 as context for the upcoming problem. OBSERVED_PRODUCT for repeated prompt structure with PARTIAL attribution; TEACHING_MODEL for the three responsibilities and the transition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attribute the repeated procedure solely to the Trial Prompt; global Harness influence remains. Do not present Skill or another solution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Knowing Project facts and repeating a reliable way of working are different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can reduce repeated fact explanation while process ownership remains unresolved; keep observed repetition separate from its cause.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use the concise recorded prompt-structure summary; no live run or new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0–4분 Transition 뒤 4–10분 Q&amp;A를 운영한다. 공개 응답은 선택이며 질문이 없으면 사실과 절차의 차이를 묻는 준비 질문을 사용한다. 별도 실습은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“Agent가 Project를 알아도 왜 작업 방법은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Transition 4분 → Q&amp;A 6분, 총 10분을 유지한다. 마지막 handoff 문구도 Q&amp;A 종료 전에 포함하며 추가 Transition 시간을 만들지 않는다. 답변이 길어지면 다음 질문을 받지 않고 ACT 3로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S36 또는 `production/preview/act2/S36.png`다. 수정 초안 정적 화면은 존재하며 최종 release 경로·내용 일치는 통합 검토에서 확인한다. 실제 Trial 캡처나 현재 제품 실행으로 표현하지 않는다. 질문이 없으면 Audience Interaction의 준비 질문으로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406ec9ed92432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8b54e4a19d4d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a9a2303a964a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9ff396af45476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7c81b58af5483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b6c2867b4f48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CDF78CB-0269-4FA9-90DA-C7A61833EF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D0F9CC4-7601-40FA-B664-4D41C0EC84C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8A95FDF-6E61-46DB-B7B1-7094C93EE6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22611CB-6872-4ED9-97F5-4E83DF929D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9D43D82-4944-4497-8298-413094294A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02109A5-63D2-4D9F-8683-3B42DB46F1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91BCEC5-0280-480F-85A9-A9969F62D8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F171FD1-9E82-4BA5-A36A-845D9C5AC00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B7503B-3E50-4CF6-A65E-CEE2A625FD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21C5824-DD30-4233-8FD0-CBA32053A5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5b2290fed144c6" /><Relationship Type="http://schemas.openxmlformats.org/officeDocument/2006/relationships/slideLayout" Target="/ppt/slideLayouts/slideLayout1.xml" Id="Re9dc51e5f30448f2" /><Relationship Type="http://schemas.openxmlformats.org/officeDocument/2006/relationships/slideLayout" Target="/ppt/slideLayouts/slideLayout2.xml" Id="R0ce64b6c699547c6" /><Relationship Type="http://schemas.openxmlformats.org/officeDocument/2006/relationships/slideLayout" Target="/ppt/slideLayouts/slideLayout3.xml" Id="Rc228384047d84531" /><Relationship Type="http://schemas.openxmlformats.org/officeDocument/2006/relationships/slideLayout" Target="/ppt/slideLayouts/slideLayout4.xml" Id="R1a65836dce6147cd" /><Relationship Type="http://schemas.openxmlformats.org/officeDocument/2006/relationships/slideLayout" Target="/ppt/slideLayouts/slideLayout5.xml" Id="R2ceed957e7f743e8" /><Relationship Type="http://schemas.openxmlformats.org/officeDocument/2006/relationships/slideLayout" Target="/ppt/slideLayouts/slideLayout6.xml" Id="R60f21a9d238349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dc51e5f30448f2"/>
    <p:sldLayoutId xmlns:r="http://schemas.openxmlformats.org/officeDocument/2006/relationships" id="2147483650" r:id="R0ce64b6c699547c6"/>
    <p:sldLayoutId xmlns:r="http://schemas.openxmlformats.org/officeDocument/2006/relationships" id="2147483651" r:id="Rc228384047d84531"/>
    <p:sldLayoutId xmlns:r="http://schemas.openxmlformats.org/officeDocument/2006/relationships" id="2147483652" r:id="R1a65836dce6147cd"/>
    <p:sldLayoutId xmlns:r="http://schemas.openxmlformats.org/officeDocument/2006/relationships" id="2147483653" r:id="R2ceed957e7f743e8"/>
    <p:sldLayoutId xmlns:r="http://schemas.openxmlformats.org/officeDocument/2006/relationships" id="2147483654" r:id="R60f21a9d238349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66569aeeaa4760" /><Relationship Type="http://schemas.openxmlformats.org/officeDocument/2006/relationships/notesSlide" Target="/ppt/notesSlides/notesSlide1.xml" Id="Ra49b719baf6342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0d983a43a142a4" /><Relationship Type="http://schemas.openxmlformats.org/officeDocument/2006/relationships/notesSlide" Target="/ppt/notesSlides/notesSlide2.xml" Id="Rd9c5f4b7b1664f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2c44268fef4085" /><Relationship Type="http://schemas.openxmlformats.org/officeDocument/2006/relationships/notesSlide" Target="/ppt/notesSlides/notesSlide3.xml" Id="Rfb333703fc324b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7babf617b54901" /><Relationship Type="http://schemas.openxmlformats.org/officeDocument/2006/relationships/notesSlide" Target="/ppt/notesSlides/notesSlide4.xml" Id="Rd34129b7cfee4d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6079660e7d4dc7" /><Relationship Type="http://schemas.openxmlformats.org/officeDocument/2006/relationships/notesSlide" Target="/ppt/notesSlides/notesSlide5.xml" Id="Rc1aa41ca9e9443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139dbc02c74a51" /><Relationship Type="http://schemas.openxmlformats.org/officeDocument/2006/relationships/notesSlide" Target="/ppt/notesSlides/notesSlide6.xml" Id="R7c4cf310c8d149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0ee9694214438c" /><Relationship Type="http://schemas.openxmlformats.org/officeDocument/2006/relationships/notesSlide" Target="/ppt/notesSlides/notesSlide7.xml" Id="R1f5714b51f7e41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193a5e48a9492c" /><Relationship Type="http://schemas.openxmlformats.org/officeDocument/2006/relationships/notesSlide" Target="/ppt/notesSlides/notesSlide8.xml" Id="R18f35a6b9c824b2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94fbab473b4cd9" /><Relationship Type="http://schemas.openxmlformats.org/officeDocument/2006/relationships/notesSlide" Target="/ppt/notesSlides/notesSlide9.xml" Id="R533ca32f7b6a4e1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78d51a0d64476b" /><Relationship Type="http://schemas.openxmlformats.org/officeDocument/2006/relationships/notesSlide" Target="/ppt/notesSlides/notesSlide10.xml" Id="R3dfc8c9e297041a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02140faa89437f" /><Relationship Type="http://schemas.openxmlformats.org/officeDocument/2006/relationships/notesSlide" Target="/ppt/notesSlides/notesSlide11.xml" Id="Rda089201c3674d1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d0fca715964083" /><Relationship Type="http://schemas.openxmlformats.org/officeDocument/2006/relationships/notesSlide" Target="/ppt/notesSlides/notesSlide12.xml" Id="R8e6d92bbc6614c3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ff0fe8e06b4dbc" /><Relationship Type="http://schemas.openxmlformats.org/officeDocument/2006/relationships/notesSlide" Target="/ppt/notesSlides/notesSlide13.xml" Id="R9f848ca8c53e497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714dce6a4647e4" /><Relationship Type="http://schemas.openxmlformats.org/officeDocument/2006/relationships/notesSlide" Target="/ppt/notesSlides/notesSlide14.xml" Id="Rc59e177689554db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7210c05f0d49b5" /><Relationship Type="http://schemas.openxmlformats.org/officeDocument/2006/relationships/notesSlide" Target="/ppt/notesSlides/notesSlide15.xml" Id="R360a464b2f51434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2 · 반복되는 프로젝트 설명">
            <a:extLst xmlns:a="http://schemas.openxmlformats.org/drawingml/2006/main">
              <a:ext uri="{FF2B5EF4-FFF2-40B4-BE49-F238E27FC236}">
                <a16:creationId xmlns:a16="http://schemas.microsoft.com/office/drawing/2014/main" id="{F968329D-62D8-4941-97A4-F68B3FEF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반복되는 프로젝트 설명</a:t>
            </a:r>
          </a:p>
        </p:txBody>
      </p:sp>
      <p:sp>
        <p:nvSpPr>
          <p:cNvPr id="2" name="S22">
            <a:extLst xmlns:a="http://schemas.openxmlformats.org/drawingml/2006/main">
              <a:ext uri="{FF2B5EF4-FFF2-40B4-BE49-F238E27FC236}">
                <a16:creationId xmlns:a16="http://schemas.microsoft.com/office/drawing/2014/main" id="{90665A0F-9277-4464-8A01-0AE71039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S22</a:t>
            </a:r>
          </a:p>
        </p:txBody>
      </p:sp>
      <p:sp>
        <p:nvSpPr>
          <p:cNvPr id="3" name="다른 Task에 같은 설명이 반복된다">
            <a:extLst xmlns:a="http://schemas.openxmlformats.org/drawingml/2006/main">
              <a:ext uri="{FF2B5EF4-FFF2-40B4-BE49-F238E27FC236}">
                <a16:creationId xmlns:a16="http://schemas.microsoft.com/office/drawing/2014/main" id="{DBC79AC3-B795-4566-A4BE-F3E3FF69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Task에 같은 설명이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FD96F-B658-44D8-91EE-A89B5697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성 사례 · Bug fix / Performance / README 작업">
            <a:extLst xmlns:a="http://schemas.openxmlformats.org/drawingml/2006/main">
              <a:ext uri="{FF2B5EF4-FFF2-40B4-BE49-F238E27FC236}">
                <a16:creationId xmlns:a16="http://schemas.microsoft.com/office/drawing/2014/main" id="{3DFDCC9B-67EC-4E25-97E5-593A3189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구성 사례 · Bug fix / Performance / README 작업</a:t>
            </a:r>
          </a:p>
        </p:txBody>
      </p:sp>
      <p:sp>
        <p:nvSpPr>
          <p:cNvPr id="6" name="서로 다른 요청에 같은 프로젝트 정보가 반복되는 상황을 보여준다">
            <a:extLst xmlns:a="http://schemas.openxmlformats.org/drawingml/2006/main">
              <a:ext uri="{FF2B5EF4-FFF2-40B4-BE49-F238E27FC236}">
                <a16:creationId xmlns:a16="http://schemas.microsoft.com/office/drawing/2014/main" id="{3CCCAAC8-7B6B-47A9-A7C5-654B48D2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서로 다른 요청에 같은 프로젝트 정보가 반복되는 상황을 보여준다</a:t>
            </a:r>
          </a:p>
        </p:txBody>
      </p:sp>
      <p:sp>
        <p:nvSpPr>
          <p:cNvPr id="7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92DFA6B6-8180-449B-B30B-5F6D857D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8" name="crop 경계를 수정해줘">
            <a:extLst xmlns:a="http://schemas.openxmlformats.org/drawingml/2006/main">
              <a:ext uri="{FF2B5EF4-FFF2-40B4-BE49-F238E27FC236}">
                <a16:creationId xmlns:a16="http://schemas.microsoft.com/office/drawing/2014/main" id="{28BAE31B-7740-43C4-9FD8-4064E0A9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경계를 수정해줘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DCF4E9-981F-4A0C-B5F7-6B2248D2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E8DD08-FBEA-4DD3-AC38-93A732E8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54F03555-813B-4D9C-B3B7-9AC1A72B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2" name="성능 조사">
            <a:extLst xmlns:a="http://schemas.openxmlformats.org/drawingml/2006/main">
              <a:ext uri="{FF2B5EF4-FFF2-40B4-BE49-F238E27FC236}">
                <a16:creationId xmlns:a16="http://schemas.microsoft.com/office/drawing/2014/main" id="{E494D89A-5894-42B5-A075-62E756C6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</a:t>
            </a:r>
          </a:p>
        </p:txBody>
      </p:sp>
      <p:sp>
        <p:nvSpPr>
          <p:cNvPr id="13" name="통계 계산을 조사해줘">
            <a:extLst xmlns:a="http://schemas.openxmlformats.org/drawingml/2006/main">
              <a:ext uri="{FF2B5EF4-FFF2-40B4-BE49-F238E27FC236}">
                <a16:creationId xmlns:a16="http://schemas.microsoft.com/office/drawing/2014/main" id="{4812F361-5082-41CF-AB42-16EEE61A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계산을 조사해줘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B73514-4B05-4393-A450-E9B5BF83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BF5B6D-9E7F-4062-A5CB-2CB36479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2AFE8A51-F0B8-4AF5-AD9E-AFB7E4CA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7" name="README 수정">
            <a:extLst xmlns:a="http://schemas.openxmlformats.org/drawingml/2006/main">
              <a:ext uri="{FF2B5EF4-FFF2-40B4-BE49-F238E27FC236}">
                <a16:creationId xmlns:a16="http://schemas.microsoft.com/office/drawing/2014/main" id="{F0147F62-B46E-46F1-8AA1-B2090CA4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README 수정</a:t>
            </a:r>
          </a:p>
        </p:txBody>
      </p:sp>
      <p:sp>
        <p:nvSpPr>
          <p:cNvPr id="18" name="빌드 안내를 명확히 해줘">
            <a:extLst xmlns:a="http://schemas.openxmlformats.org/drawingml/2006/main">
              <a:ext uri="{FF2B5EF4-FFF2-40B4-BE49-F238E27FC236}">
                <a16:creationId xmlns:a16="http://schemas.microsoft.com/office/drawing/2014/main" id="{BC584992-CDD3-41F7-824E-8CD71D1A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안내를 명확히 해줘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1B023F-305E-4015-A22A-974EA7D0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29BD11-EE44-4934-ADBC-7F76E2D1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F59D4827-EFEE-45E9-ADCA-EA8F1DDB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22" name="요청은 다른데, 아래 설명은 왜 계속 같을까?">
            <a:extLst xmlns:a="http://schemas.openxmlformats.org/drawingml/2006/main">
              <a:ext uri="{FF2B5EF4-FFF2-40B4-BE49-F238E27FC236}">
                <a16:creationId xmlns:a16="http://schemas.microsoft.com/office/drawing/2014/main" id="{5BB47C92-80AC-409D-8880-BF5206B7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요청은 다른데, 아래 설명은 왜 계속 같을까?</a:t>
            </a:r>
          </a:p>
        </p:txBody>
      </p:sp>
    </p:spTree>
    <p:extLst>
      <p:ext uri="{BB962C8B-B14F-4D97-AF65-F5344CB8AC3E}">
        <p14:creationId xmlns:p14="http://schemas.microsoft.com/office/powerpoint/2010/main" val="14618831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2  ·  Project Context">
            <a:extLst xmlns:a="http://schemas.openxmlformats.org/drawingml/2006/main">
              <a:ext uri="{FF2B5EF4-FFF2-40B4-BE49-F238E27FC236}">
                <a16:creationId xmlns:a16="http://schemas.microsoft.com/office/drawing/2014/main" id="{AE5ED20D-1D2D-477D-BAC7-51BA4E45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 ·  Project Context</a:t>
            </a:r>
          </a:p>
        </p:txBody>
      </p:sp>
      <p:sp>
        <p:nvSpPr>
          <p:cNvPr id="2" name="S23">
            <a:extLst xmlns:a="http://schemas.openxmlformats.org/drawingml/2006/main">
              <a:ext uri="{FF2B5EF4-FFF2-40B4-BE49-F238E27FC236}">
                <a16:creationId xmlns:a16="http://schemas.microsoft.com/office/drawing/2014/main" id="{F284835A-C74E-4ED0-B9F8-8766A38C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S23</a:t>
            </a:r>
          </a:p>
        </p:txBody>
      </p:sp>
      <p:sp>
        <p:nvSpPr>
          <p:cNvPr id="3" name="작은 Project Context의 첫 기록">
            <a:extLst xmlns:a="http://schemas.openxmlformats.org/drawingml/2006/main">
              <a:ext uri="{FF2B5EF4-FFF2-40B4-BE49-F238E27FC236}">
                <a16:creationId xmlns:a16="http://schemas.microsoft.com/office/drawing/2014/main" id="{21795CCC-78A8-4172-904E-47179211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Project Context의 첫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B016C6-AB51-4A1F-BB3E-6418073D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OBSERVED PRODUCT  |  STATE-01 · AGENTS.md 실제 원문 발췌">
            <a:extLst xmlns:a="http://schemas.openxmlformats.org/drawingml/2006/main">
              <a:ext uri="{FF2B5EF4-FFF2-40B4-BE49-F238E27FC236}">
                <a16:creationId xmlns:a16="http://schemas.microsoft.com/office/drawing/2014/main" id="{BE9821B5-69AB-48AC-B297-C7A6E0E7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OBSERVED PRODUCT  |  STATE-01 · AGENTS.md 실제 원문 발췌</a:t>
            </a:r>
          </a:p>
        </p:txBody>
      </p:sp>
      <p:sp>
        <p:nvSpPr>
          <p:cNvPr id="6" name="파일의 내용과 기록 위치를 보여주는 장 · Agent의 활용 관찰은 다음 장에서 확인">
            <a:extLst xmlns:a="http://schemas.openxmlformats.org/drawingml/2006/main">
              <a:ext uri="{FF2B5EF4-FFF2-40B4-BE49-F238E27FC236}">
                <a16:creationId xmlns:a16="http://schemas.microsoft.com/office/drawing/2014/main" id="{814E2F81-EED7-431F-9D3C-F47F661E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파일의 내용과 기록 위치를 보여주는 장 · Agent의 활용 관찰은 다음 장에서 확인</a:t>
            </a:r>
          </a:p>
        </p:txBody>
      </p:sp>
      <p:sp>
        <p:nvSpPr>
          <p:cNvPr id="7" name="반복해서 설명하던 내용을 저장소에 남겼다">
            <a:extLst xmlns:a="http://schemas.openxmlformats.org/drawingml/2006/main">
              <a:ext uri="{FF2B5EF4-FFF2-40B4-BE49-F238E27FC236}">
                <a16:creationId xmlns:a16="http://schemas.microsoft.com/office/drawing/2014/main" id="{CC1A18CC-CD6D-4B82-AC93-59B17A06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설명하던 내용을 저장소에 남겼다</a:t>
            </a:r>
          </a:p>
        </p:txBody>
      </p:sp>
      <p:sp>
        <p:nvSpPr>
          <p:cNvPr id="8" name="AGENTS.md">
            <a:extLst xmlns:a="http://schemas.openxmlformats.org/drawingml/2006/main">
              <a:ext uri="{FF2B5EF4-FFF2-40B4-BE49-F238E27FC236}">
                <a16:creationId xmlns:a16="http://schemas.microsoft.com/office/drawing/2014/main" id="{BABE10C1-643A-42BA-822A-5FFC9BC4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8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8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8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8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8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8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8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8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8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8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9" name="STATE-00-FIXED → STATE-01">
            <a:extLst xmlns:a="http://schemas.openxmlformats.org/drawingml/2006/main">
              <a:ext uri="{FF2B5EF4-FFF2-40B4-BE49-F238E27FC236}">
                <a16:creationId xmlns:a16="http://schemas.microsoft.com/office/drawing/2014/main" id="{F75CECA8-955B-429E-A13D-BBAC18948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43150"/>
            <a:ext cx="443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STATE-00-FIXED → STATE-01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02FC1-FD2E-4E81-8F36-3D92B6D5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프로젝트 목적">
            <a:extLst xmlns:a="http://schemas.openxmlformats.org/drawingml/2006/main">
              <a:ext uri="{FF2B5EF4-FFF2-40B4-BE49-F238E27FC236}">
                <a16:creationId xmlns:a16="http://schemas.microsoft.com/office/drawing/2014/main" id="{3FDC5B06-4EB0-4317-AB12-96D16F1D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목적</a:t>
            </a:r>
          </a:p>
        </p:txBody>
      </p:sp>
      <p:sp>
        <p:nvSpPr>
          <p:cNvPr id="12" name="Local grayscale image-processing CLI using synthetic ASCII P">
            <a:extLst xmlns:a="http://schemas.openxmlformats.org/drawingml/2006/main">
              <a:ext uri="{FF2B5EF4-FFF2-40B4-BE49-F238E27FC236}">
                <a16:creationId xmlns:a16="http://schemas.microsoft.com/office/drawing/2014/main" id="{95F99657-9B4E-4740-8379-AF8045F6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05150"/>
            <a:ext cx="862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Local </a:t>
            </a: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grayscale image-processing CLI</a:t>
            </a: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 using synthetic ASCII PGM data.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444D3A-91B3-48D3-B071-B59AFF11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실행 방법">
            <a:extLst xmlns:a="http://schemas.openxmlformats.org/drawingml/2006/main">
              <a:ext uri="{FF2B5EF4-FFF2-40B4-BE49-F238E27FC236}">
                <a16:creationId xmlns:a16="http://schemas.microsoft.com/office/drawing/2014/main" id="{31D446DB-D78D-4164-AFD3-29A8D96D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방법</a:t>
            </a:r>
          </a:p>
        </p:txBody>
      </p:sp>
      <p:sp>
        <p:nvSpPr>
          <p:cNvPr id="15" name="Use the prepared build and CLI commands documented in `READM">
            <a:extLst xmlns:a="http://schemas.openxmlformats.org/drawingml/2006/main">
              <a:ext uri="{FF2B5EF4-FFF2-40B4-BE49-F238E27FC236}">
                <a16:creationId xmlns:a16="http://schemas.microsoft.com/office/drawing/2014/main" id="{14290DAD-CBA4-4829-8E2A-9D9E163F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00475"/>
            <a:ext cx="862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Use the prepared build and CLI commands documented in `</a:t>
            </a: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README.md</a:t>
            </a: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`.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3E13BC-E839-4935-96F3-96EF9C4C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테스트 명령">
            <a:extLst xmlns:a="http://schemas.openxmlformats.org/drawingml/2006/main">
              <a:ext uri="{FF2B5EF4-FFF2-40B4-BE49-F238E27FC236}">
                <a16:creationId xmlns:a16="http://schemas.microsoft.com/office/drawing/2014/main" id="{1CCED05F-B8E6-4DBB-8FBA-A48D5536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명령</a:t>
            </a:r>
          </a:p>
        </p:txBody>
      </p:sp>
      <p:sp>
        <p:nvSpPr>
          <p:cNvPr id="18" name="PYTHONPATH=src python3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F2DCCF09-4E66-472F-99C7-FE364E29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495800"/>
            <a:ext cx="862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PYTHONPATH=src python3 -m unittest discover -s tests -v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B57974-80F6-4B14-9132-2E3B3EC6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기본 제약">
            <a:extLst xmlns:a="http://schemas.openxmlformats.org/drawingml/2006/main">
              <a:ext uri="{FF2B5EF4-FFF2-40B4-BE49-F238E27FC236}">
                <a16:creationId xmlns:a16="http://schemas.microsoft.com/office/drawing/2014/main" id="{85C4C160-E076-4101-8A8C-A6D363AB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219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21" name="Keep changes scoped and verify relevant behavior.">
            <a:extLst xmlns:a="http://schemas.openxmlformats.org/drawingml/2006/main">
              <a:ext uri="{FF2B5EF4-FFF2-40B4-BE49-F238E27FC236}">
                <a16:creationId xmlns:a16="http://schemas.microsoft.com/office/drawing/2014/main" id="{2FFFEA54-9CE6-442B-8899-4D898D19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191125"/>
            <a:ext cx="862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Keep changes </a:t>
            </a: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scoped and verify</a:t>
            </a: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 relevant behavior.</a:t>
            </a:r>
          </a:p>
        </p:txBody>
      </p:sp>
    </p:spTree>
    <p:extLst>
      <p:ext uri="{BB962C8B-B14F-4D97-AF65-F5344CB8AC3E}">
        <p14:creationId xmlns:p14="http://schemas.microsoft.com/office/powerpoint/2010/main" val="8022900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2 · 지침을 활용한 관찰">
            <a:extLst xmlns:a="http://schemas.openxmlformats.org/drawingml/2006/main">
              <a:ext uri="{FF2B5EF4-FFF2-40B4-BE49-F238E27FC236}">
                <a16:creationId xmlns:a16="http://schemas.microsoft.com/office/drawing/2014/main" id="{47AEA31F-F804-477C-BE1C-AB4FBBFA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지침을 활용한 관찰</a:t>
            </a:r>
          </a:p>
        </p:txBody>
      </p:sp>
      <p:sp>
        <p:nvSpPr>
          <p:cNvPr id="2" name="S24">
            <a:extLst xmlns:a="http://schemas.openxmlformats.org/drawingml/2006/main">
              <a:ext uri="{FF2B5EF4-FFF2-40B4-BE49-F238E27FC236}">
                <a16:creationId xmlns:a16="http://schemas.microsoft.com/office/drawing/2014/main" id="{09AE2F50-9179-4DBE-8C9D-84CCAA3C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S24</a:t>
            </a:r>
          </a:p>
        </p:txBody>
      </p:sp>
      <p:sp>
        <p:nvSpPr>
          <p:cNvPr id="3" name="한 번의 사용에서 확인된 것">
            <a:extLst xmlns:a="http://schemas.openxmlformats.org/drawingml/2006/main">
              <a:ext uri="{FF2B5EF4-FFF2-40B4-BE49-F238E27FC236}">
                <a16:creationId xmlns:a16="http://schemas.microsoft.com/office/drawing/2014/main" id="{771844CB-FC96-4BFD-9D7A-56C41EFA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번의 사용에서 확인된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18BE20-800A-4B2B-903F-F1A34B3C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3 · Codex CLI 기록을 재구성 · 전체 테스트 11/11 PASS">
            <a:extLst xmlns:a="http://schemas.openxmlformats.org/drawingml/2006/main">
              <a:ext uri="{FF2B5EF4-FFF2-40B4-BE49-F238E27FC236}">
                <a16:creationId xmlns:a16="http://schemas.microsoft.com/office/drawing/2014/main" id="{8A6AB2E5-1847-46F9-9039-49EB0CD6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TRIAL-003 · Codex CLI 기록을 재구성 · 전체 테스트 11/11 PASS</a:t>
            </a:r>
          </a:p>
        </p:txBody>
      </p:sp>
      <p:sp>
        <p:nvSpPr>
          <p:cNvPr id="6" name="Personal/global Skills도 실행됨 · AGENTS.md만의 독립적인 효과로 해석하지 않음">
            <a:extLst xmlns:a="http://schemas.openxmlformats.org/drawingml/2006/main">
              <a:ext uri="{FF2B5EF4-FFF2-40B4-BE49-F238E27FC236}">
                <a16:creationId xmlns:a16="http://schemas.microsoft.com/office/drawing/2014/main" id="{AB90350D-3FEC-4299-8BB7-790E335A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Personal/global Skills도 실행됨 · AGENTS.md만의 독립적인 효과로 해석하지 않음</a:t>
            </a:r>
          </a:p>
        </p:txBody>
      </p:sp>
      <p:sp>
        <p:nvSpPr>
          <p:cNvPr id="7" name="요청">
            <a:extLst xmlns:a="http://schemas.openxmlformats.org/drawingml/2006/main">
              <a:ext uri="{FF2B5EF4-FFF2-40B4-BE49-F238E27FC236}">
                <a16:creationId xmlns:a16="http://schemas.microsoft.com/office/drawing/2014/main" id="{D11BFF3A-5430-4715-8773-F1ED0D9D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50784-4EAB-42DB-A084-C7E482C7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읽은 파일">
            <a:extLst xmlns:a="http://schemas.openxmlformats.org/drawingml/2006/main">
              <a:ext uri="{FF2B5EF4-FFF2-40B4-BE49-F238E27FC236}">
                <a16:creationId xmlns:a16="http://schemas.microsoft.com/office/drawing/2014/main" id="{4B268D01-EBF5-40B4-AD94-E783AC1C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읽은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ACEA45-A30D-46FC-B839-AEB5A736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실행 기록">
            <a:extLst xmlns:a="http://schemas.openxmlformats.org/drawingml/2006/main">
              <a:ext uri="{FF2B5EF4-FFF2-40B4-BE49-F238E27FC236}">
                <a16:creationId xmlns:a16="http://schemas.microsoft.com/office/drawing/2014/main" id="{F3350057-0BAA-482A-8D32-A4F66EA8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기록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9D7819-C84D-46AC-8A51-B266E960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README만 수정&#10;테스트 명령은 없음">
            <a:extLst xmlns:a="http://schemas.openxmlformats.org/drawingml/2006/main">
              <a:ext uri="{FF2B5EF4-FFF2-40B4-BE49-F238E27FC236}">
                <a16:creationId xmlns:a16="http://schemas.microsoft.com/office/drawing/2014/main" id="{026F9D2D-3236-45FE-B31A-00B6F10E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14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README만 수정</a:t>
            </a:r>
          </a:p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명령은 없음</a:t>
            </a:r>
          </a:p>
        </p:txBody>
      </p:sp>
      <p:sp>
        <p:nvSpPr>
          <p:cNvPr id="14" name="AGENTS.md">
            <a:extLst xmlns:a="http://schemas.openxmlformats.org/drawingml/2006/main">
              <a:ext uri="{FF2B5EF4-FFF2-40B4-BE49-F238E27FC236}">
                <a16:creationId xmlns:a16="http://schemas.microsoft.com/office/drawing/2014/main" id="{F84FA97B-B59B-46AD-AED0-683EFAB8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76550"/>
            <a:ext cx="3314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15" name="기록된 테스트&#10;명령을 사용">
            <a:extLst xmlns:a="http://schemas.openxmlformats.org/drawingml/2006/main">
              <a:ext uri="{FF2B5EF4-FFF2-40B4-BE49-F238E27FC236}">
                <a16:creationId xmlns:a16="http://schemas.microsoft.com/office/drawing/2014/main" id="{83877282-8D21-4801-AFB5-9CE85CE0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33775"/>
            <a:ext cx="3314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기록된 테스트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명령을 사용</a:t>
            </a:r>
          </a:p>
        </p:txBody>
      </p:sp>
      <p:sp>
        <p:nvSpPr>
          <p:cNvPr id="16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72A1CA48-BAF5-4E5C-BAF9-B36A30C8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76550"/>
            <a:ext cx="331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7" name="11 / 11">
            <a:extLst xmlns:a="http://schemas.openxmlformats.org/drawingml/2006/main">
              <a:ext uri="{FF2B5EF4-FFF2-40B4-BE49-F238E27FC236}">
                <a16:creationId xmlns:a16="http://schemas.microsoft.com/office/drawing/2014/main" id="{239B7513-66D9-436B-8EE9-14ACB7E3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76625"/>
            <a:ext cx="3314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11 / 11</a:t>
            </a:r>
          </a:p>
        </p:txBody>
      </p:sp>
      <p:sp>
        <p:nvSpPr>
          <p:cNvPr id="18" name="PASS">
            <a:extLst xmlns:a="http://schemas.openxmlformats.org/drawingml/2006/main">
              <a:ext uri="{FF2B5EF4-FFF2-40B4-BE49-F238E27FC236}">
                <a16:creationId xmlns:a16="http://schemas.microsoft.com/office/drawing/2014/main" id="{330C6E17-DAC5-4A01-87FB-F852E16D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05275"/>
            <a:ext cx="3314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78F526-8B2B-4F79-833C-4FA51218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B641FF-0414-4E7C-87E6-0B1DABCA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5F5CE6-861A-4541-98D3-BE71265C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README-only 범위는 작업 요청에도 명시돼 있었다">
            <a:extLst xmlns:a="http://schemas.openxmlformats.org/drawingml/2006/main">
              <a:ext uri="{FF2B5EF4-FFF2-40B4-BE49-F238E27FC236}">
                <a16:creationId xmlns:a16="http://schemas.microsoft.com/office/drawing/2014/main" id="{7A892C65-3568-4F13-9AAC-73EB58DA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README-only 범위는 작업 요청에도 명시돼 있었다</a:t>
            </a:r>
          </a:p>
        </p:txBody>
      </p:sp>
    </p:spTree>
    <p:extLst>
      <p:ext uri="{BB962C8B-B14F-4D97-AF65-F5344CB8AC3E}">
        <p14:creationId xmlns:p14="http://schemas.microsoft.com/office/powerpoint/2010/main" val="1316390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2 · 정보의 범위와 수명">
            <a:extLst xmlns:a="http://schemas.openxmlformats.org/drawingml/2006/main">
              <a:ext uri="{FF2B5EF4-FFF2-40B4-BE49-F238E27FC236}">
                <a16:creationId xmlns:a16="http://schemas.microsoft.com/office/drawing/2014/main" id="{958A0D0C-3CE5-4499-AA32-E01D6511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정보의 범위와 수명</a:t>
            </a:r>
          </a:p>
        </p:txBody>
      </p:sp>
      <p:sp>
        <p:nvSpPr>
          <p:cNvPr id="2" name="S25">
            <a:extLst xmlns:a="http://schemas.openxmlformats.org/drawingml/2006/main">
              <a:ext uri="{FF2B5EF4-FFF2-40B4-BE49-F238E27FC236}">
                <a16:creationId xmlns:a16="http://schemas.microsoft.com/office/drawing/2014/main" id="{0522912A-2DF5-4D86-86CF-A9FC723E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S25</a:t>
            </a:r>
          </a:p>
        </p:txBody>
      </p:sp>
      <p:sp>
        <p:nvSpPr>
          <p:cNvPr id="3" name="Task Prompt와 Project Context">
            <a:extLst xmlns:a="http://schemas.openxmlformats.org/drawingml/2006/main">
              <a:ext uri="{FF2B5EF4-FFF2-40B4-BE49-F238E27FC236}">
                <a16:creationId xmlns:a16="http://schemas.microsoft.com/office/drawing/2014/main" id="{4C3AC8F1-6228-4FF7-A2C4-D0A9BA84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Prompt와 Project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60BAEE-0C19-49D1-B5AF-C46D8B65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분 · 현재 목표와 지속되는 프로젝트 사실">
            <a:extLst xmlns:a="http://schemas.openxmlformats.org/drawingml/2006/main">
              <a:ext uri="{FF2B5EF4-FFF2-40B4-BE49-F238E27FC236}">
                <a16:creationId xmlns:a16="http://schemas.microsoft.com/office/drawing/2014/main" id="{D3582224-EC9B-4E1C-AD3E-E42E7A77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구분 · 현재 목표와 지속되는 프로젝트 사실</a:t>
            </a:r>
          </a:p>
        </p:txBody>
      </p:sp>
      <p:sp>
        <p:nvSpPr>
          <p:cNvPr id="6" name="C++에서도 프로젝트 공통 제약과 이번 알고리즘 변경 조건은 범위가 다를 수 있다">
            <a:extLst xmlns:a="http://schemas.openxmlformats.org/drawingml/2006/main">
              <a:ext uri="{FF2B5EF4-FFF2-40B4-BE49-F238E27FC236}">
                <a16:creationId xmlns:a16="http://schemas.microsoft.com/office/drawing/2014/main" id="{9F5348F2-CD19-431E-8B01-4BE736F4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C++에서도 프로젝트 공통 제약과 이번 알고리즘 변경 조건은 범위가 다를 수 있다</a:t>
            </a:r>
          </a:p>
        </p:txBody>
      </p:sp>
      <p:sp>
        <p:nvSpPr>
          <p:cNvPr id="7" name="이번 작업이 끝나면?">
            <a:extLst xmlns:a="http://schemas.openxmlformats.org/drawingml/2006/main">
              <a:ext uri="{FF2B5EF4-FFF2-40B4-BE49-F238E27FC236}">
                <a16:creationId xmlns:a16="http://schemas.microsoft.com/office/drawing/2014/main" id="{3981B400-170C-4076-9E99-D9A67922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작업이 끝나면?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6A81F1-1427-4263-A374-8B481756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5086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Task Prompt">
            <a:extLst xmlns:a="http://schemas.openxmlformats.org/drawingml/2006/main">
              <a:ext uri="{FF2B5EF4-FFF2-40B4-BE49-F238E27FC236}">
                <a16:creationId xmlns:a16="http://schemas.microsoft.com/office/drawing/2014/main" id="{DF3501FA-21C6-4E20-9689-D774F362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5086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10" name="지금 원하는 결과">
            <a:extLst xmlns:a="http://schemas.openxmlformats.org/drawingml/2006/main">
              <a:ext uri="{FF2B5EF4-FFF2-40B4-BE49-F238E27FC236}">
                <a16:creationId xmlns:a16="http://schemas.microsoft.com/office/drawing/2014/main" id="{71C3163F-E168-45B3-9552-000E4996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지금 원하는 결과</a:t>
            </a:r>
          </a:p>
        </p:txBody>
      </p:sp>
      <p:sp>
        <p:nvSpPr>
          <p:cNvPr id="11" name="crop 경계 버그 수정&#10;이번에는 README만 변경">
            <a:extLst xmlns:a="http://schemas.openxmlformats.org/drawingml/2006/main">
              <a:ext uri="{FF2B5EF4-FFF2-40B4-BE49-F238E27FC236}">
                <a16:creationId xmlns:a16="http://schemas.microsoft.com/office/drawing/2014/main" id="{CD7F468F-DE4C-4F6D-BA99-496CF363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0863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버그 수정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변경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02CF98-29B1-4D93-B1C3-12665BF9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5086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다음 작업에서는 목표가 달라짐">
            <a:extLst xmlns:a="http://schemas.openxmlformats.org/drawingml/2006/main">
              <a:ext uri="{FF2B5EF4-FFF2-40B4-BE49-F238E27FC236}">
                <a16:creationId xmlns:a16="http://schemas.microsoft.com/office/drawing/2014/main" id="{A3091A9F-B6DC-4E2B-BFD6-C933EE07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00650"/>
            <a:ext cx="4781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작업에서는 목표가 달라짐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04FAB8-1CCB-44A2-8756-ECA30619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38450"/>
            <a:ext cx="5086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1144DFAB-0BE5-4650-A278-BA320C98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38475"/>
            <a:ext cx="5086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6" name="계속 참이어야 할 사실">
            <a:extLst xmlns:a="http://schemas.openxmlformats.org/drawingml/2006/main">
              <a:ext uri="{FF2B5EF4-FFF2-40B4-BE49-F238E27FC236}">
                <a16:creationId xmlns:a16="http://schemas.microsoft.com/office/drawing/2014/main" id="{D18BF8C9-7D05-497B-A407-48C12814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55282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참이어야 할 사실</a:t>
            </a:r>
          </a:p>
        </p:txBody>
      </p:sp>
      <p:sp>
        <p:nvSpPr>
          <p:cNvPr id="17" name="프로젝트의 테스트 명령&#10;의존성 추가에는 작업상 근거 필요">
            <a:extLst xmlns:a="http://schemas.openxmlformats.org/drawingml/2006/main">
              <a:ext uri="{FF2B5EF4-FFF2-40B4-BE49-F238E27FC236}">
                <a16:creationId xmlns:a16="http://schemas.microsoft.com/office/drawing/2014/main" id="{66E958AE-F096-4ACC-AD06-D9BFF8C0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14800"/>
            <a:ext cx="50863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테스트 명령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A6E41F-38D4-49F0-A1DE-6B49454A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143500"/>
            <a:ext cx="5086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여러 작업에서 다시 참고">
            <a:extLst xmlns:a="http://schemas.openxmlformats.org/drawingml/2006/main">
              <a:ext uri="{FF2B5EF4-FFF2-40B4-BE49-F238E27FC236}">
                <a16:creationId xmlns:a16="http://schemas.microsoft.com/office/drawing/2014/main" id="{CC211675-00D1-4AAD-9111-6290745A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00650"/>
            <a:ext cx="4781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여러 작업에서 다시 참고</a:t>
            </a:r>
          </a:p>
        </p:txBody>
      </p:sp>
    </p:spTree>
    <p:extLst>
      <p:ext uri="{BB962C8B-B14F-4D97-AF65-F5344CB8AC3E}">
        <p14:creationId xmlns:p14="http://schemas.microsoft.com/office/powerpoint/2010/main" val="2500089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2 · Context가 쌓이는 과정">
            <a:extLst xmlns:a="http://schemas.openxmlformats.org/drawingml/2006/main">
              <a:ext uri="{FF2B5EF4-FFF2-40B4-BE49-F238E27FC236}">
                <a16:creationId xmlns:a16="http://schemas.microsoft.com/office/drawing/2014/main" id="{1038198C-56AC-4443-ABF0-6572B812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Context가 쌓이는 과정</a:t>
            </a:r>
          </a:p>
        </p:txBody>
      </p:sp>
      <p:sp>
        <p:nvSpPr>
          <p:cNvPr id="2" name="S26">
            <a:extLst xmlns:a="http://schemas.openxmlformats.org/drawingml/2006/main">
              <a:ext uri="{FF2B5EF4-FFF2-40B4-BE49-F238E27FC236}">
                <a16:creationId xmlns:a16="http://schemas.microsoft.com/office/drawing/2014/main" id="{09B008EF-C81D-4938-904E-25050D551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S26</a:t>
            </a:r>
          </a:p>
        </p:txBody>
      </p:sp>
      <p:sp>
        <p:nvSpPr>
          <p:cNvPr id="3" name="정확한 정보도 계속 늘어난다">
            <a:extLst xmlns:a="http://schemas.openxmlformats.org/drawingml/2006/main">
              <a:ext uri="{FF2B5EF4-FFF2-40B4-BE49-F238E27FC236}">
                <a16:creationId xmlns:a16="http://schemas.microsoft.com/office/drawing/2014/main" id="{BB930BC6-1E87-4EC0-AFEB-B4B81E6A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정확한 정보도 계속 늘어난다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386B9A-D228-4CB1-8584-0610F058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1 → STATE-02 · 실제 AGENTS.md 상태 비교">
            <a:extLst xmlns:a="http://schemas.openxmlformats.org/drawingml/2006/main">
              <a:ext uri="{FF2B5EF4-FFF2-40B4-BE49-F238E27FC236}">
                <a16:creationId xmlns:a16="http://schemas.microsoft.com/office/drawing/2014/main" id="{FF4887A7-9863-422E-9255-50EBBA6A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STATE-01 → STATE-02 · 실제 AGENTS.md 상태 비교</a:t>
            </a:r>
          </a:p>
        </p:txBody>
      </p:sp>
      <p:sp>
        <p:nvSpPr>
          <p:cNvPr id="6" name="문서 크기는 상태 식별 정보 · Context 증가가 실패를 일으켰다는 근거는 아님">
            <a:extLst xmlns:a="http://schemas.openxmlformats.org/drawingml/2006/main">
              <a:ext uri="{FF2B5EF4-FFF2-40B4-BE49-F238E27FC236}">
                <a16:creationId xmlns:a16="http://schemas.microsoft.com/office/drawing/2014/main" id="{69F2E286-534D-493A-80C0-A5E141AC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 크기는 상태 식별 정보 · Context 증가가 실패를 일으켰다는 근거는 아님</a:t>
            </a:r>
          </a:p>
        </p:txBody>
      </p:sp>
      <p:sp>
        <p:nvSpPr>
          <p:cNvPr id="7" name="STATE-01">
            <a:extLst xmlns:a="http://schemas.openxmlformats.org/drawingml/2006/main">
              <a:ext uri="{FF2B5EF4-FFF2-40B4-BE49-F238E27FC236}">
                <a16:creationId xmlns:a16="http://schemas.microsoft.com/office/drawing/2014/main" id="{560AA7E8-CF23-4760-8F72-14ADC5A9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8" name="목적 · 실행 · 테스트&#10;기본 제약">
            <a:extLst xmlns:a="http://schemas.openxmlformats.org/drawingml/2006/main">
              <a:ext uri="{FF2B5EF4-FFF2-40B4-BE49-F238E27FC236}">
                <a16:creationId xmlns:a16="http://schemas.microsoft.com/office/drawing/2014/main" id="{3094731D-307C-4F8C-ABE7-B0328B88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295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목적 · 실행 · 테스트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9" name="15줄 · 567 bytes">
            <a:extLst xmlns:a="http://schemas.openxmlformats.org/drawingml/2006/main">
              <a:ext uri="{FF2B5EF4-FFF2-40B4-BE49-F238E27FC236}">
                <a16:creationId xmlns:a16="http://schemas.microsoft.com/office/drawing/2014/main" id="{17F22975-9B4D-4C26-BB1C-EB704D08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15줄 · 567 bytes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98F318-B492-490A-84AE-0C404160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76575"/>
            <a:ext cx="4762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STATE-02에 추가된 실제 정보">
            <a:extLst xmlns:a="http://schemas.openxmlformats.org/drawingml/2006/main">
              <a:ext uri="{FF2B5EF4-FFF2-40B4-BE49-F238E27FC236}">
                <a16:creationId xmlns:a16="http://schemas.microsoft.com/office/drawing/2014/main" id="{8418B22B-2370-46D5-914D-C400A571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0275"/>
            <a:ext cx="697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STATE-02에 추가된 실제 정보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FE26E-8BE2-414B-82E2-7706E635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4320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처리 순서">
            <a:extLst xmlns:a="http://schemas.openxmlformats.org/drawingml/2006/main">
              <a:ext uri="{FF2B5EF4-FFF2-40B4-BE49-F238E27FC236}">
                <a16:creationId xmlns:a16="http://schemas.microsoft.com/office/drawing/2014/main" id="{F65B9676-C33E-4234-A908-4C327421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3845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처리 순서</a:t>
            </a:r>
          </a:p>
        </p:txBody>
      </p:sp>
      <p:sp>
        <p:nvSpPr>
          <p:cNvPr id="14" name="load → normalize → … → write">
            <a:extLst xmlns:a="http://schemas.openxmlformats.org/drawingml/2006/main">
              <a:ext uri="{FF2B5EF4-FFF2-40B4-BE49-F238E27FC236}">
                <a16:creationId xmlns:a16="http://schemas.microsoft.com/office/drawing/2014/main" id="{476ACB72-B137-451B-9A37-964235DB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83845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load → normalize → … → write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C6C61C-F4C0-46A6-B386-E96C008B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8612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미지 계약">
            <a:extLst xmlns:a="http://schemas.openxmlformats.org/drawingml/2006/main">
              <a:ext uri="{FF2B5EF4-FFF2-40B4-BE49-F238E27FC236}">
                <a16:creationId xmlns:a16="http://schemas.microsoft.com/office/drawing/2014/main" id="{71C34439-E6AB-4F0A-BE6A-215EA80B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8137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이미지 계약</a:t>
            </a:r>
          </a:p>
        </p:txBody>
      </p:sp>
      <p:sp>
        <p:nvSpPr>
          <p:cNvPr id="17" name="crop: [x_start, x_end)">
            <a:extLst xmlns:a="http://schemas.openxmlformats.org/drawingml/2006/main">
              <a:ext uri="{FF2B5EF4-FFF2-40B4-BE49-F238E27FC236}">
                <a16:creationId xmlns:a16="http://schemas.microsoft.com/office/drawing/2014/main" id="{96F96D56-4866-446C-83A3-3CA84B74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38137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crop: [x_start, x_end)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E41E87-7273-4521-A1AD-988B8EDA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2905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구조">
            <a:extLst xmlns:a="http://schemas.openxmlformats.org/drawingml/2006/main">
              <a:ext uri="{FF2B5EF4-FFF2-40B4-BE49-F238E27FC236}">
                <a16:creationId xmlns:a16="http://schemas.microsoft.com/office/drawing/2014/main" id="{A8DD283F-7C39-4AE9-A670-7C5BA069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92430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구조</a:t>
            </a:r>
          </a:p>
        </p:txBody>
      </p:sp>
      <p:sp>
        <p:nvSpPr>
          <p:cNvPr id="20" name="tests/test_pipeline.py">
            <a:extLst xmlns:a="http://schemas.openxmlformats.org/drawingml/2006/main">
              <a:ext uri="{FF2B5EF4-FFF2-40B4-BE49-F238E27FC236}">
                <a16:creationId xmlns:a16="http://schemas.microsoft.com/office/drawing/2014/main" id="{F05395D0-02F0-455F-9951-6E69465E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92430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tests/test_pipeline.py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7DFEB3-D813-4515-8D51-1F2A1887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7197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CLI 출력">
            <a:extLst xmlns:a="http://schemas.openxmlformats.org/drawingml/2006/main">
              <a:ext uri="{FF2B5EF4-FFF2-40B4-BE49-F238E27FC236}">
                <a16:creationId xmlns:a16="http://schemas.microsoft.com/office/drawing/2014/main" id="{10863415-3E5F-4DAB-B463-33DDA397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6722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출력</a:t>
            </a:r>
          </a:p>
        </p:txBody>
      </p:sp>
      <p:sp>
        <p:nvSpPr>
          <p:cNvPr id="23" name="width · height · pixel_count …">
            <a:extLst xmlns:a="http://schemas.openxmlformats.org/drawingml/2006/main">
              <a:ext uri="{FF2B5EF4-FFF2-40B4-BE49-F238E27FC236}">
                <a16:creationId xmlns:a16="http://schemas.microsoft.com/office/drawing/2014/main" id="{CB478725-5A76-4075-99F3-6011C0C7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6722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width · height · pixel_count …</a:t>
            </a:r>
          </a:p>
        </p:txBody>
      </p:sp>
      <p:sp>
        <p:nvSpPr>
          <p:cNvPr id="24" name="32줄 · 1,303 bytes">
            <a:extLst xmlns:a="http://schemas.openxmlformats.org/drawingml/2006/main">
              <a:ext uri="{FF2B5EF4-FFF2-40B4-BE49-F238E27FC236}">
                <a16:creationId xmlns:a16="http://schemas.microsoft.com/office/drawing/2014/main" id="{E01D1BFE-DA54-43F9-AE4C-49F8F4A1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067300"/>
            <a:ext cx="6972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32줄 · 1,303 bytes</a:t>
            </a:r>
          </a:p>
        </p:txBody>
      </p:sp>
      <p:sp>
        <p:nvSpPr>
          <p:cNvPr id="25" name="이번 Task에도 필요할까?">
            <a:extLst xmlns:a="http://schemas.openxmlformats.org/drawingml/2006/main">
              <a:ext uri="{FF2B5EF4-FFF2-40B4-BE49-F238E27FC236}">
                <a16:creationId xmlns:a16="http://schemas.microsoft.com/office/drawing/2014/main" id="{92BFBBEF-5399-4B82-8439-D683D67E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Task에도 필요할까?</a:t>
            </a:r>
          </a:p>
        </p:txBody>
      </p:sp>
    </p:spTree>
    <p:extLst>
      <p:ext uri="{BB962C8B-B14F-4D97-AF65-F5344CB8AC3E}">
        <p14:creationId xmlns:p14="http://schemas.microsoft.com/office/powerpoint/2010/main" val="10553043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2 · 관련성을 확인하기">
            <a:extLst xmlns:a="http://schemas.openxmlformats.org/drawingml/2006/main">
              <a:ext uri="{FF2B5EF4-FFF2-40B4-BE49-F238E27FC236}">
                <a16:creationId xmlns:a16="http://schemas.microsoft.com/office/drawing/2014/main" id="{11688698-065F-4205-8995-C46782B9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관련성을 확인하기</a:t>
            </a:r>
          </a:p>
        </p:txBody>
      </p:sp>
      <p:sp>
        <p:nvSpPr>
          <p:cNvPr id="2" name="S27">
            <a:extLst xmlns:a="http://schemas.openxmlformats.org/drawingml/2006/main">
              <a:ext uri="{FF2B5EF4-FFF2-40B4-BE49-F238E27FC236}">
                <a16:creationId xmlns:a16="http://schemas.microsoft.com/office/drawing/2014/main" id="{C9F04141-3456-43D2-ADF7-68EB667E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S27</a:t>
            </a:r>
          </a:p>
        </p:txBody>
      </p:sp>
      <p:sp>
        <p:nvSpPr>
          <p:cNvPr id="3" name="정확하지만 이번 Task에는 불필요한 정보">
            <a:extLst xmlns:a="http://schemas.openxmlformats.org/drawingml/2006/main">
              <a:ext uri="{FF2B5EF4-FFF2-40B4-BE49-F238E27FC236}">
                <a16:creationId xmlns:a16="http://schemas.microsoft.com/office/drawing/2014/main" id="{1C937E92-03B3-4B6C-AE28-C88B0DC6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정확하지만 이번 Task에는 불필요한 정보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E91DA5-5FD9-4AE9-9A4D-9D757058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4 · README의 build tools 안내를 명확히 하는 작업">
            <a:extLst xmlns:a="http://schemas.openxmlformats.org/drawingml/2006/main">
              <a:ext uri="{FF2B5EF4-FFF2-40B4-BE49-F238E27FC236}">
                <a16:creationId xmlns:a16="http://schemas.microsoft.com/office/drawing/2014/main" id="{4262A541-8CE1-4B36-B8CB-B0AF2317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TRIAL-004 · README의 build tools 안내를 명확히 하는 작업</a:t>
            </a:r>
          </a:p>
        </p:txBody>
      </p:sp>
      <p:sp>
        <p:nvSpPr>
          <p:cNvPr id="6" name="Agent 혼란과 Context 관련 실패는 관찰되지 않았다">
            <a:extLst xmlns:a="http://schemas.openxmlformats.org/drawingml/2006/main">
              <a:ext uri="{FF2B5EF4-FFF2-40B4-BE49-F238E27FC236}">
                <a16:creationId xmlns:a16="http://schemas.microsoft.com/office/drawing/2014/main" id="{48DB5397-C170-45AA-A121-B2013954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 혼란과 Context 관련 실패는 관찰되지 않았다</a:t>
            </a:r>
          </a:p>
        </p:txBody>
      </p:sp>
      <p:sp>
        <p:nvSpPr>
          <p:cNvPr id="7" name="작업: README의 빌드 도구 안내를 고친다">
            <a:extLst xmlns:a="http://schemas.openxmlformats.org/drawingml/2006/main">
              <a:ext uri="{FF2B5EF4-FFF2-40B4-BE49-F238E27FC236}">
                <a16:creationId xmlns:a16="http://schemas.microsoft.com/office/drawing/2014/main" id="{1CC2FF88-92E3-41AA-8AC4-E7E625D9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작업: README의 빌드 도구 안내를 고친다</a:t>
            </a:r>
          </a:p>
        </p:txBody>
      </p:sp>
      <p:sp>
        <p:nvSpPr>
          <p:cNvPr id="8" name="이번 질문과 직접 관련">
            <a:extLst xmlns:a="http://schemas.openxmlformats.org/drawingml/2006/main">
              <a:ext uri="{FF2B5EF4-FFF2-40B4-BE49-F238E27FC236}">
                <a16:creationId xmlns:a16="http://schemas.microsoft.com/office/drawing/2014/main" id="{C909FF74-AF6D-400A-9475-D4487171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질문과 직접 관련</a:t>
            </a:r>
          </a:p>
        </p:txBody>
      </p:sp>
      <p:sp>
        <p:nvSpPr>
          <p:cNvPr id="9" name="함께 있었지만 관련이 낮은 정보">
            <a:extLst xmlns:a="http://schemas.openxmlformats.org/drawingml/2006/main">
              <a:ext uri="{FF2B5EF4-FFF2-40B4-BE49-F238E27FC236}">
                <a16:creationId xmlns:a16="http://schemas.microsoft.com/office/drawing/2014/main" id="{18228FE4-DBE4-4E4D-A604-2212E4A0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있었지만 관련이 낮은 정보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819A0-8FC4-4B88-8208-139DC718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436217-D89E-426B-B2E9-6296F56C2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30CBA8-70FE-480A-A1EE-C68F9E79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495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ADME&#10;pyproject.toml의 빌드 설정">
            <a:extLst xmlns:a="http://schemas.openxmlformats.org/drawingml/2006/main">
              <a:ext uri="{FF2B5EF4-FFF2-40B4-BE49-F238E27FC236}">
                <a16:creationId xmlns:a16="http://schemas.microsoft.com/office/drawing/2014/main" id="{7C7A6FDC-7E65-46A6-9AC4-5A053886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4495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pyproject.toml의 빌드 설정</a:t>
            </a:r>
          </a:p>
        </p:txBody>
      </p:sp>
      <p:sp>
        <p:nvSpPr>
          <p:cNvPr id="14" name="crop / resize 계약&#10;이미지 처리 pipeline 세부사항">
            <a:extLst xmlns:a="http://schemas.openxmlformats.org/drawingml/2006/main">
              <a:ext uri="{FF2B5EF4-FFF2-40B4-BE49-F238E27FC236}">
                <a16:creationId xmlns:a16="http://schemas.microsoft.com/office/drawing/2014/main" id="{714BD7F1-3351-4AD6-A2FE-950DE224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crop / resize 계약</a:t>
            </a:r>
          </a:p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처리 pipeline 세부사항</a:t>
            </a:r>
          </a:p>
        </p:txBody>
      </p:sp>
      <p:sp>
        <p:nvSpPr>
          <p:cNvPr id="15" name="정확한 정보라도, 모든 질문에 필요한 것은 아니다">
            <a:extLst xmlns:a="http://schemas.openxmlformats.org/drawingml/2006/main">
              <a:ext uri="{FF2B5EF4-FFF2-40B4-BE49-F238E27FC236}">
                <a16:creationId xmlns:a16="http://schemas.microsoft.com/office/drawing/2014/main" id="{801454AC-AD4D-4F7C-8394-55BF1350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정확한 정보라도, 모든 질문에 필요한 것은 아니다</a:t>
            </a:r>
          </a:p>
        </p:txBody>
      </p:sp>
    </p:spTree>
    <p:extLst>
      <p:ext uri="{BB962C8B-B14F-4D97-AF65-F5344CB8AC3E}">
        <p14:creationId xmlns:p14="http://schemas.microsoft.com/office/powerpoint/2010/main" val="3892414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2 · 언제 필요한 정보인가">
            <a:extLst xmlns:a="http://schemas.openxmlformats.org/drawingml/2006/main">
              <a:ext uri="{FF2B5EF4-FFF2-40B4-BE49-F238E27FC236}">
                <a16:creationId xmlns:a16="http://schemas.microsoft.com/office/drawing/2014/main" id="{3D64E21B-F3D6-4A56-A5C8-6B8080C7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언제 필요한 정보인가</a:t>
            </a:r>
          </a:p>
        </p:txBody>
      </p:sp>
      <p:sp>
        <p:nvSpPr>
          <p:cNvPr id="2" name="S28">
            <a:extLst xmlns:a="http://schemas.openxmlformats.org/drawingml/2006/main">
              <a:ext uri="{FF2B5EF4-FFF2-40B4-BE49-F238E27FC236}">
                <a16:creationId xmlns:a16="http://schemas.microsoft.com/office/drawing/2014/main" id="{0C2B5E7D-86F8-4F32-9B64-814D5A21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S28</a:t>
            </a:r>
          </a:p>
        </p:txBody>
      </p:sp>
      <p:sp>
        <p:nvSpPr>
          <p:cNvPr id="3" name="정보의 범위와 제공 시점">
            <a:extLst xmlns:a="http://schemas.openxmlformats.org/drawingml/2006/main">
              <a:ext uri="{FF2B5EF4-FFF2-40B4-BE49-F238E27FC236}">
                <a16:creationId xmlns:a16="http://schemas.microsoft.com/office/drawing/2014/main" id="{D0CA860D-8834-482D-AC10-BAD9AF3B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정보의 범위와 제공 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85409E-A82D-4DA0-8DD9-81F7A56E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분류 모델 · OpenAI의 공식 기능 분류가 아님">
            <a:extLst xmlns:a="http://schemas.openxmlformats.org/drawingml/2006/main">
              <a:ext uri="{FF2B5EF4-FFF2-40B4-BE49-F238E27FC236}">
                <a16:creationId xmlns:a16="http://schemas.microsoft.com/office/drawing/2014/main" id="{C86909C7-708B-41B5-87A3-9084BDCC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분류 모델 · OpenAI의 공식 기능 분류가 아님</a:t>
            </a:r>
          </a:p>
        </p:txBody>
      </p:sp>
      <p:sp>
        <p:nvSpPr>
          <p:cNvPr id="6" name="성능 조사 절차는 설명을 위한 예시이며 STATE-02에 저장돼 있었다는 뜻이 아님">
            <a:extLst xmlns:a="http://schemas.openxmlformats.org/drawingml/2006/main">
              <a:ext uri="{FF2B5EF4-FFF2-40B4-BE49-F238E27FC236}">
                <a16:creationId xmlns:a16="http://schemas.microsoft.com/office/drawing/2014/main" id="{2DB37B57-2C2E-4CC0-B544-173A8968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성능 조사 절차는 설명을 위한 예시이며 STATE-02에 저장돼 있었다는 뜻이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7DFC40-860A-48A3-8B44-083F2788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항상 알아야 할 안내">
            <a:extLst xmlns:a="http://schemas.openxmlformats.org/drawingml/2006/main">
              <a:ext uri="{FF2B5EF4-FFF2-40B4-BE49-F238E27FC236}">
                <a16:creationId xmlns:a16="http://schemas.microsoft.com/office/drawing/2014/main" id="{F473380D-5866-4BD1-9000-CEB9F716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알아야 할 안내</a:t>
            </a:r>
          </a:p>
        </p:txBody>
      </p:sp>
      <p:sp>
        <p:nvSpPr>
          <p:cNvPr id="9" name="프로젝트 목적 · 기본 제약">
            <a:extLst xmlns:a="http://schemas.openxmlformats.org/drawingml/2006/main">
              <a:ext uri="{FF2B5EF4-FFF2-40B4-BE49-F238E27FC236}">
                <a16:creationId xmlns:a16="http://schemas.microsoft.com/office/drawing/2014/main" id="{F1A5FAEC-58D4-42F7-99F9-2DB71BBE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3812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목적 · 기본 제약</a:t>
            </a:r>
          </a:p>
        </p:txBody>
      </p:sp>
      <p:sp>
        <p:nvSpPr>
          <p:cNvPr id="10" name="ALWAYS-ON">
            <a:extLst xmlns:a="http://schemas.openxmlformats.org/drawingml/2006/main">
              <a:ext uri="{FF2B5EF4-FFF2-40B4-BE49-F238E27FC236}">
                <a16:creationId xmlns:a16="http://schemas.microsoft.com/office/drawing/2014/main" id="{B3F89B66-1CF8-4C8E-BB4B-437FFBC1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ALWAYS-ON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011249-4449-4CD6-9C9D-BC983AF4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질문에 따라 찾아볼 상세">
            <a:extLst xmlns:a="http://schemas.openxmlformats.org/drawingml/2006/main">
              <a:ext uri="{FF2B5EF4-FFF2-40B4-BE49-F238E27FC236}">
                <a16:creationId xmlns:a16="http://schemas.microsoft.com/office/drawing/2014/main" id="{BAEC615B-C51E-4762-93C2-0A126A2A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질문에 따라 찾아볼 상세</a:t>
            </a:r>
          </a:p>
        </p:txBody>
      </p:sp>
      <p:sp>
        <p:nvSpPr>
          <p:cNvPr id="13" name="crop 계약 · 모듈 구조">
            <a:extLst xmlns:a="http://schemas.openxmlformats.org/drawingml/2006/main">
              <a:ext uri="{FF2B5EF4-FFF2-40B4-BE49-F238E27FC236}">
                <a16:creationId xmlns:a16="http://schemas.microsoft.com/office/drawing/2014/main" id="{46C841B1-2C06-4110-AB98-D4E783C4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4861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· 모듈 구조</a:t>
            </a:r>
          </a:p>
        </p:txBody>
      </p:sp>
      <p:sp>
        <p:nvSpPr>
          <p:cNvPr id="14" name="ON-DEMAND">
            <a:extLst xmlns:a="http://schemas.openxmlformats.org/drawingml/2006/main">
              <a:ext uri="{FF2B5EF4-FFF2-40B4-BE49-F238E27FC236}">
                <a16:creationId xmlns:a16="http://schemas.microsoft.com/office/drawing/2014/main" id="{9C669816-39EF-4A49-BD4A-C215AD72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ON-DEMAND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6EEBA5-335A-4692-9DAD-CCCBF716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런 일을 수행하는 방법">
            <a:extLst xmlns:a="http://schemas.openxmlformats.org/drawingml/2006/main">
              <a:ext uri="{FF2B5EF4-FFF2-40B4-BE49-F238E27FC236}">
                <a16:creationId xmlns:a16="http://schemas.microsoft.com/office/drawing/2014/main" id="{18636DD4-22E4-4D49-B1CE-F9F4B9D7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이런 일을 수행하는 방법</a:t>
            </a:r>
          </a:p>
        </p:txBody>
      </p:sp>
      <p:sp>
        <p:nvSpPr>
          <p:cNvPr id="17" name="변경 전 측정 → 조사 → 검증">
            <a:extLst xmlns:a="http://schemas.openxmlformats.org/drawingml/2006/main">
              <a:ext uri="{FF2B5EF4-FFF2-40B4-BE49-F238E27FC236}">
                <a16:creationId xmlns:a16="http://schemas.microsoft.com/office/drawing/2014/main" id="{542207F8-22AB-4651-907E-4DE1A4A9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5910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전 측정 → 조사 → 검증</a:t>
            </a:r>
          </a:p>
        </p:txBody>
      </p:sp>
      <p:sp>
        <p:nvSpPr>
          <p:cNvPr id="18" name="WORKFLOW">
            <a:extLst xmlns:a="http://schemas.openxmlformats.org/drawingml/2006/main">
              <a:ext uri="{FF2B5EF4-FFF2-40B4-BE49-F238E27FC236}">
                <a16:creationId xmlns:a16="http://schemas.microsoft.com/office/drawing/2014/main" id="{232EFDFD-1737-40CB-952D-F6DD597B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6536468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2 · 연구가 답한 질문">
            <a:extLst xmlns:a="http://schemas.openxmlformats.org/drawingml/2006/main">
              <a:ext uri="{FF2B5EF4-FFF2-40B4-BE49-F238E27FC236}">
                <a16:creationId xmlns:a16="http://schemas.microsoft.com/office/drawing/2014/main" id="{0745A1A8-3CDD-4FCE-8AEA-9BEE08B0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연구가 답한 질문</a:t>
            </a:r>
          </a:p>
        </p:txBody>
      </p:sp>
      <p:sp>
        <p:nvSpPr>
          <p:cNvPr id="2" name="S29">
            <a:extLst xmlns:a="http://schemas.openxmlformats.org/drawingml/2006/main">
              <a:ext uri="{FF2B5EF4-FFF2-40B4-BE49-F238E27FC236}">
                <a16:creationId xmlns:a16="http://schemas.microsoft.com/office/drawing/2014/main" id="{E5114B91-EFA6-4D83-82D4-194AF1A2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S29</a:t>
            </a:r>
          </a:p>
        </p:txBody>
      </p:sp>
      <p:sp>
        <p:nvSpPr>
          <p:cNvPr id="3" name="Long Context 연구가 말해주는 범위">
            <a:extLst xmlns:a="http://schemas.openxmlformats.org/drawingml/2006/main">
              <a:ext uri="{FF2B5EF4-FFF2-40B4-BE49-F238E27FC236}">
                <a16:creationId xmlns:a16="http://schemas.microsoft.com/office/drawing/2014/main" id="{DBFBBDCC-7AD3-41C7-AB3F-DD6618C9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Long Context 연구가 말해주는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0EA6BD-7DEF-437F-863B-CB151BF9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Liu et al., Lost in the Middle, TACL 2024 · RepoQA, 2024">
            <a:extLst xmlns:a="http://schemas.openxmlformats.org/drawingml/2006/main">
              <a:ext uri="{FF2B5EF4-FFF2-40B4-BE49-F238E27FC236}">
                <a16:creationId xmlns:a16="http://schemas.microsoft.com/office/drawing/2014/main" id="{72726B87-7A01-4AE4-B384-8E5957E5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Liu et al., Lost in the Middle, TACL 2024 · RepoQA, 2024</a:t>
            </a:r>
          </a:p>
        </p:txBody>
      </p:sp>
      <p:sp>
        <p:nvSpPr>
          <p:cNvPr id="6" name="특정 모델·과제의 결과 · 현재 Codex의 Repository coding 한계를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4AE14F06-0CE3-446D-8113-F219A896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모델·과제의 결과 · 현재 Codex의 Repository coding 한계를 입증하지 않음</a:t>
            </a:r>
          </a:p>
        </p:txBody>
      </p:sp>
      <p:sp>
        <p:nvSpPr>
          <p:cNvPr id="7" name="더 많은 Context가 항상 더 좋은 것은 아니다">
            <a:extLst xmlns:a="http://schemas.openxmlformats.org/drawingml/2006/main">
              <a:ext uri="{FF2B5EF4-FFF2-40B4-BE49-F238E27FC236}">
                <a16:creationId xmlns:a16="http://schemas.microsoft.com/office/drawing/2014/main" id="{D5E41873-6B04-4BDE-96D9-56EE84C0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많은 Context가 항상 더 좋은 것은 아니다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FE5DF6-9A84-4518-8EED-B8AA086B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Lost in the Middle">
            <a:extLst xmlns:a="http://schemas.openxmlformats.org/drawingml/2006/main">
              <a:ext uri="{FF2B5EF4-FFF2-40B4-BE49-F238E27FC236}">
                <a16:creationId xmlns:a16="http://schemas.microsoft.com/office/drawing/2014/main" id="{E82ABD21-9644-4CCD-BE6F-DB58D254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Lost in the Middle</a:t>
            </a:r>
          </a:p>
        </p:txBody>
      </p:sp>
      <p:sp>
        <p:nvSpPr>
          <p:cNvPr id="10" name="여러 문서의 질문 답변 · key-value 검색">
            <a:extLst xmlns:a="http://schemas.openxmlformats.org/drawingml/2006/main">
              <a:ext uri="{FF2B5EF4-FFF2-40B4-BE49-F238E27FC236}">
                <a16:creationId xmlns:a16="http://schemas.microsoft.com/office/drawing/2014/main" id="{EE6D2456-2C16-4C90-83A1-B00509DD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문서의 질문 답변 · key-value 검색</a:t>
            </a:r>
          </a:p>
        </p:txBody>
      </p:sp>
      <p:sp>
        <p:nvSpPr>
          <p:cNvPr id="11" name="관련 정보의 위치가&#10;일부 조건에서 중요할 수 있다">
            <a:extLst xmlns:a="http://schemas.openxmlformats.org/drawingml/2006/main">
              <a:ext uri="{FF2B5EF4-FFF2-40B4-BE49-F238E27FC236}">
                <a16:creationId xmlns:a16="http://schemas.microsoft.com/office/drawing/2014/main" id="{0ED2D129-A042-47BA-868E-75414B3B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23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정보의 위치가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일부 조건에서 중요할 수 있다</a:t>
            </a:r>
          </a:p>
        </p:txBody>
      </p:sp>
      <p:sp>
        <p:nvSpPr>
          <p:cNvPr id="12" name="RepoQA">
            <a:extLst xmlns:a="http://schemas.openxmlformats.org/drawingml/2006/main">
              <a:ext uri="{FF2B5EF4-FFF2-40B4-BE49-F238E27FC236}">
                <a16:creationId xmlns:a16="http://schemas.microsoft.com/office/drawing/2014/main" id="{00E913B6-411C-4E69-8673-431F37BE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9085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RepoQA</a:t>
            </a:r>
          </a:p>
        </p:txBody>
      </p:sp>
      <p:sp>
        <p:nvSpPr>
          <p:cNvPr id="13" name="50개 Repository의 코드 검색 과제">
            <a:extLst xmlns:a="http://schemas.openxmlformats.org/drawingml/2006/main">
              <a:ext uri="{FF2B5EF4-FFF2-40B4-BE49-F238E27FC236}">
                <a16:creationId xmlns:a16="http://schemas.microsoft.com/office/drawing/2014/main" id="{7C2A7121-C668-4B35-9949-9881651D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14725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50개 Repository의 코드 검색 과제</a:t>
            </a:r>
          </a:p>
        </p:txBody>
      </p:sp>
      <p:sp>
        <p:nvSpPr>
          <p:cNvPr id="14" name="관련 코드 정보를&#10;선택하고 찾는 능력을 평가">
            <a:extLst xmlns:a="http://schemas.openxmlformats.org/drawingml/2006/main">
              <a:ext uri="{FF2B5EF4-FFF2-40B4-BE49-F238E27FC236}">
                <a16:creationId xmlns:a16="http://schemas.microsoft.com/office/drawing/2014/main" id="{8C2029A6-4693-440D-8890-5303D16D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10025"/>
            <a:ext cx="4876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코드 정보를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선택하고 찾는 능력을 평가</a:t>
            </a:r>
          </a:p>
        </p:txBody>
      </p:sp>
      <p:sp>
        <p:nvSpPr>
          <p:cNvPr id="15" name="aclanthology.org/2024.tacl-1.9/">
            <a:extLst xmlns:a="http://schemas.openxmlformats.org/drawingml/2006/main">
              <a:ext uri="{FF2B5EF4-FFF2-40B4-BE49-F238E27FC236}">
                <a16:creationId xmlns:a16="http://schemas.microsoft.com/office/drawing/2014/main" id="{DE7EBC5C-BE3F-41D6-AC84-DC313D660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5238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aclanthology.org/2024.tacl-1.9/</a:t>
            </a:r>
          </a:p>
        </p:txBody>
      </p:sp>
      <p:sp>
        <p:nvSpPr>
          <p:cNvPr id="16" name="arxiv.org/abs/2406.06025">
            <a:extLst xmlns:a="http://schemas.openxmlformats.org/drawingml/2006/main">
              <a:ext uri="{FF2B5EF4-FFF2-40B4-BE49-F238E27FC236}">
                <a16:creationId xmlns:a16="http://schemas.microsoft.com/office/drawing/2014/main" id="{5E5D9630-13F9-4840-95DB-BCDEAE02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29225"/>
            <a:ext cx="487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arxiv.org/abs/2406.06025</a:t>
            </a:r>
          </a:p>
        </p:txBody>
      </p:sp>
    </p:spTree>
    <p:extLst>
      <p:ext uri="{BB962C8B-B14F-4D97-AF65-F5344CB8AC3E}">
        <p14:creationId xmlns:p14="http://schemas.microsoft.com/office/powerpoint/2010/main" val="7776046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2 · Context를 찾게 하는 설계">
            <a:extLst xmlns:a="http://schemas.openxmlformats.org/drawingml/2006/main">
              <a:ext uri="{FF2B5EF4-FFF2-40B4-BE49-F238E27FC236}">
                <a16:creationId xmlns:a16="http://schemas.microsoft.com/office/drawing/2014/main" id="{166DBDF9-C640-464A-882A-D32195F9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Context를 찾게 하는 설계</a:t>
            </a:r>
          </a:p>
        </p:txBody>
      </p:sp>
      <p:sp>
        <p:nvSpPr>
          <p:cNvPr id="2" name="S30">
            <a:extLst xmlns:a="http://schemas.openxmlformats.org/drawingml/2006/main">
              <a:ext uri="{FF2B5EF4-FFF2-40B4-BE49-F238E27FC236}">
                <a16:creationId xmlns:a16="http://schemas.microsoft.com/office/drawing/2014/main" id="{2CCC388F-F2B5-412A-88F1-CD0CE802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S30</a:t>
            </a:r>
          </a:p>
        </p:txBody>
      </p:sp>
      <p:sp>
        <p:nvSpPr>
          <p:cNvPr id="3" name="필요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A1AA4568-2414-454A-BC1C-1A89E74E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4F5DCC-A6A2-4B6D-8C9C-C2E311C7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Routing 모델 · 실제 문서 접근 결과는 다음 구간에서 확인">
            <a:extLst xmlns:a="http://schemas.openxmlformats.org/drawingml/2006/main">
              <a:ext uri="{FF2B5EF4-FFF2-40B4-BE49-F238E27FC236}">
                <a16:creationId xmlns:a16="http://schemas.microsoft.com/office/drawing/2014/main" id="{8BF9109A-9541-4151-8F23-FBA6A180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Routing 모델 · 실제 문서 접근 결과는 다음 구간에서 확인</a:t>
            </a:r>
          </a:p>
        </p:txBody>
      </p:sp>
      <p:sp>
        <p:nvSpPr>
          <p:cNvPr id="6" name="검색 성능 향상이나 토큰 절약을 입증한 그림이 아님">
            <a:extLst xmlns:a="http://schemas.openxmlformats.org/drawingml/2006/main">
              <a:ext uri="{FF2B5EF4-FFF2-40B4-BE49-F238E27FC236}">
                <a16:creationId xmlns:a16="http://schemas.microsoft.com/office/drawing/2014/main" id="{A6619121-81EA-4731-80F8-329006FD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검색 성능 향상이나 토큰 절약을 입증한 그림이 아님</a:t>
            </a:r>
          </a:p>
        </p:txBody>
      </p:sp>
      <p:sp>
        <p:nvSpPr>
          <p:cNvPr id="7" name="어떤 질문에서 어떤 상세 정보가 필요할까?">
            <a:extLst xmlns:a="http://schemas.openxmlformats.org/drawingml/2006/main">
              <a:ext uri="{FF2B5EF4-FFF2-40B4-BE49-F238E27FC236}">
                <a16:creationId xmlns:a16="http://schemas.microsoft.com/office/drawing/2014/main" id="{4ED9604E-5231-4AD1-B76B-13E790AE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어떤 질문에서 어떤 상세 정보가 필요할까?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8CC9C-9309-4B00-838E-90608A62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339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Task">
            <a:extLst xmlns:a="http://schemas.openxmlformats.org/drawingml/2006/main">
              <a:ext uri="{FF2B5EF4-FFF2-40B4-BE49-F238E27FC236}">
                <a16:creationId xmlns:a16="http://schemas.microsoft.com/office/drawing/2014/main" id="{25CFDF66-DDAE-48FE-8737-9E69211C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0" name="지금 해결할 질문">
            <a:extLst xmlns:a="http://schemas.openxmlformats.org/drawingml/2006/main">
              <a:ext uri="{FF2B5EF4-FFF2-40B4-BE49-F238E27FC236}">
                <a16:creationId xmlns:a16="http://schemas.microsoft.com/office/drawing/2014/main" id="{3EEC2834-0E7F-460A-89E6-C648329E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33909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해결할 질문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8FDEE-89B3-46F4-B56D-ADF75CF8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381375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B70ABE-3972-4DE1-89AF-EE390698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62275"/>
            <a:ext cx="339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Core Context">
            <a:extLst xmlns:a="http://schemas.openxmlformats.org/drawingml/2006/main">
              <a:ext uri="{FF2B5EF4-FFF2-40B4-BE49-F238E27FC236}">
                <a16:creationId xmlns:a16="http://schemas.microsoft.com/office/drawing/2014/main" id="{5EBCAA12-ABC8-403B-9F70-2B2D4F91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527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</a:t>
            </a:r>
          </a:p>
        </p:txBody>
      </p:sp>
      <p:sp>
        <p:nvSpPr>
          <p:cNvPr id="14" name="프로젝트 안내와&#10;찾아갈 위치">
            <a:extLst xmlns:a="http://schemas.openxmlformats.org/drawingml/2006/main">
              <a:ext uri="{FF2B5EF4-FFF2-40B4-BE49-F238E27FC236}">
                <a16:creationId xmlns:a16="http://schemas.microsoft.com/office/drawing/2014/main" id="{4ED3DE4C-78FB-49DE-B9E0-699A9C8B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14775"/>
            <a:ext cx="33909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안내와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찾아갈 위치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AB0DD5-1CDC-406E-ACF3-28540327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381375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A3041B-F4DD-4B50-B6CC-93A0739B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62275"/>
            <a:ext cx="339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련 상세 정보">
            <a:extLst xmlns:a="http://schemas.openxmlformats.org/drawingml/2006/main">
              <a:ext uri="{FF2B5EF4-FFF2-40B4-BE49-F238E27FC236}">
                <a16:creationId xmlns:a16="http://schemas.microsoft.com/office/drawing/2014/main" id="{99C16ABF-6EAE-4328-A6EB-2EE122F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527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상세 정보</a:t>
            </a:r>
          </a:p>
        </p:txBody>
      </p:sp>
      <p:sp>
        <p:nvSpPr>
          <p:cNvPr id="18" name="질문에 필요한&#10;계약 · 구조 · 테스트">
            <a:extLst xmlns:a="http://schemas.openxmlformats.org/drawingml/2006/main">
              <a:ext uri="{FF2B5EF4-FFF2-40B4-BE49-F238E27FC236}">
                <a16:creationId xmlns:a16="http://schemas.microsoft.com/office/drawing/2014/main" id="{A0BF9ABD-55FF-4A61-9790-AA1C2A46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14775"/>
            <a:ext cx="33909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질문에 필요한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계약 · 구조 · 테스트</a:t>
            </a:r>
          </a:p>
        </p:txBody>
      </p:sp>
      <p:sp>
        <p:nvSpPr>
          <p:cNvPr id="19" name="C++ 예: 공통 제약을 확인한 뒤, 해당 알고리즘의 계약으로">
            <a:extLst xmlns:a="http://schemas.openxmlformats.org/drawingml/2006/main">
              <a:ext uri="{FF2B5EF4-FFF2-40B4-BE49-F238E27FC236}">
                <a16:creationId xmlns:a16="http://schemas.microsoft.com/office/drawing/2014/main" id="{694E44C7-1896-44C4-B42E-55D3D74D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공통 제약을 확인한 뒤, 해당 알고리즘의 계약으로</a:t>
            </a:r>
          </a:p>
        </p:txBody>
      </p:sp>
    </p:spTree>
    <p:extLst>
      <p:ext uri="{BB962C8B-B14F-4D97-AF65-F5344CB8AC3E}">
        <p14:creationId xmlns:p14="http://schemas.microsoft.com/office/powerpoint/2010/main" val="18114664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2 · 기본 안내와 상세 정보">
            <a:extLst xmlns:a="http://schemas.openxmlformats.org/drawingml/2006/main">
              <a:ext uri="{FF2B5EF4-FFF2-40B4-BE49-F238E27FC236}">
                <a16:creationId xmlns:a16="http://schemas.microsoft.com/office/drawing/2014/main" id="{FA1A9A85-F1D8-40D7-BD41-07156337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기본 안내와 상세 정보</a:t>
            </a:r>
          </a:p>
        </p:txBody>
      </p:sp>
      <p:sp>
        <p:nvSpPr>
          <p:cNvPr id="2" name="S31">
            <a:extLst xmlns:a="http://schemas.openxmlformats.org/drawingml/2006/main">
              <a:ext uri="{FF2B5EF4-FFF2-40B4-BE49-F238E27FC236}">
                <a16:creationId xmlns:a16="http://schemas.microsoft.com/office/drawing/2014/main" id="{46555C89-5B79-4A5E-BCA9-8DCEAD9A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S31</a:t>
            </a:r>
          </a:p>
        </p:txBody>
      </p:sp>
      <p:sp>
        <p:nvSpPr>
          <p:cNvPr id="3" name="Core Context에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6E5CE165-9DCF-41A1-A614-1F827FC5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Context에서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535D83-FB6B-4F81-9CA3-4D051F35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정보 설계 · Root/Core는 상세 정보의 출발점">
            <a:extLst xmlns:a="http://schemas.openxmlformats.org/drawingml/2006/main">
              <a:ext uri="{FF2B5EF4-FFF2-40B4-BE49-F238E27FC236}">
                <a16:creationId xmlns:a16="http://schemas.microsoft.com/office/drawing/2014/main" id="{C205904B-C1C2-4FD2-BB23-20242709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정보 설계 · Root/Core는 상세 정보의 출발점</a:t>
            </a:r>
          </a:p>
        </p:txBody>
      </p:sp>
      <p:sp>
        <p:nvSpPr>
          <p:cNvPr id="6" name="C++ 예: build/test 진입점과 기본 제약 → 알고리즘 계약·하드웨어 조건">
            <a:extLst xmlns:a="http://schemas.openxmlformats.org/drawingml/2006/main">
              <a:ext uri="{FF2B5EF4-FFF2-40B4-BE49-F238E27FC236}">
                <a16:creationId xmlns:a16="http://schemas.microsoft.com/office/drawing/2014/main" id="{04C8A47F-BF5D-4E49-8C48-C38D5592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build/test 진입점과 기본 제약 → 알고리즘 계약·하드웨어 조건</a:t>
            </a:r>
          </a:p>
        </p:txBody>
      </p:sp>
      <p:sp>
        <p:nvSpPr>
          <p:cNvPr id="7" name="기본 안내에 남기는 것">
            <a:extLst xmlns:a="http://schemas.openxmlformats.org/drawingml/2006/main">
              <a:ext uri="{FF2B5EF4-FFF2-40B4-BE49-F238E27FC236}">
                <a16:creationId xmlns:a16="http://schemas.microsoft.com/office/drawing/2014/main" id="{66240A4E-B1B2-474B-BF03-3BD66A7D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4362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기본 안내에 남기는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86E6E7-42BC-45D2-87D6-7ACA4396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43624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프로젝트의 목적&#10;항상 지켜야 할 제약&#10;상세 정보를 찾을 위치">
            <a:extLst xmlns:a="http://schemas.openxmlformats.org/drawingml/2006/main">
              <a:ext uri="{FF2B5EF4-FFF2-40B4-BE49-F238E27FC236}">
                <a16:creationId xmlns:a16="http://schemas.microsoft.com/office/drawing/2014/main" id="{B5824487-C8BD-4722-B8FB-181D2941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39052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목적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지켜야 할 제약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정보를 찾을 위치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9EDE96-FD45-4486-8FB8-CB5BABA7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657600"/>
            <a:ext cx="5429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필요할 때 펼치는 것">
            <a:extLst xmlns:a="http://schemas.openxmlformats.org/drawingml/2006/main">
              <a:ext uri="{FF2B5EF4-FFF2-40B4-BE49-F238E27FC236}">
                <a16:creationId xmlns:a16="http://schemas.microsoft.com/office/drawing/2014/main" id="{1659923A-2242-4B51-B7A9-B76CCD3A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19325"/>
            <a:ext cx="5105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필요할 때 펼치는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0CB57B-4626-4E2F-A10B-BCE18CCD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38450"/>
            <a:ext cx="5105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architecture">
            <a:extLst xmlns:a="http://schemas.openxmlformats.org/drawingml/2006/main">
              <a:ext uri="{FF2B5EF4-FFF2-40B4-BE49-F238E27FC236}">
                <a16:creationId xmlns:a16="http://schemas.microsoft.com/office/drawing/2014/main" id="{4FC3C2A7-AAE4-412A-97F8-14724B85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337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architecture</a:t>
            </a:r>
          </a:p>
        </p:txBody>
      </p:sp>
      <p:sp>
        <p:nvSpPr>
          <p:cNvPr id="14" name="모듈과 처리 순서">
            <a:extLst xmlns:a="http://schemas.openxmlformats.org/drawingml/2006/main">
              <a:ext uri="{FF2B5EF4-FFF2-40B4-BE49-F238E27FC236}">
                <a16:creationId xmlns:a16="http://schemas.microsoft.com/office/drawing/2014/main" id="{32C1ABDE-20D0-40A4-9666-D4FD45DC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3370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모듈과 처리 순서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E7C9D9-40FF-4D72-8D4E-8F0F1F4A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81400"/>
            <a:ext cx="5105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image contracts">
            <a:extLst xmlns:a="http://schemas.openxmlformats.org/drawingml/2006/main">
              <a:ext uri="{FF2B5EF4-FFF2-40B4-BE49-F238E27FC236}">
                <a16:creationId xmlns:a16="http://schemas.microsoft.com/office/drawing/2014/main" id="{57CC0FCA-DC51-4AF4-832A-A4AD47C1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766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image contracts</a:t>
            </a:r>
          </a:p>
        </p:txBody>
      </p:sp>
      <p:sp>
        <p:nvSpPr>
          <p:cNvPr id="17" name="이미지 동작의 계약">
            <a:extLst xmlns:a="http://schemas.openxmlformats.org/drawingml/2006/main">
              <a:ext uri="{FF2B5EF4-FFF2-40B4-BE49-F238E27FC236}">
                <a16:creationId xmlns:a16="http://schemas.microsoft.com/office/drawing/2014/main" id="{8436A765-599D-4E72-90F6-11F1261D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766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동작의 계약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9FE52A-3E24-400E-817B-499B6C39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24350"/>
            <a:ext cx="5105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testing">
            <a:extLst xmlns:a="http://schemas.openxmlformats.org/drawingml/2006/main">
              <a:ext uri="{FF2B5EF4-FFF2-40B4-BE49-F238E27FC236}">
                <a16:creationId xmlns:a16="http://schemas.microsoft.com/office/drawing/2014/main" id="{A7EDE2C1-4CF6-4D5F-9B8E-50BD6CBB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196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testing</a:t>
            </a:r>
          </a:p>
        </p:txBody>
      </p:sp>
      <p:sp>
        <p:nvSpPr>
          <p:cNvPr id="20" name="테스트 위치와 범위">
            <a:extLst xmlns:a="http://schemas.openxmlformats.org/drawingml/2006/main">
              <a:ext uri="{FF2B5EF4-FFF2-40B4-BE49-F238E27FC236}">
                <a16:creationId xmlns:a16="http://schemas.microsoft.com/office/drawing/2014/main" id="{BBB729B2-E47F-4CC8-97C7-A787E8C3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1960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위치와 범위</a:t>
            </a:r>
          </a:p>
        </p:txBody>
      </p:sp>
      <p:sp>
        <p:nvSpPr>
          <p:cNvPr id="21" name="모든 지식을 넣기보다, 상세 정보까지 가는 길을 안내한다">
            <a:extLst xmlns:a="http://schemas.openxmlformats.org/drawingml/2006/main">
              <a:ext uri="{FF2B5EF4-FFF2-40B4-BE49-F238E27FC236}">
                <a16:creationId xmlns:a16="http://schemas.microsoft.com/office/drawing/2014/main" id="{E4E50B01-E0B3-4045-B921-9942A54C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모든 지식을 넣기보다, 상세 정보까지 가는 길을 안내한다</a:t>
            </a:r>
          </a:p>
        </p:txBody>
      </p:sp>
    </p:spTree>
    <p:extLst>
      <p:ext uri="{BB962C8B-B14F-4D97-AF65-F5344CB8AC3E}">
        <p14:creationId xmlns:p14="http://schemas.microsoft.com/office/powerpoint/2010/main" val="9479536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2 · STATE-03의 문서 구조">
            <a:extLst xmlns:a="http://schemas.openxmlformats.org/drawingml/2006/main">
              <a:ext uri="{FF2B5EF4-FFF2-40B4-BE49-F238E27FC236}">
                <a16:creationId xmlns:a16="http://schemas.microsoft.com/office/drawing/2014/main" id="{1538198A-F143-4D08-A589-AE670CA7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STATE-03의 문서 구조</a:t>
            </a:r>
          </a:p>
        </p:txBody>
      </p:sp>
      <p:sp>
        <p:nvSpPr>
          <p:cNvPr id="2" name="S32">
            <a:extLst xmlns:a="http://schemas.openxmlformats.org/drawingml/2006/main">
              <a:ext uri="{FF2B5EF4-FFF2-40B4-BE49-F238E27FC236}">
                <a16:creationId xmlns:a16="http://schemas.microsoft.com/office/drawing/2014/main" id="{890BAD34-3687-4FA3-950F-124C79F7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S32</a:t>
            </a:r>
          </a:p>
        </p:txBody>
      </p:sp>
      <p:sp>
        <p:nvSpPr>
          <p:cNvPr id="3" name="정보를 지우지 않고 위치를 나누기">
            <a:extLst xmlns:a="http://schemas.openxmlformats.org/drawingml/2006/main">
              <a:ext uri="{FF2B5EF4-FFF2-40B4-BE49-F238E27FC236}">
                <a16:creationId xmlns:a16="http://schemas.microsoft.com/office/drawing/2014/main" id="{AD2028CE-2A1A-46BF-8947-55EA2F8D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정보를 지우지 않고 위치를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FE56A3-F86A-4EDE-B774-3163B0F7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2 → STATE-03 · 실제 파일 구조와 Routing 문구 발췌">
            <a:extLst xmlns:a="http://schemas.openxmlformats.org/drawingml/2006/main">
              <a:ext uri="{FF2B5EF4-FFF2-40B4-BE49-F238E27FC236}">
                <a16:creationId xmlns:a16="http://schemas.microsoft.com/office/drawing/2014/main" id="{88D91A5F-0AD7-40AA-A65A-F18248F0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STATE-02 → STATE-03 · 실제 파일 구조와 Routing 문구 발췌</a:t>
            </a:r>
          </a:p>
        </p:txBody>
      </p:sp>
      <p:sp>
        <p:nvSpPr>
          <p:cNvPr id="6" name="내용을 Scope에 맞춰 이동 · 구조 변화 자체가 완벽한 Routing이나 성능 향상 증거는 아님">
            <a:extLst xmlns:a="http://schemas.openxmlformats.org/drawingml/2006/main">
              <a:ext uri="{FF2B5EF4-FFF2-40B4-BE49-F238E27FC236}">
                <a16:creationId xmlns:a16="http://schemas.microsoft.com/office/drawing/2014/main" id="{947156E6-D616-4E77-823C-D1C7F217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내용을 Scope에 맞춰 이동 · 구조 변화 자체가 완벽한 Routing이나 성능 향상 증거는 아님</a:t>
            </a:r>
          </a:p>
        </p:txBody>
      </p:sp>
      <p:sp>
        <p:nvSpPr>
          <p:cNvPr id="7" name="이전: AGENTS.md 안에 세부사항까지">
            <a:extLst xmlns:a="http://schemas.openxmlformats.org/drawingml/2006/main">
              <a:ext uri="{FF2B5EF4-FFF2-40B4-BE49-F238E27FC236}">
                <a16:creationId xmlns:a16="http://schemas.microsoft.com/office/drawing/2014/main" id="{48D0DB83-78B0-47B3-A093-4F032E4A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이전: AGENTS.md 안에 세부사항까지</a:t>
            </a:r>
          </a:p>
        </p:txBody>
      </p:sp>
      <p:sp>
        <p:nvSpPr>
          <p:cNvPr id="8" name="이후: 기본 안내 + 상세 문서로 가는 링크">
            <a:extLst xmlns:a="http://schemas.openxmlformats.org/drawingml/2006/main">
              <a:ext uri="{FF2B5EF4-FFF2-40B4-BE49-F238E27FC236}">
                <a16:creationId xmlns:a16="http://schemas.microsoft.com/office/drawing/2014/main" id="{A2790453-66E8-4B5F-A3AF-6275FF670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이후: 기본 안내 + 상세 문서로 가는 링크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5ED31B-7C5C-4283-BC5A-9B07C772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처리 순서 · 모듈 역할">
            <a:extLst xmlns:a="http://schemas.openxmlformats.org/drawingml/2006/main">
              <a:ext uri="{FF2B5EF4-FFF2-40B4-BE49-F238E27FC236}">
                <a16:creationId xmlns:a16="http://schemas.microsoft.com/office/drawing/2014/main" id="{4E19C529-4E34-4FC1-83B1-36908491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처리 순서 · 모듈 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F2427B-EB99-49A7-9175-B48BAF50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47662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ocs/architecture.md">
            <a:extLst xmlns:a="http://schemas.openxmlformats.org/drawingml/2006/main">
              <a:ext uri="{FF2B5EF4-FFF2-40B4-BE49-F238E27FC236}">
                <a16:creationId xmlns:a16="http://schemas.microsoft.com/office/drawing/2014/main" id="{4D6F1219-D89C-41C8-9B61-0A1F6350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docs/architecture.md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A8ABB7-3565-485B-BE7F-493D0994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이미지 형식 · crop · resize">
            <a:extLst xmlns:a="http://schemas.openxmlformats.org/drawingml/2006/main">
              <a:ext uri="{FF2B5EF4-FFF2-40B4-BE49-F238E27FC236}">
                <a16:creationId xmlns:a16="http://schemas.microsoft.com/office/drawing/2014/main" id="{A15A8344-E774-4D3D-9517-D341F422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이미지 형식 · crop · resize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236B68-3C50-4666-8EA9-435EB020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057650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docs/image-contracts.md">
            <a:extLst xmlns:a="http://schemas.openxmlformats.org/drawingml/2006/main">
              <a:ext uri="{FF2B5EF4-FFF2-40B4-BE49-F238E27FC236}">
                <a16:creationId xmlns:a16="http://schemas.microsoft.com/office/drawing/2014/main" id="{8A1470C0-B5DB-4697-99DD-CE96018A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528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docs/image-contracts.md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3C57B3-D211-4D7F-AFB3-F38CD479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테스트 구조 · 관련 테스트">
            <a:extLst xmlns:a="http://schemas.openxmlformats.org/drawingml/2006/main">
              <a:ext uri="{FF2B5EF4-FFF2-40B4-BE49-F238E27FC236}">
                <a16:creationId xmlns:a16="http://schemas.microsoft.com/office/drawing/2014/main" id="{1B0FE1E7-1958-4347-AAA9-FCD4D6C1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구조 · 관련 테스트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B7361-B67C-4834-B729-6A281FE8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63867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docs/testing.md">
            <a:extLst xmlns:a="http://schemas.openxmlformats.org/drawingml/2006/main">
              <a:ext uri="{FF2B5EF4-FFF2-40B4-BE49-F238E27FC236}">
                <a16:creationId xmlns:a16="http://schemas.microsoft.com/office/drawing/2014/main" id="{8C54A478-000D-4D9D-83E3-B91780F2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docs/testing.md</a:t>
            </a:r>
          </a:p>
        </p:txBody>
      </p:sp>
      <p:sp>
        <p:nvSpPr>
          <p:cNvPr id="21" name="원문: Test organization or relevant tests → docs/testing.md">
            <a:extLst xmlns:a="http://schemas.openxmlformats.org/drawingml/2006/main">
              <a:ext uri="{FF2B5EF4-FFF2-40B4-BE49-F238E27FC236}">
                <a16:creationId xmlns:a16="http://schemas.microsoft.com/office/drawing/2014/main" id="{0256A477-A4C9-4035-8D06-645EA66E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원문: Test organization or relevant tests → docs/testing.md</a:t>
            </a:r>
          </a:p>
        </p:txBody>
      </p:sp>
    </p:spTree>
    <p:extLst>
      <p:ext uri="{BB962C8B-B14F-4D97-AF65-F5344CB8AC3E}">
        <p14:creationId xmlns:p14="http://schemas.microsoft.com/office/powerpoint/2010/main" val="2166895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2 · 관찰하기 전에 질문하기">
            <a:extLst xmlns:a="http://schemas.openxmlformats.org/drawingml/2006/main">
              <a:ext uri="{FF2B5EF4-FFF2-40B4-BE49-F238E27FC236}">
                <a16:creationId xmlns:a16="http://schemas.microsoft.com/office/drawing/2014/main" id="{8B8153FA-68A6-4CBF-B1EF-F92DDBFB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관찰하기 전에 질문하기</a:t>
            </a:r>
          </a:p>
        </p:txBody>
      </p:sp>
      <p:sp>
        <p:nvSpPr>
          <p:cNvPr id="2" name="S33">
            <a:extLst xmlns:a="http://schemas.openxmlformats.org/drawingml/2006/main">
              <a:ext uri="{FF2B5EF4-FFF2-40B4-BE49-F238E27FC236}">
                <a16:creationId xmlns:a16="http://schemas.microsoft.com/office/drawing/2014/main" id="{5BBDA867-51B9-458E-AA4E-222AC6A1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S33</a:t>
            </a:r>
          </a:p>
        </p:txBody>
      </p:sp>
      <p:sp>
        <p:nvSpPr>
          <p:cNvPr id="3" name="서로 다른 두 Task가 무엇을 읽을까?">
            <a:extLst xmlns:a="http://schemas.openxmlformats.org/drawingml/2006/main">
              <a:ext uri="{FF2B5EF4-FFF2-40B4-BE49-F238E27FC236}">
                <a16:creationId xmlns:a16="http://schemas.microsoft.com/office/drawing/2014/main" id="{B55367EB-6128-43D3-B784-027F1545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두 Task가 무엇을 읽을까?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4A992-E7AD-4B10-AFFD-7099B6F1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읽기 전용 Task의 질문을 재구성">
            <a:extLst xmlns:a="http://schemas.openxmlformats.org/drawingml/2006/main">
              <a:ext uri="{FF2B5EF4-FFF2-40B4-BE49-F238E27FC236}">
                <a16:creationId xmlns:a16="http://schemas.microsoft.com/office/drawing/2014/main" id="{693D2B6D-BCCA-4321-B5CA-08714316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읽기 전용 Task의 질문을 재구성</a:t>
            </a:r>
          </a:p>
        </p:txBody>
      </p:sp>
      <p:sp>
        <p:nvSpPr>
          <p:cNvPr id="6" name="어떤 상세 문서를 읽을지는 실제 접근 기록으로 확인한다">
            <a:extLst xmlns:a="http://schemas.openxmlformats.org/drawingml/2006/main">
              <a:ext uri="{FF2B5EF4-FFF2-40B4-BE49-F238E27FC236}">
                <a16:creationId xmlns:a16="http://schemas.microsoft.com/office/drawing/2014/main" id="{AC8DC67B-E7D0-4730-93B6-F62F04B4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상세 문서를 읽을지는 실제 접근 기록으로 확인한다</a:t>
            </a:r>
          </a:p>
        </p:txBody>
      </p:sp>
      <p:sp>
        <p:nvSpPr>
          <p:cNvPr id="7" name="Task A">
            <a:extLst xmlns:a="http://schemas.openxmlformats.org/drawingml/2006/main">
              <a:ext uri="{FF2B5EF4-FFF2-40B4-BE49-F238E27FC236}">
                <a16:creationId xmlns:a16="http://schemas.microsoft.com/office/drawing/2014/main" id="{C8948A01-3263-42CF-BA90-5398051F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A</a:t>
            </a:r>
          </a:p>
        </p:txBody>
      </p:sp>
      <p:sp>
        <p:nvSpPr>
          <p:cNvPr id="8" name="Task B">
            <a:extLst xmlns:a="http://schemas.openxmlformats.org/drawingml/2006/main">
              <a:ext uri="{FF2B5EF4-FFF2-40B4-BE49-F238E27FC236}">
                <a16:creationId xmlns:a16="http://schemas.microsoft.com/office/drawing/2014/main" id="{94466871-E009-4890-BBAD-80082199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1932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2DC4C2-CA1F-4145-B403-73DA1142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25A2C9-4B92-4BA3-80E3-C1719F0B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crop 1 3은&#10;어떤 source column을&#10;포함하는가?">
            <a:extLst xmlns:a="http://schemas.openxmlformats.org/drawingml/2006/main">
              <a:ext uri="{FF2B5EF4-FFF2-40B4-BE49-F238E27FC236}">
                <a16:creationId xmlns:a16="http://schemas.microsoft.com/office/drawing/2014/main" id="{E0A69983-AD55-41F1-8747-EE016576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1 3은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source column을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포함하는가?</a:t>
            </a:r>
          </a:p>
        </p:txBody>
      </p:sp>
      <p:sp>
        <p:nvSpPr>
          <p:cNvPr id="12" name="이 Project에&#10;runtime dependency가&#10;있는가?">
            <a:extLst xmlns:a="http://schemas.openxmlformats.org/drawingml/2006/main">
              <a:ext uri="{FF2B5EF4-FFF2-40B4-BE49-F238E27FC236}">
                <a16:creationId xmlns:a16="http://schemas.microsoft.com/office/drawing/2014/main" id="{72176AB0-F095-4780-A79A-F05A41FA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24200"/>
            <a:ext cx="48768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Project에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runtime dependency가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있는가?</a:t>
            </a:r>
          </a:p>
        </p:txBody>
      </p:sp>
      <p:sp>
        <p:nvSpPr>
          <p:cNvPr id="13" name="두 Task에서 같은 상세 문서를 읽을까?">
            <a:extLst xmlns:a="http://schemas.openxmlformats.org/drawingml/2006/main">
              <a:ext uri="{FF2B5EF4-FFF2-40B4-BE49-F238E27FC236}">
                <a16:creationId xmlns:a16="http://schemas.microsoft.com/office/drawing/2014/main" id="{E7DD091B-F992-435A-951B-F70A9686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두 Task에서 같은 상세 문서를 읽을까?</a:t>
            </a:r>
          </a:p>
        </p:txBody>
      </p:sp>
    </p:spTree>
    <p:extLst>
      <p:ext uri="{BB962C8B-B14F-4D97-AF65-F5344CB8AC3E}">
        <p14:creationId xmlns:p14="http://schemas.microsoft.com/office/powerpoint/2010/main" val="7952755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질문과 근거를 연결하기">
            <a:extLst xmlns:a="http://schemas.openxmlformats.org/drawingml/2006/main">
              <a:ext uri="{FF2B5EF4-FFF2-40B4-BE49-F238E27FC236}">
                <a16:creationId xmlns:a16="http://schemas.microsoft.com/office/drawing/2014/main" id="{2015D106-67FB-4B8E-9E8F-95F7AFA8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질문과 근거를 연결하기</a:t>
            </a:r>
          </a:p>
        </p:txBody>
      </p:sp>
      <p:sp>
        <p:nvSpPr>
          <p:cNvPr id="2" name="S34">
            <a:extLst xmlns:a="http://schemas.openxmlformats.org/drawingml/2006/main">
              <a:ext uri="{FF2B5EF4-FFF2-40B4-BE49-F238E27FC236}">
                <a16:creationId xmlns:a16="http://schemas.microsoft.com/office/drawing/2014/main" id="{7A237D0B-7655-4851-9917-027A97A5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S34</a:t>
            </a:r>
          </a:p>
        </p:txBody>
      </p:sp>
      <p:sp>
        <p:nvSpPr>
          <p:cNvPr id="3" name="Crop Task에서 관찰한 접근">
            <a:extLst xmlns:a="http://schemas.openxmlformats.org/drawingml/2006/main">
              <a:ext uri="{FF2B5EF4-FFF2-40B4-BE49-F238E27FC236}">
                <a16:creationId xmlns:a16="http://schemas.microsoft.com/office/drawing/2014/main" id="{4B649780-7727-4E83-854E-81A4173A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Task에서 관찰한 접근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B6220-9CF0-45F8-8C37-EED8DC15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 · 최종 실행의 접근과 답을 기록에서 재구성">
            <a:extLst xmlns:a="http://schemas.openxmlformats.org/drawingml/2006/main">
              <a:ext uri="{FF2B5EF4-FFF2-40B4-BE49-F238E27FC236}">
                <a16:creationId xmlns:a16="http://schemas.microsoft.com/office/drawing/2014/main" id="{6000E495-3637-4347-856F-0DC8BBDE8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 · 최종 실행의 접근과 답을 기록에서 재구성</a:t>
            </a:r>
          </a:p>
        </p:txBody>
      </p:sp>
      <p:sp>
        <p:nvSpPr>
          <p:cNvPr id="6" name="architecture 등 넓은 Context도 접근 · testing.md는 최종 실행에서 관찰, 반복 간">
            <a:extLst xmlns:a="http://schemas.openxmlformats.org/drawingml/2006/main">
              <a:ext uri="{FF2B5EF4-FFF2-40B4-BE49-F238E27FC236}">
                <a16:creationId xmlns:a16="http://schemas.microsoft.com/office/drawing/2014/main" id="{EE622512-CEFB-4513-B1BB-56D52158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architecture 등 넓은 Context도 접근 · testing.md는 최종 실행에서 관찰, 반복 간 차이 존재</a:t>
            </a:r>
          </a:p>
        </p:txBody>
      </p:sp>
      <p:sp>
        <p:nvSpPr>
          <p:cNvPr id="7" name="접근한 계약 문서">
            <a:extLst xmlns:a="http://schemas.openxmlformats.org/drawingml/2006/main">
              <a:ext uri="{FF2B5EF4-FFF2-40B4-BE49-F238E27FC236}">
                <a16:creationId xmlns:a16="http://schemas.microsoft.com/office/drawing/2014/main" id="{84419ABD-0C30-4B53-B0D4-DECE6D7A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접근한 계약 문서</a:t>
            </a:r>
          </a:p>
        </p:txBody>
      </p:sp>
      <p:sp>
        <p:nvSpPr>
          <p:cNvPr id="8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C89EB2FC-90C3-437B-9A03-F7961A45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FFD73C-FD61-4CCB-8968-B8BD6244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628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[x_start, x_end)">
            <a:extLst xmlns:a="http://schemas.openxmlformats.org/drawingml/2006/main">
              <a:ext uri="{FF2B5EF4-FFF2-40B4-BE49-F238E27FC236}">
                <a16:creationId xmlns:a16="http://schemas.microsoft.com/office/drawing/2014/main" id="{647D6D4E-BA9A-4FDD-B6EB-1B7AF00B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0425"/>
            <a:ext cx="582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7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[x_start, x_end)</a:t>
            </a:r>
          </a:p>
        </p:txBody>
      </p:sp>
      <p:sp>
        <p:nvSpPr>
          <p:cNvPr id="11" name="시작 열 포함 · 끝 좌표 제외">
            <a:extLst xmlns:a="http://schemas.openxmlformats.org/drawingml/2006/main">
              <a:ext uri="{FF2B5EF4-FFF2-40B4-BE49-F238E27FC236}">
                <a16:creationId xmlns:a16="http://schemas.microsoft.com/office/drawing/2014/main" id="{69797DF3-60EF-4A1B-9532-319C19F6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58293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열 포함 · 끝 좌표 제외</a:t>
            </a:r>
          </a:p>
        </p:txBody>
      </p:sp>
      <p:sp>
        <p:nvSpPr>
          <p:cNvPr id="12" name="기록된 답">
            <a:extLst xmlns:a="http://schemas.openxmlformats.org/drawingml/2006/main">
              <a:ext uri="{FF2B5EF4-FFF2-40B4-BE49-F238E27FC236}">
                <a16:creationId xmlns:a16="http://schemas.microsoft.com/office/drawing/2014/main" id="{34AD8FE3-11D5-4BC7-BB00-6B66F45A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기록된 답</a:t>
            </a:r>
          </a:p>
        </p:txBody>
      </p:sp>
      <p:sp>
        <p:nvSpPr>
          <p:cNvPr id="13" name="crop 1 3">
            <a:extLst xmlns:a="http://schemas.openxmlformats.org/drawingml/2006/main">
              <a:ext uri="{FF2B5EF4-FFF2-40B4-BE49-F238E27FC236}">
                <a16:creationId xmlns:a16="http://schemas.microsoft.com/office/drawing/2014/main" id="{36EBB08A-036D-4AED-8DAD-638723C4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 1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741F5B-1040-4F57-9B14-7F0DB5C5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">
            <a:extLst xmlns:a="http://schemas.openxmlformats.org/drawingml/2006/main">
              <a:ext uri="{FF2B5EF4-FFF2-40B4-BE49-F238E27FC236}">
                <a16:creationId xmlns:a16="http://schemas.microsoft.com/office/drawing/2014/main" id="{700A4D48-85FF-4A5B-881C-E34BAC1C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6F49D1-F79E-493A-B70B-BA7118AE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1">
            <a:extLst xmlns:a="http://schemas.openxmlformats.org/drawingml/2006/main">
              <a:ext uri="{FF2B5EF4-FFF2-40B4-BE49-F238E27FC236}">
                <a16:creationId xmlns:a16="http://schemas.microsoft.com/office/drawing/2014/main" id="{B29DB9F1-B03A-4230-ADD2-B514AC9B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496F75-0356-42C1-93DD-1F625210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2">
            <a:extLst xmlns:a="http://schemas.openxmlformats.org/drawingml/2006/main">
              <a:ext uri="{FF2B5EF4-FFF2-40B4-BE49-F238E27FC236}">
                <a16:creationId xmlns:a16="http://schemas.microsoft.com/office/drawing/2014/main" id="{92876166-478E-4D34-BF47-6CB1D393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4F2636-8722-4527-82A5-9DA23B33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3">
            <a:extLst xmlns:a="http://schemas.openxmlformats.org/drawingml/2006/main">
              <a:ext uri="{FF2B5EF4-FFF2-40B4-BE49-F238E27FC236}">
                <a16:creationId xmlns:a16="http://schemas.microsoft.com/office/drawing/2014/main" id="{F1D0C208-48F7-4198-98BB-5AAD256F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포함 열: 1, 2&#10;출력 폭: 2">
            <a:extLst xmlns:a="http://schemas.openxmlformats.org/drawingml/2006/main">
              <a:ext uri="{FF2B5EF4-FFF2-40B4-BE49-F238E27FC236}">
                <a16:creationId xmlns:a16="http://schemas.microsoft.com/office/drawing/2014/main" id="{A2B5D7DA-57D8-4E8A-AFC9-9C790F9E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381500"/>
            <a:ext cx="38862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 열: 1, 2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 폭: 2</a:t>
            </a:r>
          </a:p>
        </p:txBody>
      </p:sp>
      <p:sp>
        <p:nvSpPr>
          <p:cNvPr id="23" name="답을 파일의 계약과 연결해 확인했다">
            <a:extLst xmlns:a="http://schemas.openxmlformats.org/drawingml/2006/main">
              <a:ext uri="{FF2B5EF4-FFF2-40B4-BE49-F238E27FC236}">
                <a16:creationId xmlns:a16="http://schemas.microsoft.com/office/drawing/2014/main" id="{78F49AC7-E788-42C2-92CE-A6B2CB09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647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답을 파일의 계약과 연결해 확인했다</a:t>
            </a:r>
          </a:p>
        </p:txBody>
      </p:sp>
    </p:spTree>
    <p:extLst>
      <p:ext uri="{BB962C8B-B14F-4D97-AF65-F5344CB8AC3E}">
        <p14:creationId xmlns:p14="http://schemas.microsoft.com/office/powerpoint/2010/main" val="10200960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두 Task의 문서 접근 비교">
            <a:extLst xmlns:a="http://schemas.openxmlformats.org/drawingml/2006/main">
              <a:ext uri="{FF2B5EF4-FFF2-40B4-BE49-F238E27FC236}">
                <a16:creationId xmlns:a16="http://schemas.microsoft.com/office/drawing/2014/main" id="{6434BF9E-DD3F-4B6D-9C82-2B1B3F7FD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두 Task의 문서 접근 비교</a:t>
            </a:r>
          </a:p>
        </p:txBody>
      </p:sp>
      <p:sp>
        <p:nvSpPr>
          <p:cNvPr id="2" name="S35">
            <a:extLst xmlns:a="http://schemas.openxmlformats.org/drawingml/2006/main">
              <a:ext uri="{FF2B5EF4-FFF2-40B4-BE49-F238E27FC236}">
                <a16:creationId xmlns:a16="http://schemas.microsoft.com/office/drawing/2014/main" id="{5768BC53-AACA-4D37-8DF1-BB96293A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S35</a:t>
            </a:r>
          </a:p>
        </p:txBody>
      </p:sp>
      <p:sp>
        <p:nvSpPr>
          <p:cNvPr id="3" name="Task별 접근은 달랐지만 완벽하지는 않다">
            <a:extLst xmlns:a="http://schemas.openxmlformats.org/drawingml/2006/main">
              <a:ext uri="{FF2B5EF4-FFF2-40B4-BE49-F238E27FC236}">
                <a16:creationId xmlns:a16="http://schemas.microsoft.com/office/drawing/2014/main" id="{2103DAE0-A5CE-4FC4-9F5B-6EB3B4E1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Task별 접근은 달랐지만 완벽하지는 않다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B2A44F-C326-428A-ABFB-4E51CB95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실제 접근 기록을 요약한 비교">
            <a:extLst xmlns:a="http://schemas.openxmlformats.org/drawingml/2006/main">
              <a:ext uri="{FF2B5EF4-FFF2-40B4-BE49-F238E27FC236}">
                <a16:creationId xmlns:a16="http://schemas.microsoft.com/office/drawing/2014/main" id="{79A0919C-46B6-4C26-9291-175F5A7B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실제 접근 기록을 요약한 비교</a:t>
            </a:r>
          </a:p>
        </p:txBody>
      </p:sp>
      <p:sp>
        <p:nvSpPr>
          <p:cNvPr id="6" name="완벽한 Routing 미입증 · 토큰 절약·성능 개선 미측정 · 실행 간 변동 존재">
            <a:extLst xmlns:a="http://schemas.openxmlformats.org/drawingml/2006/main">
              <a:ext uri="{FF2B5EF4-FFF2-40B4-BE49-F238E27FC236}">
                <a16:creationId xmlns:a16="http://schemas.microsoft.com/office/drawing/2014/main" id="{D18D6536-5B12-462C-9EA4-B078718B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완벽한 Routing 미입증 · 토큰 절약·성능 개선 미측정 · 실행 간 변동 존재</a:t>
            </a:r>
          </a:p>
        </p:txBody>
      </p:sp>
      <p:sp>
        <p:nvSpPr>
          <p:cNvPr id="7" name="같은 Repository에서 질문이 달랐다">
            <a:extLst xmlns:a="http://schemas.openxmlformats.org/drawingml/2006/main">
              <a:ext uri="{FF2B5EF4-FFF2-40B4-BE49-F238E27FC236}">
                <a16:creationId xmlns:a16="http://schemas.microsoft.com/office/drawing/2014/main" id="{ED1FFC4D-AC43-49F5-A0D5-4B4FE067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Repository에서 질문이 달랐다</a:t>
            </a:r>
          </a:p>
        </p:txBody>
      </p:sp>
      <p:sp>
        <p:nvSpPr>
          <p:cNvPr id="8" name="문서">
            <a:extLst xmlns:a="http://schemas.openxmlformats.org/drawingml/2006/main">
              <a:ext uri="{FF2B5EF4-FFF2-40B4-BE49-F238E27FC236}">
                <a16:creationId xmlns:a16="http://schemas.microsoft.com/office/drawing/2014/main" id="{87347644-3F77-4222-AC2D-167026E2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686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</a:t>
            </a:r>
          </a:p>
        </p:txBody>
      </p:sp>
      <p:sp>
        <p:nvSpPr>
          <p:cNvPr id="9" name="A · crop 계약">
            <a:extLst xmlns:a="http://schemas.openxmlformats.org/drawingml/2006/main">
              <a:ext uri="{FF2B5EF4-FFF2-40B4-BE49-F238E27FC236}">
                <a16:creationId xmlns:a16="http://schemas.microsoft.com/office/drawing/2014/main" id="{97C9A669-58DC-4749-8742-3A01FBAA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7527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 · crop 계약</a:t>
            </a:r>
          </a:p>
        </p:txBody>
      </p:sp>
      <p:sp>
        <p:nvSpPr>
          <p:cNvPr id="10" name="B · 실행 의존성">
            <a:extLst xmlns:a="http://schemas.openxmlformats.org/drawingml/2006/main">
              <a:ext uri="{FF2B5EF4-FFF2-40B4-BE49-F238E27FC236}">
                <a16:creationId xmlns:a16="http://schemas.microsoft.com/office/drawing/2014/main" id="{4C5FFD4C-2FB8-4EC3-A64F-144F7632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52725"/>
            <a:ext cx="2838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 · 실행 의존성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48336-7F8F-42F7-A26A-8032847C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F17643A2-27E1-4750-8D4D-49E14A9D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13" name="읽음">
            <a:extLst xmlns:a="http://schemas.openxmlformats.org/drawingml/2006/main">
              <a:ext uri="{FF2B5EF4-FFF2-40B4-BE49-F238E27FC236}">
                <a16:creationId xmlns:a16="http://schemas.microsoft.com/office/drawing/2014/main" id="{03101D33-BEA8-455F-9AF8-88DD3E85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337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4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C00764A8-F881-4AB6-8912-5BCCF1E9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337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9FD77-DCD9-4F21-B794-E9213DC2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866EA6E0-6F64-4930-9C00-CD741919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architecture.md</a:t>
            </a:r>
          </a:p>
        </p:txBody>
      </p:sp>
      <p:sp>
        <p:nvSpPr>
          <p:cNvPr id="17" name="읽음">
            <a:extLst xmlns:a="http://schemas.openxmlformats.org/drawingml/2006/main">
              <a:ext uri="{FF2B5EF4-FFF2-40B4-BE49-F238E27FC236}">
                <a16:creationId xmlns:a16="http://schemas.microsoft.com/office/drawing/2014/main" id="{3318C45C-CF0B-456F-9C7A-6273A15E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624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8" name="읽음">
            <a:extLst xmlns:a="http://schemas.openxmlformats.org/drawingml/2006/main">
              <a:ext uri="{FF2B5EF4-FFF2-40B4-BE49-F238E27FC236}">
                <a16:creationId xmlns:a16="http://schemas.microsoft.com/office/drawing/2014/main" id="{55D434AE-67D6-43EC-A29C-1A202594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6240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E6DD31-89B9-499C-A20E-E10C6439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.md">
            <a:extLst xmlns:a="http://schemas.openxmlformats.org/drawingml/2006/main">
              <a:ext uri="{FF2B5EF4-FFF2-40B4-BE49-F238E27FC236}">
                <a16:creationId xmlns:a16="http://schemas.microsoft.com/office/drawing/2014/main" id="{A4718480-0BD0-44A2-BEF7-F7C9426D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910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testing.md</a:t>
            </a:r>
          </a:p>
        </p:txBody>
      </p:sp>
      <p:sp>
        <p:nvSpPr>
          <p:cNvPr id="21" name="최종 실행에서 읽음">
            <a:extLst xmlns:a="http://schemas.openxmlformats.org/drawingml/2006/main">
              <a:ext uri="{FF2B5EF4-FFF2-40B4-BE49-F238E27FC236}">
                <a16:creationId xmlns:a16="http://schemas.microsoft.com/office/drawing/2014/main" id="{207E89E7-A704-4853-A012-D00346FD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5910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실행에서 읽음</a:t>
            </a:r>
          </a:p>
        </p:txBody>
      </p:sp>
      <p:sp>
        <p:nvSpPr>
          <p:cNvPr id="22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6896BE14-20B3-46AA-B49A-BB5A3E94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5910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23" name="A에는 더 넓은 읽기도 존재 · B는 설정·README·source도 확인">
            <a:extLst xmlns:a="http://schemas.openxmlformats.org/drawingml/2006/main">
              <a:ext uri="{FF2B5EF4-FFF2-40B4-BE49-F238E27FC236}">
                <a16:creationId xmlns:a16="http://schemas.microsoft.com/office/drawing/2014/main" id="{FBD96887-2BD4-4C7D-A312-CF24EF4B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A에는 더 넓은 읽기도 존재 · B는 설정·README·source도 확인</a:t>
            </a:r>
          </a:p>
        </p:txBody>
      </p:sp>
    </p:spTree>
    <p:extLst>
      <p:ext uri="{BB962C8B-B14F-4D97-AF65-F5344CB8AC3E}">
        <p14:creationId xmlns:p14="http://schemas.microsoft.com/office/powerpoint/2010/main" val="12500719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2 · 다음 문제로 넘어가기">
            <a:extLst xmlns:a="http://schemas.openxmlformats.org/drawingml/2006/main">
              <a:ext uri="{FF2B5EF4-FFF2-40B4-BE49-F238E27FC236}">
                <a16:creationId xmlns:a16="http://schemas.microsoft.com/office/drawing/2014/main" id="{4AB4B9D1-9174-4CEF-9ECB-9D068886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다음 문제로 넘어가기</a:t>
            </a:r>
          </a:p>
        </p:txBody>
      </p:sp>
      <p:sp>
        <p:nvSpPr>
          <p:cNvPr id="2" name="S36">
            <a:extLst xmlns:a="http://schemas.openxmlformats.org/drawingml/2006/main">
              <a:ext uri="{FF2B5EF4-FFF2-40B4-BE49-F238E27FC236}">
                <a16:creationId xmlns:a16="http://schemas.microsoft.com/office/drawing/2014/main" id="{593028FC-EFD9-4E33-8037-B7AA5596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S36</a:t>
            </a:r>
          </a:p>
        </p:txBody>
      </p:sp>
      <p:sp>
        <p:nvSpPr>
          <p:cNvPr id="3" name="지식은 정리됐지만 절차는 반복된다">
            <a:extLst xmlns:a="http://schemas.openxmlformats.org/drawingml/2006/main">
              <a:ext uri="{FF2B5EF4-FFF2-40B4-BE49-F238E27FC236}">
                <a16:creationId xmlns:a16="http://schemas.microsoft.com/office/drawing/2014/main" id="{331E9BE9-89C2-43EB-9FEA-D5370E7D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지식은 정리됐지만 절차는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4B077E-0775-4839-8DE0-453D034A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Project Context 정리 + TRIAL-006/007의 반복 절차 · 기록 요약과 교육용 해석">
            <a:extLst xmlns:a="http://schemas.openxmlformats.org/drawingml/2006/main">
              <a:ext uri="{FF2B5EF4-FFF2-40B4-BE49-F238E27FC236}">
                <a16:creationId xmlns:a16="http://schemas.microsoft.com/office/drawing/2014/main" id="{874CCCCA-DAB3-4802-9C47-7664B0F7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Context 정리 + TRIAL-006/007의 반복 절차 · 기록 요약과 교육용 해석</a:t>
            </a:r>
          </a:p>
        </p:txBody>
      </p:sp>
      <p:sp>
        <p:nvSpPr>
          <p:cNvPr id="6" name="절차가 반복된 원인을 Prompt만으로 분리하지 않음">
            <a:extLst xmlns:a="http://schemas.openxmlformats.org/drawingml/2006/main">
              <a:ext uri="{FF2B5EF4-FFF2-40B4-BE49-F238E27FC236}">
                <a16:creationId xmlns:a16="http://schemas.microsoft.com/office/drawing/2014/main" id="{3F916959-056D-44E7-92DB-8EF2691D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절차가 반복된 원인을 Prompt만으로 분리하지 않음</a:t>
            </a:r>
          </a:p>
        </p:txBody>
      </p:sp>
      <p:sp>
        <p:nvSpPr>
          <p:cNvPr id="7" name="정리한 것">
            <a:extLst xmlns:a="http://schemas.openxmlformats.org/drawingml/2006/main">
              <a:ext uri="{FF2B5EF4-FFF2-40B4-BE49-F238E27FC236}">
                <a16:creationId xmlns:a16="http://schemas.microsoft.com/office/drawing/2014/main" id="{11E118E0-1DDA-4981-99E4-D9FDAB38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정리한 것</a:t>
            </a:r>
          </a:p>
        </p:txBody>
      </p:sp>
      <p:sp>
        <p:nvSpPr>
          <p:cNvPr id="8" name="아직 반복되는 것">
            <a:extLst xmlns:a="http://schemas.openxmlformats.org/drawingml/2006/main">
              <a:ext uri="{FF2B5EF4-FFF2-40B4-BE49-F238E27FC236}">
                <a16:creationId xmlns:a16="http://schemas.microsoft.com/office/drawing/2014/main" id="{ED6D3E1A-EB50-42FE-88CB-D9E2954D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아직 반복되는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DDF39B-1E6C-49E5-9707-86068757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9908CC-23C5-462D-BACD-C52A72416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527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현재 목표는 Prompt에&#10;공통 사실은 Project Context에&#10;상세 정보는 Routing으로">
            <a:extLst xmlns:a="http://schemas.openxmlformats.org/drawingml/2006/main">
              <a:ext uri="{FF2B5EF4-FFF2-40B4-BE49-F238E27FC236}">
                <a16:creationId xmlns:a16="http://schemas.microsoft.com/office/drawing/2014/main" id="{DEC81C4B-375E-4390-A0D7-6C957DEB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5143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목표는 Prompt에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공통 사실은 Project Context에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정보는 Routing으로</a:t>
            </a:r>
          </a:p>
        </p:txBody>
      </p:sp>
      <p:sp>
        <p:nvSpPr>
          <p:cNvPr id="12" name="먼저 측정하고&#10;조사한 뒤 변경하고&#10;같은 조건으로 확인해줘">
            <a:extLst xmlns:a="http://schemas.openxmlformats.org/drawingml/2006/main">
              <a:ext uri="{FF2B5EF4-FFF2-40B4-BE49-F238E27FC236}">
                <a16:creationId xmlns:a16="http://schemas.microsoft.com/office/drawing/2014/main" id="{590CB469-90A8-4C4D-8B04-9A0EBF74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측정하고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조사한 뒤 변경하고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조건으로 확인해줘</a:t>
            </a:r>
          </a:p>
        </p:txBody>
      </p:sp>
      <p:sp>
        <p:nvSpPr>
          <p:cNvPr id="13" name="이 반복도 Context만의 문제일까?">
            <a:extLst xmlns:a="http://schemas.openxmlformats.org/drawingml/2006/main">
              <a:ext uri="{FF2B5EF4-FFF2-40B4-BE49-F238E27FC236}">
                <a16:creationId xmlns:a16="http://schemas.microsoft.com/office/drawing/2014/main" id="{2EFE2AC8-9E08-41F7-8B87-CDF1BB7A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반복도 Context만의 문제일까?</a:t>
            </a:r>
          </a:p>
        </p:txBody>
      </p:sp>
    </p:spTree>
    <p:extLst>
      <p:ext uri="{BB962C8B-B14F-4D97-AF65-F5344CB8AC3E}">
        <p14:creationId xmlns:p14="http://schemas.microsoft.com/office/powerpoint/2010/main" val="13179193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2026-10-18T13:43:08.3100000Z</dcterms:created>
  <dcterms:modified xsi:type="dcterms:W3CDTF">2026-10-18T13:43:08.3100000Z</dcterms:modified>
</coreProperties>
</file>