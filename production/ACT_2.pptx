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8517b3a0dd743e0" /><Relationship Type="http://schemas.openxmlformats.org/officeDocument/2006/relationships/extended-properties" Target="/docProps/app.xml" Id="R313f3f555ced4c6e" /><Relationship Type="http://schemas.openxmlformats.org/officeDocument/2006/relationships/officeDocument" Target="/ppt/presentation.xml" Id="R87f272cf245446b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f5176de796e4ecf"/>
  </p:sldMasterIdLst>
  <p:notesMasterIdLst>
    <p:notesMasterId xmlns:r="http://schemas.openxmlformats.org/officeDocument/2006/relationships" r:id="Rdc91cfe6260946dd"/>
  </p:notesMasterIdLst>
  <p:sldIdLst>
    <p:sldId xmlns:r="http://schemas.openxmlformats.org/officeDocument/2006/relationships" id="256" r:id="R62840e897c624e88"/>
    <p:sldId xmlns:r="http://schemas.openxmlformats.org/officeDocument/2006/relationships" id="257" r:id="Rb1344b0df96845ac"/>
    <p:sldId xmlns:r="http://schemas.openxmlformats.org/officeDocument/2006/relationships" id="258" r:id="Rbd910bfddb08485b"/>
    <p:sldId xmlns:r="http://schemas.openxmlformats.org/officeDocument/2006/relationships" id="259" r:id="R8617adf3b4854f0f"/>
    <p:sldId xmlns:r="http://schemas.openxmlformats.org/officeDocument/2006/relationships" id="260" r:id="R61da981287c545fe"/>
    <p:sldId xmlns:r="http://schemas.openxmlformats.org/officeDocument/2006/relationships" id="261" r:id="R9fb1d4ea04484058"/>
    <p:sldId xmlns:r="http://schemas.openxmlformats.org/officeDocument/2006/relationships" id="262" r:id="R51f9d52b25a34e18"/>
    <p:sldId xmlns:r="http://schemas.openxmlformats.org/officeDocument/2006/relationships" id="263" r:id="R89278e629a8f494c"/>
    <p:sldId xmlns:r="http://schemas.openxmlformats.org/officeDocument/2006/relationships" id="264" r:id="Rfe3b5bc1faf34bda"/>
    <p:sldId xmlns:r="http://schemas.openxmlformats.org/officeDocument/2006/relationships" id="265" r:id="Rbb03b898e4ad4749"/>
    <p:sldId xmlns:r="http://schemas.openxmlformats.org/officeDocument/2006/relationships" id="266" r:id="R1e2f7c913a674854"/>
    <p:sldId xmlns:r="http://schemas.openxmlformats.org/officeDocument/2006/relationships" id="267" r:id="R34b58192e3674d65"/>
    <p:sldId xmlns:r="http://schemas.openxmlformats.org/officeDocument/2006/relationships" id="268" r:id="Red12ceb17244463e"/>
    <p:sldId xmlns:r="http://schemas.openxmlformats.org/officeDocument/2006/relationships" id="269" r:id="R2405336ccf8046b0"/>
    <p:sldId xmlns:r="http://schemas.openxmlformats.org/officeDocument/2006/relationships" id="270" r:id="R200897ef6e6745d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20eceb8a0ea4782" /><Relationship Type="http://schemas.openxmlformats.org/officeDocument/2006/relationships/slideMaster" Target="/ppt/slideMasters/slideMaster1.xml" Id="Ref5176de796e4ecf" /><Relationship Type="http://schemas.openxmlformats.org/officeDocument/2006/relationships/notesMaster" Target="/ppt/notesMasters/notesMaster1.xml" Id="Rdc91cfe6260946dd" /><Relationship Type="http://schemas.openxmlformats.org/officeDocument/2006/relationships/presProps" Target="/ppt/presProps.xml" Id="R86a75d0582f14e77" /><Relationship Type="http://schemas.openxmlformats.org/officeDocument/2006/relationships/tableStyles" Target="/ppt/tableStyles.xml" Id="R59c535707c1043a2" /><Relationship Type="http://schemas.openxmlformats.org/officeDocument/2006/relationships/slide" Target="/ppt/slides/slide1.xml" Id="R62840e897c624e88" /><Relationship Type="http://schemas.openxmlformats.org/officeDocument/2006/relationships/slide" Target="/ppt/slides/slide2.xml" Id="Rb1344b0df96845ac" /><Relationship Type="http://schemas.openxmlformats.org/officeDocument/2006/relationships/slide" Target="/ppt/slides/slide3.xml" Id="Rbd910bfddb08485b" /><Relationship Type="http://schemas.openxmlformats.org/officeDocument/2006/relationships/slide" Target="/ppt/slides/slide4.xml" Id="R8617adf3b4854f0f" /><Relationship Type="http://schemas.openxmlformats.org/officeDocument/2006/relationships/slide" Target="/ppt/slides/slide5.xml" Id="R61da981287c545fe" /><Relationship Type="http://schemas.openxmlformats.org/officeDocument/2006/relationships/slide" Target="/ppt/slides/slide6.xml" Id="R9fb1d4ea04484058" /><Relationship Type="http://schemas.openxmlformats.org/officeDocument/2006/relationships/slide" Target="/ppt/slides/slide7.xml" Id="R51f9d52b25a34e18" /><Relationship Type="http://schemas.openxmlformats.org/officeDocument/2006/relationships/slide" Target="/ppt/slides/slide8.xml" Id="R89278e629a8f494c" /><Relationship Type="http://schemas.openxmlformats.org/officeDocument/2006/relationships/slide" Target="/ppt/slides/slide9.xml" Id="Rfe3b5bc1faf34bda" /><Relationship Type="http://schemas.openxmlformats.org/officeDocument/2006/relationships/slide" Target="/ppt/slides/slide10.xml" Id="Rbb03b898e4ad4749" /><Relationship Type="http://schemas.openxmlformats.org/officeDocument/2006/relationships/slide" Target="/ppt/slides/slide11.xml" Id="R1e2f7c913a674854" /><Relationship Type="http://schemas.openxmlformats.org/officeDocument/2006/relationships/slide" Target="/ppt/slides/slide12.xml" Id="R34b58192e3674d65" /><Relationship Type="http://schemas.openxmlformats.org/officeDocument/2006/relationships/slide" Target="/ppt/slides/slide13.xml" Id="Red12ceb17244463e" /><Relationship Type="http://schemas.openxmlformats.org/officeDocument/2006/relationships/slide" Target="/ppt/slides/slide14.xml" Id="R2405336ccf8046b0" /><Relationship Type="http://schemas.openxmlformats.org/officeDocument/2006/relationships/slide" Target="/ppt/slides/slide15.xml" Id="R200897ef6e6745d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a7d63c749f24c3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e3fe1eab7ed459b" /><Relationship Type="http://schemas.openxmlformats.org/officeDocument/2006/relationships/notesMaster" Target="/ppt/notesMasters/notesMaster1.xml" Id="Rf56511f3c9994e6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d2f81932d024d21" /><Relationship Type="http://schemas.openxmlformats.org/officeDocument/2006/relationships/notesMaster" Target="/ppt/notesMasters/notesMaster1.xml" Id="Rc27e2064c8e346a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3bb7c5307704fbb" /><Relationship Type="http://schemas.openxmlformats.org/officeDocument/2006/relationships/notesMaster" Target="/ppt/notesMasters/notesMaster1.xml" Id="Rdad572fca81b4bf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e48f315a9ec4331" /><Relationship Type="http://schemas.openxmlformats.org/officeDocument/2006/relationships/notesMaster" Target="/ppt/notesMasters/notesMaster1.xml" Id="R9d48e6666002451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0e9597a5940423f" /><Relationship Type="http://schemas.openxmlformats.org/officeDocument/2006/relationships/notesMaster" Target="/ppt/notesMasters/notesMaster1.xml" Id="R4729b7eaef2047b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4fd16ff7a6f44e0" /><Relationship Type="http://schemas.openxmlformats.org/officeDocument/2006/relationships/notesMaster" Target="/ppt/notesMasters/notesMaster1.xml" Id="Rf84bec86c9c8401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c689f3361244f8b" /><Relationship Type="http://schemas.openxmlformats.org/officeDocument/2006/relationships/notesMaster" Target="/ppt/notesMasters/notesMaster1.xml" Id="R0df0faced578432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6c29a24f37d46fd" /><Relationship Type="http://schemas.openxmlformats.org/officeDocument/2006/relationships/notesMaster" Target="/ppt/notesMasters/notesMaster1.xml" Id="Rc6c44f3f821d403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fdc123696c48c8" /><Relationship Type="http://schemas.openxmlformats.org/officeDocument/2006/relationships/notesMaster" Target="/ppt/notesMasters/notesMaster1.xml" Id="R3d13ef53393f4bd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27ebe21339b42f7" /><Relationship Type="http://schemas.openxmlformats.org/officeDocument/2006/relationships/notesMaster" Target="/ppt/notesMasters/notesMaster1.xml" Id="R20a06db739b6468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4ec5517c33c433c" /><Relationship Type="http://schemas.openxmlformats.org/officeDocument/2006/relationships/notesMaster" Target="/ppt/notesMasters/notesMaster1.xml" Id="Rf71d2e5db4e041a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a1d556cb7834575" /><Relationship Type="http://schemas.openxmlformats.org/officeDocument/2006/relationships/notesMaster" Target="/ppt/notesMasters/notesMaster1.xml" Id="Rb09a6506b1ae497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a485c82954f42b5" /><Relationship Type="http://schemas.openxmlformats.org/officeDocument/2006/relationships/notesMaster" Target="/ppt/notesMasters/notesMaster1.xml" Id="R3a54360db3d84c5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62cd802049b401d" /><Relationship Type="http://schemas.openxmlformats.org/officeDocument/2006/relationships/notesMaster" Target="/ppt/notesMasters/notesMaster1.xml" Id="R44332115d11f4a8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c25e1e618724e00" /><Relationship Type="http://schemas.openxmlformats.org/officeDocument/2006/relationships/notesMaster" Target="/ppt/notesMasters/notesMaster1.xml" Id="R79631f815e23431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S32 — 다른 Task에 같은 설명이 반복된다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다른 Task에 같은 설명이 반복된다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 + Case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Bug fix, performance, and README Tasks can repeat the same Project facts because task-specific instructions and durable Project context have different scopes.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“Task는 다른데 왜 같은 설명을 계속 복사하고 있지?”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(0:00–2:00) 버그 수정, 성능 조사, README 수정의 서로 다른 목표를 왼쪽부터 가리킨다.</a:t>
            </a:r>
          </a:p>
          <a:p xmlns:a="http://schemas.openxmlformats.org/drawingml/2006/main">
            <a:r>
              <a:t>2. (2:00–4:00) 아래에 반복된 네 줄을 비교한다. 테스트 실행, 근거가 있을 때 의존성 추가, 로컬 합성 데이터, 기존 동작 보존이다. 세 요청은 교육용 구성 예시이며 Trial 원문이 아니다.</a:t>
            </a:r>
          </a:p>
          <a:p xmlns:a="http://schemas.openxmlformats.org/drawingml/2006/main">
            <a:r>
              <a:t>3. (4:00–5:00) 같은 설명이 왜 다시 들어가는지 잠시 생각하게 한다. 아직 저장 위치나 기능을 답으로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BEAT-008, CLM-0003, CLM-0005. TEACHING_MODEL / CONCEPTUAL; the three cards are a constructed example, not a Trial.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Repetition can indicate a scope and lifetime question. This slide does not claim a product failure or introduce a repository instruction file as the answer.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If every Task needs the same Project facts, consider whether those facts belong with the Task or with the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Separate Task intent from durable constraints before choosing where to maintain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Use the final minute as a quiet case prompt. No hands-on activity or public response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“공통 정보를 Prompt 밖에 둘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Spend four minutes on the repeated facts and one minute on the question. Do not preview the solution.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S32 또는 `production/preview/act2/S32.png`다.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S33 — 작은 Project Context의 첫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작은 Project Context의 첫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4 minutes (HYBRID planned; activation unverified)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STATE-01의 실제 AGENTS.md에는 반복되는 프로젝트 목적, 실행 방법, 테스트 명령, 기본 제약이 기록되어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“반복되는 Project 정보를 한 번 기록하면 어떤 점이 달라질까?”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STATE-00-FIXED에서 STATE-01로 바뀐 것은 root AGENTS.md 한 파일 추가임을 설명한다.</a:t>
            </a:r>
          </a:p>
          <a:p xmlns:a="http://schemas.openxmlformats.org/drawingml/2006/main">
            <a:r>
              <a:t>2. (1:00–3:00) 네 발췌를 순서대로 가리킨다. 목적: 로컬 grayscale CLI. 실행: README의 준비된 명령. 테스트: 원문 명령. 제약: 범위를 지키고 관련 동작을 검증. 영어 문장을 모두 낭독하지 않는다.</a:t>
            </a:r>
          </a:p>
          <a:p xmlns:a="http://schemas.openxmlformats.org/drawingml/2006/main">
            <a:r>
              <a:t>3. (3:00–4:00) Task마다 반복 설명하던 사실을 저장소에 둔 설계 의도를 정리하고, 실제 활용 관찰은 S34로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한국어 의미를 먼저 읽고 바로 위의 실제 AGENTS.md 발췌와 대조한다. 강조한 CLI 목적·README·범위/검증 문구만 짚고 테스트 명령은 입력 실습이나 CLI 설명으로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STATE-01 / DEMO-02 / OBSERVED_PRODUCT. Demo tag `14baf81746a981d7cd96b7a014ea06f28c3dd6b4`, root `AGENTS.md` 2, 5, 9, 15행 발췌. 15줄/567bytes는 원문 메타데이터이며 화면의 중심 메시지로 쓰지 않는다. 테스트 명령은 `Run`과 구두점을 제외한 원문 명령 문자열이다. Source: `plan/DEMO_MATRIX.md` STATE-01 기록.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실제 파일이 그 상태에 존재했다는 근거다. 성능, 정확도, 토큰 절감 또는 AGENTS.md 단독 인과효과를 주장하지 않는다. 제품 코드·테스트·README는 그 상태 전환에서 바뀌지 않았다. S34의 지침 활용 관찰을 이 장의 결과로 앞당기지 않는다. 현재 Desktop 자동 로딩이나 교육 환경을 검증한 것이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 small set of facts that applies across Project Tasks can be written down once in the repository.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The design choice is about context scope and maintenance ownership, not a measured quality or performance effect.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`production/ACT_2.pptx`의 S33 및 `production/preview/act2/S33.png`에 있는 실제 AGENTS.md 원문 발췌를 가리킨다. 편집기 screenshot이 아니다. Live/HYBRID는 발표 환경 검증 전까지 비활성이다.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Point out the recurring facts without asking the audience to inspect a repository.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안내가 실제 Task에서 어떻게 사용됐는지 기록을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 4분 유지. 1분 상태 전환, 2분 네 발췌, 1분 의미와 S34 handoff. 명령어 옵션별 설명은 생략한다.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S33 또는 `production/preview/act2/S33.png`다.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S34 — 한 번의 사용에서 확인된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한 번의 사용에서 확인된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4 minutes (HYBRID planned; activation unverified)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In the recorded TRIAL-003 run, the agent inspected `AGENTS.md` and used the documented test command that was absent from the Task Prompt.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“Prompt에 없던 test command는 어디서 왔을까?”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왼쪽 요청에는 README-only 범위가 있었지만 전체 테스트 명령은 없었다고 짚는다.</a:t>
            </a:r>
          </a:p>
          <a:p xmlns:a="http://schemas.openxmlformats.org/drawingml/2006/main">
            <a:r>
              <a:t>2. (1:00–3:00) 가운데 AGENTS.md 접근과 기록된 테스트 명령 사용을 오른쪽 11/11 PASS 기록에 연결한다. 화면은 Trial 기록을 요약한 설명 구조다.</a:t>
            </a:r>
          </a:p>
          <a:p xmlns:a="http://schemas.openxmlformats.org/drawingml/2006/main">
            <a:r>
              <a:t>3. (3:00–4:00) Personal/global Skills도 실행됐으므로 AGENTS.md 단독 효과를 분리할 수 없다고 밝힌다. README-only 범위는 요청에도 있었다고 마무리한다.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TRIAL-003, STATE-01, DEMO-02. OBSERVED_PRODUCT; one recorded CLI run. Personal/global Skills also ran.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This run does not isolate an independent causal effect of `AGENTS.md`, establish general superiority, or show that repository guidance alone determined file scope.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The record shows one example where a Project test command was available outside the current Prompt and was used.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Keep the observed action, other active instructions, and Task scope separate when interpreting causality.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Present the captured/reconstructed Trial record. Do not represent it as a current Desktop run or a live screenshot. HYBRID activation is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the opening question, pause briefly, then reveal the record. Do not require an answer.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“이번 Task의 Prompt와 Project가 계속 유지할 Context는 어떻게 다른가?”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Use three minutes for the recorded sequence and one minute for the causal boundary. Do not elaborate on unrelated Trial details.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S34 또는 `production/preview/act2/S34.png`다.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S35 — Task Prompt와 Project Context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 Prompt와 Project Context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A Task Prompt describes what is wanted now; Project Context describes facts and constraints that generally remain true for the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 정보는 언제까지 유효한가?”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‘이번 작업이 끝나면?’이라는 질문으로 정보의 수명을 비교한다.</a:t>
            </a:r>
          </a:p>
          <a:p xmlns:a="http://schemas.openxmlformats.org/drawingml/2006/main">
            <a:r>
              <a:t>2. (1:00–4:00) 왼쪽 crop 수정과 README-only 범위, 오른쪽 테스트 명령과 근거 기반 의존성 정책을 연결한다. Prompt는 현재 목표를 표현하는 데 계속 필요하다.</a:t>
            </a:r>
          </a:p>
          <a:p xmlns:a="http://schemas.openxmlformats.org/drawingml/2006/main">
            <a:r>
              <a:t>3. (4:00–5:00) 어떤 사실이 다음 Task에도 유효한지 질문한다. C++에서도 공통 제약과 이번 알고리즘 변경 조건의 범위가 다를 수 있다는 짧은 예만 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S34에서 본 기록을 회수한 뒤 두 열의 수명을 비교한다. 왼쪽은 다음 작업에서 바뀔 목표, 오른쪽은 여러 작업에서 다시 참고할 사실이다. S31의 분류 질문을 처음부터 반복하지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BEAT-009–010, TRANS-003, CLM-0003, CLM-0005. TEACHING_MODEL / CONCEPTUAL; examples summarize S32–S34.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This is a teaching model for scope and lifetime, not a formal OpenAI taxonomy or proof that one layer is always better.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Put the current goal in the Task request and distinguish it from facts the Project keeps using.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Scope and lifetime are useful dimensions for deciding ownership and update responsibility.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Briefly distinguish a general Project constraint from a Task-specific algorithm condition; do not list tools or hardware.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Give the audience a brief silent pause to classify the examples mentally. Do not turn it into a hands-on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“정확한 정보를 더 많이 넣으면 언제나 괜찮을까?”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Keep the model to two layers and four examples. Leave research and detailed routing for later slides.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S35 또는 `production/preview/act2/S35.png`다.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S36 — 정확한 정보도 계속 늘어난다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정확한 정보도 계속 늘어난다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STATE-02 grew from 15 lines / 567 bytes to 32 lines / 1,303 bytes as the Project recorded more details; growth alone is not evidence of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“정확한 Project 정보라면 모든 Task에 늘 넣어도 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STATE-01의 목적·실행·테스트·기본 제약에서 출발한다. 15줄/567 bytes와 32줄/1,303 bytes는 상태를 식별하는 크기 정보다.</a:t>
            </a:r>
          </a:p>
          <a:p xmlns:a="http://schemas.openxmlformats.org/drawingml/2006/main">
            <a:r>
              <a:t>2. (1:00–3:00) STATE-02에 더해진 처리 순서, 이미지 계약, 테스트 구조, CLI 출력의 실제 항목을 가리킨다. 처리 순서의 말줄임표는 선택적 invert/crop/resize 등의 중간 단계를 생략했다는 뜻이다.</a:t>
            </a:r>
          </a:p>
          <a:p xmlns:a="http://schemas.openxmlformats.org/drawingml/2006/main">
            <a:r>
              <a:t>3. (3:00–4:00) 크기 자체의 성능 의미를 부여하지 않고 ‘이번 Task에도 필요할까?’로 다음 장을 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STATE-01 and STATE-02, BEAT-011, CLM-0014, CLM-0015. OBSERVED_PRODUCT; counts describe these recorded states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Do not label the growth as a failure threshold, claim that it caused an error, or imply that the content was inaccurate.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More documented facts create a follow-up question: does each Task need all of them?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Maintenance cost and stale information are review considerations, not observed failures in this comparison.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Use the two recorded state summaries; no live repository interaction is planned.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Treat the slide as a case question. Allow a short pause without requiring a public answer.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“작은 README Task에서 어떤 정보가 실제로 필요했을까?”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크기 식별은 짧게 끝내고 추가된 실제 정보 네 항목에 시간을 쓴다. 마지막 1분에는 관련성 질문으로 이동하며 문서 크기의 인과 효과를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S36 또는 `production/preview/act2/S36.png`다.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S37 — 정확하지만 이번 Task에는 불필요한 정보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정확하지만 이번 Task에는 불필요한 정보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2 minutes (CAPTURED) + Reflection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TRIAL-004 included Image context that was unnecessary for the README build-guidance Task, but no agent confusion or context-related failure was observed.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“README build 안내를 고치는 데 어떤 정보가 필요했을까?”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README의 build tools 안내를 고친 기록된 Task를 제시한다.</a:t>
            </a:r>
          </a:p>
          <a:p xmlns:a="http://schemas.openxmlformats.org/drawingml/2006/main">
            <a:r>
              <a:t>2. (1:00–2:00 / Demo) 왼쪽 README/build 설정과 오른쪽 crop·resize 계약/pipeline 상세를 비교한다. Agent 혼란과 Context 관련 실패는 관찰되지 않았음을 먼저 밝힌다.</a:t>
            </a:r>
          </a:p>
          <a:p xmlns:a="http://schemas.openxmlformats.org/drawingml/2006/main">
            <a:r>
              <a:t>3. (2:00–4:00 / Reflection) 정확한 정보와 이번 질문에 관련된 정보를 구분해 보게 한다. 공개 응답이나 작업은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TRIAL-004, BEAT-012, CLM-0014, CLM-0015. OBSERVED_PRODUCT; CAPTURED record of one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Presence of unnecessary context is not evidence that the model failed, became confused, or performed worse. No such failure was observed.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Correct information can still be unrelated to the current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Distinguish context relevance from outcome quality; this Trial does not measure a performance effect.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Show the captured/reconstructed Trial record for two minutes. Do not run a new Trial or simulate a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Use the last two minutes for private reflection: which context was relevant to this Task? No response or written exercise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“필요한 정보를 항상 한 번에 넣지 않는 방법은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Protect the two-minute Reflection. Explicitly state the absence of observed confusion before moving 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S37 또는 `production/preview/act2/S37.png`다.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S38 — 정보의 범위와 제공 시점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정보의 범위와 제공 시점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The course model separates always-on Project facts, task-relevant detail, and reusable workflow by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“무엇은 항상 필요하고, 무엇은 Task에 따라 찾아야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세 행이 이 과정에서 쓰는 정보 설계 모델임을 밝힌다.</a:t>
            </a:r>
          </a:p>
          <a:p xmlns:a="http://schemas.openxmlformats.org/drawingml/2006/main">
            <a:r>
              <a:t>2. (1:00–3:00) 기본 안내, 질문에 따른 상세, 특정 작업의 수행 방법을 순서대로 가리킨다. 각 행의 구체 예시를 하나씩 설명한다.</a:t>
            </a:r>
          </a:p>
          <a:p xmlns:a="http://schemas.openxmlformats.org/drawingml/2006/main">
            <a:r>
              <a:t>3. (3:00–4:00) 성능 조사 절차 예가 STATE-02에 저장돼 있었다는 뜻은 아니라고 한정한다. 방금은 정보의 범위와 제공 시점을 나눴고, 다음에는 ‘Context 양만 늘리면 충분할까?’를 연구의 제한된 범위 안에서 살펴본다고 예고한다.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BEAT-012, BEAT-014, STATE-02, CLM-0014, CLM-0015, CLM-0003, CLM-0005.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Always-on / On-demand / Workflow is a course model, not an official OpenAI classification. Do not claim token savings or improved performance.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Some facts apply broadly; details matter for a smaller set of Tasks; a work procedure says how to approach a class of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Keep durable facts, selectively needed details, and workflow responsibility conceptually distinct even when they can all appear outside a Task Prompt.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the audience to notice that information has different scopes; no category-writing exercise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“필요한 때 찾게 하는 대신 모두 넣어두면 충분할까? 이 질문을 Long Context 연구의 범위 안에서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Four minutes, one minute per bucket plus the boundary. Do not present this as a product feature taxonomy.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S38 또는 `production/preview/act2/S38.png`다.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S39 — Long Context 연구가 말해주는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Long Context 연구가 말해주는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Research in specific models and tasks supports a bounded caution: more context is not automatically better, and relevance or information position can matter under some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“정보의 범위와 시점을 나눠봤는데, Context 양만 늘리면 충분할까?”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앞 장의 정보 분류에서 잠시 물러나 ‘양만 늘리면 충분한가?’라는 질문을 보는 목적을 밝힌다. ‘더 많은 Context가 항상 더 좋은 것은 아니다’의 적용 범위를 특정 모델·과제에 한정한다.</a:t>
            </a:r>
          </a:p>
          <a:p xmlns:a="http://schemas.openxmlformats.org/drawingml/2006/main">
            <a:r>
              <a:t>2. (1:00–3:00) 왼쪽 Lost in the Middle의 여러 문서 질문 답변/key-value 검색, 오른쪽 RepoQA의 50개 Repository 코드 검색을 비교한다. 논문이 답한 질문과 승인된 핵심 결론만 말한다. 수치 그래프나 현재 Codex 성능 추정은 추가하지 않는다.</a:t>
            </a:r>
          </a:p>
          <a:p xmlns:a="http://schemas.openxmlformats.org/drawingml/2006/main">
            <a:r>
              <a:t>3. (3:00–4:00) 화면 하단의 두 출처와 Notes의 원문 링크를 안내한다. 이 Demo의 현재 Codex Repository coding을 직접 시험한 연구가 아님을 명시한다. 연구 소개를 마치고, 이번 Task에 필요한 상세 정보와 그 위치를 설계하는 질문으로 돌아간다.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왼쪽은 관련 정보의 위치를 바꾸는 질적 과제 구조, 오른쪽은 Repository에서 관련 코드를 찾는 과제 구조다. 칠해진 블록은 정보 위치 표시이며 점수·성능·현재 Codex 결과를 뜻하지 않는다. 수치 그래프처럼 해석하지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RESEARCH. Liu et al., “Lost in the Middle: How Language Models Use Long Contexts,” TACL 2024, 12:157–173, https://aclanthology.org/2024.tacl-1.9/; RepoQA (2024), arXiv:2406.06025, https://arxiv.org/abs/2406.06025. RepoQA venue remains TODO in the source plan and is not invented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Do not claim current Codex fails because of Lost in the Middle, create a context-length threshold, generalize results across all models/tasks, or invent numeric/curve data. Keep study conditions beside the conclusion.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 larger context window does not guarantee that every included detail is equally useful in every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The cited work covers specific historical models and benchmark settings, including multi-document QA and synthetic retrieval; it does not establish a present-day Codex limitation.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 This is a research summary, not a deterministic product demonstration.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Use the opening question to invite a short mental prediction, then answer within the cited scope.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연구가 Demo의 Routing을 검증한 것은 아닙니다. 이제 Task에 필요한 상세 정보를 어디서 찾게 할지 설계로 돌아가겠습니다.”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Keep the paper descriptions concise and reserve the final minute for the transfer boundary.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S39 또는 `production/preview/act2/S39.png`다.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S40 — 필요한 상세 정보로 가는 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필요한 상세 정보로 가는 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Context design asks what information a Task needs and when it should be available, rather than placing every detail in one place.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“Task가 필요한 상세 정보에 도달하는 경로는 어떻게 설계할까?”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Move from the question of context amount to the question of relevance and timing.</a:t>
            </a:r>
          </a:p>
          <a:p xmlns:a="http://schemas.openxmlformats.org/drawingml/2006/main">
            <a:r>
              <a:t>2. (1:00–2:00) Show `Task → Core Context → Relevant Detail when needed` as a course diagram.</a:t>
            </a:r>
          </a:p>
          <a:p xmlns:a="http://schemas.openxmlformats.org/drawingml/2006/main">
            <a:r>
              <a:t>3. (2:00–3:00) Give one short C++ example and reserve STATE-03 for the next sequence. 이 장에서는 찾아가는 경로를 보았고, 다음 장에서는 그 출발점인 Core에 무엇을 남길지 정한다고 마무리한다.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현재 Task 질문에서 출발해 Core의 안내를 거쳐 상세 정보로 이동한다. 이 장의 초점은 어디로 찾아갈지이며, 다음 장에서 Core에 무엇을 남길지 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BEAT-014, STATE-03 as the upcoming example, CLM-0003, CLM-0005, CLM-0014, CLM-0015.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This is a routing question, not evidence of performance improvement, token savings, or a product's automatic retrieval behavior.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 short starting point can direct a reader toward more detail when a Task needs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Discovery and maintenance remain design concerns; this slide does not claim perfect retrieval.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Distinguish a general Project constraint from a Task-specific CMake or algorithm contract. Do not list tools, hardware, or environment commands.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STATE-03 results are reserved for the following section.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Let the routing question sit for a moment; do not reveal the Trial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“경로를 봤으니, 이제 그 출발점인 Core에 무엇을 남길지 정해보겠습니다.”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Keep this to one diagram and one brief C++ example. No product-specific implementation details.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S40 또는 `production/preview/act2/S40.png`다.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S41 — Core Context에서 상세 정보로 가는 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Core Context에서 상세 정보로 가는 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Root/Core Context can be a starting point that points toward detail, rather than an encyclopedia of all Project knowledge.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“그 경로의 출발점인 Core에는 무엇을 남길까?”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앞 장에서 본 탐색 경로의 출발점에 초점을 맞춘다. 왼쪽 기본 안내에 남길 목적, 상시 제약, 상세 정보 위치를 읽는 순서대로 가리킨다.</a:t>
            </a:r>
          </a:p>
          <a:p xmlns:a="http://schemas.openxmlformats.org/drawingml/2006/main">
            <a:r>
              <a:t>2. (1:00–2:30) 오른쪽 architecture, image contracts, testing으로 이어지는 관계를 설명한다. 화살표는 교육용 정보 설계 관계다.</a:t>
            </a:r>
          </a:p>
          <a:p xmlns:a="http://schemas.openxmlformats.org/drawingml/2006/main">
            <a:r>
              <a:t>3. (2:30–4:00) C++에서는 build/test 진입점과 기본 제약에서 해당 알고리즘 계약·하드웨어 조건으로 안내할 수 있음을 짧게 연결한다. Routing 성능 효과는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Core의 세 항목을 먼저 읽고 필요한 상세의 세 행으로 이동한다. S40의 탐색 경로를 반복 설명하기보다 항상 읽을 기본 안내와 필요할 때 찾을 상세의 경계를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BEAT-014, CLM-0003, CLM-0005, CLM-0014, CLM-0015. TEACHING_MODEL / CONCEPTUAL; describe STATE-03 structure in S42.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The model does not demonstrate better retrieval or lower cost. No automatic product behavior is claimed.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Keep a small starting page and put specialized details in topic pages that it points 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Choose core facts for cross-task stability and details for a narrower task scope; routing quality remains an empirical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Core: build/test entry and Project constraints. Detail: algorithm contract and hardware assumptions. Keep it to this scope example.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the observed repository structure follows on S42.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what belongs in the core; do not solicit a complete taxonomy.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“Demo Repository에서는 이 Mental Model이 어떻게 반영됐을까?”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Four minutes; keep the C++ bridge to one integrated minute and avoid listing CMake/hardware items.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S41 또는 `production/preview/act2/S41.png`다.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S42 — 정보를 지우지 않고 위치를 나누기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정보를 지우지 않고 위치를 나누기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2 minutes + Demo 2 minutes (CAPTURED) + Case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STATE-03 reorganized the recorded detail from one growing `AGENTS.md` into a smaller core with links to topic documents.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“정보를 나누면 무엇이 바뀌고, 무엇을 그대로 보존해야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Lecture) STATE-02와 STATE-03은 실제 Repository 상태이며, 정보의 위치가 달라졌다고 밝힌다.</a:t>
            </a:r>
          </a:p>
          <a:p xmlns:a="http://schemas.openxmlformats.org/drawingml/2006/main">
            <a:r>
              <a:t>2. (1:00–3:00 / Demo) 커진 AGENTS.md와 분리된 docs를 비교한다. 오른쪽 실제 Routing 문구에서 어떤 질문을 어떤 문서로 안내하는지 발췌 한 줄씩 가리킨다.</a:t>
            </a:r>
          </a:p>
          <a:p xmlns:a="http://schemas.openxmlformats.org/drawingml/2006/main">
            <a:r>
              <a:t>3. (3:00–4:00 / Case) 정보를 없애기보다 Scope에 따라 놓을 위치를 나눈 설계 의도를 설명한다.</a:t>
            </a:r>
          </a:p>
          <a:p xmlns:a="http://schemas.openxmlformats.org/drawingml/2006/main">
            <a:r>
              <a:t>4. (4:00–5:00 / Lecture) C++도 기본 안내와 알고리즘/모듈 상세를 나누는 패턴으로 연결한다. 실제 접근 결과는 다음 두 Task에서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STATE-02, STATE-03, DEMO-06, BEAT-014–015, CLM-0003, CLM-0005, CLM-0014, CLM-0015. OBSERVED_PRODUCT for file structure; TEACHING_MODEL for the routing interpretation.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State structure is observed. Progressive Disclosure is a course pattern here; perfect routing, performance improvement, or token savings are not proven.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The information was reorganized by topic; the slide does not show it being deleted.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Separate the evidence of file placement from the inference about how such a structure may help readers navigate.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Core constraints stay at the entry point; algorithm, module, and hardware details belong with their relevant topic.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Use the captured/reconstructed STATE-02 → STATE-03 record; no live file browsing. Do not portray the diagram as a product screenshot.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what must remain unchanged when information is moved; accept silent reflection.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“두 Task가 같은 상세 문서를 읽는지 관찰해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Use the two Demo minutes for the before/after state, one for the Case, and keep the C++ bridge integrated into the lecture flow as approved.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S42 또는 `production/preview/act2/S42.png`다.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S43 — 서로 다른 두 Task가 무엇을 읽을까?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서로 다른 두 Task가 무엇을 읽을까?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Compare two read-only Task questions by observing what evidence each run actually accesses.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“두 Task에서 Agent가 같은 상세 문서를 읽을까?”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(0:00–0:30) Set the watch-for question without proposing an answer.</a:t>
            </a:r>
          </a:p>
          <a:p xmlns:a="http://schemas.openxmlformats.org/drawingml/2006/main">
            <a:r>
              <a:t>2. (0:30–1:30) Show Task A: “crop 1 3에서 어떤 source column을 포함하는가?” and Task B: “runtime dependency가 있는가?”</a:t>
            </a:r>
          </a:p>
          <a:p xmlns:a="http://schemas.openxmlformats.org/drawingml/2006/main">
            <a:r>
              <a:t>3. (1:30–2:00) Invite the audience to notice whether the same detail appears in both records.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TRIAL-005A/B, BEAT-015–016, CLM-0003, CLM-0005, CLM-0014, CLM-0015. OBSERVED_PRODUCT setup; results are withheld until the next slides.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Do not predict file access or reveal the observed result in advance. This setup does not imply perfect routing.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Different questions may require different Project details; the next slides show what was observed.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Evaluate actual accesses rather than infer behavior from the directory structure alone.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this is the watch setup; no new Trial is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viewers to keep the comparison question in mind. No response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“Crop Task의 기록에서 어떤 근거가 사용됐을까?”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Two minutes only. Do not give the answer or turn the prompt into an exercise.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S43 또는 `production/preview/act2/S43.png`다.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S44 — Crop Task에서 관찰한 접근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Crop Task에서 관찰한 접근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In TRIAL-005A’s final run, the recorded Crop answer was supported by access to the image contract; some broader context was also read.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“Crop 계약을 묻는 Task에서 어떤 근거가 사용됐을까?”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image-contracts.md에 있는 반열린 구간 [x_start, x_end)을 가리킨다.</a:t>
            </a:r>
          </a:p>
          <a:p xmlns:a="http://schemas.openxmlformats.org/drawingml/2006/main">
            <a:r>
              <a:t>2. (1:00–3:00) 아래 숫자는 픽셀 값이 아니라 source column index임을 밝힌다. crop 1 3에서 강조한 열 1과 2, 결과 너비 2, 제외된 끝 좌표 3을 순서대로 짚는다.</a:t>
            </a:r>
          </a:p>
          <a:p xmlns:a="http://schemas.openxmlformats.org/drawingml/2006/main">
            <a:r>
              <a:t>3. (3:00–4:00) 하단에서 AGENTS.md, architecture.md도 읽었으며 testing.md는 최종 실행에서 읽었음을 확인한다. 완벽한 최소 문서 선택으로 해석하지 않는다.</a:t>
            </a:r>
          </a:p>
          <a:p xmlns:a="http://schemas.openxmlformats.org/drawingml/2006/main">
            <a:r>
              <a:t>4. (4:00–5:00) 계약이 필요한 Task에서 관련 문서 접근과 답이 관찰됐다는 범위로 마무리하고 Task B로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TRIAL-005A, BEAT-016, CLM-0014, CLM-0015. OBSERVED_PRODUCT; recorded CLI final run and its access record.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The record supports that image-contract detail was accessed and the answer was observed in this run. It does not show perfect routing, that only relevant documents were read, or a measured efficiency gain.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The Crop question had a matching contract document, and the recorded final run read it before giving the boundary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Include run variability and broader reads in the interpretation; `testing.md` access was not consistent across iterations.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Use the captured/reconstructed record. Show the image contract and concise answer, not a full file-access log or fabricated terminal capture.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which evidence supports the boundary answer; let the audience inspect the concise summary.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“Dependency Task와 비교하면 어떤 차이가 보일까?”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Give the answer two minutes, the supporting document and limitation two minutes, then one minute for transition.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S44 또는 `production/preview/act2/S44.png`다.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S45 — Task별 접근은 달랐지만 완벽하지는 않다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Task별 접근은 달랐지만 완벽하지는 않다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7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1 minute (CAPTURED) + Case 3 minutes + Reflection 2 minutes + Q&amp;A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TRIAL-005A/B showed a task-specific difference in detailed document access, but did not prove perfect routing, token savings, or performance improvement.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“Task별 차이를 관찰한 것만으로 완벽한 Routing을 말할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강조한 첫 행에서 A는 image-contracts.md를 읽고 B는 읽지 않았음을 가리킨다.</a:t>
            </a:r>
          </a:p>
          <a:p xmlns:a="http://schemas.openxmlformats.org/drawingml/2006/main">
            <a:r>
              <a:t>2. (1:00–3:00 / Case) architecture는 둘 다 읽었고 testing은 A의 최종 실행에서만 읽었다고 확인한다. B는 설정·README·source도 확인했다. A의 더 넓은 읽기와 실행 간 변동도 남아 있다.</a:t>
            </a:r>
          </a:p>
          <a:p xmlns:a="http://schemas.openxmlformats.org/drawingml/2006/main">
            <a:r>
              <a:t>3. (3:00–4:00 / Case) 완벽한 Routing 미입증, 토큰 절약·성능 개선 미측정을 분명히 말한다.</a:t>
            </a:r>
          </a:p>
          <a:p xmlns:a="http://schemas.openxmlformats.org/drawingml/2006/main">
            <a:r>
              <a:t>4. (4:00–6:00 / Reflection) 이 비교로 말할 수 있는 사실과 없는 효과를 조용히 구분해 보게 한다.</a:t>
            </a:r>
          </a:p>
          <a:p xmlns:a="http://schemas.openxmlformats.org/drawingml/2006/main">
            <a:r>
              <a:t>5. (6:00–7:00 / Q&amp;A) 질문 하나를 받거나 준비된 질문을 던진다. 파일 접근 차이라는 관찰로 닫는다.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TRIAL-005A/B, BEAT-016–017, CLM-0014, CLM-0015, CLM-0003, CLM-0005. OBSERVED_PRODUCT; captured records, with observed run variability.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Task-specific access difference is observed. Broad reads also occurred. Do not claim complete routing, a general advantage, token savings, or performance gains.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 relevant document was read for one Task and not another, but the agent still read some shared and broader context.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A/B access differences are evidence about these runs only; they do not establish a stable policy or causal efficiency effect.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실제 기록을 요약한 문서 접근 비교표를 사용한다. image-contracts, architecture, testing 순서로 가리키며 testing의 최종 실행 범위와 변동을 유지한다. 토큰·성능 효과나 실제 터미널 화면으로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Keep three minutes for the Case, two for private Reflection, and one for Q&amp;A. If no one responds, ask: “이 기록으로 말할 수 있는 범위는 어디까지일까요?”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“정보를 정리했는데도 남아 있는 반복은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Protect the Mode boundaries. If discussion runs long, cut secondary file names before shortening the explicit claim boundary.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S45 또는 `production/preview/act2/S45.png`다.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S46 — 지식은 정리됐지만 절차는 반복된다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지식은 정리됐지만 절차는 반복된다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10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Transition 4 minutes + Q&amp;A 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Task Prompt, Project Context, and routing address different information responsibilities; a repeated work procedure can remain as a separate problem.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“Project 정보를 잘 정리했으면 문제가 끝난 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 / Transition) 왼쪽의 현재 목표, 공통 사실, 상세 정보 위치를 순서대로 회수한다.</a:t>
            </a:r>
          </a:p>
          <a:p xmlns:a="http://schemas.openxmlformats.org/drawingml/2006/main">
            <a:r>
              <a:t>2. (2:00–4:00 / Transition) 오른쪽 ‘먼저 측정하고, 조사한 뒤 변경하고, 같은 조건으로 확인’이라는 반복 절차를 보여준다. Context 선택을 완전히 해결했다는 뜻은 아니라고 밝힌다.</a:t>
            </a:r>
          </a:p>
          <a:p xmlns:a="http://schemas.openxmlformats.org/drawingml/2006/main">
            <a:r>
              <a:t>3. (4:00–10:00 / Q&amp;A) ‘같은 작업 절차도 다시 써야 할까?’로 질문을 받는다. 질문이 없으면 사실과 절차의 책임 차이를 짚고 ‘Project 지식과 별개로 같은 조사·검증 절차도 매번 다시 적어야 할까?’를 던진다. 두 Task의 공통 절차를 다음 관찰 대상으로 삼는다. 마지막 짧은 handoff도 이 6분 안에 포함한다.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BEAT-017–018, TRANS-005, TRIAL-006/007 as context for the upcoming problem. OBSERVED_PRODUCT for repeated prompt structure with PARTIAL attribution; TEACHING_MODEL for the three responsibilities and the transition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Do not attribute the repeated procedure solely to the Trial Prompt; global Harness influence remains. Do not present Skill or another solution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Knowing Project facts and repeating a reliable way of working are different needs.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Context can reduce repeated fact explanation while process ownership remains unresolved; keep observed repetition separate from its cause.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use the concise recorded prompt-structure summary; no live run or new Trial.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0–4분 Transition 뒤 4–10분 Q&amp;A를 운영한다. 공개 응답은 선택이며 질문이 없으면 사실과 절차의 차이를 묻는 준비 질문을 사용한다. 별도 실습은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“Project 지식과 별개로 같은 조사·검증 절차도 매번 다시 적어야 할까? 다음 두 성능 Task의 기록에서 반복된 부분을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Transition 4분 → Q&amp;A 6분, 총 10분을 유지한다. 마지막 handoff 문구도 Q&amp;A 종료 전에 포함하며 추가 Transition 시간을 만들지 않는다. 답변이 길어지면 다음 질문을 받지 않고 ACT 3로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S46 또는 `production/preview/act2/S46.png`다. 수정 초안 정적 화면은 존재하며 최종 release 경로·내용 일치는 통합 검토에서 확인한다. 실제 Trial 캡처나 현재 제품 실행으로 표현하지 않는다. 질문이 없으면 Audience Interaction의 준비 질문으로 진행한다.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bf368c4e68429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d2f2e554f54d4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2bc189778842a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1e51ff31c34fb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72a0c2674c413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a38c7f638c4be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07A0870-7C90-46FA-854D-4258A25D38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D5C75F9-2616-4143-9AAF-84B2E42A767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32039E4-9C48-48AC-9653-C32111F23A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4917C48-E4B6-471E-B4E0-DCF77361CA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C9FA366-C8D4-4CAF-BCBA-D67A0450338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53C24BB-79E9-47E6-B28A-8AC01C4179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7D58B39-83C6-45BD-944E-B54CC68D164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D72AA0E-DF5C-4CDC-AD0B-F67BB168EAD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E56343C-FE5D-419E-99D9-923904A479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6D1CE9B-FE8A-4118-8F77-2B83D94BF2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8748d5c0178499c" /><Relationship Type="http://schemas.openxmlformats.org/officeDocument/2006/relationships/slideLayout" Target="/ppt/slideLayouts/slideLayout1.xml" Id="R4a51a0b39c4141d2" /><Relationship Type="http://schemas.openxmlformats.org/officeDocument/2006/relationships/slideLayout" Target="/ppt/slideLayouts/slideLayout2.xml" Id="Rf9bd4775177e4486" /><Relationship Type="http://schemas.openxmlformats.org/officeDocument/2006/relationships/slideLayout" Target="/ppt/slideLayouts/slideLayout3.xml" Id="Rb45675ea0eb241d2" /><Relationship Type="http://schemas.openxmlformats.org/officeDocument/2006/relationships/slideLayout" Target="/ppt/slideLayouts/slideLayout4.xml" Id="R3dcd61b9fbf8483a" /><Relationship Type="http://schemas.openxmlformats.org/officeDocument/2006/relationships/slideLayout" Target="/ppt/slideLayouts/slideLayout5.xml" Id="Ra1220709701b4bb8" /><Relationship Type="http://schemas.openxmlformats.org/officeDocument/2006/relationships/slideLayout" Target="/ppt/slideLayouts/slideLayout6.xml" Id="R2d5e7bb1917d488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a51a0b39c4141d2"/>
    <p:sldLayoutId xmlns:r="http://schemas.openxmlformats.org/officeDocument/2006/relationships" id="2147483650" r:id="Rf9bd4775177e4486"/>
    <p:sldLayoutId xmlns:r="http://schemas.openxmlformats.org/officeDocument/2006/relationships" id="2147483651" r:id="Rb45675ea0eb241d2"/>
    <p:sldLayoutId xmlns:r="http://schemas.openxmlformats.org/officeDocument/2006/relationships" id="2147483652" r:id="R3dcd61b9fbf8483a"/>
    <p:sldLayoutId xmlns:r="http://schemas.openxmlformats.org/officeDocument/2006/relationships" id="2147483653" r:id="Ra1220709701b4bb8"/>
    <p:sldLayoutId xmlns:r="http://schemas.openxmlformats.org/officeDocument/2006/relationships" id="2147483654" r:id="R2d5e7bb1917d488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80bba502664463" /><Relationship Type="http://schemas.openxmlformats.org/officeDocument/2006/relationships/notesSlide" Target="/ppt/notesSlides/notesSlide1.xml" Id="Reccd29637f164b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23d93ddd2b41e1" /><Relationship Type="http://schemas.openxmlformats.org/officeDocument/2006/relationships/notesSlide" Target="/ppt/notesSlides/notesSlide2.xml" Id="Rf02b2310454a4a9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25a8d8ae244b68" /><Relationship Type="http://schemas.openxmlformats.org/officeDocument/2006/relationships/notesSlide" Target="/ppt/notesSlides/notesSlide3.xml" Id="R74d38c271b5842d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99210a1d994c68" /><Relationship Type="http://schemas.openxmlformats.org/officeDocument/2006/relationships/notesSlide" Target="/ppt/notesSlides/notesSlide4.xml" Id="R41ab9f687e66457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408997747448c0" /><Relationship Type="http://schemas.openxmlformats.org/officeDocument/2006/relationships/notesSlide" Target="/ppt/notesSlides/notesSlide5.xml" Id="R305c6d99761c484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4914488f764e87" /><Relationship Type="http://schemas.openxmlformats.org/officeDocument/2006/relationships/notesSlide" Target="/ppt/notesSlides/notesSlide6.xml" Id="R0f69eb0ea27242c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6268cafa0d4d03" /><Relationship Type="http://schemas.openxmlformats.org/officeDocument/2006/relationships/notesSlide" Target="/ppt/notesSlides/notesSlide7.xml" Id="Rc6a7da9536b646d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5a1296362e4ce1" /><Relationship Type="http://schemas.openxmlformats.org/officeDocument/2006/relationships/notesSlide" Target="/ppt/notesSlides/notesSlide8.xml" Id="R52a499d0b57346a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b313a0b9684637" /><Relationship Type="http://schemas.openxmlformats.org/officeDocument/2006/relationships/notesSlide" Target="/ppt/notesSlides/notesSlide9.xml" Id="Rf9b249bab28d4d4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cecdd050814524" /><Relationship Type="http://schemas.openxmlformats.org/officeDocument/2006/relationships/notesSlide" Target="/ppt/notesSlides/notesSlide10.xml" Id="Re567e4b0d815416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1b5eb878c84b3b" /><Relationship Type="http://schemas.openxmlformats.org/officeDocument/2006/relationships/notesSlide" Target="/ppt/notesSlides/notesSlide11.xml" Id="R208ec07813054db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c31cd9376f4bec" /><Relationship Type="http://schemas.openxmlformats.org/officeDocument/2006/relationships/notesSlide" Target="/ppt/notesSlides/notesSlide12.xml" Id="Raa746996ff6447d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9c6a545bfc42d1" /><Relationship Type="http://schemas.openxmlformats.org/officeDocument/2006/relationships/notesSlide" Target="/ppt/notesSlides/notesSlide13.xml" Id="R337804079cb9456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73f049948245f1" /><Relationship Type="http://schemas.openxmlformats.org/officeDocument/2006/relationships/notesSlide" Target="/ppt/notesSlides/notesSlide14.xml" Id="R8ec2c4eab77649c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3ac90966554436" /><Relationship Type="http://schemas.openxmlformats.org/officeDocument/2006/relationships/notesSlide" Target="/ppt/notesSlides/notesSlide15.xml" Id="R81eedf961e7d407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2 · 반복되는 프로젝트 설명">
            <a:extLst xmlns:a="http://schemas.openxmlformats.org/drawingml/2006/main">
              <a:ext uri="{FF2B5EF4-FFF2-40B4-BE49-F238E27FC236}">
                <a16:creationId xmlns:a16="http://schemas.microsoft.com/office/drawing/2014/main" id="{4A4247C4-E68E-4B22-AE4E-3C3CBD2D4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반복되는 프로젝트 설명</a:t>
            </a:r>
          </a:p>
        </p:txBody>
      </p:sp>
      <p:sp>
        <p:nvSpPr>
          <p:cNvPr id="2" name="S32">
            <a:extLst xmlns:a="http://schemas.openxmlformats.org/drawingml/2006/main">
              <a:ext uri="{FF2B5EF4-FFF2-40B4-BE49-F238E27FC236}">
                <a16:creationId xmlns:a16="http://schemas.microsoft.com/office/drawing/2014/main" id="{6E2F74F3-98D9-4A65-BB78-E740F1BFD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S32</a:t>
            </a:r>
          </a:p>
        </p:txBody>
      </p:sp>
      <p:sp>
        <p:nvSpPr>
          <p:cNvPr id="3" name="다른 Task에 같은 설명이 반복된다">
            <a:extLst xmlns:a="http://schemas.openxmlformats.org/drawingml/2006/main">
              <a:ext uri="{FF2B5EF4-FFF2-40B4-BE49-F238E27FC236}">
                <a16:creationId xmlns:a16="http://schemas.microsoft.com/office/drawing/2014/main" id="{9523D165-75B4-49CD-AC6A-A086771D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Task에 같은 설명이 반복된다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F2EDA0-A5CF-4134-B92D-27624D75D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구성 사례 · Bug fix / Performance / README 작업">
            <a:extLst xmlns:a="http://schemas.openxmlformats.org/drawingml/2006/main">
              <a:ext uri="{FF2B5EF4-FFF2-40B4-BE49-F238E27FC236}">
                <a16:creationId xmlns:a16="http://schemas.microsoft.com/office/drawing/2014/main" id="{D1467637-EDAD-435A-BAF5-4DE5012C1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구성 사례 · Bug fix / Performance / README 작업</a:t>
            </a:r>
          </a:p>
        </p:txBody>
      </p:sp>
      <p:sp>
        <p:nvSpPr>
          <p:cNvPr id="6" name="서로 다른 요청에 같은 프로젝트 정보가 반복되는 상황을 보여준다">
            <a:extLst xmlns:a="http://schemas.openxmlformats.org/drawingml/2006/main">
              <a:ext uri="{FF2B5EF4-FFF2-40B4-BE49-F238E27FC236}">
                <a16:creationId xmlns:a16="http://schemas.microsoft.com/office/drawing/2014/main" id="{8A2F0381-DADD-42B4-AACA-3F5927D8F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서로 다른 요청에 같은 프로젝트 정보가 반복되는 상황을 보여준다</a:t>
            </a:r>
          </a:p>
        </p:txBody>
      </p:sp>
      <p:sp>
        <p:nvSpPr>
          <p:cNvPr id="7" name="버그 수정">
            <a:extLst xmlns:a="http://schemas.openxmlformats.org/drawingml/2006/main">
              <a:ext uri="{FF2B5EF4-FFF2-40B4-BE49-F238E27FC236}">
                <a16:creationId xmlns:a16="http://schemas.microsoft.com/office/drawing/2014/main" id="{62AE1473-8A9E-4A2D-9F77-07510B8FB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버그 수정</a:t>
            </a:r>
          </a:p>
        </p:txBody>
      </p:sp>
      <p:sp>
        <p:nvSpPr>
          <p:cNvPr id="8" name="crop 경계를 수정해줘">
            <a:extLst xmlns:a="http://schemas.openxmlformats.org/drawingml/2006/main">
              <a:ext uri="{FF2B5EF4-FFF2-40B4-BE49-F238E27FC236}">
                <a16:creationId xmlns:a16="http://schemas.microsoft.com/office/drawing/2014/main" id="{89BDABD7-D870-42B2-AE63-EC0FA23C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경계를 수정해줘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075F8A-921A-4550-AD77-CF13D2FA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95B93-5717-4338-A4C3-E2DA1E4BC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3429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지정된 테스트 실행&#10;의존성 추가에는 근거 필요&#10;로컬 합성 데이터 사용&#10;기존 동작 보존">
            <a:extLst xmlns:a="http://schemas.openxmlformats.org/drawingml/2006/main">
              <a:ext uri="{FF2B5EF4-FFF2-40B4-BE49-F238E27FC236}">
                <a16:creationId xmlns:a16="http://schemas.microsoft.com/office/drawing/2014/main" id="{251B0F81-7530-413E-96CB-3B04B3859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045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지정된 테스트 실행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근거 필요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로컬 합성 데이터 사용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동작 보존</a:t>
            </a:r>
          </a:p>
        </p:txBody>
      </p:sp>
      <p:sp>
        <p:nvSpPr>
          <p:cNvPr id="12" name="성능 조사">
            <a:extLst xmlns:a="http://schemas.openxmlformats.org/drawingml/2006/main">
              <a:ext uri="{FF2B5EF4-FFF2-40B4-BE49-F238E27FC236}">
                <a16:creationId xmlns:a16="http://schemas.microsoft.com/office/drawing/2014/main" id="{6A977824-D12A-428D-9A7F-C63C94B5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098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성능 조사</a:t>
            </a:r>
          </a:p>
        </p:txBody>
      </p:sp>
      <p:sp>
        <p:nvSpPr>
          <p:cNvPr id="13" name="통계 계산을 조사해줘">
            <a:extLst xmlns:a="http://schemas.openxmlformats.org/drawingml/2006/main">
              <a:ext uri="{FF2B5EF4-FFF2-40B4-BE49-F238E27FC236}">
                <a16:creationId xmlns:a16="http://schemas.microsoft.com/office/drawing/2014/main" id="{D280E139-2872-4E85-8983-302191E4A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051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통계 계산을 조사해줘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0A9A6A-9398-4289-B7FD-7583A1158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766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A1AC4F-2A09-4BE6-81F4-83EF90C65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67100"/>
            <a:ext cx="3429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지정된 테스트 실행&#10;의존성 추가에는 근거 필요&#10;로컬 합성 데이터 사용&#10;기존 동작 보존">
            <a:extLst xmlns:a="http://schemas.openxmlformats.org/drawingml/2006/main">
              <a:ext uri="{FF2B5EF4-FFF2-40B4-BE49-F238E27FC236}">
                <a16:creationId xmlns:a16="http://schemas.microsoft.com/office/drawing/2014/main" id="{7DB0345B-2446-43D5-BA91-63D465F9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60045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지정된 테스트 실행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근거 필요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로컬 합성 데이터 사용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동작 보존</a:t>
            </a:r>
          </a:p>
        </p:txBody>
      </p:sp>
      <p:sp>
        <p:nvSpPr>
          <p:cNvPr id="17" name="README 수정">
            <a:extLst xmlns:a="http://schemas.openxmlformats.org/drawingml/2006/main">
              <a:ext uri="{FF2B5EF4-FFF2-40B4-BE49-F238E27FC236}">
                <a16:creationId xmlns:a16="http://schemas.microsoft.com/office/drawing/2014/main" id="{FB5E309A-43D5-4747-B374-FE48DB385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098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README 수정</a:t>
            </a:r>
          </a:p>
        </p:txBody>
      </p:sp>
      <p:sp>
        <p:nvSpPr>
          <p:cNvPr id="18" name="빌드 안내를 명확히 해줘">
            <a:extLst xmlns:a="http://schemas.openxmlformats.org/drawingml/2006/main">
              <a:ext uri="{FF2B5EF4-FFF2-40B4-BE49-F238E27FC236}">
                <a16:creationId xmlns:a16="http://schemas.microsoft.com/office/drawing/2014/main" id="{0F5DA080-CA6A-49C1-90E1-BDF2A8371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051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빌드 안내를 명확히 해줘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535672-104A-41C8-B045-245837C40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766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FB77C3-A29D-439B-A7E9-ECBF2116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67100"/>
            <a:ext cx="3429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지정된 테스트 실행&#10;의존성 추가에는 근거 필요&#10;로컬 합성 데이터 사용&#10;기존 동작 보존">
            <a:extLst xmlns:a="http://schemas.openxmlformats.org/drawingml/2006/main">
              <a:ext uri="{FF2B5EF4-FFF2-40B4-BE49-F238E27FC236}">
                <a16:creationId xmlns:a16="http://schemas.microsoft.com/office/drawing/2014/main" id="{40773AD9-3DCB-4D7E-A421-8ADDE681F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0045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지정된 테스트 실행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근거 필요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로컬 합성 데이터 사용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동작 보존</a:t>
            </a:r>
          </a:p>
        </p:txBody>
      </p:sp>
      <p:sp>
        <p:nvSpPr>
          <p:cNvPr id="22" name="요청은 다른데, 아래 설명은 왜 계속 같을까?">
            <a:extLst xmlns:a="http://schemas.openxmlformats.org/drawingml/2006/main">
              <a:ext uri="{FF2B5EF4-FFF2-40B4-BE49-F238E27FC236}">
                <a16:creationId xmlns:a16="http://schemas.microsoft.com/office/drawing/2014/main" id="{E23EADF8-91C3-4C89-B92C-CA6428EB8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요청은 다른데, 아래 설명은 왜 계속 같을까?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A5558DDC-B0A1-40E3-B93F-0AC8BBAB4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9471190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ACT 2  ·  Project Context">
            <a:extLst xmlns:a="http://schemas.openxmlformats.org/drawingml/2006/main">
              <a:ext uri="{FF2B5EF4-FFF2-40B4-BE49-F238E27FC236}">
                <a16:creationId xmlns:a16="http://schemas.microsoft.com/office/drawing/2014/main" id="{B151911A-29E0-4AE4-A662-A06F938A0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 ·  Project Context</a:t>
            </a:r>
          </a:p>
        </p:txBody>
      </p:sp>
      <p:sp>
        <p:nvSpPr>
          <p:cNvPr id="2" name="S33">
            <a:extLst xmlns:a="http://schemas.openxmlformats.org/drawingml/2006/main">
              <a:ext uri="{FF2B5EF4-FFF2-40B4-BE49-F238E27FC236}">
                <a16:creationId xmlns:a16="http://schemas.microsoft.com/office/drawing/2014/main" id="{26C4688C-44FF-47DF-B058-8EFEBAD29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S33</a:t>
            </a:r>
          </a:p>
        </p:txBody>
      </p:sp>
      <p:sp>
        <p:nvSpPr>
          <p:cNvPr id="3" name="작은 Project Context의 첫 기록">
            <a:extLst xmlns:a="http://schemas.openxmlformats.org/drawingml/2006/main">
              <a:ext uri="{FF2B5EF4-FFF2-40B4-BE49-F238E27FC236}">
                <a16:creationId xmlns:a16="http://schemas.microsoft.com/office/drawing/2014/main" id="{0247EA3D-A134-4D35-809C-1C1FD1FAD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작은 Project Context의 첫 기록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800E12-2DDC-4847-83FC-5FB247C13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OBSERVED PRODUCT  |  STATE-01 · AGENTS.md 실제 원문 발췌">
            <a:extLst xmlns:a="http://schemas.openxmlformats.org/drawingml/2006/main">
              <a:ext uri="{FF2B5EF4-FFF2-40B4-BE49-F238E27FC236}">
                <a16:creationId xmlns:a16="http://schemas.microsoft.com/office/drawing/2014/main" id="{4DFA1924-D945-4092-B1D3-61A59B8F0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OBSERVED PRODUCT  |  STATE-01 · AGENTS.md 실제 원문 발췌</a:t>
            </a:r>
          </a:p>
        </p:txBody>
      </p:sp>
      <p:sp>
        <p:nvSpPr>
          <p:cNvPr id="6" name="파일의 내용과 기록 위치를 보여주는 장 · Agent의 활용 관찰은 다음 장에서 확인">
            <a:extLst xmlns:a="http://schemas.openxmlformats.org/drawingml/2006/main">
              <a:ext uri="{FF2B5EF4-FFF2-40B4-BE49-F238E27FC236}">
                <a16:creationId xmlns:a16="http://schemas.microsoft.com/office/drawing/2014/main" id="{996CC426-F1C8-411C-818E-7488C1127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파일의 내용과 기록 위치를 보여주는 장 · Agent의 활용 관찰은 다음 장에서 확인</a:t>
            </a:r>
          </a:p>
        </p:txBody>
      </p:sp>
      <p:sp>
        <p:nvSpPr>
          <p:cNvPr id="7" name="반복해서 설명하던 내용을 저장소에 남겼다">
            <a:extLst xmlns:a="http://schemas.openxmlformats.org/drawingml/2006/main">
              <a:ext uri="{FF2B5EF4-FFF2-40B4-BE49-F238E27FC236}">
                <a16:creationId xmlns:a16="http://schemas.microsoft.com/office/drawing/2014/main" id="{68C8C39C-9C70-4342-86B4-8537BC4EA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반복해서 설명하던 내용을 저장소에 남겼다</a:t>
            </a:r>
          </a:p>
        </p:txBody>
      </p:sp>
      <p:sp>
        <p:nvSpPr>
          <p:cNvPr id="8" name="AGENTS.md">
            <a:extLst xmlns:a="http://schemas.openxmlformats.org/drawingml/2006/main">
              <a:ext uri="{FF2B5EF4-FFF2-40B4-BE49-F238E27FC236}">
                <a16:creationId xmlns:a16="http://schemas.microsoft.com/office/drawing/2014/main" id="{0D15D344-8B8D-4EF5-A22B-3508278E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55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AGENTS.md</a:t>
            </a:r>
          </a:p>
        </p:txBody>
      </p:sp>
      <p:sp>
        <p:nvSpPr>
          <p:cNvPr id="9" name="STATE-00-FIXED → STATE-01">
            <a:extLst xmlns:a="http://schemas.openxmlformats.org/drawingml/2006/main">
              <a:ext uri="{FF2B5EF4-FFF2-40B4-BE49-F238E27FC236}">
                <a16:creationId xmlns:a16="http://schemas.microsoft.com/office/drawing/2014/main" id="{359769FA-0C24-4854-8955-48DE2BA6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57425"/>
            <a:ext cx="443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STATE-00-FIXED → STATE-01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43D2A3-FA1B-4F37-A2C2-BCA67912F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프로젝트 목적">
            <a:extLst xmlns:a="http://schemas.openxmlformats.org/drawingml/2006/main">
              <a:ext uri="{FF2B5EF4-FFF2-40B4-BE49-F238E27FC236}">
                <a16:creationId xmlns:a16="http://schemas.microsoft.com/office/drawing/2014/main" id="{18DA471A-573C-49FF-BFEB-1D5C0DADE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6075"/>
            <a:ext cx="2124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프로젝트 목적</a:t>
            </a:r>
          </a:p>
        </p:txBody>
      </p:sp>
      <p:sp>
        <p:nvSpPr>
          <p:cNvPr id="12" name="Local grayscale image-processing CLI using synthetic ASCII P">
            <a:extLst xmlns:a="http://schemas.openxmlformats.org/drawingml/2006/main">
              <a:ext uri="{FF2B5EF4-FFF2-40B4-BE49-F238E27FC236}">
                <a16:creationId xmlns:a16="http://schemas.microsoft.com/office/drawing/2014/main" id="{2894C121-0D64-47F7-858C-A48FA5D55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81300"/>
            <a:ext cx="862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Local </a:t>
            </a: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grayscale image-processing CLI</a:t>
            </a: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 using synthetic ASCII PGM data.</a:t>
            </a:r>
          </a:p>
        </p:txBody>
      </p:sp>
      <p:sp>
        <p:nvSpPr>
          <p:cNvPr id="13" name="로컬 합성 이미지로 동작하는 흑백 처리 CLI">
            <a:extLst xmlns:a="http://schemas.openxmlformats.org/drawingml/2006/main">
              <a:ext uri="{FF2B5EF4-FFF2-40B4-BE49-F238E27FC236}">
                <a16:creationId xmlns:a16="http://schemas.microsoft.com/office/drawing/2014/main" id="{73E66AD6-164F-4776-9F6B-DC47D5FC6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086100"/>
            <a:ext cx="862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로컬 합성 이미지로 동작하는 흑백 처리 CLI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5D22AA-9D40-4FC5-99C7-E33AE058E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실행 방법">
            <a:extLst xmlns:a="http://schemas.openxmlformats.org/drawingml/2006/main">
              <a:ext uri="{FF2B5EF4-FFF2-40B4-BE49-F238E27FC236}">
                <a16:creationId xmlns:a16="http://schemas.microsoft.com/office/drawing/2014/main" id="{AE62AEE4-6328-4ECC-9F05-41B4D2AE2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2124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실행 방법</a:t>
            </a:r>
          </a:p>
        </p:txBody>
      </p:sp>
      <p:sp>
        <p:nvSpPr>
          <p:cNvPr id="16" name="Use the prepared build and CLI commands documented in `READM">
            <a:extLst xmlns:a="http://schemas.openxmlformats.org/drawingml/2006/main">
              <a:ext uri="{FF2B5EF4-FFF2-40B4-BE49-F238E27FC236}">
                <a16:creationId xmlns:a16="http://schemas.microsoft.com/office/drawing/2014/main" id="{AEE73BC0-A114-4241-9602-2919F548E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514725"/>
            <a:ext cx="862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Use the prepared build and CLI commands documented in `</a:t>
            </a: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README.md</a:t>
            </a: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`.</a:t>
            </a:r>
          </a:p>
        </p:txBody>
      </p:sp>
      <p:sp>
        <p:nvSpPr>
          <p:cNvPr id="17" name="실행 방법은 README에서 확인">
            <a:extLst xmlns:a="http://schemas.openxmlformats.org/drawingml/2006/main">
              <a:ext uri="{FF2B5EF4-FFF2-40B4-BE49-F238E27FC236}">
                <a16:creationId xmlns:a16="http://schemas.microsoft.com/office/drawing/2014/main" id="{41B4B794-E4C4-42CE-8541-AE527A026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9525"/>
            <a:ext cx="862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방법은 README에서 확인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94BC0C-25F9-4B30-9975-E719A2025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5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테스트 명령">
            <a:extLst xmlns:a="http://schemas.openxmlformats.org/drawingml/2006/main">
              <a:ext uri="{FF2B5EF4-FFF2-40B4-BE49-F238E27FC236}">
                <a16:creationId xmlns:a16="http://schemas.microsoft.com/office/drawing/2014/main" id="{4BE4D2C4-C558-4282-9D95-8EAD07FD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2124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테스트 명령</a:t>
            </a:r>
          </a:p>
        </p:txBody>
      </p:sp>
      <p:sp>
        <p:nvSpPr>
          <p:cNvPr id="20" name="PYTHONPATH=src python3 -m unittest discover -s tests -v">
            <a:extLst xmlns:a="http://schemas.openxmlformats.org/drawingml/2006/main">
              <a:ext uri="{FF2B5EF4-FFF2-40B4-BE49-F238E27FC236}">
                <a16:creationId xmlns:a16="http://schemas.microsoft.com/office/drawing/2014/main" id="{BC423AA7-FDF4-48C3-8B91-2960D69C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48150"/>
            <a:ext cx="862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PYTHONPATH=src python3 -m unittest discover -s tests -v</a:t>
            </a:r>
          </a:p>
        </p:txBody>
      </p:sp>
      <p:sp>
        <p:nvSpPr>
          <p:cNvPr id="21" name="반복해서 쓸 테스트 명령">
            <a:extLst xmlns:a="http://schemas.openxmlformats.org/drawingml/2006/main">
              <a:ext uri="{FF2B5EF4-FFF2-40B4-BE49-F238E27FC236}">
                <a16:creationId xmlns:a16="http://schemas.microsoft.com/office/drawing/2014/main" id="{8DAADDBD-BA14-4AFA-8A30-BE6400C2F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52950"/>
            <a:ext cx="862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반복해서 쓸 테스트 명령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8CD8EE-99A6-4113-A14D-B19EB35C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3" name="기본 제약">
            <a:extLst xmlns:a="http://schemas.openxmlformats.org/drawingml/2006/main">
              <a:ext uri="{FF2B5EF4-FFF2-40B4-BE49-F238E27FC236}">
                <a16:creationId xmlns:a16="http://schemas.microsoft.com/office/drawing/2014/main" id="{79999889-D779-4790-B921-149B148BA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2124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기본 제약</a:t>
            </a:r>
          </a:p>
        </p:txBody>
      </p:sp>
      <p:sp>
        <p:nvSpPr>
          <p:cNvPr id="24" name="Keep changes scoped and verify relevant behavior.">
            <a:extLst xmlns:a="http://schemas.openxmlformats.org/drawingml/2006/main">
              <a:ext uri="{FF2B5EF4-FFF2-40B4-BE49-F238E27FC236}">
                <a16:creationId xmlns:a16="http://schemas.microsoft.com/office/drawing/2014/main" id="{3FA66A92-4679-4D31-A6D1-AA4253A4C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981575"/>
            <a:ext cx="862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Keep changes </a:t>
            </a: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scoped and verify</a:t>
            </a: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 relevant behavior.</a:t>
            </a:r>
          </a:p>
        </p:txBody>
      </p:sp>
      <p:sp>
        <p:nvSpPr>
          <p:cNvPr id="25" name="범위를 지키고 관련 동작을 검증">
            <a:extLst xmlns:a="http://schemas.openxmlformats.org/drawingml/2006/main">
              <a:ext uri="{FF2B5EF4-FFF2-40B4-BE49-F238E27FC236}">
                <a16:creationId xmlns:a16="http://schemas.microsoft.com/office/drawing/2014/main" id="{B4684E36-7BF3-4783-B48A-7A4916F0F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286375"/>
            <a:ext cx="862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범위를 지키고 관련 동작을 검증</a:t>
            </a:r>
          </a:p>
        </p:txBody>
      </p:sp>
      <p:sp>
        <p:nvSpPr>
          <p:cNvPr id="2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AA7293DD-EC92-435E-950D-0A1CC3905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0436020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2 · 지침을 활용한 관찰">
            <a:extLst xmlns:a="http://schemas.openxmlformats.org/drawingml/2006/main">
              <a:ext uri="{FF2B5EF4-FFF2-40B4-BE49-F238E27FC236}">
                <a16:creationId xmlns:a16="http://schemas.microsoft.com/office/drawing/2014/main" id="{3A0E2348-95C0-47F7-80E4-38F194F87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지침을 활용한 관찰</a:t>
            </a:r>
          </a:p>
        </p:txBody>
      </p:sp>
      <p:sp>
        <p:nvSpPr>
          <p:cNvPr id="2" name="S34">
            <a:extLst xmlns:a="http://schemas.openxmlformats.org/drawingml/2006/main">
              <a:ext uri="{FF2B5EF4-FFF2-40B4-BE49-F238E27FC236}">
                <a16:creationId xmlns:a16="http://schemas.microsoft.com/office/drawing/2014/main" id="{8A8B91A6-D668-45EE-BBC2-6FBF3CC81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S34</a:t>
            </a:r>
          </a:p>
        </p:txBody>
      </p:sp>
      <p:sp>
        <p:nvSpPr>
          <p:cNvPr id="3" name="한 번의 사용에서 확인된 것">
            <a:extLst xmlns:a="http://schemas.openxmlformats.org/drawingml/2006/main">
              <a:ext uri="{FF2B5EF4-FFF2-40B4-BE49-F238E27FC236}">
                <a16:creationId xmlns:a16="http://schemas.microsoft.com/office/drawing/2014/main" id="{6C704AED-400E-451F-8B93-50BA940F7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한 번의 사용에서 확인된 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C8DA53-FF72-4373-97F1-C80B861A8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3 · Codex CLI 기록을 재구성 · 전체 테스트 11/11 PASS">
            <a:extLst xmlns:a="http://schemas.openxmlformats.org/drawingml/2006/main">
              <a:ext uri="{FF2B5EF4-FFF2-40B4-BE49-F238E27FC236}">
                <a16:creationId xmlns:a16="http://schemas.microsoft.com/office/drawing/2014/main" id="{00B56F22-23B9-4ABA-8773-82EDC0B23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TRIAL-003 · Codex CLI 기록을 재구성 · 전체 테스트 11/11 PASS</a:t>
            </a:r>
          </a:p>
        </p:txBody>
      </p:sp>
      <p:sp>
        <p:nvSpPr>
          <p:cNvPr id="6" name="Personal/global Skills도 실행됨 · AGENTS.md만의 독립적인 효과로 해석하지 않음">
            <a:extLst xmlns:a="http://schemas.openxmlformats.org/drawingml/2006/main">
              <a:ext uri="{FF2B5EF4-FFF2-40B4-BE49-F238E27FC236}">
                <a16:creationId xmlns:a16="http://schemas.microsoft.com/office/drawing/2014/main" id="{9424DE84-B0F3-4758-A475-55051A9B6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Personal/global Skills도 실행됨 · AGENTS.md만의 독립적인 효과로 해석하지 않음</a:t>
            </a:r>
          </a:p>
        </p:txBody>
      </p:sp>
      <p:sp>
        <p:nvSpPr>
          <p:cNvPr id="7" name="요청">
            <a:extLst xmlns:a="http://schemas.openxmlformats.org/drawingml/2006/main">
              <a:ext uri="{FF2B5EF4-FFF2-40B4-BE49-F238E27FC236}">
                <a16:creationId xmlns:a16="http://schemas.microsoft.com/office/drawing/2014/main" id="{A294877E-36F7-4182-B6D8-91A54D7A7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요청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FEBC1E-9B3B-4A67-95E3-4CCBE6244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31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읽은 파일">
            <a:extLst xmlns:a="http://schemas.openxmlformats.org/drawingml/2006/main">
              <a:ext uri="{FF2B5EF4-FFF2-40B4-BE49-F238E27FC236}">
                <a16:creationId xmlns:a16="http://schemas.microsoft.com/office/drawing/2014/main" id="{3C26CDA9-7011-43A5-B320-E8992CD9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0980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읽은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6F45CE-6C43-49FA-A416-7699EDB92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667000"/>
            <a:ext cx="331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실행 기록">
            <a:extLst xmlns:a="http://schemas.openxmlformats.org/drawingml/2006/main">
              <a:ext uri="{FF2B5EF4-FFF2-40B4-BE49-F238E27FC236}">
                <a16:creationId xmlns:a16="http://schemas.microsoft.com/office/drawing/2014/main" id="{3EBFA5CD-1FA4-443B-9ABE-96A4E8AAD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0980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기록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BFCAAA-7690-465B-B265-48031FCF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67000"/>
            <a:ext cx="331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README만 수정&#10;테스트 명령은 없음">
            <a:extLst xmlns:a="http://schemas.openxmlformats.org/drawingml/2006/main">
              <a:ext uri="{FF2B5EF4-FFF2-40B4-BE49-F238E27FC236}">
                <a16:creationId xmlns:a16="http://schemas.microsoft.com/office/drawing/2014/main" id="{B8637B59-F576-4B62-993F-434DA4CBB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33147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README만 수정</a:t>
            </a:r>
          </a:p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명령은 없음</a:t>
            </a:r>
          </a:p>
        </p:txBody>
      </p:sp>
      <p:sp>
        <p:nvSpPr>
          <p:cNvPr id="14" name="AGENTS.md">
            <a:extLst xmlns:a="http://schemas.openxmlformats.org/drawingml/2006/main">
              <a:ext uri="{FF2B5EF4-FFF2-40B4-BE49-F238E27FC236}">
                <a16:creationId xmlns:a16="http://schemas.microsoft.com/office/drawing/2014/main" id="{51CB64AD-CD91-4113-AB0D-B1FA3FA4B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76550"/>
            <a:ext cx="3314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55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AGENTS.md</a:t>
            </a:r>
          </a:p>
        </p:txBody>
      </p:sp>
      <p:sp>
        <p:nvSpPr>
          <p:cNvPr id="15" name="기록된 테스트&#10;명령을 사용">
            <a:extLst xmlns:a="http://schemas.openxmlformats.org/drawingml/2006/main">
              <a:ext uri="{FF2B5EF4-FFF2-40B4-BE49-F238E27FC236}">
                <a16:creationId xmlns:a16="http://schemas.microsoft.com/office/drawing/2014/main" id="{D3B22B93-559F-4802-B0C0-D88BEFD22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33775"/>
            <a:ext cx="33147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기록된 테스트</a:t>
            </a:r>
          </a:p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명령을 사용</a:t>
            </a:r>
          </a:p>
        </p:txBody>
      </p:sp>
      <p:sp>
        <p:nvSpPr>
          <p:cNvPr id="16" name="전체 테스트">
            <a:extLst xmlns:a="http://schemas.openxmlformats.org/drawingml/2006/main">
              <a:ext uri="{FF2B5EF4-FFF2-40B4-BE49-F238E27FC236}">
                <a16:creationId xmlns:a16="http://schemas.microsoft.com/office/drawing/2014/main" id="{10774065-B4F3-4FE2-9BFD-374120BC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876550"/>
            <a:ext cx="3314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전체 테스트</a:t>
            </a:r>
          </a:p>
        </p:txBody>
      </p:sp>
      <p:sp>
        <p:nvSpPr>
          <p:cNvPr id="17" name="11 / 11">
            <a:extLst xmlns:a="http://schemas.openxmlformats.org/drawingml/2006/main">
              <a:ext uri="{FF2B5EF4-FFF2-40B4-BE49-F238E27FC236}">
                <a16:creationId xmlns:a16="http://schemas.microsoft.com/office/drawing/2014/main" id="{FEF88C7E-E5B1-40CE-A21B-2925908A5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76625"/>
            <a:ext cx="3314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11 / 11</a:t>
            </a:r>
          </a:p>
        </p:txBody>
      </p:sp>
      <p:sp>
        <p:nvSpPr>
          <p:cNvPr id="18" name="PASS">
            <a:extLst xmlns:a="http://schemas.openxmlformats.org/drawingml/2006/main">
              <a:ext uri="{FF2B5EF4-FFF2-40B4-BE49-F238E27FC236}">
                <a16:creationId xmlns:a16="http://schemas.microsoft.com/office/drawing/2014/main" id="{0BD00DE5-4A06-4031-823B-A0469D767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105275"/>
            <a:ext cx="33147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589E61-F5CE-4437-B10D-D86D27C30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190875"/>
            <a:ext cx="2857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0F9F33-1B81-4F4A-80EA-58FD5A2E4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190875"/>
            <a:ext cx="2857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4402A2-2BF9-45CD-B4F8-B28FA0422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README-only 범위는 작업 요청에도 명시돼 있었다">
            <a:extLst xmlns:a="http://schemas.openxmlformats.org/drawingml/2006/main">
              <a:ext uri="{FF2B5EF4-FFF2-40B4-BE49-F238E27FC236}">
                <a16:creationId xmlns:a16="http://schemas.microsoft.com/office/drawing/2014/main" id="{621872E9-978E-4067-BA4C-ECEC54CF9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README-only 범위는 작업 요청에도 명시돼 있었다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CB5503D-04B3-417D-BC86-CF0D2102A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9445227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2 · 정보의 범위와 수명">
            <a:extLst xmlns:a="http://schemas.openxmlformats.org/drawingml/2006/main">
              <a:ext uri="{FF2B5EF4-FFF2-40B4-BE49-F238E27FC236}">
                <a16:creationId xmlns:a16="http://schemas.microsoft.com/office/drawing/2014/main" id="{370B6AD8-4284-435A-B5F6-C37156559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정보의 범위와 수명</a:t>
            </a:r>
          </a:p>
        </p:txBody>
      </p:sp>
      <p:sp>
        <p:nvSpPr>
          <p:cNvPr id="2" name="S35">
            <a:extLst xmlns:a="http://schemas.openxmlformats.org/drawingml/2006/main">
              <a:ext uri="{FF2B5EF4-FFF2-40B4-BE49-F238E27FC236}">
                <a16:creationId xmlns:a16="http://schemas.microsoft.com/office/drawing/2014/main" id="{1987D40C-1B99-4171-A85B-FFE135B7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S35</a:t>
            </a:r>
          </a:p>
        </p:txBody>
      </p:sp>
      <p:sp>
        <p:nvSpPr>
          <p:cNvPr id="3" name="Task Prompt와 Project Context">
            <a:extLst xmlns:a="http://schemas.openxmlformats.org/drawingml/2006/main">
              <a:ext uri="{FF2B5EF4-FFF2-40B4-BE49-F238E27FC236}">
                <a16:creationId xmlns:a16="http://schemas.microsoft.com/office/drawing/2014/main" id="{563A829D-EB0D-4DCA-A5ED-B2A8D621B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Prompt와 Project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1FF0BF-A9F4-4F2D-A01D-E48611398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구분 · 현재 목표와 지속되는 프로젝트 사실">
            <a:extLst xmlns:a="http://schemas.openxmlformats.org/drawingml/2006/main">
              <a:ext uri="{FF2B5EF4-FFF2-40B4-BE49-F238E27FC236}">
                <a16:creationId xmlns:a16="http://schemas.microsoft.com/office/drawing/2014/main" id="{52C1E52C-62F2-4F4A-B3DB-937F2216B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구분 · 현재 목표와 지속되는 프로젝트 사실</a:t>
            </a:r>
          </a:p>
        </p:txBody>
      </p:sp>
      <p:sp>
        <p:nvSpPr>
          <p:cNvPr id="6" name="C++에서도 프로젝트 공통 제약과 이번 알고리즘 변경 조건은 범위가 다를 수 있다">
            <a:extLst xmlns:a="http://schemas.openxmlformats.org/drawingml/2006/main">
              <a:ext uri="{FF2B5EF4-FFF2-40B4-BE49-F238E27FC236}">
                <a16:creationId xmlns:a16="http://schemas.microsoft.com/office/drawing/2014/main" id="{18C55F86-C0CC-4921-98E3-6BA282383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C++에서도 프로젝트 공통 제약과 이번 알고리즘 변경 조건은 범위가 다를 수 있다</a:t>
            </a:r>
          </a:p>
        </p:txBody>
      </p:sp>
      <p:sp>
        <p:nvSpPr>
          <p:cNvPr id="7" name="방금 본 기록을 범위와 수명으로 읽어보면">
            <a:extLst xmlns:a="http://schemas.openxmlformats.org/drawingml/2006/main">
              <a:ext uri="{FF2B5EF4-FFF2-40B4-BE49-F238E27FC236}">
                <a16:creationId xmlns:a16="http://schemas.microsoft.com/office/drawing/2014/main" id="{B6E9F95F-D82F-49B6-A492-975C4E65E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방금 본 기록을 범위와 수명으로 읽어보면</a:t>
            </a:r>
          </a:p>
        </p:txBody>
      </p:sp>
      <p:sp>
        <p:nvSpPr>
          <p:cNvPr id="8" name="Task Prompt">
            <a:extLst xmlns:a="http://schemas.openxmlformats.org/drawingml/2006/main">
              <a:ext uri="{FF2B5EF4-FFF2-40B4-BE49-F238E27FC236}">
                <a16:creationId xmlns:a16="http://schemas.microsoft.com/office/drawing/2014/main" id="{8BE4CCF9-48BA-4890-BEC6-E7683D868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4914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Prompt</a:t>
            </a:r>
          </a:p>
        </p:txBody>
      </p:sp>
      <p:sp>
        <p:nvSpPr>
          <p:cNvPr id="9" name="Project Context">
            <a:extLst xmlns:a="http://schemas.openxmlformats.org/drawingml/2006/main">
              <a:ext uri="{FF2B5EF4-FFF2-40B4-BE49-F238E27FC236}">
                <a16:creationId xmlns:a16="http://schemas.microsoft.com/office/drawing/2014/main" id="{14CF9B0E-5E24-4470-BA9B-EC05FAA40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76525"/>
            <a:ext cx="487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 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3C170F-5B7D-4286-904C-7AC2D0C3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CDF00D-3408-4062-8125-83F791176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861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지금 원하는 결과">
            <a:extLst xmlns:a="http://schemas.openxmlformats.org/drawingml/2006/main">
              <a:ext uri="{FF2B5EF4-FFF2-40B4-BE49-F238E27FC236}">
                <a16:creationId xmlns:a16="http://schemas.microsoft.com/office/drawing/2014/main" id="{EBCDD3D8-3B4C-4B07-8528-028B7AEBF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7575"/>
            <a:ext cx="4914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지금 원하는 결과</a:t>
            </a:r>
          </a:p>
        </p:txBody>
      </p:sp>
      <p:sp>
        <p:nvSpPr>
          <p:cNvPr id="13" name="계속 참이어야 할 사실">
            <a:extLst xmlns:a="http://schemas.openxmlformats.org/drawingml/2006/main">
              <a:ext uri="{FF2B5EF4-FFF2-40B4-BE49-F238E27FC236}">
                <a16:creationId xmlns:a16="http://schemas.microsoft.com/office/drawing/2014/main" id="{06C88E4F-212B-4ABA-A683-73EF6958A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57575"/>
            <a:ext cx="4876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계속 참이어야 할 사실</a:t>
            </a:r>
          </a:p>
        </p:txBody>
      </p:sp>
      <p:sp>
        <p:nvSpPr>
          <p:cNvPr id="14" name="crop 경계 버그 수정&#10;이번에는 README만 변경">
            <a:extLst xmlns:a="http://schemas.openxmlformats.org/drawingml/2006/main">
              <a:ext uri="{FF2B5EF4-FFF2-40B4-BE49-F238E27FC236}">
                <a16:creationId xmlns:a16="http://schemas.microsoft.com/office/drawing/2014/main" id="{FF25CD2C-F479-4546-BB83-649BC88E3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49149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버그 수정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이번에는 README만 변경</a:t>
            </a:r>
          </a:p>
        </p:txBody>
      </p:sp>
      <p:sp>
        <p:nvSpPr>
          <p:cNvPr id="15" name="프로젝트의 테스트 명령&#10;의존성 추가에는 작업상 근거 필요">
            <a:extLst xmlns:a="http://schemas.openxmlformats.org/drawingml/2006/main">
              <a:ext uri="{FF2B5EF4-FFF2-40B4-BE49-F238E27FC236}">
                <a16:creationId xmlns:a16="http://schemas.microsoft.com/office/drawing/2014/main" id="{5A7AB845-4151-4B07-9F8F-F427F7F9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71925"/>
            <a:ext cx="4876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프로젝트의 테스트 명령</a:t>
            </a:r>
          </a:p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작업상 근거 필요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4A8570-3FC8-4941-A410-BA558CAA0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49149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44B0CF-D6DC-4F49-AF49-3A7FF92FC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43500"/>
            <a:ext cx="48768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다음 작업에서는 목표가 달라짐">
            <a:extLst xmlns:a="http://schemas.openxmlformats.org/drawingml/2006/main">
              <a:ext uri="{FF2B5EF4-FFF2-40B4-BE49-F238E27FC236}">
                <a16:creationId xmlns:a16="http://schemas.microsoft.com/office/drawing/2014/main" id="{761C29BC-F507-41BF-BAD1-860DB126D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0175"/>
            <a:ext cx="4610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다음 작업에서는 목표가 달라짐</a:t>
            </a:r>
          </a:p>
        </p:txBody>
      </p:sp>
      <p:sp>
        <p:nvSpPr>
          <p:cNvPr id="19" name="여러 작업에서 다시 참고">
            <a:extLst xmlns:a="http://schemas.openxmlformats.org/drawingml/2006/main">
              <a:ext uri="{FF2B5EF4-FFF2-40B4-BE49-F238E27FC236}">
                <a16:creationId xmlns:a16="http://schemas.microsoft.com/office/drawing/2014/main" id="{CE672148-7298-41C9-BFC6-02810DBB3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10175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여러 작업에서 다시 참고</a:t>
            </a:r>
          </a:p>
        </p:txBody>
      </p:sp>
      <p:sp>
        <p:nvSpPr>
          <p:cNvPr id="20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1E4B9DE-2B5E-48EE-B2B6-E2F2734B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4034191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ACT 2 · Context가 쌓이는 과정">
            <a:extLst xmlns:a="http://schemas.openxmlformats.org/drawingml/2006/main">
              <a:ext uri="{FF2B5EF4-FFF2-40B4-BE49-F238E27FC236}">
                <a16:creationId xmlns:a16="http://schemas.microsoft.com/office/drawing/2014/main" id="{9797694B-8A08-40AE-849E-396528ECF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Context가 쌓이는 과정</a:t>
            </a:r>
          </a:p>
        </p:txBody>
      </p:sp>
      <p:sp>
        <p:nvSpPr>
          <p:cNvPr id="2" name="S36">
            <a:extLst xmlns:a="http://schemas.openxmlformats.org/drawingml/2006/main">
              <a:ext uri="{FF2B5EF4-FFF2-40B4-BE49-F238E27FC236}">
                <a16:creationId xmlns:a16="http://schemas.microsoft.com/office/drawing/2014/main" id="{8FCF5E9A-7AA8-4901-B0FB-D67195BA8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S36</a:t>
            </a:r>
          </a:p>
        </p:txBody>
      </p:sp>
      <p:sp>
        <p:nvSpPr>
          <p:cNvPr id="3" name="정확한 정보도 계속 늘어난다">
            <a:extLst xmlns:a="http://schemas.openxmlformats.org/drawingml/2006/main">
              <a:ext uri="{FF2B5EF4-FFF2-40B4-BE49-F238E27FC236}">
                <a16:creationId xmlns:a16="http://schemas.microsoft.com/office/drawing/2014/main" id="{10B4D636-6D0C-42A0-B489-DB271BA3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정확한 정보도 계속 늘어난다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FDF035-0CF5-4F6F-BF52-3495CB9CE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1 → STATE-02 · 실제 AGENTS.md 상태 비교">
            <a:extLst xmlns:a="http://schemas.openxmlformats.org/drawingml/2006/main">
              <a:ext uri="{FF2B5EF4-FFF2-40B4-BE49-F238E27FC236}">
                <a16:creationId xmlns:a16="http://schemas.microsoft.com/office/drawing/2014/main" id="{C0A0EF01-CF78-4889-8C98-2E8BA410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STATE-01 → STATE-02 · 실제 AGENTS.md 상태 비교</a:t>
            </a:r>
          </a:p>
        </p:txBody>
      </p:sp>
      <p:sp>
        <p:nvSpPr>
          <p:cNvPr id="6" name="문서 크기는 상태 식별 정보 · Context 증가가 실패를 일으켰다는 근거는 아님">
            <a:extLst xmlns:a="http://schemas.openxmlformats.org/drawingml/2006/main">
              <a:ext uri="{FF2B5EF4-FFF2-40B4-BE49-F238E27FC236}">
                <a16:creationId xmlns:a16="http://schemas.microsoft.com/office/drawing/2014/main" id="{7A709BFA-76DF-46CB-A45E-B328E1144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문서 크기는 상태 식별 정보 · Context 증가가 실패를 일으켰다는 근거는 아님</a:t>
            </a:r>
          </a:p>
        </p:txBody>
      </p:sp>
      <p:sp>
        <p:nvSpPr>
          <p:cNvPr id="7" name="STATE-01">
            <a:extLst xmlns:a="http://schemas.openxmlformats.org/drawingml/2006/main">
              <a:ext uri="{FF2B5EF4-FFF2-40B4-BE49-F238E27FC236}">
                <a16:creationId xmlns:a16="http://schemas.microsoft.com/office/drawing/2014/main" id="{19134183-A001-401D-A5B0-F29E08BB2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STATE-01</a:t>
            </a:r>
          </a:p>
        </p:txBody>
      </p:sp>
      <p:sp>
        <p:nvSpPr>
          <p:cNvPr id="8" name="목적 · 실행 · 테스트&#10;기본 제약">
            <a:extLst xmlns:a="http://schemas.openxmlformats.org/drawingml/2006/main">
              <a:ext uri="{FF2B5EF4-FFF2-40B4-BE49-F238E27FC236}">
                <a16:creationId xmlns:a16="http://schemas.microsoft.com/office/drawing/2014/main" id="{F15A2634-B628-42F1-A4D8-EF6414E21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2952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목적 · 실행 · 테스트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기본 제약</a:t>
            </a:r>
          </a:p>
        </p:txBody>
      </p:sp>
      <p:sp>
        <p:nvSpPr>
          <p:cNvPr id="9" name="15줄 · 567 bytes">
            <a:extLst xmlns:a="http://schemas.openxmlformats.org/drawingml/2006/main">
              <a:ext uri="{FF2B5EF4-FFF2-40B4-BE49-F238E27FC236}">
                <a16:creationId xmlns:a16="http://schemas.microsoft.com/office/drawing/2014/main" id="{5796BAC6-0B43-44EA-BD3B-E2DB50B4A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15줄 · 567 bytes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F50817-64C3-492C-9FC1-E7472215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076575"/>
            <a:ext cx="476250" cy="2571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1" name="STATE-02에 추가된 실제 정보">
            <a:extLst xmlns:a="http://schemas.openxmlformats.org/drawingml/2006/main">
              <a:ext uri="{FF2B5EF4-FFF2-40B4-BE49-F238E27FC236}">
                <a16:creationId xmlns:a16="http://schemas.microsoft.com/office/drawing/2014/main" id="{B634FDF9-DB55-467A-8EED-8A9573309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00275"/>
            <a:ext cx="6972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STATE-02에 추가된 실제 정보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D5C464-950D-4644-B31F-F49F7F0AF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43200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처리 순서">
            <a:extLst xmlns:a="http://schemas.openxmlformats.org/drawingml/2006/main">
              <a:ext uri="{FF2B5EF4-FFF2-40B4-BE49-F238E27FC236}">
                <a16:creationId xmlns:a16="http://schemas.microsoft.com/office/drawing/2014/main" id="{C061B364-8F27-49ED-8CF4-E67B6614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838450"/>
            <a:ext cx="1828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처리 순서</a:t>
            </a:r>
          </a:p>
        </p:txBody>
      </p:sp>
      <p:sp>
        <p:nvSpPr>
          <p:cNvPr id="14" name="load → normalize → … → write">
            <a:extLst xmlns:a="http://schemas.openxmlformats.org/drawingml/2006/main">
              <a:ext uri="{FF2B5EF4-FFF2-40B4-BE49-F238E27FC236}">
                <a16:creationId xmlns:a16="http://schemas.microsoft.com/office/drawing/2014/main" id="{F296361A-65C0-40F1-A3A3-13271DD32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838450"/>
            <a:ext cx="4772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load → normalize → … → write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F8C748-4796-4159-8D4A-49D32932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286125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이미지 계약">
            <a:extLst xmlns:a="http://schemas.openxmlformats.org/drawingml/2006/main">
              <a:ext uri="{FF2B5EF4-FFF2-40B4-BE49-F238E27FC236}">
                <a16:creationId xmlns:a16="http://schemas.microsoft.com/office/drawing/2014/main" id="{EC9D0D28-E0D9-4AAA-B8CC-90F64510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381375"/>
            <a:ext cx="1828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이미지 계약</a:t>
            </a:r>
          </a:p>
        </p:txBody>
      </p:sp>
      <p:sp>
        <p:nvSpPr>
          <p:cNvPr id="17" name="crop: [x_start, x_end)">
            <a:extLst xmlns:a="http://schemas.openxmlformats.org/drawingml/2006/main">
              <a:ext uri="{FF2B5EF4-FFF2-40B4-BE49-F238E27FC236}">
                <a16:creationId xmlns:a16="http://schemas.microsoft.com/office/drawing/2014/main" id="{A0DEF1BF-089E-4D51-BA47-DD1CECE2D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381375"/>
            <a:ext cx="4772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crop: [x_start, x_end)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623167-80A1-4DC2-AB94-7F7041F8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29050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테스트 구조">
            <a:extLst xmlns:a="http://schemas.openxmlformats.org/drawingml/2006/main">
              <a:ext uri="{FF2B5EF4-FFF2-40B4-BE49-F238E27FC236}">
                <a16:creationId xmlns:a16="http://schemas.microsoft.com/office/drawing/2014/main" id="{989414E1-3703-4B79-A9C8-34A86320E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924300"/>
            <a:ext cx="1828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테스트 구조</a:t>
            </a:r>
          </a:p>
        </p:txBody>
      </p:sp>
      <p:sp>
        <p:nvSpPr>
          <p:cNvPr id="20" name="tests/test_pipeline.py">
            <a:extLst xmlns:a="http://schemas.openxmlformats.org/drawingml/2006/main">
              <a:ext uri="{FF2B5EF4-FFF2-40B4-BE49-F238E27FC236}">
                <a16:creationId xmlns:a16="http://schemas.microsoft.com/office/drawing/2014/main" id="{C9B5D153-CC6D-4693-AFAC-4BE49FD9A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924300"/>
            <a:ext cx="4772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tests/test_pipeline.py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26240C-AAE1-46D3-BA91-381D6D19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371975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CLI 출력">
            <a:extLst xmlns:a="http://schemas.openxmlformats.org/drawingml/2006/main">
              <a:ext uri="{FF2B5EF4-FFF2-40B4-BE49-F238E27FC236}">
                <a16:creationId xmlns:a16="http://schemas.microsoft.com/office/drawing/2014/main" id="{272C7178-A64D-46B2-9DAA-27466912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467225"/>
            <a:ext cx="1828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CLI 출력</a:t>
            </a:r>
          </a:p>
        </p:txBody>
      </p:sp>
      <p:sp>
        <p:nvSpPr>
          <p:cNvPr id="23" name="width · height · pixel_count …">
            <a:extLst xmlns:a="http://schemas.openxmlformats.org/drawingml/2006/main">
              <a:ext uri="{FF2B5EF4-FFF2-40B4-BE49-F238E27FC236}">
                <a16:creationId xmlns:a16="http://schemas.microsoft.com/office/drawing/2014/main" id="{613E6E63-64BB-4034-B3DB-52521786B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467225"/>
            <a:ext cx="4772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width · height · pixel_count …</a:t>
            </a:r>
          </a:p>
        </p:txBody>
      </p:sp>
      <p:sp>
        <p:nvSpPr>
          <p:cNvPr id="24" name="32줄 · 1,303 bytes">
            <a:extLst xmlns:a="http://schemas.openxmlformats.org/drawingml/2006/main">
              <a:ext uri="{FF2B5EF4-FFF2-40B4-BE49-F238E27FC236}">
                <a16:creationId xmlns:a16="http://schemas.microsoft.com/office/drawing/2014/main" id="{D438F208-4CBB-4F30-BA17-DAEBDC03E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067300"/>
            <a:ext cx="6972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32줄 · 1,303 bytes</a:t>
            </a:r>
          </a:p>
        </p:txBody>
      </p:sp>
      <p:sp>
        <p:nvSpPr>
          <p:cNvPr id="25" name="이번 Task에도 필요할까?">
            <a:extLst xmlns:a="http://schemas.openxmlformats.org/drawingml/2006/main">
              <a:ext uri="{FF2B5EF4-FFF2-40B4-BE49-F238E27FC236}">
                <a16:creationId xmlns:a16="http://schemas.microsoft.com/office/drawing/2014/main" id="{C547E1FF-A929-4575-95EA-E2F55EF32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Task에도 필요할까?</a:t>
            </a:r>
          </a:p>
        </p:txBody>
      </p:sp>
      <p:sp>
        <p:nvSpPr>
          <p:cNvPr id="2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0721512-6B70-4529-BC54-C666AFC72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5332642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2 · 관련성을 확인하기">
            <a:extLst xmlns:a="http://schemas.openxmlformats.org/drawingml/2006/main">
              <a:ext uri="{FF2B5EF4-FFF2-40B4-BE49-F238E27FC236}">
                <a16:creationId xmlns:a16="http://schemas.microsoft.com/office/drawing/2014/main" id="{586BCBB9-F055-49CF-BC2B-7714102B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관련성을 확인하기</a:t>
            </a:r>
          </a:p>
        </p:txBody>
      </p:sp>
      <p:sp>
        <p:nvSpPr>
          <p:cNvPr id="2" name="S37">
            <a:extLst xmlns:a="http://schemas.openxmlformats.org/drawingml/2006/main">
              <a:ext uri="{FF2B5EF4-FFF2-40B4-BE49-F238E27FC236}">
                <a16:creationId xmlns:a16="http://schemas.microsoft.com/office/drawing/2014/main" id="{D50AB93F-48AA-46EB-A4F6-D7F5E573A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S37</a:t>
            </a:r>
          </a:p>
        </p:txBody>
      </p:sp>
      <p:sp>
        <p:nvSpPr>
          <p:cNvPr id="3" name="정확하지만 이번 Task에는 불필요한 정보">
            <a:extLst xmlns:a="http://schemas.openxmlformats.org/drawingml/2006/main">
              <a:ext uri="{FF2B5EF4-FFF2-40B4-BE49-F238E27FC236}">
                <a16:creationId xmlns:a16="http://schemas.microsoft.com/office/drawing/2014/main" id="{1BB52CA4-936C-4BF9-A77B-8C416EEFA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정확하지만 이번 Task에는 불필요한 정보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2A9ADC-91E4-4ADF-94BF-212925164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4 · README의 build tools 안내를 명확히 하는 작업">
            <a:extLst xmlns:a="http://schemas.openxmlformats.org/drawingml/2006/main">
              <a:ext uri="{FF2B5EF4-FFF2-40B4-BE49-F238E27FC236}">
                <a16:creationId xmlns:a16="http://schemas.microsoft.com/office/drawing/2014/main" id="{D72D5240-A136-4922-A6FE-CD608A0B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TRIAL-004 · README의 build tools 안내를 명확히 하는 작업</a:t>
            </a:r>
          </a:p>
        </p:txBody>
      </p:sp>
      <p:sp>
        <p:nvSpPr>
          <p:cNvPr id="6" name="Agent 혼란과 Context 관련 실패는 관찰되지 않았다">
            <a:extLst xmlns:a="http://schemas.openxmlformats.org/drawingml/2006/main">
              <a:ext uri="{FF2B5EF4-FFF2-40B4-BE49-F238E27FC236}">
                <a16:creationId xmlns:a16="http://schemas.microsoft.com/office/drawing/2014/main" id="{340B20E4-BF28-4E1B-8E2A-9E781BD4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Agent 혼란과 Context 관련 실패는 관찰되지 않았다</a:t>
            </a:r>
          </a:p>
        </p:txBody>
      </p:sp>
      <p:sp>
        <p:nvSpPr>
          <p:cNvPr id="7" name="작업: README의 빌드 도구 안내를 고친다">
            <a:extLst xmlns:a="http://schemas.openxmlformats.org/drawingml/2006/main">
              <a:ext uri="{FF2B5EF4-FFF2-40B4-BE49-F238E27FC236}">
                <a16:creationId xmlns:a16="http://schemas.microsoft.com/office/drawing/2014/main" id="{C9A74AC1-9A0C-46D6-BFEA-A101A9C1E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작업: README의 빌드 도구 안내를 고친다</a:t>
            </a:r>
          </a:p>
        </p:txBody>
      </p:sp>
      <p:sp>
        <p:nvSpPr>
          <p:cNvPr id="8" name="이번 질문과 직접 관련">
            <a:extLst xmlns:a="http://schemas.openxmlformats.org/drawingml/2006/main">
              <a:ext uri="{FF2B5EF4-FFF2-40B4-BE49-F238E27FC236}">
                <a16:creationId xmlns:a16="http://schemas.microsoft.com/office/drawing/2014/main" id="{FA9F3C03-67FA-465C-B8BA-9A7EB21B7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질문과 직접 관련</a:t>
            </a:r>
          </a:p>
        </p:txBody>
      </p:sp>
      <p:sp>
        <p:nvSpPr>
          <p:cNvPr id="9" name="함께 있었지만 관련이 낮은 정보">
            <a:extLst xmlns:a="http://schemas.openxmlformats.org/drawingml/2006/main">
              <a:ext uri="{FF2B5EF4-FFF2-40B4-BE49-F238E27FC236}">
                <a16:creationId xmlns:a16="http://schemas.microsoft.com/office/drawing/2014/main" id="{88A0C49D-816A-4CDA-B2E6-84A00A8B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33700"/>
            <a:ext cx="4876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함께 있었지만 관련이 낮은 정보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BB20E5-33FE-4F3D-9FDD-CC88E74B8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FAE7F2-22F3-44D9-AA53-B404F860C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480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37F22B-86D0-4C1B-860F-8FD440DCD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4953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README&#10;pyproject.toml의 빌드 설정">
            <a:extLst xmlns:a="http://schemas.openxmlformats.org/drawingml/2006/main">
              <a:ext uri="{FF2B5EF4-FFF2-40B4-BE49-F238E27FC236}">
                <a16:creationId xmlns:a16="http://schemas.microsoft.com/office/drawing/2014/main" id="{F3D80731-AFAE-4080-B3CC-7EB6F811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0"/>
            <a:ext cx="4495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README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pyproject.toml의 빌드 설정</a:t>
            </a:r>
          </a:p>
        </p:txBody>
      </p:sp>
      <p:sp>
        <p:nvSpPr>
          <p:cNvPr id="14" name="crop / resize 계약&#10;이미지 처리 pipeline 세부사항">
            <a:extLst xmlns:a="http://schemas.openxmlformats.org/drawingml/2006/main">
              <a:ext uri="{FF2B5EF4-FFF2-40B4-BE49-F238E27FC236}">
                <a16:creationId xmlns:a16="http://schemas.microsoft.com/office/drawing/2014/main" id="{14BF5DCA-001D-41B1-88F6-9D41F786C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10000"/>
            <a:ext cx="4876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crop / resize 계약</a:t>
            </a:r>
          </a:p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이미지 처리 pipeline 세부사항</a:t>
            </a:r>
          </a:p>
        </p:txBody>
      </p:sp>
      <p:sp>
        <p:nvSpPr>
          <p:cNvPr id="15" name="정확한 정보라도, 모든 질문에 필요한 것은 아니다">
            <a:extLst xmlns:a="http://schemas.openxmlformats.org/drawingml/2006/main">
              <a:ext uri="{FF2B5EF4-FFF2-40B4-BE49-F238E27FC236}">
                <a16:creationId xmlns:a16="http://schemas.microsoft.com/office/drawing/2014/main" id="{E25AE782-E782-448A-AD3F-A3CD3F30A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정확한 정보라도, 모든 질문에 필요한 것은 아니다</a:t>
            </a:r>
          </a:p>
        </p:txBody>
      </p:sp>
      <p:sp>
        <p:nvSpPr>
          <p:cNvPr id="1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FC567FE-BACB-4CC4-89F2-BE187751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86367534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2 · 언제 필요한 정보인가">
            <a:extLst xmlns:a="http://schemas.openxmlformats.org/drawingml/2006/main">
              <a:ext uri="{FF2B5EF4-FFF2-40B4-BE49-F238E27FC236}">
                <a16:creationId xmlns:a16="http://schemas.microsoft.com/office/drawing/2014/main" id="{CC9CB057-CEF0-40E2-9715-7584E5071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언제 필요한 정보인가</a:t>
            </a:r>
          </a:p>
        </p:txBody>
      </p:sp>
      <p:sp>
        <p:nvSpPr>
          <p:cNvPr id="2" name="S38">
            <a:extLst xmlns:a="http://schemas.openxmlformats.org/drawingml/2006/main">
              <a:ext uri="{FF2B5EF4-FFF2-40B4-BE49-F238E27FC236}">
                <a16:creationId xmlns:a16="http://schemas.microsoft.com/office/drawing/2014/main" id="{5EE8507A-D406-402E-B022-AA9323DBB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S38</a:t>
            </a:r>
          </a:p>
        </p:txBody>
      </p:sp>
      <p:sp>
        <p:nvSpPr>
          <p:cNvPr id="3" name="정보의 범위와 제공 시점">
            <a:extLst xmlns:a="http://schemas.openxmlformats.org/drawingml/2006/main">
              <a:ext uri="{FF2B5EF4-FFF2-40B4-BE49-F238E27FC236}">
                <a16:creationId xmlns:a16="http://schemas.microsoft.com/office/drawing/2014/main" id="{60C97437-0FF3-46B6-AC63-E0AC3D37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정보의 범위와 제공 시점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6900AA-1058-40F4-9727-B8E6E16C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분류 모델 · OpenAI의 공식 기능 분류가 아님">
            <a:extLst xmlns:a="http://schemas.openxmlformats.org/drawingml/2006/main">
              <a:ext uri="{FF2B5EF4-FFF2-40B4-BE49-F238E27FC236}">
                <a16:creationId xmlns:a16="http://schemas.microsoft.com/office/drawing/2014/main" id="{73AC593C-F26C-466A-A744-1E1CA6A3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분류 모델 · OpenAI의 공식 기능 분류가 아님</a:t>
            </a:r>
          </a:p>
        </p:txBody>
      </p:sp>
      <p:sp>
        <p:nvSpPr>
          <p:cNvPr id="6" name="성능 조사 절차는 설명을 위한 예시이며 STATE-02에 저장돼 있었다는 뜻이 아님">
            <a:extLst xmlns:a="http://schemas.openxmlformats.org/drawingml/2006/main">
              <a:ext uri="{FF2B5EF4-FFF2-40B4-BE49-F238E27FC236}">
                <a16:creationId xmlns:a16="http://schemas.microsoft.com/office/drawing/2014/main" id="{CE41F7AB-CE23-4561-90AA-18452A64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성능 조사 절차는 설명을 위한 예시이며 STATE-02에 저장돼 있었다는 뜻이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031754-656E-4386-96D2-61C697A7D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항상 알아야 할 안내">
            <a:extLst xmlns:a="http://schemas.openxmlformats.org/drawingml/2006/main">
              <a:ext uri="{FF2B5EF4-FFF2-40B4-BE49-F238E27FC236}">
                <a16:creationId xmlns:a16="http://schemas.microsoft.com/office/drawing/2014/main" id="{D6EF15F9-38A7-43FD-B831-D44EF968B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452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항상 알아야 할 안내</a:t>
            </a:r>
          </a:p>
        </p:txBody>
      </p:sp>
      <p:sp>
        <p:nvSpPr>
          <p:cNvPr id="9" name="프로젝트 목적 · 기본 제약">
            <a:extLst xmlns:a="http://schemas.openxmlformats.org/drawingml/2006/main">
              <a:ext uri="{FF2B5EF4-FFF2-40B4-BE49-F238E27FC236}">
                <a16:creationId xmlns:a16="http://schemas.microsoft.com/office/drawing/2014/main" id="{D90B6140-55BF-4B8E-B077-12DF74412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381250"/>
            <a:ext cx="6276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 목적 · 기본 제약</a:t>
            </a:r>
          </a:p>
        </p:txBody>
      </p:sp>
      <p:sp>
        <p:nvSpPr>
          <p:cNvPr id="10" name="ALWAYS-ON">
            <a:extLst xmlns:a="http://schemas.openxmlformats.org/drawingml/2006/main">
              <a:ext uri="{FF2B5EF4-FFF2-40B4-BE49-F238E27FC236}">
                <a16:creationId xmlns:a16="http://schemas.microsoft.com/office/drawing/2014/main" id="{1E508521-27F5-4CF6-82CE-BAD20D0D2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452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ALWAYS-ON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506272-891B-4183-B830-DB14CF08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질문에 따라 찾아볼 상세">
            <a:extLst xmlns:a="http://schemas.openxmlformats.org/drawingml/2006/main">
              <a:ext uri="{FF2B5EF4-FFF2-40B4-BE49-F238E27FC236}">
                <a16:creationId xmlns:a16="http://schemas.microsoft.com/office/drawing/2014/main" id="{D96EDA47-40E2-40F2-83BB-4022E67E8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452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질문에 따라 찾아볼 상세</a:t>
            </a:r>
          </a:p>
        </p:txBody>
      </p:sp>
      <p:sp>
        <p:nvSpPr>
          <p:cNvPr id="13" name="crop 계약 · 모듈 구조">
            <a:extLst xmlns:a="http://schemas.openxmlformats.org/drawingml/2006/main">
              <a:ext uri="{FF2B5EF4-FFF2-40B4-BE49-F238E27FC236}">
                <a16:creationId xmlns:a16="http://schemas.microsoft.com/office/drawing/2014/main" id="{11B8E7BF-AAD0-484A-8DF3-90AA06795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486150"/>
            <a:ext cx="6276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crop 계약 · 모듈 구조</a:t>
            </a:r>
          </a:p>
        </p:txBody>
      </p:sp>
      <p:sp>
        <p:nvSpPr>
          <p:cNvPr id="14" name="ON-DEMAND">
            <a:extLst xmlns:a="http://schemas.openxmlformats.org/drawingml/2006/main">
              <a:ext uri="{FF2B5EF4-FFF2-40B4-BE49-F238E27FC236}">
                <a16:creationId xmlns:a16="http://schemas.microsoft.com/office/drawing/2014/main" id="{115778E6-0DD4-4946-9ADB-73C290BE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452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ON-DEMAND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7FA98A-02D2-415C-B8C9-3F657AD83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이런 일을 수행하는 방법">
            <a:extLst xmlns:a="http://schemas.openxmlformats.org/drawingml/2006/main">
              <a:ext uri="{FF2B5EF4-FFF2-40B4-BE49-F238E27FC236}">
                <a16:creationId xmlns:a16="http://schemas.microsoft.com/office/drawing/2014/main" id="{C6228961-C7C9-4C85-8AD0-C9C014550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452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이런 일을 수행하는 방법</a:t>
            </a:r>
          </a:p>
        </p:txBody>
      </p:sp>
      <p:sp>
        <p:nvSpPr>
          <p:cNvPr id="17" name="변경 전 측정 → 조사 → 검증">
            <a:extLst xmlns:a="http://schemas.openxmlformats.org/drawingml/2006/main">
              <a:ext uri="{FF2B5EF4-FFF2-40B4-BE49-F238E27FC236}">
                <a16:creationId xmlns:a16="http://schemas.microsoft.com/office/drawing/2014/main" id="{3120F62D-8F30-47CA-9970-DAC14054A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4591050"/>
            <a:ext cx="6276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 전 측정 → 조사 → 검증</a:t>
            </a:r>
          </a:p>
        </p:txBody>
      </p:sp>
      <p:sp>
        <p:nvSpPr>
          <p:cNvPr id="18" name="WORKFLOW">
            <a:extLst xmlns:a="http://schemas.openxmlformats.org/drawingml/2006/main">
              <a:ext uri="{FF2B5EF4-FFF2-40B4-BE49-F238E27FC236}">
                <a16:creationId xmlns:a16="http://schemas.microsoft.com/office/drawing/2014/main" id="{4C9D711A-3B59-4B48-AACD-2E17908E1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452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36A9727-9052-4279-B6A3-2AE29363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3367138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ACT 2 · 정보의 양을 다시 묻는 연구">
            <a:extLst xmlns:a="http://schemas.openxmlformats.org/drawingml/2006/main">
              <a:ext uri="{FF2B5EF4-FFF2-40B4-BE49-F238E27FC236}">
                <a16:creationId xmlns:a16="http://schemas.microsoft.com/office/drawing/2014/main" id="{7C128BB3-5EB7-455E-8DDF-F3FAA44D9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정보의 양을 다시 묻는 연구</a:t>
            </a:r>
          </a:p>
        </p:txBody>
      </p:sp>
      <p:sp>
        <p:nvSpPr>
          <p:cNvPr id="2" name="S39">
            <a:extLst xmlns:a="http://schemas.openxmlformats.org/drawingml/2006/main">
              <a:ext uri="{FF2B5EF4-FFF2-40B4-BE49-F238E27FC236}">
                <a16:creationId xmlns:a16="http://schemas.microsoft.com/office/drawing/2014/main" id="{E4600FBA-5C28-44FF-9655-F94680B85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S39</a:t>
            </a:r>
          </a:p>
        </p:txBody>
      </p:sp>
      <p:sp>
        <p:nvSpPr>
          <p:cNvPr id="3" name="Long Context 연구가 말해주는 범위">
            <a:extLst xmlns:a="http://schemas.openxmlformats.org/drawingml/2006/main">
              <a:ext uri="{FF2B5EF4-FFF2-40B4-BE49-F238E27FC236}">
                <a16:creationId xmlns:a16="http://schemas.microsoft.com/office/drawing/2014/main" id="{BE2046A1-7552-439F-90B1-823C365EC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Long Context 연구가 말해주는 범위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4416E8-75E8-4B18-A9BB-BE25EC1BF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Liu et al., Lost in the Middle, TACL 2024 · RepoQA, 2024">
            <a:extLst xmlns:a="http://schemas.openxmlformats.org/drawingml/2006/main">
              <a:ext uri="{FF2B5EF4-FFF2-40B4-BE49-F238E27FC236}">
                <a16:creationId xmlns:a16="http://schemas.microsoft.com/office/drawing/2014/main" id="{E0EAD1A3-7307-4BBD-8F55-344EC2AE1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Liu et al., Lost in the Middle, TACL 2024 · RepoQA, 2024</a:t>
            </a:r>
          </a:p>
        </p:txBody>
      </p:sp>
      <p:sp>
        <p:nvSpPr>
          <p:cNvPr id="6" name="특정 모델·과제의 결과 · 현재 Codex의 Repository coding 한계를 입증하지 않음">
            <a:extLst xmlns:a="http://schemas.openxmlformats.org/drawingml/2006/main">
              <a:ext uri="{FF2B5EF4-FFF2-40B4-BE49-F238E27FC236}">
                <a16:creationId xmlns:a16="http://schemas.microsoft.com/office/drawing/2014/main" id="{38E2D5C3-663E-472A-90BD-399D7D37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특정 모델·과제의 결과 · 현재 Codex의 Repository coding 한계를 입증하지 않음</a:t>
            </a:r>
          </a:p>
        </p:txBody>
      </p:sp>
      <p:sp>
        <p:nvSpPr>
          <p:cNvPr id="7" name="더 많은 Context가 항상 더 좋은 것은 아니다">
            <a:extLst xmlns:a="http://schemas.openxmlformats.org/drawingml/2006/main">
              <a:ext uri="{FF2B5EF4-FFF2-40B4-BE49-F238E27FC236}">
                <a16:creationId xmlns:a16="http://schemas.microsoft.com/office/drawing/2014/main" id="{136D2CBD-F13C-42E2-B01F-504A53D3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더 많은 Context가 항상 더 좋은 것은 아니다</a:t>
            </a:r>
          </a:p>
        </p:txBody>
      </p:sp>
      <p:sp>
        <p:nvSpPr>
          <p:cNvPr id="8" name="Lost in the Middle">
            <a:extLst xmlns:a="http://schemas.openxmlformats.org/drawingml/2006/main">
              <a:ext uri="{FF2B5EF4-FFF2-40B4-BE49-F238E27FC236}">
                <a16:creationId xmlns:a16="http://schemas.microsoft.com/office/drawing/2014/main" id="{0CE07E84-494E-4903-82EC-2A0B72496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975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Lost in the Middle</a:t>
            </a:r>
          </a:p>
        </p:txBody>
      </p:sp>
      <p:sp>
        <p:nvSpPr>
          <p:cNvPr id="9" name="RepoQA">
            <a:extLst xmlns:a="http://schemas.openxmlformats.org/drawingml/2006/main">
              <a:ext uri="{FF2B5EF4-FFF2-40B4-BE49-F238E27FC236}">
                <a16:creationId xmlns:a16="http://schemas.microsoft.com/office/drawing/2014/main" id="{07F26D39-948A-4BE4-9C94-10BE87625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66975"/>
            <a:ext cx="487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RepoQA</a:t>
            </a:r>
          </a:p>
        </p:txBody>
      </p:sp>
      <p:sp>
        <p:nvSpPr>
          <p:cNvPr id="10" name="여러 문서의 질문 답변 · key-value 검색">
            <a:extLst xmlns:a="http://schemas.openxmlformats.org/drawingml/2006/main">
              <a:ext uri="{FF2B5EF4-FFF2-40B4-BE49-F238E27FC236}">
                <a16:creationId xmlns:a16="http://schemas.microsoft.com/office/drawing/2014/main" id="{7FFA4F4D-BD00-4E67-922A-43B6E6B6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여러 문서의 질문 답변 · key-value 검색</a:t>
            </a:r>
          </a:p>
        </p:txBody>
      </p:sp>
      <p:sp>
        <p:nvSpPr>
          <p:cNvPr id="11" name="50개 Repository의 코드 검색 과제">
            <a:extLst xmlns:a="http://schemas.openxmlformats.org/drawingml/2006/main">
              <a:ext uri="{FF2B5EF4-FFF2-40B4-BE49-F238E27FC236}">
                <a16:creationId xmlns:a16="http://schemas.microsoft.com/office/drawing/2014/main" id="{D5BEC1CD-220E-49B3-9A7D-BF7272664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14650"/>
            <a:ext cx="487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50개 Repository의 코드 검색 과제</a:t>
            </a:r>
          </a:p>
        </p:txBody>
      </p:sp>
      <p:sp>
        <p:nvSpPr>
          <p:cNvPr id="12" name="관련 정보의 위치를 달리하는 구성">
            <a:extLst xmlns:a="http://schemas.openxmlformats.org/drawingml/2006/main">
              <a:ext uri="{FF2B5EF4-FFF2-40B4-BE49-F238E27FC236}">
                <a16:creationId xmlns:a16="http://schemas.microsoft.com/office/drawing/2014/main" id="{2035B199-3492-416D-90EE-DE5351BCC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관련 정보의 위치를 달리하는 구성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41FD08-2262-4CF4-8AC5-AE347387A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51B282-54E1-40DE-B2F1-686D59124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A67FC4-AB6E-4510-A3A0-6AA8E4D51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4FB2D3-BD2B-47DF-AAB6-8ABF56DCB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BCB6D7-632E-436B-83F0-A6E14C2CB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514FDD-B78B-4960-903B-0A3A5F961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21C779-23E2-4974-889F-F6F21CA5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0E2A48-84A5-451B-B61B-25040A184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CD6C1E-037C-4F1B-A898-9F8F35086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115620-A373-403E-B7FA-52E32B5E8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3D7B77-9D2C-4322-BBE8-C232DB4C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3AC52F-38C6-4914-95F6-D4678FD4C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1FACF3-1A9C-45DF-AB4F-6AD68609E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4EEFEB-6C5A-443D-AD3A-2EB031CED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D357FE5-5974-47BE-A33A-FE75A4E8B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8" name="질문">
            <a:extLst xmlns:a="http://schemas.openxmlformats.org/drawingml/2006/main">
              <a:ext uri="{FF2B5EF4-FFF2-40B4-BE49-F238E27FC236}">
                <a16:creationId xmlns:a16="http://schemas.microsoft.com/office/drawing/2014/main" id="{303E3EC0-E84D-405A-9EE5-AD25D39B4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81375"/>
            <a:ext cx="1085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질문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6DBBA2-93BC-40FD-8C9A-D818F3B22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476625"/>
            <a:ext cx="342900" cy="2000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64A1F9-3846-4D5F-817B-46194AF11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324225"/>
            <a:ext cx="3162300" cy="1133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31" name="Repository의 코드">
            <a:extLst xmlns:a="http://schemas.openxmlformats.org/drawingml/2006/main">
              <a:ext uri="{FF2B5EF4-FFF2-40B4-BE49-F238E27FC236}">
                <a16:creationId xmlns:a16="http://schemas.microsoft.com/office/drawing/2014/main" id="{6DC06317-9402-4BE9-9383-FA2E4C1FF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448050"/>
            <a:ext cx="2819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Repository의 코드</a:t>
            </a:r>
          </a:p>
        </p:txBody>
      </p:sp>
      <p:sp>
        <p:nvSpPr>
          <p:cNvPr id="32" name="관련 코드 찾기">
            <a:extLst xmlns:a="http://schemas.openxmlformats.org/drawingml/2006/main">
              <a:ext uri="{FF2B5EF4-FFF2-40B4-BE49-F238E27FC236}">
                <a16:creationId xmlns:a16="http://schemas.microsoft.com/office/drawing/2014/main" id="{49CAFEAA-00AA-46E1-8274-A53886A6B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905250"/>
            <a:ext cx="2819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관련 코드 찾기</a:t>
            </a:r>
          </a:p>
        </p:txBody>
      </p:sp>
      <p:sp>
        <p:nvSpPr>
          <p:cNvPr id="33" name="관련 정보의 위치가&#10;일부 조건에서 중요할 수 있다">
            <a:extLst xmlns:a="http://schemas.openxmlformats.org/drawingml/2006/main">
              <a:ext uri="{FF2B5EF4-FFF2-40B4-BE49-F238E27FC236}">
                <a16:creationId xmlns:a16="http://schemas.microsoft.com/office/drawing/2014/main" id="{803FB023-1DA1-4331-8F62-441A6A39C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523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정보의 위치가</a:t>
            </a:r>
          </a:p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일부 조건에서 중요할 수 있다</a:t>
            </a:r>
          </a:p>
        </p:txBody>
      </p:sp>
      <p:sp>
        <p:nvSpPr>
          <p:cNvPr id="34" name="관련 코드 정보를&#10;선택하고 찾는 능력을 평가">
            <a:extLst xmlns:a="http://schemas.openxmlformats.org/drawingml/2006/main">
              <a:ext uri="{FF2B5EF4-FFF2-40B4-BE49-F238E27FC236}">
                <a16:creationId xmlns:a16="http://schemas.microsoft.com/office/drawing/2014/main" id="{572C394E-5C1F-4274-88A9-642C498D4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52975"/>
            <a:ext cx="4876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코드 정보를</a:t>
            </a:r>
          </a:p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선택하고 찾는 능력을 평가</a:t>
            </a:r>
          </a:p>
        </p:txBody>
      </p:sp>
      <p:sp>
        <p:nvSpPr>
          <p:cNvPr id="35" name="aclanthology.org/2024.tacl-1.9/">
            <a:extLst xmlns:a="http://schemas.openxmlformats.org/drawingml/2006/main">
              <a:ext uri="{FF2B5EF4-FFF2-40B4-BE49-F238E27FC236}">
                <a16:creationId xmlns:a16="http://schemas.microsoft.com/office/drawing/2014/main" id="{720122DF-67BC-44EB-89A0-B3453F23B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5925"/>
            <a:ext cx="5238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aclanthology.org/2024.tacl-1.9/</a:t>
            </a:r>
          </a:p>
        </p:txBody>
      </p:sp>
      <p:sp>
        <p:nvSpPr>
          <p:cNvPr id="36" name="arxiv.org/abs/2406.06025">
            <a:extLst xmlns:a="http://schemas.openxmlformats.org/drawingml/2006/main">
              <a:ext uri="{FF2B5EF4-FFF2-40B4-BE49-F238E27FC236}">
                <a16:creationId xmlns:a16="http://schemas.microsoft.com/office/drawing/2014/main" id="{85D4E282-6F05-47DC-904B-F0CDD86F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495925"/>
            <a:ext cx="4876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arxiv.org/abs/2406.06025</a:t>
            </a:r>
          </a:p>
        </p:txBody>
      </p:sp>
      <p:sp>
        <p:nvSpPr>
          <p:cNvPr id="3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32852C7-C7B4-4858-A2F0-9A6CB2E4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3776907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2 · 필요한 상세 정보의 탐색 경로">
            <a:extLst xmlns:a="http://schemas.openxmlformats.org/drawingml/2006/main">
              <a:ext uri="{FF2B5EF4-FFF2-40B4-BE49-F238E27FC236}">
                <a16:creationId xmlns:a16="http://schemas.microsoft.com/office/drawing/2014/main" id="{74BABB10-91D4-4009-AA17-210B4936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필요한 상세 정보의 탐색 경로</a:t>
            </a:r>
          </a:p>
        </p:txBody>
      </p:sp>
      <p:sp>
        <p:nvSpPr>
          <p:cNvPr id="2" name="S40">
            <a:extLst xmlns:a="http://schemas.openxmlformats.org/drawingml/2006/main">
              <a:ext uri="{FF2B5EF4-FFF2-40B4-BE49-F238E27FC236}">
                <a16:creationId xmlns:a16="http://schemas.microsoft.com/office/drawing/2014/main" id="{4D8106C2-3C20-418F-ACD8-BD5AFEA7D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S40</a:t>
            </a:r>
          </a:p>
        </p:txBody>
      </p:sp>
      <p:sp>
        <p:nvSpPr>
          <p:cNvPr id="3" name="필요한 상세 정보로 가는 길">
            <a:extLst xmlns:a="http://schemas.openxmlformats.org/drawingml/2006/main">
              <a:ext uri="{FF2B5EF4-FFF2-40B4-BE49-F238E27FC236}">
                <a16:creationId xmlns:a16="http://schemas.microsoft.com/office/drawing/2014/main" id="{2A511D63-C4FF-45DA-8943-69ED6512B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필요한 상세 정보로 가는 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000521-FBEB-4947-9C86-B751A5F99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Routing 모델 · 실제 문서 접근 결과는 다음 구간에서 확인">
            <a:extLst xmlns:a="http://schemas.openxmlformats.org/drawingml/2006/main">
              <a:ext uri="{FF2B5EF4-FFF2-40B4-BE49-F238E27FC236}">
                <a16:creationId xmlns:a16="http://schemas.microsoft.com/office/drawing/2014/main" id="{8B1BB493-FF6E-4632-9494-4B5553557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Routing 모델 · 실제 문서 접근 결과는 다음 구간에서 확인</a:t>
            </a:r>
          </a:p>
        </p:txBody>
      </p:sp>
      <p:sp>
        <p:nvSpPr>
          <p:cNvPr id="6" name="검색 성능 향상이나 토큰 절약을 입증한 그림이 아님">
            <a:extLst xmlns:a="http://schemas.openxmlformats.org/drawingml/2006/main">
              <a:ext uri="{FF2B5EF4-FFF2-40B4-BE49-F238E27FC236}">
                <a16:creationId xmlns:a16="http://schemas.microsoft.com/office/drawing/2014/main" id="{0797909E-AFA6-47AA-A506-4CCB68A75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검색 성능 향상이나 토큰 절약을 입증한 그림이 아님</a:t>
            </a:r>
          </a:p>
        </p:txBody>
      </p:sp>
      <p:sp>
        <p:nvSpPr>
          <p:cNvPr id="7" name="어떤 질문에서 어떤 상세 정보가 필요할까?">
            <a:extLst xmlns:a="http://schemas.openxmlformats.org/drawingml/2006/main">
              <a:ext uri="{FF2B5EF4-FFF2-40B4-BE49-F238E27FC236}">
                <a16:creationId xmlns:a16="http://schemas.microsoft.com/office/drawing/2014/main" id="{54D8AF2E-EAE5-4023-B34E-ECB1B4F76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어떤 질문에서 어떤 상세 정보가 필요할까?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A60849-3FDC-44A4-B902-F31FF139F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295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212B"/>
            </a:solidFill>
            <a:prstDash val="solid"/>
          </a:ln>
        </p:spPr>
      </p:sp>
      <p:sp>
        <p:nvSpPr>
          <p:cNvPr id="9" name="Task">
            <a:extLst xmlns:a="http://schemas.openxmlformats.org/drawingml/2006/main">
              <a:ext uri="{FF2B5EF4-FFF2-40B4-BE49-F238E27FC236}">
                <a16:creationId xmlns:a16="http://schemas.microsoft.com/office/drawing/2014/main" id="{0F7C6C0A-B02A-417F-8342-A4239E4F4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</a:t>
            </a:r>
          </a:p>
        </p:txBody>
      </p:sp>
      <p:sp>
        <p:nvSpPr>
          <p:cNvPr id="10" name="지금 해결할 질문">
            <a:extLst xmlns:a="http://schemas.openxmlformats.org/drawingml/2006/main">
              <a:ext uri="{FF2B5EF4-FFF2-40B4-BE49-F238E27FC236}">
                <a16:creationId xmlns:a16="http://schemas.microsoft.com/office/drawing/2014/main" id="{D2B623E9-CCC2-4087-A278-AEBAA96D3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지금 해결할 질문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958E34-D219-405C-A419-811B93279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562350"/>
            <a:ext cx="333375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A284D2-A06A-4DE7-A4EA-9C068AAB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028950"/>
            <a:ext cx="3209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Core Context">
            <a:extLst xmlns:a="http://schemas.openxmlformats.org/drawingml/2006/main">
              <a:ext uri="{FF2B5EF4-FFF2-40B4-BE49-F238E27FC236}">
                <a16:creationId xmlns:a16="http://schemas.microsoft.com/office/drawing/2014/main" id="{A78A26AF-266C-4DC4-B08F-3B98AB9BF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257550"/>
            <a:ext cx="3209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Core Context</a:t>
            </a:r>
          </a:p>
        </p:txBody>
      </p:sp>
      <p:sp>
        <p:nvSpPr>
          <p:cNvPr id="14" name="프로젝트 안내와&#10;찾아갈 위치">
            <a:extLst xmlns:a="http://schemas.openxmlformats.org/drawingml/2006/main">
              <a:ext uri="{FF2B5EF4-FFF2-40B4-BE49-F238E27FC236}">
                <a16:creationId xmlns:a16="http://schemas.microsoft.com/office/drawing/2014/main" id="{7B7B7D7C-6C6A-46E3-A0ED-39F8A129C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981450"/>
            <a:ext cx="32099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프로젝트 안내와</a:t>
            </a:r>
          </a:p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찾아갈 위치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C63980-5F1B-4084-A496-743F6DDBD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562350"/>
            <a:ext cx="333375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CFE5D2-2B0F-414B-9A6A-415B0C62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289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7" name="관련 상세 정보">
            <a:extLst xmlns:a="http://schemas.openxmlformats.org/drawingml/2006/main">
              <a:ext uri="{FF2B5EF4-FFF2-40B4-BE49-F238E27FC236}">
                <a16:creationId xmlns:a16="http://schemas.microsoft.com/office/drawing/2014/main" id="{21573FAC-F474-45A1-8890-C67673567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257550"/>
            <a:ext cx="3371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상세 정보</a:t>
            </a:r>
          </a:p>
        </p:txBody>
      </p:sp>
      <p:sp>
        <p:nvSpPr>
          <p:cNvPr id="18" name="질문에 필요한&#10;계약 · 구조 · 테스트">
            <a:extLst xmlns:a="http://schemas.openxmlformats.org/drawingml/2006/main">
              <a:ext uri="{FF2B5EF4-FFF2-40B4-BE49-F238E27FC236}">
                <a16:creationId xmlns:a16="http://schemas.microsoft.com/office/drawing/2014/main" id="{A95AD691-9BC8-4233-B426-0421D9688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81450"/>
            <a:ext cx="3371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질문에 필요한</a:t>
            </a:r>
          </a:p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계약 · 구조 · 테스트</a:t>
            </a:r>
          </a:p>
        </p:txBody>
      </p:sp>
      <p:sp>
        <p:nvSpPr>
          <p:cNvPr id="19" name="C++ 예: 공통 제약을 확인한 뒤, 해당 알고리즘의 계약으로">
            <a:extLst xmlns:a="http://schemas.openxmlformats.org/drawingml/2006/main">
              <a:ext uri="{FF2B5EF4-FFF2-40B4-BE49-F238E27FC236}">
                <a16:creationId xmlns:a16="http://schemas.microsoft.com/office/drawing/2014/main" id="{48641AA7-A114-4D8B-94C7-C7606AE8B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 예: 공통 제약을 확인한 뒤, 해당 알고리즘의 계약으로</a:t>
            </a:r>
          </a:p>
        </p:txBody>
      </p:sp>
      <p:sp>
        <p:nvSpPr>
          <p:cNvPr id="20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AA8BCE5-F661-4F9B-A9E6-F8C811069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88148860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2 · Core에 남길 기본 안내">
            <a:extLst xmlns:a="http://schemas.openxmlformats.org/drawingml/2006/main">
              <a:ext uri="{FF2B5EF4-FFF2-40B4-BE49-F238E27FC236}">
                <a16:creationId xmlns:a16="http://schemas.microsoft.com/office/drawing/2014/main" id="{F279B446-B9D8-47CE-88F2-C93B32D5B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Core에 남길 기본 안내</a:t>
            </a:r>
          </a:p>
        </p:txBody>
      </p:sp>
      <p:sp>
        <p:nvSpPr>
          <p:cNvPr id="2" name="S41">
            <a:extLst xmlns:a="http://schemas.openxmlformats.org/drawingml/2006/main">
              <a:ext uri="{FF2B5EF4-FFF2-40B4-BE49-F238E27FC236}">
                <a16:creationId xmlns:a16="http://schemas.microsoft.com/office/drawing/2014/main" id="{CFDDF731-0B6E-49F5-BB51-A8EDC25B1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S41</a:t>
            </a:r>
          </a:p>
        </p:txBody>
      </p:sp>
      <p:sp>
        <p:nvSpPr>
          <p:cNvPr id="3" name="Core Context에서 상세 정보로 가는 길">
            <a:extLst xmlns:a="http://schemas.openxmlformats.org/drawingml/2006/main">
              <a:ext uri="{FF2B5EF4-FFF2-40B4-BE49-F238E27FC236}">
                <a16:creationId xmlns:a16="http://schemas.microsoft.com/office/drawing/2014/main" id="{0FABFB5F-FE2A-4D60-A995-9C9C35AA0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Core Context에서 상세 정보로 가는 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14997F-3F88-4914-BB61-E3CB0E82A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정보 설계 · Root/Core는 상세 정보의 출발점">
            <a:extLst xmlns:a="http://schemas.openxmlformats.org/drawingml/2006/main">
              <a:ext uri="{FF2B5EF4-FFF2-40B4-BE49-F238E27FC236}">
                <a16:creationId xmlns:a16="http://schemas.microsoft.com/office/drawing/2014/main" id="{4871D425-F804-406A-8918-288142E07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정보 설계 · Root/Core는 상세 정보의 출발점</a:t>
            </a:r>
          </a:p>
        </p:txBody>
      </p:sp>
      <p:sp>
        <p:nvSpPr>
          <p:cNvPr id="6" name="C++ 예: build/test 진입점과 기본 제약 → 알고리즘 계약·하드웨어 조건">
            <a:extLst xmlns:a="http://schemas.openxmlformats.org/drawingml/2006/main">
              <a:ext uri="{FF2B5EF4-FFF2-40B4-BE49-F238E27FC236}">
                <a16:creationId xmlns:a16="http://schemas.microsoft.com/office/drawing/2014/main" id="{BA50DB9F-E909-41F7-B26C-244F43C6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 예: build/test 진입점과 기본 제약 → 알고리즘 계약·하드웨어 조건</a:t>
            </a:r>
          </a:p>
        </p:txBody>
      </p:sp>
      <p:sp>
        <p:nvSpPr>
          <p:cNvPr id="7" name="무엇을 항상 읽고, 무엇을 필요할 때 찾게 할까?">
            <a:extLst xmlns:a="http://schemas.openxmlformats.org/drawingml/2006/main">
              <a:ext uri="{FF2B5EF4-FFF2-40B4-BE49-F238E27FC236}">
                <a16:creationId xmlns:a16="http://schemas.microsoft.com/office/drawing/2014/main" id="{9BAF24EF-0706-4B92-BAC8-53342A9B2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항상 읽고, 무엇을 필요할 때 찾게 할까?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D28BBB-A3D7-4FB5-9B23-FBC7C9B95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1719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RE · 기본 안내">
            <a:extLst xmlns:a="http://schemas.openxmlformats.org/drawingml/2006/main">
              <a:ext uri="{FF2B5EF4-FFF2-40B4-BE49-F238E27FC236}">
                <a16:creationId xmlns:a16="http://schemas.microsoft.com/office/drawing/2014/main" id="{9571863D-5A34-4DDC-97E9-27FA34163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67025"/>
            <a:ext cx="3714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CORE · 기본 안내</a:t>
            </a:r>
          </a:p>
        </p:txBody>
      </p:sp>
      <p:sp>
        <p:nvSpPr>
          <p:cNvPr id="10" name="프로젝트의 목적&#10;항상 지켜야 할 제약&#10;상세 정보를 찾을 위치">
            <a:extLst xmlns:a="http://schemas.openxmlformats.org/drawingml/2006/main">
              <a:ext uri="{FF2B5EF4-FFF2-40B4-BE49-F238E27FC236}">
                <a16:creationId xmlns:a16="http://schemas.microsoft.com/office/drawing/2014/main" id="{248A41FC-0868-476A-B518-66D0511D7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38525"/>
            <a:ext cx="3714750" cy="1304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프로젝트의 목적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항상 지켜야 할 제약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상세 정보를 찾을 위치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8198BC-43F0-4A8D-A73B-84148D550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743325"/>
            <a:ext cx="504825" cy="2762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DETAIL · 필요한 상세">
            <a:extLst xmlns:a="http://schemas.openxmlformats.org/drawingml/2006/main">
              <a:ext uri="{FF2B5EF4-FFF2-40B4-BE49-F238E27FC236}">
                <a16:creationId xmlns:a16="http://schemas.microsoft.com/office/drawing/2014/main" id="{1DE7764A-50AD-4A4C-A09F-EEC299044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24150"/>
            <a:ext cx="53911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DETAIL · 필요한 상세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68EEF4-1F6B-43E5-AB86-425DDA227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86125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architecture">
            <a:extLst xmlns:a="http://schemas.openxmlformats.org/drawingml/2006/main">
              <a:ext uri="{FF2B5EF4-FFF2-40B4-BE49-F238E27FC236}">
                <a16:creationId xmlns:a16="http://schemas.microsoft.com/office/drawing/2014/main" id="{6A2E7FDF-059E-40CB-A557-CAFECCD8A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90900"/>
            <a:ext cx="22574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architecture</a:t>
            </a:r>
          </a:p>
        </p:txBody>
      </p:sp>
      <p:sp>
        <p:nvSpPr>
          <p:cNvPr id="15" name="모듈과 처리 순서">
            <a:extLst xmlns:a="http://schemas.openxmlformats.org/drawingml/2006/main">
              <a:ext uri="{FF2B5EF4-FFF2-40B4-BE49-F238E27FC236}">
                <a16:creationId xmlns:a16="http://schemas.microsoft.com/office/drawing/2014/main" id="{1C974FB6-0DC8-43E9-BE1B-98A189C50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3390900"/>
            <a:ext cx="29813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모듈과 처리 순서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BB3D88-31F8-4E6A-B627-CFB5154CF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86200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image contracts">
            <a:extLst xmlns:a="http://schemas.openxmlformats.org/drawingml/2006/main">
              <a:ext uri="{FF2B5EF4-FFF2-40B4-BE49-F238E27FC236}">
                <a16:creationId xmlns:a16="http://schemas.microsoft.com/office/drawing/2014/main" id="{8DC542C4-97FF-4200-898A-FF8B166E0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90975"/>
            <a:ext cx="22574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image contracts</a:t>
            </a:r>
          </a:p>
        </p:txBody>
      </p:sp>
      <p:sp>
        <p:nvSpPr>
          <p:cNvPr id="18" name="이미지 동작의 계약">
            <a:extLst xmlns:a="http://schemas.openxmlformats.org/drawingml/2006/main">
              <a:ext uri="{FF2B5EF4-FFF2-40B4-BE49-F238E27FC236}">
                <a16:creationId xmlns:a16="http://schemas.microsoft.com/office/drawing/2014/main" id="{B05862F5-5A5A-4F73-8527-5EDA31CE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3990975"/>
            <a:ext cx="29813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이미지 동작의 계약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D48E0D-CE0D-4EF9-8A85-9430811B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86275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testing">
            <a:extLst xmlns:a="http://schemas.openxmlformats.org/drawingml/2006/main">
              <a:ext uri="{FF2B5EF4-FFF2-40B4-BE49-F238E27FC236}">
                <a16:creationId xmlns:a16="http://schemas.microsoft.com/office/drawing/2014/main" id="{B103AB2F-8686-494E-BCDF-E99397072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91050"/>
            <a:ext cx="22574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testing</a:t>
            </a:r>
          </a:p>
        </p:txBody>
      </p:sp>
      <p:sp>
        <p:nvSpPr>
          <p:cNvPr id="21" name="테스트 위치와 범위">
            <a:extLst xmlns:a="http://schemas.openxmlformats.org/drawingml/2006/main">
              <a:ext uri="{FF2B5EF4-FFF2-40B4-BE49-F238E27FC236}">
                <a16:creationId xmlns:a16="http://schemas.microsoft.com/office/drawing/2014/main" id="{218125D9-F267-4305-8C91-2A8FA88D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591050"/>
            <a:ext cx="29813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테스트 위치와 범위</a:t>
            </a:r>
          </a:p>
        </p:txBody>
      </p:sp>
      <p:sp>
        <p:nvSpPr>
          <p:cNvPr id="22" name="모든 지식을 넣기보다, 상세 정보까지 가는 길을 안내한다">
            <a:extLst xmlns:a="http://schemas.openxmlformats.org/drawingml/2006/main">
              <a:ext uri="{FF2B5EF4-FFF2-40B4-BE49-F238E27FC236}">
                <a16:creationId xmlns:a16="http://schemas.microsoft.com/office/drawing/2014/main" id="{5327D5AE-3B0B-434F-B6B2-05949332B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모든 지식을 넣기보다, 상세 정보까지 가는 길을 안내한다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CE5C021-31A1-47AE-BD8B-D30BFDB1B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86500597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2 · STATE-03의 문서 구조">
            <a:extLst xmlns:a="http://schemas.openxmlformats.org/drawingml/2006/main">
              <a:ext uri="{FF2B5EF4-FFF2-40B4-BE49-F238E27FC236}">
                <a16:creationId xmlns:a16="http://schemas.microsoft.com/office/drawing/2014/main" id="{788C7682-62F6-4932-BC7E-D18B1B543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STATE-03의 문서 구조</a:t>
            </a:r>
          </a:p>
        </p:txBody>
      </p:sp>
      <p:sp>
        <p:nvSpPr>
          <p:cNvPr id="2" name="S42">
            <a:extLst xmlns:a="http://schemas.openxmlformats.org/drawingml/2006/main">
              <a:ext uri="{FF2B5EF4-FFF2-40B4-BE49-F238E27FC236}">
                <a16:creationId xmlns:a16="http://schemas.microsoft.com/office/drawing/2014/main" id="{485D5109-07F8-44BF-A7CA-EF584EDA0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S42</a:t>
            </a:r>
          </a:p>
        </p:txBody>
      </p:sp>
      <p:sp>
        <p:nvSpPr>
          <p:cNvPr id="3" name="정보를 지우지 않고 위치를 나누기">
            <a:extLst xmlns:a="http://schemas.openxmlformats.org/drawingml/2006/main">
              <a:ext uri="{FF2B5EF4-FFF2-40B4-BE49-F238E27FC236}">
                <a16:creationId xmlns:a16="http://schemas.microsoft.com/office/drawing/2014/main" id="{A2A911FA-53BC-4251-A2ED-743BA7ABD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정보를 지우지 않고 위치를 나누기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43BEF1-AC21-443B-B9DF-BB21B603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2 → STATE-03 · 실제 파일 구조와 Routing 문구 발췌">
            <a:extLst xmlns:a="http://schemas.openxmlformats.org/drawingml/2006/main">
              <a:ext uri="{FF2B5EF4-FFF2-40B4-BE49-F238E27FC236}">
                <a16:creationId xmlns:a16="http://schemas.microsoft.com/office/drawing/2014/main" id="{E02A7D44-936E-47D2-962A-822CBD77A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STATE-02 → STATE-03 · 실제 파일 구조와 Routing 문구 발췌</a:t>
            </a:r>
          </a:p>
        </p:txBody>
      </p:sp>
      <p:sp>
        <p:nvSpPr>
          <p:cNvPr id="6" name="내용을 Scope에 맞춰 이동 · 구조 변화 자체가 완벽한 Routing이나 성능 향상 증거는 아님">
            <a:extLst xmlns:a="http://schemas.openxmlformats.org/drawingml/2006/main">
              <a:ext uri="{FF2B5EF4-FFF2-40B4-BE49-F238E27FC236}">
                <a16:creationId xmlns:a16="http://schemas.microsoft.com/office/drawing/2014/main" id="{567C2588-92EF-40C4-B06C-39174E335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내용을 Scope에 맞춰 이동 · 구조 변화 자체가 완벽한 Routing이나 성능 향상 증거는 아님</a:t>
            </a:r>
          </a:p>
        </p:txBody>
      </p:sp>
      <p:sp>
        <p:nvSpPr>
          <p:cNvPr id="7" name="이전: AGENTS.md 안에 세부사항까지">
            <a:extLst xmlns:a="http://schemas.openxmlformats.org/drawingml/2006/main">
              <a:ext uri="{FF2B5EF4-FFF2-40B4-BE49-F238E27FC236}">
                <a16:creationId xmlns:a16="http://schemas.microsoft.com/office/drawing/2014/main" id="{1810B824-E25D-4AD5-ADF8-2DFAFD5EE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이전: AGENTS.md 안에 세부사항까지</a:t>
            </a:r>
          </a:p>
        </p:txBody>
      </p:sp>
      <p:sp>
        <p:nvSpPr>
          <p:cNvPr id="8" name="이후: 기본 안내 + 상세 문서로 가는 링크">
            <a:extLst xmlns:a="http://schemas.openxmlformats.org/drawingml/2006/main">
              <a:ext uri="{FF2B5EF4-FFF2-40B4-BE49-F238E27FC236}">
                <a16:creationId xmlns:a16="http://schemas.microsoft.com/office/drawing/2014/main" id="{96F9D346-B233-4FD3-8858-F61B2CF50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이후: 기본 안내 + 상세 문서로 가는 링크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A9F01A-4602-4715-B728-D21782452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처리 순서 · 모듈 역할">
            <a:extLst xmlns:a="http://schemas.openxmlformats.org/drawingml/2006/main">
              <a:ext uri="{FF2B5EF4-FFF2-40B4-BE49-F238E27FC236}">
                <a16:creationId xmlns:a16="http://schemas.microsoft.com/office/drawing/2014/main" id="{76284F08-992E-4361-BEF6-95B4267D3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처리 순서 · 모듈 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7F4CC7-55BE-4CC4-AD84-19C1A9219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476625"/>
            <a:ext cx="419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docs/architecture.md">
            <a:extLst xmlns:a="http://schemas.openxmlformats.org/drawingml/2006/main">
              <a:ext uri="{FF2B5EF4-FFF2-40B4-BE49-F238E27FC236}">
                <a16:creationId xmlns:a16="http://schemas.microsoft.com/office/drawing/2014/main" id="{D4CBBAD9-663C-4826-B198-13166889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71850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docs/architecture.md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9D69EE-1331-4590-BEAD-7271FB23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이미지 형식 · crop · resize">
            <a:extLst xmlns:a="http://schemas.openxmlformats.org/drawingml/2006/main">
              <a:ext uri="{FF2B5EF4-FFF2-40B4-BE49-F238E27FC236}">
                <a16:creationId xmlns:a16="http://schemas.microsoft.com/office/drawing/2014/main" id="{7893676E-AA8E-4C95-AA0E-52A812736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이미지 형식 · crop · resize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FEDE20-44F3-4D8D-9237-B3D945B95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057650"/>
            <a:ext cx="419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docs/image-contracts.md">
            <a:extLst xmlns:a="http://schemas.openxmlformats.org/drawingml/2006/main">
              <a:ext uri="{FF2B5EF4-FFF2-40B4-BE49-F238E27FC236}">
                <a16:creationId xmlns:a16="http://schemas.microsoft.com/office/drawing/2014/main" id="{C158F668-C4D0-4483-B0DC-A49E66E5F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528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docs/image-contracts.md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C00B97-688C-42D1-B38A-6D0917222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481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테스트 구조 · 관련 테스트">
            <a:extLst xmlns:a="http://schemas.openxmlformats.org/drawingml/2006/main">
              <a:ext uri="{FF2B5EF4-FFF2-40B4-BE49-F238E27FC236}">
                <a16:creationId xmlns:a16="http://schemas.microsoft.com/office/drawing/2014/main" id="{83872947-375B-4EEC-A7DF-1D01038DC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구조 · 관련 테스트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54CAE9-99A1-4F5B-ADC4-BBCCAB66F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638675"/>
            <a:ext cx="419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0" name="docs/testing.md">
            <a:extLst xmlns:a="http://schemas.openxmlformats.org/drawingml/2006/main">
              <a:ext uri="{FF2B5EF4-FFF2-40B4-BE49-F238E27FC236}">
                <a16:creationId xmlns:a16="http://schemas.microsoft.com/office/drawing/2014/main" id="{08C1C694-D7E8-4977-9F5A-0C4B2E759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33900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docs/testing.md</a:t>
            </a:r>
          </a:p>
        </p:txBody>
      </p:sp>
      <p:sp>
        <p:nvSpPr>
          <p:cNvPr id="21" name="원문: Test organization or relevant tests → docs/testing.md">
            <a:extLst xmlns:a="http://schemas.openxmlformats.org/drawingml/2006/main">
              <a:ext uri="{FF2B5EF4-FFF2-40B4-BE49-F238E27FC236}">
                <a16:creationId xmlns:a16="http://schemas.microsoft.com/office/drawing/2014/main" id="{E0238A23-F41D-47B3-BBBF-EC08A9DF9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원문: Test organization or relevant tests → docs/testing.md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D8BE3B5-CFE5-42FA-BF7A-278CEFB2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212186452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2 · 관찰하기 전에 질문하기">
            <a:extLst xmlns:a="http://schemas.openxmlformats.org/drawingml/2006/main">
              <a:ext uri="{FF2B5EF4-FFF2-40B4-BE49-F238E27FC236}">
                <a16:creationId xmlns:a16="http://schemas.microsoft.com/office/drawing/2014/main" id="{24AD7013-AEC1-45F4-A8CD-5433D342B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관찰하기 전에 질문하기</a:t>
            </a:r>
          </a:p>
        </p:txBody>
      </p:sp>
      <p:sp>
        <p:nvSpPr>
          <p:cNvPr id="2" name="S43">
            <a:extLst xmlns:a="http://schemas.openxmlformats.org/drawingml/2006/main">
              <a:ext uri="{FF2B5EF4-FFF2-40B4-BE49-F238E27FC236}">
                <a16:creationId xmlns:a16="http://schemas.microsoft.com/office/drawing/2014/main" id="{594878E5-2F57-44B3-96EE-1185E1EFC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S43</a:t>
            </a:r>
          </a:p>
        </p:txBody>
      </p:sp>
      <p:sp>
        <p:nvSpPr>
          <p:cNvPr id="3" name="서로 다른 두 Task가 무엇을 읽을까?">
            <a:extLst xmlns:a="http://schemas.openxmlformats.org/drawingml/2006/main">
              <a:ext uri="{FF2B5EF4-FFF2-40B4-BE49-F238E27FC236}">
                <a16:creationId xmlns:a16="http://schemas.microsoft.com/office/drawing/2014/main" id="{6476FFDA-C39B-40BC-811E-732F448C7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서로 다른 두 Task가 무엇을 읽을까?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CA15CD-FAF5-411E-B24E-5E3D99307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5A/B · 읽기 전용 Task의 질문을 재구성">
            <a:extLst xmlns:a="http://schemas.openxmlformats.org/drawingml/2006/main">
              <a:ext uri="{FF2B5EF4-FFF2-40B4-BE49-F238E27FC236}">
                <a16:creationId xmlns:a16="http://schemas.microsoft.com/office/drawing/2014/main" id="{E1F675C6-4D55-4519-B783-C6853E892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TRIAL-005A/B · 읽기 전용 Task의 질문을 재구성</a:t>
            </a:r>
          </a:p>
        </p:txBody>
      </p:sp>
      <p:sp>
        <p:nvSpPr>
          <p:cNvPr id="6" name="어떤 상세 문서를 읽을지는 실제 접근 기록으로 확인한다">
            <a:extLst xmlns:a="http://schemas.openxmlformats.org/drawingml/2006/main">
              <a:ext uri="{FF2B5EF4-FFF2-40B4-BE49-F238E27FC236}">
                <a16:creationId xmlns:a16="http://schemas.microsoft.com/office/drawing/2014/main" id="{61F23037-9A98-4775-B971-8DE661C4D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어떤 상세 문서를 읽을지는 실제 접근 기록으로 확인한다</a:t>
            </a:r>
          </a:p>
        </p:txBody>
      </p:sp>
      <p:sp>
        <p:nvSpPr>
          <p:cNvPr id="7" name="Task A">
            <a:extLst xmlns:a="http://schemas.openxmlformats.org/drawingml/2006/main">
              <a:ext uri="{FF2B5EF4-FFF2-40B4-BE49-F238E27FC236}">
                <a16:creationId xmlns:a16="http://schemas.microsoft.com/office/drawing/2014/main" id="{1F524A42-FAE2-4F19-A669-BD49A8BFC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1932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 A</a:t>
            </a:r>
          </a:p>
        </p:txBody>
      </p:sp>
      <p:sp>
        <p:nvSpPr>
          <p:cNvPr id="8" name="Task B">
            <a:extLst xmlns:a="http://schemas.openxmlformats.org/drawingml/2006/main">
              <a:ext uri="{FF2B5EF4-FFF2-40B4-BE49-F238E27FC236}">
                <a16:creationId xmlns:a16="http://schemas.microsoft.com/office/drawing/2014/main" id="{DB318CD6-BEA2-43D8-8E6E-885BAC1AA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19325"/>
            <a:ext cx="4876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 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1F8D7C-889D-4813-8350-A19A9E72D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FE8741-B596-40F6-BB1A-5D28EF4E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622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crop 1 3은&#10;어떤 source column을&#10;포함하는가?">
            <a:extLst xmlns:a="http://schemas.openxmlformats.org/drawingml/2006/main">
              <a:ext uri="{FF2B5EF4-FFF2-40B4-BE49-F238E27FC236}">
                <a16:creationId xmlns:a16="http://schemas.microsoft.com/office/drawing/2014/main" id="{2F85E9B8-4C20-489F-916A-EF7B7358E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49530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1 3은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source column을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포함하는가?</a:t>
            </a:r>
          </a:p>
        </p:txBody>
      </p:sp>
      <p:sp>
        <p:nvSpPr>
          <p:cNvPr id="12" name="이 Project에&#10;runtime dependency가&#10;있는가?">
            <a:extLst xmlns:a="http://schemas.openxmlformats.org/drawingml/2006/main">
              <a:ext uri="{FF2B5EF4-FFF2-40B4-BE49-F238E27FC236}">
                <a16:creationId xmlns:a16="http://schemas.microsoft.com/office/drawing/2014/main" id="{C2DB9346-DD7D-4E58-BC16-BC3F4CEA7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24200"/>
            <a:ext cx="48768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Project에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runtime dependency가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있는가?</a:t>
            </a:r>
          </a:p>
        </p:txBody>
      </p:sp>
      <p:sp>
        <p:nvSpPr>
          <p:cNvPr id="13" name="두 Task에서 같은 상세 문서를 읽을까?">
            <a:extLst xmlns:a="http://schemas.openxmlformats.org/drawingml/2006/main">
              <a:ext uri="{FF2B5EF4-FFF2-40B4-BE49-F238E27FC236}">
                <a16:creationId xmlns:a16="http://schemas.microsoft.com/office/drawing/2014/main" id="{9498B67D-DED8-41B0-BEF9-DDEEC9F40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두 Task에서 같은 상세 문서를 읽을까?</a:t>
            </a:r>
          </a:p>
        </p:txBody>
      </p:sp>
      <p:sp>
        <p:nvSpPr>
          <p:cNvPr id="1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3971672-6000-45C8-85C0-8672A22C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13916688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2 · 질문과 근거를 연결하기">
            <a:extLst xmlns:a="http://schemas.openxmlformats.org/drawingml/2006/main">
              <a:ext uri="{FF2B5EF4-FFF2-40B4-BE49-F238E27FC236}">
                <a16:creationId xmlns:a16="http://schemas.microsoft.com/office/drawing/2014/main" id="{EA7B2933-2A05-46FD-B5E5-ADC2B392E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질문과 근거를 연결하기</a:t>
            </a:r>
          </a:p>
        </p:txBody>
      </p:sp>
      <p:sp>
        <p:nvSpPr>
          <p:cNvPr id="2" name="S44">
            <a:extLst xmlns:a="http://schemas.openxmlformats.org/drawingml/2006/main">
              <a:ext uri="{FF2B5EF4-FFF2-40B4-BE49-F238E27FC236}">
                <a16:creationId xmlns:a16="http://schemas.microsoft.com/office/drawing/2014/main" id="{899A0EF5-0A9A-41C8-B22A-126B1ECB0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S44</a:t>
            </a:r>
          </a:p>
        </p:txBody>
      </p:sp>
      <p:sp>
        <p:nvSpPr>
          <p:cNvPr id="3" name="Crop Task에서 관찰한 접근">
            <a:extLst xmlns:a="http://schemas.openxmlformats.org/drawingml/2006/main">
              <a:ext uri="{FF2B5EF4-FFF2-40B4-BE49-F238E27FC236}">
                <a16:creationId xmlns:a16="http://schemas.microsoft.com/office/drawing/2014/main" id="{05C1FFB3-C986-4DC4-BC16-95F5FAD20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Task에서 관찰한 접근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0DE139-7371-46A2-9FFD-CB0339A6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5A · 최종 실행의 접근과 답을 기록에서 재구성">
            <a:extLst xmlns:a="http://schemas.openxmlformats.org/drawingml/2006/main">
              <a:ext uri="{FF2B5EF4-FFF2-40B4-BE49-F238E27FC236}">
                <a16:creationId xmlns:a16="http://schemas.microsoft.com/office/drawing/2014/main" id="{D1892A36-CCD1-4DA4-BA39-E912087FF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TRIAL-005A · 최종 실행의 접근과 답을 기록에서 재구성</a:t>
            </a:r>
          </a:p>
        </p:txBody>
      </p:sp>
      <p:sp>
        <p:nvSpPr>
          <p:cNvPr id="6" name="architecture 등 넓은 Context도 접근 · testing.md는 최종 실행에서 관찰, 반복 간">
            <a:extLst xmlns:a="http://schemas.openxmlformats.org/drawingml/2006/main">
              <a:ext uri="{FF2B5EF4-FFF2-40B4-BE49-F238E27FC236}">
                <a16:creationId xmlns:a16="http://schemas.microsoft.com/office/drawing/2014/main" id="{305C54B9-C2EB-4A27-9198-0ADA9AACD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architecture 등 넓은 Context도 접근 · testing.md는 최종 실행에서 관찰, 반복 간 차이 존재</a:t>
            </a:r>
          </a:p>
        </p:txBody>
      </p:sp>
      <p:sp>
        <p:nvSpPr>
          <p:cNvPr id="7" name="접근한 계약 문서">
            <a:extLst xmlns:a="http://schemas.openxmlformats.org/drawingml/2006/main">
              <a:ext uri="{FF2B5EF4-FFF2-40B4-BE49-F238E27FC236}">
                <a16:creationId xmlns:a16="http://schemas.microsoft.com/office/drawing/2014/main" id="{096ADA4A-001A-4C3F-B0F7-0C4693412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571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접근한 계약 문서</a:t>
            </a:r>
          </a:p>
        </p:txBody>
      </p:sp>
      <p:sp>
        <p:nvSpPr>
          <p:cNvPr id="8" name="image-contracts.md">
            <a:extLst xmlns:a="http://schemas.openxmlformats.org/drawingml/2006/main">
              <a:ext uri="{FF2B5EF4-FFF2-40B4-BE49-F238E27FC236}">
                <a16:creationId xmlns:a16="http://schemas.microsoft.com/office/drawing/2014/main" id="{88A12559-52D8-41ED-85EA-06FE30CCA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628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40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image-contracts.md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E967C4-B4BE-4472-BE2F-527BC4E5D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6286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[x_start, x_end)">
            <a:extLst xmlns:a="http://schemas.openxmlformats.org/drawingml/2006/main">
              <a:ext uri="{FF2B5EF4-FFF2-40B4-BE49-F238E27FC236}">
                <a16:creationId xmlns:a16="http://schemas.microsoft.com/office/drawing/2014/main" id="{E733ABF8-408A-4EDF-98DF-85A9534E1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0425"/>
            <a:ext cx="5829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475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[x_start, x_end)</a:t>
            </a:r>
          </a:p>
        </p:txBody>
      </p:sp>
      <p:sp>
        <p:nvSpPr>
          <p:cNvPr id="11" name="시작 열 포함 · 끝 좌표 제외">
            <a:extLst xmlns:a="http://schemas.openxmlformats.org/drawingml/2006/main">
              <a:ext uri="{FF2B5EF4-FFF2-40B4-BE49-F238E27FC236}">
                <a16:creationId xmlns:a16="http://schemas.microsoft.com/office/drawing/2014/main" id="{40F61E7E-1D99-4CA4-8B70-C624BC26E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0"/>
            <a:ext cx="58293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시작 열 포함 · 끝 좌표 제외</a:t>
            </a:r>
          </a:p>
        </p:txBody>
      </p:sp>
      <p:sp>
        <p:nvSpPr>
          <p:cNvPr id="12" name="기록된 답">
            <a:extLst xmlns:a="http://schemas.openxmlformats.org/drawingml/2006/main">
              <a:ext uri="{FF2B5EF4-FFF2-40B4-BE49-F238E27FC236}">
                <a16:creationId xmlns:a16="http://schemas.microsoft.com/office/drawing/2014/main" id="{36D102E0-F84D-4CCB-BC6C-5A9127EAE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171700"/>
            <a:ext cx="3886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기록된 답</a:t>
            </a:r>
          </a:p>
        </p:txBody>
      </p:sp>
      <p:sp>
        <p:nvSpPr>
          <p:cNvPr id="13" name="crop 1 3">
            <a:extLst xmlns:a="http://schemas.openxmlformats.org/drawingml/2006/main">
              <a:ext uri="{FF2B5EF4-FFF2-40B4-BE49-F238E27FC236}">
                <a16:creationId xmlns:a16="http://schemas.microsoft.com/office/drawing/2014/main" id="{BE927560-F695-4A3E-81F9-586871A15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47950"/>
            <a:ext cx="3886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40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crop 1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4EFC32-5701-4F83-BDB6-12B50280B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33750"/>
            <a:ext cx="742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0">
            <a:extLst xmlns:a="http://schemas.openxmlformats.org/drawingml/2006/main">
              <a:ext uri="{FF2B5EF4-FFF2-40B4-BE49-F238E27FC236}">
                <a16:creationId xmlns:a16="http://schemas.microsoft.com/office/drawing/2014/main" id="{02928CCD-0E87-43AB-9317-E17972609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467100"/>
            <a:ext cx="74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9DFA37-65BD-49CB-8D3B-8E735D64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333750"/>
            <a:ext cx="742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1">
            <a:extLst xmlns:a="http://schemas.openxmlformats.org/drawingml/2006/main">
              <a:ext uri="{FF2B5EF4-FFF2-40B4-BE49-F238E27FC236}">
                <a16:creationId xmlns:a16="http://schemas.microsoft.com/office/drawing/2014/main" id="{58809225-D579-4FAA-9EBD-8C2EBDBA6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467100"/>
            <a:ext cx="74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D7CF9D-5515-47D5-8BCD-694CBE3C8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333750"/>
            <a:ext cx="742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2">
            <a:extLst xmlns:a="http://schemas.openxmlformats.org/drawingml/2006/main">
              <a:ext uri="{FF2B5EF4-FFF2-40B4-BE49-F238E27FC236}">
                <a16:creationId xmlns:a16="http://schemas.microsoft.com/office/drawing/2014/main" id="{1CBA6E19-6476-4575-9B20-B4EF150D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467100"/>
            <a:ext cx="74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0AC74D-520A-4931-A751-F8D271F9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333750"/>
            <a:ext cx="742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1" name="3">
            <a:extLst xmlns:a="http://schemas.openxmlformats.org/drawingml/2006/main">
              <a:ext uri="{FF2B5EF4-FFF2-40B4-BE49-F238E27FC236}">
                <a16:creationId xmlns:a16="http://schemas.microsoft.com/office/drawing/2014/main" id="{CACDA20A-173C-4372-89AF-D13B7E897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467100"/>
            <a:ext cx="74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2" name="포함 열: 1, 2&#10;출력 폭: 2">
            <a:extLst xmlns:a="http://schemas.openxmlformats.org/drawingml/2006/main">
              <a:ext uri="{FF2B5EF4-FFF2-40B4-BE49-F238E27FC236}">
                <a16:creationId xmlns:a16="http://schemas.microsoft.com/office/drawing/2014/main" id="{CF80D5F1-23F2-4F24-A0B9-2F0A40B32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381500"/>
            <a:ext cx="38862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포함 열: 1, 2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출력 폭: 2</a:t>
            </a:r>
          </a:p>
        </p:txBody>
      </p:sp>
      <p:sp>
        <p:nvSpPr>
          <p:cNvPr id="23" name="답을 파일의 계약과 연결해 확인했다">
            <a:extLst xmlns:a="http://schemas.openxmlformats.org/drawingml/2006/main">
              <a:ext uri="{FF2B5EF4-FFF2-40B4-BE49-F238E27FC236}">
                <a16:creationId xmlns:a16="http://schemas.microsoft.com/office/drawing/2014/main" id="{F48903B5-211A-4A40-BD98-E5F2D6B7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6477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답을 파일의 계약과 연결해 확인했다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9B6CAF5-C829-4121-BCB6-7B71E438B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M6</a:t>
            </a:r>
          </a:p>
        </p:txBody>
      </p:sp>
    </p:spTree>
    <p:extLst>
      <p:ext uri="{BB962C8B-B14F-4D97-AF65-F5344CB8AC3E}">
        <p14:creationId xmlns:p14="http://schemas.microsoft.com/office/powerpoint/2010/main" val="212275034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2 · 두 Task의 문서 접근 비교">
            <a:extLst xmlns:a="http://schemas.openxmlformats.org/drawingml/2006/main">
              <a:ext uri="{FF2B5EF4-FFF2-40B4-BE49-F238E27FC236}">
                <a16:creationId xmlns:a16="http://schemas.microsoft.com/office/drawing/2014/main" id="{CD3F34D0-B4CA-46AF-B6D1-4EDC9C3D1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두 Task의 문서 접근 비교</a:t>
            </a:r>
          </a:p>
        </p:txBody>
      </p:sp>
      <p:sp>
        <p:nvSpPr>
          <p:cNvPr id="2" name="S45">
            <a:extLst xmlns:a="http://schemas.openxmlformats.org/drawingml/2006/main">
              <a:ext uri="{FF2B5EF4-FFF2-40B4-BE49-F238E27FC236}">
                <a16:creationId xmlns:a16="http://schemas.microsoft.com/office/drawing/2014/main" id="{DDEE0625-F634-4B82-A0CA-AC9C2E94D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S45</a:t>
            </a:r>
          </a:p>
        </p:txBody>
      </p:sp>
      <p:sp>
        <p:nvSpPr>
          <p:cNvPr id="3" name="Task별 접근은 달랐지만 완벽하지는 않다">
            <a:extLst xmlns:a="http://schemas.openxmlformats.org/drawingml/2006/main">
              <a:ext uri="{FF2B5EF4-FFF2-40B4-BE49-F238E27FC236}">
                <a16:creationId xmlns:a16="http://schemas.microsoft.com/office/drawing/2014/main" id="{B037C8CE-4BDE-47C6-A1B9-D35CCC20A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Task별 접근은 달랐지만 완벽하지는 않다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BF2874-C338-48B2-B14A-7E4D8AA09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5A/B · 실제 접근 기록을 요약한 비교">
            <a:extLst xmlns:a="http://schemas.openxmlformats.org/drawingml/2006/main">
              <a:ext uri="{FF2B5EF4-FFF2-40B4-BE49-F238E27FC236}">
                <a16:creationId xmlns:a16="http://schemas.microsoft.com/office/drawing/2014/main" id="{9337D07F-AAAB-48FD-8498-711866938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TRIAL-005A/B · 실제 접근 기록을 요약한 비교</a:t>
            </a:r>
          </a:p>
        </p:txBody>
      </p:sp>
      <p:sp>
        <p:nvSpPr>
          <p:cNvPr id="6" name="완벽한 Routing 미입증 · 토큰 절약·성능 개선 미측정 · 실행 간 변동 존재">
            <a:extLst xmlns:a="http://schemas.openxmlformats.org/drawingml/2006/main">
              <a:ext uri="{FF2B5EF4-FFF2-40B4-BE49-F238E27FC236}">
                <a16:creationId xmlns:a16="http://schemas.microsoft.com/office/drawing/2014/main" id="{C5EBD1D5-E070-4A21-B263-15682BFE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완벽한 Routing 미입증 · 토큰 절약·성능 개선 미측정 · 실행 간 변동 존재</a:t>
            </a:r>
          </a:p>
        </p:txBody>
      </p:sp>
      <p:sp>
        <p:nvSpPr>
          <p:cNvPr id="7" name="같은 Repository에서 질문이 달랐다">
            <a:extLst xmlns:a="http://schemas.openxmlformats.org/drawingml/2006/main">
              <a:ext uri="{FF2B5EF4-FFF2-40B4-BE49-F238E27FC236}">
                <a16:creationId xmlns:a16="http://schemas.microsoft.com/office/drawing/2014/main" id="{6C72B2FF-C34F-4843-AE3A-FBD6C8541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Repository에서 질문이 달랐다</a:t>
            </a:r>
          </a:p>
        </p:txBody>
      </p:sp>
      <p:sp>
        <p:nvSpPr>
          <p:cNvPr id="8" name="문서">
            <a:extLst xmlns:a="http://schemas.openxmlformats.org/drawingml/2006/main">
              <a:ext uri="{FF2B5EF4-FFF2-40B4-BE49-F238E27FC236}">
                <a16:creationId xmlns:a16="http://schemas.microsoft.com/office/drawing/2014/main" id="{0856ADD7-AFD4-433C-A9E1-89009A1DF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4686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문서</a:t>
            </a:r>
          </a:p>
        </p:txBody>
      </p:sp>
      <p:sp>
        <p:nvSpPr>
          <p:cNvPr id="9" name="A · crop 계약">
            <a:extLst xmlns:a="http://schemas.openxmlformats.org/drawingml/2006/main">
              <a:ext uri="{FF2B5EF4-FFF2-40B4-BE49-F238E27FC236}">
                <a16:creationId xmlns:a16="http://schemas.microsoft.com/office/drawing/2014/main" id="{F5F8AA10-A690-403D-A15D-B27025D12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75272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 · crop 계약</a:t>
            </a:r>
          </a:p>
        </p:txBody>
      </p:sp>
      <p:sp>
        <p:nvSpPr>
          <p:cNvPr id="10" name="B · 실행 의존성">
            <a:extLst xmlns:a="http://schemas.openxmlformats.org/drawingml/2006/main">
              <a:ext uri="{FF2B5EF4-FFF2-40B4-BE49-F238E27FC236}">
                <a16:creationId xmlns:a16="http://schemas.microsoft.com/office/drawing/2014/main" id="{4B1D64F5-DC8F-4B05-ABCE-EFBB36B91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52725"/>
            <a:ext cx="2838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B · 실행 의존성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2B0E09-6E28-455F-8C01-8D5868ED0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image-contracts.md">
            <a:extLst xmlns:a="http://schemas.openxmlformats.org/drawingml/2006/main">
              <a:ext uri="{FF2B5EF4-FFF2-40B4-BE49-F238E27FC236}">
                <a16:creationId xmlns:a16="http://schemas.microsoft.com/office/drawing/2014/main" id="{0BE29909-2443-4399-9146-46A774833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image-contracts.md</a:t>
            </a:r>
          </a:p>
        </p:txBody>
      </p:sp>
      <p:sp>
        <p:nvSpPr>
          <p:cNvPr id="13" name="읽음">
            <a:extLst xmlns:a="http://schemas.openxmlformats.org/drawingml/2006/main">
              <a:ext uri="{FF2B5EF4-FFF2-40B4-BE49-F238E27FC236}">
                <a16:creationId xmlns:a16="http://schemas.microsoft.com/office/drawing/2014/main" id="{F0D31294-9BBC-4462-8DB4-F3957312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3337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읽음</a:t>
            </a:r>
          </a:p>
        </p:txBody>
      </p:sp>
      <p:sp>
        <p:nvSpPr>
          <p:cNvPr id="14" name="읽지 않음">
            <a:extLst xmlns:a="http://schemas.openxmlformats.org/drawingml/2006/main">
              <a:ext uri="{FF2B5EF4-FFF2-40B4-BE49-F238E27FC236}">
                <a16:creationId xmlns:a16="http://schemas.microsoft.com/office/drawing/2014/main" id="{33F166E5-EEDA-4D8D-9F40-5694832A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33750"/>
            <a:ext cx="2838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읽지 않음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98DB04-2015-43AF-8AEB-5CD6AF934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architecture.md">
            <a:extLst xmlns:a="http://schemas.openxmlformats.org/drawingml/2006/main">
              <a:ext uri="{FF2B5EF4-FFF2-40B4-BE49-F238E27FC236}">
                <a16:creationId xmlns:a16="http://schemas.microsoft.com/office/drawing/2014/main" id="{C75C48EC-8575-4633-BDFE-41598AA7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6240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architecture.md</a:t>
            </a:r>
          </a:p>
        </p:txBody>
      </p:sp>
      <p:sp>
        <p:nvSpPr>
          <p:cNvPr id="17" name="읽음">
            <a:extLst xmlns:a="http://schemas.openxmlformats.org/drawingml/2006/main">
              <a:ext uri="{FF2B5EF4-FFF2-40B4-BE49-F238E27FC236}">
                <a16:creationId xmlns:a16="http://schemas.microsoft.com/office/drawing/2014/main" id="{4C38ADF4-1BC5-4612-A4B6-CF1315BD6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6240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읽음</a:t>
            </a:r>
          </a:p>
        </p:txBody>
      </p:sp>
      <p:sp>
        <p:nvSpPr>
          <p:cNvPr id="18" name="읽음">
            <a:extLst xmlns:a="http://schemas.openxmlformats.org/drawingml/2006/main">
              <a:ext uri="{FF2B5EF4-FFF2-40B4-BE49-F238E27FC236}">
                <a16:creationId xmlns:a16="http://schemas.microsoft.com/office/drawing/2014/main" id="{B0CBE9A0-42DC-473D-A90B-5D4DCE795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962400"/>
            <a:ext cx="2838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읽음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FC11CD-67E2-48EB-AE6C-792220B55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testing.md">
            <a:extLst xmlns:a="http://schemas.openxmlformats.org/drawingml/2006/main">
              <a:ext uri="{FF2B5EF4-FFF2-40B4-BE49-F238E27FC236}">
                <a16:creationId xmlns:a16="http://schemas.microsoft.com/office/drawing/2014/main" id="{7C2840AA-F514-4407-8C4E-6A3E0FA50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9105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testing.md</a:t>
            </a:r>
          </a:p>
        </p:txBody>
      </p:sp>
      <p:sp>
        <p:nvSpPr>
          <p:cNvPr id="21" name="최종 실행에서 읽음">
            <a:extLst xmlns:a="http://schemas.openxmlformats.org/drawingml/2006/main">
              <a:ext uri="{FF2B5EF4-FFF2-40B4-BE49-F238E27FC236}">
                <a16:creationId xmlns:a16="http://schemas.microsoft.com/office/drawing/2014/main" id="{F0C425D9-6B4D-45C3-87B0-3C4959CB7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5910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최종 실행에서 읽음</a:t>
            </a:r>
          </a:p>
        </p:txBody>
      </p:sp>
      <p:sp>
        <p:nvSpPr>
          <p:cNvPr id="22" name="읽지 않음">
            <a:extLst xmlns:a="http://schemas.openxmlformats.org/drawingml/2006/main">
              <a:ext uri="{FF2B5EF4-FFF2-40B4-BE49-F238E27FC236}">
                <a16:creationId xmlns:a16="http://schemas.microsoft.com/office/drawing/2014/main" id="{E2F83B06-B930-453A-9759-20FEF39C5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591050"/>
            <a:ext cx="2838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읽지 않음</a:t>
            </a:r>
          </a:p>
        </p:txBody>
      </p:sp>
      <p:sp>
        <p:nvSpPr>
          <p:cNvPr id="23" name="A에는 더 넓은 읽기도 존재 · B는 설정·README·source도 확인">
            <a:extLst xmlns:a="http://schemas.openxmlformats.org/drawingml/2006/main">
              <a:ext uri="{FF2B5EF4-FFF2-40B4-BE49-F238E27FC236}">
                <a16:creationId xmlns:a16="http://schemas.microsoft.com/office/drawing/2014/main" id="{28EC7615-6EAB-4072-ADFE-C8F025930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A에는 더 넓은 읽기도 존재 · B는 설정·README·source도 확인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251F5933-9A8F-4226-9295-E24BB9CCC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24762878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2 · 다음 문제로 넘어가기">
            <a:extLst xmlns:a="http://schemas.openxmlformats.org/drawingml/2006/main">
              <a:ext uri="{FF2B5EF4-FFF2-40B4-BE49-F238E27FC236}">
                <a16:creationId xmlns:a16="http://schemas.microsoft.com/office/drawing/2014/main" id="{D2074795-EC50-4C00-8A2A-05D598C4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다음 문제로 넘어가기</a:t>
            </a:r>
          </a:p>
        </p:txBody>
      </p:sp>
      <p:sp>
        <p:nvSpPr>
          <p:cNvPr id="2" name="S46">
            <a:extLst xmlns:a="http://schemas.openxmlformats.org/drawingml/2006/main">
              <a:ext uri="{FF2B5EF4-FFF2-40B4-BE49-F238E27FC236}">
                <a16:creationId xmlns:a16="http://schemas.microsoft.com/office/drawing/2014/main" id="{3B3F5327-DE06-4000-8543-C90B3BB0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S46</a:t>
            </a:r>
          </a:p>
        </p:txBody>
      </p:sp>
      <p:sp>
        <p:nvSpPr>
          <p:cNvPr id="3" name="지식은 정리됐지만 절차는 반복된다">
            <a:extLst xmlns:a="http://schemas.openxmlformats.org/drawingml/2006/main">
              <a:ext uri="{FF2B5EF4-FFF2-40B4-BE49-F238E27FC236}">
                <a16:creationId xmlns:a16="http://schemas.microsoft.com/office/drawing/2014/main" id="{9DB6241A-ED1A-4B90-BED4-7028FCB66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지식은 정리됐지만 절차는 반복된다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C228F2-E776-4BB8-9213-BD3DEB458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Project Context 정리 + TRIAL-006/007의 반복 절차 · 기록 요약과 교육용 해석">
            <a:extLst xmlns:a="http://schemas.openxmlformats.org/drawingml/2006/main">
              <a:ext uri="{FF2B5EF4-FFF2-40B4-BE49-F238E27FC236}">
                <a16:creationId xmlns:a16="http://schemas.microsoft.com/office/drawing/2014/main" id="{BBA2F423-1DFD-4ED2-8639-343BBA787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Project Context 정리 + TRIAL-006/007의 반복 절차 · 기록 요약과 교육용 해석</a:t>
            </a:r>
          </a:p>
        </p:txBody>
      </p:sp>
      <p:sp>
        <p:nvSpPr>
          <p:cNvPr id="6" name="절차가 반복된 원인을 Prompt만으로 분리하지 않음">
            <a:extLst xmlns:a="http://schemas.openxmlformats.org/drawingml/2006/main">
              <a:ext uri="{FF2B5EF4-FFF2-40B4-BE49-F238E27FC236}">
                <a16:creationId xmlns:a16="http://schemas.microsoft.com/office/drawing/2014/main" id="{CCEF938C-0398-4001-AC1C-412A9E3DB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절차가 반복된 원인을 Prompt만으로 분리하지 않음</a:t>
            </a:r>
          </a:p>
        </p:txBody>
      </p:sp>
      <p:sp>
        <p:nvSpPr>
          <p:cNvPr id="7" name="정리한 것">
            <a:extLst xmlns:a="http://schemas.openxmlformats.org/drawingml/2006/main">
              <a:ext uri="{FF2B5EF4-FFF2-40B4-BE49-F238E27FC236}">
                <a16:creationId xmlns:a16="http://schemas.microsoft.com/office/drawing/2014/main" id="{B027F458-54E3-4BD9-BDD1-1E2812B9B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정리한 것</a:t>
            </a:r>
          </a:p>
        </p:txBody>
      </p:sp>
      <p:sp>
        <p:nvSpPr>
          <p:cNvPr id="8" name="아직 반복되는 것">
            <a:extLst xmlns:a="http://schemas.openxmlformats.org/drawingml/2006/main">
              <a:ext uri="{FF2B5EF4-FFF2-40B4-BE49-F238E27FC236}">
                <a16:creationId xmlns:a16="http://schemas.microsoft.com/office/drawing/2014/main" id="{698707A9-FC5C-4CBF-899D-FE4E6DEB2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09800"/>
            <a:ext cx="4876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아직 반복되는 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2D5674-816C-4A98-B8EF-8FED9AEF8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C5FC71-FA40-49D8-B95D-52F7BBFC8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527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현재 목표는 Prompt에&#10;공통 사실은 Project Context에&#10;상세 정보는 Routing으로">
            <a:extLst xmlns:a="http://schemas.openxmlformats.org/drawingml/2006/main">
              <a:ext uri="{FF2B5EF4-FFF2-40B4-BE49-F238E27FC236}">
                <a16:creationId xmlns:a16="http://schemas.microsoft.com/office/drawing/2014/main" id="{ACC831F5-A271-4273-8D6F-8604B1C5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51435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목표는 Prompt에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공통 사실은 Project Context에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상세 정보는 Routing으로</a:t>
            </a:r>
          </a:p>
        </p:txBody>
      </p:sp>
      <p:sp>
        <p:nvSpPr>
          <p:cNvPr id="12" name="먼저 측정하고&#10;조사한 뒤 변경하고&#10;같은 조건으로 확인해줘">
            <a:extLst xmlns:a="http://schemas.openxmlformats.org/drawingml/2006/main">
              <a:ext uri="{FF2B5EF4-FFF2-40B4-BE49-F238E27FC236}">
                <a16:creationId xmlns:a16="http://schemas.microsoft.com/office/drawing/2014/main" id="{A3DD0C4A-40C6-487F-B47C-F7935BFB1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14675"/>
            <a:ext cx="48768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측정하고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조사한 뒤 변경하고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조건으로 확인해줘</a:t>
            </a:r>
          </a:p>
        </p:txBody>
      </p:sp>
      <p:sp>
        <p:nvSpPr>
          <p:cNvPr id="13" name="같은 작업 절차도 다시 써야 할까?">
            <a:extLst xmlns:a="http://schemas.openxmlformats.org/drawingml/2006/main">
              <a:ext uri="{FF2B5EF4-FFF2-40B4-BE49-F238E27FC236}">
                <a16:creationId xmlns:a16="http://schemas.microsoft.com/office/drawing/2014/main" id="{4772B232-DD05-4D02-9BB9-F70367FE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작업 절차도 다시 써야 할까?</a:t>
            </a:r>
          </a:p>
        </p:txBody>
      </p:sp>
      <p:sp>
        <p:nvSpPr>
          <p:cNvPr id="1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AD459938-2815-4A57-8BAC-6772D4E3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M8</a:t>
            </a:r>
          </a:p>
        </p:txBody>
      </p:sp>
    </p:spTree>
    <p:extLst>
      <p:ext uri="{BB962C8B-B14F-4D97-AF65-F5344CB8AC3E}">
        <p14:creationId xmlns:p14="http://schemas.microsoft.com/office/powerpoint/2010/main" val="18133469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2026-10-21T13:40:35.4450000Z</dcterms:created>
  <dcterms:modified xsi:type="dcterms:W3CDTF">2026-10-21T13:40:35.4450000Z</dcterms:modified>
</coreProperties>
</file>