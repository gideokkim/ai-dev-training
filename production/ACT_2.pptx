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aa914232b64471" /><Relationship Type="http://schemas.openxmlformats.org/officeDocument/2006/relationships/extended-properties" Target="/docProps/app.xml" Id="R126eb6d01dd0485b" /><Relationship Type="http://schemas.openxmlformats.org/officeDocument/2006/relationships/officeDocument" Target="/ppt/presentation.xml" Id="Rb77c57b11f0e48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13b78dc4d147b5"/>
  </p:sldMasterIdLst>
  <p:notesMasterIdLst>
    <p:notesMasterId xmlns:r="http://schemas.openxmlformats.org/officeDocument/2006/relationships" r:id="R9f4b3b6fe65a40e2"/>
  </p:notesMasterIdLst>
  <p:sldIdLst>
    <p:sldId xmlns:r="http://schemas.openxmlformats.org/officeDocument/2006/relationships" id="256" r:id="R717225c4fe1748e2"/>
    <p:sldId xmlns:r="http://schemas.openxmlformats.org/officeDocument/2006/relationships" id="257" r:id="R97350861aeaf41e6"/>
    <p:sldId xmlns:r="http://schemas.openxmlformats.org/officeDocument/2006/relationships" id="258" r:id="R4a54bd46b08748f3"/>
    <p:sldId xmlns:r="http://schemas.openxmlformats.org/officeDocument/2006/relationships" id="259" r:id="Rfbd9c22129cb4696"/>
    <p:sldId xmlns:r="http://schemas.openxmlformats.org/officeDocument/2006/relationships" id="260" r:id="Red50e3395b174e8b"/>
    <p:sldId xmlns:r="http://schemas.openxmlformats.org/officeDocument/2006/relationships" id="261" r:id="R8a28ae5f96c54105"/>
    <p:sldId xmlns:r="http://schemas.openxmlformats.org/officeDocument/2006/relationships" id="262" r:id="R0e932e95d23f4a9d"/>
    <p:sldId xmlns:r="http://schemas.openxmlformats.org/officeDocument/2006/relationships" id="263" r:id="R85e059188e384cb5"/>
    <p:sldId xmlns:r="http://schemas.openxmlformats.org/officeDocument/2006/relationships" id="264" r:id="Reac93204576342e9"/>
    <p:sldId xmlns:r="http://schemas.openxmlformats.org/officeDocument/2006/relationships" id="265" r:id="Ra65ea4633ba047f5"/>
    <p:sldId xmlns:r="http://schemas.openxmlformats.org/officeDocument/2006/relationships" id="266" r:id="R54ff1bfdc3774a9c"/>
    <p:sldId xmlns:r="http://schemas.openxmlformats.org/officeDocument/2006/relationships" id="267" r:id="R513ec140eea94c2d"/>
    <p:sldId xmlns:r="http://schemas.openxmlformats.org/officeDocument/2006/relationships" id="268" r:id="R6caf4d6ccd404371"/>
    <p:sldId xmlns:r="http://schemas.openxmlformats.org/officeDocument/2006/relationships" id="269" r:id="Rac698121b357450a"/>
    <p:sldId xmlns:r="http://schemas.openxmlformats.org/officeDocument/2006/relationships" id="270" r:id="R7da71e77c8b048f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2bb8f183514a31" /><Relationship Type="http://schemas.openxmlformats.org/officeDocument/2006/relationships/slideMaster" Target="/ppt/slideMasters/slideMaster1.xml" Id="R5113b78dc4d147b5" /><Relationship Type="http://schemas.openxmlformats.org/officeDocument/2006/relationships/notesMaster" Target="/ppt/notesMasters/notesMaster1.xml" Id="R9f4b3b6fe65a40e2" /><Relationship Type="http://schemas.openxmlformats.org/officeDocument/2006/relationships/presProps" Target="/ppt/presProps.xml" Id="R964743dae9074da4" /><Relationship Type="http://schemas.openxmlformats.org/officeDocument/2006/relationships/tableStyles" Target="/ppt/tableStyles.xml" Id="R9bbbfa9cccb24f72" /><Relationship Type="http://schemas.openxmlformats.org/officeDocument/2006/relationships/slide" Target="/ppt/slides/slide1.xml" Id="R717225c4fe1748e2" /><Relationship Type="http://schemas.openxmlformats.org/officeDocument/2006/relationships/slide" Target="/ppt/slides/slide2.xml" Id="R97350861aeaf41e6" /><Relationship Type="http://schemas.openxmlformats.org/officeDocument/2006/relationships/slide" Target="/ppt/slides/slide3.xml" Id="R4a54bd46b08748f3" /><Relationship Type="http://schemas.openxmlformats.org/officeDocument/2006/relationships/slide" Target="/ppt/slides/slide4.xml" Id="Rfbd9c22129cb4696" /><Relationship Type="http://schemas.openxmlformats.org/officeDocument/2006/relationships/slide" Target="/ppt/slides/slide5.xml" Id="Red50e3395b174e8b" /><Relationship Type="http://schemas.openxmlformats.org/officeDocument/2006/relationships/slide" Target="/ppt/slides/slide6.xml" Id="R8a28ae5f96c54105" /><Relationship Type="http://schemas.openxmlformats.org/officeDocument/2006/relationships/slide" Target="/ppt/slides/slide7.xml" Id="R0e932e95d23f4a9d" /><Relationship Type="http://schemas.openxmlformats.org/officeDocument/2006/relationships/slide" Target="/ppt/slides/slide8.xml" Id="R85e059188e384cb5" /><Relationship Type="http://schemas.openxmlformats.org/officeDocument/2006/relationships/slide" Target="/ppt/slides/slide9.xml" Id="Reac93204576342e9" /><Relationship Type="http://schemas.openxmlformats.org/officeDocument/2006/relationships/slide" Target="/ppt/slides/slide10.xml" Id="Ra65ea4633ba047f5" /><Relationship Type="http://schemas.openxmlformats.org/officeDocument/2006/relationships/slide" Target="/ppt/slides/slide11.xml" Id="R54ff1bfdc3774a9c" /><Relationship Type="http://schemas.openxmlformats.org/officeDocument/2006/relationships/slide" Target="/ppt/slides/slide12.xml" Id="R513ec140eea94c2d" /><Relationship Type="http://schemas.openxmlformats.org/officeDocument/2006/relationships/slide" Target="/ppt/slides/slide13.xml" Id="R6caf4d6ccd404371" /><Relationship Type="http://schemas.openxmlformats.org/officeDocument/2006/relationships/slide" Target="/ppt/slides/slide14.xml" Id="Rac698121b357450a" /><Relationship Type="http://schemas.openxmlformats.org/officeDocument/2006/relationships/slide" Target="/ppt/slides/slide15.xml" Id="R7da71e77c8b048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3edfb61edf45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f6581f58994294" /><Relationship Type="http://schemas.openxmlformats.org/officeDocument/2006/relationships/notesMaster" Target="/ppt/notesMasters/notesMaster1.xml" Id="Rdae0ff84d57e4d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ef99ed085bf4503" /><Relationship Type="http://schemas.openxmlformats.org/officeDocument/2006/relationships/notesMaster" Target="/ppt/notesMasters/notesMaster1.xml" Id="R33dbad1c510e4b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aee86b8e2d41eb" /><Relationship Type="http://schemas.openxmlformats.org/officeDocument/2006/relationships/notesMaster" Target="/ppt/notesMasters/notesMaster1.xml" Id="R5acc6faa3a8b4d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6992841dfb4dee" /><Relationship Type="http://schemas.openxmlformats.org/officeDocument/2006/relationships/notesMaster" Target="/ppt/notesMasters/notesMaster1.xml" Id="R8479aa11a9f64f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ce82df2e9142ba" /><Relationship Type="http://schemas.openxmlformats.org/officeDocument/2006/relationships/notesMaster" Target="/ppt/notesMasters/notesMaster1.xml" Id="R3671edcd4cf144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2e09c6354345c4" /><Relationship Type="http://schemas.openxmlformats.org/officeDocument/2006/relationships/notesMaster" Target="/ppt/notesMasters/notesMaster1.xml" Id="Rc72f8e14b0d44b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9e05870ca6945de" /><Relationship Type="http://schemas.openxmlformats.org/officeDocument/2006/relationships/notesMaster" Target="/ppt/notesMasters/notesMaster1.xml" Id="R98c155a7f7f548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7f6830d95d481a" /><Relationship Type="http://schemas.openxmlformats.org/officeDocument/2006/relationships/notesMaster" Target="/ppt/notesMasters/notesMaster1.xml" Id="R955a1f5260e9459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ade12771034b60" /><Relationship Type="http://schemas.openxmlformats.org/officeDocument/2006/relationships/notesMaster" Target="/ppt/notesMasters/notesMaster1.xml" Id="Re3bc8d95e59945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76d4e1a5a14acb" /><Relationship Type="http://schemas.openxmlformats.org/officeDocument/2006/relationships/notesMaster" Target="/ppt/notesMasters/notesMaster1.xml" Id="R3178406d948d4e3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97207bede65403c" /><Relationship Type="http://schemas.openxmlformats.org/officeDocument/2006/relationships/notesMaster" Target="/ppt/notesMasters/notesMaster1.xml" Id="R3420256da0354f6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5a205023bc14be7" /><Relationship Type="http://schemas.openxmlformats.org/officeDocument/2006/relationships/notesMaster" Target="/ppt/notesMasters/notesMaster1.xml" Id="R46d9a7833f6e484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3c02e413dd84f3f" /><Relationship Type="http://schemas.openxmlformats.org/officeDocument/2006/relationships/notesMaster" Target="/ppt/notesMasters/notesMaster1.xml" Id="R139e17cd9f97472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001e674c8814fa0" /><Relationship Type="http://schemas.openxmlformats.org/officeDocument/2006/relationships/notesMaster" Target="/ppt/notesMasters/notesMaster1.xml" Id="R6a0b040393f7491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abeeb05d0f74977" /><Relationship Type="http://schemas.openxmlformats.org/officeDocument/2006/relationships/notesMaster" Target="/ppt/notesMasters/notesMaster1.xml" Id="R68b68c8292874d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S22 — 다른 Task에 같은 설명이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다른 Task에 같은 설명이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Case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Bug fix, performance, and README Tasks can repeat the same Project facts because task-specific instructions and durable Project context have different scopes.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“Task는 다른데 왜 같은 설명을 계속 복사하고 있지?”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버그 수정, 성능 조사, README 수정의 서로 다른 목표를 왼쪽부터 가리킨다.</a:t>
            </a:r>
          </a:p>
          <a:p xmlns:a="http://schemas.openxmlformats.org/drawingml/2006/main">
            <a:r>
              <a:t>2. (2:00–4:00) 아래에 반복된 네 줄을 비교한다. 테스트 실행, 근거가 있을 때 의존성 추가, 로컬 합성 데이터, 기존 동작 보존이다. 세 요청은 교육용 구성 예시이며 Trial 원문이 아니다.</a:t>
            </a:r>
          </a:p>
          <a:p xmlns:a="http://schemas.openxmlformats.org/drawingml/2006/main">
            <a:r>
              <a:t>3. (4:00–5:00) 같은 설명이 왜 다시 들어가는지 잠시 생각하게 한다. 아직 저장 위치나 기능을 답으로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BEAT-008, CLM-0003, CLM-0005. TEACHING_MODEL / CONCEPTUAL; the three cards are a constructed example, not a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Repetition can indicate a scope and lifetime question. This slide does not claim a product failure or introduce a repository instruction file as the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If every Task needs the same Project facts, consider whether those facts belong with the Task or with the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Task intent from durable constraints before choosing where to maintain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final minute as a quiet case prompt. No hands-on activity or public response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“공통 정보를 Prompt 밖에 둘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Spend four minutes on the repeated facts and one minute on the question. Do not preview the solution.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S22 또는 `production/preview/act2/S22.png`다.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S23 — 작은 Project Context의 첫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작은 Project Context의 첫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STATE-01의 실제 AGENTS.md에는 반복되는 프로젝트 목적, 실행 방법, 테스트 명령, 기본 제약이 기록되어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“반복되는 Project 정보를 한 번 기록하면 어떤 점이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STATE-00-FIXED에서 STATE-01로 바뀐 것은 root AGENTS.md 한 파일 추가임을 설명한다.</a:t>
            </a:r>
          </a:p>
          <a:p xmlns:a="http://schemas.openxmlformats.org/drawingml/2006/main">
            <a:r>
              <a:t>2. (1:00–3:00) 네 발췌를 순서대로 가리킨다. 목적: 로컬 grayscale CLI. 실행: README의 준비된 명령. 테스트: 원문 명령. 제약: 범위를 지키고 관련 동작을 검증. 영어 문장을 모두 낭독하지 않는다.</a:t>
            </a:r>
          </a:p>
          <a:p xmlns:a="http://schemas.openxmlformats.org/drawingml/2006/main">
            <a:r>
              <a:t>3. (3:00–4:00) Task마다 반복 설명하던 사실을 저장소에 둔 설계 의도를 정리하고, 실제 활용 관찰은 S24로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한국어 의미를 먼저 읽고 바로 위의 실제 AGENTS.md 발췌와 대조한다. 강조한 CLI 목적·README·범위/검증 문구만 짚고 테스트 명령은 입력 실습이나 CLI 설명으로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STATE-01 / DEMO-02 / OBSERVED_PRODUCT. Demo tag `14baf81746a981d7cd96b7a014ea06f28c3dd6b4`, root `AGENTS.md` 2, 5, 9, 15행 발췌. 15줄/567bytes는 원문 메타데이터이며 화면의 중심 메시지로 쓰지 않는다. 테스트 명령은 `Run`과 구두점을 제외한 원문 명령 문자열이다. Source: `plan/DEMO_MATRIX.md` STATE-01 기록.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실제 파일이 그 상태에 존재했다는 근거다. 성능, 정확도, 토큰 절감 또는 AGENTS.md 단독 인과효과를 주장하지 않는다. 제품 코드·테스트·README는 그 상태 전환에서 바뀌지 않았다. S24의 지침 활용 관찰을 이 장의 결과로 앞당기지 않는다. 현재 Desktop 자동 로딩이나 교육 환경을 검증한 것이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small set of facts that applies across Project Tasks can be written down once in the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design choice is about context scope and maintenance ownership, not a measured quality or performance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`production/ACT_2.pptx`의 S23 및 `production/preview/act2/S23.png`에 있는 실제 AGENTS.md 원문 발췌를 가리킨다. 편집기 screenshot이 아니다. Live/HYBRID는 발표 환경 검증 전까지 비활성이다.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Point out the recurring facts without asking the audience to inspect a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안내가 실제 Task에서 어떻게 사용됐는지 기록을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4분 유지. 1분 상태 전환, 2분 네 발췌, 1분 의미와 S24 handoff. 명령어 옵션별 설명은 생략한다.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S23 또는 `production/preview/act2/S23.png`다.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S24 — 한 번의 사용에서 확인된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한 번의 사용에서 확인된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In the recorded TRIAL-003 run, the agent inspected `AGENTS.md` and used the documented test command that was absent from the Task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“Prompt에 없던 test command는 어디서 왔을까?”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요청에는 README-only 범위가 있었지만 전체 테스트 명령은 없었다고 짚는다.</a:t>
            </a:r>
          </a:p>
          <a:p xmlns:a="http://schemas.openxmlformats.org/drawingml/2006/main">
            <a:r>
              <a:t>2. (1:00–3:00) 가운데 AGENTS.md 접근과 기록된 테스트 명령 사용을 오른쪽 11/11 PASS 기록에 연결한다. 화면은 Trial 기록을 요약한 설명 구조다.</a:t>
            </a:r>
          </a:p>
          <a:p xmlns:a="http://schemas.openxmlformats.org/drawingml/2006/main">
            <a:r>
              <a:t>3. (3:00–4:00) Personal/global Skills도 실행됐으므로 AGENTS.md 단독 효과를 분리할 수 없다고 밝힌다. README-only 범위는 요청에도 있었다고 마무리한다.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TRIAL-003, STATE-01, DEMO-02. OBSERVED_PRODUCT; one recorded CLI run. Personal/global Skills also ran.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run does not isolate an independent causal effect of `AGENTS.md`, establish general superiority, or show that repository guidance alone determined file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record shows one example where a Project test command was available outside the current Prompt and was used.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the observed action, other active instructions, and Task scope separate when interpreting causality.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Present the captured/reconstructed Trial record. Do not represent it as a current Desktop run or a live screenshot. HYBRID activation is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the opening question, pause briefly, then reveal the record. Do not require an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Task의 Prompt와 Project가 계속 유지할 Context는 어떻게 다른가?”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Use three minutes for the recorded sequence and one minute for the causal boundary. Do not elaborate on unrelated Trial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S24 또는 `production/preview/act2/S24.png`다.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S25 — Task Prompt와 Project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 Prompt와 Project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A Task Prompt describes what is wanted now; Project Context describes facts and constraints that generally remain true for the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정보는 언제까지 유효한가?”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‘이번 작업이 끝나면?’이라는 질문으로 정보의 수명을 비교한다.</a:t>
            </a:r>
          </a:p>
          <a:p xmlns:a="http://schemas.openxmlformats.org/drawingml/2006/main">
            <a:r>
              <a:t>2. (1:00–4:00) 왼쪽 crop 수정과 README-only 범위, 오른쪽 테스트 명령과 근거 기반 의존성 정책을 연결한다. Prompt는 현재 목표를 표현하는 데 계속 필요하다.</a:t>
            </a:r>
          </a:p>
          <a:p xmlns:a="http://schemas.openxmlformats.org/drawingml/2006/main">
            <a:r>
              <a:t>3. (4:00–5:00) 어떤 사실이 다음 Task에도 유효한지 질문한다. C++에서도 공통 제약과 이번 알고리즘 변경 조건의 범위가 다를 수 있다는 짧은 예만 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S24에서 본 기록을 회수한 뒤 두 열의 수명을 비교한다. 왼쪽은 다음 작업에서 바뀔 목표, 오른쪽은 여러 작업에서 다시 참고할 사실이다. S21의 분류 질문을 처음부터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BEAT-009–010, TRANS-003, CLM-0003, CLM-0005. TEACHING_MODEL / CONCEPTUAL; examples summarize S22–S24.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is a teaching model for scope and lifetime, not a formal OpenAI taxonomy or proof that one layer is always better.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Put the current goal in the Task request and distinguish it from facts the Project keeps using.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Scope and lifetime are useful dimensions for deciding ownership and update responsibility.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Briefly distinguish a general Project constraint from a Task-specific algorithm condition; do not list tools or hardware.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Give the audience a brief silent pause to classify the examples mentally. Do not turn it into a hands-on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“정확한 정보를 더 많이 넣으면 언제나 괜찮을까?”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the model to two layers and four examples. Leave research and detailed routing for later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S25 또는 `production/preview/act2/S25.png`다.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S26 — 정확한 정보도 계속 늘어난다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정확한 정보도 계속 늘어난다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STATE-02 grew from 15 lines / 567 bytes to 32 lines / 1,303 bytes as the Project recorded more details; growth alone is not evidence of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“정확한 Project 정보라면 모든 Task에 늘 넣어도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STATE-01의 목적·실행·테스트·기본 제약에서 출발한다. 15줄/567 bytes와 32줄/1,303 bytes는 상태를 식별하는 크기 정보다.</a:t>
            </a:r>
          </a:p>
          <a:p xmlns:a="http://schemas.openxmlformats.org/drawingml/2006/main">
            <a:r>
              <a:t>2. (1:00–3:00) STATE-02에 더해진 처리 순서, 이미지 계약, 테스트 구조, CLI 출력의 실제 항목을 가리킨다. 처리 순서의 말줄임표는 선택적 invert/crop/resize 등의 중간 단계를 생략했다는 뜻이다.</a:t>
            </a:r>
          </a:p>
          <a:p xmlns:a="http://schemas.openxmlformats.org/drawingml/2006/main">
            <a:r>
              <a:t>3. (3:00–4:00) 크기 자체의 성능 의미를 부여하지 않고 ‘이번 Task에도 필요할까?’로 다음 장을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STATE-01 and STATE-02, BEAT-011, CLM-0014, CLM-0015. OBSERVED_PRODUCT; counts describe these recorded states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label the growth as a failure threshold, claim that it caused an error, or imply that the content was inaccurate.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More documented facts create a follow-up question: does each Task need all of them?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Maintenance cost and stale information are review considerations, not observed failures in this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two recorded state summaries; no live repository interaction is planned.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Treat the slide as a case question. Allow a short pause without requiring a public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“작은 README Task에서 어떤 정보가 실제로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크기 식별은 짧게 끝내고 추가된 실제 정보 네 항목에 시간을 쓴다. 마지막 1분에는 관련성 질문으로 이동하며 문서 크기의 인과 효과를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S26 또는 `production/preview/act2/S26.png`다.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S27 — 정확하지만 이번 Task에는 불필요한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정확하지만 이번 Task에는 불필요한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 minutes (CAPTURED) + Reflection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TRIAL-004 included Image context that was unnecessary for the README build-guidance Task, but no agent confusion or context-related failure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“README build 안내를 고치는 데 어떤 정보가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README의 build tools 안내를 고친 기록된 Task를 제시한다.</a:t>
            </a:r>
          </a:p>
          <a:p xmlns:a="http://schemas.openxmlformats.org/drawingml/2006/main">
            <a:r>
              <a:t>2. (1:00–2:00 / Demo) 왼쪽 README/build 설정과 오른쪽 crop·resize 계약/pipeline 상세를 비교한다. Agent 혼란과 Context 관련 실패는 관찰되지 않았음을 먼저 밝힌다.</a:t>
            </a:r>
          </a:p>
          <a:p xmlns:a="http://schemas.openxmlformats.org/drawingml/2006/main">
            <a:r>
              <a:t>3. (2:00–4:00 / Reflection) 정확한 정보와 이번 질문에 관련된 정보를 구분해 보게 한다. 공개 응답이나 작업은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TRIAL-004, BEAT-012, CLM-0014, CLM-0015. OBSERVED_PRODUCT; CAPTURED record of one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Presence of unnecessary context is not evidence that the model failed, became confused, or performed worse. No such failure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Correct information can still be unrelated to the current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Distinguish context relevance from outcome quality; this Trial does not measure a performance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Show the captured/reconstructed Trial record for two minutes. Do not run a new Trial or simulate a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last two minutes for private reflection: which context was relevant to this Task? No response or written exercise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“필요한 정보를 항상 한 번에 넣지 않는 방법은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Protect the two-minute Reflection. Explicitly state the absence of observed confusion before moving 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S27 또는 `production/preview/act2/S27.png`다.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S28 — 정보의 범위와 제공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정보의 범위와 제공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The course model separates always-on Project facts, task-relevant detail, and reusable workflow by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“무엇은 항상 필요하고, 무엇은 Task에 따라 찾아야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세 행이 이 과정에서 쓰는 정보 설계 모델임을 밝힌다.</a:t>
            </a:r>
          </a:p>
          <a:p xmlns:a="http://schemas.openxmlformats.org/drawingml/2006/main">
            <a:r>
              <a:t>2. (1:00–3:00) 기본 안내, 질문에 따른 상세, 특정 작업의 수행 방법을 순서대로 가리킨다. 각 행의 구체 예시를 하나씩 설명한다.</a:t>
            </a:r>
          </a:p>
          <a:p xmlns:a="http://schemas.openxmlformats.org/drawingml/2006/main">
            <a:r>
              <a:t>3. (3:00–4:00) 성능 조사 절차 예가 STATE-02에 저장돼 있었다는 뜻은 아니라고 한정한다. Context 양만으로 충분한지 연구 질문으로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BEAT-012, BEAT-014, STATE-02, CLM-0014, CLM-0015, CLM-0003, CLM-0005.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Always-on / On-demand / Workflow is a course model, not an official OpenAI classification. Do not claim token savings or improved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Some facts apply broadly; details matter for a smaller set of Tasks; a work procedure says how to approach a class of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durable facts, selectively needed details, and workflow responsibility conceptually distinct even when they can all appear outside a Task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the audience to notice that information has different scopes; no category-writing exercise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“Context window가 크면 모든 정보가 똑같이 활용될까?”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Four minutes, one minute per bucket plus the boundary. Do not present this as a product feature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S28 또는 `production/preview/act2/S28.png`다.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S29 — Long Context 연구가 말해주는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Long Context 연구가 말해주는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Research in specific models and tasks supports a bounded caution: more context is not automatically better, and relevance or information position can matter under some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“Context window가 크면 모든 정보가 똑같이 활용될까?”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‘더 많은 Context가 항상 더 좋은 것은 아니다’의 적용 범위를 특정 모델·과제에 한정한다.</a:t>
            </a:r>
          </a:p>
          <a:p xmlns:a="http://schemas.openxmlformats.org/drawingml/2006/main">
            <a:r>
              <a:t>2. (1:00–3:00) 왼쪽 Lost in the Middle의 여러 문서 질문 답변/key-value 검색, 오른쪽 RepoQA의 50개 Repository 코드 검색을 비교한다. 논문이 답한 질문과 승인된 핵심 결론만 말한다. 수치 그래프나 현재 Codex 성능 추정은 추가하지 않는다.</a:t>
            </a:r>
          </a:p>
          <a:p xmlns:a="http://schemas.openxmlformats.org/drawingml/2006/main">
            <a:r>
              <a:t>3. (3:00–4:00) 화면 하단의 두 출처와 Notes의 원문 링크를 안내한다. 이 Demo의 현재 Codex Repository coding을 직접 시험한 연구가 아님을 명시한다.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왼쪽은 관련 정보의 위치를 바꾸는 질적 과제 구조, 오른쪽은 Repository에서 관련 코드를 찾는 과제 구조다. 칠해진 블록은 정보 위치 표시이며 점수·성능·현재 Codex 결과를 뜻하지 않는다. 수치 그래프처럼 해석하지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RESEARCH. Liu et al., “Lost in the Middle: How Language Models Use Long Contexts,” TACL 2024, 12:157–173, https://aclanthology.org/2024.tacl-1.9/; RepoQA (2024), arXiv:2406.06025, https://arxiv.org/abs/2406.06025. RepoQA venue remains TODO in the source plan and is not invented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claim current Codex fails because of Lost in the Middle, create a context-length threshold, generalize results across all models/tasks, or invent numeric/curve data. Keep study conditions beside the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larger context window does not guarantee that every included detail is equally useful in every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cited work covers specific historical models and benchmark settings, including multi-document QA and synthetic retrieval; it does not establish a present-day Codex limitation.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 This is a research summary, not a deterministic product demonstration.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opening question to invite a short mental prediction, then answer within the cited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“필요한 정보를 Task에 맞춰 어떻게 찾게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the paper descriptions concise and reserve the final minute for the transfer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S29 또는 `production/preview/act2/S29.png`다.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S30 — 필요한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필요한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Context design asks what information a Task needs and when it should be available, rather than placing every detail in one 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“모든 정보를 한 곳에 넣지 않고 필요한 정보에 도달할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Move from the question of context amount to the question of relevance and timing.</a:t>
            </a:r>
          </a:p>
          <a:p xmlns:a="http://schemas.openxmlformats.org/drawingml/2006/main">
            <a:r>
              <a:t>2. (1:00–2:00) Show `Task → Core Context → Relevant Detail when needed` as a course diagram.</a:t>
            </a:r>
          </a:p>
          <a:p xmlns:a="http://schemas.openxmlformats.org/drawingml/2006/main">
            <a:r>
              <a:t>3. (2:00–3:00) Give one short C++ example and reserve STATE-03 for the next sequence.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현재 Task 질문에서 출발해 Core의 안내를 거쳐 상세 정보로 이동한다. 이 장의 초점은 어디로 찾아갈지이며, 다음 장에서 Core에 무엇을 남길지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BEAT-014, STATE-03 as the upcoming example, CLM-0003, CLM-0005, CLM-0014, CLM-0015.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is a routing question, not evidence of performance improvement, token savings, or a product's automatic retrieval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short starting point can direct a reader toward more detail when a Task needs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Discovery and maintenance remain design concerns; this slide does not claim perfect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Distinguish a general Project constraint from a Task-specific CMake or algorithm contract. Do not list tools, hardware, or environment commands.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STATE-03 results are reserved for the following section.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Let the routing question sit for a moment; do not reveal the Trial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“무엇을 항상 읽고, 무엇을 필요할 때 찾게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this to one diagram and one brief C++ example. No product-specific implementation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S30 또는 `production/preview/act2/S30.png`다.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S31 — Core Context에서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Core Context에서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Root/Core Context can be a starting point that points toward detail, rather than an encyclopedia of all Project knowledge.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“무엇을 항상 읽고, 무엇을 필요할 때 찾게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기본 안내의 목적, 상시 제약, 상세 정보 위치를 읽는 순서대로 가리킨다.</a:t>
            </a:r>
          </a:p>
          <a:p xmlns:a="http://schemas.openxmlformats.org/drawingml/2006/main">
            <a:r>
              <a:t>2. (1:00–2:30) 오른쪽 architecture, image contracts, testing으로 이어지는 관계를 설명한다. 화살표는 교육용 정보 설계 관계다.</a:t>
            </a:r>
          </a:p>
          <a:p xmlns:a="http://schemas.openxmlformats.org/drawingml/2006/main">
            <a:r>
              <a:t>3. (2:30–4:00) C++에서는 build/test 진입점과 기본 제약에서 해당 알고리즘 계약·하드웨어 조건으로 안내할 수 있음을 짧게 연결한다. Routing 성능 효과는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Core의 세 항목을 먼저 읽고 필요한 상세의 세 행으로 이동한다. S30의 탐색 경로를 반복 설명하기보다 항상 읽을 기본 안내와 필요할 때 찾을 상세의 경계를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BEAT-014, CLM-0003, CLM-0005, CLM-0014, CLM-0015. TEACHING_MODEL / CONCEPTUAL; describe STATE-03 structure in S32.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The model does not demonstrate better retrieval or lower cost. No automatic product behavior is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Keep a small starting page and put specialized details in topic pages that it points 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Choose core facts for cross-task stability and details for a narrower task scope; routing quality remains an empirical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Core: build/test entry and Project constraints. Detail: algorithm contract and hardware assumptions. Keep it to this scope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the observed repository structure follows on S32.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what belongs in the core; do not solicit a complete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“Demo Repository에서는 이 Mental Model이 어떻게 반영됐을까?”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Four minutes; keep the C++ bridge to one integrated minute and avoid listing CMake/hardware items.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S31 또는 `production/preview/act2/S31.png`다.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S32 — 정보를 지우지 않고 위치를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정보를 지우지 않고 위치를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 + Demo 2 minutes (CAPTURED) + Case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STATE-03 reorganized the recorded detail from one growing `AGENTS.md` into a smaller core with links to topic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“정보를 나누면 무엇이 바뀌고, 무엇을 그대로 보존해야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STATE-02와 STATE-03은 실제 Repository 상태이며, 정보의 위치가 달라졌다고 밝힌다.</a:t>
            </a:r>
          </a:p>
          <a:p xmlns:a="http://schemas.openxmlformats.org/drawingml/2006/main">
            <a:r>
              <a:t>2. (1:00–3:00 / Demo) 커진 AGENTS.md와 분리된 docs를 비교한다. 오른쪽 실제 Routing 문구에서 어떤 질문을 어떤 문서로 안내하는지 발췌 한 줄씩 가리킨다.</a:t>
            </a:r>
          </a:p>
          <a:p xmlns:a="http://schemas.openxmlformats.org/drawingml/2006/main">
            <a:r>
              <a:t>3. (3:00–4:00 / Case) 정보를 없애기보다 Scope에 따라 놓을 위치를 나눈 설계 의도를 설명한다.</a:t>
            </a:r>
          </a:p>
          <a:p xmlns:a="http://schemas.openxmlformats.org/drawingml/2006/main">
            <a:r>
              <a:t>4. (4:00–5:00 / Lecture) C++도 기본 안내와 알고리즘/모듈 상세를 나누는 패턴으로 연결한다. 실제 접근 결과는 다음 두 Task에서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STATE-02, STATE-03, DEMO-06, BEAT-014–015, CLM-0003, CLM-0005, CLM-0014, CLM-0015. OBSERVED_PRODUCT for file structure; TEACHING_MODEL for the routing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State structure is observed. Progressive Disclosure is a course pattern here; perfect routing, performance improvement, or token savings are not proven.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information was reorganized by topic; the slide does not show it being deleted.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the evidence of file placement from the inference about how such a structure may help readers navigate.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Core constraints stay at the entry point; algorithm, module, and hardware details belong with their relevant topic.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captured/reconstructed STATE-02 → STATE-03 record; no live file browsing. Do not portray the diagram as a product screenshot.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what must remain unchanged when information is moved; accept silent reflection.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“두 Task가 같은 상세 문서를 읽는지 관찰해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Use the two Demo minutes for the before/after state, one for the Case, and keep the C++ bridge integrated into the lecture flow as approved.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S32 또는 `production/preview/act2/S32.png`다.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S33 — 서로 다른 두 Task가 무엇을 읽을까?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서로 다른 두 Task가 무엇을 읽을까?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Compare two read-only Task questions by observing what evidence each run actually accesses.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“두 Task에서 Agent가 같은 상세 문서를 읽을까?”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(0:00–0:30) Set the watch-for question without proposing an answer.</a:t>
            </a:r>
          </a:p>
          <a:p xmlns:a="http://schemas.openxmlformats.org/drawingml/2006/main">
            <a:r>
              <a:t>2. (0:30–1:30) Show Task A: “crop 1 3에서 어떤 source column을 포함하는가?” and Task B: “runtime dependency가 있는가?”</a:t>
            </a:r>
          </a:p>
          <a:p xmlns:a="http://schemas.openxmlformats.org/drawingml/2006/main">
            <a:r>
              <a:t>3. (1:30–2:00) Invite the audience to notice whether the same detail appears in both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TRIAL-005A/B, BEAT-015–016, CLM-0003, CLM-0005, CLM-0014, CLM-0015. OBSERVED_PRODUCT setup; results are withheld until the next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predict file access or reveal the observed result in advance. This setup does not imply perfect routing.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Different questions may require different Project details; the next slides show what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Evaluate actual accesses rather than infer behavior from the directory structure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this is the watch setup; no new Trial is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viewers to keep the comparison question in mind. No response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“Crop Task의 기록에서 어떤 근거가 사용됐을까?”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Two minutes only. Do not give the answer or turn the prompt into an exercise.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S33 또는 `production/preview/act2/S33.png`다.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S34 — Crop Task에서 관찰한 접근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Crop Task에서 관찰한 접근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In TRIAL-005A’s final run, the recorded Crop answer was supported by access to the image contract; some broader context was also read.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“Crop 계약을 묻는 Task에서 어떤 근거가 사용됐을까?”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image-contracts.md에 있는 반열린 구간 [x_start, x_end)을 가리킨다.</a:t>
            </a:r>
          </a:p>
          <a:p xmlns:a="http://schemas.openxmlformats.org/drawingml/2006/main">
            <a:r>
              <a:t>2. (1:00–3:00) 아래 숫자는 픽셀 값이 아니라 source column index임을 밝힌다. crop 1 3에서 강조한 열 1과 2, 결과 너비 2, 제외된 끝 좌표 3을 순서대로 짚는다.</a:t>
            </a:r>
          </a:p>
          <a:p xmlns:a="http://schemas.openxmlformats.org/drawingml/2006/main">
            <a:r>
              <a:t>3. (3:00–4:00) 하단에서 AGENTS.md, architecture.md도 읽었으며 testing.md는 최종 실행에서 읽었음을 확인한다. 완벽한 최소 문서 선택으로 해석하지 않는다.</a:t>
            </a:r>
          </a:p>
          <a:p xmlns:a="http://schemas.openxmlformats.org/drawingml/2006/main">
            <a:r>
              <a:t>4. (4:00–5:00) 계약이 필요한 Task에서 관련 문서 접근과 답이 관찰됐다는 범위로 마무리하고 Task B로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TRIAL-005A, BEAT-016, CLM-0014, CLM-0015. OBSERVED_PRODUCT; recorded CLI final run and its access record.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The record supports that image-contract detail was accessed and the answer was observed in this run. It does not show perfect routing, that only relevant documents were read, or a measured efficiency 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Crop question had a matching contract document, and the recorded final run read it before giving the boundary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Include run variability and broader reads in the interpretation; `testing.md` access was not consistent across iterations.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captured/reconstructed record. Show the image contract and concise answer, not a full file-access log or fabricated terminal capture.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which evidence supports the boundary answer; let the audience inspect the concise summary.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“Dependency Task와 비교하면 어떤 차이가 보일까?”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Give the answer two minutes, the supporting document and limitation two minutes, then one minute for transition.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S34 또는 `production/preview/act2/S34.png`다.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S35 — Task별 접근은 달랐지만 완벽하지는 않다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Task별 접근은 달랐지만 완벽하지는 않다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1 minute (CAPTURED) + Case 3 minutes + Reflection 2 minutes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TRIAL-005A/B showed a task-specific difference in detailed document access, but did not prove perfect routing, token savings, or performance improvement.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“Task별 차이를 관찰한 것만으로 완벽한 Routing을 말할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강조한 첫 행에서 A는 image-contracts.md를 읽고 B는 읽지 않았음을 가리킨다.</a:t>
            </a:r>
          </a:p>
          <a:p xmlns:a="http://schemas.openxmlformats.org/drawingml/2006/main">
            <a:r>
              <a:t>2. (1:00–3:00 / Demo) architecture는 둘 다 읽었고 testing은 A의 최종 실행에서만 읽었다고 확인한다. B는 설정·README·source도 확인했다. A의 더 넓은 읽기와 실행 간 변동도 남아 있다.</a:t>
            </a:r>
          </a:p>
          <a:p xmlns:a="http://schemas.openxmlformats.org/drawingml/2006/main">
            <a:r>
              <a:t>3. (3:00–4:00 / Lecture) 완벽한 Routing 미입증, 토큰 절약·성능 개선 미측정을 분명히 말한다.</a:t>
            </a:r>
          </a:p>
          <a:p xmlns:a="http://schemas.openxmlformats.org/drawingml/2006/main">
            <a:r>
              <a:t>4. (4:00–6:00 / Reflection) 이 비교로 말할 수 있는 사실과 없는 효과를 조용히 구분해 보게 한다.</a:t>
            </a:r>
          </a:p>
          <a:p xmlns:a="http://schemas.openxmlformats.org/drawingml/2006/main">
            <a:r>
              <a:t>5. (6:00–7:00 / Q&amp;A) 질문 하나를 받거나 준비된 질문을 던진다. 파일 접근 차이라는 관찰로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TRIAL-005A/B, BEAT-016–017, CLM-0014, CLM-0015, CLM-0003, CLM-0005. OBSERVED_PRODUCT; captured records, with observed run variability.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Task-specific access difference is observed. Broad reads also occurred. Do not claim complete routing, a general advantage, token savings, or performance gains.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relevant document was read for one Task and not another, but the agent still read some shared and broader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A/B access differences are evidence about these runs only; they do not establish a stable policy or causal efficiency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실제 기록을 요약한 문서 접근 비교표를 사용한다. image-contracts, architecture, testing 순서로 가리키며 testing의 최종 실행 범위와 변동을 유지한다. 토큰·성능 효과나 실제 터미널 화면으로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Keep three minutes for the Case, two for private Reflection, and one for Q&amp;A. If no one responds, ask: “이 기록으로 말할 수 있는 범위는 어디까지일까요?”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“정보를 정리했는데도 남아 있는 반복은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Protect the Mode boundaries. If discussion runs long, cut secondary file names before shortening the explicit claim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S35 또는 `production/preview/act2/S35.png`다.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S36 — 지식은 정리됐지만 절차는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지식은 정리됐지만 절차는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10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Transition 4 minutes + Q&amp;A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Prompt, Project Context, and routing address different information responsibilities; a repeated work procedure can remain as a separate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“Project 정보를 잘 정리했으면 문제가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Transition) 왼쪽의 현재 목표, 공통 사실, 상세 정보 위치를 순서대로 회수한다.</a:t>
            </a:r>
          </a:p>
          <a:p xmlns:a="http://schemas.openxmlformats.org/drawingml/2006/main">
            <a:r>
              <a:t>2. (2:00–4:00 / Transition) 오른쪽 ‘먼저 측정하고, 조사한 뒤 변경하고, 같은 조건으로 확인’이라는 반복 절차를 보여준다. Context 선택을 완전히 해결했다는 뜻은 아니라고 밝힌다.</a:t>
            </a:r>
          </a:p>
          <a:p xmlns:a="http://schemas.openxmlformats.org/drawingml/2006/main">
            <a:r>
              <a:t>3. (4:00–10:00 / Q&amp;A) ‘이 반복도 Context만의 문제일까?’로 질문을 받는다. 질문이 없으면 사실과 절차의 책임 차이를 짚고 ‘Agent가 Project를 알아도 왜 작업 방법은 달라질까?’를 던진다. 마지막 짧은 handoff도 이 6분 안에 포함한다.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BEAT-017–018, TRANS-005, TRIAL-006/007 as context for the upcoming problem. OBSERVED_PRODUCT for repeated prompt structure with PARTIAL attribution; TEACHING_MODEL for the three responsibilities and the transition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attribute the repeated procedure solely to the Trial Prompt; global Harness influence remains. Do not present Skill or another solution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Knowing Project facts and repeating a reliable way of working are different needs.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Context can reduce repeated fact explanation while process ownership remains unresolved; keep observed repetition separate from its cause.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use the concise recorded prompt-structure summary; no live run or new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0–4분 Transition 뒤 4–10분 Q&amp;A를 운영한다. 공개 응답은 선택이며 질문이 없으면 사실과 절차의 차이를 묻는 준비 질문을 사용한다. 별도 실습은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“Agent가 Project를 알아도 왜 작업 방법은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Transition 4분 → Q&amp;A 6분, 총 10분을 유지한다. 마지막 handoff 문구도 Q&amp;A 종료 전에 포함하며 추가 Transition 시간을 만들지 않는다. 답변이 길어지면 다음 질문을 받지 않고 ACT 3로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S36 또는 `production/preview/act2/S36.png`다. 수정 초안 정적 화면은 존재하며 최종 release 경로·내용 일치는 통합 검토에서 확인한다. 실제 Trial 캡처나 현재 제품 실행으로 표현하지 않는다. 질문이 없으면 Audience Interaction의 준비 질문으로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a839fd73214bf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e6b8b97fdf45e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580f32effa4c1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f9f2c3d987490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4bc4a565bf4b8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9f478531ba41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320AE9F-113E-406C-9B9A-82A9D11509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DB16CD3-1718-4D14-B474-E59C5F21F82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5E9E5C4-3E8E-44F9-A2C1-7231F9E43A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8545C07-C091-4053-B809-B78CDCAA13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DBAAF28-810B-4A07-BC4E-FC30822CDE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638FB4F-B5D6-425D-8CC3-6704459563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BA964C5-2C26-439B-A45E-94D44789B9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7CCA017-2809-4A0F-9E50-83520ECE916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C395921-D363-49F7-A7F9-71822BE3F0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54C1927-D198-423D-BA9B-AF98729391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c5d043baf7740d9" /><Relationship Type="http://schemas.openxmlformats.org/officeDocument/2006/relationships/slideLayout" Target="/ppt/slideLayouts/slideLayout1.xml" Id="Rcd1a38ebbdf94f85" /><Relationship Type="http://schemas.openxmlformats.org/officeDocument/2006/relationships/slideLayout" Target="/ppt/slideLayouts/slideLayout2.xml" Id="Rfad1c6e1d26e4762" /><Relationship Type="http://schemas.openxmlformats.org/officeDocument/2006/relationships/slideLayout" Target="/ppt/slideLayouts/slideLayout3.xml" Id="R88e6ee4a1c944e93" /><Relationship Type="http://schemas.openxmlformats.org/officeDocument/2006/relationships/slideLayout" Target="/ppt/slideLayouts/slideLayout4.xml" Id="Re0e7c18d53314f0a" /><Relationship Type="http://schemas.openxmlformats.org/officeDocument/2006/relationships/slideLayout" Target="/ppt/slideLayouts/slideLayout5.xml" Id="R2033ff491ae14d52" /><Relationship Type="http://schemas.openxmlformats.org/officeDocument/2006/relationships/slideLayout" Target="/ppt/slideLayouts/slideLayout6.xml" Id="Ra6312023ce0146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1a38ebbdf94f85"/>
    <p:sldLayoutId xmlns:r="http://schemas.openxmlformats.org/officeDocument/2006/relationships" id="2147483650" r:id="Rfad1c6e1d26e4762"/>
    <p:sldLayoutId xmlns:r="http://schemas.openxmlformats.org/officeDocument/2006/relationships" id="2147483651" r:id="R88e6ee4a1c944e93"/>
    <p:sldLayoutId xmlns:r="http://schemas.openxmlformats.org/officeDocument/2006/relationships" id="2147483652" r:id="Re0e7c18d53314f0a"/>
    <p:sldLayoutId xmlns:r="http://schemas.openxmlformats.org/officeDocument/2006/relationships" id="2147483653" r:id="R2033ff491ae14d52"/>
    <p:sldLayoutId xmlns:r="http://schemas.openxmlformats.org/officeDocument/2006/relationships" id="2147483654" r:id="Ra6312023ce0146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0eca7702564fa8" /><Relationship Type="http://schemas.openxmlformats.org/officeDocument/2006/relationships/notesSlide" Target="/ppt/notesSlides/notesSlide1.xml" Id="Ra3b7d70d01ce44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feb7caf2be4051" /><Relationship Type="http://schemas.openxmlformats.org/officeDocument/2006/relationships/notesSlide" Target="/ppt/notesSlides/notesSlide2.xml" Id="R8056c59a115748e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d596e42a19425a" /><Relationship Type="http://schemas.openxmlformats.org/officeDocument/2006/relationships/notesSlide" Target="/ppt/notesSlides/notesSlide3.xml" Id="R83c8aa2dcde6418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e864da8aa14564" /><Relationship Type="http://schemas.openxmlformats.org/officeDocument/2006/relationships/notesSlide" Target="/ppt/notesSlides/notesSlide4.xml" Id="Rb28584a939dd4a0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544284db8545f4" /><Relationship Type="http://schemas.openxmlformats.org/officeDocument/2006/relationships/notesSlide" Target="/ppt/notesSlides/notesSlide5.xml" Id="R4b3a9ee67f2d41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585053504740ac" /><Relationship Type="http://schemas.openxmlformats.org/officeDocument/2006/relationships/notesSlide" Target="/ppt/notesSlides/notesSlide6.xml" Id="Ra2910b026d664b0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76a18e898c4220" /><Relationship Type="http://schemas.openxmlformats.org/officeDocument/2006/relationships/notesSlide" Target="/ppt/notesSlides/notesSlide7.xml" Id="Rf4a9147f018a478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f5210787194a99" /><Relationship Type="http://schemas.openxmlformats.org/officeDocument/2006/relationships/notesSlide" Target="/ppt/notesSlides/notesSlide8.xml" Id="R5e0a1404005d4f0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9aaad45cd24242" /><Relationship Type="http://schemas.openxmlformats.org/officeDocument/2006/relationships/notesSlide" Target="/ppt/notesSlides/notesSlide9.xml" Id="R8ff87ba3654b47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c2be01f5804b95" /><Relationship Type="http://schemas.openxmlformats.org/officeDocument/2006/relationships/notesSlide" Target="/ppt/notesSlides/notesSlide10.xml" Id="R39ec3ab30eb14f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321151dd784bd0" /><Relationship Type="http://schemas.openxmlformats.org/officeDocument/2006/relationships/notesSlide" Target="/ppt/notesSlides/notesSlide11.xml" Id="R09e8dd54c5a7427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36828e96e647ca" /><Relationship Type="http://schemas.openxmlformats.org/officeDocument/2006/relationships/notesSlide" Target="/ppt/notesSlides/notesSlide12.xml" Id="Rd1ab8b9877ed47a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1ba69058784cf2" /><Relationship Type="http://schemas.openxmlformats.org/officeDocument/2006/relationships/notesSlide" Target="/ppt/notesSlides/notesSlide13.xml" Id="R215a68881816435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67e85f02a142a4" /><Relationship Type="http://schemas.openxmlformats.org/officeDocument/2006/relationships/notesSlide" Target="/ppt/notesSlides/notesSlide14.xml" Id="Rd35dc654d058475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433cd7f9934e01" /><Relationship Type="http://schemas.openxmlformats.org/officeDocument/2006/relationships/notesSlide" Target="/ppt/notesSlides/notesSlide15.xml" Id="Ra23ce1bb33194f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2 · 반복되는 프로젝트 설명">
            <a:extLst xmlns:a="http://schemas.openxmlformats.org/drawingml/2006/main">
              <a:ext uri="{FF2B5EF4-FFF2-40B4-BE49-F238E27FC236}">
                <a16:creationId xmlns:a16="http://schemas.microsoft.com/office/drawing/2014/main" id="{CA0BDE4A-1F36-477E-A497-FF606761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반복되는 프로젝트 설명</a:t>
            </a:r>
          </a:p>
        </p:txBody>
      </p:sp>
      <p:sp>
        <p:nvSpPr>
          <p:cNvPr id="2" name="S22">
            <a:extLst xmlns:a="http://schemas.openxmlformats.org/drawingml/2006/main">
              <a:ext uri="{FF2B5EF4-FFF2-40B4-BE49-F238E27FC236}">
                <a16:creationId xmlns:a16="http://schemas.microsoft.com/office/drawing/2014/main" id="{71D0F41A-64C0-4364-B57E-C27F8686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S22</a:t>
            </a:r>
          </a:p>
        </p:txBody>
      </p:sp>
      <p:sp>
        <p:nvSpPr>
          <p:cNvPr id="3" name="다른 Task에 같은 설명이 반복된다">
            <a:extLst xmlns:a="http://schemas.openxmlformats.org/drawingml/2006/main">
              <a:ext uri="{FF2B5EF4-FFF2-40B4-BE49-F238E27FC236}">
                <a16:creationId xmlns:a16="http://schemas.microsoft.com/office/drawing/2014/main" id="{02C7BC42-6B54-4886-9DA2-93E06CD0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Task에 같은 설명이 반복된다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8BB24-8223-423D-9535-E97DBB27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성 사례 · Bug fix / Performance / README 작업">
            <a:extLst xmlns:a="http://schemas.openxmlformats.org/drawingml/2006/main">
              <a:ext uri="{FF2B5EF4-FFF2-40B4-BE49-F238E27FC236}">
                <a16:creationId xmlns:a16="http://schemas.microsoft.com/office/drawing/2014/main" id="{1E9FD6D0-3CB5-4BBA-89F9-B912D852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구성 사례 · Bug fix / Performance / README 작업</a:t>
            </a:r>
          </a:p>
        </p:txBody>
      </p:sp>
      <p:sp>
        <p:nvSpPr>
          <p:cNvPr id="6" name="서로 다른 요청에 같은 프로젝트 정보가 반복되는 상황을 보여준다">
            <a:extLst xmlns:a="http://schemas.openxmlformats.org/drawingml/2006/main">
              <a:ext uri="{FF2B5EF4-FFF2-40B4-BE49-F238E27FC236}">
                <a16:creationId xmlns:a16="http://schemas.microsoft.com/office/drawing/2014/main" id="{18243676-EBE0-4366-98A0-611CE81F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서로 다른 요청에 같은 프로젝트 정보가 반복되는 상황을 보여준다</a:t>
            </a:r>
          </a:p>
        </p:txBody>
      </p:sp>
      <p:sp>
        <p:nvSpPr>
          <p:cNvPr id="7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EE1FDF1C-6541-4F08-92F4-BC4AE8CE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8" name="crop 경계를 수정해줘">
            <a:extLst xmlns:a="http://schemas.openxmlformats.org/drawingml/2006/main">
              <a:ext uri="{FF2B5EF4-FFF2-40B4-BE49-F238E27FC236}">
                <a16:creationId xmlns:a16="http://schemas.microsoft.com/office/drawing/2014/main" id="{1C802073-E400-4D18-9902-57213F70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경계를 수정해줘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42737D-F52D-45D1-85C5-B0CE5971E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67DB3E-E489-448E-B875-C10BE1F9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51C003AC-673C-40F2-8575-1083CD5A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12" name="성능 조사">
            <a:extLst xmlns:a="http://schemas.openxmlformats.org/drawingml/2006/main">
              <a:ext uri="{FF2B5EF4-FFF2-40B4-BE49-F238E27FC236}">
                <a16:creationId xmlns:a16="http://schemas.microsoft.com/office/drawing/2014/main" id="{073308D5-EFC3-4EE2-ADA4-344208A1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</a:t>
            </a:r>
          </a:p>
        </p:txBody>
      </p:sp>
      <p:sp>
        <p:nvSpPr>
          <p:cNvPr id="13" name="통계 계산을 조사해줘">
            <a:extLst xmlns:a="http://schemas.openxmlformats.org/drawingml/2006/main">
              <a:ext uri="{FF2B5EF4-FFF2-40B4-BE49-F238E27FC236}">
                <a16:creationId xmlns:a16="http://schemas.microsoft.com/office/drawing/2014/main" id="{7ECF1EF7-9CB0-4D62-B785-9B3C5C5EB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통계 계산을 조사해줘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F81D12-1FAD-4BA5-9BC3-B2C66BAD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4D2D83-851C-4836-95EF-09B6792F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C681E4AA-910A-476D-8A57-9184DACE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17" name="README 수정">
            <a:extLst xmlns:a="http://schemas.openxmlformats.org/drawingml/2006/main">
              <a:ext uri="{FF2B5EF4-FFF2-40B4-BE49-F238E27FC236}">
                <a16:creationId xmlns:a16="http://schemas.microsoft.com/office/drawing/2014/main" id="{B4BF49FD-06B8-484D-8E4C-B806454B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README 수정</a:t>
            </a:r>
          </a:p>
        </p:txBody>
      </p:sp>
      <p:sp>
        <p:nvSpPr>
          <p:cNvPr id="18" name="빌드 안내를 명확히 해줘">
            <a:extLst xmlns:a="http://schemas.openxmlformats.org/drawingml/2006/main">
              <a:ext uri="{FF2B5EF4-FFF2-40B4-BE49-F238E27FC236}">
                <a16:creationId xmlns:a16="http://schemas.microsoft.com/office/drawing/2014/main" id="{39675FFA-02EC-453E-9D00-4050FC71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안내를 명확히 해줘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16BA3-0BAC-490B-874D-3C3EAEA9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04996F-7460-4266-B7E1-FB2D7C79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7A704FBC-A234-44BB-9533-8189AE5B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22" name="요청은 다른데, 아래 설명은 왜 계속 같을까?">
            <a:extLst xmlns:a="http://schemas.openxmlformats.org/drawingml/2006/main">
              <a:ext uri="{FF2B5EF4-FFF2-40B4-BE49-F238E27FC236}">
                <a16:creationId xmlns:a16="http://schemas.microsoft.com/office/drawing/2014/main" id="{B012B9D0-D98B-42D5-A1E4-A0CC4158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요청은 다른데, 아래 설명은 왜 계속 같을까?</a:t>
            </a:r>
          </a:p>
        </p:txBody>
      </p:sp>
    </p:spTree>
    <p:extLst>
      <p:ext uri="{BB962C8B-B14F-4D97-AF65-F5344CB8AC3E}">
        <p14:creationId xmlns:p14="http://schemas.microsoft.com/office/powerpoint/2010/main" val="9016996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2  ·  Project Context">
            <a:extLst xmlns:a="http://schemas.openxmlformats.org/drawingml/2006/main">
              <a:ext uri="{FF2B5EF4-FFF2-40B4-BE49-F238E27FC236}">
                <a16:creationId xmlns:a16="http://schemas.microsoft.com/office/drawing/2014/main" id="{9958B87C-6B80-481B-BCDC-73697B29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 ·  Project Context</a:t>
            </a:r>
          </a:p>
        </p:txBody>
      </p:sp>
      <p:sp>
        <p:nvSpPr>
          <p:cNvPr id="2" name="S23">
            <a:extLst xmlns:a="http://schemas.openxmlformats.org/drawingml/2006/main">
              <a:ext uri="{FF2B5EF4-FFF2-40B4-BE49-F238E27FC236}">
                <a16:creationId xmlns:a16="http://schemas.microsoft.com/office/drawing/2014/main" id="{2234AEE0-0A3C-490E-800F-76B56049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S23</a:t>
            </a:r>
          </a:p>
        </p:txBody>
      </p:sp>
      <p:sp>
        <p:nvSpPr>
          <p:cNvPr id="3" name="작은 Project Context의 첫 기록">
            <a:extLst xmlns:a="http://schemas.openxmlformats.org/drawingml/2006/main">
              <a:ext uri="{FF2B5EF4-FFF2-40B4-BE49-F238E27FC236}">
                <a16:creationId xmlns:a16="http://schemas.microsoft.com/office/drawing/2014/main" id="{274EEDEE-D96B-43D3-8C06-3F70F9D5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Project Context의 첫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C1BB95-7E70-437F-9CB6-CAD2731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OBSERVED PRODUCT  |  STATE-01 · AGENTS.md 실제 원문 발췌">
            <a:extLst xmlns:a="http://schemas.openxmlformats.org/drawingml/2006/main">
              <a:ext uri="{FF2B5EF4-FFF2-40B4-BE49-F238E27FC236}">
                <a16:creationId xmlns:a16="http://schemas.microsoft.com/office/drawing/2014/main" id="{7D77AFA1-8680-409D-8890-5171C069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OBSERVED PRODUCT  |  STATE-01 · AGENTS.md 실제 원문 발췌</a:t>
            </a:r>
          </a:p>
        </p:txBody>
      </p:sp>
      <p:sp>
        <p:nvSpPr>
          <p:cNvPr id="6" name="파일의 내용과 기록 위치를 보여주는 장 · Agent의 활용 관찰은 다음 장에서 확인">
            <a:extLst xmlns:a="http://schemas.openxmlformats.org/drawingml/2006/main">
              <a:ext uri="{FF2B5EF4-FFF2-40B4-BE49-F238E27FC236}">
                <a16:creationId xmlns:a16="http://schemas.microsoft.com/office/drawing/2014/main" id="{55A5457B-D776-4018-A3CF-E1A109CB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파일의 내용과 기록 위치를 보여주는 장 · Agent의 활용 관찰은 다음 장에서 확인</a:t>
            </a:r>
          </a:p>
        </p:txBody>
      </p:sp>
      <p:sp>
        <p:nvSpPr>
          <p:cNvPr id="7" name="반복해서 설명하던 내용을 저장소에 남겼다">
            <a:extLst xmlns:a="http://schemas.openxmlformats.org/drawingml/2006/main">
              <a:ext uri="{FF2B5EF4-FFF2-40B4-BE49-F238E27FC236}">
                <a16:creationId xmlns:a16="http://schemas.microsoft.com/office/drawing/2014/main" id="{07D14E0C-1522-4CC9-984A-F53ABB29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설명하던 내용을 저장소에 남겼다</a:t>
            </a:r>
          </a:p>
        </p:txBody>
      </p:sp>
      <p:sp>
        <p:nvSpPr>
          <p:cNvPr id="8" name="AGENTS.md">
            <a:extLst xmlns:a="http://schemas.openxmlformats.org/drawingml/2006/main">
              <a:ext uri="{FF2B5EF4-FFF2-40B4-BE49-F238E27FC236}">
                <a16:creationId xmlns:a16="http://schemas.microsoft.com/office/drawing/2014/main" id="{9686C7ED-65D1-47BF-BC3D-ADCF5C32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9" name="STATE-00-FIXED → STATE-01">
            <a:extLst xmlns:a="http://schemas.openxmlformats.org/drawingml/2006/main">
              <a:ext uri="{FF2B5EF4-FFF2-40B4-BE49-F238E27FC236}">
                <a16:creationId xmlns:a16="http://schemas.microsoft.com/office/drawing/2014/main" id="{D6CC100E-5959-4CC0-BBD5-4795EE27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57425"/>
            <a:ext cx="443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STATE-00-FIXED → STATE-01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B6EB04-8CFB-412B-9E7A-3E71C8F0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프로젝트 목적">
            <a:extLst xmlns:a="http://schemas.openxmlformats.org/drawingml/2006/main">
              <a:ext uri="{FF2B5EF4-FFF2-40B4-BE49-F238E27FC236}">
                <a16:creationId xmlns:a16="http://schemas.microsoft.com/office/drawing/2014/main" id="{B14A6535-A3DD-43A1-9507-111E9A0E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목적</a:t>
            </a:r>
          </a:p>
        </p:txBody>
      </p:sp>
      <p:sp>
        <p:nvSpPr>
          <p:cNvPr id="12" name="Local grayscale image-processing CLI using synthetic ASCII P">
            <a:extLst xmlns:a="http://schemas.openxmlformats.org/drawingml/2006/main">
              <a:ext uri="{FF2B5EF4-FFF2-40B4-BE49-F238E27FC236}">
                <a16:creationId xmlns:a16="http://schemas.microsoft.com/office/drawing/2014/main" id="{7FD4485A-E3CA-48CC-AA34-0CF71D3B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81300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Local 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grayscale image-processing CLI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 using synthetic ASCII PGM data.</a:t>
            </a:r>
          </a:p>
        </p:txBody>
      </p:sp>
      <p:sp>
        <p:nvSpPr>
          <p:cNvPr id="13" name="로컬 합성 이미지로 동작하는 흑백 처리 CLI">
            <a:extLst xmlns:a="http://schemas.openxmlformats.org/drawingml/2006/main">
              <a:ext uri="{FF2B5EF4-FFF2-40B4-BE49-F238E27FC236}">
                <a16:creationId xmlns:a16="http://schemas.microsoft.com/office/drawing/2014/main" id="{65DC89EE-5318-41B9-A652-FFE7F2209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86100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로컬 합성 이미지로 동작하는 흑백 처리 CLI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1A6950-B96C-4ACE-9C31-CF446B8C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실행 방법">
            <a:extLst xmlns:a="http://schemas.openxmlformats.org/drawingml/2006/main">
              <a:ext uri="{FF2B5EF4-FFF2-40B4-BE49-F238E27FC236}">
                <a16:creationId xmlns:a16="http://schemas.microsoft.com/office/drawing/2014/main" id="{CAA449D3-A6DF-4980-8D66-0353EA57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방법</a:t>
            </a:r>
          </a:p>
        </p:txBody>
      </p:sp>
      <p:sp>
        <p:nvSpPr>
          <p:cNvPr id="16" name="Use the prepared build and CLI commands documented in `READM">
            <a:extLst xmlns:a="http://schemas.openxmlformats.org/drawingml/2006/main">
              <a:ext uri="{FF2B5EF4-FFF2-40B4-BE49-F238E27FC236}">
                <a16:creationId xmlns:a16="http://schemas.microsoft.com/office/drawing/2014/main" id="{C626FBAE-81E9-4D79-8442-1E95E61E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514725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Use the prepared build and CLI commands documented in `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README.md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`.</a:t>
            </a:r>
          </a:p>
        </p:txBody>
      </p:sp>
      <p:sp>
        <p:nvSpPr>
          <p:cNvPr id="17" name="실행 방법은 README에서 확인">
            <a:extLst xmlns:a="http://schemas.openxmlformats.org/drawingml/2006/main">
              <a:ext uri="{FF2B5EF4-FFF2-40B4-BE49-F238E27FC236}">
                <a16:creationId xmlns:a16="http://schemas.microsoft.com/office/drawing/2014/main" id="{467E8744-1D66-4DAD-B35E-39ADC5FC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9525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방법은 README에서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DCB5F9-7985-47E1-84BF-78AA6F86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테스트 명령">
            <a:extLst xmlns:a="http://schemas.openxmlformats.org/drawingml/2006/main">
              <a:ext uri="{FF2B5EF4-FFF2-40B4-BE49-F238E27FC236}">
                <a16:creationId xmlns:a16="http://schemas.microsoft.com/office/drawing/2014/main" id="{44293AE0-1138-4B6D-A4B1-6B26B40B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명령</a:t>
            </a:r>
          </a:p>
        </p:txBody>
      </p:sp>
      <p:sp>
        <p:nvSpPr>
          <p:cNvPr id="20" name="PYTHONPATH=src python3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2494BE0A-4E70-4266-86CB-53CA59A4E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48150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PYTHONPATH=src python3 -m unittest discover -s tests -v</a:t>
            </a:r>
          </a:p>
        </p:txBody>
      </p:sp>
      <p:sp>
        <p:nvSpPr>
          <p:cNvPr id="21" name="반복해서 쓸 테스트 명령">
            <a:extLst xmlns:a="http://schemas.openxmlformats.org/drawingml/2006/main">
              <a:ext uri="{FF2B5EF4-FFF2-40B4-BE49-F238E27FC236}">
                <a16:creationId xmlns:a16="http://schemas.microsoft.com/office/drawing/2014/main" id="{9D7FCA48-7E4D-4919-90A0-94439500D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52950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쓸 테스트 명령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1FAEA0-477B-429E-B98D-5DE1881D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기본 제약">
            <a:extLst xmlns:a="http://schemas.openxmlformats.org/drawingml/2006/main">
              <a:ext uri="{FF2B5EF4-FFF2-40B4-BE49-F238E27FC236}">
                <a16:creationId xmlns:a16="http://schemas.microsoft.com/office/drawing/2014/main" id="{D858F414-874E-444D-8108-7CEB22AB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기본 제약</a:t>
            </a:r>
          </a:p>
        </p:txBody>
      </p:sp>
      <p:sp>
        <p:nvSpPr>
          <p:cNvPr id="24" name="Keep changes scoped and verify relevant behavior.">
            <a:extLst xmlns:a="http://schemas.openxmlformats.org/drawingml/2006/main">
              <a:ext uri="{FF2B5EF4-FFF2-40B4-BE49-F238E27FC236}">
                <a16:creationId xmlns:a16="http://schemas.microsoft.com/office/drawing/2014/main" id="{45C1DEAB-B734-475C-9860-9BE14298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81575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Keep changes 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scoped and verify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 relevant behavior.</a:t>
            </a:r>
          </a:p>
        </p:txBody>
      </p:sp>
      <p:sp>
        <p:nvSpPr>
          <p:cNvPr id="25" name="범위를 지키고 관련 동작을 검증">
            <a:extLst xmlns:a="http://schemas.openxmlformats.org/drawingml/2006/main">
              <a:ext uri="{FF2B5EF4-FFF2-40B4-BE49-F238E27FC236}">
                <a16:creationId xmlns:a16="http://schemas.microsoft.com/office/drawing/2014/main" id="{A9EBB667-6194-42B5-9D12-53C6AC3D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86375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범위를 지키고 관련 동작을 검증</a:t>
            </a:r>
          </a:p>
        </p:txBody>
      </p:sp>
    </p:spTree>
    <p:extLst>
      <p:ext uri="{BB962C8B-B14F-4D97-AF65-F5344CB8AC3E}">
        <p14:creationId xmlns:p14="http://schemas.microsoft.com/office/powerpoint/2010/main" val="6503836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2 · 지침을 활용한 관찰">
            <a:extLst xmlns:a="http://schemas.openxmlformats.org/drawingml/2006/main">
              <a:ext uri="{FF2B5EF4-FFF2-40B4-BE49-F238E27FC236}">
                <a16:creationId xmlns:a16="http://schemas.microsoft.com/office/drawing/2014/main" id="{0C9A5F2C-C369-4A18-977C-9DFD5761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지침을 활용한 관찰</a:t>
            </a:r>
          </a:p>
        </p:txBody>
      </p:sp>
      <p:sp>
        <p:nvSpPr>
          <p:cNvPr id="2" name="S24">
            <a:extLst xmlns:a="http://schemas.openxmlformats.org/drawingml/2006/main">
              <a:ext uri="{FF2B5EF4-FFF2-40B4-BE49-F238E27FC236}">
                <a16:creationId xmlns:a16="http://schemas.microsoft.com/office/drawing/2014/main" id="{1347E4EA-C07A-4507-90EE-4788E41F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S24</a:t>
            </a:r>
          </a:p>
        </p:txBody>
      </p:sp>
      <p:sp>
        <p:nvSpPr>
          <p:cNvPr id="3" name="한 번의 사용에서 확인된 것">
            <a:extLst xmlns:a="http://schemas.openxmlformats.org/drawingml/2006/main">
              <a:ext uri="{FF2B5EF4-FFF2-40B4-BE49-F238E27FC236}">
                <a16:creationId xmlns:a16="http://schemas.microsoft.com/office/drawing/2014/main" id="{16EC2C65-3157-479A-BB5E-98986989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번의 사용에서 확인된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4D5812-16C4-414E-9538-9853987C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3 · Codex CLI 기록을 재구성 · 전체 테스트 11/11 PASS">
            <a:extLst xmlns:a="http://schemas.openxmlformats.org/drawingml/2006/main">
              <a:ext uri="{FF2B5EF4-FFF2-40B4-BE49-F238E27FC236}">
                <a16:creationId xmlns:a16="http://schemas.microsoft.com/office/drawing/2014/main" id="{1822A672-41D4-4898-89D5-FE59B796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TRIAL-003 · Codex CLI 기록을 재구성 · 전체 테스트 11/11 PASS</a:t>
            </a:r>
          </a:p>
        </p:txBody>
      </p:sp>
      <p:sp>
        <p:nvSpPr>
          <p:cNvPr id="6" name="Personal/global Skills도 실행됨 · AGENTS.md만의 독립적인 효과로 해석하지 않음">
            <a:extLst xmlns:a="http://schemas.openxmlformats.org/drawingml/2006/main">
              <a:ext uri="{FF2B5EF4-FFF2-40B4-BE49-F238E27FC236}">
                <a16:creationId xmlns:a16="http://schemas.microsoft.com/office/drawing/2014/main" id="{82AC70B8-F49B-40C2-8736-B58F2ABC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Personal/global Skills도 실행됨 · AGENTS.md만의 독립적인 효과로 해석하지 않음</a:t>
            </a:r>
          </a:p>
        </p:txBody>
      </p:sp>
      <p:sp>
        <p:nvSpPr>
          <p:cNvPr id="7" name="요청">
            <a:extLst xmlns:a="http://schemas.openxmlformats.org/drawingml/2006/main">
              <a:ext uri="{FF2B5EF4-FFF2-40B4-BE49-F238E27FC236}">
                <a16:creationId xmlns:a16="http://schemas.microsoft.com/office/drawing/2014/main" id="{89CAE0B1-902D-4D38-B013-72A8F4FC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F48D44-4D82-4FEB-ADD7-D25A614B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읽은 파일">
            <a:extLst xmlns:a="http://schemas.openxmlformats.org/drawingml/2006/main">
              <a:ext uri="{FF2B5EF4-FFF2-40B4-BE49-F238E27FC236}">
                <a16:creationId xmlns:a16="http://schemas.microsoft.com/office/drawing/2014/main" id="{3F65B181-3398-4EC6-BAE6-4455A345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읽은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90169F-36CC-4704-84C2-0D3E6324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실행 기록">
            <a:extLst xmlns:a="http://schemas.openxmlformats.org/drawingml/2006/main">
              <a:ext uri="{FF2B5EF4-FFF2-40B4-BE49-F238E27FC236}">
                <a16:creationId xmlns:a16="http://schemas.microsoft.com/office/drawing/2014/main" id="{83DEB800-689A-435F-A850-0DC92C8A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기록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1A898-2425-4398-A86A-FD2985EC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README만 수정&#10;테스트 명령은 없음">
            <a:extLst xmlns:a="http://schemas.openxmlformats.org/drawingml/2006/main">
              <a:ext uri="{FF2B5EF4-FFF2-40B4-BE49-F238E27FC236}">
                <a16:creationId xmlns:a16="http://schemas.microsoft.com/office/drawing/2014/main" id="{864C8771-7B09-4A7F-AAC9-E84F4E6C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14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README만 수정</a:t>
            </a:r>
          </a:p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명령은 없음</a:t>
            </a:r>
          </a:p>
        </p:txBody>
      </p:sp>
      <p:sp>
        <p:nvSpPr>
          <p:cNvPr id="14" name="AGENTS.md">
            <a:extLst xmlns:a="http://schemas.openxmlformats.org/drawingml/2006/main">
              <a:ext uri="{FF2B5EF4-FFF2-40B4-BE49-F238E27FC236}">
                <a16:creationId xmlns:a16="http://schemas.microsoft.com/office/drawing/2014/main" id="{B621C344-34B3-480D-B5FB-1E37B7E1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76550"/>
            <a:ext cx="3314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15" name="기록된 테스트&#10;명령을 사용">
            <a:extLst xmlns:a="http://schemas.openxmlformats.org/drawingml/2006/main">
              <a:ext uri="{FF2B5EF4-FFF2-40B4-BE49-F238E27FC236}">
                <a16:creationId xmlns:a16="http://schemas.microsoft.com/office/drawing/2014/main" id="{6A463967-EA28-46EE-B7D2-54F86E79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33775"/>
            <a:ext cx="3314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기록된 테스트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명령을 사용</a:t>
            </a:r>
          </a:p>
        </p:txBody>
      </p:sp>
      <p:sp>
        <p:nvSpPr>
          <p:cNvPr id="16" name="전체 테스트">
            <a:extLst xmlns:a="http://schemas.openxmlformats.org/drawingml/2006/main">
              <a:ext uri="{FF2B5EF4-FFF2-40B4-BE49-F238E27FC236}">
                <a16:creationId xmlns:a16="http://schemas.microsoft.com/office/drawing/2014/main" id="{DFFB7E5F-0E6B-46A4-8F2C-BEC9C6B0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76550"/>
            <a:ext cx="331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</a:t>
            </a:r>
          </a:p>
        </p:txBody>
      </p:sp>
      <p:sp>
        <p:nvSpPr>
          <p:cNvPr id="17" name="11 / 11">
            <a:extLst xmlns:a="http://schemas.openxmlformats.org/drawingml/2006/main">
              <a:ext uri="{FF2B5EF4-FFF2-40B4-BE49-F238E27FC236}">
                <a16:creationId xmlns:a16="http://schemas.microsoft.com/office/drawing/2014/main" id="{1B78041B-5F71-47F4-B780-BFD6F3D9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76625"/>
            <a:ext cx="3314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11 / 11</a:t>
            </a:r>
          </a:p>
        </p:txBody>
      </p:sp>
      <p:sp>
        <p:nvSpPr>
          <p:cNvPr id="18" name="PASS">
            <a:extLst xmlns:a="http://schemas.openxmlformats.org/drawingml/2006/main">
              <a:ext uri="{FF2B5EF4-FFF2-40B4-BE49-F238E27FC236}">
                <a16:creationId xmlns:a16="http://schemas.microsoft.com/office/drawing/2014/main" id="{9989F46A-02B6-4273-89CA-589871CE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05275"/>
            <a:ext cx="3314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3A5E1B-E60E-44AC-8781-EE83D3B5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190875"/>
            <a:ext cx="2857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B0FFB3-3900-406E-B56D-3EB4FB67C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90875"/>
            <a:ext cx="2857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EB1658-5C0C-4874-BE36-A7BCA768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README-only 범위는 작업 요청에도 명시돼 있었다">
            <a:extLst xmlns:a="http://schemas.openxmlformats.org/drawingml/2006/main">
              <a:ext uri="{FF2B5EF4-FFF2-40B4-BE49-F238E27FC236}">
                <a16:creationId xmlns:a16="http://schemas.microsoft.com/office/drawing/2014/main" id="{E605644B-4ABC-4189-8B2E-E5AFDE52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README-only 범위는 작업 요청에도 명시돼 있었다</a:t>
            </a:r>
          </a:p>
        </p:txBody>
      </p:sp>
    </p:spTree>
    <p:extLst>
      <p:ext uri="{BB962C8B-B14F-4D97-AF65-F5344CB8AC3E}">
        <p14:creationId xmlns:p14="http://schemas.microsoft.com/office/powerpoint/2010/main" val="7859390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2 · 정보의 범위와 수명">
            <a:extLst xmlns:a="http://schemas.openxmlformats.org/drawingml/2006/main">
              <a:ext uri="{FF2B5EF4-FFF2-40B4-BE49-F238E27FC236}">
                <a16:creationId xmlns:a16="http://schemas.microsoft.com/office/drawing/2014/main" id="{E7E6C23F-AB88-4A81-889C-120F4173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정보의 범위와 수명</a:t>
            </a:r>
          </a:p>
        </p:txBody>
      </p:sp>
      <p:sp>
        <p:nvSpPr>
          <p:cNvPr id="2" name="S25">
            <a:extLst xmlns:a="http://schemas.openxmlformats.org/drawingml/2006/main">
              <a:ext uri="{FF2B5EF4-FFF2-40B4-BE49-F238E27FC236}">
                <a16:creationId xmlns:a16="http://schemas.microsoft.com/office/drawing/2014/main" id="{B2B9AD93-36B1-432B-887D-E81DB5D5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S25</a:t>
            </a:r>
          </a:p>
        </p:txBody>
      </p:sp>
      <p:sp>
        <p:nvSpPr>
          <p:cNvPr id="3" name="Task Prompt와 Project Context">
            <a:extLst xmlns:a="http://schemas.openxmlformats.org/drawingml/2006/main">
              <a:ext uri="{FF2B5EF4-FFF2-40B4-BE49-F238E27FC236}">
                <a16:creationId xmlns:a16="http://schemas.microsoft.com/office/drawing/2014/main" id="{4F78E699-79E9-4BD3-84CE-D7ECE364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Prompt와 Project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A27EE1-C293-495B-9BED-B1B84562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분 · 현재 목표와 지속되는 프로젝트 사실">
            <a:extLst xmlns:a="http://schemas.openxmlformats.org/drawingml/2006/main">
              <a:ext uri="{FF2B5EF4-FFF2-40B4-BE49-F238E27FC236}">
                <a16:creationId xmlns:a16="http://schemas.microsoft.com/office/drawing/2014/main" id="{528D3C6D-BA85-4329-A025-EC53914F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구분 · 현재 목표와 지속되는 프로젝트 사실</a:t>
            </a:r>
          </a:p>
        </p:txBody>
      </p:sp>
      <p:sp>
        <p:nvSpPr>
          <p:cNvPr id="6" name="C++에서도 프로젝트 공통 제약과 이번 알고리즘 변경 조건은 범위가 다를 수 있다">
            <a:extLst xmlns:a="http://schemas.openxmlformats.org/drawingml/2006/main">
              <a:ext uri="{FF2B5EF4-FFF2-40B4-BE49-F238E27FC236}">
                <a16:creationId xmlns:a16="http://schemas.microsoft.com/office/drawing/2014/main" id="{BC10FCAE-5A27-4BEC-8911-649F0281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C++에서도 프로젝트 공통 제약과 이번 알고리즘 변경 조건은 범위가 다를 수 있다</a:t>
            </a:r>
          </a:p>
        </p:txBody>
      </p:sp>
      <p:sp>
        <p:nvSpPr>
          <p:cNvPr id="7" name="방금 본 기록을 범위와 수명으로 읽어보면">
            <a:extLst xmlns:a="http://schemas.openxmlformats.org/drawingml/2006/main">
              <a:ext uri="{FF2B5EF4-FFF2-40B4-BE49-F238E27FC236}">
                <a16:creationId xmlns:a16="http://schemas.microsoft.com/office/drawing/2014/main" id="{9D56D658-1DA0-42A5-820C-DE236E07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방금 본 기록을 범위와 수명으로 읽어보면</a:t>
            </a:r>
          </a:p>
        </p:txBody>
      </p:sp>
      <p:sp>
        <p:nvSpPr>
          <p:cNvPr id="8" name="Task Prompt">
            <a:extLst xmlns:a="http://schemas.openxmlformats.org/drawingml/2006/main">
              <a:ext uri="{FF2B5EF4-FFF2-40B4-BE49-F238E27FC236}">
                <a16:creationId xmlns:a16="http://schemas.microsoft.com/office/drawing/2014/main" id="{CCA66B17-8937-4E1B-BF07-55DDD54F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491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</p:txBody>
      </p:sp>
      <p:sp>
        <p:nvSpPr>
          <p:cNvPr id="9" name="Project Context">
            <a:extLst xmlns:a="http://schemas.openxmlformats.org/drawingml/2006/main">
              <a:ext uri="{FF2B5EF4-FFF2-40B4-BE49-F238E27FC236}">
                <a16:creationId xmlns:a16="http://schemas.microsoft.com/office/drawing/2014/main" id="{AF53BCDA-5650-4BDD-8D30-BDF414D6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7652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13A52E-4DDD-4FBD-8CE2-EA5E3D47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E46D59-E35D-4DFA-9E91-64E6DB22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86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지금 원하는 결과">
            <a:extLst xmlns:a="http://schemas.openxmlformats.org/drawingml/2006/main">
              <a:ext uri="{FF2B5EF4-FFF2-40B4-BE49-F238E27FC236}">
                <a16:creationId xmlns:a16="http://schemas.microsoft.com/office/drawing/2014/main" id="{4B36D5E2-6FC5-41E1-B6E4-C34FDC91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491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지금 원하는 결과</a:t>
            </a:r>
          </a:p>
        </p:txBody>
      </p:sp>
      <p:sp>
        <p:nvSpPr>
          <p:cNvPr id="13" name="계속 참이어야 할 사실">
            <a:extLst xmlns:a="http://schemas.openxmlformats.org/drawingml/2006/main">
              <a:ext uri="{FF2B5EF4-FFF2-40B4-BE49-F238E27FC236}">
                <a16:creationId xmlns:a16="http://schemas.microsoft.com/office/drawing/2014/main" id="{5CFF9341-9A0C-4AB0-A2C8-9356C296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57575"/>
            <a:ext cx="487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참이어야 할 사실</a:t>
            </a:r>
          </a:p>
        </p:txBody>
      </p:sp>
      <p:sp>
        <p:nvSpPr>
          <p:cNvPr id="14" name="crop 경계 버그 수정&#10;이번에는 README만 변경">
            <a:extLst xmlns:a="http://schemas.openxmlformats.org/drawingml/2006/main">
              <a:ext uri="{FF2B5EF4-FFF2-40B4-BE49-F238E27FC236}">
                <a16:creationId xmlns:a16="http://schemas.microsoft.com/office/drawing/2014/main" id="{8C35C97C-B7F6-408A-B42A-615BBE43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49149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버그 수정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README만 변경</a:t>
            </a:r>
          </a:p>
        </p:txBody>
      </p:sp>
      <p:sp>
        <p:nvSpPr>
          <p:cNvPr id="15" name="프로젝트의 테스트 명령&#10;의존성 추가에는 작업상 근거 필요">
            <a:extLst xmlns:a="http://schemas.openxmlformats.org/drawingml/2006/main">
              <a:ext uri="{FF2B5EF4-FFF2-40B4-BE49-F238E27FC236}">
                <a16:creationId xmlns:a16="http://schemas.microsoft.com/office/drawing/2014/main" id="{E284939D-1830-4659-B541-A99D100B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1925"/>
            <a:ext cx="4876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테스트 명령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작업상 근거 필요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C83BD8-BB62-41CC-8AFD-A2E8E4D9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49149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88040C-692E-41FC-814D-60B770222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0"/>
            <a:ext cx="4876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다음 작업에서는 목표가 달라짐">
            <a:extLst xmlns:a="http://schemas.openxmlformats.org/drawingml/2006/main">
              <a:ext uri="{FF2B5EF4-FFF2-40B4-BE49-F238E27FC236}">
                <a16:creationId xmlns:a16="http://schemas.microsoft.com/office/drawing/2014/main" id="{73218DCA-1089-46DC-B074-18E12AE5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461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작업에서는 목표가 달라짐</a:t>
            </a:r>
          </a:p>
        </p:txBody>
      </p:sp>
      <p:sp>
        <p:nvSpPr>
          <p:cNvPr id="19" name="여러 작업에서 다시 참고">
            <a:extLst xmlns:a="http://schemas.openxmlformats.org/drawingml/2006/main">
              <a:ext uri="{FF2B5EF4-FFF2-40B4-BE49-F238E27FC236}">
                <a16:creationId xmlns:a16="http://schemas.microsoft.com/office/drawing/2014/main" id="{74FF9001-6459-4A86-9000-0C32C9B7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여러 작업에서 다시 참고</a:t>
            </a:r>
          </a:p>
        </p:txBody>
      </p:sp>
    </p:spTree>
    <p:extLst>
      <p:ext uri="{BB962C8B-B14F-4D97-AF65-F5344CB8AC3E}">
        <p14:creationId xmlns:p14="http://schemas.microsoft.com/office/powerpoint/2010/main" val="5636311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2 · Context가 쌓이는 과정">
            <a:extLst xmlns:a="http://schemas.openxmlformats.org/drawingml/2006/main">
              <a:ext uri="{FF2B5EF4-FFF2-40B4-BE49-F238E27FC236}">
                <a16:creationId xmlns:a16="http://schemas.microsoft.com/office/drawing/2014/main" id="{3854A179-C0AE-4BAA-B3E7-589D7EF4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Context가 쌓이는 과정</a:t>
            </a:r>
          </a:p>
        </p:txBody>
      </p:sp>
      <p:sp>
        <p:nvSpPr>
          <p:cNvPr id="2" name="S26">
            <a:extLst xmlns:a="http://schemas.openxmlformats.org/drawingml/2006/main">
              <a:ext uri="{FF2B5EF4-FFF2-40B4-BE49-F238E27FC236}">
                <a16:creationId xmlns:a16="http://schemas.microsoft.com/office/drawing/2014/main" id="{226F7C90-9009-4A16-8760-D21FDE3D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S26</a:t>
            </a:r>
          </a:p>
        </p:txBody>
      </p:sp>
      <p:sp>
        <p:nvSpPr>
          <p:cNvPr id="3" name="정확한 정보도 계속 늘어난다">
            <a:extLst xmlns:a="http://schemas.openxmlformats.org/drawingml/2006/main">
              <a:ext uri="{FF2B5EF4-FFF2-40B4-BE49-F238E27FC236}">
                <a16:creationId xmlns:a16="http://schemas.microsoft.com/office/drawing/2014/main" id="{596D0212-DCAF-4B08-8DA1-AE092B13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정확한 정보도 계속 늘어난다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35FBF-16FC-427B-9DF3-94B86CEE4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1 → STATE-02 · 실제 AGENTS.md 상태 비교">
            <a:extLst xmlns:a="http://schemas.openxmlformats.org/drawingml/2006/main">
              <a:ext uri="{FF2B5EF4-FFF2-40B4-BE49-F238E27FC236}">
                <a16:creationId xmlns:a16="http://schemas.microsoft.com/office/drawing/2014/main" id="{9555D26E-71B8-4297-9258-5F1B386D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STATE-01 → STATE-02 · 실제 AGENTS.md 상태 비교</a:t>
            </a:r>
          </a:p>
        </p:txBody>
      </p:sp>
      <p:sp>
        <p:nvSpPr>
          <p:cNvPr id="6" name="문서 크기는 상태 식별 정보 · Context 증가가 실패를 일으켰다는 근거는 아님">
            <a:extLst xmlns:a="http://schemas.openxmlformats.org/drawingml/2006/main">
              <a:ext uri="{FF2B5EF4-FFF2-40B4-BE49-F238E27FC236}">
                <a16:creationId xmlns:a16="http://schemas.microsoft.com/office/drawing/2014/main" id="{6CC7A320-1F12-41DC-AE76-3941B33C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문서 크기는 상태 식별 정보 · Context 증가가 실패를 일으켰다는 근거는 아님</a:t>
            </a:r>
          </a:p>
        </p:txBody>
      </p:sp>
      <p:sp>
        <p:nvSpPr>
          <p:cNvPr id="7" name="STATE-01">
            <a:extLst xmlns:a="http://schemas.openxmlformats.org/drawingml/2006/main">
              <a:ext uri="{FF2B5EF4-FFF2-40B4-BE49-F238E27FC236}">
                <a16:creationId xmlns:a16="http://schemas.microsoft.com/office/drawing/2014/main" id="{BC4BB88E-ADF2-4958-83A3-CF737B5D0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8" name="목적 · 실행 · 테스트&#10;기본 제약">
            <a:extLst xmlns:a="http://schemas.openxmlformats.org/drawingml/2006/main">
              <a:ext uri="{FF2B5EF4-FFF2-40B4-BE49-F238E27FC236}">
                <a16:creationId xmlns:a16="http://schemas.microsoft.com/office/drawing/2014/main" id="{8CD0EB31-4555-480B-8A37-862B7A57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295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목적 · 실행 · 테스트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기본 제약</a:t>
            </a:r>
          </a:p>
        </p:txBody>
      </p:sp>
      <p:sp>
        <p:nvSpPr>
          <p:cNvPr id="9" name="15줄 · 567 bytes">
            <a:extLst xmlns:a="http://schemas.openxmlformats.org/drawingml/2006/main">
              <a:ext uri="{FF2B5EF4-FFF2-40B4-BE49-F238E27FC236}">
                <a16:creationId xmlns:a16="http://schemas.microsoft.com/office/drawing/2014/main" id="{4792B5C7-95CD-4EDC-9F2C-398317A8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15줄 · 567 bytes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32AC67-F35A-44FE-A5D1-0A90B16FC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76575"/>
            <a:ext cx="4762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STATE-02에 추가된 실제 정보">
            <a:extLst xmlns:a="http://schemas.openxmlformats.org/drawingml/2006/main">
              <a:ext uri="{FF2B5EF4-FFF2-40B4-BE49-F238E27FC236}">
                <a16:creationId xmlns:a16="http://schemas.microsoft.com/office/drawing/2014/main" id="{D5553769-EE02-47E6-9410-0475636F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0275"/>
            <a:ext cx="6972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STATE-02에 추가된 실제 정보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C0CA80-BA53-4100-B63D-678FFD0C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4320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처리 순서">
            <a:extLst xmlns:a="http://schemas.openxmlformats.org/drawingml/2006/main">
              <a:ext uri="{FF2B5EF4-FFF2-40B4-BE49-F238E27FC236}">
                <a16:creationId xmlns:a16="http://schemas.microsoft.com/office/drawing/2014/main" id="{F705FD7B-06AD-495C-A002-8D9B808D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38450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처리 순서</a:t>
            </a:r>
          </a:p>
        </p:txBody>
      </p:sp>
      <p:sp>
        <p:nvSpPr>
          <p:cNvPr id="14" name="load → normalize → … → write">
            <a:extLst xmlns:a="http://schemas.openxmlformats.org/drawingml/2006/main">
              <a:ext uri="{FF2B5EF4-FFF2-40B4-BE49-F238E27FC236}">
                <a16:creationId xmlns:a16="http://schemas.microsoft.com/office/drawing/2014/main" id="{DEA4935F-991B-46DE-AAF7-0177A50B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838450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load → normalize → … → write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B4A10D-298A-4498-975B-96A7A453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86125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이미지 계약">
            <a:extLst xmlns:a="http://schemas.openxmlformats.org/drawingml/2006/main">
              <a:ext uri="{FF2B5EF4-FFF2-40B4-BE49-F238E27FC236}">
                <a16:creationId xmlns:a16="http://schemas.microsoft.com/office/drawing/2014/main" id="{CD505B12-C6C7-4356-8961-C89CDC530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81375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이미지 계약</a:t>
            </a:r>
          </a:p>
        </p:txBody>
      </p:sp>
      <p:sp>
        <p:nvSpPr>
          <p:cNvPr id="17" name="crop: [x_start, x_end)">
            <a:extLst xmlns:a="http://schemas.openxmlformats.org/drawingml/2006/main">
              <a:ext uri="{FF2B5EF4-FFF2-40B4-BE49-F238E27FC236}">
                <a16:creationId xmlns:a16="http://schemas.microsoft.com/office/drawing/2014/main" id="{5F2D75F2-D25F-49E9-8A8E-10001114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381375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crop: [x_start, x_end)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B9618B-F836-449B-B4DA-35741C86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2905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테스트 구조">
            <a:extLst xmlns:a="http://schemas.openxmlformats.org/drawingml/2006/main">
              <a:ext uri="{FF2B5EF4-FFF2-40B4-BE49-F238E27FC236}">
                <a16:creationId xmlns:a16="http://schemas.microsoft.com/office/drawing/2014/main" id="{87CC6F36-1D11-44EA-91B0-8DA3A204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924300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구조</a:t>
            </a:r>
          </a:p>
        </p:txBody>
      </p:sp>
      <p:sp>
        <p:nvSpPr>
          <p:cNvPr id="20" name="tests/test_pipeline.py">
            <a:extLst xmlns:a="http://schemas.openxmlformats.org/drawingml/2006/main">
              <a:ext uri="{FF2B5EF4-FFF2-40B4-BE49-F238E27FC236}">
                <a16:creationId xmlns:a16="http://schemas.microsoft.com/office/drawing/2014/main" id="{114717AD-CEDB-48C6-9A6B-4E958FA9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924300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tests/test_pipeline.py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6B705B-E797-4883-9C17-307BF573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71975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CLI 출력">
            <a:extLst xmlns:a="http://schemas.openxmlformats.org/drawingml/2006/main">
              <a:ext uri="{FF2B5EF4-FFF2-40B4-BE49-F238E27FC236}">
                <a16:creationId xmlns:a16="http://schemas.microsoft.com/office/drawing/2014/main" id="{A6777AC0-3146-4628-992C-58E5FE98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67225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출력</a:t>
            </a:r>
          </a:p>
        </p:txBody>
      </p:sp>
      <p:sp>
        <p:nvSpPr>
          <p:cNvPr id="23" name="width · height · pixel_count …">
            <a:extLst xmlns:a="http://schemas.openxmlformats.org/drawingml/2006/main">
              <a:ext uri="{FF2B5EF4-FFF2-40B4-BE49-F238E27FC236}">
                <a16:creationId xmlns:a16="http://schemas.microsoft.com/office/drawing/2014/main" id="{8FAF67DB-1C97-4108-8062-B16CC926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67225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width · height · pixel_count …</a:t>
            </a:r>
          </a:p>
        </p:txBody>
      </p:sp>
      <p:sp>
        <p:nvSpPr>
          <p:cNvPr id="24" name="32줄 · 1,303 bytes">
            <a:extLst xmlns:a="http://schemas.openxmlformats.org/drawingml/2006/main">
              <a:ext uri="{FF2B5EF4-FFF2-40B4-BE49-F238E27FC236}">
                <a16:creationId xmlns:a16="http://schemas.microsoft.com/office/drawing/2014/main" id="{8F715417-6C4F-4598-8EDC-220CC5F6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067300"/>
            <a:ext cx="6972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32줄 · 1,303 bytes</a:t>
            </a:r>
          </a:p>
        </p:txBody>
      </p:sp>
      <p:sp>
        <p:nvSpPr>
          <p:cNvPr id="25" name="이번 Task에도 필요할까?">
            <a:extLst xmlns:a="http://schemas.openxmlformats.org/drawingml/2006/main">
              <a:ext uri="{FF2B5EF4-FFF2-40B4-BE49-F238E27FC236}">
                <a16:creationId xmlns:a16="http://schemas.microsoft.com/office/drawing/2014/main" id="{B42252D3-A534-499B-9260-1190EA38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Task에도 필요할까?</a:t>
            </a:r>
          </a:p>
        </p:txBody>
      </p:sp>
    </p:spTree>
    <p:extLst>
      <p:ext uri="{BB962C8B-B14F-4D97-AF65-F5344CB8AC3E}">
        <p14:creationId xmlns:p14="http://schemas.microsoft.com/office/powerpoint/2010/main" val="18277424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2 · 관련성을 확인하기">
            <a:extLst xmlns:a="http://schemas.openxmlformats.org/drawingml/2006/main">
              <a:ext uri="{FF2B5EF4-FFF2-40B4-BE49-F238E27FC236}">
                <a16:creationId xmlns:a16="http://schemas.microsoft.com/office/drawing/2014/main" id="{A489AE81-20E4-4655-BE49-2225D24F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관련성을 확인하기</a:t>
            </a:r>
          </a:p>
        </p:txBody>
      </p:sp>
      <p:sp>
        <p:nvSpPr>
          <p:cNvPr id="2" name="S27">
            <a:extLst xmlns:a="http://schemas.openxmlformats.org/drawingml/2006/main">
              <a:ext uri="{FF2B5EF4-FFF2-40B4-BE49-F238E27FC236}">
                <a16:creationId xmlns:a16="http://schemas.microsoft.com/office/drawing/2014/main" id="{D8727049-0B95-42A9-9E20-5649602A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S27</a:t>
            </a:r>
          </a:p>
        </p:txBody>
      </p:sp>
      <p:sp>
        <p:nvSpPr>
          <p:cNvPr id="3" name="정확하지만 이번 Task에는 불필요한 정보">
            <a:extLst xmlns:a="http://schemas.openxmlformats.org/drawingml/2006/main">
              <a:ext uri="{FF2B5EF4-FFF2-40B4-BE49-F238E27FC236}">
                <a16:creationId xmlns:a16="http://schemas.microsoft.com/office/drawing/2014/main" id="{AE5FE2C9-FBF0-4481-ACD9-079A4A11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정확하지만 이번 Task에는 불필요한 정보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85E40B-A55D-406C-AD19-27A0BE2E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4 · README의 build tools 안내를 명확히 하는 작업">
            <a:extLst xmlns:a="http://schemas.openxmlformats.org/drawingml/2006/main">
              <a:ext uri="{FF2B5EF4-FFF2-40B4-BE49-F238E27FC236}">
                <a16:creationId xmlns:a16="http://schemas.microsoft.com/office/drawing/2014/main" id="{F8282655-73AF-4A66-B5C4-CFA76B13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TRIAL-004 · README의 build tools 안내를 명확히 하는 작업</a:t>
            </a:r>
          </a:p>
        </p:txBody>
      </p:sp>
      <p:sp>
        <p:nvSpPr>
          <p:cNvPr id="6" name="Agent 혼란과 Context 관련 실패는 관찰되지 않았다">
            <a:extLst xmlns:a="http://schemas.openxmlformats.org/drawingml/2006/main">
              <a:ext uri="{FF2B5EF4-FFF2-40B4-BE49-F238E27FC236}">
                <a16:creationId xmlns:a16="http://schemas.microsoft.com/office/drawing/2014/main" id="{853DADFA-BBBC-4EF0-8CED-E58C7088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 혼란과 Context 관련 실패는 관찰되지 않았다</a:t>
            </a:r>
          </a:p>
        </p:txBody>
      </p:sp>
      <p:sp>
        <p:nvSpPr>
          <p:cNvPr id="7" name="작업: README의 빌드 도구 안내를 고친다">
            <a:extLst xmlns:a="http://schemas.openxmlformats.org/drawingml/2006/main">
              <a:ext uri="{FF2B5EF4-FFF2-40B4-BE49-F238E27FC236}">
                <a16:creationId xmlns:a16="http://schemas.microsoft.com/office/drawing/2014/main" id="{9EF9122A-EF99-425F-850E-85179374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작업: README의 빌드 도구 안내를 고친다</a:t>
            </a:r>
          </a:p>
        </p:txBody>
      </p:sp>
      <p:sp>
        <p:nvSpPr>
          <p:cNvPr id="8" name="이번 질문과 직접 관련">
            <a:extLst xmlns:a="http://schemas.openxmlformats.org/drawingml/2006/main">
              <a:ext uri="{FF2B5EF4-FFF2-40B4-BE49-F238E27FC236}">
                <a16:creationId xmlns:a16="http://schemas.microsoft.com/office/drawing/2014/main" id="{BE5FEEED-0A98-4BEC-89D8-407191E0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질문과 직접 관련</a:t>
            </a:r>
          </a:p>
        </p:txBody>
      </p:sp>
      <p:sp>
        <p:nvSpPr>
          <p:cNvPr id="9" name="함께 있었지만 관련이 낮은 정보">
            <a:extLst xmlns:a="http://schemas.openxmlformats.org/drawingml/2006/main">
              <a:ext uri="{FF2B5EF4-FFF2-40B4-BE49-F238E27FC236}">
                <a16:creationId xmlns:a16="http://schemas.microsoft.com/office/drawing/2014/main" id="{DDA7E24C-7E68-4BC9-95F4-0EDE317A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337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있었지만 관련이 낮은 정보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D0ED7A-D12F-4BC2-9B4D-7AEF7CE5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27E83-4C15-4A56-ABA8-7A08A91C1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48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76FFA-60DD-42CA-8CC1-0CE04674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495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ADME&#10;pyproject.toml의 빌드 설정">
            <a:extLst xmlns:a="http://schemas.openxmlformats.org/drawingml/2006/main">
              <a:ext uri="{FF2B5EF4-FFF2-40B4-BE49-F238E27FC236}">
                <a16:creationId xmlns:a16="http://schemas.microsoft.com/office/drawing/2014/main" id="{878811C4-0654-4825-8ACC-41808AEE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0"/>
            <a:ext cx="4495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pyproject.toml의 빌드 설정</a:t>
            </a:r>
          </a:p>
        </p:txBody>
      </p:sp>
      <p:sp>
        <p:nvSpPr>
          <p:cNvPr id="14" name="crop / resize 계약&#10;이미지 처리 pipeline 세부사항">
            <a:extLst xmlns:a="http://schemas.openxmlformats.org/drawingml/2006/main">
              <a:ext uri="{FF2B5EF4-FFF2-40B4-BE49-F238E27FC236}">
                <a16:creationId xmlns:a16="http://schemas.microsoft.com/office/drawing/2014/main" id="{DF72FE77-D415-49E3-9EF8-3592FC28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crop / resize 계약</a:t>
            </a:r>
          </a:p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이미지 처리 pipeline 세부사항</a:t>
            </a:r>
          </a:p>
        </p:txBody>
      </p:sp>
      <p:sp>
        <p:nvSpPr>
          <p:cNvPr id="15" name="정확한 정보라도, 모든 질문에 필요한 것은 아니다">
            <a:extLst xmlns:a="http://schemas.openxmlformats.org/drawingml/2006/main">
              <a:ext uri="{FF2B5EF4-FFF2-40B4-BE49-F238E27FC236}">
                <a16:creationId xmlns:a16="http://schemas.microsoft.com/office/drawing/2014/main" id="{3F9CFDAF-0E5B-47D8-BF45-9115F27C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정확한 정보라도, 모든 질문에 필요한 것은 아니다</a:t>
            </a:r>
          </a:p>
        </p:txBody>
      </p:sp>
    </p:spTree>
    <p:extLst>
      <p:ext uri="{BB962C8B-B14F-4D97-AF65-F5344CB8AC3E}">
        <p14:creationId xmlns:p14="http://schemas.microsoft.com/office/powerpoint/2010/main" val="8248716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2 · 언제 필요한 정보인가">
            <a:extLst xmlns:a="http://schemas.openxmlformats.org/drawingml/2006/main">
              <a:ext uri="{FF2B5EF4-FFF2-40B4-BE49-F238E27FC236}">
                <a16:creationId xmlns:a16="http://schemas.microsoft.com/office/drawing/2014/main" id="{885951F0-2E87-48B6-997A-22ECA957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언제 필요한 정보인가</a:t>
            </a:r>
          </a:p>
        </p:txBody>
      </p:sp>
      <p:sp>
        <p:nvSpPr>
          <p:cNvPr id="2" name="S28">
            <a:extLst xmlns:a="http://schemas.openxmlformats.org/drawingml/2006/main">
              <a:ext uri="{FF2B5EF4-FFF2-40B4-BE49-F238E27FC236}">
                <a16:creationId xmlns:a16="http://schemas.microsoft.com/office/drawing/2014/main" id="{A30FB022-A774-4145-AA25-C36426F9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S28</a:t>
            </a:r>
          </a:p>
        </p:txBody>
      </p:sp>
      <p:sp>
        <p:nvSpPr>
          <p:cNvPr id="3" name="정보의 범위와 제공 시점">
            <a:extLst xmlns:a="http://schemas.openxmlformats.org/drawingml/2006/main">
              <a:ext uri="{FF2B5EF4-FFF2-40B4-BE49-F238E27FC236}">
                <a16:creationId xmlns:a16="http://schemas.microsoft.com/office/drawing/2014/main" id="{87547AD8-5D49-426F-85AF-52542CE9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정보의 범위와 제공 시점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831927-E966-4169-8D7F-A5D037B7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분류 모델 · OpenAI의 공식 기능 분류가 아님">
            <a:extLst xmlns:a="http://schemas.openxmlformats.org/drawingml/2006/main">
              <a:ext uri="{FF2B5EF4-FFF2-40B4-BE49-F238E27FC236}">
                <a16:creationId xmlns:a16="http://schemas.microsoft.com/office/drawing/2014/main" id="{78821E1C-454E-4BAE-8E03-5B77440D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분류 모델 · OpenAI의 공식 기능 분류가 아님</a:t>
            </a:r>
          </a:p>
        </p:txBody>
      </p:sp>
      <p:sp>
        <p:nvSpPr>
          <p:cNvPr id="6" name="성능 조사 절차는 설명을 위한 예시이며 STATE-02에 저장돼 있었다는 뜻이 아님">
            <a:extLst xmlns:a="http://schemas.openxmlformats.org/drawingml/2006/main">
              <a:ext uri="{FF2B5EF4-FFF2-40B4-BE49-F238E27FC236}">
                <a16:creationId xmlns:a16="http://schemas.microsoft.com/office/drawing/2014/main" id="{99337DFF-860F-43D9-B4D3-DD19D471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성능 조사 절차는 설명을 위한 예시이며 STATE-02에 저장돼 있었다는 뜻이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6D92A6-C090-433A-992D-48DC3B48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항상 알아야 할 안내">
            <a:extLst xmlns:a="http://schemas.openxmlformats.org/drawingml/2006/main">
              <a:ext uri="{FF2B5EF4-FFF2-40B4-BE49-F238E27FC236}">
                <a16:creationId xmlns:a16="http://schemas.microsoft.com/office/drawing/2014/main" id="{8C195765-57D2-4343-B699-013CB0B7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항상 알아야 할 안내</a:t>
            </a:r>
          </a:p>
        </p:txBody>
      </p:sp>
      <p:sp>
        <p:nvSpPr>
          <p:cNvPr id="9" name="프로젝트 목적 · 기본 제약">
            <a:extLst xmlns:a="http://schemas.openxmlformats.org/drawingml/2006/main">
              <a:ext uri="{FF2B5EF4-FFF2-40B4-BE49-F238E27FC236}">
                <a16:creationId xmlns:a16="http://schemas.microsoft.com/office/drawing/2014/main" id="{056FABF3-9A0B-47DC-AB85-48F82154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3812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 목적 · 기본 제약</a:t>
            </a:r>
          </a:p>
        </p:txBody>
      </p:sp>
      <p:sp>
        <p:nvSpPr>
          <p:cNvPr id="10" name="ALWAYS-ON">
            <a:extLst xmlns:a="http://schemas.openxmlformats.org/drawingml/2006/main">
              <a:ext uri="{FF2B5EF4-FFF2-40B4-BE49-F238E27FC236}">
                <a16:creationId xmlns:a16="http://schemas.microsoft.com/office/drawing/2014/main" id="{77F4B9D0-6743-473F-B260-8D740C48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ALWAYS-ON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59E8F4-B8F4-409D-A0CD-3258DDA4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질문에 따라 찾아볼 상세">
            <a:extLst xmlns:a="http://schemas.openxmlformats.org/drawingml/2006/main">
              <a:ext uri="{FF2B5EF4-FFF2-40B4-BE49-F238E27FC236}">
                <a16:creationId xmlns:a16="http://schemas.microsoft.com/office/drawing/2014/main" id="{8A5D9F0C-4B89-4C12-8D56-3EF1D4BB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질문에 따라 찾아볼 상세</a:t>
            </a:r>
          </a:p>
        </p:txBody>
      </p:sp>
      <p:sp>
        <p:nvSpPr>
          <p:cNvPr id="13" name="crop 계약 · 모듈 구조">
            <a:extLst xmlns:a="http://schemas.openxmlformats.org/drawingml/2006/main">
              <a:ext uri="{FF2B5EF4-FFF2-40B4-BE49-F238E27FC236}">
                <a16:creationId xmlns:a16="http://schemas.microsoft.com/office/drawing/2014/main" id="{7FEDE585-D1AF-4F57-A66C-367E779B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4861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· 모듈 구조</a:t>
            </a:r>
          </a:p>
        </p:txBody>
      </p:sp>
      <p:sp>
        <p:nvSpPr>
          <p:cNvPr id="14" name="ON-DEMAND">
            <a:extLst xmlns:a="http://schemas.openxmlformats.org/drawingml/2006/main">
              <a:ext uri="{FF2B5EF4-FFF2-40B4-BE49-F238E27FC236}">
                <a16:creationId xmlns:a16="http://schemas.microsoft.com/office/drawing/2014/main" id="{DC2CBD22-0E01-48F7-B197-B632352F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ON-DEMAND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DB3D00-4C65-4BBA-ADB3-F291CA0F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이런 일을 수행하는 방법">
            <a:extLst xmlns:a="http://schemas.openxmlformats.org/drawingml/2006/main">
              <a:ext uri="{FF2B5EF4-FFF2-40B4-BE49-F238E27FC236}">
                <a16:creationId xmlns:a16="http://schemas.microsoft.com/office/drawing/2014/main" id="{663D999A-89A5-4F5F-B404-3DF31F66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이런 일을 수행하는 방법</a:t>
            </a:r>
          </a:p>
        </p:txBody>
      </p:sp>
      <p:sp>
        <p:nvSpPr>
          <p:cNvPr id="17" name="변경 전 측정 → 조사 → 검증">
            <a:extLst xmlns:a="http://schemas.openxmlformats.org/drawingml/2006/main">
              <a:ext uri="{FF2B5EF4-FFF2-40B4-BE49-F238E27FC236}">
                <a16:creationId xmlns:a16="http://schemas.microsoft.com/office/drawing/2014/main" id="{DA1249E8-8C02-4E39-A3E1-86AE3E2A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5910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전 측정 → 조사 → 검증</a:t>
            </a:r>
          </a:p>
        </p:txBody>
      </p:sp>
      <p:sp>
        <p:nvSpPr>
          <p:cNvPr id="18" name="WORKFLOW">
            <a:extLst xmlns:a="http://schemas.openxmlformats.org/drawingml/2006/main">
              <a:ext uri="{FF2B5EF4-FFF2-40B4-BE49-F238E27FC236}">
                <a16:creationId xmlns:a16="http://schemas.microsoft.com/office/drawing/2014/main" id="{D799657C-A016-4116-BED1-37608A7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183865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ACT 2 · 연구가 답한 질문">
            <a:extLst xmlns:a="http://schemas.openxmlformats.org/drawingml/2006/main">
              <a:ext uri="{FF2B5EF4-FFF2-40B4-BE49-F238E27FC236}">
                <a16:creationId xmlns:a16="http://schemas.microsoft.com/office/drawing/2014/main" id="{D8F598BF-08F2-461F-BC13-B70445E4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연구가 답한 질문</a:t>
            </a:r>
          </a:p>
        </p:txBody>
      </p:sp>
      <p:sp>
        <p:nvSpPr>
          <p:cNvPr id="2" name="S29">
            <a:extLst xmlns:a="http://schemas.openxmlformats.org/drawingml/2006/main">
              <a:ext uri="{FF2B5EF4-FFF2-40B4-BE49-F238E27FC236}">
                <a16:creationId xmlns:a16="http://schemas.microsoft.com/office/drawing/2014/main" id="{7C7DDE25-56B8-4838-98C4-611EC55A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S29</a:t>
            </a:r>
          </a:p>
        </p:txBody>
      </p:sp>
      <p:sp>
        <p:nvSpPr>
          <p:cNvPr id="3" name="Long Context 연구가 말해주는 범위">
            <a:extLst xmlns:a="http://schemas.openxmlformats.org/drawingml/2006/main">
              <a:ext uri="{FF2B5EF4-FFF2-40B4-BE49-F238E27FC236}">
                <a16:creationId xmlns:a16="http://schemas.microsoft.com/office/drawing/2014/main" id="{CFEDE36B-F30F-42FA-9EF8-91FBE18D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Long Context 연구가 말해주는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6AF685-2DD5-4251-8484-56C9E183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Liu et al., Lost in the Middle, TACL 2024 · RepoQA, 2024">
            <a:extLst xmlns:a="http://schemas.openxmlformats.org/drawingml/2006/main">
              <a:ext uri="{FF2B5EF4-FFF2-40B4-BE49-F238E27FC236}">
                <a16:creationId xmlns:a16="http://schemas.microsoft.com/office/drawing/2014/main" id="{E0AC1266-9B40-4CE0-8D28-7E1DDDB1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Liu et al., Lost in the Middle, TACL 2024 · RepoQA, 2024</a:t>
            </a:r>
          </a:p>
        </p:txBody>
      </p:sp>
      <p:sp>
        <p:nvSpPr>
          <p:cNvPr id="6" name="특정 모델·과제의 결과 · 현재 Codex의 Repository coding 한계를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575120F0-A3DC-4341-BD55-D245F724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특정 모델·과제의 결과 · 현재 Codex의 Repository coding 한계를 입증하지 않음</a:t>
            </a:r>
          </a:p>
        </p:txBody>
      </p:sp>
      <p:sp>
        <p:nvSpPr>
          <p:cNvPr id="7" name="더 많은 Context가 항상 더 좋은 것은 아니다">
            <a:extLst xmlns:a="http://schemas.openxmlformats.org/drawingml/2006/main">
              <a:ext uri="{FF2B5EF4-FFF2-40B4-BE49-F238E27FC236}">
                <a16:creationId xmlns:a16="http://schemas.microsoft.com/office/drawing/2014/main" id="{C255FFAD-5412-4BC5-8E64-A84AAE96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더 많은 Context가 항상 더 좋은 것은 아니다</a:t>
            </a:r>
          </a:p>
        </p:txBody>
      </p:sp>
      <p:sp>
        <p:nvSpPr>
          <p:cNvPr id="8" name="Lost in the Middle">
            <a:extLst xmlns:a="http://schemas.openxmlformats.org/drawingml/2006/main">
              <a:ext uri="{FF2B5EF4-FFF2-40B4-BE49-F238E27FC236}">
                <a16:creationId xmlns:a16="http://schemas.microsoft.com/office/drawing/2014/main" id="{EDEFBA47-AD00-4A95-8451-312837C0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Lost in the Middle</a:t>
            </a:r>
          </a:p>
        </p:txBody>
      </p:sp>
      <p:sp>
        <p:nvSpPr>
          <p:cNvPr id="9" name="RepoQA">
            <a:extLst xmlns:a="http://schemas.openxmlformats.org/drawingml/2006/main">
              <a:ext uri="{FF2B5EF4-FFF2-40B4-BE49-F238E27FC236}">
                <a16:creationId xmlns:a16="http://schemas.microsoft.com/office/drawing/2014/main" id="{109AC242-0592-4223-86D2-E585D0A5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66975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RepoQA</a:t>
            </a:r>
          </a:p>
        </p:txBody>
      </p:sp>
      <p:sp>
        <p:nvSpPr>
          <p:cNvPr id="10" name="여러 문서의 질문 답변 · key-value 검색">
            <a:extLst xmlns:a="http://schemas.openxmlformats.org/drawingml/2006/main">
              <a:ext uri="{FF2B5EF4-FFF2-40B4-BE49-F238E27FC236}">
                <a16:creationId xmlns:a16="http://schemas.microsoft.com/office/drawing/2014/main" id="{F2DEBD02-52E5-4C60-A5E9-35D05AD2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문서의 질문 답변 · key-value 검색</a:t>
            </a:r>
          </a:p>
        </p:txBody>
      </p:sp>
      <p:sp>
        <p:nvSpPr>
          <p:cNvPr id="11" name="50개 Repository의 코드 검색 과제">
            <a:extLst xmlns:a="http://schemas.openxmlformats.org/drawingml/2006/main">
              <a:ext uri="{FF2B5EF4-FFF2-40B4-BE49-F238E27FC236}">
                <a16:creationId xmlns:a16="http://schemas.microsoft.com/office/drawing/2014/main" id="{9C799D5F-87DB-4F78-AD9C-F0DCABBA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50개 Repository의 코드 검색 과제</a:t>
            </a:r>
          </a:p>
        </p:txBody>
      </p:sp>
      <p:sp>
        <p:nvSpPr>
          <p:cNvPr id="12" name="관련 정보의 위치를 달리하는 구성">
            <a:extLst xmlns:a="http://schemas.openxmlformats.org/drawingml/2006/main">
              <a:ext uri="{FF2B5EF4-FFF2-40B4-BE49-F238E27FC236}">
                <a16:creationId xmlns:a16="http://schemas.microsoft.com/office/drawing/2014/main" id="{60A4A66C-22D7-4987-AE4B-5B6EDE5D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관련 정보의 위치를 달리하는 구성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B6EF48-3AAC-46F7-B284-DCFD5EE3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5EA05-C21B-43C5-A80D-2F4BD0C6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2DC1DE-9C7F-435A-A0A3-1953BE77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B50FA5-84EE-44A8-9418-35479276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6AB8B7-ECBD-4258-B8AD-E7ACC1E1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9320DB-6293-4249-8346-32C17B64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CBCD9E-C5A4-4C9A-BB84-B594E741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4E1B56-34C0-437A-98DD-216F9092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61111F-4F59-47D2-9F71-445CC479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7F4193-FA94-42F7-A924-46BC41CD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EC884C-CC1C-4F02-9BED-3CA56492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9A5D00-03ED-42FC-8EF0-CC8C7593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1BD259-E287-41F7-B7F6-FA0B9A06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C70330-AFA2-45F6-A07B-B27382EA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E63B72-EF51-438E-A08F-8CDE5EB6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질문">
            <a:extLst xmlns:a="http://schemas.openxmlformats.org/drawingml/2006/main">
              <a:ext uri="{FF2B5EF4-FFF2-40B4-BE49-F238E27FC236}">
                <a16:creationId xmlns:a16="http://schemas.microsoft.com/office/drawing/2014/main" id="{9419959F-4A6A-4EDE-978B-D793AD0F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81375"/>
            <a:ext cx="1085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질문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029475-FE3D-41A5-9DB9-9F443AFD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76625"/>
            <a:ext cx="342900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B5CB36-ED64-48F6-9C88-D51A4576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24225"/>
            <a:ext cx="31623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1" name="Repository의 코드">
            <a:extLst xmlns:a="http://schemas.openxmlformats.org/drawingml/2006/main">
              <a:ext uri="{FF2B5EF4-FFF2-40B4-BE49-F238E27FC236}">
                <a16:creationId xmlns:a16="http://schemas.microsoft.com/office/drawing/2014/main" id="{E9308571-7864-45FA-8B3E-26B35164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48050"/>
            <a:ext cx="2819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Repository의 코드</a:t>
            </a:r>
          </a:p>
        </p:txBody>
      </p:sp>
      <p:sp>
        <p:nvSpPr>
          <p:cNvPr id="32" name="관련 코드 찾기">
            <a:extLst xmlns:a="http://schemas.openxmlformats.org/drawingml/2006/main">
              <a:ext uri="{FF2B5EF4-FFF2-40B4-BE49-F238E27FC236}">
                <a16:creationId xmlns:a16="http://schemas.microsoft.com/office/drawing/2014/main" id="{2B2FD8CB-223D-44A2-A3BE-0B63F69F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05250"/>
            <a:ext cx="2819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 코드 찾기</a:t>
            </a:r>
          </a:p>
        </p:txBody>
      </p:sp>
      <p:sp>
        <p:nvSpPr>
          <p:cNvPr id="33" name="관련 정보의 위치가&#10;일부 조건에서 중요할 수 있다">
            <a:extLst xmlns:a="http://schemas.openxmlformats.org/drawingml/2006/main">
              <a:ext uri="{FF2B5EF4-FFF2-40B4-BE49-F238E27FC236}">
                <a16:creationId xmlns:a16="http://schemas.microsoft.com/office/drawing/2014/main" id="{F11519F3-9100-46E3-9353-B0C31606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정보의 위치가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일부 조건에서 중요할 수 있다</a:t>
            </a:r>
          </a:p>
        </p:txBody>
      </p:sp>
      <p:sp>
        <p:nvSpPr>
          <p:cNvPr id="34" name="관련 코드 정보를&#10;선택하고 찾는 능력을 평가">
            <a:extLst xmlns:a="http://schemas.openxmlformats.org/drawingml/2006/main">
              <a:ext uri="{FF2B5EF4-FFF2-40B4-BE49-F238E27FC236}">
                <a16:creationId xmlns:a16="http://schemas.microsoft.com/office/drawing/2014/main" id="{E39D85B5-7D32-4D62-8ADB-BD4FA679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52975"/>
            <a:ext cx="4876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코드 정보를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선택하고 찾는 능력을 평가</a:t>
            </a:r>
          </a:p>
        </p:txBody>
      </p:sp>
      <p:sp>
        <p:nvSpPr>
          <p:cNvPr id="35" name="aclanthology.org/2024.tacl-1.9/">
            <a:extLst xmlns:a="http://schemas.openxmlformats.org/drawingml/2006/main">
              <a:ext uri="{FF2B5EF4-FFF2-40B4-BE49-F238E27FC236}">
                <a16:creationId xmlns:a16="http://schemas.microsoft.com/office/drawing/2014/main" id="{A1131E0C-009C-4F26-87C2-219643FD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523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aclanthology.org/2024.tacl-1.9/</a:t>
            </a:r>
          </a:p>
        </p:txBody>
      </p:sp>
      <p:sp>
        <p:nvSpPr>
          <p:cNvPr id="36" name="arxiv.org/abs/2406.06025">
            <a:extLst xmlns:a="http://schemas.openxmlformats.org/drawingml/2006/main">
              <a:ext uri="{FF2B5EF4-FFF2-40B4-BE49-F238E27FC236}">
                <a16:creationId xmlns:a16="http://schemas.microsoft.com/office/drawing/2014/main" id="{CD693021-23C5-4EA7-873D-F66426C5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495925"/>
            <a:ext cx="4876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arxiv.org/abs/2406.06025</a:t>
            </a:r>
          </a:p>
        </p:txBody>
      </p:sp>
    </p:spTree>
    <p:extLst>
      <p:ext uri="{BB962C8B-B14F-4D97-AF65-F5344CB8AC3E}">
        <p14:creationId xmlns:p14="http://schemas.microsoft.com/office/powerpoint/2010/main" val="20705453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2 · Context를 찾게 하는 설계">
            <a:extLst xmlns:a="http://schemas.openxmlformats.org/drawingml/2006/main">
              <a:ext uri="{FF2B5EF4-FFF2-40B4-BE49-F238E27FC236}">
                <a16:creationId xmlns:a16="http://schemas.microsoft.com/office/drawing/2014/main" id="{E30D0B5A-A38B-450E-95C0-6141A5D9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Context를 찾게 하는 설계</a:t>
            </a:r>
          </a:p>
        </p:txBody>
      </p:sp>
      <p:sp>
        <p:nvSpPr>
          <p:cNvPr id="2" name="S30">
            <a:extLst xmlns:a="http://schemas.openxmlformats.org/drawingml/2006/main">
              <a:ext uri="{FF2B5EF4-FFF2-40B4-BE49-F238E27FC236}">
                <a16:creationId xmlns:a16="http://schemas.microsoft.com/office/drawing/2014/main" id="{27182EA4-A60E-48CA-ACE2-8868AACC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S30</a:t>
            </a:r>
          </a:p>
        </p:txBody>
      </p:sp>
      <p:sp>
        <p:nvSpPr>
          <p:cNvPr id="3" name="필요한 상세 정보로 가는 길">
            <a:extLst xmlns:a="http://schemas.openxmlformats.org/drawingml/2006/main">
              <a:ext uri="{FF2B5EF4-FFF2-40B4-BE49-F238E27FC236}">
                <a16:creationId xmlns:a16="http://schemas.microsoft.com/office/drawing/2014/main" id="{362351E9-5144-432E-8AAD-2D9B58B2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상세 정보로 가는 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7D347-BAB1-4685-9D3C-F237B984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Routing 모델 · 실제 문서 접근 결과는 다음 구간에서 확인">
            <a:extLst xmlns:a="http://schemas.openxmlformats.org/drawingml/2006/main">
              <a:ext uri="{FF2B5EF4-FFF2-40B4-BE49-F238E27FC236}">
                <a16:creationId xmlns:a16="http://schemas.microsoft.com/office/drawing/2014/main" id="{A0479C29-398A-4154-9B30-7F8DB7E6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Routing 모델 · 실제 문서 접근 결과는 다음 구간에서 확인</a:t>
            </a:r>
          </a:p>
        </p:txBody>
      </p:sp>
      <p:sp>
        <p:nvSpPr>
          <p:cNvPr id="6" name="검색 성능 향상이나 토큰 절약을 입증한 그림이 아님">
            <a:extLst xmlns:a="http://schemas.openxmlformats.org/drawingml/2006/main">
              <a:ext uri="{FF2B5EF4-FFF2-40B4-BE49-F238E27FC236}">
                <a16:creationId xmlns:a16="http://schemas.microsoft.com/office/drawing/2014/main" id="{D294B2F2-D586-40B9-A222-EB58A6AB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검색 성능 향상이나 토큰 절약을 입증한 그림이 아님</a:t>
            </a:r>
          </a:p>
        </p:txBody>
      </p:sp>
      <p:sp>
        <p:nvSpPr>
          <p:cNvPr id="7" name="어떤 질문에서 어떤 상세 정보가 필요할까?">
            <a:extLst xmlns:a="http://schemas.openxmlformats.org/drawingml/2006/main">
              <a:ext uri="{FF2B5EF4-FFF2-40B4-BE49-F238E27FC236}">
                <a16:creationId xmlns:a16="http://schemas.microsoft.com/office/drawing/2014/main" id="{7A7414D8-4A06-4E4A-AD45-F261F1C0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어떤 질문에서 어떤 상세 정보가 필요할까?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A13FDD-C286-44B3-A2AA-97AEEFA1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95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212B"/>
            </a:solidFill>
            <a:prstDash val="solid"/>
          </a:ln>
        </p:spPr>
      </p:sp>
      <p:sp>
        <p:nvSpPr>
          <p:cNvPr id="9" name="Task">
            <a:extLst xmlns:a="http://schemas.openxmlformats.org/drawingml/2006/main">
              <a:ext uri="{FF2B5EF4-FFF2-40B4-BE49-F238E27FC236}">
                <a16:creationId xmlns:a16="http://schemas.microsoft.com/office/drawing/2014/main" id="{16FC50AB-CD9D-4CBD-A310-3E54BA3E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10" name="지금 해결할 질문">
            <a:extLst xmlns:a="http://schemas.openxmlformats.org/drawingml/2006/main">
              <a:ext uri="{FF2B5EF4-FFF2-40B4-BE49-F238E27FC236}">
                <a16:creationId xmlns:a16="http://schemas.microsoft.com/office/drawing/2014/main" id="{FA129893-E521-48BB-8EDB-AC4433ED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지금 해결할 질문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A66DA2-AE1F-42B3-9AFD-BA7A101B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62350"/>
            <a:ext cx="33337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5AC229-C144-4E8D-8AA7-557017EB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028950"/>
            <a:ext cx="3209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Core Context">
            <a:extLst xmlns:a="http://schemas.openxmlformats.org/drawingml/2006/main">
              <a:ext uri="{FF2B5EF4-FFF2-40B4-BE49-F238E27FC236}">
                <a16:creationId xmlns:a16="http://schemas.microsoft.com/office/drawing/2014/main" id="{8434F0C4-9D64-4CFC-8B48-55230F9C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257550"/>
            <a:ext cx="3209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Core Context</a:t>
            </a:r>
          </a:p>
        </p:txBody>
      </p:sp>
      <p:sp>
        <p:nvSpPr>
          <p:cNvPr id="14" name="프로젝트 안내와&#10;찾아갈 위치">
            <a:extLst xmlns:a="http://schemas.openxmlformats.org/drawingml/2006/main">
              <a:ext uri="{FF2B5EF4-FFF2-40B4-BE49-F238E27FC236}">
                <a16:creationId xmlns:a16="http://schemas.microsoft.com/office/drawing/2014/main" id="{4B0A6109-BA73-4499-892E-F9058B0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81450"/>
            <a:ext cx="32099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안내와</a:t>
            </a:r>
          </a:p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찾아갈 위치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0F0568-788F-4528-8CCA-1CEB9924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62350"/>
            <a:ext cx="33337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415963-3519-4918-82DC-F4888734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289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련 상세 정보">
            <a:extLst xmlns:a="http://schemas.openxmlformats.org/drawingml/2006/main">
              <a:ext uri="{FF2B5EF4-FFF2-40B4-BE49-F238E27FC236}">
                <a16:creationId xmlns:a16="http://schemas.microsoft.com/office/drawing/2014/main" id="{AE81B358-FB47-4429-B9C5-E21047F6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57550"/>
            <a:ext cx="3371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상세 정보</a:t>
            </a:r>
          </a:p>
        </p:txBody>
      </p:sp>
      <p:sp>
        <p:nvSpPr>
          <p:cNvPr id="18" name="질문에 필요한&#10;계약 · 구조 · 테스트">
            <a:extLst xmlns:a="http://schemas.openxmlformats.org/drawingml/2006/main">
              <a:ext uri="{FF2B5EF4-FFF2-40B4-BE49-F238E27FC236}">
                <a16:creationId xmlns:a16="http://schemas.microsoft.com/office/drawing/2014/main" id="{11B5D6C6-2E8E-49B8-9240-EECC9183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81450"/>
            <a:ext cx="3371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질문에 필요한</a:t>
            </a:r>
          </a:p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계약 · 구조 · 테스트</a:t>
            </a:r>
          </a:p>
        </p:txBody>
      </p:sp>
      <p:sp>
        <p:nvSpPr>
          <p:cNvPr id="19" name="C++ 예: 공통 제약을 확인한 뒤, 해당 알고리즘의 계약으로">
            <a:extLst xmlns:a="http://schemas.openxmlformats.org/drawingml/2006/main">
              <a:ext uri="{FF2B5EF4-FFF2-40B4-BE49-F238E27FC236}">
                <a16:creationId xmlns:a16="http://schemas.microsoft.com/office/drawing/2014/main" id="{20B4060A-60F2-46F2-89BF-322D412C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예: 공통 제약을 확인한 뒤, 해당 알고리즘의 계약으로</a:t>
            </a:r>
          </a:p>
        </p:txBody>
      </p:sp>
    </p:spTree>
    <p:extLst>
      <p:ext uri="{BB962C8B-B14F-4D97-AF65-F5344CB8AC3E}">
        <p14:creationId xmlns:p14="http://schemas.microsoft.com/office/powerpoint/2010/main" val="7750304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2 · 기본 안내와 상세 정보">
            <a:extLst xmlns:a="http://schemas.openxmlformats.org/drawingml/2006/main">
              <a:ext uri="{FF2B5EF4-FFF2-40B4-BE49-F238E27FC236}">
                <a16:creationId xmlns:a16="http://schemas.microsoft.com/office/drawing/2014/main" id="{83E54A34-DD72-4BA1-BE3E-2C4773AC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기본 안내와 상세 정보</a:t>
            </a:r>
          </a:p>
        </p:txBody>
      </p:sp>
      <p:sp>
        <p:nvSpPr>
          <p:cNvPr id="2" name="S31">
            <a:extLst xmlns:a="http://schemas.openxmlformats.org/drawingml/2006/main">
              <a:ext uri="{FF2B5EF4-FFF2-40B4-BE49-F238E27FC236}">
                <a16:creationId xmlns:a16="http://schemas.microsoft.com/office/drawing/2014/main" id="{256E6937-0258-423C-8E7C-A88ACF91A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S31</a:t>
            </a:r>
          </a:p>
        </p:txBody>
      </p:sp>
      <p:sp>
        <p:nvSpPr>
          <p:cNvPr id="3" name="Core Context에서 상세 정보로 가는 길">
            <a:extLst xmlns:a="http://schemas.openxmlformats.org/drawingml/2006/main">
              <a:ext uri="{FF2B5EF4-FFF2-40B4-BE49-F238E27FC236}">
                <a16:creationId xmlns:a16="http://schemas.microsoft.com/office/drawing/2014/main" id="{3FF64CD0-1843-453F-9BA9-E61FD5E1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Core Context에서 상세 정보로 가는 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7D01D7-F47B-4959-B910-77FE44C1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정보 설계 · Root/Core는 상세 정보의 출발점">
            <a:extLst xmlns:a="http://schemas.openxmlformats.org/drawingml/2006/main">
              <a:ext uri="{FF2B5EF4-FFF2-40B4-BE49-F238E27FC236}">
                <a16:creationId xmlns:a16="http://schemas.microsoft.com/office/drawing/2014/main" id="{2DAC332F-B933-4E4C-8E7B-BA7B161D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정보 설계 · Root/Core는 상세 정보의 출발점</a:t>
            </a:r>
          </a:p>
        </p:txBody>
      </p:sp>
      <p:sp>
        <p:nvSpPr>
          <p:cNvPr id="6" name="C++ 예: build/test 진입점과 기본 제약 → 알고리즘 계약·하드웨어 조건">
            <a:extLst xmlns:a="http://schemas.openxmlformats.org/drawingml/2006/main">
              <a:ext uri="{FF2B5EF4-FFF2-40B4-BE49-F238E27FC236}">
                <a16:creationId xmlns:a16="http://schemas.microsoft.com/office/drawing/2014/main" id="{7955F6C5-B9F7-44BE-B1BD-B8BFD7F5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예: build/test 진입점과 기본 제약 → 알고리즘 계약·하드웨어 조건</a:t>
            </a:r>
          </a:p>
        </p:txBody>
      </p:sp>
      <p:sp>
        <p:nvSpPr>
          <p:cNvPr id="7" name="무엇을 항상 읽고, 무엇을 필요할 때 찾게 할까?">
            <a:extLst xmlns:a="http://schemas.openxmlformats.org/drawingml/2006/main">
              <a:ext uri="{FF2B5EF4-FFF2-40B4-BE49-F238E27FC236}">
                <a16:creationId xmlns:a16="http://schemas.microsoft.com/office/drawing/2014/main" id="{2F6A613A-B476-4DAE-AEA9-042BCDAC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항상 읽고, 무엇을 필요할 때 찾게 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B06B4E-DEC5-48FA-A21E-8CC88172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1719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RE · 기본 안내">
            <a:extLst xmlns:a="http://schemas.openxmlformats.org/drawingml/2006/main">
              <a:ext uri="{FF2B5EF4-FFF2-40B4-BE49-F238E27FC236}">
                <a16:creationId xmlns:a16="http://schemas.microsoft.com/office/drawing/2014/main" id="{66D4FE93-AE02-4A47-B0CE-29011858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67025"/>
            <a:ext cx="3714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CORE · 기본 안내</a:t>
            </a:r>
          </a:p>
        </p:txBody>
      </p:sp>
      <p:sp>
        <p:nvSpPr>
          <p:cNvPr id="10" name="프로젝트의 목적&#10;항상 지켜야 할 제약&#10;상세 정보를 찾을 위치">
            <a:extLst xmlns:a="http://schemas.openxmlformats.org/drawingml/2006/main">
              <a:ext uri="{FF2B5EF4-FFF2-40B4-BE49-F238E27FC236}">
                <a16:creationId xmlns:a16="http://schemas.microsoft.com/office/drawing/2014/main" id="{F6690B70-6ED8-4C6B-BA74-E9AC8BC3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38525"/>
            <a:ext cx="3714750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목적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항상 지켜야 할 제약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정보를 찾을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22D4B3-AD64-4ABD-ACBC-199878EF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43325"/>
            <a:ext cx="504825" cy="2762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DETAIL · 필요한 상세">
            <a:extLst xmlns:a="http://schemas.openxmlformats.org/drawingml/2006/main">
              <a:ext uri="{FF2B5EF4-FFF2-40B4-BE49-F238E27FC236}">
                <a16:creationId xmlns:a16="http://schemas.microsoft.com/office/drawing/2014/main" id="{127B39FE-C0E9-467A-9C12-3845B66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24150"/>
            <a:ext cx="53911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DETAIL · 필요한 상세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22AECD-A94D-4344-800C-AB4D2544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8612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architecture">
            <a:extLst xmlns:a="http://schemas.openxmlformats.org/drawingml/2006/main">
              <a:ext uri="{FF2B5EF4-FFF2-40B4-BE49-F238E27FC236}">
                <a16:creationId xmlns:a16="http://schemas.microsoft.com/office/drawing/2014/main" id="{1F4883E0-A5D2-4A4A-8593-676FB11C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90900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architecture</a:t>
            </a:r>
          </a:p>
        </p:txBody>
      </p:sp>
      <p:sp>
        <p:nvSpPr>
          <p:cNvPr id="15" name="모듈과 처리 순서">
            <a:extLst xmlns:a="http://schemas.openxmlformats.org/drawingml/2006/main">
              <a:ext uri="{FF2B5EF4-FFF2-40B4-BE49-F238E27FC236}">
                <a16:creationId xmlns:a16="http://schemas.microsoft.com/office/drawing/2014/main" id="{A6248866-14A7-47FD-8377-908A8873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390900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모듈과 처리 순서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4F1DA2-3A0C-4288-94A5-5AD7877D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86200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image contracts">
            <a:extLst xmlns:a="http://schemas.openxmlformats.org/drawingml/2006/main">
              <a:ext uri="{FF2B5EF4-FFF2-40B4-BE49-F238E27FC236}">
                <a16:creationId xmlns:a16="http://schemas.microsoft.com/office/drawing/2014/main" id="{F82628F2-F1D1-4DAA-BB30-9422D137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90975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image contracts</a:t>
            </a:r>
          </a:p>
        </p:txBody>
      </p:sp>
      <p:sp>
        <p:nvSpPr>
          <p:cNvPr id="18" name="이미지 동작의 계약">
            <a:extLst xmlns:a="http://schemas.openxmlformats.org/drawingml/2006/main">
              <a:ext uri="{FF2B5EF4-FFF2-40B4-BE49-F238E27FC236}">
                <a16:creationId xmlns:a16="http://schemas.microsoft.com/office/drawing/2014/main" id="{8F63AED7-DD5C-441E-94BB-9E45F56B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990975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이미지 동작의 계약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B554A3-C221-4CC1-BD33-2829CD40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8627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testing">
            <a:extLst xmlns:a="http://schemas.openxmlformats.org/drawingml/2006/main">
              <a:ext uri="{FF2B5EF4-FFF2-40B4-BE49-F238E27FC236}">
                <a16:creationId xmlns:a16="http://schemas.microsoft.com/office/drawing/2014/main" id="{213C3650-8595-445E-80CD-3B285038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91050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testing</a:t>
            </a:r>
          </a:p>
        </p:txBody>
      </p:sp>
      <p:sp>
        <p:nvSpPr>
          <p:cNvPr id="21" name="테스트 위치와 범위">
            <a:extLst xmlns:a="http://schemas.openxmlformats.org/drawingml/2006/main">
              <a:ext uri="{FF2B5EF4-FFF2-40B4-BE49-F238E27FC236}">
                <a16:creationId xmlns:a16="http://schemas.microsoft.com/office/drawing/2014/main" id="{C82B00B6-6DB9-4B78-B6E6-62DA3023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591050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위치와 범위</a:t>
            </a:r>
          </a:p>
        </p:txBody>
      </p:sp>
      <p:sp>
        <p:nvSpPr>
          <p:cNvPr id="22" name="모든 지식을 넣기보다, 상세 정보까지 가는 길을 안내한다">
            <a:extLst xmlns:a="http://schemas.openxmlformats.org/drawingml/2006/main">
              <a:ext uri="{FF2B5EF4-FFF2-40B4-BE49-F238E27FC236}">
                <a16:creationId xmlns:a16="http://schemas.microsoft.com/office/drawing/2014/main" id="{41C97F0C-8F0B-4C53-9B67-1B97BF62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모든 지식을 넣기보다, 상세 정보까지 가는 길을 안내한다</a:t>
            </a:r>
          </a:p>
        </p:txBody>
      </p:sp>
    </p:spTree>
    <p:extLst>
      <p:ext uri="{BB962C8B-B14F-4D97-AF65-F5344CB8AC3E}">
        <p14:creationId xmlns:p14="http://schemas.microsoft.com/office/powerpoint/2010/main" val="165689764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2 · STATE-03의 문서 구조">
            <a:extLst xmlns:a="http://schemas.openxmlformats.org/drawingml/2006/main">
              <a:ext uri="{FF2B5EF4-FFF2-40B4-BE49-F238E27FC236}">
                <a16:creationId xmlns:a16="http://schemas.microsoft.com/office/drawing/2014/main" id="{4F9DF9FC-19CA-4CE6-BC86-812D344B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STATE-03의 문서 구조</a:t>
            </a:r>
          </a:p>
        </p:txBody>
      </p:sp>
      <p:sp>
        <p:nvSpPr>
          <p:cNvPr id="2" name="S32">
            <a:extLst xmlns:a="http://schemas.openxmlformats.org/drawingml/2006/main">
              <a:ext uri="{FF2B5EF4-FFF2-40B4-BE49-F238E27FC236}">
                <a16:creationId xmlns:a16="http://schemas.microsoft.com/office/drawing/2014/main" id="{7069C5ED-B2E2-460A-B1F2-93798A8E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S32</a:t>
            </a:r>
          </a:p>
        </p:txBody>
      </p:sp>
      <p:sp>
        <p:nvSpPr>
          <p:cNvPr id="3" name="정보를 지우지 않고 위치를 나누기">
            <a:extLst xmlns:a="http://schemas.openxmlformats.org/drawingml/2006/main">
              <a:ext uri="{FF2B5EF4-FFF2-40B4-BE49-F238E27FC236}">
                <a16:creationId xmlns:a16="http://schemas.microsoft.com/office/drawing/2014/main" id="{4B2ECA77-B639-48E9-9DDB-1C835D83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정보를 지우지 않고 위치를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636F09-3D1F-499C-96BB-AB5E137B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2 → STATE-03 · 실제 파일 구조와 Routing 문구 발췌">
            <a:extLst xmlns:a="http://schemas.openxmlformats.org/drawingml/2006/main">
              <a:ext uri="{FF2B5EF4-FFF2-40B4-BE49-F238E27FC236}">
                <a16:creationId xmlns:a16="http://schemas.microsoft.com/office/drawing/2014/main" id="{7440533F-1E1B-40C7-96F1-2055F932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STATE-02 → STATE-03 · 실제 파일 구조와 Routing 문구 발췌</a:t>
            </a:r>
          </a:p>
        </p:txBody>
      </p:sp>
      <p:sp>
        <p:nvSpPr>
          <p:cNvPr id="6" name="내용을 Scope에 맞춰 이동 · 구조 변화 자체가 완벽한 Routing이나 성능 향상 증거는 아님">
            <a:extLst xmlns:a="http://schemas.openxmlformats.org/drawingml/2006/main">
              <a:ext uri="{FF2B5EF4-FFF2-40B4-BE49-F238E27FC236}">
                <a16:creationId xmlns:a16="http://schemas.microsoft.com/office/drawing/2014/main" id="{43AFEF15-D9FC-4D1A-8F70-1F59136D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내용을 Scope에 맞춰 이동 · 구조 변화 자체가 완벽한 Routing이나 성능 향상 증거는 아님</a:t>
            </a:r>
          </a:p>
        </p:txBody>
      </p:sp>
      <p:sp>
        <p:nvSpPr>
          <p:cNvPr id="7" name="이전: AGENTS.md 안에 세부사항까지">
            <a:extLst xmlns:a="http://schemas.openxmlformats.org/drawingml/2006/main">
              <a:ext uri="{FF2B5EF4-FFF2-40B4-BE49-F238E27FC236}">
                <a16:creationId xmlns:a16="http://schemas.microsoft.com/office/drawing/2014/main" id="{D30462FC-ECFF-454D-929B-71EC41F6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이전: AGENTS.md 안에 세부사항까지</a:t>
            </a:r>
          </a:p>
        </p:txBody>
      </p:sp>
      <p:sp>
        <p:nvSpPr>
          <p:cNvPr id="8" name="이후: 기본 안내 + 상세 문서로 가는 링크">
            <a:extLst xmlns:a="http://schemas.openxmlformats.org/drawingml/2006/main">
              <a:ext uri="{FF2B5EF4-FFF2-40B4-BE49-F238E27FC236}">
                <a16:creationId xmlns:a16="http://schemas.microsoft.com/office/drawing/2014/main" id="{DBDE6605-DD0A-488B-8FE3-11E6BD5C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이후: 기본 안내 + 상세 문서로 가는 링크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A05377-2465-47B6-B88A-FA2BBEE1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처리 순서 · 모듈 역할">
            <a:extLst xmlns:a="http://schemas.openxmlformats.org/drawingml/2006/main">
              <a:ext uri="{FF2B5EF4-FFF2-40B4-BE49-F238E27FC236}">
                <a16:creationId xmlns:a16="http://schemas.microsoft.com/office/drawing/2014/main" id="{7D2AF798-1574-45A4-AE25-60FA1886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처리 순서 · 모듈 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2D0E86-52F7-4AA4-8744-B7145CCB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476625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docs/architecture.md">
            <a:extLst xmlns:a="http://schemas.openxmlformats.org/drawingml/2006/main">
              <a:ext uri="{FF2B5EF4-FFF2-40B4-BE49-F238E27FC236}">
                <a16:creationId xmlns:a16="http://schemas.microsoft.com/office/drawing/2014/main" id="{CDDECBB5-7425-4DBA-B238-2B827E51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docs/architecture.md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2C94D3-9C35-40D6-A9DC-4A1F2F82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이미지 형식 · crop · resize">
            <a:extLst xmlns:a="http://schemas.openxmlformats.org/drawingml/2006/main">
              <a:ext uri="{FF2B5EF4-FFF2-40B4-BE49-F238E27FC236}">
                <a16:creationId xmlns:a16="http://schemas.microsoft.com/office/drawing/2014/main" id="{EACDAA15-F42D-4C5D-AD6D-136E6257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이미지 형식 · crop · resize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EA71EF-AC5F-4673-A282-C4F61488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057650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docs/image-contracts.md">
            <a:extLst xmlns:a="http://schemas.openxmlformats.org/drawingml/2006/main">
              <a:ext uri="{FF2B5EF4-FFF2-40B4-BE49-F238E27FC236}">
                <a16:creationId xmlns:a16="http://schemas.microsoft.com/office/drawing/2014/main" id="{B27F8197-AACE-4849-9E2D-0F23A901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528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docs/image-contracts.md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82DB75-74B0-4128-B809-A2382D2A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테스트 구조 · 관련 테스트">
            <a:extLst xmlns:a="http://schemas.openxmlformats.org/drawingml/2006/main">
              <a:ext uri="{FF2B5EF4-FFF2-40B4-BE49-F238E27FC236}">
                <a16:creationId xmlns:a16="http://schemas.microsoft.com/office/drawing/2014/main" id="{31507543-C129-4919-A2F4-A2233F7E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구조 · 관련 테스트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F09D38-E527-4F4B-BF96-63AAFD0D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638675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docs/testing.md">
            <a:extLst xmlns:a="http://schemas.openxmlformats.org/drawingml/2006/main">
              <a:ext uri="{FF2B5EF4-FFF2-40B4-BE49-F238E27FC236}">
                <a16:creationId xmlns:a16="http://schemas.microsoft.com/office/drawing/2014/main" id="{B1880C11-FF1D-4EB2-BEA5-38BAF7FD3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339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docs/testing.md</a:t>
            </a:r>
          </a:p>
        </p:txBody>
      </p:sp>
      <p:sp>
        <p:nvSpPr>
          <p:cNvPr id="21" name="원문: Test organization or relevant tests → docs/testing.md">
            <a:extLst xmlns:a="http://schemas.openxmlformats.org/drawingml/2006/main">
              <a:ext uri="{FF2B5EF4-FFF2-40B4-BE49-F238E27FC236}">
                <a16:creationId xmlns:a16="http://schemas.microsoft.com/office/drawing/2014/main" id="{A259D154-EB9C-46F9-8A1E-BCB4A4EF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원문: Test organization or relevant tests → docs/testing.md</a:t>
            </a:r>
          </a:p>
        </p:txBody>
      </p:sp>
    </p:spTree>
    <p:extLst>
      <p:ext uri="{BB962C8B-B14F-4D97-AF65-F5344CB8AC3E}">
        <p14:creationId xmlns:p14="http://schemas.microsoft.com/office/powerpoint/2010/main" val="14155958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2 · 관찰하기 전에 질문하기">
            <a:extLst xmlns:a="http://schemas.openxmlformats.org/drawingml/2006/main">
              <a:ext uri="{FF2B5EF4-FFF2-40B4-BE49-F238E27FC236}">
                <a16:creationId xmlns:a16="http://schemas.microsoft.com/office/drawing/2014/main" id="{CC07FAFF-A403-4FD5-A502-14EB97E4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관찰하기 전에 질문하기</a:t>
            </a:r>
          </a:p>
        </p:txBody>
      </p:sp>
      <p:sp>
        <p:nvSpPr>
          <p:cNvPr id="2" name="S33">
            <a:extLst xmlns:a="http://schemas.openxmlformats.org/drawingml/2006/main">
              <a:ext uri="{FF2B5EF4-FFF2-40B4-BE49-F238E27FC236}">
                <a16:creationId xmlns:a16="http://schemas.microsoft.com/office/drawing/2014/main" id="{75597309-8FE2-4B08-923F-2DE786E5C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S33</a:t>
            </a:r>
          </a:p>
        </p:txBody>
      </p:sp>
      <p:sp>
        <p:nvSpPr>
          <p:cNvPr id="3" name="서로 다른 두 Task가 무엇을 읽을까?">
            <a:extLst xmlns:a="http://schemas.openxmlformats.org/drawingml/2006/main">
              <a:ext uri="{FF2B5EF4-FFF2-40B4-BE49-F238E27FC236}">
                <a16:creationId xmlns:a16="http://schemas.microsoft.com/office/drawing/2014/main" id="{F95646A5-EC46-4DAC-8E0F-B84F5BE2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두 Task가 무엇을 읽을까?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6C2125-4A1B-4536-90E1-76E2E8F71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/B · 읽기 전용 Task의 질문을 재구성">
            <a:extLst xmlns:a="http://schemas.openxmlformats.org/drawingml/2006/main">
              <a:ext uri="{FF2B5EF4-FFF2-40B4-BE49-F238E27FC236}">
                <a16:creationId xmlns:a16="http://schemas.microsoft.com/office/drawing/2014/main" id="{8D0E66E1-EB04-4BC4-9801-04034A6B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TRIAL-005A/B · 읽기 전용 Task의 질문을 재구성</a:t>
            </a:r>
          </a:p>
        </p:txBody>
      </p:sp>
      <p:sp>
        <p:nvSpPr>
          <p:cNvPr id="6" name="어떤 상세 문서를 읽을지는 실제 접근 기록으로 확인한다">
            <a:extLst xmlns:a="http://schemas.openxmlformats.org/drawingml/2006/main">
              <a:ext uri="{FF2B5EF4-FFF2-40B4-BE49-F238E27FC236}">
                <a16:creationId xmlns:a16="http://schemas.microsoft.com/office/drawing/2014/main" id="{70B1A107-33F7-440C-ACDF-27018B27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상세 문서를 읽을지는 실제 접근 기록으로 확인한다</a:t>
            </a:r>
          </a:p>
        </p:txBody>
      </p:sp>
      <p:sp>
        <p:nvSpPr>
          <p:cNvPr id="7" name="Task A">
            <a:extLst xmlns:a="http://schemas.openxmlformats.org/drawingml/2006/main">
              <a:ext uri="{FF2B5EF4-FFF2-40B4-BE49-F238E27FC236}">
                <a16:creationId xmlns:a16="http://schemas.microsoft.com/office/drawing/2014/main" id="{B1E09DBA-05D5-4566-9817-83EAAA3B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A</a:t>
            </a:r>
          </a:p>
        </p:txBody>
      </p:sp>
      <p:sp>
        <p:nvSpPr>
          <p:cNvPr id="8" name="Task B">
            <a:extLst xmlns:a="http://schemas.openxmlformats.org/drawingml/2006/main">
              <a:ext uri="{FF2B5EF4-FFF2-40B4-BE49-F238E27FC236}">
                <a16:creationId xmlns:a16="http://schemas.microsoft.com/office/drawing/2014/main" id="{F74D0D53-6493-4E57-A71B-FB58B513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19325"/>
            <a:ext cx="487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EAD5FD-A691-45B5-A361-4E1E1F3B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3A0B77-3147-488B-9796-2B10CAE6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crop 1 3은&#10;어떤 source column을&#10;포함하는가?">
            <a:extLst xmlns:a="http://schemas.openxmlformats.org/drawingml/2006/main">
              <a:ext uri="{FF2B5EF4-FFF2-40B4-BE49-F238E27FC236}">
                <a16:creationId xmlns:a16="http://schemas.microsoft.com/office/drawing/2014/main" id="{30BE1E5E-7DBE-44F1-B54A-0EEFCAC4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1 3은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source column을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포함하는가?</a:t>
            </a:r>
          </a:p>
        </p:txBody>
      </p:sp>
      <p:sp>
        <p:nvSpPr>
          <p:cNvPr id="12" name="이 Project에&#10;runtime dependency가&#10;있는가?">
            <a:extLst xmlns:a="http://schemas.openxmlformats.org/drawingml/2006/main">
              <a:ext uri="{FF2B5EF4-FFF2-40B4-BE49-F238E27FC236}">
                <a16:creationId xmlns:a16="http://schemas.microsoft.com/office/drawing/2014/main" id="{A574B55B-E7E4-48B6-BC0E-5CE29795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24200"/>
            <a:ext cx="48768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Project에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runtime dependency가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있는가?</a:t>
            </a:r>
          </a:p>
        </p:txBody>
      </p:sp>
      <p:sp>
        <p:nvSpPr>
          <p:cNvPr id="13" name="두 Task에서 같은 상세 문서를 읽을까?">
            <a:extLst xmlns:a="http://schemas.openxmlformats.org/drawingml/2006/main">
              <a:ext uri="{FF2B5EF4-FFF2-40B4-BE49-F238E27FC236}">
                <a16:creationId xmlns:a16="http://schemas.microsoft.com/office/drawing/2014/main" id="{EE91834B-B5BA-4BF3-AD83-0240608B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두 Task에서 같은 상세 문서를 읽을까?</a:t>
            </a:r>
          </a:p>
        </p:txBody>
      </p:sp>
    </p:spTree>
    <p:extLst>
      <p:ext uri="{BB962C8B-B14F-4D97-AF65-F5344CB8AC3E}">
        <p14:creationId xmlns:p14="http://schemas.microsoft.com/office/powerpoint/2010/main" val="72611282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질문과 근거를 연결하기">
            <a:extLst xmlns:a="http://schemas.openxmlformats.org/drawingml/2006/main">
              <a:ext uri="{FF2B5EF4-FFF2-40B4-BE49-F238E27FC236}">
                <a16:creationId xmlns:a16="http://schemas.microsoft.com/office/drawing/2014/main" id="{3BCF1107-4089-4703-8E51-5482FF3B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질문과 근거를 연결하기</a:t>
            </a:r>
          </a:p>
        </p:txBody>
      </p:sp>
      <p:sp>
        <p:nvSpPr>
          <p:cNvPr id="2" name="S34">
            <a:extLst xmlns:a="http://schemas.openxmlformats.org/drawingml/2006/main">
              <a:ext uri="{FF2B5EF4-FFF2-40B4-BE49-F238E27FC236}">
                <a16:creationId xmlns:a16="http://schemas.microsoft.com/office/drawing/2014/main" id="{D65A3CC6-14C8-431D-8116-FE4CB3D7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S34</a:t>
            </a:r>
          </a:p>
        </p:txBody>
      </p:sp>
      <p:sp>
        <p:nvSpPr>
          <p:cNvPr id="3" name="Crop Task에서 관찰한 접근">
            <a:extLst xmlns:a="http://schemas.openxmlformats.org/drawingml/2006/main">
              <a:ext uri="{FF2B5EF4-FFF2-40B4-BE49-F238E27FC236}">
                <a16:creationId xmlns:a16="http://schemas.microsoft.com/office/drawing/2014/main" id="{87A2DA9B-C8EA-4D25-883E-E05C3773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Task에서 관찰한 접근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F8E578-9519-40CF-BD72-58E377D82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 · 최종 실행의 접근과 답을 기록에서 재구성">
            <a:extLst xmlns:a="http://schemas.openxmlformats.org/drawingml/2006/main">
              <a:ext uri="{FF2B5EF4-FFF2-40B4-BE49-F238E27FC236}">
                <a16:creationId xmlns:a16="http://schemas.microsoft.com/office/drawing/2014/main" id="{7DBE62E1-E5D4-4855-8D27-F896BF0F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 · 최종 실행의 접근과 답을 기록에서 재구성</a:t>
            </a:r>
          </a:p>
        </p:txBody>
      </p:sp>
      <p:sp>
        <p:nvSpPr>
          <p:cNvPr id="6" name="architecture 등 넓은 Context도 접근 · testing.md는 최종 실행에서 관찰, 반복 간">
            <a:extLst xmlns:a="http://schemas.openxmlformats.org/drawingml/2006/main">
              <a:ext uri="{FF2B5EF4-FFF2-40B4-BE49-F238E27FC236}">
                <a16:creationId xmlns:a16="http://schemas.microsoft.com/office/drawing/2014/main" id="{72D7729B-4341-40A6-87EF-42B52089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architecture 등 넓은 Context도 접근 · testing.md는 최종 실행에서 관찰, 반복 간 차이 존재</a:t>
            </a:r>
          </a:p>
        </p:txBody>
      </p:sp>
      <p:sp>
        <p:nvSpPr>
          <p:cNvPr id="7" name="접근한 계약 문서">
            <a:extLst xmlns:a="http://schemas.openxmlformats.org/drawingml/2006/main">
              <a:ext uri="{FF2B5EF4-FFF2-40B4-BE49-F238E27FC236}">
                <a16:creationId xmlns:a16="http://schemas.microsoft.com/office/drawing/2014/main" id="{3F36EC20-91A2-4925-AD43-441FA858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접근한 계약 문서</a:t>
            </a:r>
          </a:p>
        </p:txBody>
      </p:sp>
      <p:sp>
        <p:nvSpPr>
          <p:cNvPr id="8" name="image-contracts.md">
            <a:extLst xmlns:a="http://schemas.openxmlformats.org/drawingml/2006/main">
              <a:ext uri="{FF2B5EF4-FFF2-40B4-BE49-F238E27FC236}">
                <a16:creationId xmlns:a16="http://schemas.microsoft.com/office/drawing/2014/main" id="{FC7DBECA-9FF5-4940-810E-FD0A3A0B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image-contracts.md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81BDCE-D8B4-4551-B394-BE1D5B3F5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628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[x_start, x_end)">
            <a:extLst xmlns:a="http://schemas.openxmlformats.org/drawingml/2006/main">
              <a:ext uri="{FF2B5EF4-FFF2-40B4-BE49-F238E27FC236}">
                <a16:creationId xmlns:a16="http://schemas.microsoft.com/office/drawing/2014/main" id="{48011124-5BAE-404C-B364-ADAE4EC5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0425"/>
            <a:ext cx="5829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7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[x_start, x_end)</a:t>
            </a:r>
          </a:p>
        </p:txBody>
      </p:sp>
      <p:sp>
        <p:nvSpPr>
          <p:cNvPr id="11" name="시작 열 포함 · 끝 좌표 제외">
            <a:extLst xmlns:a="http://schemas.openxmlformats.org/drawingml/2006/main">
              <a:ext uri="{FF2B5EF4-FFF2-40B4-BE49-F238E27FC236}">
                <a16:creationId xmlns:a16="http://schemas.microsoft.com/office/drawing/2014/main" id="{F9DA047A-D584-43B2-BAB9-EECB80B2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58293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열 포함 · 끝 좌표 제외</a:t>
            </a:r>
          </a:p>
        </p:txBody>
      </p:sp>
      <p:sp>
        <p:nvSpPr>
          <p:cNvPr id="12" name="기록된 답">
            <a:extLst xmlns:a="http://schemas.openxmlformats.org/drawingml/2006/main">
              <a:ext uri="{FF2B5EF4-FFF2-40B4-BE49-F238E27FC236}">
                <a16:creationId xmlns:a16="http://schemas.microsoft.com/office/drawing/2014/main" id="{F68CAE2B-5C64-4B47-88D9-E3EB40668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기록된 답</a:t>
            </a:r>
          </a:p>
        </p:txBody>
      </p:sp>
      <p:sp>
        <p:nvSpPr>
          <p:cNvPr id="13" name="crop 1 3">
            <a:extLst xmlns:a="http://schemas.openxmlformats.org/drawingml/2006/main">
              <a:ext uri="{FF2B5EF4-FFF2-40B4-BE49-F238E27FC236}">
                <a16:creationId xmlns:a16="http://schemas.microsoft.com/office/drawing/2014/main" id="{472E39FA-97BB-4824-9629-1BD4F1C5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479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crop 1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6EF997-9D96-448B-A483-0B98534E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">
            <a:extLst xmlns:a="http://schemas.openxmlformats.org/drawingml/2006/main">
              <a:ext uri="{FF2B5EF4-FFF2-40B4-BE49-F238E27FC236}">
                <a16:creationId xmlns:a16="http://schemas.microsoft.com/office/drawing/2014/main" id="{ACC4F035-2F88-4EE9-91A5-CF54BD8E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DA9E9-C0F2-44B8-8A37-A86A6369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1">
            <a:extLst xmlns:a="http://schemas.openxmlformats.org/drawingml/2006/main">
              <a:ext uri="{FF2B5EF4-FFF2-40B4-BE49-F238E27FC236}">
                <a16:creationId xmlns:a16="http://schemas.microsoft.com/office/drawing/2014/main" id="{7AA8B7B6-5FE3-4E00-8D9A-A71D943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A356A4-E530-4853-8FC4-E431AEE8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2">
            <a:extLst xmlns:a="http://schemas.openxmlformats.org/drawingml/2006/main">
              <a:ext uri="{FF2B5EF4-FFF2-40B4-BE49-F238E27FC236}">
                <a16:creationId xmlns:a16="http://schemas.microsoft.com/office/drawing/2014/main" id="{7F2BE06E-A886-40D2-8B52-C0C927CE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FCB467-2CC9-4685-B851-EB84357A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3">
            <a:extLst xmlns:a="http://schemas.openxmlformats.org/drawingml/2006/main">
              <a:ext uri="{FF2B5EF4-FFF2-40B4-BE49-F238E27FC236}">
                <a16:creationId xmlns:a16="http://schemas.microsoft.com/office/drawing/2014/main" id="{D23EB483-AABC-4194-AF5D-0F070160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포함 열: 1, 2&#10;출력 폭: 2">
            <a:extLst xmlns:a="http://schemas.openxmlformats.org/drawingml/2006/main">
              <a:ext uri="{FF2B5EF4-FFF2-40B4-BE49-F238E27FC236}">
                <a16:creationId xmlns:a16="http://schemas.microsoft.com/office/drawing/2014/main" id="{90D06382-AC81-4C42-821D-C8A5F26A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381500"/>
            <a:ext cx="38862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 열: 1, 2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 폭: 2</a:t>
            </a:r>
          </a:p>
        </p:txBody>
      </p:sp>
      <p:sp>
        <p:nvSpPr>
          <p:cNvPr id="23" name="답을 파일의 계약과 연결해 확인했다">
            <a:extLst xmlns:a="http://schemas.openxmlformats.org/drawingml/2006/main">
              <a:ext uri="{FF2B5EF4-FFF2-40B4-BE49-F238E27FC236}">
                <a16:creationId xmlns:a16="http://schemas.microsoft.com/office/drawing/2014/main" id="{426E5C7C-A2FF-4E95-B41F-1CD9787F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647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답을 파일의 계약과 연결해 확인했다</a:t>
            </a:r>
          </a:p>
        </p:txBody>
      </p:sp>
    </p:spTree>
    <p:extLst>
      <p:ext uri="{BB962C8B-B14F-4D97-AF65-F5344CB8AC3E}">
        <p14:creationId xmlns:p14="http://schemas.microsoft.com/office/powerpoint/2010/main" val="60501727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두 Task의 문서 접근 비교">
            <a:extLst xmlns:a="http://schemas.openxmlformats.org/drawingml/2006/main">
              <a:ext uri="{FF2B5EF4-FFF2-40B4-BE49-F238E27FC236}">
                <a16:creationId xmlns:a16="http://schemas.microsoft.com/office/drawing/2014/main" id="{4A128044-3E43-47C2-974E-7764B8CD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두 Task의 문서 접근 비교</a:t>
            </a:r>
          </a:p>
        </p:txBody>
      </p:sp>
      <p:sp>
        <p:nvSpPr>
          <p:cNvPr id="2" name="S35">
            <a:extLst xmlns:a="http://schemas.openxmlformats.org/drawingml/2006/main">
              <a:ext uri="{FF2B5EF4-FFF2-40B4-BE49-F238E27FC236}">
                <a16:creationId xmlns:a16="http://schemas.microsoft.com/office/drawing/2014/main" id="{8DFF26C7-2ECA-44F6-8959-DD29A04B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S35</a:t>
            </a:r>
          </a:p>
        </p:txBody>
      </p:sp>
      <p:sp>
        <p:nvSpPr>
          <p:cNvPr id="3" name="Task별 접근은 달랐지만 완벽하지는 않다">
            <a:extLst xmlns:a="http://schemas.openxmlformats.org/drawingml/2006/main">
              <a:ext uri="{FF2B5EF4-FFF2-40B4-BE49-F238E27FC236}">
                <a16:creationId xmlns:a16="http://schemas.microsoft.com/office/drawing/2014/main" id="{C156D1E6-467C-4BFD-93BC-81C34B84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Task별 접근은 달랐지만 완벽하지는 않다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AFC1-017A-4528-B272-9B36741B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/B · 실제 접근 기록을 요약한 비교">
            <a:extLst xmlns:a="http://schemas.openxmlformats.org/drawingml/2006/main">
              <a:ext uri="{FF2B5EF4-FFF2-40B4-BE49-F238E27FC236}">
                <a16:creationId xmlns:a16="http://schemas.microsoft.com/office/drawing/2014/main" id="{FD9F3F32-A30F-44DF-97BE-0769541E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TRIAL-005A/B · 실제 접근 기록을 요약한 비교</a:t>
            </a:r>
          </a:p>
        </p:txBody>
      </p:sp>
      <p:sp>
        <p:nvSpPr>
          <p:cNvPr id="6" name="완벽한 Routing 미입증 · 토큰 절약·성능 개선 미측정 · 실행 간 변동 존재">
            <a:extLst xmlns:a="http://schemas.openxmlformats.org/drawingml/2006/main">
              <a:ext uri="{FF2B5EF4-FFF2-40B4-BE49-F238E27FC236}">
                <a16:creationId xmlns:a16="http://schemas.microsoft.com/office/drawing/2014/main" id="{77E63E57-29C0-4E99-92D1-43333F87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완벽한 Routing 미입증 · 토큰 절약·성능 개선 미측정 · 실행 간 변동 존재</a:t>
            </a:r>
          </a:p>
        </p:txBody>
      </p:sp>
      <p:sp>
        <p:nvSpPr>
          <p:cNvPr id="7" name="같은 Repository에서 질문이 달랐다">
            <a:extLst xmlns:a="http://schemas.openxmlformats.org/drawingml/2006/main">
              <a:ext uri="{FF2B5EF4-FFF2-40B4-BE49-F238E27FC236}">
                <a16:creationId xmlns:a16="http://schemas.microsoft.com/office/drawing/2014/main" id="{3DE70434-E7FC-4885-9137-9D22C7B8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Repository에서 질문이 달랐다</a:t>
            </a:r>
          </a:p>
        </p:txBody>
      </p:sp>
      <p:sp>
        <p:nvSpPr>
          <p:cNvPr id="8" name="문서">
            <a:extLst xmlns:a="http://schemas.openxmlformats.org/drawingml/2006/main">
              <a:ext uri="{FF2B5EF4-FFF2-40B4-BE49-F238E27FC236}">
                <a16:creationId xmlns:a16="http://schemas.microsoft.com/office/drawing/2014/main" id="{0CB7955D-49DF-4540-B485-12A69601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686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문서</a:t>
            </a:r>
          </a:p>
        </p:txBody>
      </p:sp>
      <p:sp>
        <p:nvSpPr>
          <p:cNvPr id="9" name="A · crop 계약">
            <a:extLst xmlns:a="http://schemas.openxmlformats.org/drawingml/2006/main">
              <a:ext uri="{FF2B5EF4-FFF2-40B4-BE49-F238E27FC236}">
                <a16:creationId xmlns:a16="http://schemas.microsoft.com/office/drawing/2014/main" id="{F81006EF-180D-4EA1-A4D5-C26410B90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7527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 · crop 계약</a:t>
            </a:r>
          </a:p>
        </p:txBody>
      </p:sp>
      <p:sp>
        <p:nvSpPr>
          <p:cNvPr id="10" name="B · 실행 의존성">
            <a:extLst xmlns:a="http://schemas.openxmlformats.org/drawingml/2006/main">
              <a:ext uri="{FF2B5EF4-FFF2-40B4-BE49-F238E27FC236}">
                <a16:creationId xmlns:a16="http://schemas.microsoft.com/office/drawing/2014/main" id="{DC6B8383-9195-4502-BB8E-62C368DD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52725"/>
            <a:ext cx="2838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 · 실행 의존성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7BDF5E-F3FB-4004-837A-EC8C366E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mage-contracts.md">
            <a:extLst xmlns:a="http://schemas.openxmlformats.org/drawingml/2006/main">
              <a:ext uri="{FF2B5EF4-FFF2-40B4-BE49-F238E27FC236}">
                <a16:creationId xmlns:a16="http://schemas.microsoft.com/office/drawing/2014/main" id="{0A18AD48-056E-43B6-B3D4-E63ECFE3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image-contracts.md</a:t>
            </a:r>
          </a:p>
        </p:txBody>
      </p:sp>
      <p:sp>
        <p:nvSpPr>
          <p:cNvPr id="13" name="읽음">
            <a:extLst xmlns:a="http://schemas.openxmlformats.org/drawingml/2006/main">
              <a:ext uri="{FF2B5EF4-FFF2-40B4-BE49-F238E27FC236}">
                <a16:creationId xmlns:a16="http://schemas.microsoft.com/office/drawing/2014/main" id="{5BB22216-FAFA-427A-B872-34047516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337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4" name="읽지 않음">
            <a:extLst xmlns:a="http://schemas.openxmlformats.org/drawingml/2006/main">
              <a:ext uri="{FF2B5EF4-FFF2-40B4-BE49-F238E27FC236}">
                <a16:creationId xmlns:a16="http://schemas.microsoft.com/office/drawing/2014/main" id="{D97B6277-984A-49E3-8492-E7D09144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337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읽지 않음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A725C1-A599-46D0-9E11-C7066211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architecture.md">
            <a:extLst xmlns:a="http://schemas.openxmlformats.org/drawingml/2006/main">
              <a:ext uri="{FF2B5EF4-FFF2-40B4-BE49-F238E27FC236}">
                <a16:creationId xmlns:a16="http://schemas.microsoft.com/office/drawing/2014/main" id="{BEC8ECA0-8D3A-4DE8-A3B7-2CA4C871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architecture.md</a:t>
            </a:r>
          </a:p>
        </p:txBody>
      </p:sp>
      <p:sp>
        <p:nvSpPr>
          <p:cNvPr id="17" name="읽음">
            <a:extLst xmlns:a="http://schemas.openxmlformats.org/drawingml/2006/main">
              <a:ext uri="{FF2B5EF4-FFF2-40B4-BE49-F238E27FC236}">
                <a16:creationId xmlns:a16="http://schemas.microsoft.com/office/drawing/2014/main" id="{87B940B0-BF20-4313-ABED-ABE10A76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6240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8" name="읽음">
            <a:extLst xmlns:a="http://schemas.openxmlformats.org/drawingml/2006/main">
              <a:ext uri="{FF2B5EF4-FFF2-40B4-BE49-F238E27FC236}">
                <a16:creationId xmlns:a16="http://schemas.microsoft.com/office/drawing/2014/main" id="{E2B7F971-85D2-4710-92F3-4A1E6B08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6240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2E954B-0DB1-444B-A133-EEB75B5E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testing.md">
            <a:extLst xmlns:a="http://schemas.openxmlformats.org/drawingml/2006/main">
              <a:ext uri="{FF2B5EF4-FFF2-40B4-BE49-F238E27FC236}">
                <a16:creationId xmlns:a16="http://schemas.microsoft.com/office/drawing/2014/main" id="{9BA9220B-7702-4C08-995C-BF8E7BF0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910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testing.md</a:t>
            </a:r>
          </a:p>
        </p:txBody>
      </p:sp>
      <p:sp>
        <p:nvSpPr>
          <p:cNvPr id="21" name="최종 실행에서 읽음">
            <a:extLst xmlns:a="http://schemas.openxmlformats.org/drawingml/2006/main">
              <a:ext uri="{FF2B5EF4-FFF2-40B4-BE49-F238E27FC236}">
                <a16:creationId xmlns:a16="http://schemas.microsoft.com/office/drawing/2014/main" id="{5135ED6F-F1AE-49A5-A00C-0663AEED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5910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실행에서 읽음</a:t>
            </a:r>
          </a:p>
        </p:txBody>
      </p:sp>
      <p:sp>
        <p:nvSpPr>
          <p:cNvPr id="22" name="읽지 않음">
            <a:extLst xmlns:a="http://schemas.openxmlformats.org/drawingml/2006/main">
              <a:ext uri="{FF2B5EF4-FFF2-40B4-BE49-F238E27FC236}">
                <a16:creationId xmlns:a16="http://schemas.microsoft.com/office/drawing/2014/main" id="{2D8976E4-E122-47AB-A987-34DBA4D2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5910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읽지 않음</a:t>
            </a:r>
          </a:p>
        </p:txBody>
      </p:sp>
      <p:sp>
        <p:nvSpPr>
          <p:cNvPr id="23" name="A에는 더 넓은 읽기도 존재 · B는 설정·README·source도 확인">
            <a:extLst xmlns:a="http://schemas.openxmlformats.org/drawingml/2006/main">
              <a:ext uri="{FF2B5EF4-FFF2-40B4-BE49-F238E27FC236}">
                <a16:creationId xmlns:a16="http://schemas.microsoft.com/office/drawing/2014/main" id="{B06CCB3E-8567-43A1-9E41-08423386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A에는 더 넓은 읽기도 존재 · B는 설정·README·source도 확인</a:t>
            </a:r>
          </a:p>
        </p:txBody>
      </p:sp>
    </p:spTree>
    <p:extLst>
      <p:ext uri="{BB962C8B-B14F-4D97-AF65-F5344CB8AC3E}">
        <p14:creationId xmlns:p14="http://schemas.microsoft.com/office/powerpoint/2010/main" val="11048662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2 · 다음 문제로 넘어가기">
            <a:extLst xmlns:a="http://schemas.openxmlformats.org/drawingml/2006/main">
              <a:ext uri="{FF2B5EF4-FFF2-40B4-BE49-F238E27FC236}">
                <a16:creationId xmlns:a16="http://schemas.microsoft.com/office/drawing/2014/main" id="{05554AD0-56BA-4942-B514-E16FEC0E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다음 문제로 넘어가기</a:t>
            </a:r>
          </a:p>
        </p:txBody>
      </p:sp>
      <p:sp>
        <p:nvSpPr>
          <p:cNvPr id="2" name="S36">
            <a:extLst xmlns:a="http://schemas.openxmlformats.org/drawingml/2006/main">
              <a:ext uri="{FF2B5EF4-FFF2-40B4-BE49-F238E27FC236}">
                <a16:creationId xmlns:a16="http://schemas.microsoft.com/office/drawing/2014/main" id="{02264356-D3CE-42DB-BBD0-32908E64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S36</a:t>
            </a:r>
          </a:p>
        </p:txBody>
      </p:sp>
      <p:sp>
        <p:nvSpPr>
          <p:cNvPr id="3" name="지식은 정리됐지만 절차는 반복된다">
            <a:extLst xmlns:a="http://schemas.openxmlformats.org/drawingml/2006/main">
              <a:ext uri="{FF2B5EF4-FFF2-40B4-BE49-F238E27FC236}">
                <a16:creationId xmlns:a16="http://schemas.microsoft.com/office/drawing/2014/main" id="{4E0DA137-E634-4F1D-AA90-F5EA4D319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지식은 정리됐지만 절차는 반복된다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4426DB-C49E-4C0B-B3C9-0D60303E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Project Context 정리 + TRIAL-006/007의 반복 절차 · 기록 요약과 교육용 해석">
            <a:extLst xmlns:a="http://schemas.openxmlformats.org/drawingml/2006/main">
              <a:ext uri="{FF2B5EF4-FFF2-40B4-BE49-F238E27FC236}">
                <a16:creationId xmlns:a16="http://schemas.microsoft.com/office/drawing/2014/main" id="{9C9471B4-2909-4909-84B0-E90BBEBE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Project Context 정리 + TRIAL-006/007의 반복 절차 · 기록 요약과 교육용 해석</a:t>
            </a:r>
          </a:p>
        </p:txBody>
      </p:sp>
      <p:sp>
        <p:nvSpPr>
          <p:cNvPr id="6" name="절차가 반복된 원인을 Prompt만으로 분리하지 않음">
            <a:extLst xmlns:a="http://schemas.openxmlformats.org/drawingml/2006/main">
              <a:ext uri="{FF2B5EF4-FFF2-40B4-BE49-F238E27FC236}">
                <a16:creationId xmlns:a16="http://schemas.microsoft.com/office/drawing/2014/main" id="{05E37B18-321B-4796-AAAB-7222B0D1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절차가 반복된 원인을 Prompt만으로 분리하지 않음</a:t>
            </a:r>
          </a:p>
        </p:txBody>
      </p:sp>
      <p:sp>
        <p:nvSpPr>
          <p:cNvPr id="7" name="정리한 것">
            <a:extLst xmlns:a="http://schemas.openxmlformats.org/drawingml/2006/main">
              <a:ext uri="{FF2B5EF4-FFF2-40B4-BE49-F238E27FC236}">
                <a16:creationId xmlns:a16="http://schemas.microsoft.com/office/drawing/2014/main" id="{82011BB9-7270-47A1-8A85-98AB6B24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정리한 것</a:t>
            </a:r>
          </a:p>
        </p:txBody>
      </p:sp>
      <p:sp>
        <p:nvSpPr>
          <p:cNvPr id="8" name="아직 반복되는 것">
            <a:extLst xmlns:a="http://schemas.openxmlformats.org/drawingml/2006/main">
              <a:ext uri="{FF2B5EF4-FFF2-40B4-BE49-F238E27FC236}">
                <a16:creationId xmlns:a16="http://schemas.microsoft.com/office/drawing/2014/main" id="{CFDBE0F6-EC59-4098-A0D2-53A163892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아직 반복되는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A09B20-4C32-4594-BC44-5C293BB4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C4E41C-916E-40E2-8E77-0DD6B306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527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현재 목표는 Prompt에&#10;공통 사실은 Project Context에&#10;상세 정보는 Routing으로">
            <a:extLst xmlns:a="http://schemas.openxmlformats.org/drawingml/2006/main">
              <a:ext uri="{FF2B5EF4-FFF2-40B4-BE49-F238E27FC236}">
                <a16:creationId xmlns:a16="http://schemas.microsoft.com/office/drawing/2014/main" id="{3C5C677C-80A4-4939-B307-D9F361A5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5143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목표는 Prompt에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공통 사실은 Project Context에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정보는 Routing으로</a:t>
            </a:r>
          </a:p>
        </p:txBody>
      </p:sp>
      <p:sp>
        <p:nvSpPr>
          <p:cNvPr id="12" name="먼저 측정하고&#10;조사한 뒤 변경하고&#10;같은 조건으로 확인해줘">
            <a:extLst xmlns:a="http://schemas.openxmlformats.org/drawingml/2006/main">
              <a:ext uri="{FF2B5EF4-FFF2-40B4-BE49-F238E27FC236}">
                <a16:creationId xmlns:a16="http://schemas.microsoft.com/office/drawing/2014/main" id="{26BF9BB4-EF02-4995-8053-AB4BD6E4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측정하고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조사한 뒤 변경하고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조건으로 확인해줘</a:t>
            </a:r>
          </a:p>
        </p:txBody>
      </p:sp>
      <p:sp>
        <p:nvSpPr>
          <p:cNvPr id="13" name="이 반복도 Context만의 문제일까?">
            <a:extLst xmlns:a="http://schemas.openxmlformats.org/drawingml/2006/main">
              <a:ext uri="{FF2B5EF4-FFF2-40B4-BE49-F238E27FC236}">
                <a16:creationId xmlns:a16="http://schemas.microsoft.com/office/drawing/2014/main" id="{D0C3DC79-217F-472E-89CF-24519053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반복도 Context만의 문제일까?</a:t>
            </a:r>
          </a:p>
        </p:txBody>
      </p:sp>
    </p:spTree>
    <p:extLst>
      <p:ext uri="{BB962C8B-B14F-4D97-AF65-F5344CB8AC3E}">
        <p14:creationId xmlns:p14="http://schemas.microsoft.com/office/powerpoint/2010/main" val="12150334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2026-10-18T14:59:42.8240000Z</dcterms:created>
  <dcterms:modified xsi:type="dcterms:W3CDTF">2026-10-18T14:59:42.8240000Z</dcterms:modified>
</coreProperties>
</file>