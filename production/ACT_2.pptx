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82dfcb6222f435b" /><Relationship Type="http://schemas.openxmlformats.org/officeDocument/2006/relationships/extended-properties" Target="/docProps/app.xml" Id="R23f43fadb0f04642" /><Relationship Type="http://schemas.openxmlformats.org/officeDocument/2006/relationships/officeDocument" Target="/ppt/presentation.xml" Id="Reb82af2ea4ac43d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e608f6b925f495f"/>
  </p:sldMasterIdLst>
  <p:notesMasterIdLst>
    <p:notesMasterId xmlns:r="http://schemas.openxmlformats.org/officeDocument/2006/relationships" r:id="Rd149eeb698d04bb4"/>
  </p:notesMasterIdLst>
  <p:sldIdLst>
    <p:sldId xmlns:r="http://schemas.openxmlformats.org/officeDocument/2006/relationships" id="256" r:id="R0d21b2d36c6045ed"/>
    <p:sldId xmlns:r="http://schemas.openxmlformats.org/officeDocument/2006/relationships" id="257" r:id="Radfd4d1f50664128"/>
    <p:sldId xmlns:r="http://schemas.openxmlformats.org/officeDocument/2006/relationships" id="258" r:id="Rbb44b974f3884402"/>
    <p:sldId xmlns:r="http://schemas.openxmlformats.org/officeDocument/2006/relationships" id="259" r:id="Rc43ca39e055f4cd6"/>
    <p:sldId xmlns:r="http://schemas.openxmlformats.org/officeDocument/2006/relationships" id="260" r:id="R5274a4cf40d442a4"/>
    <p:sldId xmlns:r="http://schemas.openxmlformats.org/officeDocument/2006/relationships" id="261" r:id="Rf7386489936c4040"/>
    <p:sldId xmlns:r="http://schemas.openxmlformats.org/officeDocument/2006/relationships" id="262" r:id="R86c29ffb72f14ac3"/>
    <p:sldId xmlns:r="http://schemas.openxmlformats.org/officeDocument/2006/relationships" id="263" r:id="R63ff6dda26654b9d"/>
    <p:sldId xmlns:r="http://schemas.openxmlformats.org/officeDocument/2006/relationships" id="264" r:id="R557bc57a801c49fb"/>
    <p:sldId xmlns:r="http://schemas.openxmlformats.org/officeDocument/2006/relationships" id="265" r:id="R5f32cdd1e4fe48cc"/>
    <p:sldId xmlns:r="http://schemas.openxmlformats.org/officeDocument/2006/relationships" id="266" r:id="Rc2827b7dc0454d5c"/>
    <p:sldId xmlns:r="http://schemas.openxmlformats.org/officeDocument/2006/relationships" id="267" r:id="Rb4a1a09ab5c14ae3"/>
    <p:sldId xmlns:r="http://schemas.openxmlformats.org/officeDocument/2006/relationships" id="268" r:id="R99ae46b200dc4b20"/>
    <p:sldId xmlns:r="http://schemas.openxmlformats.org/officeDocument/2006/relationships" id="269" r:id="Ree9cea8d17ae4fe9"/>
    <p:sldId xmlns:r="http://schemas.openxmlformats.org/officeDocument/2006/relationships" id="270" r:id="R72c47c521cf843e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80558858df04cdf" /><Relationship Type="http://schemas.openxmlformats.org/officeDocument/2006/relationships/slideMaster" Target="/ppt/slideMasters/slideMaster1.xml" Id="R8e608f6b925f495f" /><Relationship Type="http://schemas.openxmlformats.org/officeDocument/2006/relationships/notesMaster" Target="/ppt/notesMasters/notesMaster1.xml" Id="Rd149eeb698d04bb4" /><Relationship Type="http://schemas.openxmlformats.org/officeDocument/2006/relationships/presProps" Target="/ppt/presProps.xml" Id="Re1ea8248854d41ca" /><Relationship Type="http://schemas.openxmlformats.org/officeDocument/2006/relationships/tableStyles" Target="/ppt/tableStyles.xml" Id="R9c7ff9cbfdcb40d4" /><Relationship Type="http://schemas.openxmlformats.org/officeDocument/2006/relationships/slide" Target="/ppt/slides/slide1.xml" Id="R0d21b2d36c6045ed" /><Relationship Type="http://schemas.openxmlformats.org/officeDocument/2006/relationships/slide" Target="/ppt/slides/slide2.xml" Id="Radfd4d1f50664128" /><Relationship Type="http://schemas.openxmlformats.org/officeDocument/2006/relationships/slide" Target="/ppt/slides/slide3.xml" Id="Rbb44b974f3884402" /><Relationship Type="http://schemas.openxmlformats.org/officeDocument/2006/relationships/slide" Target="/ppt/slides/slide4.xml" Id="Rc43ca39e055f4cd6" /><Relationship Type="http://schemas.openxmlformats.org/officeDocument/2006/relationships/slide" Target="/ppt/slides/slide5.xml" Id="R5274a4cf40d442a4" /><Relationship Type="http://schemas.openxmlformats.org/officeDocument/2006/relationships/slide" Target="/ppt/slides/slide6.xml" Id="Rf7386489936c4040" /><Relationship Type="http://schemas.openxmlformats.org/officeDocument/2006/relationships/slide" Target="/ppt/slides/slide7.xml" Id="R86c29ffb72f14ac3" /><Relationship Type="http://schemas.openxmlformats.org/officeDocument/2006/relationships/slide" Target="/ppt/slides/slide8.xml" Id="R63ff6dda26654b9d" /><Relationship Type="http://schemas.openxmlformats.org/officeDocument/2006/relationships/slide" Target="/ppt/slides/slide9.xml" Id="R557bc57a801c49fb" /><Relationship Type="http://schemas.openxmlformats.org/officeDocument/2006/relationships/slide" Target="/ppt/slides/slide10.xml" Id="R5f32cdd1e4fe48cc" /><Relationship Type="http://schemas.openxmlformats.org/officeDocument/2006/relationships/slide" Target="/ppt/slides/slide11.xml" Id="Rc2827b7dc0454d5c" /><Relationship Type="http://schemas.openxmlformats.org/officeDocument/2006/relationships/slide" Target="/ppt/slides/slide12.xml" Id="Rb4a1a09ab5c14ae3" /><Relationship Type="http://schemas.openxmlformats.org/officeDocument/2006/relationships/slide" Target="/ppt/slides/slide13.xml" Id="R99ae46b200dc4b20" /><Relationship Type="http://schemas.openxmlformats.org/officeDocument/2006/relationships/slide" Target="/ppt/slides/slide14.xml" Id="Ree9cea8d17ae4fe9" /><Relationship Type="http://schemas.openxmlformats.org/officeDocument/2006/relationships/slide" Target="/ppt/slides/slide15.xml" Id="R72c47c521cf843e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7bb8223f46f45b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eb97386395a4d14" /><Relationship Type="http://schemas.openxmlformats.org/officeDocument/2006/relationships/notesMaster" Target="/ppt/notesMasters/notesMaster1.xml" Id="Rf907e2fb0d22474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0dc22e0a7084531" /><Relationship Type="http://schemas.openxmlformats.org/officeDocument/2006/relationships/notesMaster" Target="/ppt/notesMasters/notesMaster1.xml" Id="R9c91a1047a08472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93ce618169a45e1" /><Relationship Type="http://schemas.openxmlformats.org/officeDocument/2006/relationships/notesMaster" Target="/ppt/notesMasters/notesMaster1.xml" Id="Rf05c53dc25c548e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14a6b7706724b4e" /><Relationship Type="http://schemas.openxmlformats.org/officeDocument/2006/relationships/notesMaster" Target="/ppt/notesMasters/notesMaster1.xml" Id="Rfd6c0be521894e3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6a8cafcec4c4bc6" /><Relationship Type="http://schemas.openxmlformats.org/officeDocument/2006/relationships/notesMaster" Target="/ppt/notesMasters/notesMaster1.xml" Id="R29c4e9752ab14fc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db4a126edc746e9" /><Relationship Type="http://schemas.openxmlformats.org/officeDocument/2006/relationships/notesMaster" Target="/ppt/notesMasters/notesMaster1.xml" Id="R4d1d9cf0f14e4d6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b522fb4438f45ac" /><Relationship Type="http://schemas.openxmlformats.org/officeDocument/2006/relationships/notesMaster" Target="/ppt/notesMasters/notesMaster1.xml" Id="R889928630640490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df983edd1614b96" /><Relationship Type="http://schemas.openxmlformats.org/officeDocument/2006/relationships/notesMaster" Target="/ppt/notesMasters/notesMaster1.xml" Id="Ra1de397b4e5a41a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f5bb83b05214ad7" /><Relationship Type="http://schemas.openxmlformats.org/officeDocument/2006/relationships/notesMaster" Target="/ppt/notesMasters/notesMaster1.xml" Id="Rc60f476b7e99426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f65ec4e31604505" /><Relationship Type="http://schemas.openxmlformats.org/officeDocument/2006/relationships/notesMaster" Target="/ppt/notesMasters/notesMaster1.xml" Id="R2f14ca7c84f849b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e44ac6c872f4acf" /><Relationship Type="http://schemas.openxmlformats.org/officeDocument/2006/relationships/notesMaster" Target="/ppt/notesMasters/notesMaster1.xml" Id="R9e8ce2f4ebe84a9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604edae0af94e82" /><Relationship Type="http://schemas.openxmlformats.org/officeDocument/2006/relationships/notesMaster" Target="/ppt/notesMasters/notesMaster1.xml" Id="R3998ebb8fc934fc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55c83be833d4712" /><Relationship Type="http://schemas.openxmlformats.org/officeDocument/2006/relationships/notesMaster" Target="/ppt/notesMasters/notesMaster1.xml" Id="Rc2a6e49279ef4bb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98f92a627a54778" /><Relationship Type="http://schemas.openxmlformats.org/officeDocument/2006/relationships/notesMaster" Target="/ppt/notesMasters/notesMaster1.xml" Id="R8911b414bd234a1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c702470a9844f7f" /><Relationship Type="http://schemas.openxmlformats.org/officeDocument/2006/relationships/notesMaster" Target="/ppt/notesMasters/notesMaster1.xml" Id="R7b4717dffcd94af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S22 — 다른 Task에 같은 설명이 반복된다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다른 Task에 같은 설명이 반복된다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 + Case 1 minute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Bug fix, performance, and README Tasks can repeat the same Project facts because task-specific instructions and durable Project context have different scopes.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“Task는 다른데 왜 같은 설명을 계속 복사하고 있지?”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(0:00–2:00) 버그 수정, 성능 조사, README 수정의 서로 다른 목표를 왼쪽부터 가리킨다.</a:t>
            </a:r>
          </a:p>
          <a:p xmlns:a="http://schemas.openxmlformats.org/drawingml/2006/main">
            <a:r>
              <a:t>2. (2:00–4:00) 아래에 반복된 네 줄을 비교한다. 테스트 실행, 근거가 있을 때 의존성 추가, 로컬 합성 데이터, 기존 동작 보존이다. 세 요청은 교육용 구성 예시이며 Trial 원문이 아니다.</a:t>
            </a:r>
          </a:p>
          <a:p xmlns:a="http://schemas.openxmlformats.org/drawingml/2006/main">
            <a:r>
              <a:t>3. (4:00–5:00) 같은 설명이 왜 다시 들어가는지 잠시 생각하게 한다. 아직 저장 위치나 기능을 답으로 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BEAT-008, CLM-0003, CLM-0005. TEACHING_MODEL / CONCEPTUAL; the three cards are a constructed example, not a Trial.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Repetition can indicate a scope and lifetime question. This slide does not claim a product failure or introduce a repository instruction file as the answer.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If every Task needs the same Project facts, consider whether those facts belong with the Task or with the Project.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Separate Task intent from durable constraints before choosing where to maintain them.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Use the final minute as a quiet case prompt. No hands-on activity or public response is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“공통 정보를 Prompt 밖에 둘 수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Spend four minutes on the repeated facts and one minute on the question. Do not preview the solution.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S22 또는 `production/preview/act2/S22.png`다.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S23 — 작은 Project Context의 첫 기록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작은 Project Context의 첫 기록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4 minutes (HYBRID planned; activation unverified)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STATE-01의 실제 AGENTS.md에는 반복되는 프로젝트 목적, 실행 방법, 테스트 명령, 기본 제약이 기록되어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“반복되는 Project 정보를 한 번 기록하면 어떤 점이 달라질까?”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STATE-00-FIXED에서 STATE-01로 바뀐 것은 root AGENTS.md 한 파일 추가임을 설명한다.</a:t>
            </a:r>
          </a:p>
          <a:p xmlns:a="http://schemas.openxmlformats.org/drawingml/2006/main">
            <a:r>
              <a:t>2. (1:00–3:00) 네 발췌를 순서대로 가리킨다. 목적: 로컬 grayscale CLI. 실행: README의 준비된 명령. 테스트: 원문 명령. 제약: 범위를 지키고 관련 동작을 검증. 영어 문장을 모두 낭독하지 않는다.</a:t>
            </a:r>
          </a:p>
          <a:p xmlns:a="http://schemas.openxmlformats.org/drawingml/2006/main">
            <a:r>
              <a:t>3. (3:00–4:00) Task마다 반복 설명하던 사실을 저장소에 둔 설계 의도를 정리하고, 실제 활용 관찰은 S24로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한국어 의미를 먼저 읽고 바로 위의 실제 AGENTS.md 발췌와 대조한다. 강조한 CLI 목적·README·범위/검증 문구만 짚고 테스트 명령은 입력 실습이나 CLI 설명으로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STATE-01 / DEMO-02 / OBSERVED_PRODUCT. Demo tag `14baf81746a981d7cd96b7a014ea06f28c3dd6b4`, root `AGENTS.md` 2, 5, 9, 15행 발췌. 15줄/567bytes는 원문 메타데이터이며 화면의 중심 메시지로 쓰지 않는다. 테스트 명령은 `Run`과 구두점을 제외한 원문 명령 문자열이다. Source: `plan/DEMO_MATRIX.md` STATE-01 기록.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실제 파일이 그 상태에 존재했다는 근거다. 성능, 정확도, 토큰 절감 또는 AGENTS.md 단독 인과효과를 주장하지 않는다. 제품 코드·테스트·README는 그 상태 전환에서 바뀌지 않았다. S24의 지침 활용 관찰을 이 장의 결과로 앞당기지 않는다. 현재 Desktop 자동 로딩이나 교육 환경을 검증한 것이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A small set of facts that applies across Project Tasks can be written down once in the repository.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The design choice is about context scope and maintenance ownership, not a measured quality or performance effect.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`production/ACT_2.pptx`의 S23 및 `production/preview/act2/S23.png`에 있는 실제 AGENTS.md 원문 발췌를 가리킨다. 편집기 screenshot이 아니다. Live/HYBRID는 발표 환경 검증 전까지 비활성이다.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Point out the recurring facts without asking the audience to inspect a repository.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 안내가 실제 Task에서 어떻게 사용됐는지 기록을 보겠습니다.”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Demo 4분 유지. 1분 상태 전환, 2분 네 발췌, 1분 의미와 S24 handoff. 명령어 옵션별 설명은 생략한다.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S23 또는 `production/preview/act2/S23.png`다.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S24 — 한 번의 사용에서 확인된 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한 번의 사용에서 확인된 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4 minutes (HYBRID planned; activation unverified)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In the recorded TRIAL-003 run, the agent inspected `AGENTS.md` and used the documented test command that was absent from the Task Prompt.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“Prompt에 없던 test command는 어디서 왔을까?”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왼쪽 요청에는 README-only 범위가 있었지만 전체 테스트 명령은 없었다고 짚는다.</a:t>
            </a:r>
          </a:p>
          <a:p xmlns:a="http://schemas.openxmlformats.org/drawingml/2006/main">
            <a:r>
              <a:t>2. (1:00–3:00) 가운데 AGENTS.md 접근과 기록된 테스트 명령 사용을 오른쪽 11/11 PASS 기록에 연결한다. 화면은 Trial 기록을 요약한 설명 구조다.</a:t>
            </a:r>
          </a:p>
          <a:p xmlns:a="http://schemas.openxmlformats.org/drawingml/2006/main">
            <a:r>
              <a:t>3. (3:00–4:00) Personal/global Skills도 실행됐으므로 AGENTS.md 단독 효과를 분리할 수 없다고 밝힌다. README-only 범위는 요청에도 있었다고 마무리한다.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TRIAL-003, STATE-01, DEMO-02. OBSERVED_PRODUCT; one recorded CLI run. Personal/global Skills also ran.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This run does not isolate an independent causal effect of `AGENTS.md`, establish general superiority, or show that repository guidance alone determined file scope.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The record shows one example where a Project test command was available outside the current Prompt and was used.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Keep the observed action, other active instructions, and Task scope separate when interpreting causality.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Present the captured/reconstructed Trial record. Do not represent it as a current Desktop run or a live screenshot. HYBRID activation is UNVERIFIED.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Ask the opening question, pause briefly, then reveal the record. Do not require an answer.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“이번 Task의 Prompt와 Project가 계속 유지할 Context는 어떻게 다른가?”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Use three minutes for the recorded sequence and one minute for the causal boundary. Do not elaborate on unrelated Trial details.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S24 또는 `production/preview/act2/S24.png`다.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S25 — Task Prompt와 Project Context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Task Prompt와 Project Context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A Task Prompt describes what is wanted now; Project Context describes facts and constraints that generally remain true for the Project.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“이 정보는 언제까지 유효한가?”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‘이번 작업이 끝나면?’이라는 질문으로 정보의 수명을 비교한다.</a:t>
            </a:r>
          </a:p>
          <a:p xmlns:a="http://schemas.openxmlformats.org/drawingml/2006/main">
            <a:r>
              <a:t>2. (1:00–4:00) 왼쪽 crop 수정과 README-only 범위, 오른쪽 테스트 명령과 근거 기반 의존성 정책을 연결한다. Prompt는 현재 목표를 표현하는 데 계속 필요하다.</a:t>
            </a:r>
          </a:p>
          <a:p xmlns:a="http://schemas.openxmlformats.org/drawingml/2006/main">
            <a:r>
              <a:t>3. (4:00–5:00) 어떤 사실이 다음 Task에도 유효한지 질문한다. C++에서도 공통 제약과 이번 알고리즘 변경 조건의 범위가 다를 수 있다는 짧은 예만 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S24에서 본 기록을 회수한 뒤 두 열의 수명을 비교한다. 왼쪽은 다음 작업에서 바뀔 목표, 오른쪽은 여러 작업에서 다시 참고할 사실이다. S21의 분류 질문을 처음부터 반복하지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BEAT-009–010, TRANS-003, CLM-0003, CLM-0005. TEACHING_MODEL / CONCEPTUAL; examples summarize S22–S24.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This is a teaching model for scope and lifetime, not a formal OpenAI taxonomy or proof that one layer is always better.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Put the current goal in the Task request and distinguish it from facts the Project keeps using.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Scope and lifetime are useful dimensions for deciding ownership and update responsibility.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Briefly distinguish a general Project constraint from a Task-specific algorithm condition; do not list tools or hardware.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Give the audience a brief silent pause to classify the examples mentally. Do not turn it into a hands-on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“정확한 정보를 더 많이 넣으면 언제나 괜찮을까?”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Keep the model to two layers and four examples. Leave research and detailed routing for later slides.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S25 또는 `production/preview/act2/S25.png`다.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S26 — 정확한 정보도 계속 늘어난다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정확한 정보도 계속 늘어난다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STATE-02 grew from 15 lines / 567 bytes to 32 lines / 1,303 bytes as the Project recorded more details; growth alone is not evidence of failure.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“정확한 Project 정보라면 모든 Task에 늘 넣어도 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STATE-01의 목적·실행·테스트·기본 제약에서 출발한다. 15줄/567 bytes와 32줄/1,303 bytes는 상태를 식별하는 크기 정보다.</a:t>
            </a:r>
          </a:p>
          <a:p xmlns:a="http://schemas.openxmlformats.org/drawingml/2006/main">
            <a:r>
              <a:t>2. (1:00–3:00) STATE-02에 더해진 처리 순서, 이미지 계약, 테스트 구조, CLI 출력의 실제 항목을 가리킨다. 처리 순서의 말줄임표는 선택적 invert/crop/resize 등의 중간 단계를 생략했다는 뜻이다.</a:t>
            </a:r>
          </a:p>
          <a:p xmlns:a="http://schemas.openxmlformats.org/drawingml/2006/main">
            <a:r>
              <a:t>3. (3:00–4:00) 크기 자체의 성능 의미를 부여하지 않고 ‘이번 Task에도 필요할까?’로 다음 장을 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STATE-01 and STATE-02, BEAT-011, CLM-0014, CLM-0015. OBSERVED_PRODUCT; counts describe these recorded states only.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Do not label the growth as a failure threshold, claim that it caused an error, or imply that the content was inaccurate.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More documented facts create a follow-up question: does each Task need all of them?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Maintenance cost and stale information are review considerations, not observed failures in this comparison.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Use the two recorded state summaries; no live repository interaction is planned.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Treat the slide as a case question. Allow a short pause without requiring a public answer.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“작은 README Task에서 어떤 정보가 실제로 필요했을까?”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크기 식별은 짧게 끝내고 추가된 실제 정보 네 항목에 시간을 쓴다. 마지막 1분에는 관련성 질문으로 이동하며 문서 크기의 인과 효과를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S26 또는 `production/preview/act2/S26.png`다.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S27 — 정확하지만 이번 Task에는 불필요한 정보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정확하지만 이번 Task에는 불필요한 정보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2 minutes (CAPTURED) + Reflection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TRIAL-004 included Image context that was unnecessary for the README build-guidance Task, but no agent confusion or context-related failure was observed.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“README build 안내를 고치는 데 어떤 정보가 필요했을까?”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Demo) README의 build tools 안내를 고친 기록된 Task를 제시한다.</a:t>
            </a:r>
          </a:p>
          <a:p xmlns:a="http://schemas.openxmlformats.org/drawingml/2006/main">
            <a:r>
              <a:t>2. (1:00–2:00 / Demo) 왼쪽 README/build 설정과 오른쪽 crop·resize 계약/pipeline 상세를 비교한다. Agent 혼란과 Context 관련 실패는 관찰되지 않았음을 먼저 밝힌다.</a:t>
            </a:r>
          </a:p>
          <a:p xmlns:a="http://schemas.openxmlformats.org/drawingml/2006/main">
            <a:r>
              <a:t>3. (2:00–4:00 / Reflection) 정확한 정보와 이번 질문에 관련된 정보를 구분해 보게 한다. 공개 응답이나 작업은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TRIAL-004, BEAT-012, CLM-0014, CLM-0015. OBSERVED_PRODUCT; CAPTURED record of one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Presence of unnecessary context is not evidence that the model failed, became confused, or performed worse. No such failure was observed.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Correct information can still be unrelated to the current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Distinguish context relevance from outcome quality; this Trial does not measure a performance effect.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Show the captured/reconstructed Trial record for two minutes. Do not run a new Trial or simulate a failure.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Use the last two minutes for private reflection: which context was relevant to this Task? No response or written exercise is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“필요한 정보를 항상 한 번에 넣지 않는 방법은 무엇일까?”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Protect the two-minute Reflection. Explicitly state the absence of observed confusion before moving 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S27 또는 `production/preview/act2/S27.png`다.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S28 — 정보의 범위와 제공 시점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정보의 범위와 제공 시점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The course model separates always-on Project facts, task-relevant detail, and reusable workflow by scope and timing.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“무엇은 항상 필요하고, 무엇은 Task에 따라 찾아야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세 행이 이 과정에서 쓰는 정보 설계 모델임을 밝힌다.</a:t>
            </a:r>
          </a:p>
          <a:p xmlns:a="http://schemas.openxmlformats.org/drawingml/2006/main">
            <a:r>
              <a:t>2. (1:00–3:00) 기본 안내, 질문에 따른 상세, 특정 작업의 수행 방법을 순서대로 가리킨다. 각 행의 구체 예시를 하나씩 설명한다.</a:t>
            </a:r>
          </a:p>
          <a:p xmlns:a="http://schemas.openxmlformats.org/drawingml/2006/main">
            <a:r>
              <a:t>3. (3:00–4:00) 성능 조사 절차 예가 STATE-02에 저장돼 있었다는 뜻은 아니라고 한정한다. 방금은 정보의 범위와 제공 시점을 나눴고, 다음에는 ‘Context 양만 늘리면 충분할까?’를 연구의 제한된 범위 안에서 살펴본다고 예고한다.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BEAT-012, BEAT-014, STATE-02, CLM-0014, CLM-0015, CLM-0003, CLM-0005. TEACHING_MODEL / CONCEPTUAL.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Always-on / On-demand / Workflow is a course model, not an official OpenAI classification. Do not claim token savings or improved performance.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Some facts apply broadly; details matter for a smaller set of Tasks; a work procedure says how to approach a class of work.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Keep durable facts, selectively needed details, and workflow responsibility conceptually distinct even when they can all appear outside a Task Prompt.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Ask the audience to notice that information has different scopes; no category-writing exercise is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“필요한 때 찾게 하는 대신 모두 넣어두면 충분할까? 이 질문을 Long Context 연구의 범위 안에서 보겠습니다.”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Four minutes, one minute per bucket plus the boundary. Do not present this as a product feature taxonomy.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S28 또는 `production/preview/act2/S28.png`다.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S29 — Long Context 연구가 말해주는 범위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Long Context 연구가 말해주는 범위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Research in specific models and tasks supports a bounded caution: more context is not automatically better, and relevance or information position can matter under some conditions.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“정보의 범위와 시점을 나눠봤는데, Context 양만 늘리면 충분할까?”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앞 장의 정보 분류에서 잠시 물러나 ‘양만 늘리면 충분한가?’라는 질문을 보는 목적을 밝힌다. ‘더 많은 Context가 항상 더 좋은 것은 아니다’의 적용 범위를 특정 모델·과제에 한정한다.</a:t>
            </a:r>
          </a:p>
          <a:p xmlns:a="http://schemas.openxmlformats.org/drawingml/2006/main">
            <a:r>
              <a:t>2. (1:00–3:00) 왼쪽 Lost in the Middle의 여러 문서 질문 답변/key-value 검색, 오른쪽 RepoQA의 50개 Repository 코드 검색을 비교한다. 논문이 답한 질문과 승인된 핵심 결론만 말한다. 수치 그래프나 현재 Codex 성능 추정은 추가하지 않는다.</a:t>
            </a:r>
          </a:p>
          <a:p xmlns:a="http://schemas.openxmlformats.org/drawingml/2006/main">
            <a:r>
              <a:t>3. (3:00–4:00) 화면 하단의 두 출처와 Notes의 원문 링크를 안내한다. 이 Demo의 현재 Codex Repository coding을 직접 시험한 연구가 아님을 명시한다. 연구 소개를 마치고, 이번 Task에 필요한 상세 정보와 그 위치를 설계하는 질문으로 돌아간다.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왼쪽은 관련 정보의 위치를 바꾸는 질적 과제 구조, 오른쪽은 Repository에서 관련 코드를 찾는 과제 구조다. 칠해진 블록은 정보 위치 표시이며 점수·성능·현재 Codex 결과를 뜻하지 않는다. 수치 그래프처럼 해석하지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RESEARCH. Liu et al., “Lost in the Middle: How Language Models Use Long Contexts,” TACL 2024, 12:157–173, https://aclanthology.org/2024.tacl-1.9/; RepoQA (2024), arXiv:2406.06025, https://arxiv.org/abs/2406.06025. RepoQA venue remains TODO in the source plan and is not invented here.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Do not claim current Codex fails because of Lost in the Middle, create a context-length threshold, generalize results across all models/tasks, or invent numeric/curve data. Keep study conditions beside the conclusion.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A larger context window does not guarantee that every included detail is equally useful in every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The cited work covers specific historical models and benchmark settings, including multi-document QA and synthetic retrieval; it does not establish a present-day Codex limitation.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 This is a research summary, not a deterministic product demonstration.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Use the opening question to invite a short mental prediction, then answer within the cited scope.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 연구가 Demo의 Routing을 검증한 것은 아닙니다. 이제 Task에 필요한 상세 정보를 어디서 찾게 할지 설계로 돌아가겠습니다.”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Keep the paper descriptions concise and reserve the final minute for the transfer boundary.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S29 또는 `production/preview/act2/S29.png`다.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S30 — 필요한 상세 정보로 가는 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필요한 상세 정보로 가는 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Context design asks what information a Task needs and when it should be available, rather than placing every detail in one place.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“Task가 필요한 상세 정보에 도달하는 경로는 어떻게 설계할까?”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Move from the question of context amount to the question of relevance and timing.</a:t>
            </a:r>
          </a:p>
          <a:p xmlns:a="http://schemas.openxmlformats.org/drawingml/2006/main">
            <a:r>
              <a:t>2. (1:00–2:00) Show `Task → Core Context → Relevant Detail when needed` as a course diagram.</a:t>
            </a:r>
          </a:p>
          <a:p xmlns:a="http://schemas.openxmlformats.org/drawingml/2006/main">
            <a:r>
              <a:t>3. (2:00–3:00) Give one short C++ example and reserve STATE-03 for the next sequence. 이 장에서는 찾아가는 경로를 보았고, 다음 장에서는 그 출발점인 Core에 무엇을 남길지 정한다고 마무리한다.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현재 Task 질문에서 출발해 Core의 안내를 거쳐 상세 정보로 이동한다. 이 장의 초점은 어디로 찾아갈지이며, 다음 장에서 Core에 무엇을 남길지 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BEAT-014, STATE-03 as the upcoming example, CLM-0003, CLM-0005, CLM-0014, CLM-0015. TEACHING_MODEL / CONCEPTUAL.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This is a routing question, not evidence of performance improvement, token savings, or a product's automatic retrieval behavior.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A short starting point can direct a reader toward more detail when a Task needs 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Discovery and maintenance remain design concerns; this slide does not claim perfect retrieval.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Distinguish a general Project constraint from a Task-specific CMake or algorithm contract. Do not list tools, hardware, or environment commands.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 — STATE-03 results are reserved for the following section.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Let the routing question sit for a moment; do not reveal the Trial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“경로를 봤으니, 이제 그 출발점인 Core에 무엇을 남길지 정해보겠습니다.”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Keep this to one diagram and one brief C++ example. No product-specific implementation details.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S30 또는 `production/preview/act2/S30.png`다.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S31 — Core Context에서 상세 정보로 가는 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Core Context에서 상세 정보로 가는 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Root/Core Context can be a starting point that points toward detail, rather than an encyclopedia of all Project knowledge.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“그 경로의 출발점인 Core에는 무엇을 남길까?”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앞 장에서 본 탐색 경로의 출발점에 초점을 맞춘다. 왼쪽 기본 안내에 남길 목적, 상시 제약, 상세 정보 위치를 읽는 순서대로 가리킨다.</a:t>
            </a:r>
          </a:p>
          <a:p xmlns:a="http://schemas.openxmlformats.org/drawingml/2006/main">
            <a:r>
              <a:t>2. (1:00–2:30) 오른쪽 architecture, image contracts, testing으로 이어지는 관계를 설명한다. 화살표는 교육용 정보 설계 관계다.</a:t>
            </a:r>
          </a:p>
          <a:p xmlns:a="http://schemas.openxmlformats.org/drawingml/2006/main">
            <a:r>
              <a:t>3. (2:30–4:00) C++에서는 build/test 진입점과 기본 제약에서 해당 알고리즘 계약·하드웨어 조건으로 안내할 수 있음을 짧게 연결한다. Routing 성능 효과는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Core의 세 항목을 먼저 읽고 필요한 상세의 세 행으로 이동한다. S30의 탐색 경로를 반복 설명하기보다 항상 읽을 기본 안내와 필요할 때 찾을 상세의 경계를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BEAT-014, CLM-0003, CLM-0005, CLM-0014, CLM-0015. TEACHING_MODEL / CONCEPTUAL; describe STATE-03 structure in S32.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The model does not demonstrate better retrieval or lower cost. No automatic product behavior is claimed.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Keep a small starting page and put specialized details in topic pages that it points 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Choose core facts for cross-task stability and details for a narrower task scope; routing quality remains an empirical question.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Core: build/test entry and Project constraints. Detail: algorithm contract and hardware assumptions. Keep it to this scope example.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 — the observed repository structure follows on S32.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Ask what belongs in the core; do not solicit a complete taxonomy.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“Demo Repository에서는 이 Mental Model이 어떻게 반영됐을까?”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Four minutes; keep the C++ bridge to one integrated minute and avoid listing CMake/hardware items.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S31 또는 `production/preview/act2/S31.png`다.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S32 — 정보를 지우지 않고 위치를 나누기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정보를 지우지 않고 위치를 나누기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2 minutes + Demo 2 minutes (CAPTURED) + Case 1 minute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STATE-03 reorganized the recorded detail from one growing `AGENTS.md` into a smaller core with links to topic documents.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“정보를 나누면 무엇이 바뀌고, 무엇을 그대로 보존해야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Lecture) STATE-02와 STATE-03은 실제 Repository 상태이며, 정보의 위치가 달라졌다고 밝힌다.</a:t>
            </a:r>
          </a:p>
          <a:p xmlns:a="http://schemas.openxmlformats.org/drawingml/2006/main">
            <a:r>
              <a:t>2. (1:00–3:00 / Demo) 커진 AGENTS.md와 분리된 docs를 비교한다. 오른쪽 실제 Routing 문구에서 어떤 질문을 어떤 문서로 안내하는지 발췌 한 줄씩 가리킨다.</a:t>
            </a:r>
          </a:p>
          <a:p xmlns:a="http://schemas.openxmlformats.org/drawingml/2006/main">
            <a:r>
              <a:t>3. (3:00–4:00 / Case) 정보를 없애기보다 Scope에 따라 놓을 위치를 나눈 설계 의도를 설명한다.</a:t>
            </a:r>
          </a:p>
          <a:p xmlns:a="http://schemas.openxmlformats.org/drawingml/2006/main">
            <a:r>
              <a:t>4. (4:00–5:00 / Lecture) C++도 기본 안내와 알고리즘/모듈 상세를 나누는 패턴으로 연결한다. 실제 접근 결과는 다음 두 Task에서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STATE-02, STATE-03, DEMO-06, BEAT-014–015, CLM-0003, CLM-0005, CLM-0014, CLM-0015. OBSERVED_PRODUCT for file structure; TEACHING_MODEL for the routing interpretation.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State structure is observed. Progressive Disclosure is a course pattern here; perfect routing, performance improvement, or token savings are not proven.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The information was reorganized by topic; the slide does not show it being deleted.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Separate the evidence of file placement from the inference about how such a structure may help readers navigate.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Core constraints stay at the entry point; algorithm, module, and hardware details belong with their relevant topic.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Use the captured/reconstructed STATE-02 → STATE-03 record; no live file browsing. Do not portray the diagram as a product screenshot.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Ask what must remain unchanged when information is moved; accept silent reflection.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“두 Task가 같은 상세 문서를 읽는지 관찰해 보겠습니다.”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Use the two Demo minutes for the before/after state, one for the Case, and keep the C++ bridge integrated into the lecture flow as approved.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S32 또는 `production/preview/act2/S32.png`다.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S33 — 서로 다른 두 Task가 무엇을 읽을까?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서로 다른 두 Task가 무엇을 읽을까?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Compare two read-only Task questions by observing what evidence each run actually accesses.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“두 Task에서 Agent가 같은 상세 문서를 읽을까?”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(0:00–0:30) Set the watch-for question without proposing an answer.</a:t>
            </a:r>
          </a:p>
          <a:p xmlns:a="http://schemas.openxmlformats.org/drawingml/2006/main">
            <a:r>
              <a:t>2. (0:30–1:30) Show Task A: “crop 1 3에서 어떤 source column을 포함하는가?” and Task B: “runtime dependency가 있는가?”</a:t>
            </a:r>
          </a:p>
          <a:p xmlns:a="http://schemas.openxmlformats.org/drawingml/2006/main">
            <a:r>
              <a:t>3. (1:30–2:00) Invite the audience to notice whether the same detail appears in both records.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TRIAL-005A/B, BEAT-015–016, CLM-0003, CLM-0005, CLM-0014, CLM-0015. OBSERVED_PRODUCT setup; results are withheld until the next slides.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Do not predict file access or reveal the observed result in advance. This setup does not imply perfect routing.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Different questions may require different Project details; the next slides show what was observed.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Evaluate actual accesses rather than infer behavior from the directory structure alone.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 — this is the watch setup; no new Trial is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Ask viewers to keep the comparison question in mind. No response is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“Crop Task의 기록에서 어떤 근거가 사용됐을까?”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Two minutes only. Do not give the answer or turn the prompt into an exercise.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S33 또는 `production/preview/act2/S33.png`다.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S34 — Crop Task에서 관찰한 접근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Crop Task에서 관찰한 접근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In TRIAL-005A’s final run, the recorded Crop answer was supported by access to the image contract; some broader context was also read.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“Crop 계약을 묻는 Task에서 어떤 근거가 사용됐을까?”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image-contracts.md에 있는 반열린 구간 [x_start, x_end)을 가리킨다.</a:t>
            </a:r>
          </a:p>
          <a:p xmlns:a="http://schemas.openxmlformats.org/drawingml/2006/main">
            <a:r>
              <a:t>2. (1:00–3:00) 아래 숫자는 픽셀 값이 아니라 source column index임을 밝힌다. crop 1 3에서 강조한 열 1과 2, 결과 너비 2, 제외된 끝 좌표 3을 순서대로 짚는다.</a:t>
            </a:r>
          </a:p>
          <a:p xmlns:a="http://schemas.openxmlformats.org/drawingml/2006/main">
            <a:r>
              <a:t>3. (3:00–4:00) 하단에서 AGENTS.md, architecture.md도 읽었으며 testing.md는 최종 실행에서 읽었음을 확인한다. 완벽한 최소 문서 선택으로 해석하지 않는다.</a:t>
            </a:r>
          </a:p>
          <a:p xmlns:a="http://schemas.openxmlformats.org/drawingml/2006/main">
            <a:r>
              <a:t>4. (4:00–5:00) 계약이 필요한 Task에서 관련 문서 접근과 답이 관찰됐다는 범위로 마무리하고 Task B로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TRIAL-005A, BEAT-016, CLM-0014, CLM-0015. OBSERVED_PRODUCT; recorded CLI final run and its access record.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The record supports that image-contract detail was accessed and the answer was observed in this run. It does not show perfect routing, that only relevant documents were read, or a measured efficiency gain.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The Crop question had a matching contract document, and the recorded final run read it before giving the boundary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Include run variability and broader reads in the interpretation; `testing.md` access was not consistent across iterations.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Use the captured/reconstructed record. Show the image contract and concise answer, not a full file-access log or fabricated terminal capture.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Ask which evidence supports the boundary answer; let the audience inspect the concise summary.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“Dependency Task와 비교하면 어떤 차이가 보일까?”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Give the answer two minutes, the supporting document and limitation two minutes, then one minute for transition.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S34 또는 `production/preview/act2/S34.png`다.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S35 — Task별 접근은 달랐지만 완벽하지는 않다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Task별 접근은 달랐지만 완벽하지는 않다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7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1 minute (CAPTURED) + Case 3 minutes + Reflection 2 minutes + Q&amp;A 1 minute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TRIAL-005A/B showed a task-specific difference in detailed document access, but did not prove perfect routing, token savings, or performance improvement.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“Task별 차이를 관찰한 것만으로 완벽한 Routing을 말할 수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Demo) 강조한 첫 행에서 A는 image-contracts.md를 읽고 B는 읽지 않았음을 가리킨다.</a:t>
            </a:r>
          </a:p>
          <a:p xmlns:a="http://schemas.openxmlformats.org/drawingml/2006/main">
            <a:r>
              <a:t>2. (1:00–3:00 / Case) architecture는 둘 다 읽었고 testing은 A의 최종 실행에서만 읽었다고 확인한다. B는 설정·README·source도 확인했다. A의 더 넓은 읽기와 실행 간 변동도 남아 있다.</a:t>
            </a:r>
          </a:p>
          <a:p xmlns:a="http://schemas.openxmlformats.org/drawingml/2006/main">
            <a:r>
              <a:t>3. (3:00–4:00 / Case) 완벽한 Routing 미입증, 토큰 절약·성능 개선 미측정을 분명히 말한다.</a:t>
            </a:r>
          </a:p>
          <a:p xmlns:a="http://schemas.openxmlformats.org/drawingml/2006/main">
            <a:r>
              <a:t>4. (4:00–6:00 / Reflection) 이 비교로 말할 수 있는 사실과 없는 효과를 조용히 구분해 보게 한다.</a:t>
            </a:r>
          </a:p>
          <a:p xmlns:a="http://schemas.openxmlformats.org/drawingml/2006/main">
            <a:r>
              <a:t>5. (6:00–7:00 / Q&amp;A) 질문 하나를 받거나 준비된 질문을 던진다. 파일 접근 차이라는 관찰로 닫는다.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TRIAL-005A/B, BEAT-016–017, CLM-0014, CLM-0015, CLM-0003, CLM-0005. OBSERVED_PRODUCT; captured records, with observed run variability.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Task-specific access difference is observed. Broad reads also occurred. Do not claim complete routing, a general advantage, token savings, or performance gains.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A relevant document was read for one Task and not another, but the agent still read some shared and broader context.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A/B access differences are evidence about these runs only; they do not establish a stable policy or causal efficiency effect.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실제 기록을 요약한 문서 접근 비교표를 사용한다. image-contracts, architecture, testing 순서로 가리키며 testing의 최종 실행 범위와 변동을 유지한다. 토큰·성능 효과나 실제 터미널 화면으로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Keep three minutes for the Case, two for private Reflection, and one for Q&amp;A. If no one responds, ask: “이 기록으로 말할 수 있는 범위는 어디까지일까요?”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“정보를 정리했는데도 남아 있는 반복은 무엇일까?”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Protect the Mode boundaries. If discussion runs long, cut secondary file names before shortening the explicit claim boundary.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S35 또는 `production/preview/act2/S35.png`다.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S36 — 지식은 정리됐지만 절차는 반복된다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지식은 정리됐지만 절차는 반복된다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10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Transition 4 minutes + Q&amp;A 6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Task Prompt, Project Context, and routing address different information responsibilities; a repeated work procedure can remain as a separate problem.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“Project 정보를 잘 정리했으면 문제가 끝난 걸까?”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(0:00–2:00 / Transition) 왼쪽의 현재 목표, 공통 사실, 상세 정보 위치를 순서대로 회수한다.</a:t>
            </a:r>
          </a:p>
          <a:p xmlns:a="http://schemas.openxmlformats.org/drawingml/2006/main">
            <a:r>
              <a:t>2. (2:00–4:00 / Transition) 오른쪽 ‘먼저 측정하고, 조사한 뒤 변경하고, 같은 조건으로 확인’이라는 반복 절차를 보여준다. Context 선택을 완전히 해결했다는 뜻은 아니라고 밝힌다.</a:t>
            </a:r>
          </a:p>
          <a:p xmlns:a="http://schemas.openxmlformats.org/drawingml/2006/main">
            <a:r>
              <a:t>3. (4:00–10:00 / Q&amp;A) ‘같은 작업 절차도 다시 써야 할까?’로 질문을 받는다. 질문이 없으면 사실과 절차의 책임 차이를 짚고 ‘Project 지식과 별개로 같은 조사·검증 절차도 매번 다시 적어야 할까?’를 던진다. 두 Task의 공통 절차를 다음 관찰 대상으로 삼는다. 마지막 짧은 handoff도 이 6분 안에 포함한다.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BEAT-017–018, TRANS-005, TRIAL-006/007 as context for the upcoming problem. OBSERVED_PRODUCT for repeated prompt structure with PARTIAL attribution; TEACHING_MODEL for the three responsibilities and the transition question.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Do not attribute the repeated procedure solely to the Trial Prompt; global Harness influence remains. Do not present Skill or another solution here.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Knowing Project facts and repeating a reliable way of working are different needs.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Context can reduce repeated fact explanation while process ownership remains unresolved; keep observed repetition separate from its cause.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 — use the concise recorded prompt-structure summary; no live run or new Trial.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0–4분 Transition 뒤 4–10분 Q&amp;A를 운영한다. 공개 응답은 선택이며 질문이 없으면 사실과 절차의 차이를 묻는 준비 질문을 사용한다. 별도 실습은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“Project 지식과 별개로 같은 조사·검증 절차도 매번 다시 적어야 할까? 다음 두 성능 Task의 기록에서 반복된 부분을 보겠습니다.”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Transition 4분 → Q&amp;A 6분, 총 10분을 유지한다. 마지막 handoff 문구도 Q&amp;A 종료 전에 포함하며 추가 Transition 시간을 만들지 않는다. 답변이 길어지면 다음 질문을 받지 않고 ACT 3로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S36 또는 `production/preview/act2/S36.png`다. 수정 초안 정적 화면은 존재하며 최종 release 경로·내용 일치는 통합 검토에서 확인한다. 실제 Trial 캡처나 현재 제품 실행으로 표현하지 않는다. 질문이 없으면 Audience Interaction의 준비 질문으로 진행한다.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d3df81bbdc4e2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57b946af2d4a8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30ea0c2309471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dfed7dffa34d6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9cc3194e50463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a2f58d652d4e6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713D891-BCA9-4E2C-B4D8-DD85BE59CD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FFB417C0-3E8C-46C0-ACDC-B9DCEB83EBD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C0E45E4-C5FF-4AD2-B96D-8FB031D9BB5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2D335BE-A886-4C6C-8F54-A5077D1987C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4082072-2DFE-4EAE-889B-51AB677993A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E56D10E-B34C-47E8-A95D-2B5D046E1E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3B170AD-4102-4B3A-9E90-A066EDA6C09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E68F22C-FD65-439C-ACA3-3E240D3A006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C152618-673A-47A6-A9F6-CAC7A0C6CF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0565BEC-0A91-429D-8030-5AD688A63B5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1f60ed404364f24" /><Relationship Type="http://schemas.openxmlformats.org/officeDocument/2006/relationships/slideLayout" Target="/ppt/slideLayouts/slideLayout1.xml" Id="R94159041c6c942d9" /><Relationship Type="http://schemas.openxmlformats.org/officeDocument/2006/relationships/slideLayout" Target="/ppt/slideLayouts/slideLayout2.xml" Id="Rfbc5a78a8e6f4efe" /><Relationship Type="http://schemas.openxmlformats.org/officeDocument/2006/relationships/slideLayout" Target="/ppt/slideLayouts/slideLayout3.xml" Id="R64a80f1e93b44ef5" /><Relationship Type="http://schemas.openxmlformats.org/officeDocument/2006/relationships/slideLayout" Target="/ppt/slideLayouts/slideLayout4.xml" Id="R84fa851239ba4889" /><Relationship Type="http://schemas.openxmlformats.org/officeDocument/2006/relationships/slideLayout" Target="/ppt/slideLayouts/slideLayout5.xml" Id="R0f0ba64e208b4b46" /><Relationship Type="http://schemas.openxmlformats.org/officeDocument/2006/relationships/slideLayout" Target="/ppt/slideLayouts/slideLayout6.xml" Id="R0b20351628864d6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4159041c6c942d9"/>
    <p:sldLayoutId xmlns:r="http://schemas.openxmlformats.org/officeDocument/2006/relationships" id="2147483650" r:id="Rfbc5a78a8e6f4efe"/>
    <p:sldLayoutId xmlns:r="http://schemas.openxmlformats.org/officeDocument/2006/relationships" id="2147483651" r:id="R64a80f1e93b44ef5"/>
    <p:sldLayoutId xmlns:r="http://schemas.openxmlformats.org/officeDocument/2006/relationships" id="2147483652" r:id="R84fa851239ba4889"/>
    <p:sldLayoutId xmlns:r="http://schemas.openxmlformats.org/officeDocument/2006/relationships" id="2147483653" r:id="R0f0ba64e208b4b46"/>
    <p:sldLayoutId xmlns:r="http://schemas.openxmlformats.org/officeDocument/2006/relationships" id="2147483654" r:id="R0b20351628864d6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c14701c524045ca" /><Relationship Type="http://schemas.openxmlformats.org/officeDocument/2006/relationships/notesSlide" Target="/ppt/notesSlides/notesSlide1.xml" Id="R30d512a9b31e4dc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a0a04585eaa4cc9" /><Relationship Type="http://schemas.openxmlformats.org/officeDocument/2006/relationships/notesSlide" Target="/ppt/notesSlides/notesSlide2.xml" Id="R1f73dcc0bf564d8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33981b9081c42bc" /><Relationship Type="http://schemas.openxmlformats.org/officeDocument/2006/relationships/notesSlide" Target="/ppt/notesSlides/notesSlide3.xml" Id="R54a362372aa3497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b12862b1854b95" /><Relationship Type="http://schemas.openxmlformats.org/officeDocument/2006/relationships/notesSlide" Target="/ppt/notesSlides/notesSlide4.xml" Id="R74bcf6f08f2c44c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a7acdaf0ee243bd" /><Relationship Type="http://schemas.openxmlformats.org/officeDocument/2006/relationships/notesSlide" Target="/ppt/notesSlides/notesSlide5.xml" Id="R944e41ef01ea459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15886ed7bf648e8" /><Relationship Type="http://schemas.openxmlformats.org/officeDocument/2006/relationships/notesSlide" Target="/ppt/notesSlides/notesSlide6.xml" Id="Reb92291a4430483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732310f0b3c4600" /><Relationship Type="http://schemas.openxmlformats.org/officeDocument/2006/relationships/notesSlide" Target="/ppt/notesSlides/notesSlide7.xml" Id="Rde1b5532a94b419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55390d74ce144f7" /><Relationship Type="http://schemas.openxmlformats.org/officeDocument/2006/relationships/notesSlide" Target="/ppt/notesSlides/notesSlide8.xml" Id="Rae2e91ef02ed47d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1279ddde9f49c5" /><Relationship Type="http://schemas.openxmlformats.org/officeDocument/2006/relationships/notesSlide" Target="/ppt/notesSlides/notesSlide9.xml" Id="R8e9ad59c81b7460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4ac41678f2447ea" /><Relationship Type="http://schemas.openxmlformats.org/officeDocument/2006/relationships/notesSlide" Target="/ppt/notesSlides/notesSlide10.xml" Id="R98a39a85263544e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f0fda63b0de4f85" /><Relationship Type="http://schemas.openxmlformats.org/officeDocument/2006/relationships/notesSlide" Target="/ppt/notesSlides/notesSlide11.xml" Id="R34e566ecb9be4af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f209e13f1f6423c" /><Relationship Type="http://schemas.openxmlformats.org/officeDocument/2006/relationships/notesSlide" Target="/ppt/notesSlides/notesSlide12.xml" Id="Rc3d618929d194ae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ffcb27242434ee3" /><Relationship Type="http://schemas.openxmlformats.org/officeDocument/2006/relationships/notesSlide" Target="/ppt/notesSlides/notesSlide13.xml" Id="R5ac232166d1e4bf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3dada8c6fb14206" /><Relationship Type="http://schemas.openxmlformats.org/officeDocument/2006/relationships/notesSlide" Target="/ppt/notesSlides/notesSlide14.xml" Id="Ra35804ed1b4a4c4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c83b7dc0d2d4844" /><Relationship Type="http://schemas.openxmlformats.org/officeDocument/2006/relationships/notesSlide" Target="/ppt/notesSlides/notesSlide15.xml" Id="R1cf95c3f81fc4e9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2 · 반복되는 프로젝트 설명">
            <a:extLst xmlns:a="http://schemas.openxmlformats.org/drawingml/2006/main">
              <a:ext uri="{FF2B5EF4-FFF2-40B4-BE49-F238E27FC236}">
                <a16:creationId xmlns:a16="http://schemas.microsoft.com/office/drawing/2014/main" id="{128F6C12-D6A3-4677-98F5-906EBB1A4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반복되는 프로젝트 설명</a:t>
            </a:r>
          </a:p>
        </p:txBody>
      </p:sp>
      <p:sp>
        <p:nvSpPr>
          <p:cNvPr id="2" name="S22">
            <a:extLst xmlns:a="http://schemas.openxmlformats.org/drawingml/2006/main">
              <a:ext uri="{FF2B5EF4-FFF2-40B4-BE49-F238E27FC236}">
                <a16:creationId xmlns:a16="http://schemas.microsoft.com/office/drawing/2014/main" id="{E11200AB-3C0D-456B-8451-929ABD0BD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S22</a:t>
            </a:r>
          </a:p>
        </p:txBody>
      </p:sp>
      <p:sp>
        <p:nvSpPr>
          <p:cNvPr id="3" name="다른 Task에 같은 설명이 반복된다">
            <a:extLst xmlns:a="http://schemas.openxmlformats.org/drawingml/2006/main">
              <a:ext uri="{FF2B5EF4-FFF2-40B4-BE49-F238E27FC236}">
                <a16:creationId xmlns:a16="http://schemas.microsoft.com/office/drawing/2014/main" id="{AC9755E9-2F73-4451-87C2-9A5E060D8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Task에 같은 설명이 반복된다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A379ED-511C-4AC9-A05D-8C39FE1E0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구성 사례 · Bug fix / Performance / README 작업">
            <a:extLst xmlns:a="http://schemas.openxmlformats.org/drawingml/2006/main">
              <a:ext uri="{FF2B5EF4-FFF2-40B4-BE49-F238E27FC236}">
                <a16:creationId xmlns:a16="http://schemas.microsoft.com/office/drawing/2014/main" id="{5603F5FB-3CC7-4600-8240-DB88A7121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구성 사례 · Bug fix / Performance / README 작업</a:t>
            </a:r>
          </a:p>
        </p:txBody>
      </p:sp>
      <p:sp>
        <p:nvSpPr>
          <p:cNvPr id="6" name="서로 다른 요청에 같은 프로젝트 정보가 반복되는 상황을 보여준다">
            <a:extLst xmlns:a="http://schemas.openxmlformats.org/drawingml/2006/main">
              <a:ext uri="{FF2B5EF4-FFF2-40B4-BE49-F238E27FC236}">
                <a16:creationId xmlns:a16="http://schemas.microsoft.com/office/drawing/2014/main" id="{36A68D7F-0195-41ED-A9F9-29D5D098D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서로 다른 요청에 같은 프로젝트 정보가 반복되는 상황을 보여준다</a:t>
            </a:r>
          </a:p>
        </p:txBody>
      </p:sp>
      <p:sp>
        <p:nvSpPr>
          <p:cNvPr id="7" name="버그 수정">
            <a:extLst xmlns:a="http://schemas.openxmlformats.org/drawingml/2006/main">
              <a:ext uri="{FF2B5EF4-FFF2-40B4-BE49-F238E27FC236}">
                <a16:creationId xmlns:a16="http://schemas.microsoft.com/office/drawing/2014/main" id="{2F36A949-7CCE-444F-B9BA-9806846CC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342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버그 수정</a:t>
            </a:r>
          </a:p>
        </p:txBody>
      </p:sp>
      <p:sp>
        <p:nvSpPr>
          <p:cNvPr id="8" name="crop 경계를 수정해줘">
            <a:extLst xmlns:a="http://schemas.openxmlformats.org/drawingml/2006/main">
              <a:ext uri="{FF2B5EF4-FFF2-40B4-BE49-F238E27FC236}">
                <a16:creationId xmlns:a16="http://schemas.microsoft.com/office/drawing/2014/main" id="{053004F5-7EA5-4715-BF20-F2795DAC9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경계를 수정해줘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91326D-C1E9-4AE2-BCE3-E84B8CBC6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002002-DCCB-4ED9-936E-08E1E0A08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3429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지정된 테스트 실행&#10;의존성 추가에는 근거 필요&#10;로컬 합성 데이터 사용&#10;기존 동작 보존">
            <a:extLst xmlns:a="http://schemas.openxmlformats.org/drawingml/2006/main">
              <a:ext uri="{FF2B5EF4-FFF2-40B4-BE49-F238E27FC236}">
                <a16:creationId xmlns:a16="http://schemas.microsoft.com/office/drawing/2014/main" id="{CD589A0A-F892-441E-A869-9A391FFEF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00450"/>
            <a:ext cx="31242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지정된 테스트 실행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의존성 추가에는 근거 필요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로컬 합성 데이터 사용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기존 동작 보존</a:t>
            </a:r>
          </a:p>
        </p:txBody>
      </p:sp>
      <p:sp>
        <p:nvSpPr>
          <p:cNvPr id="12" name="성능 조사">
            <a:extLst xmlns:a="http://schemas.openxmlformats.org/drawingml/2006/main">
              <a:ext uri="{FF2B5EF4-FFF2-40B4-BE49-F238E27FC236}">
                <a16:creationId xmlns:a16="http://schemas.microsoft.com/office/drawing/2014/main" id="{3DBB63DA-18FC-4251-8739-5B3CAFA1E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209800"/>
            <a:ext cx="342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성능 조사</a:t>
            </a:r>
          </a:p>
        </p:txBody>
      </p:sp>
      <p:sp>
        <p:nvSpPr>
          <p:cNvPr id="13" name="통계 계산을 조사해줘">
            <a:extLst xmlns:a="http://schemas.openxmlformats.org/drawingml/2006/main">
              <a:ext uri="{FF2B5EF4-FFF2-40B4-BE49-F238E27FC236}">
                <a16:creationId xmlns:a16="http://schemas.microsoft.com/office/drawing/2014/main" id="{E72A5824-DE0B-411C-9E10-43CDBDD18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0510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통계 계산을 조사해줘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BCEFA1-FD9C-43D4-A527-2C2147516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276600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A7CF95-F7F4-4C03-A696-3C632AD56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467100"/>
            <a:ext cx="3429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지정된 테스트 실행&#10;의존성 추가에는 근거 필요&#10;로컬 합성 데이터 사용&#10;기존 동작 보존">
            <a:extLst xmlns:a="http://schemas.openxmlformats.org/drawingml/2006/main">
              <a:ext uri="{FF2B5EF4-FFF2-40B4-BE49-F238E27FC236}">
                <a16:creationId xmlns:a16="http://schemas.microsoft.com/office/drawing/2014/main" id="{A74B142B-D2E3-480C-B4AB-AC7BD1E35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600450"/>
            <a:ext cx="31242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지정된 테스트 실행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의존성 추가에는 근거 필요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로컬 합성 데이터 사용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기존 동작 보존</a:t>
            </a:r>
          </a:p>
        </p:txBody>
      </p:sp>
      <p:sp>
        <p:nvSpPr>
          <p:cNvPr id="17" name="README 수정">
            <a:extLst xmlns:a="http://schemas.openxmlformats.org/drawingml/2006/main">
              <a:ext uri="{FF2B5EF4-FFF2-40B4-BE49-F238E27FC236}">
                <a16:creationId xmlns:a16="http://schemas.microsoft.com/office/drawing/2014/main" id="{D71C05F2-21BC-42B1-AD34-D3A157234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09800"/>
            <a:ext cx="342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README 수정</a:t>
            </a:r>
          </a:p>
        </p:txBody>
      </p:sp>
      <p:sp>
        <p:nvSpPr>
          <p:cNvPr id="18" name="빌드 안내를 명확히 해줘">
            <a:extLst xmlns:a="http://schemas.openxmlformats.org/drawingml/2006/main">
              <a:ext uri="{FF2B5EF4-FFF2-40B4-BE49-F238E27FC236}">
                <a16:creationId xmlns:a16="http://schemas.microsoft.com/office/drawing/2014/main" id="{29298788-F777-4AAC-B9C4-C4085E301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70510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빌드 안내를 명확히 해줘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57FBD8-7947-44FF-BCB7-8EB4ADF69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276600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CAA8C1-FBCA-4D6A-A16C-15D8840DA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67100"/>
            <a:ext cx="3429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지정된 테스트 실행&#10;의존성 추가에는 근거 필요&#10;로컬 합성 데이터 사용&#10;기존 동작 보존">
            <a:extLst xmlns:a="http://schemas.openxmlformats.org/drawingml/2006/main">
              <a:ext uri="{FF2B5EF4-FFF2-40B4-BE49-F238E27FC236}">
                <a16:creationId xmlns:a16="http://schemas.microsoft.com/office/drawing/2014/main" id="{13811FF9-5A08-4FB5-A720-08C85808C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600450"/>
            <a:ext cx="31242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지정된 테스트 실행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의존성 추가에는 근거 필요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로컬 합성 데이터 사용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기존 동작 보존</a:t>
            </a:r>
          </a:p>
        </p:txBody>
      </p:sp>
      <p:sp>
        <p:nvSpPr>
          <p:cNvPr id="22" name="요청은 다른데, 아래 설명은 왜 계속 같을까?">
            <a:extLst xmlns:a="http://schemas.openxmlformats.org/drawingml/2006/main">
              <a:ext uri="{FF2B5EF4-FFF2-40B4-BE49-F238E27FC236}">
                <a16:creationId xmlns:a16="http://schemas.microsoft.com/office/drawing/2014/main" id="{7B31FB24-F767-432B-945F-C07BACE54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92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요청은 다른데, 아래 설명은 왜 계속 같을까?</a:t>
            </a:r>
          </a:p>
        </p:txBody>
      </p:sp>
      <p:sp>
        <p:nvSpPr>
          <p:cNvPr id="2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C0891BA0-B822-43B7-86AA-252163215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185968686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ACT 2  ·  Project Context">
            <a:extLst xmlns:a="http://schemas.openxmlformats.org/drawingml/2006/main">
              <a:ext uri="{FF2B5EF4-FFF2-40B4-BE49-F238E27FC236}">
                <a16:creationId xmlns:a16="http://schemas.microsoft.com/office/drawing/2014/main" id="{F4EF799C-B8A9-4DFD-910C-B64C75AE0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 ·  Project Context</a:t>
            </a:r>
          </a:p>
        </p:txBody>
      </p:sp>
      <p:sp>
        <p:nvSpPr>
          <p:cNvPr id="2" name="S23">
            <a:extLst xmlns:a="http://schemas.openxmlformats.org/drawingml/2006/main">
              <a:ext uri="{FF2B5EF4-FFF2-40B4-BE49-F238E27FC236}">
                <a16:creationId xmlns:a16="http://schemas.microsoft.com/office/drawing/2014/main" id="{A0E9A247-1D86-434C-9807-BA8580C44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S23</a:t>
            </a:r>
          </a:p>
        </p:txBody>
      </p:sp>
      <p:sp>
        <p:nvSpPr>
          <p:cNvPr id="3" name="작은 Project Context의 첫 기록">
            <a:extLst xmlns:a="http://schemas.openxmlformats.org/drawingml/2006/main">
              <a:ext uri="{FF2B5EF4-FFF2-40B4-BE49-F238E27FC236}">
                <a16:creationId xmlns:a16="http://schemas.microsoft.com/office/drawing/2014/main" id="{8B53D983-777C-4C62-9E2C-81A797C28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작은 Project Context의 첫 기록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7976E0-E5C0-447C-B6C3-C142DB696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OBSERVED PRODUCT  |  STATE-01 · AGENTS.md 실제 원문 발췌">
            <a:extLst xmlns:a="http://schemas.openxmlformats.org/drawingml/2006/main">
              <a:ext uri="{FF2B5EF4-FFF2-40B4-BE49-F238E27FC236}">
                <a16:creationId xmlns:a16="http://schemas.microsoft.com/office/drawing/2014/main" id="{EB6BF10D-FBC8-455D-B21E-57D6D6D76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OBSERVED PRODUCT  |  STATE-01 · AGENTS.md 실제 원문 발췌</a:t>
            </a:r>
          </a:p>
        </p:txBody>
      </p:sp>
      <p:sp>
        <p:nvSpPr>
          <p:cNvPr id="6" name="파일의 내용과 기록 위치를 보여주는 장 · Agent의 활용 관찰은 다음 장에서 확인">
            <a:extLst xmlns:a="http://schemas.openxmlformats.org/drawingml/2006/main">
              <a:ext uri="{FF2B5EF4-FFF2-40B4-BE49-F238E27FC236}">
                <a16:creationId xmlns:a16="http://schemas.microsoft.com/office/drawing/2014/main" id="{DB24C6C8-C01C-4FFB-9C83-914FFA22E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파일의 내용과 기록 위치를 보여주는 장 · Agent의 활용 관찰은 다음 장에서 확인</a:t>
            </a:r>
          </a:p>
        </p:txBody>
      </p:sp>
      <p:sp>
        <p:nvSpPr>
          <p:cNvPr id="7" name="반복해서 설명하던 내용을 저장소에 남겼다">
            <a:extLst xmlns:a="http://schemas.openxmlformats.org/drawingml/2006/main">
              <a:ext uri="{FF2B5EF4-FFF2-40B4-BE49-F238E27FC236}">
                <a16:creationId xmlns:a16="http://schemas.microsoft.com/office/drawing/2014/main" id="{CF72B2E8-6E63-4BA3-9A1F-938192CB5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반복해서 설명하던 내용을 저장소에 남겼다</a:t>
            </a:r>
          </a:p>
        </p:txBody>
      </p:sp>
      <p:sp>
        <p:nvSpPr>
          <p:cNvPr id="8" name="AGENTS.md">
            <a:extLst xmlns:a="http://schemas.openxmlformats.org/drawingml/2006/main">
              <a:ext uri="{FF2B5EF4-FFF2-40B4-BE49-F238E27FC236}">
                <a16:creationId xmlns:a16="http://schemas.microsoft.com/office/drawing/2014/main" id="{F79922D3-2C3C-495D-9E9F-F812A1AAE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361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550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AGENTS.md</a:t>
            </a:r>
          </a:p>
        </p:txBody>
      </p:sp>
      <p:sp>
        <p:nvSpPr>
          <p:cNvPr id="9" name="STATE-00-FIXED → STATE-01">
            <a:extLst xmlns:a="http://schemas.openxmlformats.org/drawingml/2006/main">
              <a:ext uri="{FF2B5EF4-FFF2-40B4-BE49-F238E27FC236}">
                <a16:creationId xmlns:a16="http://schemas.microsoft.com/office/drawing/2014/main" id="{ED763512-782E-4B90-B625-9F7795FBE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57425"/>
            <a:ext cx="4438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STATE-00-FIXED → STATE-01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8532C4-9F78-493A-A7F9-B7B730C59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프로젝트 목적">
            <a:extLst xmlns:a="http://schemas.openxmlformats.org/drawingml/2006/main">
              <a:ext uri="{FF2B5EF4-FFF2-40B4-BE49-F238E27FC236}">
                <a16:creationId xmlns:a16="http://schemas.microsoft.com/office/drawing/2014/main" id="{0772BD83-2104-40C8-A7D8-59ACF2D26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6075"/>
            <a:ext cx="21240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프로젝트 목적</a:t>
            </a:r>
          </a:p>
        </p:txBody>
      </p:sp>
      <p:sp>
        <p:nvSpPr>
          <p:cNvPr id="12" name="Local grayscale image-processing CLI using synthetic ASCII P">
            <a:extLst xmlns:a="http://schemas.openxmlformats.org/drawingml/2006/main">
              <a:ext uri="{FF2B5EF4-FFF2-40B4-BE49-F238E27FC236}">
                <a16:creationId xmlns:a16="http://schemas.microsoft.com/office/drawing/2014/main" id="{B1709D4C-C7DE-4EC2-907B-41BF428FF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81300"/>
            <a:ext cx="8629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Local </a:t>
            </a: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grayscale image-processing CLI</a:t>
            </a: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 using synthetic ASCII PGM data.</a:t>
            </a:r>
          </a:p>
        </p:txBody>
      </p:sp>
      <p:sp>
        <p:nvSpPr>
          <p:cNvPr id="13" name="로컬 합성 이미지로 동작하는 흑백 처리 CLI">
            <a:extLst xmlns:a="http://schemas.openxmlformats.org/drawingml/2006/main">
              <a:ext uri="{FF2B5EF4-FFF2-40B4-BE49-F238E27FC236}">
                <a16:creationId xmlns:a16="http://schemas.microsoft.com/office/drawing/2014/main" id="{6E11F8E9-3905-471A-A96A-F089DE73A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086100"/>
            <a:ext cx="8629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로컬 합성 이미지로 동작하는 흑백 처리 CLI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1CC416-A90A-4D0E-A280-49881DAEF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실행 방법">
            <a:extLst xmlns:a="http://schemas.openxmlformats.org/drawingml/2006/main">
              <a:ext uri="{FF2B5EF4-FFF2-40B4-BE49-F238E27FC236}">
                <a16:creationId xmlns:a16="http://schemas.microsoft.com/office/drawing/2014/main" id="{E9A028CC-DF2B-45A3-BA9A-FB8CE6953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21240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실행 방법</a:t>
            </a:r>
          </a:p>
        </p:txBody>
      </p:sp>
      <p:sp>
        <p:nvSpPr>
          <p:cNvPr id="16" name="Use the prepared build and CLI commands documented in `READM">
            <a:extLst xmlns:a="http://schemas.openxmlformats.org/drawingml/2006/main">
              <a:ext uri="{FF2B5EF4-FFF2-40B4-BE49-F238E27FC236}">
                <a16:creationId xmlns:a16="http://schemas.microsoft.com/office/drawing/2014/main" id="{317DB7F1-5E1D-4041-9F48-798B5EE1D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514725"/>
            <a:ext cx="8629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Use the prepared build and CLI commands documented in `</a:t>
            </a: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README.md</a:t>
            </a: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`.</a:t>
            </a:r>
          </a:p>
        </p:txBody>
      </p:sp>
      <p:sp>
        <p:nvSpPr>
          <p:cNvPr id="17" name="실행 방법은 README에서 확인">
            <a:extLst xmlns:a="http://schemas.openxmlformats.org/drawingml/2006/main">
              <a:ext uri="{FF2B5EF4-FFF2-40B4-BE49-F238E27FC236}">
                <a16:creationId xmlns:a16="http://schemas.microsoft.com/office/drawing/2014/main" id="{79ED1585-A05E-4455-A964-44EB31EC7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19525"/>
            <a:ext cx="8629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실행 방법은 README에서 확인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369E1B-3C01-4893-AB03-24243FBE0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5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테스트 명령">
            <a:extLst xmlns:a="http://schemas.openxmlformats.org/drawingml/2006/main">
              <a:ext uri="{FF2B5EF4-FFF2-40B4-BE49-F238E27FC236}">
                <a16:creationId xmlns:a16="http://schemas.microsoft.com/office/drawing/2014/main" id="{669F54B9-8740-4DB3-9F09-94ABBD8F8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52925"/>
            <a:ext cx="21240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테스트 명령</a:t>
            </a:r>
          </a:p>
        </p:txBody>
      </p:sp>
      <p:sp>
        <p:nvSpPr>
          <p:cNvPr id="20" name="PYTHONPATH=src python3 -m unittest discover -s tests -v">
            <a:extLst xmlns:a="http://schemas.openxmlformats.org/drawingml/2006/main">
              <a:ext uri="{FF2B5EF4-FFF2-40B4-BE49-F238E27FC236}">
                <a16:creationId xmlns:a16="http://schemas.microsoft.com/office/drawing/2014/main" id="{EF3B5004-2DD4-4606-8C97-CB826FB4F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248150"/>
            <a:ext cx="8629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PYTHONPATH=src python3 -m unittest discover -s tests -v</a:t>
            </a:r>
          </a:p>
        </p:txBody>
      </p:sp>
      <p:sp>
        <p:nvSpPr>
          <p:cNvPr id="21" name="반복해서 쓸 테스트 명령">
            <a:extLst xmlns:a="http://schemas.openxmlformats.org/drawingml/2006/main">
              <a:ext uri="{FF2B5EF4-FFF2-40B4-BE49-F238E27FC236}">
                <a16:creationId xmlns:a16="http://schemas.microsoft.com/office/drawing/2014/main" id="{B1013EEA-5991-428B-82B8-B5553B5CA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552950"/>
            <a:ext cx="8629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반복해서 쓸 테스트 명령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7212868-1F90-4CAA-8F21-16344E441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33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3" name="기본 제약">
            <a:extLst xmlns:a="http://schemas.openxmlformats.org/drawingml/2006/main">
              <a:ext uri="{FF2B5EF4-FFF2-40B4-BE49-F238E27FC236}">
                <a16:creationId xmlns:a16="http://schemas.microsoft.com/office/drawing/2014/main" id="{36A11B34-BEF9-4BA0-AB73-E6D871D05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86350"/>
            <a:ext cx="21240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기본 제약</a:t>
            </a:r>
          </a:p>
        </p:txBody>
      </p:sp>
      <p:sp>
        <p:nvSpPr>
          <p:cNvPr id="24" name="Keep changes scoped and verify relevant behavior.">
            <a:extLst xmlns:a="http://schemas.openxmlformats.org/drawingml/2006/main">
              <a:ext uri="{FF2B5EF4-FFF2-40B4-BE49-F238E27FC236}">
                <a16:creationId xmlns:a16="http://schemas.microsoft.com/office/drawing/2014/main" id="{F56D968E-C237-456B-9C18-BBEFDC0F7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981575"/>
            <a:ext cx="8629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Keep changes </a:t>
            </a: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scoped and verify</a:t>
            </a: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 relevant behavior.</a:t>
            </a:r>
          </a:p>
        </p:txBody>
      </p:sp>
      <p:sp>
        <p:nvSpPr>
          <p:cNvPr id="25" name="범위를 지키고 관련 동작을 검증">
            <a:extLst xmlns:a="http://schemas.openxmlformats.org/drawingml/2006/main">
              <a:ext uri="{FF2B5EF4-FFF2-40B4-BE49-F238E27FC236}">
                <a16:creationId xmlns:a16="http://schemas.microsoft.com/office/drawing/2014/main" id="{7D5BD43F-884F-4E92-8562-53823716B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286375"/>
            <a:ext cx="8629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범위를 지키고 관련 동작을 검증</a:t>
            </a:r>
          </a:p>
        </p:txBody>
      </p:sp>
      <p:sp>
        <p:nvSpPr>
          <p:cNvPr id="26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0F8F0099-333A-4ECC-8D70-D09E90F6D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107037775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2 · 지침을 활용한 관찰">
            <a:extLst xmlns:a="http://schemas.openxmlformats.org/drawingml/2006/main">
              <a:ext uri="{FF2B5EF4-FFF2-40B4-BE49-F238E27FC236}">
                <a16:creationId xmlns:a16="http://schemas.microsoft.com/office/drawing/2014/main" id="{7A9185C7-A21C-4378-8608-A19FB9A08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지침을 활용한 관찰</a:t>
            </a:r>
          </a:p>
        </p:txBody>
      </p:sp>
      <p:sp>
        <p:nvSpPr>
          <p:cNvPr id="2" name="S24">
            <a:extLst xmlns:a="http://schemas.openxmlformats.org/drawingml/2006/main">
              <a:ext uri="{FF2B5EF4-FFF2-40B4-BE49-F238E27FC236}">
                <a16:creationId xmlns:a16="http://schemas.microsoft.com/office/drawing/2014/main" id="{D1A8C059-A598-4F26-B308-AB016C88B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S24</a:t>
            </a:r>
          </a:p>
        </p:txBody>
      </p:sp>
      <p:sp>
        <p:nvSpPr>
          <p:cNvPr id="3" name="한 번의 사용에서 확인된 것">
            <a:extLst xmlns:a="http://schemas.openxmlformats.org/drawingml/2006/main">
              <a:ext uri="{FF2B5EF4-FFF2-40B4-BE49-F238E27FC236}">
                <a16:creationId xmlns:a16="http://schemas.microsoft.com/office/drawing/2014/main" id="{0DD77485-446D-417A-9770-3C7C448F6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한 번의 사용에서 확인된 것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CB4F03-0193-407B-9C53-10DFE3756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3 · Codex CLI 기록을 재구성 · 전체 테스트 11/11 PASS">
            <a:extLst xmlns:a="http://schemas.openxmlformats.org/drawingml/2006/main">
              <a:ext uri="{FF2B5EF4-FFF2-40B4-BE49-F238E27FC236}">
                <a16:creationId xmlns:a16="http://schemas.microsoft.com/office/drawing/2014/main" id="{BD1ABEDF-03F0-4E09-A803-8D06096D8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TRIAL-003 · Codex CLI 기록을 재구성 · 전체 테스트 11/11 PASS</a:t>
            </a:r>
          </a:p>
        </p:txBody>
      </p:sp>
      <p:sp>
        <p:nvSpPr>
          <p:cNvPr id="6" name="Personal/global Skills도 실행됨 · AGENTS.md만의 독립적인 효과로 해석하지 않음">
            <a:extLst xmlns:a="http://schemas.openxmlformats.org/drawingml/2006/main">
              <a:ext uri="{FF2B5EF4-FFF2-40B4-BE49-F238E27FC236}">
                <a16:creationId xmlns:a16="http://schemas.microsoft.com/office/drawing/2014/main" id="{7A06F4CC-8D37-4E59-A4E5-290CB8EB7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Personal/global Skills도 실행됨 · AGENTS.md만의 독립적인 효과로 해석하지 않음</a:t>
            </a:r>
          </a:p>
        </p:txBody>
      </p:sp>
      <p:sp>
        <p:nvSpPr>
          <p:cNvPr id="7" name="요청">
            <a:extLst xmlns:a="http://schemas.openxmlformats.org/drawingml/2006/main">
              <a:ext uri="{FF2B5EF4-FFF2-40B4-BE49-F238E27FC236}">
                <a16:creationId xmlns:a16="http://schemas.microsoft.com/office/drawing/2014/main" id="{B014E960-CD70-4664-A75E-7D6DD5151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331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요청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D05937-99D0-4F6A-968B-7319BD937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331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9" name="읽은 파일">
            <a:extLst xmlns:a="http://schemas.openxmlformats.org/drawingml/2006/main">
              <a:ext uri="{FF2B5EF4-FFF2-40B4-BE49-F238E27FC236}">
                <a16:creationId xmlns:a16="http://schemas.microsoft.com/office/drawing/2014/main" id="{B693AD5F-E479-4EF7-A33B-796F7D6B6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209800"/>
            <a:ext cx="331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읽은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23FCBC-7952-4486-965C-C7BDDDCA5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667000"/>
            <a:ext cx="331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실행 기록">
            <a:extLst xmlns:a="http://schemas.openxmlformats.org/drawingml/2006/main">
              <a:ext uri="{FF2B5EF4-FFF2-40B4-BE49-F238E27FC236}">
                <a16:creationId xmlns:a16="http://schemas.microsoft.com/office/drawing/2014/main" id="{F853FEF6-AEAE-45BD-AB36-428838B15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209800"/>
            <a:ext cx="331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실행 기록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ECF7ED-FC95-4BFF-8FD0-99EDD739A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667000"/>
            <a:ext cx="331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3" name="README만 수정&#10;테스트 명령은 없음">
            <a:extLst xmlns:a="http://schemas.openxmlformats.org/drawingml/2006/main">
              <a:ext uri="{FF2B5EF4-FFF2-40B4-BE49-F238E27FC236}">
                <a16:creationId xmlns:a16="http://schemas.microsoft.com/office/drawing/2014/main" id="{AD5F6111-8C2D-479F-B986-96A2FA41A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33147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README만 수정</a:t>
            </a:r>
          </a:p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 명령은 없음</a:t>
            </a:r>
          </a:p>
        </p:txBody>
      </p:sp>
      <p:sp>
        <p:nvSpPr>
          <p:cNvPr id="14" name="AGENTS.md">
            <a:extLst xmlns:a="http://schemas.openxmlformats.org/drawingml/2006/main">
              <a:ext uri="{FF2B5EF4-FFF2-40B4-BE49-F238E27FC236}">
                <a16:creationId xmlns:a16="http://schemas.microsoft.com/office/drawing/2014/main" id="{6ABC99D1-289E-4659-B015-5ED2C87B9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876550"/>
            <a:ext cx="3314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550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AGENTS.md</a:t>
            </a:r>
          </a:p>
        </p:txBody>
      </p:sp>
      <p:sp>
        <p:nvSpPr>
          <p:cNvPr id="15" name="기록된 테스트&#10;명령을 사용">
            <a:extLst xmlns:a="http://schemas.openxmlformats.org/drawingml/2006/main">
              <a:ext uri="{FF2B5EF4-FFF2-40B4-BE49-F238E27FC236}">
                <a16:creationId xmlns:a16="http://schemas.microsoft.com/office/drawing/2014/main" id="{30783B54-4EF3-499F-98EA-2B0F9D126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533775"/>
            <a:ext cx="33147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기록된 테스트</a:t>
            </a:r>
          </a:p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명령을 사용</a:t>
            </a:r>
          </a:p>
        </p:txBody>
      </p:sp>
      <p:sp>
        <p:nvSpPr>
          <p:cNvPr id="16" name="전체 테스트">
            <a:extLst xmlns:a="http://schemas.openxmlformats.org/drawingml/2006/main">
              <a:ext uri="{FF2B5EF4-FFF2-40B4-BE49-F238E27FC236}">
                <a16:creationId xmlns:a16="http://schemas.microsoft.com/office/drawing/2014/main" id="{9B3B205C-6ADC-4A22-81DF-A8AFC63F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876550"/>
            <a:ext cx="3314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전체 테스트</a:t>
            </a:r>
          </a:p>
        </p:txBody>
      </p:sp>
      <p:sp>
        <p:nvSpPr>
          <p:cNvPr id="17" name="11 / 11">
            <a:extLst xmlns:a="http://schemas.openxmlformats.org/drawingml/2006/main">
              <a:ext uri="{FF2B5EF4-FFF2-40B4-BE49-F238E27FC236}">
                <a16:creationId xmlns:a16="http://schemas.microsoft.com/office/drawing/2014/main" id="{6C88AD54-D5A0-49FC-B85F-401229B2C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76625"/>
            <a:ext cx="33147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11 / 11</a:t>
            </a:r>
          </a:p>
        </p:txBody>
      </p:sp>
      <p:sp>
        <p:nvSpPr>
          <p:cNvPr id="18" name="PASS">
            <a:extLst xmlns:a="http://schemas.openxmlformats.org/drawingml/2006/main">
              <a:ext uri="{FF2B5EF4-FFF2-40B4-BE49-F238E27FC236}">
                <a16:creationId xmlns:a16="http://schemas.microsoft.com/office/drawing/2014/main" id="{3A2CF285-3EF9-41CC-9E8E-DDA9EB0E8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105275"/>
            <a:ext cx="33147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PASS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643DCA-852B-45AA-80FB-C0D8E891D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190875"/>
            <a:ext cx="2857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3B8CCF-ACA2-4616-A790-6C4EC9990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190875"/>
            <a:ext cx="2857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FFE757-5909-4457-9552-8D89B449C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720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2" name="README-only 범위는 작업 요청에도 명시돼 있었다">
            <a:extLst xmlns:a="http://schemas.openxmlformats.org/drawingml/2006/main">
              <a:ext uri="{FF2B5EF4-FFF2-40B4-BE49-F238E27FC236}">
                <a16:creationId xmlns:a16="http://schemas.microsoft.com/office/drawing/2014/main" id="{72893410-9511-4361-9B22-605E019F8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README-only 범위는 작업 요청에도 명시돼 있었다</a:t>
            </a:r>
          </a:p>
        </p:txBody>
      </p:sp>
      <p:sp>
        <p:nvSpPr>
          <p:cNvPr id="2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C363ABEB-C575-4F7A-9F14-6F2AC13F3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172075633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ACT 2 · 정보의 범위와 수명">
            <a:extLst xmlns:a="http://schemas.openxmlformats.org/drawingml/2006/main">
              <a:ext uri="{FF2B5EF4-FFF2-40B4-BE49-F238E27FC236}">
                <a16:creationId xmlns:a16="http://schemas.microsoft.com/office/drawing/2014/main" id="{6D02F3DB-3F79-4A71-873A-EA84E11E6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정보의 범위와 수명</a:t>
            </a:r>
          </a:p>
        </p:txBody>
      </p:sp>
      <p:sp>
        <p:nvSpPr>
          <p:cNvPr id="2" name="S25">
            <a:extLst xmlns:a="http://schemas.openxmlformats.org/drawingml/2006/main">
              <a:ext uri="{FF2B5EF4-FFF2-40B4-BE49-F238E27FC236}">
                <a16:creationId xmlns:a16="http://schemas.microsoft.com/office/drawing/2014/main" id="{E2A986FC-86AE-4F79-9A40-78EF5F91E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S25</a:t>
            </a:r>
          </a:p>
        </p:txBody>
      </p:sp>
      <p:sp>
        <p:nvSpPr>
          <p:cNvPr id="3" name="Task Prompt와 Project Context">
            <a:extLst xmlns:a="http://schemas.openxmlformats.org/drawingml/2006/main">
              <a:ext uri="{FF2B5EF4-FFF2-40B4-BE49-F238E27FC236}">
                <a16:creationId xmlns:a16="http://schemas.microsoft.com/office/drawing/2014/main" id="{5860E576-9194-4DE9-A9E9-59286FFD0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 Prompt와 Project 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03FB44-5920-493B-86B9-641E4673C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구분 · 현재 목표와 지속되는 프로젝트 사실">
            <a:extLst xmlns:a="http://schemas.openxmlformats.org/drawingml/2006/main">
              <a:ext uri="{FF2B5EF4-FFF2-40B4-BE49-F238E27FC236}">
                <a16:creationId xmlns:a16="http://schemas.microsoft.com/office/drawing/2014/main" id="{52557598-ACC4-47DC-B2B0-A49FE7D8C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구분 · 현재 목표와 지속되는 프로젝트 사실</a:t>
            </a:r>
          </a:p>
        </p:txBody>
      </p:sp>
      <p:sp>
        <p:nvSpPr>
          <p:cNvPr id="6" name="C++에서도 프로젝트 공통 제약과 이번 알고리즘 변경 조건은 범위가 다를 수 있다">
            <a:extLst xmlns:a="http://schemas.openxmlformats.org/drawingml/2006/main">
              <a:ext uri="{FF2B5EF4-FFF2-40B4-BE49-F238E27FC236}">
                <a16:creationId xmlns:a16="http://schemas.microsoft.com/office/drawing/2014/main" id="{F4322792-8FE5-4C31-8FA6-B201B388C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C++에서도 프로젝트 공통 제약과 이번 알고리즘 변경 조건은 범위가 다를 수 있다</a:t>
            </a:r>
          </a:p>
        </p:txBody>
      </p:sp>
      <p:sp>
        <p:nvSpPr>
          <p:cNvPr id="7" name="방금 본 기록을 범위와 수명으로 읽어보면">
            <a:extLst xmlns:a="http://schemas.openxmlformats.org/drawingml/2006/main">
              <a:ext uri="{FF2B5EF4-FFF2-40B4-BE49-F238E27FC236}">
                <a16:creationId xmlns:a16="http://schemas.microsoft.com/office/drawing/2014/main" id="{EF8F48DD-2305-4D57-870C-B593A39C8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방금 본 기록을 범위와 수명으로 읽어보면</a:t>
            </a:r>
          </a:p>
        </p:txBody>
      </p:sp>
      <p:sp>
        <p:nvSpPr>
          <p:cNvPr id="8" name="Task Prompt">
            <a:extLst xmlns:a="http://schemas.openxmlformats.org/drawingml/2006/main">
              <a:ext uri="{FF2B5EF4-FFF2-40B4-BE49-F238E27FC236}">
                <a16:creationId xmlns:a16="http://schemas.microsoft.com/office/drawing/2014/main" id="{FE959CD4-E559-44F3-8D7D-85B2BDD81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76525"/>
            <a:ext cx="4914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 Prompt</a:t>
            </a:r>
          </a:p>
        </p:txBody>
      </p:sp>
      <p:sp>
        <p:nvSpPr>
          <p:cNvPr id="9" name="Project Context">
            <a:extLst xmlns:a="http://schemas.openxmlformats.org/drawingml/2006/main">
              <a:ext uri="{FF2B5EF4-FFF2-40B4-BE49-F238E27FC236}">
                <a16:creationId xmlns:a16="http://schemas.microsoft.com/office/drawing/2014/main" id="{8E50EB89-DAA1-4C04-9CE7-E870A6D79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676525"/>
            <a:ext cx="4876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Project Context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FA6A22-FC6F-4FE1-8720-8D20EA697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1A27C4-0443-40DF-ABFD-FB1253C51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2861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지금 원하는 결과">
            <a:extLst xmlns:a="http://schemas.openxmlformats.org/drawingml/2006/main">
              <a:ext uri="{FF2B5EF4-FFF2-40B4-BE49-F238E27FC236}">
                <a16:creationId xmlns:a16="http://schemas.microsoft.com/office/drawing/2014/main" id="{00A1F813-B61A-4B75-A55C-55342CAAF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57575"/>
            <a:ext cx="4914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지금 원하는 결과</a:t>
            </a:r>
          </a:p>
        </p:txBody>
      </p:sp>
      <p:sp>
        <p:nvSpPr>
          <p:cNvPr id="13" name="계속 참이어야 할 사실">
            <a:extLst xmlns:a="http://schemas.openxmlformats.org/drawingml/2006/main">
              <a:ext uri="{FF2B5EF4-FFF2-40B4-BE49-F238E27FC236}">
                <a16:creationId xmlns:a16="http://schemas.microsoft.com/office/drawing/2014/main" id="{BDFDA96C-2FAF-4B35-B97A-624F9B19A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57575"/>
            <a:ext cx="4876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계속 참이어야 할 사실</a:t>
            </a:r>
          </a:p>
        </p:txBody>
      </p:sp>
      <p:sp>
        <p:nvSpPr>
          <p:cNvPr id="14" name="crop 경계 버그 수정&#10;이번에는 README만 변경">
            <a:extLst xmlns:a="http://schemas.openxmlformats.org/drawingml/2006/main">
              <a:ext uri="{FF2B5EF4-FFF2-40B4-BE49-F238E27FC236}">
                <a16:creationId xmlns:a16="http://schemas.microsoft.com/office/drawing/2014/main" id="{6AB23137-67F1-4296-9CA0-E1F09B9A4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71925"/>
            <a:ext cx="49149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경계 버그 수정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이번에는 README만 변경</a:t>
            </a:r>
          </a:p>
        </p:txBody>
      </p:sp>
      <p:sp>
        <p:nvSpPr>
          <p:cNvPr id="15" name="프로젝트의 테스트 명령&#10;의존성 추가에는 작업상 근거 필요">
            <a:extLst xmlns:a="http://schemas.openxmlformats.org/drawingml/2006/main">
              <a:ext uri="{FF2B5EF4-FFF2-40B4-BE49-F238E27FC236}">
                <a16:creationId xmlns:a16="http://schemas.microsoft.com/office/drawing/2014/main" id="{86D10C53-8134-4375-A1B2-AED1BA509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71925"/>
            <a:ext cx="48768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프로젝트의 테스트 명령</a:t>
            </a:r>
          </a:p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의존성 추가에는 작업상 근거 필요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FEDB2B-25BF-47F1-89B9-15BAB4096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49149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57FAF2-FDF0-4C8E-BC33-6BD145828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143500"/>
            <a:ext cx="48768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다음 작업에서는 목표가 달라짐">
            <a:extLst xmlns:a="http://schemas.openxmlformats.org/drawingml/2006/main">
              <a:ext uri="{FF2B5EF4-FFF2-40B4-BE49-F238E27FC236}">
                <a16:creationId xmlns:a16="http://schemas.microsoft.com/office/drawing/2014/main" id="{30A4FADB-C427-4562-81C4-D5E8BF685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10175"/>
            <a:ext cx="4610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다음 작업에서는 목표가 달라짐</a:t>
            </a:r>
          </a:p>
        </p:txBody>
      </p:sp>
      <p:sp>
        <p:nvSpPr>
          <p:cNvPr id="19" name="여러 작업에서 다시 참고">
            <a:extLst xmlns:a="http://schemas.openxmlformats.org/drawingml/2006/main">
              <a:ext uri="{FF2B5EF4-FFF2-40B4-BE49-F238E27FC236}">
                <a16:creationId xmlns:a16="http://schemas.microsoft.com/office/drawing/2014/main" id="{8512FB62-7BD4-460B-9347-21A6C2279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210175"/>
            <a:ext cx="457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여러 작업에서 다시 참고</a:t>
            </a:r>
          </a:p>
        </p:txBody>
      </p:sp>
      <p:sp>
        <p:nvSpPr>
          <p:cNvPr id="20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9362139F-E546-46A6-94DB-93B89B3A7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122376809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ACT 2 · Context가 쌓이는 과정">
            <a:extLst xmlns:a="http://schemas.openxmlformats.org/drawingml/2006/main">
              <a:ext uri="{FF2B5EF4-FFF2-40B4-BE49-F238E27FC236}">
                <a16:creationId xmlns:a16="http://schemas.microsoft.com/office/drawing/2014/main" id="{21E65246-B0CF-4A9B-85EB-8F2AC62CC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Context가 쌓이는 과정</a:t>
            </a:r>
          </a:p>
        </p:txBody>
      </p:sp>
      <p:sp>
        <p:nvSpPr>
          <p:cNvPr id="2" name="S26">
            <a:extLst xmlns:a="http://schemas.openxmlformats.org/drawingml/2006/main">
              <a:ext uri="{FF2B5EF4-FFF2-40B4-BE49-F238E27FC236}">
                <a16:creationId xmlns:a16="http://schemas.microsoft.com/office/drawing/2014/main" id="{E2CDECCD-0C80-4C61-92C3-09D21C23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S26</a:t>
            </a:r>
          </a:p>
        </p:txBody>
      </p:sp>
      <p:sp>
        <p:nvSpPr>
          <p:cNvPr id="3" name="정확한 정보도 계속 늘어난다">
            <a:extLst xmlns:a="http://schemas.openxmlformats.org/drawingml/2006/main">
              <a:ext uri="{FF2B5EF4-FFF2-40B4-BE49-F238E27FC236}">
                <a16:creationId xmlns:a16="http://schemas.microsoft.com/office/drawing/2014/main" id="{69B880DD-2599-4B04-A882-3733B2521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정확한 정보도 계속 늘어난다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C84AE7-13F4-4FD5-8241-8BA46575E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1 → STATE-02 · 실제 AGENTS.md 상태 비교">
            <a:extLst xmlns:a="http://schemas.openxmlformats.org/drawingml/2006/main">
              <a:ext uri="{FF2B5EF4-FFF2-40B4-BE49-F238E27FC236}">
                <a16:creationId xmlns:a16="http://schemas.microsoft.com/office/drawing/2014/main" id="{BD458301-BEB9-4C95-811F-8DC30E9C6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STATE-01 → STATE-02 · 실제 AGENTS.md 상태 비교</a:t>
            </a:r>
          </a:p>
        </p:txBody>
      </p:sp>
      <p:sp>
        <p:nvSpPr>
          <p:cNvPr id="6" name="문서 크기는 상태 식별 정보 · Context 증가가 실패를 일으켰다는 근거는 아님">
            <a:extLst xmlns:a="http://schemas.openxmlformats.org/drawingml/2006/main">
              <a:ext uri="{FF2B5EF4-FFF2-40B4-BE49-F238E27FC236}">
                <a16:creationId xmlns:a16="http://schemas.microsoft.com/office/drawing/2014/main" id="{3D522AD0-9648-4985-9110-4FDBFE1BF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문서 크기는 상태 식별 정보 · Context 증가가 실패를 일으켰다는 근거는 아님</a:t>
            </a:r>
          </a:p>
        </p:txBody>
      </p:sp>
      <p:sp>
        <p:nvSpPr>
          <p:cNvPr id="7" name="STATE-01">
            <a:extLst xmlns:a="http://schemas.openxmlformats.org/drawingml/2006/main">
              <a:ext uri="{FF2B5EF4-FFF2-40B4-BE49-F238E27FC236}">
                <a16:creationId xmlns:a16="http://schemas.microsoft.com/office/drawing/2014/main" id="{3E5A3276-9852-4730-A083-D459BFA57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STATE-01</a:t>
            </a:r>
          </a:p>
        </p:txBody>
      </p:sp>
      <p:sp>
        <p:nvSpPr>
          <p:cNvPr id="8" name="목적 · 실행 · 테스트&#10;기본 제약">
            <a:extLst xmlns:a="http://schemas.openxmlformats.org/drawingml/2006/main">
              <a:ext uri="{FF2B5EF4-FFF2-40B4-BE49-F238E27FC236}">
                <a16:creationId xmlns:a16="http://schemas.microsoft.com/office/drawing/2014/main" id="{C07B7D1F-18EA-4F36-A9DA-E4F5370B5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2952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목적 · 실행 · 테스트</a:t>
            </a:r>
          </a:p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기본 제약</a:t>
            </a:r>
          </a:p>
        </p:txBody>
      </p:sp>
      <p:sp>
        <p:nvSpPr>
          <p:cNvPr id="9" name="15줄 · 567 bytes">
            <a:extLst xmlns:a="http://schemas.openxmlformats.org/drawingml/2006/main">
              <a:ext uri="{FF2B5EF4-FFF2-40B4-BE49-F238E27FC236}">
                <a16:creationId xmlns:a16="http://schemas.microsoft.com/office/drawing/2014/main" id="{6FCE359E-06A6-48DE-8C1D-60F9C4952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15줄 · 567 bytes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491B48-186E-4108-BFF7-307717124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076575"/>
            <a:ext cx="476250" cy="2571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1" name="STATE-02에 추가된 실제 정보">
            <a:extLst xmlns:a="http://schemas.openxmlformats.org/drawingml/2006/main">
              <a:ext uri="{FF2B5EF4-FFF2-40B4-BE49-F238E27FC236}">
                <a16:creationId xmlns:a16="http://schemas.microsoft.com/office/drawing/2014/main" id="{731094C6-BE24-4BA7-8111-443F016DE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00275"/>
            <a:ext cx="6972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STATE-02에 추가된 실제 정보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B7FFD8-238F-48E1-8A3C-11238BE66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743200"/>
            <a:ext cx="6972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처리 순서">
            <a:extLst xmlns:a="http://schemas.openxmlformats.org/drawingml/2006/main">
              <a:ext uri="{FF2B5EF4-FFF2-40B4-BE49-F238E27FC236}">
                <a16:creationId xmlns:a16="http://schemas.microsoft.com/office/drawing/2014/main" id="{09CFCBB6-F43C-406F-8F56-ACC14DDD2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838450"/>
            <a:ext cx="1828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처리 순서</a:t>
            </a:r>
          </a:p>
        </p:txBody>
      </p:sp>
      <p:sp>
        <p:nvSpPr>
          <p:cNvPr id="14" name="load → normalize → … → write">
            <a:extLst xmlns:a="http://schemas.openxmlformats.org/drawingml/2006/main">
              <a:ext uri="{FF2B5EF4-FFF2-40B4-BE49-F238E27FC236}">
                <a16:creationId xmlns:a16="http://schemas.microsoft.com/office/drawing/2014/main" id="{28CC6E4E-21B7-4B01-858E-97917D729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2838450"/>
            <a:ext cx="47720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load → normalize → … → write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230B4A-5DF7-4F6A-ADCB-2923972A9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286125"/>
            <a:ext cx="6972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이미지 계약">
            <a:extLst xmlns:a="http://schemas.openxmlformats.org/drawingml/2006/main">
              <a:ext uri="{FF2B5EF4-FFF2-40B4-BE49-F238E27FC236}">
                <a16:creationId xmlns:a16="http://schemas.microsoft.com/office/drawing/2014/main" id="{6B8008E9-0F22-49EB-B753-70732BAFD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381375"/>
            <a:ext cx="1828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이미지 계약</a:t>
            </a:r>
          </a:p>
        </p:txBody>
      </p:sp>
      <p:sp>
        <p:nvSpPr>
          <p:cNvPr id="17" name="crop: [x_start, x_end)">
            <a:extLst xmlns:a="http://schemas.openxmlformats.org/drawingml/2006/main">
              <a:ext uri="{FF2B5EF4-FFF2-40B4-BE49-F238E27FC236}">
                <a16:creationId xmlns:a16="http://schemas.microsoft.com/office/drawing/2014/main" id="{D3B9155B-FBAC-49EF-8045-22F0AEF50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3381375"/>
            <a:ext cx="47720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crop: [x_start, x_end)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A8B815-DDD1-4442-917F-2186B4C83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829050"/>
            <a:ext cx="6972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테스트 구조">
            <a:extLst xmlns:a="http://schemas.openxmlformats.org/drawingml/2006/main">
              <a:ext uri="{FF2B5EF4-FFF2-40B4-BE49-F238E27FC236}">
                <a16:creationId xmlns:a16="http://schemas.microsoft.com/office/drawing/2014/main" id="{91625D66-92C3-46E8-AC2A-42C5D9FE8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924300"/>
            <a:ext cx="1828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테스트 구조</a:t>
            </a:r>
          </a:p>
        </p:txBody>
      </p:sp>
      <p:sp>
        <p:nvSpPr>
          <p:cNvPr id="20" name="tests/test_pipeline.py">
            <a:extLst xmlns:a="http://schemas.openxmlformats.org/drawingml/2006/main">
              <a:ext uri="{FF2B5EF4-FFF2-40B4-BE49-F238E27FC236}">
                <a16:creationId xmlns:a16="http://schemas.microsoft.com/office/drawing/2014/main" id="{9598B268-6B0B-4E18-9860-3C6E6C74F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3924300"/>
            <a:ext cx="47720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tests/test_pipeline.py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229BDE-974D-4F18-8A6A-779D34A9F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371975"/>
            <a:ext cx="6972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2" name="CLI 출력">
            <a:extLst xmlns:a="http://schemas.openxmlformats.org/drawingml/2006/main">
              <a:ext uri="{FF2B5EF4-FFF2-40B4-BE49-F238E27FC236}">
                <a16:creationId xmlns:a16="http://schemas.microsoft.com/office/drawing/2014/main" id="{5EE93A35-32BD-4118-A920-FDABC95C4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467225"/>
            <a:ext cx="1828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CLI 출력</a:t>
            </a:r>
          </a:p>
        </p:txBody>
      </p:sp>
      <p:sp>
        <p:nvSpPr>
          <p:cNvPr id="23" name="width · height · pixel_count …">
            <a:extLst xmlns:a="http://schemas.openxmlformats.org/drawingml/2006/main">
              <a:ext uri="{FF2B5EF4-FFF2-40B4-BE49-F238E27FC236}">
                <a16:creationId xmlns:a16="http://schemas.microsoft.com/office/drawing/2014/main" id="{99B4558F-4B2A-43E9-8ACB-3137DBD78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467225"/>
            <a:ext cx="47720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width · height · pixel_count …</a:t>
            </a:r>
          </a:p>
        </p:txBody>
      </p:sp>
      <p:sp>
        <p:nvSpPr>
          <p:cNvPr id="24" name="32줄 · 1,303 bytes">
            <a:extLst xmlns:a="http://schemas.openxmlformats.org/drawingml/2006/main">
              <a:ext uri="{FF2B5EF4-FFF2-40B4-BE49-F238E27FC236}">
                <a16:creationId xmlns:a16="http://schemas.microsoft.com/office/drawing/2014/main" id="{DDE65E30-EE3B-4F24-A0A4-3FC8AD521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5067300"/>
            <a:ext cx="6972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32줄 · 1,303 bytes</a:t>
            </a:r>
          </a:p>
        </p:txBody>
      </p:sp>
      <p:sp>
        <p:nvSpPr>
          <p:cNvPr id="25" name="이번 Task에도 필요할까?">
            <a:extLst xmlns:a="http://schemas.openxmlformats.org/drawingml/2006/main">
              <a:ext uri="{FF2B5EF4-FFF2-40B4-BE49-F238E27FC236}">
                <a16:creationId xmlns:a16="http://schemas.microsoft.com/office/drawing/2014/main" id="{CD34DFD8-EB0E-4944-96D8-C998D9003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371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Task에도 필요할까?</a:t>
            </a:r>
          </a:p>
        </p:txBody>
      </p:sp>
      <p:sp>
        <p:nvSpPr>
          <p:cNvPr id="26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C3460C20-D3A8-4614-BB48-63D449F2C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55797916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ACT 2 · 관련성을 확인하기">
            <a:extLst xmlns:a="http://schemas.openxmlformats.org/drawingml/2006/main">
              <a:ext uri="{FF2B5EF4-FFF2-40B4-BE49-F238E27FC236}">
                <a16:creationId xmlns:a16="http://schemas.microsoft.com/office/drawing/2014/main" id="{C6DEC060-98E4-40E2-9635-0A0AF0D1C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관련성을 확인하기</a:t>
            </a:r>
          </a:p>
        </p:txBody>
      </p:sp>
      <p:sp>
        <p:nvSpPr>
          <p:cNvPr id="2" name="S27">
            <a:extLst xmlns:a="http://schemas.openxmlformats.org/drawingml/2006/main">
              <a:ext uri="{FF2B5EF4-FFF2-40B4-BE49-F238E27FC236}">
                <a16:creationId xmlns:a16="http://schemas.microsoft.com/office/drawing/2014/main" id="{12CD205B-ED13-4948-B606-A0DB01D7D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S27</a:t>
            </a:r>
          </a:p>
        </p:txBody>
      </p:sp>
      <p:sp>
        <p:nvSpPr>
          <p:cNvPr id="3" name="정확하지만 이번 Task에는 불필요한 정보">
            <a:extLst xmlns:a="http://schemas.openxmlformats.org/drawingml/2006/main">
              <a:ext uri="{FF2B5EF4-FFF2-40B4-BE49-F238E27FC236}">
                <a16:creationId xmlns:a16="http://schemas.microsoft.com/office/drawing/2014/main" id="{ECEC04FF-CC80-46C6-BA8B-8CCF20BE0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정확하지만 이번 Task에는 불필요한 정보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6464AA-3887-4B15-BEFF-B33C35536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4 · README의 build tools 안내를 명확히 하는 작업">
            <a:extLst xmlns:a="http://schemas.openxmlformats.org/drawingml/2006/main">
              <a:ext uri="{FF2B5EF4-FFF2-40B4-BE49-F238E27FC236}">
                <a16:creationId xmlns:a16="http://schemas.microsoft.com/office/drawing/2014/main" id="{672E6479-5B59-4A35-A31B-A6AF5E7B8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TRIAL-004 · README의 build tools 안내를 명확히 하는 작업</a:t>
            </a:r>
          </a:p>
        </p:txBody>
      </p:sp>
      <p:sp>
        <p:nvSpPr>
          <p:cNvPr id="6" name="Agent 혼란과 Context 관련 실패는 관찰되지 않았다">
            <a:extLst xmlns:a="http://schemas.openxmlformats.org/drawingml/2006/main">
              <a:ext uri="{FF2B5EF4-FFF2-40B4-BE49-F238E27FC236}">
                <a16:creationId xmlns:a16="http://schemas.microsoft.com/office/drawing/2014/main" id="{F8E6CE3B-1476-447E-9369-B3BC52085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Agent 혼란과 Context 관련 실패는 관찰되지 않았다</a:t>
            </a:r>
          </a:p>
        </p:txBody>
      </p:sp>
      <p:sp>
        <p:nvSpPr>
          <p:cNvPr id="7" name="작업: README의 빌드 도구 안내를 고친다">
            <a:extLst xmlns:a="http://schemas.openxmlformats.org/drawingml/2006/main">
              <a:ext uri="{FF2B5EF4-FFF2-40B4-BE49-F238E27FC236}">
                <a16:creationId xmlns:a16="http://schemas.microsoft.com/office/drawing/2014/main" id="{1A4A3397-DADD-41F0-8602-C6BDCD5E8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작업: README의 빌드 도구 안내를 고친다</a:t>
            </a:r>
          </a:p>
        </p:txBody>
      </p:sp>
      <p:sp>
        <p:nvSpPr>
          <p:cNvPr id="8" name="이번 질문과 직접 관련">
            <a:extLst xmlns:a="http://schemas.openxmlformats.org/drawingml/2006/main">
              <a:ext uri="{FF2B5EF4-FFF2-40B4-BE49-F238E27FC236}">
                <a16:creationId xmlns:a16="http://schemas.microsoft.com/office/drawing/2014/main" id="{F6B981D5-5750-47BC-8598-B95BE3411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질문과 직접 관련</a:t>
            </a:r>
          </a:p>
        </p:txBody>
      </p:sp>
      <p:sp>
        <p:nvSpPr>
          <p:cNvPr id="9" name="함께 있었지만 관련이 낮은 정보">
            <a:extLst xmlns:a="http://schemas.openxmlformats.org/drawingml/2006/main">
              <a:ext uri="{FF2B5EF4-FFF2-40B4-BE49-F238E27FC236}">
                <a16:creationId xmlns:a16="http://schemas.microsoft.com/office/drawing/2014/main" id="{04AE9457-3B35-44AF-9F0F-E43FB8ACF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33700"/>
            <a:ext cx="4876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함께 있었지만 관련이 낮은 정보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A4091E-C715-40CB-B3C1-500EC0C47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23EF5D-93E5-44D9-AABB-0BB2DFABB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480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B98010-3DC5-4DEB-AF78-5280AF983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4953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README&#10;pyproject.toml의 빌드 설정">
            <a:extLst xmlns:a="http://schemas.openxmlformats.org/drawingml/2006/main">
              <a:ext uri="{FF2B5EF4-FFF2-40B4-BE49-F238E27FC236}">
                <a16:creationId xmlns:a16="http://schemas.microsoft.com/office/drawing/2014/main" id="{4BDC70A2-B9BC-4FDB-85BB-5DDCC3772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10000"/>
            <a:ext cx="4495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README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pyproject.toml의 빌드 설정</a:t>
            </a:r>
          </a:p>
        </p:txBody>
      </p:sp>
      <p:sp>
        <p:nvSpPr>
          <p:cNvPr id="14" name="crop / resize 계약&#10;이미지 처리 pipeline 세부사항">
            <a:extLst xmlns:a="http://schemas.openxmlformats.org/drawingml/2006/main">
              <a:ext uri="{FF2B5EF4-FFF2-40B4-BE49-F238E27FC236}">
                <a16:creationId xmlns:a16="http://schemas.microsoft.com/office/drawing/2014/main" id="{3AB63866-5314-4CF8-91FE-8892E6799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10000"/>
            <a:ext cx="4876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crop / resize 계약</a:t>
            </a:r>
          </a:p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이미지 처리 pipeline 세부사항</a:t>
            </a:r>
          </a:p>
        </p:txBody>
      </p:sp>
      <p:sp>
        <p:nvSpPr>
          <p:cNvPr id="15" name="정확한 정보라도, 모든 질문에 필요한 것은 아니다">
            <a:extLst xmlns:a="http://schemas.openxmlformats.org/drawingml/2006/main">
              <a:ext uri="{FF2B5EF4-FFF2-40B4-BE49-F238E27FC236}">
                <a16:creationId xmlns:a16="http://schemas.microsoft.com/office/drawing/2014/main" id="{EAC1957B-2299-4A00-AD3A-A71C39F94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정확한 정보라도, 모든 질문에 필요한 것은 아니다</a:t>
            </a:r>
          </a:p>
        </p:txBody>
      </p:sp>
      <p:sp>
        <p:nvSpPr>
          <p:cNvPr id="16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F3C45A9-636B-4F36-A13A-4E3863E10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67799590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T 2 · 언제 필요한 정보인가">
            <a:extLst xmlns:a="http://schemas.openxmlformats.org/drawingml/2006/main">
              <a:ext uri="{FF2B5EF4-FFF2-40B4-BE49-F238E27FC236}">
                <a16:creationId xmlns:a16="http://schemas.microsoft.com/office/drawing/2014/main" id="{F7E705C4-CBBA-4C4C-A6DA-F049FDD8E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언제 필요한 정보인가</a:t>
            </a:r>
          </a:p>
        </p:txBody>
      </p:sp>
      <p:sp>
        <p:nvSpPr>
          <p:cNvPr id="2" name="S28">
            <a:extLst xmlns:a="http://schemas.openxmlformats.org/drawingml/2006/main">
              <a:ext uri="{FF2B5EF4-FFF2-40B4-BE49-F238E27FC236}">
                <a16:creationId xmlns:a16="http://schemas.microsoft.com/office/drawing/2014/main" id="{7392D531-0B8E-4156-8715-5C6560AB8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S28</a:t>
            </a:r>
          </a:p>
        </p:txBody>
      </p:sp>
      <p:sp>
        <p:nvSpPr>
          <p:cNvPr id="3" name="정보의 범위와 제공 시점">
            <a:extLst xmlns:a="http://schemas.openxmlformats.org/drawingml/2006/main">
              <a:ext uri="{FF2B5EF4-FFF2-40B4-BE49-F238E27FC236}">
                <a16:creationId xmlns:a16="http://schemas.microsoft.com/office/drawing/2014/main" id="{5C063AB8-4099-46A9-B13E-CC2BC2226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정보의 범위와 제공 시점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B9314F-5102-49FE-8186-00E98BEBD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분류 모델 · OpenAI의 공식 기능 분류가 아님">
            <a:extLst xmlns:a="http://schemas.openxmlformats.org/drawingml/2006/main">
              <a:ext uri="{FF2B5EF4-FFF2-40B4-BE49-F238E27FC236}">
                <a16:creationId xmlns:a16="http://schemas.microsoft.com/office/drawing/2014/main" id="{49DC0581-7D7B-4CA5-9931-CFF58FCDB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분류 모델 · OpenAI의 공식 기능 분류가 아님</a:t>
            </a:r>
          </a:p>
        </p:txBody>
      </p:sp>
      <p:sp>
        <p:nvSpPr>
          <p:cNvPr id="6" name="성능 조사 절차는 설명을 위한 예시이며 STATE-02에 저장돼 있었다는 뜻이 아님">
            <a:extLst xmlns:a="http://schemas.openxmlformats.org/drawingml/2006/main">
              <a:ext uri="{FF2B5EF4-FFF2-40B4-BE49-F238E27FC236}">
                <a16:creationId xmlns:a16="http://schemas.microsoft.com/office/drawing/2014/main" id="{E114A439-6D31-485C-8108-91F902D5D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성능 조사 절차는 설명을 위한 예시이며 STATE-02에 저장돼 있었다는 뜻이 아님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5887FE-2CFA-4803-AE68-163DE256C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8" name="항상 알아야 할 안내">
            <a:extLst xmlns:a="http://schemas.openxmlformats.org/drawingml/2006/main">
              <a:ext uri="{FF2B5EF4-FFF2-40B4-BE49-F238E27FC236}">
                <a16:creationId xmlns:a16="http://schemas.microsoft.com/office/drawing/2014/main" id="{789D18E7-2788-4BC7-A057-54180DFFE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4524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항상 알아야 할 안내</a:t>
            </a:r>
          </a:p>
        </p:txBody>
      </p:sp>
      <p:sp>
        <p:nvSpPr>
          <p:cNvPr id="9" name="프로젝트 목적 · 기본 제약">
            <a:extLst xmlns:a="http://schemas.openxmlformats.org/drawingml/2006/main">
              <a:ext uri="{FF2B5EF4-FFF2-40B4-BE49-F238E27FC236}">
                <a16:creationId xmlns:a16="http://schemas.microsoft.com/office/drawing/2014/main" id="{4011DD17-BB89-4B6C-B92B-340766CE7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2381250"/>
            <a:ext cx="62769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프로젝트 목적 · 기본 제약</a:t>
            </a:r>
          </a:p>
        </p:txBody>
      </p:sp>
      <p:sp>
        <p:nvSpPr>
          <p:cNvPr id="10" name="ALWAYS-ON">
            <a:extLst xmlns:a="http://schemas.openxmlformats.org/drawingml/2006/main">
              <a:ext uri="{FF2B5EF4-FFF2-40B4-BE49-F238E27FC236}">
                <a16:creationId xmlns:a16="http://schemas.microsoft.com/office/drawing/2014/main" id="{EC8BBE1B-BFB0-450D-A8F7-74AB449DF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4524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ALWAYS-ON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4D149E-2986-49DB-94E3-53B3E7847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질문에 따라 찾아볼 상세">
            <a:extLst xmlns:a="http://schemas.openxmlformats.org/drawingml/2006/main">
              <a:ext uri="{FF2B5EF4-FFF2-40B4-BE49-F238E27FC236}">
                <a16:creationId xmlns:a16="http://schemas.microsoft.com/office/drawing/2014/main" id="{5E8CCE0A-573E-49F1-BB19-8A7FA9A1C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4524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질문에 따라 찾아볼 상세</a:t>
            </a:r>
          </a:p>
        </p:txBody>
      </p:sp>
      <p:sp>
        <p:nvSpPr>
          <p:cNvPr id="13" name="crop 계약 · 모듈 구조">
            <a:extLst xmlns:a="http://schemas.openxmlformats.org/drawingml/2006/main">
              <a:ext uri="{FF2B5EF4-FFF2-40B4-BE49-F238E27FC236}">
                <a16:creationId xmlns:a16="http://schemas.microsoft.com/office/drawing/2014/main" id="{53B55AFD-7BB2-44D7-A7BD-4BC8629CF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3486150"/>
            <a:ext cx="62769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crop 계약 · 모듈 구조</a:t>
            </a:r>
          </a:p>
        </p:txBody>
      </p:sp>
      <p:sp>
        <p:nvSpPr>
          <p:cNvPr id="14" name="ON-DEMAND">
            <a:extLst xmlns:a="http://schemas.openxmlformats.org/drawingml/2006/main">
              <a:ext uri="{FF2B5EF4-FFF2-40B4-BE49-F238E27FC236}">
                <a16:creationId xmlns:a16="http://schemas.microsoft.com/office/drawing/2014/main" id="{375BD9AD-26DA-48FB-B604-51618B902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4524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ON-DEMAND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A6AA95-7457-4952-83F2-2CA7A0236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이런 일을 수행하는 방법">
            <a:extLst xmlns:a="http://schemas.openxmlformats.org/drawingml/2006/main">
              <a:ext uri="{FF2B5EF4-FFF2-40B4-BE49-F238E27FC236}">
                <a16:creationId xmlns:a16="http://schemas.microsoft.com/office/drawing/2014/main" id="{82CB7E2D-EE10-4E75-9841-17442EBE2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4524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이런 일을 수행하는 방법</a:t>
            </a:r>
          </a:p>
        </p:txBody>
      </p:sp>
      <p:sp>
        <p:nvSpPr>
          <p:cNvPr id="17" name="변경 전 측정 → 조사 → 검증">
            <a:extLst xmlns:a="http://schemas.openxmlformats.org/drawingml/2006/main">
              <a:ext uri="{FF2B5EF4-FFF2-40B4-BE49-F238E27FC236}">
                <a16:creationId xmlns:a16="http://schemas.microsoft.com/office/drawing/2014/main" id="{3A3DF577-F53E-4739-A088-56E5CE558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4591050"/>
            <a:ext cx="62769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변경 전 측정 → 조사 → 검증</a:t>
            </a:r>
          </a:p>
        </p:txBody>
      </p:sp>
      <p:sp>
        <p:nvSpPr>
          <p:cNvPr id="18" name="WORKFLOW">
            <a:extLst xmlns:a="http://schemas.openxmlformats.org/drawingml/2006/main">
              <a:ext uri="{FF2B5EF4-FFF2-40B4-BE49-F238E27FC236}">
                <a16:creationId xmlns:a16="http://schemas.microsoft.com/office/drawing/2014/main" id="{4BDFADA4-C1AC-40EA-A592-7AC5F817A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86350"/>
            <a:ext cx="4524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WORKFLOW</a:t>
            </a:r>
          </a:p>
        </p:txBody>
      </p:sp>
      <p:sp>
        <p:nvSpPr>
          <p:cNvPr id="19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9285E2C7-210E-4968-A34D-FF0D62E6F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36427909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ACT 2 · 정보의 양을 다시 묻는 연구">
            <a:extLst xmlns:a="http://schemas.openxmlformats.org/drawingml/2006/main">
              <a:ext uri="{FF2B5EF4-FFF2-40B4-BE49-F238E27FC236}">
                <a16:creationId xmlns:a16="http://schemas.microsoft.com/office/drawing/2014/main" id="{6B5BD888-374C-41AB-AE4D-752161DCC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정보의 양을 다시 묻는 연구</a:t>
            </a:r>
          </a:p>
        </p:txBody>
      </p:sp>
      <p:sp>
        <p:nvSpPr>
          <p:cNvPr id="2" name="S29">
            <a:extLst xmlns:a="http://schemas.openxmlformats.org/drawingml/2006/main">
              <a:ext uri="{FF2B5EF4-FFF2-40B4-BE49-F238E27FC236}">
                <a16:creationId xmlns:a16="http://schemas.microsoft.com/office/drawing/2014/main" id="{D66B61FC-A8E0-4065-BE14-FE26E895C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S29</a:t>
            </a:r>
          </a:p>
        </p:txBody>
      </p:sp>
      <p:sp>
        <p:nvSpPr>
          <p:cNvPr id="3" name="Long Context 연구가 말해주는 범위">
            <a:extLst xmlns:a="http://schemas.openxmlformats.org/drawingml/2006/main">
              <a:ext uri="{FF2B5EF4-FFF2-40B4-BE49-F238E27FC236}">
                <a16:creationId xmlns:a16="http://schemas.microsoft.com/office/drawing/2014/main" id="{95840656-681F-496A-AFB7-64B76876E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Long Context 연구가 말해주는 범위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12C702-1A45-41E8-A381-4A7EB42A5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Liu et al., Lost in the Middle, TACL 2024 · RepoQA, 2024">
            <a:extLst xmlns:a="http://schemas.openxmlformats.org/drawingml/2006/main">
              <a:ext uri="{FF2B5EF4-FFF2-40B4-BE49-F238E27FC236}">
                <a16:creationId xmlns:a16="http://schemas.microsoft.com/office/drawing/2014/main" id="{5A80DC4B-E4E9-4279-BA7D-0F6EC539D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Liu et al., Lost in the Middle, TACL 2024 · RepoQA, 2024</a:t>
            </a:r>
          </a:p>
        </p:txBody>
      </p:sp>
      <p:sp>
        <p:nvSpPr>
          <p:cNvPr id="6" name="특정 모델·과제의 결과 · 현재 Codex의 Repository coding 한계를 입증하지 않음">
            <a:extLst xmlns:a="http://schemas.openxmlformats.org/drawingml/2006/main">
              <a:ext uri="{FF2B5EF4-FFF2-40B4-BE49-F238E27FC236}">
                <a16:creationId xmlns:a16="http://schemas.microsoft.com/office/drawing/2014/main" id="{CABCCE73-271B-4F38-9E90-6F36688C4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특정 모델·과제의 결과 · 현재 Codex의 Repository coding 한계를 입증하지 않음</a:t>
            </a:r>
          </a:p>
        </p:txBody>
      </p:sp>
      <p:sp>
        <p:nvSpPr>
          <p:cNvPr id="7" name="더 많은 Context가 항상 더 좋은 것은 아니다">
            <a:extLst xmlns:a="http://schemas.openxmlformats.org/drawingml/2006/main">
              <a:ext uri="{FF2B5EF4-FFF2-40B4-BE49-F238E27FC236}">
                <a16:creationId xmlns:a16="http://schemas.microsoft.com/office/drawing/2014/main" id="{840CD826-A639-4F65-BD66-7F1A8C114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더 많은 Context가 항상 더 좋은 것은 아니다</a:t>
            </a:r>
          </a:p>
        </p:txBody>
      </p:sp>
      <p:sp>
        <p:nvSpPr>
          <p:cNvPr id="8" name="Lost in the Middle">
            <a:extLst xmlns:a="http://schemas.openxmlformats.org/drawingml/2006/main">
              <a:ext uri="{FF2B5EF4-FFF2-40B4-BE49-F238E27FC236}">
                <a16:creationId xmlns:a16="http://schemas.microsoft.com/office/drawing/2014/main" id="{CBD98268-8513-4E70-BC14-D80275745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6975"/>
            <a:ext cx="523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Lost in the Middle</a:t>
            </a:r>
          </a:p>
        </p:txBody>
      </p:sp>
      <p:sp>
        <p:nvSpPr>
          <p:cNvPr id="9" name="RepoQA">
            <a:extLst xmlns:a="http://schemas.openxmlformats.org/drawingml/2006/main">
              <a:ext uri="{FF2B5EF4-FFF2-40B4-BE49-F238E27FC236}">
                <a16:creationId xmlns:a16="http://schemas.microsoft.com/office/drawing/2014/main" id="{A1B76A26-3D0F-44C4-A933-73922578C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66975"/>
            <a:ext cx="4876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RepoQA</a:t>
            </a:r>
          </a:p>
        </p:txBody>
      </p:sp>
      <p:sp>
        <p:nvSpPr>
          <p:cNvPr id="10" name="여러 문서의 질문 답변 · key-value 검색">
            <a:extLst xmlns:a="http://schemas.openxmlformats.org/drawingml/2006/main">
              <a:ext uri="{FF2B5EF4-FFF2-40B4-BE49-F238E27FC236}">
                <a16:creationId xmlns:a16="http://schemas.microsoft.com/office/drawing/2014/main" id="{44482FB0-8DE8-481A-945F-5B8E7206B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여러 문서의 질문 답변 · key-value 검색</a:t>
            </a:r>
          </a:p>
        </p:txBody>
      </p:sp>
      <p:sp>
        <p:nvSpPr>
          <p:cNvPr id="11" name="50개 Repository의 코드 검색 과제">
            <a:extLst xmlns:a="http://schemas.openxmlformats.org/drawingml/2006/main">
              <a:ext uri="{FF2B5EF4-FFF2-40B4-BE49-F238E27FC236}">
                <a16:creationId xmlns:a16="http://schemas.microsoft.com/office/drawing/2014/main" id="{CAEDAAD5-EF59-468F-9C24-2F9197340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14650"/>
            <a:ext cx="4876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50개 Repository의 코드 검색 과제</a:t>
            </a:r>
          </a:p>
        </p:txBody>
      </p:sp>
      <p:sp>
        <p:nvSpPr>
          <p:cNvPr id="12" name="관련 정보의 위치를 달리하는 구성">
            <a:extLst xmlns:a="http://schemas.openxmlformats.org/drawingml/2006/main">
              <a:ext uri="{FF2B5EF4-FFF2-40B4-BE49-F238E27FC236}">
                <a16:creationId xmlns:a16="http://schemas.microsoft.com/office/drawing/2014/main" id="{8BB4B8CE-A983-4122-AE13-51911061A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관련 정보의 위치를 달리하는 구성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10C2B4-950E-4E95-B168-04922FFE3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D2B566-F65E-4C39-8396-90629D9C2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37909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5D6F11-1772-406C-9082-01CF6A970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7909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99426C-3281-4840-935C-78BDE6292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7909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54F6FC-5906-4B64-B129-653E5F3DB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7909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1D4279-7779-4AE1-ACBC-A56DC8D8E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7670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6CB3A1-4D6B-41A4-820A-6090DB972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407670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773A7E-8CD5-4DAD-9C6D-BB18C9493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07670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F5880D-1733-4186-A376-722218D33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07670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EB0FEA-B45D-4583-9FC5-79A77F968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07670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BEF6DF-B980-4E7F-B7B8-7D1BB0ECC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B566585-4A44-4064-B0DD-F6C41D7BB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43624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1ABBC57-58C0-40D7-81F0-F6DB83D47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3624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899283A-84E8-45F0-A93C-F24A8E325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3624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11C79E-EFEF-49C8-8D9B-02BC35CC1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3624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8" name="질문">
            <a:extLst xmlns:a="http://schemas.openxmlformats.org/drawingml/2006/main">
              <a:ext uri="{FF2B5EF4-FFF2-40B4-BE49-F238E27FC236}">
                <a16:creationId xmlns:a16="http://schemas.microsoft.com/office/drawing/2014/main" id="{63CC55AA-7CCE-4DC4-8551-F8BFA1636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81375"/>
            <a:ext cx="1085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질문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A575A69-B1C1-444F-831E-5DE34C0B2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476625"/>
            <a:ext cx="342900" cy="2000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E684215-11B4-4AE8-912B-3E24D7DA5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324225"/>
            <a:ext cx="3162300" cy="1133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31" name="Repository의 코드">
            <a:extLst xmlns:a="http://schemas.openxmlformats.org/drawingml/2006/main">
              <a:ext uri="{FF2B5EF4-FFF2-40B4-BE49-F238E27FC236}">
                <a16:creationId xmlns:a16="http://schemas.microsoft.com/office/drawing/2014/main" id="{EA6BDB7B-C7DF-4B9F-BC94-C2C51B3CE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448050"/>
            <a:ext cx="2819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Repository의 코드</a:t>
            </a:r>
          </a:p>
        </p:txBody>
      </p:sp>
      <p:sp>
        <p:nvSpPr>
          <p:cNvPr id="32" name="관련 코드 찾기">
            <a:extLst xmlns:a="http://schemas.openxmlformats.org/drawingml/2006/main">
              <a:ext uri="{FF2B5EF4-FFF2-40B4-BE49-F238E27FC236}">
                <a16:creationId xmlns:a16="http://schemas.microsoft.com/office/drawing/2014/main" id="{EB473A48-4082-43F9-AD86-C16A57A4B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905250"/>
            <a:ext cx="2819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관련 코드 찾기</a:t>
            </a:r>
          </a:p>
        </p:txBody>
      </p:sp>
      <p:sp>
        <p:nvSpPr>
          <p:cNvPr id="33" name="관련 정보의 위치가&#10;일부 조건에서 중요할 수 있다">
            <a:extLst xmlns:a="http://schemas.openxmlformats.org/drawingml/2006/main">
              <a:ext uri="{FF2B5EF4-FFF2-40B4-BE49-F238E27FC236}">
                <a16:creationId xmlns:a16="http://schemas.microsoft.com/office/drawing/2014/main" id="{4C31C400-A273-44AB-9547-E9F29FD04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5238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관련 정보의 위치가</a:t>
            </a:r>
          </a:p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일부 조건에서 중요할 수 있다</a:t>
            </a:r>
          </a:p>
        </p:txBody>
      </p:sp>
      <p:sp>
        <p:nvSpPr>
          <p:cNvPr id="34" name="관련 코드 정보를&#10;선택하고 찾는 능력을 평가">
            <a:extLst xmlns:a="http://schemas.openxmlformats.org/drawingml/2006/main">
              <a:ext uri="{FF2B5EF4-FFF2-40B4-BE49-F238E27FC236}">
                <a16:creationId xmlns:a16="http://schemas.microsoft.com/office/drawing/2014/main" id="{3BE7D024-D042-4CAF-8614-DB2CDB197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52975"/>
            <a:ext cx="4876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관련 코드 정보를</a:t>
            </a:r>
          </a:p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선택하고 찾는 능력을 평가</a:t>
            </a:r>
          </a:p>
        </p:txBody>
      </p:sp>
      <p:sp>
        <p:nvSpPr>
          <p:cNvPr id="35" name="aclanthology.org/2024.tacl-1.9/">
            <a:extLst xmlns:a="http://schemas.openxmlformats.org/drawingml/2006/main">
              <a:ext uri="{FF2B5EF4-FFF2-40B4-BE49-F238E27FC236}">
                <a16:creationId xmlns:a16="http://schemas.microsoft.com/office/drawing/2014/main" id="{A76E8F8C-FC25-4FED-A040-A5420AB42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95925"/>
            <a:ext cx="5238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aclanthology.org/2024.tacl-1.9/</a:t>
            </a:r>
          </a:p>
        </p:txBody>
      </p:sp>
      <p:sp>
        <p:nvSpPr>
          <p:cNvPr id="36" name="arxiv.org/abs/2406.06025">
            <a:extLst xmlns:a="http://schemas.openxmlformats.org/drawingml/2006/main">
              <a:ext uri="{FF2B5EF4-FFF2-40B4-BE49-F238E27FC236}">
                <a16:creationId xmlns:a16="http://schemas.microsoft.com/office/drawing/2014/main" id="{3619DCD2-D6AF-4C6D-9206-C5726753D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495925"/>
            <a:ext cx="4876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arxiv.org/abs/2406.06025</a:t>
            </a:r>
          </a:p>
        </p:txBody>
      </p:sp>
      <p:sp>
        <p:nvSpPr>
          <p:cNvPr id="3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7AC6A856-02E2-4005-A004-ECFD27DCE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62695826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ACT 2 · 필요한 상세 정보의 탐색 경로">
            <a:extLst xmlns:a="http://schemas.openxmlformats.org/drawingml/2006/main">
              <a:ext uri="{FF2B5EF4-FFF2-40B4-BE49-F238E27FC236}">
                <a16:creationId xmlns:a16="http://schemas.microsoft.com/office/drawing/2014/main" id="{E047D274-5A51-48AD-A07D-242FBA8D0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필요한 상세 정보의 탐색 경로</a:t>
            </a:r>
          </a:p>
        </p:txBody>
      </p:sp>
      <p:sp>
        <p:nvSpPr>
          <p:cNvPr id="2" name="S30">
            <a:extLst xmlns:a="http://schemas.openxmlformats.org/drawingml/2006/main">
              <a:ext uri="{FF2B5EF4-FFF2-40B4-BE49-F238E27FC236}">
                <a16:creationId xmlns:a16="http://schemas.microsoft.com/office/drawing/2014/main" id="{8C7C18F4-64F2-435D-AEA9-5B7C10523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S30</a:t>
            </a:r>
          </a:p>
        </p:txBody>
      </p:sp>
      <p:sp>
        <p:nvSpPr>
          <p:cNvPr id="3" name="필요한 상세 정보로 가는 길">
            <a:extLst xmlns:a="http://schemas.openxmlformats.org/drawingml/2006/main">
              <a:ext uri="{FF2B5EF4-FFF2-40B4-BE49-F238E27FC236}">
                <a16:creationId xmlns:a16="http://schemas.microsoft.com/office/drawing/2014/main" id="{29A9B5D7-421F-4CB0-9940-2183C5515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필요한 상세 정보로 가는 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FD27FC-2DF5-4194-AD6E-6525A0E00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Routing 모델 · 실제 문서 접근 결과는 다음 구간에서 확인">
            <a:extLst xmlns:a="http://schemas.openxmlformats.org/drawingml/2006/main">
              <a:ext uri="{FF2B5EF4-FFF2-40B4-BE49-F238E27FC236}">
                <a16:creationId xmlns:a16="http://schemas.microsoft.com/office/drawing/2014/main" id="{BBD6CEE1-9A4A-47AA-9D63-427539A81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Routing 모델 · 실제 문서 접근 결과는 다음 구간에서 확인</a:t>
            </a:r>
          </a:p>
        </p:txBody>
      </p:sp>
      <p:sp>
        <p:nvSpPr>
          <p:cNvPr id="6" name="검색 성능 향상이나 토큰 절약을 입증한 그림이 아님">
            <a:extLst xmlns:a="http://schemas.openxmlformats.org/drawingml/2006/main">
              <a:ext uri="{FF2B5EF4-FFF2-40B4-BE49-F238E27FC236}">
                <a16:creationId xmlns:a16="http://schemas.microsoft.com/office/drawing/2014/main" id="{53C4A453-4F14-49F6-8F57-B3CAF8D4B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검색 성능 향상이나 토큰 절약을 입증한 그림이 아님</a:t>
            </a:r>
          </a:p>
        </p:txBody>
      </p:sp>
      <p:sp>
        <p:nvSpPr>
          <p:cNvPr id="7" name="어떤 질문에서 어떤 상세 정보가 필요할까?">
            <a:extLst xmlns:a="http://schemas.openxmlformats.org/drawingml/2006/main">
              <a:ext uri="{FF2B5EF4-FFF2-40B4-BE49-F238E27FC236}">
                <a16:creationId xmlns:a16="http://schemas.microsoft.com/office/drawing/2014/main" id="{614B3746-DDA1-4D53-96A7-F18C4A870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어떤 질문에서 어떤 상세 정보가 필요할까?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807B88-997B-40FC-97C3-6ED166F05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295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7212B"/>
            </a:solidFill>
            <a:prstDash val="solid"/>
          </a:ln>
        </p:spPr>
      </p:sp>
      <p:sp>
        <p:nvSpPr>
          <p:cNvPr id="9" name="Task">
            <a:extLst xmlns:a="http://schemas.openxmlformats.org/drawingml/2006/main">
              <a:ext uri="{FF2B5EF4-FFF2-40B4-BE49-F238E27FC236}">
                <a16:creationId xmlns:a16="http://schemas.microsoft.com/office/drawing/2014/main" id="{7FFEE3A0-8D10-480C-8714-E4064E161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57550"/>
            <a:ext cx="295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</a:t>
            </a:r>
          </a:p>
        </p:txBody>
      </p:sp>
      <p:sp>
        <p:nvSpPr>
          <p:cNvPr id="10" name="지금 해결할 질문">
            <a:extLst xmlns:a="http://schemas.openxmlformats.org/drawingml/2006/main">
              <a:ext uri="{FF2B5EF4-FFF2-40B4-BE49-F238E27FC236}">
                <a16:creationId xmlns:a16="http://schemas.microsoft.com/office/drawing/2014/main" id="{600EEAB5-4703-4F89-810B-297576C50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지금 해결할 질문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3C0358-F8BC-40C6-ABF0-3FDC659F1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562350"/>
            <a:ext cx="333375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B407D5-37EF-4804-8927-962B2B175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028950"/>
            <a:ext cx="32099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3" name="Core Context">
            <a:extLst xmlns:a="http://schemas.openxmlformats.org/drawingml/2006/main">
              <a:ext uri="{FF2B5EF4-FFF2-40B4-BE49-F238E27FC236}">
                <a16:creationId xmlns:a16="http://schemas.microsoft.com/office/drawing/2014/main" id="{268AA27B-1890-4FB1-AA06-4360B2DDC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257550"/>
            <a:ext cx="32099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Core Context</a:t>
            </a:r>
          </a:p>
        </p:txBody>
      </p:sp>
      <p:sp>
        <p:nvSpPr>
          <p:cNvPr id="14" name="프로젝트 안내와&#10;찾아갈 위치">
            <a:extLst xmlns:a="http://schemas.openxmlformats.org/drawingml/2006/main">
              <a:ext uri="{FF2B5EF4-FFF2-40B4-BE49-F238E27FC236}">
                <a16:creationId xmlns:a16="http://schemas.microsoft.com/office/drawing/2014/main" id="{2BA83ACD-A9DB-499F-8D25-4CF84B2EB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981450"/>
            <a:ext cx="32099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프로젝트 안내와</a:t>
            </a:r>
          </a:p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찾아갈 위치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F74C54-63F7-409D-9AC4-78E2974AD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562350"/>
            <a:ext cx="333375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6E1998-AEB3-45DA-BDE4-16F81AC33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0289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7" name="관련 상세 정보">
            <a:extLst xmlns:a="http://schemas.openxmlformats.org/drawingml/2006/main">
              <a:ext uri="{FF2B5EF4-FFF2-40B4-BE49-F238E27FC236}">
                <a16:creationId xmlns:a16="http://schemas.microsoft.com/office/drawing/2014/main" id="{41355798-3F02-4B38-B895-7B13EF119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257550"/>
            <a:ext cx="33718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관련 상세 정보</a:t>
            </a:r>
          </a:p>
        </p:txBody>
      </p:sp>
      <p:sp>
        <p:nvSpPr>
          <p:cNvPr id="18" name="질문에 필요한&#10;계약 · 구조 · 테스트">
            <a:extLst xmlns:a="http://schemas.openxmlformats.org/drawingml/2006/main">
              <a:ext uri="{FF2B5EF4-FFF2-40B4-BE49-F238E27FC236}">
                <a16:creationId xmlns:a16="http://schemas.microsoft.com/office/drawing/2014/main" id="{139C4921-D440-439F-890E-367C3CC20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981450"/>
            <a:ext cx="33718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질문에 필요한</a:t>
            </a:r>
          </a:p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계약 · 구조 · 테스트</a:t>
            </a:r>
          </a:p>
        </p:txBody>
      </p:sp>
      <p:sp>
        <p:nvSpPr>
          <p:cNvPr id="19" name="C++ 예: 공통 제약을 확인한 뒤, 해당 알고리즘의 계약으로">
            <a:extLst xmlns:a="http://schemas.openxmlformats.org/drawingml/2006/main">
              <a:ext uri="{FF2B5EF4-FFF2-40B4-BE49-F238E27FC236}">
                <a16:creationId xmlns:a16="http://schemas.microsoft.com/office/drawing/2014/main" id="{D146BAF3-1A32-4737-97E1-A45D783B2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C++ 예: 공통 제약을 확인한 뒤, 해당 알고리즘의 계약으로</a:t>
            </a:r>
          </a:p>
        </p:txBody>
      </p:sp>
      <p:sp>
        <p:nvSpPr>
          <p:cNvPr id="20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C80B9BDE-3806-494B-A253-A31FC88AE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5606654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2 · Core에 남길 기본 안내">
            <a:extLst xmlns:a="http://schemas.openxmlformats.org/drawingml/2006/main">
              <a:ext uri="{FF2B5EF4-FFF2-40B4-BE49-F238E27FC236}">
                <a16:creationId xmlns:a16="http://schemas.microsoft.com/office/drawing/2014/main" id="{47F8E357-8511-40B4-8A19-5BB9DC64E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Core에 남길 기본 안내</a:t>
            </a:r>
          </a:p>
        </p:txBody>
      </p:sp>
      <p:sp>
        <p:nvSpPr>
          <p:cNvPr id="2" name="S31">
            <a:extLst xmlns:a="http://schemas.openxmlformats.org/drawingml/2006/main">
              <a:ext uri="{FF2B5EF4-FFF2-40B4-BE49-F238E27FC236}">
                <a16:creationId xmlns:a16="http://schemas.microsoft.com/office/drawing/2014/main" id="{463FFC55-97BA-4B99-8185-43418C226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S31</a:t>
            </a:r>
          </a:p>
        </p:txBody>
      </p:sp>
      <p:sp>
        <p:nvSpPr>
          <p:cNvPr id="3" name="Core Context에서 상세 정보로 가는 길">
            <a:extLst xmlns:a="http://schemas.openxmlformats.org/drawingml/2006/main">
              <a:ext uri="{FF2B5EF4-FFF2-40B4-BE49-F238E27FC236}">
                <a16:creationId xmlns:a16="http://schemas.microsoft.com/office/drawing/2014/main" id="{CF0A2DB8-BDC5-42CE-8AC0-5E6EAA3D1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Core Context에서 상세 정보로 가는 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CF6AD9-943D-41DC-B718-154DEC574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정보 설계 · Root/Core는 상세 정보의 출발점">
            <a:extLst xmlns:a="http://schemas.openxmlformats.org/drawingml/2006/main">
              <a:ext uri="{FF2B5EF4-FFF2-40B4-BE49-F238E27FC236}">
                <a16:creationId xmlns:a16="http://schemas.microsoft.com/office/drawing/2014/main" id="{ED8C06D4-ADA5-49E0-98CD-2896CD965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정보 설계 · Root/Core는 상세 정보의 출발점</a:t>
            </a:r>
          </a:p>
        </p:txBody>
      </p:sp>
      <p:sp>
        <p:nvSpPr>
          <p:cNvPr id="6" name="C++ 예: build/test 진입점과 기본 제약 → 알고리즘 계약·하드웨어 조건">
            <a:extLst xmlns:a="http://schemas.openxmlformats.org/drawingml/2006/main">
              <a:ext uri="{FF2B5EF4-FFF2-40B4-BE49-F238E27FC236}">
                <a16:creationId xmlns:a16="http://schemas.microsoft.com/office/drawing/2014/main" id="{DD19603D-33DF-40DD-9CF6-D33A83F2F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C++ 예: build/test 진입점과 기본 제약 → 알고리즘 계약·하드웨어 조건</a:t>
            </a:r>
          </a:p>
        </p:txBody>
      </p:sp>
      <p:sp>
        <p:nvSpPr>
          <p:cNvPr id="7" name="무엇을 항상 읽고, 무엇을 필요할 때 찾게 할까?">
            <a:extLst xmlns:a="http://schemas.openxmlformats.org/drawingml/2006/main">
              <a:ext uri="{FF2B5EF4-FFF2-40B4-BE49-F238E27FC236}">
                <a16:creationId xmlns:a16="http://schemas.microsoft.com/office/drawing/2014/main" id="{FC94FBB6-45DD-4D89-9258-FB476DD86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무엇을 항상 읽고, 무엇을 필요할 때 찾게 할까?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C66FD8-2C5C-4178-91F2-D76A1F817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417195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ORE · 기본 안내">
            <a:extLst xmlns:a="http://schemas.openxmlformats.org/drawingml/2006/main">
              <a:ext uri="{FF2B5EF4-FFF2-40B4-BE49-F238E27FC236}">
                <a16:creationId xmlns:a16="http://schemas.microsoft.com/office/drawing/2014/main" id="{44305B62-CC2E-443F-A0F4-85BFFC7FB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67025"/>
            <a:ext cx="3714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CORE · 기본 안내</a:t>
            </a:r>
          </a:p>
        </p:txBody>
      </p:sp>
      <p:sp>
        <p:nvSpPr>
          <p:cNvPr id="10" name="프로젝트의 목적&#10;항상 지켜야 할 제약&#10;상세 정보를 찾을 위치">
            <a:extLst xmlns:a="http://schemas.openxmlformats.org/drawingml/2006/main">
              <a:ext uri="{FF2B5EF4-FFF2-40B4-BE49-F238E27FC236}">
                <a16:creationId xmlns:a16="http://schemas.microsoft.com/office/drawing/2014/main" id="{6EAEDD43-FB54-4CEE-B78F-F1E30B72F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38525"/>
            <a:ext cx="3714750" cy="1304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프로젝트의 목적</a:t>
            </a:r>
          </a:p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항상 지켜야 할 제약</a:t>
            </a:r>
          </a:p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상세 정보를 찾을 위치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557734-FB43-4D72-9454-6841B192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743325"/>
            <a:ext cx="504825" cy="2762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2" name="DETAIL · 필요한 상세">
            <a:extLst xmlns:a="http://schemas.openxmlformats.org/drawingml/2006/main">
              <a:ext uri="{FF2B5EF4-FFF2-40B4-BE49-F238E27FC236}">
                <a16:creationId xmlns:a16="http://schemas.microsoft.com/office/drawing/2014/main" id="{9B8A5759-A234-4E91-8098-654AC0638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724150"/>
            <a:ext cx="53911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DETAIL · 필요한 상세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BCA4FC-D44F-4CE5-A096-67E3CDBE9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86125"/>
            <a:ext cx="5391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architecture">
            <a:extLst xmlns:a="http://schemas.openxmlformats.org/drawingml/2006/main">
              <a:ext uri="{FF2B5EF4-FFF2-40B4-BE49-F238E27FC236}">
                <a16:creationId xmlns:a16="http://schemas.microsoft.com/office/drawing/2014/main" id="{2696D8C3-6A60-446E-A354-9701B276E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90900"/>
            <a:ext cx="22574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architecture</a:t>
            </a:r>
          </a:p>
        </p:txBody>
      </p:sp>
      <p:sp>
        <p:nvSpPr>
          <p:cNvPr id="15" name="모듈과 처리 순서">
            <a:extLst xmlns:a="http://schemas.openxmlformats.org/drawingml/2006/main">
              <a:ext uri="{FF2B5EF4-FFF2-40B4-BE49-F238E27FC236}">
                <a16:creationId xmlns:a16="http://schemas.microsoft.com/office/drawing/2014/main" id="{18905EE9-B01C-4743-B903-9E9B68673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3390900"/>
            <a:ext cx="29813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모듈과 처리 순서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722490-8C7D-4B2B-A54E-F48CAF6A2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86200"/>
            <a:ext cx="5391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image contracts">
            <a:extLst xmlns:a="http://schemas.openxmlformats.org/drawingml/2006/main">
              <a:ext uri="{FF2B5EF4-FFF2-40B4-BE49-F238E27FC236}">
                <a16:creationId xmlns:a16="http://schemas.microsoft.com/office/drawing/2014/main" id="{6BF02855-DD22-45A9-B11A-3A6846F38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90975"/>
            <a:ext cx="22574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image contracts</a:t>
            </a:r>
          </a:p>
        </p:txBody>
      </p:sp>
      <p:sp>
        <p:nvSpPr>
          <p:cNvPr id="18" name="이미지 동작의 계약">
            <a:extLst xmlns:a="http://schemas.openxmlformats.org/drawingml/2006/main">
              <a:ext uri="{FF2B5EF4-FFF2-40B4-BE49-F238E27FC236}">
                <a16:creationId xmlns:a16="http://schemas.microsoft.com/office/drawing/2014/main" id="{5FD58823-BC0B-4460-BAE2-7D5D58528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3990975"/>
            <a:ext cx="29813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이미지 동작의 계약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3F884E-ECD0-4C8C-BFAD-49976EFD0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86275"/>
            <a:ext cx="5391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testing">
            <a:extLst xmlns:a="http://schemas.openxmlformats.org/drawingml/2006/main">
              <a:ext uri="{FF2B5EF4-FFF2-40B4-BE49-F238E27FC236}">
                <a16:creationId xmlns:a16="http://schemas.microsoft.com/office/drawing/2014/main" id="{411AB0D6-4211-4049-A65E-FE92B3418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591050"/>
            <a:ext cx="22574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testing</a:t>
            </a:r>
          </a:p>
        </p:txBody>
      </p:sp>
      <p:sp>
        <p:nvSpPr>
          <p:cNvPr id="21" name="테스트 위치와 범위">
            <a:extLst xmlns:a="http://schemas.openxmlformats.org/drawingml/2006/main">
              <a:ext uri="{FF2B5EF4-FFF2-40B4-BE49-F238E27FC236}">
                <a16:creationId xmlns:a16="http://schemas.microsoft.com/office/drawing/2014/main" id="{E1BD78B9-6F3B-4B5A-B390-74AB499A5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591050"/>
            <a:ext cx="29813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테스트 위치와 범위</a:t>
            </a:r>
          </a:p>
        </p:txBody>
      </p:sp>
      <p:sp>
        <p:nvSpPr>
          <p:cNvPr id="22" name="모든 지식을 넣기보다, 상세 정보까지 가는 길을 안내한다">
            <a:extLst xmlns:a="http://schemas.openxmlformats.org/drawingml/2006/main">
              <a:ext uri="{FF2B5EF4-FFF2-40B4-BE49-F238E27FC236}">
                <a16:creationId xmlns:a16="http://schemas.microsoft.com/office/drawing/2014/main" id="{0BF5E8E3-E2A7-4FC5-A435-25BDFAF0A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모든 지식을 넣기보다, 상세 정보까지 가는 길을 안내한다</a:t>
            </a:r>
          </a:p>
        </p:txBody>
      </p:sp>
      <p:sp>
        <p:nvSpPr>
          <p:cNvPr id="2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A10E91D-2B78-4D75-A4CC-CE9502521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41069208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2 · STATE-03의 문서 구조">
            <a:extLst xmlns:a="http://schemas.openxmlformats.org/drawingml/2006/main">
              <a:ext uri="{FF2B5EF4-FFF2-40B4-BE49-F238E27FC236}">
                <a16:creationId xmlns:a16="http://schemas.microsoft.com/office/drawing/2014/main" id="{D7919BBE-CD71-451D-AC90-E53094074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STATE-03의 문서 구조</a:t>
            </a:r>
          </a:p>
        </p:txBody>
      </p:sp>
      <p:sp>
        <p:nvSpPr>
          <p:cNvPr id="2" name="S32">
            <a:extLst xmlns:a="http://schemas.openxmlformats.org/drawingml/2006/main">
              <a:ext uri="{FF2B5EF4-FFF2-40B4-BE49-F238E27FC236}">
                <a16:creationId xmlns:a16="http://schemas.microsoft.com/office/drawing/2014/main" id="{0146FE3F-053A-49F7-8D7D-CE462901E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S32</a:t>
            </a:r>
          </a:p>
        </p:txBody>
      </p:sp>
      <p:sp>
        <p:nvSpPr>
          <p:cNvPr id="3" name="정보를 지우지 않고 위치를 나누기">
            <a:extLst xmlns:a="http://schemas.openxmlformats.org/drawingml/2006/main">
              <a:ext uri="{FF2B5EF4-FFF2-40B4-BE49-F238E27FC236}">
                <a16:creationId xmlns:a16="http://schemas.microsoft.com/office/drawing/2014/main" id="{4931F818-CE20-44CE-A6A4-9CFF59C92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정보를 지우지 않고 위치를 나누기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1D9531-124C-4DE2-BA37-A7EC0A765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2 → STATE-03 · 실제 파일 구조와 Routing 문구 발췌">
            <a:extLst xmlns:a="http://schemas.openxmlformats.org/drawingml/2006/main">
              <a:ext uri="{FF2B5EF4-FFF2-40B4-BE49-F238E27FC236}">
                <a16:creationId xmlns:a16="http://schemas.microsoft.com/office/drawing/2014/main" id="{AFC010C7-BEC1-4CBD-8B63-7516AD638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STATE-02 → STATE-03 · 실제 파일 구조와 Routing 문구 발췌</a:t>
            </a:r>
          </a:p>
        </p:txBody>
      </p:sp>
      <p:sp>
        <p:nvSpPr>
          <p:cNvPr id="6" name="내용을 Scope에 맞춰 이동 · 구조 변화 자체가 완벽한 Routing이나 성능 향상 증거는 아님">
            <a:extLst xmlns:a="http://schemas.openxmlformats.org/drawingml/2006/main">
              <a:ext uri="{FF2B5EF4-FFF2-40B4-BE49-F238E27FC236}">
                <a16:creationId xmlns:a16="http://schemas.microsoft.com/office/drawing/2014/main" id="{8F4AEA6C-93CC-40E2-BDB9-EB3F880FF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내용을 Scope에 맞춰 이동 · 구조 변화 자체가 완벽한 Routing이나 성능 향상 증거는 아님</a:t>
            </a:r>
          </a:p>
        </p:txBody>
      </p:sp>
      <p:sp>
        <p:nvSpPr>
          <p:cNvPr id="7" name="이전: AGENTS.md 안에 세부사항까지">
            <a:extLst xmlns:a="http://schemas.openxmlformats.org/drawingml/2006/main">
              <a:ext uri="{FF2B5EF4-FFF2-40B4-BE49-F238E27FC236}">
                <a16:creationId xmlns:a16="http://schemas.microsoft.com/office/drawing/2014/main" id="{2106702F-7FA2-4D82-B889-1621AE1FD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이전: AGENTS.md 안에 세부사항까지</a:t>
            </a:r>
          </a:p>
        </p:txBody>
      </p:sp>
      <p:sp>
        <p:nvSpPr>
          <p:cNvPr id="8" name="이후: 기본 안내 + 상세 문서로 가는 링크">
            <a:extLst xmlns:a="http://schemas.openxmlformats.org/drawingml/2006/main">
              <a:ext uri="{FF2B5EF4-FFF2-40B4-BE49-F238E27FC236}">
                <a16:creationId xmlns:a16="http://schemas.microsoft.com/office/drawing/2014/main" id="{731C0D69-BCC9-4BC6-9757-731570721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이후: 기본 안내 + 상세 문서로 가는 링크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0FB24B-0FEB-4A0F-B228-931E47672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처리 순서 · 모듈 역할">
            <a:extLst xmlns:a="http://schemas.openxmlformats.org/drawingml/2006/main">
              <a:ext uri="{FF2B5EF4-FFF2-40B4-BE49-F238E27FC236}">
                <a16:creationId xmlns:a16="http://schemas.microsoft.com/office/drawing/2014/main" id="{324CC99C-5BED-465E-A3C8-27A73F1AB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처리 순서 · 모듈 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150678-29A3-4E6D-A72D-92F3F1513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476625"/>
            <a:ext cx="4191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2" name="docs/architecture.md">
            <a:extLst xmlns:a="http://schemas.openxmlformats.org/drawingml/2006/main">
              <a:ext uri="{FF2B5EF4-FFF2-40B4-BE49-F238E27FC236}">
                <a16:creationId xmlns:a16="http://schemas.microsoft.com/office/drawing/2014/main" id="{D1F32168-1981-4BEF-A474-452C65468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71850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docs/architecture.md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7452DA-977F-48CB-8A8F-A2286C756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이미지 형식 · crop · resize">
            <a:extLst xmlns:a="http://schemas.openxmlformats.org/drawingml/2006/main">
              <a:ext uri="{FF2B5EF4-FFF2-40B4-BE49-F238E27FC236}">
                <a16:creationId xmlns:a16="http://schemas.microsoft.com/office/drawing/2014/main" id="{1E47464D-3DD7-4DCC-988E-A00363586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52875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이미지 형식 · crop · resize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75CB25-BC6D-4CF2-9ECA-71B72B6A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4057650"/>
            <a:ext cx="4191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6" name="docs/image-contracts.md">
            <a:extLst xmlns:a="http://schemas.openxmlformats.org/drawingml/2006/main">
              <a:ext uri="{FF2B5EF4-FFF2-40B4-BE49-F238E27FC236}">
                <a16:creationId xmlns:a16="http://schemas.microsoft.com/office/drawing/2014/main" id="{66B60E54-0A02-42E8-9E1A-F2B943ABD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52875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docs/image-contracts.md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B9AE7B-0C0E-440E-B5C5-83A883C3C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481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8" name="테스트 구조 · 관련 테스트">
            <a:extLst xmlns:a="http://schemas.openxmlformats.org/drawingml/2006/main">
              <a:ext uri="{FF2B5EF4-FFF2-40B4-BE49-F238E27FC236}">
                <a16:creationId xmlns:a16="http://schemas.microsoft.com/office/drawing/2014/main" id="{9B22F788-8B8F-460B-B508-9BA89F40C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 구조 · 관련 테스트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70F61E-2399-43D1-928A-1F4E229C7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4638675"/>
            <a:ext cx="4191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0" name="docs/testing.md">
            <a:extLst xmlns:a="http://schemas.openxmlformats.org/drawingml/2006/main">
              <a:ext uri="{FF2B5EF4-FFF2-40B4-BE49-F238E27FC236}">
                <a16:creationId xmlns:a16="http://schemas.microsoft.com/office/drawing/2014/main" id="{9304882F-C6CF-47BE-8CCB-0CBFA80FD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33900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docs/testing.md</a:t>
            </a:r>
          </a:p>
        </p:txBody>
      </p:sp>
      <p:sp>
        <p:nvSpPr>
          <p:cNvPr id="21" name="원문: Test organization or relevant tests → docs/testing.md">
            <a:extLst xmlns:a="http://schemas.openxmlformats.org/drawingml/2006/main">
              <a:ext uri="{FF2B5EF4-FFF2-40B4-BE49-F238E27FC236}">
                <a16:creationId xmlns:a16="http://schemas.microsoft.com/office/drawing/2014/main" id="{A53D2086-E24A-41DB-9828-2DA335740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원문: Test organization or relevant tests → docs/testing.md</a:t>
            </a:r>
          </a:p>
        </p:txBody>
      </p:sp>
      <p:sp>
        <p:nvSpPr>
          <p:cNvPr id="2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2CD4FAE6-9429-497B-96CE-D3EED97F6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88154005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T 2 · 관찰하기 전에 질문하기">
            <a:extLst xmlns:a="http://schemas.openxmlformats.org/drawingml/2006/main">
              <a:ext uri="{FF2B5EF4-FFF2-40B4-BE49-F238E27FC236}">
                <a16:creationId xmlns:a16="http://schemas.microsoft.com/office/drawing/2014/main" id="{233957DF-7DC3-4CD4-82FB-4F45485C7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관찰하기 전에 질문하기</a:t>
            </a:r>
          </a:p>
        </p:txBody>
      </p:sp>
      <p:sp>
        <p:nvSpPr>
          <p:cNvPr id="2" name="S33">
            <a:extLst xmlns:a="http://schemas.openxmlformats.org/drawingml/2006/main">
              <a:ext uri="{FF2B5EF4-FFF2-40B4-BE49-F238E27FC236}">
                <a16:creationId xmlns:a16="http://schemas.microsoft.com/office/drawing/2014/main" id="{08B2C716-D585-4831-AFCE-8CF7F4DC6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S33</a:t>
            </a:r>
          </a:p>
        </p:txBody>
      </p:sp>
      <p:sp>
        <p:nvSpPr>
          <p:cNvPr id="3" name="서로 다른 두 Task가 무엇을 읽을까?">
            <a:extLst xmlns:a="http://schemas.openxmlformats.org/drawingml/2006/main">
              <a:ext uri="{FF2B5EF4-FFF2-40B4-BE49-F238E27FC236}">
                <a16:creationId xmlns:a16="http://schemas.microsoft.com/office/drawing/2014/main" id="{484CB6E7-0D77-4717-B638-5103E2B42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서로 다른 두 Task가 무엇을 읽을까?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CCDDBD-9047-4B31-8C34-DB4E6CD6A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5A/B · 읽기 전용 Task의 질문을 재구성">
            <a:extLst xmlns:a="http://schemas.openxmlformats.org/drawingml/2006/main">
              <a:ext uri="{FF2B5EF4-FFF2-40B4-BE49-F238E27FC236}">
                <a16:creationId xmlns:a16="http://schemas.microsoft.com/office/drawing/2014/main" id="{E7456354-6166-49FD-9BCA-E543401D6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TRIAL-005A/B · 읽기 전용 Task의 질문을 재구성</a:t>
            </a:r>
          </a:p>
        </p:txBody>
      </p:sp>
      <p:sp>
        <p:nvSpPr>
          <p:cNvPr id="6" name="어떤 상세 문서를 읽을지는 실제 접근 기록으로 확인한다">
            <a:extLst xmlns:a="http://schemas.openxmlformats.org/drawingml/2006/main">
              <a:ext uri="{FF2B5EF4-FFF2-40B4-BE49-F238E27FC236}">
                <a16:creationId xmlns:a16="http://schemas.microsoft.com/office/drawing/2014/main" id="{07A54C61-8A09-4C84-9AE0-821A5F297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어떤 상세 문서를 읽을지는 실제 접근 기록으로 확인한다</a:t>
            </a:r>
          </a:p>
        </p:txBody>
      </p:sp>
      <p:sp>
        <p:nvSpPr>
          <p:cNvPr id="7" name="Task A">
            <a:extLst xmlns:a="http://schemas.openxmlformats.org/drawingml/2006/main">
              <a:ext uri="{FF2B5EF4-FFF2-40B4-BE49-F238E27FC236}">
                <a16:creationId xmlns:a16="http://schemas.microsoft.com/office/drawing/2014/main" id="{8B703F54-74D7-4880-A1AB-45B9DEA9A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19325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Task A</a:t>
            </a:r>
          </a:p>
        </p:txBody>
      </p:sp>
      <p:sp>
        <p:nvSpPr>
          <p:cNvPr id="8" name="Task B">
            <a:extLst xmlns:a="http://schemas.openxmlformats.org/drawingml/2006/main">
              <a:ext uri="{FF2B5EF4-FFF2-40B4-BE49-F238E27FC236}">
                <a16:creationId xmlns:a16="http://schemas.microsoft.com/office/drawing/2014/main" id="{3548529A-8259-47EC-A129-5AF0426B4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19325"/>
            <a:ext cx="4876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Task 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0BACCD-1E2E-4FEF-B210-21863EB32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0722C7-EC0E-404D-B2C8-D4E292143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7622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crop 1 3은&#10;어떤 source column을&#10;포함하는가?">
            <a:extLst xmlns:a="http://schemas.openxmlformats.org/drawingml/2006/main">
              <a:ext uri="{FF2B5EF4-FFF2-40B4-BE49-F238E27FC236}">
                <a16:creationId xmlns:a16="http://schemas.microsoft.com/office/drawing/2014/main" id="{C3731B31-9564-4A64-8A10-C83B65594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49530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1 3은</a:t>
            </a:r>
          </a:p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source column을</a:t>
            </a:r>
          </a:p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포함하는가?</a:t>
            </a:r>
          </a:p>
        </p:txBody>
      </p:sp>
      <p:sp>
        <p:nvSpPr>
          <p:cNvPr id="12" name="이 Project에&#10;runtime dependency가&#10;있는가?">
            <a:extLst xmlns:a="http://schemas.openxmlformats.org/drawingml/2006/main">
              <a:ext uri="{FF2B5EF4-FFF2-40B4-BE49-F238E27FC236}">
                <a16:creationId xmlns:a16="http://schemas.microsoft.com/office/drawing/2014/main" id="{28E0439B-20CA-4606-BBD5-7A6C8B443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24200"/>
            <a:ext cx="48768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 Project에</a:t>
            </a:r>
          </a:p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runtime dependency가</a:t>
            </a:r>
          </a:p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있는가?</a:t>
            </a:r>
          </a:p>
        </p:txBody>
      </p:sp>
      <p:sp>
        <p:nvSpPr>
          <p:cNvPr id="13" name="두 Task에서 같은 상세 문서를 읽을까?">
            <a:extLst xmlns:a="http://schemas.openxmlformats.org/drawingml/2006/main">
              <a:ext uri="{FF2B5EF4-FFF2-40B4-BE49-F238E27FC236}">
                <a16:creationId xmlns:a16="http://schemas.microsoft.com/office/drawing/2014/main" id="{93F0F5F5-743A-499B-9915-E637C18A2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두 Task에서 같은 상세 문서를 읽을까?</a:t>
            </a:r>
          </a:p>
        </p:txBody>
      </p:sp>
      <p:sp>
        <p:nvSpPr>
          <p:cNvPr id="1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124B802F-993F-4126-9460-DF2239DAD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44405618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ACT 2 · 질문과 근거를 연결하기">
            <a:extLst xmlns:a="http://schemas.openxmlformats.org/drawingml/2006/main">
              <a:ext uri="{FF2B5EF4-FFF2-40B4-BE49-F238E27FC236}">
                <a16:creationId xmlns:a16="http://schemas.microsoft.com/office/drawing/2014/main" id="{B675E7E3-0E1C-43C7-B531-E6E92EE71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질문과 근거를 연결하기</a:t>
            </a:r>
          </a:p>
        </p:txBody>
      </p:sp>
      <p:sp>
        <p:nvSpPr>
          <p:cNvPr id="2" name="S34">
            <a:extLst xmlns:a="http://schemas.openxmlformats.org/drawingml/2006/main">
              <a:ext uri="{FF2B5EF4-FFF2-40B4-BE49-F238E27FC236}">
                <a16:creationId xmlns:a16="http://schemas.microsoft.com/office/drawing/2014/main" id="{E72380D3-0D1B-44C3-B984-1DAB850C9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S34</a:t>
            </a:r>
          </a:p>
        </p:txBody>
      </p:sp>
      <p:sp>
        <p:nvSpPr>
          <p:cNvPr id="3" name="Crop Task에서 관찰한 접근">
            <a:extLst xmlns:a="http://schemas.openxmlformats.org/drawingml/2006/main">
              <a:ext uri="{FF2B5EF4-FFF2-40B4-BE49-F238E27FC236}">
                <a16:creationId xmlns:a16="http://schemas.microsoft.com/office/drawing/2014/main" id="{35013328-7EDE-48D3-9267-414B2053D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Task에서 관찰한 접근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46BA88-908A-4A0E-B776-296B07C72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5A · 최종 실행의 접근과 답을 기록에서 재구성">
            <a:extLst xmlns:a="http://schemas.openxmlformats.org/drawingml/2006/main">
              <a:ext uri="{FF2B5EF4-FFF2-40B4-BE49-F238E27FC236}">
                <a16:creationId xmlns:a16="http://schemas.microsoft.com/office/drawing/2014/main" id="{57D86CF2-BDEC-4FA0-8FFA-9EE777C73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TRIAL-005A · 최종 실행의 접근과 답을 기록에서 재구성</a:t>
            </a:r>
          </a:p>
        </p:txBody>
      </p:sp>
      <p:sp>
        <p:nvSpPr>
          <p:cNvPr id="6" name="architecture 등 넓은 Context도 접근 · testing.md는 최종 실행에서 관찰, 반복 간">
            <a:extLst xmlns:a="http://schemas.openxmlformats.org/drawingml/2006/main">
              <a:ext uri="{FF2B5EF4-FFF2-40B4-BE49-F238E27FC236}">
                <a16:creationId xmlns:a16="http://schemas.microsoft.com/office/drawing/2014/main" id="{3F6ABE2E-AEBA-43B3-AA7F-6B11AA823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architecture 등 넓은 Context도 접근 · testing.md는 최종 실행에서 관찰, 반복 간 차이 존재</a:t>
            </a:r>
          </a:p>
        </p:txBody>
      </p:sp>
      <p:sp>
        <p:nvSpPr>
          <p:cNvPr id="7" name="접근한 계약 문서">
            <a:extLst xmlns:a="http://schemas.openxmlformats.org/drawingml/2006/main">
              <a:ext uri="{FF2B5EF4-FFF2-40B4-BE49-F238E27FC236}">
                <a16:creationId xmlns:a16="http://schemas.microsoft.com/office/drawing/2014/main" id="{11AC6206-61B1-4635-AAC5-FED006487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571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접근한 계약 문서</a:t>
            </a:r>
          </a:p>
        </p:txBody>
      </p:sp>
      <p:sp>
        <p:nvSpPr>
          <p:cNvPr id="8" name="image-contracts.md">
            <a:extLst xmlns:a="http://schemas.openxmlformats.org/drawingml/2006/main">
              <a:ext uri="{FF2B5EF4-FFF2-40B4-BE49-F238E27FC236}">
                <a16:creationId xmlns:a16="http://schemas.microsoft.com/office/drawing/2014/main" id="{13939EE6-6747-44B8-AA2D-BF0B3A715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628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400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image-contracts.md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344917-98B6-4C3E-92A3-BB33545F7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6286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[x_start, x_end)">
            <a:extLst xmlns:a="http://schemas.openxmlformats.org/drawingml/2006/main">
              <a:ext uri="{FF2B5EF4-FFF2-40B4-BE49-F238E27FC236}">
                <a16:creationId xmlns:a16="http://schemas.microsoft.com/office/drawing/2014/main" id="{EF34891F-0D7F-408C-8AD7-7730C0C94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00425"/>
            <a:ext cx="5829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475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[x_start, x_end)</a:t>
            </a:r>
          </a:p>
        </p:txBody>
      </p:sp>
      <p:sp>
        <p:nvSpPr>
          <p:cNvPr id="11" name="시작 열 포함 · 끝 좌표 제외">
            <a:extLst xmlns:a="http://schemas.openxmlformats.org/drawingml/2006/main">
              <a:ext uri="{FF2B5EF4-FFF2-40B4-BE49-F238E27FC236}">
                <a16:creationId xmlns:a16="http://schemas.microsoft.com/office/drawing/2014/main" id="{5CC2DC1F-06DC-4146-B3C4-431370158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00500"/>
            <a:ext cx="58293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시작 열 포함 · 끝 좌표 제외</a:t>
            </a:r>
          </a:p>
        </p:txBody>
      </p:sp>
      <p:sp>
        <p:nvSpPr>
          <p:cNvPr id="12" name="기록된 답">
            <a:extLst xmlns:a="http://schemas.openxmlformats.org/drawingml/2006/main">
              <a:ext uri="{FF2B5EF4-FFF2-40B4-BE49-F238E27FC236}">
                <a16:creationId xmlns:a16="http://schemas.microsoft.com/office/drawing/2014/main" id="{52721800-3817-4B3F-9821-374B4C73A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171700"/>
            <a:ext cx="3886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기록된 답</a:t>
            </a:r>
          </a:p>
        </p:txBody>
      </p:sp>
      <p:sp>
        <p:nvSpPr>
          <p:cNvPr id="13" name="crop 1 3">
            <a:extLst xmlns:a="http://schemas.openxmlformats.org/drawingml/2006/main">
              <a:ext uri="{FF2B5EF4-FFF2-40B4-BE49-F238E27FC236}">
                <a16:creationId xmlns:a16="http://schemas.microsoft.com/office/drawing/2014/main" id="{4F17F605-6AA3-4961-B652-E9637BD21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647950"/>
            <a:ext cx="3886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400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crop 1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A4A6E4-CFB0-4009-8AF1-1571441B3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33750"/>
            <a:ext cx="7429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0">
            <a:extLst xmlns:a="http://schemas.openxmlformats.org/drawingml/2006/main">
              <a:ext uri="{FF2B5EF4-FFF2-40B4-BE49-F238E27FC236}">
                <a16:creationId xmlns:a16="http://schemas.microsoft.com/office/drawing/2014/main" id="{C240611C-413D-4038-9664-6F2B961C1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467100"/>
            <a:ext cx="742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DFBF94-207C-4959-85C9-5AE6CF8C9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333750"/>
            <a:ext cx="7429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1">
            <a:extLst xmlns:a="http://schemas.openxmlformats.org/drawingml/2006/main">
              <a:ext uri="{FF2B5EF4-FFF2-40B4-BE49-F238E27FC236}">
                <a16:creationId xmlns:a16="http://schemas.microsoft.com/office/drawing/2014/main" id="{69D34DF1-CF57-4E80-B5E1-109BD748D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467100"/>
            <a:ext cx="742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64F501-3DDD-4BD2-BF86-077B433D0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333750"/>
            <a:ext cx="7429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2">
            <a:extLst xmlns:a="http://schemas.openxmlformats.org/drawingml/2006/main">
              <a:ext uri="{FF2B5EF4-FFF2-40B4-BE49-F238E27FC236}">
                <a16:creationId xmlns:a16="http://schemas.microsoft.com/office/drawing/2014/main" id="{C4777029-6C7D-4C6B-8E5A-254CAAC99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467100"/>
            <a:ext cx="742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E728D2-061D-41A8-97DA-EE5B47DB9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333750"/>
            <a:ext cx="7429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1" name="3">
            <a:extLst xmlns:a="http://schemas.openxmlformats.org/drawingml/2006/main">
              <a:ext uri="{FF2B5EF4-FFF2-40B4-BE49-F238E27FC236}">
                <a16:creationId xmlns:a16="http://schemas.microsoft.com/office/drawing/2014/main" id="{BCCDBD00-A28F-4B64-992E-3FEA68C15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467100"/>
            <a:ext cx="742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2" name="포함 열: 1, 2&#10;출력 폭: 2">
            <a:extLst xmlns:a="http://schemas.openxmlformats.org/drawingml/2006/main">
              <a:ext uri="{FF2B5EF4-FFF2-40B4-BE49-F238E27FC236}">
                <a16:creationId xmlns:a16="http://schemas.microsoft.com/office/drawing/2014/main" id="{F05B8DB3-0E3B-4A1D-A9E9-E010BAA5C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381500"/>
            <a:ext cx="38862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포함 열: 1, 2</a:t>
            </a:r>
          </a:p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출력 폭: 2</a:t>
            </a:r>
          </a:p>
        </p:txBody>
      </p:sp>
      <p:sp>
        <p:nvSpPr>
          <p:cNvPr id="23" name="답을 파일의 계약과 연결해 확인했다">
            <a:extLst xmlns:a="http://schemas.openxmlformats.org/drawingml/2006/main">
              <a:ext uri="{FF2B5EF4-FFF2-40B4-BE49-F238E27FC236}">
                <a16:creationId xmlns:a16="http://schemas.microsoft.com/office/drawing/2014/main" id="{F1716A33-1913-4251-BDDC-DBD0EE5C9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9225"/>
            <a:ext cx="6477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답을 파일의 계약과 연결해 확인했다</a:t>
            </a:r>
          </a:p>
        </p:txBody>
      </p:sp>
      <p:sp>
        <p:nvSpPr>
          <p:cNvPr id="2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F99E7CE1-E91E-4C26-B197-5FC0277B1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M6</a:t>
            </a:r>
          </a:p>
        </p:txBody>
      </p:sp>
    </p:spTree>
    <p:extLst>
      <p:ext uri="{BB962C8B-B14F-4D97-AF65-F5344CB8AC3E}">
        <p14:creationId xmlns:p14="http://schemas.microsoft.com/office/powerpoint/2010/main" val="3551802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ACT 2 · 두 Task의 문서 접근 비교">
            <a:extLst xmlns:a="http://schemas.openxmlformats.org/drawingml/2006/main">
              <a:ext uri="{FF2B5EF4-FFF2-40B4-BE49-F238E27FC236}">
                <a16:creationId xmlns:a16="http://schemas.microsoft.com/office/drawing/2014/main" id="{B2B42509-D191-4089-8868-41059B7AB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두 Task의 문서 접근 비교</a:t>
            </a:r>
          </a:p>
        </p:txBody>
      </p:sp>
      <p:sp>
        <p:nvSpPr>
          <p:cNvPr id="2" name="S35">
            <a:extLst xmlns:a="http://schemas.openxmlformats.org/drawingml/2006/main">
              <a:ext uri="{FF2B5EF4-FFF2-40B4-BE49-F238E27FC236}">
                <a16:creationId xmlns:a16="http://schemas.microsoft.com/office/drawing/2014/main" id="{1B29F362-E559-44B2-A0C2-989A36F28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S35</a:t>
            </a:r>
          </a:p>
        </p:txBody>
      </p:sp>
      <p:sp>
        <p:nvSpPr>
          <p:cNvPr id="3" name="Task별 접근은 달랐지만 완벽하지는 않다">
            <a:extLst xmlns:a="http://schemas.openxmlformats.org/drawingml/2006/main">
              <a:ext uri="{FF2B5EF4-FFF2-40B4-BE49-F238E27FC236}">
                <a16:creationId xmlns:a16="http://schemas.microsoft.com/office/drawing/2014/main" id="{803D70F4-F6A5-42E0-8DC2-DC9C7A049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Task별 접근은 달랐지만 완벽하지는 않다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3E7B59-62AC-46E5-8DFF-FE8A60711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5A/B · 실제 접근 기록을 요약한 비교">
            <a:extLst xmlns:a="http://schemas.openxmlformats.org/drawingml/2006/main">
              <a:ext uri="{FF2B5EF4-FFF2-40B4-BE49-F238E27FC236}">
                <a16:creationId xmlns:a16="http://schemas.microsoft.com/office/drawing/2014/main" id="{677053A5-07BB-4680-AD68-968FD9CAD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TRIAL-005A/B · 실제 접근 기록을 요약한 비교</a:t>
            </a:r>
          </a:p>
        </p:txBody>
      </p:sp>
      <p:sp>
        <p:nvSpPr>
          <p:cNvPr id="6" name="완벽한 Routing 미입증 · 토큰 절약·성능 개선 미측정 · 실행 간 변동 존재">
            <a:extLst xmlns:a="http://schemas.openxmlformats.org/drawingml/2006/main">
              <a:ext uri="{FF2B5EF4-FFF2-40B4-BE49-F238E27FC236}">
                <a16:creationId xmlns:a16="http://schemas.microsoft.com/office/drawing/2014/main" id="{9180A9DD-BB73-4C48-83CC-2B3BED93B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완벽한 Routing 미입증 · 토큰 절약·성능 개선 미측정 · 실행 간 변동 존재</a:t>
            </a:r>
          </a:p>
        </p:txBody>
      </p:sp>
      <p:sp>
        <p:nvSpPr>
          <p:cNvPr id="7" name="같은 Repository에서 질문이 달랐다">
            <a:extLst xmlns:a="http://schemas.openxmlformats.org/drawingml/2006/main">
              <a:ext uri="{FF2B5EF4-FFF2-40B4-BE49-F238E27FC236}">
                <a16:creationId xmlns:a16="http://schemas.microsoft.com/office/drawing/2014/main" id="{C71105A4-2FD0-41C6-ADE4-83CEEC3A2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Repository에서 질문이 달랐다</a:t>
            </a:r>
          </a:p>
        </p:txBody>
      </p:sp>
      <p:sp>
        <p:nvSpPr>
          <p:cNvPr id="8" name="문서">
            <a:extLst xmlns:a="http://schemas.openxmlformats.org/drawingml/2006/main">
              <a:ext uri="{FF2B5EF4-FFF2-40B4-BE49-F238E27FC236}">
                <a16:creationId xmlns:a16="http://schemas.microsoft.com/office/drawing/2014/main" id="{7C74DA7F-C9DC-4733-AF32-8EBB5BCAC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52725"/>
            <a:ext cx="4686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문서</a:t>
            </a:r>
          </a:p>
        </p:txBody>
      </p:sp>
      <p:sp>
        <p:nvSpPr>
          <p:cNvPr id="9" name="A · crop 계약">
            <a:extLst xmlns:a="http://schemas.openxmlformats.org/drawingml/2006/main">
              <a:ext uri="{FF2B5EF4-FFF2-40B4-BE49-F238E27FC236}">
                <a16:creationId xmlns:a16="http://schemas.microsoft.com/office/drawing/2014/main" id="{B2F4472B-EB4D-4BDB-96C3-11482D98E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752725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A · crop 계약</a:t>
            </a:r>
          </a:p>
        </p:txBody>
      </p:sp>
      <p:sp>
        <p:nvSpPr>
          <p:cNvPr id="10" name="B · 실행 의존성">
            <a:extLst xmlns:a="http://schemas.openxmlformats.org/drawingml/2006/main">
              <a:ext uri="{FF2B5EF4-FFF2-40B4-BE49-F238E27FC236}">
                <a16:creationId xmlns:a16="http://schemas.microsoft.com/office/drawing/2014/main" id="{6070F0E9-05BE-4BBF-9DBD-D6EA22C6F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752725"/>
            <a:ext cx="28384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B · 실행 의존성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1ACC36-669E-4597-87DA-FFC62266C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image-contracts.md">
            <a:extLst xmlns:a="http://schemas.openxmlformats.org/drawingml/2006/main">
              <a:ext uri="{FF2B5EF4-FFF2-40B4-BE49-F238E27FC236}">
                <a16:creationId xmlns:a16="http://schemas.microsoft.com/office/drawing/2014/main" id="{8DCDB674-77CD-4420-BF48-5D81EBACA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33750"/>
            <a:ext cx="466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image-contracts.md</a:t>
            </a:r>
          </a:p>
        </p:txBody>
      </p:sp>
      <p:sp>
        <p:nvSpPr>
          <p:cNvPr id="13" name="읽음">
            <a:extLst xmlns:a="http://schemas.openxmlformats.org/drawingml/2006/main">
              <a:ext uri="{FF2B5EF4-FFF2-40B4-BE49-F238E27FC236}">
                <a16:creationId xmlns:a16="http://schemas.microsoft.com/office/drawing/2014/main" id="{745E904A-8715-4AAB-B771-EB369AB7E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333750"/>
            <a:ext cx="297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읽음</a:t>
            </a:r>
          </a:p>
        </p:txBody>
      </p:sp>
      <p:sp>
        <p:nvSpPr>
          <p:cNvPr id="14" name="읽지 않음">
            <a:extLst xmlns:a="http://schemas.openxmlformats.org/drawingml/2006/main">
              <a:ext uri="{FF2B5EF4-FFF2-40B4-BE49-F238E27FC236}">
                <a16:creationId xmlns:a16="http://schemas.microsoft.com/office/drawing/2014/main" id="{4D6899A2-3CE7-4D65-9534-A788AA050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333750"/>
            <a:ext cx="2838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읽지 않음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0F3327-245F-4FA6-B185-DCB3584AD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architecture.md">
            <a:extLst xmlns:a="http://schemas.openxmlformats.org/drawingml/2006/main">
              <a:ext uri="{FF2B5EF4-FFF2-40B4-BE49-F238E27FC236}">
                <a16:creationId xmlns:a16="http://schemas.microsoft.com/office/drawing/2014/main" id="{69C416F5-3F20-4717-A708-B4CD688DE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62400"/>
            <a:ext cx="466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architecture.md</a:t>
            </a:r>
          </a:p>
        </p:txBody>
      </p:sp>
      <p:sp>
        <p:nvSpPr>
          <p:cNvPr id="17" name="읽음">
            <a:extLst xmlns:a="http://schemas.openxmlformats.org/drawingml/2006/main">
              <a:ext uri="{FF2B5EF4-FFF2-40B4-BE49-F238E27FC236}">
                <a16:creationId xmlns:a16="http://schemas.microsoft.com/office/drawing/2014/main" id="{C91A8F05-29BE-4513-9055-B49A26CB6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962400"/>
            <a:ext cx="297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읽음</a:t>
            </a:r>
          </a:p>
        </p:txBody>
      </p:sp>
      <p:sp>
        <p:nvSpPr>
          <p:cNvPr id="18" name="읽음">
            <a:extLst xmlns:a="http://schemas.openxmlformats.org/drawingml/2006/main">
              <a:ext uri="{FF2B5EF4-FFF2-40B4-BE49-F238E27FC236}">
                <a16:creationId xmlns:a16="http://schemas.microsoft.com/office/drawing/2014/main" id="{5682F7A6-615C-4808-9E2A-660759DC4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962400"/>
            <a:ext cx="2838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읽음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90DF77-55E2-4E5B-85D8-C07F3E9E9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testing.md">
            <a:extLst xmlns:a="http://schemas.openxmlformats.org/drawingml/2006/main">
              <a:ext uri="{FF2B5EF4-FFF2-40B4-BE49-F238E27FC236}">
                <a16:creationId xmlns:a16="http://schemas.microsoft.com/office/drawing/2014/main" id="{CBF868B8-836C-4172-A0B3-981F8D019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91050"/>
            <a:ext cx="466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testing.md</a:t>
            </a:r>
          </a:p>
        </p:txBody>
      </p:sp>
      <p:sp>
        <p:nvSpPr>
          <p:cNvPr id="21" name="최종 실행에서 읽음">
            <a:extLst xmlns:a="http://schemas.openxmlformats.org/drawingml/2006/main">
              <a:ext uri="{FF2B5EF4-FFF2-40B4-BE49-F238E27FC236}">
                <a16:creationId xmlns:a16="http://schemas.microsoft.com/office/drawing/2014/main" id="{090379EA-E431-4759-8559-09CDB7241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591050"/>
            <a:ext cx="297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최종 실행에서 읽음</a:t>
            </a:r>
          </a:p>
        </p:txBody>
      </p:sp>
      <p:sp>
        <p:nvSpPr>
          <p:cNvPr id="22" name="읽지 않음">
            <a:extLst xmlns:a="http://schemas.openxmlformats.org/drawingml/2006/main">
              <a:ext uri="{FF2B5EF4-FFF2-40B4-BE49-F238E27FC236}">
                <a16:creationId xmlns:a16="http://schemas.microsoft.com/office/drawing/2014/main" id="{77F95BAB-E9E2-470B-950E-7CBAF06B2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591050"/>
            <a:ext cx="2838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읽지 않음</a:t>
            </a:r>
          </a:p>
        </p:txBody>
      </p:sp>
      <p:sp>
        <p:nvSpPr>
          <p:cNvPr id="23" name="A에는 더 넓은 읽기도 존재 · B는 설정·README·source도 확인">
            <a:extLst xmlns:a="http://schemas.openxmlformats.org/drawingml/2006/main">
              <a:ext uri="{FF2B5EF4-FFF2-40B4-BE49-F238E27FC236}">
                <a16:creationId xmlns:a16="http://schemas.microsoft.com/office/drawing/2014/main" id="{A36BCA7A-2AC9-47D0-AE3C-A1D747AC6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95900"/>
            <a:ext cx="10972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A에는 더 넓은 읽기도 존재 · B는 설정·README·source도 확인</a:t>
            </a:r>
          </a:p>
        </p:txBody>
      </p:sp>
      <p:sp>
        <p:nvSpPr>
          <p:cNvPr id="2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BFB7E6CE-6529-400B-AC8F-645595912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34309593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T 2 · 다음 문제로 넘어가기">
            <a:extLst xmlns:a="http://schemas.openxmlformats.org/drawingml/2006/main">
              <a:ext uri="{FF2B5EF4-FFF2-40B4-BE49-F238E27FC236}">
                <a16:creationId xmlns:a16="http://schemas.microsoft.com/office/drawing/2014/main" id="{23F2E0D0-A0E5-46F2-8E6B-887943BDC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다음 문제로 넘어가기</a:t>
            </a:r>
          </a:p>
        </p:txBody>
      </p:sp>
      <p:sp>
        <p:nvSpPr>
          <p:cNvPr id="2" name="S36">
            <a:extLst xmlns:a="http://schemas.openxmlformats.org/drawingml/2006/main">
              <a:ext uri="{FF2B5EF4-FFF2-40B4-BE49-F238E27FC236}">
                <a16:creationId xmlns:a16="http://schemas.microsoft.com/office/drawing/2014/main" id="{77BFD1D5-32CB-48FF-B3C1-CD059CB16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S36</a:t>
            </a:r>
          </a:p>
        </p:txBody>
      </p:sp>
      <p:sp>
        <p:nvSpPr>
          <p:cNvPr id="3" name="지식은 정리됐지만 절차는 반복된다">
            <a:extLst xmlns:a="http://schemas.openxmlformats.org/drawingml/2006/main">
              <a:ext uri="{FF2B5EF4-FFF2-40B4-BE49-F238E27FC236}">
                <a16:creationId xmlns:a16="http://schemas.microsoft.com/office/drawing/2014/main" id="{3D4CF1AF-FE02-47C6-965F-3850767E7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지식은 정리됐지만 절차는 반복된다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2AA1A0-F277-448B-A152-01BDD0743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Project Context 정리 + TRIAL-006/007의 반복 절차 · 기록 요약과 교육용 해석">
            <a:extLst xmlns:a="http://schemas.openxmlformats.org/drawingml/2006/main">
              <a:ext uri="{FF2B5EF4-FFF2-40B4-BE49-F238E27FC236}">
                <a16:creationId xmlns:a16="http://schemas.microsoft.com/office/drawing/2014/main" id="{C08ECE7D-ACCD-4F9C-977E-B27968CDA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Project Context 정리 + TRIAL-006/007의 반복 절차 · 기록 요약과 교육용 해석</a:t>
            </a:r>
          </a:p>
        </p:txBody>
      </p:sp>
      <p:sp>
        <p:nvSpPr>
          <p:cNvPr id="6" name="절차가 반복된 원인을 Prompt만으로 분리하지 않음">
            <a:extLst xmlns:a="http://schemas.openxmlformats.org/drawingml/2006/main">
              <a:ext uri="{FF2B5EF4-FFF2-40B4-BE49-F238E27FC236}">
                <a16:creationId xmlns:a16="http://schemas.microsoft.com/office/drawing/2014/main" id="{7B02F2AD-6E2B-460E-9169-F7D70153B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절차가 반복된 원인을 Prompt만으로 분리하지 않음</a:t>
            </a:r>
          </a:p>
        </p:txBody>
      </p:sp>
      <p:sp>
        <p:nvSpPr>
          <p:cNvPr id="7" name="정리한 것">
            <a:extLst xmlns:a="http://schemas.openxmlformats.org/drawingml/2006/main">
              <a:ext uri="{FF2B5EF4-FFF2-40B4-BE49-F238E27FC236}">
                <a16:creationId xmlns:a16="http://schemas.microsoft.com/office/drawing/2014/main" id="{696ECE32-5700-4423-8B08-2AE44CBB0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정리한 것</a:t>
            </a:r>
          </a:p>
        </p:txBody>
      </p:sp>
      <p:sp>
        <p:nvSpPr>
          <p:cNvPr id="8" name="아직 반복되는 것">
            <a:extLst xmlns:a="http://schemas.openxmlformats.org/drawingml/2006/main">
              <a:ext uri="{FF2B5EF4-FFF2-40B4-BE49-F238E27FC236}">
                <a16:creationId xmlns:a16="http://schemas.microsoft.com/office/drawing/2014/main" id="{8244243C-A851-4960-93F9-68D7F8055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09800"/>
            <a:ext cx="4876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아직 반복되는 것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C11EA7-FFF6-457C-A1F9-9FFB8EE09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52725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0AA313-0F0D-446D-A4A0-38F5A312A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7527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현재 목표는 Prompt에&#10;공통 사실은 Project Context에&#10;상세 정보는 Routing으로">
            <a:extLst xmlns:a="http://schemas.openxmlformats.org/drawingml/2006/main">
              <a:ext uri="{FF2B5EF4-FFF2-40B4-BE49-F238E27FC236}">
                <a16:creationId xmlns:a16="http://schemas.microsoft.com/office/drawing/2014/main" id="{137AA26C-AA07-4728-BA6D-12A7F18E2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51435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목표는 Prompt에</a:t>
            </a:r>
          </a:p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공통 사실은 Project Context에</a:t>
            </a:r>
          </a:p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상세 정보는 Routing으로</a:t>
            </a:r>
          </a:p>
        </p:txBody>
      </p:sp>
      <p:sp>
        <p:nvSpPr>
          <p:cNvPr id="12" name="먼저 측정하고&#10;조사한 뒤 변경하고&#10;같은 조건으로 확인해줘">
            <a:extLst xmlns:a="http://schemas.openxmlformats.org/drawingml/2006/main">
              <a:ext uri="{FF2B5EF4-FFF2-40B4-BE49-F238E27FC236}">
                <a16:creationId xmlns:a16="http://schemas.microsoft.com/office/drawing/2014/main" id="{7ABAB425-7223-49DB-ABB7-8156BBC0E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14675"/>
            <a:ext cx="48768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먼저 측정하고</a:t>
            </a:r>
          </a:p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조사한 뒤 변경하고</a:t>
            </a:r>
          </a:p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조건으로 확인해줘</a:t>
            </a:r>
          </a:p>
        </p:txBody>
      </p:sp>
      <p:sp>
        <p:nvSpPr>
          <p:cNvPr id="13" name="같은 작업 절차도 다시 써야 할까?">
            <a:extLst xmlns:a="http://schemas.openxmlformats.org/drawingml/2006/main">
              <a:ext uri="{FF2B5EF4-FFF2-40B4-BE49-F238E27FC236}">
                <a16:creationId xmlns:a16="http://schemas.microsoft.com/office/drawing/2014/main" id="{5EE16F4E-1183-444C-9B8E-6B2F0C4A7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작업 절차도 다시 써야 할까?</a:t>
            </a:r>
          </a:p>
        </p:txBody>
      </p:sp>
      <p:sp>
        <p:nvSpPr>
          <p:cNvPr id="1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6AA808C3-4846-4994-9FFC-A6AE5B0B9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M8</a:t>
            </a:r>
          </a:p>
        </p:txBody>
      </p:sp>
    </p:spTree>
    <p:extLst>
      <p:ext uri="{BB962C8B-B14F-4D97-AF65-F5344CB8AC3E}">
        <p14:creationId xmlns:p14="http://schemas.microsoft.com/office/powerpoint/2010/main" val="91699411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2026-10-21T11:24:25.2370000Z</dcterms:created>
  <dcterms:modified xsi:type="dcterms:W3CDTF">2026-10-21T11:24:25.2370000Z</dcterms:modified>
</coreProperties>
</file>