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id="278" r:id="Rb6e196eb79bd4ac7"/>
    <p:sldId id="279" r:id="Rd6df91a0adb84b5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124731db2ca4542"/><Relationship Type="http://schemas.openxmlformats.org/officeDocument/2006/relationships/slideMaster" Target="/ppt/slideMasters/slideMaster1.xml" Id="R5ad485d29c60440e"/><Relationship Type="http://schemas.openxmlformats.org/officeDocument/2006/relationships/notesMaster" Target="/ppt/notesMasters/notesMaster1.xml" Id="R1b53e6f5aec94bb7"/><Relationship Type="http://schemas.openxmlformats.org/officeDocument/2006/relationships/presProps" Target="/ppt/presProps.xml" Id="Ra89db6ae51574db1"/><Relationship Type="http://schemas.openxmlformats.org/officeDocument/2006/relationships/tableStyles" Target="/ppt/tableStyles.xml" Id="Rb1b4c5e4218145b1"/><Relationship Type="http://schemas.openxmlformats.org/officeDocument/2006/relationships/slide" Target="/ppt/slides/slide1.xml" Id="R53b5f1c73613466b"/><Relationship Type="http://schemas.openxmlformats.org/officeDocument/2006/relationships/slide" Target="/ppt/slides/slide2.xml" Id="Rdb787b2679b34158"/><Relationship Type="http://schemas.openxmlformats.org/officeDocument/2006/relationships/slide" Target="/ppt/slides/slide3.xml" Id="R15ef2fdfc3fc4c66"/><Relationship Type="http://schemas.openxmlformats.org/officeDocument/2006/relationships/slide" Target="/ppt/slides/slide4.xml" Id="R4afab53e72394991"/><Relationship Type="http://schemas.openxmlformats.org/officeDocument/2006/relationships/slide" Target="/ppt/slides/slide5.xml" Id="R6991b2de36cf4574"/><Relationship Type="http://schemas.openxmlformats.org/officeDocument/2006/relationships/slide" Target="/ppt/slides/slide6.xml" Id="Reefe892a11634e6e"/><Relationship Type="http://schemas.openxmlformats.org/officeDocument/2006/relationships/slide" Target="/ppt/slides/slide7.xml" Id="Rc660046a4aee4b62"/><Relationship Type="http://schemas.openxmlformats.org/officeDocument/2006/relationships/slide" Target="/ppt/slides/slide8.xml" Id="R6671d30a9a674493"/><Relationship Type="http://schemas.openxmlformats.org/officeDocument/2006/relationships/slide" Target="/ppt/slides/slide9.xml" Id="R622f7f149fe64add"/><Relationship Type="http://schemas.openxmlformats.org/officeDocument/2006/relationships/slide" Target="/ppt/slides/slide10.xml" Id="Recccec0b02b94bcd"/><Relationship Type="http://schemas.openxmlformats.org/officeDocument/2006/relationships/slide" Target="/ppt/slides/slide11.xml" Id="Ra34cdac4f2ae4f66"/><Relationship Type="http://schemas.openxmlformats.org/officeDocument/2006/relationships/slide" Target="/ppt/slides/slide12.xml" Id="R24872ffc5e43470c"/><Relationship Type="http://schemas.openxmlformats.org/officeDocument/2006/relationships/slide" Target="/ppt/slides/slide15.xml" Id="Ra09b486bd3494af1"/><Relationship Type="http://schemas.openxmlformats.org/officeDocument/2006/relationships/slide" Target="/ppt/slides/slide16.xml" Id="R63a41de556e8443c"/><Relationship Type="http://schemas.openxmlformats.org/officeDocument/2006/relationships/slide" Target="/ppt/slides/slide17.xml" Id="R0565985cb09f4a47"/><Relationship Type="http://schemas.openxmlformats.org/officeDocument/2006/relationships/slide" Target="/ppt/slides/slide18.xml" Id="Recd5491b6ea3414e"/><Relationship Type="http://schemas.openxmlformats.org/officeDocument/2006/relationships/slide" Target="/ppt/slides/slide19.xml" Id="Rc0dbeecec05d4365"/><Relationship Type="http://schemas.openxmlformats.org/officeDocument/2006/relationships/slide" Target="/ppt/slides/slide20.xml" Id="Rd20122bcdfe04052"/><Relationship Type="http://schemas.openxmlformats.org/officeDocument/2006/relationships/slide" Target="/ppt/slides/slide21.xml" Id="R5a17122b530246b7"/><Relationship Type="http://schemas.openxmlformats.org/officeDocument/2006/relationships/slide" Target="/ppt/slides/slide22.xml" Id="Rded92fe5c21b46cc"/><Relationship Type="http://schemas.openxmlformats.org/officeDocument/2006/relationships/slide" Target="/ppt/slides/slide23.xml" Id="R94b109f609ff43a4"/><Relationship Type="http://schemas.openxmlformats.org/officeDocument/2006/relationships/slide" Target="/ppt/slides/slide24.xml" Id="R4139da827e6c459c"/><Relationship Type="http://schemas.openxmlformats.org/officeDocument/2006/relationships/slide" Target="/ppt/slides/slide13.xml" Id="Rb6e196eb79bd4ac7"/><Relationship Type="http://schemas.openxmlformats.org/officeDocument/2006/relationships/slide" Target="/ppt/slides/slide14.xml" Id="Rd6df91a0adb84b5c"/></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xml version="1.0" encoding="utf-8"?><Relationships xmlns="http://schemas.openxmlformats.org/package/2006/relationships"><Relationship Type="http://schemas.openxmlformats.org/officeDocument/2006/relationships/slide" Target="/ppt/slides/slide13.xml" Id="R88851504de1842a1"/><Relationship Type="http://schemas.openxmlformats.org/officeDocument/2006/relationships/notesMaster" Target="/ppt/notesMasters/notesMaster1.xml" Id="R812a5b04ffe44e67"/></Relationships>
</file>

<file path=ppt/notesSlides/_rels/notesSlide14.xml.rels><?xml version="1.0" encoding="utf-8"?><Relationships xmlns="http://schemas.openxmlformats.org/package/2006/relationships"><Relationship Type="http://schemas.openxmlformats.org/officeDocument/2006/relationships/slide" Target="/ppt/slides/slide14.xml" Id="R88851504de1842a1"/><Relationship Type="http://schemas.openxmlformats.org/officeDocument/2006/relationships/notesMaster" Target="/ppt/notesMasters/notesMaster1.xml" Id="R812a5b04ffe44e67"/></Relationships>
</file>

<file path=ppt/notesSlides/_rels/notesSlide15.xml.rels><?xml version="1.0" encoding="utf-8"?><Relationships xmlns="http://schemas.openxmlformats.org/package/2006/relationships"><Relationship Type="http://schemas.openxmlformats.org/officeDocument/2006/relationships/slide" Target="/ppt/slides/slide15.xml" Id="R8f2bb8f720f84336"/><Relationship Type="http://schemas.openxmlformats.org/officeDocument/2006/relationships/notesMaster" Target="/ppt/notesMasters/notesMaster1.xml" Id="R660933af8b2d436d"/></Relationships>
</file>

<file path=ppt/notesSlides/_rels/notesSlide16.xml.rels><?xml version="1.0" encoding="utf-8"?><Relationships xmlns="http://schemas.openxmlformats.org/package/2006/relationships"><Relationship Type="http://schemas.openxmlformats.org/officeDocument/2006/relationships/slide" Target="/ppt/slides/slide16.xml" Id="R528d70e2058a41d1"/><Relationship Type="http://schemas.openxmlformats.org/officeDocument/2006/relationships/notesMaster" Target="/ppt/notesMasters/notesMaster1.xml" Id="R9a0439634b9e412e"/></Relationships>
</file>

<file path=ppt/notesSlides/_rels/notesSlide17.xml.rels><?xml version="1.0" encoding="utf-8"?><Relationships xmlns="http://schemas.openxmlformats.org/package/2006/relationships"><Relationship Type="http://schemas.openxmlformats.org/officeDocument/2006/relationships/slide" Target="/ppt/slides/slide17.xml" Id="R61f961977d584416"/><Relationship Type="http://schemas.openxmlformats.org/officeDocument/2006/relationships/notesMaster" Target="/ppt/notesMasters/notesMaster1.xml" Id="R12bffd481365440b"/></Relationships>
</file>

<file path=ppt/notesSlides/_rels/notesSlide18.xml.rels><?xml version="1.0" encoding="utf-8"?><Relationships xmlns="http://schemas.openxmlformats.org/package/2006/relationships"><Relationship Type="http://schemas.openxmlformats.org/officeDocument/2006/relationships/slide" Target="/ppt/slides/slide18.xml" Id="R9f438ec642c64ef4"/><Relationship Type="http://schemas.openxmlformats.org/officeDocument/2006/relationships/notesMaster" Target="/ppt/notesMasters/notesMaster1.xml" Id="Rd5518c5e79fc4f13"/></Relationships>
</file>

<file path=ppt/notesSlides/_rels/notesSlide19.xml.rels><?xml version="1.0" encoding="utf-8"?><Relationships xmlns="http://schemas.openxmlformats.org/package/2006/relationships"><Relationship Type="http://schemas.openxmlformats.org/officeDocument/2006/relationships/slide" Target="/ppt/slides/slide19.xml" Id="Rc0add4228c0a47ae"/><Relationship Type="http://schemas.openxmlformats.org/officeDocument/2006/relationships/notesMaster" Target="/ppt/notesMasters/notesMaster1.xml" Id="R927408a8d05340aa"/></Relationships>
</file>

<file path=ppt/notesSlides/_rels/notesSlide20.xml.rels><?xml version="1.0" encoding="utf-8"?><Relationships xmlns="http://schemas.openxmlformats.org/package/2006/relationships"><Relationship Type="http://schemas.openxmlformats.org/officeDocument/2006/relationships/slide" Target="/ppt/slides/slide20.xml" Id="R1c79308fde8d4adb"/><Relationship Type="http://schemas.openxmlformats.org/officeDocument/2006/relationships/notesMaster" Target="/ppt/notesMasters/notesMaster1.xml" Id="R4834c3f9ba5c41cc"/></Relationships>
</file>

<file path=ppt/notesSlides/_rels/notesSlide21.xml.rels><?xml version="1.0" encoding="utf-8"?><Relationships xmlns="http://schemas.openxmlformats.org/package/2006/relationships"><Relationship Type="http://schemas.openxmlformats.org/officeDocument/2006/relationships/slide" Target="/ppt/slides/slide21.xml" Id="Rb0ab5b6f63db468a"/><Relationship Type="http://schemas.openxmlformats.org/officeDocument/2006/relationships/notesMaster" Target="/ppt/notesMasters/notesMaster1.xml" Id="R81034e5a4c064144"/></Relationships>
</file>

<file path=ppt/notesSlides/_rels/notesSlide22.xml.rels><?xml version="1.0" encoding="utf-8"?><Relationships xmlns="http://schemas.openxmlformats.org/package/2006/relationships"><Relationship Type="http://schemas.openxmlformats.org/officeDocument/2006/relationships/slide" Target="/ppt/slides/slide22.xml" Id="Re9a414a1cdb44005"/><Relationship Type="http://schemas.openxmlformats.org/officeDocument/2006/relationships/notesMaster" Target="/ppt/notesMasters/notesMaster1.xml" Id="R1723e4ca1e8e4463"/></Relationships>
</file>

<file path=ppt/notesSlides/_rels/notesSlide23.xml.rels><?xml version="1.0" encoding="utf-8"?><Relationships xmlns="http://schemas.openxmlformats.org/package/2006/relationships"><Relationship Type="http://schemas.openxmlformats.org/officeDocument/2006/relationships/slide" Target="/ppt/slides/slide23.xml" Id="R04517a8e40454d60"/><Relationship Type="http://schemas.openxmlformats.org/officeDocument/2006/relationships/notesMaster" Target="/ppt/notesMasters/notesMaster1.xml" Id="Rf8b439c29ccf41de"/></Relationships>
</file>

<file path=ppt/notesSlides/_rels/notesSlide24.xml.rels><?xml version="1.0" encoding="utf-8"?><Relationships xmlns="http://schemas.openxmlformats.org/package/2006/relationships"><Relationship Type="http://schemas.openxmlformats.org/officeDocument/2006/relationships/slide" Target="/ppt/slides/slide24.xml" Id="R886faef6c2e2445e"/><Relationship Type="http://schemas.openxmlformats.org/officeDocument/2006/relationships/notesMaster" Target="/ppt/notesMasters/notesMaster1.xml" Id="Re643198b01a1441a"/></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범위 선택 뒤 S27/S28의 ON-SCREEN SUPPORTING vector·GoogleTest 예시로 완료 조건을 요청하는 방법을 연결한다. 주요 C++ 패턴 전이는 S77에서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무엇을 확인해 달라고 요청할까?</a:t>
            </a:r>
          </a:p>
          <a:p>
            <a:r>
              <a:t xml:space="preserve"/>
            </a:r>
          </a:p>
          <a:p>
            <a:r>
              <a:t xml:space="preserve">Slide ID:</a:t>
            </a:r>
          </a:p>
          <a:p>
            <a:r>
              <a:t xml:space="preserve">S26</a:t>
            </a:r>
          </a:p>
          <a:p>
            <a:r>
              <a:t xml:space="preserve"/>
            </a:r>
          </a:p>
          <a:p>
            <a:r>
              <a:t xml:space="preserve">Working Title:</a:t>
            </a:r>
          </a:p>
          <a:p>
            <a:r>
              <a:t xml:space="preserve">무엇을 확인해 달라고 요청할까?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관련 동작·회귀·통합 경로·변경 범위·성능은 서로 다른 확인을 필요로 한다. 검사 이름만으로 모든 정확성을 증명하지 않는다.</a:t>
            </a:r>
          </a:p>
          <a:p>
            <a:r>
              <a:t xml:space="preserve"/>
            </a:r>
          </a:p>
          <a:p>
            <a:r>
              <a:t xml:space="preserve">Opening Question:</a:t>
            </a:r>
          </a:p>
          <a:p>
            <a:r>
              <a:t xml:space="preserve">“무엇을 확인해 달라고 요청할까?”</a:t>
            </a:r>
          </a:p>
          <a:p>
            <a:r>
              <a:t xml:space="preserve"/>
            </a:r>
          </a:p>
          <a:p>
            <a:r>
              <a:t xml:space="preserve">Speaker Flow:</a:t>
            </a:r>
          </a:p>
          <a:p>
            <a:r>
              <a:t xml:space="preserve">1. (0:00–0:15 / Lecture) S25의 사람 수용 판단을 받아 어떤 확인을 요청해야 하는지 묻는다.</a:t>
            </a:r>
          </a:p>
          <a:p>
            <a:r>
              <a:t xml:space="preserve">2. (0:15–1:15 / Lecture) 관련 동작 테스트는 해당 입력·조건, 전체 테스트는 현재 테스트의 회귀 범위, CLI 샘플은 해당 통합 경로, diff 확인은 변경 범위를 뒷받침함을 행별로 짚는다. 관련3건에는 resize도 있어 crop만의3건이라고 하지 않는다.</a:t>
            </a:r>
          </a:p>
          <a:p>
            <a:r>
              <a:t xml:space="preserve">3. (1:15–1:30 / Lecture) 성능은 지정 입력·환경의 별도 측정이 필요하며 TRIAL-002에서는 측정하지 않았음을 밝힌다. 이제 검사 조건이 원하는 명세 위반을 구별하는지 S27로 이동한다.</a:t>
            </a:r>
          </a:p>
          <a:p>
            <a:r>
              <a:t xml:space="preserve"/>
            </a:r>
          </a:p>
          <a:p>
            <a:r>
              <a:t xml:space="preserve">Evidence / Source:</a:t>
            </a:r>
          </a:p>
          <a:p>
            <a:r>
              <a:t xml:space="preserve">OBSERVED_PRODUCT / TEACHING_MODEL. plan/DEMO_MATRIX.md TRIAL-002의 기존 기록. 관련·전체 테스트, CLI 샘플, diff 확인은 실제 Python 관찰이다. 검사와 주장 범위의 대응은 교육 모델이고 benchmark는 미실행이다.</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화면에는 C++ 예시를 넣지 않는다. 다음 S27/S28에서 기존 DEC-0041의 vector·GoogleTest 교육용 예시를 분리한다. 선택적 Release/API/ABI·측정 조건 대응은 Notes에만 보존한다.</a:t>
            </a:r>
          </a:p>
          <a:p>
            <a:r>
              <a:t xml:space="preserve"/>
            </a:r>
          </a:p>
          <a:p>
            <a:r>
              <a:t xml:space="preserve">Demo Operation:</a:t>
            </a:r>
          </a:p>
          <a:p>
            <a:r>
              <a:t xml:space="preserve">실제 TRIAL-002 확인 기록을 회수하되 새로운 Demo 시간·실행·비교를 추가하지 않는다.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“관련 테스트를 실행해도, 그 조건이 원하는 명세 위반을 구별할까요?”라고 S27의 교육용 반례를 연다.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S26 또는 production/preview/act1/S26.png의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비어 있지 않으면 올바른 결과일까?</a:t>
            </a:r>
          </a:p>
          <a:p>
            <a:r>
              <a:t xml:space="preserve"/>
            </a:r>
          </a:p>
          <a:p>
            <a:r>
              <a:t xml:space="preserve">Slide ID:</a:t>
            </a:r>
          </a:p>
          <a:p>
            <a:r>
              <a:t xml:space="preserve">S27</a:t>
            </a:r>
          </a:p>
          <a:p>
            <a:r>
              <a:t xml:space="preserve"/>
            </a:r>
          </a:p>
          <a:p>
            <a:r>
              <a:t xml:space="preserve">Working Title:</a:t>
            </a:r>
          </a:p>
          <a:p>
            <a:r>
              <a:t xml:space="preserve">비어 있지 않으면 올바른 결과일까?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기대 {2,3}과 명세를 어긴 {2,3,4}는 모두 비어 있지 않다. 결과 존재 여부만으로 해당 crop 명세를 확인할 수 없다.</a:t>
            </a:r>
          </a:p>
          <a:p>
            <a:r>
              <a:t xml:space="preserve"/>
            </a:r>
          </a:p>
          <a:p>
            <a:r>
              <a:t xml:space="preserve">Opening Question:</a:t>
            </a:r>
          </a:p>
          <a:p>
            <a:r>
              <a:t xml:space="preserve">“비어 있지 않으면 올바른 결과일까?”</a:t>
            </a:r>
          </a:p>
          <a:p>
            <a:r>
              <a:t xml:space="preserve"/>
            </a:r>
          </a:p>
          <a:p>
            <a:r>
              <a:t xml:space="preserve">Speaker Flow:</a:t>
            </a:r>
          </a:p>
          <a:p>
            <a:r>
              <a:t xml:space="preserve">1. (0:00–0:20 / Lecture) 여기부터 실제 Python 기록을 재생하는 것이 아닌 C++ 교육용 예시임을 밝힌다.0기반 인덱스의 입력 {1,2,3,4}, crop [1,3)은2와3을 포함한다.</a:t>
            </a:r>
          </a:p>
          <a:p>
            <a:r>
              <a:t xml:space="preserve">2. (0:20–0:55 / Lecture) 기대 {2,3}·2개와 명세를 어긴 {2,3,4}·3개에서 추가 원소4를 비교한다. 잘못된 vector는 설명용 반례이며 실제 Trial에서 통과한 결과가 아니다.</a:t>
            </a:r>
          </a:p>
          <a:p>
            <a:r>
              <a:t xml:space="preserve">3. (0:55–1:20 / Lecture) EXPECT_FALSE(actual.empty());는 두 경우 모두 비어 있지 않다는 점만 확인한다. 새 실행을 하지 않았고 PASS/FAIL 결과 화면이 아니다. 검사 횟수보다 어떤 오류를 구별할 조건인지가 핵심이다.</a:t>
            </a:r>
          </a:p>
          <a:p>
            <a:r>
              <a:t xml:space="preserve">4. (1:20–1:30 / Lecture) 이 입력에서 기대하는 값과 길이를 요청에 적는 다음 장으로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vector·GoogleTest는 기존 crop 명세를 설명하는 실행하지 않은 예시다. 실제 TRIAL-002의 assertion 원문이나 잘못된 결과의 PASS 기록이 아니다.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테스트가 실행됐는지와 원하는 오류를 구별하는지는 다른 질문임을 본다.</a:t>
            </a:r>
          </a:p>
          <a:p>
            <a:r>
              <a:t xml:space="preserve"/>
            </a:r>
          </a:p>
          <a:p>
            <a:r>
              <a:t xml:space="preserve">Advanced Insight:</a:t>
            </a:r>
          </a:p>
          <a:p>
            <a:r>
              <a:t xml:space="preserve">기대하는 위반에 맞춰 assertion 조건을 선택한다. 한 반례가 전체 테스트 품질을 평가하는 것은 아니다.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native vector 원소 칸과 EXPECT_FALSE 조건만 비교한다. GoogleTest 설치·실행을 가르치지 않는다.</a:t>
            </a:r>
          </a:p>
          <a:p>
            <a:r>
              <a:t xml:space="preserve"/>
            </a:r>
          </a:p>
          <a:p>
            <a:r>
              <a:t xml:space="preserve">Demo Operation:</a:t>
            </a:r>
          </a:p>
          <a:p>
            <a:r>
              <a:t xml:space="preserve">TRIAL-002의 반열림 crop 명세를 C++로 재표현한 교육용 반례이며 새 Trial·실제 실행 결과가 아니다.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“그렇다면 이 입력의 기대 결과를 요청에 어떻게 적을까요?”라고 S28의 완료 조건 요청으로 이동한다.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S27 또는 production/preview/act1/S27.png의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기대 결과를 요청에 적는다</a:t>
            </a:r>
          </a:p>
          <a:p>
            <a:r>
              <a:t xml:space="preserve"/>
            </a:r>
          </a:p>
          <a:p>
            <a:r>
              <a:t xml:space="preserve">Slide ID:</a:t>
            </a:r>
          </a:p>
          <a:p>
            <a:r>
              <a:t xml:space="preserve">S28</a:t>
            </a:r>
          </a:p>
          <a:p>
            <a:r>
              <a:t xml:space="preserve"/>
            </a:r>
          </a:p>
          <a:p>
            <a:r>
              <a:t xml:space="preserve">Working Title:</a:t>
            </a:r>
          </a:p>
          <a:p>
            <a:r>
              <a:t xml:space="preserve">기대 결과를 요청에 적는다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1 minute + Reflection 1 minute</a:t>
            </a:r>
          </a:p>
          <a:p>
            <a:r>
              <a:t xml:space="preserve"/>
            </a:r>
          </a:p>
          <a:p>
            <a:r>
              <a:t xml:space="preserve">Primary Message:</a:t>
            </a:r>
          </a:p>
          <a:p>
            <a:r>
              <a:t xml:space="preserve">입력·기대 값과 길이·확인 방법·보고할 결과와 미확인을 요청에 담는다. 검증 설명을 작업 요청의 완료 조건으로 연결한다.</a:t>
            </a:r>
          </a:p>
          <a:p>
            <a:r>
              <a:t xml:space="preserve"/>
            </a:r>
          </a:p>
          <a:p>
            <a:r>
              <a:t xml:space="preserve">Opening Question:</a:t>
            </a:r>
          </a:p>
          <a:p>
            <a:r>
              <a:t xml:space="preserve">“어떤 기대 결과를 비교하고 보고해 달라고 요청할까?”</a:t>
            </a:r>
          </a:p>
          <a:p>
            <a:r>
              <a:t xml:space="preserve"/>
            </a:r>
          </a:p>
          <a:p>
            <a:r>
              <a:t xml:space="preserve">Speaker Flow:</a:t>
            </a:r>
          </a:p>
          <a:p>
            <a:r>
              <a:t xml:space="preserve">1. (0:00–0:30 / Lecture) 큰 요청 창에서 입력·crop 범위·기대 {2,3}와 길이2를 짚는다. 실제 TRIAL-002 입력 발췌가 아닌 교육용 요청이다.</a:t>
            </a:r>
          </a:p>
          <a:p>
            <a:r>
              <a:t xml:space="preserve">2. (0:30–0:50 / Lecture) 실행한 검사·결과·미확인 보고까지 요청함을 짚는다. 아래 expected 선언과 EXPECT_EQ(actual, expected);는 해당 입력의 길이·순서별 값을 비교하는 보조 코드이며 실제 실행·PASS/FAIL이 아니다.</a:t>
            </a:r>
          </a:p>
          <a:p>
            <a:r>
              <a:t xml:space="preserve">3. (0:50–1:00 / Lecture) 이 한 입력으로 모든 정확성을 입증하지 않는다는 범위를 유지한다.</a:t>
            </a:r>
          </a:p>
          <a:p>
            <a:r>
              <a:t xml:space="preserve">4. (1:00–2:00 / Reflection) 각자 익숙한 작업에서 어떤 입력과 기대 결과를 확인해 달라고 요청할지 조용히 생각하게 한다. 작성·공유·실습을 요구하지 않는다.2분에 S29 요청 문장 도구로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예시 요청과 assertion은 실제 TRIAL-002 입력·수행 결과가 아니다. 실행하지 않았으며 PASS/FAIL·Prompt 우월성·모든 정확성을 주장하지 않는다.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“테스트해줘”보다 구체적인 완료 판단 요청을 읽는다.</a:t>
            </a:r>
          </a:p>
          <a:p>
            <a:r>
              <a:t xml:space="preserve"/>
            </a:r>
          </a:p>
          <a:p>
            <a:r>
              <a:t xml:space="preserve">Advanced Insight:</a:t>
            </a:r>
          </a:p>
          <a:p>
            <a:r>
              <a:t xml:space="preserve">std::vector&lt;int&gt; 동등 비교는 길이와 순서별 값을 비교한다. size assertion의 교육상 중복 의미는 Notes에 보존하며 코드 양을 늘리는 강의로 확장하지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expected{2,3}와 vector 동등 비교를 사용한다. 기존 명시적 size 확인의 의미는 Notes에 보존한다. 새 컴파일·GoogleTest·Windows 실행을 뜻하지 않는다.</a:t>
            </a:r>
          </a:p>
          <a:p>
            <a:r>
              <a:t xml:space="preserve"/>
            </a:r>
          </a:p>
          <a:p>
            <a:r>
              <a:t xml:space="preserve">Demo Operation:</a:t>
            </a:r>
          </a:p>
          <a:p>
            <a:r>
              <a:t xml:space="preserve">S27의 동일 C++ 교육용 반례를 완료 조건 요청으로 이어간다. S21–S24 실제 입력·관찰과 분리한다. 이 구간은 Lecture/Reflection이고 DEMO-05의8분과 중복 계산하지 않는다. 정적 화면을 설명하며 Live 실행을 하지 않는다.</a:t>
            </a:r>
          </a:p>
          <a:p>
            <a:r>
              <a:t xml:space="preserve"/>
            </a:r>
          </a:p>
          <a:p>
            <a:r>
              <a:t xml:space="preserve">Audience Interaction:</a:t>
            </a:r>
          </a:p>
          <a:p>
            <a:r>
              <a:t xml:space="preserve">마지막1분은 어떤 입력·기대 결과가 해당 명세 위반을 구별할지 조용히 생각한다. 작성·공유·공개 답변을 요구하지 않는다.</a:t>
            </a:r>
          </a:p>
          <a:p>
            <a:r>
              <a:t xml:space="preserve"/>
            </a:r>
          </a:p>
          <a:p>
            <a:r>
              <a:t xml:space="preserve">Transition:</a:t>
            </a:r>
          </a:p>
          <a:p>
            <a:r>
              <a:t xml:space="preserve">“요청에 담을 내용은 정했습니다. 이제 상황에 맞게 전달하는 문장 도구를 보겠습니다.”라고 S29의 실무 적용 팁으로 연결한다.</a:t>
            </a:r>
          </a:p>
          <a:p>
            <a:r>
              <a:t xml:space="preserve"/>
            </a:r>
          </a:p>
          <a:p>
            <a:r>
              <a:t xml:space="preserve">Time Management:</a:t>
            </a:r>
          </a:p>
          <a:p>
            <a:r>
              <a:t xml:space="preserve">Lecture60초+Reflection60초=2분. 세 장 합계5분=Lecture4+Reflection1이다.2분에 S29로 넘기며 실제 운영 적합성은 리허설 전까지 UNVERIFIED다.</a:t>
            </a:r>
          </a:p>
          <a:p>
            <a:r>
              <a:t xml:space="preserve"/>
            </a:r>
          </a:p>
          <a:p>
            <a:r>
              <a:t xml:space="preserve">Fallback:</a:t>
            </a:r>
          </a:p>
          <a:p>
            <a:r>
              <a:t xml:space="preserve">production/ACT_1.pptx S28 또는 production/preview/act1/S28.png의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지시와 참고 자료의 구분</a:t>
            </a:r>
          </a:p>
          <a:p>
            <a:r>
              <a:t xml:space="preserve"/>
            </a:r>
          </a:p>
          <a:p>
            <a:r>
              <a:t xml:space="preserve">Slide ID:</a:t>
            </a:r>
          </a:p>
          <a:p>
            <a:r>
              <a:t xml:space="preserve">S29</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입력과 기대 결과의 작은 예시</a:t>
            </a:r>
          </a:p>
          <a:p>
            <a:r>
              <a:t xml:space="preserve"/>
            </a:r>
          </a:p>
          <a:p>
            <a:r>
              <a:t xml:space="preserve">Slide ID:</a:t>
            </a:r>
          </a:p>
          <a:p>
            <a:r>
              <a:t xml:space="preserve">S30</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바로 검토할 수 있는 결과 형식</a:t>
            </a:r>
          </a:p>
          <a:p>
            <a:r>
              <a:t xml:space="preserve"/>
            </a:r>
          </a:p>
          <a:p>
            <a:r>
              <a:t xml:space="preserve">Slide ID:</a:t>
            </a:r>
          </a:p>
          <a:p>
            <a:r>
              <a:t xml:space="preserve">S31</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근거가 있는 설명과 미확인의 구분</a:t>
            </a:r>
          </a:p>
          <a:p>
            <a:r>
              <a:t xml:space="preserve"/>
            </a:r>
          </a:p>
          <a:p>
            <a:r>
              <a:t xml:space="preserve">Slide ID:</a:t>
            </a:r>
          </a:p>
          <a:p>
            <a:r>
              <a:t xml:space="preserve">S32</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결과를 바꾸는 결정에서 확인 질문</a:t>
            </a:r>
          </a:p>
          <a:p>
            <a:r>
              <a:t xml:space="preserve"/>
            </a:r>
          </a:p>
          <a:p>
            <a:r>
              <a:t xml:space="preserve">Slide ID:</a:t>
            </a:r>
          </a:p>
          <a:p>
            <a:r>
              <a:t xml:space="preserve">S33</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큰 작업을 검토할 결과물로 나누기</a:t>
            </a:r>
          </a:p>
          <a:p>
            <a:r>
              <a:t xml:space="preserve"/>
            </a:r>
          </a:p>
          <a:p>
            <a:r>
              <a:t xml:space="preserve">Slide ID:</a:t>
            </a:r>
          </a:p>
          <a:p>
            <a:r>
              <a:t xml:space="preserve">S34</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기준을 지정한 코드 리뷰 요청</a:t>
            </a:r>
          </a:p>
          <a:p>
            <a:r>
              <a:t xml:space="preserve"/>
            </a:r>
          </a:p>
          <a:p>
            <a:r>
              <a:t xml:space="preserve">Slide ID:</a:t>
            </a:r>
          </a:p>
          <a:p>
            <a:r>
              <a:t xml:space="preserve">S35</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구체적인 근거로 수정 방향 피드백</a:t>
            </a:r>
          </a:p>
          <a:p>
            <a:r>
              <a:t xml:space="preserve"/>
            </a:r>
          </a:p>
          <a:p>
            <a:r>
              <a:t xml:space="preserve">Slide ID:</a:t>
            </a:r>
          </a:p>
          <a:p>
            <a:r>
              <a:t xml:space="preserve">S36</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S29–S30의 반복 Context 질문으로 연결한다. 현재 기존 두 장은 S37–S38이다.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S29–S30의 반복 Context 질문으로 연결한다. 현재 기존 두 장은 S37–S38이다.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S36 또는 production/preview/act1/S36.png.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이번 Task인가, 계속 유지할 Project 정보인가?</a:t>
            </a:r>
          </a:p>
          <a:p>
            <a:r>
              <a:t xml:space="preserve"/>
            </a:r>
          </a:p>
          <a:p>
            <a:r>
              <a:t xml:space="preserve">Slide ID:</a:t>
            </a:r>
          </a:p>
          <a:p>
            <a:r>
              <a:t xml:space="preserve">S37</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S26–S28에서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S38에서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S38으로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반복하는 설명을 두 범주로 나누기</a:t>
            </a:r>
          </a:p>
          <a:p>
            <a:r>
              <a:t xml:space="preserve"/>
            </a:r>
          </a:p>
          <a:p>
            <a:r>
              <a:t xml:space="preserve">Slide ID:</a:t>
            </a:r>
          </a:p>
          <a:p>
            <a:r>
              <a:t xml:space="preserve">S38</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S40의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S39를 거쳐 S40의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S40의 반복 Project Context 문제로 연결한다.</a:t>
            </a:r>
          </a:p>
          <a:p>
            <a:r>
              <a:t xml:space="preserve">기존 연결 질문을 유지한 채 ACT 2 제목 S39를 거쳐 S40의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S38 또는 `production/preview/act1/S38.png`를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3.xml" Id="R57c6aa2f813b46f1"/></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4.xml" Id="R57c6aa2f813b46f1"/></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a21134ea430d41da"/><Relationship Type="http://schemas.openxmlformats.org/officeDocument/2006/relationships/notesSlide" Target="/ppt/notesSlides/notesSlide15.xml" Id="R272b0262969045f9"/></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61466081ecd5410f"/><Relationship Type="http://schemas.openxmlformats.org/officeDocument/2006/relationships/notesSlide" Target="/ppt/notesSlides/notesSlide16.xml" Id="R17eb6248e84c4fd6"/></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b71f8b4b52e74924"/><Relationship Type="http://schemas.openxmlformats.org/officeDocument/2006/relationships/notesSlide" Target="/ppt/notesSlides/notesSlide17.xml" Id="R3da40e35a74f4794"/></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7c079c8d7da74671"/><Relationship Type="http://schemas.openxmlformats.org/officeDocument/2006/relationships/notesSlide" Target="/ppt/notesSlides/notesSlide18.xml" Id="R1cfe567876e843ab"/></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a01535f7b056466d"/><Relationship Type="http://schemas.openxmlformats.org/officeDocument/2006/relationships/notesSlide" Target="/ppt/notesSlides/notesSlide19.xml" Id="R6863f883f4234f03"/></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a5fa52cf39504c68"/><Relationship Type="http://schemas.openxmlformats.org/officeDocument/2006/relationships/notesSlide" Target="/ppt/notesSlides/notesSlide20.xml" Id="Rc78b322686094c59"/></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8b3e6f63960b44d2"/><Relationship Type="http://schemas.openxmlformats.org/officeDocument/2006/relationships/notesSlide" Target="/ppt/notesSlides/notesSlide21.xml" Id="R5a2048b1583d4b81"/></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ac9747284bb74b7f"/><Relationship Type="http://schemas.openxmlformats.org/officeDocument/2006/relationships/notesSlide" Target="/ppt/notesSlides/notesSlide22.xml" Id="Ra9c81e7cbba246e6"/></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c58ae7ec3f984649"/><Relationship Type="http://schemas.openxmlformats.org/officeDocument/2006/relationships/notesSlide" Target="/ppt/notesSlides/notesSlide23.xml" Id="Rbb398f5d55c045c1"/></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44984def97b84757"/><Relationship Type="http://schemas.openxmlformats.org/officeDocument/2006/relationships/notesSlide" Target="/ppt/notesSlides/notesSlide24.xml" Id="R07098526ace44748"/></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F8D550D5-35FA-43A9-A28A-F1199D8E4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48E676E2-1943-4327-B895-B77D6EE5FF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무엇을 확인해 달라고 요청할까?">
            <a:extLst xmlns:a="http://schemas.openxmlformats.org/drawingml/2006/main">
              <a:ext uri="{FF2B5EF4-FFF2-40B4-BE49-F238E27FC236}">
                <a16:creationId xmlns:a16="http://schemas.microsoft.com/office/drawing/2014/main" id="{B0D5CC6E-C16B-4FD3-8452-0DD901AB0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확인해 달라고 요청할까?</a:t>
            </a:r>
          </a:p>
        </p:txBody>
      </p:sp>
      <p:sp>
        <p:nvSpPr>
          <p:cNvPr id="4" name="">
            <a:extLst xmlns:a="http://schemas.openxmlformats.org/drawingml/2006/main">
              <a:ext uri="{FF2B5EF4-FFF2-40B4-BE49-F238E27FC236}">
                <a16:creationId xmlns:a16="http://schemas.microsoft.com/office/drawing/2014/main" id="{5F75EB83-E0FD-4393-BA5E-6F71E0ECA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4B480702-5CE2-49DC-8148-4257DB702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EFF0FC17-F209-4E21-BD3E-B72C50584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요청할 확인">
            <a:extLst xmlns:a="http://schemas.openxmlformats.org/drawingml/2006/main">
              <a:ext uri="{FF2B5EF4-FFF2-40B4-BE49-F238E27FC236}">
                <a16:creationId xmlns:a16="http://schemas.microsoft.com/office/drawing/2014/main" id="{CCFB0299-9798-4678-89E4-AEC1321B1A55}"/>
              </a:ext>
            </a:extLst>
          </p:cNvPr>
          <p:cNvSpPr>
            <a:spLocks xmlns:a="http://schemas.openxmlformats.org/drawingml/2006/main" noGrp="1"/>
          </p:cNvSpPr>
          <p:nvPr/>
        </p:nvSpPr>
        <p:spPr>
          <a:xfrm xmlns:a="http://schemas.openxmlformats.org/drawingml/2006/main">
            <a:off x="762000" y="18669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8" name="그 확인으로 알 수 있는 범위">
            <a:extLst xmlns:a="http://schemas.openxmlformats.org/drawingml/2006/main">
              <a:ext uri="{FF2B5EF4-FFF2-40B4-BE49-F238E27FC236}">
                <a16:creationId xmlns:a16="http://schemas.microsoft.com/office/drawing/2014/main" id="{B3529739-9017-4E70-A15B-2392FC44B79D}"/>
              </a:ext>
            </a:extLst>
          </p:cNvPr>
          <p:cNvSpPr>
            <a:spLocks xmlns:a="http://schemas.openxmlformats.org/drawingml/2006/main" noGrp="1"/>
          </p:cNvSpPr>
          <p:nvPr/>
        </p:nvSpPr>
        <p:spPr>
          <a:xfrm xmlns:a="http://schemas.openxmlformats.org/drawingml/2006/main">
            <a:off x="4876800" y="1866900"/>
            <a:ext cx="655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그 확인으로 알 수 있는 범위</a:t>
            </a:r>
          </a:p>
        </p:txBody>
      </p:sp>
      <p:sp>
        <p:nvSpPr>
          <p:cNvPr id="9" name="">
            <a:extLst xmlns:a="http://schemas.openxmlformats.org/drawingml/2006/main">
              <a:ext uri="{FF2B5EF4-FFF2-40B4-BE49-F238E27FC236}">
                <a16:creationId xmlns:a16="http://schemas.microsoft.com/office/drawing/2014/main" id="{20FD95F9-B040-44C3-B9C4-1D214204E737}"/>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동작 테스트">
            <a:extLst xmlns:a="http://schemas.openxmlformats.org/drawingml/2006/main">
              <a:ext uri="{FF2B5EF4-FFF2-40B4-BE49-F238E27FC236}">
                <a16:creationId xmlns:a16="http://schemas.microsoft.com/office/drawing/2014/main" id="{AC7D0B95-9207-4654-B672-AFFA598F5C56}"/>
              </a:ext>
            </a:extLst>
          </p:cNvPr>
          <p:cNvSpPr>
            <a:spLocks xmlns:a="http://schemas.openxmlformats.org/drawingml/2006/main" noGrp="1"/>
          </p:cNvSpPr>
          <p:nvPr/>
        </p:nvSpPr>
        <p:spPr>
          <a:xfrm xmlns:a="http://schemas.openxmlformats.org/drawingml/2006/main">
            <a:off x="762000" y="24479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관련 동작 테스트</a:t>
            </a:r>
          </a:p>
        </p:txBody>
      </p:sp>
      <p:sp>
        <p:nvSpPr>
          <p:cNvPr id="11" name="바뀐 동작의 해당 입력·조건">
            <a:extLst xmlns:a="http://schemas.openxmlformats.org/drawingml/2006/main">
              <a:ext uri="{FF2B5EF4-FFF2-40B4-BE49-F238E27FC236}">
                <a16:creationId xmlns:a16="http://schemas.microsoft.com/office/drawing/2014/main" id="{A2F65C20-A7C1-4C15-91FA-02F6F00F1837}"/>
              </a:ext>
            </a:extLst>
          </p:cNvPr>
          <p:cNvSpPr>
            <a:spLocks xmlns:a="http://schemas.openxmlformats.org/drawingml/2006/main" noGrp="1"/>
          </p:cNvSpPr>
          <p:nvPr/>
        </p:nvSpPr>
        <p:spPr>
          <a:xfrm xmlns:a="http://schemas.openxmlformats.org/drawingml/2006/main">
            <a:off x="4876800" y="24479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바뀐 동작의 해당 입력·조건</a:t>
            </a:r>
          </a:p>
        </p:txBody>
      </p:sp>
      <p:sp>
        <p:nvSpPr>
          <p:cNvPr id="12" name="">
            <a:extLst xmlns:a="http://schemas.openxmlformats.org/drawingml/2006/main">
              <a:ext uri="{FF2B5EF4-FFF2-40B4-BE49-F238E27FC236}">
                <a16:creationId xmlns:a16="http://schemas.microsoft.com/office/drawing/2014/main" id="{0FD976AD-FCD2-4B49-A48A-E21D34DCEB07}"/>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전체 테스트">
            <a:extLst xmlns:a="http://schemas.openxmlformats.org/drawingml/2006/main">
              <a:ext uri="{FF2B5EF4-FFF2-40B4-BE49-F238E27FC236}">
                <a16:creationId xmlns:a16="http://schemas.microsoft.com/office/drawing/2014/main" id="{EEF3396F-EDC5-4166-B9DC-AD8CB9445ED1}"/>
              </a:ext>
            </a:extLst>
          </p:cNvPr>
          <p:cNvSpPr>
            <a:spLocks xmlns:a="http://schemas.openxmlformats.org/drawingml/2006/main" noGrp="1"/>
          </p:cNvSpPr>
          <p:nvPr/>
        </p:nvSpPr>
        <p:spPr>
          <a:xfrm xmlns:a="http://schemas.openxmlformats.org/drawingml/2006/main">
            <a:off x="762000" y="302895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프로젝트 전체 테스트</a:t>
            </a:r>
          </a:p>
        </p:txBody>
      </p:sp>
      <p:sp>
        <p:nvSpPr>
          <p:cNvPr id="14" name="현재 테스트가 다루는 회귀 범위">
            <a:extLst xmlns:a="http://schemas.openxmlformats.org/drawingml/2006/main">
              <a:ext uri="{FF2B5EF4-FFF2-40B4-BE49-F238E27FC236}">
                <a16:creationId xmlns:a16="http://schemas.microsoft.com/office/drawing/2014/main" id="{F0E34D62-32FD-4CEA-A6DE-3D641A2DBBE7}"/>
              </a:ext>
            </a:extLst>
          </p:cNvPr>
          <p:cNvSpPr>
            <a:spLocks xmlns:a="http://schemas.openxmlformats.org/drawingml/2006/main" noGrp="1"/>
          </p:cNvSpPr>
          <p:nvPr/>
        </p:nvSpPr>
        <p:spPr>
          <a:xfrm xmlns:a="http://schemas.openxmlformats.org/drawingml/2006/main">
            <a:off x="4876800" y="302895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현재 테스트가 다루는 회귀 범위</a:t>
            </a:r>
          </a:p>
        </p:txBody>
      </p:sp>
      <p:sp>
        <p:nvSpPr>
          <p:cNvPr id="15" name="">
            <a:extLst xmlns:a="http://schemas.openxmlformats.org/drawingml/2006/main">
              <a:ext uri="{FF2B5EF4-FFF2-40B4-BE49-F238E27FC236}">
                <a16:creationId xmlns:a16="http://schemas.microsoft.com/office/drawing/2014/main" id="{31DE6FAE-38ED-4DD9-818C-AB91466F1019}"/>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55C306-9A8C-4C3A-A536-A11127F08738}"/>
              </a:ext>
            </a:extLst>
          </p:cNvPr>
          <p:cNvSpPr>
            <a:spLocks xmlns:a="http://schemas.openxmlformats.org/drawingml/2006/main" noGrp="1"/>
          </p:cNvSpPr>
          <p:nvPr/>
        </p:nvSpPr>
        <p:spPr>
          <a:xfrm xmlns:a="http://schemas.openxmlformats.org/drawingml/2006/main">
            <a:off x="762000" y="360997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샘플 실행</a:t>
            </a:r>
          </a:p>
        </p:txBody>
      </p:sp>
      <p:sp>
        <p:nvSpPr>
          <p:cNvPr id="17" name="그 샘플의 통합 실행 경로">
            <a:extLst xmlns:a="http://schemas.openxmlformats.org/drawingml/2006/main">
              <a:ext uri="{FF2B5EF4-FFF2-40B4-BE49-F238E27FC236}">
                <a16:creationId xmlns:a16="http://schemas.microsoft.com/office/drawing/2014/main" id="{D360897C-330F-4F6D-9366-2CFB689CD32D}"/>
              </a:ext>
            </a:extLst>
          </p:cNvPr>
          <p:cNvSpPr>
            <a:spLocks xmlns:a="http://schemas.openxmlformats.org/drawingml/2006/main" noGrp="1"/>
          </p:cNvSpPr>
          <p:nvPr/>
        </p:nvSpPr>
        <p:spPr>
          <a:xfrm xmlns:a="http://schemas.openxmlformats.org/drawingml/2006/main">
            <a:off x="4876800" y="360997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그 샘플의 통합 실행 경로</a:t>
            </a:r>
          </a:p>
        </p:txBody>
      </p:sp>
      <p:sp>
        <p:nvSpPr>
          <p:cNvPr id="18" name="">
            <a:extLst xmlns:a="http://schemas.openxmlformats.org/drawingml/2006/main">
              <a:ext uri="{FF2B5EF4-FFF2-40B4-BE49-F238E27FC236}">
                <a16:creationId xmlns:a16="http://schemas.microsoft.com/office/drawing/2014/main" id="{B78BFFB0-BA0D-49FF-A093-9DAD473EEF4F}"/>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84DE09-1BC8-4D17-AA04-B7BF29F7B75B}"/>
              </a:ext>
            </a:extLst>
          </p:cNvPr>
          <p:cNvSpPr>
            <a:spLocks xmlns:a="http://schemas.openxmlformats.org/drawingml/2006/main" noGrp="1"/>
          </p:cNvSpPr>
          <p:nvPr/>
        </p:nvSpPr>
        <p:spPr>
          <a:xfrm xmlns:a="http://schemas.openxmlformats.org/drawingml/2006/main">
            <a:off x="762000" y="419100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내용 확인</a:t>
            </a:r>
          </a:p>
        </p:txBody>
      </p:sp>
      <p:sp>
        <p:nvSpPr>
          <p:cNvPr id="20" name="수정 범위와 의도치 않은 변경">
            <a:extLst xmlns:a="http://schemas.openxmlformats.org/drawingml/2006/main">
              <a:ext uri="{FF2B5EF4-FFF2-40B4-BE49-F238E27FC236}">
                <a16:creationId xmlns:a16="http://schemas.microsoft.com/office/drawing/2014/main" id="{5A4B711F-897E-4A43-AE04-72464BC1EB53}"/>
              </a:ext>
            </a:extLst>
          </p:cNvPr>
          <p:cNvSpPr>
            <a:spLocks xmlns:a="http://schemas.openxmlformats.org/drawingml/2006/main" noGrp="1"/>
          </p:cNvSpPr>
          <p:nvPr/>
        </p:nvSpPr>
        <p:spPr>
          <a:xfrm xmlns:a="http://schemas.openxmlformats.org/drawingml/2006/main">
            <a:off x="4876800" y="419100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수정 범위와 의도치 않은 변경</a:t>
            </a:r>
          </a:p>
        </p:txBody>
      </p:sp>
      <p:sp>
        <p:nvSpPr>
          <p:cNvPr id="21" name="">
            <a:extLst xmlns:a="http://schemas.openxmlformats.org/drawingml/2006/main">
              <a:ext uri="{FF2B5EF4-FFF2-40B4-BE49-F238E27FC236}">
                <a16:creationId xmlns:a16="http://schemas.microsoft.com/office/drawing/2014/main" id="{23150A3B-8789-43AD-8A9D-4B482D4EBBF3}"/>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4C01624-4F58-421A-A089-B0976B9C95EF}"/>
              </a:ext>
            </a:extLst>
          </p:cNvPr>
          <p:cNvSpPr>
            <a:spLocks xmlns:a="http://schemas.openxmlformats.org/drawingml/2006/main" noGrp="1"/>
          </p:cNvSpPr>
          <p:nvPr/>
        </p:nvSpPr>
        <p:spPr>
          <a:xfrm xmlns:a="http://schemas.openxmlformats.org/drawingml/2006/main">
            <a:off x="762000" y="4772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337203-58B2-4C48-8EF2-D84732387A83}"/>
              </a:ext>
            </a:extLst>
          </p:cNvPr>
          <p:cNvSpPr>
            <a:spLocks xmlns:a="http://schemas.openxmlformats.org/drawingml/2006/main" noGrp="1"/>
          </p:cNvSpPr>
          <p:nvPr/>
        </p:nvSpPr>
        <p:spPr>
          <a:xfrm xmlns:a="http://schemas.openxmlformats.org/drawingml/2006/main">
            <a:off x="4876800" y="47720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측정한 입력·환경에서의 성능</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9F84E703-0474-4A5A-A94C-0A4449B5F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37A8C0C-F68F-40E6-9A15-44309232C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비어 있지 않으면 올바른 결과일까?">
            <a:extLst xmlns:a="http://schemas.openxmlformats.org/drawingml/2006/main">
              <a:ext uri="{FF2B5EF4-FFF2-40B4-BE49-F238E27FC236}">
                <a16:creationId xmlns:a16="http://schemas.microsoft.com/office/drawing/2014/main" id="{AA585562-0B04-4C36-8FF1-475690C8F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비어 있지 않으면 올바른 결과일까?</a:t>
            </a:r>
          </a:p>
        </p:txBody>
      </p:sp>
      <p:sp>
        <p:nvSpPr>
          <p:cNvPr id="4" name="">
            <a:extLst xmlns:a="http://schemas.openxmlformats.org/drawingml/2006/main">
              <a:ext uri="{FF2B5EF4-FFF2-40B4-BE49-F238E27FC236}">
                <a16:creationId xmlns:a16="http://schemas.microsoft.com/office/drawing/2014/main" id="{0E3A450F-41F3-4C31-AA92-896C4ED42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반례 · 실제 Trial의 assertion이나 실행 결과가 아님">
            <a:extLst xmlns:a="http://schemas.openxmlformats.org/drawingml/2006/main">
              <a:ext uri="{FF2B5EF4-FFF2-40B4-BE49-F238E27FC236}">
                <a16:creationId xmlns:a16="http://schemas.microsoft.com/office/drawing/2014/main" id="{23CA58DD-AAE0-4063-B79C-A424C715E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반례 · 실제 Trial의 assertion이나 실행 결과가 아님</a:t>
            </a:r>
          </a:p>
        </p:txBody>
      </p:sp>
      <p:sp>
        <p:nvSpPr>
          <p:cNvPr id="6" name="M 연계 · M5 / M6">
            <a:extLst xmlns:a="http://schemas.openxmlformats.org/drawingml/2006/main">
              <a:ext uri="{FF2B5EF4-FFF2-40B4-BE49-F238E27FC236}">
                <a16:creationId xmlns:a16="http://schemas.microsoft.com/office/drawing/2014/main" id="{4D757D37-0CC5-4DE8-B8D6-E8CFB6D84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입력 {1, 2, 3, 4}에서 crop [1, 3)">
            <a:extLst xmlns:a="http://schemas.openxmlformats.org/drawingml/2006/main">
              <a:ext uri="{FF2B5EF4-FFF2-40B4-BE49-F238E27FC236}">
                <a16:creationId xmlns:a16="http://schemas.microsoft.com/office/drawing/2014/main" id="{7FCF7C9D-5C31-486F-B914-78449E72798B}"/>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Consolas"/>
                <a:ea typeface="Consolas"/>
                <a:cs typeface="Consolas"/>
              </a:defRPr>
            </a:defPPr>
            <a:lvl1pPr algn="l">
              <a:defRPr sz="2325" b="0">
                <a:solidFill>
                  <a:srgbClr val="4D5A68"/>
                </a:solidFill>
                <a:latin typeface="Consolas"/>
                <a:ea typeface="Consolas"/>
                <a:cs typeface="Consolas"/>
              </a:defRPr>
            </a:lvl1pPr>
            <a:lvl2pPr algn="l">
              <a:defRPr sz="2325" b="0">
                <a:solidFill>
                  <a:srgbClr val="4D5A68"/>
                </a:solidFill>
                <a:latin typeface="Consolas"/>
                <a:ea typeface="Consolas"/>
                <a:cs typeface="Consolas"/>
              </a:defRPr>
            </a:lvl2pPr>
            <a:lvl3pPr algn="l">
              <a:defRPr sz="2325" b="0">
                <a:solidFill>
                  <a:srgbClr val="4D5A68"/>
                </a:solidFill>
                <a:latin typeface="Consolas"/>
                <a:ea typeface="Consolas"/>
                <a:cs typeface="Consolas"/>
              </a:defRPr>
            </a:lvl3pPr>
            <a:lvl4pPr algn="l">
              <a:defRPr sz="2325" b="0">
                <a:solidFill>
                  <a:srgbClr val="4D5A68"/>
                </a:solidFill>
                <a:latin typeface="Consolas"/>
                <a:ea typeface="Consolas"/>
                <a:cs typeface="Consolas"/>
              </a:defRPr>
            </a:lvl4pPr>
            <a:lvl5pPr algn="l">
              <a:defRPr sz="2325" b="0">
                <a:solidFill>
                  <a:srgbClr val="4D5A68"/>
                </a:solidFill>
                <a:latin typeface="Consolas"/>
                <a:ea typeface="Consolas"/>
                <a:cs typeface="Consolas"/>
              </a:defRPr>
            </a:lvl5pPr>
            <a:lvl6pPr algn="l">
              <a:defRPr sz="2325" b="0">
                <a:solidFill>
                  <a:srgbClr val="4D5A68"/>
                </a:solidFill>
                <a:latin typeface="Consolas"/>
                <a:ea typeface="Consolas"/>
                <a:cs typeface="Consolas"/>
              </a:defRPr>
            </a:lvl6pPr>
            <a:lvl7pPr algn="l">
              <a:defRPr sz="2325" b="0">
                <a:solidFill>
                  <a:srgbClr val="4D5A68"/>
                </a:solidFill>
                <a:latin typeface="Consolas"/>
                <a:ea typeface="Consolas"/>
                <a:cs typeface="Consolas"/>
              </a:defRPr>
            </a:lvl7pPr>
            <a:lvl8pPr algn="l">
              <a:defRPr sz="2325" b="0">
                <a:solidFill>
                  <a:srgbClr val="4D5A68"/>
                </a:solidFill>
                <a:latin typeface="Consolas"/>
                <a:ea typeface="Consolas"/>
                <a:cs typeface="Consolas"/>
              </a:defRPr>
            </a:lvl8pPr>
            <a:lvl9pPr algn="l">
              <a:defRPr sz="2325" b="0">
                <a:solidFill>
                  <a:srgbClr val="4D5A68"/>
                </a:solidFill>
                <a:latin typeface="Consolas"/>
                <a:ea typeface="Consolas"/>
                <a:cs typeface="Consolas"/>
              </a:defRPr>
            </a:lvl9pPr>
          </a:lstStyle>
          <a:p xmlns:a="http://schemas.openxmlformats.org/drawingml/2006/main">
            <a:pPr algn="l">
              <a:defRPr sz="2325" b="0">
                <a:solidFill>
                  <a:srgbClr val="4D5A68"/>
                </a:solidFill>
                <a:latin typeface="Consolas"/>
                <a:ea typeface="Consolas"/>
                <a:cs typeface="Consolas"/>
              </a:defRPr>
            </a:pPr>
            <a:r>
              <a:rPr sz="2325" b="0">
                <a:solidFill>
                  <a:srgbClr val="4D5A68"/>
                </a:solidFill>
                <a:latin typeface="Consolas"/>
                <a:ea typeface="Consolas"/>
                <a:cs typeface="Consolas"/>
              </a:rPr>
              <a:t>입력 {1, 2, 3, 4}에서 crop [1, 3)</a:t>
            </a:r>
          </a:p>
        </p:txBody>
      </p:sp>
      <p:sp>
        <p:nvSpPr>
          <p:cNvPr id="8" name="명세의 기대 결과">
            <a:extLst xmlns:a="http://schemas.openxmlformats.org/drawingml/2006/main">
              <a:ext uri="{FF2B5EF4-FFF2-40B4-BE49-F238E27FC236}">
                <a16:creationId xmlns:a16="http://schemas.microsoft.com/office/drawing/2014/main" id="{5C405560-C36E-4145-9C06-8D80158BBCE5}"/>
              </a:ext>
            </a:extLst>
          </p:cNvPr>
          <p:cNvSpPr>
            <a:spLocks xmlns:a="http://schemas.openxmlformats.org/drawingml/2006/main" noGrp="1"/>
          </p:cNvSpPr>
          <p:nvPr/>
        </p:nvSpPr>
        <p:spPr>
          <a:xfrm xmlns:a="http://schemas.openxmlformats.org/drawingml/2006/main">
            <a:off x="7620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명세의 기대 결과</a:t>
            </a:r>
          </a:p>
        </p:txBody>
      </p:sp>
      <p:sp>
        <p:nvSpPr>
          <p:cNvPr id="9" name="">
            <a:extLst xmlns:a="http://schemas.openxmlformats.org/drawingml/2006/main">
              <a:ext uri="{FF2B5EF4-FFF2-40B4-BE49-F238E27FC236}">
                <a16:creationId xmlns:a16="http://schemas.microsoft.com/office/drawing/2014/main" id="{628F590F-451F-4D51-B579-DF26A3B8F879}"/>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0" name="2">
            <a:extLst xmlns:a="http://schemas.openxmlformats.org/drawingml/2006/main">
              <a:ext uri="{FF2B5EF4-FFF2-40B4-BE49-F238E27FC236}">
                <a16:creationId xmlns:a16="http://schemas.microsoft.com/office/drawing/2014/main" id="{348B7144-76CC-4082-AB95-3D5E341B43B1}"/>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1" name="">
            <a:extLst xmlns:a="http://schemas.openxmlformats.org/drawingml/2006/main">
              <a:ext uri="{FF2B5EF4-FFF2-40B4-BE49-F238E27FC236}">
                <a16:creationId xmlns:a16="http://schemas.microsoft.com/office/drawing/2014/main" id="{D6961BDB-130B-4C5F-AC49-8A9B3B80E795}"/>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3">
            <a:extLst xmlns:a="http://schemas.openxmlformats.org/drawingml/2006/main">
              <a:ext uri="{FF2B5EF4-FFF2-40B4-BE49-F238E27FC236}">
                <a16:creationId xmlns:a16="http://schemas.microsoft.com/office/drawing/2014/main" id="{38A6D9EC-3673-4BD7-BD01-446475BAB42F}"/>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3" name="2개">
            <a:extLst xmlns:a="http://schemas.openxmlformats.org/drawingml/2006/main">
              <a:ext uri="{FF2B5EF4-FFF2-40B4-BE49-F238E27FC236}">
                <a16:creationId xmlns:a16="http://schemas.microsoft.com/office/drawing/2014/main" id="{455F6586-916D-4C41-A133-5CC25A61286B}"/>
              </a:ext>
            </a:extLst>
          </p:cNvPr>
          <p:cNvSpPr>
            <a:spLocks xmlns:a="http://schemas.openxmlformats.org/drawingml/2006/main" noGrp="1"/>
          </p:cNvSpPr>
          <p:nvPr/>
        </p:nvSpPr>
        <p:spPr>
          <a:xfrm xmlns:a="http://schemas.openxmlformats.org/drawingml/2006/main">
            <a:off x="39433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2개</a:t>
            </a:r>
          </a:p>
        </p:txBody>
      </p:sp>
      <p:sp>
        <p:nvSpPr>
          <p:cNvPr id="14" name="명세를 어긴 결과">
            <a:extLst xmlns:a="http://schemas.openxmlformats.org/drawingml/2006/main">
              <a:ext uri="{FF2B5EF4-FFF2-40B4-BE49-F238E27FC236}">
                <a16:creationId xmlns:a16="http://schemas.microsoft.com/office/drawing/2014/main" id="{889E7E03-B26B-4AA2-A4B5-AA40D38BEE05}"/>
              </a:ext>
            </a:extLst>
          </p:cNvPr>
          <p:cNvSpPr>
            <a:spLocks xmlns:a="http://schemas.openxmlformats.org/drawingml/2006/main" noGrp="1"/>
          </p:cNvSpPr>
          <p:nvPr/>
        </p:nvSpPr>
        <p:spPr>
          <a:xfrm xmlns:a="http://schemas.openxmlformats.org/drawingml/2006/main">
            <a:off x="65532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B42318"/>
                </a:solidFill>
                <a:latin typeface="Malgun Gothic"/>
                <a:ea typeface="Malgun Gothic"/>
                <a:cs typeface="Malgun Gothic"/>
              </a:defRPr>
            </a:defPPr>
            <a:lvl1pPr algn="l">
              <a:defRPr sz="2400" b="1">
                <a:solidFill>
                  <a:srgbClr val="B42318"/>
                </a:solidFill>
                <a:latin typeface="Malgun Gothic"/>
                <a:ea typeface="Malgun Gothic"/>
                <a:cs typeface="Malgun Gothic"/>
              </a:defRPr>
            </a:lvl1pPr>
            <a:lvl2pPr algn="l">
              <a:defRPr sz="2400" b="1">
                <a:solidFill>
                  <a:srgbClr val="B42318"/>
                </a:solidFill>
                <a:latin typeface="Malgun Gothic"/>
                <a:ea typeface="Malgun Gothic"/>
                <a:cs typeface="Malgun Gothic"/>
              </a:defRPr>
            </a:lvl2pPr>
            <a:lvl3pPr algn="l">
              <a:defRPr sz="2400" b="1">
                <a:solidFill>
                  <a:srgbClr val="B42318"/>
                </a:solidFill>
                <a:latin typeface="Malgun Gothic"/>
                <a:ea typeface="Malgun Gothic"/>
                <a:cs typeface="Malgun Gothic"/>
              </a:defRPr>
            </a:lvl3pPr>
            <a:lvl4pPr algn="l">
              <a:defRPr sz="2400" b="1">
                <a:solidFill>
                  <a:srgbClr val="B42318"/>
                </a:solidFill>
                <a:latin typeface="Malgun Gothic"/>
                <a:ea typeface="Malgun Gothic"/>
                <a:cs typeface="Malgun Gothic"/>
              </a:defRPr>
            </a:lvl4pPr>
            <a:lvl5pPr algn="l">
              <a:defRPr sz="2400" b="1">
                <a:solidFill>
                  <a:srgbClr val="B42318"/>
                </a:solidFill>
                <a:latin typeface="Malgun Gothic"/>
                <a:ea typeface="Malgun Gothic"/>
                <a:cs typeface="Malgun Gothic"/>
              </a:defRPr>
            </a:lvl5pPr>
            <a:lvl6pPr algn="l">
              <a:defRPr sz="2400" b="1">
                <a:solidFill>
                  <a:srgbClr val="B42318"/>
                </a:solidFill>
                <a:latin typeface="Malgun Gothic"/>
                <a:ea typeface="Malgun Gothic"/>
                <a:cs typeface="Malgun Gothic"/>
              </a:defRPr>
            </a:lvl6pPr>
            <a:lvl7pPr algn="l">
              <a:defRPr sz="2400" b="1">
                <a:solidFill>
                  <a:srgbClr val="B42318"/>
                </a:solidFill>
                <a:latin typeface="Malgun Gothic"/>
                <a:ea typeface="Malgun Gothic"/>
                <a:cs typeface="Malgun Gothic"/>
              </a:defRPr>
            </a:lvl7pPr>
            <a:lvl8pPr algn="l">
              <a:defRPr sz="2400" b="1">
                <a:solidFill>
                  <a:srgbClr val="B42318"/>
                </a:solidFill>
                <a:latin typeface="Malgun Gothic"/>
                <a:ea typeface="Malgun Gothic"/>
                <a:cs typeface="Malgun Gothic"/>
              </a:defRPr>
            </a:lvl8pPr>
            <a:lvl9pPr algn="l">
              <a:defRPr sz="2400" b="1">
                <a:solidFill>
                  <a:srgbClr val="B42318"/>
                </a:solidFill>
                <a:latin typeface="Malgun Gothic"/>
                <a:ea typeface="Malgun Gothic"/>
                <a:cs typeface="Malgun Gothic"/>
              </a:defRPr>
            </a:lvl9pPr>
          </a:lstStyle>
          <a:p xmlns:a="http://schemas.openxmlformats.org/drawingml/2006/main">
            <a:pPr algn="l">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명세를 어긴 결과</a:t>
            </a:r>
          </a:p>
        </p:txBody>
      </p:sp>
      <p:sp>
        <p:nvSpPr>
          <p:cNvPr id="15" name="">
            <a:extLst xmlns:a="http://schemas.openxmlformats.org/drawingml/2006/main">
              <a:ext uri="{FF2B5EF4-FFF2-40B4-BE49-F238E27FC236}">
                <a16:creationId xmlns:a16="http://schemas.microsoft.com/office/drawing/2014/main" id="{23CFB00E-6BAC-4F4D-811C-0F32AFCD818E}"/>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2">
            <a:extLst xmlns:a="http://schemas.openxmlformats.org/drawingml/2006/main">
              <a:ext uri="{FF2B5EF4-FFF2-40B4-BE49-F238E27FC236}">
                <a16:creationId xmlns:a16="http://schemas.microsoft.com/office/drawing/2014/main" id="{07B5152E-CA17-4B43-AE5F-478C5A559668}"/>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7" name="">
            <a:extLst xmlns:a="http://schemas.openxmlformats.org/drawingml/2006/main">
              <a:ext uri="{FF2B5EF4-FFF2-40B4-BE49-F238E27FC236}">
                <a16:creationId xmlns:a16="http://schemas.microsoft.com/office/drawing/2014/main" id="{36CB4A21-5895-418D-AB3F-3DA277173A97}"/>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8" name="3">
            <a:extLst xmlns:a="http://schemas.openxmlformats.org/drawingml/2006/main">
              <a:ext uri="{FF2B5EF4-FFF2-40B4-BE49-F238E27FC236}">
                <a16:creationId xmlns:a16="http://schemas.microsoft.com/office/drawing/2014/main" id="{C27D24EC-7971-4ED9-BBE5-7D376C89C0E2}"/>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9" name="">
            <a:extLst xmlns:a="http://schemas.openxmlformats.org/drawingml/2006/main">
              <a:ext uri="{FF2B5EF4-FFF2-40B4-BE49-F238E27FC236}">
                <a16:creationId xmlns:a16="http://schemas.microsoft.com/office/drawing/2014/main" id="{8442777C-AC33-456A-8C7B-26BA86734524}"/>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20" name="4">
            <a:extLst xmlns:a="http://schemas.openxmlformats.org/drawingml/2006/main">
              <a:ext uri="{FF2B5EF4-FFF2-40B4-BE49-F238E27FC236}">
                <a16:creationId xmlns:a16="http://schemas.microsoft.com/office/drawing/2014/main" id="{EAA8F91D-A589-4594-B73E-299CB222DD56}"/>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B42318"/>
                </a:solidFill>
                <a:latin typeface="Consolas"/>
                <a:ea typeface="Consolas"/>
                <a:cs typeface="Consolas"/>
              </a:defRPr>
            </a:defPPr>
            <a:lvl1pPr algn="ctr">
              <a:defRPr sz="3825" b="1">
                <a:solidFill>
                  <a:srgbClr val="B42318"/>
                </a:solidFill>
                <a:latin typeface="Consolas"/>
                <a:ea typeface="Consolas"/>
                <a:cs typeface="Consolas"/>
              </a:defRPr>
            </a:lvl1pPr>
            <a:lvl2pPr algn="ctr">
              <a:defRPr sz="3825" b="1">
                <a:solidFill>
                  <a:srgbClr val="B42318"/>
                </a:solidFill>
                <a:latin typeface="Consolas"/>
                <a:ea typeface="Consolas"/>
                <a:cs typeface="Consolas"/>
              </a:defRPr>
            </a:lvl2pPr>
            <a:lvl3pPr algn="ctr">
              <a:defRPr sz="3825" b="1">
                <a:solidFill>
                  <a:srgbClr val="B42318"/>
                </a:solidFill>
                <a:latin typeface="Consolas"/>
                <a:ea typeface="Consolas"/>
                <a:cs typeface="Consolas"/>
              </a:defRPr>
            </a:lvl3pPr>
            <a:lvl4pPr algn="ctr">
              <a:defRPr sz="3825" b="1">
                <a:solidFill>
                  <a:srgbClr val="B42318"/>
                </a:solidFill>
                <a:latin typeface="Consolas"/>
                <a:ea typeface="Consolas"/>
                <a:cs typeface="Consolas"/>
              </a:defRPr>
            </a:lvl4pPr>
            <a:lvl5pPr algn="ctr">
              <a:defRPr sz="3825" b="1">
                <a:solidFill>
                  <a:srgbClr val="B42318"/>
                </a:solidFill>
                <a:latin typeface="Consolas"/>
                <a:ea typeface="Consolas"/>
                <a:cs typeface="Consolas"/>
              </a:defRPr>
            </a:lvl5pPr>
            <a:lvl6pPr algn="ctr">
              <a:defRPr sz="3825" b="1">
                <a:solidFill>
                  <a:srgbClr val="B42318"/>
                </a:solidFill>
                <a:latin typeface="Consolas"/>
                <a:ea typeface="Consolas"/>
                <a:cs typeface="Consolas"/>
              </a:defRPr>
            </a:lvl6pPr>
            <a:lvl7pPr algn="ctr">
              <a:defRPr sz="3825" b="1">
                <a:solidFill>
                  <a:srgbClr val="B42318"/>
                </a:solidFill>
                <a:latin typeface="Consolas"/>
                <a:ea typeface="Consolas"/>
                <a:cs typeface="Consolas"/>
              </a:defRPr>
            </a:lvl7pPr>
            <a:lvl8pPr algn="ctr">
              <a:defRPr sz="3825" b="1">
                <a:solidFill>
                  <a:srgbClr val="B42318"/>
                </a:solidFill>
                <a:latin typeface="Consolas"/>
                <a:ea typeface="Consolas"/>
                <a:cs typeface="Consolas"/>
              </a:defRPr>
            </a:lvl8pPr>
            <a:lvl9pPr algn="ctr">
              <a:defRPr sz="3825" b="1">
                <a:solidFill>
                  <a:srgbClr val="B42318"/>
                </a:solidFill>
                <a:latin typeface="Consolas"/>
                <a:ea typeface="Consolas"/>
                <a:cs typeface="Consolas"/>
              </a:defRPr>
            </a:lvl9pPr>
          </a:lstStyle>
          <a:p xmlns:a="http://schemas.openxmlformats.org/drawingml/2006/main">
            <a:pPr algn="ctr">
              <a:defRPr sz="3825" b="1">
                <a:solidFill>
                  <a:srgbClr val="B42318"/>
                </a:solidFill>
                <a:latin typeface="Consolas"/>
                <a:ea typeface="Consolas"/>
                <a:cs typeface="Consolas"/>
              </a:defRPr>
            </a:pPr>
            <a:r>
              <a:rPr sz="3825" b="1">
                <a:solidFill>
                  <a:srgbClr val="B42318"/>
                </a:solidFill>
                <a:latin typeface="Consolas"/>
                <a:ea typeface="Consolas"/>
                <a:cs typeface="Consolas"/>
              </a:rPr>
              <a:t>4</a:t>
            </a:r>
          </a:p>
        </p:txBody>
      </p:sp>
      <p:sp>
        <p:nvSpPr>
          <p:cNvPr id="21" name="3개">
            <a:extLst xmlns:a="http://schemas.openxmlformats.org/drawingml/2006/main">
              <a:ext uri="{FF2B5EF4-FFF2-40B4-BE49-F238E27FC236}">
                <a16:creationId xmlns:a16="http://schemas.microsoft.com/office/drawing/2014/main" id="{E2C6A9D0-49C9-4254-A11C-4000CC0997C3}"/>
              </a:ext>
            </a:extLst>
          </p:cNvPr>
          <p:cNvSpPr>
            <a:spLocks xmlns:a="http://schemas.openxmlformats.org/drawingml/2006/main" noGrp="1"/>
          </p:cNvSpPr>
          <p:nvPr/>
        </p:nvSpPr>
        <p:spPr>
          <a:xfrm xmlns:a="http://schemas.openxmlformats.org/drawingml/2006/main">
            <a:off x="97345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B42318"/>
                </a:solidFill>
                <a:latin typeface="Malgun Gothic"/>
                <a:ea typeface="Malgun Gothic"/>
                <a:cs typeface="Malgun Gothic"/>
              </a:defRPr>
            </a:defPPr>
            <a:lvl1pPr algn="l">
              <a:defRPr sz="2850" b="1">
                <a:solidFill>
                  <a:srgbClr val="B42318"/>
                </a:solidFill>
                <a:latin typeface="Malgun Gothic"/>
                <a:ea typeface="Malgun Gothic"/>
                <a:cs typeface="Malgun Gothic"/>
              </a:defRPr>
            </a:lvl1pPr>
            <a:lvl2pPr algn="l">
              <a:defRPr sz="2850" b="1">
                <a:solidFill>
                  <a:srgbClr val="B42318"/>
                </a:solidFill>
                <a:latin typeface="Malgun Gothic"/>
                <a:ea typeface="Malgun Gothic"/>
                <a:cs typeface="Malgun Gothic"/>
              </a:defRPr>
            </a:lvl2pPr>
            <a:lvl3pPr algn="l">
              <a:defRPr sz="2850" b="1">
                <a:solidFill>
                  <a:srgbClr val="B42318"/>
                </a:solidFill>
                <a:latin typeface="Malgun Gothic"/>
                <a:ea typeface="Malgun Gothic"/>
                <a:cs typeface="Malgun Gothic"/>
              </a:defRPr>
            </a:lvl3pPr>
            <a:lvl4pPr algn="l">
              <a:defRPr sz="2850" b="1">
                <a:solidFill>
                  <a:srgbClr val="B42318"/>
                </a:solidFill>
                <a:latin typeface="Malgun Gothic"/>
                <a:ea typeface="Malgun Gothic"/>
                <a:cs typeface="Malgun Gothic"/>
              </a:defRPr>
            </a:lvl4pPr>
            <a:lvl5pPr algn="l">
              <a:defRPr sz="2850" b="1">
                <a:solidFill>
                  <a:srgbClr val="B42318"/>
                </a:solidFill>
                <a:latin typeface="Malgun Gothic"/>
                <a:ea typeface="Malgun Gothic"/>
                <a:cs typeface="Malgun Gothic"/>
              </a:defRPr>
            </a:lvl5pPr>
            <a:lvl6pPr algn="l">
              <a:defRPr sz="2850" b="1">
                <a:solidFill>
                  <a:srgbClr val="B42318"/>
                </a:solidFill>
                <a:latin typeface="Malgun Gothic"/>
                <a:ea typeface="Malgun Gothic"/>
                <a:cs typeface="Malgun Gothic"/>
              </a:defRPr>
            </a:lvl6pPr>
            <a:lvl7pPr algn="l">
              <a:defRPr sz="2850" b="1">
                <a:solidFill>
                  <a:srgbClr val="B42318"/>
                </a:solidFill>
                <a:latin typeface="Malgun Gothic"/>
                <a:ea typeface="Malgun Gothic"/>
                <a:cs typeface="Malgun Gothic"/>
              </a:defRPr>
            </a:lvl7pPr>
            <a:lvl8pPr algn="l">
              <a:defRPr sz="2850" b="1">
                <a:solidFill>
                  <a:srgbClr val="B42318"/>
                </a:solidFill>
                <a:latin typeface="Malgun Gothic"/>
                <a:ea typeface="Malgun Gothic"/>
                <a:cs typeface="Malgun Gothic"/>
              </a:defRPr>
            </a:lvl8pPr>
            <a:lvl9pPr algn="l">
              <a:defRPr sz="2850" b="1">
                <a:solidFill>
                  <a:srgbClr val="B42318"/>
                </a:solidFill>
                <a:latin typeface="Malgun Gothic"/>
                <a:ea typeface="Malgun Gothic"/>
                <a:cs typeface="Malgun Gothic"/>
              </a:defRPr>
            </a:lvl9pPr>
          </a:lstStyle>
          <a:p xmlns:a="http://schemas.openxmlformats.org/drawingml/2006/main">
            <a:pPr algn="l">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3개</a:t>
            </a:r>
          </a:p>
        </p:txBody>
      </p:sp>
      <p:sp>
        <p:nvSpPr>
          <p:cNvPr id="22" name="두 결과 모두 비어 있지 않다">
            <a:extLst xmlns:a="http://schemas.openxmlformats.org/drawingml/2006/main">
              <a:ext uri="{FF2B5EF4-FFF2-40B4-BE49-F238E27FC236}">
                <a16:creationId xmlns:a16="http://schemas.microsoft.com/office/drawing/2014/main" id="{45D5DC1D-A043-40C2-91B1-A9E8E86D9158}"/>
              </a:ext>
            </a:extLst>
          </p:cNvPr>
          <p:cNvSpPr>
            <a:spLocks xmlns:a="http://schemas.openxmlformats.org/drawingml/2006/main" noGrp="1"/>
          </p:cNvSpPr>
          <p:nvPr/>
        </p:nvSpPr>
        <p:spPr>
          <a:xfrm xmlns:a="http://schemas.openxmlformats.org/drawingml/2006/main">
            <a:off x="609600" y="41433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7212B"/>
                </a:solidFill>
                <a:latin typeface="Malgun Gothic"/>
                <a:ea typeface="Malgun Gothic"/>
                <a:cs typeface="Malgun Gothic"/>
              </a:defRPr>
            </a:defPPr>
            <a:lvl1pPr algn="ctr">
              <a:defRPr sz="2700" b="1">
                <a:solidFill>
                  <a:srgbClr val="17212B"/>
                </a:solidFill>
                <a:latin typeface="Malgun Gothic"/>
                <a:ea typeface="Malgun Gothic"/>
                <a:cs typeface="Malgun Gothic"/>
              </a:defRPr>
            </a:lvl1pPr>
            <a:lvl2pPr algn="ctr">
              <a:defRPr sz="2700" b="1">
                <a:solidFill>
                  <a:srgbClr val="17212B"/>
                </a:solidFill>
                <a:latin typeface="Malgun Gothic"/>
                <a:ea typeface="Malgun Gothic"/>
                <a:cs typeface="Malgun Gothic"/>
              </a:defRPr>
            </a:lvl2pPr>
            <a:lvl3pPr algn="ctr">
              <a:defRPr sz="2700" b="1">
                <a:solidFill>
                  <a:srgbClr val="17212B"/>
                </a:solidFill>
                <a:latin typeface="Malgun Gothic"/>
                <a:ea typeface="Malgun Gothic"/>
                <a:cs typeface="Malgun Gothic"/>
              </a:defRPr>
            </a:lvl3pPr>
            <a:lvl4pPr algn="ctr">
              <a:defRPr sz="2700" b="1">
                <a:solidFill>
                  <a:srgbClr val="17212B"/>
                </a:solidFill>
                <a:latin typeface="Malgun Gothic"/>
                <a:ea typeface="Malgun Gothic"/>
                <a:cs typeface="Malgun Gothic"/>
              </a:defRPr>
            </a:lvl4pPr>
            <a:lvl5pPr algn="ctr">
              <a:defRPr sz="2700" b="1">
                <a:solidFill>
                  <a:srgbClr val="17212B"/>
                </a:solidFill>
                <a:latin typeface="Malgun Gothic"/>
                <a:ea typeface="Malgun Gothic"/>
                <a:cs typeface="Malgun Gothic"/>
              </a:defRPr>
            </a:lvl5pPr>
            <a:lvl6pPr algn="ctr">
              <a:defRPr sz="2700" b="1">
                <a:solidFill>
                  <a:srgbClr val="17212B"/>
                </a:solidFill>
                <a:latin typeface="Malgun Gothic"/>
                <a:ea typeface="Malgun Gothic"/>
                <a:cs typeface="Malgun Gothic"/>
              </a:defRPr>
            </a:lvl6pPr>
            <a:lvl7pPr algn="ctr">
              <a:defRPr sz="2700" b="1">
                <a:solidFill>
                  <a:srgbClr val="17212B"/>
                </a:solidFill>
                <a:latin typeface="Malgun Gothic"/>
                <a:ea typeface="Malgun Gothic"/>
                <a:cs typeface="Malgun Gothic"/>
              </a:defRPr>
            </a:lvl7pPr>
            <a:lvl8pPr algn="ctr">
              <a:defRPr sz="2700" b="1">
                <a:solidFill>
                  <a:srgbClr val="17212B"/>
                </a:solidFill>
                <a:latin typeface="Malgun Gothic"/>
                <a:ea typeface="Malgun Gothic"/>
                <a:cs typeface="Malgun Gothic"/>
              </a:defRPr>
            </a:lvl8pPr>
            <a:lvl9pPr algn="ctr">
              <a:defRPr sz="2700" b="1">
                <a:solidFill>
                  <a:srgbClr val="17212B"/>
                </a:solidFill>
                <a:latin typeface="Malgun Gothic"/>
                <a:ea typeface="Malgun Gothic"/>
                <a:cs typeface="Malgun Gothic"/>
              </a:defRPr>
            </a:lvl9pPr>
          </a:lstStyle>
          <a:p xmlns:a="http://schemas.openxmlformats.org/drawingml/2006/main">
            <a:pPr algn="ctr">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두 결과 모두 비어 있지 않다</a:t>
            </a:r>
          </a:p>
        </p:txBody>
      </p:sp>
      <p:sp>
        <p:nvSpPr>
          <p:cNvPr id="23" name="">
            <a:extLst xmlns:a="http://schemas.openxmlformats.org/drawingml/2006/main">
              <a:ext uri="{FF2B5EF4-FFF2-40B4-BE49-F238E27FC236}">
                <a16:creationId xmlns:a16="http://schemas.microsoft.com/office/drawing/2014/main" id="{3D001789-64C6-4B4A-B557-0834224017F3}"/>
              </a:ext>
            </a:extLst>
          </p:cNvPr>
          <p:cNvSpPr>
            <a:spLocks xmlns:a="http://schemas.openxmlformats.org/drawingml/2006/main" noGrp="1"/>
          </p:cNvSpPr>
          <p:nvPr/>
        </p:nvSpPr>
        <p:spPr>
          <a:xfrm xmlns:a="http://schemas.openxmlformats.org/drawingml/2006/main">
            <a:off x="609600" y="4791075"/>
            <a:ext cx="10972800" cy="733425"/>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24" name="EXPECT_FALSE(actual.empty());">
            <a:extLst xmlns:a="http://schemas.openxmlformats.org/drawingml/2006/main">
              <a:ext uri="{FF2B5EF4-FFF2-40B4-BE49-F238E27FC236}">
                <a16:creationId xmlns:a16="http://schemas.microsoft.com/office/drawing/2014/main" id="{4354063E-1DD2-4E95-9F08-78229BB066BD}"/>
              </a:ext>
            </a:extLst>
          </p:cNvPr>
          <p:cNvSpPr>
            <a:spLocks xmlns:a="http://schemas.openxmlformats.org/drawingml/2006/main" noGrp="1"/>
          </p:cNvSpPr>
          <p:nvPr/>
        </p:nvSpPr>
        <p:spPr>
          <a:xfrm xmlns:a="http://schemas.openxmlformats.org/drawingml/2006/main">
            <a:off x="876300" y="4924425"/>
            <a:ext cx="10439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FFFFFF"/>
                </a:solidFill>
                <a:latin typeface="Consolas"/>
                <a:ea typeface="Consolas"/>
                <a:cs typeface="Consolas"/>
              </a:defRPr>
            </a:defPPr>
            <a:lvl1pPr algn="ctr">
              <a:defRPr sz="2175" b="0">
                <a:solidFill>
                  <a:srgbClr val="FFFFFF"/>
                </a:solidFill>
                <a:latin typeface="Consolas"/>
                <a:ea typeface="Consolas"/>
                <a:cs typeface="Consolas"/>
              </a:defRPr>
            </a:lvl1pPr>
            <a:lvl2pPr algn="ctr">
              <a:defRPr sz="2175" b="0">
                <a:solidFill>
                  <a:srgbClr val="FFFFFF"/>
                </a:solidFill>
                <a:latin typeface="Consolas"/>
                <a:ea typeface="Consolas"/>
                <a:cs typeface="Consolas"/>
              </a:defRPr>
            </a:lvl2pPr>
            <a:lvl3pPr algn="ctr">
              <a:defRPr sz="2175" b="0">
                <a:solidFill>
                  <a:srgbClr val="FFFFFF"/>
                </a:solidFill>
                <a:latin typeface="Consolas"/>
                <a:ea typeface="Consolas"/>
                <a:cs typeface="Consolas"/>
              </a:defRPr>
            </a:lvl3pPr>
            <a:lvl4pPr algn="ctr">
              <a:defRPr sz="2175" b="0">
                <a:solidFill>
                  <a:srgbClr val="FFFFFF"/>
                </a:solidFill>
                <a:latin typeface="Consolas"/>
                <a:ea typeface="Consolas"/>
                <a:cs typeface="Consolas"/>
              </a:defRPr>
            </a:lvl4pPr>
            <a:lvl5pPr algn="ctr">
              <a:defRPr sz="2175" b="0">
                <a:solidFill>
                  <a:srgbClr val="FFFFFF"/>
                </a:solidFill>
                <a:latin typeface="Consolas"/>
                <a:ea typeface="Consolas"/>
                <a:cs typeface="Consolas"/>
              </a:defRPr>
            </a:lvl5pPr>
            <a:lvl6pPr algn="ctr">
              <a:defRPr sz="2175" b="0">
                <a:solidFill>
                  <a:srgbClr val="FFFFFF"/>
                </a:solidFill>
                <a:latin typeface="Consolas"/>
                <a:ea typeface="Consolas"/>
                <a:cs typeface="Consolas"/>
              </a:defRPr>
            </a:lvl6pPr>
            <a:lvl7pPr algn="ctr">
              <a:defRPr sz="2175" b="0">
                <a:solidFill>
                  <a:srgbClr val="FFFFFF"/>
                </a:solidFill>
                <a:latin typeface="Consolas"/>
                <a:ea typeface="Consolas"/>
                <a:cs typeface="Consolas"/>
              </a:defRPr>
            </a:lvl7pPr>
            <a:lvl8pPr algn="ctr">
              <a:defRPr sz="2175" b="0">
                <a:solidFill>
                  <a:srgbClr val="FFFFFF"/>
                </a:solidFill>
                <a:latin typeface="Consolas"/>
                <a:ea typeface="Consolas"/>
                <a:cs typeface="Consolas"/>
              </a:defRPr>
            </a:lvl8pPr>
            <a:lvl9pPr algn="ctr">
              <a:defRPr sz="2175" b="0">
                <a:solidFill>
                  <a:srgbClr val="FFFFFF"/>
                </a:solidFill>
                <a:latin typeface="Consolas"/>
                <a:ea typeface="Consolas"/>
                <a:cs typeface="Consolas"/>
              </a:defRPr>
            </a:lvl9pPr>
          </a:lstStyle>
          <a:p xmlns:a="http://schemas.openxmlformats.org/drawingml/2006/main">
            <a:pPr algn="ctr">
              <a:defRPr sz="2175" b="0">
                <a:solidFill>
                  <a:srgbClr val="FFFFFF"/>
                </a:solidFill>
                <a:latin typeface="Consolas"/>
                <a:ea typeface="Consolas"/>
                <a:cs typeface="Consolas"/>
              </a:defRPr>
            </a:pPr>
            <a:r>
              <a:rPr sz="2175" b="0">
                <a:solidFill>
                  <a:srgbClr val="FFFFFF"/>
                </a:solidFill>
                <a:latin typeface="Consolas"/>
                <a:ea typeface="Consolas"/>
                <a:cs typeface="Consolas"/>
              </a:rPr>
              <a:t>EXPECT_FALSE(actual.empty());</a:t>
            </a:r>
          </a:p>
        </p:txBody>
      </p:sp>
    </p:spTree>
    <p:extLst>
      <p:ext uri="{BB962C8B-B14F-4D97-AF65-F5344CB8AC3E}">
        <p14:creationId xmlns:p14="http://schemas.microsoft.com/office/powerpoint/2010/main" val="1878722941"/>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완료 조건을 요청에 담기">
            <a:extLst xmlns:a="http://schemas.openxmlformats.org/drawingml/2006/main">
              <a:ext uri="{FF2B5EF4-FFF2-40B4-BE49-F238E27FC236}">
                <a16:creationId xmlns:a16="http://schemas.microsoft.com/office/drawing/2014/main" id="{2886E7FE-45B6-4B31-8A71-405CB7970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8">
            <a:extLst xmlns:a="http://schemas.openxmlformats.org/drawingml/2006/main">
              <a:ext uri="{FF2B5EF4-FFF2-40B4-BE49-F238E27FC236}">
                <a16:creationId xmlns:a16="http://schemas.microsoft.com/office/drawing/2014/main" id="{53554EE8-8A2B-4E13-98AB-878990984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대 결과를 요청에 적는다">
            <a:extLst xmlns:a="http://schemas.openxmlformats.org/drawingml/2006/main">
              <a:ext uri="{FF2B5EF4-FFF2-40B4-BE49-F238E27FC236}">
                <a16:creationId xmlns:a16="http://schemas.microsoft.com/office/drawing/2014/main" id="{161E99E1-983F-4F74-80E3-858793E24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기대 결과를 요청에 적는다</a:t>
            </a:r>
          </a:p>
        </p:txBody>
      </p:sp>
      <p:sp>
        <p:nvSpPr>
          <p:cNvPr id="4" name="">
            <a:extLst xmlns:a="http://schemas.openxmlformats.org/drawingml/2006/main">
              <a:ext uri="{FF2B5EF4-FFF2-40B4-BE49-F238E27FC236}">
                <a16:creationId xmlns:a16="http://schemas.microsoft.com/office/drawing/2014/main" id="{B97A8730-86CE-4EFD-B806-399F0FD63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요청·검증 코드 · 실제 TRIAL-002 요청이나 새 실행 결과가 아님">
            <a:extLst xmlns:a="http://schemas.openxmlformats.org/drawingml/2006/main">
              <a:ext uri="{FF2B5EF4-FFF2-40B4-BE49-F238E27FC236}">
                <a16:creationId xmlns:a16="http://schemas.microsoft.com/office/drawing/2014/main" id="{D5DFE5D4-1576-4DEB-9E7F-7A821444DD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요청·검증 코드 · 실제 TRIAL-002 요청이나 새 실행 결과가 아님</a:t>
            </a:r>
          </a:p>
        </p:txBody>
      </p:sp>
      <p:sp>
        <p:nvSpPr>
          <p:cNvPr id="6" name="M 연계 · M5 / M6">
            <a:extLst xmlns:a="http://schemas.openxmlformats.org/drawingml/2006/main">
              <a:ext uri="{FF2B5EF4-FFF2-40B4-BE49-F238E27FC236}">
                <a16:creationId xmlns:a16="http://schemas.microsoft.com/office/drawing/2014/main" id="{981C5544-D049-4015-9DDE-0E5D2A136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
            <a:extLst xmlns:a="http://schemas.openxmlformats.org/drawingml/2006/main">
              <a:ext uri="{FF2B5EF4-FFF2-40B4-BE49-F238E27FC236}">
                <a16:creationId xmlns:a16="http://schemas.microsoft.com/office/drawing/2014/main" id="{72AC68CA-B964-41BE-AF19-4AFAFB4C6C61}"/>
              </a:ext>
            </a:extLst>
          </p:cNvPr>
          <p:cNvSpPr>
            <a:spLocks xmlns:a="http://schemas.openxmlformats.org/drawingml/2006/main" noGrp="1"/>
          </p:cNvSpPr>
          <p:nvPr/>
        </p:nvSpPr>
        <p:spPr>
          <a:xfrm xmlns:a="http://schemas.openxmlformats.org/drawingml/2006/main">
            <a:off x="609600" y="1876425"/>
            <a:ext cx="10972800" cy="23526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a:extLst xmlns:a="http://schemas.openxmlformats.org/drawingml/2006/main">
              <a:ext uri="{FF2B5EF4-FFF2-40B4-BE49-F238E27FC236}">
                <a16:creationId xmlns:a16="http://schemas.microsoft.com/office/drawing/2014/main" id="{C8873CDB-AF00-4C86-BAC9-8F0DFA11A6F3}"/>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a:t>
            </a:r>
          </a:p>
        </p:txBody>
      </p:sp>
      <p:sp>
        <p:nvSpPr>
          <p:cNvPr id="9" name="">
            <a:extLst xmlns:a="http://schemas.openxmlformats.org/drawingml/2006/main">
              <a:ext uri="{FF2B5EF4-FFF2-40B4-BE49-F238E27FC236}">
                <a16:creationId xmlns:a16="http://schemas.microsoft.com/office/drawing/2014/main" id="{0D17252D-537F-4598-A823-41447A1E9A80}"/>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입력 {1, 2, 3, 4}에서 crop [1, 3)을 적용했을 때">
            <a:extLst xmlns:a="http://schemas.openxmlformats.org/drawingml/2006/main">
              <a:ext uri="{FF2B5EF4-FFF2-40B4-BE49-F238E27FC236}">
                <a16:creationId xmlns:a16="http://schemas.microsoft.com/office/drawing/2014/main" id="{E447F78B-117D-4F4B-9F14-BECB1FB5580F}"/>
              </a:ext>
            </a:extLst>
          </p:cNvPr>
          <p:cNvSpPr>
            <a:spLocks xmlns:a="http://schemas.openxmlformats.org/drawingml/2006/main" noGrp="1"/>
          </p:cNvSpPr>
          <p:nvPr/>
        </p:nvSpPr>
        <p:spPr>
          <a:xfrm xmlns:a="http://schemas.openxmlformats.org/drawingml/2006/main">
            <a:off x="838200" y="26193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입력 {1, 2, 3, 4}에서 crop [1, 3)을 적용했을 때</a:t>
            </a:r>
          </a:p>
        </p:txBody>
      </p:sp>
      <p:sp>
        <p:nvSpPr>
          <p:cNvPr id="11" name="결과가 {2, 3}이고 길이가 2인지 테스트로 확인해줘.">
            <a:extLst xmlns:a="http://schemas.openxmlformats.org/drawingml/2006/main">
              <a:ext uri="{FF2B5EF4-FFF2-40B4-BE49-F238E27FC236}">
                <a16:creationId xmlns:a16="http://schemas.microsoft.com/office/drawing/2014/main" id="{BCC8BB53-5946-43BF-B20A-C7C7970B9639}"/>
              </a:ext>
            </a:extLst>
          </p:cNvPr>
          <p:cNvSpPr>
            <a:spLocks xmlns:a="http://schemas.openxmlformats.org/drawingml/2006/main" noGrp="1"/>
          </p:cNvSpPr>
          <p:nvPr/>
        </p:nvSpPr>
        <p:spPr>
          <a:xfrm xmlns:a="http://schemas.openxmlformats.org/drawingml/2006/main">
            <a:off x="838200" y="30765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결과가 {2, 3}이고 길이가 2인지 테스트로 확인해줘.</a:t>
            </a:r>
          </a:p>
        </p:txBody>
      </p:sp>
      <p:sp>
        <p:nvSpPr>
          <p:cNvPr id="12" name="실행한 검사와 결과, 미확인 사항도 보고해줘.">
            <a:extLst xmlns:a="http://schemas.openxmlformats.org/drawingml/2006/main">
              <a:ext uri="{FF2B5EF4-FFF2-40B4-BE49-F238E27FC236}">
                <a16:creationId xmlns:a16="http://schemas.microsoft.com/office/drawing/2014/main" id="{73EE40E1-B2AF-49E2-8F87-AA24DC6DF4FE}"/>
              </a:ext>
            </a:extLst>
          </p:cNvPr>
          <p:cNvSpPr>
            <a:spLocks xmlns:a="http://schemas.openxmlformats.org/drawingml/2006/main" noGrp="1"/>
          </p:cNvSpPr>
          <p:nvPr/>
        </p:nvSpPr>
        <p:spPr>
          <a:xfrm xmlns:a="http://schemas.openxmlformats.org/drawingml/2006/main">
            <a:off x="838200" y="35337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실행한 검사와 결과, 미확인 사항도 보고해줘.</a:t>
            </a:r>
          </a:p>
        </p:txBody>
      </p:sp>
      <p:sp>
        <p:nvSpPr>
          <p:cNvPr id="13" name="해당 입력의 개수·값·순서를 비교">
            <a:extLst xmlns:a="http://schemas.openxmlformats.org/drawingml/2006/main">
              <a:ext uri="{FF2B5EF4-FFF2-40B4-BE49-F238E27FC236}">
                <a16:creationId xmlns:a16="http://schemas.microsoft.com/office/drawing/2014/main" id="{21544BA7-4C73-42B0-9151-851DC45D2B69}"/>
              </a:ext>
            </a:extLst>
          </p:cNvPr>
          <p:cNvSpPr>
            <a:spLocks xmlns:a="http://schemas.openxmlformats.org/drawingml/2006/main" noGrp="1"/>
          </p:cNvSpPr>
          <p:nvPr/>
        </p:nvSpPr>
        <p:spPr>
          <a:xfrm xmlns:a="http://schemas.openxmlformats.org/drawingml/2006/main">
            <a:off x="609600" y="44577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해당 입력의 개수·값·순서를 비교</a:t>
            </a:r>
          </a:p>
        </p:txBody>
      </p:sp>
      <p:sp>
        <p:nvSpPr>
          <p:cNvPr id="14" name="std::vector&lt;int&gt; expected{2, 3};">
            <a:extLst xmlns:a="http://schemas.openxmlformats.org/drawingml/2006/main">
              <a:ext uri="{FF2B5EF4-FFF2-40B4-BE49-F238E27FC236}">
                <a16:creationId xmlns:a16="http://schemas.microsoft.com/office/drawing/2014/main" id="{9ED0FD78-7168-4C7A-B0F1-ECE08362AB7D}"/>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Consolas"/>
                <a:ea typeface="Consolas"/>
                <a:cs typeface="Consolas"/>
              </a:defRPr>
            </a:defPPr>
            <a:lvl1pPr algn="l">
              <a:defRPr sz="2025" b="0">
                <a:solidFill>
                  <a:srgbClr val="0B6172"/>
                </a:solidFill>
                <a:latin typeface="Consolas"/>
                <a:ea typeface="Consolas"/>
                <a:cs typeface="Consolas"/>
              </a:defRPr>
            </a:lvl1pPr>
            <a:lvl2pPr algn="l">
              <a:defRPr sz="2025" b="0">
                <a:solidFill>
                  <a:srgbClr val="0B6172"/>
                </a:solidFill>
                <a:latin typeface="Consolas"/>
                <a:ea typeface="Consolas"/>
                <a:cs typeface="Consolas"/>
              </a:defRPr>
            </a:lvl2pPr>
            <a:lvl3pPr algn="l">
              <a:defRPr sz="2025" b="0">
                <a:solidFill>
                  <a:srgbClr val="0B6172"/>
                </a:solidFill>
                <a:latin typeface="Consolas"/>
                <a:ea typeface="Consolas"/>
                <a:cs typeface="Consolas"/>
              </a:defRPr>
            </a:lvl3pPr>
            <a:lvl4pPr algn="l">
              <a:defRPr sz="2025" b="0">
                <a:solidFill>
                  <a:srgbClr val="0B6172"/>
                </a:solidFill>
                <a:latin typeface="Consolas"/>
                <a:ea typeface="Consolas"/>
                <a:cs typeface="Consolas"/>
              </a:defRPr>
            </a:lvl4pPr>
            <a:lvl5pPr algn="l">
              <a:defRPr sz="2025" b="0">
                <a:solidFill>
                  <a:srgbClr val="0B6172"/>
                </a:solidFill>
                <a:latin typeface="Consolas"/>
                <a:ea typeface="Consolas"/>
                <a:cs typeface="Consolas"/>
              </a:defRPr>
            </a:lvl5pPr>
            <a:lvl6pPr algn="l">
              <a:defRPr sz="2025" b="0">
                <a:solidFill>
                  <a:srgbClr val="0B6172"/>
                </a:solidFill>
                <a:latin typeface="Consolas"/>
                <a:ea typeface="Consolas"/>
                <a:cs typeface="Consolas"/>
              </a:defRPr>
            </a:lvl6pPr>
            <a:lvl7pPr algn="l">
              <a:defRPr sz="2025" b="0">
                <a:solidFill>
                  <a:srgbClr val="0B6172"/>
                </a:solidFill>
                <a:latin typeface="Consolas"/>
                <a:ea typeface="Consolas"/>
                <a:cs typeface="Consolas"/>
              </a:defRPr>
            </a:lvl7pPr>
            <a:lvl8pPr algn="l">
              <a:defRPr sz="2025" b="0">
                <a:solidFill>
                  <a:srgbClr val="0B6172"/>
                </a:solidFill>
                <a:latin typeface="Consolas"/>
                <a:ea typeface="Consolas"/>
                <a:cs typeface="Consolas"/>
              </a:defRPr>
            </a:lvl8pPr>
            <a:lvl9pPr algn="l">
              <a:defRPr sz="2025" b="0">
                <a:solidFill>
                  <a:srgbClr val="0B6172"/>
                </a:solidFill>
                <a:latin typeface="Consolas"/>
                <a:ea typeface="Consolas"/>
                <a:cs typeface="Consolas"/>
              </a:defRPr>
            </a:lvl9pPr>
          </a:lstStyle>
          <a:p xmlns:a="http://schemas.openxmlformats.org/drawingml/2006/main">
            <a:pPr algn="l">
              <a:defRPr sz="2025" b="0">
                <a:solidFill>
                  <a:srgbClr val="0B6172"/>
                </a:solidFill>
                <a:latin typeface="Consolas"/>
                <a:ea typeface="Consolas"/>
                <a:cs typeface="Consolas"/>
              </a:defRPr>
            </a:pPr>
            <a:r>
              <a:rPr sz="2025" b="0">
                <a:solidFill>
                  <a:srgbClr val="0B6172"/>
                </a:solidFill>
                <a:latin typeface="Consolas"/>
                <a:ea typeface="Consolas"/>
                <a:cs typeface="Consolas"/>
              </a:rPr>
              <a:t>std::vector&lt;int&gt; expected{2, 3};</a:t>
            </a:r>
          </a:p>
        </p:txBody>
      </p:sp>
      <p:sp>
        <p:nvSpPr>
          <p:cNvPr id="15" name="EXPECT_EQ(actual, expected);">
            <a:extLst xmlns:a="http://schemas.openxmlformats.org/drawingml/2006/main">
              <a:ext uri="{FF2B5EF4-FFF2-40B4-BE49-F238E27FC236}">
                <a16:creationId xmlns:a16="http://schemas.microsoft.com/office/drawing/2014/main" id="{6704833F-88A8-484E-BB97-9A2CB8E7E93F}"/>
              </a:ext>
            </a:extLst>
          </p:cNvPr>
          <p:cNvSpPr>
            <a:spLocks xmlns:a="http://schemas.openxmlformats.org/drawingml/2006/main" noGrp="1"/>
          </p:cNvSpPr>
          <p:nvPr/>
        </p:nvSpPr>
        <p:spPr>
          <a:xfrm xmlns:a="http://schemas.openxmlformats.org/drawingml/2006/main">
            <a:off x="609600" y="52673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EXPECT_EQ(actual, expected);</a:t>
            </a:r>
          </a:p>
        </p:txBody>
      </p:sp>
    </p:spTree>
    <p:extLst>
      <p:ext uri="{BB962C8B-B14F-4D97-AF65-F5344CB8AC3E}">
        <p14:creationId xmlns:p14="http://schemas.microsoft.com/office/powerpoint/2010/main" val="1878722941"/>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9">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30">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1">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2">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3">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4">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5">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6">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7">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8">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24</ap:Slides>
  <ap:Notes>24</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