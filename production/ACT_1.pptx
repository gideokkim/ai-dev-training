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id="278" r:id="Rb6e196eb79bd4ac7"/>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124731db2ca4542"/><Relationship Type="http://schemas.openxmlformats.org/officeDocument/2006/relationships/slideMaster" Target="/ppt/slideMasters/slideMaster1.xml" Id="R5ad485d29c60440e"/><Relationship Type="http://schemas.openxmlformats.org/officeDocument/2006/relationships/notesMaster" Target="/ppt/notesMasters/notesMaster1.xml" Id="R1b53e6f5aec94bb7"/><Relationship Type="http://schemas.openxmlformats.org/officeDocument/2006/relationships/presProps" Target="/ppt/presProps.xml" Id="Ra89db6ae51574db1"/><Relationship Type="http://schemas.openxmlformats.org/officeDocument/2006/relationships/tableStyles" Target="/ppt/tableStyles.xml" Id="Rb1b4c5e4218145b1"/><Relationship Type="http://schemas.openxmlformats.org/officeDocument/2006/relationships/slide" Target="/ppt/slides/slide1.xml" Id="R53b5f1c73613466b"/><Relationship Type="http://schemas.openxmlformats.org/officeDocument/2006/relationships/slide" Target="/ppt/slides/slide2.xml" Id="Rdb787b2679b34158"/><Relationship Type="http://schemas.openxmlformats.org/officeDocument/2006/relationships/slide" Target="/ppt/slides/slide3.xml" Id="R15ef2fdfc3fc4c66"/><Relationship Type="http://schemas.openxmlformats.org/officeDocument/2006/relationships/slide" Target="/ppt/slides/slide4.xml" Id="R4afab53e72394991"/><Relationship Type="http://schemas.openxmlformats.org/officeDocument/2006/relationships/slide" Target="/ppt/slides/slide5.xml" Id="R6991b2de36cf4574"/><Relationship Type="http://schemas.openxmlformats.org/officeDocument/2006/relationships/slide" Target="/ppt/slides/slide6.xml" Id="Reefe892a11634e6e"/><Relationship Type="http://schemas.openxmlformats.org/officeDocument/2006/relationships/slide" Target="/ppt/slides/slide7.xml" Id="Rc660046a4aee4b62"/><Relationship Type="http://schemas.openxmlformats.org/officeDocument/2006/relationships/slide" Target="/ppt/slides/slide8.xml" Id="R6671d30a9a674493"/><Relationship Type="http://schemas.openxmlformats.org/officeDocument/2006/relationships/slide" Target="/ppt/slides/slide9.xml" Id="R622f7f149fe64add"/><Relationship Type="http://schemas.openxmlformats.org/officeDocument/2006/relationships/slide" Target="/ppt/slides/slide10.xml" Id="Recccec0b02b94bcd"/><Relationship Type="http://schemas.openxmlformats.org/officeDocument/2006/relationships/slide" Target="/ppt/slides/slide11.xml" Id="Ra34cdac4f2ae4f66"/><Relationship Type="http://schemas.openxmlformats.org/officeDocument/2006/relationships/slide" Target="/ppt/slides/slide12.xml" Id="R24872ffc5e43470c"/><Relationship Type="http://schemas.openxmlformats.org/officeDocument/2006/relationships/slide" Target="/ppt/slides/slide14.xml" Id="Ra09b486bd3494af1"/><Relationship Type="http://schemas.openxmlformats.org/officeDocument/2006/relationships/slide" Target="/ppt/slides/slide15.xml" Id="R63a41de556e8443c"/><Relationship Type="http://schemas.openxmlformats.org/officeDocument/2006/relationships/slide" Target="/ppt/slides/slide16.xml" Id="R0565985cb09f4a47"/><Relationship Type="http://schemas.openxmlformats.org/officeDocument/2006/relationships/slide" Target="/ppt/slides/slide17.xml" Id="Recd5491b6ea3414e"/><Relationship Type="http://schemas.openxmlformats.org/officeDocument/2006/relationships/slide" Target="/ppt/slides/slide18.xml" Id="Rc0dbeecec05d4365"/><Relationship Type="http://schemas.openxmlformats.org/officeDocument/2006/relationships/slide" Target="/ppt/slides/slide19.xml" Id="Rd20122bcdfe04052"/><Relationship Type="http://schemas.openxmlformats.org/officeDocument/2006/relationships/slide" Target="/ppt/slides/slide20.xml" Id="R5a17122b530246b7"/><Relationship Type="http://schemas.openxmlformats.org/officeDocument/2006/relationships/slide" Target="/ppt/slides/slide21.xml" Id="Rded92fe5c21b46cc"/><Relationship Type="http://schemas.openxmlformats.org/officeDocument/2006/relationships/slide" Target="/ppt/slides/slide22.xml" Id="R94b109f609ff43a4"/><Relationship Type="http://schemas.openxmlformats.org/officeDocument/2006/relationships/slide" Target="/ppt/slides/slide23.xml" Id="R4139da827e6c459c"/><Relationship Type="http://schemas.openxmlformats.org/officeDocument/2006/relationships/slide" Target="/ppt/slides/slide13.xml" Id="Rb6e196eb79bd4ac7"/></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xml version="1.0" encoding="utf-8"?><Relationships xmlns="http://schemas.openxmlformats.org/package/2006/relationships"><Relationship Type="http://schemas.openxmlformats.org/officeDocument/2006/relationships/slide" Target="/ppt/slides/slide13.xml" Id="R88851504de1842a1"/><Relationship Type="http://schemas.openxmlformats.org/officeDocument/2006/relationships/notesMaster" Target="/ppt/notesMasters/notesMaster1.xml" Id="R812a5b04ffe44e67"/></Relationships>
</file>

<file path=ppt/notesSlides/_rels/notesSlide14.xml.rels><?xml version="1.0" encoding="utf-8"?><Relationships xmlns="http://schemas.openxmlformats.org/package/2006/relationships"><Relationship Type="http://schemas.openxmlformats.org/officeDocument/2006/relationships/slide" Target="/ppt/slides/slide14.xml" Id="R8f2bb8f720f84336"/><Relationship Type="http://schemas.openxmlformats.org/officeDocument/2006/relationships/notesMaster" Target="/ppt/notesMasters/notesMaster1.xml" Id="R660933af8b2d436d"/></Relationships>
</file>

<file path=ppt/notesSlides/_rels/notesSlide15.xml.rels><?xml version="1.0" encoding="utf-8"?><Relationships xmlns="http://schemas.openxmlformats.org/package/2006/relationships"><Relationship Type="http://schemas.openxmlformats.org/officeDocument/2006/relationships/slide" Target="/ppt/slides/slide15.xml" Id="R528d70e2058a41d1"/><Relationship Type="http://schemas.openxmlformats.org/officeDocument/2006/relationships/notesMaster" Target="/ppt/notesMasters/notesMaster1.xml" Id="R9a0439634b9e412e"/></Relationships>
</file>

<file path=ppt/notesSlides/_rels/notesSlide16.xml.rels><?xml version="1.0" encoding="utf-8"?><Relationships xmlns="http://schemas.openxmlformats.org/package/2006/relationships"><Relationship Type="http://schemas.openxmlformats.org/officeDocument/2006/relationships/slide" Target="/ppt/slides/slide16.xml" Id="R61f961977d584416"/><Relationship Type="http://schemas.openxmlformats.org/officeDocument/2006/relationships/notesMaster" Target="/ppt/notesMasters/notesMaster1.xml" Id="R12bffd481365440b"/></Relationships>
</file>

<file path=ppt/notesSlides/_rels/notesSlide17.xml.rels><?xml version="1.0" encoding="utf-8"?><Relationships xmlns="http://schemas.openxmlformats.org/package/2006/relationships"><Relationship Type="http://schemas.openxmlformats.org/officeDocument/2006/relationships/slide" Target="/ppt/slides/slide17.xml" Id="R9f438ec642c64ef4"/><Relationship Type="http://schemas.openxmlformats.org/officeDocument/2006/relationships/notesMaster" Target="/ppt/notesMasters/notesMaster1.xml" Id="Rd5518c5e79fc4f13"/></Relationships>
</file>

<file path=ppt/notesSlides/_rels/notesSlide18.xml.rels><?xml version="1.0" encoding="utf-8"?><Relationships xmlns="http://schemas.openxmlformats.org/package/2006/relationships"><Relationship Type="http://schemas.openxmlformats.org/officeDocument/2006/relationships/slide" Target="/ppt/slides/slide18.xml" Id="Rc0add4228c0a47ae"/><Relationship Type="http://schemas.openxmlformats.org/officeDocument/2006/relationships/notesMaster" Target="/ppt/notesMasters/notesMaster1.xml" Id="R927408a8d05340aa"/></Relationships>
</file>

<file path=ppt/notesSlides/_rels/notesSlide19.xml.rels><?xml version="1.0" encoding="utf-8"?><Relationships xmlns="http://schemas.openxmlformats.org/package/2006/relationships"><Relationship Type="http://schemas.openxmlformats.org/officeDocument/2006/relationships/slide" Target="/ppt/slides/slide19.xml" Id="R1c79308fde8d4adb"/><Relationship Type="http://schemas.openxmlformats.org/officeDocument/2006/relationships/notesMaster" Target="/ppt/notesMasters/notesMaster1.xml" Id="R4834c3f9ba5c41cc"/></Relationships>
</file>

<file path=ppt/notesSlides/_rels/notesSlide20.xml.rels><?xml version="1.0" encoding="utf-8"?><Relationships xmlns="http://schemas.openxmlformats.org/package/2006/relationships"><Relationship Type="http://schemas.openxmlformats.org/officeDocument/2006/relationships/slide" Target="/ppt/slides/slide20.xml" Id="Rb0ab5b6f63db468a"/><Relationship Type="http://schemas.openxmlformats.org/officeDocument/2006/relationships/notesMaster" Target="/ppt/notesMasters/notesMaster1.xml" Id="R81034e5a4c064144"/></Relationships>
</file>

<file path=ppt/notesSlides/_rels/notesSlide21.xml.rels><?xml version="1.0" encoding="utf-8"?><Relationships xmlns="http://schemas.openxmlformats.org/package/2006/relationships"><Relationship Type="http://schemas.openxmlformats.org/officeDocument/2006/relationships/slide" Target="/ppt/slides/slide21.xml" Id="Re9a414a1cdb44005"/><Relationship Type="http://schemas.openxmlformats.org/officeDocument/2006/relationships/notesMaster" Target="/ppt/notesMasters/notesMaster1.xml" Id="R1723e4ca1e8e4463"/></Relationships>
</file>

<file path=ppt/notesSlides/_rels/notesSlide22.xml.rels><?xml version="1.0" encoding="utf-8"?><Relationships xmlns="http://schemas.openxmlformats.org/package/2006/relationships"><Relationship Type="http://schemas.openxmlformats.org/officeDocument/2006/relationships/slide" Target="/ppt/slides/slide22.xml" Id="R04517a8e40454d60"/><Relationship Type="http://schemas.openxmlformats.org/officeDocument/2006/relationships/notesMaster" Target="/ppt/notesMasters/notesMaster1.xml" Id="Rf8b439c29ccf41de"/></Relationships>
</file>

<file path=ppt/notesSlides/_rels/notesSlide23.xml.rels><?xml version="1.0" encoding="utf-8"?><Relationships xmlns="http://schemas.openxmlformats.org/package/2006/relationships"><Relationship Type="http://schemas.openxmlformats.org/officeDocument/2006/relationships/slide" Target="/ppt/slides/slide23.xml" Id="R886faef6c2e2445e"/><Relationship Type="http://schemas.openxmlformats.org/officeDocument/2006/relationships/notesMaster" Target="/ppt/notesMasters/notesMaster1.xml" Id="Re643198b01a1441a"/></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완료를 판단하려는 결과에 맞춰 어떤 확인을 요청할지 다음 장에서 고른다고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방법 선택 뒤 S27의 같은 crop 목표별 검증 요청으로 연결한다. vector·GoogleTest 반례는 S27의 선택 참고 Notes에만 둔다.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판단하려는 결과에 맞춰 어떤 확인을 요청해야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원하는 결과에 맞춰 확인 방법을 고른다</a:t>
            </a:r>
          </a:p>
          <a:p>
            <a:r>
              <a:t xml:space="preserve"/>
            </a:r>
          </a:p>
          <a:p>
            <a:r>
              <a:t xml:space="preserve">Slide ID:</a:t>
            </a:r>
          </a:p>
          <a:p>
            <a:r>
              <a:t xml:space="preserve">S26</a:t>
            </a:r>
          </a:p>
          <a:p>
            <a:r>
              <a:t xml:space="preserve"/>
            </a:r>
          </a:p>
          <a:p>
            <a:r>
              <a:t xml:space="preserve">Working Title:</a:t>
            </a:r>
          </a:p>
          <a:p>
            <a:r>
              <a:t xml:space="preserve">원하는 결과에 맞춰 확인 방법을 고른다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명세 준수·기존 테스트 범위의 동작·CLI 샘플 경로·변경 범위·실행시간은 서로 다른 확인을 필요로 한다. 확인한 입력과 범위 안에서 판단한다.</a:t>
            </a:r>
          </a:p>
          <a:p>
            <a:r>
              <a:t xml:space="preserve"/>
            </a:r>
          </a:p>
          <a:p>
            <a:r>
              <a:t xml:space="preserve">Opening Question:</a:t>
            </a:r>
          </a:p>
          <a:p>
            <a:r>
              <a:t xml:space="preserve">“원하는 결과를 무엇으로 확인해 달라고 요청할까?”</a:t>
            </a:r>
          </a:p>
          <a:p>
            <a:r>
              <a:t xml:space="preserve"/>
            </a:r>
          </a:p>
          <a:p>
            <a:r>
              <a:t xml:space="preserve">Speaker Flow:</a:t>
            </a:r>
          </a:p>
          <a:p>
            <a:r>
              <a:t xml:space="preserve">1. (0:00–0:20 / Lecture) S25는 근거를 받아 사람이 완료를 판단한다는 원칙이었다. 이제 그 판단을 위해 어떤 확인을 요청할지 고른다.</a:t>
            </a:r>
          </a:p>
          <a:p>
            <a:r>
              <a:t xml:space="preserve">2. (0:20–1:35 / Lecture) 왼쪽 질문에서 오른쪽 확인으로 읽는다. 명세 준수는 관련 동작 테스트, 기존 테스트가 다루는 동작은 전체 테스트, CLI는 해당 샘플 경로, diff는 변경 범위를 확인한다. 기존 관련3건에는 resize도 있어 crop만의3건이라 하지 않는다.</a:t>
            </a:r>
          </a:p>
          <a:p>
            <a:r>
              <a:t xml:space="preserve">3. (1:35–1:50 / Lecture) 시간 단축을 주장하려면 같은 입력·환경의 전후 측정이 필요하다. 당시 TRIAL-002에서 성능은 측정하지 않았고, 테스트 통과만으로 시간 단축을 말하지 않는다.</a:t>
            </a:r>
          </a:p>
          <a:p>
            <a:r>
              <a:t xml:space="preserve">4. (1:50–2:00 / Lecture) 같은 crop이어도 목표가 오류 수정인지 시간 단축인지에 따라 검증 요청이 어떻게 달라지는지 S27로 연결한다.</a:t>
            </a:r>
          </a:p>
          <a:p>
            <a:r>
              <a:t xml:space="preserve"/>
            </a:r>
          </a:p>
          <a:p>
            <a:r>
              <a:t xml:space="preserve">Evidence / Source:</a:t>
            </a:r>
          </a:p>
          <a:p>
            <a:r>
              <a:t xml:space="preserve">OBSERVED_PRODUCT / TEACHING_MODEL. plan/DEMO_MATRIX.md TRIAL-002의 기존 Python 검증 기록. 검사와 판단 범위의 대응은 교육 모델이다. 성능 미측정. DEC-0114.</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현재 CLI/제품 재현·Prompt 우월성·비용 절감·성능 향상을 새로 주장하지 않는다. 검사가 다룬 입력·범위 안에서 판단한다.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a:t>
            </a:r>
          </a:p>
          <a:p>
            <a:r>
              <a:t xml:space="preserve"/>
            </a:r>
          </a:p>
          <a:p>
            <a:r>
              <a:t xml:space="preserve">C++ Vision Bridge:</a:t>
            </a:r>
          </a:p>
          <a:p>
            <a:r>
              <a:t xml:space="preserve">화면에는 C++ 코드나 vector 예시를 넣지 않는다. 선택적 assertion 반례와 Release/API/ABI·측정 조건 대응은 S27 Notes에만 보존한다.</a:t>
            </a:r>
          </a:p>
          <a:p>
            <a:r>
              <a:t xml:space="preserve"/>
            </a:r>
          </a:p>
          <a:p>
            <a:r>
              <a:t xml:space="preserve">Demo Operation:</a:t>
            </a:r>
          </a:p>
          <a:p>
            <a:r>
              <a:t xml:space="preserve">실제 TRIAL-002 확인 기록을 회수하되 새로운 Demo 시간·실행·비교를 추가하지 않는다. 정적 Lecture/Reflection이며 별도 Demo 배정·Live 실행을 추가하지 않는다.</a:t>
            </a:r>
          </a:p>
          <a:p>
            <a:r>
              <a:t xml:space="preserve"/>
            </a:r>
          </a:p>
          <a:p>
            <a:r>
              <a:t xml:space="preserve">Audience Interaction:</a:t>
            </a:r>
          </a:p>
          <a:p>
            <a:r>
              <a:t xml:space="preserve">질문은 기존 ACT1 Q&amp;A로 회수한다. 별도 실습·답변 시간을 추가하지 않는다.</a:t>
            </a:r>
          </a:p>
          <a:p>
            <a:r>
              <a:t xml:space="preserve"/>
            </a:r>
          </a:p>
          <a:p>
            <a:r>
              <a:t xml:space="preserve">Transition:</a:t>
            </a:r>
          </a:p>
          <a:p>
            <a:r>
              <a:t xml:space="preserve">“같은 crop 작업이라도 목표가 달라지면 확인 요청도 달라질까요?”라고 S27의 교육용 요청 비교로 연결한다.</a:t>
            </a:r>
          </a:p>
          <a:p>
            <a:r>
              <a:t xml:space="preserve"/>
            </a:r>
          </a:p>
          <a:p>
            <a:r>
              <a:t xml:space="preserve">Time Management:</a:t>
            </a:r>
          </a:p>
          <a:p>
            <a:r>
              <a:t xml:space="preserve">Lecture2분. 다섯 확인을 읽되 테스트 문법·crop 수치 예시를 다시 강의하지 않는다.</a:t>
            </a:r>
          </a:p>
          <a:p>
            <a:r>
              <a:t xml:space="preserve"/>
            </a:r>
          </a:p>
          <a:p>
            <a:r>
              <a:t xml:space="preserve">Fallback:</a:t>
            </a:r>
          </a:p>
          <a:p>
            <a:r>
              <a:t xml:space="preserve">production/ACT_1.pptx S26 또는 production/preview/act1/S26.png의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목표가 달라지면 검증 요청도 달라진다</a:t>
            </a:r>
          </a:p>
          <a:p>
            <a:r>
              <a:t xml:space="preserve"/>
            </a:r>
          </a:p>
          <a:p>
            <a:r>
              <a:t xml:space="preserve">Slide ID:</a:t>
            </a:r>
          </a:p>
          <a:p>
            <a:r>
              <a:t xml:space="preserve">S27</a:t>
            </a:r>
          </a:p>
          <a:p>
            <a:r>
              <a:t xml:space="preserve"/>
            </a:r>
          </a:p>
          <a:p>
            <a:r>
              <a:t xml:space="preserve">Working Title:</a:t>
            </a:r>
          </a:p>
          <a:p>
            <a:r>
              <a:t xml:space="preserve">목표가 달라지면 검증 요청도 달라진다</a:t>
            </a:r>
          </a:p>
          <a:p>
            <a:r>
              <a:t xml:space="preserve"/>
            </a:r>
          </a:p>
          <a:p>
            <a:r>
              <a:t xml:space="preserve">ACT / Section:</a:t>
            </a:r>
          </a:p>
          <a:p>
            <a:r>
              <a:t xml:space="preserve">ACT 1 / 1E + 1F</a:t>
            </a:r>
          </a:p>
          <a:p>
            <a:r>
              <a:t xml:space="preserve"/>
            </a:r>
          </a:p>
          <a:p>
            <a:r>
              <a:t xml:space="preserve">Allocated Time:</a:t>
            </a:r>
          </a:p>
          <a:p>
            <a:r>
              <a:t xml:space="preserve">3 minutes</a:t>
            </a:r>
          </a:p>
          <a:p>
            <a:r>
              <a:t xml:space="preserve"/>
            </a:r>
          </a:p>
          <a:p>
            <a:r>
              <a:t xml:space="preserve">Mode Split:</a:t>
            </a:r>
          </a:p>
          <a:p>
            <a:r>
              <a:t xml:space="preserve">Lecture 2 minutes + Reflection 1 minute</a:t>
            </a:r>
          </a:p>
          <a:p>
            <a:r>
              <a:t xml:space="preserve"/>
            </a:r>
          </a:p>
          <a:p>
            <a:r>
              <a:t xml:space="preserve">Primary Message:</a:t>
            </a:r>
          </a:p>
          <a:p>
            <a:r>
              <a:t xml:space="preserve">오류 수정은 명세와 관련·전체 테스트, CLI 샘플과 변경 범위를 확인한다. 시간 단축은 기존 동작 확인에 같은 입력·환경의 변경 전후 시간 측정을 더 요청한다. 결과와 미확인 사항도 받는다.</a:t>
            </a:r>
          </a:p>
          <a:p>
            <a:r>
              <a:t xml:space="preserve"/>
            </a:r>
          </a:p>
          <a:p>
            <a:r>
              <a:t xml:space="preserve">Opening Question:</a:t>
            </a:r>
          </a:p>
          <a:p>
            <a:r>
              <a:t xml:space="preserve">“오류 수정과 시간 단축에서 무엇을 확인·보고해 달라고 요청할까?”</a:t>
            </a:r>
          </a:p>
          <a:p>
            <a:r>
              <a:t xml:space="preserve"/>
            </a:r>
          </a:p>
          <a:p>
            <a:r>
              <a:t xml:space="preserve">Speaker Flow:</a:t>
            </a:r>
          </a:p>
          <a:p>
            <a:r>
              <a:t xml:space="preserve">1. (0:00–0:20 / Lecture) 두 문장은 검증 부분의 교육용 작성 예시이며 실제 Trial 원문이 아님을 분명히 한다. 같은 crop의 두 목표를 읽는다.</a:t>
            </a:r>
          </a:p>
          <a:p>
            <a:r>
              <a:t xml:space="preserve">2. (0:20–1:05 / Lecture) 왼쪽은 경계 오류 수정이다. 저장소의 기존 crop 명세를 참조하고 관련·전체 테스트, CLI 샘플, 최종 diff와 결과·미확인 보고를 요청한다. 명세의 기대 수치나 assertion을 다시 강의하지 않는다.</a:t>
            </a:r>
          </a:p>
          <a:p>
            <a:r>
              <a:t xml:space="preserve">3. (1:05–1:45 / Lecture) 오른쪽은 실행시간 단축을 맡기는 가정이다. 기존 동작을 확인하면서 같은 입력·환경의 변경 전후 시간을 측정하고 조건·결과·미확인을 보고하도록 요청한다. 측정하지 않은 결과를 성과로 말하지 않는다.</a:t>
            </a:r>
          </a:p>
          <a:p>
            <a:r>
              <a:t xml:space="preserve">4. (1:45–2:00 / Lecture) 차이는 원하는 변화에 맞는 근거를 요청한다는 점이다. 모든 작업에 모든 검사를 넣거나 명세의 모든 값을 복사하도록 가르치지 않는다.</a:t>
            </a:r>
          </a:p>
          <a:p>
            <a:r>
              <a:t xml:space="preserve">5. (2:00–3:00 / Reflection) 다음에 맡길 작업 하나와 완료를 판단할 근거 하나를 조용히 떠올리게 한다. 작성·발표·실습을 요구하지 않는다.3분에 S28 문장 도구로 이동한다.</a:t>
            </a:r>
          </a:p>
          <a:p>
            <a:r>
              <a:t xml:space="preserve"/>
            </a:r>
          </a:p>
          <a:p>
            <a:r>
              <a:t xml:space="preserve">Evidence / Source:</a:t>
            </a:r>
          </a:p>
          <a:p>
            <a:r>
              <a:t xml:space="preserve">TEACHING_MODEL. DEC-0114의 두 교육용 검증 요청이다. 실제 S21 원문 발췌·S22 행동·S23 수정·S24 검증 기록과 분리하며 새 실행·측정이 없다.</a:t>
            </a:r>
          </a:p>
          <a:p>
            <a:r>
              <a:t xml:space="preserve"/>
            </a:r>
          </a:p>
          <a:p>
            <a:r>
              <a:t xml:space="preserve">Claim Boundary:</a:t>
            </a:r>
          </a:p>
          <a:p>
            <a:r>
              <a:t xml:space="preserve">TEACHING MODEL — 두 요청은 검증 부분의 교육용 작성 예시다. 실제 TRIAL-002 요청의 인용·새 실행·측정 결과·Prompt 우월성·성능 개선 성과가 아니다. 당시 crop Trial의 성능은 미측정이다. 현재 CLI/제품 재현·Prompt 우월성·비용 절감·성능 향상을 새로 주장하지 않는다. 검사가 다룬 입력·범위 안에서 판단한다.</a:t>
            </a:r>
          </a:p>
          <a:p>
            <a:r>
              <a:t xml:space="preserve"/>
            </a:r>
          </a:p>
          <a:p>
            <a:r>
              <a:t xml:space="preserve">Beginner Explanation:</a:t>
            </a:r>
          </a:p>
          <a:p>
            <a:r>
              <a:t xml:space="preserve">원하는 변화에 맞춰 무엇을 확인하고 보고할지 요청 문장으로 쓸 수 있다.</a:t>
            </a:r>
          </a:p>
          <a:p>
            <a:r>
              <a:t xml:space="preserve"/>
            </a:r>
          </a:p>
          <a:p>
            <a:r>
              <a:t xml:space="preserve">Advanced Insight:</a:t>
            </a:r>
          </a:p>
          <a:p>
            <a:r>
              <a:t xml:space="preserve">동작 검증과 성능 검증의 근거 범위를 구분한다. 이미 저장소에 있는 명세를 참조하며 모든 기대값을 매번 복사하도록 요구하지 않는다.</a:t>
            </a:r>
          </a:p>
          <a:p>
            <a:r>
              <a:t xml:space="preserve"/>
            </a:r>
          </a:p>
          <a:p>
            <a:r>
              <a:t xml:space="preserve">C++ Vision Bridge:</a:t>
            </a:r>
          </a:p>
          <a:p>
            <a:r>
              <a:t xml:space="preserve">선택 참고 — ACT0에서 본 명세를 다시 설명하는 기본 발표 내용은 아니다. 기존 DEC-0041/DEC-0112의 C++ 교육용 반례를 보존한다.</a:t>
            </a:r>
          </a:p>
          <a:p>
            <a:r>
              <a:t xml:space="preserve">입력 {1,2,3,4}의 반열림 crop [1,3)에서 기대는 {2,3}, 명세를 어긴 예는 {2,3,4}다. 두 vector는 모두 비어 있지 않아 EXPECT_FALSE(actual.empty());만으로는 이 차이를 구별하지 못한다.</a:t>
            </a:r>
          </a:p>
          <a:p>
            <a:r>
              <a:t xml:space="preserve">```cpp</a:t>
            </a:r>
          </a:p>
          <a:p>
            <a:r>
              <a:t xml:space="preserve">std::vector&lt;int&gt; expected{2, 3};</a:t>
            </a:r>
          </a:p>
          <a:p>
            <a:r>
              <a:t xml:space="preserve">EXPECT_EQ(actual, expected);</a:t>
            </a:r>
          </a:p>
          <a:p>
            <a:r>
              <a:t xml:space="preserve">```</a:t>
            </a:r>
          </a:p>
          <a:p>
            <a:r>
              <a:t xml:space="preserve">vector 동등 비교는 길이·순서별 값을 비교한다. EXPECT_EQ(actual.size(), 2u);는 폭 조건을 따로 드러내지만 위 동등 비교와 중복된다. 하나의 입력이 모든 입력의 정확성을 입증하지 않는다. 이 반례·코드·가상 요청은 실제 Python TRIAL-002 assertion, 잘못된 결과의 PASS 기록, 새 컴파일·GoogleTest 실행이 아니다.</a:t>
            </a:r>
          </a:p>
          <a:p>
            <a:r>
              <a:t xml:space="preserve">기술 의미 출처: [GoogleTest Primer](https://google.github.io/googletest/primer.html), [Microsoft vector operators](https://learn.microsoft.com/en-us/cpp/standard-library/vector-operators?view=msvc-170). 기존 확인2026-10-27의 의미만 보존한다. Release/API/ABI 등 프로젝트별 조건은 해당 프로젝트에서 정하고 확인한다.</a:t>
            </a:r>
          </a:p>
          <a:p>
            <a:r>
              <a:t xml:space="preserve"/>
            </a:r>
          </a:p>
          <a:p>
            <a:r>
              <a:t xml:space="preserve">Demo Operation:</a:t>
            </a:r>
          </a:p>
          <a:p>
            <a:r>
              <a:t xml:space="preserve">기존 crop을 유지한 두 목표의 교육용 요청 비교다. S21–S24 실제 요청·행동·수정·검증 기록과 구분한다. 새 Trial·Demo 시간·benchmark 결과를 추가하지 않는다. 정적 Lecture/Reflection이며 별도 Demo 배정·Live 실행을 추가하지 않는다.</a:t>
            </a:r>
          </a:p>
          <a:p>
            <a:r>
              <a:t xml:space="preserve"/>
            </a:r>
          </a:p>
          <a:p>
            <a:r>
              <a:t xml:space="preserve">Audience Interaction:</a:t>
            </a:r>
          </a:p>
          <a:p>
            <a:r>
              <a:t xml:space="preserve">마지막1분은 자신이 맡길 작업과 완료를 판단할 근거 하나를 조용히 떠올린다. 작성·공유·실습을 요구하지 않는다.</a:t>
            </a:r>
          </a:p>
          <a:p>
            <a:r>
              <a:t xml:space="preserve"/>
            </a:r>
          </a:p>
          <a:p>
            <a:r>
              <a:t xml:space="preserve">Transition:</a:t>
            </a:r>
          </a:p>
          <a:p>
            <a:r>
              <a:t xml:space="preserve">“요청에 담을 확인 기준을 정했습니다. 이제 이를 명확하게 전달하는 문장 도구를 보겠습니다.”라고 S28의 실무 적용 팁으로 연결한다.</a:t>
            </a:r>
          </a:p>
          <a:p>
            <a:r>
              <a:t xml:space="preserve"/>
            </a:r>
          </a:p>
          <a:p>
            <a:r>
              <a:t xml:space="preserve">Time Management:</a:t>
            </a:r>
          </a:p>
          <a:p>
            <a:r>
              <a:t xml:space="preserve">Lecture2분+Reflection1분=3분. S26/S27 합계5분=Lecture4+Reflection1이다.2분에 설명을 마치고 조용히 생각할1분을 보장한다.3분에 S28로 이동한다. 실제 시간 적합성은 리허설 전까지 UNVERIFIED.</a:t>
            </a:r>
          </a:p>
          <a:p>
            <a:r>
              <a:t xml:space="preserve"/>
            </a:r>
          </a:p>
          <a:p>
            <a:r>
              <a:t xml:space="preserve">Fallback:</a:t>
            </a:r>
          </a:p>
          <a:p>
            <a:r>
              <a:t xml:space="preserve">production/ACT_1.pptx S27 또는 production/preview/act1/S27.png의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a:t>
            </a:r>
          </a:p>
          <a:p>
            <a:r>
              <a:t xml:space="preserve">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a:t>
            </a:r>
          </a:p>
          <a:p>
            <a:r>
              <a:t xml:space="preserve">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a:t>
            </a:r>
          </a:p>
          <a:p>
            <a:r>
              <a:t xml:space="preserve">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a:t>
            </a:r>
          </a:p>
          <a:p>
            <a:r>
              <a:t xml:space="preserve">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a:t>
            </a:r>
          </a:p>
          <a:p>
            <a:r>
              <a:t xml:space="preserve">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a:t>
            </a:r>
          </a:p>
          <a:p>
            <a:r>
              <a:t xml:space="preserve">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a:t>
            </a:r>
          </a:p>
          <a:p>
            <a:r>
              <a:t xml:space="preserve">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a:t>
            </a:r>
          </a:p>
          <a:p>
            <a:r>
              <a:t xml:space="preserve">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S36로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S36로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다음 작업에도 이 내용을 다시 적어야 할까?</a:t>
            </a:r>
          </a:p>
          <a:p>
            <a:r>
              <a:t xml:space="preserve"/>
            </a:r>
          </a:p>
          <a:p>
            <a:r>
              <a:t xml:space="preserve">Slide ID:</a:t>
            </a:r>
          </a:p>
          <a:p>
            <a:r>
              <a:t xml:space="preserve">S36</a:t>
            </a:r>
          </a:p>
          <a:p>
            <a:r>
              <a:t xml:space="preserve"/>
            </a:r>
          </a:p>
          <a:p>
            <a:r>
              <a:t xml:space="preserve">Working Title:</a:t>
            </a:r>
          </a:p>
          <a:p>
            <a:r>
              <a:t xml:space="preserve">다음 작업에도 이 내용을 다시 적어야 할까?</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a:t>
            </a:r>
          </a:p>
          <a:p>
            <a:r>
              <a:t xml:space="preserve">잘 작성한 요청에도 이번 목표와 여러 작업에서 다시 참고할 기준이 함께 들어갈 수 있다. 먼저 반복할 내용을 생각하고 다음 장에서 범위를 구분한다.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S35에서 제안의 어긋난 부분을 고치고 유지할 조건을 적었다는 점을 회수한다. 화면의 짧은 요청은 같은 crop 사례를 되돌아보는 교육용 예시이며 실제 TRIAL-002 발췌가 아님을 밝힌다. 세 문장의 범주나 정답을 먼저 설명하지 않는다.</a:t>
            </a:r>
          </a:p>
          <a:p>
            <a:r>
              <a:t xml:space="preserve">2. (0:15–1:00 / Reflection) “작업이 바뀌어도 다시 말하게 될 문장은?”을 보고 조용히 생각할 시간을 둔다. 빈 Bucket이나 분류표 대신 요청 문장을 그대로 관찰하게 한다. 작성·공유·응답을 요구하지 않는다.</a:t>
            </a:r>
          </a:p>
          <a:p>
            <a:r>
              <a:t xml:space="preserve">3. (1:00–3:00 / Q&amp;A) 자발적인 질문을 받는다. 질문이 없으면 “이번 목표와 다음 작업에도 지킬 조건이 같은 수명일까요?”를 한 번 짚고 침묵을 허용한다. 이 시간에 AGENTS.md나 공통 지침의 정답을 먼저 강의하지 않는다.</a:t>
            </a:r>
          </a:p>
          <a:p>
            <a:r>
              <a:t xml:space="preserve">4. (3:00) 같은 세 문장을 유지한 S37로 이동한다.</a:t>
            </a:r>
          </a:p>
          <a:p>
            <a:r>
              <a:t xml:space="preserve"/>
            </a:r>
          </a:p>
          <a:p>
            <a:r>
              <a:t xml:space="preserve">Evidence / Source:</a:t>
            </a:r>
          </a:p>
          <a:p>
            <a:r>
              <a:t xml:space="preserve">TEACHING_MODEL. BEAT-007 → BEAT-008, CLM-0029, CLM-0027, CLM-0003, CLM-0005, DEC-0042, DEC-0113. S35의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요청을 잘 작성해도 이번 목표와 여러 작업에서 다시 참고할 조건이 함께 들어갈 수 있다. 같은 짧은 요청에서 다음에도 다시 말할 문장을 생각한다.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 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“방금 본 같은 요청에서 이번 목표와 계속 쓰기로 한 기준을 나눠 보겠습니다.”라고 S37로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S36 또는 production/preview/act1/S36.png의 정적 요청을 사용한다. 질문이 없으면 요청의 세 문장을 읽어 보게 하고3분에 같은 문장을 분리한 S37로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작업마다 바뀌는 목표, 계속 쓰는 기준</a:t>
            </a:r>
          </a:p>
          <a:p>
            <a:r>
              <a:t xml:space="preserve"/>
            </a:r>
          </a:p>
          <a:p>
            <a:r>
              <a:t xml:space="preserve">Slide ID:</a:t>
            </a:r>
          </a:p>
          <a:p>
            <a:r>
              <a:t xml:space="preserve">S37</a:t>
            </a:r>
          </a:p>
          <a:p>
            <a:r>
              <a:t xml:space="preserve"/>
            </a:r>
          </a:p>
          <a:p>
            <a:r>
              <a:t xml:space="preserve">Working Title:</a:t>
            </a:r>
          </a:p>
          <a:p>
            <a:r>
              <a:t xml:space="preserve">작업마다 바뀌는 목표, 계속 쓰는 기준</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a:t>
            </a:r>
          </a:p>
          <a:p>
            <a:r>
              <a:t xml:space="preserve">crop 수정 목표는 작업마다 달라지고, 프로젝트에서 합의해 계속 적용할 API·테스트 기준은 여러 작업에서 다시 참고할 수 있다. 적용 범위를 먼저 확인하고 저장 위치는 다음 ACT에서 다룬다.</a:t>
            </a:r>
          </a:p>
          <a:p>
            <a:r>
              <a:t xml:space="preserve"/>
            </a:r>
          </a:p>
          <a:p>
            <a:r>
              <a:t xml:space="preserve">Opening Question:</a:t>
            </a:r>
          </a:p>
          <a:p>
            <a:r>
              <a:t xml:space="preserve">“이 공통 기준을 어디에 두고 다시 참고할까요?”</a:t>
            </a:r>
          </a:p>
          <a:p>
            <a:r>
              <a:t xml:space="preserve"/>
            </a:r>
          </a:p>
          <a:p>
            <a:r>
              <a:t xml:space="preserve">**Speaker Flow:**</a:t>
            </a:r>
          </a:p>
          <a:p>
            <a:r>
              <a:t xml:space="preserve">1. (0:00–1:00 / Reflection) S36과 문장이 하나도 바뀌지 않았음을 확인하게 한다. 각자 업무에서 어떤 조건을 여러 작업에 계속 적용하기로 합의했는지 조용히 생각한다. 앞 장의 문장 찾기를 반복 시험하거나 공개 분류를 요구하지 않는다.</a:t>
            </a:r>
          </a:p>
          <a:p>
            <a:r>
              <a:t xml:space="preserve">2. (1:00–2:00 / Transition) 위 한 줄의 crop 수정은 이번 작업 목표이고 작업이 달라지면 바뀐다는 점을 가리킨다. 새로운 README Task나 성능 사례를 여기서 추가하지 않는다.</a:t>
            </a:r>
          </a:p>
          <a:p>
            <a:r>
              <a:t xml:space="preserve">3. (2:00–3:00 / Transition) 아래 두 줄의 공개 API 유지·정해진 테스트 명령은 이 프로젝트에서 계속 적용하기로 합의한 경우 여러 작업에서 참고할 기준이다. 반복된다고 무조건 전역 지침이 되는 것은 아니다. 어떤 테스트를 언제 돌릴지는 프로젝트의 실제 기준과 작업 조건을 확인한다. 여러 단계의 작업 절차를 여기서 Skill/Workflow로 분류하지 않는다.</a:t>
            </a:r>
          </a:p>
          <a:p>
            <a:r>
              <a:t xml:space="preserve">4. (3:00–4:00 / Transition) 요청에는 목표·조건·완료 근거를 담는다는 ACT1 원칙을 유지한다. 공통 기준을 매번 복사하는 문제와 어디에 두고 참고할지라는 질문만 남긴다. AGENTS.md·자동 수집·효과를 답으로 제시하지 않는다. 세 가지 다른 Task에 같은 설명이 반복되는 장면은 ACT2 S39에서 확대한다.</a:t>
            </a:r>
          </a:p>
          <a:p>
            <a:r>
              <a:t xml:space="preserve">5. (4:00–6:00 / Q&amp;A) 자발적인 질문을 받는다. 질문이 없으면 “다음 요청에도 같은 기준이 필요하면, 어디에 두고 다시 참고할까요?”를 설명용 질문으로 회수하고6분에 S38로 넘긴다. S38 제목의 Transition1분과 시간을 중복 계산하지 않는다.</a:t>
            </a:r>
          </a:p>
          <a:p>
            <a:r>
              <a:t xml:space="preserve"/>
            </a:r>
          </a:p>
          <a:p>
            <a:r>
              <a:t xml:space="preserve">Evidence / Source:</a:t>
            </a:r>
          </a:p>
          <a:p>
            <a:r>
              <a:t xml:space="preserve">TEACHING_MODEL / CONCEPTUAL. BEAT-007, BEAT-008, TRANS-003, CLM-0029, CLM-0027, CLM-0003, CLM-0005, DEC-0042, DEC-0113. S36과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위의 목표는 작업이 바뀌면 달라지고 아래의 합의된 기준은 여러 작업에서 다시 참고할 수 있다. 같은 요청 문장에서 역할을 나누므로 새 예시를 다시 해석할 필요가 없다.</a:t>
            </a:r>
          </a:p>
          <a:p>
            <a:r>
              <a:t xml:space="preserve"/>
            </a:r>
          </a:p>
          <a:p>
            <a:r>
              <a:t xml:space="preserve">Advanced Insight:</a:t>
            </a:r>
          </a:p>
          <a:p>
            <a:r>
              <a:t xml:space="preserve">Scope and lifetime require project agreement. Check whether an API-preservation condition or test entry applies to future tasks; do not promote every repeated sentence into universal policy. 기존 화면의 의존성 예시는 Notes의 선택 참고로 보존한다. 실제 STATE-01은 작업상 정당한 근거가 있을 때 추가할 수 있다는 조건이며 무조건 금지로 바꾸지 않는다. README는 다음 ACT의 작업 예로 남기고 여기서 새 사례를 추가하지 않는다.</a:t>
            </a:r>
          </a:p>
          <a:p>
            <a:r>
              <a:t xml:space="preserve"/>
            </a:r>
          </a:p>
          <a:p>
            <a:r>
              <a:t xml:space="preserve">C++ Vision Bridge: N/A.</a:t>
            </a:r>
          </a:p>
          <a:p>
            <a:r>
              <a:t xml:space="preserve"/>
            </a:r>
          </a:p>
          <a:p>
            <a:r>
              <a:t xml:space="preserve">Demo Operation:</a:t>
            </a:r>
          </a:p>
          <a:p>
            <a:r>
              <a:t xml:space="preserve">N/A — S36의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Reflection1분은 어떤 기준을 공통으로 합의할지 생각한다. Transition3분 뒤 자발적 Q&amp;A2분이다. 정답 분류·업무 공개·실습을 요구하지 않는다. 질문이 없으면 마지막 위치 질문을 회수하고6분에 다음 ACT로 넘어간다.</a:t>
            </a:r>
          </a:p>
          <a:p>
            <a:r>
              <a:t xml:space="preserve"/>
            </a:r>
          </a:p>
          <a:p>
            <a:r>
              <a:t xml:space="preserve">**Transition:**</a:t>
            </a:r>
          </a:p>
          <a:p>
            <a:r>
              <a:t xml:space="preserve">“공통 기준이 다음 요청에도 필요하다면 어디에 두고 다시 참고할까요? 다음 구간에서는 서로 다른 작업에도 같은 설명이 반복되는 장면부터 보겠습니다.”라고 ACT2 제목 S38를 거쳐 S39으로 이어간다.</a:t>
            </a:r>
          </a:p>
          <a:p>
            <a:r>
              <a:t xml:space="preserve"/>
            </a:r>
          </a:p>
          <a:p>
            <a:r>
              <a:t xml:space="preserve">Time Management:</a:t>
            </a:r>
          </a:p>
          <a:p>
            <a:r>
              <a:t xml:space="preserve">0–1분 Reflection,1–4분 Transition,4–6분 Q&amp;A를 유지한다. S38 ACT2 제목의1분은 별도다. 두 장 합계9분과 Reflection2/Transition3/Q&amp;A4를 보존한다. 실측 시간 적합성은 UNVERIFIED다.</a:t>
            </a:r>
          </a:p>
          <a:p>
            <a:r>
              <a:t xml:space="preserve"/>
            </a:r>
          </a:p>
          <a:p>
            <a:r>
              <a:t xml:space="preserve">Fallback:</a:t>
            </a:r>
          </a:p>
          <a:p>
            <a:r>
              <a:t xml:space="preserve">production/ACT_1.pptx S37 또는 production/preview/act1/S37.png의 정적 분리 도식을 사용한다. 프로젝트 합의·조건 범위를 밝히고 S38 제목→S39의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3.xml" Id="R57c6aa2f813b46f1"/></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a21134ea430d41da"/><Relationship Type="http://schemas.openxmlformats.org/officeDocument/2006/relationships/notesSlide" Target="/ppt/notesSlides/notesSlide14.xml" Id="R272b0262969045f9"/></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61466081ecd5410f"/><Relationship Type="http://schemas.openxmlformats.org/officeDocument/2006/relationships/notesSlide" Target="/ppt/notesSlides/notesSlide15.xml" Id="R17eb6248e84c4fd6"/></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71f8b4b52e74924"/><Relationship Type="http://schemas.openxmlformats.org/officeDocument/2006/relationships/notesSlide" Target="/ppt/notesSlides/notesSlide16.xml" Id="R3da40e35a74f4794"/></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7c079c8d7da74671"/><Relationship Type="http://schemas.openxmlformats.org/officeDocument/2006/relationships/notesSlide" Target="/ppt/notesSlides/notesSlide17.xml" Id="R1cfe567876e843ab"/></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a01535f7b056466d"/><Relationship Type="http://schemas.openxmlformats.org/officeDocument/2006/relationships/notesSlide" Target="/ppt/notesSlides/notesSlide18.xml" Id="R6863f883f4234f03"/></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a5fa52cf39504c68"/><Relationship Type="http://schemas.openxmlformats.org/officeDocument/2006/relationships/notesSlide" Target="/ppt/notesSlides/notesSlide19.xml" Id="Rc78b322686094c59"/></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8b3e6f63960b44d2"/><Relationship Type="http://schemas.openxmlformats.org/officeDocument/2006/relationships/notesSlide" Target="/ppt/notesSlides/notesSlide20.xml" Id="R5a2048b1583d4b81"/></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ac9747284bb74b7f"/><Relationship Type="http://schemas.openxmlformats.org/officeDocument/2006/relationships/notesSlide" Target="/ppt/notesSlides/notesSlide21.xml" Id="Ra9c81e7cbba246e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c58ae7ec3f984649"/><Relationship Type="http://schemas.openxmlformats.org/officeDocument/2006/relationships/notesSlide" Target="/ppt/notesSlides/notesSlide22.xml" Id="Rbb398f5d55c045c1"/></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44984def97b84757"/><Relationship Type="http://schemas.openxmlformats.org/officeDocument/2006/relationships/notesSlide" Target="/ppt/notesSlides/notesSlide23.xml" Id="R07098526ace44748"/></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D499A798-D33A-414A-995A-85A4E31D7C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0688F738-6CB5-452C-81E8-61D23E0E48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원하는 결과에 맞춰 확인 방법을 고른다">
            <a:extLst xmlns:a="http://schemas.openxmlformats.org/drawingml/2006/main">
              <a:ext uri="{FF2B5EF4-FFF2-40B4-BE49-F238E27FC236}">
                <a16:creationId xmlns:a16="http://schemas.microsoft.com/office/drawing/2014/main" id="{03019E4F-5D52-45E0-8177-BF597C587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결과에 맞춰 확인 방법을 고른다</a:t>
            </a:r>
          </a:p>
        </p:txBody>
      </p:sp>
      <p:sp>
        <p:nvSpPr>
          <p:cNvPr id="4" name="">
            <a:extLst xmlns:a="http://schemas.openxmlformats.org/drawingml/2006/main">
              <a:ext uri="{FF2B5EF4-FFF2-40B4-BE49-F238E27FC236}">
                <a16:creationId xmlns:a16="http://schemas.microsoft.com/office/drawing/2014/main" id="{69A07154-B8E6-4FB8-AB86-6A5C026F7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5DC81845-37D1-4ADB-9161-88A24278BF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4C0CB576-34E3-4459-9901-C1D53387F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판단하고 싶은 것">
            <a:extLst xmlns:a="http://schemas.openxmlformats.org/drawingml/2006/main">
              <a:ext uri="{FF2B5EF4-FFF2-40B4-BE49-F238E27FC236}">
                <a16:creationId xmlns:a16="http://schemas.microsoft.com/office/drawing/2014/main" id="{9CFB66B8-D3AB-496E-82E2-B5202248ADEA}"/>
              </a:ext>
            </a:extLst>
          </p:cNvPr>
          <p:cNvSpPr>
            <a:spLocks xmlns:a="http://schemas.openxmlformats.org/drawingml/2006/main" noGrp="1"/>
          </p:cNvSpPr>
          <p:nvPr/>
        </p:nvSpPr>
        <p:spPr>
          <a:xfrm xmlns:a="http://schemas.openxmlformats.org/drawingml/2006/main">
            <a:off x="762000" y="1866900"/>
            <a:ext cx="609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판단하고 싶은 것</a:t>
            </a:r>
          </a:p>
        </p:txBody>
      </p:sp>
      <p:sp>
        <p:nvSpPr>
          <p:cNvPr id="8" name="요청할 확인">
            <a:extLst xmlns:a="http://schemas.openxmlformats.org/drawingml/2006/main">
              <a:ext uri="{FF2B5EF4-FFF2-40B4-BE49-F238E27FC236}">
                <a16:creationId xmlns:a16="http://schemas.microsoft.com/office/drawing/2014/main" id="{0C07EA6A-8AF7-49C8-8407-CB8F72D4BAC4}"/>
              </a:ext>
            </a:extLst>
          </p:cNvPr>
          <p:cNvSpPr>
            <a:spLocks xmlns:a="http://schemas.openxmlformats.org/drawingml/2006/main" noGrp="1"/>
          </p:cNvSpPr>
          <p:nvPr/>
        </p:nvSpPr>
        <p:spPr>
          <a:xfrm xmlns:a="http://schemas.openxmlformats.org/drawingml/2006/main">
            <a:off x="7162800" y="1866900"/>
            <a:ext cx="4267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9" name="">
            <a:extLst xmlns:a="http://schemas.openxmlformats.org/drawingml/2006/main">
              <a:ext uri="{FF2B5EF4-FFF2-40B4-BE49-F238E27FC236}">
                <a16:creationId xmlns:a16="http://schemas.microsoft.com/office/drawing/2014/main" id="{BF128DF1-081A-49B2-A3D1-71C12EF8688B}"/>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이 명세대로 동작하는가?">
            <a:extLst xmlns:a="http://schemas.openxmlformats.org/drawingml/2006/main">
              <a:ext uri="{FF2B5EF4-FFF2-40B4-BE49-F238E27FC236}">
                <a16:creationId xmlns:a16="http://schemas.microsoft.com/office/drawing/2014/main" id="{7DB93B99-5A7D-4807-B5A7-12714F98E198}"/>
              </a:ext>
            </a:extLst>
          </p:cNvPr>
          <p:cNvSpPr>
            <a:spLocks xmlns:a="http://schemas.openxmlformats.org/drawingml/2006/main" noGrp="1"/>
          </p:cNvSpPr>
          <p:nvPr/>
        </p:nvSpPr>
        <p:spPr>
          <a:xfrm xmlns:a="http://schemas.openxmlformats.org/drawingml/2006/main">
            <a:off x="762000" y="24479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crop이 명세대로 동작하는가?</a:t>
            </a:r>
          </a:p>
        </p:txBody>
      </p:sp>
      <p:sp>
        <p:nvSpPr>
          <p:cNvPr id="11" name="관련 동작 테스트">
            <a:extLst xmlns:a="http://schemas.openxmlformats.org/drawingml/2006/main">
              <a:ext uri="{FF2B5EF4-FFF2-40B4-BE49-F238E27FC236}">
                <a16:creationId xmlns:a16="http://schemas.microsoft.com/office/drawing/2014/main" id="{3756C1CA-66CB-4A7C-B033-105F5694275E}"/>
              </a:ext>
            </a:extLst>
          </p:cNvPr>
          <p:cNvSpPr>
            <a:spLocks xmlns:a="http://schemas.openxmlformats.org/drawingml/2006/main" noGrp="1"/>
          </p:cNvSpPr>
          <p:nvPr/>
        </p:nvSpPr>
        <p:spPr>
          <a:xfrm xmlns:a="http://schemas.openxmlformats.org/drawingml/2006/main">
            <a:off x="7162800" y="24479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동작 테스트</a:t>
            </a:r>
          </a:p>
        </p:txBody>
      </p:sp>
      <p:sp>
        <p:nvSpPr>
          <p:cNvPr id="12" name="">
            <a:extLst xmlns:a="http://schemas.openxmlformats.org/drawingml/2006/main">
              <a:ext uri="{FF2B5EF4-FFF2-40B4-BE49-F238E27FC236}">
                <a16:creationId xmlns:a16="http://schemas.microsoft.com/office/drawing/2014/main" id="{16618176-AC19-4FC3-A973-4FA36EDA9DFF}"/>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기존 테스트가 다루던 동작도 유지되는가?">
            <a:extLst xmlns:a="http://schemas.openxmlformats.org/drawingml/2006/main">
              <a:ext uri="{FF2B5EF4-FFF2-40B4-BE49-F238E27FC236}">
                <a16:creationId xmlns:a16="http://schemas.microsoft.com/office/drawing/2014/main" id="{156F7DF7-018E-4B19-9A11-5695A02D00BC}"/>
              </a:ext>
            </a:extLst>
          </p:cNvPr>
          <p:cNvSpPr>
            <a:spLocks xmlns:a="http://schemas.openxmlformats.org/drawingml/2006/main" noGrp="1"/>
          </p:cNvSpPr>
          <p:nvPr/>
        </p:nvSpPr>
        <p:spPr>
          <a:xfrm xmlns:a="http://schemas.openxmlformats.org/drawingml/2006/main">
            <a:off x="762000" y="302895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기존 테스트가 다루던 동작도 유지되는가?</a:t>
            </a:r>
          </a:p>
        </p:txBody>
      </p:sp>
      <p:sp>
        <p:nvSpPr>
          <p:cNvPr id="14" name="프로젝트 전체 테스트">
            <a:extLst xmlns:a="http://schemas.openxmlformats.org/drawingml/2006/main">
              <a:ext uri="{FF2B5EF4-FFF2-40B4-BE49-F238E27FC236}">
                <a16:creationId xmlns:a16="http://schemas.microsoft.com/office/drawing/2014/main" id="{1F2BE043-FDCB-43BB-A0C6-D24C9C8D0639}"/>
              </a:ext>
            </a:extLst>
          </p:cNvPr>
          <p:cNvSpPr>
            <a:spLocks xmlns:a="http://schemas.openxmlformats.org/drawingml/2006/main" noGrp="1"/>
          </p:cNvSpPr>
          <p:nvPr/>
        </p:nvSpPr>
        <p:spPr>
          <a:xfrm xmlns:a="http://schemas.openxmlformats.org/drawingml/2006/main">
            <a:off x="7162800" y="302895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 전체 테스트</a:t>
            </a:r>
          </a:p>
        </p:txBody>
      </p:sp>
      <p:sp>
        <p:nvSpPr>
          <p:cNvPr id="15" name="">
            <a:extLst xmlns:a="http://schemas.openxmlformats.org/drawingml/2006/main">
              <a:ext uri="{FF2B5EF4-FFF2-40B4-BE49-F238E27FC236}">
                <a16:creationId xmlns:a16="http://schemas.microsoft.com/office/drawing/2014/main" id="{6C3D47E6-DE64-4611-8FC8-35E2375BD118}"/>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경로가 동작하는가?">
            <a:extLst xmlns:a="http://schemas.openxmlformats.org/drawingml/2006/main">
              <a:ext uri="{FF2B5EF4-FFF2-40B4-BE49-F238E27FC236}">
                <a16:creationId xmlns:a16="http://schemas.microsoft.com/office/drawing/2014/main" id="{0E6D00F5-C144-40C7-A678-D7ED24AC00F4}"/>
              </a:ext>
            </a:extLst>
          </p:cNvPr>
          <p:cNvSpPr>
            <a:spLocks xmlns:a="http://schemas.openxmlformats.org/drawingml/2006/main" noGrp="1"/>
          </p:cNvSpPr>
          <p:nvPr/>
        </p:nvSpPr>
        <p:spPr>
          <a:xfrm xmlns:a="http://schemas.openxmlformats.org/drawingml/2006/main">
            <a:off x="762000" y="360997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CLI 샘플 경로가 동작하는가?</a:t>
            </a:r>
          </a:p>
        </p:txBody>
      </p:sp>
      <p:sp>
        <p:nvSpPr>
          <p:cNvPr id="17" name="CLI 샘플 실행">
            <a:extLst xmlns:a="http://schemas.openxmlformats.org/drawingml/2006/main">
              <a:ext uri="{FF2B5EF4-FFF2-40B4-BE49-F238E27FC236}">
                <a16:creationId xmlns:a16="http://schemas.microsoft.com/office/drawing/2014/main" id="{75F8A59D-4539-470E-B7EC-737FF3E39C33}"/>
              </a:ext>
            </a:extLst>
          </p:cNvPr>
          <p:cNvSpPr>
            <a:spLocks xmlns:a="http://schemas.openxmlformats.org/drawingml/2006/main" noGrp="1"/>
          </p:cNvSpPr>
          <p:nvPr/>
        </p:nvSpPr>
        <p:spPr>
          <a:xfrm xmlns:a="http://schemas.openxmlformats.org/drawingml/2006/main">
            <a:off x="7162800" y="360997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8" name="">
            <a:extLst xmlns:a="http://schemas.openxmlformats.org/drawingml/2006/main">
              <a:ext uri="{FF2B5EF4-FFF2-40B4-BE49-F238E27FC236}">
                <a16:creationId xmlns:a16="http://schemas.microsoft.com/office/drawing/2014/main" id="{3D110382-AE8F-4A8F-A33E-81C09EDDDA7D}"/>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요청한 범위만 수정했는가?">
            <a:extLst xmlns:a="http://schemas.openxmlformats.org/drawingml/2006/main">
              <a:ext uri="{FF2B5EF4-FFF2-40B4-BE49-F238E27FC236}">
                <a16:creationId xmlns:a16="http://schemas.microsoft.com/office/drawing/2014/main" id="{E6505514-E3D8-448B-9A50-8C9FBCACB51E}"/>
              </a:ext>
            </a:extLst>
          </p:cNvPr>
          <p:cNvSpPr>
            <a:spLocks xmlns:a="http://schemas.openxmlformats.org/drawingml/2006/main" noGrp="1"/>
          </p:cNvSpPr>
          <p:nvPr/>
        </p:nvSpPr>
        <p:spPr>
          <a:xfrm xmlns:a="http://schemas.openxmlformats.org/drawingml/2006/main">
            <a:off x="762000" y="419100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요청한 범위만 수정했는가?</a:t>
            </a:r>
          </a:p>
        </p:txBody>
      </p:sp>
      <p:sp>
        <p:nvSpPr>
          <p:cNvPr id="20" name="최종 diff 검토">
            <a:extLst xmlns:a="http://schemas.openxmlformats.org/drawingml/2006/main">
              <a:ext uri="{FF2B5EF4-FFF2-40B4-BE49-F238E27FC236}">
                <a16:creationId xmlns:a16="http://schemas.microsoft.com/office/drawing/2014/main" id="{8E1AFA8C-2D44-473F-86A6-CDBAD77B7F2E}"/>
              </a:ext>
            </a:extLst>
          </p:cNvPr>
          <p:cNvSpPr>
            <a:spLocks xmlns:a="http://schemas.openxmlformats.org/drawingml/2006/main" noGrp="1"/>
          </p:cNvSpPr>
          <p:nvPr/>
        </p:nvSpPr>
        <p:spPr>
          <a:xfrm xmlns:a="http://schemas.openxmlformats.org/drawingml/2006/main">
            <a:off x="7162800" y="419100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최종 diff 검토</a:t>
            </a:r>
          </a:p>
        </p:txBody>
      </p:sp>
      <p:sp>
        <p:nvSpPr>
          <p:cNvPr id="21" name="">
            <a:extLst xmlns:a="http://schemas.openxmlformats.org/drawingml/2006/main">
              <a:ext uri="{FF2B5EF4-FFF2-40B4-BE49-F238E27FC236}">
                <a16:creationId xmlns:a16="http://schemas.microsoft.com/office/drawing/2014/main" id="{613A8935-2967-4D5D-BDD6-1E0AF8387356}"/>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실행시간이 줄었는가?">
            <a:extLst xmlns:a="http://schemas.openxmlformats.org/drawingml/2006/main">
              <a:ext uri="{FF2B5EF4-FFF2-40B4-BE49-F238E27FC236}">
                <a16:creationId xmlns:a16="http://schemas.microsoft.com/office/drawing/2014/main" id="{CC84C71F-C690-4C73-ADC3-B41CC4838273}"/>
              </a:ext>
            </a:extLst>
          </p:cNvPr>
          <p:cNvSpPr>
            <a:spLocks xmlns:a="http://schemas.openxmlformats.org/drawingml/2006/main" noGrp="1"/>
          </p:cNvSpPr>
          <p:nvPr/>
        </p:nvSpPr>
        <p:spPr>
          <a:xfrm xmlns:a="http://schemas.openxmlformats.org/drawingml/2006/main">
            <a:off x="762000" y="47720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실행시간이 줄었는가?</a:t>
            </a:r>
          </a:p>
        </p:txBody>
      </p:sp>
      <p:sp>
        <p:nvSpPr>
          <p:cNvPr id="23" name="같은 조건의 전후 측정">
            <a:extLst xmlns:a="http://schemas.openxmlformats.org/drawingml/2006/main">
              <a:ext uri="{FF2B5EF4-FFF2-40B4-BE49-F238E27FC236}">
                <a16:creationId xmlns:a16="http://schemas.microsoft.com/office/drawing/2014/main" id="{0DF5AEDB-9E8D-4A40-83C8-E693983B89EF}"/>
              </a:ext>
            </a:extLst>
          </p:cNvPr>
          <p:cNvSpPr>
            <a:spLocks xmlns:a="http://schemas.openxmlformats.org/drawingml/2006/main" noGrp="1"/>
          </p:cNvSpPr>
          <p:nvPr/>
        </p:nvSpPr>
        <p:spPr>
          <a:xfrm xmlns:a="http://schemas.openxmlformats.org/drawingml/2006/main">
            <a:off x="7162800" y="47720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같은 조건의 전후 측정</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AFCEC3D2-1F5F-45B4-8A72-EE3293D94D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876B097-C7AB-4C5A-A562-4F990B05B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목표가 달라지면 검증 요청도 달라진다">
            <a:extLst xmlns:a="http://schemas.openxmlformats.org/drawingml/2006/main">
              <a:ext uri="{FF2B5EF4-FFF2-40B4-BE49-F238E27FC236}">
                <a16:creationId xmlns:a16="http://schemas.microsoft.com/office/drawing/2014/main" id="{36522554-B5DF-4933-B0EA-CC6E617244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목표가 달라지면 검증 요청도 달라진다</a:t>
            </a:r>
          </a:p>
        </p:txBody>
      </p:sp>
      <p:sp>
        <p:nvSpPr>
          <p:cNvPr id="4" name="">
            <a:extLst xmlns:a="http://schemas.openxmlformats.org/drawingml/2006/main">
              <a:ext uri="{FF2B5EF4-FFF2-40B4-BE49-F238E27FC236}">
                <a16:creationId xmlns:a16="http://schemas.microsoft.com/office/drawing/2014/main" id="{1CF74B21-7623-4B60-A5D2-AA60DFD8B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비교 · 실제 TRIAL-002 원문이나 새 실행 결과가 아님">
            <a:extLst xmlns:a="http://schemas.openxmlformats.org/drawingml/2006/main">
              <a:ext uri="{FF2B5EF4-FFF2-40B4-BE49-F238E27FC236}">
                <a16:creationId xmlns:a16="http://schemas.microsoft.com/office/drawing/2014/main" id="{CFF12D8D-5E24-4C43-8620-A83025B033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교육용 요청 비교 · 실제 TRIAL-002 원문이나 새 실행 결과가 아님</a:t>
            </a:r>
          </a:p>
        </p:txBody>
      </p:sp>
      <p:sp>
        <p:nvSpPr>
          <p:cNvPr id="6" name="M 연계 · M5 / M6">
            <a:extLst xmlns:a="http://schemas.openxmlformats.org/drawingml/2006/main">
              <a:ext uri="{FF2B5EF4-FFF2-40B4-BE49-F238E27FC236}">
                <a16:creationId xmlns:a16="http://schemas.microsoft.com/office/drawing/2014/main" id="{B86641DB-9DCD-44E0-8D3C-FDC95C3D75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같은 crop · 검증 부분의 작성 예시">
            <a:extLst xmlns:a="http://schemas.openxmlformats.org/drawingml/2006/main">
              <a:ext uri="{FF2B5EF4-FFF2-40B4-BE49-F238E27FC236}">
                <a16:creationId xmlns:a16="http://schemas.microsoft.com/office/drawing/2014/main" id="{18A28F38-4FAF-47A9-A493-D7E9DBCE8054}"/>
              </a:ext>
            </a:extLst>
          </p:cNvPr>
          <p:cNvSpPr>
            <a:spLocks xmlns:a="http://schemas.openxmlformats.org/drawingml/2006/main" noGrp="1"/>
          </p:cNvSpPr>
          <p:nvPr/>
        </p:nvSpPr>
        <p:spPr>
          <a:xfrm xmlns:a="http://schemas.openxmlformats.org/drawingml/2006/main">
            <a:off x="609600" y="17621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같은 crop · 검증 부분의 작성 예시</a:t>
            </a:r>
          </a:p>
        </p:txBody>
      </p:sp>
      <p:sp>
        <p:nvSpPr>
          <p:cNvPr id="8" name="목표 1 · 경계 오류 수정">
            <a:extLst xmlns:a="http://schemas.openxmlformats.org/drawingml/2006/main">
              <a:ext uri="{FF2B5EF4-FFF2-40B4-BE49-F238E27FC236}">
                <a16:creationId xmlns:a16="http://schemas.microsoft.com/office/drawing/2014/main" id="{896248B0-8149-465F-9351-4E66D463015D}"/>
              </a:ext>
            </a:extLst>
          </p:cNvPr>
          <p:cNvSpPr>
            <a:spLocks xmlns:a="http://schemas.openxmlformats.org/drawingml/2006/main" noGrp="1"/>
          </p:cNvSpPr>
          <p:nvPr/>
        </p:nvSpPr>
        <p:spPr>
          <a:xfrm xmlns:a="http://schemas.openxmlformats.org/drawingml/2006/main">
            <a:off x="6096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1 · 경계 오류 수정</a:t>
            </a:r>
          </a:p>
        </p:txBody>
      </p:sp>
      <p:sp>
        <p:nvSpPr>
          <p:cNvPr id="9" name="">
            <a:extLst xmlns:a="http://schemas.openxmlformats.org/drawingml/2006/main">
              <a:ext uri="{FF2B5EF4-FFF2-40B4-BE49-F238E27FC236}">
                <a16:creationId xmlns:a16="http://schemas.microsoft.com/office/drawing/2014/main" id="{00487F51-27AA-4120-8B19-9C95CA4AE563}"/>
              </a:ext>
            </a:extLst>
          </p:cNvPr>
          <p:cNvSpPr>
            <a:spLocks xmlns:a="http://schemas.openxmlformats.org/drawingml/2006/main" noGrp="1"/>
          </p:cNvSpPr>
          <p:nvPr/>
        </p:nvSpPr>
        <p:spPr>
          <a:xfrm xmlns:a="http://schemas.openxmlformats.org/drawingml/2006/main">
            <a:off x="6096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검증 요청">
            <a:extLst xmlns:a="http://schemas.openxmlformats.org/drawingml/2006/main">
              <a:ext uri="{FF2B5EF4-FFF2-40B4-BE49-F238E27FC236}">
                <a16:creationId xmlns:a16="http://schemas.microsoft.com/office/drawing/2014/main" id="{89DC81CA-8E55-448C-BB51-17D5AD24E1E6}"/>
              </a:ext>
            </a:extLst>
          </p:cNvPr>
          <p:cNvSpPr>
            <a:spLocks xmlns:a="http://schemas.openxmlformats.org/drawingml/2006/main" noGrp="1"/>
          </p:cNvSpPr>
          <p:nvPr/>
        </p:nvSpPr>
        <p:spPr>
          <a:xfrm xmlns:a="http://schemas.openxmlformats.org/drawingml/2006/main">
            <a:off x="8191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1" name="">
            <a:extLst xmlns:a="http://schemas.openxmlformats.org/drawingml/2006/main">
              <a:ext uri="{FF2B5EF4-FFF2-40B4-BE49-F238E27FC236}">
                <a16:creationId xmlns:a16="http://schemas.microsoft.com/office/drawing/2014/main" id="{129C3F2C-ABE8-4568-BED2-BE31DBEC024B}"/>
              </a:ext>
            </a:extLst>
          </p:cNvPr>
          <p:cNvSpPr>
            <a:spLocks xmlns:a="http://schemas.openxmlformats.org/drawingml/2006/main" noGrp="1"/>
          </p:cNvSpPr>
          <p:nvPr/>
        </p:nvSpPr>
        <p:spPr>
          <a:xfrm xmlns:a="http://schemas.openxmlformats.org/drawingml/2006/main">
            <a:off x="8191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기존 crop 명세를 기준으로">
            <a:extLst xmlns:a="http://schemas.openxmlformats.org/drawingml/2006/main">
              <a:ext uri="{FF2B5EF4-FFF2-40B4-BE49-F238E27FC236}">
                <a16:creationId xmlns:a16="http://schemas.microsoft.com/office/drawing/2014/main" id="{3CA04E5A-F2BB-43E0-A896-D98D791779EA}"/>
              </a:ext>
            </a:extLst>
          </p:cNvPr>
          <p:cNvSpPr>
            <a:spLocks xmlns:a="http://schemas.openxmlformats.org/drawingml/2006/main" noGrp="1"/>
          </p:cNvSpPr>
          <p:nvPr/>
        </p:nvSpPr>
        <p:spPr>
          <a:xfrm xmlns:a="http://schemas.openxmlformats.org/drawingml/2006/main">
            <a:off x="8191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crop 명세를 기준으로</a:t>
            </a:r>
          </a:p>
        </p:txBody>
      </p:sp>
      <p:sp>
        <p:nvSpPr>
          <p:cNvPr id="13" name="관련·전체 테스트를 실행해줘.">
            <a:extLst xmlns:a="http://schemas.openxmlformats.org/drawingml/2006/main">
              <a:ext uri="{FF2B5EF4-FFF2-40B4-BE49-F238E27FC236}">
                <a16:creationId xmlns:a16="http://schemas.microsoft.com/office/drawing/2014/main" id="{E23B1B89-C58E-4345-A735-0217E1140803}"/>
              </a:ext>
            </a:extLst>
          </p:cNvPr>
          <p:cNvSpPr>
            <a:spLocks xmlns:a="http://schemas.openxmlformats.org/drawingml/2006/main" noGrp="1"/>
          </p:cNvSpPr>
          <p:nvPr/>
        </p:nvSpPr>
        <p:spPr>
          <a:xfrm xmlns:a="http://schemas.openxmlformats.org/drawingml/2006/main">
            <a:off x="8191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관련·전체 테스트를 실행해줘.</a:t>
            </a:r>
          </a:p>
        </p:txBody>
      </p:sp>
      <p:sp>
        <p:nvSpPr>
          <p:cNvPr id="14" name="CLI 샘플과 최종 diff도 확인하고,">
            <a:extLst xmlns:a="http://schemas.openxmlformats.org/drawingml/2006/main">
              <a:ext uri="{FF2B5EF4-FFF2-40B4-BE49-F238E27FC236}">
                <a16:creationId xmlns:a16="http://schemas.microsoft.com/office/drawing/2014/main" id="{C9EEA342-7016-417A-BB99-D2396F4DAEB0}"/>
              </a:ext>
            </a:extLst>
          </p:cNvPr>
          <p:cNvSpPr>
            <a:spLocks xmlns:a="http://schemas.openxmlformats.org/drawingml/2006/main" noGrp="1"/>
          </p:cNvSpPr>
          <p:nvPr/>
        </p:nvSpPr>
        <p:spPr>
          <a:xfrm xmlns:a="http://schemas.openxmlformats.org/drawingml/2006/main">
            <a:off x="8191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CLI 샘플과 최종 diff도 확인하고,</a:t>
            </a:r>
          </a:p>
        </p:txBody>
      </p:sp>
      <p:sp>
        <p:nvSpPr>
          <p:cNvPr id="15" name="검사·결과·미확인을 보고해줘.">
            <a:extLst xmlns:a="http://schemas.openxmlformats.org/drawingml/2006/main">
              <a:ext uri="{FF2B5EF4-FFF2-40B4-BE49-F238E27FC236}">
                <a16:creationId xmlns:a16="http://schemas.microsoft.com/office/drawing/2014/main" id="{1E491E6E-0717-4779-8ED9-0E726B8634CA}"/>
              </a:ext>
            </a:extLst>
          </p:cNvPr>
          <p:cNvSpPr>
            <a:spLocks xmlns:a="http://schemas.openxmlformats.org/drawingml/2006/main" noGrp="1"/>
          </p:cNvSpPr>
          <p:nvPr/>
        </p:nvSpPr>
        <p:spPr>
          <a:xfrm xmlns:a="http://schemas.openxmlformats.org/drawingml/2006/main">
            <a:off x="8191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검사·결과·미확인을 보고해줘.</a:t>
            </a:r>
          </a:p>
        </p:txBody>
      </p:sp>
      <p:sp>
        <p:nvSpPr>
          <p:cNvPr id="16" name="목표 2 · 실행시간 단축">
            <a:extLst xmlns:a="http://schemas.openxmlformats.org/drawingml/2006/main">
              <a:ext uri="{FF2B5EF4-FFF2-40B4-BE49-F238E27FC236}">
                <a16:creationId xmlns:a16="http://schemas.microsoft.com/office/drawing/2014/main" id="{1C6EFD3B-6AB0-442B-8FEA-1CF8A9EFC9E8}"/>
              </a:ext>
            </a:extLst>
          </p:cNvPr>
          <p:cNvSpPr>
            <a:spLocks xmlns:a="http://schemas.openxmlformats.org/drawingml/2006/main" noGrp="1"/>
          </p:cNvSpPr>
          <p:nvPr/>
        </p:nvSpPr>
        <p:spPr>
          <a:xfrm xmlns:a="http://schemas.openxmlformats.org/drawingml/2006/main">
            <a:off x="62865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2 · 실행시간 단축</a:t>
            </a:r>
          </a:p>
        </p:txBody>
      </p:sp>
      <p:sp>
        <p:nvSpPr>
          <p:cNvPr id="17" name="">
            <a:extLst xmlns:a="http://schemas.openxmlformats.org/drawingml/2006/main">
              <a:ext uri="{FF2B5EF4-FFF2-40B4-BE49-F238E27FC236}">
                <a16:creationId xmlns:a16="http://schemas.microsoft.com/office/drawing/2014/main" id="{E99A9B78-1BEA-4BC2-9590-C943A90855E6}"/>
              </a:ext>
            </a:extLst>
          </p:cNvPr>
          <p:cNvSpPr>
            <a:spLocks xmlns:a="http://schemas.openxmlformats.org/drawingml/2006/main" noGrp="1"/>
          </p:cNvSpPr>
          <p:nvPr/>
        </p:nvSpPr>
        <p:spPr>
          <a:xfrm xmlns:a="http://schemas.openxmlformats.org/drawingml/2006/main">
            <a:off x="62865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검증 요청">
            <a:extLst xmlns:a="http://schemas.openxmlformats.org/drawingml/2006/main">
              <a:ext uri="{FF2B5EF4-FFF2-40B4-BE49-F238E27FC236}">
                <a16:creationId xmlns:a16="http://schemas.microsoft.com/office/drawing/2014/main" id="{54F0C16F-0D98-4841-99FB-0800AC596E01}"/>
              </a:ext>
            </a:extLst>
          </p:cNvPr>
          <p:cNvSpPr>
            <a:spLocks xmlns:a="http://schemas.openxmlformats.org/drawingml/2006/main" noGrp="1"/>
          </p:cNvSpPr>
          <p:nvPr/>
        </p:nvSpPr>
        <p:spPr>
          <a:xfrm xmlns:a="http://schemas.openxmlformats.org/drawingml/2006/main">
            <a:off x="64960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9" name="">
            <a:extLst xmlns:a="http://schemas.openxmlformats.org/drawingml/2006/main">
              <a:ext uri="{FF2B5EF4-FFF2-40B4-BE49-F238E27FC236}">
                <a16:creationId xmlns:a16="http://schemas.microsoft.com/office/drawing/2014/main" id="{191EAA0E-22C5-4152-8B30-80498BDDFABE}"/>
              </a:ext>
            </a:extLst>
          </p:cNvPr>
          <p:cNvSpPr>
            <a:spLocks xmlns:a="http://schemas.openxmlformats.org/drawingml/2006/main" noGrp="1"/>
          </p:cNvSpPr>
          <p:nvPr/>
        </p:nvSpPr>
        <p:spPr>
          <a:xfrm xmlns:a="http://schemas.openxmlformats.org/drawingml/2006/main">
            <a:off x="64960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존 동작은 테스트로 확인해줘.">
            <a:extLst xmlns:a="http://schemas.openxmlformats.org/drawingml/2006/main">
              <a:ext uri="{FF2B5EF4-FFF2-40B4-BE49-F238E27FC236}">
                <a16:creationId xmlns:a16="http://schemas.microsoft.com/office/drawing/2014/main" id="{7AEECCF7-9A2B-40CC-A540-FBE7764F95BB}"/>
              </a:ext>
            </a:extLst>
          </p:cNvPr>
          <p:cNvSpPr>
            <a:spLocks xmlns:a="http://schemas.openxmlformats.org/drawingml/2006/main" noGrp="1"/>
          </p:cNvSpPr>
          <p:nvPr/>
        </p:nvSpPr>
        <p:spPr>
          <a:xfrm xmlns:a="http://schemas.openxmlformats.org/drawingml/2006/main">
            <a:off x="64960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동작은 테스트로 확인해줘.</a:t>
            </a:r>
          </a:p>
        </p:txBody>
      </p:sp>
      <p:sp>
        <p:nvSpPr>
          <p:cNvPr id="21" name="같은 입력·환경에서">
            <a:extLst xmlns:a="http://schemas.openxmlformats.org/drawingml/2006/main">
              <a:ext uri="{FF2B5EF4-FFF2-40B4-BE49-F238E27FC236}">
                <a16:creationId xmlns:a16="http://schemas.microsoft.com/office/drawing/2014/main" id="{69BC512E-AAD8-484C-BC97-ADFE48AA4D4F}"/>
              </a:ext>
            </a:extLst>
          </p:cNvPr>
          <p:cNvSpPr>
            <a:spLocks xmlns:a="http://schemas.openxmlformats.org/drawingml/2006/main" noGrp="1"/>
          </p:cNvSpPr>
          <p:nvPr/>
        </p:nvSpPr>
        <p:spPr>
          <a:xfrm xmlns:a="http://schemas.openxmlformats.org/drawingml/2006/main">
            <a:off x="64960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입력·환경에서</a:t>
            </a:r>
          </a:p>
        </p:txBody>
      </p:sp>
      <p:sp>
        <p:nvSpPr>
          <p:cNvPr id="22" name="변경 전후 시간을 측정해줘.">
            <a:extLst xmlns:a="http://schemas.openxmlformats.org/drawingml/2006/main">
              <a:ext uri="{FF2B5EF4-FFF2-40B4-BE49-F238E27FC236}">
                <a16:creationId xmlns:a16="http://schemas.microsoft.com/office/drawing/2014/main" id="{B316F524-ADF7-4AB3-AFA2-DF63A0231860}"/>
              </a:ext>
            </a:extLst>
          </p:cNvPr>
          <p:cNvSpPr>
            <a:spLocks xmlns:a="http://schemas.openxmlformats.org/drawingml/2006/main" noGrp="1"/>
          </p:cNvSpPr>
          <p:nvPr/>
        </p:nvSpPr>
        <p:spPr>
          <a:xfrm xmlns:a="http://schemas.openxmlformats.org/drawingml/2006/main">
            <a:off x="64960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전후 시간을 측정해줘.</a:t>
            </a:r>
          </a:p>
        </p:txBody>
      </p:sp>
      <p:sp>
        <p:nvSpPr>
          <p:cNvPr id="23" name="측정 조건·결과·미확인을 보고해줘.">
            <a:extLst xmlns:a="http://schemas.openxmlformats.org/drawingml/2006/main">
              <a:ext uri="{FF2B5EF4-FFF2-40B4-BE49-F238E27FC236}">
                <a16:creationId xmlns:a16="http://schemas.microsoft.com/office/drawing/2014/main" id="{01848AB8-479E-43E0-B403-5324537E3076}"/>
              </a:ext>
            </a:extLst>
          </p:cNvPr>
          <p:cNvSpPr>
            <a:spLocks xmlns:a="http://schemas.openxmlformats.org/drawingml/2006/main" noGrp="1"/>
          </p:cNvSpPr>
          <p:nvPr/>
        </p:nvSpPr>
        <p:spPr>
          <a:xfrm xmlns:a="http://schemas.openxmlformats.org/drawingml/2006/main">
            <a:off x="64960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 조건·결과·미확인을 보고해줘.</a:t>
            </a:r>
          </a:p>
        </p:txBody>
      </p:sp>
      <p:sp>
        <p:nvSpPr>
          <p:cNvPr id="24" name="동작 확인과 성능 확인은 필요한 근거가 다르다">
            <a:extLst xmlns:a="http://schemas.openxmlformats.org/drawingml/2006/main">
              <a:ext uri="{FF2B5EF4-FFF2-40B4-BE49-F238E27FC236}">
                <a16:creationId xmlns:a16="http://schemas.microsoft.com/office/drawing/2014/main" id="{EC4D4EFC-6EDA-4D9C-9526-EF2DD63B7B1E}"/>
              </a:ext>
            </a:extLst>
          </p:cNvPr>
          <p:cNvSpPr>
            <a:spLocks xmlns:a="http://schemas.openxmlformats.org/drawingml/2006/main" noGrp="1"/>
          </p:cNvSpPr>
          <p:nvPr/>
        </p:nvSpPr>
        <p:spPr>
          <a:xfrm xmlns:a="http://schemas.openxmlformats.org/drawingml/2006/main">
            <a:off x="609600" y="5229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동작 확인과 성능 확인은 필요한 근거가 다르다</a:t>
            </a:r>
          </a:p>
        </p:txBody>
      </p:sp>
    </p:spTree>
    <p:extLst>
      <p:ext uri="{BB962C8B-B14F-4D97-AF65-F5344CB8AC3E}">
        <p14:creationId xmlns:p14="http://schemas.microsoft.com/office/powerpoint/2010/main" val="1878722941"/>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8">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9">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0">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1">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2">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3">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4">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5">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6">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1863347352"/>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공통 기준을 어디에 두고 다시 참고할까요?">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공통 기준을 어디에 두고 다시 참고할까요?</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23</ap:Slides>
  <ap:Notes>23</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