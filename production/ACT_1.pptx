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615e2c739c472c" /><Relationship Type="http://schemas.openxmlformats.org/officeDocument/2006/relationships/extended-properties" Target="/docProps/app.xml" Id="R1b128b22478040b5" /><Relationship Type="http://schemas.openxmlformats.org/officeDocument/2006/relationships/officeDocument" Target="/ppt/presentation.xml" Id="R869ae2c5eccb47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2cf0d54cde4161"/>
  </p:sldMasterIdLst>
  <p:notesMasterIdLst>
    <p:notesMasterId xmlns:r="http://schemas.openxmlformats.org/officeDocument/2006/relationships" r:id="R9efdb8e3a29242ea"/>
  </p:notesMasterIdLst>
  <p:sldIdLst>
    <p:sldId xmlns:r="http://schemas.openxmlformats.org/officeDocument/2006/relationships" id="256" r:id="R8b71143fc8654c3c"/>
    <p:sldId xmlns:r="http://schemas.openxmlformats.org/officeDocument/2006/relationships" id="257" r:id="R9f0a44909c2b4d19"/>
    <p:sldId xmlns:r="http://schemas.openxmlformats.org/officeDocument/2006/relationships" id="258" r:id="R70836fc7df884978"/>
    <p:sldId xmlns:r="http://schemas.openxmlformats.org/officeDocument/2006/relationships" id="259" r:id="R3072f5e26a41456b"/>
    <p:sldId xmlns:r="http://schemas.openxmlformats.org/officeDocument/2006/relationships" id="260" r:id="R7c2400b163054078"/>
    <p:sldId xmlns:r="http://schemas.openxmlformats.org/officeDocument/2006/relationships" id="261" r:id="Reaf549110e2b465f"/>
    <p:sldId xmlns:r="http://schemas.openxmlformats.org/officeDocument/2006/relationships" id="262" r:id="R8ac01866e8234f52"/>
    <p:sldId xmlns:r="http://schemas.openxmlformats.org/officeDocument/2006/relationships" id="263" r:id="R36fa30aaa83f42e5"/>
    <p:sldId xmlns:r="http://schemas.openxmlformats.org/officeDocument/2006/relationships" id="264" r:id="R94455afe1b6a4c85"/>
    <p:sldId xmlns:r="http://schemas.openxmlformats.org/officeDocument/2006/relationships" id="265" r:id="R6f8cf58b8a7d4b21"/>
    <p:sldId xmlns:r="http://schemas.openxmlformats.org/officeDocument/2006/relationships" id="266" r:id="R024fd4c8a4414e14"/>
    <p:sldId xmlns:r="http://schemas.openxmlformats.org/officeDocument/2006/relationships" id="267" r:id="R995e59ac679346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55e6926ecf4331" /><Relationship Type="http://schemas.openxmlformats.org/officeDocument/2006/relationships/slideMaster" Target="/ppt/slideMasters/slideMaster1.xml" Id="R662cf0d54cde4161" /><Relationship Type="http://schemas.openxmlformats.org/officeDocument/2006/relationships/notesMaster" Target="/ppt/notesMasters/notesMaster1.xml" Id="R9efdb8e3a29242ea" /><Relationship Type="http://schemas.openxmlformats.org/officeDocument/2006/relationships/presProps" Target="/ppt/presProps.xml" Id="R3943a2466d0742d9" /><Relationship Type="http://schemas.openxmlformats.org/officeDocument/2006/relationships/tableStyles" Target="/ppt/tableStyles.xml" Id="R8a4a52c08c4d44b5" /><Relationship Type="http://schemas.openxmlformats.org/officeDocument/2006/relationships/slide" Target="/ppt/slides/slide1.xml" Id="R8b71143fc8654c3c" /><Relationship Type="http://schemas.openxmlformats.org/officeDocument/2006/relationships/slide" Target="/ppt/slides/slide2.xml" Id="R9f0a44909c2b4d19" /><Relationship Type="http://schemas.openxmlformats.org/officeDocument/2006/relationships/slide" Target="/ppt/slides/slide3.xml" Id="R70836fc7df884978" /><Relationship Type="http://schemas.openxmlformats.org/officeDocument/2006/relationships/slide" Target="/ppt/slides/slide4.xml" Id="R3072f5e26a41456b" /><Relationship Type="http://schemas.openxmlformats.org/officeDocument/2006/relationships/slide" Target="/ppt/slides/slide5.xml" Id="R7c2400b163054078" /><Relationship Type="http://schemas.openxmlformats.org/officeDocument/2006/relationships/slide" Target="/ppt/slides/slide6.xml" Id="Reaf549110e2b465f" /><Relationship Type="http://schemas.openxmlformats.org/officeDocument/2006/relationships/slide" Target="/ppt/slides/slide7.xml" Id="R8ac01866e8234f52" /><Relationship Type="http://schemas.openxmlformats.org/officeDocument/2006/relationships/slide" Target="/ppt/slides/slide8.xml" Id="R36fa30aaa83f42e5" /><Relationship Type="http://schemas.openxmlformats.org/officeDocument/2006/relationships/slide" Target="/ppt/slides/slide9.xml" Id="R94455afe1b6a4c85" /><Relationship Type="http://schemas.openxmlformats.org/officeDocument/2006/relationships/slide" Target="/ppt/slides/slide10.xml" Id="R6f8cf58b8a7d4b21" /><Relationship Type="http://schemas.openxmlformats.org/officeDocument/2006/relationships/slide" Target="/ppt/slides/slide11.xml" Id="R024fd4c8a4414e14" /><Relationship Type="http://schemas.openxmlformats.org/officeDocument/2006/relationships/slide" Target="/ppt/slides/slide12.xml" Id="R995e59ac679346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0c113b0fc4346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055b7780b3f4943" /><Relationship Type="http://schemas.openxmlformats.org/officeDocument/2006/relationships/notesMaster" Target="/ppt/notesMasters/notesMaster1.xml" Id="Raaa54a0dfff34f1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8400fd94a3d4e8c" /><Relationship Type="http://schemas.openxmlformats.org/officeDocument/2006/relationships/notesMaster" Target="/ppt/notesMasters/notesMaster1.xml" Id="R30e13d3e1e9f40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0ded83d83994d21" /><Relationship Type="http://schemas.openxmlformats.org/officeDocument/2006/relationships/notesMaster" Target="/ppt/notesMasters/notesMaster1.xml" Id="Rda5e90d96ec748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e85d848cdb42b6" /><Relationship Type="http://schemas.openxmlformats.org/officeDocument/2006/relationships/notesMaster" Target="/ppt/notesMasters/notesMaster1.xml" Id="Ree4015333e0941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de7586ffda4851" /><Relationship Type="http://schemas.openxmlformats.org/officeDocument/2006/relationships/notesMaster" Target="/ppt/notesMasters/notesMaster1.xml" Id="R68d5fbe855c544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dc7efdebe7411d" /><Relationship Type="http://schemas.openxmlformats.org/officeDocument/2006/relationships/notesMaster" Target="/ppt/notesMasters/notesMaster1.xml" Id="R481f8e1f9d9d47e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653878247044c60" /><Relationship Type="http://schemas.openxmlformats.org/officeDocument/2006/relationships/notesMaster" Target="/ppt/notesMasters/notesMaster1.xml" Id="R11246488a59b41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ea2998aa824a54" /><Relationship Type="http://schemas.openxmlformats.org/officeDocument/2006/relationships/notesMaster" Target="/ppt/notesMasters/notesMaster1.xml" Id="R28d171f4251f43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304e06821e04ede" /><Relationship Type="http://schemas.openxmlformats.org/officeDocument/2006/relationships/notesMaster" Target="/ppt/notesMasters/notesMaster1.xml" Id="Ra72fc081e36d4d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0d1c716591d4f28" /><Relationship Type="http://schemas.openxmlformats.org/officeDocument/2006/relationships/notesMaster" Target="/ppt/notesMasters/notesMaster1.xml" Id="Re9cb9bd7bb4a4bf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28909c1dbd422e" /><Relationship Type="http://schemas.openxmlformats.org/officeDocument/2006/relationships/notesMaster" Target="/ppt/notesMasters/notesMaster1.xml" Id="Rb35b2af39a7c493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5d9ec9ac49f4032" /><Relationship Type="http://schemas.openxmlformats.org/officeDocument/2006/relationships/notesMaster" Target="/ppt/notesMasters/notesMaster1.xml" Id="R0af148235d894c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S11 —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코드가 보이더라도 무엇을 바꾸고, 무엇을 보존하며, 언제 끝났다고 판단할지는 요청에 명시되어야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Repository를 보더라도 Agent가 원하는 결과까지 자동으로 알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S10의 열린 질문을 회수하고 “같은 Repository를 보고 있다”는 조건을 고정한다.</a:t>
            </a:r>
          </a:p>
          <a:p xmlns:a="http://schemas.openxmlformats.org/drawingml/2006/main">
            <a:r>
              <a:t>2. (2:00–5:00) “filter 성능 개선해줘”와 오른쪽의 무엇을 바꿀지·보존할지·완료로 볼지 세 질문을 차례로 가리킨다. 특정 답을 채우지 않는다.</a:t>
            </a:r>
          </a:p>
          <a:p xmlns:a="http://schemas.openxmlformats.org/drawingml/2006/main">
            <a:r>
              <a:t>3. (5:00–7:00) Repository 접근만으로 남은 결정을 정할 수 있는지 질문한다. 남은 결정을 더 구체적으로 보기 위해 앞서 조사한 crop 사례로 좁히겠다고 S12을 예고한다. 실제 제품 실패 사례나 관찰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빈 조건을 발견하는 데 쓴다. 오른쪽 세 질문을 하나씩 짚으며 답은 채우지 않는다. 다음 장의 테스트/구현 두 해석을 여기서 미리 비교하지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TRIAL-001, CLM-0002. TEACHING_MODEL / CONCEPTUAL. TRIAL-001의 실제 실패 사례가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접근 가능한 Repository가 Task의 목표·변경 범위·보존 조건·완료 증거를 대신 알려주지는 않는다는 과정의 모델이다. Codex 실패나 Trial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Agent에게 코드가 보인다는 사실과 내가 원하는 변경을 설명했다는 사실은 다르다. 바꿀 것과 끝의 기준을 적어야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 goal, constraints, and verification remain separate from repository access. Do not infer deterministic agent behavior from the conceptual example.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Case 질문을 따라가며 무엇이 비어 있는지 생각하게 한다. 공개 답변이나 실습은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“남은 결정을 더 분명히 보기 위해, 앞서 조사한 crop 사례로 좁혀 보겠습니다.”라고 S12의 교육용 요청 예시로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7분을 질문과 세 개의 미정 경계에 쓴다. 새 Prompt 체크리스트나 해결책을 미리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S11 또는 `production/preview/act1/S11.png` 사용. 응답이 없어도 7분 후 S12로 이동한다.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S12 —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Repository를 볼 수 있어도 바꿀 범위와 완료 조건까지 알 수 있는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“앞서 본 crop을 고쳐 달라는 요청에는 어떤 결정이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앞서 조사한 crop으로 사례를 좁힌다고 알린 뒤 “crop test 고쳐줘”를 읽는다. 이는 교육용 구성 요청이며 실제 Trial Prompt가 아님을 밝힌다.</a:t>
            </a:r>
          </a:p>
          <a:p xmlns:a="http://schemas.openxmlformats.org/drawingml/2006/main">
            <a:r>
              <a:t>2. (0:45–3:00) 테스트와 구현 중 무엇을 바꾸라는 뜻인지 두 질문을 비교한다. 이어 목표의 세부·보존 조건·수정 범위·확인 근거·완료 조건을 짚는다.</a:t>
            </a:r>
          </a:p>
          <a:p xmlns:a="http://schemas.openxmlformats.org/drawingml/2006/main">
            <a:r>
              <a:t>3. (3:00–4:00) 남은 결정들을 짚고, 다음 장에서는 이를 개발자가 답할 질문으로 바꿔 보겠다고 S13로 넘긴다. 특정 답은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같은 요청의 두 해석에 집중한다. 왼쪽 테스트 변경과 오른쪽 구현 변경을 비교한 뒤, 아래 미정 정보를 짚는다. S11의 세 질문을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실제 Trial에서 사용한 약한 Prompt가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`crop test 고쳐줘`는 수업용으로 구성한 예시다. 이 요청이 특정 Agent 실패를 일으켰다는 주장을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짧은 요청을 비난하지 않고, 그 안에 남아 있는 질문을 찾아본다.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Missing constraints are developer decisions that cannot be derived from repository access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두 해석과 아직 정해지지 않은 정보를 청중이 생각하도록 짧게 멈춘다. 공개 답이나 정답 분류를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“Agent에게 남아 있던 결정을 개발자가 답할 질문으로 바꿔 보겠습니다.”라고 S13로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안에 한 요청과 다섯 빈칸만 다룬다. 빈칸의 정답이나 해결책은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S12 또는 `production/preview/act1/S12.png` 사용. 청중 응답 없이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S13 —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3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Prompt의 실용적 가치는 문장 장식보다 Task ambiguity reduction에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요청을 보내기 전에 개발자인 나는 무엇을 정해야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S12에서 남은 결정을 개발자의 질문으로 읽는다. “무엇을 바꿀까?”와 “무엇을 유지할까?”를 짚는다.</a:t>
            </a:r>
          </a:p>
          <a:p xmlns:a="http://schemas.openxmlformats.org/drawingml/2006/main">
            <a:r>
              <a:t>2. (1:00–3:00) 허용 범위, 확인 근거, 완료 판단의 세 질문을 이어 읽는다. 이는 답이 아닌 개발자 판단 질문이다.</a:t>
            </a:r>
          </a:p>
          <a:p xmlns:a="http://schemas.openxmlformats.org/drawingml/2006/main">
            <a:r>
              <a:t>3. (3:00–4:00) 각자 익숙한 요청 하나를 떠올리는 조용한 Reflection으로 마친다. 요청문 작성이나 결과 공유를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개발자가 판단할 다섯 질문을 번호 순서로 따라간다. 마지막 질문에서 1분 Reflection을 분리하고, 답이나 작성 과제를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특정 요청이 특정 실패를 반드시 만든다고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질문은 수업용 질문 프레임이다. 특정한 단일 답이나 제품 기능으로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요청을 보내기 전에 바꿀 것, 지킬 것, 끝을 어떻게 볼지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Clarify scope, preserved contracts, acceptable change surface, and evidence before delegating.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비공개 Reflection이다. 말하기, 노트북, Prompt 작성은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“앞의 질문을 묶고, 필요한 사실과 작업 순서를 함께 명시하는 틀로 정리해 보겠습니다.”라고 S14의 Task Specification으로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3분 후 Reflection 1분을 분리한다. 답을 제공하거나 공개 응답을 받지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S13 또는 `production/preview/act1/S13.png` 사용. 침묵은 정상 진행으로 본다.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S14 —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Goal, Context, Constraints, Process, Verification은 작업을 구체화하는 교육용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“앞의 질문을 작업 요청에 담으려면 어떤 책임으로 정리할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화면 안내처럼 앞의 질문을 묶고 필요한 맥락과 작업 과정을 명시하는 이 과정의 모델로 Task Specification을 소개한다.</a:t>
            </a:r>
          </a:p>
          <a:p xmlns:a="http://schemas.openxmlformats.org/drawingml/2006/main">
            <a:r>
              <a:t>2. (0:45–3:15) 하나의 패널에서 목표·맥락·제약·과정·검증을 위에서 아래로 짚는다. 앞 장의 보존·허용 범위 질문은 제약으로, 확인 근거·완료 질문은 검증으로 묶어 읽는다. 작업에 필요한 사실은 맥락으로, 지킬 순서와 경계는 과정으로 함께 명시한다. 각 행이 어떤 미정을 줄이는지 한 문장씩 설명한다.</a:t>
            </a:r>
          </a:p>
          <a:p xmlns:a="http://schemas.openxmlformats.org/drawingml/2006/main">
            <a:r>
              <a:t>3. (3:15–4:00) 다섯 책임을 모두 길게 적으라는 뜻이 아니라 작업에 필요한 경계를 검토할 틀이라고 정리하고 S15로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한 작업 요청에 다섯 책임을 묶는 구조를 보여준다. S13의 다섯 질문과 일대일 대응하는 표가 아니라 질문을 재구성하고 맥락·과정을 명시한 틀이다. 상단 안내 → 왼쪽 Task Specification → 오른쪽 행 순서로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항목은 과정에서 쓰는 Task Specification 모델이지 공식 OpenAI taxonomy나 universal law가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요청에는 목표, 필요한 상황, 지켜야 할 경계, 작업 흐름, 확인 방법이 들어갈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retained project facts, and identify which judgment remains with the developer.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설명 중간에 다섯 책임이 줄이는 불확실성을 확인한다. 청중에게 작성 실습을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15에서 다섯 책임을 짧은 Before / After에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분 동안 각 항목을 한 문장으로 설명한다. 별도 Best Practice 목록이나 제품 기능으로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S14 또는 `production/preview/act1/S14.png` 사용.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S15 —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9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6 minutes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유용성은 Prompt의 길이보다 Goal과 제약, 과정, 검증 경계가 분명한 데서 나온다.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요청에서 실제로 달라진 정보는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왼쪽의 짧은 요청을 읽고 같은 crop 작업을 비교한다고 고정한다.</a:t>
            </a:r>
          </a:p>
          <a:p xmlns:a="http://schemas.openxmlformats.org/drawingml/2006/main">
            <a:r>
              <a:t>2. (2:00–5:00) 오른쪽에서 추가된 목표·맥락, 제약, 과정, 검증 정보를 순서대로 짚는다. 양쪽 모두 한국어 요청이며 영어라서 좋아졌다는 인상을 만들지 않는다.</a:t>
            </a:r>
          </a:p>
          <a:p xmlns:a="http://schemas.openxmlformats.org/drawingml/2006/main">
            <a:r>
              <a:t>3. (5:00–6:00) 하단 C++ 연결에서 출력·API/ABI 보존 범위와 Release 검증 조건도 작업 전에 정할 수 있음을 짧게 말한다.</a:t>
            </a:r>
          </a:p>
          <a:p xmlns:a="http://schemas.openxmlformats.org/drawingml/2006/main">
            <a:r>
              <a:t>4. (6:00–7:30 / Case) 검증 행을 구체 완료 조건으로 읽는다: Given 열 index가 0·1·2·3인 4열 합성 이미지, When `crop 1 3`, Then 원본 열 1·2만 포함하고 출력 폭은 2다. `crop 1 3`은 교육용 범위 표기이며 전체 함수 signature를 뜻하지 않는다. S05의 계약을 요청에 명시하는 교육용 재구성이며 실제 TRIAL-002 Prompt 원문은 아니다.</a:t>
            </a:r>
          </a:p>
          <a:p xmlns:a="http://schemas.openxmlformats.org/drawingml/2006/main">
            <a:r>
              <a:t>5. (7:30–9:00 / Case) 두 요청에서 어떤 정보가 추가됐는지 비교한다. 완료 조건이 드러났다는 점을 짚되 실제 약한/강한 Prompt 비교 실험이 아니며 길이 자체의 효과를 입증하지 않는다고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실제로 더해진 정보의 비교다. 짧은 요청→추가한 네 행→하단 C++ 적용 순서로 가리킨다. Case에서는 검증 행의 4열 입력·crop 범위·출력 폭을 연결한다. 앞의 다섯 질문을 다시 나열하는 시간을 줄이고 보존 조건과 완료 근거가 드러난 위치를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TRIAL-002,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Before/After는 설명을 위한 개념 예시이며 Trial-002가 약한 Prompt와 구조화 Prompt의 우월성을 비교 검증했다는 뜻이 아니다. Given/When/Then 완료 조건은 기존 crop 계약을 설명하려고 구성한 예시이며 당시 Prompt 원문, 새 실행 결과 또는 시스템 요구 분석 전체 교육이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긴 문장을 쓰는 것보다 바꿀 결과와 지킬 조건, 확인 방법을 드러내는 것이 도움이 되는 질문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Make the allowed change surface and completion evidence reviewable; do not claim a causal performance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footer strip — 출력·API/ABI의 보존 범위와 Release 검증 조건을 먼저 정하는 사례다. 특정 Windows, shell, IDE, hardware의 실제 사용법이나 검증 결과로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comparison is conceptual and is not the exact Trial-002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Case 3분에는 구체 완료 조건을 90초 동안 따라 읽고, 나머지 90초에 두 요청에서 새로 명시된 책임을 마음속으로 비교한다. 작성 실습이나 발표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“여기까지는 교육용 구성 예시였습니다. 이제 과거 TRIAL-002에서 요청한 흐름과 기록된 행동을 살펴보겠습니다.”라고 실제 기록의 관찰 기준으로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After는 네 줄의 비교 축으로 한정한다. Lecture 6분과 Case 3분을 유지하며 기존 Case의 일반 비교 90초를 구체 완료 조건 해설로 교체한다. 전체 Trial Prompt나 코드 지시를 화면에 복사하지 않는다. 시간이 부족하면 C++ inset을 생략한다.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S15 또는 `production/preview/act1/S15.png` 사용. Trial 결과로 대체하지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S16 —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한 번의 관찰에서는 재현, 조사, 계획, 수정, 검증 순서를 확인할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“TRIAL-002 실제 기록에서는 수정 전에 무엇을 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(0:00–0:35) S15의 교육용 구성 예시에서 과거 TRIAL-002 기록으로 전환했음을 밝힌다. “실제 기록에서는 수정 전에 무엇을 했을까?”를 제시한다. S15 화면의 요청을 그대로 실행한 것으로 설명하지 않는다.</a:t>
            </a:r>
          </a:p>
          <a:p xmlns:a="http://schemas.openxmlformats.org/drawingml/2006/main">
            <a:r>
              <a:t>2. (0:35–1:35) TRIAL-002에서 요청한 재현 → 조사 → 계획 → 수정 → 검증의 다섯 관찰 단계를 가리킨다. 화면은 WATCH 기준이며 결과를 미리 읽어 주는 요약이 아니다.</a:t>
            </a:r>
          </a:p>
          <a:p xmlns:a="http://schemas.openxmlformats.org/drawingml/2006/main">
            <a:r>
              <a:t>3. (1:35–2:00) 다음 두 장에서 이 단일 과거 CLI 기록의 요청 흐름과 행동을 대조한다고 알리고 S17으로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OBSERVED_PRODUCT; one historical Codex CLI run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TRIAL-002는 2026-09-28 macOS Codex CLI 0.154.0의 단일 실행 기록이다. Desktop, 계정, 반복성 또는 다른 모델을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 변경 전 어떤 행동을 먼저 살펴볼지 정하면 Demo를 따라가기 쉽다.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requested workflow separate from the events evidenced in the recorded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RECORD-BASED WATCH. 2분 Lecture 동안 제품 실행을 재생하지 않는다. 요청한 재현·조사·계획·수정·검증을 관찰 기준으로 제시한다. Trial source: `plan/DEMO_MATRIX.md`, TRIAL-002. 현재 Desktop surface나 실제 터미널 캡처를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관찰 순서를 마음속으로 따라오게 한다. 응답이나 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17에서 조사와 변경의 핵심 장면을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2분 안에 관찰 기준만 설명한다. Trial 결과를 앞당겨 보여 주거나 현재 제품 UI를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WATCH 슬라이드 `production/ACT_1.pptx` S16 또는 `production/preview/act1/S16.png` 사용. 라이브 실행은 이 단계에서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S17 —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failing test와 호출 경로를 확인한 뒤, half-open 범위 계약을 보존하는 최소 변경을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“수정 전에 어떤 근거를 확인했는가?”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상단의 실패 테스트 → 호출 경로 → 계약 확인 → 수정 전 계획을 읽는다. 실패 테스트명은 `test_crop_excludes_end_coordinate`, 제품 호출 관계는 `cli.main → pipeline.process_image → transform.crop`이다.</a:t>
            </a:r>
          </a:p>
          <a:p xmlns:a="http://schemas.openxmlformats.org/drawingml/2006/main">
            <a:r>
              <a:t>2. (1:00–2:00) `[x_start, x_end)`가 끝 좌표를 제외하는 계약임을 확인한다. S05의 `crop(image, 1, 3)` 예시를 짧게 회수한다.</a:t>
            </a:r>
          </a:p>
          <a:p xmlns:a="http://schemas.openxmlformats.org/drawingml/2006/main">
            <a:r>
              <a:t>3. (2:00–3:15) 왼쪽 `row[x_start : x_end + 1]`에서 오른쪽 `row[x_start : x_end]`로 바뀐 실제 한 줄 diff를 가리킨다. 수정 전에 계획을 알린 기록이 있었다고 말한다.</a:t>
            </a:r>
          </a:p>
          <a:p xmlns:a="http://schemas.openxmlformats.org/drawingml/2006/main">
            <a:r>
              <a:t>4. (3:15–4:00) 이 입력의 너비 3이 계약대로 2가 되는 변화로 정리한다. 정적 소스·diff 재구성이며 새 실행이나 screenshot이 아님을 유지하고 S18로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OBSERVED_PRODUCT, one recorded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실패한 Test와 기대 계약을 먼저 맞춘 뒤 꼭 필요한 한 줄만 바꿨다.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code change matches the half-open public contract and is limited to the recorded diff; the plan checkpoint preceded editing.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historical evidence. `production/ACT_1.pptx` S17의 실제 diff 재구성 도식을 사용한다. 실패 테스트·호출 경로·계약·수정 전 계획 → Before/After slice → 너비 변화를 순서대로 가리킨다. source test ID: `test_crop_excludes_end_coordinate`. Source: TRIAL-002 record, STATE-00 및 STATE-00-FIXED의 `src/graypipe/transform.py`. 전체 파일이나 새 실행을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변경 전에 확인한 근거를 청중이 화면 순서대로 따라오게 한다. 참가자의 코드 검토나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18에서 변경 결과를 어떤 확인으로 뒷받침했는지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Demo 구간 안에서 관찰과 변경을 요약한다. 전체 로그와 파일을 보여 주지 않고, 다음 장의 검증 시간을 침범하지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S17 또는 `production/preview/act1/S17.png` 사용. 시각 도식은 기록에서 재구성한 자료이며 원본 화면 캡처가 아니다. 실행 실패 상황은 없다: Live를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S18 —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사례의 결과는 생성된 코드뿐 아니라 명시된 검증과 diff 확인을 거친 변경이다.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“생성된 변경을 어떤 확인이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단일 TRIAL-002의 변경 뒤 기록임을 고정한다.</a:t>
            </a:r>
          </a:p>
          <a:p xmlns:a="http://schemas.openxmlformats.org/drawingml/2006/main">
            <a:r>
              <a:t>2. (0:45–2:45) 동작 확인(집중 3/3·전체 11/11), 실행 확인(CLI smoke PASS), 범위 확인(한 파일·한 줄·diff check)을 세 묶음으로 읽는다. 각각 확인한 범위가 다름을 설명한다.</a:t>
            </a:r>
          </a:p>
          <a:p xmlns:a="http://schemas.openxmlformats.org/drawingml/2006/main">
            <a:r>
              <a:t>3. (2:45–3:30) 하단의 성능 benchmark 미실행을 밝힌다. 이 테스트 통과를 성능 개선 근거로 바꾸지 않는다.</a:t>
            </a:r>
          </a:p>
          <a:p xmlns:a="http://schemas.openxmlformats.org/drawingml/2006/main">
            <a:r>
              <a:t>4. (3:30–4:00) 생성된 코드와 완료 판단의 차이로 S19에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OBSERVED_PRODUCT, one Codex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완료라고 말할 때 코드와 함께 어떤 확인이 있었는지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Each check supports a bounded claim: targeted behavior, existing suite coverage, one sample CLI path, and change scope. No benchmark was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Check가 무엇을 뒷받침하는지 읽게 한다. 청중에게 테스트 실행을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생성 자체와 완료 판단을 구분하는 Slide 19로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묶음에 각각 한 가지 확인 범위를 말한다. 다섯 로그를 전문으로 읽지 않는다. 마지막 30초에 생성과 완료의 차이로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S18 또는 `production/preview/act1/S18.png` 사용. 수치는 TRIAL-002 기록에 한정한다; 새로운 pass 수치를 추가하지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S19 —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Task는 결과뿐 아니라 적절한 검증과 review를 포함해야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Check가 어떤 Claim을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왼쪽 “코드가 나왔다”에서 오른쪽 “완료라고 말할 수 있나?”로 시선을 옮긴다.</a:t>
            </a:r>
          </a:p>
          <a:p xmlns:a="http://schemas.openxmlformats.org/drawingml/2006/main">
            <a:r>
              <a:t>2. (0:45–2:15) 검토용 결과 인계의 네 항목을 crop 사례로 설명한다. 변경 이유·범위는 끝 좌표 제외 계약에 맞춘 crop 한 줄 수정, 검증 근거·결과는 S18의 집중·전체 테스트와 CLI·diff 기록 참조, 미확인은 이 수정의 성능을 측정하지 않았다는 점, 사람의 수용 판단은 이 범위와 근거로 변경을 받아들일지 개발자가 결정한다는 점이다. 동작 테스트·샘플 실행·변경 검토는 검증 근거 항목에 묶고 수치를 다시 나열하지 않는다. 이 네 항목은 기존 기록의 강의용 정리이며 실제 PR이나 당시 Agent 답변 원문이 아니다.</a:t>
            </a:r>
          </a:p>
          <a:p xmlns:a="http://schemas.openxmlformats.org/drawingml/2006/main">
            <a:r>
              <a:t>3. (2:15–2:45) 성능 개선을 주장하는 작업에는 해당 입력·환경의 측정도 필요할 수 있다고 설명한다. TRIAL-002에서 benchmark가 실행됐다는 뜻이 아니다.</a:t>
            </a:r>
          </a:p>
          <a:p xmlns:a="http://schemas.openxmlformats.org/drawingml/2006/main">
            <a:r>
              <a:t>4. (2:45–3:00) 주장마다 필요한 근거가 다르다는 S20로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 and separate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 검토용 결과 인계의 형식은 기존 기록을 설명하는 교육용 재구성이며 실제 PR, 당시 답변 원문 또는 사람의 승인 완료 기록이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코드가 생성됐다는 사실은 완료를 판단하는 한 가지 정보일 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checks from the task’s risk and the exact claim being made; do not demand every check for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C++ 대응은 S20 Notes의 선택적 참고로 남기며 S20 화면에는 C++ inset이 없다. 주요 C++ 패턴 전이는 S54에서 이어 간다. 이 장에서 중복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verification callback only; DEMO-05의 8분 구간 밖이다. 새 관찰 카드나 새 실행 결과를 보여 주지 않고 하단 출처로 과거 확인 범위를 회수한다. 검토용 결과 인계는 기존 기록을 가리키는 강의용 정리이며 실제 PR 화면으로 표현하지 않는다. 본문은 교육 모델로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별도 Q&amp;A 시간은 배정되지 않았다. 청중에게 생각할 질문을 주고 다음 장에서 범위를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20에서 각 Check가 뒷받침하는 범위를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3분을 유지한다. 생성·완료 질문 45초, 결과 인계 예시 90초, 조건부 성능 측정 30초, S20 연결 15초로 배분한다. 기존 검증 근거의 재나열과 반복 설명을 이 예시로 교체한다. 기록 사실과 Teaching Model을 분리하고 S18의 다섯 수치를 다시 읽지 않는다.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S19 또는 `production/preview/act1/S19.png`를 사용한다. 생성·완료의 관계는 교육 모델, TRIAL-002는 하단에 표시된 과거 관찰로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S20 —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Check 하나가 모든 정확성을 증명하지는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Check로 무엇까지 말할 수 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표가 특정 테스트의 만능 효과를 뜻하지 않는다고 소개한다. 실제 TRIAL-002는 집중·전체 테스트, CLI smoke, diff를 확인했다는 하단 출처를 짚는다.</a:t>
            </a:r>
          </a:p>
          <a:p xmlns:a="http://schemas.openxmlformats.org/drawingml/2006/main">
            <a:r>
              <a:t>2. (0:30–2:30) 확인 방법 → 말할 수 있는 범위의 다섯 행을 설명한다. 성능 측정 행은 교육 모델이며 TRIAL-002에서 benchmark를 실행하지 않았다고 밝힌다.</a:t>
            </a:r>
          </a:p>
          <a:p xmlns:a="http://schemas.openxmlformats.org/drawingml/2006/main">
            <a:r>
              <a:t>3. (2:30–4:00) 같은 crop 사례에서 검사가 계약 위반을 구별하는지 비교한다. “결과가 비어 있지 않다”는 빈 결과를 찾을 수 있지만 끝 좌표를 잘못 포함한 3열 결과도 받아들일 수 있다. 이 조건만으로는 끝 좌표 제외 계약을 검증하기에 부족하다. “원본 열 1·2만 포함하고 출력 폭은 2다”처럼 해당 입력의 기대 결과를 비교해야 이 차이를 구별할 수 있다. 전자의 검사를 항상 무의미하다고 부르지 않으며, 후자의 검사 하나가 모든 입력의 정확성을 보장한다고도 말하지 않는다. 강의용 반례이고 새 실행 결과나 당시 테스트 assertion의 전사본이 아니다.</a:t>
            </a:r>
          </a:p>
          <a:p xmlns:a="http://schemas.openxmlformats.org/drawingml/2006/main">
            <a:r>
              <a:t>4. (4:00–5:00) 익숙한 Check가 뒷받침하는 Claim을 개인적으로 떠올린다. 그 검증 방법을 다음 작업에서도 다시 설명할지 생각하는 Reflection으로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Actual checks are separate from the TEACHING_MODEL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Focused/full tests, CLI smoke, and diff review are actual TRIAL-002 checks. The mapping is a course model; benchmark was not run. No single check proves all correctness. 비어 있지 않음과 계약상 기대 열·폭의 비교는 기존 crop 사례를 이용한 교육용 반례이며 새 실행 결과, 당시 assertion 원문 또는 GoogleTest 사용법 교육이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Focused test는 바뀐 동작을, 전체 Test는 기존 suite의 범위를, smoke는 sample 실행 경로를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For C++ projects, match Release build, API/ABI checks, regression tests, and measurement to the claim and risk. These are illustrative engineering patterns, not this Demo repository’s tooling.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NOTES-ONLY 선택적 참고: `build claim → Release build`; `compatibility claim → API / ABI review`; `performance claim → benchmark with named workload`. 화면의 C++ inset은 계약 비교 예시로 대체했으며 이 대응을 추가 강의하지 않는다. 주요 C++ 패턴 전이는 S54에 유지한다. No Windows, shell, IDE, or hardware setup is asserted.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evidence callback outside the 8-minute Demo slot. 본문 표와 검증 품질 반례는 일반적인 check-to-claim 교육 모델이다. 하단 출처에는 실제 Trial에서 수행한 확인만 따로 표시한다. Benchmark 미실행 경계를 유지하고 반례에 새 PASS/FAIL, 수치나 실행 결과를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각자가 익숙한 Check와 그 Check가 뒷받침하는 Claim을 조용히 생각한다. 결과 발표는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“방금 정한 테스트 명령과 보존 조건은 다음 작업에도 필요할 수 있습니다. 이 설명을 매번 다시 적어야 할까요?”라고 검증 지침의 재사용에서 S21의 정보 수명 질문으로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4분과 Reflection 1분을 분리한다. 소개 30초, Check 표 2분, 계약 위반을 구별하는 검사 비교 90초로 Lecture를 편성한다. C++ footer 해설 1분과 반복 소개 30초를 이 비교로 교체한다. C++ 대응은 선택적 참고로 남기고 별도 도구 강의 시간을 더하지 않는다.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S20 또는 `production/preview/act1/S20.png`를 사용한다. 표의 일반적인 범위와 하단 Trial 출처를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S21 —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두 종류의 정보를 구분할 필요가 있음을 먼저 인식한다.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“테스트·보존 조건처럼 반복해서 쓰는 문장은 이번 작업에만 필요할까, 다음 작업에도 필요할까?”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S20에서 검증 방법을 골랐다는 점을 회수하고, 테스트·보존 조건처럼 최근 요청에 반복해서 썼던 문장 하나를 떠올리게 한다. “이번 작업에만?”과 “다음 작업에도?” 중 어디에 해당할지 개인적으로 생각한다. 화면의 두 영역은 비워 두고 문장의 분류를 대신 정하지 않는다.</a:t>
            </a:r>
          </a:p>
          <a:p xmlns:a="http://schemas.openxmlformats.org/drawingml/2006/main">
            <a:r>
              <a:t>2. (1:00–3:00) 자발적인 Q&amp;A를 받는다. 답이나 분류 기준을 미리 공개하지 않는다. 침묵도 정상 진행이다.</a:t>
            </a:r>
          </a:p>
          <a:p xmlns:a="http://schemas.openxmlformats.org/drawingml/2006/main">
            <a:r>
              <a:t>3. (3:00) S22에서 후보 예시를 함께 확인하겠다고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 → BEAT-008 handoff, CLM-0029, CLM-0027, CLM-0003, CLM-0005.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두 Bucket은 Reflection을 위한 과정의 모델이다. 이 장에서는 정답, 제품 기능, AGENTS.md 또는 완전한 분류를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요청에만 필요한 말과 여러 번 반복할 수 있는 규칙이 다를 수 있음을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Consider information lifetime and scope without deciding the storage mechanism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순서: Reflection 1분 후 Q&amp;A 2분. Reflection은 사적 생각 시간이고 공유는 자발적이다. 응답이 없으면 질문을 한 번 더 읽고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22에서 Reflection/Discussion을 회수하고 “왜 Project 설명을 매번 다시 쓰는가?”라는 ACT 2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1분, Q&amp;A 2분을 보존한다. 긴 토론이나 개인 업무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질문 슬라이드 `production/ACT_1.pptx` S21 또는 `production/preview/act1/S21.png` 사용. 공유 응답이 없어도 다음으로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S22 —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Transition 3 minutes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정보와 Project 정보는 수명과 적용 범위가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Task에만 필요한 정보와 Project가 계속 유지할 정보는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(0:00–1:00, Reflection) S21의 두 질문을 회수하고 화면의 후보가 자신의 작업에서도 같은 수명·범위인지 조용히 생각하게 한다.</a:t>
            </a:r>
          </a:p>
          <a:p xmlns:a="http://schemas.openxmlformats.org/drawingml/2006/main">
            <a:r>
              <a:t>2. (1:00–2:00, Transition) crop 경계 수정·이번 README 수정과, 계속 유지할 의존성 추가 근거·테스트 명령의 후보 예시를 비교한다. 유일한 정답이나 실제 STATE-01 원문이라고 하지 않는다.</a:t>
            </a:r>
          </a:p>
          <a:p xmlns:a="http://schemas.openxmlformats.org/drawingml/2006/main">
            <a:r>
              <a:t>3. (2:00–4:00, Transition) 정보의 수명과 적용 범위 차이를 정리하고 “Project 정보를 왜 매번 Prompt에 다시 적고 있을까?”를 ACT 2의 질문으로 남긴다.</a:t>
            </a:r>
          </a:p>
          <a:p xmlns:a="http://schemas.openxmlformats.org/drawingml/2006/main">
            <a:r>
              <a:t>4. (4:00–6:00, Q&amp;A) 자발적인 질문을 받고 6분에 ACT 2로 이동한다. 질문이 없으면 다음 문제를 다시 읽고 정시에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장의 두 열은 다음 ACT로 넘길 분류 후보다. 이번 목표와 여러 작업에 남길 사실의 수명이 다르다는 질문만 남긴다. 아직 S25 관찰 결과를 근거처럼 회수하지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BEAT-008, TRANS-003, CLM-0029, CLM-0027,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항목은 수명과 적용 범위를 생각하게 하는 교육용 후보 예시다. 화면의 의존성 예시는 실제 STATE-01 지침처럼 작업상 정당한 근거가 있으면 추가할 수 있다는 조건을 보존한다. 이 장은 그 지침의 실행 효과를 관찰한 결과가 아니다. 유일한 정답·classification test·제품 메커니즘으로 말하지 않는다. AGENTS.md는 이 장에서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 한 번에만 필요한 정보와 프로젝트가 계속 참고할 수 있는 정보를 구별해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Information reuse scope and lifetime may differ; the next ACT will examine the repeated-fact problem before introducing a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Reflection 1분 후 map 순서대로 ACT 2 Transition 3분, Q&amp;A 2분. 예시는 후보로만 말하고, 자발적 응답을 받되 정답 분류를 평가하지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“그런데 Project 정보를 왜 매번 Prompt에 다시 적고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0–1분 Reflection, 1–4분 Transition, 4–6분 Q&amp;A. 기존 Notes의 1–5분 전환/5–6분 Q&amp;A 불일치를 승인된 Mode Split 1+3+2로 정렬한다. Project Context 해결책이나 AGENTS.md는 미리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S22 또는 `production/preview/act1/S22.png` 사용. Q&amp;A가 없어도 마지막 Transition 질문 후 ACT 2로 간다.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a6d24b35a543f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a27742534c41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bf23845725442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386579556245b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ac06b6a2c644a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670eafe42444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4895B26-014A-40CE-B565-089FA1CEFC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267AEA2-FBA7-4985-9A66-DDABA910503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C58DA9-D917-4F50-846B-139D40FE96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D2670E6-1D9B-45E8-BA5F-17EECBCF44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23A3B53-9BAC-4779-953D-97E4ADCEA5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D4EC5BC-7BF7-479A-87BB-F451311726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E10C938-E509-4C41-8C10-FA8B51ABC1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0868CDE-5F3C-4791-AA79-F0DF5F5F5F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EEA3A84-5053-4BED-B139-D7FFEA664E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FF9EDC6-48E4-4A51-80C2-210EC2575D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92aaa118d041d2" /><Relationship Type="http://schemas.openxmlformats.org/officeDocument/2006/relationships/slideLayout" Target="/ppt/slideLayouts/slideLayout1.xml" Id="R65e3bbb70b7b4ac1" /><Relationship Type="http://schemas.openxmlformats.org/officeDocument/2006/relationships/slideLayout" Target="/ppt/slideLayouts/slideLayout2.xml" Id="Rf9d8aefaa550429c" /><Relationship Type="http://schemas.openxmlformats.org/officeDocument/2006/relationships/slideLayout" Target="/ppt/slideLayouts/slideLayout3.xml" Id="R6573f847b8f94dbf" /><Relationship Type="http://schemas.openxmlformats.org/officeDocument/2006/relationships/slideLayout" Target="/ppt/slideLayouts/slideLayout4.xml" Id="Rce5d8491882448f6" /><Relationship Type="http://schemas.openxmlformats.org/officeDocument/2006/relationships/slideLayout" Target="/ppt/slideLayouts/slideLayout5.xml" Id="R9ea5414858604128" /><Relationship Type="http://schemas.openxmlformats.org/officeDocument/2006/relationships/slideLayout" Target="/ppt/slideLayouts/slideLayout6.xml" Id="Rde417765481249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e3bbb70b7b4ac1"/>
    <p:sldLayoutId xmlns:r="http://schemas.openxmlformats.org/officeDocument/2006/relationships" id="2147483650" r:id="Rf9d8aefaa550429c"/>
    <p:sldLayoutId xmlns:r="http://schemas.openxmlformats.org/officeDocument/2006/relationships" id="2147483651" r:id="R6573f847b8f94dbf"/>
    <p:sldLayoutId xmlns:r="http://schemas.openxmlformats.org/officeDocument/2006/relationships" id="2147483652" r:id="Rce5d8491882448f6"/>
    <p:sldLayoutId xmlns:r="http://schemas.openxmlformats.org/officeDocument/2006/relationships" id="2147483653" r:id="R9ea5414858604128"/>
    <p:sldLayoutId xmlns:r="http://schemas.openxmlformats.org/officeDocument/2006/relationships" id="2147483654" r:id="Rde417765481249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b2716d63684fdc" /><Relationship Type="http://schemas.openxmlformats.org/officeDocument/2006/relationships/notesSlide" Target="/ppt/notesSlides/notesSlide1.xml" Id="R5b7bbb345eea4c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0d8ab19d564dce" /><Relationship Type="http://schemas.openxmlformats.org/officeDocument/2006/relationships/notesSlide" Target="/ppt/notesSlides/notesSlide2.xml" Id="R55a557d6ec084e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0ffff456334dfa" /><Relationship Type="http://schemas.openxmlformats.org/officeDocument/2006/relationships/notesSlide" Target="/ppt/notesSlides/notesSlide3.xml" Id="R67c101990f7d4e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87809ad8774a95" /><Relationship Type="http://schemas.openxmlformats.org/officeDocument/2006/relationships/notesSlide" Target="/ppt/notesSlides/notesSlide4.xml" Id="Rdf8b55b1971544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f8151392a444d4" /><Relationship Type="http://schemas.openxmlformats.org/officeDocument/2006/relationships/notesSlide" Target="/ppt/notesSlides/notesSlide5.xml" Id="R8bed3f08dea84ee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76e04dce294cc7" /><Relationship Type="http://schemas.openxmlformats.org/officeDocument/2006/relationships/notesSlide" Target="/ppt/notesSlides/notesSlide6.xml" Id="Raa59784c74014b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2de5f80da24c2b" /><Relationship Type="http://schemas.openxmlformats.org/officeDocument/2006/relationships/notesSlide" Target="/ppt/notesSlides/notesSlide7.xml" Id="R76582acd0774425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1984622ae549a5" /><Relationship Type="http://schemas.openxmlformats.org/officeDocument/2006/relationships/notesSlide" Target="/ppt/notesSlides/notesSlide8.xml" Id="Rbf30b4cb1fcb42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a558a28bee454d" /><Relationship Type="http://schemas.openxmlformats.org/officeDocument/2006/relationships/notesSlide" Target="/ppt/notesSlides/notesSlide9.xml" Id="R615dde11928f49c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c8eb8ffa634612" /><Relationship Type="http://schemas.openxmlformats.org/officeDocument/2006/relationships/notesSlide" Target="/ppt/notesSlides/notesSlide10.xml" Id="R2597f6727c9c45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0982ff8a031407d" /><Relationship Type="http://schemas.openxmlformats.org/officeDocument/2006/relationships/notesSlide" Target="/ppt/notesSlides/notesSlide11.xml" Id="R5be2e7a495d443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bbf10eef114c80" /><Relationship Type="http://schemas.openxmlformats.org/officeDocument/2006/relationships/notesSlide" Target="/ppt/notesSlides/notesSlide12.xml" Id="R95e9a477677b42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모호한 작업 요청">
            <a:extLst xmlns:a="http://schemas.openxmlformats.org/drawingml/2006/main">
              <a:ext uri="{FF2B5EF4-FFF2-40B4-BE49-F238E27FC236}">
                <a16:creationId xmlns:a16="http://schemas.microsoft.com/office/drawing/2014/main" id="{CAB268C0-0085-493E-9BAB-A83A3E62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모호한 작업 요청</a:t>
            </a:r>
          </a:p>
        </p:txBody>
      </p:sp>
      <p:sp>
        <p:nvSpPr>
          <p:cNvPr id="2" name="S11">
            <a:extLst xmlns:a="http://schemas.openxmlformats.org/drawingml/2006/main">
              <a:ext uri="{FF2B5EF4-FFF2-40B4-BE49-F238E27FC236}">
                <a16:creationId xmlns:a16="http://schemas.microsoft.com/office/drawing/2014/main" id="{635E7E12-B3EC-4A68-B75B-36ADD8F3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S11</a:t>
            </a:r>
          </a:p>
        </p:txBody>
      </p:sp>
      <p:sp>
        <p:nvSpPr>
          <p:cNvPr id="3" name="Task에는 무엇이 아직 정해지지 않았을까?">
            <a:extLst xmlns:a="http://schemas.openxmlformats.org/drawingml/2006/main">
              <a:ext uri="{FF2B5EF4-FFF2-40B4-BE49-F238E27FC236}">
                <a16:creationId xmlns:a16="http://schemas.microsoft.com/office/drawing/2014/main" id="{2DDF78E5-5121-4CFA-A91A-7C198927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Task에는 무엇이 아직 정해지지 않았을까?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30B36-901E-43CE-9F1B-5CF2143C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실제 Agent 실패나 Trial 결과가 아님">
            <a:extLst xmlns:a="http://schemas.openxmlformats.org/drawingml/2006/main">
              <a:ext uri="{FF2B5EF4-FFF2-40B4-BE49-F238E27FC236}">
                <a16:creationId xmlns:a16="http://schemas.microsoft.com/office/drawing/2014/main" id="{414F4B62-AE9A-49CB-A658-B0CF2AFC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실제 Agent 실패나 Trial 결과가 아님</a:t>
            </a:r>
          </a:p>
        </p:txBody>
      </p:sp>
      <p:sp>
        <p:nvSpPr>
          <p:cNvPr id="6" name="Repository는 열려 있어도 작업의 목표·보존 조건·완료 기준이 자동으로 정해지지는 않습니다.">
            <a:extLst xmlns:a="http://schemas.openxmlformats.org/drawingml/2006/main">
              <a:ext uri="{FF2B5EF4-FFF2-40B4-BE49-F238E27FC236}">
                <a16:creationId xmlns:a16="http://schemas.microsoft.com/office/drawing/2014/main" id="{98C9D78C-BFA3-4960-8230-C3C97214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Repository는 열려 있어도 작업의 목표·보존 조건·완료 기준이 자동으로 정해지지는 않습니다.</a:t>
            </a:r>
          </a:p>
        </p:txBody>
      </p:sp>
      <p:sp>
        <p:nvSpPr>
          <p:cNvPr id="7" name="같은 Repository를 보고 있습니다.">
            <a:extLst xmlns:a="http://schemas.openxmlformats.org/drawingml/2006/main">
              <a:ext uri="{FF2B5EF4-FFF2-40B4-BE49-F238E27FC236}">
                <a16:creationId xmlns:a16="http://schemas.microsoft.com/office/drawing/2014/main" id="{FDE07CBF-A529-4219-BFE8-988B3975C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Repository를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A6562-52A0-4D1D-A317-5C73707A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343400" cy="1943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요청">
            <a:extLst xmlns:a="http://schemas.openxmlformats.org/drawingml/2006/main">
              <a:ext uri="{FF2B5EF4-FFF2-40B4-BE49-F238E27FC236}">
                <a16:creationId xmlns:a16="http://schemas.microsoft.com/office/drawing/2014/main" id="{93D394D8-6293-4EE4-8604-C57C17D8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62275"/>
            <a:ext cx="3886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</a:t>
            </a:r>
          </a:p>
        </p:txBody>
      </p:sp>
      <p:sp>
        <p:nvSpPr>
          <p:cNvPr id="10" name="“filter 성능&#10;개선해줘.”">
            <a:extLst xmlns:a="http://schemas.openxmlformats.org/drawingml/2006/main">
              <a:ext uri="{FF2B5EF4-FFF2-40B4-BE49-F238E27FC236}">
                <a16:creationId xmlns:a16="http://schemas.microsoft.com/office/drawing/2014/main" id="{8848B29A-3A39-49FA-9C2A-03E4DA9A1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76625"/>
            <a:ext cx="3886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“filter 성능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개선해줘.”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E81F7-382A-4C1A-84B0-6F0BC1D8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600450"/>
            <a:ext cx="45720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바꿀 것">
            <a:extLst xmlns:a="http://schemas.openxmlformats.org/drawingml/2006/main">
              <a:ext uri="{FF2B5EF4-FFF2-40B4-BE49-F238E27FC236}">
                <a16:creationId xmlns:a16="http://schemas.microsoft.com/office/drawing/2014/main" id="{899458E5-2585-4FD5-B7B2-0140FED8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3842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바꿀 것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3232AE-DEE8-48F5-A19D-17905B4C9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8137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4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D095CFC3-3C0A-4706-B622-5DBB59AD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4322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5" name="?">
            <a:extLst xmlns:a="http://schemas.openxmlformats.org/drawingml/2006/main">
              <a:ext uri="{FF2B5EF4-FFF2-40B4-BE49-F238E27FC236}">
                <a16:creationId xmlns:a16="http://schemas.microsoft.com/office/drawing/2014/main" id="{A4F90B96-5644-477A-9205-3EC9B0FEB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293370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16" name="보존할 것">
            <a:extLst xmlns:a="http://schemas.openxmlformats.org/drawingml/2006/main">
              <a:ext uri="{FF2B5EF4-FFF2-40B4-BE49-F238E27FC236}">
                <a16:creationId xmlns:a16="http://schemas.microsoft.com/office/drawing/2014/main" id="{447FDEBD-B2C5-4AD8-8565-FF102CC6A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38550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보존할 것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CED3AC-0A87-4B94-8703-9FD8F25A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81500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8" name="무엇을 그대로 지킬까?">
            <a:extLst xmlns:a="http://schemas.openxmlformats.org/drawingml/2006/main">
              <a:ext uri="{FF2B5EF4-FFF2-40B4-BE49-F238E27FC236}">
                <a16:creationId xmlns:a16="http://schemas.microsoft.com/office/drawing/2014/main" id="{B2C85058-1318-4145-A7EC-CFD1A9B7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433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그대로 지킬까?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DA987B66-469F-4826-AFDD-09E07100F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3933825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56581A56-CFE7-4ABB-9E8F-D78C2F26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9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06341A-3B6A-473E-81A2-DBB5A02C0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81625"/>
            <a:ext cx="539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22" name="무엇을 보면 끝났다고 할까?">
            <a:extLst xmlns:a="http://schemas.openxmlformats.org/drawingml/2006/main">
              <a:ext uri="{FF2B5EF4-FFF2-40B4-BE49-F238E27FC236}">
                <a16:creationId xmlns:a16="http://schemas.microsoft.com/office/drawing/2014/main" id="{E0BE698D-ECB4-4C1D-9DDD-5A1713A2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43475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보면 끝났다고 할까?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B47456E4-C161-4A79-9391-90355FB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933950"/>
            <a:ext cx="504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50E7412-76E5-4C95-B2BF-ECCD084C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1615787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1 · 앞서 본 crop 사례로 좁히기">
            <a:extLst xmlns:a="http://schemas.openxmlformats.org/drawingml/2006/main">
              <a:ext uri="{FF2B5EF4-FFF2-40B4-BE49-F238E27FC236}">
                <a16:creationId xmlns:a16="http://schemas.microsoft.com/office/drawing/2014/main" id="{FFCC4BF7-B0C5-4FAB-9D6C-80C4053BE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앞서 본 crop 사례로 좁히기</a:t>
            </a:r>
          </a:p>
        </p:txBody>
      </p:sp>
      <p:sp>
        <p:nvSpPr>
          <p:cNvPr id="2" name="S12">
            <a:extLst xmlns:a="http://schemas.openxmlformats.org/drawingml/2006/main">
              <a:ext uri="{FF2B5EF4-FFF2-40B4-BE49-F238E27FC236}">
                <a16:creationId xmlns:a16="http://schemas.microsoft.com/office/drawing/2014/main" id="{5CAF01EE-4950-4290-949E-C1242E3A6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S12</a:t>
            </a:r>
          </a:p>
        </p:txBody>
      </p:sp>
      <p:sp>
        <p:nvSpPr>
          <p:cNvPr id="3" name="요청만으로는 의도가 보이지 않는다">
            <a:extLst xmlns:a="http://schemas.openxmlformats.org/drawingml/2006/main">
              <a:ext uri="{FF2B5EF4-FFF2-40B4-BE49-F238E27FC236}">
                <a16:creationId xmlns:a16="http://schemas.microsoft.com/office/drawing/2014/main" id="{A799D3DC-693E-4B6A-B461-9F094500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요청만으로는 의도가 보이지 않는다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9DD85D-89F8-419F-9107-B15E654C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TRIAL-002의 실제 Prompt가 아님">
            <a:extLst xmlns:a="http://schemas.openxmlformats.org/drawingml/2006/main">
              <a:ext uri="{FF2B5EF4-FFF2-40B4-BE49-F238E27FC236}">
                <a16:creationId xmlns:a16="http://schemas.microsoft.com/office/drawing/2014/main" id="{8E0167CE-B790-4810-B52B-A88FEF0F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TRIAL-002의 실제 Prompt가 아님</a:t>
            </a:r>
          </a:p>
        </p:txBody>
      </p:sp>
      <p:sp>
        <p:nvSpPr>
          <p:cNvPr id="6" name="짧은 요청을 비난하거나 이 요청이 특정 실패를 만들었다고 주장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F5208817-EAB9-4AC2-B33F-249CC9771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짧은 요청을 비난하거나 이 요청이 특정 실패를 만들었다고 주장하지 않습니다.</a:t>
            </a:r>
          </a:p>
        </p:txBody>
      </p:sp>
      <p:sp>
        <p:nvSpPr>
          <p:cNvPr id="7" name="“crop test 고쳐줘”">
            <a:extLst xmlns:a="http://schemas.openxmlformats.org/drawingml/2006/main">
              <a:ext uri="{FF2B5EF4-FFF2-40B4-BE49-F238E27FC236}">
                <a16:creationId xmlns:a16="http://schemas.microsoft.com/office/drawing/2014/main" id="{F9698E69-1A7E-4C19-B9F7-BB4D8DE2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109728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 고쳐줘”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63496-B730-4DD1-9E44-12DE16166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838450"/>
            <a:ext cx="228600" cy="29527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5F8BA4-2267-4E93-A2A7-DED514407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209925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38752-C70E-4D72-825B-93AF1AB1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CB78A-231B-400F-83BA-636C46B1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00425"/>
            <a:ext cx="514350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테스트를 바꿀까?">
            <a:extLst xmlns:a="http://schemas.openxmlformats.org/drawingml/2006/main">
              <a:ext uri="{FF2B5EF4-FFF2-40B4-BE49-F238E27FC236}">
                <a16:creationId xmlns:a16="http://schemas.microsoft.com/office/drawing/2014/main" id="{42600A2A-5019-4158-86B1-64DDDC28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테스트를 바꿀까?</a:t>
            </a:r>
          </a:p>
        </p:txBody>
      </p:sp>
      <p:sp>
        <p:nvSpPr>
          <p:cNvPr id="13" name="구현을 바꿀까?">
            <a:extLst xmlns:a="http://schemas.openxmlformats.org/drawingml/2006/main">
              <a:ext uri="{FF2B5EF4-FFF2-40B4-BE49-F238E27FC236}">
                <a16:creationId xmlns:a16="http://schemas.microsoft.com/office/drawing/2014/main" id="{1D3C9F82-D428-4280-A672-24A6B275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47244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구현을 바꿀까?</a:t>
            </a:r>
          </a:p>
        </p:txBody>
      </p:sp>
      <p:sp>
        <p:nvSpPr>
          <p:cNvPr id="14" name="아직 정해지지 않은 정보">
            <a:extLst xmlns:a="http://schemas.openxmlformats.org/drawingml/2006/main">
              <a:ext uri="{FF2B5EF4-FFF2-40B4-BE49-F238E27FC236}">
                <a16:creationId xmlns:a16="http://schemas.microsoft.com/office/drawing/2014/main" id="{CBA80DFE-F537-40AE-9834-973B727C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정해지지 않은 정보</a:t>
            </a:r>
          </a:p>
        </p:txBody>
      </p:sp>
      <p:sp>
        <p:nvSpPr>
          <p:cNvPr id="15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53DB2EF0-CE2B-4195-8E98-E9657617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16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B9327D9F-1B9E-43EC-8BA7-4A76934D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17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EF9C35E0-F485-4FF2-8C63-6868226F3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18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C56B7355-3F6E-4446-AA84-38C41BEBB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19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B01F09EF-041A-462C-9CDA-DC7869A1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2922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  <p:sp>
        <p:nvSpPr>
          <p:cNvPr id="2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14100DA-2334-44F0-A347-0A8057A0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3620248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6EB3CC72-F4D0-458A-A936-2C31AF5C6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3">
            <a:extLst xmlns:a="http://schemas.openxmlformats.org/drawingml/2006/main">
              <a:ext uri="{FF2B5EF4-FFF2-40B4-BE49-F238E27FC236}">
                <a16:creationId xmlns:a16="http://schemas.microsoft.com/office/drawing/2014/main" id="{4C7830F0-5615-4D64-9E79-0D57C4BA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S13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B13A78FD-EE43-48E8-9127-247C44AF8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0DCEC0-1618-4CBB-A053-4903BCC3E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이 과정의 질문 틀 · 정답을 제시하는 분류 시험이 아님">
            <a:extLst xmlns:a="http://schemas.openxmlformats.org/drawingml/2006/main">
              <a:ext uri="{FF2B5EF4-FFF2-40B4-BE49-F238E27FC236}">
                <a16:creationId xmlns:a16="http://schemas.microsoft.com/office/drawing/2014/main" id="{DF362094-1B17-481D-8852-FAB146E3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 과정의 질문 틀 · 정답을 제시하는 분류 시험이 아님</a:t>
            </a:r>
          </a:p>
        </p:txBody>
      </p:sp>
      <p:sp>
        <p:nvSpPr>
          <p:cNvPr id="6" name="마지막 1분은 익숙한 작업 하나를 조용히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D0D60EF7-F585-4818-8A11-E52769FD8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마지막 1분은 익숙한 작업 하나를 조용히 떠올려 보세요.</a:t>
            </a:r>
          </a:p>
        </p:txBody>
      </p:sp>
      <p:sp>
        <p:nvSpPr>
          <p:cNvPr id="7" name="“crop test 고쳐줘”에 답하기 전에">
            <a:extLst xmlns:a="http://schemas.openxmlformats.org/drawingml/2006/main">
              <a:ext uri="{FF2B5EF4-FFF2-40B4-BE49-F238E27FC236}">
                <a16:creationId xmlns:a16="http://schemas.microsoft.com/office/drawing/2014/main" id="{CFE20B2C-90CE-47F5-8CA2-2D776BA4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“crop test 고쳐줘”에 답하기 전에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B32884B-15DC-4D46-BCA5-6D8CCC6D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86632CF8-D08B-4ADD-9D32-019EEEAD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4B0103-DDD7-4298-B23E-6815CEE2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E77AE1C3-5E21-4309-AE52-56BA1FDB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8A9EBA9A-2AA8-4DF5-AC5B-BF8C6E4CF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7DB9F-5538-4DCC-B4B9-1C8011E5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D766B404-39D3-40B2-9405-D2F8A1DB9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F9072055-1A9C-42F1-A2EE-8EF6FA2F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265DEE-03A7-4F7A-94B5-065DC51A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EDCDEC90-7E3A-42F3-A2BE-8A6E3F79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6251085C-7760-4317-AC81-063660E15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8AECD4-6DB0-4F5F-9CC2-32C8C8C7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A7D5B9-21B5-4C9E-98D3-528B9900B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84B2DC39-31BF-4347-9021-2E178E3B7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321DA336-2B0D-4083-8226-CC10B200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2616C52-EB99-4255-8BEF-C4A8A689D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</a:t>
            </a:r>
          </a:p>
        </p:txBody>
      </p:sp>
    </p:spTree>
    <p:extLst>
      <p:ext uri="{BB962C8B-B14F-4D97-AF65-F5344CB8AC3E}">
        <p14:creationId xmlns:p14="http://schemas.microsoft.com/office/powerpoint/2010/main" val="1765930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0177FE57-5962-43FC-81D9-B40A34F7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14">
            <a:extLst xmlns:a="http://schemas.openxmlformats.org/drawingml/2006/main">
              <a:ext uri="{FF2B5EF4-FFF2-40B4-BE49-F238E27FC236}">
                <a16:creationId xmlns:a16="http://schemas.microsoft.com/office/drawing/2014/main" id="{8466E845-6437-41D9-BCDB-73CADA5F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S14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2E5C7BA1-7730-4C22-8372-BE98E5505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DDA4BA-CBC5-476B-AC7F-2F74BA3F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교육 모델 · 공식 OpenAI 분류나 모든 작업에 대한 법칙이 아님">
            <a:extLst xmlns:a="http://schemas.openxmlformats.org/drawingml/2006/main">
              <a:ext uri="{FF2B5EF4-FFF2-40B4-BE49-F238E27FC236}">
                <a16:creationId xmlns:a16="http://schemas.microsoft.com/office/drawing/2014/main" id="{17B72244-66E4-49AB-A797-F037C6F86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교육 모델 · 공식 OpenAI 분류나 모든 작업에 대한 법칙이 아님</a:t>
            </a:r>
          </a:p>
        </p:txBody>
      </p:sp>
      <p:sp>
        <p:nvSpPr>
          <p:cNvPr id="6" name="다섯 항목은 서로 분리된 기능이 아니라 하나의 작업 요청에 담는 책임입니다.">
            <a:extLst xmlns:a="http://schemas.openxmlformats.org/drawingml/2006/main">
              <a:ext uri="{FF2B5EF4-FFF2-40B4-BE49-F238E27FC236}">
                <a16:creationId xmlns:a16="http://schemas.microsoft.com/office/drawing/2014/main" id="{F5700059-D3DA-4A58-B26B-4EFCF74F0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다섯 항목은 서로 분리된 기능이 아니라 하나의 작업 요청에 담는 책임입니다.</a:t>
            </a:r>
          </a:p>
        </p:txBody>
      </p:sp>
      <p:sp>
        <p:nvSpPr>
          <p:cNvPr id="7" name="앞의 질문을 묶고, 필요한 맥락과 작업 과정을 명시한다">
            <a:extLst xmlns:a="http://schemas.openxmlformats.org/drawingml/2006/main">
              <a:ext uri="{FF2B5EF4-FFF2-40B4-BE49-F238E27FC236}">
                <a16:creationId xmlns:a16="http://schemas.microsoft.com/office/drawing/2014/main" id="{BDA68AA1-B3E7-4AF6-AF11-8384D080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질문을 묶고, 필요한 맥락과 작업 과정을 명시한다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36C9C-0F93-44AA-B443-A6E20F22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18C3DE-AAB2-4033-B0DD-64C8FCCD4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0043DDD1-10EF-4DA4-88EB-7C5E95057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1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4FF61466-7EBA-4198-91C4-364224A8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2" name="어떤 결과를 바꿀까?">
            <a:extLst xmlns:a="http://schemas.openxmlformats.org/drawingml/2006/main">
              <a:ext uri="{FF2B5EF4-FFF2-40B4-BE49-F238E27FC236}">
                <a16:creationId xmlns:a16="http://schemas.microsoft.com/office/drawing/2014/main" id="{9CAC549E-94AF-4C00-B992-6D2D0864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결과를 바꿀까?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3D8791-0C40-4B38-A0BF-A8522C9B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6180E964-F397-46E9-BEE8-FB37D70E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5" name="이 작업에 필요한 사실은?">
            <a:extLst xmlns:a="http://schemas.openxmlformats.org/drawingml/2006/main">
              <a:ext uri="{FF2B5EF4-FFF2-40B4-BE49-F238E27FC236}">
                <a16:creationId xmlns:a16="http://schemas.microsoft.com/office/drawing/2014/main" id="{19913903-FE56-4DB4-B1DB-37962D55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필요한 사실은?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53DF7A-FA34-4A70-BDE4-6015A07B7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17F0E656-CE8B-4BA7-8F8E-9CAB81FD1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8" name="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7A9C9D36-0A76-4284-B4F6-477D5BED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3659C3-BEEB-4053-BB17-62C295830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362E36C4-9BFE-441F-952D-AE1B1457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1" name="어떤 순서·경계를 지킬까?">
            <a:extLst xmlns:a="http://schemas.openxmlformats.org/drawingml/2006/main">
              <a:ext uri="{FF2B5EF4-FFF2-40B4-BE49-F238E27FC236}">
                <a16:creationId xmlns:a16="http://schemas.microsoft.com/office/drawing/2014/main" id="{85F54346-EA33-4DB8-87FB-E214B0FA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순서·경계를 지킬까?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2B3E57-4ECC-4AD1-A146-E2C016E4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6E4E20CC-81F2-48DD-9ADF-015D7BAB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4" name="무엇으로 완료를 확인할까?">
            <a:extLst xmlns:a="http://schemas.openxmlformats.org/drawingml/2006/main">
              <a:ext uri="{FF2B5EF4-FFF2-40B4-BE49-F238E27FC236}">
                <a16:creationId xmlns:a16="http://schemas.microsoft.com/office/drawing/2014/main" id="{D96C6EB8-8763-4C2D-AE53-FD6882A5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완료를 확인할까?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0B5E42D-75BB-4CB4-A8F5-1201E533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35613314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1 · 같은 요청을 구체화하기">
            <a:extLst xmlns:a="http://schemas.openxmlformats.org/drawingml/2006/main">
              <a:ext uri="{FF2B5EF4-FFF2-40B4-BE49-F238E27FC236}">
                <a16:creationId xmlns:a16="http://schemas.microsoft.com/office/drawing/2014/main" id="{849893CC-76D9-4B53-989B-7EB479F9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요청을 구체화하기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E27246C1-04AF-4A4B-9DEA-346F5608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더 긴 Prompt보다 분명한 경계">
            <a:extLst xmlns:a="http://schemas.openxmlformats.org/drawingml/2006/main">
              <a:ext uri="{FF2B5EF4-FFF2-40B4-BE49-F238E27FC236}">
                <a16:creationId xmlns:a16="http://schemas.microsoft.com/office/drawing/2014/main" id="{8C4BA1E5-EDF1-4D76-A874-A087ED9E4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더 긴 Prompt보다 분명한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67DAD-325C-434F-94F3-B80D7906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Before / After · 실제 Trial Prompt나 우월성 비교 실험이 아님">
            <a:extLst xmlns:a="http://schemas.openxmlformats.org/drawingml/2006/main">
              <a:ext uri="{FF2B5EF4-FFF2-40B4-BE49-F238E27FC236}">
                <a16:creationId xmlns:a16="http://schemas.microsoft.com/office/drawing/2014/main" id="{A4D59BBD-93E9-48BD-92AB-27E2837C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Before / After · 실제 Trial Prompt나 우월성 비교 실험이 아님</a:t>
            </a:r>
          </a:p>
        </p:txBody>
      </p:sp>
      <p:sp>
        <p:nvSpPr>
          <p:cNvPr id="6" name="완료 조건과 C++ 적용은 교육용 예시입니다. 특정 Windows·빌드 환경을 검증한 것은 아닙니다.">
            <a:extLst xmlns:a="http://schemas.openxmlformats.org/drawingml/2006/main">
              <a:ext uri="{FF2B5EF4-FFF2-40B4-BE49-F238E27FC236}">
                <a16:creationId xmlns:a16="http://schemas.microsoft.com/office/drawing/2014/main" id="{049F69B4-F926-4056-9835-90BCFC49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조건과 C++ 적용은 교육용 예시입니다. 특정 Windows·빌드 환경을 검증한 것은 아닙니다.</a:t>
            </a:r>
          </a:p>
        </p:txBody>
      </p:sp>
      <p:sp>
        <p:nvSpPr>
          <p:cNvPr id="7" name="처음 요청">
            <a:extLst xmlns:a="http://schemas.openxmlformats.org/drawingml/2006/main">
              <a:ext uri="{FF2B5EF4-FFF2-40B4-BE49-F238E27FC236}">
                <a16:creationId xmlns:a16="http://schemas.microsoft.com/office/drawing/2014/main" id="{35EC2796-6438-489C-8627-E8944AF64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2819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처음 요청</a:t>
            </a:r>
          </a:p>
        </p:txBody>
      </p:sp>
      <p:sp>
        <p:nvSpPr>
          <p:cNvPr id="8" name="“crop test&#10;고쳐줘.”">
            <a:extLst xmlns:a="http://schemas.openxmlformats.org/drawingml/2006/main">
              <a:ext uri="{FF2B5EF4-FFF2-40B4-BE49-F238E27FC236}">
                <a16:creationId xmlns:a16="http://schemas.microsoft.com/office/drawing/2014/main" id="{376AC6B6-01AC-4104-9305-6350515A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7813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</a:t>
            </a:r>
          </a:p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고쳐줘.”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7C646E-BDBF-44E4-BDC6-6F6490D9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295650"/>
            <a:ext cx="4381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추가한 정보">
            <a:extLst xmlns:a="http://schemas.openxmlformats.org/drawingml/2006/main">
              <a:ext uri="{FF2B5EF4-FFF2-40B4-BE49-F238E27FC236}">
                <a16:creationId xmlns:a16="http://schemas.microsoft.com/office/drawing/2014/main" id="{AFF61633-7ED0-4F1A-A827-DEE5494F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90725"/>
            <a:ext cx="714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추가한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8F6C3-2589-4AEA-8A10-6C90221F7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목표·맥락">
            <a:extLst xmlns:a="http://schemas.openxmlformats.org/drawingml/2006/main">
              <a:ext uri="{FF2B5EF4-FFF2-40B4-BE49-F238E27FC236}">
                <a16:creationId xmlns:a16="http://schemas.microsoft.com/office/drawing/2014/main" id="{967E75E3-78F9-4AC3-807A-8AFC71FB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24125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목표·맥락</a:t>
            </a:r>
          </a:p>
        </p:txBody>
      </p:sp>
      <p:sp>
        <p:nvSpPr>
          <p:cNvPr id="13" name="crop 경계 실패를 조사·수정한다.">
            <a:extLst xmlns:a="http://schemas.openxmlformats.org/drawingml/2006/main">
              <a:ext uri="{FF2B5EF4-FFF2-40B4-BE49-F238E27FC236}">
                <a16:creationId xmlns:a16="http://schemas.microsoft.com/office/drawing/2014/main" id="{287098EA-477B-48E2-BE28-7CBF673A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24125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실패를 조사·수정한다.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01A7B-02C8-4DBD-93E7-5EF383912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19425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제약">
            <a:extLst xmlns:a="http://schemas.openxmlformats.org/drawingml/2006/main">
              <a:ext uri="{FF2B5EF4-FFF2-40B4-BE49-F238E27FC236}">
                <a16:creationId xmlns:a16="http://schemas.microsoft.com/office/drawing/2014/main" id="{06D6B8F9-478D-4DB8-BD4F-0D811FC15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861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6" name="끝 좌표 제외, 무관한 API·의존성 유지">
            <a:extLst xmlns:a="http://schemas.openxmlformats.org/drawingml/2006/main">
              <a:ext uri="{FF2B5EF4-FFF2-40B4-BE49-F238E27FC236}">
                <a16:creationId xmlns:a16="http://schemas.microsoft.com/office/drawing/2014/main" id="{D17325C2-52B7-473C-9B78-DA4DBEDE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861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제외, 무관한 API·의존성 유지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0FB556-EAA3-4668-94EB-6B6F0BE6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8140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과정">
            <a:extLst xmlns:a="http://schemas.openxmlformats.org/drawingml/2006/main">
              <a:ext uri="{FF2B5EF4-FFF2-40B4-BE49-F238E27FC236}">
                <a16:creationId xmlns:a16="http://schemas.microsoft.com/office/drawing/2014/main" id="{D76AB4FD-D1AA-481B-B7FE-117976A7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48075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</a:t>
            </a:r>
          </a:p>
        </p:txBody>
      </p:sp>
      <p:sp>
        <p:nvSpPr>
          <p:cNvPr id="19" name="재현 → 조사 → 계획 → 최소 수정">
            <a:extLst xmlns:a="http://schemas.openxmlformats.org/drawingml/2006/main">
              <a:ext uri="{FF2B5EF4-FFF2-40B4-BE49-F238E27FC236}">
                <a16:creationId xmlns:a16="http://schemas.microsoft.com/office/drawing/2014/main" id="{4693E2D5-B887-4D11-B87D-96042934E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48075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→ 조사 → 계획 → 최소 수정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6169F8-4257-4F35-AF58-495D7839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43375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검증">
            <a:extLst xmlns:a="http://schemas.openxmlformats.org/drawingml/2006/main">
              <a:ext uri="{FF2B5EF4-FFF2-40B4-BE49-F238E27FC236}">
                <a16:creationId xmlns:a16="http://schemas.microsoft.com/office/drawing/2014/main" id="{9D4E27D3-C419-41CA-BF64-D052C10E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1005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2" name="집중·전체 Test + CLI smoke + diff">
            <a:extLst xmlns:a="http://schemas.openxmlformats.org/drawingml/2006/main">
              <a:ext uri="{FF2B5EF4-FFF2-40B4-BE49-F238E27FC236}">
                <a16:creationId xmlns:a16="http://schemas.microsoft.com/office/drawing/2014/main" id="{3225672A-EC56-4CB9-8B89-01B547A88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1005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집중·전체 Test + CLI smoke +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DEFF24-9526-406A-BAAB-98CA9E4C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완료 조건 예 · 4열 입력의 crop 1 3 → 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5C354C58-DE58-4B7E-ABD9-E5877FA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조건 예 · 4열 입력의 crop 1 3 → 원본 열 1·2, 폭 2</a:t>
            </a:r>
          </a:p>
        </p:txBody>
      </p:sp>
      <p:sp>
        <p:nvSpPr>
          <p:cNvPr id="25" name="C++에도: 출력·API/ABI 보존 범위와 Release 검증 조건을 먼저 정한다.">
            <a:extLst xmlns:a="http://schemas.openxmlformats.org/drawingml/2006/main">
              <a:ext uri="{FF2B5EF4-FFF2-40B4-BE49-F238E27FC236}">
                <a16:creationId xmlns:a16="http://schemas.microsoft.com/office/drawing/2014/main" id="{9226942B-9E55-487C-A87F-1E4072145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C++에도: 출력·API/ABI 보존 범위와 Release 검증 조건을 먼저 정한다.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B726A3C-8C9E-4332-93BC-F5B7F65C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 · M6</a:t>
            </a:r>
          </a:p>
        </p:txBody>
      </p:sp>
    </p:spTree>
    <p:extLst>
      <p:ext uri="{BB962C8B-B14F-4D97-AF65-F5344CB8AC3E}">
        <p14:creationId xmlns:p14="http://schemas.microsoft.com/office/powerpoint/2010/main" val="11532870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1 · TRIAL-002 관찰 시작">
            <a:extLst xmlns:a="http://schemas.openxmlformats.org/drawingml/2006/main">
              <a:ext uri="{FF2B5EF4-FFF2-40B4-BE49-F238E27FC236}">
                <a16:creationId xmlns:a16="http://schemas.microsoft.com/office/drawing/2014/main" id="{09694CC1-4B8B-4608-8944-26382A61F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TRIAL-002 관찰 시작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33649A2C-822E-40C9-8EDF-A9D4338B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먼저 무엇을 하는지 보자">
            <a:extLst xmlns:a="http://schemas.openxmlformats.org/drawingml/2006/main">
              <a:ext uri="{FF2B5EF4-FFF2-40B4-BE49-F238E27FC236}">
                <a16:creationId xmlns:a16="http://schemas.microsoft.com/office/drawing/2014/main" id="{005FAB4A-F596-46F6-8FA5-453E2166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무엇을 하는지 보자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EEC521-32AF-4B34-9C3F-CA1E0BB5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관찰 기준 · 2026-09-28 · Codex CLI 0.154.0 · macOS">
            <a:extLst xmlns:a="http://schemas.openxmlformats.org/drawingml/2006/main">
              <a:ext uri="{FF2B5EF4-FFF2-40B4-BE49-F238E27FC236}">
                <a16:creationId xmlns:a16="http://schemas.microsoft.com/office/drawing/2014/main" id="{6ABE02E3-E350-4D21-8E52-59D08193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관찰 기준 · 2026-09-28 · Codex CLI 0.154.0 · macOS</a:t>
            </a:r>
          </a:p>
        </p:txBody>
      </p:sp>
      <p:sp>
        <p:nvSpPr>
          <p:cNvPr id="6" name="단일 과거 CLI 기록을 살펴봅니다. 현재 Desktop 실행이나 반복성을 입증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1C6E3E81-5A74-404E-B0E0-635EA69F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단일 과거 CLI 기록을 살펴봅니다. 현재 Desktop 실행이나 반복성을 입증하지 않습니다.</a:t>
            </a:r>
          </a:p>
        </p:txBody>
      </p:sp>
      <p:sp>
        <p:nvSpPr>
          <p:cNvPr id="7" name="“실제 기록에서는 수정 전에 무엇을 했을까?”">
            <a:extLst xmlns:a="http://schemas.openxmlformats.org/drawingml/2006/main">
              <a:ext uri="{FF2B5EF4-FFF2-40B4-BE49-F238E27FC236}">
                <a16:creationId xmlns:a16="http://schemas.microsoft.com/office/drawing/2014/main" id="{75FC6F13-1CF6-419A-A0C8-34BBD8F3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“실제 기록에서는 수정 전에 무엇을 했을까?”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C699A5DE-417A-4BCB-9525-08B1A13B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재현">
            <a:extLst xmlns:a="http://schemas.openxmlformats.org/drawingml/2006/main">
              <a:ext uri="{FF2B5EF4-FFF2-40B4-BE49-F238E27FC236}">
                <a16:creationId xmlns:a16="http://schemas.microsoft.com/office/drawing/2014/main" id="{A623E5DF-04E0-4A45-8BB3-E02E463FC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</a:t>
            </a:r>
          </a:p>
        </p:txBody>
      </p:sp>
      <p:sp>
        <p:nvSpPr>
          <p:cNvPr id="10" name="실패 확인">
            <a:extLst xmlns:a="http://schemas.openxmlformats.org/drawingml/2006/main">
              <a:ext uri="{FF2B5EF4-FFF2-40B4-BE49-F238E27FC236}">
                <a16:creationId xmlns:a16="http://schemas.microsoft.com/office/drawing/2014/main" id="{CCB46D64-1F71-4182-8D74-FD514772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실패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475CCE-171A-4333-A7C7-5BDEB81D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BA7D92C1-3AB9-487F-81B6-67C843227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조사">
            <a:extLst xmlns:a="http://schemas.openxmlformats.org/drawingml/2006/main">
              <a:ext uri="{FF2B5EF4-FFF2-40B4-BE49-F238E27FC236}">
                <a16:creationId xmlns:a16="http://schemas.microsoft.com/office/drawing/2014/main" id="{9E790B3E-7AE9-48AE-BF76-2E86269E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14" name="근거 연결">
            <a:extLst xmlns:a="http://schemas.openxmlformats.org/drawingml/2006/main">
              <a:ext uri="{FF2B5EF4-FFF2-40B4-BE49-F238E27FC236}">
                <a16:creationId xmlns:a16="http://schemas.microsoft.com/office/drawing/2014/main" id="{90B8533B-BC64-4340-96E3-120842FA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4BABE3-F869-41B0-9114-D20A56807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3856840D-11A4-44F1-B516-5F188D61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계획">
            <a:extLst xmlns:a="http://schemas.openxmlformats.org/drawingml/2006/main">
              <a:ext uri="{FF2B5EF4-FFF2-40B4-BE49-F238E27FC236}">
                <a16:creationId xmlns:a16="http://schemas.microsoft.com/office/drawing/2014/main" id="{CF2E6E63-4C3A-4954-B8B2-08653C9B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8" name="수정 전 설명">
            <a:extLst xmlns:a="http://schemas.openxmlformats.org/drawingml/2006/main">
              <a:ext uri="{FF2B5EF4-FFF2-40B4-BE49-F238E27FC236}">
                <a16:creationId xmlns:a16="http://schemas.microsoft.com/office/drawing/2014/main" id="{74264087-AAFA-45D0-994F-896639D5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전 설명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1811F8-D974-4045-95D0-C4C2D1D1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915558D2-729F-4DC0-97AF-B85AA6F5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수정">
            <a:extLst xmlns:a="http://schemas.openxmlformats.org/drawingml/2006/main">
              <a:ext uri="{FF2B5EF4-FFF2-40B4-BE49-F238E27FC236}">
                <a16:creationId xmlns:a16="http://schemas.microsoft.com/office/drawing/2014/main" id="{0BC844FB-ECAD-49E3-9955-510510CF2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22" name="최소 변경">
            <a:extLst xmlns:a="http://schemas.openxmlformats.org/drawingml/2006/main">
              <a:ext uri="{FF2B5EF4-FFF2-40B4-BE49-F238E27FC236}">
                <a16:creationId xmlns:a16="http://schemas.microsoft.com/office/drawing/2014/main" id="{531C54F1-A120-4949-A79E-37AC0D3BC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최소 변경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592D0D-8A6F-4C2D-A27D-79FE57433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4" name="05">
            <a:extLst xmlns:a="http://schemas.openxmlformats.org/drawingml/2006/main">
              <a:ext uri="{FF2B5EF4-FFF2-40B4-BE49-F238E27FC236}">
                <a16:creationId xmlns:a16="http://schemas.microsoft.com/office/drawing/2014/main" id="{516F918D-F1F5-4346-B06B-4A541C0EC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검증">
            <a:extLst xmlns:a="http://schemas.openxmlformats.org/drawingml/2006/main">
              <a:ext uri="{FF2B5EF4-FFF2-40B4-BE49-F238E27FC236}">
                <a16:creationId xmlns:a16="http://schemas.microsoft.com/office/drawing/2014/main" id="{37A3BE51-4451-4647-818A-08E75288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6" name="결과 확인">
            <a:extLst xmlns:a="http://schemas.openxmlformats.org/drawingml/2006/main">
              <a:ext uri="{FF2B5EF4-FFF2-40B4-BE49-F238E27FC236}">
                <a16:creationId xmlns:a16="http://schemas.microsoft.com/office/drawing/2014/main" id="{5B8F8985-0A4D-4450-9DB5-179161C79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결과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6F41F2-5884-4C7D-8879-95127421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다음 두 장에서 TRIAL-002의 요청 흐름과 행동을 대조한다.">
            <a:extLst xmlns:a="http://schemas.openxmlformats.org/drawingml/2006/main">
              <a:ext uri="{FF2B5EF4-FFF2-40B4-BE49-F238E27FC236}">
                <a16:creationId xmlns:a16="http://schemas.microsoft.com/office/drawing/2014/main" id="{8A34BD7D-C29A-4699-ACD2-79BFF0BA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두 장에서 TRIAL-002의 요청 흐름과 행동을 대조한다.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774C154-951E-4B67-847A-73E9EA02C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1037655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1 · 계약을 보존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785E0F3D-C134-4910-8C94-3216DF67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계약을 보존하는 최소 변경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91B2DB6D-D7DB-4A36-8C9A-B8E0478CE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1172B301-BC73-4B9C-9647-907B9C7A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6BAC91-11D4-48FB-AB89-1BC01FBA1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· STATE-00 → STATE-00-FIXED · 실제 diff를 재구성한 도식">
            <a:extLst xmlns:a="http://schemas.openxmlformats.org/drawingml/2006/main">
              <a:ext uri="{FF2B5EF4-FFF2-40B4-BE49-F238E27FC236}">
                <a16:creationId xmlns:a16="http://schemas.microsoft.com/office/drawing/2014/main" id="{635BE1CB-23FA-45F7-8782-4D5474C05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· STATE-00 → STATE-00-FIXED · 실제 diff를 재구성한 도식</a:t>
            </a:r>
          </a:p>
        </p:txBody>
      </p:sp>
      <p:sp>
        <p:nvSpPr>
          <p:cNvPr id="6" name="src/graypipe/transform.py · 단일 CLI 기록 · 실제 터미널 화면이 아님">
            <a:extLst xmlns:a="http://schemas.openxmlformats.org/drawingml/2006/main">
              <a:ext uri="{FF2B5EF4-FFF2-40B4-BE49-F238E27FC236}">
                <a16:creationId xmlns:a16="http://schemas.microsoft.com/office/drawing/2014/main" id="{39ADB497-9C88-4994-990A-760BC380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src/graypipe/transform.py · 단일 CLI 기록 · 실제 터미널 화면이 아님</a:t>
            </a:r>
          </a:p>
        </p:txBody>
      </p:sp>
      <p:sp>
        <p:nvSpPr>
          <p:cNvPr id="7" name="실패 테스트 → 호출 경로 → 계약 확인 → 수정 전 계획">
            <a:extLst xmlns:a="http://schemas.openxmlformats.org/drawingml/2006/main">
              <a:ext uri="{FF2B5EF4-FFF2-40B4-BE49-F238E27FC236}">
                <a16:creationId xmlns:a16="http://schemas.microsoft.com/office/drawing/2014/main" id="{EBD35E40-DA6F-4D03-B47E-F5B12E199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실패 테스트 → 호출 경로 → 계약 확인 → 수정 전 계획</a:t>
            </a:r>
          </a:p>
        </p:txBody>
      </p:sp>
      <p:sp>
        <p:nvSpPr>
          <p:cNvPr id="8" name="끝 좌표를 제외한다: [x_start, x_end)">
            <a:extLst xmlns:a="http://schemas.openxmlformats.org/drawingml/2006/main">
              <a:ext uri="{FF2B5EF4-FFF2-40B4-BE49-F238E27FC236}">
                <a16:creationId xmlns:a16="http://schemas.microsoft.com/office/drawing/2014/main" id="{49F1697C-E4F5-4F96-8BCD-B4F3C796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제외한다: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9AF9E5-55A7-473E-9DD3-1BC1DB09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C50410-0E26-4241-B03C-232C14D2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881D9572-5B23-4ABD-895B-4BB39C37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FC6E42D4-AC63-4045-9419-1C068534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D9F46B83-8B35-4ED4-836F-C5CBD201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3A0473DE-9ABE-4023-9F7F-6A822A826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1A508-6591-4714-B01D-5AA9E2FD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432F50DF-0308-4B11-83DD-5B2A1EE3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계약대로 너비 2">
            <a:extLst xmlns:a="http://schemas.openxmlformats.org/drawingml/2006/main">
              <a:ext uri="{FF2B5EF4-FFF2-40B4-BE49-F238E27FC236}">
                <a16:creationId xmlns:a16="http://schemas.microsoft.com/office/drawing/2014/main" id="{FEF67157-E115-4FC2-96BC-9F238F95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계약대로 너비 2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474D91-A2D4-4DA9-B909-9745E48C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6194669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1 · 수정 뒤 확인한 것">
            <a:extLst xmlns:a="http://schemas.openxmlformats.org/drawingml/2006/main">
              <a:ext uri="{FF2B5EF4-FFF2-40B4-BE49-F238E27FC236}">
                <a16:creationId xmlns:a16="http://schemas.microsoft.com/office/drawing/2014/main" id="{5D851F56-7426-45C1-A290-57DC8FA4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뒤 확인한 것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6A9B263C-6D16-4E1F-AA26-296CF6B8D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8F1A3FB6-26CC-4DFA-8512-702862712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06DA3-BDD9-4EC0-899A-A8E5D3C5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기록 요약 · 단일 Codex CLI 실행 · STATE-00-FIXED">
            <a:extLst xmlns:a="http://schemas.openxmlformats.org/drawingml/2006/main">
              <a:ext uri="{FF2B5EF4-FFF2-40B4-BE49-F238E27FC236}">
                <a16:creationId xmlns:a16="http://schemas.microsoft.com/office/drawing/2014/main" id="{280BFB05-B6E4-424D-9C99-BA3720187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기록 요약 · 단일 Codex CLI 실행 · STATE-00-FIXED</a:t>
            </a:r>
          </a:p>
        </p:txBody>
      </p:sp>
      <p:sp>
        <p:nvSpPr>
          <p:cNvPr id="6" name="해당 테스트·입력·수정 범위의 확인입니다. 성능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BBA734FA-8BAB-4FBA-B152-62A5BE145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테스트·입력·수정 범위의 확인입니다. 성능 benchmark는 수행하지 않았습니다.</a:t>
            </a:r>
          </a:p>
        </p:txBody>
      </p:sp>
      <p:sp>
        <p:nvSpPr>
          <p:cNvPr id="7" name="동작 확인">
            <a:extLst xmlns:a="http://schemas.openxmlformats.org/drawingml/2006/main">
              <a:ext uri="{FF2B5EF4-FFF2-40B4-BE49-F238E27FC236}">
                <a16:creationId xmlns:a16="http://schemas.microsoft.com/office/drawing/2014/main" id="{DADDCFD6-D3D6-41D5-8F4F-872DDDDD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E1C8E2-580F-4008-8644-5BAD8C7C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3 / 3">
            <a:extLst xmlns:a="http://schemas.openxmlformats.org/drawingml/2006/main">
              <a:ext uri="{FF2B5EF4-FFF2-40B4-BE49-F238E27FC236}">
                <a16:creationId xmlns:a16="http://schemas.microsoft.com/office/drawing/2014/main" id="{A00DF8A5-6FC2-4427-80A8-2B22EED8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0" name="crop 집중 테스트">
            <a:extLst xmlns:a="http://schemas.openxmlformats.org/drawingml/2006/main">
              <a:ext uri="{FF2B5EF4-FFF2-40B4-BE49-F238E27FC236}">
                <a16:creationId xmlns:a16="http://schemas.microsoft.com/office/drawing/2014/main" id="{D5B5CCF5-C722-4334-9A6C-FA371D11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집중 테스트</a:t>
            </a:r>
          </a:p>
        </p:txBody>
      </p:sp>
      <p:sp>
        <p:nvSpPr>
          <p:cNvPr id="11" name="전체 suite 11 / 11 통과">
            <a:extLst xmlns:a="http://schemas.openxmlformats.org/drawingml/2006/main">
              <a:ext uri="{FF2B5EF4-FFF2-40B4-BE49-F238E27FC236}">
                <a16:creationId xmlns:a16="http://schemas.microsoft.com/office/drawing/2014/main" id="{53657A36-CF40-4A2C-A77A-818BD912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suite 11 / 11 통과</a:t>
            </a:r>
          </a:p>
        </p:txBody>
      </p:sp>
      <p:sp>
        <p:nvSpPr>
          <p:cNvPr id="12" name="실행 확인">
            <a:extLst xmlns:a="http://schemas.openxmlformats.org/drawingml/2006/main">
              <a:ext uri="{FF2B5EF4-FFF2-40B4-BE49-F238E27FC236}">
                <a16:creationId xmlns:a16="http://schemas.microsoft.com/office/drawing/2014/main" id="{FCBAEBA5-9DA8-4840-881A-E028C220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8C227-9EA3-4344-9A48-70D7311EF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PASS">
            <a:extLst xmlns:a="http://schemas.openxmlformats.org/drawingml/2006/main">
              <a:ext uri="{FF2B5EF4-FFF2-40B4-BE49-F238E27FC236}">
                <a16:creationId xmlns:a16="http://schemas.microsoft.com/office/drawing/2014/main" id="{D5DB3BDB-28BA-4CE5-ADF6-998C6442B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5" name="CLI smoke">
            <a:extLst xmlns:a="http://schemas.openxmlformats.org/drawingml/2006/main">
              <a:ext uri="{FF2B5EF4-FFF2-40B4-BE49-F238E27FC236}">
                <a16:creationId xmlns:a16="http://schemas.microsoft.com/office/drawing/2014/main" id="{B07B295A-FDD5-4C2F-BF3D-73D9F667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6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6890630E-E6C9-42BE-9325-66D50FB6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7" name="범위 확인">
            <a:extLst xmlns:a="http://schemas.openxmlformats.org/drawingml/2006/main">
              <a:ext uri="{FF2B5EF4-FFF2-40B4-BE49-F238E27FC236}">
                <a16:creationId xmlns:a16="http://schemas.microsoft.com/office/drawing/2014/main" id="{DA4E4DD6-2633-47B0-92CE-484BD064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EE95F8-A8DE-4B87-9229-072DE53D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1줄">
            <a:extLst xmlns:a="http://schemas.openxmlformats.org/drawingml/2006/main">
              <a:ext uri="{FF2B5EF4-FFF2-40B4-BE49-F238E27FC236}">
                <a16:creationId xmlns:a16="http://schemas.microsoft.com/office/drawing/2014/main" id="{5E3F6B2C-8CBD-4258-ABDE-886E2048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0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0E383801-E3EE-4939-9618-09B58689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1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91DDB1C8-81E1-4C91-8813-7D266EE6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C4EA1D2-F5C3-44A0-94F4-E91EF04F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552811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생성 뒤에 남는 판단">
            <a:extLst xmlns:a="http://schemas.openxmlformats.org/drawingml/2006/main">
              <a:ext uri="{FF2B5EF4-FFF2-40B4-BE49-F238E27FC236}">
                <a16:creationId xmlns:a16="http://schemas.microsoft.com/office/drawing/2014/main" id="{F8F38D1E-8BB5-4DE0-9945-3DDA93C6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생성 뒤에 남는 판단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9FD64CAB-A51D-4763-B198-A5CE610A5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D2A4B257-32ED-4C4B-AC02-0B61623F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94F0A-9DBC-4B9F-9F5B-386EACDDA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결과 인계 예 · TRIAL-002 기록 재구성 · 실제 PR 원문이 아님">
            <a:extLst xmlns:a="http://schemas.openxmlformats.org/drawingml/2006/main">
              <a:ext uri="{FF2B5EF4-FFF2-40B4-BE49-F238E27FC236}">
                <a16:creationId xmlns:a16="http://schemas.microsoft.com/office/drawing/2014/main" id="{89EB9121-29B8-44F4-8A41-4CDE0BEB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결과 인계 예 · TRIAL-002 기록 재구성 · 실제 PR 원문이 아님</a:t>
            </a:r>
          </a:p>
        </p:txBody>
      </p:sp>
      <p:sp>
        <p:nvSpPr>
          <p:cNvPr id="6" name="검사는 주장과 위험에 맞춰 선택합니다. TRIAL-002에서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70F806BC-A173-40D5-8E7C-353B6F5ED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검사는 주장과 위험에 맞춰 선택합니다. TRIAL-002에서 benchmark는 수행하지 않았습니다.</a:t>
            </a:r>
          </a:p>
        </p:txBody>
      </p:sp>
      <p:sp>
        <p:nvSpPr>
          <p:cNvPr id="7" name="코드가 나왔다">
            <a:extLst xmlns:a="http://schemas.openxmlformats.org/drawingml/2006/main">
              <a:ext uri="{FF2B5EF4-FFF2-40B4-BE49-F238E27FC236}">
                <a16:creationId xmlns:a16="http://schemas.microsoft.com/office/drawing/2014/main" id="{7A654BED-3FDB-45F6-B434-FA253619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코드가 나왔다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CFC3B3-65A6-45F7-BA3D-B9099C09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완료라고 말할 수 있나?">
            <a:extLst xmlns:a="http://schemas.openxmlformats.org/drawingml/2006/main">
              <a:ext uri="{FF2B5EF4-FFF2-40B4-BE49-F238E27FC236}">
                <a16:creationId xmlns:a16="http://schemas.microsoft.com/office/drawing/2014/main" id="{7E7A502C-5511-437C-BF5B-E2E4CAC1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525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완료라고 말할 수 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0CC24F-49B0-452E-B06A-C566FCE82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변경 이유·범위">
            <a:extLst xmlns:a="http://schemas.openxmlformats.org/drawingml/2006/main">
              <a:ext uri="{FF2B5EF4-FFF2-40B4-BE49-F238E27FC236}">
                <a16:creationId xmlns:a16="http://schemas.microsoft.com/office/drawing/2014/main" id="{9EB0C048-4FF5-4DAB-A4BA-2E6E1BF2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이유·범위</a:t>
            </a:r>
          </a:p>
        </p:txBody>
      </p:sp>
      <p:sp>
        <p:nvSpPr>
          <p:cNvPr id="12" name="끝 좌표 계약에 맞춰 crop 구현 1줄 수정">
            <a:extLst xmlns:a="http://schemas.openxmlformats.org/drawingml/2006/main">
              <a:ext uri="{FF2B5EF4-FFF2-40B4-BE49-F238E27FC236}">
                <a16:creationId xmlns:a16="http://schemas.microsoft.com/office/drawing/2014/main" id="{905E3587-5ECD-4C27-9480-3DD51AF3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계약에 맞춰 crop 구현 1줄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2AF352-2290-4BB7-8BBF-5472FC783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검증 근거·결과">
            <a:extLst xmlns:a="http://schemas.openxmlformats.org/drawingml/2006/main">
              <a:ext uri="{FF2B5EF4-FFF2-40B4-BE49-F238E27FC236}">
                <a16:creationId xmlns:a16="http://schemas.microsoft.com/office/drawing/2014/main" id="{7CBE66D3-3E96-48CE-81F9-5ACD8041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근거·결과</a:t>
            </a:r>
          </a:p>
        </p:txBody>
      </p:sp>
      <p:sp>
        <p:nvSpPr>
          <p:cNvPr id="15" name="집중 3/3 · 전체 11/11 · CLI smoke · diff">
            <a:extLst xmlns:a="http://schemas.openxmlformats.org/drawingml/2006/main">
              <a:ext uri="{FF2B5EF4-FFF2-40B4-BE49-F238E27FC236}">
                <a16:creationId xmlns:a16="http://schemas.microsoft.com/office/drawing/2014/main" id="{290CD0ED-263C-4391-BFA7-3AB5BE81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38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 3/3 · 전체 11/11 · CLI smoke ·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0BC5B7-7686-47B4-B755-8F907057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미확인 사항">
            <a:extLst xmlns:a="http://schemas.openxmlformats.org/drawingml/2006/main">
              <a:ext uri="{FF2B5EF4-FFF2-40B4-BE49-F238E27FC236}">
                <a16:creationId xmlns:a16="http://schemas.microsoft.com/office/drawing/2014/main" id="{917F7774-468A-4D85-8D35-3EB74FB4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미확인 사항</a:t>
            </a:r>
          </a:p>
        </p:txBody>
      </p:sp>
      <p:sp>
        <p:nvSpPr>
          <p:cNvPr id="18" name="성능 미측정 · 현재 Desktop 동작 미검증">
            <a:extLst xmlns:a="http://schemas.openxmlformats.org/drawingml/2006/main">
              <a:ext uri="{FF2B5EF4-FFF2-40B4-BE49-F238E27FC236}">
                <a16:creationId xmlns:a16="http://schemas.microsoft.com/office/drawing/2014/main" id="{02F1893F-D2C1-45D9-9CF3-EA3B03C2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0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미측정 · 현재 Desktop 동작 미검증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B1479A-568A-4EEC-AE87-98A5590A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사람의 수용 판단">
            <a:extLst xmlns:a="http://schemas.openxmlformats.org/drawingml/2006/main">
              <a:ext uri="{FF2B5EF4-FFF2-40B4-BE49-F238E27FC236}">
                <a16:creationId xmlns:a16="http://schemas.microsoft.com/office/drawing/2014/main" id="{EF1E3C40-44FC-418D-991F-4956E427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사람의 수용 판단</a:t>
            </a:r>
          </a:p>
        </p:txBody>
      </p:sp>
      <p:sp>
        <p:nvSpPr>
          <p:cNvPr id="21" name="근거와 남은 위험을 보고 완료 여부 결정">
            <a:extLst xmlns:a="http://schemas.openxmlformats.org/drawingml/2006/main">
              <a:ext uri="{FF2B5EF4-FFF2-40B4-BE49-F238E27FC236}">
                <a16:creationId xmlns:a16="http://schemas.microsoft.com/office/drawing/2014/main" id="{B06AEB8F-7D09-42E5-A620-94AE0DE40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81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근거와 남은 위험을 보고 완료 여부 결정</a:t>
            </a:r>
          </a:p>
        </p:txBody>
      </p:sp>
      <p:sp>
        <p:nvSpPr>
          <p:cNvPr id="22" name="“더 빨라졌다”고 말하려면 → 해당 조건의 성능 측정도 필요">
            <a:extLst xmlns:a="http://schemas.openxmlformats.org/drawingml/2006/main">
              <a:ext uri="{FF2B5EF4-FFF2-40B4-BE49-F238E27FC236}">
                <a16:creationId xmlns:a16="http://schemas.microsoft.com/office/drawing/2014/main" id="{0319AC94-A0F9-4F3E-B054-9BE335B1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“더 빨라졌다”고 말하려면 → 해당 조건의 성능 측정도 필요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7707619-046A-46AA-AD6C-BA78EC21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M5 · M6</a:t>
            </a:r>
          </a:p>
        </p:txBody>
      </p:sp>
    </p:spTree>
    <p:extLst>
      <p:ext uri="{BB962C8B-B14F-4D97-AF65-F5344CB8AC3E}">
        <p14:creationId xmlns:p14="http://schemas.microsoft.com/office/powerpoint/2010/main" val="6326320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1 · 근거에 맞춰 말하기">
            <a:extLst xmlns:a="http://schemas.openxmlformats.org/drawingml/2006/main">
              <a:ext uri="{FF2B5EF4-FFF2-40B4-BE49-F238E27FC236}">
                <a16:creationId xmlns:a16="http://schemas.microsoft.com/office/drawing/2014/main" id="{A4B10B2A-02E2-4212-BD44-55350E6B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근거에 맞춰 말하기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CB5596EB-02C5-47FE-B72F-82E07515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Check마다 확인하는 범위">
            <a:extLst xmlns:a="http://schemas.openxmlformats.org/drawingml/2006/main">
              <a:ext uri="{FF2B5EF4-FFF2-40B4-BE49-F238E27FC236}">
                <a16:creationId xmlns:a16="http://schemas.microsoft.com/office/drawing/2014/main" id="{5884E49C-1542-4894-BA1D-BADEC3C4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Check마다 확인하는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0CF5A-C69D-4249-9379-32A24D80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실제 확인: 집중·전체 테스트 / CLI smoke / diff · 검사 비교는 교육용 재">
            <a:extLst xmlns:a="http://schemas.openxmlformats.org/drawingml/2006/main">
              <a:ext uri="{FF2B5EF4-FFF2-40B4-BE49-F238E27FC236}">
                <a16:creationId xmlns:a16="http://schemas.microsoft.com/office/drawing/2014/main" id="{4B3ABF7C-867B-4F09-A001-E718AC9B6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실제 확인: 집중·전체 테스트 / CLI smoke / diff · 검사 비교는 교육용 재구성</a:t>
            </a:r>
          </a:p>
        </p:txBody>
      </p:sp>
      <p:sp>
        <p:nvSpPr>
          <p:cNvPr id="6" name="Benchmark는 이 Trial에서 미실행. 검사 비교는 새 테스트 실행이나 PASS 결과가 아닙니다.">
            <a:extLst xmlns:a="http://schemas.openxmlformats.org/drawingml/2006/main">
              <a:ext uri="{FF2B5EF4-FFF2-40B4-BE49-F238E27FC236}">
                <a16:creationId xmlns:a16="http://schemas.microsoft.com/office/drawing/2014/main" id="{F41D3E31-C086-49B0-B41F-D40DE48E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Benchmark는 이 Trial에서 미실행. 검사 비교는 새 테스트 실행이나 PASS 결과가 아닙니다.</a:t>
            </a:r>
          </a:p>
        </p:txBody>
      </p:sp>
      <p:sp>
        <p:nvSpPr>
          <p:cNvPr id="7" name="확인 방법">
            <a:extLst xmlns:a="http://schemas.openxmlformats.org/drawingml/2006/main">
              <a:ext uri="{FF2B5EF4-FFF2-40B4-BE49-F238E27FC236}">
                <a16:creationId xmlns:a16="http://schemas.microsoft.com/office/drawing/2014/main" id="{02D14D0C-93E3-44E4-9BC5-A08CFD90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6425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방법</a:t>
            </a:r>
          </a:p>
        </p:txBody>
      </p:sp>
      <p:sp>
        <p:nvSpPr>
          <p:cNvPr id="8" name="말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D3E2C784-C1C8-4E0B-A2E9-F5B149F2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76425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말할 수 있는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3244FD-772C-4F5E-941C-D9C1246F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집중 테스트">
            <a:extLst xmlns:a="http://schemas.openxmlformats.org/drawingml/2006/main">
              <a:ext uri="{FF2B5EF4-FFF2-40B4-BE49-F238E27FC236}">
                <a16:creationId xmlns:a16="http://schemas.microsoft.com/office/drawing/2014/main" id="{93190D5D-AEB4-49E3-A9B8-A94ACD06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집중 테스트</a:t>
            </a:r>
          </a:p>
        </p:txBody>
      </p:sp>
      <p:sp>
        <p:nvSpPr>
          <p:cNvPr id="11" name="바뀐 동작의 해당 테스트 조건">
            <a:extLst xmlns:a="http://schemas.openxmlformats.org/drawingml/2006/main">
              <a:ext uri="{FF2B5EF4-FFF2-40B4-BE49-F238E27FC236}">
                <a16:creationId xmlns:a16="http://schemas.microsoft.com/office/drawing/2014/main" id="{6BC186D4-6C2F-42C9-8BD7-B0DAF356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동작의 해당 테스트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133E29-0121-47B3-96B4-CB7DA1E7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3074007A-180D-473F-B41C-2D5FAE59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4" name="현재 suite에 담긴 회귀 범위">
            <a:extLst xmlns:a="http://schemas.openxmlformats.org/drawingml/2006/main">
              <a:ext uri="{FF2B5EF4-FFF2-40B4-BE49-F238E27FC236}">
                <a16:creationId xmlns:a16="http://schemas.microsoft.com/office/drawing/2014/main" id="{5F188631-91FF-4BE2-9077-E4D970E4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8130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suite에 담긴 회귀 범위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6D439A-60F1-4B1C-B73E-ED58AEBB5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smoke">
            <a:extLst xmlns:a="http://schemas.openxmlformats.org/drawingml/2006/main">
              <a:ext uri="{FF2B5EF4-FFF2-40B4-BE49-F238E27FC236}">
                <a16:creationId xmlns:a16="http://schemas.microsoft.com/office/drawing/2014/main" id="{03D8D061-4D08-4A41-AAC2-502FCD5F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7" name="샘플 입력의 통합 실행 경로">
            <a:extLst xmlns:a="http://schemas.openxmlformats.org/drawingml/2006/main">
              <a:ext uri="{FF2B5EF4-FFF2-40B4-BE49-F238E27FC236}">
                <a16:creationId xmlns:a16="http://schemas.microsoft.com/office/drawing/2014/main" id="{CEF1FCE4-DAB0-4CCE-AB05-ACEA378D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입력의 통합 실행 경로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533FA1-7753-4AE2-A882-E1DD50605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diff 검토">
            <a:extLst xmlns:a="http://schemas.openxmlformats.org/drawingml/2006/main">
              <a:ext uri="{FF2B5EF4-FFF2-40B4-BE49-F238E27FC236}">
                <a16:creationId xmlns:a16="http://schemas.microsoft.com/office/drawing/2014/main" id="{0A9D22A7-F0C5-4ECE-950F-6E12A26E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diff 검토</a:t>
            </a:r>
          </a:p>
        </p:txBody>
      </p:sp>
      <p:sp>
        <p:nvSpPr>
          <p:cNvPr id="20" name="변경 범위와 의도하지 않은 수정">
            <a:extLst xmlns:a="http://schemas.openxmlformats.org/drawingml/2006/main">
              <a:ext uri="{FF2B5EF4-FFF2-40B4-BE49-F238E27FC236}">
                <a16:creationId xmlns:a16="http://schemas.microsoft.com/office/drawing/2014/main" id="{CFEBD9D5-D73E-488E-AF0B-624B4FF6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5760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범위와 의도하지 않은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0D50F5-5EBD-4EE1-A5AB-6702726C0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3E16FC2E-1F1D-4E8A-ACA3-B15EA57F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23" name="측정한 입력·환경에서의 성능">
            <a:extLst xmlns:a="http://schemas.openxmlformats.org/drawingml/2006/main">
              <a:ext uri="{FF2B5EF4-FFF2-40B4-BE49-F238E27FC236}">
                <a16:creationId xmlns:a16="http://schemas.microsoft.com/office/drawing/2014/main" id="{F132DCCA-471A-4E51-9C05-9A66143A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957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측정한 입력·환경에서의 성능</a:t>
            </a:r>
          </a:p>
        </p:txBody>
      </p:sp>
      <p:sp>
        <p:nvSpPr>
          <p:cNvPr id="24" name="4열 입력 · crop 1 3의 끝 좌표 계약을 확인한다면">
            <a:extLst xmlns:a="http://schemas.openxmlformats.org/drawingml/2006/main">
              <a:ext uri="{FF2B5EF4-FFF2-40B4-BE49-F238E27FC236}">
                <a16:creationId xmlns:a16="http://schemas.microsoft.com/office/drawing/2014/main" id="{C5A93BD5-5D0E-4108-806E-5E0860BB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4열 입력 · crop 1 3의 끝 좌표 계약을 확인한다면</a:t>
            </a:r>
          </a:p>
        </p:txBody>
      </p:sp>
      <p:sp>
        <p:nvSpPr>
          <p:cNvPr id="25" name="비어 있지 않음">
            <a:extLst xmlns:a="http://schemas.openxmlformats.org/drawingml/2006/main">
              <a:ext uri="{FF2B5EF4-FFF2-40B4-BE49-F238E27FC236}">
                <a16:creationId xmlns:a16="http://schemas.microsoft.com/office/drawing/2014/main" id="{4AAAA94B-1EC2-48E3-B0D1-3CE6A707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비어 있지 않음</a:t>
            </a:r>
          </a:p>
        </p:txBody>
      </p:sp>
      <p:sp>
        <p:nvSpPr>
          <p:cNvPr id="26" name="잘못된 3열 결과도 만족할 수 있음">
            <a:extLst xmlns:a="http://schemas.openxmlformats.org/drawingml/2006/main">
              <a:ext uri="{FF2B5EF4-FFF2-40B4-BE49-F238E27FC236}">
                <a16:creationId xmlns:a16="http://schemas.microsoft.com/office/drawing/2014/main" id="{9E50D441-40CC-42CA-BEC5-B3EF8BB0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잘못된 3열 결과도 만족할 수 있음</a:t>
            </a:r>
          </a:p>
        </p:txBody>
      </p:sp>
      <p:sp>
        <p:nvSpPr>
          <p:cNvPr id="27" name="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027E7FA3-D7FE-4302-9DD6-CF21C14C7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101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원본 열 1·2, 폭 2</a:t>
            </a:r>
          </a:p>
        </p:txBody>
      </p:sp>
      <p:sp>
        <p:nvSpPr>
          <p:cNvPr id="28" name="끝 좌표 제외 계약을 직접 확인">
            <a:extLst xmlns:a="http://schemas.openxmlformats.org/drawingml/2006/main">
              <a:ext uri="{FF2B5EF4-FFF2-40B4-BE49-F238E27FC236}">
                <a16:creationId xmlns:a16="http://schemas.microsoft.com/office/drawing/2014/main" id="{BF13FD10-E9C9-4895-AFC6-0FC71FDA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53050"/>
            <a:ext cx="487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끝 좌표 제외 계약을 직접 확인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9214940-8499-46DC-B4C5-5C6132D08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04246143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1 · 반복해서 쓰는 정보 돌아보기">
            <a:extLst xmlns:a="http://schemas.openxmlformats.org/drawingml/2006/main">
              <a:ext uri="{FF2B5EF4-FFF2-40B4-BE49-F238E27FC236}">
                <a16:creationId xmlns:a16="http://schemas.microsoft.com/office/drawing/2014/main" id="{E40D9020-F65B-4A28-899F-AE3EB4D7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반복해서 쓰는 정보 돌아보기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012F9381-2D36-41A4-B20A-417D5122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이번 Task인가,&#10;계속 유지할 Project 정보인가?">
            <a:extLst xmlns:a="http://schemas.openxmlformats.org/drawingml/2006/main">
              <a:ext uri="{FF2B5EF4-FFF2-40B4-BE49-F238E27FC236}">
                <a16:creationId xmlns:a16="http://schemas.microsoft.com/office/drawing/2014/main" id="{F76949F9-E6DE-4BE7-A309-79636A36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Task인가,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유지할 Project 정보인가?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78DB88-90D0-4A68-8D45-4BB6B9BC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생각해 보기 · 이 과정의 교육 모델">
            <a:extLst xmlns:a="http://schemas.openxmlformats.org/drawingml/2006/main">
              <a:ext uri="{FF2B5EF4-FFF2-40B4-BE49-F238E27FC236}">
                <a16:creationId xmlns:a16="http://schemas.microsoft.com/office/drawing/2014/main" id="{11C135C6-43AC-4BD1-8894-6FAC50C4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생각해 보기 · 이 과정의 교육 모델</a:t>
            </a:r>
          </a:p>
        </p:txBody>
      </p:sp>
      <p:sp>
        <p:nvSpPr>
          <p:cNvPr id="6" name="1분 동안 개인적으로 생각한 뒤 2분간 자발적인 질문을 받습니다.">
            <a:extLst xmlns:a="http://schemas.openxmlformats.org/drawingml/2006/main">
              <a:ext uri="{FF2B5EF4-FFF2-40B4-BE49-F238E27FC236}">
                <a16:creationId xmlns:a16="http://schemas.microsoft.com/office/drawing/2014/main" id="{7595591F-865D-4D25-ADD0-8D502F70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1분 동안 개인적으로 생각한 뒤 2분간 자발적인 질문을 받습니다.</a:t>
            </a:r>
          </a:p>
        </p:txBody>
      </p:sp>
      <p:sp>
        <p:nvSpPr>
          <p:cNvPr id="7" name="테스트·보존 조건처럼, 반복해서 쓴 문장을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2173501F-1DA5-4FB0-831C-64E2647B3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테스트·보존 조건처럼, 반복해서 쓴 문장을 떠올려 보세요.</a:t>
            </a:r>
          </a:p>
        </p:txBody>
      </p:sp>
      <p:sp>
        <p:nvSpPr>
          <p:cNvPr id="8" name="이번 작업에만?">
            <a:extLst xmlns:a="http://schemas.openxmlformats.org/drawingml/2006/main">
              <a:ext uri="{FF2B5EF4-FFF2-40B4-BE49-F238E27FC236}">
                <a16:creationId xmlns:a16="http://schemas.microsoft.com/office/drawing/2014/main" id="{9C45E225-0524-48A7-BCA7-6D7D8AA2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5162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작업에만?</a:t>
            </a:r>
          </a:p>
        </p:txBody>
      </p:sp>
      <p:sp>
        <p:nvSpPr>
          <p:cNvPr id="9" name="다음 작업에도?">
            <a:extLst xmlns:a="http://schemas.openxmlformats.org/drawingml/2006/main">
              <a:ext uri="{FF2B5EF4-FFF2-40B4-BE49-F238E27FC236}">
                <a16:creationId xmlns:a16="http://schemas.microsoft.com/office/drawing/2014/main" id="{BB501C8C-F1BD-4D22-8E97-F09E31B2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4876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89280A-25F7-4775-8A32-A2A49192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16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D5EFF-A9B3-4B05-AD3D-20B5B595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9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어떤 정보가 계속 남아 있어야 할까요?">
            <a:extLst xmlns:a="http://schemas.openxmlformats.org/drawingml/2006/main">
              <a:ext uri="{FF2B5EF4-FFF2-40B4-BE49-F238E27FC236}">
                <a16:creationId xmlns:a16="http://schemas.microsoft.com/office/drawing/2014/main" id="{13514232-A19F-41DF-A4EB-FA04BBE5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정보가 계속 남아 있어야 할까요?</a:t>
            </a:r>
          </a:p>
        </p:txBody>
      </p:sp>
      <p:sp>
        <p:nvSpPr>
          <p:cNvPr id="1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8C15E56-B324-4936-833B-1716A8D3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80286295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1 · 정보의 수명과 범위">
            <a:extLst xmlns:a="http://schemas.openxmlformats.org/drawingml/2006/main">
              <a:ext uri="{FF2B5EF4-FFF2-40B4-BE49-F238E27FC236}">
                <a16:creationId xmlns:a16="http://schemas.microsoft.com/office/drawing/2014/main" id="{FFC502E7-BC2E-408B-9750-F1528603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정보의 수명과 범위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64D23824-3648-48E1-9586-5840241C4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반복하는 설명을 두 범주로 나누기">
            <a:extLst xmlns:a="http://schemas.openxmlformats.org/drawingml/2006/main">
              <a:ext uri="{FF2B5EF4-FFF2-40B4-BE49-F238E27FC236}">
                <a16:creationId xmlns:a16="http://schemas.microsoft.com/office/drawing/2014/main" id="{456E07F5-ADC0-4464-BC55-9C17999C1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반복하는 설명을 두 범주로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F5D136-64C5-4C43-96DC-69E21875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후보 예시 · 모든 프로젝트에 적용되는 유일한 분류가 아님">
            <a:extLst xmlns:a="http://schemas.openxmlformats.org/drawingml/2006/main">
              <a:ext uri="{FF2B5EF4-FFF2-40B4-BE49-F238E27FC236}">
                <a16:creationId xmlns:a16="http://schemas.microsoft.com/office/drawing/2014/main" id="{B0018884-D87B-4C35-B273-87C33D8D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후보 예시 · 모든 프로젝트에 적용되는 유일한 분류가 아님</a:t>
            </a:r>
          </a:p>
        </p:txBody>
      </p:sp>
      <p:sp>
        <p:nvSpPr>
          <p:cNvPr id="6" name="다음 질문: Project 정보를 왜 매번 Prompt에 다시 적고 있을까요?">
            <a:extLst xmlns:a="http://schemas.openxmlformats.org/drawingml/2006/main">
              <a:ext uri="{FF2B5EF4-FFF2-40B4-BE49-F238E27FC236}">
                <a16:creationId xmlns:a16="http://schemas.microsoft.com/office/drawing/2014/main" id="{B18468AD-1991-4981-9FCB-43328BA9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질문: Project 정보를 왜 매번 Prompt에 다시 적고 있을까요?</a:t>
            </a:r>
          </a:p>
        </p:txBody>
      </p:sp>
      <p:sp>
        <p:nvSpPr>
          <p:cNvPr id="7" name="이번 Task">
            <a:extLst xmlns:a="http://schemas.openxmlformats.org/drawingml/2006/main">
              <a:ext uri="{FF2B5EF4-FFF2-40B4-BE49-F238E27FC236}">
                <a16:creationId xmlns:a16="http://schemas.microsoft.com/office/drawing/2014/main" id="{B2450AE2-2672-448D-903A-755E3903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62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8" name="계속 유지할 Project 정보">
            <a:extLst xmlns:a="http://schemas.openxmlformats.org/drawingml/2006/main">
              <a:ext uri="{FF2B5EF4-FFF2-40B4-BE49-F238E27FC236}">
                <a16:creationId xmlns:a16="http://schemas.microsoft.com/office/drawing/2014/main" id="{1BAFE978-5A4B-46F0-B3A1-C9E4D4959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유지할 Project 정보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712A25-7F6E-49AE-8873-6FDB6DE22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1625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수정&#10;이번에는 README만 수정">
            <a:extLst xmlns:a="http://schemas.openxmlformats.org/drawingml/2006/main">
              <a:ext uri="{FF2B5EF4-FFF2-40B4-BE49-F238E27FC236}">
                <a16:creationId xmlns:a16="http://schemas.microsoft.com/office/drawing/2014/main" id="{752FA118-437D-42D0-A819-1E761D959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47815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수정</a:t>
            </a:r>
          </a:p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수정</a:t>
            </a:r>
          </a:p>
        </p:txBody>
      </p:sp>
      <p:sp>
        <p:nvSpPr>
          <p:cNvPr id="11" name="이번 목표에 적용할 후보">
            <a:extLst xmlns:a="http://schemas.openxmlformats.org/drawingml/2006/main">
              <a:ext uri="{FF2B5EF4-FFF2-40B4-BE49-F238E27FC236}">
                <a16:creationId xmlns:a16="http://schemas.microsoft.com/office/drawing/2014/main" id="{98690F35-AFF6-423F-A84D-32BF847A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162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목표에 적용할 후보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60FD6-15A1-49CB-8DC7-372EB58A3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38450"/>
            <a:ext cx="48768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의존성 추가에는 작업상 근거 필요&#10;프로젝트 테스트 명령">
            <a:extLst xmlns:a="http://schemas.openxmlformats.org/drawingml/2006/main">
              <a:ext uri="{FF2B5EF4-FFF2-40B4-BE49-F238E27FC236}">
                <a16:creationId xmlns:a16="http://schemas.microsoft.com/office/drawing/2014/main" id="{00D54274-8F05-4534-A8FC-E2E6CF2C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67050"/>
            <a:ext cx="44958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테스트 명령</a:t>
            </a:r>
          </a:p>
        </p:txBody>
      </p:sp>
      <p:sp>
        <p:nvSpPr>
          <p:cNvPr id="14" name="여러 작업에서 참고할 후보">
            <a:extLst xmlns:a="http://schemas.openxmlformats.org/drawingml/2006/main">
              <a:ext uri="{FF2B5EF4-FFF2-40B4-BE49-F238E27FC236}">
                <a16:creationId xmlns:a16="http://schemas.microsoft.com/office/drawing/2014/main" id="{247C745F-A1DE-4C20-9B87-E7DA3B124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0060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작업에서 참고할 후보</a:t>
            </a:r>
          </a:p>
        </p:txBody>
      </p:sp>
      <p:sp>
        <p:nvSpPr>
          <p:cNvPr id="15" name="정보마다 필요한 기간과 적용 범위가 다르다.">
            <a:extLst xmlns:a="http://schemas.openxmlformats.org/drawingml/2006/main">
              <a:ext uri="{FF2B5EF4-FFF2-40B4-BE49-F238E27FC236}">
                <a16:creationId xmlns:a16="http://schemas.microsoft.com/office/drawing/2014/main" id="{7D48394A-A20E-403B-A5C3-26D312EE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정보마다 필요한 기간과 적용 범위가 다르다.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6701317-C2EE-46E3-A83E-81773724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3986905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2026-10-21T12:21:52.4220000Z</dcterms:created>
  <dcterms:modified xsi:type="dcterms:W3CDTF">2026-10-21T12:21:52.4220000Z</dcterms:modified>
</coreProperties>
</file>