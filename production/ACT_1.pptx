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f85189cf8e48e7" /><Relationship Type="http://schemas.openxmlformats.org/officeDocument/2006/relationships/extended-properties" Target="/docProps/app.xml" Id="R220361b4412f464b" /><Relationship Type="http://schemas.openxmlformats.org/officeDocument/2006/relationships/officeDocument" Target="/ppt/presentation.xml" Id="Re44740c14d2245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cd7d39b3b446a9"/>
  </p:sldMasterIdLst>
  <p:notesMasterIdLst>
    <p:notesMasterId xmlns:r="http://schemas.openxmlformats.org/officeDocument/2006/relationships" r:id="R6352a65e099340ce"/>
  </p:notesMasterIdLst>
  <p:sldIdLst>
    <p:sldId xmlns:r="http://schemas.openxmlformats.org/officeDocument/2006/relationships" id="256" r:id="R31b440cbd3c94c9a"/>
    <p:sldId xmlns:r="http://schemas.openxmlformats.org/officeDocument/2006/relationships" id="257" r:id="R694f69e185254c06"/>
    <p:sldId xmlns:r="http://schemas.openxmlformats.org/officeDocument/2006/relationships" id="258" r:id="R4fd6f5763d134a6c"/>
    <p:sldId xmlns:r="http://schemas.openxmlformats.org/officeDocument/2006/relationships" id="259" r:id="R34061ea3fdd04e74"/>
    <p:sldId xmlns:r="http://schemas.openxmlformats.org/officeDocument/2006/relationships" id="260" r:id="Rd5fa3a20f7bd4562"/>
    <p:sldId xmlns:r="http://schemas.openxmlformats.org/officeDocument/2006/relationships" id="261" r:id="Rd7fe1082865e4f71"/>
    <p:sldId xmlns:r="http://schemas.openxmlformats.org/officeDocument/2006/relationships" id="262" r:id="R62e2a746fd824327"/>
    <p:sldId xmlns:r="http://schemas.openxmlformats.org/officeDocument/2006/relationships" id="263" r:id="R6ada491b44aa4856"/>
    <p:sldId xmlns:r="http://schemas.openxmlformats.org/officeDocument/2006/relationships" id="264" r:id="Rf2c871eae2ff4cd5"/>
    <p:sldId xmlns:r="http://schemas.openxmlformats.org/officeDocument/2006/relationships" id="265" r:id="R8dbe2f1b822641cb"/>
    <p:sldId xmlns:r="http://schemas.openxmlformats.org/officeDocument/2006/relationships" id="266" r:id="R488bef12849d462a"/>
    <p:sldId xmlns:r="http://schemas.openxmlformats.org/officeDocument/2006/relationships" id="267" r:id="R29189ed8130f45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d38fe7a3864dbe" /><Relationship Type="http://schemas.openxmlformats.org/officeDocument/2006/relationships/slideMaster" Target="/ppt/slideMasters/slideMaster1.xml" Id="R4ecd7d39b3b446a9" /><Relationship Type="http://schemas.openxmlformats.org/officeDocument/2006/relationships/notesMaster" Target="/ppt/notesMasters/notesMaster1.xml" Id="R6352a65e099340ce" /><Relationship Type="http://schemas.openxmlformats.org/officeDocument/2006/relationships/presProps" Target="/ppt/presProps.xml" Id="Rda85bb153fa849f9" /><Relationship Type="http://schemas.openxmlformats.org/officeDocument/2006/relationships/tableStyles" Target="/ppt/tableStyles.xml" Id="R55eb5c89ab344cb8" /><Relationship Type="http://schemas.openxmlformats.org/officeDocument/2006/relationships/slide" Target="/ppt/slides/slide1.xml" Id="R31b440cbd3c94c9a" /><Relationship Type="http://schemas.openxmlformats.org/officeDocument/2006/relationships/slide" Target="/ppt/slides/slide2.xml" Id="R694f69e185254c06" /><Relationship Type="http://schemas.openxmlformats.org/officeDocument/2006/relationships/slide" Target="/ppt/slides/slide3.xml" Id="R4fd6f5763d134a6c" /><Relationship Type="http://schemas.openxmlformats.org/officeDocument/2006/relationships/slide" Target="/ppt/slides/slide4.xml" Id="R34061ea3fdd04e74" /><Relationship Type="http://schemas.openxmlformats.org/officeDocument/2006/relationships/slide" Target="/ppt/slides/slide5.xml" Id="Rd5fa3a20f7bd4562" /><Relationship Type="http://schemas.openxmlformats.org/officeDocument/2006/relationships/slide" Target="/ppt/slides/slide6.xml" Id="Rd7fe1082865e4f71" /><Relationship Type="http://schemas.openxmlformats.org/officeDocument/2006/relationships/slide" Target="/ppt/slides/slide7.xml" Id="R62e2a746fd824327" /><Relationship Type="http://schemas.openxmlformats.org/officeDocument/2006/relationships/slide" Target="/ppt/slides/slide8.xml" Id="R6ada491b44aa4856" /><Relationship Type="http://schemas.openxmlformats.org/officeDocument/2006/relationships/slide" Target="/ppt/slides/slide9.xml" Id="Rf2c871eae2ff4cd5" /><Relationship Type="http://schemas.openxmlformats.org/officeDocument/2006/relationships/slide" Target="/ppt/slides/slide10.xml" Id="R8dbe2f1b822641cb" /><Relationship Type="http://schemas.openxmlformats.org/officeDocument/2006/relationships/slide" Target="/ppt/slides/slide11.xml" Id="R488bef12849d462a" /><Relationship Type="http://schemas.openxmlformats.org/officeDocument/2006/relationships/slide" Target="/ppt/slides/slide12.xml" Id="R29189ed8130f45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4892c8f2044d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4a411a917b4821" /><Relationship Type="http://schemas.openxmlformats.org/officeDocument/2006/relationships/notesMaster" Target="/ppt/notesMasters/notesMaster1.xml" Id="R705ec11bd05441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b00fb7b66c4a93" /><Relationship Type="http://schemas.openxmlformats.org/officeDocument/2006/relationships/notesMaster" Target="/ppt/notesMasters/notesMaster1.xml" Id="Rf14784aa283b49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2260c7c3dd46af" /><Relationship Type="http://schemas.openxmlformats.org/officeDocument/2006/relationships/notesMaster" Target="/ppt/notesMasters/notesMaster1.xml" Id="Rda680a3ad5584a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894aee3b9a4ebd" /><Relationship Type="http://schemas.openxmlformats.org/officeDocument/2006/relationships/notesMaster" Target="/ppt/notesMasters/notesMaster1.xml" Id="R1704ba6e25f944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423684d5414d67" /><Relationship Type="http://schemas.openxmlformats.org/officeDocument/2006/relationships/notesMaster" Target="/ppt/notesMasters/notesMaster1.xml" Id="R568b55e878bb4a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b39940b396469e" /><Relationship Type="http://schemas.openxmlformats.org/officeDocument/2006/relationships/notesMaster" Target="/ppt/notesMasters/notesMaster1.xml" Id="R28b5922dc20942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89253230fc4573" /><Relationship Type="http://schemas.openxmlformats.org/officeDocument/2006/relationships/notesMaster" Target="/ppt/notesMasters/notesMaster1.xml" Id="R6fbdab8d986548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890d82aaa44011" /><Relationship Type="http://schemas.openxmlformats.org/officeDocument/2006/relationships/notesMaster" Target="/ppt/notesMasters/notesMaster1.xml" Id="R5d5468dca4e749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7dcc57c88d459d" /><Relationship Type="http://schemas.openxmlformats.org/officeDocument/2006/relationships/notesMaster" Target="/ppt/notesMasters/notesMaster1.xml" Id="R1a64f3616e8c4a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37b34e24314c52" /><Relationship Type="http://schemas.openxmlformats.org/officeDocument/2006/relationships/notesMaster" Target="/ppt/notesMasters/notesMaster1.xml" Id="Re3adacc9bd5543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f503973f3f247bd" /><Relationship Type="http://schemas.openxmlformats.org/officeDocument/2006/relationships/notesMaster" Target="/ppt/notesMasters/notesMaster1.xml" Id="Rccb81974f4ec4d4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9efb2a66d942f6" /><Relationship Type="http://schemas.openxmlformats.org/officeDocument/2006/relationships/notesMaster" Target="/ppt/notesMasters/notesMaster1.xml" Id="Ra8b82ec3909f48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 —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코드가 보이더라도 무엇을 바꾸고, 무엇을 보존하며, 언제 끝났다고 판단할지는 요청에 명시되어야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Repository를 보더라도 Agent가 원하는 결과까지 자동으로 알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S09의 열린 질문을 회수하고 “같은 Repository를 보고 있다”는 조건을 고정한다.</a:t>
            </a:r>
          </a:p>
          <a:p xmlns:a="http://schemas.openxmlformats.org/drawingml/2006/main">
            <a:r>
              <a:t>2. (2:00–5:00) “filter 성능 개선해줘”와 오른쪽의 무엇을 바꿀지·보존할지·완료로 볼지 세 질문을 차례로 가리킨다. 특정 답을 채우지 않는다.</a:t>
            </a:r>
          </a:p>
          <a:p xmlns:a="http://schemas.openxmlformats.org/drawingml/2006/main">
            <a:r>
              <a:t>3. (5:00–7:00) Repository 접근만으로 남은 결정을 정할 수 있는지 질문하며 S11로 넘긴다. 실제 제품 실패 사례나 관찰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TRIAL-001, CLM-0002. TEACHING_MODEL / CONCEPTUAL. TRIAL-001의 실제 실패 사례가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접근 가능한 Repository가 Task의 목표·변경 범위·보존 조건·완료 증거를 대신 알려주지는 않는다는 과정의 모델이다. Codex 실패나 Trial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Agent에게 코드가 보인다는 사실과 내가 원하는 변경을 설명했다는 사실은 다르다. 바꿀 것과 끝의 기준을 적어야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 goal, constraints, and verification remain separate from repository access. Do not infer deterministic agent behavior from the conceptual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질문을 따라가며 무엇이 비어 있는지 생각하게 한다. 공개 답변이나 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어떤 Task 정보가 빠졌는지 약한 요청 비교로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7분을 질문과 세 개의 미정 경계에 쓴다. 새 Prompt 체크리스트나 해결책을 미리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S10 또는 `production/preview/act1/S10.png` 사용. 응답이 없어도 7분 후 S11로 이동한다.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S11 —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Repository를 볼 수 있어도 바꿀 범위와 완료 조건까지 알 수 있는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“Agent 입장에서 무엇을 결정해야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“crop test 고쳐줘”를 읽고 교육용 구성 요청임을 밝힌다.</a:t>
            </a:r>
          </a:p>
          <a:p xmlns:a="http://schemas.openxmlformats.org/drawingml/2006/main">
            <a:r>
              <a:t>2. (0:45–3:00) 테스트와 구현 중 무엇을 바꾸라는 뜻인지 두 질문을 비교한다. 이어 목표의 세부·보존 조건·수정 범위·확인 근거·완료 조건을 짚는다.</a:t>
            </a:r>
          </a:p>
          <a:p xmlns:a="http://schemas.openxmlformats.org/drawingml/2006/main">
            <a:r>
              <a:t>3. (3:00–4:00) 특정 답을 제시하지 않고 남은 결정의 주체를 S12로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실제 Trial에서 사용한 약한 Prompt가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`crop test 고쳐줘`는 수업용으로 구성한 예시다. 이 요청이 특정 Agent 실패를 일으켰다는 주장을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짧은 요청을 비난하지 않고, 그 안에 남아 있는 질문을 찾아본다.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Missing constraints are developer decisions that cannot be derived from repository access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해석과 아직 정해지지 않은 정보를 청중이 생각하도록 짧게 멈춘다. 공개 답이나 정답 분류를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12에서 같은 요청을 개발자 결정 관점으로 해부한다.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안에 한 요청과 다섯 빈칸만 다룬다. 빈칸의 정답이나 해결책은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S11 또는 `production/preview/act1/S11.png` 사용. 청중 응답 없이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S12 —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3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Prompt의 실용적 가치는 문장 장식보다 Task ambiguity reduction에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“무엇을 바꾸고, 무엇을 유지하며, 어디까지 바꿔도 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“무엇을 바꿀까?”와 “무엇을 유지할까?”를 짚는다.</a:t>
            </a:r>
          </a:p>
          <a:p xmlns:a="http://schemas.openxmlformats.org/drawingml/2006/main">
            <a:r>
              <a:t>2. (1:00–3:00) 허용 범위, 확인 근거, 완료 판단의 세 질문을 이어 읽는다. 이는 답이 아닌 개발자 판단 질문이다.</a:t>
            </a:r>
          </a:p>
          <a:p xmlns:a="http://schemas.openxmlformats.org/drawingml/2006/main">
            <a:r>
              <a:t>3. (3:00–4:00) 각자 익숙한 요청 하나를 떠올리는 조용한 Reflection으로 마친다. 요청문 작성이나 결과 공유를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특정 요청이 특정 실패를 반드시 만든다고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질문은 수업용 질문 프레임이다. 특정한 단일 답이나 제품 기능으로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요청을 보내기 전에 바꿀 것, 지킬 것, 끝을 어떻게 볼지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Clarify scope, preserved contracts, acceptable change surface, and evidence before delegating.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비공개 Reflection이다. 말하기, 노트북, Prompt 작성은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13에서 질문들을 실용적인 Task Specification 구조로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3분 후 Reflection 1분을 분리한다. 답을 제공하거나 공개 응답을 받지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S12 또는 `production/preview/act1/S12.png` 사용. 침묵은 정상 진행으로 본다.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S13 —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Goal, Context, Constraints, Process, Verification은 작업을 구체화하는 교육용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“Agent가 작업을 검토 가능하게 수행하려면 무엇을 알아야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Task Specification을 이 과정의 작업 구체화 모델로 소개한다.</a:t>
            </a:r>
          </a:p>
          <a:p xmlns:a="http://schemas.openxmlformats.org/drawingml/2006/main">
            <a:r>
              <a:t>2. (0:45–3:15) 하나의 패널에서 목표·맥락·제약·과정·검증을 위에서 아래로 짚는다. 각 행의 오른쪽 질문이 어떤 미정을 줄이는지 한 문장씩 설명한다.</a:t>
            </a:r>
          </a:p>
          <a:p xmlns:a="http://schemas.openxmlformats.org/drawingml/2006/main">
            <a:r>
              <a:t>3. (3:15–4:00) 다섯 책임을 모두 길게 적으라는 뜻이 아니라 작업에 필요한 경계를 검토할 틀이라고 정리하고 S14로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항목은 과정에서 쓰는 Task Specification 모델이지 공식 OpenAI taxonomy나 universal law가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요청에는 목표, 필요한 상황, 지켜야 할 경계, 작업 흐름, 확인 방법이 들어갈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retained project facts, and identify which judgment remains with the developer.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설명 중간에 다섯 책임이 줄이는 불확실성을 확인한다. 청중에게 작성 실습을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14에서 다섯 책임을 짧은 Before / After에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분 동안 각 항목을 한 문장으로 설명한다. 별도 Best Practice 목록이나 제품 기능으로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S13 또는 `production/preview/act1/S13.png` 사용.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S14 —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9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6 minutes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유용성은 Prompt의 길이보다 Goal과 제약, 과정, 검증 경계가 분명한 데서 나온다.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요청에서 실제로 달라진 정보는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왼쪽의 짧은 요청을 읽고 같은 crop 작업을 비교한다고 고정한다.</a:t>
            </a:r>
          </a:p>
          <a:p xmlns:a="http://schemas.openxmlformats.org/drawingml/2006/main">
            <a:r>
              <a:t>2. (2:00–5:00) 오른쪽에서 추가된 목표·맥락, 제약, 과정, 검증 정보를 순서대로 짚는다. 양쪽 모두 한국어 요청이며 영어라서 좋아졌다는 인상을 만들지 않는다.</a:t>
            </a:r>
          </a:p>
          <a:p xmlns:a="http://schemas.openxmlformats.org/drawingml/2006/main">
            <a:r>
              <a:t>3. (5:00–6:00) 하단 C++ 연결에서 출력·API/ABI 보존 범위와 Release 검증 조건도 작업 전에 정할 수 있음을 짧게 말한다.</a:t>
            </a:r>
          </a:p>
          <a:p xmlns:a="http://schemas.openxmlformats.org/drawingml/2006/main">
            <a:r>
              <a:t>4. (6:00–9:00) Case 질문으로 어떤 정보가 추가됐는지 비교한다. 실제 약한/강한 Prompt 비교 실험이 아니며 길이 자체의 효과를 입증하지 않는다고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TRIAL-002,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Before/After는 설명을 위한 개념 예시이며 Trial-002가 약한 Prompt와 구조화 Prompt의 우월성을 비교 검증했다는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긴 문장을 쓰는 것보다 바꿀 결과와 지킬 조건, 확인 방법을 드러내는 것이 도움이 되는 질문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Make the allowed change surface and completion evidence reviewable; do not claim a causal performance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footer strip — 출력·API/ABI의 보존 범위와 Release 검증 조건을 먼저 정하는 사례다. 특정 Windows, shell, IDE, hardware의 실제 사용법이나 검증 결과로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comparison is conceptual and is not the exact Trial-002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Case 3분에는 두 요청에서 새로 명시된 책임을 마음속으로 비교한다. 발표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요청을 받은 Agent는 수정부터 시작할까?”라는 질문으로 Trial 관찰에 들어간다.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After는 네 줄의 비교 축으로 한정한다. 전체 Trial Prompt나 코드 지시를 화면에 복사하지 않는다. 시간이 부족하면 C++ inset을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S14 또는 `production/preview/act1/S14.png` 사용. Trial 결과로 대체하지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S15 —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한 번의 관찰에서는 재현, 조사, 계획, 수정, 검증 순서를 확인할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요청을 받은 Agent가 수정부터 시작할까?”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(0:00–0:35) “이 요청을 받으면 수정부터 시작할까?”를 제시한다.</a:t>
            </a:r>
          </a:p>
          <a:p xmlns:a="http://schemas.openxmlformats.org/drawingml/2006/main">
            <a:r>
              <a:t>2. (0:35–1:35) 재현 → 조사 → 계획 → 수정 → 검증의 다섯 관찰 단계를 가리킨다. 화면은 WATCH 기준이며 결과를 미리 읽어 주는 요약이 아니다.</a:t>
            </a:r>
          </a:p>
          <a:p xmlns:a="http://schemas.openxmlformats.org/drawingml/2006/main">
            <a:r>
              <a:t>3. (1:35–2:00) 단일 과거 CLI 기록의 행동을 다음 두 장에서 대조한다고 알리고 S16으로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OBSERVED_PRODUCT; one historical Codex CLI run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TRIAL-002는 2026-09-28 macOS Codex CLI 0.154.0의 단일 실행 기록이다. Desktop, 계정, 반복성 또는 다른 모델을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 변경 전 어떤 행동을 먼저 살펴볼지 정하면 Demo를 따라가기 쉽다.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requested workflow separate from the events evidenced in the recorded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RECORD-BASED WATCH. 2분 Lecture 동안 제품 실행을 재생하지 않는다. 요청한 재현·조사·계획·수정·검증을 관찰 기준으로 제시한다. Trial source: `plan/DEMO_MATRIX.md`, TRIAL-002. 현재 Desktop surface나 실제 터미널 캡처를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관찰 순서를 마음속으로 따라오게 한다. 응답이나 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16에서 조사와 변경의 핵심 장면을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2분 안에 관찰 기준만 설명한다. Trial 결과를 앞당겨 보여 주거나 현재 제품 UI를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WATCH 슬라이드 `production/ACT_1.pptx` S15 또는 `production/preview/act1/S15.png` 사용. 라이브 실행은 이 단계에서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S16 —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failing test와 호출 경로를 확인한 뒤, half-open 범위 계약을 보존하는 최소 변경을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“수정 전에 어떤 근거를 확인했는가?”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상단의 실패 테스트 → 호출 경로 → 계약 확인 → 수정 전 계획을 읽는다. 실패 테스트명은 `test_crop_excludes_end_coordinate`, 제품 호출 관계는 `cli.main → pipeline.process_image → transform.crop`이다.</a:t>
            </a:r>
          </a:p>
          <a:p xmlns:a="http://schemas.openxmlformats.org/drawingml/2006/main">
            <a:r>
              <a:t>2. (1:00–2:00) `[x_start, x_end)`가 끝 좌표를 제외하는 계약임을 확인한다. S05의 `crop(image, 1, 3)` 예시를 짧게 회수한다.</a:t>
            </a:r>
          </a:p>
          <a:p xmlns:a="http://schemas.openxmlformats.org/drawingml/2006/main">
            <a:r>
              <a:t>3. (2:00–3:15) 왼쪽 `row[x_start : x_end + 1]`에서 오른쪽 `row[x_start : x_end]`로 바뀐 실제 한 줄 diff를 가리킨다. 수정 전에 계획을 알린 기록이 있었다고 말한다.</a:t>
            </a:r>
          </a:p>
          <a:p xmlns:a="http://schemas.openxmlformats.org/drawingml/2006/main">
            <a:r>
              <a:t>4. (3:15–4:00) 이 입력의 너비 3이 계약대로 2가 되는 변화로 정리한다. 정적 소스·diff 재구성이며 새 실행이나 screenshot이 아님을 유지하고 S17로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OBSERVED_PRODUCT, one recorded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실패한 Test와 기대 계약을 먼저 맞춘 뒤 꼭 필요한 한 줄만 바꿨다.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code change matches the half-open public contract and is limited to the recorded diff; the plan checkpoint preceded editing.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historical evidence. `production/ACT_1.pptx` S16의 실제 diff 재구성 도식을 사용한다. 실패 테스트·호출 경로·계약·수정 전 계획 → Before/After slice → 너비 변화를 순서대로 가리킨다. source test ID: `test_crop_excludes_end_coordinate`. Source: TRIAL-002 record, STATE-00 및 STATE-00-FIXED의 `src/graypipe/transform.py`. 전체 파일이나 새 실행을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변경 전에 확인한 근거를 청중이 화면 순서대로 따라오게 한다. 참가자의 코드 검토나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17에서 변경 결과를 어떤 확인으로 뒷받침했는지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Demo 구간 안에서 관찰과 변경을 요약한다. 전체 로그와 파일을 보여 주지 않고, 다음 장의 검증 시간을 침범하지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S16 또는 `production/preview/act1/S16.png` 사용. 시각 도식은 기록에서 재구성한 자료이며 원본 화면 캡처가 아니다. 실행 실패 상황은 없다: Live를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S17 —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사례의 결과는 생성된 코드뿐 아니라 명시된 검증과 diff 확인을 거친 변경이다.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“생성된 변경을 어떤 확인이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단일 TRIAL-002의 변경 뒤 기록임을 고정한다.</a:t>
            </a:r>
          </a:p>
          <a:p xmlns:a="http://schemas.openxmlformats.org/drawingml/2006/main">
            <a:r>
              <a:t>2. (0:45–2:45) 동작 확인(집중 3/3·전체 11/11), 실행 확인(CLI smoke PASS), 범위 확인(한 파일·한 줄·diff check)을 세 묶음으로 읽는다. 각각 확인한 범위가 다름을 설명한다.</a:t>
            </a:r>
          </a:p>
          <a:p xmlns:a="http://schemas.openxmlformats.org/drawingml/2006/main">
            <a:r>
              <a:t>3. (2:45–3:30) 하단의 성능 benchmark 미실행을 밝힌다. 이 테스트 통과를 성능 개선 근거로 바꾸지 않는다.</a:t>
            </a:r>
          </a:p>
          <a:p xmlns:a="http://schemas.openxmlformats.org/drawingml/2006/main">
            <a:r>
              <a:t>4. (3:30–4:00) 생성된 코드와 완료 판단의 차이로 S18에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OBSERVED_PRODUCT, one Codex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완료라고 말할 때 코드와 함께 어떤 확인이 있었는지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Each check supports a bounded claim: targeted behavior, existing suite coverage, one sample CLI path, and change scope. No benchmark was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Check가 무엇을 뒷받침하는지 읽게 한다. 청중에게 테스트 실행을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생성 자체와 완료 판단을 구분하는 Slide 18로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묶음에 각각 한 가지 확인 범위를 말한다. 다섯 로그를 전문으로 읽지 않는다. 마지막 30초에 생성과 완료의 차이로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S17 또는 `production/preview/act1/S17.png` 사용. 수치는 TRIAL-002 기록에 한정한다; 새로운 pass 수치를 추가하지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S18 —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Task는 결과뿐 아니라 적절한 검증과 review를 포함해야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Check가 어떤 Claim을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왼쪽 “코드가 나왔다”에서 오른쪽 “완료라고 말할 수 있나?”로 시선을 옮긴다.</a:t>
            </a:r>
          </a:p>
          <a:p xmlns:a="http://schemas.openxmlformats.org/drawingml/2006/main">
            <a:r>
              <a:t>2. (0:45–1:30) 가운데 동작 테스트·샘플 실행·변경 검토를 세 판단 근거로 설명한다. S17에서 본 관찰 사실은 하단 출처의 범위로만 회수한다.</a:t>
            </a:r>
          </a:p>
          <a:p xmlns:a="http://schemas.openxmlformats.org/drawingml/2006/main">
            <a:r>
              <a:t>3. (1:30–2:30) 성능 개선을 주장하는 작업에는 해당 입력·환경의 측정도 필요할 수 있다고 설명한다. TRIAL-002에서 benchmark가 실행됐다는 뜻이 아니다.</a:t>
            </a:r>
          </a:p>
          <a:p xmlns:a="http://schemas.openxmlformats.org/drawingml/2006/main">
            <a:r>
              <a:t>4. (2:30–3:00) 주장마다 필요한 근거가 다르다는 S19로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 and separate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코드가 생성됐다는 사실은 완료를 판단하는 한 가지 정보일 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checks from the task’s risk and the exact claim being made; do not demand every check for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19 contains the approved Supporting C++ transfer inset. Do not duplicate it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verification callback only; DEMO-05의 8분 구간 밖이다. 별도 관찰 카드나 새 결과를 보여 주지 않고 하단 출처로 과거 확인 범위를 회수한다. 본문은 교육 모델로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별도 Q&amp;A 시간은 배정되지 않았다. 청중에게 생각할 질문을 주고 다음 장에서 범위를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19에서 각 Check가 뒷받침하는 범위를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분 안에 기록 사실과 Teaching Model을 분리한다. S17의 다섯 수치를 다시 읽지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S18 또는 `production/preview/act1/S18.png`를 사용한다. 생성·완료의 관계는 교육 모델, TRIAL-002는 하단에 표시된 과거 관찰로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S19 —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Check 하나가 모든 정확성을 증명하지는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Check로 무엇까지 말할 수 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표가 특정 테스트의 만능 효과를 뜻하지 않는다고 소개한다. 실제 TRIAL-002는 집중·전체 테스트, CLI smoke, diff를 확인했다는 하단 출처를 짚는다.</a:t>
            </a:r>
          </a:p>
          <a:p xmlns:a="http://schemas.openxmlformats.org/drawingml/2006/main">
            <a:r>
              <a:t>2. (1:00–3:00) 확인 방법 → 말할 수 있는 범위의 다섯 행을 설명한다. 성능 측정 행은 교육 모델이며 TRIAL-002에서 benchmark를 실행하지 않았다고 밝힌다.</a:t>
            </a:r>
          </a:p>
          <a:p xmlns:a="http://schemas.openxmlformats.org/drawingml/2006/main">
            <a:r>
              <a:t>3. (3:00–4:00) C++의 Release 실행, API/ABI, 대상 데이터도 어떤 주장을 확인할지에 맞춰 고르는 경계로 연결한다.</a:t>
            </a:r>
          </a:p>
          <a:p xmlns:a="http://schemas.openxmlformats.org/drawingml/2006/main">
            <a:r>
              <a:t>4. (4:00–5:00) 익숙한 Check가 뒷받침하는 Claim을 개인적으로 떠올리는 Reflection으로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Actual checks are separate from the TEACHING_MODEL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Focused/full tests, CLI smoke, and diff review are actual TRIAL-002 checks. The mapping is a course model; benchmark was not run. No single check proves all correctness.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Focused test는 바뀐 동작을, 전체 Test는 기존 suite의 범위를, smoke는 sample 실행 경로를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For C++ projects, match Release build, API/ABI checks, regression tests, and measurement to the claim and risk. These are illustrative engineering patterns, not this Demo repository’s tooling.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Bridge: `build claim → Release build`; `compatibility claim → API / ABI review`; `performance claim → benchmark with named workload`. No Windows, shell, IDE, or hardware setup is asserted.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evidence callback outside the 8-minute Demo slot. 본문 표는 일반적인 check-to-claim 교육 모델이다. 하단 출처에는 실제 Trial에서 수행한 확인만 따로 표시한다. Benchmark 미실행 경계를 유지하고 새 수치나 실행을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각자가 익숙한 Check와 그 Check가 뒷받침하는 Claim을 조용히 생각한다. 결과 발표는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다음 작업에도 반복할 정보를 청중이 구분하도록 질문을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4분과 Reflection 1분을 분리한다. Advanced C++ examples are optional under time pressure; keep the scope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S19 또는 `production/preview/act1/S19.png`를 사용한다. 표의 일반적인 범위와 하단 Trial 출처를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S20 —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두 종류의 정보를 구분할 필요가 있음을 먼저 인식한다.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“매번 Prompt에 반복해서 쓰는 내용 중 이번 Task에만 필요한 것은 무엇이고, Project가 계속 유지해야 할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최근 요청에 썼던 문장 하나를 떠올리고 “이번 작업에만?”과 “다음 작업에도?” 중 어디에 해당할지 개인적으로 생각한다. 화면의 두 영역은 비워 둔다.</a:t>
            </a:r>
          </a:p>
          <a:p xmlns:a="http://schemas.openxmlformats.org/drawingml/2006/main">
            <a:r>
              <a:t>2. (1:00–3:00) 자발적인 Q&amp;A를 받는다. 답이나 분류 기준을 미리 공개하지 않는다. 침묵도 정상 진행이다.</a:t>
            </a:r>
          </a:p>
          <a:p xmlns:a="http://schemas.openxmlformats.org/drawingml/2006/main">
            <a:r>
              <a:t>3. (3:00) S21에서 후보 예시를 함께 확인하겠다고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 → BEAT-008 handoff, CLM-0029, CLM-0027, CLM-0003, CLM-0005.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두 Bucket은 Reflection을 위한 과정의 모델이다. 이 장에서는 정답, 제품 기능, AGENTS.md 또는 완전한 분류를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요청에만 필요한 말과 여러 번 반복할 수 있는 규칙이 다를 수 있음을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Consider information lifetime and scope without deciding the storage mechanism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순서: Reflection 1분 후 Q&amp;A 2분. Reflection은 사적 생각 시간이고 공유는 자발적이다. 응답이 없으면 질문을 한 번 더 읽고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21에서 Reflection/Discussion을 회수하고 “왜 Project 설명을 매번 다시 쓰는가?”라는 ACT 2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1분, Q&amp;A 2분을 보존한다. 긴 토론이나 개인 업무 공개를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질문 슬라이드 `production/ACT_1.pptx` S20 또는 `production/preview/act1/S20.png` 사용. 공유 응답이 없어도 다음으로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S21 —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Transition 3 minutes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정보와 Project 정보는 수명과 적용 범위가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Task에만 필요한 정보와 Project가 계속 유지할 정보는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(0:00–1:00, Reflection) S20의 두 질문을 회수하고 화면의 후보가 자신의 작업에서도 같은 수명·범위인지 조용히 생각하게 한다.</a:t>
            </a:r>
          </a:p>
          <a:p xmlns:a="http://schemas.openxmlformats.org/drawingml/2006/main">
            <a:r>
              <a:t>2. (1:00–2:00, Transition) crop 경계 수정·이번 README 수정과, 계속 유지할 의존성 추가 근거·테스트 명령의 후보 예시를 비교한다. 유일한 정답이나 실제 STATE-01 원문이라고 하지 않는다.</a:t>
            </a:r>
          </a:p>
          <a:p xmlns:a="http://schemas.openxmlformats.org/drawingml/2006/main">
            <a:r>
              <a:t>3. (2:00–4:00, Transition) 정보의 수명과 적용 범위 차이를 정리하고 “Project 정보를 왜 매번 Prompt에 다시 적고 있을까?”를 ACT 2의 질문으로 남긴다.</a:t>
            </a:r>
          </a:p>
          <a:p xmlns:a="http://schemas.openxmlformats.org/drawingml/2006/main">
            <a:r>
              <a:t>4. (4:00–6:00, Q&amp;A) 자발적인 질문을 받고 6분에 ACT 2로 이동한다. 질문이 없으면 다음 문제를 다시 읽고 정시에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BEAT-008, TRANS-003, CLM-0029, CLM-0027,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항목은 수명과 적용 범위를 생각하게 하는 교육용 후보 예시다. 화면의 의존성 예시는 실제 STATE-01 지침처럼 작업상 정당한 근거가 있으면 추가할 수 있다는 조건을 보존한다. 이 장은 그 지침의 실행 효과를 관찰한 결과가 아니다. 유일한 정답·classification test·제품 메커니즘으로 말하지 않는다. AGENTS.md는 이 장에서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 한 번에만 필요한 정보와 프로젝트가 계속 참고할 수 있는 정보를 구별해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Information reuse scope and lifetime may differ; the next ACT will examine the repeated-fact problem before introducing a mechanism.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Reflection 1분 후 map 순서대로 ACT 2 Transition 3분, Q&amp;A 2분. 예시는 후보로만 말하고, 자발적 응답을 받되 정답 분류를 평가하지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“그런데 Project 정보를 왜 매번 Prompt에 다시 적고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0–1분 Reflection, 1–4분 Transition, 4–6분 Q&amp;A. 기존 Notes의 1–5분 전환/5–6분 Q&amp;A 불일치를 승인된 Mode Split 1+3+2로 정렬한다. Project Context 해결책이나 AGENTS.md는 미리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S21 또는 `production/preview/act1/S21.png` 사용. Q&amp;A가 없어도 마지막 Transition 질문 후 ACT 2로 간다.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e4d646584545d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2e543bfa3144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f38bf74b042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691316b8ee4a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4fd32f9672479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758d6afb2a47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056BB1-00BA-4A8A-91BD-62B9A7D015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C3AE982-8928-44FF-8189-922D6A15D3F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79F9580-FC2D-4748-A841-7498B02F6F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C9D9103-883D-4FB2-99C9-8692BAF2E9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D693290-6BBD-48AA-B2FD-6A10E9AC24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4FD32D-B6BC-4359-8E1C-39A0BD12D0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8FC865-3936-417C-8230-9B62C8E91E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216C006-C396-4EF3-B4D6-640806AF77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E5CBF4-D1D7-4F10-9303-4035C37E72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8547205-8542-4C51-9251-C11B48D3CC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8bd83d302a45d8" /><Relationship Type="http://schemas.openxmlformats.org/officeDocument/2006/relationships/slideLayout" Target="/ppt/slideLayouts/slideLayout1.xml" Id="R3c37ecec25294bcc" /><Relationship Type="http://schemas.openxmlformats.org/officeDocument/2006/relationships/slideLayout" Target="/ppt/slideLayouts/slideLayout2.xml" Id="R6f65dc17d25c4d1e" /><Relationship Type="http://schemas.openxmlformats.org/officeDocument/2006/relationships/slideLayout" Target="/ppt/slideLayouts/slideLayout3.xml" Id="Rc70175e8220c41fb" /><Relationship Type="http://schemas.openxmlformats.org/officeDocument/2006/relationships/slideLayout" Target="/ppt/slideLayouts/slideLayout4.xml" Id="R70cae66592d74149" /><Relationship Type="http://schemas.openxmlformats.org/officeDocument/2006/relationships/slideLayout" Target="/ppt/slideLayouts/slideLayout5.xml" Id="R414ce4bfba604833" /><Relationship Type="http://schemas.openxmlformats.org/officeDocument/2006/relationships/slideLayout" Target="/ppt/slideLayouts/slideLayout6.xml" Id="R4c9c99143f6d45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37ecec25294bcc"/>
    <p:sldLayoutId xmlns:r="http://schemas.openxmlformats.org/officeDocument/2006/relationships" id="2147483650" r:id="R6f65dc17d25c4d1e"/>
    <p:sldLayoutId xmlns:r="http://schemas.openxmlformats.org/officeDocument/2006/relationships" id="2147483651" r:id="Rc70175e8220c41fb"/>
    <p:sldLayoutId xmlns:r="http://schemas.openxmlformats.org/officeDocument/2006/relationships" id="2147483652" r:id="R70cae66592d74149"/>
    <p:sldLayoutId xmlns:r="http://schemas.openxmlformats.org/officeDocument/2006/relationships" id="2147483653" r:id="R414ce4bfba604833"/>
    <p:sldLayoutId xmlns:r="http://schemas.openxmlformats.org/officeDocument/2006/relationships" id="2147483654" r:id="R4c9c99143f6d45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0de3a59e2f4a0d" /><Relationship Type="http://schemas.openxmlformats.org/officeDocument/2006/relationships/notesSlide" Target="/ppt/notesSlides/notesSlide1.xml" Id="R012ee4a33d7542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c7954ba0864c35" /><Relationship Type="http://schemas.openxmlformats.org/officeDocument/2006/relationships/notesSlide" Target="/ppt/notesSlides/notesSlide2.xml" Id="R4a37d0e73f494b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13ebc6d1c246ff" /><Relationship Type="http://schemas.openxmlformats.org/officeDocument/2006/relationships/notesSlide" Target="/ppt/notesSlides/notesSlide3.xml" Id="R96d5ca7eb34b4e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3854147df44d36" /><Relationship Type="http://schemas.openxmlformats.org/officeDocument/2006/relationships/notesSlide" Target="/ppt/notesSlides/notesSlide4.xml" Id="Rd1b6551827ca46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77a778866748a3" /><Relationship Type="http://schemas.openxmlformats.org/officeDocument/2006/relationships/notesSlide" Target="/ppt/notesSlides/notesSlide5.xml" Id="R45647d59000c4d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98ed3f265046cc" /><Relationship Type="http://schemas.openxmlformats.org/officeDocument/2006/relationships/notesSlide" Target="/ppt/notesSlides/notesSlide6.xml" Id="R33670e2906ee41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7891584f9e4eac" /><Relationship Type="http://schemas.openxmlformats.org/officeDocument/2006/relationships/notesSlide" Target="/ppt/notesSlides/notesSlide7.xml" Id="R654005b872fb42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4976996a994eaf" /><Relationship Type="http://schemas.openxmlformats.org/officeDocument/2006/relationships/notesSlide" Target="/ppt/notesSlides/notesSlide8.xml" Id="R0c8892e5dd3c47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71b8d4ef8f4bc9" /><Relationship Type="http://schemas.openxmlformats.org/officeDocument/2006/relationships/notesSlide" Target="/ppt/notesSlides/notesSlide9.xml" Id="R547afc8bd66544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ef9f9bb7b54025" /><Relationship Type="http://schemas.openxmlformats.org/officeDocument/2006/relationships/notesSlide" Target="/ppt/notesSlides/notesSlide10.xml" Id="R72e1a892dfe147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4af2c5d7704efb" /><Relationship Type="http://schemas.openxmlformats.org/officeDocument/2006/relationships/notesSlide" Target="/ppt/notesSlides/notesSlide11.xml" Id="R24f3a65644554b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5b238e5992408d" /><Relationship Type="http://schemas.openxmlformats.org/officeDocument/2006/relationships/notesSlide" Target="/ppt/notesSlides/notesSlide12.xml" Id="R851e712993fe47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1 · 모호한 작업 요청">
            <a:extLst xmlns:a="http://schemas.openxmlformats.org/drawingml/2006/main">
              <a:ext uri="{FF2B5EF4-FFF2-40B4-BE49-F238E27FC236}">
                <a16:creationId xmlns:a16="http://schemas.microsoft.com/office/drawing/2014/main" id="{ADFD5E36-00E4-480F-9D44-6EC59DAB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모호한 작업 요청</a:t>
            </a:r>
          </a:p>
        </p:txBody>
      </p:sp>
      <p:sp>
        <p:nvSpPr>
          <p:cNvPr id="2" name="S10">
            <a:extLst xmlns:a="http://schemas.openxmlformats.org/drawingml/2006/main">
              <a:ext uri="{FF2B5EF4-FFF2-40B4-BE49-F238E27FC236}">
                <a16:creationId xmlns:a16="http://schemas.microsoft.com/office/drawing/2014/main" id="{6ABC6A33-A5BE-4870-9FBA-77554266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</a:t>
            </a:r>
          </a:p>
        </p:txBody>
      </p:sp>
      <p:sp>
        <p:nvSpPr>
          <p:cNvPr id="3" name="Task에는 무엇이 아직 정해지지 않았을까?">
            <a:extLst xmlns:a="http://schemas.openxmlformats.org/drawingml/2006/main">
              <a:ext uri="{FF2B5EF4-FFF2-40B4-BE49-F238E27FC236}">
                <a16:creationId xmlns:a16="http://schemas.microsoft.com/office/drawing/2014/main" id="{DEDF1828-D159-43AC-A752-854E4C3B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Task에는 무엇이 아직 정해지지 않았을까?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AF9A43-4032-41E1-8C65-AF92ED2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실제 Agent 실패나 Trial 결과가 아님">
            <a:extLst xmlns:a="http://schemas.openxmlformats.org/drawingml/2006/main">
              <a:ext uri="{FF2B5EF4-FFF2-40B4-BE49-F238E27FC236}">
                <a16:creationId xmlns:a16="http://schemas.microsoft.com/office/drawing/2014/main" id="{9B5863A9-643B-472E-B6DC-9FB902CD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실제 Agent 실패나 Trial 결과가 아님</a:t>
            </a:r>
          </a:p>
        </p:txBody>
      </p:sp>
      <p:sp>
        <p:nvSpPr>
          <p:cNvPr id="6" name="Repository는 열려 있어도 작업의 목표·보존 조건·완료 기준이 자동으로 정해지지는 않습니다.">
            <a:extLst xmlns:a="http://schemas.openxmlformats.org/drawingml/2006/main">
              <a:ext uri="{FF2B5EF4-FFF2-40B4-BE49-F238E27FC236}">
                <a16:creationId xmlns:a16="http://schemas.microsoft.com/office/drawing/2014/main" id="{C963BDF3-EA66-4A7C-AF8D-44840312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Repository는 열려 있어도 작업의 목표·보존 조건·완료 기준이 자동으로 정해지지는 않습니다.</a:t>
            </a:r>
          </a:p>
        </p:txBody>
      </p:sp>
      <p:sp>
        <p:nvSpPr>
          <p:cNvPr id="7" name="같은 Repository를 보고 있습니다.">
            <a:extLst xmlns:a="http://schemas.openxmlformats.org/drawingml/2006/main">
              <a:ext uri="{FF2B5EF4-FFF2-40B4-BE49-F238E27FC236}">
                <a16:creationId xmlns:a16="http://schemas.microsoft.com/office/drawing/2014/main" id="{7400D3A0-C7D7-4A9E-B242-466E5D3D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Repository를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08C60-071F-47DA-9330-E1E938DC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3911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“filter 성능 개선해줘.”">
            <a:extLst xmlns:a="http://schemas.openxmlformats.org/drawingml/2006/main">
              <a:ext uri="{FF2B5EF4-FFF2-40B4-BE49-F238E27FC236}">
                <a16:creationId xmlns:a16="http://schemas.microsoft.com/office/drawing/2014/main" id="{4946C463-75C3-4C34-B296-D991B29D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4933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“filter 성능 개선해줘.”</a:t>
            </a:r>
          </a:p>
        </p:txBody>
      </p:sp>
      <p:sp>
        <p:nvSpPr>
          <p:cNvPr id="10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642BEBBE-BA7E-4A0C-946F-58A96BF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47975"/>
            <a:ext cx="4876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E8C98D-1B6C-441B-BEF1-B21A1C46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67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무엇을 그대로 지킬까?">
            <a:extLst xmlns:a="http://schemas.openxmlformats.org/drawingml/2006/main">
              <a:ext uri="{FF2B5EF4-FFF2-40B4-BE49-F238E27FC236}">
                <a16:creationId xmlns:a16="http://schemas.microsoft.com/office/drawing/2014/main" id="{81EA82FD-085F-4A2E-9F8F-58948376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62375"/>
            <a:ext cx="4876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그대로 지킬까?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B1A014-4CC3-4AE0-BC49-AB677FA8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81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무엇을 보면 끝났다고 할까?">
            <a:extLst xmlns:a="http://schemas.openxmlformats.org/drawingml/2006/main">
              <a:ext uri="{FF2B5EF4-FFF2-40B4-BE49-F238E27FC236}">
                <a16:creationId xmlns:a16="http://schemas.microsoft.com/office/drawing/2014/main" id="{FAC27128-F284-456A-BA2D-6CFA9B06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76775"/>
            <a:ext cx="4876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보면 끝났다고 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E37437-B957-4F55-9BF2-E5C18BC9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959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404801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1 · 요청에 남아 있는 결정">
            <a:extLst xmlns:a="http://schemas.openxmlformats.org/drawingml/2006/main">
              <a:ext uri="{FF2B5EF4-FFF2-40B4-BE49-F238E27FC236}">
                <a16:creationId xmlns:a16="http://schemas.microsoft.com/office/drawing/2014/main" id="{39716642-56E4-424D-BA35-7A65878E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요청에 남아 있는 결정</a:t>
            </a:r>
          </a:p>
        </p:txBody>
      </p:sp>
      <p:sp>
        <p:nvSpPr>
          <p:cNvPr id="2" name="S11">
            <a:extLst xmlns:a="http://schemas.openxmlformats.org/drawingml/2006/main">
              <a:ext uri="{FF2B5EF4-FFF2-40B4-BE49-F238E27FC236}">
                <a16:creationId xmlns:a16="http://schemas.microsoft.com/office/drawing/2014/main" id="{DBAAAB44-385A-4713-8610-B1493D0B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S11</a:t>
            </a:r>
          </a:p>
        </p:txBody>
      </p:sp>
      <p:sp>
        <p:nvSpPr>
          <p:cNvPr id="3" name="요청만으로는 의도가 보이지 않는다">
            <a:extLst xmlns:a="http://schemas.openxmlformats.org/drawingml/2006/main">
              <a:ext uri="{FF2B5EF4-FFF2-40B4-BE49-F238E27FC236}">
                <a16:creationId xmlns:a16="http://schemas.microsoft.com/office/drawing/2014/main" id="{D734C98C-F6CB-425A-96E9-F37DF3BC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요청만으로는 의도가 보이지 않는다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6742A-8D45-4FA5-BD5F-2D0404D6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TRIAL-002의 실제 Prompt가 아님">
            <a:extLst xmlns:a="http://schemas.openxmlformats.org/drawingml/2006/main">
              <a:ext uri="{FF2B5EF4-FFF2-40B4-BE49-F238E27FC236}">
                <a16:creationId xmlns:a16="http://schemas.microsoft.com/office/drawing/2014/main" id="{95E5BF61-5680-4FF7-BC8B-C5D9673E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TRIAL-002의 실제 Prompt가 아님</a:t>
            </a:r>
          </a:p>
        </p:txBody>
      </p:sp>
      <p:sp>
        <p:nvSpPr>
          <p:cNvPr id="6" name="짧은 요청을 비난하거나 이 요청이 특정 실패를 만들었다고 주장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B956769E-1759-4822-A79B-57008319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짧은 요청을 비난하거나 이 요청이 특정 실패를 만들었다고 주장하지 않습니다.</a:t>
            </a:r>
          </a:p>
        </p:txBody>
      </p:sp>
      <p:sp>
        <p:nvSpPr>
          <p:cNvPr id="7" name="“crop test 고쳐줘”">
            <a:extLst xmlns:a="http://schemas.openxmlformats.org/drawingml/2006/main">
              <a:ext uri="{FF2B5EF4-FFF2-40B4-BE49-F238E27FC236}">
                <a16:creationId xmlns:a16="http://schemas.microsoft.com/office/drawing/2014/main" id="{D32F3FA5-446F-494F-AEF1-24DC16B9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7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 고쳐줘”</a:t>
            </a:r>
          </a:p>
        </p:txBody>
      </p:sp>
      <p:sp>
        <p:nvSpPr>
          <p:cNvPr id="8" name="테스트를 바꿀까?">
            <a:extLst xmlns:a="http://schemas.openxmlformats.org/drawingml/2006/main">
              <a:ext uri="{FF2B5EF4-FFF2-40B4-BE49-F238E27FC236}">
                <a16:creationId xmlns:a16="http://schemas.microsoft.com/office/drawing/2014/main" id="{FD8BCA7D-9879-47A6-8D61-BF478772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520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테스트를 바꿀까?</a:t>
            </a:r>
          </a:p>
        </p:txBody>
      </p:sp>
      <p:sp>
        <p:nvSpPr>
          <p:cNvPr id="9" name="구현을 바꿀까?">
            <a:extLst xmlns:a="http://schemas.openxmlformats.org/drawingml/2006/main">
              <a:ext uri="{FF2B5EF4-FFF2-40B4-BE49-F238E27FC236}">
                <a16:creationId xmlns:a16="http://schemas.microsoft.com/office/drawing/2014/main" id="{323969CF-8C87-42B1-84F5-CA2FA3B1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76600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구현을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31139-7D0D-414F-B3DB-257BBCCF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아직 정해지지 않은 정보">
            <a:extLst xmlns:a="http://schemas.openxmlformats.org/drawingml/2006/main">
              <a:ext uri="{FF2B5EF4-FFF2-40B4-BE49-F238E27FC236}">
                <a16:creationId xmlns:a16="http://schemas.microsoft.com/office/drawing/2014/main" id="{BB78AFFD-E45F-4A93-ABD0-6D1BFBD5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정해지지 않은 정보</a:t>
            </a:r>
          </a:p>
        </p:txBody>
      </p:sp>
      <p:sp>
        <p:nvSpPr>
          <p:cNvPr id="12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23D20439-8DB2-45EC-A20D-CD775239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13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64D17D36-D322-4C63-8275-CDCD4413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1339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14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229879D4-AF8A-4D66-8041-0C8A4E1B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339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15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D47BD449-FDC9-44ED-B70C-EAC22623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1339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16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3A6D2770-C439-4CF1-8D6E-C726C0C6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339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</p:spTree>
    <p:extLst>
      <p:ext uri="{BB962C8B-B14F-4D97-AF65-F5344CB8AC3E}">
        <p14:creationId xmlns:p14="http://schemas.microsoft.com/office/powerpoint/2010/main" val="2126452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FC692B68-1853-4BA1-AF85-7BBFCE7E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2">
            <a:extLst xmlns:a="http://schemas.openxmlformats.org/drawingml/2006/main">
              <a:ext uri="{FF2B5EF4-FFF2-40B4-BE49-F238E27FC236}">
                <a16:creationId xmlns:a16="http://schemas.microsoft.com/office/drawing/2014/main" id="{95688F35-DA82-45F2-87CA-AA020C2D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S12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D26A4C55-9125-4F57-92FE-7938D940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6C642-A83C-4A73-A1A6-3A3BC741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이 과정의 질문 틀 · 정답을 제시하는 분류 시험이 아님">
            <a:extLst xmlns:a="http://schemas.openxmlformats.org/drawingml/2006/main">
              <a:ext uri="{FF2B5EF4-FFF2-40B4-BE49-F238E27FC236}">
                <a16:creationId xmlns:a16="http://schemas.microsoft.com/office/drawing/2014/main" id="{6B733C22-5A2A-4DE5-B76F-2C9AB5E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 과정의 질문 틀 · 정답을 제시하는 분류 시험이 아님</a:t>
            </a:r>
          </a:p>
        </p:txBody>
      </p:sp>
      <p:sp>
        <p:nvSpPr>
          <p:cNvPr id="6" name="마지막 1분은 익숙한 작업 하나를 조용히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A5B297AD-2632-4D4B-88D3-FB556EA3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마지막 1분은 익숙한 작업 하나를 조용히 떠올려 보세요.</a:t>
            </a:r>
          </a:p>
        </p:txBody>
      </p:sp>
      <p:sp>
        <p:nvSpPr>
          <p:cNvPr id="7" name="01">
            <a:extLst xmlns:a="http://schemas.openxmlformats.org/drawingml/2006/main">
              <a:ext uri="{FF2B5EF4-FFF2-40B4-BE49-F238E27FC236}">
                <a16:creationId xmlns:a16="http://schemas.microsoft.com/office/drawing/2014/main" id="{05499FFF-8F29-4763-8255-2CBA76CD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1DA7EE3D-364B-473D-B9E8-B2EB44B7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33600"/>
            <a:ext cx="996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DC2E83-1CE9-4FAA-9E07-3542DA22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76525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0C04FE12-F71A-44AD-A4E0-4D0D96EA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1E6E4C10-E508-4A4F-8D95-106040EB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09875"/>
            <a:ext cx="996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66A94-5F46-4C2E-9088-D69E2B1C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3">
            <a:extLst xmlns:a="http://schemas.openxmlformats.org/drawingml/2006/main">
              <a:ext uri="{FF2B5EF4-FFF2-40B4-BE49-F238E27FC236}">
                <a16:creationId xmlns:a16="http://schemas.microsoft.com/office/drawing/2014/main" id="{DA34A857-38D0-449D-B03F-C04DE9E3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4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5DA12AB3-2E8B-42FB-80AA-03C70BCF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86150"/>
            <a:ext cx="996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492883-6E2A-401C-9A09-D44C36F9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29075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04">
            <a:extLst xmlns:a="http://schemas.openxmlformats.org/drawingml/2006/main">
              <a:ext uri="{FF2B5EF4-FFF2-40B4-BE49-F238E27FC236}">
                <a16:creationId xmlns:a16="http://schemas.microsoft.com/office/drawing/2014/main" id="{D6DD901A-AA49-426D-874A-A8DB6FFA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7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A3A3BAA8-58D1-4886-A23A-AEB37C6B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62425"/>
            <a:ext cx="996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5B2BC2-4800-4C63-883B-DE04617D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053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05">
            <a:extLst xmlns:a="http://schemas.openxmlformats.org/drawingml/2006/main">
              <a:ext uri="{FF2B5EF4-FFF2-40B4-BE49-F238E27FC236}">
                <a16:creationId xmlns:a16="http://schemas.microsoft.com/office/drawing/2014/main" id="{1E4D8508-D8ED-4A34-89B2-2BF9021F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0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1758CF1D-D89B-4844-9AFD-861A90F7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38700"/>
            <a:ext cx="996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</p:spTree>
    <p:extLst>
      <p:ext uri="{BB962C8B-B14F-4D97-AF65-F5344CB8AC3E}">
        <p14:creationId xmlns:p14="http://schemas.microsoft.com/office/powerpoint/2010/main" val="2152671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CDE3FB50-32C1-4A45-8BE5-11C1534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13">
            <a:extLst xmlns:a="http://schemas.openxmlformats.org/drawingml/2006/main">
              <a:ext uri="{FF2B5EF4-FFF2-40B4-BE49-F238E27FC236}">
                <a16:creationId xmlns:a16="http://schemas.microsoft.com/office/drawing/2014/main" id="{D3F3A7C3-3019-46EE-AA68-09EE7F05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S13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BFC7FA53-A4E4-4115-8669-22172526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8C4383-5351-4CC3-BDC5-FBE016D6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교육 모델 · 공식 OpenAI 분류나 모든 작업에 대한 법칙이 아님">
            <a:extLst xmlns:a="http://schemas.openxmlformats.org/drawingml/2006/main">
              <a:ext uri="{FF2B5EF4-FFF2-40B4-BE49-F238E27FC236}">
                <a16:creationId xmlns:a16="http://schemas.microsoft.com/office/drawing/2014/main" id="{986EE76A-4AB4-4CDF-BF83-B3934B1D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교육 모델 · 공식 OpenAI 분류나 모든 작업에 대한 법칙이 아님</a:t>
            </a:r>
          </a:p>
        </p:txBody>
      </p:sp>
      <p:sp>
        <p:nvSpPr>
          <p:cNvPr id="6" name="다섯 항목은 서로 분리된 기능이 아니라 하나의 작업 요청에 담는 책임입니다.">
            <a:extLst xmlns:a="http://schemas.openxmlformats.org/drawingml/2006/main">
              <a:ext uri="{FF2B5EF4-FFF2-40B4-BE49-F238E27FC236}">
                <a16:creationId xmlns:a16="http://schemas.microsoft.com/office/drawing/2014/main" id="{75829216-B7B5-484E-AFD8-16CFB61B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다섯 항목은 서로 분리된 기능이 아니라 하나의 작업 요청에 담는 책임입니다.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2CF530-F0AD-4ABF-8F2A-78DD79A0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목표">
            <a:extLst xmlns:a="http://schemas.openxmlformats.org/drawingml/2006/main">
              <a:ext uri="{FF2B5EF4-FFF2-40B4-BE49-F238E27FC236}">
                <a16:creationId xmlns:a16="http://schemas.microsoft.com/office/drawing/2014/main" id="{91332002-123A-47D3-8C16-4B3E800A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138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9" name="Goal">
            <a:extLst xmlns:a="http://schemas.openxmlformats.org/drawingml/2006/main">
              <a:ext uri="{FF2B5EF4-FFF2-40B4-BE49-F238E27FC236}">
                <a16:creationId xmlns:a16="http://schemas.microsoft.com/office/drawing/2014/main" id="{634AF8D3-1520-4D54-98DA-AC962017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305050"/>
            <a:ext cx="25050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Goal</a:t>
            </a:r>
          </a:p>
        </p:txBody>
      </p:sp>
      <p:sp>
        <p:nvSpPr>
          <p:cNvPr id="10" name="어떤 결과를 바꿀까?">
            <a:extLst xmlns:a="http://schemas.openxmlformats.org/drawingml/2006/main">
              <a:ext uri="{FF2B5EF4-FFF2-40B4-BE49-F238E27FC236}">
                <a16:creationId xmlns:a16="http://schemas.microsoft.com/office/drawing/2014/main" id="{6C4B33CA-9160-4AB7-A05A-64425307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05050"/>
            <a:ext cx="588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결과를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02F8E7-72E4-43A7-8EE8-67E8AF34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9875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맥락">
            <a:extLst xmlns:a="http://schemas.openxmlformats.org/drawingml/2006/main">
              <a:ext uri="{FF2B5EF4-FFF2-40B4-BE49-F238E27FC236}">
                <a16:creationId xmlns:a16="http://schemas.microsoft.com/office/drawing/2014/main" id="{E5EBE7BD-2808-48AE-9A69-D099EAA6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24175"/>
            <a:ext cx="138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</a:t>
            </a:r>
          </a:p>
        </p:txBody>
      </p:sp>
      <p:sp>
        <p:nvSpPr>
          <p:cNvPr id="13" name="Context">
            <a:extLst xmlns:a="http://schemas.openxmlformats.org/drawingml/2006/main">
              <a:ext uri="{FF2B5EF4-FFF2-40B4-BE49-F238E27FC236}">
                <a16:creationId xmlns:a16="http://schemas.microsoft.com/office/drawing/2014/main" id="{044B8797-6721-4409-A013-B07E5191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924175"/>
            <a:ext cx="25050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4" name="이 작업에 필요한 사실은?">
            <a:extLst xmlns:a="http://schemas.openxmlformats.org/drawingml/2006/main">
              <a:ext uri="{FF2B5EF4-FFF2-40B4-BE49-F238E27FC236}">
                <a16:creationId xmlns:a16="http://schemas.microsoft.com/office/drawing/2014/main" id="{0120F596-D8E7-4BA6-960B-19A1A539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24175"/>
            <a:ext cx="588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필요한 사실은?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2D670-AB10-4CC3-8336-62C7BC15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제약">
            <a:extLst xmlns:a="http://schemas.openxmlformats.org/drawingml/2006/main">
              <a:ext uri="{FF2B5EF4-FFF2-40B4-BE49-F238E27FC236}">
                <a16:creationId xmlns:a16="http://schemas.microsoft.com/office/drawing/2014/main" id="{FD78FD61-E8F5-4F36-964E-166B08DE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138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7" name="Constraints">
            <a:extLst xmlns:a="http://schemas.openxmlformats.org/drawingml/2006/main">
              <a:ext uri="{FF2B5EF4-FFF2-40B4-BE49-F238E27FC236}">
                <a16:creationId xmlns:a16="http://schemas.microsoft.com/office/drawing/2014/main" id="{4310160B-A8EF-4D4B-9178-2E092225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43300"/>
            <a:ext cx="25050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Constraints</a:t>
            </a:r>
          </a:p>
        </p:txBody>
      </p:sp>
      <p:sp>
        <p:nvSpPr>
          <p:cNvPr id="18" name="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D141113C-8CCF-4A7F-9231-9B767F0E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43300"/>
            <a:ext cx="588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5D4514-E244-4702-A025-BC3CDF46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48125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과정">
            <a:extLst xmlns:a="http://schemas.openxmlformats.org/drawingml/2006/main">
              <a:ext uri="{FF2B5EF4-FFF2-40B4-BE49-F238E27FC236}">
                <a16:creationId xmlns:a16="http://schemas.microsoft.com/office/drawing/2014/main" id="{DE72B571-0C5A-4D34-A0A9-849805BC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62425"/>
            <a:ext cx="138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</a:t>
            </a:r>
          </a:p>
        </p:txBody>
      </p:sp>
      <p:sp>
        <p:nvSpPr>
          <p:cNvPr id="21" name="Process">
            <a:extLst xmlns:a="http://schemas.openxmlformats.org/drawingml/2006/main">
              <a:ext uri="{FF2B5EF4-FFF2-40B4-BE49-F238E27FC236}">
                <a16:creationId xmlns:a16="http://schemas.microsoft.com/office/drawing/2014/main" id="{EFABE461-5DD7-4377-91D7-9FEA2B1E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62425"/>
            <a:ext cx="25050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Process</a:t>
            </a:r>
          </a:p>
        </p:txBody>
      </p:sp>
      <p:sp>
        <p:nvSpPr>
          <p:cNvPr id="22" name="어떤 순서·경계를 지킬까?">
            <a:extLst xmlns:a="http://schemas.openxmlformats.org/drawingml/2006/main">
              <a:ext uri="{FF2B5EF4-FFF2-40B4-BE49-F238E27FC236}">
                <a16:creationId xmlns:a16="http://schemas.microsoft.com/office/drawing/2014/main" id="{F777C629-EE26-44F8-9AB1-69CD4D9B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588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순서·경계를 지킬까?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92D6E3-5229-4C04-90A8-E33063AB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검증">
            <a:extLst xmlns:a="http://schemas.openxmlformats.org/drawingml/2006/main">
              <a:ext uri="{FF2B5EF4-FFF2-40B4-BE49-F238E27FC236}">
                <a16:creationId xmlns:a16="http://schemas.microsoft.com/office/drawing/2014/main" id="{2BB7E9B9-1DE2-4E33-A15D-39A48347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138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5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25FA2D95-C644-4D2D-915B-1ED09874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781550"/>
            <a:ext cx="25050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26" name="무엇으로 완료를 확인할까?">
            <a:extLst xmlns:a="http://schemas.openxmlformats.org/drawingml/2006/main">
              <a:ext uri="{FF2B5EF4-FFF2-40B4-BE49-F238E27FC236}">
                <a16:creationId xmlns:a16="http://schemas.microsoft.com/office/drawing/2014/main" id="{26299CE5-632F-40D3-B372-D04C0C42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81550"/>
            <a:ext cx="588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완료를 확인할까?</a:t>
            </a:r>
          </a:p>
        </p:txBody>
      </p:sp>
    </p:spTree>
    <p:extLst>
      <p:ext uri="{BB962C8B-B14F-4D97-AF65-F5344CB8AC3E}">
        <p14:creationId xmlns:p14="http://schemas.microsoft.com/office/powerpoint/2010/main" val="10767558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같은 요청을 구체화하기">
            <a:extLst xmlns:a="http://schemas.openxmlformats.org/drawingml/2006/main">
              <a:ext uri="{FF2B5EF4-FFF2-40B4-BE49-F238E27FC236}">
                <a16:creationId xmlns:a16="http://schemas.microsoft.com/office/drawing/2014/main" id="{170B814A-9AE5-4530-8147-C551DEE3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요청을 구체화하기</a:t>
            </a:r>
          </a:p>
        </p:txBody>
      </p:sp>
      <p:sp>
        <p:nvSpPr>
          <p:cNvPr id="2" name="S14">
            <a:extLst xmlns:a="http://schemas.openxmlformats.org/drawingml/2006/main">
              <a:ext uri="{FF2B5EF4-FFF2-40B4-BE49-F238E27FC236}">
                <a16:creationId xmlns:a16="http://schemas.microsoft.com/office/drawing/2014/main" id="{E038D918-2AD8-4520-B217-ECA09289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S14</a:t>
            </a:r>
          </a:p>
        </p:txBody>
      </p:sp>
      <p:sp>
        <p:nvSpPr>
          <p:cNvPr id="3" name="더 긴 Prompt보다 분명한 경계">
            <a:extLst xmlns:a="http://schemas.openxmlformats.org/drawingml/2006/main">
              <a:ext uri="{FF2B5EF4-FFF2-40B4-BE49-F238E27FC236}">
                <a16:creationId xmlns:a16="http://schemas.microsoft.com/office/drawing/2014/main" id="{D775EE20-E234-490D-8B79-6E4C1AFB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더 긴 Prompt보다 분명한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A4341-8C8E-4D6D-8F3C-8624C3C4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Before / After · 실제 Trial Prompt나 우월성 비교 실험이 아님">
            <a:extLst xmlns:a="http://schemas.openxmlformats.org/drawingml/2006/main">
              <a:ext uri="{FF2B5EF4-FFF2-40B4-BE49-F238E27FC236}">
                <a16:creationId xmlns:a16="http://schemas.microsoft.com/office/drawing/2014/main" id="{4C431CCA-D11A-41F3-A20F-3B801E20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Before / After · 실제 Trial Prompt나 우월성 비교 실험이 아님</a:t>
            </a:r>
          </a:p>
        </p:txBody>
      </p:sp>
      <p:sp>
        <p:nvSpPr>
          <p:cNvPr id="6" name="C++ 적용도 작업 경계를 정하는 예시입니다. 특정 Windows·빌드 환경을 검증한 것은 아닙니다.">
            <a:extLst xmlns:a="http://schemas.openxmlformats.org/drawingml/2006/main">
              <a:ext uri="{FF2B5EF4-FFF2-40B4-BE49-F238E27FC236}">
                <a16:creationId xmlns:a16="http://schemas.microsoft.com/office/drawing/2014/main" id="{02FBD809-7DA1-40F8-B101-091ADAE5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적용도 작업 경계를 정하는 예시입니다. 특정 Windows·빌드 환경을 검증한 것은 아닙니다.</a:t>
            </a:r>
          </a:p>
        </p:txBody>
      </p:sp>
      <p:sp>
        <p:nvSpPr>
          <p:cNvPr id="7" name="처음 요청">
            <a:extLst xmlns:a="http://schemas.openxmlformats.org/drawingml/2006/main">
              <a:ext uri="{FF2B5EF4-FFF2-40B4-BE49-F238E27FC236}">
                <a16:creationId xmlns:a16="http://schemas.microsoft.com/office/drawing/2014/main" id="{172E0DF4-D5CA-440E-B304-76E3C3E0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처음 요청</a:t>
            </a:r>
          </a:p>
        </p:txBody>
      </p:sp>
      <p:sp>
        <p:nvSpPr>
          <p:cNvPr id="8" name="“crop test&#10;고쳐줘.”">
            <a:extLst xmlns:a="http://schemas.openxmlformats.org/drawingml/2006/main">
              <a:ext uri="{FF2B5EF4-FFF2-40B4-BE49-F238E27FC236}">
                <a16:creationId xmlns:a16="http://schemas.microsoft.com/office/drawing/2014/main" id="{FCE124C5-8E2C-4363-9350-0E893B8B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</a:t>
            </a:r>
          </a:p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고쳐줘.”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74016-51B9-4616-A646-F9BFD226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86125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추가한 정보">
            <a:extLst xmlns:a="http://schemas.openxmlformats.org/drawingml/2006/main">
              <a:ext uri="{FF2B5EF4-FFF2-40B4-BE49-F238E27FC236}">
                <a16:creationId xmlns:a16="http://schemas.microsoft.com/office/drawing/2014/main" id="{F848AD5B-8BDD-4087-B104-AE1DDA1D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431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추가한 정보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E498B-ED2C-4FB7-B2DA-5A3E25DC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57475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목표·맥락">
            <a:extLst xmlns:a="http://schemas.openxmlformats.org/drawingml/2006/main">
              <a:ext uri="{FF2B5EF4-FFF2-40B4-BE49-F238E27FC236}">
                <a16:creationId xmlns:a16="http://schemas.microsoft.com/office/drawing/2014/main" id="{F8F7E884-D136-42FD-8D40-526C4874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43200"/>
            <a:ext cx="137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목표·맥락</a:t>
            </a:r>
          </a:p>
        </p:txBody>
      </p:sp>
      <p:sp>
        <p:nvSpPr>
          <p:cNvPr id="13" name="crop 경계 실패를 조사·수정한다.">
            <a:extLst xmlns:a="http://schemas.openxmlformats.org/drawingml/2006/main">
              <a:ext uri="{FF2B5EF4-FFF2-40B4-BE49-F238E27FC236}">
                <a16:creationId xmlns:a16="http://schemas.microsoft.com/office/drawing/2014/main" id="{7011F596-E281-4B3C-B923-A88A0736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43200"/>
            <a:ext cx="5600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실패를 조사·수정한다.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C9B98-FBFE-4EA1-A31D-CE1D0A99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76600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제약">
            <a:extLst xmlns:a="http://schemas.openxmlformats.org/drawingml/2006/main">
              <a:ext uri="{FF2B5EF4-FFF2-40B4-BE49-F238E27FC236}">
                <a16:creationId xmlns:a16="http://schemas.microsoft.com/office/drawing/2014/main" id="{1D240B84-5F34-4E7A-86AE-0ABBA0E7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62325"/>
            <a:ext cx="137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6" name="끝 좌표 제외, 무관한 API·의존성 유지">
            <a:extLst xmlns:a="http://schemas.openxmlformats.org/drawingml/2006/main">
              <a:ext uri="{FF2B5EF4-FFF2-40B4-BE49-F238E27FC236}">
                <a16:creationId xmlns:a16="http://schemas.microsoft.com/office/drawing/2014/main" id="{8D7C51DB-1911-43A5-B234-B2B4BAC7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62325"/>
            <a:ext cx="5600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제외, 무관한 API·의존성 유지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5061B-2982-4492-989D-24B91D68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95725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과정">
            <a:extLst xmlns:a="http://schemas.openxmlformats.org/drawingml/2006/main">
              <a:ext uri="{FF2B5EF4-FFF2-40B4-BE49-F238E27FC236}">
                <a16:creationId xmlns:a16="http://schemas.microsoft.com/office/drawing/2014/main" id="{F167F929-D00A-42EC-9ACD-A0B8EEC5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81450"/>
            <a:ext cx="137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</a:t>
            </a:r>
          </a:p>
        </p:txBody>
      </p:sp>
      <p:sp>
        <p:nvSpPr>
          <p:cNvPr id="19" name="재현 → 조사 → 계획 → 최소 수정">
            <a:extLst xmlns:a="http://schemas.openxmlformats.org/drawingml/2006/main">
              <a:ext uri="{FF2B5EF4-FFF2-40B4-BE49-F238E27FC236}">
                <a16:creationId xmlns:a16="http://schemas.microsoft.com/office/drawing/2014/main" id="{4D20600D-7D7E-425E-8F6D-6A692CB8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81450"/>
            <a:ext cx="5600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→ 조사 → 계획 → 최소 수정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5FE20C-A39B-45D3-90EB-9A9214A8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14850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검증">
            <a:extLst xmlns:a="http://schemas.openxmlformats.org/drawingml/2006/main">
              <a:ext uri="{FF2B5EF4-FFF2-40B4-BE49-F238E27FC236}">
                <a16:creationId xmlns:a16="http://schemas.microsoft.com/office/drawing/2014/main" id="{E35047C5-FDAA-457F-9B7A-2F07DA5E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00575"/>
            <a:ext cx="137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2" name="집중·전체 Test + CLI smoke + diff">
            <a:extLst xmlns:a="http://schemas.openxmlformats.org/drawingml/2006/main">
              <a:ext uri="{FF2B5EF4-FFF2-40B4-BE49-F238E27FC236}">
                <a16:creationId xmlns:a16="http://schemas.microsoft.com/office/drawing/2014/main" id="{2C3B99D0-6ACF-4B05-A4CB-65A895F9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600575"/>
            <a:ext cx="5600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집중·전체 Test + CLI smoke +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1CFB30-D0BE-4644-8011-76696B2C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++에도: 출력·API/ABI 보존 범위와 Release 검증 조건을 먼저 정한다.">
            <a:extLst xmlns:a="http://schemas.openxmlformats.org/drawingml/2006/main">
              <a:ext uri="{FF2B5EF4-FFF2-40B4-BE49-F238E27FC236}">
                <a16:creationId xmlns:a16="http://schemas.microsoft.com/office/drawing/2014/main" id="{16740F29-FBB2-4C55-BA63-C3E9FDF4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C++에도: 출력·API/ABI 보존 범위와 Release 검증 조건을 먼저 정한다.</a:t>
            </a:r>
          </a:p>
        </p:txBody>
      </p:sp>
    </p:spTree>
    <p:extLst>
      <p:ext uri="{BB962C8B-B14F-4D97-AF65-F5344CB8AC3E}">
        <p14:creationId xmlns:p14="http://schemas.microsoft.com/office/powerpoint/2010/main" val="15363960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1 · 수정 전 행동 관찰">
            <a:extLst xmlns:a="http://schemas.openxmlformats.org/drawingml/2006/main">
              <a:ext uri="{FF2B5EF4-FFF2-40B4-BE49-F238E27FC236}">
                <a16:creationId xmlns:a16="http://schemas.microsoft.com/office/drawing/2014/main" id="{A086E60A-7CE6-4325-A15E-B5F335C9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수정 전 행동 관찰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B5AFC34A-0D09-4FEC-8427-000C68A6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먼저 무엇을 하는지 보자">
            <a:extLst xmlns:a="http://schemas.openxmlformats.org/drawingml/2006/main">
              <a:ext uri="{FF2B5EF4-FFF2-40B4-BE49-F238E27FC236}">
                <a16:creationId xmlns:a16="http://schemas.microsoft.com/office/drawing/2014/main" id="{5BFB8AD9-3F6D-4530-AB74-9D81DEBD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무엇을 하는지 보자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1B3378-BD44-4281-8DA2-BF8F02AD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관찰 기준 · 2026-09-28 · Codex CLI 0.154.0 · macOS">
            <a:extLst xmlns:a="http://schemas.openxmlformats.org/drawingml/2006/main">
              <a:ext uri="{FF2B5EF4-FFF2-40B4-BE49-F238E27FC236}">
                <a16:creationId xmlns:a16="http://schemas.microsoft.com/office/drawing/2014/main" id="{CE87897F-E599-494E-BDE8-C6EBD199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관찰 기준 · 2026-09-28 · Codex CLI 0.154.0 · macOS</a:t>
            </a:r>
          </a:p>
        </p:txBody>
      </p:sp>
      <p:sp>
        <p:nvSpPr>
          <p:cNvPr id="6" name="단일 과거 CLI 기록을 살펴봅니다. 현재 Desktop 실행이나 반복성을 입증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EDF6D4B3-CBB9-4673-A83C-AF48A437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단일 과거 CLI 기록을 살펴봅니다. 현재 Desktop 실행이나 반복성을 입증하지 않습니다.</a:t>
            </a:r>
          </a:p>
        </p:txBody>
      </p:sp>
      <p:sp>
        <p:nvSpPr>
          <p:cNvPr id="7" name="“이 요청을 받으면 수정부터 시작할까?”">
            <a:extLst xmlns:a="http://schemas.openxmlformats.org/drawingml/2006/main">
              <a:ext uri="{FF2B5EF4-FFF2-40B4-BE49-F238E27FC236}">
                <a16:creationId xmlns:a16="http://schemas.microsoft.com/office/drawing/2014/main" id="{5E6823DF-D057-4053-87B8-F1DB8D16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“이 요청을 받으면 수정부터 시작할까?”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F7EBDFAC-86B3-4446-9FAB-75ED5F11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재현">
            <a:extLst xmlns:a="http://schemas.openxmlformats.org/drawingml/2006/main">
              <a:ext uri="{FF2B5EF4-FFF2-40B4-BE49-F238E27FC236}">
                <a16:creationId xmlns:a16="http://schemas.microsoft.com/office/drawing/2014/main" id="{5079333E-E6C5-4D5F-AEE7-D8250F5A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</a:t>
            </a:r>
          </a:p>
        </p:txBody>
      </p:sp>
      <p:sp>
        <p:nvSpPr>
          <p:cNvPr id="10" name="실패 확인">
            <a:extLst xmlns:a="http://schemas.openxmlformats.org/drawingml/2006/main">
              <a:ext uri="{FF2B5EF4-FFF2-40B4-BE49-F238E27FC236}">
                <a16:creationId xmlns:a16="http://schemas.microsoft.com/office/drawing/2014/main" id="{540795E5-1C84-44ED-8FFE-79EB9683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실패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A15F6-FCFA-439D-BBD5-7B55EF8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DE88C278-BA7F-41E4-B724-B805E048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조사">
            <a:extLst xmlns:a="http://schemas.openxmlformats.org/drawingml/2006/main">
              <a:ext uri="{FF2B5EF4-FFF2-40B4-BE49-F238E27FC236}">
                <a16:creationId xmlns:a16="http://schemas.microsoft.com/office/drawing/2014/main" id="{EE7D975B-A67F-4252-A973-5DE39B59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14" name="근거 연결">
            <a:extLst xmlns:a="http://schemas.openxmlformats.org/drawingml/2006/main">
              <a:ext uri="{FF2B5EF4-FFF2-40B4-BE49-F238E27FC236}">
                <a16:creationId xmlns:a16="http://schemas.microsoft.com/office/drawing/2014/main" id="{F60184E3-483B-4DBA-ADFE-5BA1DCCC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근거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70671D-58EE-492D-A5EB-2A13929C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04A05AA0-602C-416C-8AC6-898FF733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계획">
            <a:extLst xmlns:a="http://schemas.openxmlformats.org/drawingml/2006/main">
              <a:ext uri="{FF2B5EF4-FFF2-40B4-BE49-F238E27FC236}">
                <a16:creationId xmlns:a16="http://schemas.microsoft.com/office/drawing/2014/main" id="{869D32C2-7013-4FD5-8BB2-76AA46BC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계획</a:t>
            </a:r>
          </a:p>
        </p:txBody>
      </p:sp>
      <p:sp>
        <p:nvSpPr>
          <p:cNvPr id="18" name="수정 전 설명">
            <a:extLst xmlns:a="http://schemas.openxmlformats.org/drawingml/2006/main">
              <a:ext uri="{FF2B5EF4-FFF2-40B4-BE49-F238E27FC236}">
                <a16:creationId xmlns:a16="http://schemas.microsoft.com/office/drawing/2014/main" id="{944198FC-E045-47B4-8C08-7BBC8F66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전 설명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91EFB-65AC-4C0B-9441-C6CF11DF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0C3D69E3-4447-45C1-84EA-14DAFF60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수정">
            <a:extLst xmlns:a="http://schemas.openxmlformats.org/drawingml/2006/main">
              <a:ext uri="{FF2B5EF4-FFF2-40B4-BE49-F238E27FC236}">
                <a16:creationId xmlns:a16="http://schemas.microsoft.com/office/drawing/2014/main" id="{2A51D8C3-8C48-44D2-8FD0-BB7FA4DC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22" name="최소 변경">
            <a:extLst xmlns:a="http://schemas.openxmlformats.org/drawingml/2006/main">
              <a:ext uri="{FF2B5EF4-FFF2-40B4-BE49-F238E27FC236}">
                <a16:creationId xmlns:a16="http://schemas.microsoft.com/office/drawing/2014/main" id="{0DB1DF59-D4E1-4494-A273-C3F57249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최소 변경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13C500-6088-43A1-9F13-21787101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4" name="05">
            <a:extLst xmlns:a="http://schemas.openxmlformats.org/drawingml/2006/main">
              <a:ext uri="{FF2B5EF4-FFF2-40B4-BE49-F238E27FC236}">
                <a16:creationId xmlns:a16="http://schemas.microsoft.com/office/drawing/2014/main" id="{3499368B-5746-41F7-87A8-FB229EF0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검증">
            <a:extLst xmlns:a="http://schemas.openxmlformats.org/drawingml/2006/main">
              <a:ext uri="{FF2B5EF4-FFF2-40B4-BE49-F238E27FC236}">
                <a16:creationId xmlns:a16="http://schemas.microsoft.com/office/drawing/2014/main" id="{35B41683-3387-4FB2-B7CD-FD2B433A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6" name="결과 확인">
            <a:extLst xmlns:a="http://schemas.openxmlformats.org/drawingml/2006/main">
              <a:ext uri="{FF2B5EF4-FFF2-40B4-BE49-F238E27FC236}">
                <a16:creationId xmlns:a16="http://schemas.microsoft.com/office/drawing/2014/main" id="{BFBFDB3D-D05B-4B24-9931-8BDFFFAF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결과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CDE77E-D026-41D5-ACDD-DEC77FEA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다음 두 장에서 요청한 흐름과 기록된 행동을 대조한다.">
            <a:extLst xmlns:a="http://schemas.openxmlformats.org/drawingml/2006/main">
              <a:ext uri="{FF2B5EF4-FFF2-40B4-BE49-F238E27FC236}">
                <a16:creationId xmlns:a16="http://schemas.microsoft.com/office/drawing/2014/main" id="{3D0FBE8A-9D3D-44FB-BBAE-52CA8C71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두 장에서 요청한 흐름과 기록된 행동을 대조한다.</a:t>
            </a:r>
          </a:p>
        </p:txBody>
      </p:sp>
    </p:spTree>
    <p:extLst>
      <p:ext uri="{BB962C8B-B14F-4D97-AF65-F5344CB8AC3E}">
        <p14:creationId xmlns:p14="http://schemas.microsoft.com/office/powerpoint/2010/main" val="1554172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1 · 계약을 보존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FB301C55-72B6-470A-9E7B-D215B2DE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계약을 보존하는 최소 변경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D54B7A21-EAC0-40DB-A5D5-65FCA166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7E951D71-EB9A-4697-A1D8-5180BF9B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0F1EF-E73B-4CDE-8F8F-9095DC1D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· STATE-00 → STATE-00-FIXED · 실제 diff를 재구성한 도식">
            <a:extLst xmlns:a="http://schemas.openxmlformats.org/drawingml/2006/main">
              <a:ext uri="{FF2B5EF4-FFF2-40B4-BE49-F238E27FC236}">
                <a16:creationId xmlns:a16="http://schemas.microsoft.com/office/drawing/2014/main" id="{85993E3D-2A37-4C47-BBCA-EFED91CA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· STATE-00 → STATE-00-FIXED · 실제 diff를 재구성한 도식</a:t>
            </a:r>
          </a:p>
        </p:txBody>
      </p:sp>
      <p:sp>
        <p:nvSpPr>
          <p:cNvPr id="6" name="src/graypipe/transform.py · 단일 CLI 기록 · 실제 터미널 화면이 아님">
            <a:extLst xmlns:a="http://schemas.openxmlformats.org/drawingml/2006/main">
              <a:ext uri="{FF2B5EF4-FFF2-40B4-BE49-F238E27FC236}">
                <a16:creationId xmlns:a16="http://schemas.microsoft.com/office/drawing/2014/main" id="{EE257684-76FA-4784-97A2-9B9C2F8D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src/graypipe/transform.py · 단일 CLI 기록 · 실제 터미널 화면이 아님</a:t>
            </a:r>
          </a:p>
        </p:txBody>
      </p:sp>
      <p:sp>
        <p:nvSpPr>
          <p:cNvPr id="7" name="실패 테스트 → 호출 경로 → 계약 확인 → 수정 전 계획">
            <a:extLst xmlns:a="http://schemas.openxmlformats.org/drawingml/2006/main">
              <a:ext uri="{FF2B5EF4-FFF2-40B4-BE49-F238E27FC236}">
                <a16:creationId xmlns:a16="http://schemas.microsoft.com/office/drawing/2014/main" id="{92207745-961F-4368-8308-4A8A1AF3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실패 테스트 → 호출 경로 → 계약 확인 → 수정 전 계획</a:t>
            </a:r>
          </a:p>
        </p:txBody>
      </p:sp>
      <p:sp>
        <p:nvSpPr>
          <p:cNvPr id="8" name="끝 좌표를 제외한다: [x_start, x_end)">
            <a:extLst xmlns:a="http://schemas.openxmlformats.org/drawingml/2006/main">
              <a:ext uri="{FF2B5EF4-FFF2-40B4-BE49-F238E27FC236}">
                <a16:creationId xmlns:a16="http://schemas.microsoft.com/office/drawing/2014/main" id="{0585E827-E886-4B63-AE26-8419F051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제외한다: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A4562-5281-46F9-A127-81750DB3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CBEA4-0C83-4799-B795-C247BE2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B4BF4E16-4C6A-4CB4-9708-4563E9A1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6551F9FE-3505-4A97-9437-623CBE6C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F2A44A6A-6C35-4DA0-AD4C-5D53D7B2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E99A2468-5269-45E6-8863-A844735B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09A34D-CE7E-4F6C-AC42-95CB66C9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0F62DD62-E23B-466C-B342-62B6E8D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계약대로 너비 2">
            <a:extLst xmlns:a="http://schemas.openxmlformats.org/drawingml/2006/main">
              <a:ext uri="{FF2B5EF4-FFF2-40B4-BE49-F238E27FC236}">
                <a16:creationId xmlns:a16="http://schemas.microsoft.com/office/drawing/2014/main" id="{46F50E2F-FECD-4545-852B-8ACE7854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계약대로 너비 2</a:t>
            </a:r>
          </a:p>
        </p:txBody>
      </p:sp>
    </p:spTree>
    <p:extLst>
      <p:ext uri="{BB962C8B-B14F-4D97-AF65-F5344CB8AC3E}">
        <p14:creationId xmlns:p14="http://schemas.microsoft.com/office/powerpoint/2010/main" val="13567279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1 · 수정 뒤 확인한 것">
            <a:extLst xmlns:a="http://schemas.openxmlformats.org/drawingml/2006/main">
              <a:ext uri="{FF2B5EF4-FFF2-40B4-BE49-F238E27FC236}">
                <a16:creationId xmlns:a16="http://schemas.microsoft.com/office/drawing/2014/main" id="{CACD0AC2-2EEF-4581-A08D-53A124E4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수정 뒤 확인한 것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57D9B770-D85B-437A-AE43-4BABE694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4F3D6D9B-E82F-47DC-9F58-32BD2455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7D2A1D-4F3E-40D3-A0AD-766B02C3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기록 요약 · 단일 Codex CLI 실행 · STATE-00-FIXED">
            <a:extLst xmlns:a="http://schemas.openxmlformats.org/drawingml/2006/main">
              <a:ext uri="{FF2B5EF4-FFF2-40B4-BE49-F238E27FC236}">
                <a16:creationId xmlns:a16="http://schemas.microsoft.com/office/drawing/2014/main" id="{3267A214-9739-440C-B45D-E49F75F4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기록 요약 · 단일 Codex CLI 실행 · STATE-00-FIXED</a:t>
            </a:r>
          </a:p>
        </p:txBody>
      </p:sp>
      <p:sp>
        <p:nvSpPr>
          <p:cNvPr id="6" name="해당 테스트·입력·수정 범위의 확인입니다. 성능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184AF731-DBFD-4512-AADE-D10C1201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테스트·입력·수정 범위의 확인입니다. 성능 benchmark는 수행하지 않았습니다.</a:t>
            </a:r>
          </a:p>
        </p:txBody>
      </p:sp>
      <p:sp>
        <p:nvSpPr>
          <p:cNvPr id="7" name="동작 확인">
            <a:extLst xmlns:a="http://schemas.openxmlformats.org/drawingml/2006/main">
              <a:ext uri="{FF2B5EF4-FFF2-40B4-BE49-F238E27FC236}">
                <a16:creationId xmlns:a16="http://schemas.microsoft.com/office/drawing/2014/main" id="{BF41629F-2DF6-4EC5-8570-BD5C929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AF02C-EB8F-47E4-A759-1A7FF464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3 / 3">
            <a:extLst xmlns:a="http://schemas.openxmlformats.org/drawingml/2006/main">
              <a:ext uri="{FF2B5EF4-FFF2-40B4-BE49-F238E27FC236}">
                <a16:creationId xmlns:a16="http://schemas.microsoft.com/office/drawing/2014/main" id="{C5AFDCE7-D48A-4CB3-8BCA-6853F39B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0" name="crop 집중 테스트">
            <a:extLst xmlns:a="http://schemas.openxmlformats.org/drawingml/2006/main">
              <a:ext uri="{FF2B5EF4-FFF2-40B4-BE49-F238E27FC236}">
                <a16:creationId xmlns:a16="http://schemas.microsoft.com/office/drawing/2014/main" id="{C97B60B6-E263-410C-8AB2-C46ED553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집중 테스트</a:t>
            </a:r>
          </a:p>
        </p:txBody>
      </p:sp>
      <p:sp>
        <p:nvSpPr>
          <p:cNvPr id="11" name="전체 suite 11 / 11 통과">
            <a:extLst xmlns:a="http://schemas.openxmlformats.org/drawingml/2006/main">
              <a:ext uri="{FF2B5EF4-FFF2-40B4-BE49-F238E27FC236}">
                <a16:creationId xmlns:a16="http://schemas.microsoft.com/office/drawing/2014/main" id="{78F9C596-1D08-44D5-AA2E-FB6DC73E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suite 11 / 11 통과</a:t>
            </a:r>
          </a:p>
        </p:txBody>
      </p:sp>
      <p:sp>
        <p:nvSpPr>
          <p:cNvPr id="12" name="실행 확인">
            <a:extLst xmlns:a="http://schemas.openxmlformats.org/drawingml/2006/main">
              <a:ext uri="{FF2B5EF4-FFF2-40B4-BE49-F238E27FC236}">
                <a16:creationId xmlns:a16="http://schemas.microsoft.com/office/drawing/2014/main" id="{82E01EAA-2DDA-4280-BF7B-4B00A3BC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194909-4485-4924-A908-0213586C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PASS">
            <a:extLst xmlns:a="http://schemas.openxmlformats.org/drawingml/2006/main">
              <a:ext uri="{FF2B5EF4-FFF2-40B4-BE49-F238E27FC236}">
                <a16:creationId xmlns:a16="http://schemas.microsoft.com/office/drawing/2014/main" id="{05BB5D06-B9A4-49C0-916A-DF0F27EB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5" name="CLI smoke">
            <a:extLst xmlns:a="http://schemas.openxmlformats.org/drawingml/2006/main">
              <a:ext uri="{FF2B5EF4-FFF2-40B4-BE49-F238E27FC236}">
                <a16:creationId xmlns:a16="http://schemas.microsoft.com/office/drawing/2014/main" id="{FCDC8162-0CFD-4919-A272-F94578A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6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D2AE7A77-2C7D-4186-9987-6000469F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7" name="범위 확인">
            <a:extLst xmlns:a="http://schemas.openxmlformats.org/drawingml/2006/main">
              <a:ext uri="{FF2B5EF4-FFF2-40B4-BE49-F238E27FC236}">
                <a16:creationId xmlns:a16="http://schemas.microsoft.com/office/drawing/2014/main" id="{9D4579C5-DF56-4EEA-B073-9FA92F67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016D4F-E1AF-4B4E-B117-1732B05E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1줄">
            <a:extLst xmlns:a="http://schemas.openxmlformats.org/drawingml/2006/main">
              <a:ext uri="{FF2B5EF4-FFF2-40B4-BE49-F238E27FC236}">
                <a16:creationId xmlns:a16="http://schemas.microsoft.com/office/drawing/2014/main" id="{4BA631A5-1D9F-4227-BEF7-8687311A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0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318D4535-C989-42D8-B6D7-F7DB9E4B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1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5F40822E-97C4-4F29-AD12-1265FF5F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</p:spTree>
    <p:extLst>
      <p:ext uri="{BB962C8B-B14F-4D97-AF65-F5344CB8AC3E}">
        <p14:creationId xmlns:p14="http://schemas.microsoft.com/office/powerpoint/2010/main" val="13982186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1 · 생성 뒤에 남는 판단">
            <a:extLst xmlns:a="http://schemas.openxmlformats.org/drawingml/2006/main">
              <a:ext uri="{FF2B5EF4-FFF2-40B4-BE49-F238E27FC236}">
                <a16:creationId xmlns:a16="http://schemas.microsoft.com/office/drawing/2014/main" id="{55350563-7C9D-45F3-8CBC-2F501CFD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생성 뒤에 남는 판단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E0F7C82F-1858-4A97-9E05-F0B612B0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6C8C2FA1-019D-4E87-A89F-C3DDB83D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EDD56-C82E-429E-812A-1880CC04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 모델 · 관찰 예: TRIAL-002에서 테스트·CLI·diff를 확인">
            <a:extLst xmlns:a="http://schemas.openxmlformats.org/drawingml/2006/main">
              <a:ext uri="{FF2B5EF4-FFF2-40B4-BE49-F238E27FC236}">
                <a16:creationId xmlns:a16="http://schemas.microsoft.com/office/drawing/2014/main" id="{47BC12DE-9C0A-460E-8C59-81668951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 모델 · 관찰 예: TRIAL-002에서 테스트·CLI·diff를 확인</a:t>
            </a:r>
          </a:p>
        </p:txBody>
      </p:sp>
      <p:sp>
        <p:nvSpPr>
          <p:cNvPr id="6" name="검사는 주장과 위험에 맞춰 선택합니다. TRIAL-002에서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AA7106FE-66E4-434E-9077-C7A1CA0A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검사는 주장과 위험에 맞춰 선택합니다. TRIAL-002에서 benchmark는 수행하지 않았습니다.</a:t>
            </a:r>
          </a:p>
        </p:txBody>
      </p:sp>
      <p:sp>
        <p:nvSpPr>
          <p:cNvPr id="7" name="코드가 나왔다">
            <a:extLst xmlns:a="http://schemas.openxmlformats.org/drawingml/2006/main">
              <a:ext uri="{FF2B5EF4-FFF2-40B4-BE49-F238E27FC236}">
                <a16:creationId xmlns:a16="http://schemas.microsoft.com/office/drawing/2014/main" id="{A28CCA3F-A647-4BA8-AE56-156AF678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3619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코드가 나왔다</a:t>
            </a:r>
          </a:p>
        </p:txBody>
      </p:sp>
      <p:sp>
        <p:nvSpPr>
          <p:cNvPr id="8" name="완료라고 말할 수 있나?">
            <a:extLst xmlns:a="http://schemas.openxmlformats.org/drawingml/2006/main">
              <a:ext uri="{FF2B5EF4-FFF2-40B4-BE49-F238E27FC236}">
                <a16:creationId xmlns:a16="http://schemas.microsoft.com/office/drawing/2014/main" id="{C6C2F84B-C0E5-4876-80E1-8EED3FC8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5257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완료라고 말할 수 있나?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00F501-511F-48B0-B2D3-F6F19D15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9555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31AA7-6416-48E2-ADF3-0FA34268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동작 테스트">
            <a:extLst xmlns:a="http://schemas.openxmlformats.org/drawingml/2006/main">
              <a:ext uri="{FF2B5EF4-FFF2-40B4-BE49-F238E27FC236}">
                <a16:creationId xmlns:a16="http://schemas.microsoft.com/office/drawing/2014/main" id="{FE3E991D-64E4-47F9-AB3C-E4A19448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테스트</a:t>
            </a:r>
          </a:p>
        </p:txBody>
      </p:sp>
      <p:sp>
        <p:nvSpPr>
          <p:cNvPr id="12" name="샘플 실행">
            <a:extLst xmlns:a="http://schemas.openxmlformats.org/drawingml/2006/main">
              <a:ext uri="{FF2B5EF4-FFF2-40B4-BE49-F238E27FC236}">
                <a16:creationId xmlns:a16="http://schemas.microsoft.com/office/drawing/2014/main" id="{92840F1B-8F48-45DD-9ABF-86F2C5CE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실행</a:t>
            </a:r>
          </a:p>
        </p:txBody>
      </p:sp>
      <p:sp>
        <p:nvSpPr>
          <p:cNvPr id="13" name="변경 검토">
            <a:extLst xmlns:a="http://schemas.openxmlformats.org/drawingml/2006/main">
              <a:ext uri="{FF2B5EF4-FFF2-40B4-BE49-F238E27FC236}">
                <a16:creationId xmlns:a16="http://schemas.microsoft.com/office/drawing/2014/main" id="{9E6656B0-632C-4214-A68B-064613C0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355EFE-9290-4171-A7B7-5FFF52D4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“더 빨라졌다”고 말하려면 → 해당 조건의 성능 측정도 필요">
            <a:extLst xmlns:a="http://schemas.openxmlformats.org/drawingml/2006/main">
              <a:ext uri="{FF2B5EF4-FFF2-40B4-BE49-F238E27FC236}">
                <a16:creationId xmlns:a16="http://schemas.microsoft.com/office/drawing/2014/main" id="{04B36783-953E-4D11-85F3-68DE3CF2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“더 빨라졌다”고 말하려면 → 해당 조건의 성능 측정도 필요</a:t>
            </a:r>
          </a:p>
        </p:txBody>
      </p:sp>
    </p:spTree>
    <p:extLst>
      <p:ext uri="{BB962C8B-B14F-4D97-AF65-F5344CB8AC3E}">
        <p14:creationId xmlns:p14="http://schemas.microsoft.com/office/powerpoint/2010/main" val="9432090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근거에 맞춰 말하기">
            <a:extLst xmlns:a="http://schemas.openxmlformats.org/drawingml/2006/main">
              <a:ext uri="{FF2B5EF4-FFF2-40B4-BE49-F238E27FC236}">
                <a16:creationId xmlns:a16="http://schemas.microsoft.com/office/drawing/2014/main" id="{85BA621B-2356-46F0-B93D-64F883E1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근거에 맞춰 말하기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7ECB6D5E-BA86-4636-917B-18BACE5B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Check마다 확인하는 범위">
            <a:extLst xmlns:a="http://schemas.openxmlformats.org/drawingml/2006/main">
              <a:ext uri="{FF2B5EF4-FFF2-40B4-BE49-F238E27FC236}">
                <a16:creationId xmlns:a16="http://schemas.microsoft.com/office/drawing/2014/main" id="{89E10374-1DB5-4817-B4F0-1B080F43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Check마다 확인하는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D1D26-63A9-471E-8364-436B0B98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 모델 · TRIAL-002 실제 확인: 집중·전체 테스트 / CLI smoke / diff">
            <a:extLst xmlns:a="http://schemas.openxmlformats.org/drawingml/2006/main">
              <a:ext uri="{FF2B5EF4-FFF2-40B4-BE49-F238E27FC236}">
                <a16:creationId xmlns:a16="http://schemas.microsoft.com/office/drawing/2014/main" id="{634ECC83-9AF3-49D3-AD21-63A20B36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 모델 · TRIAL-002 실제 확인: 집중·전체 테스트 / CLI smoke / diff</a:t>
            </a:r>
          </a:p>
        </p:txBody>
      </p:sp>
      <p:sp>
        <p:nvSpPr>
          <p:cNvPr id="6" name="Benchmark는 이 Trial에서 미실행. C++ 적용은 도구 사용법이 아닌 검증 범위의 예시입니다.">
            <a:extLst xmlns:a="http://schemas.openxmlformats.org/drawingml/2006/main">
              <a:ext uri="{FF2B5EF4-FFF2-40B4-BE49-F238E27FC236}">
                <a16:creationId xmlns:a16="http://schemas.microsoft.com/office/drawing/2014/main" id="{E3CABF93-B38D-4992-8DF1-2B06795B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Benchmark는 이 Trial에서 미실행. C++ 적용은 도구 사용법이 아닌 검증 범위의 예시입니다.</a:t>
            </a:r>
          </a:p>
        </p:txBody>
      </p:sp>
      <p:sp>
        <p:nvSpPr>
          <p:cNvPr id="7" name="확인 방법">
            <a:extLst xmlns:a="http://schemas.openxmlformats.org/drawingml/2006/main">
              <a:ext uri="{FF2B5EF4-FFF2-40B4-BE49-F238E27FC236}">
                <a16:creationId xmlns:a16="http://schemas.microsoft.com/office/drawing/2014/main" id="{AC89C040-7857-49AF-98A5-A7AD32D2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방법</a:t>
            </a:r>
          </a:p>
        </p:txBody>
      </p:sp>
      <p:sp>
        <p:nvSpPr>
          <p:cNvPr id="8" name="말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12A81909-043E-4C22-9E03-6722B069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720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말할 수 있는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CD73F2-4DC4-4650-BF7D-364BFE8E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집중 테스트">
            <a:extLst xmlns:a="http://schemas.openxmlformats.org/drawingml/2006/main">
              <a:ext uri="{FF2B5EF4-FFF2-40B4-BE49-F238E27FC236}">
                <a16:creationId xmlns:a16="http://schemas.microsoft.com/office/drawing/2014/main" id="{A386450F-00C3-4072-B41E-39CDE18A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집중 테스트</a:t>
            </a:r>
          </a:p>
        </p:txBody>
      </p:sp>
      <p:sp>
        <p:nvSpPr>
          <p:cNvPr id="11" name="바뀐 동작의 해당 테스트 조건">
            <a:extLst xmlns:a="http://schemas.openxmlformats.org/drawingml/2006/main">
              <a:ext uri="{FF2B5EF4-FFF2-40B4-BE49-F238E27FC236}">
                <a16:creationId xmlns:a16="http://schemas.microsoft.com/office/drawing/2014/main" id="{FD2B46FF-D5C3-4F0A-8271-15449F2F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2890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동작의 해당 테스트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FDE99-03D7-4809-A6EE-A0DA0C94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A5BA14B4-F789-4661-A3EB-E12D2175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4" name="현재 suite에 담긴 회귀 범위">
            <a:extLst xmlns:a="http://schemas.openxmlformats.org/drawingml/2006/main">
              <a:ext uri="{FF2B5EF4-FFF2-40B4-BE49-F238E27FC236}">
                <a16:creationId xmlns:a16="http://schemas.microsoft.com/office/drawing/2014/main" id="{74F911C9-33F9-452F-B700-6B7FEE7F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33725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suite에 담긴 회귀 범위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402A6E-C399-4DF0-ADB9-102A106D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smoke">
            <a:extLst xmlns:a="http://schemas.openxmlformats.org/drawingml/2006/main">
              <a:ext uri="{FF2B5EF4-FFF2-40B4-BE49-F238E27FC236}">
                <a16:creationId xmlns:a16="http://schemas.microsoft.com/office/drawing/2014/main" id="{6A908BD7-BF15-4F10-B289-C405D7B8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7" name="샘플 입력의 통합 실행 경로">
            <a:extLst xmlns:a="http://schemas.openxmlformats.org/drawingml/2006/main">
              <a:ext uri="{FF2B5EF4-FFF2-40B4-BE49-F238E27FC236}">
                <a16:creationId xmlns:a16="http://schemas.microsoft.com/office/drawing/2014/main" id="{D0FF0C82-5325-4469-9EF7-A3F937F6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입력의 통합 실행 경로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2714D-E624-43D1-BA36-087FF30E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diff 검토">
            <a:extLst xmlns:a="http://schemas.openxmlformats.org/drawingml/2006/main">
              <a:ext uri="{FF2B5EF4-FFF2-40B4-BE49-F238E27FC236}">
                <a16:creationId xmlns:a16="http://schemas.microsoft.com/office/drawing/2014/main" id="{6AFE23C8-F7B5-44DF-A458-7939AC83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diff 검토</a:t>
            </a:r>
          </a:p>
        </p:txBody>
      </p:sp>
      <p:sp>
        <p:nvSpPr>
          <p:cNvPr id="20" name="변경 범위와 의도하지 않은 수정">
            <a:extLst xmlns:a="http://schemas.openxmlformats.org/drawingml/2006/main">
              <a:ext uri="{FF2B5EF4-FFF2-40B4-BE49-F238E27FC236}">
                <a16:creationId xmlns:a16="http://schemas.microsoft.com/office/drawing/2014/main" id="{338EDCC6-6762-4BE2-A63C-C0ECA01F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43375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범위와 의도하지 않은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779E32-EA8C-4171-91AA-BA9EE959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2E6DE276-6200-4972-A219-707529E4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23" name="측정한 입력·환경에서의 성능">
            <a:extLst xmlns:a="http://schemas.openxmlformats.org/drawingml/2006/main">
              <a:ext uri="{FF2B5EF4-FFF2-40B4-BE49-F238E27FC236}">
                <a16:creationId xmlns:a16="http://schemas.microsoft.com/office/drawing/2014/main" id="{95D711C2-7585-4162-85A3-C2A8D0A1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64820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측정한 입력·환경에서의 성능</a:t>
            </a:r>
          </a:p>
        </p:txBody>
      </p:sp>
      <p:sp>
        <p:nvSpPr>
          <p:cNvPr id="24" name="C++에서도: Release 실행·API/ABI·대상 데이터에 맞춰 근거를 고른다.">
            <a:extLst xmlns:a="http://schemas.openxmlformats.org/drawingml/2006/main">
              <a:ext uri="{FF2B5EF4-FFF2-40B4-BE49-F238E27FC236}">
                <a16:creationId xmlns:a16="http://schemas.microsoft.com/office/drawing/2014/main" id="{558F7279-7288-4BD1-AB34-8B5AA537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C++에서도: Release 실행·API/ABI·대상 데이터에 맞춰 근거를 고른다.</a:t>
            </a:r>
          </a:p>
        </p:txBody>
      </p:sp>
    </p:spTree>
    <p:extLst>
      <p:ext uri="{BB962C8B-B14F-4D97-AF65-F5344CB8AC3E}">
        <p14:creationId xmlns:p14="http://schemas.microsoft.com/office/powerpoint/2010/main" val="16706350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1 · 반복해서 쓰는 정보 돌아보기">
            <a:extLst xmlns:a="http://schemas.openxmlformats.org/drawingml/2006/main">
              <a:ext uri="{FF2B5EF4-FFF2-40B4-BE49-F238E27FC236}">
                <a16:creationId xmlns:a16="http://schemas.microsoft.com/office/drawing/2014/main" id="{8282D964-EC66-457A-AB6C-E4F89F54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반복해서 쓰는 정보 돌아보기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99CEA642-A7AA-4DD6-9C2B-78FE38C5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이번 Task인가,&#10;계속 유지할 Project 정보인가?">
            <a:extLst xmlns:a="http://schemas.openxmlformats.org/drawingml/2006/main">
              <a:ext uri="{FF2B5EF4-FFF2-40B4-BE49-F238E27FC236}">
                <a16:creationId xmlns:a16="http://schemas.microsoft.com/office/drawing/2014/main" id="{6EB0A231-3BAB-41A4-8168-97AF8D9F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Task인가,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유지할 Project 정보인가?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7B97C-6B4C-4B57-B296-51892D7D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생각해 보기 · 이 과정의 교육 모델">
            <a:extLst xmlns:a="http://schemas.openxmlformats.org/drawingml/2006/main">
              <a:ext uri="{FF2B5EF4-FFF2-40B4-BE49-F238E27FC236}">
                <a16:creationId xmlns:a16="http://schemas.microsoft.com/office/drawing/2014/main" id="{81FAD8BE-7685-417B-8BA4-A5C5A819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생각해 보기 · 이 과정의 교육 모델</a:t>
            </a:r>
          </a:p>
        </p:txBody>
      </p:sp>
      <p:sp>
        <p:nvSpPr>
          <p:cNvPr id="6" name="1분 동안 개인적으로 생각한 뒤 2분간 자발적인 질문을 받습니다.">
            <a:extLst xmlns:a="http://schemas.openxmlformats.org/drawingml/2006/main">
              <a:ext uri="{FF2B5EF4-FFF2-40B4-BE49-F238E27FC236}">
                <a16:creationId xmlns:a16="http://schemas.microsoft.com/office/drawing/2014/main" id="{302D617D-7F75-4980-A78F-5E4AED6C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1분 동안 개인적으로 생각한 뒤 2분간 자발적인 질문을 받습니다.</a:t>
            </a:r>
          </a:p>
        </p:txBody>
      </p:sp>
      <p:sp>
        <p:nvSpPr>
          <p:cNvPr id="7" name="최근 요청에 썼던 문장 하나를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14518330-7A2A-48DA-9E4D-5A88895E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최근 요청에 썼던 문장 하나를 떠올려 보세요.</a:t>
            </a:r>
          </a:p>
        </p:txBody>
      </p:sp>
      <p:sp>
        <p:nvSpPr>
          <p:cNvPr id="8" name="이번 작업에만?">
            <a:extLst xmlns:a="http://schemas.openxmlformats.org/drawingml/2006/main">
              <a:ext uri="{FF2B5EF4-FFF2-40B4-BE49-F238E27FC236}">
                <a16:creationId xmlns:a16="http://schemas.microsoft.com/office/drawing/2014/main" id="{DCFD5B74-38B7-4B9D-B88F-85BEF48D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5162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작업에만?</a:t>
            </a:r>
          </a:p>
        </p:txBody>
      </p:sp>
      <p:sp>
        <p:nvSpPr>
          <p:cNvPr id="9" name="다음 작업에도?">
            <a:extLst xmlns:a="http://schemas.openxmlformats.org/drawingml/2006/main">
              <a:ext uri="{FF2B5EF4-FFF2-40B4-BE49-F238E27FC236}">
                <a16:creationId xmlns:a16="http://schemas.microsoft.com/office/drawing/2014/main" id="{7E2F8E80-2D54-4DFE-90B9-86B9BF34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4876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CA0DB-79B5-4199-A2B2-BBA806CE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5162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9B6502-B9AB-4A60-A66A-8CA88E23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9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어떤 정보가 계속 남아 있어야 할까요?">
            <a:extLst xmlns:a="http://schemas.openxmlformats.org/drawingml/2006/main">
              <a:ext uri="{FF2B5EF4-FFF2-40B4-BE49-F238E27FC236}">
                <a16:creationId xmlns:a16="http://schemas.microsoft.com/office/drawing/2014/main" id="{17ADAE36-DB09-42B3-B9DE-EE7071C0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정보가 계속 남아 있어야 할까요?</a:t>
            </a:r>
          </a:p>
        </p:txBody>
      </p:sp>
    </p:spTree>
    <p:extLst>
      <p:ext uri="{BB962C8B-B14F-4D97-AF65-F5344CB8AC3E}">
        <p14:creationId xmlns:p14="http://schemas.microsoft.com/office/powerpoint/2010/main" val="20129106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1 · 정보의 수명과 범위">
            <a:extLst xmlns:a="http://schemas.openxmlformats.org/drawingml/2006/main">
              <a:ext uri="{FF2B5EF4-FFF2-40B4-BE49-F238E27FC236}">
                <a16:creationId xmlns:a16="http://schemas.microsoft.com/office/drawing/2014/main" id="{D4F3F8CC-1392-46CC-B9AE-0A1EB0A4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정보의 수명과 범위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436ADA22-40CB-4AA2-8FD9-5C877DC9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반복하는 설명을 두 범주로 나누기">
            <a:extLst xmlns:a="http://schemas.openxmlformats.org/drawingml/2006/main">
              <a:ext uri="{FF2B5EF4-FFF2-40B4-BE49-F238E27FC236}">
                <a16:creationId xmlns:a16="http://schemas.microsoft.com/office/drawing/2014/main" id="{94AE373F-E3AB-4953-99FF-BAAF4D8C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반복하는 설명을 두 범주로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731A6-6DF7-4F67-AC1F-37449EB8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후보 예시 · 모든 프로젝트에 적용되는 유일한 분류가 아님">
            <a:extLst xmlns:a="http://schemas.openxmlformats.org/drawingml/2006/main">
              <a:ext uri="{FF2B5EF4-FFF2-40B4-BE49-F238E27FC236}">
                <a16:creationId xmlns:a16="http://schemas.microsoft.com/office/drawing/2014/main" id="{C441D345-BF2E-48CF-810B-7E482ED7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후보 예시 · 모든 프로젝트에 적용되는 유일한 분류가 아님</a:t>
            </a:r>
          </a:p>
        </p:txBody>
      </p:sp>
      <p:sp>
        <p:nvSpPr>
          <p:cNvPr id="6" name="다음 질문: Project 정보를 왜 매번 Prompt에 다시 적고 있을까요?">
            <a:extLst xmlns:a="http://schemas.openxmlformats.org/drawingml/2006/main">
              <a:ext uri="{FF2B5EF4-FFF2-40B4-BE49-F238E27FC236}">
                <a16:creationId xmlns:a16="http://schemas.microsoft.com/office/drawing/2014/main" id="{86A2AA94-07B5-44D5-BDD9-E1DFD865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질문: Project 정보를 왜 매번 Prompt에 다시 적고 있을까요?</a:t>
            </a:r>
          </a:p>
        </p:txBody>
      </p:sp>
      <p:sp>
        <p:nvSpPr>
          <p:cNvPr id="7" name="이번 Task">
            <a:extLst xmlns:a="http://schemas.openxmlformats.org/drawingml/2006/main">
              <a:ext uri="{FF2B5EF4-FFF2-40B4-BE49-F238E27FC236}">
                <a16:creationId xmlns:a16="http://schemas.microsoft.com/office/drawing/2014/main" id="{071AEF5C-C759-4435-A2A2-3322F161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5162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8" name="계속 유지할 Project 정보">
            <a:extLst xmlns:a="http://schemas.openxmlformats.org/drawingml/2006/main">
              <a:ext uri="{FF2B5EF4-FFF2-40B4-BE49-F238E27FC236}">
                <a16:creationId xmlns:a16="http://schemas.microsoft.com/office/drawing/2014/main" id="{66474033-2DB2-49C7-9310-7531A445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유지할 Project 정보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6DCF9-CA69-45A6-8A5B-E5DE0683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5162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E1B67-8A9E-4634-B979-516A5D06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05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경계 수정&#10;이번에는 README만 수정">
            <a:extLst xmlns:a="http://schemas.openxmlformats.org/drawingml/2006/main">
              <a:ext uri="{FF2B5EF4-FFF2-40B4-BE49-F238E27FC236}">
                <a16:creationId xmlns:a16="http://schemas.microsoft.com/office/drawing/2014/main" id="{6112AD08-AA6F-4E09-A762-0778AB7A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수정</a:t>
            </a:r>
          </a:p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수정</a:t>
            </a:r>
          </a:p>
        </p:txBody>
      </p:sp>
      <p:sp>
        <p:nvSpPr>
          <p:cNvPr id="12" name="의존성 추가에는 작업상 근거 필요&#10;프로젝트 테스트 명령">
            <a:extLst xmlns:a="http://schemas.openxmlformats.org/drawingml/2006/main">
              <a:ext uri="{FF2B5EF4-FFF2-40B4-BE49-F238E27FC236}">
                <a16:creationId xmlns:a16="http://schemas.microsoft.com/office/drawing/2014/main" id="{6D149432-7468-4522-AF29-00939427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19450"/>
            <a:ext cx="4876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테스트 명령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505FF8-ECB9-4684-8542-B9867ED2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정보마다 필요한 기간과 적용 범위가 다르다.">
            <a:extLst xmlns:a="http://schemas.openxmlformats.org/drawingml/2006/main">
              <a:ext uri="{FF2B5EF4-FFF2-40B4-BE49-F238E27FC236}">
                <a16:creationId xmlns:a16="http://schemas.microsoft.com/office/drawing/2014/main" id="{C3CAD4CB-F73A-41D0-877C-6029A2B5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10591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정보마다 필요한 기간과 적용 범위가 다르다.</a:t>
            </a:r>
          </a:p>
        </p:txBody>
      </p:sp>
    </p:spTree>
    <p:extLst>
      <p:ext uri="{BB962C8B-B14F-4D97-AF65-F5344CB8AC3E}">
        <p14:creationId xmlns:p14="http://schemas.microsoft.com/office/powerpoint/2010/main" val="6783286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2026-10-18T13:43:06.3220000Z</dcterms:created>
  <dcterms:modified xsi:type="dcterms:W3CDTF">2026-10-18T13:43:06.3220000Z</dcterms:modified>
</coreProperties>
</file>