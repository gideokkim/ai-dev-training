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52e1e239274782" /><Relationship Type="http://schemas.openxmlformats.org/officeDocument/2006/relationships/extended-properties" Target="/docProps/app.xml" Id="Rd6b6e32136b14799" /><Relationship Type="http://schemas.openxmlformats.org/officeDocument/2006/relationships/officeDocument" Target="/ppt/presentation.xml" Id="R914937dcd8994f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4a7a2a7719477f"/>
  </p:sldMasterIdLst>
  <p:notesMasterIdLst>
    <p:notesMasterId xmlns:r="http://schemas.openxmlformats.org/officeDocument/2006/relationships" r:id="Rb85e2ff4dd144c90"/>
  </p:notesMasterIdLst>
  <p:sldIdLst>
    <p:sldId xmlns:r="http://schemas.openxmlformats.org/officeDocument/2006/relationships" id="256" r:id="Rbaa934ba825a4936"/>
    <p:sldId xmlns:r="http://schemas.openxmlformats.org/officeDocument/2006/relationships" id="257" r:id="R97f37b03effa4d66"/>
    <p:sldId xmlns:r="http://schemas.openxmlformats.org/officeDocument/2006/relationships" id="258" r:id="Rcbee89bf5b354fb9"/>
    <p:sldId xmlns:r="http://schemas.openxmlformats.org/officeDocument/2006/relationships" id="259" r:id="R9f9f7d74cc504f0f"/>
    <p:sldId xmlns:r="http://schemas.openxmlformats.org/officeDocument/2006/relationships" id="260" r:id="R4bd9200bb75b4a23"/>
    <p:sldId xmlns:r="http://schemas.openxmlformats.org/officeDocument/2006/relationships" id="261" r:id="R57306f4a85a8478b"/>
    <p:sldId xmlns:r="http://schemas.openxmlformats.org/officeDocument/2006/relationships" id="262" r:id="Rabe7644e26184dc4"/>
    <p:sldId xmlns:r="http://schemas.openxmlformats.org/officeDocument/2006/relationships" id="263" r:id="Rf68c81696a7b45d8"/>
    <p:sldId xmlns:r="http://schemas.openxmlformats.org/officeDocument/2006/relationships" id="264" r:id="Re4c5ab6e17054dfd"/>
    <p:sldId xmlns:r="http://schemas.openxmlformats.org/officeDocument/2006/relationships" id="265" r:id="Rc627526f372f4a0c"/>
    <p:sldId xmlns:r="http://schemas.openxmlformats.org/officeDocument/2006/relationships" id="266" r:id="Rdd722f00d48f4391"/>
    <p:sldId xmlns:r="http://schemas.openxmlformats.org/officeDocument/2006/relationships" id="267" r:id="R8271c6a8c70040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f17d115caf4942" /><Relationship Type="http://schemas.openxmlformats.org/officeDocument/2006/relationships/slideMaster" Target="/ppt/slideMasters/slideMaster1.xml" Id="R574a7a2a7719477f" /><Relationship Type="http://schemas.openxmlformats.org/officeDocument/2006/relationships/notesMaster" Target="/ppt/notesMasters/notesMaster1.xml" Id="Rb85e2ff4dd144c90" /><Relationship Type="http://schemas.openxmlformats.org/officeDocument/2006/relationships/presProps" Target="/ppt/presProps.xml" Id="Ra9632475de5e4397" /><Relationship Type="http://schemas.openxmlformats.org/officeDocument/2006/relationships/tableStyles" Target="/ppt/tableStyles.xml" Id="R89824dbf0a954084" /><Relationship Type="http://schemas.openxmlformats.org/officeDocument/2006/relationships/slide" Target="/ppt/slides/slide1.xml" Id="Rbaa934ba825a4936" /><Relationship Type="http://schemas.openxmlformats.org/officeDocument/2006/relationships/slide" Target="/ppt/slides/slide2.xml" Id="R97f37b03effa4d66" /><Relationship Type="http://schemas.openxmlformats.org/officeDocument/2006/relationships/slide" Target="/ppt/slides/slide3.xml" Id="Rcbee89bf5b354fb9" /><Relationship Type="http://schemas.openxmlformats.org/officeDocument/2006/relationships/slide" Target="/ppt/slides/slide4.xml" Id="R9f9f7d74cc504f0f" /><Relationship Type="http://schemas.openxmlformats.org/officeDocument/2006/relationships/slide" Target="/ppt/slides/slide5.xml" Id="R4bd9200bb75b4a23" /><Relationship Type="http://schemas.openxmlformats.org/officeDocument/2006/relationships/slide" Target="/ppt/slides/slide6.xml" Id="R57306f4a85a8478b" /><Relationship Type="http://schemas.openxmlformats.org/officeDocument/2006/relationships/slide" Target="/ppt/slides/slide7.xml" Id="Rabe7644e26184dc4" /><Relationship Type="http://schemas.openxmlformats.org/officeDocument/2006/relationships/slide" Target="/ppt/slides/slide8.xml" Id="Rf68c81696a7b45d8" /><Relationship Type="http://schemas.openxmlformats.org/officeDocument/2006/relationships/slide" Target="/ppt/slides/slide9.xml" Id="Re4c5ab6e17054dfd" /><Relationship Type="http://schemas.openxmlformats.org/officeDocument/2006/relationships/slide" Target="/ppt/slides/slide10.xml" Id="Rc627526f372f4a0c" /><Relationship Type="http://schemas.openxmlformats.org/officeDocument/2006/relationships/slide" Target="/ppt/slides/slide11.xml" Id="Rdd722f00d48f4391" /><Relationship Type="http://schemas.openxmlformats.org/officeDocument/2006/relationships/slide" Target="/ppt/slides/slide12.xml" Id="R8271c6a8c70040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d525aac57d4c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56b863cb5d4fb5" /><Relationship Type="http://schemas.openxmlformats.org/officeDocument/2006/relationships/notesMaster" Target="/ppt/notesMasters/notesMaster1.xml" Id="Rf3fea10753584d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16542ca76640f8" /><Relationship Type="http://schemas.openxmlformats.org/officeDocument/2006/relationships/notesMaster" Target="/ppt/notesMasters/notesMaster1.xml" Id="Rdf7c27ee8dee47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21b4a8512b4dcd" /><Relationship Type="http://schemas.openxmlformats.org/officeDocument/2006/relationships/notesMaster" Target="/ppt/notesMasters/notesMaster1.xml" Id="R26575299576b47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97aed464894875" /><Relationship Type="http://schemas.openxmlformats.org/officeDocument/2006/relationships/notesMaster" Target="/ppt/notesMasters/notesMaster1.xml" Id="Rcb6ff50e736a4b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f8f154e6324d15" /><Relationship Type="http://schemas.openxmlformats.org/officeDocument/2006/relationships/notesMaster" Target="/ppt/notesMasters/notesMaster1.xml" Id="Reed9cd0c08dd45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2adc069b2845b7" /><Relationship Type="http://schemas.openxmlformats.org/officeDocument/2006/relationships/notesMaster" Target="/ppt/notesMasters/notesMaster1.xml" Id="R733030c18d0646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15402ece244d01" /><Relationship Type="http://schemas.openxmlformats.org/officeDocument/2006/relationships/notesMaster" Target="/ppt/notesMasters/notesMaster1.xml" Id="Reae00973c32c41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7c03e8c0314843" /><Relationship Type="http://schemas.openxmlformats.org/officeDocument/2006/relationships/notesMaster" Target="/ppt/notesMasters/notesMaster1.xml" Id="Re858e849d74b4c5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4fe4e5740d4b37" /><Relationship Type="http://schemas.openxmlformats.org/officeDocument/2006/relationships/notesMaster" Target="/ppt/notesMasters/notesMaster1.xml" Id="R3be54a77f7db46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837b9fa41354557" /><Relationship Type="http://schemas.openxmlformats.org/officeDocument/2006/relationships/notesMaster" Target="/ppt/notesMasters/notesMaster1.xml" Id="R5c2d76e3870c4b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b18045eb464d28" /><Relationship Type="http://schemas.openxmlformats.org/officeDocument/2006/relationships/notesMaster" Target="/ppt/notesMasters/notesMaster1.xml" Id="R742c3e6c84d24c9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75bc6312cc44204" /><Relationship Type="http://schemas.openxmlformats.org/officeDocument/2006/relationships/notesMaster" Target="/ppt/notesMasters/notesMaster1.xml" Id="Rf36d54f92f8149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 —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코드가 보이더라도 무엇을 바꾸고, 무엇을 보존하며, 언제 끝났다고 판단할지는 요청에 명시되어야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Repository를 보더라도 Agent가 원하는 결과까지 자동으로 알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S09의 열린 질문을 회수하고 “같은 Repository를 보고 있다”는 조건을 고정한다.</a:t>
            </a:r>
          </a:p>
          <a:p xmlns:a="http://schemas.openxmlformats.org/drawingml/2006/main">
            <a:r>
              <a:t>2. (2:00–5:00) “filter 성능 개선해줘”와 오른쪽의 무엇을 바꿀지·보존할지·완료로 볼지 세 질문을 차례로 가리킨다. 특정 답을 채우지 않는다.</a:t>
            </a:r>
          </a:p>
          <a:p xmlns:a="http://schemas.openxmlformats.org/drawingml/2006/main">
            <a:r>
              <a:t>3. (5:00–7:00) Repository 접근만으로 남은 결정을 정할 수 있는지 질문한다. 남은 결정을 더 구체적으로 보기 위해 앞서 조사한 crop 사례로 좁히겠다고 S11을 예고한다. 실제 제품 실패 사례나 관찰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빈 조건을 발견하는 데 쓴다. 오른쪽 세 질문을 하나씩 짚으며 답은 채우지 않는다. 다음 장의 테스트/구현 두 해석을 여기서 미리 비교하지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TRIAL-001, CLM-0002. TEACHING_MODEL / CONCEPTUAL. TRIAL-001의 실제 실패 사례가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접근 가능한 Repository가 Task의 목표·변경 범위·보존 조건·완료 증거를 대신 알려주지는 않는다는 과정의 모델이다. Codex 실패나 Trial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Agent에게 코드가 보인다는 사실과 내가 원하는 변경을 설명했다는 사실은 다르다. 바꿀 것과 끝의 기준을 적어야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 goal, constraints, and verification remain separate from repository access. Do not infer deterministic agent behavior from the conceptual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질문을 따라가며 무엇이 비어 있는지 생각하게 한다. 공개 답변이나 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“남은 결정을 더 분명히 보기 위해, 앞서 조사한 crop 사례로 좁혀 보겠습니다.”라고 S11의 교육용 요청 예시로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7분을 질문과 세 개의 미정 경계에 쓴다. 새 Prompt 체크리스트나 해결책을 미리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S10 또는 `production/preview/act1/S10.png` 사용. 응답이 없어도 7분 후 S11로 이동한다.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S11 —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Repository를 볼 수 있어도 바꿀 범위와 완료 조건까지 알 수 있는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“앞서 본 crop을 고쳐 달라는 요청에는 어떤 결정이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앞서 조사한 crop으로 사례를 좁힌다고 알린 뒤 “crop test 고쳐줘”를 읽는다. 이는 교육용 구성 요청이며 실제 Trial Prompt가 아님을 밝힌다.</a:t>
            </a:r>
          </a:p>
          <a:p xmlns:a="http://schemas.openxmlformats.org/drawingml/2006/main">
            <a:r>
              <a:t>2. (0:45–3:00) 테스트와 구현 중 무엇을 바꾸라는 뜻인지 두 질문을 비교한다. 이어 목표의 세부·보존 조건·수정 범위·확인 근거·완료 조건을 짚는다.</a:t>
            </a:r>
          </a:p>
          <a:p xmlns:a="http://schemas.openxmlformats.org/drawingml/2006/main">
            <a:r>
              <a:t>3. (3:00–4:00) 남은 결정들을 짚고, 다음 장에서는 이를 개발자가 답할 질문으로 바꿔 보겠다고 S12로 넘긴다. 특정 답은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같은 요청의 두 해석에 집중한다. 왼쪽 테스트 변경과 오른쪽 구현 변경을 비교한 뒤, 아래 미정 정보를 짚는다. S10의 세 질문을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실제 Trial에서 사용한 약한 Prompt가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`crop test 고쳐줘`는 수업용으로 구성한 예시다. 이 요청이 특정 Agent 실패를 일으켰다는 주장을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짧은 요청을 비난하지 않고, 그 안에 남아 있는 질문을 찾아본다.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Missing constraints are developer decisions that cannot be derived from repository access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해석과 아직 정해지지 않은 정보를 청중이 생각하도록 짧게 멈춘다. 공개 답이나 정답 분류를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“Agent에게 남아 있던 결정을 개발자가 답할 질문으로 바꿔 보겠습니다.”라고 S12로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안에 한 요청과 다섯 빈칸만 다룬다. 빈칸의 정답이나 해결책은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S11 또는 `production/preview/act1/S11.png` 사용. 청중 응답 없이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S12 —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3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Prompt의 실용적 가치는 문장 장식보다 Task ambiguity reduction에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요청을 보내기 전에 개발자인 나는 무엇을 정해야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S11에서 남은 결정을 개발자의 질문으로 읽는다. “무엇을 바꿀까?”와 “무엇을 유지할까?”를 짚는다.</a:t>
            </a:r>
          </a:p>
          <a:p xmlns:a="http://schemas.openxmlformats.org/drawingml/2006/main">
            <a:r>
              <a:t>2. (1:00–3:00) 허용 범위, 확인 근거, 완료 판단의 세 질문을 이어 읽는다. 이는 답이 아닌 개발자 판단 질문이다.</a:t>
            </a:r>
          </a:p>
          <a:p xmlns:a="http://schemas.openxmlformats.org/drawingml/2006/main">
            <a:r>
              <a:t>3. (3:00–4:00) 각자 익숙한 요청 하나를 떠올리는 조용한 Reflection으로 마친다. 요청문 작성이나 결과 공유를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개발자가 판단할 다섯 질문을 번호 순서로 따라간다. 마지막 질문에서 1분 Reflection을 분리하고, 답이나 작성 과제를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특정 요청이 특정 실패를 반드시 만든다고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질문은 수업용 질문 프레임이다. 특정한 단일 답이나 제품 기능으로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요청을 보내기 전에 바꿀 것, 지킬 것, 끝을 어떻게 볼지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Clarify scope, preserved contracts, acceptable change surface, and evidence before delegating.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비공개 Reflection이다. 말하기, 노트북, Prompt 작성은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“앞의 질문을 묶고, 필요한 사실과 작업 순서를 함께 명시하는 틀로 정리해 보겠습니다.”라고 S13의 Task Specification으로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3분 후 Reflection 1분을 분리한다. 답을 제공하거나 공개 응답을 받지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S12 또는 `production/preview/act1/S12.png` 사용. 침묵은 정상 진행으로 본다.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S13 —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Goal, Context, Constraints, Process, Verification은 작업을 구체화하는 교육용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“앞의 질문을 작업 요청에 담으려면 어떤 책임으로 정리할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화면 안내처럼 앞의 질문을 묶고 필요한 맥락과 작업 과정을 명시하는 이 과정의 모델로 Task Specification을 소개한다.</a:t>
            </a:r>
          </a:p>
          <a:p xmlns:a="http://schemas.openxmlformats.org/drawingml/2006/main">
            <a:r>
              <a:t>2. (0:45–3:15) 하나의 패널에서 목표·맥락·제약·과정·검증을 위에서 아래로 짚는다. 앞 장의 보존·허용 범위 질문은 제약으로, 확인 근거·완료 질문은 검증으로 묶어 읽는다. 작업에 필요한 사실은 맥락으로, 지킬 순서와 경계는 과정으로 함께 명시한다. 각 행이 어떤 미정을 줄이는지 한 문장씩 설명한다.</a:t>
            </a:r>
          </a:p>
          <a:p xmlns:a="http://schemas.openxmlformats.org/drawingml/2006/main">
            <a:r>
              <a:t>3. (3:15–4:00) 다섯 책임을 모두 길게 적으라는 뜻이 아니라 작업에 필요한 경계를 검토할 틀이라고 정리하고 S14로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한 작업 요청에 다섯 책임을 묶는 구조를 보여준다. S12의 다섯 질문과 일대일 대응하는 표가 아니라 질문을 재구성하고 맥락·과정을 명시한 틀이다. 상단 안내 → 왼쪽 Task Specification → 오른쪽 행 순서로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항목은 과정에서 쓰는 Task Specification 모델이지 공식 OpenAI taxonomy나 universal law가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요청에는 목표, 필요한 상황, 지켜야 할 경계, 작업 흐름, 확인 방법이 들어갈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retained project facts, and identify which judgment remains with the developer.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설명 중간에 다섯 책임이 줄이는 불확실성을 확인한다. 청중에게 작성 실습을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14에서 다섯 책임을 짧은 Before / After에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분 동안 각 항목을 한 문장으로 설명한다. 별도 Best Practice 목록이나 제품 기능으로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S13 또는 `production/preview/act1/S13.png` 사용.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S14 —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9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6 minutes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유용성은 Prompt의 길이보다 Goal과 제약, 과정, 검증 경계가 분명한 데서 나온다.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요청에서 실제로 달라진 정보는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왼쪽의 짧은 요청을 읽고 같은 crop 작업을 비교한다고 고정한다.</a:t>
            </a:r>
          </a:p>
          <a:p xmlns:a="http://schemas.openxmlformats.org/drawingml/2006/main">
            <a:r>
              <a:t>2. (2:00–5:00) 오른쪽에서 추가된 목표·맥락, 제약, 과정, 검증 정보를 순서대로 짚는다. 양쪽 모두 한국어 요청이며 영어라서 좋아졌다는 인상을 만들지 않는다.</a:t>
            </a:r>
          </a:p>
          <a:p xmlns:a="http://schemas.openxmlformats.org/drawingml/2006/main">
            <a:r>
              <a:t>3. (5:00–6:00) 하단 C++ 연결에서 출력·API/ABI 보존 범위와 Release 검증 조건도 작업 전에 정할 수 있음을 짧게 말한다.</a:t>
            </a:r>
          </a:p>
          <a:p xmlns:a="http://schemas.openxmlformats.org/drawingml/2006/main">
            <a:r>
              <a:t>4. (6:00–9:00) Case 질문으로 어떤 정보가 추가됐는지 비교한다. 실제 약한/강한 Prompt 비교 실험이 아니며 길이 자체의 효과를 입증하지 않는다고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실제로 더해진 정보의 비교다. 짧은 요청→추가한 네 행→하단 C++ 적용 순서로 가리킨다. 앞의 다섯 질문을 다시 나열하는 시간을 줄이고 보존 조건과 완료 근거가 드러난 위치를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TRIAL-002,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Before/After는 설명을 위한 개념 예시이며 Trial-002가 약한 Prompt와 구조화 Prompt의 우월성을 비교 검증했다는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긴 문장을 쓰는 것보다 바꿀 결과와 지킬 조건, 확인 방법을 드러내는 것이 도움이 되는 질문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Make the allowed change surface and completion evidence reviewable; do not claim a causal performance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footer strip — 출력·API/ABI의 보존 범위와 Release 검증 조건을 먼저 정하는 사례다. 특정 Windows, shell, IDE, hardware의 실제 사용법이나 검증 결과로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comparison is conceptual and is not the exact Trial-002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Case 3분에는 두 요청에서 새로 명시된 책임을 마음속으로 비교한다. 발표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“여기까지는 교육용 구성 예시였습니다. 이제 과거 TRIAL-002에서 요청한 흐름과 기록된 행동을 살펴보겠습니다.”라고 실제 기록의 관찰 기준으로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After는 네 줄의 비교 축으로 한정한다. 전체 Trial Prompt나 코드 지시를 화면에 복사하지 않는다. 시간이 부족하면 C++ inset을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S14 또는 `production/preview/act1/S14.png` 사용. Trial 결과로 대체하지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S15 —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한 번의 관찰에서는 재현, 조사, 계획, 수정, 검증 순서를 확인할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“TRIAL-002 실제 기록에서는 수정 전에 무엇을 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(0:00–0:35) S14의 교육용 구성 예시에서 과거 TRIAL-002 기록으로 전환했음을 밝힌다. “실제 기록에서는 수정 전에 무엇을 했을까?”를 제시한다. S14 화면의 요청을 그대로 실행한 것으로 설명하지 않는다.</a:t>
            </a:r>
          </a:p>
          <a:p xmlns:a="http://schemas.openxmlformats.org/drawingml/2006/main">
            <a:r>
              <a:t>2. (0:35–1:35) TRIAL-002에서 요청한 재현 → 조사 → 계획 → 수정 → 검증의 다섯 관찰 단계를 가리킨다. 화면은 WATCH 기준이며 결과를 미리 읽어 주는 요약이 아니다.</a:t>
            </a:r>
          </a:p>
          <a:p xmlns:a="http://schemas.openxmlformats.org/drawingml/2006/main">
            <a:r>
              <a:t>3. (1:35–2:00) 다음 두 장에서 이 단일 과거 CLI 기록의 요청 흐름과 행동을 대조한다고 알리고 S16으로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OBSERVED_PRODUCT; one historical Codex CLI run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TRIAL-002는 2026-09-28 macOS Codex CLI 0.154.0의 단일 실행 기록이다. Desktop, 계정, 반복성 또는 다른 모델을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 변경 전 어떤 행동을 먼저 살펴볼지 정하면 Demo를 따라가기 쉽다.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requested workflow separate from the events evidenced in the recorded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RECORD-BASED WATCH. 2분 Lecture 동안 제품 실행을 재생하지 않는다. 요청한 재현·조사·계획·수정·검증을 관찰 기준으로 제시한다. Trial source: `plan/DEMO_MATRIX.md`, TRIAL-002. 현재 Desktop surface나 실제 터미널 캡처를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관찰 순서를 마음속으로 따라오게 한다. 응답이나 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16에서 조사와 변경의 핵심 장면을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2분 안에 관찰 기준만 설명한다. Trial 결과를 앞당겨 보여 주거나 현재 제품 UI를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WATCH 슬라이드 `production/ACT_1.pptx` S15 또는 `production/preview/act1/S15.png` 사용. 라이브 실행은 이 단계에서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S16 —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failing test와 호출 경로를 확인한 뒤, half-open 범위 계약을 보존하는 최소 변경을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“수정 전에 어떤 근거를 확인했는가?”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상단의 실패 테스트 → 호출 경로 → 계약 확인 → 수정 전 계획을 읽는다. 실패 테스트명은 `test_crop_excludes_end_coordinate`, 제품 호출 관계는 `cli.main → pipeline.process_image → transform.crop`이다.</a:t>
            </a:r>
          </a:p>
          <a:p xmlns:a="http://schemas.openxmlformats.org/drawingml/2006/main">
            <a:r>
              <a:t>2. (1:00–2:00) `[x_start, x_end)`가 끝 좌표를 제외하는 계약임을 확인한다. S05의 `crop(image, 1, 3)` 예시를 짧게 회수한다.</a:t>
            </a:r>
          </a:p>
          <a:p xmlns:a="http://schemas.openxmlformats.org/drawingml/2006/main">
            <a:r>
              <a:t>3. (2:00–3:15) 왼쪽 `row[x_start : x_end + 1]`에서 오른쪽 `row[x_start : x_end]`로 바뀐 실제 한 줄 diff를 가리킨다. 수정 전에 계획을 알린 기록이 있었다고 말한다.</a:t>
            </a:r>
          </a:p>
          <a:p xmlns:a="http://schemas.openxmlformats.org/drawingml/2006/main">
            <a:r>
              <a:t>4. (3:15–4:00) 이 입력의 너비 3이 계약대로 2가 되는 변화로 정리한다. 정적 소스·diff 재구성이며 새 실행이나 screenshot이 아님을 유지하고 S17로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OBSERVED_PRODUCT, one recorded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실패한 Test와 기대 계약을 먼저 맞춘 뒤 꼭 필요한 한 줄만 바꿨다.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code change matches the half-open public contract and is limited to the recorded diff; the plan checkpoint preceded editing.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historical evidence. `production/ACT_1.pptx` S16의 실제 diff 재구성 도식을 사용한다. 실패 테스트·호출 경로·계약·수정 전 계획 → Before/After slice → 너비 변화를 순서대로 가리킨다. source test ID: `test_crop_excludes_end_coordinate`. Source: TRIAL-002 record, STATE-00 및 STATE-00-FIXED의 `src/graypipe/transform.py`. 전체 파일이나 새 실행을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변경 전에 확인한 근거를 청중이 화면 순서대로 따라오게 한다. 참가자의 코드 검토나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17에서 변경 결과를 어떤 확인으로 뒷받침했는지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Demo 구간 안에서 관찰과 변경을 요약한다. 전체 로그와 파일을 보여 주지 않고, 다음 장의 검증 시간을 침범하지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S16 또는 `production/preview/act1/S16.png` 사용. 시각 도식은 기록에서 재구성한 자료이며 원본 화면 캡처가 아니다. 실행 실패 상황은 없다: Live를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S17 —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사례의 결과는 생성된 코드뿐 아니라 명시된 검증과 diff 확인을 거친 변경이다.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“생성된 변경을 어떤 확인이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단일 TRIAL-002의 변경 뒤 기록임을 고정한다.</a:t>
            </a:r>
          </a:p>
          <a:p xmlns:a="http://schemas.openxmlformats.org/drawingml/2006/main">
            <a:r>
              <a:t>2. (0:45–2:45) 동작 확인(집중 3/3·전체 11/11), 실행 확인(CLI smoke PASS), 범위 확인(한 파일·한 줄·diff check)을 세 묶음으로 읽는다. 각각 확인한 범위가 다름을 설명한다.</a:t>
            </a:r>
          </a:p>
          <a:p xmlns:a="http://schemas.openxmlformats.org/drawingml/2006/main">
            <a:r>
              <a:t>3. (2:45–3:30) 하단의 성능 benchmark 미실행을 밝힌다. 이 테스트 통과를 성능 개선 근거로 바꾸지 않는다.</a:t>
            </a:r>
          </a:p>
          <a:p xmlns:a="http://schemas.openxmlformats.org/drawingml/2006/main">
            <a:r>
              <a:t>4. (3:30–4:00) 생성된 코드와 완료 판단의 차이로 S18에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OBSERVED_PRODUCT, one Codex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완료라고 말할 때 코드와 함께 어떤 확인이 있었는지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Each check supports a bounded claim: targeted behavior, existing suite coverage, one sample CLI path, and change scope. No benchmark was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Check가 무엇을 뒷받침하는지 읽게 한다. 청중에게 테스트 실행을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생성 자체와 완료 판단을 구분하는 Slide 18로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묶음에 각각 한 가지 확인 범위를 말한다. 다섯 로그를 전문으로 읽지 않는다. 마지막 30초에 생성과 완료의 차이로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S17 또는 `production/preview/act1/S17.png` 사용. 수치는 TRIAL-002 기록에 한정한다; 새로운 pass 수치를 추가하지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S18 —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Task는 결과뿐 아니라 적절한 검증과 review를 포함해야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Check가 어떤 Claim을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왼쪽 “코드가 나왔다”에서 오른쪽 “완료라고 말할 수 있나?”로 시선을 옮긴다.</a:t>
            </a:r>
          </a:p>
          <a:p xmlns:a="http://schemas.openxmlformats.org/drawingml/2006/main">
            <a:r>
              <a:t>2. (0:45–1:30) 가운데 동작 테스트·샘플 실행·변경 검토를 세 판단 근거로 설명한다. S17에서 본 관찰 사실은 하단 출처의 범위로만 회수한다.</a:t>
            </a:r>
          </a:p>
          <a:p xmlns:a="http://schemas.openxmlformats.org/drawingml/2006/main">
            <a:r>
              <a:t>3. (1:30–2:30) 성능 개선을 주장하는 작업에는 해당 입력·환경의 측정도 필요할 수 있다고 설명한다. TRIAL-002에서 benchmark가 실행됐다는 뜻이 아니다.</a:t>
            </a:r>
          </a:p>
          <a:p xmlns:a="http://schemas.openxmlformats.org/drawingml/2006/main">
            <a:r>
              <a:t>4. (2:30–3:00) 주장마다 필요한 근거가 다르다는 S19로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 and separate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코드가 생성됐다는 사실은 완료를 판단하는 한 가지 정보일 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checks from the task’s risk and the exact claim being made; do not demand every check for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19 contains the approved Supporting C++ transfer inset. Do not duplicate it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verification callback only; DEMO-05의 8분 구간 밖이다. 별도 관찰 카드나 새 결과를 보여 주지 않고 하단 출처로 과거 확인 범위를 회수한다. 본문은 교육 모델로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별도 Q&amp;A 시간은 배정되지 않았다. 청중에게 생각할 질문을 주고 다음 장에서 범위를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19에서 각 Check가 뒷받침하는 범위를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분 안에 기록 사실과 Teaching Model을 분리한다. S17의 다섯 수치를 다시 읽지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S18 또는 `production/preview/act1/S18.png`를 사용한다. 생성·완료의 관계는 교육 모델, TRIAL-002는 하단에 표시된 과거 관찰로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S19 —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Check 하나가 모든 정확성을 증명하지는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Check로 무엇까지 말할 수 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표가 특정 테스트의 만능 효과를 뜻하지 않는다고 소개한다. 실제 TRIAL-002는 집중·전체 테스트, CLI smoke, diff를 확인했다는 하단 출처를 짚는다.</a:t>
            </a:r>
          </a:p>
          <a:p xmlns:a="http://schemas.openxmlformats.org/drawingml/2006/main">
            <a:r>
              <a:t>2. (1:00–3:00) 확인 방법 → 말할 수 있는 범위의 다섯 행을 설명한다. 성능 측정 행은 교육 모델이며 TRIAL-002에서 benchmark를 실행하지 않았다고 밝힌다.</a:t>
            </a:r>
          </a:p>
          <a:p xmlns:a="http://schemas.openxmlformats.org/drawingml/2006/main">
            <a:r>
              <a:t>3. (3:00–4:00) C++의 Release 실행, API/ABI, 대상 데이터도 어떤 주장을 확인할지에 맞춰 고르는 경계로 연결한다.</a:t>
            </a:r>
          </a:p>
          <a:p xmlns:a="http://schemas.openxmlformats.org/drawingml/2006/main">
            <a:r>
              <a:t>4. (4:00–5:00) 익숙한 Check가 뒷받침하는 Claim을 개인적으로 떠올린다. 그 검증 방법을 다음 작업에서도 다시 설명할지 생각하는 Reflection으로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Actual checks are separate from the TEACHING_MODEL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Focused/full tests, CLI smoke, and diff review are actual TRIAL-002 checks. The mapping is a course model; benchmark was not run. No single check proves all correctness.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Focused test는 바뀐 동작을, 전체 Test는 기존 suite의 범위를, smoke는 sample 실행 경로를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For C++ projects, match Release build, API/ABI checks, regression tests, and measurement to the claim and risk. These are illustrative engineering patterns, not this Demo repository’s tooling.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Bridge: `build claim → Release build`; `compatibility claim → API / ABI review`; `performance claim → benchmark with named workload`. No Windows, shell, IDE, or hardware setup is asserted.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evidence callback outside the 8-minute Demo slot. 본문 표는 일반적인 check-to-claim 교육 모델이다. 하단 출처에는 실제 Trial에서 수행한 확인만 따로 표시한다. Benchmark 미실행 경계를 유지하고 새 수치나 실행을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각자가 익숙한 Check와 그 Check가 뒷받침하는 Claim을 조용히 생각한다. 결과 발표는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“방금 정한 테스트 명령과 보존 조건은 다음 작업에도 필요할 수 있습니다. 이 설명을 매번 다시 적어야 할까요?”라고 검증 지침의 재사용에서 S20의 정보 수명 질문으로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4분과 Reflection 1분을 분리한다. Advanced C++ examples are optional under time pressure; keep the scope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S19 또는 `production/preview/act1/S19.png`를 사용한다. 표의 일반적인 범위와 하단 Trial 출처를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S20 —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두 종류의 정보를 구분할 필요가 있음을 먼저 인식한다.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“테스트·보존 조건처럼 반복해서 쓰는 문장은 이번 작업에만 필요할까, 다음 작업에도 필요할까?”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S19에서 검증 방법을 골랐다는 점을 회수하고, 테스트·보존 조건처럼 최근 요청에 반복해서 썼던 문장 하나를 떠올리게 한다. “이번 작업에만?”과 “다음 작업에도?” 중 어디에 해당할지 개인적으로 생각한다. 화면의 두 영역은 비워 두고 문장의 분류를 대신 정하지 않는다.</a:t>
            </a:r>
          </a:p>
          <a:p xmlns:a="http://schemas.openxmlformats.org/drawingml/2006/main">
            <a:r>
              <a:t>2. (1:00–3:00) 자발적인 Q&amp;A를 받는다. 답이나 분류 기준을 미리 공개하지 않는다. 침묵도 정상 진행이다.</a:t>
            </a:r>
          </a:p>
          <a:p xmlns:a="http://schemas.openxmlformats.org/drawingml/2006/main">
            <a:r>
              <a:t>3. (3:00) S21에서 후보 예시를 함께 확인하겠다고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 → BEAT-008 handoff, CLM-0029, CLM-0027, CLM-0003, CLM-0005.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두 Bucket은 Reflection을 위한 과정의 모델이다. 이 장에서는 정답, 제품 기능, AGENTS.md 또는 완전한 분류를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요청에만 필요한 말과 여러 번 반복할 수 있는 규칙이 다를 수 있음을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Consider information lifetime and scope without deciding the storage mechanism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순서: Reflection 1분 후 Q&amp;A 2분. Reflection은 사적 생각 시간이고 공유는 자발적이다. 응답이 없으면 질문을 한 번 더 읽고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21에서 Reflection/Discussion을 회수하고 “왜 Project 설명을 매번 다시 쓰는가?”라는 ACT 2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1분, Q&amp;A 2분을 보존한다. 긴 토론이나 개인 업무 공개를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질문 슬라이드 `production/ACT_1.pptx` S20 또는 `production/preview/act1/S20.png` 사용. 공유 응답이 없어도 다음으로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S21 —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Transition 3 minutes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정보와 Project 정보는 수명과 적용 범위가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Task에만 필요한 정보와 Project가 계속 유지할 정보는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(0:00–1:00, Reflection) S20의 두 질문을 회수하고 화면의 후보가 자신의 작업에서도 같은 수명·범위인지 조용히 생각하게 한다.</a:t>
            </a:r>
          </a:p>
          <a:p xmlns:a="http://schemas.openxmlformats.org/drawingml/2006/main">
            <a:r>
              <a:t>2. (1:00–2:00, Transition) crop 경계 수정·이번 README 수정과, 계속 유지할 의존성 추가 근거·테스트 명령의 후보 예시를 비교한다. 유일한 정답이나 실제 STATE-01 원문이라고 하지 않는다.</a:t>
            </a:r>
          </a:p>
          <a:p xmlns:a="http://schemas.openxmlformats.org/drawingml/2006/main">
            <a:r>
              <a:t>3. (2:00–4:00, Transition) 정보의 수명과 적용 범위 차이를 정리하고 “Project 정보를 왜 매번 Prompt에 다시 적고 있을까?”를 ACT 2의 질문으로 남긴다.</a:t>
            </a:r>
          </a:p>
          <a:p xmlns:a="http://schemas.openxmlformats.org/drawingml/2006/main">
            <a:r>
              <a:t>4. (4:00–6:00, Q&amp;A) 자발적인 질문을 받고 6분에 ACT 2로 이동한다. 질문이 없으면 다음 문제를 다시 읽고 정시에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장의 두 열은 다음 ACT로 넘길 분류 후보다. 이번 목표와 여러 작업에 남길 사실의 수명이 다르다는 질문만 남긴다. 아직 S24 관찰 결과를 근거처럼 회수하지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BEAT-008, TRANS-003, CLM-0029, CLM-0027,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항목은 수명과 적용 범위를 생각하게 하는 교육용 후보 예시다. 화면의 의존성 예시는 실제 STATE-01 지침처럼 작업상 정당한 근거가 있으면 추가할 수 있다는 조건을 보존한다. 이 장은 그 지침의 실행 효과를 관찰한 결과가 아니다. 유일한 정답·classification test·제품 메커니즘으로 말하지 않는다. AGENTS.md는 이 장에서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 한 번에만 필요한 정보와 프로젝트가 계속 참고할 수 있는 정보를 구별해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Information reuse scope and lifetime may differ; the next ACT will examine the repeated-fact problem before introducing a mechanism.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Reflection 1분 후 map 순서대로 ACT 2 Transition 3분, Q&amp;A 2분. 예시는 후보로만 말하고, 자발적 응답을 받되 정답 분류를 평가하지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“그런데 Project 정보를 왜 매번 Prompt에 다시 적고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0–1분 Reflection, 1–4분 Transition, 4–6분 Q&amp;A. 기존 Notes의 1–5분 전환/5–6분 Q&amp;A 불일치를 승인된 Mode Split 1+3+2로 정렬한다. Project Context 해결책이나 AGENTS.md는 미리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S21 또는 `production/preview/act1/S21.png` 사용. Q&amp;A가 없어도 마지막 Transition 질문 후 ACT 2로 간다.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cf36847d9241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a2b30f72c443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4404704f4043e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cfda6020a340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b3f8023a0a4d9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a437c7c40e40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EC044CD-B44E-4C30-92B3-B5B232C66C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86707AF-5FED-41F0-94A2-C63B5BE2ED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11800D3-82F2-4B37-B282-1409C8F5A6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12BEBE-9592-47B3-B0C2-8BDB76BA95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0DE47A-B9BC-4BC9-8A4A-CD5B21E4A1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00A2B98-7299-495D-B36D-AC10C9223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9C34F2-9BAA-4529-9C6C-7241BD1E58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73D622D-67C1-4854-8594-C75CB439AE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F343C4-6DAB-43E3-A0C9-F21CF614D1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EF6EE4E-D945-4189-AA80-85DE14AF21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9a24e7e9944770" /><Relationship Type="http://schemas.openxmlformats.org/officeDocument/2006/relationships/slideLayout" Target="/ppt/slideLayouts/slideLayout1.xml" Id="R6495d43c37fe42b4" /><Relationship Type="http://schemas.openxmlformats.org/officeDocument/2006/relationships/slideLayout" Target="/ppt/slideLayouts/slideLayout2.xml" Id="R1466090159d2409a" /><Relationship Type="http://schemas.openxmlformats.org/officeDocument/2006/relationships/slideLayout" Target="/ppt/slideLayouts/slideLayout3.xml" Id="R47086a1e286e4361" /><Relationship Type="http://schemas.openxmlformats.org/officeDocument/2006/relationships/slideLayout" Target="/ppt/slideLayouts/slideLayout4.xml" Id="Ra89ab82f44694a8b" /><Relationship Type="http://schemas.openxmlformats.org/officeDocument/2006/relationships/slideLayout" Target="/ppt/slideLayouts/slideLayout5.xml" Id="Re87aa3de8b184975" /><Relationship Type="http://schemas.openxmlformats.org/officeDocument/2006/relationships/slideLayout" Target="/ppt/slideLayouts/slideLayout6.xml" Id="R71f486b4be9341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95d43c37fe42b4"/>
    <p:sldLayoutId xmlns:r="http://schemas.openxmlformats.org/officeDocument/2006/relationships" id="2147483650" r:id="R1466090159d2409a"/>
    <p:sldLayoutId xmlns:r="http://schemas.openxmlformats.org/officeDocument/2006/relationships" id="2147483651" r:id="R47086a1e286e4361"/>
    <p:sldLayoutId xmlns:r="http://schemas.openxmlformats.org/officeDocument/2006/relationships" id="2147483652" r:id="Ra89ab82f44694a8b"/>
    <p:sldLayoutId xmlns:r="http://schemas.openxmlformats.org/officeDocument/2006/relationships" id="2147483653" r:id="Re87aa3de8b184975"/>
    <p:sldLayoutId xmlns:r="http://schemas.openxmlformats.org/officeDocument/2006/relationships" id="2147483654" r:id="R71f486b4be9341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3b4aeb378e45b1" /><Relationship Type="http://schemas.openxmlformats.org/officeDocument/2006/relationships/notesSlide" Target="/ppt/notesSlides/notesSlide1.xml" Id="R1a8c8e62009d45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639a27a2284445" /><Relationship Type="http://schemas.openxmlformats.org/officeDocument/2006/relationships/notesSlide" Target="/ppt/notesSlides/notesSlide2.xml" Id="R298f45ed80074d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2d85df13224ef4" /><Relationship Type="http://schemas.openxmlformats.org/officeDocument/2006/relationships/notesSlide" Target="/ppt/notesSlides/notesSlide3.xml" Id="R2b8fceeb83014e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da96ac78424b25" /><Relationship Type="http://schemas.openxmlformats.org/officeDocument/2006/relationships/notesSlide" Target="/ppt/notesSlides/notesSlide4.xml" Id="R96ec5f65228e4d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36176531d94f04" /><Relationship Type="http://schemas.openxmlformats.org/officeDocument/2006/relationships/notesSlide" Target="/ppt/notesSlides/notesSlide5.xml" Id="R4cafdf5ae4e74e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2d6fe0cdc24143" /><Relationship Type="http://schemas.openxmlformats.org/officeDocument/2006/relationships/notesSlide" Target="/ppt/notesSlides/notesSlide6.xml" Id="R092aa4e85cb74a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2c1315bac84dc9" /><Relationship Type="http://schemas.openxmlformats.org/officeDocument/2006/relationships/notesSlide" Target="/ppt/notesSlides/notesSlide7.xml" Id="Rf258a554351046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954c06a4d1480a" /><Relationship Type="http://schemas.openxmlformats.org/officeDocument/2006/relationships/notesSlide" Target="/ppt/notesSlides/notesSlide8.xml" Id="R4652f239c04442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f6254792454f15" /><Relationship Type="http://schemas.openxmlformats.org/officeDocument/2006/relationships/notesSlide" Target="/ppt/notesSlides/notesSlide9.xml" Id="Rdf20761ff51a4ab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3eb840e8f54d5c" /><Relationship Type="http://schemas.openxmlformats.org/officeDocument/2006/relationships/notesSlide" Target="/ppt/notesSlides/notesSlide10.xml" Id="R68f5015ce08e46c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f431e50b4e4265" /><Relationship Type="http://schemas.openxmlformats.org/officeDocument/2006/relationships/notesSlide" Target="/ppt/notesSlides/notesSlide11.xml" Id="R12c9893e300943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6ba707fdd84cfb" /><Relationship Type="http://schemas.openxmlformats.org/officeDocument/2006/relationships/notesSlide" Target="/ppt/notesSlides/notesSlide12.xml" Id="Rfbdd99c2ed8b44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모호한 작업 요청">
            <a:extLst xmlns:a="http://schemas.openxmlformats.org/drawingml/2006/main">
              <a:ext uri="{FF2B5EF4-FFF2-40B4-BE49-F238E27FC236}">
                <a16:creationId xmlns:a16="http://schemas.microsoft.com/office/drawing/2014/main" id="{BD0AC202-FDD1-4084-98E9-2D736B66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모호한 작업 요청</a:t>
            </a:r>
          </a:p>
        </p:txBody>
      </p:sp>
      <p:sp>
        <p:nvSpPr>
          <p:cNvPr id="2" name="S10">
            <a:extLst xmlns:a="http://schemas.openxmlformats.org/drawingml/2006/main">
              <a:ext uri="{FF2B5EF4-FFF2-40B4-BE49-F238E27FC236}">
                <a16:creationId xmlns:a16="http://schemas.microsoft.com/office/drawing/2014/main" id="{6C87C4E9-BBA6-406B-9A46-29837E99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</a:t>
            </a:r>
          </a:p>
        </p:txBody>
      </p:sp>
      <p:sp>
        <p:nvSpPr>
          <p:cNvPr id="3" name="Task에는 무엇이 아직 정해지지 않았을까?">
            <a:extLst xmlns:a="http://schemas.openxmlformats.org/drawingml/2006/main">
              <a:ext uri="{FF2B5EF4-FFF2-40B4-BE49-F238E27FC236}">
                <a16:creationId xmlns:a16="http://schemas.microsoft.com/office/drawing/2014/main" id="{8664E300-39AE-4C01-88EA-0B0156F9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Task에는 무엇이 아직 정해지지 않았을까?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EB347-584E-4808-999A-174B6B7A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실제 Agent 실패나 Trial 결과가 아님">
            <a:extLst xmlns:a="http://schemas.openxmlformats.org/drawingml/2006/main">
              <a:ext uri="{FF2B5EF4-FFF2-40B4-BE49-F238E27FC236}">
                <a16:creationId xmlns:a16="http://schemas.microsoft.com/office/drawing/2014/main" id="{98F8C82F-2B5A-49C7-BAB6-63502D4C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실제 Agent 실패나 Trial 결과가 아님</a:t>
            </a:r>
          </a:p>
        </p:txBody>
      </p:sp>
      <p:sp>
        <p:nvSpPr>
          <p:cNvPr id="6" name="Repository는 열려 있어도 작업의 목표·보존 조건·완료 기준이 자동으로 정해지지는 않습니다.">
            <a:extLst xmlns:a="http://schemas.openxmlformats.org/drawingml/2006/main">
              <a:ext uri="{FF2B5EF4-FFF2-40B4-BE49-F238E27FC236}">
                <a16:creationId xmlns:a16="http://schemas.microsoft.com/office/drawing/2014/main" id="{5B419857-4326-4B13-A950-11E17024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Repository는 열려 있어도 작업의 목표·보존 조건·완료 기준이 자동으로 정해지지는 않습니다.</a:t>
            </a:r>
          </a:p>
        </p:txBody>
      </p:sp>
      <p:sp>
        <p:nvSpPr>
          <p:cNvPr id="7" name="같은 Repository를 보고 있습니다.">
            <a:extLst xmlns:a="http://schemas.openxmlformats.org/drawingml/2006/main">
              <a:ext uri="{FF2B5EF4-FFF2-40B4-BE49-F238E27FC236}">
                <a16:creationId xmlns:a16="http://schemas.microsoft.com/office/drawing/2014/main" id="{FD358E7D-5D24-4495-BA93-7C9DAA97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Repository를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46E44-A794-4056-AB67-5C2834CC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3434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요청">
            <a:extLst xmlns:a="http://schemas.openxmlformats.org/drawingml/2006/main">
              <a:ext uri="{FF2B5EF4-FFF2-40B4-BE49-F238E27FC236}">
                <a16:creationId xmlns:a16="http://schemas.microsoft.com/office/drawing/2014/main" id="{632FEDC2-637E-42A3-837D-E2AFF0EF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10" name="“filter 성능&#10;개선해줘.”">
            <a:extLst xmlns:a="http://schemas.openxmlformats.org/drawingml/2006/main">
              <a:ext uri="{FF2B5EF4-FFF2-40B4-BE49-F238E27FC236}">
                <a16:creationId xmlns:a16="http://schemas.microsoft.com/office/drawing/2014/main" id="{47F2B07C-9A41-4BC4-A474-BE36D05F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3886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“filter 성능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개선해줘.”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B6AFF-FD52-4FD8-92E2-89480745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600450"/>
            <a:ext cx="45720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바꿀 것">
            <a:extLst xmlns:a="http://schemas.openxmlformats.org/drawingml/2006/main">
              <a:ext uri="{FF2B5EF4-FFF2-40B4-BE49-F238E27FC236}">
                <a16:creationId xmlns:a16="http://schemas.microsoft.com/office/drawing/2014/main" id="{DCCD1430-F912-4826-868C-2B7BBF81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38425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바꿀 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17CA8D-461E-4637-AE05-6647AF7A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813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4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3142E48B-A4E7-4BD7-958F-F415FAD8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432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5" name="?">
            <a:extLst xmlns:a="http://schemas.openxmlformats.org/drawingml/2006/main">
              <a:ext uri="{FF2B5EF4-FFF2-40B4-BE49-F238E27FC236}">
                <a16:creationId xmlns:a16="http://schemas.microsoft.com/office/drawing/2014/main" id="{1D22F50A-26C5-4606-AA2E-24B77935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293370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16" name="보존할 것">
            <a:extLst xmlns:a="http://schemas.openxmlformats.org/drawingml/2006/main">
              <a:ext uri="{FF2B5EF4-FFF2-40B4-BE49-F238E27FC236}">
                <a16:creationId xmlns:a16="http://schemas.microsoft.com/office/drawing/2014/main" id="{436473FB-65E0-4508-AEEC-B1FE88D6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보존할 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8BA50-9588-4EC0-AF06-FF82FF3D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815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8" name="무엇을 그대로 지킬까?">
            <a:extLst xmlns:a="http://schemas.openxmlformats.org/drawingml/2006/main">
              <a:ext uri="{FF2B5EF4-FFF2-40B4-BE49-F238E27FC236}">
                <a16:creationId xmlns:a16="http://schemas.microsoft.com/office/drawing/2014/main" id="{8C77C789-8495-42F9-A952-4CE97D33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43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그대로 지킬까?</a:t>
            </a:r>
          </a:p>
        </p:txBody>
      </p:sp>
      <p:sp>
        <p:nvSpPr>
          <p:cNvPr id="19" name="?">
            <a:extLst xmlns:a="http://schemas.openxmlformats.org/drawingml/2006/main">
              <a:ext uri="{FF2B5EF4-FFF2-40B4-BE49-F238E27FC236}">
                <a16:creationId xmlns:a16="http://schemas.microsoft.com/office/drawing/2014/main" id="{C72D3CAB-4502-47DB-ACA9-0EF0D801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9338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0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9018F171-B60F-4A85-9793-18F6E92D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43E4B2-9451-4394-B26D-F84D7420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816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22" name="무엇을 보면 끝났다고 할까?">
            <a:extLst xmlns:a="http://schemas.openxmlformats.org/drawingml/2006/main">
              <a:ext uri="{FF2B5EF4-FFF2-40B4-BE49-F238E27FC236}">
                <a16:creationId xmlns:a16="http://schemas.microsoft.com/office/drawing/2014/main" id="{4F880F6D-177A-4114-986A-967C1AA7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434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보면 끝났다고 할까?</a:t>
            </a:r>
          </a:p>
        </p:txBody>
      </p:sp>
      <p:sp>
        <p:nvSpPr>
          <p:cNvPr id="23" name="?">
            <a:extLst xmlns:a="http://schemas.openxmlformats.org/drawingml/2006/main">
              <a:ext uri="{FF2B5EF4-FFF2-40B4-BE49-F238E27FC236}">
                <a16:creationId xmlns:a16="http://schemas.microsoft.com/office/drawing/2014/main" id="{D04698C9-88C7-452E-A27B-E93967FB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93395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0195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1 · 앞서 본 crop 사례로 좁히기">
            <a:extLst xmlns:a="http://schemas.openxmlformats.org/drawingml/2006/main">
              <a:ext uri="{FF2B5EF4-FFF2-40B4-BE49-F238E27FC236}">
                <a16:creationId xmlns:a16="http://schemas.microsoft.com/office/drawing/2014/main" id="{F47284DC-0533-44D8-A8AE-6317E95E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앞서 본 crop 사례로 좁히기</a:t>
            </a:r>
          </a:p>
        </p:txBody>
      </p:sp>
      <p:sp>
        <p:nvSpPr>
          <p:cNvPr id="2" name="S11">
            <a:extLst xmlns:a="http://schemas.openxmlformats.org/drawingml/2006/main">
              <a:ext uri="{FF2B5EF4-FFF2-40B4-BE49-F238E27FC236}">
                <a16:creationId xmlns:a16="http://schemas.microsoft.com/office/drawing/2014/main" id="{BC5D629B-469D-4511-A8EE-55CFD939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S11</a:t>
            </a:r>
          </a:p>
        </p:txBody>
      </p:sp>
      <p:sp>
        <p:nvSpPr>
          <p:cNvPr id="3" name="요청만으로는 의도가 보이지 않는다">
            <a:extLst xmlns:a="http://schemas.openxmlformats.org/drawingml/2006/main">
              <a:ext uri="{FF2B5EF4-FFF2-40B4-BE49-F238E27FC236}">
                <a16:creationId xmlns:a16="http://schemas.microsoft.com/office/drawing/2014/main" id="{A74B7D00-019C-4ED0-835E-880E2A85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요청만으로는 의도가 보이지 않는다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63F5EB-8C3C-4E69-BE0E-528B2934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TRIAL-002의 실제 Prompt가 아님">
            <a:extLst xmlns:a="http://schemas.openxmlformats.org/drawingml/2006/main">
              <a:ext uri="{FF2B5EF4-FFF2-40B4-BE49-F238E27FC236}">
                <a16:creationId xmlns:a16="http://schemas.microsoft.com/office/drawing/2014/main" id="{7789A2E1-2227-40EA-A42A-9DEEBCBE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TRIAL-002의 실제 Prompt가 아님</a:t>
            </a:r>
          </a:p>
        </p:txBody>
      </p:sp>
      <p:sp>
        <p:nvSpPr>
          <p:cNvPr id="6" name="짧은 요청을 비난하거나 이 요청이 특정 실패를 만들었다고 주장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B3027236-F3CE-47FD-B76C-3D32DE75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짧은 요청을 비난하거나 이 요청이 특정 실패를 만들었다고 주장하지 않습니다.</a:t>
            </a:r>
          </a:p>
        </p:txBody>
      </p:sp>
      <p:sp>
        <p:nvSpPr>
          <p:cNvPr id="7" name="“crop test 고쳐줘”">
            <a:extLst xmlns:a="http://schemas.openxmlformats.org/drawingml/2006/main">
              <a:ext uri="{FF2B5EF4-FFF2-40B4-BE49-F238E27FC236}">
                <a16:creationId xmlns:a16="http://schemas.microsoft.com/office/drawing/2014/main" id="{C02A55C5-14D1-4A57-B407-C658CD4A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72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 고쳐줘”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D3973-26EF-4D69-A288-E59B5E7E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38450"/>
            <a:ext cx="228600" cy="2952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F1514-E6B6-4D2C-9885-F4860466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09925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A3452-843E-43A5-9203-ADAD2255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1435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4EF2B-60B9-4313-BB4A-E1E6D90C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00425"/>
            <a:ext cx="51435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테스트를 바꿀까?">
            <a:extLst xmlns:a="http://schemas.openxmlformats.org/drawingml/2006/main">
              <a:ext uri="{FF2B5EF4-FFF2-40B4-BE49-F238E27FC236}">
                <a16:creationId xmlns:a16="http://schemas.microsoft.com/office/drawing/2014/main" id="{BEE661F3-BA99-4A83-9BED-55428BF6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테스트를 바꿀까?</a:t>
            </a:r>
          </a:p>
        </p:txBody>
      </p:sp>
      <p:sp>
        <p:nvSpPr>
          <p:cNvPr id="13" name="구현을 바꿀까?">
            <a:extLst xmlns:a="http://schemas.openxmlformats.org/drawingml/2006/main">
              <a:ext uri="{FF2B5EF4-FFF2-40B4-BE49-F238E27FC236}">
                <a16:creationId xmlns:a16="http://schemas.microsoft.com/office/drawing/2014/main" id="{5AD9BF7A-7214-459C-887E-73E0F27B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구현을 바꿀까?</a:t>
            </a:r>
          </a:p>
        </p:txBody>
      </p:sp>
      <p:sp>
        <p:nvSpPr>
          <p:cNvPr id="14" name="아직 정해지지 않은 정보">
            <a:extLst xmlns:a="http://schemas.openxmlformats.org/drawingml/2006/main">
              <a:ext uri="{FF2B5EF4-FFF2-40B4-BE49-F238E27FC236}">
                <a16:creationId xmlns:a16="http://schemas.microsoft.com/office/drawing/2014/main" id="{E054D8A0-F58C-44A5-80A9-BE10C4EE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정해지지 않은 정보</a:t>
            </a:r>
          </a:p>
        </p:txBody>
      </p:sp>
      <p:sp>
        <p:nvSpPr>
          <p:cNvPr id="15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110837C2-8642-4530-8058-AF14AE55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16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5C674ABD-042F-44BE-A488-47D81DBB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17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A482A923-3958-4B86-8352-F3791D66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18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337C2CEA-9212-494D-9942-E8EFF55A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19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70AC9CC0-3126-4351-97F1-0AAD62C3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</p:spTree>
    <p:extLst>
      <p:ext uri="{BB962C8B-B14F-4D97-AF65-F5344CB8AC3E}">
        <p14:creationId xmlns:p14="http://schemas.microsoft.com/office/powerpoint/2010/main" val="12788897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A41F6FF2-496B-4933-8B86-CC33877F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2">
            <a:extLst xmlns:a="http://schemas.openxmlformats.org/drawingml/2006/main">
              <a:ext uri="{FF2B5EF4-FFF2-40B4-BE49-F238E27FC236}">
                <a16:creationId xmlns:a16="http://schemas.microsoft.com/office/drawing/2014/main" id="{C23149D5-162D-4940-967B-1D571981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S12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C777E39D-FAD5-4C0A-835C-B87BB662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B9D79-9378-4109-8029-36ED6127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이 과정의 질문 틀 · 정답을 제시하는 분류 시험이 아님">
            <a:extLst xmlns:a="http://schemas.openxmlformats.org/drawingml/2006/main">
              <a:ext uri="{FF2B5EF4-FFF2-40B4-BE49-F238E27FC236}">
                <a16:creationId xmlns:a16="http://schemas.microsoft.com/office/drawing/2014/main" id="{B5109F2F-0492-42DC-A60C-DE8FC2BA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 과정의 질문 틀 · 정답을 제시하는 분류 시험이 아님</a:t>
            </a:r>
          </a:p>
        </p:txBody>
      </p:sp>
      <p:sp>
        <p:nvSpPr>
          <p:cNvPr id="6" name="마지막 1분은 익숙한 작업 하나를 조용히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0D1F200D-D74E-4248-A29F-AAA1B9E1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마지막 1분은 익숙한 작업 하나를 조용히 떠올려 보세요.</a:t>
            </a:r>
          </a:p>
        </p:txBody>
      </p:sp>
      <p:sp>
        <p:nvSpPr>
          <p:cNvPr id="7" name="“crop test 고쳐줘”에 답하기 전에">
            <a:extLst xmlns:a="http://schemas.openxmlformats.org/drawingml/2006/main">
              <a:ext uri="{FF2B5EF4-FFF2-40B4-BE49-F238E27FC236}">
                <a16:creationId xmlns:a16="http://schemas.microsoft.com/office/drawing/2014/main" id="{61726EDD-D08E-4170-B825-41CE92FC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“crop test 고쳐줘”에 답하기 전에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1D218848-405B-46C3-A5D7-556520F0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539FE424-ACA1-4D29-994C-8B8D69BC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83C6B1-AA6F-4D2A-8A44-1386BB89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5E9F11AC-4057-4B61-AD3F-2A66BCC2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26AE4CD2-9AE4-4254-BE04-4D42369B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BE704-AF65-4CFF-8B8D-567E1E2F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9F321E24-0BD7-459B-9D51-0C4DE709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2FF146ED-E530-4C55-B7F6-AB067309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E8193-77EA-48A0-AE5B-4B2DCE00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3E105875-B596-438B-AAE9-7893E08F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8726CC48-D6E5-443E-8C63-574EE002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D80CC5-1DDA-483D-AF46-F1E9B8ED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2BD2A4-0BBA-48DE-876C-0D996B9D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5">
            <a:extLst xmlns:a="http://schemas.openxmlformats.org/drawingml/2006/main">
              <a:ext uri="{FF2B5EF4-FFF2-40B4-BE49-F238E27FC236}">
                <a16:creationId xmlns:a16="http://schemas.microsoft.com/office/drawing/2014/main" id="{AE4B166A-DACE-4335-8877-FC542BDD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2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CD7A17A0-F137-4BDA-A896-4C8346E7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000625"/>
            <a:ext cx="9744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</p:spTree>
    <p:extLst>
      <p:ext uri="{BB962C8B-B14F-4D97-AF65-F5344CB8AC3E}">
        <p14:creationId xmlns:p14="http://schemas.microsoft.com/office/powerpoint/2010/main" val="12532882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EEE788FC-3E4C-4F5A-BF8F-557A6973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13">
            <a:extLst xmlns:a="http://schemas.openxmlformats.org/drawingml/2006/main">
              <a:ext uri="{FF2B5EF4-FFF2-40B4-BE49-F238E27FC236}">
                <a16:creationId xmlns:a16="http://schemas.microsoft.com/office/drawing/2014/main" id="{A2C6F9F4-ABF9-4459-812B-C595543E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S13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07FB14B1-D9FF-499C-A1AC-774D8D95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C6665B-2600-45CD-B99A-2459F7FA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교육 모델 · 공식 OpenAI 분류나 모든 작업에 대한 법칙이 아님">
            <a:extLst xmlns:a="http://schemas.openxmlformats.org/drawingml/2006/main">
              <a:ext uri="{FF2B5EF4-FFF2-40B4-BE49-F238E27FC236}">
                <a16:creationId xmlns:a16="http://schemas.microsoft.com/office/drawing/2014/main" id="{109670CE-4B15-45A1-88C4-5CE85906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교육 모델 · 공식 OpenAI 분류나 모든 작업에 대한 법칙이 아님</a:t>
            </a:r>
          </a:p>
        </p:txBody>
      </p:sp>
      <p:sp>
        <p:nvSpPr>
          <p:cNvPr id="6" name="다섯 항목은 서로 분리된 기능이 아니라 하나의 작업 요청에 담는 책임입니다.">
            <a:extLst xmlns:a="http://schemas.openxmlformats.org/drawingml/2006/main">
              <a:ext uri="{FF2B5EF4-FFF2-40B4-BE49-F238E27FC236}">
                <a16:creationId xmlns:a16="http://schemas.microsoft.com/office/drawing/2014/main" id="{3744887E-424B-4EBD-A29E-13E96ED9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다섯 항목은 서로 분리된 기능이 아니라 하나의 작업 요청에 담는 책임입니다.</a:t>
            </a:r>
          </a:p>
        </p:txBody>
      </p:sp>
      <p:sp>
        <p:nvSpPr>
          <p:cNvPr id="7" name="앞의 질문을 묶고, 필요한 맥락과 작업 과정을 명시한다">
            <a:extLst xmlns:a="http://schemas.openxmlformats.org/drawingml/2006/main">
              <a:ext uri="{FF2B5EF4-FFF2-40B4-BE49-F238E27FC236}">
                <a16:creationId xmlns:a16="http://schemas.microsoft.com/office/drawing/2014/main" id="{2C0A6F2C-2B19-4392-895A-5DE1C665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질문을 묶고, 필요한 맥락과 작업 과정을 명시한다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24D7A2-4AD9-46E0-8C37-DD646F20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D5455-C1B6-4E6C-9F39-054B9A32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67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하나의&#10;Task&#10;Specification">
            <a:extLst xmlns:a="http://schemas.openxmlformats.org/drawingml/2006/main">
              <a:ext uri="{FF2B5EF4-FFF2-40B4-BE49-F238E27FC236}">
                <a16:creationId xmlns:a16="http://schemas.microsoft.com/office/drawing/2014/main" id="{0192EE99-4DD7-4366-BFB1-0F1C0744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26098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하나의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Specification</a:t>
            </a:r>
          </a:p>
        </p:txBody>
      </p:sp>
      <p:sp>
        <p:nvSpPr>
          <p:cNvPr id="11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5C432FFE-757A-48C8-BAE8-E5FC107F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764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12" name="어떤 결과를 바꿀까?">
            <a:extLst xmlns:a="http://schemas.openxmlformats.org/drawingml/2006/main">
              <a:ext uri="{FF2B5EF4-FFF2-40B4-BE49-F238E27FC236}">
                <a16:creationId xmlns:a16="http://schemas.microsoft.com/office/drawing/2014/main" id="{97649B6C-738D-4290-8621-3F297B77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764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결과를 바꿀까?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2D717-0213-4918-9ED6-616AA1F9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193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648CDA29-36D6-44D5-A6A9-B5597A89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622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15" name="이 작업에 필요한 사실은?">
            <a:extLst xmlns:a="http://schemas.openxmlformats.org/drawingml/2006/main">
              <a:ext uri="{FF2B5EF4-FFF2-40B4-BE49-F238E27FC236}">
                <a16:creationId xmlns:a16="http://schemas.microsoft.com/office/drawing/2014/main" id="{F207893D-F81B-46E7-9562-924B036A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622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필요한 사실은?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2FB918-8111-40C5-BD93-D1DD2EA3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051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2E461995-D4A3-4D8C-84E9-1410B214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480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18" name="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F3F16028-BAA6-40B6-B291-222C2F8F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480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3A14A-6B5C-4716-8DE2-346D5CF7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909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636BC8CA-1078-4C4D-96BC-4BA513E4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21" name="어떤 순서·경계를 지킬까?">
            <a:extLst xmlns:a="http://schemas.openxmlformats.org/drawingml/2006/main">
              <a:ext uri="{FF2B5EF4-FFF2-40B4-BE49-F238E27FC236}">
                <a16:creationId xmlns:a16="http://schemas.microsoft.com/office/drawing/2014/main" id="{AF444322-D4C2-4519-8DEE-CAD4CB4E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338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순서·경계를 지킬까?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B25105-06B1-4A5B-B1D1-51415C8C2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767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523C0AEB-4E70-49DC-B18B-9EE94CFA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196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24" name="무엇으로 완료를 확인할까?">
            <a:extLst xmlns:a="http://schemas.openxmlformats.org/drawingml/2006/main">
              <a:ext uri="{FF2B5EF4-FFF2-40B4-BE49-F238E27FC236}">
                <a16:creationId xmlns:a16="http://schemas.microsoft.com/office/drawing/2014/main" id="{D160C75D-A59D-4F99-A444-66BAFD16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8196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완료를 확인할까?</a:t>
            </a:r>
          </a:p>
        </p:txBody>
      </p:sp>
    </p:spTree>
    <p:extLst>
      <p:ext uri="{BB962C8B-B14F-4D97-AF65-F5344CB8AC3E}">
        <p14:creationId xmlns:p14="http://schemas.microsoft.com/office/powerpoint/2010/main" val="18855902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같은 요청을 구체화하기">
            <a:extLst xmlns:a="http://schemas.openxmlformats.org/drawingml/2006/main">
              <a:ext uri="{FF2B5EF4-FFF2-40B4-BE49-F238E27FC236}">
                <a16:creationId xmlns:a16="http://schemas.microsoft.com/office/drawing/2014/main" id="{730E6404-13E1-4DB0-A123-0EFE4D3C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요청을 구체화하기</a:t>
            </a:r>
          </a:p>
        </p:txBody>
      </p:sp>
      <p:sp>
        <p:nvSpPr>
          <p:cNvPr id="2" name="S14">
            <a:extLst xmlns:a="http://schemas.openxmlformats.org/drawingml/2006/main">
              <a:ext uri="{FF2B5EF4-FFF2-40B4-BE49-F238E27FC236}">
                <a16:creationId xmlns:a16="http://schemas.microsoft.com/office/drawing/2014/main" id="{C00C2C3C-5B46-492F-AA02-188846E7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S14</a:t>
            </a:r>
          </a:p>
        </p:txBody>
      </p:sp>
      <p:sp>
        <p:nvSpPr>
          <p:cNvPr id="3" name="더 긴 Prompt보다 분명한 경계">
            <a:extLst xmlns:a="http://schemas.openxmlformats.org/drawingml/2006/main">
              <a:ext uri="{FF2B5EF4-FFF2-40B4-BE49-F238E27FC236}">
                <a16:creationId xmlns:a16="http://schemas.microsoft.com/office/drawing/2014/main" id="{4978D251-E541-41B5-B5A4-51443C09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더 긴 Prompt보다 분명한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6487B-4791-4CE5-8F1A-065D52AF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Before / After · 실제 Trial Prompt나 우월성 비교 실험이 아님">
            <a:extLst xmlns:a="http://schemas.openxmlformats.org/drawingml/2006/main">
              <a:ext uri="{FF2B5EF4-FFF2-40B4-BE49-F238E27FC236}">
                <a16:creationId xmlns:a16="http://schemas.microsoft.com/office/drawing/2014/main" id="{F8C241B7-A8A5-4AB8-83D3-ED05DE7E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Before / After · 실제 Trial Prompt나 우월성 비교 실험이 아님</a:t>
            </a:r>
          </a:p>
        </p:txBody>
      </p:sp>
      <p:sp>
        <p:nvSpPr>
          <p:cNvPr id="6" name="C++ 적용도 작업 경계를 정하는 예시입니다. 특정 Windows·빌드 환경을 검증한 것은 아닙니다.">
            <a:extLst xmlns:a="http://schemas.openxmlformats.org/drawingml/2006/main">
              <a:ext uri="{FF2B5EF4-FFF2-40B4-BE49-F238E27FC236}">
                <a16:creationId xmlns:a16="http://schemas.microsoft.com/office/drawing/2014/main" id="{238696BA-A5B0-4569-97F5-A4C7E0DC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적용도 작업 경계를 정하는 예시입니다. 특정 Windows·빌드 환경을 검증한 것은 아닙니다.</a:t>
            </a:r>
          </a:p>
        </p:txBody>
      </p:sp>
      <p:sp>
        <p:nvSpPr>
          <p:cNvPr id="7" name="처음 요청">
            <a:extLst xmlns:a="http://schemas.openxmlformats.org/drawingml/2006/main">
              <a:ext uri="{FF2B5EF4-FFF2-40B4-BE49-F238E27FC236}">
                <a16:creationId xmlns:a16="http://schemas.microsoft.com/office/drawing/2014/main" id="{332E8B05-9912-4698-9D3F-E668FBD6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2819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처음 요청</a:t>
            </a:r>
          </a:p>
        </p:txBody>
      </p:sp>
      <p:sp>
        <p:nvSpPr>
          <p:cNvPr id="8" name="“crop test&#10;고쳐줘.”">
            <a:extLst xmlns:a="http://schemas.openxmlformats.org/drawingml/2006/main">
              <a:ext uri="{FF2B5EF4-FFF2-40B4-BE49-F238E27FC236}">
                <a16:creationId xmlns:a16="http://schemas.microsoft.com/office/drawing/2014/main" id="{EA9B2762-7E37-4198-A086-24CEE342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7813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</a:t>
            </a:r>
          </a:p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고쳐줘.”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D3748A-BC89-431E-826B-DDCA2110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295650"/>
            <a:ext cx="4381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추가한 정보">
            <a:extLst xmlns:a="http://schemas.openxmlformats.org/drawingml/2006/main">
              <a:ext uri="{FF2B5EF4-FFF2-40B4-BE49-F238E27FC236}">
                <a16:creationId xmlns:a16="http://schemas.microsoft.com/office/drawing/2014/main" id="{022B9260-BF17-4EDC-8DA3-D13C423B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90725"/>
            <a:ext cx="714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추가한 정보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A77AD-47FA-415F-A4C3-80CB2593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717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목표·맥락">
            <a:extLst xmlns:a="http://schemas.openxmlformats.org/drawingml/2006/main">
              <a:ext uri="{FF2B5EF4-FFF2-40B4-BE49-F238E27FC236}">
                <a16:creationId xmlns:a16="http://schemas.microsoft.com/office/drawing/2014/main" id="{B1FD339D-2549-44D5-961C-09D1C507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목표·맥락</a:t>
            </a:r>
          </a:p>
        </p:txBody>
      </p:sp>
      <p:sp>
        <p:nvSpPr>
          <p:cNvPr id="13" name="crop 경계 실패를 조사·수정한다.">
            <a:extLst xmlns:a="http://schemas.openxmlformats.org/drawingml/2006/main">
              <a:ext uri="{FF2B5EF4-FFF2-40B4-BE49-F238E27FC236}">
                <a16:creationId xmlns:a16="http://schemas.microsoft.com/office/drawing/2014/main" id="{E3D7BC8C-0CCF-4ED6-A452-6C5268A7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670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실패를 조사·수정한다.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49F57F-AE5B-44CC-9774-7555B266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813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제약">
            <a:extLst xmlns:a="http://schemas.openxmlformats.org/drawingml/2006/main">
              <a:ext uri="{FF2B5EF4-FFF2-40B4-BE49-F238E27FC236}">
                <a16:creationId xmlns:a16="http://schemas.microsoft.com/office/drawing/2014/main" id="{6D1E24F5-BEEB-41E0-8FBA-E17D3F4A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6" name="끝 좌표 제외, 무관한 API·의존성 유지">
            <a:extLst xmlns:a="http://schemas.openxmlformats.org/drawingml/2006/main">
              <a:ext uri="{FF2B5EF4-FFF2-40B4-BE49-F238E27FC236}">
                <a16:creationId xmlns:a16="http://schemas.microsoft.com/office/drawing/2014/main" id="{7BD5FCFD-EAFE-4DFC-8D0C-D23EAAAB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2766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제외, 무관한 API·의존성 유지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9D6F68-9225-4AEE-B5D9-A01C548D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909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과정">
            <a:extLst xmlns:a="http://schemas.openxmlformats.org/drawingml/2006/main">
              <a:ext uri="{FF2B5EF4-FFF2-40B4-BE49-F238E27FC236}">
                <a16:creationId xmlns:a16="http://schemas.microsoft.com/office/drawing/2014/main" id="{1E35D8E9-3012-4A08-A46B-5FFD1B21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862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</a:t>
            </a:r>
          </a:p>
        </p:txBody>
      </p:sp>
      <p:sp>
        <p:nvSpPr>
          <p:cNvPr id="19" name="재현 → 조사 → 계획 → 최소 수정">
            <a:extLst xmlns:a="http://schemas.openxmlformats.org/drawingml/2006/main">
              <a:ext uri="{FF2B5EF4-FFF2-40B4-BE49-F238E27FC236}">
                <a16:creationId xmlns:a16="http://schemas.microsoft.com/office/drawing/2014/main" id="{A16D7D2C-9C60-49E6-A01C-7FA72071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862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→ 조사 → 계획 → 최소 수정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494AFD-569E-4564-8DB2-99F2D343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005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검증">
            <a:extLst xmlns:a="http://schemas.openxmlformats.org/drawingml/2006/main">
              <a:ext uri="{FF2B5EF4-FFF2-40B4-BE49-F238E27FC236}">
                <a16:creationId xmlns:a16="http://schemas.microsoft.com/office/drawing/2014/main" id="{C7E446D2-32E3-4CD8-91BC-C438AAC6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958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2" name="집중·전체 Test + CLI smoke + diff">
            <a:extLst xmlns:a="http://schemas.openxmlformats.org/drawingml/2006/main">
              <a:ext uri="{FF2B5EF4-FFF2-40B4-BE49-F238E27FC236}">
                <a16:creationId xmlns:a16="http://schemas.microsoft.com/office/drawing/2014/main" id="{CFDB695B-693C-4D25-8B13-8DE071DB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958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집중·전체 Test + CLI smoke +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7AFB01-7AF1-4868-B495-163A9379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++에도: 출력·API/ABI 보존 범위와 Release 검증 조건을 먼저 정한다.">
            <a:extLst xmlns:a="http://schemas.openxmlformats.org/drawingml/2006/main">
              <a:ext uri="{FF2B5EF4-FFF2-40B4-BE49-F238E27FC236}">
                <a16:creationId xmlns:a16="http://schemas.microsoft.com/office/drawing/2014/main" id="{CC892CAB-0DBC-4AD1-84D8-BEE3A3B0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244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C++에도: 출력·API/ABI 보존 범위와 Release 검증 조건을 먼저 정한다.</a:t>
            </a:r>
          </a:p>
        </p:txBody>
      </p:sp>
    </p:spTree>
    <p:extLst>
      <p:ext uri="{BB962C8B-B14F-4D97-AF65-F5344CB8AC3E}">
        <p14:creationId xmlns:p14="http://schemas.microsoft.com/office/powerpoint/2010/main" val="6165235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1 · TRIAL-002 관찰 시작">
            <a:extLst xmlns:a="http://schemas.openxmlformats.org/drawingml/2006/main">
              <a:ext uri="{FF2B5EF4-FFF2-40B4-BE49-F238E27FC236}">
                <a16:creationId xmlns:a16="http://schemas.microsoft.com/office/drawing/2014/main" id="{45646D11-CF6A-4FB2-8967-B003715C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TRIAL-002 관찰 시작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18196F59-DFE0-4773-9C76-B58D3C01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먼저 무엇을 하는지 보자">
            <a:extLst xmlns:a="http://schemas.openxmlformats.org/drawingml/2006/main">
              <a:ext uri="{FF2B5EF4-FFF2-40B4-BE49-F238E27FC236}">
                <a16:creationId xmlns:a16="http://schemas.microsoft.com/office/drawing/2014/main" id="{A1F9B03D-CF03-4E34-9697-AAFA386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무엇을 하는지 보자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897ED-66F3-4546-B1E7-3D6C456D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관찰 기준 · 2026-09-28 · Codex CLI 0.154.0 · macOS">
            <a:extLst xmlns:a="http://schemas.openxmlformats.org/drawingml/2006/main">
              <a:ext uri="{FF2B5EF4-FFF2-40B4-BE49-F238E27FC236}">
                <a16:creationId xmlns:a16="http://schemas.microsoft.com/office/drawing/2014/main" id="{DAD77C4F-204B-4B63-8C54-AB759EFE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관찰 기준 · 2026-09-28 · Codex CLI 0.154.0 · macOS</a:t>
            </a:r>
          </a:p>
        </p:txBody>
      </p:sp>
      <p:sp>
        <p:nvSpPr>
          <p:cNvPr id="6" name="단일 과거 CLI 기록을 살펴봅니다. 현재 Desktop 실행이나 반복성을 입증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C2FD4F35-A5BE-4D0A-AF1B-4F2D11AA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단일 과거 CLI 기록을 살펴봅니다. 현재 Desktop 실행이나 반복성을 입증하지 않습니다.</a:t>
            </a:r>
          </a:p>
        </p:txBody>
      </p:sp>
      <p:sp>
        <p:nvSpPr>
          <p:cNvPr id="7" name="“실제 기록에서는 수정 전에 무엇을 했을까?”">
            <a:extLst xmlns:a="http://schemas.openxmlformats.org/drawingml/2006/main">
              <a:ext uri="{FF2B5EF4-FFF2-40B4-BE49-F238E27FC236}">
                <a16:creationId xmlns:a16="http://schemas.microsoft.com/office/drawing/2014/main" id="{7FA996BB-B526-4779-AE77-D94BCE0A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“실제 기록에서는 수정 전에 무엇을 했을까?”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1EC45237-9608-46D2-B0CD-BAF26F5E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재현">
            <a:extLst xmlns:a="http://schemas.openxmlformats.org/drawingml/2006/main">
              <a:ext uri="{FF2B5EF4-FFF2-40B4-BE49-F238E27FC236}">
                <a16:creationId xmlns:a16="http://schemas.microsoft.com/office/drawing/2014/main" id="{B81BFDC1-CA0B-41E5-A2E2-08ECD32C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</a:t>
            </a:r>
          </a:p>
        </p:txBody>
      </p:sp>
      <p:sp>
        <p:nvSpPr>
          <p:cNvPr id="10" name="실패 확인">
            <a:extLst xmlns:a="http://schemas.openxmlformats.org/drawingml/2006/main">
              <a:ext uri="{FF2B5EF4-FFF2-40B4-BE49-F238E27FC236}">
                <a16:creationId xmlns:a16="http://schemas.microsoft.com/office/drawing/2014/main" id="{EBA97857-B2BB-4A76-B9C5-3B01DA1D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실패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82DC4-3F20-4F75-A3A6-0495CF15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77381806-2110-4C67-B851-6E79B22B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조사">
            <a:extLst xmlns:a="http://schemas.openxmlformats.org/drawingml/2006/main">
              <a:ext uri="{FF2B5EF4-FFF2-40B4-BE49-F238E27FC236}">
                <a16:creationId xmlns:a16="http://schemas.microsoft.com/office/drawing/2014/main" id="{29CCFDF3-5614-446A-8918-5CE10E15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14" name="근거 연결">
            <a:extLst xmlns:a="http://schemas.openxmlformats.org/drawingml/2006/main">
              <a:ext uri="{FF2B5EF4-FFF2-40B4-BE49-F238E27FC236}">
                <a16:creationId xmlns:a16="http://schemas.microsoft.com/office/drawing/2014/main" id="{1DA534F6-A1A9-437A-A178-745DC018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근거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85FEDD-36AE-44AC-AFEC-0F3F791A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0DD80ACF-C502-4738-9411-E3617085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계획">
            <a:extLst xmlns:a="http://schemas.openxmlformats.org/drawingml/2006/main">
              <a:ext uri="{FF2B5EF4-FFF2-40B4-BE49-F238E27FC236}">
                <a16:creationId xmlns:a16="http://schemas.microsoft.com/office/drawing/2014/main" id="{E7993546-39D3-4972-9529-5703EC10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계획</a:t>
            </a:r>
          </a:p>
        </p:txBody>
      </p:sp>
      <p:sp>
        <p:nvSpPr>
          <p:cNvPr id="18" name="수정 전 설명">
            <a:extLst xmlns:a="http://schemas.openxmlformats.org/drawingml/2006/main">
              <a:ext uri="{FF2B5EF4-FFF2-40B4-BE49-F238E27FC236}">
                <a16:creationId xmlns:a16="http://schemas.microsoft.com/office/drawing/2014/main" id="{9829E479-FB1E-45D3-87F3-D2AA8270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전 설명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F6B57E-A509-4F44-9865-DA777A7E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7BBA43E7-4DBD-4569-9220-F1254B3A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수정">
            <a:extLst xmlns:a="http://schemas.openxmlformats.org/drawingml/2006/main">
              <a:ext uri="{FF2B5EF4-FFF2-40B4-BE49-F238E27FC236}">
                <a16:creationId xmlns:a16="http://schemas.microsoft.com/office/drawing/2014/main" id="{B7A1B3B5-55C7-4F83-A3E3-A069C237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22" name="최소 변경">
            <a:extLst xmlns:a="http://schemas.openxmlformats.org/drawingml/2006/main">
              <a:ext uri="{FF2B5EF4-FFF2-40B4-BE49-F238E27FC236}">
                <a16:creationId xmlns:a16="http://schemas.microsoft.com/office/drawing/2014/main" id="{A9DCBA82-A718-408D-8001-96244CB3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최소 변경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C87606-DDD8-4AD7-86DF-10716BCA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4" name="05">
            <a:extLst xmlns:a="http://schemas.openxmlformats.org/drawingml/2006/main">
              <a:ext uri="{FF2B5EF4-FFF2-40B4-BE49-F238E27FC236}">
                <a16:creationId xmlns:a16="http://schemas.microsoft.com/office/drawing/2014/main" id="{DE79179D-1F85-4E06-8A69-0172E2D8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검증">
            <a:extLst xmlns:a="http://schemas.openxmlformats.org/drawingml/2006/main">
              <a:ext uri="{FF2B5EF4-FFF2-40B4-BE49-F238E27FC236}">
                <a16:creationId xmlns:a16="http://schemas.microsoft.com/office/drawing/2014/main" id="{22956471-A178-4A77-8C5D-FAD71E31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6" name="결과 확인">
            <a:extLst xmlns:a="http://schemas.openxmlformats.org/drawingml/2006/main">
              <a:ext uri="{FF2B5EF4-FFF2-40B4-BE49-F238E27FC236}">
                <a16:creationId xmlns:a16="http://schemas.microsoft.com/office/drawing/2014/main" id="{B91DF4C8-CE9D-462D-AFB1-947BAC65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결과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7B8FEF-01A9-4348-A7B8-38A6F836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다음 두 장에서 TRIAL-002의 요청 흐름과 행동을 대조한다.">
            <a:extLst xmlns:a="http://schemas.openxmlformats.org/drawingml/2006/main">
              <a:ext uri="{FF2B5EF4-FFF2-40B4-BE49-F238E27FC236}">
                <a16:creationId xmlns:a16="http://schemas.microsoft.com/office/drawing/2014/main" id="{E65EF022-E60D-4EC0-B774-6276EA6D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두 장에서 TRIAL-002의 요청 흐름과 행동을 대조한다.</a:t>
            </a:r>
          </a:p>
        </p:txBody>
      </p:sp>
    </p:spTree>
    <p:extLst>
      <p:ext uri="{BB962C8B-B14F-4D97-AF65-F5344CB8AC3E}">
        <p14:creationId xmlns:p14="http://schemas.microsoft.com/office/powerpoint/2010/main" val="5856483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1 · 계약을 보존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1BC4B489-1161-4A60-AB41-35A1C1A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계약을 보존하는 최소 변경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CC30F6AD-0263-45C5-89D7-0A01A993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8BB1FF70-4B6A-4349-B3C7-AD8292F3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0A50C-A777-491A-A773-BE07F66E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· STATE-00 → STATE-00-FIXED · 실제 diff를 재구성한 도식">
            <a:extLst xmlns:a="http://schemas.openxmlformats.org/drawingml/2006/main">
              <a:ext uri="{FF2B5EF4-FFF2-40B4-BE49-F238E27FC236}">
                <a16:creationId xmlns:a16="http://schemas.microsoft.com/office/drawing/2014/main" id="{62C20066-94E8-454D-9B68-808ED676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· STATE-00 → STATE-00-FIXED · 실제 diff를 재구성한 도식</a:t>
            </a:r>
          </a:p>
        </p:txBody>
      </p:sp>
      <p:sp>
        <p:nvSpPr>
          <p:cNvPr id="6" name="src/graypipe/transform.py · 단일 CLI 기록 · 실제 터미널 화면이 아님">
            <a:extLst xmlns:a="http://schemas.openxmlformats.org/drawingml/2006/main">
              <a:ext uri="{FF2B5EF4-FFF2-40B4-BE49-F238E27FC236}">
                <a16:creationId xmlns:a16="http://schemas.microsoft.com/office/drawing/2014/main" id="{8CCC9076-9B6B-48E7-810A-A55CACFE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src/graypipe/transform.py · 단일 CLI 기록 · 실제 터미널 화면이 아님</a:t>
            </a:r>
          </a:p>
        </p:txBody>
      </p:sp>
      <p:sp>
        <p:nvSpPr>
          <p:cNvPr id="7" name="실패 테스트 → 호출 경로 → 계약 확인 → 수정 전 계획">
            <a:extLst xmlns:a="http://schemas.openxmlformats.org/drawingml/2006/main">
              <a:ext uri="{FF2B5EF4-FFF2-40B4-BE49-F238E27FC236}">
                <a16:creationId xmlns:a16="http://schemas.microsoft.com/office/drawing/2014/main" id="{08E4A855-BF6C-428C-A893-048A8464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실패 테스트 → 호출 경로 → 계약 확인 → 수정 전 계획</a:t>
            </a:r>
          </a:p>
        </p:txBody>
      </p:sp>
      <p:sp>
        <p:nvSpPr>
          <p:cNvPr id="8" name="끝 좌표를 제외한다: [x_start, x_end)">
            <a:extLst xmlns:a="http://schemas.openxmlformats.org/drawingml/2006/main">
              <a:ext uri="{FF2B5EF4-FFF2-40B4-BE49-F238E27FC236}">
                <a16:creationId xmlns:a16="http://schemas.microsoft.com/office/drawing/2014/main" id="{D2DACC5C-E6AC-4C11-A11E-E1495F34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제외한다: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101F94-264E-4B62-88AC-AC092058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1DFF18-8E18-4BD9-B792-4D756862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E1A019A0-B6F5-4457-83E1-89073E96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0A20B48C-178A-4743-9CAC-CAE19ECB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EEA728C4-618D-4F7A-9A5D-5F6161C6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AABC4FBB-51BE-4AF0-9DBD-4945FFA9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5FEBB9-2987-4410-A254-D7440A77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5516C441-0BCD-4D35-8E03-7C6EAA3A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계약대로 너비 2">
            <a:extLst xmlns:a="http://schemas.openxmlformats.org/drawingml/2006/main">
              <a:ext uri="{FF2B5EF4-FFF2-40B4-BE49-F238E27FC236}">
                <a16:creationId xmlns:a16="http://schemas.microsoft.com/office/drawing/2014/main" id="{9D38B991-3701-47F2-90D7-D0838FAD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계약대로 너비 2</a:t>
            </a:r>
          </a:p>
        </p:txBody>
      </p:sp>
    </p:spTree>
    <p:extLst>
      <p:ext uri="{BB962C8B-B14F-4D97-AF65-F5344CB8AC3E}">
        <p14:creationId xmlns:p14="http://schemas.microsoft.com/office/powerpoint/2010/main" val="20800430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1 · 수정 뒤 확인한 것">
            <a:extLst xmlns:a="http://schemas.openxmlformats.org/drawingml/2006/main">
              <a:ext uri="{FF2B5EF4-FFF2-40B4-BE49-F238E27FC236}">
                <a16:creationId xmlns:a16="http://schemas.microsoft.com/office/drawing/2014/main" id="{7D1762E0-34B1-4B3D-A554-62AC8A24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수정 뒤 확인한 것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8B396BEB-28E9-46E4-A2F3-2E25CF82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61A1941F-90DC-4ACA-B4DC-526083E3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620C3-0A73-49BA-BD44-1CB3A634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기록 요약 · 단일 Codex CLI 실행 · STATE-00-FIXED">
            <a:extLst xmlns:a="http://schemas.openxmlformats.org/drawingml/2006/main">
              <a:ext uri="{FF2B5EF4-FFF2-40B4-BE49-F238E27FC236}">
                <a16:creationId xmlns:a16="http://schemas.microsoft.com/office/drawing/2014/main" id="{7856B870-595E-4FD8-B0E0-45BF3C37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기록 요약 · 단일 Codex CLI 실행 · STATE-00-FIXED</a:t>
            </a:r>
          </a:p>
        </p:txBody>
      </p:sp>
      <p:sp>
        <p:nvSpPr>
          <p:cNvPr id="6" name="해당 테스트·입력·수정 범위의 확인입니다. 성능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4E6E8645-DBFF-4756-AFB5-5F9D3A54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테스트·입력·수정 범위의 확인입니다. 성능 benchmark는 수행하지 않았습니다.</a:t>
            </a:r>
          </a:p>
        </p:txBody>
      </p:sp>
      <p:sp>
        <p:nvSpPr>
          <p:cNvPr id="7" name="동작 확인">
            <a:extLst xmlns:a="http://schemas.openxmlformats.org/drawingml/2006/main">
              <a:ext uri="{FF2B5EF4-FFF2-40B4-BE49-F238E27FC236}">
                <a16:creationId xmlns:a16="http://schemas.microsoft.com/office/drawing/2014/main" id="{7E05390B-1772-4014-9B4E-47CA7501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4C299-12A0-4508-9A41-37FAED36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3 / 3">
            <a:extLst xmlns:a="http://schemas.openxmlformats.org/drawingml/2006/main">
              <a:ext uri="{FF2B5EF4-FFF2-40B4-BE49-F238E27FC236}">
                <a16:creationId xmlns:a16="http://schemas.microsoft.com/office/drawing/2014/main" id="{25E0B36D-DE1F-4648-A3E4-3F6E2CFC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0" name="crop 집중 테스트">
            <a:extLst xmlns:a="http://schemas.openxmlformats.org/drawingml/2006/main">
              <a:ext uri="{FF2B5EF4-FFF2-40B4-BE49-F238E27FC236}">
                <a16:creationId xmlns:a16="http://schemas.microsoft.com/office/drawing/2014/main" id="{936FC057-0776-4C14-9D62-4E680BB0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집중 테스트</a:t>
            </a:r>
          </a:p>
        </p:txBody>
      </p:sp>
      <p:sp>
        <p:nvSpPr>
          <p:cNvPr id="11" name="전체 suite 11 / 11 통과">
            <a:extLst xmlns:a="http://schemas.openxmlformats.org/drawingml/2006/main">
              <a:ext uri="{FF2B5EF4-FFF2-40B4-BE49-F238E27FC236}">
                <a16:creationId xmlns:a16="http://schemas.microsoft.com/office/drawing/2014/main" id="{B8292FD9-66F4-4017-9671-352DB57C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suite 11 / 11 통과</a:t>
            </a:r>
          </a:p>
        </p:txBody>
      </p:sp>
      <p:sp>
        <p:nvSpPr>
          <p:cNvPr id="12" name="실행 확인">
            <a:extLst xmlns:a="http://schemas.openxmlformats.org/drawingml/2006/main">
              <a:ext uri="{FF2B5EF4-FFF2-40B4-BE49-F238E27FC236}">
                <a16:creationId xmlns:a16="http://schemas.microsoft.com/office/drawing/2014/main" id="{12325681-BD43-4BAC-95F7-21058DEA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5DF939-E29D-4E5B-A07F-28679540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PASS">
            <a:extLst xmlns:a="http://schemas.openxmlformats.org/drawingml/2006/main">
              <a:ext uri="{FF2B5EF4-FFF2-40B4-BE49-F238E27FC236}">
                <a16:creationId xmlns:a16="http://schemas.microsoft.com/office/drawing/2014/main" id="{B453C641-19C7-45F2-8339-0C653E0C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5" name="CLI smoke">
            <a:extLst xmlns:a="http://schemas.openxmlformats.org/drawingml/2006/main">
              <a:ext uri="{FF2B5EF4-FFF2-40B4-BE49-F238E27FC236}">
                <a16:creationId xmlns:a16="http://schemas.microsoft.com/office/drawing/2014/main" id="{93C1D8FC-FAB3-464C-A5AD-3C5B805B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6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3E80507B-C7DC-4458-BF1E-177BDE67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7" name="범위 확인">
            <a:extLst xmlns:a="http://schemas.openxmlformats.org/drawingml/2006/main">
              <a:ext uri="{FF2B5EF4-FFF2-40B4-BE49-F238E27FC236}">
                <a16:creationId xmlns:a16="http://schemas.microsoft.com/office/drawing/2014/main" id="{84EBE7FB-3D50-4601-AA5D-AD7AE068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A9D83-55AC-4221-A2B4-5CB12EAC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1줄">
            <a:extLst xmlns:a="http://schemas.openxmlformats.org/drawingml/2006/main">
              <a:ext uri="{FF2B5EF4-FFF2-40B4-BE49-F238E27FC236}">
                <a16:creationId xmlns:a16="http://schemas.microsoft.com/office/drawing/2014/main" id="{A203E7CB-305B-4E1B-BA71-3A6658D3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0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47312F0E-865C-4DDE-8FB3-DC2A52FA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1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6FA2FBFA-A77E-4D0F-A7D7-4F11E9F7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</p:spTree>
    <p:extLst>
      <p:ext uri="{BB962C8B-B14F-4D97-AF65-F5344CB8AC3E}">
        <p14:creationId xmlns:p14="http://schemas.microsoft.com/office/powerpoint/2010/main" val="15880770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1 · 생성 뒤에 남는 판단">
            <a:extLst xmlns:a="http://schemas.openxmlformats.org/drawingml/2006/main">
              <a:ext uri="{FF2B5EF4-FFF2-40B4-BE49-F238E27FC236}">
                <a16:creationId xmlns:a16="http://schemas.microsoft.com/office/drawing/2014/main" id="{A89AF02E-DDC9-43B0-BF0E-1ACDB845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생성 뒤에 남는 판단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4593F537-2679-4A93-888A-1D5B04D0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BCF15620-FFCC-434D-B953-00DF8788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A4CA7-B9E2-4612-93BC-C1E69B4D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 모델 · 관찰 예: TRIAL-002에서 테스트·CLI·diff를 확인">
            <a:extLst xmlns:a="http://schemas.openxmlformats.org/drawingml/2006/main">
              <a:ext uri="{FF2B5EF4-FFF2-40B4-BE49-F238E27FC236}">
                <a16:creationId xmlns:a16="http://schemas.microsoft.com/office/drawing/2014/main" id="{4AF7B1B3-F393-4198-BA28-277CD525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 모델 · 관찰 예: TRIAL-002에서 테스트·CLI·diff를 확인</a:t>
            </a:r>
          </a:p>
        </p:txBody>
      </p:sp>
      <p:sp>
        <p:nvSpPr>
          <p:cNvPr id="6" name="검사는 주장과 위험에 맞춰 선택합니다. TRIAL-002에서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3C1356F2-612C-4560-8043-0FD4CD59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검사는 주장과 위험에 맞춰 선택합니다. TRIAL-002에서 benchmark는 수행하지 않았습니다.</a:t>
            </a:r>
          </a:p>
        </p:txBody>
      </p:sp>
      <p:sp>
        <p:nvSpPr>
          <p:cNvPr id="7" name="코드가 나왔다">
            <a:extLst xmlns:a="http://schemas.openxmlformats.org/drawingml/2006/main">
              <a:ext uri="{FF2B5EF4-FFF2-40B4-BE49-F238E27FC236}">
                <a16:creationId xmlns:a16="http://schemas.microsoft.com/office/drawing/2014/main" id="{80C36702-BF95-4C24-BE65-347CE7D3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3619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코드가 나왔다</a:t>
            </a:r>
          </a:p>
        </p:txBody>
      </p:sp>
      <p:sp>
        <p:nvSpPr>
          <p:cNvPr id="8" name="완료라고 말할 수 있나?">
            <a:extLst xmlns:a="http://schemas.openxmlformats.org/drawingml/2006/main">
              <a:ext uri="{FF2B5EF4-FFF2-40B4-BE49-F238E27FC236}">
                <a16:creationId xmlns:a16="http://schemas.microsoft.com/office/drawing/2014/main" id="{EEB9139C-6BEB-4E87-A20F-2B21168C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5257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완료라고 말할 수 있나?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95835-0024-47B8-8322-72AF0E7F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9555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97585-B439-4DE1-B209-05132F19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동작 테스트">
            <a:extLst xmlns:a="http://schemas.openxmlformats.org/drawingml/2006/main">
              <a:ext uri="{FF2B5EF4-FFF2-40B4-BE49-F238E27FC236}">
                <a16:creationId xmlns:a16="http://schemas.microsoft.com/office/drawing/2014/main" id="{E4EE06FF-FFFF-4E8D-9EA1-A33B259F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테스트</a:t>
            </a:r>
          </a:p>
        </p:txBody>
      </p:sp>
      <p:sp>
        <p:nvSpPr>
          <p:cNvPr id="12" name="샘플 실행">
            <a:extLst xmlns:a="http://schemas.openxmlformats.org/drawingml/2006/main">
              <a:ext uri="{FF2B5EF4-FFF2-40B4-BE49-F238E27FC236}">
                <a16:creationId xmlns:a16="http://schemas.microsoft.com/office/drawing/2014/main" id="{65915123-E171-4974-A637-431C8A92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실행</a:t>
            </a:r>
          </a:p>
        </p:txBody>
      </p:sp>
      <p:sp>
        <p:nvSpPr>
          <p:cNvPr id="13" name="변경 검토">
            <a:extLst xmlns:a="http://schemas.openxmlformats.org/drawingml/2006/main">
              <a:ext uri="{FF2B5EF4-FFF2-40B4-BE49-F238E27FC236}">
                <a16:creationId xmlns:a16="http://schemas.microsoft.com/office/drawing/2014/main" id="{04BB87AB-7C21-4D64-9669-7272935D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8AA25-47EB-4972-BA5A-0AAD7813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“더 빨라졌다”고 말하려면 → 해당 조건의 성능 측정도 필요">
            <a:extLst xmlns:a="http://schemas.openxmlformats.org/drawingml/2006/main">
              <a:ext uri="{FF2B5EF4-FFF2-40B4-BE49-F238E27FC236}">
                <a16:creationId xmlns:a16="http://schemas.microsoft.com/office/drawing/2014/main" id="{006AAE5C-0ADD-4519-946E-9E0738F0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“더 빨라졌다”고 말하려면 → 해당 조건의 성능 측정도 필요</a:t>
            </a:r>
          </a:p>
        </p:txBody>
      </p:sp>
    </p:spTree>
    <p:extLst>
      <p:ext uri="{BB962C8B-B14F-4D97-AF65-F5344CB8AC3E}">
        <p14:creationId xmlns:p14="http://schemas.microsoft.com/office/powerpoint/2010/main" val="10423509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근거에 맞춰 말하기">
            <a:extLst xmlns:a="http://schemas.openxmlformats.org/drawingml/2006/main">
              <a:ext uri="{FF2B5EF4-FFF2-40B4-BE49-F238E27FC236}">
                <a16:creationId xmlns:a16="http://schemas.microsoft.com/office/drawing/2014/main" id="{7CDC9967-4CFA-443D-8127-58896B02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근거에 맞춰 말하기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802F09C8-F33A-4D85-82B6-45B3889B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Check마다 확인하는 범위">
            <a:extLst xmlns:a="http://schemas.openxmlformats.org/drawingml/2006/main">
              <a:ext uri="{FF2B5EF4-FFF2-40B4-BE49-F238E27FC236}">
                <a16:creationId xmlns:a16="http://schemas.microsoft.com/office/drawing/2014/main" id="{49F21A1C-CA73-43E7-9FAB-2CB8ED4A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Check마다 확인하는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42BEC-B52C-4C2A-A4F8-946E1531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 모델 · TRIAL-002 실제 확인: 집중·전체 테스트 / CLI smoke / diff">
            <a:extLst xmlns:a="http://schemas.openxmlformats.org/drawingml/2006/main">
              <a:ext uri="{FF2B5EF4-FFF2-40B4-BE49-F238E27FC236}">
                <a16:creationId xmlns:a16="http://schemas.microsoft.com/office/drawing/2014/main" id="{1F52D9E3-CFC7-43BA-945D-0B74C6FC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 모델 · TRIAL-002 실제 확인: 집중·전체 테스트 / CLI smoke / diff</a:t>
            </a:r>
          </a:p>
        </p:txBody>
      </p:sp>
      <p:sp>
        <p:nvSpPr>
          <p:cNvPr id="6" name="Benchmark는 이 Trial에서 미실행. C++ 적용은 도구 사용법이 아닌 검증 범위의 예시입니다.">
            <a:extLst xmlns:a="http://schemas.openxmlformats.org/drawingml/2006/main">
              <a:ext uri="{FF2B5EF4-FFF2-40B4-BE49-F238E27FC236}">
                <a16:creationId xmlns:a16="http://schemas.microsoft.com/office/drawing/2014/main" id="{A4DDDB03-6A9E-4C06-8D35-BE4DD356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Benchmark는 이 Trial에서 미실행. C++ 적용은 도구 사용법이 아닌 검증 범위의 예시입니다.</a:t>
            </a:r>
          </a:p>
        </p:txBody>
      </p:sp>
      <p:sp>
        <p:nvSpPr>
          <p:cNvPr id="7" name="확인 방법">
            <a:extLst xmlns:a="http://schemas.openxmlformats.org/drawingml/2006/main">
              <a:ext uri="{FF2B5EF4-FFF2-40B4-BE49-F238E27FC236}">
                <a16:creationId xmlns:a16="http://schemas.microsoft.com/office/drawing/2014/main" id="{464FC4FE-82DF-4D0D-87F0-6CDB023F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방법</a:t>
            </a:r>
          </a:p>
        </p:txBody>
      </p:sp>
      <p:sp>
        <p:nvSpPr>
          <p:cNvPr id="8" name="말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58B994A4-9F3D-4061-87F3-E631F208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720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말할 수 있는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F9ED45-383D-4E25-9642-44F444C1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집중 테스트">
            <a:extLst xmlns:a="http://schemas.openxmlformats.org/drawingml/2006/main">
              <a:ext uri="{FF2B5EF4-FFF2-40B4-BE49-F238E27FC236}">
                <a16:creationId xmlns:a16="http://schemas.microsoft.com/office/drawing/2014/main" id="{624D3EC2-DDF1-4900-BC0D-DAFF8DE1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집중 테스트</a:t>
            </a:r>
          </a:p>
        </p:txBody>
      </p:sp>
      <p:sp>
        <p:nvSpPr>
          <p:cNvPr id="11" name="바뀐 동작의 해당 테스트 조건">
            <a:extLst xmlns:a="http://schemas.openxmlformats.org/drawingml/2006/main">
              <a:ext uri="{FF2B5EF4-FFF2-40B4-BE49-F238E27FC236}">
                <a16:creationId xmlns:a16="http://schemas.microsoft.com/office/drawing/2014/main" id="{D2E0D157-6B2F-4F95-85A1-DF818FA8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2890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동작의 해당 테스트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F36831-CC1A-4444-AC24-0FB90490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11E1A29F-CE5A-4EED-BC1E-57953A14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4" name="현재 suite에 담긴 회귀 범위">
            <a:extLst xmlns:a="http://schemas.openxmlformats.org/drawingml/2006/main">
              <a:ext uri="{FF2B5EF4-FFF2-40B4-BE49-F238E27FC236}">
                <a16:creationId xmlns:a16="http://schemas.microsoft.com/office/drawing/2014/main" id="{96881216-F9D2-4ED2-A802-F511CEFF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33725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suite에 담긴 회귀 범위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41FF84-26E0-4A30-8283-5595DC16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smoke">
            <a:extLst xmlns:a="http://schemas.openxmlformats.org/drawingml/2006/main">
              <a:ext uri="{FF2B5EF4-FFF2-40B4-BE49-F238E27FC236}">
                <a16:creationId xmlns:a16="http://schemas.microsoft.com/office/drawing/2014/main" id="{9F6B549F-74EA-4D82-B86A-51C44CF3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7" name="샘플 입력의 통합 실행 경로">
            <a:extLst xmlns:a="http://schemas.openxmlformats.org/drawingml/2006/main">
              <a:ext uri="{FF2B5EF4-FFF2-40B4-BE49-F238E27FC236}">
                <a16:creationId xmlns:a16="http://schemas.microsoft.com/office/drawing/2014/main" id="{57E84A93-07DF-42B2-8E38-FB20E147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입력의 통합 실행 경로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32B05-DC0A-436D-9F30-C7F95286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diff 검토">
            <a:extLst xmlns:a="http://schemas.openxmlformats.org/drawingml/2006/main">
              <a:ext uri="{FF2B5EF4-FFF2-40B4-BE49-F238E27FC236}">
                <a16:creationId xmlns:a16="http://schemas.microsoft.com/office/drawing/2014/main" id="{3C802802-BB2A-445D-89D7-0F005795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diff 검토</a:t>
            </a:r>
          </a:p>
        </p:txBody>
      </p:sp>
      <p:sp>
        <p:nvSpPr>
          <p:cNvPr id="20" name="변경 범위와 의도하지 않은 수정">
            <a:extLst xmlns:a="http://schemas.openxmlformats.org/drawingml/2006/main">
              <a:ext uri="{FF2B5EF4-FFF2-40B4-BE49-F238E27FC236}">
                <a16:creationId xmlns:a16="http://schemas.microsoft.com/office/drawing/2014/main" id="{457BC780-256D-4887-A9CF-0A82EC2E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43375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범위와 의도하지 않은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ED94E-73F2-411F-9DE4-BBB11270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C8C24052-2894-4B3D-9D73-50427703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23" name="측정한 입력·환경에서의 성능">
            <a:extLst xmlns:a="http://schemas.openxmlformats.org/drawingml/2006/main">
              <a:ext uri="{FF2B5EF4-FFF2-40B4-BE49-F238E27FC236}">
                <a16:creationId xmlns:a16="http://schemas.microsoft.com/office/drawing/2014/main" id="{73B88E36-F505-4C24-9D87-F531E873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64820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측정한 입력·환경에서의 성능</a:t>
            </a:r>
          </a:p>
        </p:txBody>
      </p:sp>
      <p:sp>
        <p:nvSpPr>
          <p:cNvPr id="24" name="C++에서도: Release 실행·API/ABI·대상 데이터에 맞춰 근거를 고른다.">
            <a:extLst xmlns:a="http://schemas.openxmlformats.org/drawingml/2006/main">
              <a:ext uri="{FF2B5EF4-FFF2-40B4-BE49-F238E27FC236}">
                <a16:creationId xmlns:a16="http://schemas.microsoft.com/office/drawing/2014/main" id="{AD43DF97-DE39-49A7-A97A-E739A101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C++에서도: Release 실행·API/ABI·대상 데이터에 맞춰 근거를 고른다.</a:t>
            </a:r>
          </a:p>
        </p:txBody>
      </p:sp>
    </p:spTree>
    <p:extLst>
      <p:ext uri="{BB962C8B-B14F-4D97-AF65-F5344CB8AC3E}">
        <p14:creationId xmlns:p14="http://schemas.microsoft.com/office/powerpoint/2010/main" val="10918523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1 · 반복해서 쓰는 정보 돌아보기">
            <a:extLst xmlns:a="http://schemas.openxmlformats.org/drawingml/2006/main">
              <a:ext uri="{FF2B5EF4-FFF2-40B4-BE49-F238E27FC236}">
                <a16:creationId xmlns:a16="http://schemas.microsoft.com/office/drawing/2014/main" id="{9CDCFC06-6037-4305-8FF3-1CB13EE6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반복해서 쓰는 정보 돌아보기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F1A295CF-117E-456E-B843-CC2A8617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이번 Task인가,&#10;계속 유지할 Project 정보인가?">
            <a:extLst xmlns:a="http://schemas.openxmlformats.org/drawingml/2006/main">
              <a:ext uri="{FF2B5EF4-FFF2-40B4-BE49-F238E27FC236}">
                <a16:creationId xmlns:a16="http://schemas.microsoft.com/office/drawing/2014/main" id="{418E9164-AB68-4F96-B480-F08A6F48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Task인가,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유지할 Project 정보인가?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64E59-C651-4157-B910-DD400DB7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생각해 보기 · 이 과정의 교육 모델">
            <a:extLst xmlns:a="http://schemas.openxmlformats.org/drawingml/2006/main">
              <a:ext uri="{FF2B5EF4-FFF2-40B4-BE49-F238E27FC236}">
                <a16:creationId xmlns:a16="http://schemas.microsoft.com/office/drawing/2014/main" id="{515CAFBF-35E6-472A-AB56-3874EF68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생각해 보기 · 이 과정의 교육 모델</a:t>
            </a:r>
          </a:p>
        </p:txBody>
      </p:sp>
      <p:sp>
        <p:nvSpPr>
          <p:cNvPr id="6" name="1분 동안 개인적으로 생각한 뒤 2분간 자발적인 질문을 받습니다.">
            <a:extLst xmlns:a="http://schemas.openxmlformats.org/drawingml/2006/main">
              <a:ext uri="{FF2B5EF4-FFF2-40B4-BE49-F238E27FC236}">
                <a16:creationId xmlns:a16="http://schemas.microsoft.com/office/drawing/2014/main" id="{B3FFD2D1-24FE-472E-976C-73D63EAC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1분 동안 개인적으로 생각한 뒤 2분간 자발적인 질문을 받습니다.</a:t>
            </a:r>
          </a:p>
        </p:txBody>
      </p:sp>
      <p:sp>
        <p:nvSpPr>
          <p:cNvPr id="7" name="테스트·보존 조건처럼, 반복해서 쓴 문장을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B4A9DF9B-1373-444B-8AA5-CD9B839C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테스트·보존 조건처럼, 반복해서 쓴 문장을 떠올려 보세요.</a:t>
            </a:r>
          </a:p>
        </p:txBody>
      </p:sp>
      <p:sp>
        <p:nvSpPr>
          <p:cNvPr id="8" name="이번 작업에만?">
            <a:extLst xmlns:a="http://schemas.openxmlformats.org/drawingml/2006/main">
              <a:ext uri="{FF2B5EF4-FFF2-40B4-BE49-F238E27FC236}">
                <a16:creationId xmlns:a16="http://schemas.microsoft.com/office/drawing/2014/main" id="{95349CC9-A995-491B-878C-D89A320B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5162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작업에만?</a:t>
            </a:r>
          </a:p>
        </p:txBody>
      </p:sp>
      <p:sp>
        <p:nvSpPr>
          <p:cNvPr id="9" name="다음 작업에도?">
            <a:extLst xmlns:a="http://schemas.openxmlformats.org/drawingml/2006/main">
              <a:ext uri="{FF2B5EF4-FFF2-40B4-BE49-F238E27FC236}">
                <a16:creationId xmlns:a16="http://schemas.microsoft.com/office/drawing/2014/main" id="{BD9C4970-6606-41C4-B5C3-C082C313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4876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44060-CC72-4C8E-808D-712D4736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5162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6AF625-6FCC-45DF-A1DD-B0395CDD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9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어떤 정보가 계속 남아 있어야 할까요?">
            <a:extLst xmlns:a="http://schemas.openxmlformats.org/drawingml/2006/main">
              <a:ext uri="{FF2B5EF4-FFF2-40B4-BE49-F238E27FC236}">
                <a16:creationId xmlns:a16="http://schemas.microsoft.com/office/drawing/2014/main" id="{875C2BEE-53A4-4A4B-8C0C-2EE5AA8F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정보가 계속 남아 있어야 할까요?</a:t>
            </a:r>
          </a:p>
        </p:txBody>
      </p:sp>
    </p:spTree>
    <p:extLst>
      <p:ext uri="{BB962C8B-B14F-4D97-AF65-F5344CB8AC3E}">
        <p14:creationId xmlns:p14="http://schemas.microsoft.com/office/powerpoint/2010/main" val="11918145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1 · 정보의 수명과 범위">
            <a:extLst xmlns:a="http://schemas.openxmlformats.org/drawingml/2006/main">
              <a:ext uri="{FF2B5EF4-FFF2-40B4-BE49-F238E27FC236}">
                <a16:creationId xmlns:a16="http://schemas.microsoft.com/office/drawing/2014/main" id="{33667F79-8B42-4AF3-8E1F-EF34DC7D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정보의 수명과 범위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D6D83D6C-F61C-4CDA-A677-A4A0E17B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반복하는 설명을 두 범주로 나누기">
            <a:extLst xmlns:a="http://schemas.openxmlformats.org/drawingml/2006/main">
              <a:ext uri="{FF2B5EF4-FFF2-40B4-BE49-F238E27FC236}">
                <a16:creationId xmlns:a16="http://schemas.microsoft.com/office/drawing/2014/main" id="{47FBFEDF-1B55-4A52-99D6-78CC8BC5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반복하는 설명을 두 범주로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D6629-41F9-4A36-9AF4-5E0EA4AE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후보 예시 · 모든 프로젝트에 적용되는 유일한 분류가 아님">
            <a:extLst xmlns:a="http://schemas.openxmlformats.org/drawingml/2006/main">
              <a:ext uri="{FF2B5EF4-FFF2-40B4-BE49-F238E27FC236}">
                <a16:creationId xmlns:a16="http://schemas.microsoft.com/office/drawing/2014/main" id="{81E485BD-9BF0-4622-9453-27EE6697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후보 예시 · 모든 프로젝트에 적용되는 유일한 분류가 아님</a:t>
            </a:r>
          </a:p>
        </p:txBody>
      </p:sp>
      <p:sp>
        <p:nvSpPr>
          <p:cNvPr id="6" name="다음 질문: Project 정보를 왜 매번 Prompt에 다시 적고 있을까요?">
            <a:extLst xmlns:a="http://schemas.openxmlformats.org/drawingml/2006/main">
              <a:ext uri="{FF2B5EF4-FFF2-40B4-BE49-F238E27FC236}">
                <a16:creationId xmlns:a16="http://schemas.microsoft.com/office/drawing/2014/main" id="{6065CFF1-2560-4200-A7C7-40DA3679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질문: Project 정보를 왜 매번 Prompt에 다시 적고 있을까요?</a:t>
            </a:r>
          </a:p>
        </p:txBody>
      </p:sp>
      <p:sp>
        <p:nvSpPr>
          <p:cNvPr id="7" name="이번 Task">
            <a:extLst xmlns:a="http://schemas.openxmlformats.org/drawingml/2006/main">
              <a:ext uri="{FF2B5EF4-FFF2-40B4-BE49-F238E27FC236}">
                <a16:creationId xmlns:a16="http://schemas.microsoft.com/office/drawing/2014/main" id="{CCFCDD55-B5F7-4513-99C6-B5607158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62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8" name="계속 유지할 Project 정보">
            <a:extLst xmlns:a="http://schemas.openxmlformats.org/drawingml/2006/main">
              <a:ext uri="{FF2B5EF4-FFF2-40B4-BE49-F238E27FC236}">
                <a16:creationId xmlns:a16="http://schemas.microsoft.com/office/drawing/2014/main" id="{2684B2BF-46E9-4F22-A843-70F06CF9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유지할 Project 정보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28778-97FC-4C04-88A3-5D9B34B3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1625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수정&#10;이번에는 README만 수정">
            <a:extLst xmlns:a="http://schemas.openxmlformats.org/drawingml/2006/main">
              <a:ext uri="{FF2B5EF4-FFF2-40B4-BE49-F238E27FC236}">
                <a16:creationId xmlns:a16="http://schemas.microsoft.com/office/drawing/2014/main" id="{987B9A2A-4759-4441-B9E4-876747C4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47815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수정</a:t>
            </a:r>
          </a:p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수정</a:t>
            </a:r>
          </a:p>
        </p:txBody>
      </p:sp>
      <p:sp>
        <p:nvSpPr>
          <p:cNvPr id="11" name="이번 목표에 적용할 후보">
            <a:extLst xmlns:a="http://schemas.openxmlformats.org/drawingml/2006/main">
              <a:ext uri="{FF2B5EF4-FFF2-40B4-BE49-F238E27FC236}">
                <a16:creationId xmlns:a16="http://schemas.microsoft.com/office/drawing/2014/main" id="{0F243F3D-90E3-45ED-A66E-17F9BB3C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1625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목표에 적용할 후보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24613D-D7BB-4E35-901A-ADE050DE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38450"/>
            <a:ext cx="48768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의존성 추가에는 작업상 근거 필요&#10;프로젝트 테스트 명령">
            <a:extLst xmlns:a="http://schemas.openxmlformats.org/drawingml/2006/main">
              <a:ext uri="{FF2B5EF4-FFF2-40B4-BE49-F238E27FC236}">
                <a16:creationId xmlns:a16="http://schemas.microsoft.com/office/drawing/2014/main" id="{ABAB9602-798B-456A-9440-8BEB61A7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67050"/>
            <a:ext cx="44958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테스트 명령</a:t>
            </a:r>
          </a:p>
        </p:txBody>
      </p:sp>
      <p:sp>
        <p:nvSpPr>
          <p:cNvPr id="14" name="여러 작업에서 참고할 후보">
            <a:extLst xmlns:a="http://schemas.openxmlformats.org/drawingml/2006/main">
              <a:ext uri="{FF2B5EF4-FFF2-40B4-BE49-F238E27FC236}">
                <a16:creationId xmlns:a16="http://schemas.microsoft.com/office/drawing/2014/main" id="{85EBEB73-1C1F-4F5A-A6A0-8CE951A6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0060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작업에서 참고할 후보</a:t>
            </a:r>
          </a:p>
        </p:txBody>
      </p:sp>
      <p:sp>
        <p:nvSpPr>
          <p:cNvPr id="15" name="정보마다 필요한 기간과 적용 범위가 다르다.">
            <a:extLst xmlns:a="http://schemas.openxmlformats.org/drawingml/2006/main">
              <a:ext uri="{FF2B5EF4-FFF2-40B4-BE49-F238E27FC236}">
                <a16:creationId xmlns:a16="http://schemas.microsoft.com/office/drawing/2014/main" id="{6D572F45-D911-43FA-8651-94A407E6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정보마다 필요한 기간과 적용 범위가 다르다.</a:t>
            </a:r>
          </a:p>
        </p:txBody>
      </p:sp>
    </p:spTree>
    <p:extLst>
      <p:ext uri="{BB962C8B-B14F-4D97-AF65-F5344CB8AC3E}">
        <p14:creationId xmlns:p14="http://schemas.microsoft.com/office/powerpoint/2010/main" val="3956513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2026-10-20T01:26:46.2040000Z</dcterms:created>
  <dcterms:modified xsi:type="dcterms:W3CDTF">2026-10-20T01:26:46.2040000Z</dcterms:modified>
</coreProperties>
</file>