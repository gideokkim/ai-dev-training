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8179f1abbd460d" /><Relationship Type="http://schemas.openxmlformats.org/officeDocument/2006/relationships/extended-properties" Target="/docProps/app.xml" Id="Ra35125522a234dd5" /><Relationship Type="http://schemas.openxmlformats.org/officeDocument/2006/relationships/officeDocument" Target="/ppt/presentation.xml" Id="R6dc30b195bbd4de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0298ca966c49e7"/>
  </p:sldMasterIdLst>
  <p:notesMasterIdLst>
    <p:notesMasterId xmlns:r="http://schemas.openxmlformats.org/officeDocument/2006/relationships" r:id="R43999eb3e44c4e1a"/>
  </p:notesMasterIdLst>
  <p:sldIdLst>
    <p:sldId xmlns:r="http://schemas.openxmlformats.org/officeDocument/2006/relationships" id="256" r:id="R4ce1a1229c1740ce"/>
    <p:sldId xmlns:r="http://schemas.openxmlformats.org/officeDocument/2006/relationships" id="257" r:id="R6137b6bc361a487b"/>
    <p:sldId xmlns:r="http://schemas.openxmlformats.org/officeDocument/2006/relationships" id="258" r:id="R5427ebc4ab98413b"/>
    <p:sldId xmlns:r="http://schemas.openxmlformats.org/officeDocument/2006/relationships" id="259" r:id="R56f8065e75cf47cb"/>
    <p:sldId xmlns:r="http://schemas.openxmlformats.org/officeDocument/2006/relationships" id="260" r:id="Rb16b2c70c2434975"/>
    <p:sldId xmlns:r="http://schemas.openxmlformats.org/officeDocument/2006/relationships" id="261" r:id="R6ffb4f09e68049ee"/>
    <p:sldId xmlns:r="http://schemas.openxmlformats.org/officeDocument/2006/relationships" id="262" r:id="R9c9e2c31c8c440da"/>
    <p:sldId xmlns:r="http://schemas.openxmlformats.org/officeDocument/2006/relationships" id="263" r:id="Rb242bf359524494a"/>
    <p:sldId xmlns:r="http://schemas.openxmlformats.org/officeDocument/2006/relationships" id="264" r:id="Rd69fae886317462c"/>
    <p:sldId xmlns:r="http://schemas.openxmlformats.org/officeDocument/2006/relationships" id="265" r:id="R3ddfc18496104e3c"/>
    <p:sldId xmlns:r="http://schemas.openxmlformats.org/officeDocument/2006/relationships" id="266" r:id="Rfc0dfdf2069d4e0c"/>
    <p:sldId xmlns:r="http://schemas.openxmlformats.org/officeDocument/2006/relationships" id="267" r:id="R4a1b7829afd64973"/>
    <p:sldId xmlns:r="http://schemas.openxmlformats.org/officeDocument/2006/relationships" id="268" r:id="Rfc0e634ea94b45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50f60f2253b4f4c" /><Relationship Type="http://schemas.openxmlformats.org/officeDocument/2006/relationships/slideMaster" Target="/ppt/slideMasters/slideMaster1.xml" Id="R7d0298ca966c49e7" /><Relationship Type="http://schemas.openxmlformats.org/officeDocument/2006/relationships/notesMaster" Target="/ppt/notesMasters/notesMaster1.xml" Id="R43999eb3e44c4e1a" /><Relationship Type="http://schemas.openxmlformats.org/officeDocument/2006/relationships/presProps" Target="/ppt/presProps.xml" Id="Raa598ee289824e3a" /><Relationship Type="http://schemas.openxmlformats.org/officeDocument/2006/relationships/tableStyles" Target="/ppt/tableStyles.xml" Id="R2684ebfa874f4ece" /><Relationship Type="http://schemas.openxmlformats.org/officeDocument/2006/relationships/slide" Target="/ppt/slides/slide1.xml" Id="R4ce1a1229c1740ce" /><Relationship Type="http://schemas.openxmlformats.org/officeDocument/2006/relationships/slide" Target="/ppt/slides/slide2.xml" Id="R6137b6bc361a487b" /><Relationship Type="http://schemas.openxmlformats.org/officeDocument/2006/relationships/slide" Target="/ppt/slides/slide3.xml" Id="R5427ebc4ab98413b" /><Relationship Type="http://schemas.openxmlformats.org/officeDocument/2006/relationships/slide" Target="/ppt/slides/slide4.xml" Id="R56f8065e75cf47cb" /><Relationship Type="http://schemas.openxmlformats.org/officeDocument/2006/relationships/slide" Target="/ppt/slides/slide5.xml" Id="Rb16b2c70c2434975" /><Relationship Type="http://schemas.openxmlformats.org/officeDocument/2006/relationships/slide" Target="/ppt/slides/slide6.xml" Id="R6ffb4f09e68049ee" /><Relationship Type="http://schemas.openxmlformats.org/officeDocument/2006/relationships/slide" Target="/ppt/slides/slide7.xml" Id="R9c9e2c31c8c440da" /><Relationship Type="http://schemas.openxmlformats.org/officeDocument/2006/relationships/slide" Target="/ppt/slides/slide8.xml" Id="Rb242bf359524494a" /><Relationship Type="http://schemas.openxmlformats.org/officeDocument/2006/relationships/slide" Target="/ppt/slides/slide9.xml" Id="Rd69fae886317462c" /><Relationship Type="http://schemas.openxmlformats.org/officeDocument/2006/relationships/slide" Target="/ppt/slides/slide10.xml" Id="R3ddfc18496104e3c" /><Relationship Type="http://schemas.openxmlformats.org/officeDocument/2006/relationships/slide" Target="/ppt/slides/slide11.xml" Id="Rfc0dfdf2069d4e0c" /><Relationship Type="http://schemas.openxmlformats.org/officeDocument/2006/relationships/slide" Target="/ppt/slides/slide12.xml" Id="R4a1b7829afd64973" /><Relationship Type="http://schemas.openxmlformats.org/officeDocument/2006/relationships/slide" Target="/ppt/slides/slide13.xml" Id="Rfc0e634ea94b45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9efd92a3e94c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60655399954c12" /><Relationship Type="http://schemas.openxmlformats.org/officeDocument/2006/relationships/notesMaster" Target="/ppt/notesMasters/notesMaster1.xml" Id="Rc9ee8911fb2c45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df7d794907346ab" /><Relationship Type="http://schemas.openxmlformats.org/officeDocument/2006/relationships/notesMaster" Target="/ppt/notesMasters/notesMaster1.xml" Id="Re0e06b5dfac046a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ee7b495d5a741df" /><Relationship Type="http://schemas.openxmlformats.org/officeDocument/2006/relationships/notesMaster" Target="/ppt/notesMasters/notesMaster1.xml" Id="R5f1c0098a68047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e67939cb3f48c0" /><Relationship Type="http://schemas.openxmlformats.org/officeDocument/2006/relationships/notesMaster" Target="/ppt/notesMasters/notesMaster1.xml" Id="Rf7e815e2b9644c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21d37a401614e05" /><Relationship Type="http://schemas.openxmlformats.org/officeDocument/2006/relationships/notesMaster" Target="/ppt/notesMasters/notesMaster1.xml" Id="Rd1648f9b8e554d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00bcf9a58f4459" /><Relationship Type="http://schemas.openxmlformats.org/officeDocument/2006/relationships/notesMaster" Target="/ppt/notesMasters/notesMaster1.xml" Id="Rcd2caeb55a2042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f2d7556f0d42a5" /><Relationship Type="http://schemas.openxmlformats.org/officeDocument/2006/relationships/notesMaster" Target="/ppt/notesMasters/notesMaster1.xml" Id="R8707aa7b853b49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d6be5b780784dab" /><Relationship Type="http://schemas.openxmlformats.org/officeDocument/2006/relationships/notesMaster" Target="/ppt/notesMasters/notesMaster1.xml" Id="Rfae1de4fd64d4a5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7fff75a82854b47" /><Relationship Type="http://schemas.openxmlformats.org/officeDocument/2006/relationships/notesMaster" Target="/ppt/notesMasters/notesMaster1.xml" Id="R3b4e3ba3c30246e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a653f56b1e44920" /><Relationship Type="http://schemas.openxmlformats.org/officeDocument/2006/relationships/notesMaster" Target="/ppt/notesMasters/notesMaster1.xml" Id="R616b7f4913c648a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4b0032f7be14089" /><Relationship Type="http://schemas.openxmlformats.org/officeDocument/2006/relationships/notesMaster" Target="/ppt/notesMasters/notesMaster1.xml" Id="Re2305d236861454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486ad229e6540b2" /><Relationship Type="http://schemas.openxmlformats.org/officeDocument/2006/relationships/notesMaster" Target="/ppt/notesMasters/notesMaster1.xml" Id="Rd7c4d7b5a7d64e2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a41326a74cf4571" /><Relationship Type="http://schemas.openxmlformats.org/officeDocument/2006/relationships/notesMaster" Target="/ppt/notesMasters/notesMaster1.xml" Id="R543f6606317a41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S11 — Task에는 무엇이 아직 정해지지 않았을까?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Task에는 무엇이 아직 정해지지 않았을까?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코드가 보이더라도 무엇을 바꾸고, 무엇을 보존하며, 언제 끝났다고 판단할지는 요청에 명시되어야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Repository를 보더라도 Agent가 원하는 결과까지 자동으로 알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**REQUEST (0:00–1:30):** S10의 제조 검사 Task 질문을 회수하고, 프롬프트 입력창 형태의 “filter 성능 개선해줘”를 읽는다. 현재 제품의 실제 대화창·실행 기록이 아니라 재구성한 교육용 요청임을 밝힌다.</a:t>
            </a:r>
          </a:p>
          <a:p xmlns:a="http://schemas.openxmlformats.org/drawingml/2006/main">
            <a:r>
              <a:t>2. **UNSET DECISIONS (1:30–4:00):** 오른쪽의 바꿀 것·보존할 것·완료 근거와 “무엇을 바꿀까?”, “무엇을 그대로 지킬까?”, “무엇을 보면 끝났다고 할까?” 세 질문을 순서대로 가리킨다. Agent 삽화는 답할 정보가 남아 있는 상태를 상징한다. 답을 채우거나 Agent가 판단 능력이 없다고 설명하지 않는다.</a:t>
            </a:r>
          </a:p>
          <a:p xmlns:a="http://schemas.openxmlformats.org/drawingml/2006/main">
            <a:r>
              <a:t>3. **COST CONCEPT (4:00–5:30):** 탐색·재시도가 길어질 때 토큰 소모와 작업 시간도 커질 수 있다는 개념 표시를 짚는다. 실제 수치·증가 배율·기하급수 법칙·측정 곡선으로 읽지 않는다. 실제 Agent는 필요한 정보를 먼저 되물을 수도 있다.</a:t>
            </a:r>
          </a:p>
          <a:p xmlns:a="http://schemas.openxmlformats.org/drawingml/2006/main">
            <a:r>
              <a:t>4. **NARROW THE CASE (5:30–7:00):** Repository 접근만으로 세 결정을 정할 수 있는지 묻고, 앞서 조사한 crop 사례로 S12에 연결한다. 특정 제품의 실패·속도·토큰 사용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TRIAL-001 callback, CLM-0002, DEC-0038. TEACHING_MODEL / CONCEPTUAL. 프롬프트창은 재구성이고 AI Agent 그림은 AI 생성 교육용 삽화다. 비용 표시는 정성적 개념도이며 실제 Trial·현재 제품 실행·토큰/시간 측정값이 아니다. 삽화: assets/slide-illustrations/task-choice-agent.png (built-in imagegen, 투명 배경). 같은 Agent를 세 장에서 의도적으로 반복한다. 생성 프롬프트·출처·표현 경계: assets/slide-illustrations/PROMPT_TIMELINE_SOURCES.md.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미정인 요청이 특정 실행 실패나 토큰·시간의 기하급수적 증가를 반드시 만든다고 주장하지 않는다. 그림은 실제 내부 추론·로그·작업 정지 기록이 아니다. Agent는 가능한 선택을 제안하거나 먼저 질문할 수 있다. 오른쪽 세 질문의 답과 다음 Task Specification 해답은 이 장에서 미리 제공하지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“성능을 개선해줘”만으로는 어떤 변경을 원하고 무엇을 지켜야 하는지 빠질 수 있다. 필요한 선택을 먼저 밝혀 두면 불필요한 재탐색을 줄일 여지가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Task goal, preserved behavior and acceptance evidence remain distinct from repository access. The rising cost illustration is qualitative; it does not establish measured exponential growth, model incapacity or causal productivity improvement.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 교육용 프롬프트 재구성·생성 삽화·개념 비용 표시를 보는 정적 Case다. 새 Agent 실행·Trial·제품 동작을 시연하지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오른쪽 세 질문을 따라 어떤 결정이 비어 있는지 생각하게 한다. 공개 답변·실습·요청문 작성을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“남은 결정을 더 분명히 보기 위해, 앞서 조사한 crop 사례로 좁혀 보겠습니다.”라고 S12의 교육용 요청 예시로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 7분 유지. 요청 1분30초, 오른쪽 미정 질문 2분30초, 비용 개념 1분30초, 다음 사례 연결 1분30초로 제한한다. 곡선·토큰 단가·제품 내부 추론 강의를 추가하지 않는다. 실측 발표 시간은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production/ACT_1.pptx S11 또는 production/preview/act1/S11.png를 사용한다. 비용 그림을 측정 그래프나 실제 멈춘 Agent 화면으로 대체하지 않는다. 새 렌더·내장 Notes/PNG 정합성은 production/evaluation/PROMPT_TIMELINE_REVISION.md에서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DEC-0038에 따라 요청·빈 결정·생성 삽화·비용 개념의 범위를 정렬했다. 실제 렌더·내장 Notes 대조는 production/evaluation/PROMPT_TIMELINE_REVISION.md에 별도로 기록한다. Windows PowerPoint·발표 PC 글꼴·교육장 투사·제품/계정·실측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S12 — 요청만으로는 의도가 보이지 않는다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요청만으로는 의도가 보이지 않는다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Repository를 볼 수 있어도 바꿀 범위와 완료 조건까지 알 수 있는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“앞서 본 crop을 고쳐 달라는 같은 요청에는 어떤 선택이 남아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**SAME REQUEST (0:00–0:30):** 프롬프트 입력창의 “crop test 고쳐줘”를 읽고 같은 Agent·같은 요청을 조건으로 고정한다. 이는 교육용으로 재구성한 요청이며 실제 TRIAL-002 Prompt가 아니다.</a:t>
            </a:r>
          </a:p>
          <a:p xmlns:a="http://schemas.openxmlformats.org/drawingml/2006/main">
            <a:r>
              <a:t>2. **POSSIBLE TIMELINES (0:30–1:20):** 오른쪽 세로 질문과 병렬 경로를 위에서 아래로 짚는다. 테스트를 바꿀까, 구현을 바꿀까, 먼저 확인 질문을 할까의 세 해석이다. 서로 다른 실행 결과를 관찰했다거나 Subagent가 동시에 실행됐다는 뜻이 아니다. 동일 요청에도 선택할 여지가 남았다는 교육용 가능성만 보여준다.</a:t>
            </a:r>
          </a:p>
          <a:p xmlns:a="http://schemas.openxmlformats.org/drawingml/2006/main">
            <a:r>
              <a:t>3. **MISSING INFORMATION (1:20–2:00):** 아래 목표의 세부·보존 조건·수정 범위·확인 근거·완료 조건의 미정 정보를 짚는다. 다음 장에서는 이를 요청에 넣었을 때 원하는 경로를 어떻게 명시하는지 본다고 S13으로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CLM-0002, DEC-0038. TEACHING_MODEL / CONCEPTUAL. 같은 AI Agent 삽화와 병렬 시간선은 가능한 요청 해석의 도식이다. 실제 반복 실행·분기 빈도·실패 로그·평행 Agent 실행을 기록한 것이 아니다. 삽화: assets/slide-illustrations/task-choice-agent.png (built-in imagegen, 투명 배경). 같은 Agent를 세 장에서 의도적으로 반복한다. 생성 프롬프트·출처·표현 경계: assets/slide-illustrations/PROMPT_TIMELINE_SOURCES.md.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`crop test 고쳐줘`는 수업용 구성 요청이다. 이 요청이 테스트 변경·구현 변경·질문을 특정 확률로 만든다고 주장하지 않는다. 경로는 성공/실패 판정이 아니며 실제 TRIAL-002 결과를 새로 만들지 않는다. 테스트 수정이 모든 상황에서 나쁘다는 일반화도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말이라도 기대값을 고치라는 뜻인지, 구현을 명세에 맞추라는 뜻인지 아직 남아 있을 수 있다. 먼저 확인을 요청하는 해석도 가능하다.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timelines represent unresolved interpretation, not measured nondeterminism. Missing constraints are human intent that cannot be reliably inferred from repository access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 정적 프롬프트·동일 Agent·가능한 세 경로를 설명한다. 새 Trial·반복 호출·병렬 Subagent를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같은 요청의 해석과 아래 다섯 미정 정보를 잠시 생각하게 한다. 정답 분류·공개 응답·실습을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 미정 정보를 요청에 담으면, 어떤 작업 경로를 원한다는 뜻인지 더 분명해질까요?”라고 새 S13의 교육용 구체화 예시로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원래 Case 4분을 S12 Case 2분 + 새 S13 Case 2분으로 나눈다. 여기서는 요청 30초, 가능 경로 50초, 미정 정보 40초만 다루고 세 경로의 세부 알고리즘을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production/ACT_1.pptx S12 또는 production/preview/act1/S12.png를 사용한다. 청중 응답 없이 진행하며 경로를 실제 실행 캡처나 관찰된 선택으로 설명하지 않는다. 경로·렌더 일치는 새 제작 평가에서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DEC-0038의 병렬 가능 경로·미정 정보·2분 운영을 정렬했다. 실제 렌더·내장 Notes 대조는 production/evaluation/PROMPT_TIMELINE_REVISION.md에서 별도로 기록한다. Windows PowerPoint·발표 PC 글꼴·교육장 투사·제품/계정·실측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S13 — 원하는 작업 경로를 Prompt에 담는다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원하는 작업 경로를 Prompt에 담는다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목표·보존 조건·수정 범위·확인 근거·완료 조건을 요청에 담아 원하는 작업 경로를 명시하고 해석의 여지를 줄인다.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“어떤 경로를 원한다는 뜻인지, 이 요청에서는 더 분명해졌을까?”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**FILL THE REQUEST (0:00–0:45):** S12의 아래 다섯 미정 정보를 채운 프롬프트를 읽는다. 목표: crop(1, 3)은 열 1·2, 폭 2. 보존: 끝 좌표 제외 명세·테스트 기대값. 범위: crop 구현만 최소 수정. 확인: 집중·전체 Test + CLI smoke + diff. 완료: 결과·검증·미확인 사항 보고. 이는 교육용 작성 예시이며 실제 Trial 원문이 아니다.</a:t>
            </a:r>
          </a:p>
          <a:p xmlns:a="http://schemas.openxmlformats.org/drawingml/2006/main">
            <a:r>
              <a:t>2. **DESIRED PATH (0:45–1:30):** 같은 Agent·같은 세 시간선에서 “구현을 명세에 맞춤” 경로를 강조하고 나머지는 옅게 남긴다. 사람이 원한 경로를 요청으로 고정했다는 뜻이며 Agent가 반드시 그 경로를 실행한다거나 정답이 보장됐다는 뜻은 아니다. 결과와 검사 근거를 계속 확인해야 한다.</a:t>
            </a:r>
          </a:p>
          <a:p xmlns:a="http://schemas.openxmlformats.org/drawingml/2006/main">
            <a:r>
              <a:t>3. **GENERALIZE (1:30–2:00):** 구체 예시는 여기서 끝내고, 다른 요청에도 어떤 질문을 먼저 정해야 하는지 S14의 다섯 질문으로 일반화한다. 다음 Task Specification의 항목을 이 장에서 새로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CLM-0002, DEC-0038. TEACHING_MODEL / CONCEPTUAL. TRIAL-001/002의 끝 좌표 제외 crop 명세와 검증 범위를 배경으로 한 수업용 Prompt다. 실제 TRIAL-002에서 사용한 요청·관찰된 선택·성능 비교를 재현하지 않는다. 삽화: assets/slide-illustrations/task-choice-agent.png (built-in imagegen, 투명 배경). 같은 Agent를 세 장에서 의도적으로 반복한다. 생성 프롬프트·출처·표현 경계: assets/slide-illustrations/PROMPT_TIMELINE_SOURCES.md.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강조 경로는 사람이 명시한 목표 경로이며 실제 실행 결과나 결정성·성공 보장이 아니다. 동일 모델·Agent가 항상 하나의 결과를 내고 다른 가능성이 사라진다는 주장을 하지 않는다. 테스트 기대값 보존은 이 예시의 유효한 명세를 전제로 한 조건이지 모든 테스트 수정 금지가 아니다. 완료 여부는 실제 변경과 검증 근거를 보고 사람이 수용한다.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“고쳐줘”에 어떤 결과를 원하고 무엇을 그대로 둘지 적으면 원하는 선택이 더 잘 드러난다. 요청을 썼다고 검증이 끝나는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Explicit intent constrains the acceptable solution space; it does not guarantee deterministic behavior or correctness. Preserve verification and distinguish the requested path from the observed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 교육용 프롬프트 재구성과 같은 시간선의 강조 전환을 보는 정적 Case다. 실제 Agent 호출·테스트·반복 실험을 수행하지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앞 장과 달라진 정보와 원하는 경로의 연결을 눈으로 확인하게 한다. 프롬프트 작성·답변·공유·실습을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예시에서 정한 정보를, 다른 요청에서도 개발자가 답할 질문으로 정리해 보겠습니다.”라고 S14의 일반 질문으로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 2분. 다섯 줄 요청 45초, 목표 경로와 검증 경계 45초, 다음 질문 연결 30초. S12와 합쳐 원래 Case 4분, Section 1B 전체8분을 유지한다. 실제 발화 시간은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production/ACT_1.pptx S13 또는 production/preview/act1/S13.png를 사용한다. 경로 강조를 실제 실행 선택이나 PASS 결과로 설명하지 않는다. 새 파일이 확인되기 전에는 Fallback READY로 취급하지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ALIGNED — DEC-0038의 새 교육용 구체화 예시와 19개 필드를 작성했다. 실제 렌더·내장 Notes 대조는 production/evaluation/PROMPT_TIMELINE_REVISION.md에서 별도로 기록한다. Windows PowerPoint·발표 PC 글꼴·교육장 투사·제품/계정·실측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S14 — 개발자가 정해야 하는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개발자가 정해야 하는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3 minutes + Reflection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Prompt의 실용적 가치는 문장 장식보다 Task ambiguity reduction에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요청을 보내기 전에 개발자인 나는 무엇을 정해야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S13에서 구체화한 선택을 다른 요청에도 사용할 개발자의 질문으로 일반화한다. “무엇을 바꿀까?”와 “무엇을 유지할까?”를 짚는다.</a:t>
            </a:r>
          </a:p>
          <a:p xmlns:a="http://schemas.openxmlformats.org/drawingml/2006/main">
            <a:r>
              <a:t>2. (1:00–3:00) 허용 범위, 확인 근거, 완료 판단의 세 질문을 이어 읽는다. 앞 예시의 답을 반복하지 않고 다른 요청에서도 개발자가 판단할 질문으로 읽는다.</a:t>
            </a:r>
          </a:p>
          <a:p xmlns:a="http://schemas.openxmlformats.org/drawingml/2006/main">
            <a:r>
              <a:t>3. (3:00–4:00) 각자 익숙한 요청 하나를 떠올리는 조용한 Reflection으로 마친다. 요청문 작성이나 결과 공유를 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앞의 구체 예시를 개발자가 판단할 다섯 질문으로 일반화하여 번호 순서로 따라간다. 마지막 질문에서 1분 Reflection을 분리하고, 답이나 작성 과제를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BEAT-004, CLM-0002. TEACHING_MODEL / CONCEPTUAL. 특정 요청이 특정 실패를 반드시 만든다고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다섯 질문은 수업용 질문 프레임이다. 특정한 단일 답이나 제품 기능으로 소개하지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요청을 보내기 전에 바꿀 것, 지킬 것, 끝을 어떻게 볼지 묻는다.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Clarify scope, preserved contracts, acceptable change surface, and evidence before delegating.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1분은 비공개 Reflection이다. 말하기, 노트북, Prompt 작성은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“앞의 질문을 묶고, 필요한 사실과 작업 순서를 함께 명시하는 틀로 정리해 보겠습니다.”라고 S15의 Task Specification으로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Case 3분 후 Reflection 1분을 분리한다. 답을 제공하거나 공개 응답을 받지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S14 또는 `production/preview/act1/S14.png` 사용. 침묵은 정상 진행으로 본다.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S15 — Task Specification의 다섯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Task Specification의 다섯 책임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Goal, Context, Constraints, Process, Verification은 작업을 구체화하는 교육용 틀이다.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“앞의 질문을 작업 요청에 담으려면 어떤 책임으로 정리할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화면 안내처럼 앞의 질문을 묶고 필요한 맥락과 작업 과정을 명시하는 이 과정의 모델로 Task Specification을 소개한다.</a:t>
            </a:r>
          </a:p>
          <a:p xmlns:a="http://schemas.openxmlformats.org/drawingml/2006/main">
            <a:r>
              <a:t>2. (0:45–3:15) 하나의 패널에서 목표·맥락·제약·과정·검증을 위에서 아래로 짚는다. 앞 장의 보존·허용 범위 질문은 제약으로, 확인 근거·완료 질문은 검증으로 묶어 읽는다. 작업에 필요한 사실은 맥락으로, 지킬 순서와 경계는 과정으로 함께 명시한다. 각 행이 어떤 미정을 줄이는지 한 문장씩 설명한다.</a:t>
            </a:r>
          </a:p>
          <a:p xmlns:a="http://schemas.openxmlformats.org/drawingml/2006/main">
            <a:r>
              <a:t>3. (3:15–4:00) 다섯 책임을 모두 길게 적으라는 뜻이 아니라 작업에 필요한 경계를 검토할 틀이라고 정리하고 S16로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한 작업 요청에 다섯 책임을 묶는 구조를 보여준다. S14의 다섯 질문과 일대일 대응하는 표가 아니라 질문을 재구성하고 맥락·과정을 명시한 틀이다. 상단 안내 → 왼쪽 Task Specification → 오른쪽 행 순서로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BEAT-005, CLM-0029, OQ-001, OQ-007.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다섯 항목은 과정에서 쓰는 Task Specification 모델이지 공식 OpenAI taxonomy나 universal law가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요청에는 목표, 필요한 상황, 지켜야 할 경계, 작업 흐름, 확인 방법이 들어갈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Separate task intent from retained project facts, and identify which judgment remains with the developer.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설명 중간에 다섯 책임이 줄이는 불확실성을 확인한다. 청중에게 작성 실습을 시키지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16에서 다섯 책임을 짧은 Before / After에 적용한다.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네 분 동안 각 항목을 한 문장으로 설명한다. 별도 Best Practice 목록이나 제품 기능으로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슬라이드 `production/ACT_1.pptx` S15 또는 `production/preview/act1/S15.png` 사용.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S16 — 더 긴 Prompt보다 분명한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더 긴 Prompt보다 분명한 경계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1C + 1F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9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6 minutes + Case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유용성은 Prompt의 길이보다 Goal과 제약, 과정, 검증 경계가 분명한 데서 나온다.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“두 요청에서 실제로 달라진 정보는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(0:00–2:00) 왼쪽의 짧은 요청을 읽고 같은 crop 작업을 비교한다고 고정한다.</a:t>
            </a:r>
          </a:p>
          <a:p xmlns:a="http://schemas.openxmlformats.org/drawingml/2006/main">
            <a:r>
              <a:t>2. (2:00–5:00) 오른쪽에서 추가된 목표·맥락, 제약, 과정, 검증 정보를 순서대로 짚는다. 양쪽 모두 한국어 요청이며 영어라서 좋아졌다는 인상을 만들지 않는다.</a:t>
            </a:r>
          </a:p>
          <a:p xmlns:a="http://schemas.openxmlformats.org/drawingml/2006/main">
            <a:r>
              <a:t>3. (5:00–6:00) 하단 C++ 연결에서 출력·API/ABI 보존 범위와 Release 검증 조건도 작업 전에 정할 수 있음을 짧게 말한다.</a:t>
            </a:r>
          </a:p>
          <a:p xmlns:a="http://schemas.openxmlformats.org/drawingml/2006/main">
            <a:r>
              <a:t>4. (6:00–7:30 / Case) 검증 행을 구체 완료 조건으로 읽는다: Given 열 index가 0·1·2·3인 4열 합성 이미지, When `crop 1 3`, Then 원본 열 1·2만 포함하고 출력 폭은 2다. `crop 1 3`은 교육용 범위 표기이며 전체 함수 signature를 뜻하지 않는다. S05의 계약을 요청에 명시하는 교육용 재구성이며 실제 TRIAL-002 Prompt 원문은 아니다.</a:t>
            </a:r>
          </a:p>
          <a:p xmlns:a="http://schemas.openxmlformats.org/drawingml/2006/main">
            <a:r>
              <a:t>5. (7:30–9:00 / Case) 두 요청에서 어떤 정보가 추가됐는지 비교한다. 완료 조건이 드러났다는 점을 짚되 실제 약한/강한 Prompt 비교 실험이 아니며 길이 자체의 효과를 입증하지 않는다고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실제로 더해진 정보의 비교다. 짧은 요청→추가한 네 행→하단 C++ 적용 순서로 가리킨다. Case에서는 검증 행의 4열 입력·crop 범위·출력 폭을 연결한다. 앞의 다섯 질문을 다시 나열하는 시간을 줄이고 보존 조건과 완료 근거가 드러난 위치를 짚는다.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BEAT-005, TRIAL-002, CLM-0029, OQ-001, OQ-007.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Before/After는 설명을 위한 개념 예시이며 Trial-002가 약한 Prompt와 구조화 Prompt의 우월성을 비교 검증했다는 뜻이 아니다. Given/When/Then 완료 조건은 기존 crop 계약을 설명하려고 구성한 예시이며 당시 Prompt 원문, 새 실행 결과 또는 시스템 요구 분석 전체 교육이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긴 문장을 쓰는 것보다 바꿀 결과와 지킬 조건, 확인 방법을 드러내는 것이 도움이 되는 질문 틀이다.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Make the allowed change surface and completion evidence reviewable; do not claim a causal performance advantage.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SUPPORTING footer strip — 출력·API/ABI의 보존 범위와 Release 검증 조건을 먼저 정하는 사례다. 특정 Windows, shell, IDE, hardware의 실제 사용법이나 검증 결과로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 — the comparison is conceptual and is not the exact Trial-002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Case 3분에는 구체 완료 조건을 90초 동안 따라 읽고, 나머지 90초에 두 요청에서 새로 명시된 책임을 마음속으로 비교한다. 작성 실습이나 발표 응답은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“여기까지는 교육용 구성 예시였습니다. 이제 과거 TRIAL-002에서 요청한 흐름과 기록된 행동을 살펴보겠습니다.”라고 실제 기록의 관찰 기준으로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After는 네 줄의 비교 축으로 한정한다. Lecture 6분과 Case 3분을 유지하며 기존 Case의 일반 비교 90초를 구체 완료 조건 해설로 교체한다. 전체 Trial Prompt나 코드 지시를 화면에 복사하지 않는다. 시간이 부족하면 C++ inset을 생략한다. 실제 시간 적합성은 리허설 전까지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비교 슬라이드 `production/ACT_1.pptx` S16 또는 `production/preview/act1/S16.png` 사용. Trial 결과로 대체하지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S17 — 먼저 무엇을 하는지 보자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먼저 무엇을 하는지 보자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한 번의 관찰에서는 재현, 조사, 계획, 수정, 검증 순서를 확인할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“TRIAL-002 실제 기록에서는 수정 전에 무엇을 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(0:00–0:35) S16의 교육용 구성 예시에서 과거 TRIAL-002 기록으로 전환했음을 밝힌다. “실제 기록에서는 수정 전에 무엇을 했을까?”를 제시한다. S16 화면의 요청을 그대로 실행한 것으로 설명하지 않는다.</a:t>
            </a:r>
          </a:p>
          <a:p xmlns:a="http://schemas.openxmlformats.org/drawingml/2006/main">
            <a:r>
              <a:t>2. (0:35–1:35) TRIAL-002에서 요청한 재현 → 조사 → 계획 → 수정 → 검증의 다섯 관찰 단계를 가리킨다. 화면은 WATCH 기준이며 결과를 미리 읽어 주는 요약이 아니다.</a:t>
            </a:r>
          </a:p>
          <a:p xmlns:a="http://schemas.openxmlformats.org/drawingml/2006/main">
            <a:r>
              <a:t>3. (1:35–2:00) 다음 두 장에서 이 단일 과거 CLI 기록의 요청 흐름과 행동을 대조한다고 알리고 S18으로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BEAT-006, TRIAL-002, INV-MATURITY-011. OBSERVED_PRODUCT; one historical Codex CLI run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TRIAL-002는 2026-09-28 macOS Codex CLI 0.154.0의 단일 실행 기록이다. Desktop, 계정, 반복성 또는 다른 모델을 증명하지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코드 변경 전 어떤 행동을 먼저 살펴볼지 정하면 Demo를 따라가기 쉽다.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Keep requested workflow separate from the events evidenced in the recorded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RECORD-BASED WATCH. 2분 Lecture 동안 제품 실행을 재생하지 않는다. 요청한 재현·조사·계획·수정·검증을 관찰 기준으로 제시한다. Trial source: `plan/DEMO_MATRIX.md`, TRIAL-002. 현재 Desktop surface나 실제 터미널 캡처를 보여 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관찰 순서를 마음속으로 따라오게 한다. 응답이나 실습을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18에서 조사와 변경의 핵심 장면을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2분 안에 관찰 기준만 설명한다. Trial 결과를 앞당겨 보여 주거나 현재 제품 UI를 재현하지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WATCH 슬라이드 `production/ACT_1.pptx` S17 또는 `production/preview/act1/S17.png` 사용. 라이브 실행은 이 단계에서 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S18 — 조사에서 한 줄 변경까지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조사에서 한 줄 변경까지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failing test와 호출 경로를 확인한 뒤, half-open 범위 계약을 보존하는 최소 변경을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“수정 전에 어떤 근거를 확인했는가?”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상단의 실패 테스트 → 호출 경로 → 계약 확인 → 수정 전 계획을 읽는다. 실패 테스트명은 `test_crop_excludes_end_coordinate`, 제품 호출 관계는 `cli.main → pipeline.process_image → transform.crop`이다.</a:t>
            </a:r>
          </a:p>
          <a:p xmlns:a="http://schemas.openxmlformats.org/drawingml/2006/main">
            <a:r>
              <a:t>2. (1:00–2:00) `[x_start, x_end)`가 끝 좌표를 제외하는 계약임을 확인한다. S05의 `crop(image, 1, 3)` 예시를 짧게 회수한다.</a:t>
            </a:r>
          </a:p>
          <a:p xmlns:a="http://schemas.openxmlformats.org/drawingml/2006/main">
            <a:r>
              <a:t>3. (2:00–3:15) 왼쪽 `row[x_start : x_end + 1]`에서 오른쪽 `row[x_start : x_end]`로 바뀐 실제 한 줄 diff를 가리킨다. 수정 전에 계획을 알린 기록이 있었다고 말한다.</a:t>
            </a:r>
          </a:p>
          <a:p xmlns:a="http://schemas.openxmlformats.org/drawingml/2006/main">
            <a:r>
              <a:t>4. (3:15–4:00) 이 입력의 너비 3이 계약대로 2가 되는 변화로 정리한다. 정적 소스·diff 재구성이며 새 실행이나 screenshot이 아님을 유지하고 S19로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BEAT-006, TRIAL-002, INV-MATURITY-011. OBSERVED_PRODUCT, one recorded CLI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실제 변경은 `src/graypipe/transform.py`의 crop slice 한 줄이다. 이 기록은 한 번의 Codex CLI 실행에 한정되며 Prompt 우월성, Desktop 동작 또는 일반 성공률을 증명하지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실패한 Test와 기대 계약을 먼저 맞춘 뒤 꼭 필요한 한 줄만 바꿨다.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The code change matches the half-open public contract and is limited to the recorded diff; the plan checkpoint preceded editing.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historical evidence. `production/ACT_1.pptx` S18의 실제 diff 재구성 도식을 사용한다. 실패 테스트·호출 경로·계약·수정 전 계획 → Before/After slice → 너비 변화를 순서대로 가리킨다. source test ID: `test_crop_excludes_end_coordinate`. Source: TRIAL-002 record, STATE-00 및 STATE-00-FIXED의 `src/graypipe/transform.py`. 전체 파일이나 새 실행을 보여 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변경 전에 확인한 근거를 청중이 화면 순서대로 따라오게 한다. 참가자의 코드 검토나 답변을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19에서 변경 결과를 어떤 확인으로 뒷받침했는지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4분 Demo 구간 안에서 관찰과 변경을 요약한다. 전체 로그와 파일을 보여 주지 않고, 다음 장의 검증 시간을 침범하지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PPTX S18 또는 `production/preview/act1/S18.png` 사용. 시각 도식은 기록에서 재구성한 자료이며 원본 화면 캡처가 아니다. 실행 실패 상황은 없다: Live를 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S19 — 변경 결과와 확인 증거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S19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변경 결과와 확인 증거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4 minutes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이 사례의 결과는 생성된 코드뿐 아니라 명시된 검증과 diff 확인을 거친 변경이다.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“생성된 변경을 어떤 확인이 뒷받침하는가?”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단일 TRIAL-002의 변경 뒤 기록임을 고정한다.</a:t>
            </a:r>
          </a:p>
          <a:p xmlns:a="http://schemas.openxmlformats.org/drawingml/2006/main">
            <a:r>
              <a:t>2. (0:45–2:45) 동작 확인(집중 3/3·전체 11/11), 실행 확인(CLI smoke PASS), 범위 확인(한 파일·한 줄·diff check)을 세 묶음으로 읽는다. 각각 확인한 범위가 다름을 설명한다.</a:t>
            </a:r>
          </a:p>
          <a:p xmlns:a="http://schemas.openxmlformats.org/drawingml/2006/main">
            <a:r>
              <a:t>3. (2:45–3:30) 하단의 성능 benchmark 미실행을 밝힌다. 이 테스트 통과를 성능 개선 근거로 바꾸지 않는다.</a:t>
            </a:r>
          </a:p>
          <a:p xmlns:a="http://schemas.openxmlformats.org/drawingml/2006/main">
            <a:r>
              <a:t>4. (3:30–4:00) 생성된 코드와 완료 판단의 차이로 S20에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OBSERVED_PRODUCT, one Codex CLI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Focused test 3/3, full suite 11/11, CLI smoke PASS, diff 1 file / 1 line, and `git diff --check` PASS are the recorded results of TRIAL-002. They do not establish every input, platform, or future product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완료라고 말할 때 코드와 함께 어떤 확인이 있었는지 보여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Each check supports a bounded claim: targeted behavior, existing suite coverage, one sample CLI path, and change scope. No benchmark was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DEMO-05 / CAPTURED result summary. 세 시각 묶음 안의 다섯 기록된 확인을 설명한다. 실제 터미널 screenshot이나 새 실행이 아니다. Focused 3/3, full 11/11, CLI PASS, one file/line, diff check PASS만 사용한다. Benchmark는 미실행이다.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각 Check가 무엇을 뒷받침하는지 읽게 한다. 청중에게 테스트 실행을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생성 자체와 완료 판단을 구분하는 Slide 20로 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세 묶음에 각각 한 가지 확인 범위를 말한다. 다섯 로그를 전문으로 읽지 않는다. 마지막 30초에 생성과 완료의 차이로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PPTX S19 또는 `production/preview/act1/S19.png` 사용. 수치는 TRIAL-002 기록에 한정한다; 새로운 pass 수치를 추가하지 않는다.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S20 — Generated ≠ Done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Generated ≠ Done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Task는 결과뿐 아니라 적절한 검증과 review를 포함해야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“어떤 Check가 어떤 Claim을 뒷받침하는가?”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(0:00–0:45) 왼쪽 “코드가 나왔다”에서 오른쪽 “완료라고 말할 수 있나?”로 시선을 옮긴다.</a:t>
            </a:r>
          </a:p>
          <a:p xmlns:a="http://schemas.openxmlformats.org/drawingml/2006/main">
            <a:r>
              <a:t>2. (0:45–2:15) 검토용 결과 인계의 네 항목을 crop 사례로 설명한다. 변경 이유·범위는 끝 좌표 제외 계약에 맞춘 crop 한 줄 수정, 검증 근거·결과는 S19의 집중·전체 테스트와 CLI·diff 기록 참조, 미확인은 이 수정의 성능을 측정하지 않았다는 점, 사람의 수용 판단은 이 범위와 근거로 변경을 받아들일지 개발자가 결정한다는 점이다. 동작 테스트·샘플 실행·변경 검토는 검증 근거 항목에 묶고 수치를 다시 나열하지 않는다. 이 네 항목은 기존 기록의 강의용 정리이며 실제 PR이나 당시 Agent 답변 원문이 아니다.</a:t>
            </a:r>
          </a:p>
          <a:p xmlns:a="http://schemas.openxmlformats.org/drawingml/2006/main">
            <a:r>
              <a:t>3. (2:15–2:45) 성능 개선을 주장하는 작업에는 해당 입력·환경의 측정도 필요할 수 있다고 설명한다. TRIAL-002에서 benchmark가 실행됐다는 뜻이 아니다.</a:t>
            </a:r>
          </a:p>
          <a:p xmlns:a="http://schemas.openxmlformats.org/drawingml/2006/main">
            <a:r>
              <a:t>4. (2:45–3:00) 주장마다 필요한 근거가 다르다는 S21로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OBSERVED_PRODUCT and separate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본문의 생성→완료 판단 관계와 확인 방법은 이 과정의 TEACHING_MODEL이다. 하단 출처에서 회수하는 TRIAL-002의 관찰은 테스트·CLI·diff에 한정된다. Benchmark는 조건부 검증 예이며 TRIAL-002에서 수행하지 않았다. 검토용 결과 인계의 형식은 기존 기록을 설명하는 교육용 재구성이며 실제 PR, 당시 답변 원문 또는 사람의 승인 완료 기록이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코드가 생성됐다는 사실은 완료를 판단하는 한 가지 정보일 뿐이다.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Choose checks from the task’s risk and the exact claim being made; do not demand every check for every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C++ 대응은 S21 Notes의 선택적 참고로 남기며 S21 화면에는 C++ inset이 없다. 주요 C++ 패턴 전이는 S55에서 이어 간다. 이 장에서 중복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TRIAL-002 verification callback only; DEMO-05의 8분 구간 밖이다. 새 관찰 카드나 새 실행 결과를 보여 주지 않고 하단 출처로 과거 확인 범위를 회수한다. 검토용 결과 인계는 기존 기록을 가리키는 강의용 정리이며 실제 PR 화면으로 표현하지 않는다. 본문은 교육 모델로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별도 Q&amp;A 시간은 배정되지 않았다. 청중에게 생각할 질문을 주고 다음 장에서 범위를 보여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21에서 각 Check가 뒷받침하는 범위를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3분을 유지한다. 생성·완료 질문 45초, 결과 인계 예시 90초, 조건부 성능 측정 30초, S21 연결 15초로 배분한다. 기존 검증 근거의 재나열과 반복 설명을 이 예시로 교체한다. 기록 사실과 Teaching Model을 분리하고 S19의 다섯 수치를 다시 읽지 않는다. 실제 시간 적합성은 리허설 전까지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PPTX S20 또는 `production/preview/act1/S20.png`를 사용한다. 생성·완료의 관계는 교육 모델, TRIAL-002는 하단에 표시된 과거 관찰로 구분한다. 새 렌더 검토는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S21 — Check마다 확인하는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Check마다 확인하는 범위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1E + 1F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Lecture 4 minutes + Reflection 1 minute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Check 하나가 모든 정확성을 증명하지는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 Check로 무엇까지 말할 수 있는가?”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(0:00–0:30) 표가 특정 테스트의 만능 효과를 뜻하지 않는다고 소개한다. 실제 TRIAL-002는 집중·전체 테스트, CLI smoke, diff를 확인했다는 하단 출처를 짚는다.</a:t>
            </a:r>
          </a:p>
          <a:p xmlns:a="http://schemas.openxmlformats.org/drawingml/2006/main">
            <a:r>
              <a:t>2. (0:30–2:30) 확인 방법 → 말할 수 있는 범위의 다섯 행을 설명한다. 성능 측정 행은 교육 모델이며 TRIAL-002에서 benchmark를 실행하지 않았다고 밝힌다.</a:t>
            </a:r>
          </a:p>
          <a:p xmlns:a="http://schemas.openxmlformats.org/drawingml/2006/main">
            <a:r>
              <a:t>3. (2:30–4:00) 같은 crop 사례에서 검사가 계약 위반을 구별하는지 비교한다. “결과가 비어 있지 않다”는 빈 결과를 찾을 수 있지만 끝 좌표를 잘못 포함한 3열 결과도 받아들일 수 있다. 이 조건만으로는 끝 좌표 제외 계약을 검증하기에 부족하다. “원본 열 1·2만 포함하고 출력 폭은 2다”처럼 해당 입력의 기대 결과를 비교해야 이 차이를 구별할 수 있다. 전자의 검사를 항상 무의미하다고 부르지 않으며, 후자의 검사 하나가 모든 입력의 정확성을 보장한다고도 말하지 않는다. 강의용 반례이고 새 실행 결과나 당시 테스트 assertion의 전사본이 아니다.</a:t>
            </a:r>
          </a:p>
          <a:p xmlns:a="http://schemas.openxmlformats.org/drawingml/2006/main">
            <a:r>
              <a:t>4. (4:00–5:00) 익숙한 Check가 뒷받침하는 Claim을 개인적으로 떠올린다. 그 검증 방법을 다음 작업에서도 다시 설명할지 생각하는 Reflection으로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INV-VERIFY-001, TRIAL-002, CLM-0029, CLM-0027. Actual checks are separate from the TEACHING_MODEL mapping.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Focused/full tests, CLI smoke, and diff review are actual TRIAL-002 checks. The mapping is a course model; benchmark was not run. No single check proves all correctness. 비어 있지 않음과 계약상 기대 열·폭의 비교는 기존 crop 사례를 이용한 교육용 반례이며 새 실행 결과, 당시 assertion 원문 또는 GoogleTest 사용법 교육이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Focused test는 바뀐 동작을, 전체 Test는 기존 suite의 범위를, smoke는 sample 실행 경로를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For C++ projects, match Release build, API/ABI checks, regression tests, and measurement to the claim and risk. These are illustrative engineering patterns, not this Demo repository’s tooling.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NOTES-ONLY 선택적 참고: `build claim → Release build`; `compatibility claim → API / ABI review`; `performance claim → benchmark with named workload`. 화면의 C++ inset은 계약 비교 예시로 대체했으며 이 대응을 추가 강의하지 않는다. 주요 C++ 패턴 전이는 S55에 유지한다. No Windows, shell, IDE, or hardware setup is asserted.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TRIAL-002 evidence callback outside the 8-minute Demo slot. 본문 표와 검증 품질 반례는 일반적인 check-to-claim 교육 모델이다. 하단 출처에는 실제 Trial에서 수행한 확인만 따로 표시한다. Benchmark 미실행 경계를 유지하고 반례에 새 PASS/FAIL, 수치나 실행 결과를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마지막 1분은 각자가 익숙한 Check와 그 Check가 뒷받침하는 Claim을 조용히 생각한다. 결과 발표는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“방금 정한 테스트 명령과 보존 조건은 다음 작업에도 필요할 수 있습니다. 이 설명을 매번 다시 적어야 할까요?”라고 검증 지침의 재사용에서 S22의 정보 수명 질문으로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Lecture 4분과 Reflection 1분을 분리한다. 소개 30초, Check 표 2분, 계약 위반을 구별하는 검사 비교 90초로 Lecture를 편성한다. C++ footer 해설 1분과 반복 소개 30초를 이 비교로 교체한다. C++ 대응은 선택적 참고로 남기고 별도 도구 강의 시간을 더하지 않는다. 실제 시간 적합성은 리허설 전까지 UNVERIFIED다.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PPTX S21 또는 `production/preview/act1/S21.png`를 사용한다. 표의 일반적인 범위와 하단 Trial 출처를 구분한다. 새 렌더 검토는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S22 — 이번 Task인가, 계속 유지할 Project 정보인가?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이번 Task인가, 계속 유지할 Project 정보인가?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1 minute + Q&amp;A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두 종류의 정보를 구분할 필요가 있음을 먼저 인식한다.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“테스트·보존 조건처럼 반복해서 쓰는 문장은 이번 작업에만 필요할까, 다음 작업에도 필요할까?”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(0:00–1:00) S21에서 검증 방법을 골랐다는 점을 회수하고, 테스트·보존 조건처럼 최근 요청에 반복해서 썼던 문장 하나를 떠올리게 한다. “이번 작업에만?”과 “다음 작업에도?” 중 어디에 해당할지 개인적으로 생각한다. 화면의 두 영역은 비워 두고 문장의 분류를 대신 정하지 않는다.</a:t>
            </a:r>
          </a:p>
          <a:p xmlns:a="http://schemas.openxmlformats.org/drawingml/2006/main">
            <a:r>
              <a:t>2. (1:00–3:00) 자발적인 Q&amp;A를 받는다. 답이나 분류 기준을 미리 공개하지 않는다. 침묵도 정상 진행이다.</a:t>
            </a:r>
          </a:p>
          <a:p xmlns:a="http://schemas.openxmlformats.org/drawingml/2006/main">
            <a:r>
              <a:t>3. (3:00) S23에서 후보 예시를 함께 확인하겠다고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 → BEAT-008 handoff, CLM-0029, CLM-0027, CLM-0003, CLM-0005. TEACHING_MODEL.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두 Bucket은 Reflection을 위한 과정의 모델이다. 이 장에서는 정답, 제품 기능, AGENTS.md 또는 완전한 분류를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이번 요청에만 필요한 말과 여러 번 반복할 수 있는 규칙이 다를 수 있음을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Consider information lifetime and scope without deciding the storage mechanism yet.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순서: Reflection 1분 후 Q&amp;A 2분. Reflection은 사적 생각 시간이고 공유는 자발적이다. 응답이 없으면 질문을 한 번 더 읽고 진행한다.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Slide 23에서 Reflection/Discussion을 회수하고 “왜 Project 설명을 매번 다시 쓰는가?”라는 ACT 2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Reflection 1분, Q&amp;A 2분을 보존한다. 긴 토론이나 개인 업무 공개를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질문 슬라이드 `production/ACT_1.pptx` S22 또는 `production/preview/act1/S22.png` 사용. 공유 응답이 없어도 다음으로 진행한다.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S23 — 반복하는 설명을 두 범주로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S23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반복하는 설명을 두 범주로 나누기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1 / 1G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Reflection 1 minute + Transition 3 minutes + Q&amp;A 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Task 정보와 Project 정보는 수명과 적용 범위가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“이번 Task에만 필요한 정보와 Project가 계속 유지할 정보는 무엇일까?”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(0:00–1:00, Reflection) S22의 두 질문을 회수하고 화면의 후보가 자신의 작업에서도 같은 수명·범위인지 조용히 생각하게 한다.</a:t>
            </a:r>
          </a:p>
          <a:p xmlns:a="http://schemas.openxmlformats.org/drawingml/2006/main">
            <a:r>
              <a:t>2. (1:00–2:00, Transition) crop 경계 수정·이번 README 수정과, 계속 유지할 의존성 추가 근거·테스트 명령의 후보 예시를 비교한다. 유일한 정답이나 실제 STATE-01 원문이라고 하지 않는다.</a:t>
            </a:r>
          </a:p>
          <a:p xmlns:a="http://schemas.openxmlformats.org/drawingml/2006/main">
            <a:r>
              <a:t>3. (2:00–4:00, Transition) 정보의 수명과 적용 범위 차이를 정리하고 “Project 정보를 왜 매번 Prompt에 다시 적고 있을까?”를 ACT 2의 질문으로 남긴다.</a:t>
            </a:r>
          </a:p>
          <a:p xmlns:a="http://schemas.openxmlformats.org/drawingml/2006/main">
            <a:r>
              <a:t>4. (4:00–6:00, Q&amp;A) 자발적인 질문을 받고 6분에 ACT 2로 이동한다. 질문이 없으면 다음 문제를 다시 읽고 정시에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장의 두 열은 다음 ACT로 넘길 분류 후보다. 이번 목표와 여러 작업에 남길 사실의 수명이 다르다는 질문만 남긴다. 아직 S26 관찰 결과를 근거처럼 회수하지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BEAT-007, BEAT-008, TRANS-003, CLM-0029, CLM-0027, CLM-0003, CLM-0005. TEACHING_MODEL / CONCEPTUAL.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항목은 수명과 적용 범위를 생각하게 하는 교육용 후보 예시다. 화면의 의존성 예시는 실제 STATE-01 지침처럼 작업상 정당한 근거가 있으면 추가할 수 있다는 조건을 보존한다. 이 장은 그 지침의 실행 효과를 관찰한 결과가 아니다. 유일한 정답·classification test·제품 메커니즘으로 말하지 않는다. AGENTS.md는 이 장에서 답으로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요청 한 번에만 필요한 정보와 프로젝트가 계속 참고할 수 있는 정보를 구별해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Information reuse scope and lifetime may differ; the next ACT will examine the repeated-fact problem before introducing a mechanism.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Reflection 1분 후 map 순서대로 ACT 2 Transition 3분, Q&amp;A 2분. 예시는 후보로만 말하고, 자발적 응답을 받되 정답 분류를 평가하지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“그런데 Project 정보를 왜 매번 Prompt에 다시 적고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0–1분 Reflection, 1–4분 Transition, 4–6분 Q&amp;A. 기존 Notes의 1–5분 전환/5–6분 Q&amp;A 불일치를 승인된 Mode Split 1+3+2로 정렬한다. Project Context 해결책이나 AGENTS.md는 미리 공개하지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기본 경로 — 정적 비교 슬라이드 `production/ACT_1.pptx` S23 또는 `production/preview/act1/S23.png` 사용. Q&amp;A가 없어도 마지막 Transition 질문 후 ACT 2로 간다. 새 제작본의 렌더·경로 대조는 통합 단계에서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14d12367fc419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581e25af7744a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7600f965f44e7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a10a2602a44f4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ba6d71279843a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25eedc411842f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92E7BA3-38EA-42E5-A91B-42BCC78B13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DF72E09-9A1E-45CA-B03C-BA2B8A1CBFF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C84ED99-06B6-4624-A782-7836CE3516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E65878A-36FB-408D-811A-8E3F41140F5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18F378D-AF72-4E4C-A4AD-1ABBBC963A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E48A4908-E827-4D50-BD38-46468FBAC3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25D22D5-C39C-4A7B-9FB0-9896EC8B23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3478EB9-77F3-4BAD-BF6B-475FCCE4508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CE67805-5B98-4F28-B01C-4B5EC2DEB43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0D15BCF-A478-4875-B9EC-B477D87242B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336ad1a62564915" /><Relationship Type="http://schemas.openxmlformats.org/officeDocument/2006/relationships/slideLayout" Target="/ppt/slideLayouts/slideLayout1.xml" Id="R0eb437bb28234724" /><Relationship Type="http://schemas.openxmlformats.org/officeDocument/2006/relationships/slideLayout" Target="/ppt/slideLayouts/slideLayout2.xml" Id="R211edd0925c54253" /><Relationship Type="http://schemas.openxmlformats.org/officeDocument/2006/relationships/slideLayout" Target="/ppt/slideLayouts/slideLayout3.xml" Id="Rdee16c37c4474670" /><Relationship Type="http://schemas.openxmlformats.org/officeDocument/2006/relationships/slideLayout" Target="/ppt/slideLayouts/slideLayout4.xml" Id="R24be0bec07d94313" /><Relationship Type="http://schemas.openxmlformats.org/officeDocument/2006/relationships/slideLayout" Target="/ppt/slideLayouts/slideLayout5.xml" Id="Rd2005994c3364122" /><Relationship Type="http://schemas.openxmlformats.org/officeDocument/2006/relationships/slideLayout" Target="/ppt/slideLayouts/slideLayout6.xml" Id="Ra0051a5058cf45d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eb437bb28234724"/>
    <p:sldLayoutId xmlns:r="http://schemas.openxmlformats.org/officeDocument/2006/relationships" id="2147483650" r:id="R211edd0925c54253"/>
    <p:sldLayoutId xmlns:r="http://schemas.openxmlformats.org/officeDocument/2006/relationships" id="2147483651" r:id="Rdee16c37c4474670"/>
    <p:sldLayoutId xmlns:r="http://schemas.openxmlformats.org/officeDocument/2006/relationships" id="2147483652" r:id="R24be0bec07d94313"/>
    <p:sldLayoutId xmlns:r="http://schemas.openxmlformats.org/officeDocument/2006/relationships" id="2147483653" r:id="Rd2005994c3364122"/>
    <p:sldLayoutId xmlns:r="http://schemas.openxmlformats.org/officeDocument/2006/relationships" id="2147483654" r:id="Ra0051a5058cf45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2971bf6dae4f5e" /><Relationship Type="http://schemas.openxmlformats.org/officeDocument/2006/relationships/image" Target="/ppt/media/image.png" Id="Refa83e3efe134386" /><Relationship Type="http://schemas.openxmlformats.org/officeDocument/2006/relationships/notesSlide" Target="/ppt/notesSlides/notesSlide1.xml" Id="R1024bd79f7224ed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4f04f47a6049ed" /><Relationship Type="http://schemas.openxmlformats.org/officeDocument/2006/relationships/image" Target="/ppt/media/image2.png" Id="R73c34ab3de034962" /><Relationship Type="http://schemas.openxmlformats.org/officeDocument/2006/relationships/notesSlide" Target="/ppt/notesSlides/notesSlide2.xml" Id="R02ce49c0f8cb43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8a917cf4ed2495b" /><Relationship Type="http://schemas.openxmlformats.org/officeDocument/2006/relationships/image" Target="/ppt/media/image3.png" Id="R2192633ccb464e46" /><Relationship Type="http://schemas.openxmlformats.org/officeDocument/2006/relationships/notesSlide" Target="/ppt/notesSlides/notesSlide3.xml" Id="R13abc908270241f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60545a40a4434c" /><Relationship Type="http://schemas.openxmlformats.org/officeDocument/2006/relationships/notesSlide" Target="/ppt/notesSlides/notesSlide4.xml" Id="Rb8177ca6da4d4c5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20712f7b9c44e3" /><Relationship Type="http://schemas.openxmlformats.org/officeDocument/2006/relationships/notesSlide" Target="/ppt/notesSlides/notesSlide5.xml" Id="R52fa957ef879441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33a6329281436c" /><Relationship Type="http://schemas.openxmlformats.org/officeDocument/2006/relationships/notesSlide" Target="/ppt/notesSlides/notesSlide6.xml" Id="R93838747c1be462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8635af489543f3" /><Relationship Type="http://schemas.openxmlformats.org/officeDocument/2006/relationships/notesSlide" Target="/ppt/notesSlides/notesSlide7.xml" Id="Rfd7325cb23784db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abe25384ac540fc" /><Relationship Type="http://schemas.openxmlformats.org/officeDocument/2006/relationships/notesSlide" Target="/ppt/notesSlides/notesSlide8.xml" Id="Rec858b21e1e149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5d46e3de71412b" /><Relationship Type="http://schemas.openxmlformats.org/officeDocument/2006/relationships/notesSlide" Target="/ppt/notesSlides/notesSlide9.xml" Id="R3def660866d348a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a8707f40374ae9" /><Relationship Type="http://schemas.openxmlformats.org/officeDocument/2006/relationships/notesSlide" Target="/ppt/notesSlides/notesSlide10.xml" Id="R207696f329674da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ca95a5e2dd4de4" /><Relationship Type="http://schemas.openxmlformats.org/officeDocument/2006/relationships/notesSlide" Target="/ppt/notesSlides/notesSlide11.xml" Id="R13d4277820054d9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440bf878d24fbc" /><Relationship Type="http://schemas.openxmlformats.org/officeDocument/2006/relationships/notesSlide" Target="/ppt/notesSlides/notesSlide12.xml" Id="R9352a2b0692c4dd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46200c7770a43e5" /><Relationship Type="http://schemas.openxmlformats.org/officeDocument/2006/relationships/notesSlide" Target="/ppt/notesSlides/notesSlide13.xml" Id="Ra5e7641f33184de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ACT 1 · 모호한 작업 요청">
            <a:extLst xmlns:a="http://schemas.openxmlformats.org/drawingml/2006/main">
              <a:ext uri="{FF2B5EF4-FFF2-40B4-BE49-F238E27FC236}">
                <a16:creationId xmlns:a16="http://schemas.microsoft.com/office/drawing/2014/main" id="{A02172CE-6074-40CE-B0D5-9B5D5EA5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모호한 작업 요청</a:t>
            </a:r>
          </a:p>
        </p:txBody>
      </p:sp>
      <p:sp>
        <p:nvSpPr>
          <p:cNvPr id="2" name="S11">
            <a:extLst xmlns:a="http://schemas.openxmlformats.org/drawingml/2006/main">
              <a:ext uri="{FF2B5EF4-FFF2-40B4-BE49-F238E27FC236}">
                <a16:creationId xmlns:a16="http://schemas.microsoft.com/office/drawing/2014/main" id="{6979B74F-2A47-414F-BF52-8ADFBA9D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S11</a:t>
            </a:r>
          </a:p>
        </p:txBody>
      </p:sp>
      <p:sp>
        <p:nvSpPr>
          <p:cNvPr id="3" name="Task에는 무엇이 아직 정해지지 않았을까?">
            <a:extLst xmlns:a="http://schemas.openxmlformats.org/drawingml/2006/main">
              <a:ext uri="{FF2B5EF4-FFF2-40B4-BE49-F238E27FC236}">
                <a16:creationId xmlns:a16="http://schemas.microsoft.com/office/drawing/2014/main" id="{68FB686A-C090-47CB-B231-E3F5EAE1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Task에는 무엇이 아직 정해지지 않았을까?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B9BD41-9D31-4A9F-A851-86D432AE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구성 사례 · AI 생성 삽화 · 토큰/시간 곡선은 수치 없는 개념도">
            <a:extLst xmlns:a="http://schemas.openxmlformats.org/drawingml/2006/main">
              <a:ext uri="{FF2B5EF4-FFF2-40B4-BE49-F238E27FC236}">
                <a16:creationId xmlns:a16="http://schemas.microsoft.com/office/drawing/2014/main" id="{F9BE8CC9-47F6-49B1-B78C-1A3CFC25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구성 사례 · AI 생성 삽화 · 토큰/시간 곡선은 수치 없는 개념도</a:t>
            </a:r>
          </a:p>
        </p:txBody>
      </p:sp>
      <p:sp>
        <p:nvSpPr>
          <p:cNvPr id="6" name="실제 Agent 실패·측정 결과·기하급수 증가 법칙이 아닙니다. 필요한 정보를 되묻는 선택도 가능합니다.">
            <a:extLst xmlns:a="http://schemas.openxmlformats.org/drawingml/2006/main">
              <a:ext uri="{FF2B5EF4-FFF2-40B4-BE49-F238E27FC236}">
                <a16:creationId xmlns:a16="http://schemas.microsoft.com/office/drawing/2014/main" id="{720D524F-E569-4846-8BA5-C9388C77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Agent 실패·측정 결과·기하급수 증가 법칙이 아닙니다. 필요한 정보를 되묻는 선택도 가능합니다.</a:t>
            </a:r>
          </a:p>
        </p:txBody>
      </p:sp>
      <p:sp>
        <p:nvSpPr>
          <p:cNvPr id="7" name="같은 Repository를 보고 있습니다.">
            <a:extLst xmlns:a="http://schemas.openxmlformats.org/drawingml/2006/main">
              <a:ext uri="{FF2B5EF4-FFF2-40B4-BE49-F238E27FC236}">
                <a16:creationId xmlns:a16="http://schemas.microsoft.com/office/drawing/2014/main" id="{7AF3048D-44B2-496A-9A4D-A5D02BC17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Repository를 보고 있습니다.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D4E435-BB70-42B2-A4B3-0DA9DF4D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6385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요청 입력 · 교육용 재구성">
            <a:extLst xmlns:a="http://schemas.openxmlformats.org/drawingml/2006/main">
              <a:ext uri="{FF2B5EF4-FFF2-40B4-BE49-F238E27FC236}">
                <a16:creationId xmlns:a16="http://schemas.microsoft.com/office/drawing/2014/main" id="{42872D77-630E-482F-A7DD-D4F0386E5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3295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입력 · 교육용 재구성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8564B6-4CB2-4E47-8F10-B2CD274A6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47975"/>
            <a:ext cx="3295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filter 성능 개선해줘">
            <a:extLst xmlns:a="http://schemas.openxmlformats.org/drawingml/2006/main">
              <a:ext uri="{FF2B5EF4-FFF2-40B4-BE49-F238E27FC236}">
                <a16:creationId xmlns:a16="http://schemas.microsoft.com/office/drawing/2014/main" id="{20424745-D091-4B50-98AA-85BE69593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filter 성능 개선해줘</a:t>
            </a:r>
          </a:p>
        </p:txBody>
      </p:sp>
      <p:sp>
        <p:nvSpPr>
          <p:cNvPr id="12" name="+">
            <a:extLst xmlns:a="http://schemas.openxmlformats.org/drawingml/2006/main">
              <a:ext uri="{FF2B5EF4-FFF2-40B4-BE49-F238E27FC236}">
                <a16:creationId xmlns:a16="http://schemas.microsoft.com/office/drawing/2014/main" id="{CD8CAF00-5C72-414B-BA12-8569ADB5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A1ADFE-339C-4DE9-9E24-9A1DB653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69570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↑">
            <a:extLst xmlns:a="http://schemas.openxmlformats.org/drawingml/2006/main">
              <a:ext uri="{FF2B5EF4-FFF2-40B4-BE49-F238E27FC236}">
                <a16:creationId xmlns:a16="http://schemas.microsoft.com/office/drawing/2014/main" id="{6239A80E-41B6-461B-B4E1-3BA9DB15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686175"/>
            <a:ext cx="238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↑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662457-7022-4F14-8596-4365051D3A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a83e3efe134386"/>
          <a:stretch xmlns:a="http://schemas.openxmlformats.org/drawingml/2006/main"/>
        </p:blipFill>
        <p:spPr>
          <a:xfrm xmlns:a="http://schemas.openxmlformats.org/drawingml/2006/main">
            <a:off x="4400550" y="2340769"/>
            <a:ext cx="2800350" cy="2100263"/>
          </a:xfrm>
          <a:prstGeom xmlns:a="http://schemas.openxmlformats.org/drawingml/2006/main" prst="rect">
            <a:avLst/>
          </a:prstGeom>
        </p:spPr>
      </p:pic>
      <p:sp>
        <p:nvSpPr>
          <p:cNvPr id="16" name="어느 선택이 의도일까?">
            <a:extLst xmlns:a="http://schemas.openxmlformats.org/drawingml/2006/main">
              <a:ext uri="{FF2B5EF4-FFF2-40B4-BE49-F238E27FC236}">
                <a16:creationId xmlns:a16="http://schemas.microsoft.com/office/drawing/2014/main" id="{809EA8C7-5EF3-4154-AA02-AB334EBB0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40055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어느 선택이 의도일까?</a:t>
            </a:r>
          </a:p>
        </p:txBody>
      </p:sp>
      <p:sp>
        <p:nvSpPr>
          <p:cNvPr id="17" name="바꿀 것">
            <a:extLst xmlns:a="http://schemas.openxmlformats.org/drawingml/2006/main">
              <a:ext uri="{FF2B5EF4-FFF2-40B4-BE49-F238E27FC236}">
                <a16:creationId xmlns:a16="http://schemas.microsoft.com/office/drawing/2014/main" id="{31826CCD-A58D-4897-B40E-DD1346646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2574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바꿀 것</a:t>
            </a:r>
          </a:p>
        </p:txBody>
      </p:sp>
      <p:sp>
        <p:nvSpPr>
          <p:cNvPr id="18" name="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59C94FCE-3AF3-4BC1-A824-341427750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552700"/>
            <a:ext cx="3771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바꿀까?</a:t>
            </a:r>
          </a:p>
        </p:txBody>
      </p:sp>
      <p:sp>
        <p:nvSpPr>
          <p:cNvPr id="19" name="?">
            <a:extLst xmlns:a="http://schemas.openxmlformats.org/drawingml/2006/main">
              <a:ext uri="{FF2B5EF4-FFF2-40B4-BE49-F238E27FC236}">
                <a16:creationId xmlns:a16="http://schemas.microsoft.com/office/drawing/2014/main" id="{D41CF392-8E71-4CEC-BCBA-B798C9DA7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55270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EC8BB0-A943-4B48-84A5-D5B06D4B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000375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1" name="보존할 것">
            <a:extLst xmlns:a="http://schemas.openxmlformats.org/drawingml/2006/main">
              <a:ext uri="{FF2B5EF4-FFF2-40B4-BE49-F238E27FC236}">
                <a16:creationId xmlns:a16="http://schemas.microsoft.com/office/drawing/2014/main" id="{D4430E96-0F79-4993-8AB0-CF5718D5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385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보존할 것</a:t>
            </a:r>
          </a:p>
        </p:txBody>
      </p:sp>
      <p:sp>
        <p:nvSpPr>
          <p:cNvPr id="22" name="무엇을 그대로 지킬까?">
            <a:extLst xmlns:a="http://schemas.openxmlformats.org/drawingml/2006/main">
              <a:ext uri="{FF2B5EF4-FFF2-40B4-BE49-F238E27FC236}">
                <a16:creationId xmlns:a16="http://schemas.microsoft.com/office/drawing/2014/main" id="{585CEE8B-0196-4DE0-B3D7-5E6E5012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33775"/>
            <a:ext cx="3771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그대로 지킬까?</a:t>
            </a:r>
          </a:p>
        </p:txBody>
      </p:sp>
      <p:sp>
        <p:nvSpPr>
          <p:cNvPr id="23" name="?">
            <a:extLst xmlns:a="http://schemas.openxmlformats.org/drawingml/2006/main">
              <a:ext uri="{FF2B5EF4-FFF2-40B4-BE49-F238E27FC236}">
                <a16:creationId xmlns:a16="http://schemas.microsoft.com/office/drawing/2014/main" id="{3AB59E03-D116-4E07-9202-41707BDB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35337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7B46AC-0255-4AC9-BC31-5A05E547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98145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5" name="완료 근거">
            <a:extLst xmlns:a="http://schemas.openxmlformats.org/drawingml/2006/main">
              <a:ext uri="{FF2B5EF4-FFF2-40B4-BE49-F238E27FC236}">
                <a16:creationId xmlns:a16="http://schemas.microsoft.com/office/drawing/2014/main" id="{2AD7F0BD-DD8F-4EDE-9A96-D7EB6BCFF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2195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완료 근거</a:t>
            </a:r>
          </a:p>
        </p:txBody>
      </p:sp>
      <p:sp>
        <p:nvSpPr>
          <p:cNvPr id="26" name="무엇을 보면 끝났다고 할까?">
            <a:extLst xmlns:a="http://schemas.openxmlformats.org/drawingml/2006/main">
              <a:ext uri="{FF2B5EF4-FFF2-40B4-BE49-F238E27FC236}">
                <a16:creationId xmlns:a16="http://schemas.microsoft.com/office/drawing/2014/main" id="{1CC5EA1D-4A05-4DB2-9C7E-28033E6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514850"/>
            <a:ext cx="3771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보면 끝났다고 할까?</a:t>
            </a:r>
          </a:p>
        </p:txBody>
      </p:sp>
      <p:sp>
        <p:nvSpPr>
          <p:cNvPr id="27" name="?">
            <a:extLst xmlns:a="http://schemas.openxmlformats.org/drawingml/2006/main">
              <a:ext uri="{FF2B5EF4-FFF2-40B4-BE49-F238E27FC236}">
                <a16:creationId xmlns:a16="http://schemas.microsoft.com/office/drawing/2014/main" id="{BAFB72E3-AF2E-4E4D-BA03-4EA29815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45148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AD86BD-4B40-4E69-9408-99AFEFDAC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62525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9" name="재탐색·재시도가 길어질 수 있다">
            <a:extLst xmlns:a="http://schemas.openxmlformats.org/drawingml/2006/main">
              <a:ext uri="{FF2B5EF4-FFF2-40B4-BE49-F238E27FC236}">
                <a16:creationId xmlns:a16="http://schemas.microsoft.com/office/drawing/2014/main" id="{1E36DB1E-EFAA-4FB4-834F-C60DD20B6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재탐색·재시도가 길어질 수 있다</a:t>
            </a:r>
          </a:p>
        </p:txBody>
      </p:sp>
      <p:sp>
        <p:nvSpPr>
          <p:cNvPr id="30" name="토큰 소모">
            <a:extLst xmlns:a="http://schemas.openxmlformats.org/drawingml/2006/main">
              <a:ext uri="{FF2B5EF4-FFF2-40B4-BE49-F238E27FC236}">
                <a16:creationId xmlns:a16="http://schemas.microsoft.com/office/drawing/2014/main" id="{E5C54E0E-D924-4E0C-A969-9F80BA8B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2192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토큰 소모</a:t>
            </a:r>
          </a:p>
        </p:txBody>
      </p:sp>
      <p:sp>
        <p:nvSpPr>
          <p:cNvPr id="31" name="Qualitative resource growth, no measured scale">
            <a:extLst xmlns:a="http://schemas.openxmlformats.org/drawingml/2006/main">
              <a:ext uri="{FF2B5EF4-FFF2-40B4-BE49-F238E27FC236}">
                <a16:creationId xmlns:a16="http://schemas.microsoft.com/office/drawing/2014/main" id="{4F14B0B1-1285-4A7D-A4CA-1D014667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38725"/>
            <a:ext cx="1543050" cy="552450"/>
          </a:xfrm>
          <a:custGeom xmlns:a="http://schemas.openxmlformats.org/drawingml/2006/main">
            <a:pathLst>
              <a:path w="1543050" h="552450">
                <a:moveTo>
                  <a:pt x="0" y="533400"/>
                </a:moveTo>
                <a:cubicBezTo>
                  <a:pt x="762000" y="533400"/>
                  <a:pt x="1323975" y="523875"/>
                  <a:pt x="1524000" y="285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32" name="↑">
            <a:extLst xmlns:a="http://schemas.openxmlformats.org/drawingml/2006/main">
              <a:ext uri="{FF2B5EF4-FFF2-40B4-BE49-F238E27FC236}">
                <a16:creationId xmlns:a16="http://schemas.microsoft.com/office/drawing/2014/main" id="{9BEBA641-2B98-4C82-839E-6C18D26E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9625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↑</a:t>
            </a:r>
          </a:p>
        </p:txBody>
      </p:sp>
      <p:sp>
        <p:nvSpPr>
          <p:cNvPr id="33" name="작업 시간">
            <a:extLst xmlns:a="http://schemas.openxmlformats.org/drawingml/2006/main">
              <a:ext uri="{FF2B5EF4-FFF2-40B4-BE49-F238E27FC236}">
                <a16:creationId xmlns:a16="http://schemas.microsoft.com/office/drawing/2014/main" id="{94199FBC-4F6C-461A-B4A2-6702FFD7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162550"/>
            <a:ext cx="12192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작업 시간</a:t>
            </a:r>
          </a:p>
        </p:txBody>
      </p:sp>
      <p:sp>
        <p:nvSpPr>
          <p:cNvPr id="34" name="Qualitative resource growth, no measured scale">
            <a:extLst xmlns:a="http://schemas.openxmlformats.org/drawingml/2006/main">
              <a:ext uri="{FF2B5EF4-FFF2-40B4-BE49-F238E27FC236}">
                <a16:creationId xmlns:a16="http://schemas.microsoft.com/office/drawing/2014/main" id="{B672228B-76FE-46B1-8BC2-B11A50832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38725"/>
            <a:ext cx="1543050" cy="552450"/>
          </a:xfrm>
          <a:custGeom xmlns:a="http://schemas.openxmlformats.org/drawingml/2006/main">
            <a:pathLst>
              <a:path w="1543050" h="552450">
                <a:moveTo>
                  <a:pt x="0" y="533400"/>
                </a:moveTo>
                <a:cubicBezTo>
                  <a:pt x="762000" y="533400"/>
                  <a:pt x="1323975" y="523875"/>
                  <a:pt x="1524000" y="28575"/>
                </a:cubicBez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35" name="↑">
            <a:extLst xmlns:a="http://schemas.openxmlformats.org/drawingml/2006/main">
              <a:ext uri="{FF2B5EF4-FFF2-40B4-BE49-F238E27FC236}">
                <a16:creationId xmlns:a16="http://schemas.microsoft.com/office/drawing/2014/main" id="{DF5840E5-6865-4A62-8CAA-BF53A612D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62525"/>
            <a:ext cx="266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↑</a:t>
            </a:r>
          </a:p>
        </p:txBody>
      </p:sp>
      <p:sp>
        <p:nvSpPr>
          <p:cNvPr id="3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85295EA-E2BA-446F-97B7-2DECDBED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8670209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ACT 1 · 같은 Agent, 같은 요청, 가능한 해석">
            <a:extLst xmlns:a="http://schemas.openxmlformats.org/drawingml/2006/main">
              <a:ext uri="{FF2B5EF4-FFF2-40B4-BE49-F238E27FC236}">
                <a16:creationId xmlns:a16="http://schemas.microsoft.com/office/drawing/2014/main" id="{36A7D59B-FDC1-4216-A54D-53FAD018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같은 Agent, 같은 요청, 가능한 해석</a:t>
            </a:r>
          </a:p>
        </p:txBody>
      </p:sp>
      <p:sp>
        <p:nvSpPr>
          <p:cNvPr id="2" name="S12">
            <a:extLst xmlns:a="http://schemas.openxmlformats.org/drawingml/2006/main">
              <a:ext uri="{FF2B5EF4-FFF2-40B4-BE49-F238E27FC236}">
                <a16:creationId xmlns:a16="http://schemas.microsoft.com/office/drawing/2014/main" id="{AE71D496-483D-4830-837C-091B0F3D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S12</a:t>
            </a:r>
          </a:p>
        </p:txBody>
      </p:sp>
      <p:sp>
        <p:nvSpPr>
          <p:cNvPr id="3" name="요청만으로는 의도가 보이지 않는다">
            <a:extLst xmlns:a="http://schemas.openxmlformats.org/drawingml/2006/main">
              <a:ext uri="{FF2B5EF4-FFF2-40B4-BE49-F238E27FC236}">
                <a16:creationId xmlns:a16="http://schemas.microsoft.com/office/drawing/2014/main" id="{2B8F7DE9-8ECB-49FC-8AF5-E2D65E28E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요청만으로는 의도가 보이지 않는다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9D6716-B9A6-44DB-9A2C-FE6CD770D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병렬 시간선 · 실제 반복 실행·동시 Subagent·분기 확률을 관찰한 결과가 아님">
            <a:extLst xmlns:a="http://schemas.openxmlformats.org/drawingml/2006/main">
              <a:ext uri="{FF2B5EF4-FFF2-40B4-BE49-F238E27FC236}">
                <a16:creationId xmlns:a16="http://schemas.microsoft.com/office/drawing/2014/main" id="{6336372C-4174-49AA-B123-1DC23EF9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병렬 시간선 · 실제 반복 실행·동시 Subagent·분기 확률을 관찰한 결과가 아님</a:t>
            </a:r>
          </a:p>
        </p:txBody>
      </p:sp>
      <p:sp>
        <p:nvSpPr>
          <p:cNvPr id="6" name="짧은 요청의 가능한 해석을 그렸습니다. 실제 TRIAL-002 Prompt나 특정 실패의 재현이 아닙니다.">
            <a:extLst xmlns:a="http://schemas.openxmlformats.org/drawingml/2006/main">
              <a:ext uri="{FF2B5EF4-FFF2-40B4-BE49-F238E27FC236}">
                <a16:creationId xmlns:a16="http://schemas.microsoft.com/office/drawing/2014/main" id="{AE9F2BBF-6A1A-42FD-8470-0E0FA562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짧은 요청의 가능한 해석을 그렸습니다. 실제 TRIAL-002 Prompt나 특정 실패의 재현이 아닙니다.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ECF7AE-E5AC-42E1-BEE9-571F4830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1910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8" name="요청 입력 · 교육용 재구성">
            <a:extLst xmlns:a="http://schemas.openxmlformats.org/drawingml/2006/main">
              <a:ext uri="{FF2B5EF4-FFF2-40B4-BE49-F238E27FC236}">
                <a16:creationId xmlns:a16="http://schemas.microsoft.com/office/drawing/2014/main" id="{091BF7E1-5848-4A95-974D-DE0D42166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3848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입력 · 교육용 재구성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C054E4-1EF9-44AE-B9A8-6BA38D690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47925"/>
            <a:ext cx="384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 test 고쳐줘">
            <a:extLst xmlns:a="http://schemas.openxmlformats.org/drawingml/2006/main">
              <a:ext uri="{FF2B5EF4-FFF2-40B4-BE49-F238E27FC236}">
                <a16:creationId xmlns:a16="http://schemas.microsoft.com/office/drawing/2014/main" id="{2DAF254C-744F-4703-9824-BBFC9FBB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985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test 고쳐줘</a:t>
            </a:r>
          </a:p>
        </p:txBody>
      </p:sp>
      <p:sp>
        <p:nvSpPr>
          <p:cNvPr id="11" name="+">
            <a:extLst xmlns:a="http://schemas.openxmlformats.org/drawingml/2006/main">
              <a:ext uri="{FF2B5EF4-FFF2-40B4-BE49-F238E27FC236}">
                <a16:creationId xmlns:a16="http://schemas.microsoft.com/office/drawing/2014/main" id="{91DD9A42-2717-4E0A-AB06-D3E98FB0D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1223E1-5E31-4568-BA6B-28D4BA17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21945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3" name="↑">
            <a:extLst xmlns:a="http://schemas.openxmlformats.org/drawingml/2006/main">
              <a:ext uri="{FF2B5EF4-FFF2-40B4-BE49-F238E27FC236}">
                <a16:creationId xmlns:a16="http://schemas.microsoft.com/office/drawing/2014/main" id="{7B353FA8-5A2D-4EE1-9D31-C0FB30CF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209925"/>
            <a:ext cx="238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↑</a:t>
            </a:r>
          </a:p>
        </p:txBody>
      </p:sp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F73271-32F3-4D46-8F7B-EBF1A2202A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c34ab3de034962"/>
          <a:stretch xmlns:a="http://schemas.openxmlformats.org/drawingml/2006/main"/>
        </p:blipFill>
        <p:spPr>
          <a:xfrm xmlns:a="http://schemas.openxmlformats.org/drawingml/2006/main">
            <a:off x="1587500" y="3609975"/>
            <a:ext cx="1778000" cy="1333500"/>
          </a:xfrm>
          <a:prstGeom xmlns:a="http://schemas.openxmlformats.org/drawingml/2006/main" prst="rect">
            <a:avLst/>
          </a:prstGeom>
        </p:spPr>
      </p:pic>
      <p:sp>
        <p:nvSpPr>
          <p:cNvPr id="15" name="같은 AI Agent · 같은 요청">
            <a:extLst xmlns:a="http://schemas.openxmlformats.org/drawingml/2006/main">
              <a:ext uri="{FF2B5EF4-FFF2-40B4-BE49-F238E27FC236}">
                <a16:creationId xmlns:a16="http://schemas.microsoft.com/office/drawing/2014/main" id="{F9B57B26-8020-4FD9-84BC-5A527CB50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AI Agent · 같은 요청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50EAC8-9010-4DBE-835B-0A8807A4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000500"/>
            <a:ext cx="8382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어느 경로를 원하는가?">
            <a:extLst xmlns:a="http://schemas.openxmlformats.org/drawingml/2006/main">
              <a:ext uri="{FF2B5EF4-FFF2-40B4-BE49-F238E27FC236}">
                <a16:creationId xmlns:a16="http://schemas.microsoft.com/office/drawing/2014/main" id="{3A2A047D-9021-4396-82CB-A0EFB04E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895475"/>
            <a:ext cx="617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어느 경로를 원하는가?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375921-1E5E-4C5C-8D30-14CB3E690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0195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9" name="Possible interpretation A">
            <a:extLst xmlns:a="http://schemas.openxmlformats.org/drawingml/2006/main">
              <a:ext uri="{FF2B5EF4-FFF2-40B4-BE49-F238E27FC236}">
                <a16:creationId xmlns:a16="http://schemas.microsoft.com/office/drawing/2014/main" id="{9B19BC1E-B4AF-447B-BF5D-60BA16B7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71825"/>
            <a:ext cx="6172200" cy="1828800"/>
          </a:xfrm>
          <a:custGeom xmlns:a="http://schemas.openxmlformats.org/drawingml/2006/main">
            <a:pathLst>
              <a:path w="6172200" h="1828800">
                <a:moveTo>
                  <a:pt x="0" y="914400"/>
                </a:moveTo>
                <a:cubicBezTo>
                  <a:pt x="495300" y="914400"/>
                  <a:pt x="428625" y="0"/>
                  <a:pt x="1047750" y="0"/>
                </a:cubicBezTo>
                <a:lnTo>
                  <a:pt x="6057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4D5A6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B96D33-772F-4FF3-9BA3-A7FA4755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3133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1" name="A">
            <a:extLst xmlns:a="http://schemas.openxmlformats.org/drawingml/2006/main">
              <a:ext uri="{FF2B5EF4-FFF2-40B4-BE49-F238E27FC236}">
                <a16:creationId xmlns:a16="http://schemas.microsoft.com/office/drawing/2014/main" id="{4741F159-0191-4999-957A-D78E541C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53365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2" name="테스트를 바꿀까?">
            <a:extLst xmlns:a="http://schemas.openxmlformats.org/drawingml/2006/main">
              <a:ext uri="{FF2B5EF4-FFF2-40B4-BE49-F238E27FC236}">
                <a16:creationId xmlns:a16="http://schemas.microsoft.com/office/drawing/2014/main" id="{085141F1-2806-4653-BA3C-13E08CBF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466975"/>
            <a:ext cx="4667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테스트를 바꿀까?</a:t>
            </a:r>
          </a:p>
        </p:txBody>
      </p:sp>
      <p:sp>
        <p:nvSpPr>
          <p:cNvPr id="23" name="기대값을 수정하는 해석">
            <a:extLst xmlns:a="http://schemas.openxmlformats.org/drawingml/2006/main">
              <a:ext uri="{FF2B5EF4-FFF2-40B4-BE49-F238E27FC236}">
                <a16:creationId xmlns:a16="http://schemas.microsoft.com/office/drawing/2014/main" id="{C5E316CA-D03D-48B5-8525-C0D61DC83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83845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기대값을 수정하는 해석</a:t>
            </a:r>
          </a:p>
        </p:txBody>
      </p:sp>
      <p:sp>
        <p:nvSpPr>
          <p:cNvPr id="24" name="Possible interpretation B">
            <a:extLst xmlns:a="http://schemas.openxmlformats.org/drawingml/2006/main">
              <a:ext uri="{FF2B5EF4-FFF2-40B4-BE49-F238E27FC236}">
                <a16:creationId xmlns:a16="http://schemas.microsoft.com/office/drawing/2014/main" id="{171820E4-8A33-49A9-AD26-62229997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71825"/>
            <a:ext cx="6172200" cy="1828800"/>
          </a:xfrm>
          <a:custGeom xmlns:a="http://schemas.openxmlformats.org/drawingml/2006/main">
            <a:pathLst>
              <a:path w="6172200" h="1828800">
                <a:moveTo>
                  <a:pt x="0" y="914400"/>
                </a:moveTo>
                <a:cubicBezTo>
                  <a:pt x="495300" y="914400"/>
                  <a:pt x="428625" y="914400"/>
                  <a:pt x="1047750" y="914400"/>
                </a:cubicBezTo>
                <a:lnTo>
                  <a:pt x="6057900" y="914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4D5A6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C6CE2E-5FB3-4A6A-9B55-DCCF8B26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0481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6" name="B">
            <a:extLst xmlns:a="http://schemas.openxmlformats.org/drawingml/2006/main">
              <a:ext uri="{FF2B5EF4-FFF2-40B4-BE49-F238E27FC236}">
                <a16:creationId xmlns:a16="http://schemas.microsoft.com/office/drawing/2014/main" id="{9DFC6CA9-A421-4FBB-B621-0F02F2139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44805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7" name="구현을 바꿀까?">
            <a:extLst xmlns:a="http://schemas.openxmlformats.org/drawingml/2006/main">
              <a:ext uri="{FF2B5EF4-FFF2-40B4-BE49-F238E27FC236}">
                <a16:creationId xmlns:a16="http://schemas.microsoft.com/office/drawing/2014/main" id="{7203F5DB-B6A7-40B3-A680-4BB598D7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381375"/>
            <a:ext cx="4667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구현을 바꿀까?</a:t>
            </a:r>
          </a:p>
        </p:txBody>
      </p:sp>
      <p:sp>
        <p:nvSpPr>
          <p:cNvPr id="28" name="동작을 명세에 맞추는 해석">
            <a:extLst xmlns:a="http://schemas.openxmlformats.org/drawingml/2006/main">
              <a:ext uri="{FF2B5EF4-FFF2-40B4-BE49-F238E27FC236}">
                <a16:creationId xmlns:a16="http://schemas.microsoft.com/office/drawing/2014/main" id="{4DDD6C4C-45A2-49C2-9090-AAA2D2613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5285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동작을 명세에 맞추는 해석</a:t>
            </a:r>
          </a:p>
        </p:txBody>
      </p:sp>
      <p:sp>
        <p:nvSpPr>
          <p:cNvPr id="29" name="Possible interpretation C">
            <a:extLst xmlns:a="http://schemas.openxmlformats.org/drawingml/2006/main">
              <a:ext uri="{FF2B5EF4-FFF2-40B4-BE49-F238E27FC236}">
                <a16:creationId xmlns:a16="http://schemas.microsoft.com/office/drawing/2014/main" id="{6249D412-52A5-4091-8FF4-A9EF4D98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71825"/>
            <a:ext cx="6172200" cy="1828800"/>
          </a:xfrm>
          <a:custGeom xmlns:a="http://schemas.openxmlformats.org/drawingml/2006/main">
            <a:pathLst>
              <a:path w="6172200" h="1828800">
                <a:moveTo>
                  <a:pt x="0" y="914400"/>
                </a:moveTo>
                <a:cubicBezTo>
                  <a:pt x="495300" y="914400"/>
                  <a:pt x="428625" y="1828800"/>
                  <a:pt x="1047750" y="1828800"/>
                </a:cubicBezTo>
                <a:lnTo>
                  <a:pt x="6057900" y="1828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4D5A6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DBB30E-E1ED-4F03-AC56-BA582501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962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31" name="C">
            <a:extLst xmlns:a="http://schemas.openxmlformats.org/drawingml/2006/main">
              <a:ext uri="{FF2B5EF4-FFF2-40B4-BE49-F238E27FC236}">
                <a16:creationId xmlns:a16="http://schemas.microsoft.com/office/drawing/2014/main" id="{0D75785F-D6DF-4438-8EB6-744605EFC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36245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2" name="먼저 물어볼까?">
            <a:extLst xmlns:a="http://schemas.openxmlformats.org/drawingml/2006/main">
              <a:ext uri="{FF2B5EF4-FFF2-40B4-BE49-F238E27FC236}">
                <a16:creationId xmlns:a16="http://schemas.microsoft.com/office/drawing/2014/main" id="{0550A5CE-7EE1-4892-B34C-81262708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95775"/>
            <a:ext cx="4667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먼저 물어볼까?</a:t>
            </a:r>
          </a:p>
        </p:txBody>
      </p:sp>
      <p:sp>
        <p:nvSpPr>
          <p:cNvPr id="33" name="의도를 확인한 뒤 진행">
            <a:extLst xmlns:a="http://schemas.openxmlformats.org/drawingml/2006/main">
              <a:ext uri="{FF2B5EF4-FFF2-40B4-BE49-F238E27FC236}">
                <a16:creationId xmlns:a16="http://schemas.microsoft.com/office/drawing/2014/main" id="{03F0BC98-4C7C-4F2D-8FE1-0ADDAAE6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66725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의도를 확인한 뒤 진행</a:t>
            </a:r>
          </a:p>
        </p:txBody>
      </p:sp>
      <p:sp>
        <p:nvSpPr>
          <p:cNvPr id="34" name="아직 정해지지 않은 정보">
            <a:extLst xmlns:a="http://schemas.openxmlformats.org/drawingml/2006/main">
              <a:ext uri="{FF2B5EF4-FFF2-40B4-BE49-F238E27FC236}">
                <a16:creationId xmlns:a16="http://schemas.microsoft.com/office/drawing/2014/main" id="{DC4FBD7B-DE6B-49CB-952E-7B9079E2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아직 정해지지 않은 정보</a:t>
            </a:r>
          </a:p>
        </p:txBody>
      </p:sp>
      <p:sp>
        <p:nvSpPr>
          <p:cNvPr id="35" name="목표의 세부 ?">
            <a:extLst xmlns:a="http://schemas.openxmlformats.org/drawingml/2006/main">
              <a:ext uri="{FF2B5EF4-FFF2-40B4-BE49-F238E27FC236}">
                <a16:creationId xmlns:a16="http://schemas.microsoft.com/office/drawing/2014/main" id="{B8214AB7-B793-43F1-AFF3-06F75AE0E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목표의 세부 ?</a:t>
            </a:r>
          </a:p>
        </p:txBody>
      </p:sp>
      <p:sp>
        <p:nvSpPr>
          <p:cNvPr id="36" name="보존 조건 ?">
            <a:extLst xmlns:a="http://schemas.openxmlformats.org/drawingml/2006/main">
              <a:ext uri="{FF2B5EF4-FFF2-40B4-BE49-F238E27FC236}">
                <a16:creationId xmlns:a16="http://schemas.microsoft.com/office/drawing/2014/main" id="{430978FC-996B-493F-B438-395820890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보존 조건 ?</a:t>
            </a:r>
          </a:p>
        </p:txBody>
      </p:sp>
      <p:sp>
        <p:nvSpPr>
          <p:cNvPr id="37" name="수정 범위 ?">
            <a:extLst xmlns:a="http://schemas.openxmlformats.org/drawingml/2006/main">
              <a:ext uri="{FF2B5EF4-FFF2-40B4-BE49-F238E27FC236}">
                <a16:creationId xmlns:a16="http://schemas.microsoft.com/office/drawing/2014/main" id="{E00FC61F-142F-48FD-89A5-A20E76D5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범위 ?</a:t>
            </a:r>
          </a:p>
        </p:txBody>
      </p:sp>
      <p:sp>
        <p:nvSpPr>
          <p:cNvPr id="38" name="확인 근거 ?">
            <a:extLst xmlns:a="http://schemas.openxmlformats.org/drawingml/2006/main">
              <a:ext uri="{FF2B5EF4-FFF2-40B4-BE49-F238E27FC236}">
                <a16:creationId xmlns:a16="http://schemas.microsoft.com/office/drawing/2014/main" id="{A3E0A3EA-801F-494E-A98F-9EA06B80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 근거 ?</a:t>
            </a:r>
          </a:p>
        </p:txBody>
      </p:sp>
      <p:sp>
        <p:nvSpPr>
          <p:cNvPr id="39" name="완료 조건 ?">
            <a:extLst xmlns:a="http://schemas.openxmlformats.org/drawingml/2006/main">
              <a:ext uri="{FF2B5EF4-FFF2-40B4-BE49-F238E27FC236}">
                <a16:creationId xmlns:a16="http://schemas.microsoft.com/office/drawing/2014/main" id="{8D1E0EFE-2F2C-4DE9-8716-B52094B2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조건 ?</a:t>
            </a:r>
          </a:p>
        </p:txBody>
      </p:sp>
      <p:sp>
        <p:nvSpPr>
          <p:cNvPr id="4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A74CC987-0AA4-4F18-9F2C-1EE62AA9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5073168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ACT 1 · 빠진 정보를 채운 같은 요청">
            <a:extLst xmlns:a="http://schemas.openxmlformats.org/drawingml/2006/main">
              <a:ext uri="{FF2B5EF4-FFF2-40B4-BE49-F238E27FC236}">
                <a16:creationId xmlns:a16="http://schemas.microsoft.com/office/drawing/2014/main" id="{6368B518-1220-4649-8071-5E27CE69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빠진 정보를 채운 같은 요청</a:t>
            </a:r>
          </a:p>
        </p:txBody>
      </p:sp>
      <p:sp>
        <p:nvSpPr>
          <p:cNvPr id="2" name="S13">
            <a:extLst xmlns:a="http://schemas.openxmlformats.org/drawingml/2006/main">
              <a:ext uri="{FF2B5EF4-FFF2-40B4-BE49-F238E27FC236}">
                <a16:creationId xmlns:a16="http://schemas.microsoft.com/office/drawing/2014/main" id="{3F71E24D-A43D-4546-8721-C24F7FB81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S13</a:t>
            </a:r>
          </a:p>
        </p:txBody>
      </p:sp>
      <p:sp>
        <p:nvSpPr>
          <p:cNvPr id="3" name="원하는 작업 경로를 Prompt에 담는다">
            <a:extLst xmlns:a="http://schemas.openxmlformats.org/drawingml/2006/main">
              <a:ext uri="{FF2B5EF4-FFF2-40B4-BE49-F238E27FC236}">
                <a16:creationId xmlns:a16="http://schemas.microsoft.com/office/drawing/2014/main" id="{400D519D-0205-4C0A-AC68-51B326B1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원하는 작업 경로를 Prompt에 담는다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DA0D40-BA74-4749-8DE4-7B65BA88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Prompt와 목표 경로 · TRIAL-002의 실제 요청·실행 결과가 아님">
            <a:extLst xmlns:a="http://schemas.openxmlformats.org/drawingml/2006/main">
              <a:ext uri="{FF2B5EF4-FFF2-40B4-BE49-F238E27FC236}">
                <a16:creationId xmlns:a16="http://schemas.microsoft.com/office/drawing/2014/main" id="{F99265C7-174A-43BC-84BF-D6D65AF0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Prompt와 목표 경로 · TRIAL-002의 실제 요청·실행 결과가 아님</a:t>
            </a:r>
          </a:p>
        </p:txBody>
      </p:sp>
      <p:sp>
        <p:nvSpPr>
          <p:cNvPr id="6" name="의도한 경로 표시는 실제 선택·정확성·성공을 보장하지 않습니다. 변경 뒤 검증은 계속 필요합니다.">
            <a:extLst xmlns:a="http://schemas.openxmlformats.org/drawingml/2006/main">
              <a:ext uri="{FF2B5EF4-FFF2-40B4-BE49-F238E27FC236}">
                <a16:creationId xmlns:a16="http://schemas.microsoft.com/office/drawing/2014/main" id="{78F9F9C6-06A6-431C-B9A8-D469AB88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의도한 경로 표시는 실제 선택·정확성·성공을 보장하지 않습니다. 변경 뒤 검증은 계속 필요합니다.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AB3303-E194-47ED-BE93-D274D318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238750" cy="3162300"/>
          </a:xfrm>
          <a:prstGeom xmlns:a="http://schemas.openxmlformats.org/drawingml/2006/main" prst="roundRect">
            <a:avLst>
              <a:gd name="adj" fmla="val 3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8" name="요청 입력 · 교육용 재구성">
            <a:extLst xmlns:a="http://schemas.openxmlformats.org/drawingml/2006/main">
              <a:ext uri="{FF2B5EF4-FFF2-40B4-BE49-F238E27FC236}">
                <a16:creationId xmlns:a16="http://schemas.microsoft.com/office/drawing/2014/main" id="{3060C518-A802-4379-A120-BE141CEC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57400"/>
            <a:ext cx="48958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입력 · 교육용 재구성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CDA77C-3FA6-47D8-980E-D1AB6EC2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09825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 test 고쳐줘">
            <a:extLst xmlns:a="http://schemas.openxmlformats.org/drawingml/2006/main">
              <a:ext uri="{FF2B5EF4-FFF2-40B4-BE49-F238E27FC236}">
                <a16:creationId xmlns:a16="http://schemas.microsoft.com/office/drawing/2014/main" id="{8FD400B7-528B-4115-A986-C37FFBE13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05075"/>
            <a:ext cx="4857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test 고쳐줘</a:t>
            </a:r>
          </a:p>
        </p:txBody>
      </p:sp>
      <p:sp>
        <p:nvSpPr>
          <p:cNvPr id="11" name="목표">
            <a:extLst xmlns:a="http://schemas.openxmlformats.org/drawingml/2006/main">
              <a:ext uri="{FF2B5EF4-FFF2-40B4-BE49-F238E27FC236}">
                <a16:creationId xmlns:a16="http://schemas.microsoft.com/office/drawing/2014/main" id="{4FCB08F9-F1CB-4005-AFDE-64FEDA1D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6286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12" name="crop(1, 3) → 열 1·2, 폭 2">
            <a:extLst xmlns:a="http://schemas.openxmlformats.org/drawingml/2006/main">
              <a:ext uri="{FF2B5EF4-FFF2-40B4-BE49-F238E27FC236}">
                <a16:creationId xmlns:a16="http://schemas.microsoft.com/office/drawing/2014/main" id="{D814C5F7-B43C-4F59-A90C-79A7192B9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15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crop(1, 3) → 열 1·2, 폭 2</a:t>
            </a:r>
          </a:p>
        </p:txBody>
      </p:sp>
      <p:sp>
        <p:nvSpPr>
          <p:cNvPr id="13" name="보존">
            <a:extLst xmlns:a="http://schemas.openxmlformats.org/drawingml/2006/main">
              <a:ext uri="{FF2B5EF4-FFF2-40B4-BE49-F238E27FC236}">
                <a16:creationId xmlns:a16="http://schemas.microsoft.com/office/drawing/2014/main" id="{533497F9-BF7E-4968-973E-CBB99AACD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57550"/>
            <a:ext cx="6286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보존</a:t>
            </a:r>
          </a:p>
        </p:txBody>
      </p:sp>
      <p:sp>
        <p:nvSpPr>
          <p:cNvPr id="14" name="끝 좌표 제외 명세·Test 기대값">
            <a:extLst xmlns:a="http://schemas.openxmlformats.org/drawingml/2006/main">
              <a:ext uri="{FF2B5EF4-FFF2-40B4-BE49-F238E27FC236}">
                <a16:creationId xmlns:a16="http://schemas.microsoft.com/office/drawing/2014/main" id="{F6B3D9E5-794B-4750-A87D-5FF304454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257550"/>
            <a:ext cx="415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제외 명세·Test 기대값</a:t>
            </a:r>
          </a:p>
        </p:txBody>
      </p:sp>
      <p:sp>
        <p:nvSpPr>
          <p:cNvPr id="15" name="범위">
            <a:extLst xmlns:a="http://schemas.openxmlformats.org/drawingml/2006/main">
              <a:ext uri="{FF2B5EF4-FFF2-40B4-BE49-F238E27FC236}">
                <a16:creationId xmlns:a16="http://schemas.microsoft.com/office/drawing/2014/main" id="{F64E09E3-A3F7-4CB5-9F5A-7FC870AB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38550"/>
            <a:ext cx="6286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범위</a:t>
            </a:r>
          </a:p>
        </p:txBody>
      </p:sp>
      <p:sp>
        <p:nvSpPr>
          <p:cNvPr id="16" name="crop 구현만 최소 수정">
            <a:extLst xmlns:a="http://schemas.openxmlformats.org/drawingml/2006/main">
              <a:ext uri="{FF2B5EF4-FFF2-40B4-BE49-F238E27FC236}">
                <a16:creationId xmlns:a16="http://schemas.microsoft.com/office/drawing/2014/main" id="{E22E3BCA-A385-492B-A94E-733B597A7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638550"/>
            <a:ext cx="415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구현만 최소 수정</a:t>
            </a:r>
          </a:p>
        </p:txBody>
      </p:sp>
      <p:sp>
        <p:nvSpPr>
          <p:cNvPr id="17" name="확인">
            <a:extLst xmlns:a="http://schemas.openxmlformats.org/drawingml/2006/main">
              <a:ext uri="{FF2B5EF4-FFF2-40B4-BE49-F238E27FC236}">
                <a16:creationId xmlns:a16="http://schemas.microsoft.com/office/drawing/2014/main" id="{DA82C9A2-73C2-4677-BA00-DD1B7C41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9550"/>
            <a:ext cx="6286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</a:t>
            </a:r>
          </a:p>
        </p:txBody>
      </p:sp>
      <p:sp>
        <p:nvSpPr>
          <p:cNvPr id="18" name="집중·전체 Test + CLI smoke + diff">
            <a:extLst xmlns:a="http://schemas.openxmlformats.org/drawingml/2006/main">
              <a:ext uri="{FF2B5EF4-FFF2-40B4-BE49-F238E27FC236}">
                <a16:creationId xmlns:a16="http://schemas.microsoft.com/office/drawing/2014/main" id="{349F8779-5866-4276-94EA-9944B526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019550"/>
            <a:ext cx="415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집중·전체 Test + CLI smoke + diff</a:t>
            </a:r>
          </a:p>
        </p:txBody>
      </p:sp>
      <p:sp>
        <p:nvSpPr>
          <p:cNvPr id="19" name="완료">
            <a:extLst xmlns:a="http://schemas.openxmlformats.org/drawingml/2006/main">
              <a:ext uri="{FF2B5EF4-FFF2-40B4-BE49-F238E27FC236}">
                <a16:creationId xmlns:a16="http://schemas.microsoft.com/office/drawing/2014/main" id="{27C4D06F-D52A-4E0B-89A6-0D2BB6E9C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00550"/>
            <a:ext cx="6286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20" name="결과·검증·미확인 사항 보고">
            <a:extLst xmlns:a="http://schemas.openxmlformats.org/drawingml/2006/main">
              <a:ext uri="{FF2B5EF4-FFF2-40B4-BE49-F238E27FC236}">
                <a16:creationId xmlns:a16="http://schemas.microsoft.com/office/drawing/2014/main" id="{E59FA9F4-B2C1-43C9-BCDE-60DB4EA6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400550"/>
            <a:ext cx="41529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결과·검증·미확인 사항 보고</a:t>
            </a:r>
          </a:p>
        </p:txBody>
      </p:sp>
      <p:sp>
        <p:nvSpPr>
          <p:cNvPr id="21" name="+">
            <a:extLst xmlns:a="http://schemas.openxmlformats.org/drawingml/2006/main">
              <a:ext uri="{FF2B5EF4-FFF2-40B4-BE49-F238E27FC236}">
                <a16:creationId xmlns:a16="http://schemas.microsoft.com/office/drawing/2014/main" id="{5CCC5222-0A91-4641-BFE5-07C0ED30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4223BF-B74C-44B7-8C80-61CAD724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8155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↑">
            <a:extLst xmlns:a="http://schemas.openxmlformats.org/drawingml/2006/main">
              <a:ext uri="{FF2B5EF4-FFF2-40B4-BE49-F238E27FC236}">
                <a16:creationId xmlns:a16="http://schemas.microsoft.com/office/drawing/2014/main" id="{D1AD5821-3373-48E9-93D4-7AD178E2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72025"/>
            <a:ext cx="238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↑</a:t>
            </a:r>
          </a:p>
        </p:txBody>
      </p:sp>
      <p:sp>
        <p:nvSpPr>
          <p:cNvPr id="24" name="사람이 원하는 경로를 명시">
            <a:extLst xmlns:a="http://schemas.openxmlformats.org/drawingml/2006/main">
              <a:ext uri="{FF2B5EF4-FFF2-40B4-BE49-F238E27FC236}">
                <a16:creationId xmlns:a16="http://schemas.microsoft.com/office/drawing/2014/main" id="{B91E1C58-2F9D-47E4-A6ED-CB13B0AC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66875"/>
            <a:ext cx="53721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원하는 경로를 명시</a:t>
            </a:r>
          </a:p>
        </p:txBody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7BB350-4726-4081-9F91-8322DE4885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92633ccb464e46"/>
          <a:stretch xmlns:a="http://schemas.openxmlformats.org/drawingml/2006/main"/>
        </p:blipFill>
        <p:spPr>
          <a:xfrm xmlns:a="http://schemas.openxmlformats.org/drawingml/2006/main">
            <a:off x="6067425" y="2038350"/>
            <a:ext cx="1447800" cy="1085850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863E73-1B54-4FEC-89FF-0957F21B0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857625"/>
            <a:ext cx="323850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F0E04F-DC43-43F5-95D7-03645918E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10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8" name="Possible interpretation A">
            <a:extLst xmlns:a="http://schemas.openxmlformats.org/drawingml/2006/main">
              <a:ext uri="{FF2B5EF4-FFF2-40B4-BE49-F238E27FC236}">
                <a16:creationId xmlns:a16="http://schemas.microsoft.com/office/drawing/2014/main" id="{6323190F-A78D-4ED8-9FA8-954E155D9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257550"/>
            <a:ext cx="5114925" cy="1638300"/>
          </a:xfrm>
          <a:custGeom xmlns:a="http://schemas.openxmlformats.org/drawingml/2006/main">
            <a:pathLst>
              <a:path w="5114925" h="1638300">
                <a:moveTo>
                  <a:pt x="0" y="819150"/>
                </a:moveTo>
                <a:cubicBezTo>
                  <a:pt x="495300" y="819150"/>
                  <a:pt x="428625" y="0"/>
                  <a:pt x="1047750" y="0"/>
                </a:cubicBezTo>
                <a:lnTo>
                  <a:pt x="5000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8848F"/>
            </a:solidFill>
            <a:prstDash val="dash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68E45B4-9F1E-4D35-AB11-A7497174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3219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848F"/>
          </a:solidFill>
          <a:ln xmlns:a="http://schemas.openxmlformats.org/drawingml/2006/main" w="0">
            <a:noFill/>
          </a:ln>
        </p:spPr>
      </p:sp>
      <p:sp>
        <p:nvSpPr>
          <p:cNvPr id="30" name="A">
            <a:extLst xmlns:a="http://schemas.openxmlformats.org/drawingml/2006/main">
              <a:ext uri="{FF2B5EF4-FFF2-40B4-BE49-F238E27FC236}">
                <a16:creationId xmlns:a16="http://schemas.microsoft.com/office/drawing/2014/main" id="{8F12B080-AEC6-4354-8372-9AAB3A0CF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1937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31" name="테스트 기대값 변경">
            <a:extLst xmlns:a="http://schemas.openxmlformats.org/drawingml/2006/main">
              <a:ext uri="{FF2B5EF4-FFF2-40B4-BE49-F238E27FC236}">
                <a16:creationId xmlns:a16="http://schemas.microsoft.com/office/drawing/2014/main" id="{B613CDBA-B5D5-43ED-A1BF-F71792FB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552700"/>
            <a:ext cx="36099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테스트 기대값 변경</a:t>
            </a:r>
          </a:p>
        </p:txBody>
      </p:sp>
      <p:sp>
        <p:nvSpPr>
          <p:cNvPr id="32" name="보존 조건과 맞지 않음">
            <a:extLst xmlns:a="http://schemas.openxmlformats.org/drawingml/2006/main">
              <a:ext uri="{FF2B5EF4-FFF2-40B4-BE49-F238E27FC236}">
                <a16:creationId xmlns:a16="http://schemas.microsoft.com/office/drawing/2014/main" id="{BE173B07-1A78-4F74-9833-5D4E4BB6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924175"/>
            <a:ext cx="3609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보존 조건과 맞지 않음</a:t>
            </a:r>
          </a:p>
        </p:txBody>
      </p:sp>
      <p:sp>
        <p:nvSpPr>
          <p:cNvPr id="33" name="Possible interpretation B">
            <a:extLst xmlns:a="http://schemas.openxmlformats.org/drawingml/2006/main">
              <a:ext uri="{FF2B5EF4-FFF2-40B4-BE49-F238E27FC236}">
                <a16:creationId xmlns:a16="http://schemas.microsoft.com/office/drawing/2014/main" id="{5488C946-D784-4742-B069-375CABCD7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257550"/>
            <a:ext cx="5114925" cy="1638300"/>
          </a:xfrm>
          <a:custGeom xmlns:a="http://schemas.openxmlformats.org/drawingml/2006/main">
            <a:pathLst>
              <a:path w="5114925" h="1638300">
                <a:moveTo>
                  <a:pt x="0" y="819150"/>
                </a:moveTo>
                <a:cubicBezTo>
                  <a:pt x="495300" y="819150"/>
                  <a:pt x="428625" y="819150"/>
                  <a:pt x="1047750" y="819150"/>
                </a:cubicBezTo>
                <a:lnTo>
                  <a:pt x="5000625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0B617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7B4FF88-AEE0-4D6D-A58F-4F92264A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038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5" name="B">
            <a:extLst xmlns:a="http://schemas.openxmlformats.org/drawingml/2006/main">
              <a:ext uri="{FF2B5EF4-FFF2-40B4-BE49-F238E27FC236}">
                <a16:creationId xmlns:a16="http://schemas.microsoft.com/office/drawing/2014/main" id="{325CB10C-8434-4D29-BE3F-309C89C7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3852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6" name="crop 구현 최소 수정">
            <a:extLst xmlns:a="http://schemas.openxmlformats.org/drawingml/2006/main">
              <a:ext uri="{FF2B5EF4-FFF2-40B4-BE49-F238E27FC236}">
                <a16:creationId xmlns:a16="http://schemas.microsoft.com/office/drawing/2014/main" id="{3AA03A27-18AD-42E8-8697-323E52BF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371850"/>
            <a:ext cx="36099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구현 최소 수정</a:t>
            </a:r>
          </a:p>
        </p:txBody>
      </p:sp>
      <p:sp>
        <p:nvSpPr>
          <p:cNvPr id="37" name="사람이 명시한 목표 경로">
            <a:extLst xmlns:a="http://schemas.openxmlformats.org/drawingml/2006/main">
              <a:ext uri="{FF2B5EF4-FFF2-40B4-BE49-F238E27FC236}">
                <a16:creationId xmlns:a16="http://schemas.microsoft.com/office/drawing/2014/main" id="{A5B6CEF4-0893-4718-A6AA-9D4D9886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743325"/>
            <a:ext cx="3609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명시한 목표 경로</a:t>
            </a:r>
          </a:p>
        </p:txBody>
      </p:sp>
      <p:sp>
        <p:nvSpPr>
          <p:cNvPr id="38" name="Possible interpretation C">
            <a:extLst xmlns:a="http://schemas.openxmlformats.org/drawingml/2006/main">
              <a:ext uri="{FF2B5EF4-FFF2-40B4-BE49-F238E27FC236}">
                <a16:creationId xmlns:a16="http://schemas.microsoft.com/office/drawing/2014/main" id="{E24ED302-9682-4BEF-AA7A-5A244B73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257550"/>
            <a:ext cx="5114925" cy="1638300"/>
          </a:xfrm>
          <a:custGeom xmlns:a="http://schemas.openxmlformats.org/drawingml/2006/main">
            <a:pathLst>
              <a:path w="5114925" h="1638300">
                <a:moveTo>
                  <a:pt x="0" y="819150"/>
                </a:moveTo>
                <a:cubicBezTo>
                  <a:pt x="495300" y="819150"/>
                  <a:pt x="428625" y="1638300"/>
                  <a:pt x="1047750" y="1638300"/>
                </a:cubicBezTo>
                <a:lnTo>
                  <a:pt x="5000625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8848F"/>
            </a:solidFill>
            <a:prstDash val="dash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0029406-4C29-47B7-8500-BD5ACC6F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857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848F"/>
          </a:solidFill>
          <a:ln xmlns:a="http://schemas.openxmlformats.org/drawingml/2006/main" w="0">
            <a:noFill/>
          </a:ln>
        </p:spPr>
      </p:sp>
      <p:sp>
        <p:nvSpPr>
          <p:cNvPr id="40" name="C">
            <a:extLst xmlns:a="http://schemas.openxmlformats.org/drawingml/2006/main">
              <a:ext uri="{FF2B5EF4-FFF2-40B4-BE49-F238E27FC236}">
                <a16:creationId xmlns:a16="http://schemas.microsoft.com/office/drawing/2014/main" id="{9A77D345-D0BA-4D31-82EE-72480C8C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25767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41" name="추가 질문 후 진행">
            <a:extLst xmlns:a="http://schemas.openxmlformats.org/drawingml/2006/main">
              <a:ext uri="{FF2B5EF4-FFF2-40B4-BE49-F238E27FC236}">
                <a16:creationId xmlns:a16="http://schemas.microsoft.com/office/drawing/2014/main" id="{FD4873D6-246B-4D67-8CE2-4B51376F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191000"/>
            <a:ext cx="36099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추가 질문 후 진행</a:t>
            </a:r>
          </a:p>
        </p:txBody>
      </p:sp>
      <p:sp>
        <p:nvSpPr>
          <p:cNvPr id="42" name="필요한 정보가 남으면 확인">
            <a:extLst xmlns:a="http://schemas.openxmlformats.org/drawingml/2006/main">
              <a:ext uri="{FF2B5EF4-FFF2-40B4-BE49-F238E27FC236}">
                <a16:creationId xmlns:a16="http://schemas.microsoft.com/office/drawing/2014/main" id="{7DFEDA01-B02B-44FF-80A7-D74EC3E3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562475"/>
            <a:ext cx="3609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필요한 정보가 남으면 확인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49546B5-E32B-4E6F-B9C9-F6C4A7D6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추측할 선택을 줄이고, 원하는 경로를 명시한다.">
            <a:extLst xmlns:a="http://schemas.openxmlformats.org/drawingml/2006/main">
              <a:ext uri="{FF2B5EF4-FFF2-40B4-BE49-F238E27FC236}">
                <a16:creationId xmlns:a16="http://schemas.microsoft.com/office/drawing/2014/main" id="{FF0C6168-038C-466B-A1BB-0B0A45DD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1066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추측할 선택을 줄이고, 원하는 경로를 명시한다.</a:t>
            </a:r>
          </a:p>
        </p:txBody>
      </p:sp>
      <p:sp>
        <p:nvSpPr>
          <p:cNvPr id="4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9ADE05BB-4E54-44FD-AE1F-0A566C853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5675604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을 보내기 전의 질문">
            <a:extLst xmlns:a="http://schemas.openxmlformats.org/drawingml/2006/main">
              <a:ext uri="{FF2B5EF4-FFF2-40B4-BE49-F238E27FC236}">
                <a16:creationId xmlns:a16="http://schemas.microsoft.com/office/drawing/2014/main" id="{70EEB564-15FD-4416-A40D-C64CC432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요청을 보내기 전의 질문</a:t>
            </a:r>
          </a:p>
        </p:txBody>
      </p:sp>
      <p:sp>
        <p:nvSpPr>
          <p:cNvPr id="2" name="S14">
            <a:extLst xmlns:a="http://schemas.openxmlformats.org/drawingml/2006/main">
              <a:ext uri="{FF2B5EF4-FFF2-40B4-BE49-F238E27FC236}">
                <a16:creationId xmlns:a16="http://schemas.microsoft.com/office/drawing/2014/main" id="{82D2842B-1AA1-47E4-9E36-FA8A75A16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S14</a:t>
            </a:r>
          </a:p>
        </p:txBody>
      </p:sp>
      <p:sp>
        <p:nvSpPr>
          <p:cNvPr id="3" name="개발자가 정해야 하는 경계">
            <a:extLst xmlns:a="http://schemas.openxmlformats.org/drawingml/2006/main">
              <a:ext uri="{FF2B5EF4-FFF2-40B4-BE49-F238E27FC236}">
                <a16:creationId xmlns:a16="http://schemas.microsoft.com/office/drawing/2014/main" id="{83EA4386-6515-4D9B-B238-E4E8E48E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개발자가 정해야 하는 경계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4CBB12-F986-41A9-B19A-01A722D7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이 과정의 질문 틀 · 정답을 제시하는 분류 시험이 아님">
            <a:extLst xmlns:a="http://schemas.openxmlformats.org/drawingml/2006/main">
              <a:ext uri="{FF2B5EF4-FFF2-40B4-BE49-F238E27FC236}">
                <a16:creationId xmlns:a16="http://schemas.microsoft.com/office/drawing/2014/main" id="{31B7E7FE-F159-4F31-BD0A-CCBAB9E4D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 과정의 질문 틀 · 정답을 제시하는 분류 시험이 아님</a:t>
            </a:r>
          </a:p>
        </p:txBody>
      </p:sp>
      <p:sp>
        <p:nvSpPr>
          <p:cNvPr id="6" name="마지막 1분은 익숙한 작업 하나를 조용히 떠올려 보세요.">
            <a:extLst xmlns:a="http://schemas.openxmlformats.org/drawingml/2006/main">
              <a:ext uri="{FF2B5EF4-FFF2-40B4-BE49-F238E27FC236}">
                <a16:creationId xmlns:a16="http://schemas.microsoft.com/office/drawing/2014/main" id="{43C7F3F7-CF22-40DC-89B4-999682A4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마지막 1분은 익숙한 작업 하나를 조용히 떠올려 보세요.</a:t>
            </a:r>
          </a:p>
        </p:txBody>
      </p:sp>
      <p:sp>
        <p:nvSpPr>
          <p:cNvPr id="7" name="“crop test 고쳐줘”에 답하기 전에">
            <a:extLst xmlns:a="http://schemas.openxmlformats.org/drawingml/2006/main">
              <a:ext uri="{FF2B5EF4-FFF2-40B4-BE49-F238E27FC236}">
                <a16:creationId xmlns:a16="http://schemas.microsoft.com/office/drawing/2014/main" id="{92FE3035-FD9B-41C6-AD3E-A6EE48A3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“crop test 고쳐줘”에 답하기 전에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E2A32864-6523-42B9-87E1-B9B81A48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2089B7EA-7F18-41C2-A74D-E4235C5F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바꿀까?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F923EB-CF70-4DC1-AA36-815389ECA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4833E0D6-5B80-48CF-BE02-BECF8737F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무엇을 유지할까?">
            <a:extLst xmlns:a="http://schemas.openxmlformats.org/drawingml/2006/main">
              <a:ext uri="{FF2B5EF4-FFF2-40B4-BE49-F238E27FC236}">
                <a16:creationId xmlns:a16="http://schemas.microsoft.com/office/drawing/2014/main" id="{E8B70476-520A-40DD-B120-80B7EFD23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유지할까?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D98199-D1F9-49A5-9236-458D06FE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03">
            <a:extLst xmlns:a="http://schemas.openxmlformats.org/drawingml/2006/main">
              <a:ext uri="{FF2B5EF4-FFF2-40B4-BE49-F238E27FC236}">
                <a16:creationId xmlns:a16="http://schemas.microsoft.com/office/drawing/2014/main" id="{EC6FDD2A-E3BF-41BC-BAE7-B3A2F298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어디까지 바꿔도 될까?">
            <a:extLst xmlns:a="http://schemas.openxmlformats.org/drawingml/2006/main">
              <a:ext uri="{FF2B5EF4-FFF2-40B4-BE49-F238E27FC236}">
                <a16:creationId xmlns:a16="http://schemas.microsoft.com/office/drawing/2014/main" id="{3987C7EC-9192-4AD1-A237-D90643D4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바꿔도 될까?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7D56EA-2DDE-4D43-A3EB-F3388AC52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04">
            <a:extLst xmlns:a="http://schemas.openxmlformats.org/drawingml/2006/main">
              <a:ext uri="{FF2B5EF4-FFF2-40B4-BE49-F238E27FC236}">
                <a16:creationId xmlns:a16="http://schemas.microsoft.com/office/drawing/2014/main" id="{276EB243-9BFC-43CE-BCAA-6A0792E6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8" name="무슨 근거로 확인할까?">
            <a:extLst xmlns:a="http://schemas.openxmlformats.org/drawingml/2006/main">
              <a:ext uri="{FF2B5EF4-FFF2-40B4-BE49-F238E27FC236}">
                <a16:creationId xmlns:a16="http://schemas.microsoft.com/office/drawing/2014/main" id="{665C9C87-5B9F-441C-B32A-E03BA714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무슨 근거로 확인할까?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DFF04B-9007-4513-9A9E-1FC9A3D65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9FA0D2-730D-4F1E-992D-7596CD1AE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05">
            <a:extLst xmlns:a="http://schemas.openxmlformats.org/drawingml/2006/main">
              <a:ext uri="{FF2B5EF4-FFF2-40B4-BE49-F238E27FC236}">
                <a16:creationId xmlns:a16="http://schemas.microsoft.com/office/drawing/2014/main" id="{83A57F44-E824-41FB-8CFB-8D7EEF82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48250"/>
            <a:ext cx="61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2" name="언제 완료라고 할까?">
            <a:extLst xmlns:a="http://schemas.openxmlformats.org/drawingml/2006/main">
              <a:ext uri="{FF2B5EF4-FFF2-40B4-BE49-F238E27FC236}">
                <a16:creationId xmlns:a16="http://schemas.microsoft.com/office/drawing/2014/main" id="{FCF8439B-DC09-44B7-B6C9-7A3E82342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5000625"/>
            <a:ext cx="9744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언제 완료라고 할까?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0234D9D-D956-4992-82C4-709B7CAA8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M4</a:t>
            </a:r>
          </a:p>
        </p:txBody>
      </p:sp>
    </p:spTree>
    <p:extLst>
      <p:ext uri="{BB962C8B-B14F-4D97-AF65-F5344CB8AC3E}">
        <p14:creationId xmlns:p14="http://schemas.microsoft.com/office/powerpoint/2010/main" val="18414154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1 · 작업을 구체화하는 틀">
            <a:extLst xmlns:a="http://schemas.openxmlformats.org/drawingml/2006/main">
              <a:ext uri="{FF2B5EF4-FFF2-40B4-BE49-F238E27FC236}">
                <a16:creationId xmlns:a16="http://schemas.microsoft.com/office/drawing/2014/main" id="{F078DCA3-5E7E-4C47-8F41-793C2D50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작업을 구체화하는 틀</a:t>
            </a:r>
          </a:p>
        </p:txBody>
      </p:sp>
      <p:sp>
        <p:nvSpPr>
          <p:cNvPr id="2" name="S15">
            <a:extLst xmlns:a="http://schemas.openxmlformats.org/drawingml/2006/main">
              <a:ext uri="{FF2B5EF4-FFF2-40B4-BE49-F238E27FC236}">
                <a16:creationId xmlns:a16="http://schemas.microsoft.com/office/drawing/2014/main" id="{A43AE79E-AC66-47E5-A237-22364B5B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S15</a:t>
            </a:r>
          </a:p>
        </p:txBody>
      </p:sp>
      <p:sp>
        <p:nvSpPr>
          <p:cNvPr id="3" name="Task Specification의 다섯 책임">
            <a:extLst xmlns:a="http://schemas.openxmlformats.org/drawingml/2006/main">
              <a:ext uri="{FF2B5EF4-FFF2-40B4-BE49-F238E27FC236}">
                <a16:creationId xmlns:a16="http://schemas.microsoft.com/office/drawing/2014/main" id="{E84B4B9C-D8CD-490D-AB7B-16902748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Specification의 다섯 책임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72316-8B4D-474E-8FA0-D51819E77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이 과정의 교육 모델 · 공식 OpenAI 분류나 모든 작업에 대한 법칙이 아님">
            <a:extLst xmlns:a="http://schemas.openxmlformats.org/drawingml/2006/main">
              <a:ext uri="{FF2B5EF4-FFF2-40B4-BE49-F238E27FC236}">
                <a16:creationId xmlns:a16="http://schemas.microsoft.com/office/drawing/2014/main" id="{054F835A-758B-4FAA-A578-837A0FCE0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 과정의 교육 모델 · 공식 OpenAI 분류나 모든 작업에 대한 법칙이 아님</a:t>
            </a:r>
          </a:p>
        </p:txBody>
      </p:sp>
      <p:sp>
        <p:nvSpPr>
          <p:cNvPr id="6" name="다섯 항목은 서로 분리된 기능이 아니라 하나의 작업 요청에 담는 책임입니다.">
            <a:extLst xmlns:a="http://schemas.openxmlformats.org/drawingml/2006/main">
              <a:ext uri="{FF2B5EF4-FFF2-40B4-BE49-F238E27FC236}">
                <a16:creationId xmlns:a16="http://schemas.microsoft.com/office/drawing/2014/main" id="{AF560BF4-83B0-47E6-8C54-091D0AFD6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다섯 항목은 서로 분리된 기능이 아니라 하나의 작업 요청에 담는 책임입니다.</a:t>
            </a:r>
          </a:p>
        </p:txBody>
      </p:sp>
      <p:sp>
        <p:nvSpPr>
          <p:cNvPr id="7" name="앞의 질문을 묶고, 필요한 맥락과 작업 과정을 명시한다">
            <a:extLst xmlns:a="http://schemas.openxmlformats.org/drawingml/2006/main">
              <a:ext uri="{FF2B5EF4-FFF2-40B4-BE49-F238E27FC236}">
                <a16:creationId xmlns:a16="http://schemas.microsoft.com/office/drawing/2014/main" id="{00C16FAD-9AC5-449B-877A-B825F71A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질문을 묶고, 필요한 맥락과 작업 과정을 명시한다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C56560-B36D-4A1B-88D4-EFCC1371F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651FAE-9619-4BF1-9509-981E3E516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067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하나의&#10;Task&#10;Specification">
            <a:extLst xmlns:a="http://schemas.openxmlformats.org/drawingml/2006/main">
              <a:ext uri="{FF2B5EF4-FFF2-40B4-BE49-F238E27FC236}">
                <a16:creationId xmlns:a16="http://schemas.microsoft.com/office/drawing/2014/main" id="{4C133FF3-3C81-4879-B382-9B2BE9BB1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26098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하나의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Specification</a:t>
            </a:r>
          </a:p>
        </p:txBody>
      </p:sp>
      <p:sp>
        <p:nvSpPr>
          <p:cNvPr id="11" name="목표 · Goal">
            <a:extLst xmlns:a="http://schemas.openxmlformats.org/drawingml/2006/main">
              <a:ext uri="{FF2B5EF4-FFF2-40B4-BE49-F238E27FC236}">
                <a16:creationId xmlns:a16="http://schemas.microsoft.com/office/drawing/2014/main" id="{EEFDB3B5-2003-4149-BF8E-B9A9635E2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0764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 · Goal</a:t>
            </a:r>
          </a:p>
        </p:txBody>
      </p:sp>
      <p:sp>
        <p:nvSpPr>
          <p:cNvPr id="12" name="어떤 결과를 바꿀까?">
            <a:extLst xmlns:a="http://schemas.openxmlformats.org/drawingml/2006/main">
              <a:ext uri="{FF2B5EF4-FFF2-40B4-BE49-F238E27FC236}">
                <a16:creationId xmlns:a16="http://schemas.microsoft.com/office/drawing/2014/main" id="{B0B22000-27B4-41CA-8861-758C75880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764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결과를 바꿀까?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A01CA5-7DBB-4876-8ED8-49740439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6193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맥락 · Context">
            <a:extLst xmlns:a="http://schemas.openxmlformats.org/drawingml/2006/main">
              <a:ext uri="{FF2B5EF4-FFF2-40B4-BE49-F238E27FC236}">
                <a16:creationId xmlns:a16="http://schemas.microsoft.com/office/drawing/2014/main" id="{4D7F67F0-5A06-4E82-90BE-9D659E35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622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맥락 · Context</a:t>
            </a:r>
          </a:p>
        </p:txBody>
      </p:sp>
      <p:sp>
        <p:nvSpPr>
          <p:cNvPr id="15" name="이 작업에 필요한 사실은?">
            <a:extLst xmlns:a="http://schemas.openxmlformats.org/drawingml/2006/main">
              <a:ext uri="{FF2B5EF4-FFF2-40B4-BE49-F238E27FC236}">
                <a16:creationId xmlns:a16="http://schemas.microsoft.com/office/drawing/2014/main" id="{D955690B-E3A1-44C1-8CCA-998203BB5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7622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작업에 필요한 사실은?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D58800-06EB-44CA-83DC-C2E1C9967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3051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제약 · Constraints">
            <a:extLst xmlns:a="http://schemas.openxmlformats.org/drawingml/2006/main">
              <a:ext uri="{FF2B5EF4-FFF2-40B4-BE49-F238E27FC236}">
                <a16:creationId xmlns:a16="http://schemas.microsoft.com/office/drawing/2014/main" id="{A6EC1BE5-3846-4AE5-87B6-E3E414F2A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480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 · Constraints</a:t>
            </a:r>
          </a:p>
        </p:txBody>
      </p:sp>
      <p:sp>
        <p:nvSpPr>
          <p:cNvPr id="18" name="무엇을 보존할까?">
            <a:extLst xmlns:a="http://schemas.openxmlformats.org/drawingml/2006/main">
              <a:ext uri="{FF2B5EF4-FFF2-40B4-BE49-F238E27FC236}">
                <a16:creationId xmlns:a16="http://schemas.microsoft.com/office/drawing/2014/main" id="{FE1F0B8E-1BC7-4CD5-AF2D-ED959C7B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4480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보존할까?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8D7108-A539-4C3A-AA42-E7D80BA6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909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과정 · Process">
            <a:extLst xmlns:a="http://schemas.openxmlformats.org/drawingml/2006/main">
              <a:ext uri="{FF2B5EF4-FFF2-40B4-BE49-F238E27FC236}">
                <a16:creationId xmlns:a16="http://schemas.microsoft.com/office/drawing/2014/main" id="{41CACA42-9468-4698-8751-1C1E22F63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338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 · Process</a:t>
            </a:r>
          </a:p>
        </p:txBody>
      </p:sp>
      <p:sp>
        <p:nvSpPr>
          <p:cNvPr id="21" name="어떤 순서·경계를 지킬까?">
            <a:extLst xmlns:a="http://schemas.openxmlformats.org/drawingml/2006/main">
              <a:ext uri="{FF2B5EF4-FFF2-40B4-BE49-F238E27FC236}">
                <a16:creationId xmlns:a16="http://schemas.microsoft.com/office/drawing/2014/main" id="{0134828F-9392-4378-B179-905BEF928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1338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순서·경계를 지킬까?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461C0F-E8F5-417A-B6D9-9F94E25C8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6767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검증 · Verification">
            <a:extLst xmlns:a="http://schemas.openxmlformats.org/drawingml/2006/main">
              <a:ext uri="{FF2B5EF4-FFF2-40B4-BE49-F238E27FC236}">
                <a16:creationId xmlns:a16="http://schemas.microsoft.com/office/drawing/2014/main" id="{232491E4-D6D0-470D-9BFB-C917040F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8196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Verification</a:t>
            </a:r>
          </a:p>
        </p:txBody>
      </p:sp>
      <p:sp>
        <p:nvSpPr>
          <p:cNvPr id="24" name="무엇으로 완료를 확인할까?">
            <a:extLst xmlns:a="http://schemas.openxmlformats.org/drawingml/2006/main">
              <a:ext uri="{FF2B5EF4-FFF2-40B4-BE49-F238E27FC236}">
                <a16:creationId xmlns:a16="http://schemas.microsoft.com/office/drawing/2014/main" id="{8E95485A-F3CE-4214-AA46-F9F72BA8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8196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 완료를 확인할까?</a:t>
            </a:r>
          </a:p>
        </p:txBody>
      </p:sp>
      <p:sp>
        <p:nvSpPr>
          <p:cNvPr id="2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5FDC235-099E-4DDB-B118-B3CF3026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6002878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ACT 1 · 같은 요청을 구체화하기">
            <a:extLst xmlns:a="http://schemas.openxmlformats.org/drawingml/2006/main">
              <a:ext uri="{FF2B5EF4-FFF2-40B4-BE49-F238E27FC236}">
                <a16:creationId xmlns:a16="http://schemas.microsoft.com/office/drawing/2014/main" id="{FEB7804F-7C80-474B-9FBB-630889FB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같은 요청을 구체화하기</a:t>
            </a:r>
          </a:p>
        </p:txBody>
      </p:sp>
      <p:sp>
        <p:nvSpPr>
          <p:cNvPr id="2" name="S16">
            <a:extLst xmlns:a="http://schemas.openxmlformats.org/drawingml/2006/main">
              <a:ext uri="{FF2B5EF4-FFF2-40B4-BE49-F238E27FC236}">
                <a16:creationId xmlns:a16="http://schemas.microsoft.com/office/drawing/2014/main" id="{AEBD237B-C4A8-43E3-B1BB-90301E9F4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S16</a:t>
            </a:r>
          </a:p>
        </p:txBody>
      </p:sp>
      <p:sp>
        <p:nvSpPr>
          <p:cNvPr id="3" name="더 긴 Prompt보다 분명한 경계">
            <a:extLst xmlns:a="http://schemas.openxmlformats.org/drawingml/2006/main">
              <a:ext uri="{FF2B5EF4-FFF2-40B4-BE49-F238E27FC236}">
                <a16:creationId xmlns:a16="http://schemas.microsoft.com/office/drawing/2014/main" id="{C49B774F-1801-4DBF-AF34-6D7A97A04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더 긴 Prompt보다 분명한 경계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581D39-378D-467C-BC72-B0F797E4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Before / After · 실제 Trial Prompt나 우월성 비교 실험이 아님">
            <a:extLst xmlns:a="http://schemas.openxmlformats.org/drawingml/2006/main">
              <a:ext uri="{FF2B5EF4-FFF2-40B4-BE49-F238E27FC236}">
                <a16:creationId xmlns:a16="http://schemas.microsoft.com/office/drawing/2014/main" id="{663C4198-6B35-4E66-A127-CA04D2EB7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Before / After · 실제 Trial Prompt나 우월성 비교 실험이 아님</a:t>
            </a:r>
          </a:p>
        </p:txBody>
      </p:sp>
      <p:sp>
        <p:nvSpPr>
          <p:cNvPr id="6" name="완료 조건과 C++ 적용은 교육용 예시입니다. 특정 Windows·빌드 환경을 검증한 것은 아닙니다.">
            <a:extLst xmlns:a="http://schemas.openxmlformats.org/drawingml/2006/main">
              <a:ext uri="{FF2B5EF4-FFF2-40B4-BE49-F238E27FC236}">
                <a16:creationId xmlns:a16="http://schemas.microsoft.com/office/drawing/2014/main" id="{33BB399D-49BB-412B-9476-2AF79ADC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완료 조건과 C++ 적용은 교육용 예시입니다. 특정 Windows·빌드 환경을 검증한 것은 아닙니다.</a:t>
            </a:r>
          </a:p>
        </p:txBody>
      </p:sp>
      <p:sp>
        <p:nvSpPr>
          <p:cNvPr id="7" name="처음 요청">
            <a:extLst xmlns:a="http://schemas.openxmlformats.org/drawingml/2006/main">
              <a:ext uri="{FF2B5EF4-FFF2-40B4-BE49-F238E27FC236}">
                <a16:creationId xmlns:a16="http://schemas.microsoft.com/office/drawing/2014/main" id="{58AD77FF-5BB9-4AC7-B8F0-40323337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28194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처음 요청</a:t>
            </a:r>
          </a:p>
        </p:txBody>
      </p:sp>
      <p:sp>
        <p:nvSpPr>
          <p:cNvPr id="8" name="“crop test&#10;고쳐줘.”">
            <a:extLst xmlns:a="http://schemas.openxmlformats.org/drawingml/2006/main">
              <a:ext uri="{FF2B5EF4-FFF2-40B4-BE49-F238E27FC236}">
                <a16:creationId xmlns:a16="http://schemas.microsoft.com/office/drawing/2014/main" id="{3C42F9E4-BD69-4DE1-A76D-53DEA580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7813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“crop test</a:t>
            </a:r>
          </a:p>
          <a:p xmlns:a="http://schemas.openxmlformats.org/drawingml/2006/main">
            <a:pPr algn="l">
              <a:def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고쳐줘.”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596BBF-EF0F-44D5-B3C5-D6315C4A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295650"/>
            <a:ext cx="438150" cy="2571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0" name="추가한 정보">
            <a:extLst xmlns:a="http://schemas.openxmlformats.org/drawingml/2006/main">
              <a:ext uri="{FF2B5EF4-FFF2-40B4-BE49-F238E27FC236}">
                <a16:creationId xmlns:a16="http://schemas.microsoft.com/office/drawing/2014/main" id="{ED1C8396-674A-4C68-891B-65566DA30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990725"/>
            <a:ext cx="7143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추가한 정보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D59015-3F77-400F-B46E-8C954948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5745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목표·맥락">
            <a:extLst xmlns:a="http://schemas.openxmlformats.org/drawingml/2006/main">
              <a:ext uri="{FF2B5EF4-FFF2-40B4-BE49-F238E27FC236}">
                <a16:creationId xmlns:a16="http://schemas.microsoft.com/office/drawing/2014/main" id="{6AD6D35D-347E-4D83-A27D-F249BB5E3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24125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목표·맥락</a:t>
            </a:r>
          </a:p>
        </p:txBody>
      </p:sp>
      <p:sp>
        <p:nvSpPr>
          <p:cNvPr id="13" name="crop 경계 실패를 조사·수정한다.">
            <a:extLst xmlns:a="http://schemas.openxmlformats.org/drawingml/2006/main">
              <a:ext uri="{FF2B5EF4-FFF2-40B4-BE49-F238E27FC236}">
                <a16:creationId xmlns:a16="http://schemas.microsoft.com/office/drawing/2014/main" id="{73220E99-65EA-4028-825F-1C59DC15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524125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실패를 조사·수정한다.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FCE5FA-9C25-4705-9459-8D145E765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19425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제약">
            <a:extLst xmlns:a="http://schemas.openxmlformats.org/drawingml/2006/main">
              <a:ext uri="{FF2B5EF4-FFF2-40B4-BE49-F238E27FC236}">
                <a16:creationId xmlns:a16="http://schemas.microsoft.com/office/drawing/2014/main" id="{F287B322-8C4C-4A95-A0EB-6777657A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086100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</a:t>
            </a:r>
          </a:p>
        </p:txBody>
      </p:sp>
      <p:sp>
        <p:nvSpPr>
          <p:cNvPr id="16" name="끝 좌표 제외, 무관한 API·의존성 유지">
            <a:extLst xmlns:a="http://schemas.openxmlformats.org/drawingml/2006/main">
              <a:ext uri="{FF2B5EF4-FFF2-40B4-BE49-F238E27FC236}">
                <a16:creationId xmlns:a16="http://schemas.microsoft.com/office/drawing/2014/main" id="{F9B5E1FA-3534-442C-989D-A883C9065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08610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제외, 무관한 API·의존성 유지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363C6B-3DE5-4FDB-855B-916AC4C0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81400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과정">
            <a:extLst xmlns:a="http://schemas.openxmlformats.org/drawingml/2006/main">
              <a:ext uri="{FF2B5EF4-FFF2-40B4-BE49-F238E27FC236}">
                <a16:creationId xmlns:a16="http://schemas.microsoft.com/office/drawing/2014/main" id="{E6576CF8-5625-48ED-87A3-D72A6C08F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48075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</a:t>
            </a:r>
          </a:p>
        </p:txBody>
      </p:sp>
      <p:sp>
        <p:nvSpPr>
          <p:cNvPr id="19" name="재현 → 조사 → 계획 → 최소 수정">
            <a:extLst xmlns:a="http://schemas.openxmlformats.org/drawingml/2006/main">
              <a:ext uri="{FF2B5EF4-FFF2-40B4-BE49-F238E27FC236}">
                <a16:creationId xmlns:a16="http://schemas.microsoft.com/office/drawing/2014/main" id="{075C6923-8A58-4CFA-94C9-93835914A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48075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 → 조사 → 계획 → 최소 수정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AEDE73-9F03-473C-B519-528537E88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143375"/>
            <a:ext cx="714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1" name="검증">
            <a:extLst xmlns:a="http://schemas.openxmlformats.org/drawingml/2006/main">
              <a:ext uri="{FF2B5EF4-FFF2-40B4-BE49-F238E27FC236}">
                <a16:creationId xmlns:a16="http://schemas.microsoft.com/office/drawing/2014/main" id="{26C28983-8419-4716-8676-6CF11416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210050"/>
            <a:ext cx="13906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22" name="집중·전체 Test + CLI smoke + diff">
            <a:extLst xmlns:a="http://schemas.openxmlformats.org/drawingml/2006/main">
              <a:ext uri="{FF2B5EF4-FFF2-40B4-BE49-F238E27FC236}">
                <a16:creationId xmlns:a16="http://schemas.microsoft.com/office/drawing/2014/main" id="{54DFC996-6724-4111-A995-0EB3D0CCE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210050"/>
            <a:ext cx="561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집중·전체 Test + CLI smoke + diff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2298F6-2302-4394-ADD6-66589EEC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728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완료 조건 예 · 4열 입력의 crop 1 3 → 원본 열 1·2, 폭 2">
            <a:extLst xmlns:a="http://schemas.openxmlformats.org/drawingml/2006/main">
              <a:ext uri="{FF2B5EF4-FFF2-40B4-BE49-F238E27FC236}">
                <a16:creationId xmlns:a16="http://schemas.microsoft.com/office/drawing/2014/main" id="{08944C52-E4A9-4A13-A230-6FB885A7C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 조건 예 · 4열 입력의 crop 1 3 → 원본 열 1·2, 폭 2</a:t>
            </a:r>
          </a:p>
        </p:txBody>
      </p:sp>
      <p:sp>
        <p:nvSpPr>
          <p:cNvPr id="25" name="C++에도: 출력·API/ABI 보존 범위와 Release 검증 조건을 먼저 정한다.">
            <a:extLst xmlns:a="http://schemas.openxmlformats.org/drawingml/2006/main">
              <a:ext uri="{FF2B5EF4-FFF2-40B4-BE49-F238E27FC236}">
                <a16:creationId xmlns:a16="http://schemas.microsoft.com/office/drawing/2014/main" id="{481DFAA4-11AE-4349-B6B0-C8DCB2A6F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C++에도: 출력·API/ABI 보존 범위와 Release 검증 조건을 먼저 정한다.</a:t>
            </a:r>
          </a:p>
        </p:txBody>
      </p:sp>
      <p:sp>
        <p:nvSpPr>
          <p:cNvPr id="2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7C41B93-233B-4FED-9456-5E484EAC4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M4 · M6</a:t>
            </a:r>
          </a:p>
        </p:txBody>
      </p:sp>
    </p:spTree>
    <p:extLst>
      <p:ext uri="{BB962C8B-B14F-4D97-AF65-F5344CB8AC3E}">
        <p14:creationId xmlns:p14="http://schemas.microsoft.com/office/powerpoint/2010/main" val="1103343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T 1 · TRIAL-002 관찰 시작">
            <a:extLst xmlns:a="http://schemas.openxmlformats.org/drawingml/2006/main">
              <a:ext uri="{FF2B5EF4-FFF2-40B4-BE49-F238E27FC236}">
                <a16:creationId xmlns:a16="http://schemas.microsoft.com/office/drawing/2014/main" id="{DDD28B7C-C562-4C4F-A897-C92EB405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TRIAL-002 관찰 시작</a:t>
            </a:r>
          </a:p>
        </p:txBody>
      </p:sp>
      <p:sp>
        <p:nvSpPr>
          <p:cNvPr id="2" name="S17">
            <a:extLst xmlns:a="http://schemas.openxmlformats.org/drawingml/2006/main">
              <a:ext uri="{FF2B5EF4-FFF2-40B4-BE49-F238E27FC236}">
                <a16:creationId xmlns:a16="http://schemas.microsoft.com/office/drawing/2014/main" id="{981B22F2-C293-47D4-B114-BA2B0FF4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S17</a:t>
            </a:r>
          </a:p>
        </p:txBody>
      </p:sp>
      <p:sp>
        <p:nvSpPr>
          <p:cNvPr id="3" name="먼저 무엇을 하는지 보자">
            <a:extLst xmlns:a="http://schemas.openxmlformats.org/drawingml/2006/main">
              <a:ext uri="{FF2B5EF4-FFF2-40B4-BE49-F238E27FC236}">
                <a16:creationId xmlns:a16="http://schemas.microsoft.com/office/drawing/2014/main" id="{7A24C873-8685-419C-96C1-214E1C58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무엇을 하는지 보자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433B84-729B-45FB-8579-6DD54927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관찰 기준 · 2026-09-28 · Codex CLI 0.154.0 · macOS">
            <a:extLst xmlns:a="http://schemas.openxmlformats.org/drawingml/2006/main">
              <a:ext uri="{FF2B5EF4-FFF2-40B4-BE49-F238E27FC236}">
                <a16:creationId xmlns:a16="http://schemas.microsoft.com/office/drawing/2014/main" id="{E30A0642-EE74-4D18-8684-49EBD5F5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관찰 기준 · 2026-09-28 · Codex CLI 0.154.0 · macOS</a:t>
            </a:r>
          </a:p>
        </p:txBody>
      </p:sp>
      <p:sp>
        <p:nvSpPr>
          <p:cNvPr id="6" name="단일 과거 CLI 기록을 살펴봅니다. 현재 Desktop 실행이나 반복성을 입증하지 않습니다.">
            <a:extLst xmlns:a="http://schemas.openxmlformats.org/drawingml/2006/main">
              <a:ext uri="{FF2B5EF4-FFF2-40B4-BE49-F238E27FC236}">
                <a16:creationId xmlns:a16="http://schemas.microsoft.com/office/drawing/2014/main" id="{21C61FB5-1980-438A-806D-BC372A0D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단일 과거 CLI 기록을 살펴봅니다. 현재 Desktop 실행이나 반복성을 입증하지 않습니다.</a:t>
            </a:r>
          </a:p>
        </p:txBody>
      </p:sp>
      <p:sp>
        <p:nvSpPr>
          <p:cNvPr id="7" name="“실제 기록에서는 수정 전에 무엇을 했을까?”">
            <a:extLst xmlns:a="http://schemas.openxmlformats.org/drawingml/2006/main">
              <a:ext uri="{FF2B5EF4-FFF2-40B4-BE49-F238E27FC236}">
                <a16:creationId xmlns:a16="http://schemas.microsoft.com/office/drawing/2014/main" id="{DC15AA2B-CD12-425A-A28B-EEE09576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“실제 기록에서는 수정 전에 무엇을 했을까?”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DDABDF17-B5D2-49ED-BC89-94649361A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재현">
            <a:extLst xmlns:a="http://schemas.openxmlformats.org/drawingml/2006/main">
              <a:ext uri="{FF2B5EF4-FFF2-40B4-BE49-F238E27FC236}">
                <a16:creationId xmlns:a16="http://schemas.microsoft.com/office/drawing/2014/main" id="{B6007666-00F4-4786-ABA7-3AA3DECF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</a:t>
            </a:r>
          </a:p>
        </p:txBody>
      </p:sp>
      <p:sp>
        <p:nvSpPr>
          <p:cNvPr id="10" name="실패 확인">
            <a:extLst xmlns:a="http://schemas.openxmlformats.org/drawingml/2006/main">
              <a:ext uri="{FF2B5EF4-FFF2-40B4-BE49-F238E27FC236}">
                <a16:creationId xmlns:a16="http://schemas.microsoft.com/office/drawing/2014/main" id="{EA0149E5-7D86-4817-BD34-B7D3DB3C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실패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E06ACA-0CD9-429D-B329-660171E7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5C23CE3F-0E07-4A9E-9297-FE072583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3" name="조사">
            <a:extLst xmlns:a="http://schemas.openxmlformats.org/drawingml/2006/main">
              <a:ext uri="{FF2B5EF4-FFF2-40B4-BE49-F238E27FC236}">
                <a16:creationId xmlns:a16="http://schemas.microsoft.com/office/drawing/2014/main" id="{AC16815E-48F4-4E0D-994F-AF754391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</a:t>
            </a:r>
          </a:p>
        </p:txBody>
      </p:sp>
      <p:sp>
        <p:nvSpPr>
          <p:cNvPr id="14" name="근거 연결">
            <a:extLst xmlns:a="http://schemas.openxmlformats.org/drawingml/2006/main">
              <a:ext uri="{FF2B5EF4-FFF2-40B4-BE49-F238E27FC236}">
                <a16:creationId xmlns:a16="http://schemas.microsoft.com/office/drawing/2014/main" id="{105198A2-39DD-4F66-B10B-EE9542669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근거 연결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165F15-0B1C-47AD-A140-3377399F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03">
            <a:extLst xmlns:a="http://schemas.openxmlformats.org/drawingml/2006/main">
              <a:ext uri="{FF2B5EF4-FFF2-40B4-BE49-F238E27FC236}">
                <a16:creationId xmlns:a16="http://schemas.microsoft.com/office/drawing/2014/main" id="{DD3CCF42-360D-420B-98C2-BA9DE880E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7" name="계획">
            <a:extLst xmlns:a="http://schemas.openxmlformats.org/drawingml/2006/main">
              <a:ext uri="{FF2B5EF4-FFF2-40B4-BE49-F238E27FC236}">
                <a16:creationId xmlns:a16="http://schemas.microsoft.com/office/drawing/2014/main" id="{D5F0DBBA-C5E9-4171-BE3A-4E9F4465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계획</a:t>
            </a:r>
          </a:p>
        </p:txBody>
      </p:sp>
      <p:sp>
        <p:nvSpPr>
          <p:cNvPr id="18" name="수정 전 설명">
            <a:extLst xmlns:a="http://schemas.openxmlformats.org/drawingml/2006/main">
              <a:ext uri="{FF2B5EF4-FFF2-40B4-BE49-F238E27FC236}">
                <a16:creationId xmlns:a16="http://schemas.microsoft.com/office/drawing/2014/main" id="{262C5767-C9F1-4C68-8840-A43B6CAC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수정 전 설명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253F1F-213B-42D4-ABA1-4CF9444F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04">
            <a:extLst xmlns:a="http://schemas.openxmlformats.org/drawingml/2006/main">
              <a:ext uri="{FF2B5EF4-FFF2-40B4-BE49-F238E27FC236}">
                <a16:creationId xmlns:a16="http://schemas.microsoft.com/office/drawing/2014/main" id="{B13049AE-1BAB-43F8-B348-1FD4F3867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21" name="수정">
            <a:extLst xmlns:a="http://schemas.openxmlformats.org/drawingml/2006/main">
              <a:ext uri="{FF2B5EF4-FFF2-40B4-BE49-F238E27FC236}">
                <a16:creationId xmlns:a16="http://schemas.microsoft.com/office/drawing/2014/main" id="{A369AD6B-BFC0-429D-A62F-7155DB7A6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22" name="최소 변경">
            <a:extLst xmlns:a="http://schemas.openxmlformats.org/drawingml/2006/main">
              <a:ext uri="{FF2B5EF4-FFF2-40B4-BE49-F238E27FC236}">
                <a16:creationId xmlns:a16="http://schemas.microsoft.com/office/drawing/2014/main" id="{DB8DA791-3637-4674-8CF9-5F57ECE0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최소 변경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CC2579-CFF5-4D0B-8355-0FCB27B5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38600"/>
            <a:ext cx="238125" cy="1619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4" name="05">
            <a:extLst xmlns:a="http://schemas.openxmlformats.org/drawingml/2006/main">
              <a:ext uri="{FF2B5EF4-FFF2-40B4-BE49-F238E27FC236}">
                <a16:creationId xmlns:a16="http://schemas.microsoft.com/office/drawing/2014/main" id="{DD3664F8-996F-4C5B-B76F-FA950C60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00425"/>
            <a:ext cx="17621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5" name="검증">
            <a:extLst xmlns:a="http://schemas.openxmlformats.org/drawingml/2006/main">
              <a:ext uri="{FF2B5EF4-FFF2-40B4-BE49-F238E27FC236}">
                <a16:creationId xmlns:a16="http://schemas.microsoft.com/office/drawing/2014/main" id="{F7B2241E-1637-4E6F-BE63-DB6E8C1C5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57625"/>
            <a:ext cx="1762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26" name="결과 확인">
            <a:extLst xmlns:a="http://schemas.openxmlformats.org/drawingml/2006/main">
              <a:ext uri="{FF2B5EF4-FFF2-40B4-BE49-F238E27FC236}">
                <a16:creationId xmlns:a16="http://schemas.microsoft.com/office/drawing/2014/main" id="{A1E59F4C-3E24-465B-BE18-0F1C06B0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514850"/>
            <a:ext cx="1762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결과 확인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EF2D04F-4FD0-4025-A1D2-353A07753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다음 두 장에서 TRIAL-002의 요청 흐름과 행동을 대조한다.">
            <a:extLst xmlns:a="http://schemas.openxmlformats.org/drawingml/2006/main">
              <a:ext uri="{FF2B5EF4-FFF2-40B4-BE49-F238E27FC236}">
                <a16:creationId xmlns:a16="http://schemas.microsoft.com/office/drawing/2014/main" id="{238AD0D7-5E4C-43E6-B646-80774A93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두 장에서 TRIAL-002의 요청 흐름과 행동을 대조한다.</a:t>
            </a:r>
          </a:p>
        </p:txBody>
      </p:sp>
      <p:sp>
        <p:nvSpPr>
          <p:cNvPr id="2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FAF8017-CAFB-4F35-B0EA-5AE195D2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212724538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1 · 계약을 보존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D83A0C09-C605-4797-9CCF-100C359D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계약을 보존하는 최소 변경</a:t>
            </a:r>
          </a:p>
        </p:txBody>
      </p:sp>
      <p:sp>
        <p:nvSpPr>
          <p:cNvPr id="2" name="S18">
            <a:extLst xmlns:a="http://schemas.openxmlformats.org/drawingml/2006/main">
              <a:ext uri="{FF2B5EF4-FFF2-40B4-BE49-F238E27FC236}">
                <a16:creationId xmlns:a16="http://schemas.microsoft.com/office/drawing/2014/main" id="{2A5449E4-44D2-4A74-B88C-7FF1F4611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S18</a:t>
            </a:r>
          </a:p>
        </p:txBody>
      </p:sp>
      <p:sp>
        <p:nvSpPr>
          <p:cNvPr id="3" name="조사에서 한 줄 변경까지">
            <a:extLst xmlns:a="http://schemas.openxmlformats.org/drawingml/2006/main">
              <a:ext uri="{FF2B5EF4-FFF2-40B4-BE49-F238E27FC236}">
                <a16:creationId xmlns:a16="http://schemas.microsoft.com/office/drawing/2014/main" id="{E6E1B91D-2156-47C5-ABB3-861CFF708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조사에서 한 줄 변경까지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341E3E-871C-4361-8F10-FEACC525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· STATE-00 → STATE-00-FIXED · 실제 diff를 재구성한 도식">
            <a:extLst xmlns:a="http://schemas.openxmlformats.org/drawingml/2006/main">
              <a:ext uri="{FF2B5EF4-FFF2-40B4-BE49-F238E27FC236}">
                <a16:creationId xmlns:a16="http://schemas.microsoft.com/office/drawing/2014/main" id="{841C1C8C-ACF9-47C4-BD43-C3216813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· STATE-00 → STATE-00-FIXED · 실제 diff를 재구성한 도식</a:t>
            </a:r>
          </a:p>
        </p:txBody>
      </p:sp>
      <p:sp>
        <p:nvSpPr>
          <p:cNvPr id="6" name="src/graypipe/transform.py · 단일 CLI 기록 · 실제 터미널 화면이 아님">
            <a:extLst xmlns:a="http://schemas.openxmlformats.org/drawingml/2006/main">
              <a:ext uri="{FF2B5EF4-FFF2-40B4-BE49-F238E27FC236}">
                <a16:creationId xmlns:a16="http://schemas.microsoft.com/office/drawing/2014/main" id="{A9954C7F-07A1-4054-B58E-1B7315C1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src/graypipe/transform.py · 단일 CLI 기록 · 실제 터미널 화면이 아님</a:t>
            </a:r>
          </a:p>
        </p:txBody>
      </p:sp>
      <p:sp>
        <p:nvSpPr>
          <p:cNvPr id="7" name="실패 테스트 → 호출 경로 → 계약 확인 → 수정 전 계획">
            <a:extLst xmlns:a="http://schemas.openxmlformats.org/drawingml/2006/main">
              <a:ext uri="{FF2B5EF4-FFF2-40B4-BE49-F238E27FC236}">
                <a16:creationId xmlns:a16="http://schemas.microsoft.com/office/drawing/2014/main" id="{56253035-7716-4D1E-9122-69079F92F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실패 테스트 → 호출 경로 → 계약 확인 → 수정 전 계획</a:t>
            </a:r>
          </a:p>
        </p:txBody>
      </p:sp>
      <p:sp>
        <p:nvSpPr>
          <p:cNvPr id="8" name="끝 좌표를 제외한다: [x_start, x_end)">
            <a:extLst xmlns:a="http://schemas.openxmlformats.org/drawingml/2006/main">
              <a:ext uri="{FF2B5EF4-FFF2-40B4-BE49-F238E27FC236}">
                <a16:creationId xmlns:a16="http://schemas.microsoft.com/office/drawing/2014/main" id="{E813889B-A412-469C-B037-2C0211F8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좌표를 제외한다: [x_start, x_end)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218078-87BC-4DDA-96D5-79D35164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53AF80-F315-4128-999E-FD330C65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변경 전">
            <a:extLst xmlns:a="http://schemas.openxmlformats.org/drawingml/2006/main">
              <a:ext uri="{FF2B5EF4-FFF2-40B4-BE49-F238E27FC236}">
                <a16:creationId xmlns:a16="http://schemas.microsoft.com/office/drawing/2014/main" id="{1C6A554B-528D-4524-B40F-9B4AEF1E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변경 전</a:t>
            </a:r>
          </a:p>
        </p:txBody>
      </p:sp>
      <p:sp>
        <p:nvSpPr>
          <p:cNvPr id="12" name="변경 후">
            <a:extLst xmlns:a="http://schemas.openxmlformats.org/drawingml/2006/main">
              <a:ext uri="{FF2B5EF4-FFF2-40B4-BE49-F238E27FC236}">
                <a16:creationId xmlns:a16="http://schemas.microsoft.com/office/drawing/2014/main" id="{80401557-9128-4BC9-8DE2-F7B7E7AE4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후</a:t>
            </a:r>
          </a:p>
        </p:txBody>
      </p:sp>
      <p:sp>
        <p:nvSpPr>
          <p:cNvPr id="13" name="row[x_start : x_end + 1]">
            <a:extLst xmlns:a="http://schemas.openxmlformats.org/drawingml/2006/main">
              <a:ext uri="{FF2B5EF4-FFF2-40B4-BE49-F238E27FC236}">
                <a16:creationId xmlns:a16="http://schemas.microsoft.com/office/drawing/2014/main" id="{40493D56-EC95-4B38-BB92-B63DC674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B42318"/>
                </a:solidFill>
                <a:latin typeface="Consolas"/>
                <a:ea typeface="Consolas"/>
                <a:cs typeface="Consolas"/>
              </a:rPr>
              <a:t>row[x_start : x_end + 1]</a:t>
            </a:r>
          </a:p>
        </p:txBody>
      </p:sp>
      <p:sp>
        <p:nvSpPr>
          <p:cNvPr id="14" name="row[x_start : x_end]">
            <a:extLst xmlns:a="http://schemas.openxmlformats.org/drawingml/2006/main">
              <a:ext uri="{FF2B5EF4-FFF2-40B4-BE49-F238E27FC236}">
                <a16:creationId xmlns:a16="http://schemas.microsoft.com/office/drawing/2014/main" id="{B27427A1-4438-4769-98BA-D575A7B1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row[x_start : x_end]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76873E-3BDA-4FC0-AA5B-8C2DC5BEE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57650"/>
            <a:ext cx="285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crop(image, 1, 3)">
            <a:extLst xmlns:a="http://schemas.openxmlformats.org/drawingml/2006/main">
              <a:ext uri="{FF2B5EF4-FFF2-40B4-BE49-F238E27FC236}">
                <a16:creationId xmlns:a16="http://schemas.microsoft.com/office/drawing/2014/main" id="{95197B08-0CD4-446D-A8AD-B1E0247EB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217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crop(image, 1, 3)</a:t>
            </a:r>
          </a:p>
        </p:txBody>
      </p:sp>
      <p:sp>
        <p:nvSpPr>
          <p:cNvPr id="17" name="너비 3 → 계약대로 너비 2">
            <a:extLst xmlns:a="http://schemas.openxmlformats.org/drawingml/2006/main">
              <a:ext uri="{FF2B5EF4-FFF2-40B4-BE49-F238E27FC236}">
                <a16:creationId xmlns:a16="http://schemas.microsoft.com/office/drawing/2014/main" id="{6EF181BC-1CC4-4877-A41E-3EC68E280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95875"/>
            <a:ext cx="6496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너비 3 → 계약대로 너비 2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E39051C-4F1B-4E39-8D88-CCB973CA1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2292176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1 · 수정 뒤 확인한 것">
            <a:extLst xmlns:a="http://schemas.openxmlformats.org/drawingml/2006/main">
              <a:ext uri="{FF2B5EF4-FFF2-40B4-BE49-F238E27FC236}">
                <a16:creationId xmlns:a16="http://schemas.microsoft.com/office/drawing/2014/main" id="{1AC9C9E5-CD72-4066-B979-A9F01938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수정 뒤 확인한 것</a:t>
            </a:r>
          </a:p>
        </p:txBody>
      </p:sp>
      <p:sp>
        <p:nvSpPr>
          <p:cNvPr id="2" name="S19">
            <a:extLst xmlns:a="http://schemas.openxmlformats.org/drawingml/2006/main">
              <a:ext uri="{FF2B5EF4-FFF2-40B4-BE49-F238E27FC236}">
                <a16:creationId xmlns:a16="http://schemas.microsoft.com/office/drawing/2014/main" id="{45D6D620-CA18-463A-8610-636C78CD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S19</a:t>
            </a:r>
          </a:p>
        </p:txBody>
      </p:sp>
      <p:sp>
        <p:nvSpPr>
          <p:cNvPr id="3" name="변경 결과와 확인 증거">
            <a:extLst xmlns:a="http://schemas.openxmlformats.org/drawingml/2006/main">
              <a:ext uri="{FF2B5EF4-FFF2-40B4-BE49-F238E27FC236}">
                <a16:creationId xmlns:a16="http://schemas.microsoft.com/office/drawing/2014/main" id="{03B2B1B0-0FC9-48EE-AB60-484D97626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결과와 확인 증거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DD675-CB42-43B2-9430-7AA6221BB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기록 요약 · 단일 Codex CLI 실행 · STATE-00-FIXED">
            <a:extLst xmlns:a="http://schemas.openxmlformats.org/drawingml/2006/main">
              <a:ext uri="{FF2B5EF4-FFF2-40B4-BE49-F238E27FC236}">
                <a16:creationId xmlns:a16="http://schemas.microsoft.com/office/drawing/2014/main" id="{04013B78-465A-4E17-916A-8D4B3E62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기록 요약 · 단일 Codex CLI 실행 · STATE-00-FIXED</a:t>
            </a:r>
          </a:p>
        </p:txBody>
      </p:sp>
      <p:sp>
        <p:nvSpPr>
          <p:cNvPr id="6" name="해당 테스트·입력·수정 범위의 확인입니다. 성능 benchmark는 수행하지 않았습니다.">
            <a:extLst xmlns:a="http://schemas.openxmlformats.org/drawingml/2006/main">
              <a:ext uri="{FF2B5EF4-FFF2-40B4-BE49-F238E27FC236}">
                <a16:creationId xmlns:a16="http://schemas.microsoft.com/office/drawing/2014/main" id="{83151D2C-5047-4573-8446-252144D6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해당 테스트·입력·수정 범위의 확인입니다. 성능 benchmark는 수행하지 않았습니다.</a:t>
            </a:r>
          </a:p>
        </p:txBody>
      </p:sp>
      <p:sp>
        <p:nvSpPr>
          <p:cNvPr id="7" name="동작 확인">
            <a:extLst xmlns:a="http://schemas.openxmlformats.org/drawingml/2006/main">
              <a:ext uri="{FF2B5EF4-FFF2-40B4-BE49-F238E27FC236}">
                <a16:creationId xmlns:a16="http://schemas.microsoft.com/office/drawing/2014/main" id="{8917E89B-E2B2-4E8C-8EB5-B204D0AD7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동작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43B2F4-D4E3-4491-AF5C-4FC0CB39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3 / 3">
            <a:extLst xmlns:a="http://schemas.openxmlformats.org/drawingml/2006/main">
              <a:ext uri="{FF2B5EF4-FFF2-40B4-BE49-F238E27FC236}">
                <a16:creationId xmlns:a16="http://schemas.microsoft.com/office/drawing/2014/main" id="{957A6A02-D7FC-4075-AD3A-A7E07424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3 / 3</a:t>
            </a:r>
          </a:p>
        </p:txBody>
      </p:sp>
      <p:sp>
        <p:nvSpPr>
          <p:cNvPr id="10" name="crop 집중 테스트">
            <a:extLst xmlns:a="http://schemas.openxmlformats.org/drawingml/2006/main">
              <a:ext uri="{FF2B5EF4-FFF2-40B4-BE49-F238E27FC236}">
                <a16:creationId xmlns:a16="http://schemas.microsoft.com/office/drawing/2014/main" id="{F26303E2-4F9E-4F0D-9941-3D92180A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집중 테스트</a:t>
            </a:r>
          </a:p>
        </p:txBody>
      </p:sp>
      <p:sp>
        <p:nvSpPr>
          <p:cNvPr id="11" name="전체 suite 11 / 11 통과">
            <a:extLst xmlns:a="http://schemas.openxmlformats.org/drawingml/2006/main">
              <a:ext uri="{FF2B5EF4-FFF2-40B4-BE49-F238E27FC236}">
                <a16:creationId xmlns:a16="http://schemas.microsoft.com/office/drawing/2014/main" id="{92852C2F-87FA-4A2B-91B9-817CD1927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전체 suite 11 / 11 통과</a:t>
            </a:r>
          </a:p>
        </p:txBody>
      </p:sp>
      <p:sp>
        <p:nvSpPr>
          <p:cNvPr id="12" name="실행 확인">
            <a:extLst xmlns:a="http://schemas.openxmlformats.org/drawingml/2006/main">
              <a:ext uri="{FF2B5EF4-FFF2-40B4-BE49-F238E27FC236}">
                <a16:creationId xmlns:a16="http://schemas.microsoft.com/office/drawing/2014/main" id="{FD583E95-BE16-48C4-89E9-145D7F27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F7546E-71DD-4E39-8B85-A2360D69C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PASS">
            <a:extLst xmlns:a="http://schemas.openxmlformats.org/drawingml/2006/main">
              <a:ext uri="{FF2B5EF4-FFF2-40B4-BE49-F238E27FC236}">
                <a16:creationId xmlns:a16="http://schemas.microsoft.com/office/drawing/2014/main" id="{F0C9BA54-019B-4C16-8990-7CDF94A6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5" name="CLI smoke">
            <a:extLst xmlns:a="http://schemas.openxmlformats.org/drawingml/2006/main">
              <a:ext uri="{FF2B5EF4-FFF2-40B4-BE49-F238E27FC236}">
                <a16:creationId xmlns:a16="http://schemas.microsoft.com/office/drawing/2014/main" id="{83ED47A0-DDB0-4D2E-839C-3EBFFF33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 smoke</a:t>
            </a:r>
          </a:p>
        </p:txBody>
      </p:sp>
      <p:sp>
        <p:nvSpPr>
          <p:cNvPr id="16" name="기록된 샘플의 실행 경로">
            <a:extLst xmlns:a="http://schemas.openxmlformats.org/drawingml/2006/main">
              <a:ext uri="{FF2B5EF4-FFF2-40B4-BE49-F238E27FC236}">
                <a16:creationId xmlns:a16="http://schemas.microsoft.com/office/drawing/2014/main" id="{DDDD2DCB-A893-4D87-99CD-EA0E8B5A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샘플의 실행 경로</a:t>
            </a:r>
          </a:p>
        </p:txBody>
      </p:sp>
      <p:sp>
        <p:nvSpPr>
          <p:cNvPr id="17" name="범위 확인">
            <a:extLst xmlns:a="http://schemas.openxmlformats.org/drawingml/2006/main">
              <a:ext uri="{FF2B5EF4-FFF2-40B4-BE49-F238E27FC236}">
                <a16:creationId xmlns:a16="http://schemas.microsoft.com/office/drawing/2014/main" id="{98FE23F5-042A-4531-A9B7-506930F65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범위 확인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255BE5-34C8-46BA-80A4-719EACA06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1줄">
            <a:extLst xmlns:a="http://schemas.openxmlformats.org/drawingml/2006/main">
              <a:ext uri="{FF2B5EF4-FFF2-40B4-BE49-F238E27FC236}">
                <a16:creationId xmlns:a16="http://schemas.microsoft.com/office/drawing/2014/main" id="{898BBBBF-A361-44FB-A76F-46A37BE7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1줄</a:t>
            </a:r>
          </a:p>
        </p:txBody>
      </p:sp>
      <p:sp>
        <p:nvSpPr>
          <p:cNvPr id="20" name="한 파일의 crop 구현">
            <a:extLst xmlns:a="http://schemas.openxmlformats.org/drawingml/2006/main">
              <a:ext uri="{FF2B5EF4-FFF2-40B4-BE49-F238E27FC236}">
                <a16:creationId xmlns:a16="http://schemas.microsoft.com/office/drawing/2014/main" id="{4F498874-72A0-4A60-AB60-A7413DBF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파일의 crop 구현</a:t>
            </a:r>
          </a:p>
        </p:txBody>
      </p:sp>
      <p:sp>
        <p:nvSpPr>
          <p:cNvPr id="21" name="git diff --check 통과">
            <a:extLst xmlns:a="http://schemas.openxmlformats.org/drawingml/2006/main">
              <a:ext uri="{FF2B5EF4-FFF2-40B4-BE49-F238E27FC236}">
                <a16:creationId xmlns:a16="http://schemas.microsoft.com/office/drawing/2014/main" id="{9BDC7C0A-4C50-43AB-B14F-296AD96E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git diff --check 통과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1746F98-044E-49C3-9274-B78F43D1A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7140599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생성 뒤에 남는 판단">
            <a:extLst xmlns:a="http://schemas.openxmlformats.org/drawingml/2006/main">
              <a:ext uri="{FF2B5EF4-FFF2-40B4-BE49-F238E27FC236}">
                <a16:creationId xmlns:a16="http://schemas.microsoft.com/office/drawing/2014/main" id="{435FC4DD-8A5A-4837-B7FB-29663FA2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생성 뒤에 남는 판단</a:t>
            </a:r>
          </a:p>
        </p:txBody>
      </p:sp>
      <p:sp>
        <p:nvSpPr>
          <p:cNvPr id="2" name="S20">
            <a:extLst xmlns:a="http://schemas.openxmlformats.org/drawingml/2006/main">
              <a:ext uri="{FF2B5EF4-FFF2-40B4-BE49-F238E27FC236}">
                <a16:creationId xmlns:a16="http://schemas.microsoft.com/office/drawing/2014/main" id="{233821D8-DD45-436F-91C6-FCFB56086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S20</a:t>
            </a:r>
          </a:p>
        </p:txBody>
      </p:sp>
      <p:sp>
        <p:nvSpPr>
          <p:cNvPr id="3" name="Generated ≠ Done">
            <a:extLst xmlns:a="http://schemas.openxmlformats.org/drawingml/2006/main">
              <a:ext uri="{FF2B5EF4-FFF2-40B4-BE49-F238E27FC236}">
                <a16:creationId xmlns:a16="http://schemas.microsoft.com/office/drawing/2014/main" id="{6C2DC79B-D4DD-44A0-BD4B-41F87A53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Generated ≠ Done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B05835-9725-41B8-95F6-453B9587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결과 인계 예 · TRIAL-002 기록 재구성 · 실제 PR 원문이 아님">
            <a:extLst xmlns:a="http://schemas.openxmlformats.org/drawingml/2006/main">
              <a:ext uri="{FF2B5EF4-FFF2-40B4-BE49-F238E27FC236}">
                <a16:creationId xmlns:a16="http://schemas.microsoft.com/office/drawing/2014/main" id="{CBB7AB86-EFB9-4978-9F1E-670DDB439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결과 인계 예 · TRIAL-002 기록 재구성 · 실제 PR 원문이 아님</a:t>
            </a:r>
          </a:p>
        </p:txBody>
      </p:sp>
      <p:sp>
        <p:nvSpPr>
          <p:cNvPr id="6" name="검사는 주장과 위험에 맞춰 선택합니다. TRIAL-002에서 benchmark는 수행하지 않았습니다.">
            <a:extLst xmlns:a="http://schemas.openxmlformats.org/drawingml/2006/main">
              <a:ext uri="{FF2B5EF4-FFF2-40B4-BE49-F238E27FC236}">
                <a16:creationId xmlns:a16="http://schemas.microsoft.com/office/drawing/2014/main" id="{3F3865B8-26D1-4998-9349-A57663B9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검사는 주장과 위험에 맞춰 선택합니다. TRIAL-002에서 benchmark는 수행하지 않았습니다.</a:t>
            </a:r>
          </a:p>
        </p:txBody>
      </p:sp>
      <p:sp>
        <p:nvSpPr>
          <p:cNvPr id="7" name="코드가 나왔다">
            <a:extLst xmlns:a="http://schemas.openxmlformats.org/drawingml/2006/main">
              <a:ext uri="{FF2B5EF4-FFF2-40B4-BE49-F238E27FC236}">
                <a16:creationId xmlns:a16="http://schemas.microsoft.com/office/drawing/2014/main" id="{382A03D1-BE25-4A49-8BFB-3CFAF6004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3619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코드가 나왔다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D206C-BA74-4666-BD89-4619E717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95500"/>
            <a:ext cx="762000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9" name="완료라고 말할 수 있나?">
            <a:extLst xmlns:a="http://schemas.openxmlformats.org/drawingml/2006/main">
              <a:ext uri="{FF2B5EF4-FFF2-40B4-BE49-F238E27FC236}">
                <a16:creationId xmlns:a16="http://schemas.microsoft.com/office/drawing/2014/main" id="{54958455-7881-4FD8-B511-F8F5F7B3D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525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완료라고 말할 수 있나?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B61D8A-B65F-4795-93E5-4E3158AC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변경 이유·범위">
            <a:extLst xmlns:a="http://schemas.openxmlformats.org/drawingml/2006/main">
              <a:ext uri="{FF2B5EF4-FFF2-40B4-BE49-F238E27FC236}">
                <a16:creationId xmlns:a16="http://schemas.microsoft.com/office/drawing/2014/main" id="{ED31F54C-6A39-4518-A033-655A5E28C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이유·범위</a:t>
            </a:r>
          </a:p>
        </p:txBody>
      </p:sp>
      <p:sp>
        <p:nvSpPr>
          <p:cNvPr id="12" name="끝 좌표 계약에 맞춰 crop 구현 1줄 수정">
            <a:extLst xmlns:a="http://schemas.openxmlformats.org/drawingml/2006/main">
              <a:ext uri="{FF2B5EF4-FFF2-40B4-BE49-F238E27FC236}">
                <a16:creationId xmlns:a16="http://schemas.microsoft.com/office/drawing/2014/main" id="{8942D62F-00E3-4FA9-8543-E2C5D3EFC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670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계약에 맞춰 crop 구현 1줄 수정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F843BB-302B-4BE2-9E08-C5398FF15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검증 근거·결과">
            <a:extLst xmlns:a="http://schemas.openxmlformats.org/drawingml/2006/main">
              <a:ext uri="{FF2B5EF4-FFF2-40B4-BE49-F238E27FC236}">
                <a16:creationId xmlns:a16="http://schemas.microsoft.com/office/drawing/2014/main" id="{F61AC3A8-E4D0-4E33-BE29-A9C94CB3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근거·결과</a:t>
            </a:r>
          </a:p>
        </p:txBody>
      </p:sp>
      <p:sp>
        <p:nvSpPr>
          <p:cNvPr id="15" name="집중 3/3 · 전체 11/11 · CLI smoke · diff">
            <a:extLst xmlns:a="http://schemas.openxmlformats.org/drawingml/2006/main">
              <a:ext uri="{FF2B5EF4-FFF2-40B4-BE49-F238E27FC236}">
                <a16:creationId xmlns:a16="http://schemas.microsoft.com/office/drawing/2014/main" id="{8B97A50C-7F2F-46C3-A7D0-1261CAB9E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385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집중 3/3 · 전체 11/11 · CLI smoke ·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D6DF39-048D-445E-A9B7-A374D3DF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미확인 사항">
            <a:extLst xmlns:a="http://schemas.openxmlformats.org/drawingml/2006/main">
              <a:ext uri="{FF2B5EF4-FFF2-40B4-BE49-F238E27FC236}">
                <a16:creationId xmlns:a16="http://schemas.microsoft.com/office/drawing/2014/main" id="{6CA686C6-3624-4D6F-BB8B-D359DC105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미확인 사항</a:t>
            </a:r>
          </a:p>
        </p:txBody>
      </p:sp>
      <p:sp>
        <p:nvSpPr>
          <p:cNvPr id="18" name="성능 미측정 · 현재 Desktop 동작 미검증">
            <a:extLst xmlns:a="http://schemas.openxmlformats.org/drawingml/2006/main">
              <a:ext uri="{FF2B5EF4-FFF2-40B4-BE49-F238E27FC236}">
                <a16:creationId xmlns:a16="http://schemas.microsoft.com/office/drawing/2014/main" id="{22902ABA-5D09-4B46-A478-3CF491050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100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미측정 · 현재 Desktop 동작 미검증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00F854-7E23-4411-831C-8A23C67C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86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사람의 수용 판단">
            <a:extLst xmlns:a="http://schemas.openxmlformats.org/drawingml/2006/main">
              <a:ext uri="{FF2B5EF4-FFF2-40B4-BE49-F238E27FC236}">
                <a16:creationId xmlns:a16="http://schemas.microsoft.com/office/drawing/2014/main" id="{753F8042-92FC-42E1-9FCA-92A9717F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사람의 수용 판단</a:t>
            </a:r>
          </a:p>
        </p:txBody>
      </p:sp>
      <p:sp>
        <p:nvSpPr>
          <p:cNvPr id="21" name="근거와 남은 위험을 보고 완료 여부 결정">
            <a:extLst xmlns:a="http://schemas.openxmlformats.org/drawingml/2006/main">
              <a:ext uri="{FF2B5EF4-FFF2-40B4-BE49-F238E27FC236}">
                <a16:creationId xmlns:a16="http://schemas.microsoft.com/office/drawing/2014/main" id="{8BC200C4-6EB2-45F3-8733-B46664FB6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5815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근거와 남은 위험을 보고 완료 여부 결정</a:t>
            </a:r>
          </a:p>
        </p:txBody>
      </p:sp>
      <p:sp>
        <p:nvSpPr>
          <p:cNvPr id="22" name="“더 빨라졌다”고 말하려면 → 해당 조건의 성능 측정도 필요">
            <a:extLst xmlns:a="http://schemas.openxmlformats.org/drawingml/2006/main">
              <a:ext uri="{FF2B5EF4-FFF2-40B4-BE49-F238E27FC236}">
                <a16:creationId xmlns:a16="http://schemas.microsoft.com/office/drawing/2014/main" id="{3A2DBC6B-8DBC-4E47-A699-E439A0AA9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“더 빨라졌다”고 말하려면 → 해당 조건의 성능 측정도 필요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CF608A4-B5B0-46C1-A151-AE959A16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 · M5 · M6</a:t>
            </a:r>
          </a:p>
        </p:txBody>
      </p:sp>
    </p:spTree>
    <p:extLst>
      <p:ext uri="{BB962C8B-B14F-4D97-AF65-F5344CB8AC3E}">
        <p14:creationId xmlns:p14="http://schemas.microsoft.com/office/powerpoint/2010/main" val="14796746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T 1 · 근거에 맞춰 말하기">
            <a:extLst xmlns:a="http://schemas.openxmlformats.org/drawingml/2006/main">
              <a:ext uri="{FF2B5EF4-FFF2-40B4-BE49-F238E27FC236}">
                <a16:creationId xmlns:a16="http://schemas.microsoft.com/office/drawing/2014/main" id="{B57C8C90-8827-487F-866C-11CB5545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근거에 맞춰 말하기</a:t>
            </a:r>
          </a:p>
        </p:txBody>
      </p:sp>
      <p:sp>
        <p:nvSpPr>
          <p:cNvPr id="2" name="S21">
            <a:extLst xmlns:a="http://schemas.openxmlformats.org/drawingml/2006/main">
              <a:ext uri="{FF2B5EF4-FFF2-40B4-BE49-F238E27FC236}">
                <a16:creationId xmlns:a16="http://schemas.microsoft.com/office/drawing/2014/main" id="{3DA61602-6BF9-48CD-9A3B-998F7C1F7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S21</a:t>
            </a:r>
          </a:p>
        </p:txBody>
      </p:sp>
      <p:sp>
        <p:nvSpPr>
          <p:cNvPr id="3" name="Check마다 확인하는 범위">
            <a:extLst xmlns:a="http://schemas.openxmlformats.org/drawingml/2006/main">
              <a:ext uri="{FF2B5EF4-FFF2-40B4-BE49-F238E27FC236}">
                <a16:creationId xmlns:a16="http://schemas.microsoft.com/office/drawing/2014/main" id="{73AFCC69-AC44-41C0-9ADC-B93D1A85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Check마다 확인하는 범위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747C16-34FF-4ECD-ABDA-38118F473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 실제 확인: 집중·전체 테스트 / CLI smoke / diff · 검사 비교는 교육용 재">
            <a:extLst xmlns:a="http://schemas.openxmlformats.org/drawingml/2006/main">
              <a:ext uri="{FF2B5EF4-FFF2-40B4-BE49-F238E27FC236}">
                <a16:creationId xmlns:a16="http://schemas.microsoft.com/office/drawing/2014/main" id="{680A7AB6-BE52-4575-B373-99B2B31F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 실제 확인: 집중·전체 테스트 / CLI smoke / diff · 검사 비교는 교육용 재구성</a:t>
            </a:r>
          </a:p>
        </p:txBody>
      </p:sp>
      <p:sp>
        <p:nvSpPr>
          <p:cNvPr id="6" name="Benchmark는 이 Trial에서 미실행. 검사 비교는 새 테스트 실행이나 PASS 결과가 아닙니다.">
            <a:extLst xmlns:a="http://schemas.openxmlformats.org/drawingml/2006/main">
              <a:ext uri="{FF2B5EF4-FFF2-40B4-BE49-F238E27FC236}">
                <a16:creationId xmlns:a16="http://schemas.microsoft.com/office/drawing/2014/main" id="{35E56B8F-7FC1-4ACD-8E58-F1BCF0CE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Benchmark는 이 Trial에서 미실행. 검사 비교는 새 테스트 실행이나 PASS 결과가 아닙니다.</a:t>
            </a:r>
          </a:p>
        </p:txBody>
      </p:sp>
      <p:sp>
        <p:nvSpPr>
          <p:cNvPr id="7" name="확인 방법">
            <a:extLst xmlns:a="http://schemas.openxmlformats.org/drawingml/2006/main">
              <a:ext uri="{FF2B5EF4-FFF2-40B4-BE49-F238E27FC236}">
                <a16:creationId xmlns:a16="http://schemas.microsoft.com/office/drawing/2014/main" id="{3A17C703-7C1B-4DAB-B22D-F049C74B6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76425"/>
            <a:ext cx="361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 방법</a:t>
            </a:r>
          </a:p>
        </p:txBody>
      </p:sp>
      <p:sp>
        <p:nvSpPr>
          <p:cNvPr id="8" name="말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1B258825-5014-4BBD-ADB0-560D6083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76425"/>
            <a:ext cx="7200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말할 수 있는 범위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CD541E-8C81-4B76-8279-A59176DB8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집중 테스트">
            <a:extLst xmlns:a="http://schemas.openxmlformats.org/drawingml/2006/main">
              <a:ext uri="{FF2B5EF4-FFF2-40B4-BE49-F238E27FC236}">
                <a16:creationId xmlns:a16="http://schemas.microsoft.com/office/drawing/2014/main" id="{86815B22-D5B4-42A9-BCA9-07ADD1C2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집중 테스트</a:t>
            </a:r>
          </a:p>
        </p:txBody>
      </p:sp>
      <p:sp>
        <p:nvSpPr>
          <p:cNvPr id="11" name="바뀐 동작의 해당 테스트 조건">
            <a:extLst xmlns:a="http://schemas.openxmlformats.org/drawingml/2006/main">
              <a:ext uri="{FF2B5EF4-FFF2-40B4-BE49-F238E27FC236}">
                <a16:creationId xmlns:a16="http://schemas.microsoft.com/office/drawing/2014/main" id="{9492CF2A-0D40-4301-89E5-F8DE0B4DA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43150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동작의 해당 테스트 조건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4F1706-4086-4BEF-946A-0B0D0C41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전체 테스트">
            <a:extLst xmlns:a="http://schemas.openxmlformats.org/drawingml/2006/main">
              <a:ext uri="{FF2B5EF4-FFF2-40B4-BE49-F238E27FC236}">
                <a16:creationId xmlns:a16="http://schemas.microsoft.com/office/drawing/2014/main" id="{8D0F5922-E9BA-4EC4-95AF-8619ABC54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전체 테스트</a:t>
            </a:r>
          </a:p>
        </p:txBody>
      </p:sp>
      <p:sp>
        <p:nvSpPr>
          <p:cNvPr id="14" name="현재 suite에 담긴 회귀 범위">
            <a:extLst xmlns:a="http://schemas.openxmlformats.org/drawingml/2006/main">
              <a:ext uri="{FF2B5EF4-FFF2-40B4-BE49-F238E27FC236}">
                <a16:creationId xmlns:a16="http://schemas.microsoft.com/office/drawing/2014/main" id="{1841EA7B-B05B-41D6-8111-6E2B47DC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81300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suite에 담긴 회귀 범위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AE0BDA-E4D3-4FBA-89C0-60760733B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CLI smoke">
            <a:extLst xmlns:a="http://schemas.openxmlformats.org/drawingml/2006/main">
              <a:ext uri="{FF2B5EF4-FFF2-40B4-BE49-F238E27FC236}">
                <a16:creationId xmlns:a16="http://schemas.microsoft.com/office/drawing/2014/main" id="{AD6D0B0B-1CA0-45A3-87E9-D40305DA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smoke</a:t>
            </a:r>
          </a:p>
        </p:txBody>
      </p:sp>
      <p:sp>
        <p:nvSpPr>
          <p:cNvPr id="17" name="샘플 입력의 통합 실행 경로">
            <a:extLst xmlns:a="http://schemas.openxmlformats.org/drawingml/2006/main">
              <a:ext uri="{FF2B5EF4-FFF2-40B4-BE49-F238E27FC236}">
                <a16:creationId xmlns:a16="http://schemas.microsoft.com/office/drawing/2014/main" id="{E226E0F0-C4AA-4F5F-B133-00845234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샘플 입력의 통합 실행 경로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065F82-2BF0-4D89-921A-EC21BBAA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diff 검토">
            <a:extLst xmlns:a="http://schemas.openxmlformats.org/drawingml/2006/main">
              <a:ext uri="{FF2B5EF4-FFF2-40B4-BE49-F238E27FC236}">
                <a16:creationId xmlns:a16="http://schemas.microsoft.com/office/drawing/2014/main" id="{FB168DE0-B524-4BE2-86F6-7943EAE16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diff 검토</a:t>
            </a:r>
          </a:p>
        </p:txBody>
      </p:sp>
      <p:sp>
        <p:nvSpPr>
          <p:cNvPr id="20" name="변경 범위와 의도하지 않은 수정">
            <a:extLst xmlns:a="http://schemas.openxmlformats.org/drawingml/2006/main">
              <a:ext uri="{FF2B5EF4-FFF2-40B4-BE49-F238E27FC236}">
                <a16:creationId xmlns:a16="http://schemas.microsoft.com/office/drawing/2014/main" id="{1B379153-9791-45A0-AF11-5D040D4AC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57600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범위와 의도하지 않은 수정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BA79C1-E898-4570-877E-0334B14D2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57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4ADFC7A1-D25C-4BB6-8D9C-809AAA80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23" name="측정한 입력·환경에서의 성능">
            <a:extLst xmlns:a="http://schemas.openxmlformats.org/drawingml/2006/main">
              <a:ext uri="{FF2B5EF4-FFF2-40B4-BE49-F238E27FC236}">
                <a16:creationId xmlns:a16="http://schemas.microsoft.com/office/drawing/2014/main" id="{7489B455-4375-489F-AE53-302CFDEE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095750"/>
            <a:ext cx="7200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측정한 입력·환경에서의 성능</a:t>
            </a:r>
          </a:p>
        </p:txBody>
      </p:sp>
      <p:sp>
        <p:nvSpPr>
          <p:cNvPr id="24" name="4열 입력 · crop 1 3의 끝 좌표 계약을 확인한다면">
            <a:extLst xmlns:a="http://schemas.openxmlformats.org/drawingml/2006/main">
              <a:ext uri="{FF2B5EF4-FFF2-40B4-BE49-F238E27FC236}">
                <a16:creationId xmlns:a16="http://schemas.microsoft.com/office/drawing/2014/main" id="{41003E58-DB83-4854-81CC-60FE59EFF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4열 입력 · crop 1 3의 끝 좌표 계약을 확인한다면</a:t>
            </a:r>
          </a:p>
        </p:txBody>
      </p:sp>
      <p:sp>
        <p:nvSpPr>
          <p:cNvPr id="25" name="비어 있지 않음">
            <a:extLst xmlns:a="http://schemas.openxmlformats.org/drawingml/2006/main">
              <a:ext uri="{FF2B5EF4-FFF2-40B4-BE49-F238E27FC236}">
                <a16:creationId xmlns:a16="http://schemas.microsoft.com/office/drawing/2014/main" id="{C83D4546-9FE9-42BD-801E-EDAA57DB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비어 있지 않음</a:t>
            </a:r>
          </a:p>
        </p:txBody>
      </p:sp>
      <p:sp>
        <p:nvSpPr>
          <p:cNvPr id="26" name="잘못된 3열 결과도 만족할 수 있음">
            <a:extLst xmlns:a="http://schemas.openxmlformats.org/drawingml/2006/main">
              <a:ext uri="{FF2B5EF4-FFF2-40B4-BE49-F238E27FC236}">
                <a16:creationId xmlns:a16="http://schemas.microsoft.com/office/drawing/2014/main" id="{2FEDDB99-E17D-4C59-AF44-19B6B3BA5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523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잘못된 3열 결과도 만족할 수 있음</a:t>
            </a:r>
          </a:p>
        </p:txBody>
      </p:sp>
      <p:sp>
        <p:nvSpPr>
          <p:cNvPr id="27" name="원본 열 1·2, 폭 2">
            <a:extLst xmlns:a="http://schemas.openxmlformats.org/drawingml/2006/main">
              <a:ext uri="{FF2B5EF4-FFF2-40B4-BE49-F238E27FC236}">
                <a16:creationId xmlns:a16="http://schemas.microsoft.com/office/drawing/2014/main" id="{A5BCB813-7187-44DD-80D4-15CD2D660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01015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원본 열 1·2, 폭 2</a:t>
            </a:r>
          </a:p>
        </p:txBody>
      </p:sp>
      <p:sp>
        <p:nvSpPr>
          <p:cNvPr id="28" name="끝 좌표 제외 계약을 직접 확인">
            <a:extLst xmlns:a="http://schemas.openxmlformats.org/drawingml/2006/main">
              <a:ext uri="{FF2B5EF4-FFF2-40B4-BE49-F238E27FC236}">
                <a16:creationId xmlns:a16="http://schemas.microsoft.com/office/drawing/2014/main" id="{BE62EF00-AEFD-4D45-BCD6-6CC39A1E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53050"/>
            <a:ext cx="487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끝 좌표 제외 계약을 직접 확인</a:t>
            </a:r>
          </a:p>
        </p:txBody>
      </p:sp>
      <p:sp>
        <p:nvSpPr>
          <p:cNvPr id="2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7B5ECCC-798A-4D23-83D1-4DE46FB9A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8035648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1 · 반복해서 쓰는 정보 돌아보기">
            <a:extLst xmlns:a="http://schemas.openxmlformats.org/drawingml/2006/main">
              <a:ext uri="{FF2B5EF4-FFF2-40B4-BE49-F238E27FC236}">
                <a16:creationId xmlns:a16="http://schemas.microsoft.com/office/drawing/2014/main" id="{BBD1BA3A-A1CD-4312-A3AA-CB47E0B4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반복해서 쓰는 정보 돌아보기</a:t>
            </a:r>
          </a:p>
        </p:txBody>
      </p:sp>
      <p:sp>
        <p:nvSpPr>
          <p:cNvPr id="2" name="S22">
            <a:extLst xmlns:a="http://schemas.openxmlformats.org/drawingml/2006/main">
              <a:ext uri="{FF2B5EF4-FFF2-40B4-BE49-F238E27FC236}">
                <a16:creationId xmlns:a16="http://schemas.microsoft.com/office/drawing/2014/main" id="{7B4552ED-3C3C-4584-AAC8-A53D4DE6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S22</a:t>
            </a:r>
          </a:p>
        </p:txBody>
      </p:sp>
      <p:sp>
        <p:nvSpPr>
          <p:cNvPr id="3" name="이번 Task인가,&#10;계속 유지할 Project 정보인가?">
            <a:extLst xmlns:a="http://schemas.openxmlformats.org/drawingml/2006/main">
              <a:ext uri="{FF2B5EF4-FFF2-40B4-BE49-F238E27FC236}">
                <a16:creationId xmlns:a16="http://schemas.microsoft.com/office/drawing/2014/main" id="{D3E82578-2D74-48FC-92C0-B65001BB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Task인가,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계속 유지할 Project 정보인가?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B18F1D-564A-4379-B183-2240CAA2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생각해 보기 · 이 과정의 교육 모델">
            <a:extLst xmlns:a="http://schemas.openxmlformats.org/drawingml/2006/main">
              <a:ext uri="{FF2B5EF4-FFF2-40B4-BE49-F238E27FC236}">
                <a16:creationId xmlns:a16="http://schemas.microsoft.com/office/drawing/2014/main" id="{138ECDF2-EA66-4537-B014-5B7B5C644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생각해 보기 · 이 과정의 교육 모델</a:t>
            </a:r>
          </a:p>
        </p:txBody>
      </p:sp>
      <p:sp>
        <p:nvSpPr>
          <p:cNvPr id="6" name="1분 동안 개인적으로 생각한 뒤 2분간 자발적인 질문을 받습니다.">
            <a:extLst xmlns:a="http://schemas.openxmlformats.org/drawingml/2006/main">
              <a:ext uri="{FF2B5EF4-FFF2-40B4-BE49-F238E27FC236}">
                <a16:creationId xmlns:a16="http://schemas.microsoft.com/office/drawing/2014/main" id="{2CEEFA48-B89B-46E9-8E02-84237D0D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1분 동안 개인적으로 생각한 뒤 2분간 자발적인 질문을 받습니다.</a:t>
            </a:r>
          </a:p>
        </p:txBody>
      </p:sp>
      <p:sp>
        <p:nvSpPr>
          <p:cNvPr id="7" name="테스트·보존 조건처럼, 반복해서 쓴 문장을 떠올려 보세요.">
            <a:extLst xmlns:a="http://schemas.openxmlformats.org/drawingml/2006/main">
              <a:ext uri="{FF2B5EF4-FFF2-40B4-BE49-F238E27FC236}">
                <a16:creationId xmlns:a16="http://schemas.microsoft.com/office/drawing/2014/main" id="{E7E3E0AD-14B0-4267-B714-3C9F302A0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19325"/>
            <a:ext cx="10972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테스트·보존 조건처럼, 반복해서 쓴 문장을 떠올려 보세요.</a:t>
            </a:r>
          </a:p>
        </p:txBody>
      </p:sp>
      <p:sp>
        <p:nvSpPr>
          <p:cNvPr id="8" name="이번 작업에만?">
            <a:extLst xmlns:a="http://schemas.openxmlformats.org/drawingml/2006/main">
              <a:ext uri="{FF2B5EF4-FFF2-40B4-BE49-F238E27FC236}">
                <a16:creationId xmlns:a16="http://schemas.microsoft.com/office/drawing/2014/main" id="{7D039C3C-1EC6-4477-B3FA-A9C14252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5162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작업에만?</a:t>
            </a:r>
          </a:p>
        </p:txBody>
      </p:sp>
      <p:sp>
        <p:nvSpPr>
          <p:cNvPr id="9" name="다음 작업에도?">
            <a:extLst xmlns:a="http://schemas.openxmlformats.org/drawingml/2006/main">
              <a:ext uri="{FF2B5EF4-FFF2-40B4-BE49-F238E27FC236}">
                <a16:creationId xmlns:a16="http://schemas.microsoft.com/office/drawing/2014/main" id="{C28D1C8E-BA7E-462B-84FF-1C350D1E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81375"/>
            <a:ext cx="4876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79EF3-7865-4DBE-9B1C-996B208F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9625"/>
            <a:ext cx="5162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247ED4-8249-4B6B-952E-A67AE2857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96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2" name="어떤 정보가 계속 남아 있어야 할까요?">
            <a:extLst xmlns:a="http://schemas.openxmlformats.org/drawingml/2006/main">
              <a:ext uri="{FF2B5EF4-FFF2-40B4-BE49-F238E27FC236}">
                <a16:creationId xmlns:a16="http://schemas.microsoft.com/office/drawing/2014/main" id="{2BACF47C-8AF3-4B3F-AC5C-081EDEF30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017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정보가 계속 남아 있어야 할까요?</a:t>
            </a:r>
          </a:p>
        </p:txBody>
      </p:sp>
      <p:sp>
        <p:nvSpPr>
          <p:cNvPr id="1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C9312DA-4722-4B19-ACF9-26AFF762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80255954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1 · 정보의 수명과 범위">
            <a:extLst xmlns:a="http://schemas.openxmlformats.org/drawingml/2006/main">
              <a:ext uri="{FF2B5EF4-FFF2-40B4-BE49-F238E27FC236}">
                <a16:creationId xmlns:a16="http://schemas.microsoft.com/office/drawing/2014/main" id="{D510801E-7DD1-4D85-8BEC-CAB8550C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정보의 수명과 범위</a:t>
            </a:r>
          </a:p>
        </p:txBody>
      </p:sp>
      <p:sp>
        <p:nvSpPr>
          <p:cNvPr id="2" name="S23">
            <a:extLst xmlns:a="http://schemas.openxmlformats.org/drawingml/2006/main">
              <a:ext uri="{FF2B5EF4-FFF2-40B4-BE49-F238E27FC236}">
                <a16:creationId xmlns:a16="http://schemas.microsoft.com/office/drawing/2014/main" id="{FC04694E-94A2-4BCC-8E98-08B130EB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S23</a:t>
            </a:r>
          </a:p>
        </p:txBody>
      </p:sp>
      <p:sp>
        <p:nvSpPr>
          <p:cNvPr id="3" name="반복하는 설명을 두 범주로 나누기">
            <a:extLst xmlns:a="http://schemas.openxmlformats.org/drawingml/2006/main">
              <a:ext uri="{FF2B5EF4-FFF2-40B4-BE49-F238E27FC236}">
                <a16:creationId xmlns:a16="http://schemas.microsoft.com/office/drawing/2014/main" id="{EF1E2A59-F033-4633-A189-64466D893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반복하는 설명을 두 범주로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CF05FB-A245-495C-8FD2-C609DAE0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교육용 후보 예시 · 모든 프로젝트에 적용되는 유일한 분류가 아님">
            <a:extLst xmlns:a="http://schemas.openxmlformats.org/drawingml/2006/main">
              <a:ext uri="{FF2B5EF4-FFF2-40B4-BE49-F238E27FC236}">
                <a16:creationId xmlns:a16="http://schemas.microsoft.com/office/drawing/2014/main" id="{48C87772-B450-4EC2-AD2C-89E7D0010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교육용 후보 예시 · 모든 프로젝트에 적용되는 유일한 분류가 아님</a:t>
            </a:r>
          </a:p>
        </p:txBody>
      </p:sp>
      <p:sp>
        <p:nvSpPr>
          <p:cNvPr id="6" name="다음 질문: Project 정보를 왜 매번 Prompt에 다시 적고 있을까요?">
            <a:extLst xmlns:a="http://schemas.openxmlformats.org/drawingml/2006/main">
              <a:ext uri="{FF2B5EF4-FFF2-40B4-BE49-F238E27FC236}">
                <a16:creationId xmlns:a16="http://schemas.microsoft.com/office/drawing/2014/main" id="{F338A164-4A76-464F-A160-B022019AE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다음 질문: Project 정보를 왜 매번 Prompt에 다시 적고 있을까요?</a:t>
            </a:r>
          </a:p>
        </p:txBody>
      </p:sp>
      <p:sp>
        <p:nvSpPr>
          <p:cNvPr id="7" name="이번 Task">
            <a:extLst xmlns:a="http://schemas.openxmlformats.org/drawingml/2006/main">
              <a:ext uri="{FF2B5EF4-FFF2-40B4-BE49-F238E27FC236}">
                <a16:creationId xmlns:a16="http://schemas.microsoft.com/office/drawing/2014/main" id="{9E45BE66-71DD-47F1-8C5F-CD9290B4C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24075"/>
            <a:ext cx="5162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8" name="계속 유지할 Project 정보">
            <a:extLst xmlns:a="http://schemas.openxmlformats.org/drawingml/2006/main">
              <a:ext uri="{FF2B5EF4-FFF2-40B4-BE49-F238E27FC236}">
                <a16:creationId xmlns:a16="http://schemas.microsoft.com/office/drawing/2014/main" id="{4B05CCDC-FE71-45A4-8C27-6B684CC3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24075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유지할 Project 정보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E27CA4-E32F-4A56-91D3-D5C8C21F8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516255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 경계 수정&#10;이번에는 README만 수정">
            <a:extLst xmlns:a="http://schemas.openxmlformats.org/drawingml/2006/main">
              <a:ext uri="{FF2B5EF4-FFF2-40B4-BE49-F238E27FC236}">
                <a16:creationId xmlns:a16="http://schemas.microsoft.com/office/drawing/2014/main" id="{3C7D0428-9D17-4525-A384-DE8453061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67050"/>
            <a:ext cx="47815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수정</a:t>
            </a:r>
          </a:p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README만 수정</a:t>
            </a:r>
          </a:p>
        </p:txBody>
      </p:sp>
      <p:sp>
        <p:nvSpPr>
          <p:cNvPr id="11" name="이번 목표에 적용할 후보">
            <a:extLst xmlns:a="http://schemas.openxmlformats.org/drawingml/2006/main">
              <a:ext uri="{FF2B5EF4-FFF2-40B4-BE49-F238E27FC236}">
                <a16:creationId xmlns:a16="http://schemas.microsoft.com/office/drawing/2014/main" id="{3CEB1766-A106-41E4-AC8C-6FD1531E9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1625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이번 목표에 적용할 후보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987A85-658A-4B25-96F6-07C1D46B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38450"/>
            <a:ext cx="48768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의존성 추가에는 작업상 근거 필요&#10;프로젝트 테스트 명령">
            <a:extLst xmlns:a="http://schemas.openxmlformats.org/drawingml/2006/main">
              <a:ext uri="{FF2B5EF4-FFF2-40B4-BE49-F238E27FC236}">
                <a16:creationId xmlns:a16="http://schemas.microsoft.com/office/drawing/2014/main" id="{FB7A3842-ACAE-4540-805E-ABBC77C16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67050"/>
            <a:ext cx="44958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의존성 추가에는 작업상 근거 필요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테스트 명령</a:t>
            </a:r>
          </a:p>
        </p:txBody>
      </p:sp>
      <p:sp>
        <p:nvSpPr>
          <p:cNvPr id="14" name="여러 작업에서 참고할 후보">
            <a:extLst xmlns:a="http://schemas.openxmlformats.org/drawingml/2006/main">
              <a:ext uri="{FF2B5EF4-FFF2-40B4-BE49-F238E27FC236}">
                <a16:creationId xmlns:a16="http://schemas.microsoft.com/office/drawing/2014/main" id="{5ACFADBC-32AA-4636-8B66-46A5BC430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800600"/>
            <a:ext cx="4876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여러 작업에서 참고할 후보</a:t>
            </a:r>
          </a:p>
        </p:txBody>
      </p:sp>
      <p:sp>
        <p:nvSpPr>
          <p:cNvPr id="15" name="정보마다 필요한 기간과 적용 범위가 다르다.">
            <a:extLst xmlns:a="http://schemas.openxmlformats.org/drawingml/2006/main">
              <a:ext uri="{FF2B5EF4-FFF2-40B4-BE49-F238E27FC236}">
                <a16:creationId xmlns:a16="http://schemas.microsoft.com/office/drawing/2014/main" id="{D5497F88-A135-49B6-871E-E15CA436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정보마다 필요한 기간과 적용 범위가 다르다.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3E851049-F77D-4ACC-8D25-052AA14D1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958544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2026-10-21T12:43:13.5600000Z</dcterms:created>
  <dcterms:modified xsi:type="dcterms:W3CDTF">2026-10-21T12:43:13.5600000Z</dcterms:modified>
</coreProperties>
</file>