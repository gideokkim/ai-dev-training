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ac041c6aed344f7" /><Relationship Type="http://schemas.openxmlformats.org/officeDocument/2006/relationships/extended-properties" Target="/docProps/app.xml" Id="R8d08208c09bc46c2" /><Relationship Type="http://schemas.openxmlformats.org/officeDocument/2006/relationships/officeDocument" Target="/ppt/presentation.xml" Id="Rdfe36f9b9e7a499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737013f695b4951"/>
  </p:sldMasterIdLst>
  <p:notesMasterIdLst>
    <p:notesMasterId xmlns:r="http://schemas.openxmlformats.org/officeDocument/2006/relationships" r:id="R9aef974c2b354d1c"/>
  </p:notesMasterIdLst>
  <p:sldIdLst>
    <p:sldId xmlns:r="http://schemas.openxmlformats.org/officeDocument/2006/relationships" id="256" r:id="R0bf48aee52ae4021"/>
    <p:sldId xmlns:r="http://schemas.openxmlformats.org/officeDocument/2006/relationships" id="257" r:id="R5609845514cb45ee"/>
    <p:sldId xmlns:r="http://schemas.openxmlformats.org/officeDocument/2006/relationships" id="258" r:id="R63db848948104ff1"/>
    <p:sldId xmlns:r="http://schemas.openxmlformats.org/officeDocument/2006/relationships" id="259" r:id="Rdb9b046f6df74fdf"/>
    <p:sldId xmlns:r="http://schemas.openxmlformats.org/officeDocument/2006/relationships" id="260" r:id="R417c43f65c77490c"/>
    <p:sldId xmlns:r="http://schemas.openxmlformats.org/officeDocument/2006/relationships" id="261" r:id="R5dade3af2dbf48af"/>
    <p:sldId xmlns:r="http://schemas.openxmlformats.org/officeDocument/2006/relationships" id="262" r:id="Rc682847f0de24fee"/>
    <p:sldId xmlns:r="http://schemas.openxmlformats.org/officeDocument/2006/relationships" id="263" r:id="R1e4deb35181646c9"/>
    <p:sldId xmlns:r="http://schemas.openxmlformats.org/officeDocument/2006/relationships" id="264" r:id="R0fd410c58e8a4325"/>
    <p:sldId xmlns:r="http://schemas.openxmlformats.org/officeDocument/2006/relationships" id="265" r:id="R090634e0b2ba4651"/>
    <p:sldId xmlns:r="http://schemas.openxmlformats.org/officeDocument/2006/relationships" id="266" r:id="R9153f474e3c742f3"/>
    <p:sldId xmlns:r="http://schemas.openxmlformats.org/officeDocument/2006/relationships" id="267" r:id="R0f7714e8b9d44c9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1a45f94f57b48f7" /><Relationship Type="http://schemas.openxmlformats.org/officeDocument/2006/relationships/slideMaster" Target="/ppt/slideMasters/slideMaster1.xml" Id="R7737013f695b4951" /><Relationship Type="http://schemas.openxmlformats.org/officeDocument/2006/relationships/notesMaster" Target="/ppt/notesMasters/notesMaster1.xml" Id="R9aef974c2b354d1c" /><Relationship Type="http://schemas.openxmlformats.org/officeDocument/2006/relationships/presProps" Target="/ppt/presProps.xml" Id="Re6c48f92c9ea4aa0" /><Relationship Type="http://schemas.openxmlformats.org/officeDocument/2006/relationships/tableStyles" Target="/ppt/tableStyles.xml" Id="R3ca52731ee1a43ea" /><Relationship Type="http://schemas.openxmlformats.org/officeDocument/2006/relationships/slide" Target="/ppt/slides/slide1.xml" Id="R0bf48aee52ae4021" /><Relationship Type="http://schemas.openxmlformats.org/officeDocument/2006/relationships/slide" Target="/ppt/slides/slide2.xml" Id="R5609845514cb45ee" /><Relationship Type="http://schemas.openxmlformats.org/officeDocument/2006/relationships/slide" Target="/ppt/slides/slide3.xml" Id="R63db848948104ff1" /><Relationship Type="http://schemas.openxmlformats.org/officeDocument/2006/relationships/slide" Target="/ppt/slides/slide4.xml" Id="Rdb9b046f6df74fdf" /><Relationship Type="http://schemas.openxmlformats.org/officeDocument/2006/relationships/slide" Target="/ppt/slides/slide5.xml" Id="R417c43f65c77490c" /><Relationship Type="http://schemas.openxmlformats.org/officeDocument/2006/relationships/slide" Target="/ppt/slides/slide6.xml" Id="R5dade3af2dbf48af" /><Relationship Type="http://schemas.openxmlformats.org/officeDocument/2006/relationships/slide" Target="/ppt/slides/slide7.xml" Id="Rc682847f0de24fee" /><Relationship Type="http://schemas.openxmlformats.org/officeDocument/2006/relationships/slide" Target="/ppt/slides/slide8.xml" Id="R1e4deb35181646c9" /><Relationship Type="http://schemas.openxmlformats.org/officeDocument/2006/relationships/slide" Target="/ppt/slides/slide9.xml" Id="R0fd410c58e8a4325" /><Relationship Type="http://schemas.openxmlformats.org/officeDocument/2006/relationships/slide" Target="/ppt/slides/slide10.xml" Id="R090634e0b2ba4651" /><Relationship Type="http://schemas.openxmlformats.org/officeDocument/2006/relationships/slide" Target="/ppt/slides/slide11.xml" Id="R9153f474e3c742f3" /><Relationship Type="http://schemas.openxmlformats.org/officeDocument/2006/relationships/slide" Target="/ppt/slides/slide12.xml" Id="R0f7714e8b9d44c9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be381d8180a4af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7b6b00ed5514747" /><Relationship Type="http://schemas.openxmlformats.org/officeDocument/2006/relationships/notesMaster" Target="/ppt/notesMasters/notesMaster1.xml" Id="R1c69b8de5cdd4bd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74bdec52a974ddf" /><Relationship Type="http://schemas.openxmlformats.org/officeDocument/2006/relationships/notesMaster" Target="/ppt/notesMasters/notesMaster1.xml" Id="R277e45ecff08418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f0daadd0a0a4390" /><Relationship Type="http://schemas.openxmlformats.org/officeDocument/2006/relationships/notesMaster" Target="/ppt/notesMasters/notesMaster1.xml" Id="Rd068ba7b772341b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eccc0856fe94bab" /><Relationship Type="http://schemas.openxmlformats.org/officeDocument/2006/relationships/notesMaster" Target="/ppt/notesMasters/notesMaster1.xml" Id="R9f4d7ee7b8e5466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f057c63405448a6" /><Relationship Type="http://schemas.openxmlformats.org/officeDocument/2006/relationships/notesMaster" Target="/ppt/notesMasters/notesMaster1.xml" Id="Rdd49e26b75cf4a0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7147316b73645e7" /><Relationship Type="http://schemas.openxmlformats.org/officeDocument/2006/relationships/notesMaster" Target="/ppt/notesMasters/notesMaster1.xml" Id="R8562da0260644dd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b7d7397a4744759" /><Relationship Type="http://schemas.openxmlformats.org/officeDocument/2006/relationships/notesMaster" Target="/ppt/notesMasters/notesMaster1.xml" Id="R88745a66529d449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e694a3a9197443a" /><Relationship Type="http://schemas.openxmlformats.org/officeDocument/2006/relationships/notesMaster" Target="/ppt/notesMasters/notesMaster1.xml" Id="Rb483f8b8c69c4d1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c162479ebea4550" /><Relationship Type="http://schemas.openxmlformats.org/officeDocument/2006/relationships/notesMaster" Target="/ppt/notesMasters/notesMaster1.xml" Id="R713099f2479e437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81e517fab024cae" /><Relationship Type="http://schemas.openxmlformats.org/officeDocument/2006/relationships/notesMaster" Target="/ppt/notesMasters/notesMaster1.xml" Id="R5127938fc11340f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91529b1e2c84605" /><Relationship Type="http://schemas.openxmlformats.org/officeDocument/2006/relationships/notesMaster" Target="/ppt/notesMasters/notesMaster1.xml" Id="R784980a22af042e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a63479d074a4720" /><Relationship Type="http://schemas.openxmlformats.org/officeDocument/2006/relationships/notesMaster" Target="/ppt/notesMasters/notesMaster1.xml" Id="R6e32768e3f68401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S10 — Task에는 무엇이 아직 정해지지 않았을까?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Task에는 무엇이 아직 정해지지 않았을까?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7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7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코드가 보이더라도 무엇을 바꾸고, 무엇을 보존하며, 언제 끝났다고 판단할지는 요청에 명시되어야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“같은 Repository를 보더라도 Agent가 원하는 결과까지 자동으로 알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(0:00–2:00) S09의 열린 질문을 회수하고 “같은 Repository를 보고 있다”는 조건을 고정한다.</a:t>
            </a:r>
          </a:p>
          <a:p xmlns:a="http://schemas.openxmlformats.org/drawingml/2006/main">
            <a:r>
              <a:t>2. (2:00–5:00) “filter 성능 개선해줘”와 오른쪽의 무엇을 바꿀지·보존할지·완료로 볼지 세 질문을 차례로 가리킨다. 특정 답을 채우지 않는다.</a:t>
            </a:r>
          </a:p>
          <a:p xmlns:a="http://schemas.openxmlformats.org/drawingml/2006/main">
            <a:r>
              <a:t>3. (5:00–7:00) Repository 접근만으로 남은 결정을 정할 수 있는지 질문한다. 남은 결정을 더 구체적으로 보기 위해 앞서 조사한 crop 사례로 좁히겠다고 S11을 예고한다. 실제 제품 실패 사례나 관찰 결과로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빈 조건을 발견하는 데 쓴다. 오른쪽 세 질문을 하나씩 짚으며 답은 채우지 않는다. 다음 장의 테스트/구현 두 해석을 여기서 미리 비교하지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BEAT-004, TRIAL-001, CLM-0002. TEACHING_MODEL / CONCEPTUAL. TRIAL-001의 실제 실패 사례가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접근 가능한 Repository가 Task의 목표·변경 범위·보존 조건·완료 증거를 대신 알려주지는 않는다는 과정의 모델이다. Codex 실패나 Trial 결과로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Agent에게 코드가 보인다는 사실과 내가 원하는 변경을 설명했다는 사실은 다르다. 바꿀 것과 끝의 기준을 적어야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Task goal, constraints, and verification remain separate from repository access. Do not infer deterministic agent behavior from the conceptual example.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Case 질문을 따라가며 무엇이 비어 있는지 생각하게 한다. 공개 답변이나 실습은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“남은 결정을 더 분명히 보기 위해, 앞서 조사한 crop 사례로 좁혀 보겠습니다.”라고 S11의 교육용 요청 예시로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7분을 질문과 세 개의 미정 경계에 쓴다. 새 Prompt 체크리스트나 해결책을 미리 소개하지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슬라이드 `production/ACT_1.pptx` S10 또는 `production/preview/act1/S10.png` 사용. 응답이 없어도 7분 후 S11로 이동한다.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S11 — 요청만으로는 의도가 보이지 않는다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요청만으로는 의도가 보이지 않는다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Repository를 볼 수 있어도 바꿀 범위와 완료 조건까지 알 수 있는 것은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“앞서 본 crop을 고쳐 달라는 요청에는 어떤 결정이 남아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(0:00–0:45) 앞서 조사한 crop으로 사례를 좁힌다고 알린 뒤 “crop test 고쳐줘”를 읽는다. 이는 교육용 구성 요청이며 실제 Trial Prompt가 아님을 밝힌다.</a:t>
            </a:r>
          </a:p>
          <a:p xmlns:a="http://schemas.openxmlformats.org/drawingml/2006/main">
            <a:r>
              <a:t>2. (0:45–3:00) 테스트와 구현 중 무엇을 바꾸라는 뜻인지 두 질문을 비교한다. 이어 목표의 세부·보존 조건·수정 범위·확인 근거·완료 조건을 짚는다.</a:t>
            </a:r>
          </a:p>
          <a:p xmlns:a="http://schemas.openxmlformats.org/drawingml/2006/main">
            <a:r>
              <a:t>3. (3:00–4:00) 남은 결정들을 짚고, 다음 장에서는 이를 개발자가 답할 질문으로 바꿔 보겠다고 S12로 넘긴다. 특정 답은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같은 요청의 두 해석에 집중한다. 왼쪽 테스트 변경과 오른쪽 구현 변경을 비교한 뒤, 아래 미정 정보를 짚는다. S10의 세 질문을 다시 강의하지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BEAT-004, CLM-0002. TEACHING_MODEL / CONCEPTUAL. 실제 Trial에서 사용한 약한 Prompt가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`crop test 고쳐줘`는 수업용으로 구성한 예시다. 이 요청이 특정 Agent 실패를 일으켰다는 주장을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짧은 요청을 비난하지 않고, 그 안에 남아 있는 질문을 찾아본다.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Missing constraints are developer decisions that cannot be derived from repository access alone.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두 해석과 아직 정해지지 않은 정보를 청중이 생각하도록 짧게 멈춘다. 공개 답이나 정답 분류를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“Agent에게 남아 있던 결정을 개발자가 답할 질문으로 바꿔 보겠습니다.”라고 S12로 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4분 안에 한 요청과 다섯 빈칸만 다룬다. 빈칸의 정답이나 해결책은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슬라이드 `production/ACT_1.pptx` S11 또는 `production/preview/act1/S11.png` 사용. 청중 응답 없이 진행한다.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S12 — 개발자가 정해야 하는 경계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개발자가 정해야 하는 경계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3 minutes + Reflection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Prompt의 실용적 가치는 문장 장식보다 Task ambiguity reduction에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 요청을 보내기 전에 개발자인 나는 무엇을 정해야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S11에서 남은 결정을 개발자의 질문으로 읽는다. “무엇을 바꿀까?”와 “무엇을 유지할까?”를 짚는다.</a:t>
            </a:r>
          </a:p>
          <a:p xmlns:a="http://schemas.openxmlformats.org/drawingml/2006/main">
            <a:r>
              <a:t>2. (1:00–3:00) 허용 범위, 확인 근거, 완료 판단의 세 질문을 이어 읽는다. 이는 답이 아닌 개발자 판단 질문이다.</a:t>
            </a:r>
          </a:p>
          <a:p xmlns:a="http://schemas.openxmlformats.org/drawingml/2006/main">
            <a:r>
              <a:t>3. (3:00–4:00) 각자 익숙한 요청 하나를 떠올리는 조용한 Reflection으로 마친다. 요청문 작성이나 결과 공유를 시키지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개발자가 판단할 다섯 질문을 번호 순서로 따라간다. 마지막 질문에서 1분 Reflection을 분리하고, 답이나 작성 과제를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BEAT-004, CLM-0002. TEACHING_MODEL / CONCEPTUAL. 특정 요청이 특정 실패를 반드시 만든다고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다섯 질문은 수업용 질문 프레임이다. 특정한 단일 답이나 제품 기능으로 소개하지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요청을 보내기 전에 바꿀 것, 지킬 것, 끝을 어떻게 볼지 묻는다.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Clarify scope, preserved contracts, acceptable change surface, and evidence before delegating.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마지막 1분은 비공개 Reflection이다. 말하기, 노트북, Prompt 작성은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“앞의 질문을 묶고, 필요한 사실과 작업 순서를 함께 명시하는 틀로 정리해 보겠습니다.”라고 S13의 Task Specification으로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Case 3분 후 Reflection 1분을 분리한다. 답을 제공하거나 공개 응답을 받지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슬라이드 `production/ACT_1.pptx` S12 또는 `production/preview/act1/S12.png` 사용. 침묵은 정상 진행으로 본다.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S13 — Task Specification의 다섯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Task Specification의 다섯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Goal, Context, Constraints, Process, Verification은 작업을 구체화하는 교육용 틀이다.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“앞의 질문을 작업 요청에 담으려면 어떤 책임으로 정리할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(0:00–0:45) 화면 안내처럼 앞의 질문을 묶고 필요한 맥락과 작업 과정을 명시하는 이 과정의 모델로 Task Specification을 소개한다.</a:t>
            </a:r>
          </a:p>
          <a:p xmlns:a="http://schemas.openxmlformats.org/drawingml/2006/main">
            <a:r>
              <a:t>2. (0:45–3:15) 하나의 패널에서 목표·맥락·제약·과정·검증을 위에서 아래로 짚는다. 앞 장의 보존·허용 범위 질문은 제약으로, 확인 근거·완료 질문은 검증으로 묶어 읽는다. 작업에 필요한 사실은 맥락으로, 지킬 순서와 경계는 과정으로 함께 명시한다. 각 행이 어떤 미정을 줄이는지 한 문장씩 설명한다.</a:t>
            </a:r>
          </a:p>
          <a:p xmlns:a="http://schemas.openxmlformats.org/drawingml/2006/main">
            <a:r>
              <a:t>3. (3:15–4:00) 다섯 책임을 모두 길게 적으라는 뜻이 아니라 작업에 필요한 경계를 검토할 틀이라고 정리하고 S14로 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한 작업 요청에 다섯 책임을 묶는 구조를 보여준다. S12의 다섯 질문과 일대일 대응하는 표가 아니라 질문을 재구성하고 맥락·과정을 명시한 틀이다. 상단 안내 → 왼쪽 Task Specification → 오른쪽 행 순서로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BEAT-005, CLM-0029, OQ-001, OQ-007.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다섯 항목은 과정에서 쓰는 Task Specification 모델이지 공식 OpenAI taxonomy나 universal law가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요청에는 목표, 필요한 상황, 지켜야 할 경계, 작업 흐름, 확인 방법이 들어갈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Separate task intent from retained project facts, and identify which judgment remains with the developer.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설명 중간에 다섯 책임이 줄이는 불확실성을 확인한다. 청중에게 작성 실습을 시키지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14에서 다섯 책임을 짧은 Before / After에 적용한다.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네 분 동안 각 항목을 한 문장으로 설명한다. 별도 Best Practice 목록이나 제품 기능으로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슬라이드 `production/ACT_1.pptx` S13 또는 `production/preview/act1/S13.png` 사용.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S14 — 더 긴 Prompt보다 분명한 경계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더 긴 Prompt보다 분명한 경계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1C + 1F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9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6 minutes + Case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유용성은 Prompt의 길이보다 Goal과 제약, 과정, 검증 경계가 분명한 데서 나온다.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“두 요청에서 실제로 달라진 정보는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(0:00–2:00) 왼쪽의 짧은 요청을 읽고 같은 crop 작업을 비교한다고 고정한다.</a:t>
            </a:r>
          </a:p>
          <a:p xmlns:a="http://schemas.openxmlformats.org/drawingml/2006/main">
            <a:r>
              <a:t>2. (2:00–5:00) 오른쪽에서 추가된 목표·맥락, 제약, 과정, 검증 정보를 순서대로 짚는다. 양쪽 모두 한국어 요청이며 영어라서 좋아졌다는 인상을 만들지 않는다.</a:t>
            </a:r>
          </a:p>
          <a:p xmlns:a="http://schemas.openxmlformats.org/drawingml/2006/main">
            <a:r>
              <a:t>3. (5:00–6:00) 하단 C++ 연결에서 출력·API/ABI 보존 범위와 Release 검증 조건도 작업 전에 정할 수 있음을 짧게 말한다.</a:t>
            </a:r>
          </a:p>
          <a:p xmlns:a="http://schemas.openxmlformats.org/drawingml/2006/main">
            <a:r>
              <a:t>4. (6:00–7:30 / Case) 검증 행을 구체 완료 조건으로 읽는다: Given 열 index가 0·1·2·3인 4열 합성 이미지, When `crop 1 3`, Then 원본 열 1·2만 포함하고 출력 폭은 2다. `crop 1 3`은 교육용 범위 표기이며 전체 함수 signature를 뜻하지 않는다. S05의 계약을 요청에 명시하는 교육용 재구성이며 실제 TRIAL-002 Prompt 원문은 아니다.</a:t>
            </a:r>
          </a:p>
          <a:p xmlns:a="http://schemas.openxmlformats.org/drawingml/2006/main">
            <a:r>
              <a:t>5. (7:30–9:00 / Case) 두 요청에서 어떤 정보가 추가됐는지 비교한다. 완료 조건이 드러났다는 점을 짚되 실제 약한/강한 Prompt 비교 실험이 아니며 길이 자체의 효과를 입증하지 않는다고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실제로 더해진 정보의 비교다. 짧은 요청→추가한 네 행→하단 C++ 적용 순서로 가리킨다. Case에서는 검증 행의 4열 입력·crop 범위·출력 폭을 연결한다. 앞의 다섯 질문을 다시 나열하는 시간을 줄이고 보존 조건과 완료 근거가 드러난 위치를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BEAT-005, TRIAL-002, CLM-0029, OQ-001, OQ-007.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Before/After는 설명을 위한 개념 예시이며 Trial-002가 약한 Prompt와 구조화 Prompt의 우월성을 비교 검증했다는 뜻이 아니다. Given/When/Then 완료 조건은 기존 crop 계약을 설명하려고 구성한 예시이며 당시 Prompt 원문, 새 실행 결과 또는 시스템 요구 분석 전체 교육이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긴 문장을 쓰는 것보다 바꿀 결과와 지킬 조건, 확인 방법을 드러내는 것이 도움이 되는 질문 틀이다.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Make the allowed change surface and completion evidence reviewable; do not claim a causal performance advantage.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SUPPORTING footer strip — 출력·API/ABI의 보존 범위와 Release 검증 조건을 먼저 정하는 사례다. 특정 Windows, shell, IDE, hardware의 실제 사용법이나 검증 결과로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 — the comparison is conceptual and is not the exact Trial-002 Prompt.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마지막 Case 3분에는 구체 완료 조건을 90초 동안 따라 읽고, 나머지 90초에 두 요청에서 새로 명시된 책임을 마음속으로 비교한다. 작성 실습이나 발표 응답은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“여기까지는 교육용 구성 예시였습니다. 이제 과거 TRIAL-002에서 요청한 흐름과 기록된 행동을 살펴보겠습니다.”라고 실제 기록의 관찰 기준으로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After는 네 줄의 비교 축으로 한정한다. Lecture 6분과 Case 3분을 유지하며 기존 Case의 일반 비교 90초를 구체 완료 조건 해설로 교체한다. 전체 Trial Prompt나 코드 지시를 화면에 복사하지 않는다. 시간이 부족하면 C++ inset을 생략한다. 실제 시간 적합성은 리허설 전까지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비교 슬라이드 `production/ACT_1.pptx` S14 또는 `production/preview/act1/S14.png` 사용. Trial 결과로 대체하지 않는다.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S15 — 먼저 무엇을 하는지 보자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먼저 무엇을 하는지 보자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이 한 번의 관찰에서는 재현, 조사, 계획, 수정, 검증 순서를 확인할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“TRIAL-002 실제 기록에서는 수정 전에 무엇을 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(0:00–0:35) S14의 교육용 구성 예시에서 과거 TRIAL-002 기록으로 전환했음을 밝힌다. “실제 기록에서는 수정 전에 무엇을 했을까?”를 제시한다. S14 화면의 요청을 그대로 실행한 것으로 설명하지 않는다.</a:t>
            </a:r>
          </a:p>
          <a:p xmlns:a="http://schemas.openxmlformats.org/drawingml/2006/main">
            <a:r>
              <a:t>2. (0:35–1:35) TRIAL-002에서 요청한 재현 → 조사 → 계획 → 수정 → 검증의 다섯 관찰 단계를 가리킨다. 화면은 WATCH 기준이며 결과를 미리 읽어 주는 요약이 아니다.</a:t>
            </a:r>
          </a:p>
          <a:p xmlns:a="http://schemas.openxmlformats.org/drawingml/2006/main">
            <a:r>
              <a:t>3. (1:35–2:00) 다음 두 장에서 이 단일 과거 CLI 기록의 요청 흐름과 행동을 대조한다고 알리고 S16으로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BEAT-006, TRIAL-002, INV-MATURITY-011. OBSERVED_PRODUCT; one historical Codex CLI run 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TRIAL-002는 2026-09-28 macOS Codex CLI 0.154.0의 단일 실행 기록이다. Desktop, 계정, 반복성 또는 다른 모델을 증명하지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코드 변경 전 어떤 행동을 먼저 살펴볼지 정하면 Demo를 따라가기 쉽다.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Keep requested workflow separate from the events evidenced in the recorded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DEMO-05 / CAPTURED RECORD-BASED WATCH. 2분 Lecture 동안 제품 실행을 재생하지 않는다. 요청한 재현·조사·계획·수정·검증을 관찰 기준으로 제시한다. Trial source: `plan/DEMO_MATRIX.md`, TRIAL-002. 현재 Desktop surface나 실제 터미널 캡처를 보여 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관찰 순서를 마음속으로 따라오게 한다. 응답이나 실습을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16에서 조사와 변경의 핵심 장면을 보여준다.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2분 안에 관찰 기준만 설명한다. Trial 결과를 앞당겨 보여 주거나 현재 제품 UI를 재현하지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WATCH 슬라이드 `production/ACT_1.pptx` S15 또는 `production/preview/act1/S15.png` 사용. 라이브 실행은 이 단계에서 하지 않는다.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S16 — 조사에서 한 줄 변경까지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조사에서 한 줄 변경까지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4 minutes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failing test와 호출 경로를 확인한 뒤, half-open 범위 계약을 보존하는 최소 변경을 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“수정 전에 어떤 근거를 확인했는가?”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상단의 실패 테스트 → 호출 경로 → 계약 확인 → 수정 전 계획을 읽는다. 실패 테스트명은 `test_crop_excludes_end_coordinate`, 제품 호출 관계는 `cli.main → pipeline.process_image → transform.crop`이다.</a:t>
            </a:r>
          </a:p>
          <a:p xmlns:a="http://schemas.openxmlformats.org/drawingml/2006/main">
            <a:r>
              <a:t>2. (1:00–2:00) `[x_start, x_end)`가 끝 좌표를 제외하는 계약임을 확인한다. S05의 `crop(image, 1, 3)` 예시를 짧게 회수한다.</a:t>
            </a:r>
          </a:p>
          <a:p xmlns:a="http://schemas.openxmlformats.org/drawingml/2006/main">
            <a:r>
              <a:t>3. (2:00–3:15) 왼쪽 `row[x_start : x_end + 1]`에서 오른쪽 `row[x_start : x_end]`로 바뀐 실제 한 줄 diff를 가리킨다. 수정 전에 계획을 알린 기록이 있었다고 말한다.</a:t>
            </a:r>
          </a:p>
          <a:p xmlns:a="http://schemas.openxmlformats.org/drawingml/2006/main">
            <a:r>
              <a:t>4. (3:15–4:00) 이 입력의 너비 3이 계약대로 2가 되는 변화로 정리한다. 정적 소스·diff 재구성이며 새 실행이나 screenshot이 아님을 유지하고 S17로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BEAT-006, TRIAL-002, INV-MATURITY-011. OBSERVED_PRODUCT, one recorded CLI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실제 변경은 `src/graypipe/transform.py`의 crop slice 한 줄이다. 이 기록은 한 번의 Codex CLI 실행에 한정되며 Prompt 우월성, Desktop 동작 또는 일반 성공률을 증명하지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실패한 Test와 기대 계약을 먼저 맞춘 뒤 꼭 필요한 한 줄만 바꿨다.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The code change matches the half-open public contract and is limited to the recorded diff; the plan checkpoint preceded editing.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DEMO-05 / CAPTURED historical evidence. `production/ACT_1.pptx` S16의 실제 diff 재구성 도식을 사용한다. 실패 테스트·호출 경로·계약·수정 전 계획 → Before/After slice → 너비 변화를 순서대로 가리킨다. source test ID: `test_crop_excludes_end_coordinate`. Source: TRIAL-002 record, STATE-00 및 STATE-00-FIXED의 `src/graypipe/transform.py`. 전체 파일이나 새 실행을 보여 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변경 전에 확인한 근거를 청중이 화면 순서대로 따라오게 한다. 참가자의 코드 검토나 답변을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17에서 변경 결과를 어떤 확인으로 뒷받침했는지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4분 Demo 구간 안에서 관찰과 변경을 요약한다. 전체 로그와 파일을 보여 주지 않고, 다음 장의 검증 시간을 침범하지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PPTX S16 또는 `production/preview/act1/S16.png` 사용. 시각 도식은 기록에서 재구성한 자료이며 원본 화면 캡처가 아니다. 실행 실패 상황은 없다: Live를 하지 않는다.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S17 — 변경 결과와 확인 증거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변경 결과와 확인 증거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4 minutes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이 사례의 결과는 생성된 코드뿐 아니라 명시된 검증과 diff 확인을 거친 변경이다.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“생성된 변경을 어떤 확인이 뒷받침하는가?”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(0:00–0:45) 단일 TRIAL-002의 변경 뒤 기록임을 고정한다.</a:t>
            </a:r>
          </a:p>
          <a:p xmlns:a="http://schemas.openxmlformats.org/drawingml/2006/main">
            <a:r>
              <a:t>2. (0:45–2:45) 동작 확인(집중 3/3·전체 11/11), 실행 확인(CLI smoke PASS), 범위 확인(한 파일·한 줄·diff check)을 세 묶음으로 읽는다. 각각 확인한 범위가 다름을 설명한다.</a:t>
            </a:r>
          </a:p>
          <a:p xmlns:a="http://schemas.openxmlformats.org/drawingml/2006/main">
            <a:r>
              <a:t>3. (2:45–3:30) 하단의 성능 benchmark 미실행을 밝힌다. 이 테스트 통과를 성능 개선 근거로 바꾸지 않는다.</a:t>
            </a:r>
          </a:p>
          <a:p xmlns:a="http://schemas.openxmlformats.org/drawingml/2006/main">
            <a:r>
              <a:t>4. (3:30–4:00) 생성된 코드와 완료 판단의 차이로 S18에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BEAT-007, INV-VERIFY-001, TRIAL-002, CLM-0029, CLM-0027. OBSERVED_PRODUCT, one Codex CLI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Focused test 3/3, full suite 11/11, CLI smoke PASS, diff 1 file / 1 line, and `git diff --check` PASS are the recorded results of TRIAL-002. They do not establish every input, platform, or future product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완료라고 말할 때 코드와 함께 어떤 확인이 있었는지 보여 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Each check supports a bounded claim: targeted behavior, existing suite coverage, one sample CLI path, and change scope. No benchmark was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DEMO-05 / CAPTURED result summary. 세 시각 묶음 안의 다섯 기록된 확인을 설명한다. 실제 터미널 screenshot이나 새 실행이 아니다. Focused 3/3, full 11/11, CLI PASS, one file/line, diff check PASS만 사용한다. Benchmark는 미실행이다.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각 Check가 무엇을 뒷받침하는지 읽게 한다. 청중에게 테스트 실행을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생성 자체와 완료 판단을 구분하는 Slide 18로 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세 묶음에 각각 한 가지 확인 범위를 말한다. 다섯 로그를 전문으로 읽지 않는다. 마지막 30초에 생성과 완료의 차이로 전환한다.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PPTX S17 또는 `production/preview/act1/S17.png` 사용. 수치는 TRIAL-002 기록에 한정한다; 새로운 pass 수치를 추가하지 않는다.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S18 — Generated ≠ Done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Generated ≠ Done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Task는 결과뿐 아니라 적절한 검증과 review를 포함해야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“어떤 Check가 어떤 Claim을 뒷받침하는가?”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(0:00–0:45) 왼쪽 “코드가 나왔다”에서 오른쪽 “완료라고 말할 수 있나?”로 시선을 옮긴다.</a:t>
            </a:r>
          </a:p>
          <a:p xmlns:a="http://schemas.openxmlformats.org/drawingml/2006/main">
            <a:r>
              <a:t>2. (0:45–2:15) 검토용 결과 인계의 네 항목을 crop 사례로 설명한다. 변경 이유·범위는 끝 좌표 제외 계약에 맞춘 crop 한 줄 수정, 검증 근거·결과는 S17의 집중·전체 테스트와 CLI·diff 기록 참조, 미확인은 이 수정의 성능을 측정하지 않았다는 점, 사람의 수용 판단은 이 범위와 근거로 변경을 받아들일지 개발자가 결정한다는 점이다. 동작 테스트·샘플 실행·변경 검토는 검증 근거 항목에 묶고 수치를 다시 나열하지 않는다. 이 네 항목은 기존 기록의 강의용 정리이며 실제 PR이나 당시 Agent 답변 원문이 아니다.</a:t>
            </a:r>
          </a:p>
          <a:p xmlns:a="http://schemas.openxmlformats.org/drawingml/2006/main">
            <a:r>
              <a:t>3. (2:15–2:45) 성능 개선을 주장하는 작업에는 해당 입력·환경의 측정도 필요할 수 있다고 설명한다. TRIAL-002에서 benchmark가 실행됐다는 뜻이 아니다.</a:t>
            </a:r>
          </a:p>
          <a:p xmlns:a="http://schemas.openxmlformats.org/drawingml/2006/main">
            <a:r>
              <a:t>4. (2:45–3:00) 주장마다 필요한 근거가 다르다는 S19로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BEAT-007, INV-VERIFY-001, TRIAL-002, CLM-0029, CLM-0027. OBSERVED_PRODUCT and separate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본문의 생성→완료 판단 관계와 확인 방법은 이 과정의 TEACHING_MODEL이다. 하단 출처에서 회수하는 TRIAL-002의 관찰은 테스트·CLI·diff에 한정된다. Benchmark는 조건부 검증 예이며 TRIAL-002에서 수행하지 않았다. 검토용 결과 인계의 형식은 기존 기록을 설명하는 교육용 재구성이며 실제 PR, 당시 답변 원문 또는 사람의 승인 완료 기록이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코드가 생성됐다는 사실은 완료를 판단하는 한 가지 정보일 뿐이다.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Choose checks from the task’s risk and the exact claim being made; do not demand every check for every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C++ 대응은 S19 Notes의 선택적 참고로 남기며 S19 화면에는 C++ inset이 없다. 주요 C++ 패턴 전이는 S53에서 이어 간다. 이 장에서 중복 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TRIAL-002 verification callback only; DEMO-05의 8분 구간 밖이다. 새 관찰 카드나 새 실행 결과를 보여 주지 않고 하단 출처로 과거 확인 범위를 회수한다. 검토용 결과 인계는 기존 기록을 가리키는 강의용 정리이며 실제 PR 화면으로 표현하지 않는다. 본문은 교육 모델로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별도 Q&amp;A 시간은 배정되지 않았다. 청중에게 생각할 질문을 주고 다음 장에서 범위를 보여 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19에서 각 Check가 뒷받침하는 범위를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 3분을 유지한다. 생성·완료 질문 45초, 결과 인계 예시 90초, 조건부 성능 측정 30초, S19 연결 15초로 배분한다. 기존 검증 근거의 재나열과 반복 설명을 이 예시로 교체한다. 기록 사실과 Teaching Model을 분리하고 S17의 다섯 수치를 다시 읽지 않는다. 실제 시간 적합성은 리허설 전까지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PPTX S18 또는 `production/preview/act1/S18.png`를 사용한다. 생성·완료의 관계는 교육 모델, TRIAL-002는 하단에 표시된 과거 관찰로 구분한다. 새 렌더 검토는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S19 — Check마다 확인하는 범위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Check마다 확인하는 범위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1E + 1F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 + Reflection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Check 하나가 모든 정확성을 증명하지는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 Check로 무엇까지 말할 수 있는가?”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(0:00–0:30) 표가 특정 테스트의 만능 효과를 뜻하지 않는다고 소개한다. 실제 TRIAL-002는 집중·전체 테스트, CLI smoke, diff를 확인했다는 하단 출처를 짚는다.</a:t>
            </a:r>
          </a:p>
          <a:p xmlns:a="http://schemas.openxmlformats.org/drawingml/2006/main">
            <a:r>
              <a:t>2. (0:30–2:30) 확인 방법 → 말할 수 있는 범위의 다섯 행을 설명한다. 성능 측정 행은 교육 모델이며 TRIAL-002에서 benchmark를 실행하지 않았다고 밝힌다.</a:t>
            </a:r>
          </a:p>
          <a:p xmlns:a="http://schemas.openxmlformats.org/drawingml/2006/main">
            <a:r>
              <a:t>3. (2:30–4:00) 같은 crop 사례에서 검사가 계약 위반을 구별하는지 비교한다. “결과가 비어 있지 않다”는 빈 결과를 찾을 수 있지만 끝 좌표를 잘못 포함한 3열 결과도 받아들일 수 있다. 이 조건만으로는 끝 좌표 제외 계약을 검증하기에 부족하다. “원본 열 1·2만 포함하고 출력 폭은 2다”처럼 해당 입력의 기대 결과를 비교해야 이 차이를 구별할 수 있다. 전자의 검사를 항상 무의미하다고 부르지 않으며, 후자의 검사 하나가 모든 입력의 정확성을 보장한다고도 말하지 않는다. 강의용 반례이고 새 실행 결과나 당시 테스트 assertion의 전사본이 아니다.</a:t>
            </a:r>
          </a:p>
          <a:p xmlns:a="http://schemas.openxmlformats.org/drawingml/2006/main">
            <a:r>
              <a:t>4. (4:00–5:00) 익숙한 Check가 뒷받침하는 Claim을 개인적으로 떠올린다. 그 검증 방법을 다음 작업에서도 다시 설명할지 생각하는 Reflection으로 마친다.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BEAT-007, INV-VERIFY-001, TRIAL-002, CLM-0029, CLM-0027. Actual checks are separate from the TEACHING_MODEL mapping.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Focused/full tests, CLI smoke, and diff review are actual TRIAL-002 checks. The mapping is a course model; benchmark was not run. No single check proves all correctness. 비어 있지 않음과 계약상 기대 열·폭의 비교는 기존 crop 사례를 이용한 교육용 반례이며 새 실행 결과, 당시 assertion 원문 또는 GoogleTest 사용법 교육이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Focused test는 바뀐 동작을, 전체 Test는 기존 suite의 범위를, smoke는 sample 실행 경로를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For C++ projects, match Release build, API/ABI checks, regression tests, and measurement to the claim and risk. These are illustrative engineering patterns, not this Demo repository’s tooling.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NOTES-ONLY 선택적 참고: `build claim → Release build`; `compatibility claim → API / ABI review`; `performance claim → benchmark with named workload`. 화면의 C++ inset은 계약 비교 예시로 대체했으며 이 대응을 추가 강의하지 않는다. 주요 C++ 패턴 전이는 S53에 유지한다. No Windows, shell, IDE, or hardware setup is asserted.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TRIAL-002 evidence callback outside the 8-minute Demo slot. 본문 표와 검증 품질 반례는 일반적인 check-to-claim 교육 모델이다. 하단 출처에는 실제 Trial에서 수행한 확인만 따로 표시한다. Benchmark 미실행 경계를 유지하고 반례에 새 PASS/FAIL, 수치나 실행 결과를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마지막 1분은 각자가 익숙한 Check와 그 Check가 뒷받침하는 Claim을 조용히 생각한다. 결과 발표는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“방금 정한 테스트 명령과 보존 조건은 다음 작업에도 필요할 수 있습니다. 이 설명을 매번 다시 적어야 할까요?”라고 검증 지침의 재사용에서 S20의 정보 수명 질문으로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 4분과 Reflection 1분을 분리한다. 소개 30초, Check 표 2분, 계약 위반을 구별하는 검사 비교 90초로 Lecture를 편성한다. C++ footer 해설 1분과 반복 소개 30초를 이 비교로 교체한다. C++ 대응은 선택적 참고로 남기고 별도 도구 강의 시간을 더하지 않는다. 실제 시간 적합성은 리허설 전까지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PPTX S19 또는 `production/preview/act1/S19.png`를 사용한다. 표의 일반적인 범위와 하단 Trial 출처를 구분한다. 새 렌더 검토는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S20 — 이번 Task인가, 계속 유지할 Project 정보인가?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이번 Task인가, 계속 유지할 Project 정보인가?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Reflection 1 minute + Q&amp;A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두 종류의 정보를 구분할 필요가 있음을 먼저 인식한다.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“테스트·보존 조건처럼 반복해서 쓰는 문장은 이번 작업에만 필요할까, 다음 작업에도 필요할까?”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S19에서 검증 방법을 골랐다는 점을 회수하고, 테스트·보존 조건처럼 최근 요청에 반복해서 썼던 문장 하나를 떠올리게 한다. “이번 작업에만?”과 “다음 작업에도?” 중 어디에 해당할지 개인적으로 생각한다. 화면의 두 영역은 비워 두고 문장의 분류를 대신 정하지 않는다.</a:t>
            </a:r>
          </a:p>
          <a:p xmlns:a="http://schemas.openxmlformats.org/drawingml/2006/main">
            <a:r>
              <a:t>2. (1:00–3:00) 자발적인 Q&amp;A를 받는다. 답이나 분류 기준을 미리 공개하지 않는다. 침묵도 정상 진행이다.</a:t>
            </a:r>
          </a:p>
          <a:p xmlns:a="http://schemas.openxmlformats.org/drawingml/2006/main">
            <a:r>
              <a:t>3. (3:00) S21에서 후보 예시를 함께 확인하겠다고 전환한다.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BEAT-007 → BEAT-008 handoff, CLM-0029, CLM-0027, CLM-0003, CLM-0005.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두 Bucket은 Reflection을 위한 과정의 모델이다. 이 장에서는 정답, 제품 기능, AGENTS.md 또는 완전한 분류를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이번 요청에만 필요한 말과 여러 번 반복할 수 있는 규칙이 다를 수 있음을 생각한다.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Consider information lifetime and scope without deciding the storage mechanism yet.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순서: Reflection 1분 후 Q&amp;A 2분. Reflection은 사적 생각 시간이고 공유는 자발적이다. 응답이 없으면 질문을 한 번 더 읽고 진행한다.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21에서 Reflection/Discussion을 회수하고 “왜 Project 설명을 매번 다시 쓰는가?”라는 ACT 2 질문으로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Reflection 1분, Q&amp;A 2분을 보존한다. 긴 토론이나 개인 업무 공개를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질문 슬라이드 `production/ACT_1.pptx` S20 또는 `production/preview/act1/S20.png` 사용. 공유 응답이 없어도 다음으로 진행한다.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S21 — 반복하는 설명을 두 범주로 나누기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반복하는 설명을 두 범주로 나누기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6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Reflection 1 minute + Transition 3 minutes + Q&amp;A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Task 정보와 Project 정보는 수명과 적용 범위가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“이번 Task에만 필요한 정보와 Project가 계속 유지할 정보는 무엇일까?”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(0:00–1:00, Reflection) S20의 두 질문을 회수하고 화면의 후보가 자신의 작업에서도 같은 수명·범위인지 조용히 생각하게 한다.</a:t>
            </a:r>
          </a:p>
          <a:p xmlns:a="http://schemas.openxmlformats.org/drawingml/2006/main">
            <a:r>
              <a:t>2. (1:00–2:00, Transition) crop 경계 수정·이번 README 수정과, 계속 유지할 의존성 추가 근거·테스트 명령의 후보 예시를 비교한다. 유일한 정답이나 실제 STATE-01 원문이라고 하지 않는다.</a:t>
            </a:r>
          </a:p>
          <a:p xmlns:a="http://schemas.openxmlformats.org/drawingml/2006/main">
            <a:r>
              <a:t>3. (2:00–4:00, Transition) 정보의 수명과 적용 범위 차이를 정리하고 “Project 정보를 왜 매번 Prompt에 다시 적고 있을까?”를 ACT 2의 질문으로 남긴다.</a:t>
            </a:r>
          </a:p>
          <a:p xmlns:a="http://schemas.openxmlformats.org/drawingml/2006/main">
            <a:r>
              <a:t>4. (4:00–6:00, Q&amp;A) 자발적인 질문을 받고 6분에 ACT 2로 이동한다. 질문이 없으면 다음 문제를 다시 읽고 정시에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장의 두 열은 다음 ACT로 넘길 분류 후보다. 이번 목표와 여러 작업에 남길 사실의 수명이 다르다는 질문만 남긴다. 아직 S24 관찰 결과를 근거처럼 회수하지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BEAT-007, BEAT-008, TRANS-003, CLM-0029, CLM-0027, CLM-0003, CLM-0005.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항목은 수명과 적용 범위를 생각하게 하는 교육용 후보 예시다. 화면의 의존성 예시는 실제 STATE-01 지침처럼 작업상 정당한 근거가 있으면 추가할 수 있다는 조건을 보존한다. 이 장은 그 지침의 실행 효과를 관찰한 결과가 아니다. 유일한 정답·classification test·제품 메커니즘으로 말하지 않는다. AGENTS.md는 이 장에서 답으로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요청 한 번에만 필요한 정보와 프로젝트가 계속 참고할 수 있는 정보를 구별해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Information reuse scope and lifetime may differ; the next ACT will examine the repeated-fact problem before introducing a mechanism.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Reflection 1분 후 map 순서대로 ACT 2 Transition 3분, Q&amp;A 2분. 예시는 후보로만 말하고, 자발적 응답을 받되 정답 분류를 평가하지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“그런데 Project 정보를 왜 매번 Prompt에 다시 적고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0–1분 Reflection, 1–4분 Transition, 4–6분 Q&amp;A. 기존 Notes의 1–5분 전환/5–6분 Q&amp;A 불일치를 승인된 Mode Split 1+3+2로 정렬한다. Project Context 해결책이나 AGENTS.md는 미리 공개하지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비교 슬라이드 `production/ACT_1.pptx` S21 또는 `production/preview/act1/S21.png` 사용. Q&amp;A가 없어도 마지막 Transition 질문 후 ACT 2로 간다.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f2ec82ffd8464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e31a8cb362496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ba882ea0a946d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07c502e31349f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bfefef00b841f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d351c289374fa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F05E2ED-386F-44A2-BD09-6FE03AE2FFA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34A13AF-B62F-491E-A366-E2EDE55F82C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95EF860-08AD-45C6-A3A7-22291E62F4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04EEBCB-4C90-4B03-A7E5-CC923CF22A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4FABCCD-9282-441E-AB2D-B001A93994E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9DA7CA1-7BF6-48F8-ADCB-6E05B0EC61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6961BD3-795D-44F8-9EA7-FF84D2325FC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296F7E1-6383-41F9-BC8E-DDF02459309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FB72378-15A3-42D5-8090-AE8F164434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8301239-472E-47B1-BA88-6047DD0F64D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39c6e4bc21342b5" /><Relationship Type="http://schemas.openxmlformats.org/officeDocument/2006/relationships/slideLayout" Target="/ppt/slideLayouts/slideLayout1.xml" Id="R45a074409c1a4bb6" /><Relationship Type="http://schemas.openxmlformats.org/officeDocument/2006/relationships/slideLayout" Target="/ppt/slideLayouts/slideLayout2.xml" Id="Rbf16747a310042dd" /><Relationship Type="http://schemas.openxmlformats.org/officeDocument/2006/relationships/slideLayout" Target="/ppt/slideLayouts/slideLayout3.xml" Id="R57beb660c49249cb" /><Relationship Type="http://schemas.openxmlformats.org/officeDocument/2006/relationships/slideLayout" Target="/ppt/slideLayouts/slideLayout4.xml" Id="R21943564f04c40d5" /><Relationship Type="http://schemas.openxmlformats.org/officeDocument/2006/relationships/slideLayout" Target="/ppt/slideLayouts/slideLayout5.xml" Id="R584589a7d76246f5" /><Relationship Type="http://schemas.openxmlformats.org/officeDocument/2006/relationships/slideLayout" Target="/ppt/slideLayouts/slideLayout6.xml" Id="R8b3ed2088cb046e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5a074409c1a4bb6"/>
    <p:sldLayoutId xmlns:r="http://schemas.openxmlformats.org/officeDocument/2006/relationships" id="2147483650" r:id="Rbf16747a310042dd"/>
    <p:sldLayoutId xmlns:r="http://schemas.openxmlformats.org/officeDocument/2006/relationships" id="2147483651" r:id="R57beb660c49249cb"/>
    <p:sldLayoutId xmlns:r="http://schemas.openxmlformats.org/officeDocument/2006/relationships" id="2147483652" r:id="R21943564f04c40d5"/>
    <p:sldLayoutId xmlns:r="http://schemas.openxmlformats.org/officeDocument/2006/relationships" id="2147483653" r:id="R584589a7d76246f5"/>
    <p:sldLayoutId xmlns:r="http://schemas.openxmlformats.org/officeDocument/2006/relationships" id="2147483654" r:id="R8b3ed2088cb046e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17d727cfdb14a42" /><Relationship Type="http://schemas.openxmlformats.org/officeDocument/2006/relationships/notesSlide" Target="/ppt/notesSlides/notesSlide1.xml" Id="R9a975801d738474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a7b8aa6d67455f" /><Relationship Type="http://schemas.openxmlformats.org/officeDocument/2006/relationships/notesSlide" Target="/ppt/notesSlides/notesSlide2.xml" Id="Re82dcd7ae4974e8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ab0e92cee844b99" /><Relationship Type="http://schemas.openxmlformats.org/officeDocument/2006/relationships/notesSlide" Target="/ppt/notesSlides/notesSlide3.xml" Id="Rae6001f75570447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3c514b61a1469c" /><Relationship Type="http://schemas.openxmlformats.org/officeDocument/2006/relationships/notesSlide" Target="/ppt/notesSlides/notesSlide4.xml" Id="Rcb554fe3b7324b8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d9cc0d822e4d71" /><Relationship Type="http://schemas.openxmlformats.org/officeDocument/2006/relationships/notesSlide" Target="/ppt/notesSlides/notesSlide5.xml" Id="R9a72e0dfa3154fa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32f50d08ba4cef" /><Relationship Type="http://schemas.openxmlformats.org/officeDocument/2006/relationships/notesSlide" Target="/ppt/notesSlides/notesSlide6.xml" Id="R7de9531321534dd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874428c2934f5d" /><Relationship Type="http://schemas.openxmlformats.org/officeDocument/2006/relationships/notesSlide" Target="/ppt/notesSlides/notesSlide7.xml" Id="R6cf7c3c2ebb84e8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e477dbe4d445fd" /><Relationship Type="http://schemas.openxmlformats.org/officeDocument/2006/relationships/notesSlide" Target="/ppt/notesSlides/notesSlide8.xml" Id="Ra118d4fcaef1458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ef8e1a5074a46f9" /><Relationship Type="http://schemas.openxmlformats.org/officeDocument/2006/relationships/notesSlide" Target="/ppt/notesSlides/notesSlide9.xml" Id="R05e45cd86d4f4aa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544305ad18e4b4e" /><Relationship Type="http://schemas.openxmlformats.org/officeDocument/2006/relationships/notesSlide" Target="/ppt/notesSlides/notesSlide10.xml" Id="R440414534b724b9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b6aefe615b472e" /><Relationship Type="http://schemas.openxmlformats.org/officeDocument/2006/relationships/notesSlide" Target="/ppt/notesSlides/notesSlide11.xml" Id="R98d1cad4537848e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2c3494930c44a2" /><Relationship Type="http://schemas.openxmlformats.org/officeDocument/2006/relationships/notesSlide" Target="/ppt/notesSlides/notesSlide12.xml" Id="R875cd7b8587e408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1 · 모호한 작업 요청">
            <a:extLst xmlns:a="http://schemas.openxmlformats.org/drawingml/2006/main">
              <a:ext uri="{FF2B5EF4-FFF2-40B4-BE49-F238E27FC236}">
                <a16:creationId xmlns:a16="http://schemas.microsoft.com/office/drawing/2014/main" id="{27C648DA-749E-42C5-9023-3ED398A9E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모호한 작업 요청</a:t>
            </a:r>
          </a:p>
        </p:txBody>
      </p:sp>
      <p:sp>
        <p:nvSpPr>
          <p:cNvPr id="2" name="S10">
            <a:extLst xmlns:a="http://schemas.openxmlformats.org/drawingml/2006/main">
              <a:ext uri="{FF2B5EF4-FFF2-40B4-BE49-F238E27FC236}">
                <a16:creationId xmlns:a16="http://schemas.microsoft.com/office/drawing/2014/main" id="{92B15319-D3C1-41BE-A87F-0D91697A0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S10</a:t>
            </a:r>
          </a:p>
        </p:txBody>
      </p:sp>
      <p:sp>
        <p:nvSpPr>
          <p:cNvPr id="3" name="Task에는 무엇이 아직 정해지지 않았을까?">
            <a:extLst xmlns:a="http://schemas.openxmlformats.org/drawingml/2006/main">
              <a:ext uri="{FF2B5EF4-FFF2-40B4-BE49-F238E27FC236}">
                <a16:creationId xmlns:a16="http://schemas.microsoft.com/office/drawing/2014/main" id="{FA2E5D51-EFE3-4ABB-9349-64C307D2F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Task에는 무엇이 아직 정해지지 않았을까?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75A8C4-33D5-427D-87C2-F14972FBF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교육용 구성 사례 · 실제 Agent 실패나 Trial 결과가 아님">
            <a:extLst xmlns:a="http://schemas.openxmlformats.org/drawingml/2006/main">
              <a:ext uri="{FF2B5EF4-FFF2-40B4-BE49-F238E27FC236}">
                <a16:creationId xmlns:a16="http://schemas.microsoft.com/office/drawing/2014/main" id="{B88F1E6B-3F9F-42FA-9278-E6B67E36B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교육용 구성 사례 · 실제 Agent 실패나 Trial 결과가 아님</a:t>
            </a:r>
          </a:p>
        </p:txBody>
      </p:sp>
      <p:sp>
        <p:nvSpPr>
          <p:cNvPr id="6" name="Repository는 열려 있어도 작업의 목표·보존 조건·완료 기준이 자동으로 정해지지는 않습니다.">
            <a:extLst xmlns:a="http://schemas.openxmlformats.org/drawingml/2006/main">
              <a:ext uri="{FF2B5EF4-FFF2-40B4-BE49-F238E27FC236}">
                <a16:creationId xmlns:a16="http://schemas.microsoft.com/office/drawing/2014/main" id="{7DE11FEF-45F8-421D-B770-F07BA2838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Repository는 열려 있어도 작업의 목표·보존 조건·완료 기준이 자동으로 정해지지는 않습니다.</a:t>
            </a:r>
          </a:p>
        </p:txBody>
      </p:sp>
      <p:sp>
        <p:nvSpPr>
          <p:cNvPr id="7" name="같은 Repository를 보고 있습니다.">
            <a:extLst xmlns:a="http://schemas.openxmlformats.org/drawingml/2006/main">
              <a:ext uri="{FF2B5EF4-FFF2-40B4-BE49-F238E27FC236}">
                <a16:creationId xmlns:a16="http://schemas.microsoft.com/office/drawing/2014/main" id="{DA41074A-5CD0-4426-BC49-B1F433B46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Repository를 보고 있습니다.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4B4446-7A2E-4C1B-B701-CDF5793AA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43434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요청">
            <a:extLst xmlns:a="http://schemas.openxmlformats.org/drawingml/2006/main">
              <a:ext uri="{FF2B5EF4-FFF2-40B4-BE49-F238E27FC236}">
                <a16:creationId xmlns:a16="http://schemas.microsoft.com/office/drawing/2014/main" id="{831E3F75-38A5-46DF-B174-985BC9B8F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62275"/>
            <a:ext cx="3886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</a:t>
            </a:r>
          </a:p>
        </p:txBody>
      </p:sp>
      <p:sp>
        <p:nvSpPr>
          <p:cNvPr id="10" name="“filter 성능&#10;개선해줘.”">
            <a:extLst xmlns:a="http://schemas.openxmlformats.org/drawingml/2006/main">
              <a:ext uri="{FF2B5EF4-FFF2-40B4-BE49-F238E27FC236}">
                <a16:creationId xmlns:a16="http://schemas.microsoft.com/office/drawing/2014/main" id="{0D077853-A04B-4AC0-BAB3-BB4897FD0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76625"/>
            <a:ext cx="38862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“filter 성능</a:t>
            </a:r>
          </a:p>
          <a:p xmlns:a="http://schemas.openxmlformats.org/drawingml/2006/main">
            <a: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개선해줘.”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A61832-B68C-4DCB-B7D2-066805AD6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600450"/>
            <a:ext cx="457200" cy="2571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바꿀 것">
            <a:extLst xmlns:a="http://schemas.openxmlformats.org/drawingml/2006/main">
              <a:ext uri="{FF2B5EF4-FFF2-40B4-BE49-F238E27FC236}">
                <a16:creationId xmlns:a16="http://schemas.microsoft.com/office/drawing/2014/main" id="{F9682806-6F84-4B09-A16D-4AFFEF63A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38425"/>
            <a:ext cx="539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바꿀 것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D7936E-A900-4207-A18F-93F660579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81375"/>
            <a:ext cx="539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0DA"/>
            </a:solidFill>
            <a:prstDash val="solid"/>
          </a:ln>
        </p:spPr>
      </p:sp>
      <p:sp>
        <p:nvSpPr>
          <p:cNvPr id="14" name="무엇을 바꿀까?">
            <a:extLst xmlns:a="http://schemas.openxmlformats.org/drawingml/2006/main">
              <a:ext uri="{FF2B5EF4-FFF2-40B4-BE49-F238E27FC236}">
                <a16:creationId xmlns:a16="http://schemas.microsoft.com/office/drawing/2014/main" id="{4C3C5D8B-D3DC-4FB7-828D-E4B6C1EAF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432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무엇을 바꿀까?</a:t>
            </a:r>
          </a:p>
        </p:txBody>
      </p:sp>
      <p:sp>
        <p:nvSpPr>
          <p:cNvPr id="15" name="?">
            <a:extLst xmlns:a="http://schemas.openxmlformats.org/drawingml/2006/main">
              <a:ext uri="{FF2B5EF4-FFF2-40B4-BE49-F238E27FC236}">
                <a16:creationId xmlns:a16="http://schemas.microsoft.com/office/drawing/2014/main" id="{F9109B9C-AA6E-4AB9-B56C-EE3F3E6D8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2933700"/>
            <a:ext cx="504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?</a:t>
            </a:r>
          </a:p>
        </p:txBody>
      </p:sp>
      <p:sp>
        <p:nvSpPr>
          <p:cNvPr id="16" name="보존할 것">
            <a:extLst xmlns:a="http://schemas.openxmlformats.org/drawingml/2006/main">
              <a:ext uri="{FF2B5EF4-FFF2-40B4-BE49-F238E27FC236}">
                <a16:creationId xmlns:a16="http://schemas.microsoft.com/office/drawing/2014/main" id="{9CD8DA13-A441-4358-9130-DCB3A675A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38550"/>
            <a:ext cx="539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보존할 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9516B2-CCB9-48BB-9188-603975EEB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81500"/>
            <a:ext cx="539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0DA"/>
            </a:solidFill>
            <a:prstDash val="solid"/>
          </a:ln>
        </p:spPr>
      </p:sp>
      <p:sp>
        <p:nvSpPr>
          <p:cNvPr id="18" name="무엇을 그대로 지킬까?">
            <a:extLst xmlns:a="http://schemas.openxmlformats.org/drawingml/2006/main">
              <a:ext uri="{FF2B5EF4-FFF2-40B4-BE49-F238E27FC236}">
                <a16:creationId xmlns:a16="http://schemas.microsoft.com/office/drawing/2014/main" id="{98603425-3969-41BD-9254-D28D63C45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433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무엇을 그대로 지킬까?</a:t>
            </a:r>
          </a:p>
        </p:txBody>
      </p:sp>
      <p:sp>
        <p:nvSpPr>
          <p:cNvPr id="19" name="?">
            <a:extLst xmlns:a="http://schemas.openxmlformats.org/drawingml/2006/main">
              <a:ext uri="{FF2B5EF4-FFF2-40B4-BE49-F238E27FC236}">
                <a16:creationId xmlns:a16="http://schemas.microsoft.com/office/drawing/2014/main" id="{C1701E3D-80F3-42A7-9FF0-B042C6CA7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3933825"/>
            <a:ext cx="504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?</a:t>
            </a:r>
          </a:p>
        </p:txBody>
      </p:sp>
      <p:sp>
        <p:nvSpPr>
          <p:cNvPr id="20" name="완료 근거">
            <a:extLst xmlns:a="http://schemas.openxmlformats.org/drawingml/2006/main">
              <a:ext uri="{FF2B5EF4-FFF2-40B4-BE49-F238E27FC236}">
                <a16:creationId xmlns:a16="http://schemas.microsoft.com/office/drawing/2014/main" id="{7420593C-5007-47D2-9F44-AE99C71D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38675"/>
            <a:ext cx="539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완료 근거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5FC36A-0A6A-43CA-9869-7D38EB1C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81625"/>
            <a:ext cx="539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0DA"/>
            </a:solidFill>
            <a:prstDash val="solid"/>
          </a:ln>
        </p:spPr>
      </p:sp>
      <p:sp>
        <p:nvSpPr>
          <p:cNvPr id="22" name="무엇을 보면 끝났다고 할까?">
            <a:extLst xmlns:a="http://schemas.openxmlformats.org/drawingml/2006/main">
              <a:ext uri="{FF2B5EF4-FFF2-40B4-BE49-F238E27FC236}">
                <a16:creationId xmlns:a16="http://schemas.microsoft.com/office/drawing/2014/main" id="{D2CECE9C-8E94-4C31-805F-095F90CCB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4347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무엇을 보면 끝났다고 할까?</a:t>
            </a:r>
          </a:p>
        </p:txBody>
      </p:sp>
      <p:sp>
        <p:nvSpPr>
          <p:cNvPr id="23" name="?">
            <a:extLst xmlns:a="http://schemas.openxmlformats.org/drawingml/2006/main">
              <a:ext uri="{FF2B5EF4-FFF2-40B4-BE49-F238E27FC236}">
                <a16:creationId xmlns:a16="http://schemas.microsoft.com/office/drawing/2014/main" id="{A4AA632E-5581-4B13-97CF-4C30B94F1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4933950"/>
            <a:ext cx="504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?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E4A6841C-4CC1-4658-A186-1E635E518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20370154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ACT 1 · 앞서 본 crop 사례로 좁히기">
            <a:extLst xmlns:a="http://schemas.openxmlformats.org/drawingml/2006/main">
              <a:ext uri="{FF2B5EF4-FFF2-40B4-BE49-F238E27FC236}">
                <a16:creationId xmlns:a16="http://schemas.microsoft.com/office/drawing/2014/main" id="{F9C5927A-E009-4FA3-8A87-2C83DF22B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앞서 본 crop 사례로 좁히기</a:t>
            </a:r>
          </a:p>
        </p:txBody>
      </p:sp>
      <p:sp>
        <p:nvSpPr>
          <p:cNvPr id="2" name="S11">
            <a:extLst xmlns:a="http://schemas.openxmlformats.org/drawingml/2006/main">
              <a:ext uri="{FF2B5EF4-FFF2-40B4-BE49-F238E27FC236}">
                <a16:creationId xmlns:a16="http://schemas.microsoft.com/office/drawing/2014/main" id="{52E450F0-CD59-46E7-B924-388F23FAF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S11</a:t>
            </a:r>
          </a:p>
        </p:txBody>
      </p:sp>
      <p:sp>
        <p:nvSpPr>
          <p:cNvPr id="3" name="요청만으로는 의도가 보이지 않는다">
            <a:extLst xmlns:a="http://schemas.openxmlformats.org/drawingml/2006/main">
              <a:ext uri="{FF2B5EF4-FFF2-40B4-BE49-F238E27FC236}">
                <a16:creationId xmlns:a16="http://schemas.microsoft.com/office/drawing/2014/main" id="{EEB79E8B-A4E2-4935-AC4B-183828885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요청만으로는 의도가 보이지 않는다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42137F-3B1B-44B3-8E88-274E54EC0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교육용 구성 사례 · TRIAL-002의 실제 Prompt가 아님">
            <a:extLst xmlns:a="http://schemas.openxmlformats.org/drawingml/2006/main">
              <a:ext uri="{FF2B5EF4-FFF2-40B4-BE49-F238E27FC236}">
                <a16:creationId xmlns:a16="http://schemas.microsoft.com/office/drawing/2014/main" id="{44C87303-9ED2-426E-A462-8951EB2F8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교육용 구성 사례 · TRIAL-002의 실제 Prompt가 아님</a:t>
            </a:r>
          </a:p>
        </p:txBody>
      </p:sp>
      <p:sp>
        <p:nvSpPr>
          <p:cNvPr id="6" name="짧은 요청을 비난하거나 이 요청이 특정 실패를 만들었다고 주장하지 않습니다.">
            <a:extLst xmlns:a="http://schemas.openxmlformats.org/drawingml/2006/main">
              <a:ext uri="{FF2B5EF4-FFF2-40B4-BE49-F238E27FC236}">
                <a16:creationId xmlns:a16="http://schemas.microsoft.com/office/drawing/2014/main" id="{D40C568B-9E4E-43E2-9F0D-C27B9CC6C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짧은 요청을 비난하거나 이 요청이 특정 실패를 만들었다고 주장하지 않습니다.</a:t>
            </a:r>
          </a:p>
        </p:txBody>
      </p:sp>
      <p:sp>
        <p:nvSpPr>
          <p:cNvPr id="7" name="“crop test 고쳐줘”">
            <a:extLst xmlns:a="http://schemas.openxmlformats.org/drawingml/2006/main">
              <a:ext uri="{FF2B5EF4-FFF2-40B4-BE49-F238E27FC236}">
                <a16:creationId xmlns:a16="http://schemas.microsoft.com/office/drawing/2014/main" id="{82579125-07F3-4164-AF40-2EB2E8333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28825"/>
            <a:ext cx="109728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“crop test 고쳐줘”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0286D3-D5B0-4AF5-A323-638244D15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838450"/>
            <a:ext cx="228600" cy="29527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51DA75-A208-4BA7-83A6-BAF95F6CD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09925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0D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E4F8CF-7970-40DC-AD94-B2D035685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0425"/>
            <a:ext cx="51435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AC0998-1A60-4821-A44F-A22C4DBB2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00425"/>
            <a:ext cx="51435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테스트를 바꿀까?">
            <a:extLst xmlns:a="http://schemas.openxmlformats.org/drawingml/2006/main">
              <a:ext uri="{FF2B5EF4-FFF2-40B4-BE49-F238E27FC236}">
                <a16:creationId xmlns:a16="http://schemas.microsoft.com/office/drawing/2014/main" id="{2B466F59-E88C-4A8C-AB47-84ABFB70F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38550"/>
            <a:ext cx="47244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테스트를 바꿀까?</a:t>
            </a:r>
          </a:p>
        </p:txBody>
      </p:sp>
      <p:sp>
        <p:nvSpPr>
          <p:cNvPr id="13" name="구현을 바꿀까?">
            <a:extLst xmlns:a="http://schemas.openxmlformats.org/drawingml/2006/main">
              <a:ext uri="{FF2B5EF4-FFF2-40B4-BE49-F238E27FC236}">
                <a16:creationId xmlns:a16="http://schemas.microsoft.com/office/drawing/2014/main" id="{1A4F1BA9-5DEA-47DB-9202-BDBC19BF8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638550"/>
            <a:ext cx="47244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구현을 바꿀까?</a:t>
            </a:r>
          </a:p>
        </p:txBody>
      </p:sp>
      <p:sp>
        <p:nvSpPr>
          <p:cNvPr id="14" name="아직 정해지지 않은 정보">
            <a:extLst xmlns:a="http://schemas.openxmlformats.org/drawingml/2006/main">
              <a:ext uri="{FF2B5EF4-FFF2-40B4-BE49-F238E27FC236}">
                <a16:creationId xmlns:a16="http://schemas.microsoft.com/office/drawing/2014/main" id="{00DFD4D9-AC99-4282-B84C-3CD12686C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아직 정해지지 않은 정보</a:t>
            </a:r>
          </a:p>
        </p:txBody>
      </p:sp>
      <p:sp>
        <p:nvSpPr>
          <p:cNvPr id="15" name="목표의 세부 ?">
            <a:extLst xmlns:a="http://schemas.openxmlformats.org/drawingml/2006/main">
              <a:ext uri="{FF2B5EF4-FFF2-40B4-BE49-F238E27FC236}">
                <a16:creationId xmlns:a16="http://schemas.microsoft.com/office/drawing/2014/main" id="{DD19D90A-C4B3-4162-95C2-72A4DA790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목표의 세부 ?</a:t>
            </a:r>
          </a:p>
        </p:txBody>
      </p:sp>
      <p:sp>
        <p:nvSpPr>
          <p:cNvPr id="16" name="보존 조건 ?">
            <a:extLst xmlns:a="http://schemas.openxmlformats.org/drawingml/2006/main">
              <a:ext uri="{FF2B5EF4-FFF2-40B4-BE49-F238E27FC236}">
                <a16:creationId xmlns:a16="http://schemas.microsoft.com/office/drawing/2014/main" id="{D051A610-4AE3-4116-9EC1-EEF8A8CB5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5229225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보존 조건 ?</a:t>
            </a:r>
          </a:p>
        </p:txBody>
      </p:sp>
      <p:sp>
        <p:nvSpPr>
          <p:cNvPr id="17" name="수정 범위 ?">
            <a:extLst xmlns:a="http://schemas.openxmlformats.org/drawingml/2006/main">
              <a:ext uri="{FF2B5EF4-FFF2-40B4-BE49-F238E27FC236}">
                <a16:creationId xmlns:a16="http://schemas.microsoft.com/office/drawing/2014/main" id="{1A7AA017-2AD3-4BA2-A776-5F25064AC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229225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 범위 ?</a:t>
            </a:r>
          </a:p>
        </p:txBody>
      </p:sp>
      <p:sp>
        <p:nvSpPr>
          <p:cNvPr id="18" name="확인 근거 ?">
            <a:extLst xmlns:a="http://schemas.openxmlformats.org/drawingml/2006/main">
              <a:ext uri="{FF2B5EF4-FFF2-40B4-BE49-F238E27FC236}">
                <a16:creationId xmlns:a16="http://schemas.microsoft.com/office/drawing/2014/main" id="{C6DB80CD-9907-4291-88A0-9F2BBA45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5229225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 근거 ?</a:t>
            </a:r>
          </a:p>
        </p:txBody>
      </p:sp>
      <p:sp>
        <p:nvSpPr>
          <p:cNvPr id="19" name="완료 조건 ?">
            <a:extLst xmlns:a="http://schemas.openxmlformats.org/drawingml/2006/main">
              <a:ext uri="{FF2B5EF4-FFF2-40B4-BE49-F238E27FC236}">
                <a16:creationId xmlns:a16="http://schemas.microsoft.com/office/drawing/2014/main" id="{4C351617-B03D-46DF-A6B5-69C0B30FB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229225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 조건 ?</a:t>
            </a:r>
          </a:p>
        </p:txBody>
      </p:sp>
      <p:sp>
        <p:nvSpPr>
          <p:cNvPr id="20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FA9935A-6C10-4690-BB3A-2FA169552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184377642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1 · 요청을 보내기 전의 질문">
            <a:extLst xmlns:a="http://schemas.openxmlformats.org/drawingml/2006/main">
              <a:ext uri="{FF2B5EF4-FFF2-40B4-BE49-F238E27FC236}">
                <a16:creationId xmlns:a16="http://schemas.microsoft.com/office/drawing/2014/main" id="{5C22EE35-9DD7-424C-945E-4CFACF638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요청을 보내기 전의 질문</a:t>
            </a:r>
          </a:p>
        </p:txBody>
      </p:sp>
      <p:sp>
        <p:nvSpPr>
          <p:cNvPr id="2" name="S12">
            <a:extLst xmlns:a="http://schemas.openxmlformats.org/drawingml/2006/main">
              <a:ext uri="{FF2B5EF4-FFF2-40B4-BE49-F238E27FC236}">
                <a16:creationId xmlns:a16="http://schemas.microsoft.com/office/drawing/2014/main" id="{7A20419B-9B03-43C0-98D8-9AB7804E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S12</a:t>
            </a:r>
          </a:p>
        </p:txBody>
      </p:sp>
      <p:sp>
        <p:nvSpPr>
          <p:cNvPr id="3" name="개발자가 정해야 하는 경계">
            <a:extLst xmlns:a="http://schemas.openxmlformats.org/drawingml/2006/main">
              <a:ext uri="{FF2B5EF4-FFF2-40B4-BE49-F238E27FC236}">
                <a16:creationId xmlns:a16="http://schemas.microsoft.com/office/drawing/2014/main" id="{D7533042-017D-4677-BE08-BCE98924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개발자가 정해야 하는 경계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5EC735-C9AF-4F73-8360-FB6A4BE35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이 과정의 질문 틀 · 정답을 제시하는 분류 시험이 아님">
            <a:extLst xmlns:a="http://schemas.openxmlformats.org/drawingml/2006/main">
              <a:ext uri="{FF2B5EF4-FFF2-40B4-BE49-F238E27FC236}">
                <a16:creationId xmlns:a16="http://schemas.microsoft.com/office/drawing/2014/main" id="{B8AC8953-9435-4627-93E0-C4E64AA84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이 과정의 질문 틀 · 정답을 제시하는 분류 시험이 아님</a:t>
            </a:r>
          </a:p>
        </p:txBody>
      </p:sp>
      <p:sp>
        <p:nvSpPr>
          <p:cNvPr id="6" name="마지막 1분은 익숙한 작업 하나를 조용히 떠올려 보세요.">
            <a:extLst xmlns:a="http://schemas.openxmlformats.org/drawingml/2006/main">
              <a:ext uri="{FF2B5EF4-FFF2-40B4-BE49-F238E27FC236}">
                <a16:creationId xmlns:a16="http://schemas.microsoft.com/office/drawing/2014/main" id="{5C02389C-6238-419D-B0B0-5EBD455E4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마지막 1분은 익숙한 작업 하나를 조용히 떠올려 보세요.</a:t>
            </a:r>
          </a:p>
        </p:txBody>
      </p:sp>
      <p:sp>
        <p:nvSpPr>
          <p:cNvPr id="7" name="“crop test 고쳐줘”에 답하기 전에">
            <a:extLst xmlns:a="http://schemas.openxmlformats.org/drawingml/2006/main">
              <a:ext uri="{FF2B5EF4-FFF2-40B4-BE49-F238E27FC236}">
                <a16:creationId xmlns:a16="http://schemas.microsoft.com/office/drawing/2014/main" id="{9B2C2695-D760-4091-9EA9-80FE39AFD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“crop test 고쳐줘”에 답하기 전에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C5FFD6D3-1305-4AB8-B258-26B414C07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619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무엇을 바꿀까?">
            <a:extLst xmlns:a="http://schemas.openxmlformats.org/drawingml/2006/main">
              <a:ext uri="{FF2B5EF4-FFF2-40B4-BE49-F238E27FC236}">
                <a16:creationId xmlns:a16="http://schemas.microsoft.com/office/drawing/2014/main" id="{73DF9674-8303-4063-B533-BC21015DA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676525"/>
            <a:ext cx="4429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바꿀까?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79E8BE-54D6-4BF2-B3F2-5832451ED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324225"/>
            <a:ext cx="442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02">
            <a:extLst xmlns:a="http://schemas.openxmlformats.org/drawingml/2006/main">
              <a:ext uri="{FF2B5EF4-FFF2-40B4-BE49-F238E27FC236}">
                <a16:creationId xmlns:a16="http://schemas.microsoft.com/office/drawing/2014/main" id="{8197EE47-A0A8-4A3E-AEF6-AB0B9E4B5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676525"/>
            <a:ext cx="619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2" name="무엇을 유지할까?">
            <a:extLst xmlns:a="http://schemas.openxmlformats.org/drawingml/2006/main">
              <a:ext uri="{FF2B5EF4-FFF2-40B4-BE49-F238E27FC236}">
                <a16:creationId xmlns:a16="http://schemas.microsoft.com/office/drawing/2014/main" id="{B5EDF060-0722-4682-8604-B3265A39F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676525"/>
            <a:ext cx="4429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유지할까?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7B29F6-1799-47B0-8D78-F612309D4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324225"/>
            <a:ext cx="442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03">
            <a:extLst xmlns:a="http://schemas.openxmlformats.org/drawingml/2006/main">
              <a:ext uri="{FF2B5EF4-FFF2-40B4-BE49-F238E27FC236}">
                <a16:creationId xmlns:a16="http://schemas.microsoft.com/office/drawing/2014/main" id="{6113D920-8D4D-4B20-A802-196B4384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619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5" name="어디까지 바꿔도 될까?">
            <a:extLst xmlns:a="http://schemas.openxmlformats.org/drawingml/2006/main">
              <a:ext uri="{FF2B5EF4-FFF2-40B4-BE49-F238E27FC236}">
                <a16:creationId xmlns:a16="http://schemas.microsoft.com/office/drawing/2014/main" id="{B3F409A5-AD18-4726-8ADA-4CC4C98AE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705225"/>
            <a:ext cx="4429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어디까지 바꿔도 될까?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A8FC6A-46FC-499F-906E-18BB8A2D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352925"/>
            <a:ext cx="442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04">
            <a:extLst xmlns:a="http://schemas.openxmlformats.org/drawingml/2006/main">
              <a:ext uri="{FF2B5EF4-FFF2-40B4-BE49-F238E27FC236}">
                <a16:creationId xmlns:a16="http://schemas.microsoft.com/office/drawing/2014/main" id="{36BB13B9-8961-4993-B42D-06E9BDED9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705225"/>
            <a:ext cx="619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18" name="무슨 근거로 확인할까?">
            <a:extLst xmlns:a="http://schemas.openxmlformats.org/drawingml/2006/main">
              <a:ext uri="{FF2B5EF4-FFF2-40B4-BE49-F238E27FC236}">
                <a16:creationId xmlns:a16="http://schemas.microsoft.com/office/drawing/2014/main" id="{1D007340-178B-46C4-8585-B73AE3D34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705225"/>
            <a:ext cx="4429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무슨 근거로 확인할까?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D56964-999A-4E7B-978F-77D1A6168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352925"/>
            <a:ext cx="442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EA75CC-F25E-4A83-B73F-C1AF13BC7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10972800" cy="676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05">
            <a:extLst xmlns:a="http://schemas.openxmlformats.org/drawingml/2006/main">
              <a:ext uri="{FF2B5EF4-FFF2-40B4-BE49-F238E27FC236}">
                <a16:creationId xmlns:a16="http://schemas.microsoft.com/office/drawing/2014/main" id="{FC994B85-16A6-4AD3-B2C9-36E93F562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48250"/>
            <a:ext cx="619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22" name="언제 완료라고 할까?">
            <a:extLst xmlns:a="http://schemas.openxmlformats.org/drawingml/2006/main">
              <a:ext uri="{FF2B5EF4-FFF2-40B4-BE49-F238E27FC236}">
                <a16:creationId xmlns:a16="http://schemas.microsoft.com/office/drawing/2014/main" id="{17FAD68A-9C9A-4BBD-A795-BCBF1CDD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5000625"/>
            <a:ext cx="97440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언제 완료라고 할까?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F4DB847-4C8E-4224-A87C-8CC6CDB0C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M4</a:t>
            </a:r>
          </a:p>
        </p:txBody>
      </p:sp>
    </p:spTree>
    <p:extLst>
      <p:ext uri="{BB962C8B-B14F-4D97-AF65-F5344CB8AC3E}">
        <p14:creationId xmlns:p14="http://schemas.microsoft.com/office/powerpoint/2010/main" val="6387689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ACT 1 · 작업을 구체화하는 틀">
            <a:extLst xmlns:a="http://schemas.openxmlformats.org/drawingml/2006/main">
              <a:ext uri="{FF2B5EF4-FFF2-40B4-BE49-F238E27FC236}">
                <a16:creationId xmlns:a16="http://schemas.microsoft.com/office/drawing/2014/main" id="{FF70D5C3-2CE2-4ACA-B39B-774EFDD55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작업을 구체화하는 틀</a:t>
            </a:r>
          </a:p>
        </p:txBody>
      </p:sp>
      <p:sp>
        <p:nvSpPr>
          <p:cNvPr id="2" name="S13">
            <a:extLst xmlns:a="http://schemas.openxmlformats.org/drawingml/2006/main">
              <a:ext uri="{FF2B5EF4-FFF2-40B4-BE49-F238E27FC236}">
                <a16:creationId xmlns:a16="http://schemas.microsoft.com/office/drawing/2014/main" id="{4C3A5D85-6902-475E-BE0A-3A998854C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S13</a:t>
            </a:r>
          </a:p>
        </p:txBody>
      </p:sp>
      <p:sp>
        <p:nvSpPr>
          <p:cNvPr id="3" name="Task Specification의 다섯 책임">
            <a:extLst xmlns:a="http://schemas.openxmlformats.org/drawingml/2006/main">
              <a:ext uri="{FF2B5EF4-FFF2-40B4-BE49-F238E27FC236}">
                <a16:creationId xmlns:a16="http://schemas.microsoft.com/office/drawing/2014/main" id="{8247046E-8DD0-47E0-99DC-6AB71991D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Specification의 다섯 책임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2E9508-310E-419C-B4C8-C145BF630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이 과정의 교육 모델 · 공식 OpenAI 분류나 모든 작업에 대한 법칙이 아님">
            <a:extLst xmlns:a="http://schemas.openxmlformats.org/drawingml/2006/main">
              <a:ext uri="{FF2B5EF4-FFF2-40B4-BE49-F238E27FC236}">
                <a16:creationId xmlns:a16="http://schemas.microsoft.com/office/drawing/2014/main" id="{2B17E361-BE10-4C53-BDB1-9D947797A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 과정의 교육 모델 · 공식 OpenAI 분류나 모든 작업에 대한 법칙이 아님</a:t>
            </a:r>
          </a:p>
        </p:txBody>
      </p:sp>
      <p:sp>
        <p:nvSpPr>
          <p:cNvPr id="6" name="다섯 항목은 서로 분리된 기능이 아니라 하나의 작업 요청에 담는 책임입니다.">
            <a:extLst xmlns:a="http://schemas.openxmlformats.org/drawingml/2006/main">
              <a:ext uri="{FF2B5EF4-FFF2-40B4-BE49-F238E27FC236}">
                <a16:creationId xmlns:a16="http://schemas.microsoft.com/office/drawing/2014/main" id="{5A4F63A1-170B-4808-AD80-54D737F5B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다섯 항목은 서로 분리된 기능이 아니라 하나의 작업 요청에 담는 책임입니다.</a:t>
            </a:r>
          </a:p>
        </p:txBody>
      </p:sp>
      <p:sp>
        <p:nvSpPr>
          <p:cNvPr id="7" name="앞의 질문을 묶고, 필요한 맥락과 작업 과정을 명시한다">
            <a:extLst xmlns:a="http://schemas.openxmlformats.org/drawingml/2006/main">
              <a:ext uri="{FF2B5EF4-FFF2-40B4-BE49-F238E27FC236}">
                <a16:creationId xmlns:a16="http://schemas.microsoft.com/office/drawing/2014/main" id="{A687ECA5-4FD0-473A-985D-390B37636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앞의 질문을 묶고, 필요한 맥락과 작업 과정을 명시한다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4B5C86-EBD0-4EF7-8201-6070DF25F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7280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41420A-133B-4F89-8280-242747CE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067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하나의&#10;Task&#10;Specification">
            <a:extLst xmlns:a="http://schemas.openxmlformats.org/drawingml/2006/main">
              <a:ext uri="{FF2B5EF4-FFF2-40B4-BE49-F238E27FC236}">
                <a16:creationId xmlns:a16="http://schemas.microsoft.com/office/drawing/2014/main" id="{80E2A665-BAEB-4BF1-A5F1-E951C7E49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2700"/>
            <a:ext cx="26098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하나의</a:t>
            </a:r>
          </a:p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</a:t>
            </a:r>
          </a:p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Specification</a:t>
            </a:r>
          </a:p>
        </p:txBody>
      </p:sp>
      <p:sp>
        <p:nvSpPr>
          <p:cNvPr id="11" name="목표 · Goal">
            <a:extLst xmlns:a="http://schemas.openxmlformats.org/drawingml/2006/main">
              <a:ext uri="{FF2B5EF4-FFF2-40B4-BE49-F238E27FC236}">
                <a16:creationId xmlns:a16="http://schemas.microsoft.com/office/drawing/2014/main" id="{27BACC48-EEC1-46EC-9286-A2011BF66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0764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 · Goal</a:t>
            </a:r>
          </a:p>
        </p:txBody>
      </p:sp>
      <p:sp>
        <p:nvSpPr>
          <p:cNvPr id="12" name="어떤 결과를 바꿀까?">
            <a:extLst xmlns:a="http://schemas.openxmlformats.org/drawingml/2006/main">
              <a:ext uri="{FF2B5EF4-FFF2-40B4-BE49-F238E27FC236}">
                <a16:creationId xmlns:a16="http://schemas.microsoft.com/office/drawing/2014/main" id="{58CB8165-A825-4835-9F03-377F80968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0764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결과를 바꿀까?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0CC781-20C2-47FD-ABF0-247289152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619375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맥락 · Context">
            <a:extLst xmlns:a="http://schemas.openxmlformats.org/drawingml/2006/main">
              <a:ext uri="{FF2B5EF4-FFF2-40B4-BE49-F238E27FC236}">
                <a16:creationId xmlns:a16="http://schemas.microsoft.com/office/drawing/2014/main" id="{4C745817-2426-4084-9003-D4EA1986F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7622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맥락 · Context</a:t>
            </a:r>
          </a:p>
        </p:txBody>
      </p:sp>
      <p:sp>
        <p:nvSpPr>
          <p:cNvPr id="15" name="이 작업에 필요한 사실은?">
            <a:extLst xmlns:a="http://schemas.openxmlformats.org/drawingml/2006/main">
              <a:ext uri="{FF2B5EF4-FFF2-40B4-BE49-F238E27FC236}">
                <a16:creationId xmlns:a16="http://schemas.microsoft.com/office/drawing/2014/main" id="{8D76013B-19AA-4500-A6E9-4F89A1318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7622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 작업에 필요한 사실은?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3AB1EB-0D46-4C4F-B5FB-4722CC6AB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305175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제약 · Constraints">
            <a:extLst xmlns:a="http://schemas.openxmlformats.org/drawingml/2006/main">
              <a:ext uri="{FF2B5EF4-FFF2-40B4-BE49-F238E27FC236}">
                <a16:creationId xmlns:a16="http://schemas.microsoft.com/office/drawing/2014/main" id="{34C37C2A-6354-48EC-BE1D-8B5099596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4480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제약 · Constraints</a:t>
            </a:r>
          </a:p>
        </p:txBody>
      </p:sp>
      <p:sp>
        <p:nvSpPr>
          <p:cNvPr id="18" name="무엇을 보존할까?">
            <a:extLst xmlns:a="http://schemas.openxmlformats.org/drawingml/2006/main">
              <a:ext uri="{FF2B5EF4-FFF2-40B4-BE49-F238E27FC236}">
                <a16:creationId xmlns:a16="http://schemas.microsoft.com/office/drawing/2014/main" id="{094CDF1C-5F04-4BE9-A0CA-B2417AD69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4480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보존할까?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0499E5-F708-4BD7-BCEF-06D9DA98D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990975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과정 · Process">
            <a:extLst xmlns:a="http://schemas.openxmlformats.org/drawingml/2006/main">
              <a:ext uri="{FF2B5EF4-FFF2-40B4-BE49-F238E27FC236}">
                <a16:creationId xmlns:a16="http://schemas.microsoft.com/office/drawing/2014/main" id="{23D10EFB-2E5C-430D-8685-F0B68977B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1338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과정 · Process</a:t>
            </a:r>
          </a:p>
        </p:txBody>
      </p:sp>
      <p:sp>
        <p:nvSpPr>
          <p:cNvPr id="21" name="어떤 순서·경계를 지킬까?">
            <a:extLst xmlns:a="http://schemas.openxmlformats.org/drawingml/2006/main">
              <a:ext uri="{FF2B5EF4-FFF2-40B4-BE49-F238E27FC236}">
                <a16:creationId xmlns:a16="http://schemas.microsoft.com/office/drawing/2014/main" id="{F01AFE62-DC3B-4691-A9D4-38D1EA948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1338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순서·경계를 지킬까?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3F14FD-37F8-424D-B9F7-EDE5C32AA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676775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3" name="검증 · Verification">
            <a:extLst xmlns:a="http://schemas.openxmlformats.org/drawingml/2006/main">
              <a:ext uri="{FF2B5EF4-FFF2-40B4-BE49-F238E27FC236}">
                <a16:creationId xmlns:a16="http://schemas.microsoft.com/office/drawing/2014/main" id="{EAE242B3-2D1E-4E00-8DEC-D6270511F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8196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 · Verification</a:t>
            </a:r>
          </a:p>
        </p:txBody>
      </p:sp>
      <p:sp>
        <p:nvSpPr>
          <p:cNvPr id="24" name="무엇으로 완료를 확인할까?">
            <a:extLst xmlns:a="http://schemas.openxmlformats.org/drawingml/2006/main">
              <a:ext uri="{FF2B5EF4-FFF2-40B4-BE49-F238E27FC236}">
                <a16:creationId xmlns:a16="http://schemas.microsoft.com/office/drawing/2014/main" id="{00DAC7B1-A917-40E2-8712-71668AD86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8196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무엇으로 완료를 확인할까?</a:t>
            </a:r>
          </a:p>
        </p:txBody>
      </p:sp>
      <p:sp>
        <p:nvSpPr>
          <p:cNvPr id="25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381CC52-EA67-4111-B6FF-960CCE458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73852129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ACT 1 · 같은 요청을 구체화하기">
            <a:extLst xmlns:a="http://schemas.openxmlformats.org/drawingml/2006/main">
              <a:ext uri="{FF2B5EF4-FFF2-40B4-BE49-F238E27FC236}">
                <a16:creationId xmlns:a16="http://schemas.microsoft.com/office/drawing/2014/main" id="{73CA76AD-7763-4B3B-BF64-1AF9C46BD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같은 요청을 구체화하기</a:t>
            </a:r>
          </a:p>
        </p:txBody>
      </p:sp>
      <p:sp>
        <p:nvSpPr>
          <p:cNvPr id="2" name="S14">
            <a:extLst xmlns:a="http://schemas.openxmlformats.org/drawingml/2006/main">
              <a:ext uri="{FF2B5EF4-FFF2-40B4-BE49-F238E27FC236}">
                <a16:creationId xmlns:a16="http://schemas.microsoft.com/office/drawing/2014/main" id="{7E6F9472-5CA2-41FC-A7DA-57BCC4EB4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S14</a:t>
            </a:r>
          </a:p>
        </p:txBody>
      </p:sp>
      <p:sp>
        <p:nvSpPr>
          <p:cNvPr id="3" name="더 긴 Prompt보다 분명한 경계">
            <a:extLst xmlns:a="http://schemas.openxmlformats.org/drawingml/2006/main">
              <a:ext uri="{FF2B5EF4-FFF2-40B4-BE49-F238E27FC236}">
                <a16:creationId xmlns:a16="http://schemas.microsoft.com/office/drawing/2014/main" id="{5A8954D5-BB05-40C6-B921-B3B126F83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더 긴 Prompt보다 분명한 경계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D454E0-972C-4628-9A21-C7F51D34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교육용 Before / After · 실제 Trial Prompt나 우월성 비교 실험이 아님">
            <a:extLst xmlns:a="http://schemas.openxmlformats.org/drawingml/2006/main">
              <a:ext uri="{FF2B5EF4-FFF2-40B4-BE49-F238E27FC236}">
                <a16:creationId xmlns:a16="http://schemas.microsoft.com/office/drawing/2014/main" id="{D50ACCCB-4CA5-4A2A-BDBB-049D6175F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교육용 Before / After · 실제 Trial Prompt나 우월성 비교 실험이 아님</a:t>
            </a:r>
          </a:p>
        </p:txBody>
      </p:sp>
      <p:sp>
        <p:nvSpPr>
          <p:cNvPr id="6" name="완료 조건과 C++ 적용은 교육용 예시입니다. 특정 Windows·빌드 환경을 검증한 것은 아닙니다.">
            <a:extLst xmlns:a="http://schemas.openxmlformats.org/drawingml/2006/main">
              <a:ext uri="{FF2B5EF4-FFF2-40B4-BE49-F238E27FC236}">
                <a16:creationId xmlns:a16="http://schemas.microsoft.com/office/drawing/2014/main" id="{4CF27AEB-E057-4AA4-A460-1D13C435C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완료 조건과 C++ 적용은 교육용 예시입니다. 특정 Windows·빌드 환경을 검증한 것은 아닙니다.</a:t>
            </a:r>
          </a:p>
        </p:txBody>
      </p:sp>
      <p:sp>
        <p:nvSpPr>
          <p:cNvPr id="7" name="처음 요청">
            <a:extLst xmlns:a="http://schemas.openxmlformats.org/drawingml/2006/main">
              <a:ext uri="{FF2B5EF4-FFF2-40B4-BE49-F238E27FC236}">
                <a16:creationId xmlns:a16="http://schemas.microsoft.com/office/drawing/2014/main" id="{FE7DD6F1-5FE0-480D-9809-223B9D935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28194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처음 요청</a:t>
            </a:r>
          </a:p>
        </p:txBody>
      </p:sp>
      <p:sp>
        <p:nvSpPr>
          <p:cNvPr id="8" name="“crop test&#10;고쳐줘.”">
            <a:extLst xmlns:a="http://schemas.openxmlformats.org/drawingml/2006/main">
              <a:ext uri="{FF2B5EF4-FFF2-40B4-BE49-F238E27FC236}">
                <a16:creationId xmlns:a16="http://schemas.microsoft.com/office/drawing/2014/main" id="{89FB8B1E-41A8-4805-A4C9-103E8FDC4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7813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“crop test</a:t>
            </a:r>
          </a:p>
          <a:p xmlns:a="http://schemas.openxmlformats.org/drawingml/2006/main">
            <a: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고쳐줘.”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CA56ED-300D-422B-8AA3-9D431222F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295650"/>
            <a:ext cx="438150" cy="2571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0" name="추가한 정보">
            <a:extLst xmlns:a="http://schemas.openxmlformats.org/drawingml/2006/main">
              <a:ext uri="{FF2B5EF4-FFF2-40B4-BE49-F238E27FC236}">
                <a16:creationId xmlns:a16="http://schemas.microsoft.com/office/drawing/2014/main" id="{D9D4AD7C-3465-4592-BB40-FE5FC0374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990725"/>
            <a:ext cx="7143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추가한 정보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33032E-A812-432F-A63B-A6315FA34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457450"/>
            <a:ext cx="714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목표·맥락">
            <a:extLst xmlns:a="http://schemas.openxmlformats.org/drawingml/2006/main">
              <a:ext uri="{FF2B5EF4-FFF2-40B4-BE49-F238E27FC236}">
                <a16:creationId xmlns:a16="http://schemas.microsoft.com/office/drawing/2014/main" id="{DF7D2D0D-D054-47B4-BC7D-62BF4A86F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24125"/>
            <a:ext cx="1390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목표·맥락</a:t>
            </a:r>
          </a:p>
        </p:txBody>
      </p:sp>
      <p:sp>
        <p:nvSpPr>
          <p:cNvPr id="13" name="crop 경계 실패를 조사·수정한다.">
            <a:extLst xmlns:a="http://schemas.openxmlformats.org/drawingml/2006/main">
              <a:ext uri="{FF2B5EF4-FFF2-40B4-BE49-F238E27FC236}">
                <a16:creationId xmlns:a16="http://schemas.microsoft.com/office/drawing/2014/main" id="{FCB018E4-5257-4828-8BF2-0496EE7F6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524125"/>
            <a:ext cx="561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실패를 조사·수정한다.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5F672C-B379-405C-8582-1BB1A4C9B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019425"/>
            <a:ext cx="714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제약">
            <a:extLst xmlns:a="http://schemas.openxmlformats.org/drawingml/2006/main">
              <a:ext uri="{FF2B5EF4-FFF2-40B4-BE49-F238E27FC236}">
                <a16:creationId xmlns:a16="http://schemas.microsoft.com/office/drawing/2014/main" id="{8409448C-3D95-486D-81DD-51FD12C81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086100"/>
            <a:ext cx="1390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제약</a:t>
            </a:r>
          </a:p>
        </p:txBody>
      </p:sp>
      <p:sp>
        <p:nvSpPr>
          <p:cNvPr id="16" name="끝 좌표 제외, 무관한 API·의존성 유지">
            <a:extLst xmlns:a="http://schemas.openxmlformats.org/drawingml/2006/main">
              <a:ext uri="{FF2B5EF4-FFF2-40B4-BE49-F238E27FC236}">
                <a16:creationId xmlns:a16="http://schemas.microsoft.com/office/drawing/2014/main" id="{9D470903-4FDB-4DC9-8442-94E148ABF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086100"/>
            <a:ext cx="561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끝 좌표 제외, 무관한 API·의존성 유지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6AE379-7E2A-4A6E-B570-98520BDB0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81400"/>
            <a:ext cx="714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과정">
            <a:extLst xmlns:a="http://schemas.openxmlformats.org/drawingml/2006/main">
              <a:ext uri="{FF2B5EF4-FFF2-40B4-BE49-F238E27FC236}">
                <a16:creationId xmlns:a16="http://schemas.microsoft.com/office/drawing/2014/main" id="{4512FBB1-98AE-4AEE-8D62-08CE73256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48075"/>
            <a:ext cx="1390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과정</a:t>
            </a:r>
          </a:p>
        </p:txBody>
      </p:sp>
      <p:sp>
        <p:nvSpPr>
          <p:cNvPr id="19" name="재현 → 조사 → 계획 → 최소 수정">
            <a:extLst xmlns:a="http://schemas.openxmlformats.org/drawingml/2006/main">
              <a:ext uri="{FF2B5EF4-FFF2-40B4-BE49-F238E27FC236}">
                <a16:creationId xmlns:a16="http://schemas.microsoft.com/office/drawing/2014/main" id="{F5CE59E1-F9AF-4CB7-8AB8-9C4C1E70B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648075"/>
            <a:ext cx="561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재현 → 조사 → 계획 → 최소 수정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31F101-62AF-4A12-AF12-F138407F0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143375"/>
            <a:ext cx="714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1" name="검증">
            <a:extLst xmlns:a="http://schemas.openxmlformats.org/drawingml/2006/main">
              <a:ext uri="{FF2B5EF4-FFF2-40B4-BE49-F238E27FC236}">
                <a16:creationId xmlns:a16="http://schemas.microsoft.com/office/drawing/2014/main" id="{0DF70098-B97B-4D0F-929C-C24000D9E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210050"/>
            <a:ext cx="1390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22" name="집중·전체 Test + CLI smoke + diff">
            <a:extLst xmlns:a="http://schemas.openxmlformats.org/drawingml/2006/main">
              <a:ext uri="{FF2B5EF4-FFF2-40B4-BE49-F238E27FC236}">
                <a16:creationId xmlns:a16="http://schemas.microsoft.com/office/drawing/2014/main" id="{49620E6E-0A7F-46FD-A8D4-212A3220C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210050"/>
            <a:ext cx="561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집중·전체 Test + CLI smoke + diff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B46A70-035C-4DEA-8CA6-1EB0229D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9728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완료 조건 예 · 4열 입력의 crop 1 3 → 원본 열 1·2, 폭 2">
            <a:extLst xmlns:a="http://schemas.openxmlformats.org/drawingml/2006/main">
              <a:ext uri="{FF2B5EF4-FFF2-40B4-BE49-F238E27FC236}">
                <a16:creationId xmlns:a16="http://schemas.microsoft.com/office/drawing/2014/main" id="{131DC856-E423-47FA-8E35-5761E1221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완료 조건 예 · 4열 입력의 crop 1 3 → 원본 열 1·2, 폭 2</a:t>
            </a:r>
          </a:p>
        </p:txBody>
      </p:sp>
      <p:sp>
        <p:nvSpPr>
          <p:cNvPr id="25" name="C++에도: 출력·API/ABI 보존 범위와 Release 검증 조건을 먼저 정한다.">
            <a:extLst xmlns:a="http://schemas.openxmlformats.org/drawingml/2006/main">
              <a:ext uri="{FF2B5EF4-FFF2-40B4-BE49-F238E27FC236}">
                <a16:creationId xmlns:a16="http://schemas.microsoft.com/office/drawing/2014/main" id="{130A0277-93DD-40A4-8128-904E250D0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C++에도: 출력·API/ABI 보존 범위와 Release 검증 조건을 먼저 정한다.</a:t>
            </a:r>
          </a:p>
        </p:txBody>
      </p:sp>
      <p:sp>
        <p:nvSpPr>
          <p:cNvPr id="26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3108B8EC-2A69-464B-8DF9-90577919D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M4 · M6</a:t>
            </a:r>
          </a:p>
        </p:txBody>
      </p:sp>
    </p:spTree>
    <p:extLst>
      <p:ext uri="{BB962C8B-B14F-4D97-AF65-F5344CB8AC3E}">
        <p14:creationId xmlns:p14="http://schemas.microsoft.com/office/powerpoint/2010/main" val="23198363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ACT 1 · TRIAL-002 관찰 시작">
            <a:extLst xmlns:a="http://schemas.openxmlformats.org/drawingml/2006/main">
              <a:ext uri="{FF2B5EF4-FFF2-40B4-BE49-F238E27FC236}">
                <a16:creationId xmlns:a16="http://schemas.microsoft.com/office/drawing/2014/main" id="{61A063B7-7917-44E0-A507-6BCDFFE8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TRIAL-002 관찰 시작</a:t>
            </a:r>
          </a:p>
        </p:txBody>
      </p:sp>
      <p:sp>
        <p:nvSpPr>
          <p:cNvPr id="2" name="S15">
            <a:extLst xmlns:a="http://schemas.openxmlformats.org/drawingml/2006/main">
              <a:ext uri="{FF2B5EF4-FFF2-40B4-BE49-F238E27FC236}">
                <a16:creationId xmlns:a16="http://schemas.microsoft.com/office/drawing/2014/main" id="{672F21BB-57A6-4B8C-B2A7-8233CFC67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S15</a:t>
            </a:r>
          </a:p>
        </p:txBody>
      </p:sp>
      <p:sp>
        <p:nvSpPr>
          <p:cNvPr id="3" name="먼저 무엇을 하는지 보자">
            <a:extLst xmlns:a="http://schemas.openxmlformats.org/drawingml/2006/main">
              <a:ext uri="{FF2B5EF4-FFF2-40B4-BE49-F238E27FC236}">
                <a16:creationId xmlns:a16="http://schemas.microsoft.com/office/drawing/2014/main" id="{D8B45E8C-5A41-4007-94F0-4C571CD5D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먼저 무엇을 하는지 보자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2416E4-AB74-40A3-9E1F-274D8766D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2 관찰 기준 · 2026-09-28 · Codex CLI 0.154.0 · macOS">
            <a:extLst xmlns:a="http://schemas.openxmlformats.org/drawingml/2006/main">
              <a:ext uri="{FF2B5EF4-FFF2-40B4-BE49-F238E27FC236}">
                <a16:creationId xmlns:a16="http://schemas.microsoft.com/office/drawing/2014/main" id="{53D243B0-0E93-411F-9D71-18309CCEE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TRIAL-002 관찰 기준 · 2026-09-28 · Codex CLI 0.154.0 · macOS</a:t>
            </a:r>
          </a:p>
        </p:txBody>
      </p:sp>
      <p:sp>
        <p:nvSpPr>
          <p:cNvPr id="6" name="단일 과거 CLI 기록을 살펴봅니다. 현재 Desktop 실행이나 반복성을 입증하지 않습니다.">
            <a:extLst xmlns:a="http://schemas.openxmlformats.org/drawingml/2006/main">
              <a:ext uri="{FF2B5EF4-FFF2-40B4-BE49-F238E27FC236}">
                <a16:creationId xmlns:a16="http://schemas.microsoft.com/office/drawing/2014/main" id="{E386D7B7-EC26-46EB-A175-172898BEB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단일 과거 CLI 기록을 살펴봅니다. 현재 Desktop 실행이나 반복성을 입증하지 않습니다.</a:t>
            </a:r>
          </a:p>
        </p:txBody>
      </p:sp>
      <p:sp>
        <p:nvSpPr>
          <p:cNvPr id="7" name="“실제 기록에서는 수정 전에 무엇을 했을까?”">
            <a:extLst xmlns:a="http://schemas.openxmlformats.org/drawingml/2006/main">
              <a:ext uri="{FF2B5EF4-FFF2-40B4-BE49-F238E27FC236}">
                <a16:creationId xmlns:a16="http://schemas.microsoft.com/office/drawing/2014/main" id="{2D79004B-5C47-4A29-BB3C-4F07CCF9F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“실제 기록에서는 수정 전에 무엇을 했을까?”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A055ABCB-795B-4485-AB2D-002598137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0425"/>
            <a:ext cx="1762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재현">
            <a:extLst xmlns:a="http://schemas.openxmlformats.org/drawingml/2006/main">
              <a:ext uri="{FF2B5EF4-FFF2-40B4-BE49-F238E27FC236}">
                <a16:creationId xmlns:a16="http://schemas.microsoft.com/office/drawing/2014/main" id="{6D57F304-1331-423D-A6EC-F05C93B7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762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재현</a:t>
            </a:r>
          </a:p>
        </p:txBody>
      </p:sp>
      <p:sp>
        <p:nvSpPr>
          <p:cNvPr id="10" name="실패 확인">
            <a:extLst xmlns:a="http://schemas.openxmlformats.org/drawingml/2006/main">
              <a:ext uri="{FF2B5EF4-FFF2-40B4-BE49-F238E27FC236}">
                <a16:creationId xmlns:a16="http://schemas.microsoft.com/office/drawing/2014/main" id="{A4D6BD7B-A979-428F-8262-CD4FD45F4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실패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248D62-1995-4A42-AF31-3A43A6262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038600"/>
            <a:ext cx="238125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02">
            <a:extLst xmlns:a="http://schemas.openxmlformats.org/drawingml/2006/main">
              <a:ext uri="{FF2B5EF4-FFF2-40B4-BE49-F238E27FC236}">
                <a16:creationId xmlns:a16="http://schemas.microsoft.com/office/drawing/2014/main" id="{DE6E6F6C-0BE4-4AA8-BE02-EE78694C0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400425"/>
            <a:ext cx="1762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조사">
            <a:extLst xmlns:a="http://schemas.openxmlformats.org/drawingml/2006/main">
              <a:ext uri="{FF2B5EF4-FFF2-40B4-BE49-F238E27FC236}">
                <a16:creationId xmlns:a16="http://schemas.microsoft.com/office/drawing/2014/main" id="{D6E011DE-05A7-4E91-94DD-43D629EA6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857625"/>
            <a:ext cx="1762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</a:t>
            </a:r>
          </a:p>
        </p:txBody>
      </p:sp>
      <p:sp>
        <p:nvSpPr>
          <p:cNvPr id="14" name="근거 연결">
            <a:extLst xmlns:a="http://schemas.openxmlformats.org/drawingml/2006/main">
              <a:ext uri="{FF2B5EF4-FFF2-40B4-BE49-F238E27FC236}">
                <a16:creationId xmlns:a16="http://schemas.microsoft.com/office/drawing/2014/main" id="{BB932501-96B8-4E14-AD49-7363BFDBE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51485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근거 연결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2E6524-FAC6-4156-80BF-146BD1D2C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38600"/>
            <a:ext cx="238125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6" name="03">
            <a:extLst xmlns:a="http://schemas.openxmlformats.org/drawingml/2006/main">
              <a:ext uri="{FF2B5EF4-FFF2-40B4-BE49-F238E27FC236}">
                <a16:creationId xmlns:a16="http://schemas.microsoft.com/office/drawing/2014/main" id="{C9F4DAED-2164-4D49-BAE1-E21F7CD24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400425"/>
            <a:ext cx="1762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계획">
            <a:extLst xmlns:a="http://schemas.openxmlformats.org/drawingml/2006/main">
              <a:ext uri="{FF2B5EF4-FFF2-40B4-BE49-F238E27FC236}">
                <a16:creationId xmlns:a16="http://schemas.microsoft.com/office/drawing/2014/main" id="{BCF2BF14-9FFE-4004-8881-7E8994B5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857625"/>
            <a:ext cx="1762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계획</a:t>
            </a:r>
          </a:p>
        </p:txBody>
      </p:sp>
      <p:sp>
        <p:nvSpPr>
          <p:cNvPr id="18" name="수정 전 설명">
            <a:extLst xmlns:a="http://schemas.openxmlformats.org/drawingml/2006/main">
              <a:ext uri="{FF2B5EF4-FFF2-40B4-BE49-F238E27FC236}">
                <a16:creationId xmlns:a16="http://schemas.microsoft.com/office/drawing/2014/main" id="{4B650F9C-C1BD-442B-87FC-C53485713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51485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수정 전 설명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1250B0-2578-436E-8149-FF0707AE9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038600"/>
            <a:ext cx="238125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0" name="04">
            <a:extLst xmlns:a="http://schemas.openxmlformats.org/drawingml/2006/main">
              <a:ext uri="{FF2B5EF4-FFF2-40B4-BE49-F238E27FC236}">
                <a16:creationId xmlns:a16="http://schemas.microsoft.com/office/drawing/2014/main" id="{7276FBF4-CC7D-4F80-BC8E-18692EB0E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400425"/>
            <a:ext cx="1762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수정">
            <a:extLst xmlns:a="http://schemas.openxmlformats.org/drawingml/2006/main">
              <a:ext uri="{FF2B5EF4-FFF2-40B4-BE49-F238E27FC236}">
                <a16:creationId xmlns:a16="http://schemas.microsoft.com/office/drawing/2014/main" id="{A6F361C2-D64A-4195-B50B-745881D4F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857625"/>
            <a:ext cx="1762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</a:t>
            </a:r>
          </a:p>
        </p:txBody>
      </p:sp>
      <p:sp>
        <p:nvSpPr>
          <p:cNvPr id="22" name="최소 변경">
            <a:extLst xmlns:a="http://schemas.openxmlformats.org/drawingml/2006/main">
              <a:ext uri="{FF2B5EF4-FFF2-40B4-BE49-F238E27FC236}">
                <a16:creationId xmlns:a16="http://schemas.microsoft.com/office/drawing/2014/main" id="{CD8DFF44-0F3A-4AA1-A31E-2517F4A01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51485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최소 변경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5033FC-BF6F-4B0E-8B4F-052DC7C31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038600"/>
            <a:ext cx="238125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4" name="05">
            <a:extLst xmlns:a="http://schemas.openxmlformats.org/drawingml/2006/main">
              <a:ext uri="{FF2B5EF4-FFF2-40B4-BE49-F238E27FC236}">
                <a16:creationId xmlns:a16="http://schemas.microsoft.com/office/drawing/2014/main" id="{7008D000-A2A4-4233-953D-3E16A516B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400425"/>
            <a:ext cx="1762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25" name="검증">
            <a:extLst xmlns:a="http://schemas.openxmlformats.org/drawingml/2006/main">
              <a:ext uri="{FF2B5EF4-FFF2-40B4-BE49-F238E27FC236}">
                <a16:creationId xmlns:a16="http://schemas.microsoft.com/office/drawing/2014/main" id="{6B5B049E-00BB-4276-BFE1-87D2267A7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57625"/>
            <a:ext cx="1762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26" name="결과 확인">
            <a:extLst xmlns:a="http://schemas.openxmlformats.org/drawingml/2006/main">
              <a:ext uri="{FF2B5EF4-FFF2-40B4-BE49-F238E27FC236}">
                <a16:creationId xmlns:a16="http://schemas.microsoft.com/office/drawing/2014/main" id="{0A65BD47-2C9D-4076-8120-B6FD5E6E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51485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결과 확인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87EF38-FCBF-4150-8A4A-3F19A83E6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8" name="다음 두 장에서 TRIAL-002의 요청 흐름과 행동을 대조한다.">
            <a:extLst xmlns:a="http://schemas.openxmlformats.org/drawingml/2006/main">
              <a:ext uri="{FF2B5EF4-FFF2-40B4-BE49-F238E27FC236}">
                <a16:creationId xmlns:a16="http://schemas.microsoft.com/office/drawing/2014/main" id="{93AC5D1E-089A-461A-ABA9-5484C84E7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두 장에서 TRIAL-002의 요청 흐름과 행동을 대조한다.</a:t>
            </a:r>
          </a:p>
        </p:txBody>
      </p:sp>
      <p:sp>
        <p:nvSpPr>
          <p:cNvPr id="2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E1EA7ED0-3335-49B8-A749-C6DA8AC46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74637929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1 · 계약을 보존하는 최소 변경">
            <a:extLst xmlns:a="http://schemas.openxmlformats.org/drawingml/2006/main">
              <a:ext uri="{FF2B5EF4-FFF2-40B4-BE49-F238E27FC236}">
                <a16:creationId xmlns:a16="http://schemas.microsoft.com/office/drawing/2014/main" id="{15FE112A-2B34-4F76-BC54-A86D64658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계약을 보존하는 최소 변경</a:t>
            </a:r>
          </a:p>
        </p:txBody>
      </p:sp>
      <p:sp>
        <p:nvSpPr>
          <p:cNvPr id="2" name="S16">
            <a:extLst xmlns:a="http://schemas.openxmlformats.org/drawingml/2006/main">
              <a:ext uri="{FF2B5EF4-FFF2-40B4-BE49-F238E27FC236}">
                <a16:creationId xmlns:a16="http://schemas.microsoft.com/office/drawing/2014/main" id="{688DFE5C-1431-424C-8CC9-4B0E47EDF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S16</a:t>
            </a:r>
          </a:p>
        </p:txBody>
      </p:sp>
      <p:sp>
        <p:nvSpPr>
          <p:cNvPr id="3" name="조사에서 한 줄 변경까지">
            <a:extLst xmlns:a="http://schemas.openxmlformats.org/drawingml/2006/main">
              <a:ext uri="{FF2B5EF4-FFF2-40B4-BE49-F238E27FC236}">
                <a16:creationId xmlns:a16="http://schemas.microsoft.com/office/drawing/2014/main" id="{26D00673-D0BA-483B-AB53-F3F80997B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조사에서 한 줄 변경까지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A55FB6-6EC7-41BA-8316-E854240B6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2 · STATE-00 → STATE-00-FIXED · 실제 diff를 재구성한 도식">
            <a:extLst xmlns:a="http://schemas.openxmlformats.org/drawingml/2006/main">
              <a:ext uri="{FF2B5EF4-FFF2-40B4-BE49-F238E27FC236}">
                <a16:creationId xmlns:a16="http://schemas.microsoft.com/office/drawing/2014/main" id="{80BDB7EF-D74A-48D7-9B3D-49BDB6876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TRIAL-002 · STATE-00 → STATE-00-FIXED · 실제 diff를 재구성한 도식</a:t>
            </a:r>
          </a:p>
        </p:txBody>
      </p:sp>
      <p:sp>
        <p:nvSpPr>
          <p:cNvPr id="6" name="src/graypipe/transform.py · 단일 CLI 기록 · 실제 터미널 화면이 아님">
            <a:extLst xmlns:a="http://schemas.openxmlformats.org/drawingml/2006/main">
              <a:ext uri="{FF2B5EF4-FFF2-40B4-BE49-F238E27FC236}">
                <a16:creationId xmlns:a16="http://schemas.microsoft.com/office/drawing/2014/main" id="{EA8DDB52-0448-4F2D-B96D-76158F21F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src/graypipe/transform.py · 단일 CLI 기록 · 실제 터미널 화면이 아님</a:t>
            </a:r>
          </a:p>
        </p:txBody>
      </p:sp>
      <p:sp>
        <p:nvSpPr>
          <p:cNvPr id="7" name="실패 테스트 → 호출 경로 → 계약 확인 → 수정 전 계획">
            <a:extLst xmlns:a="http://schemas.openxmlformats.org/drawingml/2006/main">
              <a:ext uri="{FF2B5EF4-FFF2-40B4-BE49-F238E27FC236}">
                <a16:creationId xmlns:a16="http://schemas.microsoft.com/office/drawing/2014/main" id="{79CB0E98-8B3E-4FBD-9E4E-57B9F5BB1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실패 테스트 → 호출 경로 → 계약 확인 → 수정 전 계획</a:t>
            </a:r>
          </a:p>
        </p:txBody>
      </p:sp>
      <p:sp>
        <p:nvSpPr>
          <p:cNvPr id="8" name="끝 좌표를 제외한다: [x_start, x_end)">
            <a:extLst xmlns:a="http://schemas.openxmlformats.org/drawingml/2006/main">
              <a:ext uri="{FF2B5EF4-FFF2-40B4-BE49-F238E27FC236}">
                <a16:creationId xmlns:a16="http://schemas.microsoft.com/office/drawing/2014/main" id="{F917CDBF-8188-4EA7-A90E-2DF16A803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끝 좌표를 제외한다: [x_start, x_end)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28727D-71EF-4F15-838D-BBED83415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52006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4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B8624D-A537-4E03-AEA1-925B5FA5E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533775"/>
            <a:ext cx="52006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변경 전">
            <a:extLst xmlns:a="http://schemas.openxmlformats.org/drawingml/2006/main">
              <a:ext uri="{FF2B5EF4-FFF2-40B4-BE49-F238E27FC236}">
                <a16:creationId xmlns:a16="http://schemas.microsoft.com/office/drawing/2014/main" id="{2D7F43B8-685B-4E37-A585-0CE96A2A4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48075"/>
            <a:ext cx="481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rPr>
              <a:t>변경 전</a:t>
            </a:r>
          </a:p>
        </p:txBody>
      </p:sp>
      <p:sp>
        <p:nvSpPr>
          <p:cNvPr id="12" name="변경 후">
            <a:extLst xmlns:a="http://schemas.openxmlformats.org/drawingml/2006/main">
              <a:ext uri="{FF2B5EF4-FFF2-40B4-BE49-F238E27FC236}">
                <a16:creationId xmlns:a16="http://schemas.microsoft.com/office/drawing/2014/main" id="{3084EAC0-C1A1-43C1-B6D9-63DB3BEBB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48075"/>
            <a:ext cx="481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변경 후</a:t>
            </a:r>
          </a:p>
        </p:txBody>
      </p:sp>
      <p:sp>
        <p:nvSpPr>
          <p:cNvPr id="13" name="row[x_start : x_end + 1]">
            <a:extLst xmlns:a="http://schemas.openxmlformats.org/drawingml/2006/main">
              <a:ext uri="{FF2B5EF4-FFF2-40B4-BE49-F238E27FC236}">
                <a16:creationId xmlns:a16="http://schemas.microsoft.com/office/drawing/2014/main" id="{AE24046B-BFFD-4C0B-B33E-C1EA31692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4819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B42318"/>
                </a:solidFill>
                <a:latin typeface="Consolas"/>
                <a:ea typeface="Consolas"/>
                <a:cs typeface="Consolas"/>
              </a:rPr>
              <a:t>row[x_start : x_end + 1]</a:t>
            </a:r>
          </a:p>
        </p:txBody>
      </p:sp>
      <p:sp>
        <p:nvSpPr>
          <p:cNvPr id="14" name="row[x_start : x_end]">
            <a:extLst xmlns:a="http://schemas.openxmlformats.org/drawingml/2006/main">
              <a:ext uri="{FF2B5EF4-FFF2-40B4-BE49-F238E27FC236}">
                <a16:creationId xmlns:a16="http://schemas.microsoft.com/office/drawing/2014/main" id="{01D7B6DB-384F-4E15-AE8B-E8B7EC6B1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52900"/>
            <a:ext cx="4819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row[x_start : x_end]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6A2F6C-F156-40EE-9082-EA5D5E442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057650"/>
            <a:ext cx="2857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6" name="crop(image, 1, 3)">
            <a:extLst xmlns:a="http://schemas.openxmlformats.org/drawingml/2006/main">
              <a:ext uri="{FF2B5EF4-FFF2-40B4-BE49-F238E27FC236}">
                <a16:creationId xmlns:a16="http://schemas.microsoft.com/office/drawing/2014/main" id="{D99D9605-FA79-4738-99EC-0F4566841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4095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217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crop(image, 1, 3)</a:t>
            </a:r>
          </a:p>
        </p:txBody>
      </p:sp>
      <p:sp>
        <p:nvSpPr>
          <p:cNvPr id="17" name="너비 3 → 계약대로 너비 2">
            <a:extLst xmlns:a="http://schemas.openxmlformats.org/drawingml/2006/main">
              <a:ext uri="{FF2B5EF4-FFF2-40B4-BE49-F238E27FC236}">
                <a16:creationId xmlns:a16="http://schemas.microsoft.com/office/drawing/2014/main" id="{893EFAC4-3A19-4BEA-A96C-C4A779705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095875"/>
            <a:ext cx="6496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너비 3 → 계약대로 너비 2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A88A78FA-68B7-4E27-8380-B42CCCF8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2123783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1 · 수정 뒤 확인한 것">
            <a:extLst xmlns:a="http://schemas.openxmlformats.org/drawingml/2006/main">
              <a:ext uri="{FF2B5EF4-FFF2-40B4-BE49-F238E27FC236}">
                <a16:creationId xmlns:a16="http://schemas.microsoft.com/office/drawing/2014/main" id="{791FC188-10C8-4B9F-91DF-6C2F7E352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수정 뒤 확인한 것</a:t>
            </a:r>
          </a:p>
        </p:txBody>
      </p:sp>
      <p:sp>
        <p:nvSpPr>
          <p:cNvPr id="2" name="S17">
            <a:extLst xmlns:a="http://schemas.openxmlformats.org/drawingml/2006/main">
              <a:ext uri="{FF2B5EF4-FFF2-40B4-BE49-F238E27FC236}">
                <a16:creationId xmlns:a16="http://schemas.microsoft.com/office/drawing/2014/main" id="{39D01D7E-DA50-42FD-94E7-E080720C8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S17</a:t>
            </a:r>
          </a:p>
        </p:txBody>
      </p:sp>
      <p:sp>
        <p:nvSpPr>
          <p:cNvPr id="3" name="변경 결과와 확인 증거">
            <a:extLst xmlns:a="http://schemas.openxmlformats.org/drawingml/2006/main">
              <a:ext uri="{FF2B5EF4-FFF2-40B4-BE49-F238E27FC236}">
                <a16:creationId xmlns:a16="http://schemas.microsoft.com/office/drawing/2014/main" id="{A1E11715-2930-409E-A8F5-8AD351BB9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결과와 확인 증거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1820D2-EA89-4DA1-A7FB-7ABF5E018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2 기록 요약 · 단일 Codex CLI 실행 · STATE-00-FIXED">
            <a:extLst xmlns:a="http://schemas.openxmlformats.org/drawingml/2006/main">
              <a:ext uri="{FF2B5EF4-FFF2-40B4-BE49-F238E27FC236}">
                <a16:creationId xmlns:a16="http://schemas.microsoft.com/office/drawing/2014/main" id="{E2CFAFAF-B70F-49B6-A562-6B7126AA9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TRIAL-002 기록 요약 · 단일 Codex CLI 실행 · STATE-00-FIXED</a:t>
            </a:r>
          </a:p>
        </p:txBody>
      </p:sp>
      <p:sp>
        <p:nvSpPr>
          <p:cNvPr id="6" name="해당 테스트·입력·수정 범위의 확인입니다. 성능 benchmark는 수행하지 않았습니다.">
            <a:extLst xmlns:a="http://schemas.openxmlformats.org/drawingml/2006/main">
              <a:ext uri="{FF2B5EF4-FFF2-40B4-BE49-F238E27FC236}">
                <a16:creationId xmlns:a16="http://schemas.microsoft.com/office/drawing/2014/main" id="{3D1D174D-F264-4D53-B896-445F9EC78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해당 테스트·입력·수정 범위의 확인입니다. 성능 benchmark는 수행하지 않았습니다.</a:t>
            </a:r>
          </a:p>
        </p:txBody>
      </p:sp>
      <p:sp>
        <p:nvSpPr>
          <p:cNvPr id="7" name="동작 확인">
            <a:extLst xmlns:a="http://schemas.openxmlformats.org/drawingml/2006/main">
              <a:ext uri="{FF2B5EF4-FFF2-40B4-BE49-F238E27FC236}">
                <a16:creationId xmlns:a16="http://schemas.microsoft.com/office/drawing/2014/main" id="{E1B5DD06-480E-4CBD-8F2C-88297A94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동작 확인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430510-533A-48A4-A940-67737AA1C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908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3 / 3">
            <a:extLst xmlns:a="http://schemas.openxmlformats.org/drawingml/2006/main">
              <a:ext uri="{FF2B5EF4-FFF2-40B4-BE49-F238E27FC236}">
                <a16:creationId xmlns:a16="http://schemas.microsoft.com/office/drawing/2014/main" id="{C9B64DF8-515A-41A0-BFA3-564872C6C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3429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3 / 3</a:t>
            </a:r>
          </a:p>
        </p:txBody>
      </p:sp>
      <p:sp>
        <p:nvSpPr>
          <p:cNvPr id="10" name="crop 집중 테스트">
            <a:extLst xmlns:a="http://schemas.openxmlformats.org/drawingml/2006/main">
              <a:ext uri="{FF2B5EF4-FFF2-40B4-BE49-F238E27FC236}">
                <a16:creationId xmlns:a16="http://schemas.microsoft.com/office/drawing/2014/main" id="{59102FF0-68A5-4AC7-B05A-724D8371E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3429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집중 테스트</a:t>
            </a:r>
          </a:p>
        </p:txBody>
      </p:sp>
      <p:sp>
        <p:nvSpPr>
          <p:cNvPr id="11" name="전체 suite 11 / 11 통과">
            <a:extLst xmlns:a="http://schemas.openxmlformats.org/drawingml/2006/main">
              <a:ext uri="{FF2B5EF4-FFF2-40B4-BE49-F238E27FC236}">
                <a16:creationId xmlns:a16="http://schemas.microsoft.com/office/drawing/2014/main" id="{91384B39-D09E-42F6-B0BD-4ADFC8141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전체 suite 11 / 11 통과</a:t>
            </a:r>
          </a:p>
        </p:txBody>
      </p:sp>
      <p:sp>
        <p:nvSpPr>
          <p:cNvPr id="12" name="실행 확인">
            <a:extLst xmlns:a="http://schemas.openxmlformats.org/drawingml/2006/main">
              <a:ext uri="{FF2B5EF4-FFF2-40B4-BE49-F238E27FC236}">
                <a16:creationId xmlns:a16="http://schemas.microsoft.com/office/drawing/2014/main" id="{F2C02E7D-06B1-4321-8318-BBB9CD7CC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0027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실행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070A8A-480D-4AC1-935B-C32F1AA30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908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PASS">
            <a:extLst xmlns:a="http://schemas.openxmlformats.org/drawingml/2006/main">
              <a:ext uri="{FF2B5EF4-FFF2-40B4-BE49-F238E27FC236}">
                <a16:creationId xmlns:a16="http://schemas.microsoft.com/office/drawing/2014/main" id="{7C6BAFFE-5AD0-42E0-9E39-1BE3CCBA6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048000"/>
            <a:ext cx="3429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PASS</a:t>
            </a:r>
          </a:p>
        </p:txBody>
      </p:sp>
      <p:sp>
        <p:nvSpPr>
          <p:cNvPr id="15" name="CLI smoke">
            <a:extLst xmlns:a="http://schemas.openxmlformats.org/drawingml/2006/main">
              <a:ext uri="{FF2B5EF4-FFF2-40B4-BE49-F238E27FC236}">
                <a16:creationId xmlns:a16="http://schemas.microsoft.com/office/drawing/2014/main" id="{BC5BD038-3C26-4EA7-AFD0-69B775121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191000"/>
            <a:ext cx="3429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CLI smoke</a:t>
            </a:r>
          </a:p>
        </p:txBody>
      </p:sp>
      <p:sp>
        <p:nvSpPr>
          <p:cNvPr id="16" name="기록된 샘플의 실행 경로">
            <a:extLst xmlns:a="http://schemas.openxmlformats.org/drawingml/2006/main">
              <a:ext uri="{FF2B5EF4-FFF2-40B4-BE49-F238E27FC236}">
                <a16:creationId xmlns:a16="http://schemas.microsoft.com/office/drawing/2014/main" id="{BF043013-08BB-4DCA-8383-3E8AE9075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90537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기록된 샘플의 실행 경로</a:t>
            </a:r>
          </a:p>
        </p:txBody>
      </p:sp>
      <p:sp>
        <p:nvSpPr>
          <p:cNvPr id="17" name="범위 확인">
            <a:extLst xmlns:a="http://schemas.openxmlformats.org/drawingml/2006/main">
              <a:ext uri="{FF2B5EF4-FFF2-40B4-BE49-F238E27FC236}">
                <a16:creationId xmlns:a16="http://schemas.microsoft.com/office/drawing/2014/main" id="{8633A255-5A40-4C87-A19C-FD9232E5A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0027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범위 확인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F68CB9-495E-4611-AD13-490280751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7908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1줄">
            <a:extLst xmlns:a="http://schemas.openxmlformats.org/drawingml/2006/main">
              <a:ext uri="{FF2B5EF4-FFF2-40B4-BE49-F238E27FC236}">
                <a16:creationId xmlns:a16="http://schemas.microsoft.com/office/drawing/2014/main" id="{E56B50BC-8F86-41D5-AF66-3C4C25B08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48000"/>
            <a:ext cx="3429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1줄</a:t>
            </a:r>
          </a:p>
        </p:txBody>
      </p:sp>
      <p:sp>
        <p:nvSpPr>
          <p:cNvPr id="20" name="한 파일의 crop 구현">
            <a:extLst xmlns:a="http://schemas.openxmlformats.org/drawingml/2006/main">
              <a:ext uri="{FF2B5EF4-FFF2-40B4-BE49-F238E27FC236}">
                <a16:creationId xmlns:a16="http://schemas.microsoft.com/office/drawing/2014/main" id="{ED3FD9C5-5F49-4B21-9C6C-7ECA43D48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191000"/>
            <a:ext cx="3429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한 파일의 crop 구현</a:t>
            </a:r>
          </a:p>
        </p:txBody>
      </p:sp>
      <p:sp>
        <p:nvSpPr>
          <p:cNvPr id="21" name="git diff --check 통과">
            <a:extLst xmlns:a="http://schemas.openxmlformats.org/drawingml/2006/main">
              <a:ext uri="{FF2B5EF4-FFF2-40B4-BE49-F238E27FC236}">
                <a16:creationId xmlns:a16="http://schemas.microsoft.com/office/drawing/2014/main" id="{5A0BD5F2-8147-49B7-AA63-700582D9D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90537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git diff --check 통과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D1B973A-B7C6-455F-8D9C-B142249C9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99147728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1 · 생성 뒤에 남는 판단">
            <a:extLst xmlns:a="http://schemas.openxmlformats.org/drawingml/2006/main">
              <a:ext uri="{FF2B5EF4-FFF2-40B4-BE49-F238E27FC236}">
                <a16:creationId xmlns:a16="http://schemas.microsoft.com/office/drawing/2014/main" id="{BC421CE6-42EC-4140-BBAE-02CFA4F6A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생성 뒤에 남는 판단</a:t>
            </a:r>
          </a:p>
        </p:txBody>
      </p:sp>
      <p:sp>
        <p:nvSpPr>
          <p:cNvPr id="2" name="S18">
            <a:extLst xmlns:a="http://schemas.openxmlformats.org/drawingml/2006/main">
              <a:ext uri="{FF2B5EF4-FFF2-40B4-BE49-F238E27FC236}">
                <a16:creationId xmlns:a16="http://schemas.microsoft.com/office/drawing/2014/main" id="{AE3113EA-4E84-460F-82A7-8DE3F7A4A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S18</a:t>
            </a:r>
          </a:p>
        </p:txBody>
      </p:sp>
      <p:sp>
        <p:nvSpPr>
          <p:cNvPr id="3" name="Generated ≠ Done">
            <a:extLst xmlns:a="http://schemas.openxmlformats.org/drawingml/2006/main">
              <a:ext uri="{FF2B5EF4-FFF2-40B4-BE49-F238E27FC236}">
                <a16:creationId xmlns:a16="http://schemas.microsoft.com/office/drawing/2014/main" id="{C6D4740D-DD3E-4CA6-81B1-A36FD73C2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Generated ≠ Done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72FA90-4CE3-4608-9C73-FDB67AEF1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결과 인계 예 · TRIAL-002 기록 재구성 · 실제 PR 원문이 아님">
            <a:extLst xmlns:a="http://schemas.openxmlformats.org/drawingml/2006/main">
              <a:ext uri="{FF2B5EF4-FFF2-40B4-BE49-F238E27FC236}">
                <a16:creationId xmlns:a16="http://schemas.microsoft.com/office/drawing/2014/main" id="{5E24623B-8D16-45CF-BEB2-477E0C774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결과 인계 예 · TRIAL-002 기록 재구성 · 실제 PR 원문이 아님</a:t>
            </a:r>
          </a:p>
        </p:txBody>
      </p:sp>
      <p:sp>
        <p:nvSpPr>
          <p:cNvPr id="6" name="검사는 주장과 위험에 맞춰 선택합니다. TRIAL-002에서 benchmark는 수행하지 않았습니다.">
            <a:extLst xmlns:a="http://schemas.openxmlformats.org/drawingml/2006/main">
              <a:ext uri="{FF2B5EF4-FFF2-40B4-BE49-F238E27FC236}">
                <a16:creationId xmlns:a16="http://schemas.microsoft.com/office/drawing/2014/main" id="{B70BB207-DBF1-4B88-A3FF-8127E3498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검사는 주장과 위험에 맞춰 선택합니다. TRIAL-002에서 benchmark는 수행하지 않았습니다.</a:t>
            </a:r>
          </a:p>
        </p:txBody>
      </p:sp>
      <p:sp>
        <p:nvSpPr>
          <p:cNvPr id="7" name="코드가 나왔다">
            <a:extLst xmlns:a="http://schemas.openxmlformats.org/drawingml/2006/main">
              <a:ext uri="{FF2B5EF4-FFF2-40B4-BE49-F238E27FC236}">
                <a16:creationId xmlns:a16="http://schemas.microsoft.com/office/drawing/2014/main" id="{85974AC3-3829-4338-BE6C-E2C196B34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3619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코드가 나왔다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931898-51E6-4406-96FF-0AE9CCDFC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095500"/>
            <a:ext cx="762000" cy="2952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9" name="완료라고 말할 수 있나?">
            <a:extLst xmlns:a="http://schemas.openxmlformats.org/drawingml/2006/main">
              <a:ext uri="{FF2B5EF4-FFF2-40B4-BE49-F238E27FC236}">
                <a16:creationId xmlns:a16="http://schemas.microsoft.com/office/drawing/2014/main" id="{3E0059D9-7E2C-46E1-9532-5EE6DA52E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5257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완료라고 말할 수 있나?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4B9522-B6CC-42E1-A318-0DA4BFDF9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717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변경 이유·범위">
            <a:extLst xmlns:a="http://schemas.openxmlformats.org/drawingml/2006/main">
              <a:ext uri="{FF2B5EF4-FFF2-40B4-BE49-F238E27FC236}">
                <a16:creationId xmlns:a16="http://schemas.microsoft.com/office/drawing/2014/main" id="{9E8708BA-AFC4-48B2-8A04-4CB438B82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67025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변경 이유·범위</a:t>
            </a:r>
          </a:p>
        </p:txBody>
      </p:sp>
      <p:sp>
        <p:nvSpPr>
          <p:cNvPr id="12" name="끝 좌표 계약에 맞춰 crop 구현 1줄 수정">
            <a:extLst xmlns:a="http://schemas.openxmlformats.org/drawingml/2006/main">
              <a:ext uri="{FF2B5EF4-FFF2-40B4-BE49-F238E27FC236}">
                <a16:creationId xmlns:a16="http://schemas.microsoft.com/office/drawing/2014/main" id="{999EB37B-8E99-4AB8-A900-D87531420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867025"/>
            <a:ext cx="796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끝 좌표 계약에 맞춰 crop 구현 1줄 수정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2B74F1-1600-4E9F-B77A-6660D9A11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검증 근거·결과">
            <a:extLst xmlns:a="http://schemas.openxmlformats.org/drawingml/2006/main">
              <a:ext uri="{FF2B5EF4-FFF2-40B4-BE49-F238E27FC236}">
                <a16:creationId xmlns:a16="http://schemas.microsoft.com/office/drawing/2014/main" id="{C5B5BE35-EB8F-4088-A4AA-B1B1FF98D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 근거·결과</a:t>
            </a:r>
          </a:p>
        </p:txBody>
      </p:sp>
      <p:sp>
        <p:nvSpPr>
          <p:cNvPr id="15" name="집중 3/3 · 전체 11/11 · CLI smoke · diff">
            <a:extLst xmlns:a="http://schemas.openxmlformats.org/drawingml/2006/main">
              <a:ext uri="{FF2B5EF4-FFF2-40B4-BE49-F238E27FC236}">
                <a16:creationId xmlns:a16="http://schemas.microsoft.com/office/drawing/2014/main" id="{2E4C2C58-C872-470A-AE2A-43679FFCB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438525"/>
            <a:ext cx="796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집중 3/3 · 전체 11/11 · CLI smoke · diff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A33687-E837-467A-A3C0-D025DA00F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147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미확인 사항">
            <a:extLst xmlns:a="http://schemas.openxmlformats.org/drawingml/2006/main">
              <a:ext uri="{FF2B5EF4-FFF2-40B4-BE49-F238E27FC236}">
                <a16:creationId xmlns:a16="http://schemas.microsoft.com/office/drawing/2014/main" id="{E3F634A8-73FB-49B7-AC3D-967B0D896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미확인 사항</a:t>
            </a:r>
          </a:p>
        </p:txBody>
      </p:sp>
      <p:sp>
        <p:nvSpPr>
          <p:cNvPr id="18" name="성능 미측정 · 현재 Desktop 동작 미검증">
            <a:extLst xmlns:a="http://schemas.openxmlformats.org/drawingml/2006/main">
              <a:ext uri="{FF2B5EF4-FFF2-40B4-BE49-F238E27FC236}">
                <a16:creationId xmlns:a16="http://schemas.microsoft.com/office/drawing/2014/main" id="{C2054517-1094-41C8-8AEA-EFE94AAEB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010025"/>
            <a:ext cx="796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미측정 · 현재 Desktop 동작 미검증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34C028-5020-43D8-B909-2710F9035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862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사람의 수용 판단">
            <a:extLst xmlns:a="http://schemas.openxmlformats.org/drawingml/2006/main">
              <a:ext uri="{FF2B5EF4-FFF2-40B4-BE49-F238E27FC236}">
                <a16:creationId xmlns:a16="http://schemas.microsoft.com/office/drawing/2014/main" id="{1E84A160-2F74-47E4-927E-0B9E17785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81525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사람의 수용 판단</a:t>
            </a:r>
          </a:p>
        </p:txBody>
      </p:sp>
      <p:sp>
        <p:nvSpPr>
          <p:cNvPr id="21" name="근거와 남은 위험을 보고 완료 여부 결정">
            <a:extLst xmlns:a="http://schemas.openxmlformats.org/drawingml/2006/main">
              <a:ext uri="{FF2B5EF4-FFF2-40B4-BE49-F238E27FC236}">
                <a16:creationId xmlns:a16="http://schemas.microsoft.com/office/drawing/2014/main" id="{7A385EC9-FD5C-4FE2-9990-D9F5ECE28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581525"/>
            <a:ext cx="796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근거와 남은 위험을 보고 완료 여부 결정</a:t>
            </a:r>
          </a:p>
        </p:txBody>
      </p:sp>
      <p:sp>
        <p:nvSpPr>
          <p:cNvPr id="22" name="“더 빨라졌다”고 말하려면 → 해당 조건의 성능 측정도 필요">
            <a:extLst xmlns:a="http://schemas.openxmlformats.org/drawingml/2006/main">
              <a:ext uri="{FF2B5EF4-FFF2-40B4-BE49-F238E27FC236}">
                <a16:creationId xmlns:a16="http://schemas.microsoft.com/office/drawing/2014/main" id="{B02B292C-8357-409C-8BCA-2944619A1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2447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“더 빨라졌다”고 말하려면 → 해당 조건의 성능 측정도 필요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905D09E-604F-4AAB-A617-730745F11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M1 · M2 · M5 · M6</a:t>
            </a:r>
          </a:p>
        </p:txBody>
      </p:sp>
    </p:spTree>
    <p:extLst>
      <p:ext uri="{BB962C8B-B14F-4D97-AF65-F5344CB8AC3E}">
        <p14:creationId xmlns:p14="http://schemas.microsoft.com/office/powerpoint/2010/main" val="8162537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ACT 1 · 근거에 맞춰 말하기">
            <a:extLst xmlns:a="http://schemas.openxmlformats.org/drawingml/2006/main">
              <a:ext uri="{FF2B5EF4-FFF2-40B4-BE49-F238E27FC236}">
                <a16:creationId xmlns:a16="http://schemas.microsoft.com/office/drawing/2014/main" id="{A685B8AA-71AB-4742-AE8A-F08F5087B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근거에 맞춰 말하기</a:t>
            </a:r>
          </a:p>
        </p:txBody>
      </p:sp>
      <p:sp>
        <p:nvSpPr>
          <p:cNvPr id="2" name="S19">
            <a:extLst xmlns:a="http://schemas.openxmlformats.org/drawingml/2006/main">
              <a:ext uri="{FF2B5EF4-FFF2-40B4-BE49-F238E27FC236}">
                <a16:creationId xmlns:a16="http://schemas.microsoft.com/office/drawing/2014/main" id="{4CCB7FD2-3B4E-4F4E-AD5B-4B3004DCC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S19</a:t>
            </a:r>
          </a:p>
        </p:txBody>
      </p:sp>
      <p:sp>
        <p:nvSpPr>
          <p:cNvPr id="3" name="Check마다 확인하는 범위">
            <a:extLst xmlns:a="http://schemas.openxmlformats.org/drawingml/2006/main">
              <a:ext uri="{FF2B5EF4-FFF2-40B4-BE49-F238E27FC236}">
                <a16:creationId xmlns:a16="http://schemas.microsoft.com/office/drawing/2014/main" id="{120776EA-D0DD-4137-8294-8A1C2C600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Check마다 확인하는 범위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1C9104-7065-47BA-B26C-B4D2DA8B1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2 실제 확인: 집중·전체 테스트 / CLI smoke / diff · 검사 비교는 교육용 재">
            <a:extLst xmlns:a="http://schemas.openxmlformats.org/drawingml/2006/main">
              <a:ext uri="{FF2B5EF4-FFF2-40B4-BE49-F238E27FC236}">
                <a16:creationId xmlns:a16="http://schemas.microsoft.com/office/drawing/2014/main" id="{A789782F-8D0E-42EB-9905-75014290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TRIAL-002 실제 확인: 집중·전체 테스트 / CLI smoke / diff · 검사 비교는 교육용 재구성</a:t>
            </a:r>
          </a:p>
        </p:txBody>
      </p:sp>
      <p:sp>
        <p:nvSpPr>
          <p:cNvPr id="6" name="Benchmark는 이 Trial에서 미실행. 검사 비교는 새 테스트 실행이나 PASS 결과가 아닙니다.">
            <a:extLst xmlns:a="http://schemas.openxmlformats.org/drawingml/2006/main">
              <a:ext uri="{FF2B5EF4-FFF2-40B4-BE49-F238E27FC236}">
                <a16:creationId xmlns:a16="http://schemas.microsoft.com/office/drawing/2014/main" id="{0E7A6503-09AE-4C53-B7A8-D41E51D06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Benchmark는 이 Trial에서 미실행. 검사 비교는 새 테스트 실행이나 PASS 결과가 아닙니다.</a:t>
            </a:r>
          </a:p>
        </p:txBody>
      </p:sp>
      <p:sp>
        <p:nvSpPr>
          <p:cNvPr id="7" name="확인 방법">
            <a:extLst xmlns:a="http://schemas.openxmlformats.org/drawingml/2006/main">
              <a:ext uri="{FF2B5EF4-FFF2-40B4-BE49-F238E27FC236}">
                <a16:creationId xmlns:a16="http://schemas.microsoft.com/office/drawing/2014/main" id="{2A2B88F9-10D8-4022-A8C7-23A81253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76425"/>
            <a:ext cx="3619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확인 방법</a:t>
            </a:r>
          </a:p>
        </p:txBody>
      </p:sp>
      <p:sp>
        <p:nvSpPr>
          <p:cNvPr id="8" name="말할 수 있는 범위">
            <a:extLst xmlns:a="http://schemas.openxmlformats.org/drawingml/2006/main">
              <a:ext uri="{FF2B5EF4-FFF2-40B4-BE49-F238E27FC236}">
                <a16:creationId xmlns:a16="http://schemas.microsoft.com/office/drawing/2014/main" id="{6BE54089-1EBF-4299-9483-71C0C3FF5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876425"/>
            <a:ext cx="7200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말할 수 있는 범위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149DE7-5318-40DD-863E-8652A7F2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집중 테스트">
            <a:extLst xmlns:a="http://schemas.openxmlformats.org/drawingml/2006/main">
              <a:ext uri="{FF2B5EF4-FFF2-40B4-BE49-F238E27FC236}">
                <a16:creationId xmlns:a16="http://schemas.microsoft.com/office/drawing/2014/main" id="{37C6AC7B-14AC-4710-9A14-34DD8A598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집중 테스트</a:t>
            </a:r>
          </a:p>
        </p:txBody>
      </p:sp>
      <p:sp>
        <p:nvSpPr>
          <p:cNvPr id="11" name="바뀐 동작의 해당 테스트 조건">
            <a:extLst xmlns:a="http://schemas.openxmlformats.org/drawingml/2006/main">
              <a:ext uri="{FF2B5EF4-FFF2-40B4-BE49-F238E27FC236}">
                <a16:creationId xmlns:a16="http://schemas.microsoft.com/office/drawing/2014/main" id="{FB7E9644-3614-48A7-9FCD-A60BA565D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43150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바뀐 동작의 해당 테스트 조건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83C04A-C167-4902-80D2-BBAB56720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전체 테스트">
            <a:extLst xmlns:a="http://schemas.openxmlformats.org/drawingml/2006/main">
              <a:ext uri="{FF2B5EF4-FFF2-40B4-BE49-F238E27FC236}">
                <a16:creationId xmlns:a16="http://schemas.microsoft.com/office/drawing/2014/main" id="{B729417F-5279-456A-85BE-574168EF4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전체 테스트</a:t>
            </a:r>
          </a:p>
        </p:txBody>
      </p:sp>
      <p:sp>
        <p:nvSpPr>
          <p:cNvPr id="14" name="현재 suite에 담긴 회귀 범위">
            <a:extLst xmlns:a="http://schemas.openxmlformats.org/drawingml/2006/main">
              <a:ext uri="{FF2B5EF4-FFF2-40B4-BE49-F238E27FC236}">
                <a16:creationId xmlns:a16="http://schemas.microsoft.com/office/drawing/2014/main" id="{2BA25D6B-3E31-487B-84D3-98F1B39F9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81300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suite에 담긴 회귀 범위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184D3E-11F2-4541-9ACF-FAE0A2989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CLI smoke">
            <a:extLst xmlns:a="http://schemas.openxmlformats.org/drawingml/2006/main">
              <a:ext uri="{FF2B5EF4-FFF2-40B4-BE49-F238E27FC236}">
                <a16:creationId xmlns:a16="http://schemas.microsoft.com/office/drawing/2014/main" id="{4262FA4F-E290-4168-94F8-0DDED6B17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CLI smoke</a:t>
            </a:r>
          </a:p>
        </p:txBody>
      </p:sp>
      <p:sp>
        <p:nvSpPr>
          <p:cNvPr id="17" name="샘플 입력의 통합 실행 경로">
            <a:extLst xmlns:a="http://schemas.openxmlformats.org/drawingml/2006/main">
              <a:ext uri="{FF2B5EF4-FFF2-40B4-BE49-F238E27FC236}">
                <a16:creationId xmlns:a16="http://schemas.microsoft.com/office/drawing/2014/main" id="{B0C8C324-B63E-4D08-A90F-9256BE4AE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19450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샘플 입력의 통합 실행 경로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C6B0E8-0204-4A56-8423-7D2B6A91E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diff 검토">
            <a:extLst xmlns:a="http://schemas.openxmlformats.org/drawingml/2006/main">
              <a:ext uri="{FF2B5EF4-FFF2-40B4-BE49-F238E27FC236}">
                <a16:creationId xmlns:a16="http://schemas.microsoft.com/office/drawing/2014/main" id="{F0C2FF39-1238-4649-88B0-62B3BE7C5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diff 검토</a:t>
            </a:r>
          </a:p>
        </p:txBody>
      </p:sp>
      <p:sp>
        <p:nvSpPr>
          <p:cNvPr id="20" name="변경 범위와 의도하지 않은 수정">
            <a:extLst xmlns:a="http://schemas.openxmlformats.org/drawingml/2006/main">
              <a:ext uri="{FF2B5EF4-FFF2-40B4-BE49-F238E27FC236}">
                <a16:creationId xmlns:a16="http://schemas.microsoft.com/office/drawing/2014/main" id="{D0D9638B-448E-4820-BC4A-8B9CF56D8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57600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범위와 의도하지 않은 수정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2C5A21-17A2-4694-B0BA-12A89385B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성능 측정">
            <a:extLst xmlns:a="http://schemas.openxmlformats.org/drawingml/2006/main">
              <a:ext uri="{FF2B5EF4-FFF2-40B4-BE49-F238E27FC236}">
                <a16:creationId xmlns:a16="http://schemas.microsoft.com/office/drawing/2014/main" id="{BF281158-6C5D-4C62-8D84-FE4B5AA73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성능 측정</a:t>
            </a:r>
          </a:p>
        </p:txBody>
      </p:sp>
      <p:sp>
        <p:nvSpPr>
          <p:cNvPr id="23" name="측정한 입력·환경에서의 성능">
            <a:extLst xmlns:a="http://schemas.openxmlformats.org/drawingml/2006/main">
              <a:ext uri="{FF2B5EF4-FFF2-40B4-BE49-F238E27FC236}">
                <a16:creationId xmlns:a16="http://schemas.microsoft.com/office/drawing/2014/main" id="{E14C2E66-25F2-42FF-9499-5B79F0C6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95750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측정한 입력·환경에서의 성능</a:t>
            </a:r>
          </a:p>
        </p:txBody>
      </p:sp>
      <p:sp>
        <p:nvSpPr>
          <p:cNvPr id="24" name="4열 입력 · crop 1 3의 끝 좌표 계약을 확인한다면">
            <a:extLst xmlns:a="http://schemas.openxmlformats.org/drawingml/2006/main">
              <a:ext uri="{FF2B5EF4-FFF2-40B4-BE49-F238E27FC236}">
                <a16:creationId xmlns:a16="http://schemas.microsoft.com/office/drawing/2014/main" id="{E7D1F263-262B-47B8-A103-830918243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4열 입력 · crop 1 3의 끝 좌표 계약을 확인한다면</a:t>
            </a:r>
          </a:p>
        </p:txBody>
      </p:sp>
      <p:sp>
        <p:nvSpPr>
          <p:cNvPr id="25" name="비어 있지 않음">
            <a:extLst xmlns:a="http://schemas.openxmlformats.org/drawingml/2006/main">
              <a:ext uri="{FF2B5EF4-FFF2-40B4-BE49-F238E27FC236}">
                <a16:creationId xmlns:a16="http://schemas.microsoft.com/office/drawing/2014/main" id="{7EC547BA-1EDF-49D9-AE0F-B73320105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비어 있지 않음</a:t>
            </a:r>
          </a:p>
        </p:txBody>
      </p:sp>
      <p:sp>
        <p:nvSpPr>
          <p:cNvPr id="26" name="잘못된 3열 결과도 만족할 수 있음">
            <a:extLst xmlns:a="http://schemas.openxmlformats.org/drawingml/2006/main">
              <a:ext uri="{FF2B5EF4-FFF2-40B4-BE49-F238E27FC236}">
                <a16:creationId xmlns:a16="http://schemas.microsoft.com/office/drawing/2014/main" id="{EB75D642-AAA3-409B-8DAD-8826CC954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잘못된 3열 결과도 만족할 수 있음</a:t>
            </a:r>
          </a:p>
        </p:txBody>
      </p:sp>
      <p:sp>
        <p:nvSpPr>
          <p:cNvPr id="27" name="원본 열 1·2, 폭 2">
            <a:extLst xmlns:a="http://schemas.openxmlformats.org/drawingml/2006/main">
              <a:ext uri="{FF2B5EF4-FFF2-40B4-BE49-F238E27FC236}">
                <a16:creationId xmlns:a16="http://schemas.microsoft.com/office/drawing/2014/main" id="{83F1F6CD-E316-4684-BE76-921FACE97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01015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원본 열 1·2, 폭 2</a:t>
            </a:r>
          </a:p>
        </p:txBody>
      </p:sp>
      <p:sp>
        <p:nvSpPr>
          <p:cNvPr id="28" name="끝 좌표 제외 계약을 직접 확인">
            <a:extLst xmlns:a="http://schemas.openxmlformats.org/drawingml/2006/main">
              <a:ext uri="{FF2B5EF4-FFF2-40B4-BE49-F238E27FC236}">
                <a16:creationId xmlns:a16="http://schemas.microsoft.com/office/drawing/2014/main" id="{1D83D2E1-2E95-49DA-8349-EEB8A7B9B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53050"/>
            <a:ext cx="487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끝 좌표 제외 계약을 직접 확인</a:t>
            </a:r>
          </a:p>
        </p:txBody>
      </p:sp>
      <p:sp>
        <p:nvSpPr>
          <p:cNvPr id="2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2C2F5CA-5FE8-4C19-AEEE-F76A53F90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48467395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T 1 · 반복해서 쓰는 정보 돌아보기">
            <a:extLst xmlns:a="http://schemas.openxmlformats.org/drawingml/2006/main">
              <a:ext uri="{FF2B5EF4-FFF2-40B4-BE49-F238E27FC236}">
                <a16:creationId xmlns:a16="http://schemas.microsoft.com/office/drawing/2014/main" id="{86754EA9-7EE2-4547-9B78-ACD80585A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반복해서 쓰는 정보 돌아보기</a:t>
            </a:r>
          </a:p>
        </p:txBody>
      </p:sp>
      <p:sp>
        <p:nvSpPr>
          <p:cNvPr id="2" name="S20">
            <a:extLst xmlns:a="http://schemas.openxmlformats.org/drawingml/2006/main">
              <a:ext uri="{FF2B5EF4-FFF2-40B4-BE49-F238E27FC236}">
                <a16:creationId xmlns:a16="http://schemas.microsoft.com/office/drawing/2014/main" id="{28AF44DF-D1A3-4FFD-AB8F-AB7A8FA1E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S20</a:t>
            </a:r>
          </a:p>
        </p:txBody>
      </p:sp>
      <p:sp>
        <p:nvSpPr>
          <p:cNvPr id="3" name="이번 Task인가,&#10;계속 유지할 Project 정보인가?">
            <a:extLst xmlns:a="http://schemas.openxmlformats.org/drawingml/2006/main">
              <a:ext uri="{FF2B5EF4-FFF2-40B4-BE49-F238E27FC236}">
                <a16:creationId xmlns:a16="http://schemas.microsoft.com/office/drawing/2014/main" id="{F6DC7D97-4449-4C50-8D6F-919A9834D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Task인가,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계속 유지할 Project 정보인가?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BB82A9-4DA0-430E-86AC-76D10E33B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생각해 보기 · 이 과정의 교육 모델">
            <a:extLst xmlns:a="http://schemas.openxmlformats.org/drawingml/2006/main">
              <a:ext uri="{FF2B5EF4-FFF2-40B4-BE49-F238E27FC236}">
                <a16:creationId xmlns:a16="http://schemas.microsoft.com/office/drawing/2014/main" id="{BFF6D7F7-DC68-4371-ADFC-B1D11BDED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생각해 보기 · 이 과정의 교육 모델</a:t>
            </a:r>
          </a:p>
        </p:txBody>
      </p:sp>
      <p:sp>
        <p:nvSpPr>
          <p:cNvPr id="6" name="1분 동안 개인적으로 생각한 뒤 2분간 자발적인 질문을 받습니다.">
            <a:extLst xmlns:a="http://schemas.openxmlformats.org/drawingml/2006/main">
              <a:ext uri="{FF2B5EF4-FFF2-40B4-BE49-F238E27FC236}">
                <a16:creationId xmlns:a16="http://schemas.microsoft.com/office/drawing/2014/main" id="{43D88B81-69B0-4DA8-AA67-E5B0D2D24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1분 동안 개인적으로 생각한 뒤 2분간 자발적인 질문을 받습니다.</a:t>
            </a:r>
          </a:p>
        </p:txBody>
      </p:sp>
      <p:sp>
        <p:nvSpPr>
          <p:cNvPr id="7" name="테스트·보존 조건처럼, 반복해서 쓴 문장을 떠올려 보세요.">
            <a:extLst xmlns:a="http://schemas.openxmlformats.org/drawingml/2006/main">
              <a:ext uri="{FF2B5EF4-FFF2-40B4-BE49-F238E27FC236}">
                <a16:creationId xmlns:a16="http://schemas.microsoft.com/office/drawing/2014/main" id="{4C189D8C-D475-451D-9185-7F5E31526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19325"/>
            <a:ext cx="10972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테스트·보존 조건처럼, 반복해서 쓴 문장을 떠올려 보세요.</a:t>
            </a:r>
          </a:p>
        </p:txBody>
      </p:sp>
      <p:sp>
        <p:nvSpPr>
          <p:cNvPr id="8" name="이번 작업에만?">
            <a:extLst xmlns:a="http://schemas.openxmlformats.org/drawingml/2006/main">
              <a:ext uri="{FF2B5EF4-FFF2-40B4-BE49-F238E27FC236}">
                <a16:creationId xmlns:a16="http://schemas.microsoft.com/office/drawing/2014/main" id="{9BA00267-4872-4992-8678-E5FE288B6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5162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작업에만?</a:t>
            </a:r>
          </a:p>
        </p:txBody>
      </p:sp>
      <p:sp>
        <p:nvSpPr>
          <p:cNvPr id="9" name="다음 작업에도?">
            <a:extLst xmlns:a="http://schemas.openxmlformats.org/drawingml/2006/main">
              <a:ext uri="{FF2B5EF4-FFF2-40B4-BE49-F238E27FC236}">
                <a16:creationId xmlns:a16="http://schemas.microsoft.com/office/drawing/2014/main" id="{65C355C8-820B-401B-A918-213CCD660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81375"/>
            <a:ext cx="4876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작업에도?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2F5D9A-5DAA-4E10-84BE-DD8C9EC1D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9625"/>
            <a:ext cx="5162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0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04EF33-E70F-4195-936C-371FBFAAF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196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0DA"/>
            </a:solidFill>
            <a:prstDash val="solid"/>
          </a:ln>
        </p:spPr>
      </p:sp>
      <p:sp>
        <p:nvSpPr>
          <p:cNvPr id="12" name="어떤 정보가 계속 남아 있어야 할까요?">
            <a:extLst xmlns:a="http://schemas.openxmlformats.org/drawingml/2006/main">
              <a:ext uri="{FF2B5EF4-FFF2-40B4-BE49-F238E27FC236}">
                <a16:creationId xmlns:a16="http://schemas.microsoft.com/office/drawing/2014/main" id="{21AC7123-86EA-4C07-8935-03F90DCFF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01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정보가 계속 남아 있어야 할까요?</a:t>
            </a:r>
          </a:p>
        </p:txBody>
      </p:sp>
      <p:sp>
        <p:nvSpPr>
          <p:cNvPr id="1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913D78E0-B60D-4D0A-BB7F-88F5A9A9C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67069916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ACT 1 · 정보의 수명과 범위">
            <a:extLst xmlns:a="http://schemas.openxmlformats.org/drawingml/2006/main">
              <a:ext uri="{FF2B5EF4-FFF2-40B4-BE49-F238E27FC236}">
                <a16:creationId xmlns:a16="http://schemas.microsoft.com/office/drawing/2014/main" id="{94379F3C-ABE8-4073-9169-1AD44B10D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정보의 수명과 범위</a:t>
            </a:r>
          </a:p>
        </p:txBody>
      </p:sp>
      <p:sp>
        <p:nvSpPr>
          <p:cNvPr id="2" name="S21">
            <a:extLst xmlns:a="http://schemas.openxmlformats.org/drawingml/2006/main">
              <a:ext uri="{FF2B5EF4-FFF2-40B4-BE49-F238E27FC236}">
                <a16:creationId xmlns:a16="http://schemas.microsoft.com/office/drawing/2014/main" id="{861C4361-434F-42B1-A2D3-84DECCA4A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S21</a:t>
            </a:r>
          </a:p>
        </p:txBody>
      </p:sp>
      <p:sp>
        <p:nvSpPr>
          <p:cNvPr id="3" name="반복하는 설명을 두 범주로 나누기">
            <a:extLst xmlns:a="http://schemas.openxmlformats.org/drawingml/2006/main">
              <a:ext uri="{FF2B5EF4-FFF2-40B4-BE49-F238E27FC236}">
                <a16:creationId xmlns:a16="http://schemas.microsoft.com/office/drawing/2014/main" id="{98D1A684-2B97-44EB-AE36-EAF22C1B1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반복하는 설명을 두 범주로 나누기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0FD8DD-F24C-4230-8291-E1D9A3BC3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교육용 후보 예시 · 모든 프로젝트에 적용되는 유일한 분류가 아님">
            <a:extLst xmlns:a="http://schemas.openxmlformats.org/drawingml/2006/main">
              <a:ext uri="{FF2B5EF4-FFF2-40B4-BE49-F238E27FC236}">
                <a16:creationId xmlns:a16="http://schemas.microsoft.com/office/drawing/2014/main" id="{90790662-918D-49F4-90D3-9D7EE7C83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교육용 후보 예시 · 모든 프로젝트에 적용되는 유일한 분류가 아님</a:t>
            </a:r>
          </a:p>
        </p:txBody>
      </p:sp>
      <p:sp>
        <p:nvSpPr>
          <p:cNvPr id="6" name="다음 질문: Project 정보를 왜 매번 Prompt에 다시 적고 있을까요?">
            <a:extLst xmlns:a="http://schemas.openxmlformats.org/drawingml/2006/main">
              <a:ext uri="{FF2B5EF4-FFF2-40B4-BE49-F238E27FC236}">
                <a16:creationId xmlns:a16="http://schemas.microsoft.com/office/drawing/2014/main" id="{9C6509D8-83AA-4AC8-90EC-7D5B04E78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다음 질문: Project 정보를 왜 매번 Prompt에 다시 적고 있을까요?</a:t>
            </a:r>
          </a:p>
        </p:txBody>
      </p:sp>
      <p:sp>
        <p:nvSpPr>
          <p:cNvPr id="7" name="이번 Task">
            <a:extLst xmlns:a="http://schemas.openxmlformats.org/drawingml/2006/main">
              <a:ext uri="{FF2B5EF4-FFF2-40B4-BE49-F238E27FC236}">
                <a16:creationId xmlns:a16="http://schemas.microsoft.com/office/drawing/2014/main" id="{F5AB23EE-8E37-47B2-A7D9-19B3AB63E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24075"/>
            <a:ext cx="5162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Task</a:t>
            </a:r>
          </a:p>
        </p:txBody>
      </p:sp>
      <p:sp>
        <p:nvSpPr>
          <p:cNvPr id="8" name="계속 유지할 Project 정보">
            <a:extLst xmlns:a="http://schemas.openxmlformats.org/drawingml/2006/main">
              <a:ext uri="{FF2B5EF4-FFF2-40B4-BE49-F238E27FC236}">
                <a16:creationId xmlns:a16="http://schemas.microsoft.com/office/drawing/2014/main" id="{C99BAB6B-0ADF-4051-A7B7-F1FE454C3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24075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계속 유지할 Project 정보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ACFCD5-1B15-4484-B4C2-BA4462516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516255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crop 경계 수정&#10;이번에는 README만 수정">
            <a:extLst xmlns:a="http://schemas.openxmlformats.org/drawingml/2006/main">
              <a:ext uri="{FF2B5EF4-FFF2-40B4-BE49-F238E27FC236}">
                <a16:creationId xmlns:a16="http://schemas.microsoft.com/office/drawing/2014/main" id="{96E0109F-903D-4EF1-B41C-395FFFB6F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47815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수정</a:t>
            </a:r>
          </a:p>
          <a:p xmlns:a="http://schemas.openxmlformats.org/drawingml/2006/main">
            <a: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이번에는 README만 수정</a:t>
            </a:r>
          </a:p>
        </p:txBody>
      </p:sp>
      <p:sp>
        <p:nvSpPr>
          <p:cNvPr id="11" name="이번 목표에 적용할 후보">
            <a:extLst xmlns:a="http://schemas.openxmlformats.org/drawingml/2006/main">
              <a:ext uri="{FF2B5EF4-FFF2-40B4-BE49-F238E27FC236}">
                <a16:creationId xmlns:a16="http://schemas.microsoft.com/office/drawing/2014/main" id="{DD7BD2EF-12AC-4BA7-81CB-DB6C29640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51625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이번 목표에 적용할 후보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CF13CF-9DBF-49D1-BC2E-CD0724FF7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38450"/>
            <a:ext cx="48768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의존성 추가에는 작업상 근거 필요&#10;프로젝트 테스트 명령">
            <a:extLst xmlns:a="http://schemas.openxmlformats.org/drawingml/2006/main">
              <a:ext uri="{FF2B5EF4-FFF2-40B4-BE49-F238E27FC236}">
                <a16:creationId xmlns:a16="http://schemas.microsoft.com/office/drawing/2014/main" id="{DCED291C-A0E1-48D5-ADFB-1A6D2DBCD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067050"/>
            <a:ext cx="44958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의존성 추가에는 작업상 근거 필요</a:t>
            </a:r>
          </a:p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 테스트 명령</a:t>
            </a:r>
          </a:p>
        </p:txBody>
      </p:sp>
      <p:sp>
        <p:nvSpPr>
          <p:cNvPr id="14" name="여러 작업에서 참고할 후보">
            <a:extLst xmlns:a="http://schemas.openxmlformats.org/drawingml/2006/main">
              <a:ext uri="{FF2B5EF4-FFF2-40B4-BE49-F238E27FC236}">
                <a16:creationId xmlns:a16="http://schemas.microsoft.com/office/drawing/2014/main" id="{A58E0729-BC8F-4ED0-A33E-8433D604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800600"/>
            <a:ext cx="4876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여러 작업에서 참고할 후보</a:t>
            </a:r>
          </a:p>
        </p:txBody>
      </p:sp>
      <p:sp>
        <p:nvSpPr>
          <p:cNvPr id="15" name="정보마다 필요한 기간과 적용 범위가 다르다.">
            <a:extLst xmlns:a="http://schemas.openxmlformats.org/drawingml/2006/main">
              <a:ext uri="{FF2B5EF4-FFF2-40B4-BE49-F238E27FC236}">
                <a16:creationId xmlns:a16="http://schemas.microsoft.com/office/drawing/2014/main" id="{641D7665-65F7-4971-BB59-6709E6B77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정보마다 필요한 기간과 적용 범위가 다르다.</a:t>
            </a:r>
          </a:p>
        </p:txBody>
      </p:sp>
      <p:sp>
        <p:nvSpPr>
          <p:cNvPr id="16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9C9F7DCD-553F-4CE9-944B-F7117E272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63601016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2026-10-21T11:25:09.8750000Z</dcterms:created>
  <dcterms:modified xsi:type="dcterms:W3CDTF">2026-10-21T11:25:09.8750000Z</dcterms:modified>
</coreProperties>
</file>