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62c2d8bbdd4474" /><Relationship Type="http://schemas.openxmlformats.org/officeDocument/2006/relationships/extended-properties" Target="/docProps/app.xml" Id="R56903f6be4654583" /><Relationship Type="http://schemas.openxmlformats.org/officeDocument/2006/relationships/officeDocument" Target="/ppt/presentation.xml" Id="Rc6d8b5f575124afc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ad485d29c60440e"/>
  </p:sldMasterIdLst>
  <p:notesMasterIdLst>
    <p:notesMasterId xmlns:r="http://schemas.openxmlformats.org/officeDocument/2006/relationships" r:id="R1b53e6f5aec94bb7"/>
  </p:notesMasterIdLst>
  <p:sldIdLst>
    <p:sldId xmlns:r="http://schemas.openxmlformats.org/officeDocument/2006/relationships" id="256" r:id="R53b5f1c73613466b"/>
    <p:sldId xmlns:r="http://schemas.openxmlformats.org/officeDocument/2006/relationships" id="257" r:id="Rdb787b2679b34158"/>
    <p:sldId xmlns:r="http://schemas.openxmlformats.org/officeDocument/2006/relationships" id="258" r:id="R15ef2fdfc3fc4c66"/>
    <p:sldId xmlns:r="http://schemas.openxmlformats.org/officeDocument/2006/relationships" id="259" r:id="R4afab53e72394991"/>
    <p:sldId xmlns:r="http://schemas.openxmlformats.org/officeDocument/2006/relationships" id="260" r:id="R6991b2de36cf4574"/>
    <p:sldId xmlns:r="http://schemas.openxmlformats.org/officeDocument/2006/relationships" id="261" r:id="Reefe892a11634e6e"/>
    <p:sldId xmlns:r="http://schemas.openxmlformats.org/officeDocument/2006/relationships" id="262" r:id="Rc660046a4aee4b62"/>
    <p:sldId xmlns:r="http://schemas.openxmlformats.org/officeDocument/2006/relationships" id="263" r:id="R6671d30a9a674493"/>
    <p:sldId xmlns:r="http://schemas.openxmlformats.org/officeDocument/2006/relationships" id="264" r:id="R622f7f149fe64add"/>
    <p:sldId xmlns:r="http://schemas.openxmlformats.org/officeDocument/2006/relationships" id="265" r:id="Recccec0b02b94bcd"/>
    <p:sldId xmlns:r="http://schemas.openxmlformats.org/officeDocument/2006/relationships" id="266" r:id="Ra34cdac4f2ae4f66"/>
    <p:sldId xmlns:r="http://schemas.openxmlformats.org/officeDocument/2006/relationships" id="267" r:id="R24872ffc5e43470c"/>
    <p:sldId id="278" r:id="Rb6e196eb79bd4ac7"/>
    <p:sldId xmlns:r="http://schemas.openxmlformats.org/officeDocument/2006/relationships" id="268" r:id="Ra09b486bd3494af1"/>
    <p:sldId xmlns:r="http://schemas.openxmlformats.org/officeDocument/2006/relationships" id="269" r:id="R63a41de556e8443c"/>
    <p:sldId xmlns:r="http://schemas.openxmlformats.org/officeDocument/2006/relationships" id="270" r:id="R0565985cb09f4a47"/>
    <p:sldId xmlns:r="http://schemas.openxmlformats.org/officeDocument/2006/relationships" id="271" r:id="Recd5491b6ea3414e"/>
    <p:sldId xmlns:r="http://schemas.openxmlformats.org/officeDocument/2006/relationships" id="272" r:id="Rc0dbeecec05d4365"/>
    <p:sldId xmlns:r="http://schemas.openxmlformats.org/officeDocument/2006/relationships" id="273" r:id="Rd20122bcdfe04052"/>
    <p:sldId xmlns:r="http://schemas.openxmlformats.org/officeDocument/2006/relationships" id="274" r:id="R5a17122b530246b7"/>
    <p:sldId xmlns:r="http://schemas.openxmlformats.org/officeDocument/2006/relationships" id="275" r:id="Rded92fe5c21b46cc"/>
    <p:sldId xmlns:r="http://schemas.openxmlformats.org/officeDocument/2006/relationships" id="276" r:id="R94b109f609ff43a4"/>
    <p:sldId xmlns:r="http://schemas.openxmlformats.org/officeDocument/2006/relationships" id="277" r:id="R4139da827e6c45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d124731db2ca4542"/><Relationship Type="http://schemas.openxmlformats.org/officeDocument/2006/relationships/slideMaster" Target="/ppt/slideMasters/slideMaster1.xml" Id="R5ad485d29c60440e"/><Relationship Type="http://schemas.openxmlformats.org/officeDocument/2006/relationships/notesMaster" Target="/ppt/notesMasters/notesMaster1.xml" Id="R1b53e6f5aec94bb7"/><Relationship Type="http://schemas.openxmlformats.org/officeDocument/2006/relationships/presProps" Target="/ppt/presProps.xml" Id="Ra89db6ae51574db1"/><Relationship Type="http://schemas.openxmlformats.org/officeDocument/2006/relationships/tableStyles" Target="/ppt/tableStyles.xml" Id="Rb1b4c5e4218145b1"/><Relationship Type="http://schemas.openxmlformats.org/officeDocument/2006/relationships/slide" Target="/ppt/slides/slide1.xml" Id="R53b5f1c73613466b"/><Relationship Type="http://schemas.openxmlformats.org/officeDocument/2006/relationships/slide" Target="/ppt/slides/slide2.xml" Id="Rdb787b2679b34158"/><Relationship Type="http://schemas.openxmlformats.org/officeDocument/2006/relationships/slide" Target="/ppt/slides/slide3.xml" Id="R15ef2fdfc3fc4c66"/><Relationship Type="http://schemas.openxmlformats.org/officeDocument/2006/relationships/slide" Target="/ppt/slides/slide4.xml" Id="R4afab53e72394991"/><Relationship Type="http://schemas.openxmlformats.org/officeDocument/2006/relationships/slide" Target="/ppt/slides/slide5.xml" Id="R6991b2de36cf4574"/><Relationship Type="http://schemas.openxmlformats.org/officeDocument/2006/relationships/slide" Target="/ppt/slides/slide6.xml" Id="Reefe892a11634e6e"/><Relationship Type="http://schemas.openxmlformats.org/officeDocument/2006/relationships/slide" Target="/ppt/slides/slide7.xml" Id="Rc660046a4aee4b62"/><Relationship Type="http://schemas.openxmlformats.org/officeDocument/2006/relationships/slide" Target="/ppt/slides/slide8.xml" Id="R6671d30a9a674493"/><Relationship Type="http://schemas.openxmlformats.org/officeDocument/2006/relationships/slide" Target="/ppt/slides/slide9.xml" Id="R622f7f149fe64add"/><Relationship Type="http://schemas.openxmlformats.org/officeDocument/2006/relationships/slide" Target="/ppt/slides/slide10.xml" Id="Recccec0b02b94bcd"/><Relationship Type="http://schemas.openxmlformats.org/officeDocument/2006/relationships/slide" Target="/ppt/slides/slide11.xml" Id="Ra34cdac4f2ae4f66"/><Relationship Type="http://schemas.openxmlformats.org/officeDocument/2006/relationships/slide" Target="/ppt/slides/slide12.xml" Id="R24872ffc5e43470c"/><Relationship Type="http://schemas.openxmlformats.org/officeDocument/2006/relationships/slide" Target="/ppt/slides/slide14.xml" Id="Ra09b486bd3494af1"/><Relationship Type="http://schemas.openxmlformats.org/officeDocument/2006/relationships/slide" Target="/ppt/slides/slide15.xml" Id="R63a41de556e8443c"/><Relationship Type="http://schemas.openxmlformats.org/officeDocument/2006/relationships/slide" Target="/ppt/slides/slide16.xml" Id="R0565985cb09f4a47"/><Relationship Type="http://schemas.openxmlformats.org/officeDocument/2006/relationships/slide" Target="/ppt/slides/slide17.xml" Id="Recd5491b6ea3414e"/><Relationship Type="http://schemas.openxmlformats.org/officeDocument/2006/relationships/slide" Target="/ppt/slides/slide18.xml" Id="Rc0dbeecec05d4365"/><Relationship Type="http://schemas.openxmlformats.org/officeDocument/2006/relationships/slide" Target="/ppt/slides/slide19.xml" Id="Rd20122bcdfe04052"/><Relationship Type="http://schemas.openxmlformats.org/officeDocument/2006/relationships/slide" Target="/ppt/slides/slide20.xml" Id="R5a17122b530246b7"/><Relationship Type="http://schemas.openxmlformats.org/officeDocument/2006/relationships/slide" Target="/ppt/slides/slide21.xml" Id="Rded92fe5c21b46cc"/><Relationship Type="http://schemas.openxmlformats.org/officeDocument/2006/relationships/slide" Target="/ppt/slides/slide22.xml" Id="R94b109f609ff43a4"/><Relationship Type="http://schemas.openxmlformats.org/officeDocument/2006/relationships/slide" Target="/ppt/slides/slide23.xml" Id="R4139da827e6c459c"/><Relationship Type="http://schemas.openxmlformats.org/officeDocument/2006/relationships/slide" Target="/ppt/slides/slide13.xml" Id="Rb6e196eb79bd4ac7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857445844543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caa807d7bf485c" /><Relationship Type="http://schemas.openxmlformats.org/officeDocument/2006/relationships/notesMaster" Target="/ppt/notesMasters/notesMaster1.xml" Id="R36d6577fd59d4e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92b63181124d97" /><Relationship Type="http://schemas.openxmlformats.org/officeDocument/2006/relationships/notesMaster" Target="/ppt/notesMasters/notesMaster1.xml" Id="R672d28a1813d4a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fded7447d0471f" /><Relationship Type="http://schemas.openxmlformats.org/officeDocument/2006/relationships/notesMaster" Target="/ppt/notesMasters/notesMaster1.xml" Id="R9a26090d4a8b42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16808bad4b425a" /><Relationship Type="http://schemas.openxmlformats.org/officeDocument/2006/relationships/notesMaster" Target="/ppt/notesMasters/notesMaster1.xml" Id="R617c8c08fdbf48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460dfbab354cb4" /><Relationship Type="http://schemas.openxmlformats.org/officeDocument/2006/relationships/notesMaster" Target="/ppt/notesMasters/notesMaster1.xml" Id="Rfa46175d4c134c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c2a9886c644945" /><Relationship Type="http://schemas.openxmlformats.org/officeDocument/2006/relationships/notesMaster" Target="/ppt/notesMasters/notesMaster1.xml" Id="R3351aec3c7e842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9266ec22234c40" /><Relationship Type="http://schemas.openxmlformats.org/officeDocument/2006/relationships/notesMaster" Target="/ppt/notesMasters/notesMaster1.xml" Id="Re40d57c9ae274e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a5792dc1ec444d" /><Relationship Type="http://schemas.openxmlformats.org/officeDocument/2006/relationships/notesMaster" Target="/ppt/notesMasters/notesMaster1.xml" Id="R65cd63a25e9d4b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08a06b543746fa" /><Relationship Type="http://schemas.openxmlformats.org/officeDocument/2006/relationships/notesMaster" Target="/ppt/notesMasters/notesMaster1.xml" Id="R7db1ec9373fe46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0eca4d616f4415" /><Relationship Type="http://schemas.openxmlformats.org/officeDocument/2006/relationships/notesMaster" Target="/ppt/notesMasters/notesMaster1.xml" Id="Rf34dd4d9278c4b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069cbed5ca4d27" /><Relationship Type="http://schemas.openxmlformats.org/officeDocument/2006/relationships/notesMaster" Target="/ppt/notesMasters/notesMaster1.xml" Id="R0a42fd8d1fec49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851504de1842a1" /><Relationship Type="http://schemas.openxmlformats.org/officeDocument/2006/relationships/notesMaster" Target="/ppt/notesMasters/notesMaster1.xml" Id="R812a5b04ffe44e67" /></Relationships>
</file>

<file path=ppt/notesSlides/_rels/notesSlide13.xml.rels><?xml version="1.0" encoding="utf-8"?><Relationships xmlns="http://schemas.openxmlformats.org/package/2006/relationships"><Relationship Type="http://schemas.openxmlformats.org/officeDocument/2006/relationships/slide" Target="/ppt/slides/slide13.xml" Id="R88851504de1842a1"/><Relationship Type="http://schemas.openxmlformats.org/officeDocument/2006/relationships/notesMaster" Target="/ppt/notesMasters/notesMaster1.xml" Id="R812a5b04ffe44e67"/></Relationships>
</file>

<file path=ppt/notesSlides/_rels/notesSlide14.xml.rels><?xml version="1.0" encoding="utf-8"?><Relationships xmlns="http://schemas.openxmlformats.org/package/2006/relationships"><Relationship Type="http://schemas.openxmlformats.org/officeDocument/2006/relationships/slide" Target="/ppt/slides/slide14.xml" Id="R8f2bb8f720f84336"/><Relationship Type="http://schemas.openxmlformats.org/officeDocument/2006/relationships/notesMaster" Target="/ppt/notesMasters/notesMaster1.xml" Id="R660933af8b2d436d"/></Relationships>
</file>

<file path=ppt/notesSlides/_rels/notesSlide15.xml.rels><?xml version="1.0" encoding="utf-8"?><Relationships xmlns="http://schemas.openxmlformats.org/package/2006/relationships"><Relationship Type="http://schemas.openxmlformats.org/officeDocument/2006/relationships/slide" Target="/ppt/slides/slide15.xml" Id="R528d70e2058a41d1"/><Relationship Type="http://schemas.openxmlformats.org/officeDocument/2006/relationships/notesMaster" Target="/ppt/notesMasters/notesMaster1.xml" Id="R9a0439634b9e412e"/></Relationships>
</file>

<file path=ppt/notesSlides/_rels/notesSlide16.xml.rels><?xml version="1.0" encoding="utf-8"?><Relationships xmlns="http://schemas.openxmlformats.org/package/2006/relationships"><Relationship Type="http://schemas.openxmlformats.org/officeDocument/2006/relationships/slide" Target="/ppt/slides/slide16.xml" Id="R61f961977d584416"/><Relationship Type="http://schemas.openxmlformats.org/officeDocument/2006/relationships/notesMaster" Target="/ppt/notesMasters/notesMaster1.xml" Id="R12bffd481365440b"/></Relationships>
</file>

<file path=ppt/notesSlides/_rels/notesSlide17.xml.rels><?xml version="1.0" encoding="utf-8"?><Relationships xmlns="http://schemas.openxmlformats.org/package/2006/relationships"><Relationship Type="http://schemas.openxmlformats.org/officeDocument/2006/relationships/slide" Target="/ppt/slides/slide17.xml" Id="R9f438ec642c64ef4"/><Relationship Type="http://schemas.openxmlformats.org/officeDocument/2006/relationships/notesMaster" Target="/ppt/notesMasters/notesMaster1.xml" Id="Rd5518c5e79fc4f13"/></Relationships>
</file>

<file path=ppt/notesSlides/_rels/notesSlide18.xml.rels><?xml version="1.0" encoding="utf-8"?><Relationships xmlns="http://schemas.openxmlformats.org/package/2006/relationships"><Relationship Type="http://schemas.openxmlformats.org/officeDocument/2006/relationships/slide" Target="/ppt/slides/slide18.xml" Id="Rc0add4228c0a47ae"/><Relationship Type="http://schemas.openxmlformats.org/officeDocument/2006/relationships/notesMaster" Target="/ppt/notesMasters/notesMaster1.xml" Id="R927408a8d05340aa"/></Relationships>
</file>

<file path=ppt/notesSlides/_rels/notesSlide19.xml.rels><?xml version="1.0" encoding="utf-8"?><Relationships xmlns="http://schemas.openxmlformats.org/package/2006/relationships"><Relationship Type="http://schemas.openxmlformats.org/officeDocument/2006/relationships/slide" Target="/ppt/slides/slide19.xml" Id="R1c79308fde8d4adb"/><Relationship Type="http://schemas.openxmlformats.org/officeDocument/2006/relationships/notesMaster" Target="/ppt/notesMasters/notesMaster1.xml" Id="R4834c3f9ba5c41cc"/></Relationships>
</file>

<file path=ppt/notesSlides/_rels/notesSlide20.xml.rels><?xml version="1.0" encoding="utf-8"?><Relationships xmlns="http://schemas.openxmlformats.org/package/2006/relationships"><Relationship Type="http://schemas.openxmlformats.org/officeDocument/2006/relationships/slide" Target="/ppt/slides/slide20.xml" Id="Rb0ab5b6f63db468a"/><Relationship Type="http://schemas.openxmlformats.org/officeDocument/2006/relationships/notesMaster" Target="/ppt/notesMasters/notesMaster1.xml" Id="R81034e5a4c064144"/></Relationships>
</file>

<file path=ppt/notesSlides/_rels/notesSlide21.xml.rels><?xml version="1.0" encoding="utf-8"?><Relationships xmlns="http://schemas.openxmlformats.org/package/2006/relationships"><Relationship Type="http://schemas.openxmlformats.org/officeDocument/2006/relationships/slide" Target="/ppt/slides/slide21.xml" Id="Re9a414a1cdb44005"/><Relationship Type="http://schemas.openxmlformats.org/officeDocument/2006/relationships/notesMaster" Target="/ppt/notesMasters/notesMaster1.xml" Id="R1723e4ca1e8e4463"/></Relationships>
</file>

<file path=ppt/notesSlides/_rels/notesSlide22.xml.rels><?xml version="1.0" encoding="utf-8"?><Relationships xmlns="http://schemas.openxmlformats.org/package/2006/relationships"><Relationship Type="http://schemas.openxmlformats.org/officeDocument/2006/relationships/slide" Target="/ppt/slides/slide22.xml" Id="R04517a8e40454d60"/><Relationship Type="http://schemas.openxmlformats.org/officeDocument/2006/relationships/notesMaster" Target="/ppt/notesMasters/notesMaster1.xml" Id="Rf8b439c29ccf41de"/></Relationships>
</file>

<file path=ppt/notesSlides/_rels/notesSlide23.xml.rels><?xml version="1.0" encoding="utf-8"?><Relationships xmlns="http://schemas.openxmlformats.org/package/2006/relationships"><Relationship Type="http://schemas.openxmlformats.org/officeDocument/2006/relationships/slide" Target="/ppt/slides/slide23.xml" Id="R886faef6c2e2445e"/><Relationship Type="http://schemas.openxmlformats.org/officeDocument/2006/relationships/notesMaster" Target="/ppt/notesMasters/notesMaster1.xml" Id="Re643198b01a1441a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S15 — Prompt를 작업 명세로 만들기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S15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Prompt를 작업 명세로 만들기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1 / 1A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Transition 1분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Prompt를 작업 명세로 만들기 — Prompt Engineering · 요청 설계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“이번 ACT에서는 어떤 관점으로 다음 문제를 살펴볼까?”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(0:00–0:20 / Transition) ACT 1의 제목 “Prompt를 작업 명세로 만들기”을 가리키며 구간을 연다.</a:t>
            </a:r>
          </a:p>
          <a:p>
            <a:r>
              <a:t xml:space="preserve">2. (0:20–0:40 / Transition) 부제 “Prompt Engineering · 요청 설계”는 이번 구간의 관점만 안내한다. 구체적 기능·해결 방법·결과는 앞서 설명하지 않는다.</a:t>
            </a:r>
          </a:p>
          <a:p>
            <a:r>
              <a:t xml:space="preserve">3. (0:40–1:00 / Transition) S16의 기존 첫 문제로 이동한다. 본문의 질문·성찰을 이 장에서 대신 진행하지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DEC-0090. 사용자가 승인한 ACT 제목·부제, plan/MASTER_PLAN.md의 여정과 현행 plan/SLIDE_MAP.md. 새 Trial·연구·제품 검증은 없다.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 MODEL — ACT 주제 안내이며 새 제품 기능·Trial·성과·현재 제품 지원을 주장하지 않는다.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지금부터 살펴볼 주제와 앞 구간과의 경계를 알아본다.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해당 ACT가 다루는 설계 책임의 범위를 짧게 확인한다.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기존 본문에 있는 C++ 연결을 유지한다.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정적 제목 화면. 새 Demo 또는 실행을 시작하지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본문의 질문·성찰을 이 장에서 중복 운영하지 않는다.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“이제 이 관점에서 첫 문제를 보겠습니다.”라고 S16 — Task에는 무엇이 아직 정해지지 않았을까?로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Transition 1분. 기존 본문 시간을 줄이거나 중복 계산하지 않는다. ACT 1 총64분, 전체417분이다. 제목·부제만 안내하고1분에 S16로 넘긴다. 실측 리허설 UNVERIFIED.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production/preview/full/S15.png 또는 production/ACT_1.pptx의 같은 제목 장. 실제 제품 실행으로 대체하지 않는다.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CONTENT ALIGNED — DEC-0090. 로컬 패키지/Notes/렌더 대조는 production/evaluation/ACT_TITLE_SLIDES.md에 기록한다. Windows/발표 PC 글꼴/제품·계정/교육장/실측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S16 — 이 요청에는 무엇이 빠졌을까?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S16</a:t>
            </a:r>
          </a:p>
          <a:p>
            <a:r>
              <a:t xml:space="preserve"/>
            </a:r>
          </a:p>
          <a:p>
            <a:r>
              <a:t xml:space="preserve">Working Title: 이 요청에는 무엇이 빠졌을까?</a:t>
            </a:r>
          </a:p>
          <a:p>
            <a:r>
              <a:t xml:space="preserve"/>
            </a:r>
          </a:p>
          <a:p>
            <a:r>
              <a:t xml:space="preserve">ACT / Section: ACT 1 / 1A</a:t>
            </a:r>
          </a:p>
          <a:p>
            <a:r>
              <a:t xml:space="preserve"/>
            </a:r>
          </a:p>
          <a:p>
            <a:r>
              <a:t xml:space="preserve">Allocated Time: 7 minutes</a:t>
            </a:r>
          </a:p>
          <a:p>
            <a:r>
              <a:t xml:space="preserve"/>
            </a:r>
          </a:p>
          <a:p>
            <a:r>
              <a:t xml:space="preserve">Mode Split: Case 7 minutes</a:t>
            </a:r>
          </a:p>
          <a:p>
            <a:r>
              <a:t xml:space="preserve"/>
            </a:r>
          </a:p>
          <a:p>
            <a:r>
              <a:t xml:space="preserve">Primary Message: crop 수정 목표는 같아도 보존 기준·허용 범위·확인 및 보고할 근거를 요청에서 더 분명히 할 수 있다.</a:t>
            </a:r>
          </a:p>
          <a:p>
            <a:r>
              <a:t xml:space="preserve"/>
            </a:r>
          </a:p>
          <a:p>
            <a:r>
              <a:t xml:space="preserve">Opening Question: “같은 crop 실패를 고칠 때, 지킬 기준·수정 범위·완료 근거 중 무엇을 요청에 더할까?”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**SAME CASE (0:00–1:30):** 앞서 조사한 crop 실패를 고친다는 목표를 회수하고 “crop test 고쳐줘”를 읽는다. S14의 역할 설명과 S15 제목을 다시 설명하지 않는다. 화면은 실제 Trial Prompt가 아닌 교육용 요청이다.</a:t>
            </a:r>
          </a:p>
          <a:p>
            <a:r>
              <a:t xml:space="preserve">2. **SCOPE QUESTIONS (1:30–4:00):** 지킬 기준, 수정 범위, 완료 근거를 짚는다. 명세·구현 위치는 저장소에서 조사할 수 있다. 사람은 어떤 변경을 허용하고 어떤 근거로 수용할지 알려 준다. Agent가 명세를 보고 올바른 수정을 추론할 수 없다는 뜻은 아니다.</a:t>
            </a:r>
          </a:p>
          <a:p>
            <a:r>
              <a:t xml:space="preserve">3. **COST CONCEPT (4:00–5:30):** 기존 토큰·작업 시간 이미지는 재탐색·재시도가 길어질 수 있다는 정성 개념도다. 실측·기하급수 법칙·비용 절감 성과로 설명하지 않는다. 그림은 질문을 보조하며 핵심은 요청의 경계다.</a:t>
            </a:r>
          </a:p>
          <a:p>
            <a:r>
              <a:t xml:space="preserve">4. **COMPARE SCOPE (5:30–7:00):** 같은 crop 요청을 유지한 채 테스트 기대값 변경·구현 수정·추가 확인이 각각 어떤 조건에서 허용되는지 다음 장에서 비교한다.</a:t>
            </a:r>
          </a:p>
          <a:p>
            <a:r>
              <a:t xml:space="preserve"/>
            </a:r>
          </a:p>
          <a:p>
            <a:r>
              <a:t xml:space="preserve">Evidence / Source: BEAT-004, TRIAL-001 callback, CLM-0002, DEC-0038, DEC-0040. TEACHING_MODEL / CONCEPTUAL. 프롬프트창은 재구성이고 AI Agent 그림은 AI 생성 교육용 삽화다. 비용 표시는 정성적 개념도이며 실제 Trial·현재 제품 실행·토큰/시간 측정값이 아니다. 삽화: assets/slide-illustrations/task-choice-agent.png (built-in imagegen, 투명 배경). 같은 Agent를 세 장에서 의도적으로 반복한다. 생성 프롬프트·출처·표현 경계: assets/slide-illustrations/PROMPT_TIMELINE_SOURCES.md. 토큰 소모·작업 시간 곡선과 끝 화살표는 편집 가능한 그래프 객체 대신 assets/slide-illustrations/S11-token-growth.png 및 S11-time-growth.png의 투명 PNG 삽화로 표시한다. 텍스트 label은 native text로 유지한다. 두 그래프 이미지의 생성 방식·정확한 프롬프트·표현 경계: assets/slide-illustrations/S11_RESOURCE_GRAPH_SOURCES.md.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구성 사례 · AI 생성 삽화 · 토큰/시간 곡선은 수치 없는 개념도</a:t>
            </a:r>
          </a:p>
          <a:p>
            <a:r>
              <a:t xml:space="preserve"/>
            </a:r>
          </a:p>
          <a:p>
            <a:r>
              <a:t xml:space="preserve">DEC-0110: 같은 crop 요청의 연결을 정리한 편집 결정이며 새 Trial·제품 실행·비용 절감 근거가 아니다.</a:t>
            </a:r>
          </a:p>
          <a:p>
            <a:r>
              <a:t xml:space="preserve"/>
            </a:r>
          </a:p>
          <a:p>
            <a:r>
              <a:t xml:space="preserve">Claim Boundary: 교육용 crop 요청과 정성 비용 도식이다. 실제 Agent 실패·정지·내부 추론·반복 실행·총 토큰/시간 증가나 절감 측정이 아니다. Agent는 저장소 명세와 테스트에서 올바른 수정을 추론하거나 필요한 사항을 질문할 수 있다. 실제 TRIAL-002 Prompt와 구분한다.</a:t>
            </a:r>
          </a:p>
          <a:p>
            <a:r>
              <a:t xml:space="preserve"/>
            </a:r>
          </a:p>
          <a:p>
            <a:r>
              <a:t xml:space="preserve">Beginner Explanation: “crop test 고쳐줘”에 더해 기존 명세·기대값을 지킬지, 구현 중 어디까지 바꿀지, 무엇을 확인하고 보고할지를 분명히 한다. 저장소 사실을 사람이 모두 복사할 필요는 없다.</a:t>
            </a:r>
          </a:p>
          <a:p>
            <a:r>
              <a:t xml:space="preserve"/>
            </a:r>
          </a:p>
          <a:p>
            <a:r>
              <a:t xml:space="preserve">Advanced Insight: Task goal, preserved behavior and acceptance evidence remain distinct from repository access. The rising cost illustration is qualitative; it does not establish measured exponential growth, model incapacity or causal productivity improvement.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 교육용 프롬프트 재구성·생성 삽화·개념 비용 표시를 보는 정적 Case다. 새 Agent 실행·Trial·제품 동작을 시연하지 않는다.</a:t>
            </a:r>
          </a:p>
          <a:p>
            <a:r>
              <a:t xml:space="preserve"/>
            </a:r>
          </a:p>
          <a:p>
            <a:r>
              <a:t xml:space="preserve">Audience Interaction: 오른쪽 세 질문을 따라 어떤 결정이 비어 있는지 생각하게 한다. 공개 답변·실습·요청문 작성을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“같은 crop 요청에서, 어떤 변경을 허용한 것인지 비교해 보겠습니다.”라고 S17로 이동한다.</a:t>
            </a:r>
          </a:p>
          <a:p>
            <a:r>
              <a:t xml:space="preserve"/>
            </a:r>
          </a:p>
          <a:p>
            <a:r>
              <a:t xml:space="preserve">Time Management: Case 7분. 같은 요청 1분30초, 세 질문 2분30초, 비용 개념 1분30초, 같은 사례의 범위 비교 1분30초. 다른 filter 성능 사례나 토큰 단가 강의를 추가하지 않는다. 실측 리허설은 UNVERIFIED다.</a:t>
            </a:r>
          </a:p>
          <a:p>
            <a:r>
              <a:t xml:space="preserve"/>
            </a:r>
          </a:p>
          <a:p>
            <a:r>
              <a:t xml:space="preserve">Fallback: 정적 기본 경로 — `production/ACT_1.pptx` S16 또는 `production/preview/act1/S16.png`를 사용한다. 같은 crop 요청의 교육용 예시이며 실제 Trial 실행과 구분한다. 최종 PPT·Notes·PNG 검토는 production/evaluation/ACT1_SINGLE_CROP_REVISION.md를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DEC-0110에 따라 같은 crop 요청의 보존 기준·수정 범위·완료 근거를 정렬했다. 로컬 PPT·내장 Notes·렌더 결과는 production/evaluation/ACT1_SINGLE_CROP_REVISION.md에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S17 — 어디까지 바꾸라는 요청일까?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S17</a:t>
            </a:r>
          </a:p>
          <a:p>
            <a:r>
              <a:t xml:space="preserve"/>
            </a:r>
          </a:p>
          <a:p>
            <a:r>
              <a:t xml:space="preserve">Working Title: 어디까지 바꾸라는 요청일까?</a:t>
            </a:r>
          </a:p>
          <a:p>
            <a:r>
              <a:t xml:space="preserve"/>
            </a:r>
          </a:p>
          <a:p>
            <a:r>
              <a:t xml:space="preserve">ACT / Section: ACT 1 / 1B</a:t>
            </a:r>
          </a:p>
          <a:p>
            <a:r>
              <a:t xml:space="preserve"/>
            </a:r>
          </a:p>
          <a:p>
            <a:r>
              <a:t xml:space="preserve">Allocated Time: 2 minutes</a:t>
            </a:r>
          </a:p>
          <a:p>
            <a:r>
              <a:t xml:space="preserve"/>
            </a:r>
          </a:p>
          <a:p>
            <a:r>
              <a:t xml:space="preserve">Mode Split: Case 2 minutes</a:t>
            </a:r>
          </a:p>
          <a:p>
            <a:r>
              <a:t xml:space="preserve"/>
            </a:r>
          </a:p>
          <a:p>
            <a:r>
              <a:t xml:space="preserve">Primary Message: 기존 명세·기대값이 유효한 이 사례에서는 구현을 명세에 맞춘다. 기대값 변경에는 명세 변경의 정당성·승인이 필요하고, 의도·명세·조건이 충돌하면 먼저 확인한다.</a:t>
            </a:r>
          </a:p>
          <a:p>
            <a:r>
              <a:t xml:space="preserve"/>
            </a:r>
          </a:p>
          <a:p>
            <a:r>
              <a:t xml:space="preserve">Opening Question: “같은 crop 요청에서 어떤 변경을 허용했을까?”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**SAME REQUEST (0:00–0:30):** 앞 장과 동일한 “crop test 고쳐줘”를 그대로 읽는다. 예시나 실행 환경을 바꾸지 않는다. 실제 TRIAL-002 Prompt가 아닌 교육용 구성이다.</a:t>
            </a:r>
          </a:p>
          <a:p>
            <a:r>
              <a:t xml:space="preserve">2. **CONDITIONAL PATHS (0:30–1:20):** 테스트 기대값 변경에는 명세 변경의 정당성과 승인이 필요하다. 기존 명세·기대값이 유효한 이 사례의 수용 경로는 구현 수정이다. 의도·명세·조건이 충돌하거나 변경 범위가 불분명하면 먼저 질문한다. 세 경로를 동등하게 정당한 답이나 실제 반복 결과로 읽지 않는다.</a:t>
            </a:r>
          </a:p>
          <a:p>
            <a:r>
              <a:t xml:space="preserve">3. **MAKE INTENT EXPLICIT (1:20–2:00):** 아래 다섯 항목은 요청에서 더 분명히 할 정보다. 모두 저장소에 없는 사실이라는 뜻은 아니다. 다음 장에서 기존 명세를 지키고 구현만 고치려는 범위를 명시한다.</a:t>
            </a:r>
          </a:p>
          <a:p>
            <a:r>
              <a:t xml:space="preserve"/>
            </a:r>
          </a:p>
          <a:p>
            <a:r>
              <a:t xml:space="preserve">Evidence / Source: BEAT-004, CLM-0002, DEC-0038. TEACHING_MODEL / CONCEPTUAL. 같은 AI Agent 삽화와 병렬 시간선은 가능한 요청 해석의 도식이다. 실제 반복 실행·분기 빈도·실패 로그·평행 Agent 실행을 기록한 것이 아니다. 삽화: assets/slide-illustrations/task-choice-agent.png (built-in imagegen, 투명 배경). 같은 Agent를 세 장에서 의도적으로 반복한다. 생성 프롬프트·출처·표현 경계: assets/slide-illustrations/PROMPT_TIMELINE_SOURCES.md.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병렬 시간선 · 실제 반복 실행·동시 Subagent·분기 확률을 관찰한 결과가 아님</a:t>
            </a:r>
          </a:p>
          <a:p>
            <a:r>
              <a:t xml:space="preserve"/>
            </a:r>
          </a:p>
          <a:p>
            <a:r>
              <a:t xml:space="preserve">DEC-0110: 같은 crop 요청의 연결을 정리한 편집 결정이며 새 Trial·제품 실행·비용 절감 근거가 아니다.</a:t>
            </a:r>
          </a:p>
          <a:p>
            <a:r>
              <a:t xml:space="preserve"/>
            </a:r>
          </a:p>
          <a:p>
            <a:r>
              <a:t xml:space="preserve">Claim Boundary: 평행 경로는 검토할 선택의 조건을 설명한 교육용 도식이며 실제 실행·선택 확률·동시 Subagent가 아니다. 테스트 기대값 변경을 유효한 기존 명세를 어기는 구현 수정과 동등하게 정당화하지 않는다. 정당한 명세 변경·승인이 있으면 테스트도 바뀔 수 있다. Agent가 저장소에서 올바른 수정을 추론하지 못한다는 주장을 하지 않는다.</a:t>
            </a:r>
          </a:p>
          <a:p>
            <a:r>
              <a:t xml:space="preserve"/>
            </a:r>
          </a:p>
          <a:p>
            <a:r>
              <a:t xml:space="preserve">Beginner Explanation: 이 예시에서는 기대값을 유지하고 구현을 맞춘다. 기대값 변경은 명세 자체를 정당하게 바꾸는 경우에 따로 검토하고, 의도·명세·조건이나 권한이 충돌하면 확인한다.</a:t>
            </a:r>
          </a:p>
          <a:p>
            <a:r>
              <a:t xml:space="preserve"/>
            </a:r>
          </a:p>
          <a:p>
            <a:r>
              <a:t xml:space="preserve">Advanced Insight: The paths compare change authority and preservation criteria, not measured nondeterminism. Repository evidence can support the correct implementation fix; clarify unresolved intent, conflicting specifications or unclear task conditions.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 정적 프롬프트·동일 Agent·가능한 세 경로를 설명한다. 새 Trial·반복 호출·병렬 Subagent를 실행하지 않는다.</a:t>
            </a:r>
          </a:p>
          <a:p>
            <a:r>
              <a:t xml:space="preserve"/>
            </a:r>
          </a:p>
          <a:p>
            <a:r>
              <a:t xml:space="preserve">Audience Interaction: 같은 요청에서 각 변경이 허용될 조건을 눈으로 비교한다. 세 가지를 똑같이 옳은 선택으로 고르게 하거나 응답·실습을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사례에서는 기존 명세·기대값을 지키고 구현만 고치려 합니다. 그 범위와 확인·보고 조건을 요청에 담아 보겠습니다.”라고 S18로 이동한다.</a:t>
            </a:r>
          </a:p>
          <a:p>
            <a:r>
              <a:t xml:space="preserve"/>
            </a:r>
          </a:p>
          <a:p>
            <a:r>
              <a:t xml:space="preserve">Time Management: Case 2분. 같은 요청 30초, 조건부 경로 비교 50초, 명시할 정보와 다음 요청 연결 40초. S18과 합쳐 Case 4분을 유지한다. 실측 리허설은 UNVERIFIED다.</a:t>
            </a:r>
          </a:p>
          <a:p>
            <a:r>
              <a:t xml:space="preserve"/>
            </a:r>
          </a:p>
          <a:p>
            <a:r>
              <a:t xml:space="preserve">Fallback: 정적 기본 경로 — `production/ACT_1.pptx` S17 또는 `production/preview/act1/S17.png`를 사용한다. 같은 crop 요청의 교육용 예시이며 실제 Trial 실행과 구분한다. 최종 PPT·Notes·PNG 검토는 production/evaluation/ACT1_SINGLE_CROP_REVISION.md를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DEC-0110에 따라 같은 crop 요청의 보존 기준·수정 범위·완료 근거를 정렬했다. 로컬 PPT·내장 Notes·렌더 결과는 production/evaluation/ACT1_SINGLE_CROP_REVISION.md에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S18 — 원하는 변경 범위를 요청에 담는다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S18</a:t>
            </a:r>
          </a:p>
          <a:p>
            <a:r>
              <a:t xml:space="preserve"/>
            </a:r>
          </a:p>
          <a:p>
            <a:r>
              <a:t xml:space="preserve">Working Title: 원하는 변경 범위를 요청에 담는다</a:t>
            </a:r>
          </a:p>
          <a:p>
            <a:r>
              <a:t xml:space="preserve"/>
            </a:r>
          </a:p>
          <a:p>
            <a:r>
              <a:t xml:space="preserve">ACT / Section: ACT 1 / 1B</a:t>
            </a:r>
          </a:p>
          <a:p>
            <a:r>
              <a:t xml:space="preserve"/>
            </a:r>
          </a:p>
          <a:p>
            <a:r>
              <a:t xml:space="preserve">Allocated Time: 2 minutes</a:t>
            </a:r>
          </a:p>
          <a:p>
            <a:r>
              <a:t xml:space="preserve"/>
            </a:r>
          </a:p>
          <a:p>
            <a:r>
              <a:t xml:space="preserve">Mode Split: Case 2 minutes</a:t>
            </a:r>
          </a:p>
          <a:p>
            <a:r>
              <a:t xml:space="preserve"/>
            </a:r>
          </a:p>
          <a:p>
            <a:r>
              <a:t xml:space="preserve">Primary Message: 같은 요청에 기존 명세·기대값 보존, crop 구현 최소 수정, 관련·전체 테스트 확인, 변경·검증·미확인 사항 보고를 담는다. 의도한 경로와 실제 검증 결과는 별개다.</a:t>
            </a:r>
          </a:p>
          <a:p>
            <a:r>
              <a:t xml:space="preserve"/>
            </a:r>
          </a:p>
          <a:p>
            <a:r>
              <a:t xml:space="preserve">Opening Question: “어떤 변경을 원하고, 어떤 근거를 보고 완료를 판단할지 보이나요?”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**NATURAL REQUEST (0:00–0:45):** 같은 “crop test 고쳐줘”에 더한 네 문장을 읽는다. 기존 명세·테스트 기대값 보존, 어긋난 crop 구현 최소 수정, 관련·전체 테스트 확인, 변경·검증·미확인 사항 보고다. 입력창 위 기대값은 끝 좌표를 제외하는 기존 명세를 떠올리는 작은 예시이며 전체 함수 signature가 아니다.</a:t>
            </a:r>
          </a:p>
          <a:p>
            <a:r>
              <a:t xml:space="preserve">2. **INTENDED SCOPE (0:45–1:30):** 오른쪽 구현 수정 경로는 사람이 명시한 변경 범위다. 실제 선택·실행·성공·PASS를 보여주지 않는다. “관련 테스트”는 바뀐 동작과 관련된 검사를 고르는 것이고 “전체 테스트”는 프로젝트 suite다. 이 장에서 CLI·도구 용어를 늘리지 않는다. 명세·코드·테스트 위치는 Agent가 조사할 수 있다.</a:t>
            </a:r>
          </a:p>
          <a:p>
            <a:r>
              <a:t xml:space="preserve">3. **GENERALIZE (1:30–2:00):** S19에서 사람이 정할 질문, S20에서 다섯 항목, S21에서 각 문장의 역할로 정리한다. S21에서 실제 TRIAL-002 요청을 읽고 S22 이후에서 같은 요청의 행동·변경·검증 기록을 확인한다.</a:t>
            </a:r>
          </a:p>
          <a:p>
            <a:r>
              <a:t xml:space="preserve"/>
            </a:r>
          </a:p>
          <a:p>
            <a:r>
              <a:t xml:space="preserve">Evidence / Source: BEAT-004, CLM-0002, DEC-0038. TEACHING_MODEL / CONCEPTUAL. TRIAL-001/002의 끝 좌표 제외 crop 명세와 검증 범위를 배경으로 한 수업용 Prompt다. 실제 TRIAL-002에서 사용한 요청·관찰된 선택·성능 비교를 재현하지 않는다. 삽화: assets/slide-illustrations/task-choice-agent.png (built-in imagegen, 투명 배경). 같은 Agent를 세 장에서 의도적으로 반복한다. 생성 프롬프트·출처·표현 경계: assets/slide-illustrations/PROMPT_TIMELINE_SOURCES.md.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Prompt와 목표 경로 · TRIAL-002의 실제 요청·실행 결과가 아님</a:t>
            </a:r>
          </a:p>
          <a:p>
            <a:r>
              <a:t xml:space="preserve"/>
            </a:r>
          </a:p>
          <a:p>
            <a:r>
              <a:t xml:space="preserve">DEC-0110: 같은 crop 요청의 연결을 정리한 편집 결정이며 새 Trial·제품 실행·비용 절감 근거가 아니다.</a:t>
            </a:r>
          </a:p>
          <a:p>
            <a:r>
              <a:t xml:space="preserve"/>
            </a:r>
          </a:p>
          <a:p>
            <a:r>
              <a:t xml:space="preserve">Claim Boundary: 강조 경로는 사람이 명시한 목표 경로이며 실제 실행 결과나 결정성·성공 보장이 아니다. 동일 모델·Agent가 항상 하나의 결과를 내고 다른 가능성이 사라진다는 주장을 하지 않는다. 테스트 기대값 보존은 이 예시의 유효한 명세를 전제로 한 조건이지 모든 테스트 수정 금지가 아니다. 완료 여부는 실제 변경과 검증 근거를 보고 사람이 수용한다.</a:t>
            </a:r>
          </a:p>
          <a:p>
            <a:r>
              <a:t xml:space="preserve"/>
            </a:r>
          </a:p>
          <a:p>
            <a:r>
              <a:t xml:space="preserve">보존된 상세 범위: 의도한 경로 표시는 실제 선택·정확성·성공을 보장하지 않습니다. 변경 뒤 검증은 계속 필요합니다.</a:t>
            </a:r>
          </a:p>
          <a:p>
            <a:r>
              <a:t xml:space="preserve"/>
            </a:r>
          </a:p>
          <a:p>
            <a:r>
              <a:t xml:space="preserve">Beginner Explanation: 요청에 지킬 기준·허용 범위·확인·보고 조건을 자연스러운 문장으로 더한다. 강조한 선은 사람이 원하는 경로이며 실제 테스트 통과 결과가 아니다.</a:t>
            </a:r>
          </a:p>
          <a:p>
            <a:r>
              <a:t xml:space="preserve"/>
            </a:r>
          </a:p>
          <a:p>
            <a:r>
              <a:t xml:space="preserve">Advanced Insight: Explicit intent constrains the acceptable solution space; it does not guarantee deterministic behavior or correctness. Preserve verification and distinguish the requested path from the observed path.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 교육용 프롬프트 재구성과 같은 시간선의 강조 전환을 보는 정적 Case다. 실제 Agent 호출·테스트·반복 실험을 수행하지 않는다.</a:t>
            </a:r>
          </a:p>
          <a:p>
            <a:r>
              <a:t xml:space="preserve"/>
            </a:r>
          </a:p>
          <a:p>
            <a:r>
              <a:t xml:space="preserve">Audience Interaction: 같은 요청에 더해진 네 문장과 구현 수정 범위의 연결을 확인하게 한다. 직접 작성·공유·실습은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“이제 답을 다시 읽기보다, 다른 요청에서도 개발자가 먼저 결정할 질문을 정리해 보겠습니다.”라고 S19로 연결한다.</a:t>
            </a:r>
          </a:p>
          <a:p>
            <a:r>
              <a:t xml:space="preserve"/>
            </a:r>
          </a:p>
          <a:p>
            <a:r>
              <a:t xml:space="preserve">Time Management: Case 2분. 자연스러운 요청 45초, 변경 범위·검증 경계 45초, 다음 질문으로 연결 30초. S17과 합쳐 Case 4분을 유지한다. 실제 발화·리허설 시간은 UNVERIFIED다.</a:t>
            </a:r>
          </a:p>
          <a:p>
            <a:r>
              <a:t xml:space="preserve"/>
            </a:r>
          </a:p>
          <a:p>
            <a:r>
              <a:t xml:space="preserve">Fallback: 정적 기본 경로 — `production/ACT_1.pptx` S18 또는 `production/preview/act1/S18.png`를 사용한다. 같은 crop 요청의 교육용 예시이며 실제 Trial 실행과 구분한다. 최종 PPT·Notes·PNG 검토는 production/evaluation/ACT1_SINGLE_CROP_REVISION.md를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DEC-0110에 따라 같은 crop 요청의 보존 기준·수정 범위·완료 근거를 정렬했다. 로컬 PPT·내장 Notes·렌더 결과는 production/evaluation/ACT1_SINGLE_CROP_REVISION.md에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S19 — 개발자가 정해야 하는 경계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S19</a:t>
            </a:r>
          </a:p>
          <a:p>
            <a:r>
              <a:t xml:space="preserve"/>
            </a:r>
          </a:p>
          <a:p>
            <a:r>
              <a:t xml:space="preserve">Working Title: 개발자가 정해야 하는 경계</a:t>
            </a:r>
          </a:p>
          <a:p>
            <a:r>
              <a:t xml:space="preserve"/>
            </a:r>
          </a:p>
          <a:p>
            <a:r>
              <a:t xml:space="preserve">ACT / Section: ACT 1 / 1B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Case 3 minutes + Reflection 1 minute</a:t>
            </a:r>
          </a:p>
          <a:p>
            <a:r>
              <a:t xml:space="preserve"/>
            </a:r>
          </a:p>
          <a:p>
            <a:r>
              <a:t xml:space="preserve">Primary Message: Prompt의 실용적 가치는 문장 장식보다 Task ambiguity reduction에 있다.</a:t>
            </a:r>
          </a:p>
          <a:p>
            <a:r>
              <a:t xml:space="preserve"/>
            </a:r>
          </a:p>
          <a:p>
            <a:r>
              <a:t xml:space="preserve">Opening Question: “다른 요청을 보내기 전, 개발자인 나는 무엇을 결정해야 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/>
            </a:r>
          </a:p>
          <a:p>
            <a:r>
              <a:t xml:space="preserve">1. (0:00–1:00 / Case) 앞 crop 예시의 정답을 다시 읽지 않고 “다른 요청에서도 내가 정해야 할 것은 무엇인가?”로 질문을 옮긴다. 원하는 변화와 우선순위, 지켜야 할 조건, 허용 범위, 완료 근거는 사람이 결정해 전달할 내용이다.</a:t>
            </a:r>
          </a:p>
          <a:p>
            <a:r>
              <a:t xml:space="preserve">2. (1:00–3:00 / Case) 화면의 다섯 질문을 각자가 익숙한 작업에 적용할 판단 질문으로 읽는다. 저장소의 구현·테스트 위치·현재 동작처럼 조사할 수 있는 사실은 Agent에게 확인하도록 맡길 수 있다. 저장소 밖의 요구나 결정되지 않은 기준은 조사만으로 정해지지 않으므로 필요한 내용을 알려 준다. 모든 Context를 직접 써서 붙이라는 뜻은 아니다.</a:t>
            </a:r>
          </a:p>
          <a:p>
            <a:r>
              <a:t xml:space="preserve">3. (3:00–4:00 / Reflection) 익숙한 요청 하나를 조용히 떠올리고 어떤 결정이 비어 있었는지 생각한다. 작성·공유·응답을 요구하지 않는다.</a:t>
            </a:r>
          </a:p>
          <a:p>
            <a:r>
              <a:t xml:space="preserve"/>
            </a:r>
          </a:p>
          <a:p>
            <a:r>
              <a:t xml:space="preserve">Evidence / Source: BEAT-004, CLM-0002. TEACHING_MODEL / CONCEPTUAL. 특정 요청이 특정 실패를 반드시 만든다고 하지 않는다.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이 과정의 질문 틀 · 정답을 제시하는 분류 시험이 아님</a:t>
            </a:r>
          </a:p>
          <a:p>
            <a:r>
              <a:t xml:space="preserve"/>
            </a:r>
          </a:p>
          <a:p>
            <a:r>
              <a:t xml:space="preserve">Claim Boundary: 다섯 질문은 수업용 질문 프레임이다. 특정한 단일 답이나 제품 기능으로 소개하지 않는다.</a:t>
            </a:r>
          </a:p>
          <a:p>
            <a:r>
              <a:t xml:space="preserve"/>
            </a:r>
          </a:p>
          <a:p>
            <a:r>
              <a:t xml:space="preserve">보존된 상세 범위: 마지막 1분은 익숙한 작업 하나를 조용히 떠올려 보세요.</a:t>
            </a:r>
          </a:p>
          <a:p>
            <a:r>
              <a:t xml:space="preserve"/>
            </a:r>
          </a:p>
          <a:p>
            <a:r>
              <a:t xml:space="preserve">Beginner Explanation: 저장소에서 조사할 수 있는 사실은 확인하도록 맡기고, 사람이 원하는 결과·우선순위·지킬 조건·완료 판단 근거를 정해 요청한다. 모든 Context를 직접 붙여 넣어야 한다는 뜻은 아니다.</a:t>
            </a:r>
          </a:p>
          <a:p>
            <a:r>
              <a:t xml:space="preserve"/>
            </a:r>
          </a:p>
          <a:p>
            <a:r>
              <a:t xml:space="preserve">Advanced Insight: Clarify scope, preserved contracts, acceptable change surface, and evidence before delegating.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</a:t>
            </a:r>
          </a:p>
          <a:p>
            <a:r>
              <a:t xml:space="preserve"/>
            </a:r>
          </a:p>
          <a:p>
            <a:r>
              <a:t xml:space="preserve">Audience Interaction: 마지막 1분은 비공개 Reflection이다. 말하기, 노트북, Prompt 작성은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“사람이 정할 답과 저장소에서 조사할 사실을 구분해, 다섯 항목의 작업 요청으로 정리해 보겠습니다.”라고 S20로 이동한다.</a:t>
            </a:r>
          </a:p>
          <a:p>
            <a:r>
              <a:t xml:space="preserve"/>
            </a:r>
          </a:p>
          <a:p>
            <a:r>
              <a:t xml:space="preserve">Time Management: Case 3분 후 Reflection 1분을 분리한다. 답을 제공하거나 공개 응답을 받지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S19 또는 `production/preview/act1/S19.png`를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S20 — Task Specification의 다섯 책임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S20</a:t>
            </a:r>
          </a:p>
          <a:p>
            <a:r>
              <a:t xml:space="preserve"/>
            </a:r>
          </a:p>
          <a:p>
            <a:r>
              <a:t xml:space="preserve">Working Title: Task Specification의 다섯 책임</a:t>
            </a:r>
          </a:p>
          <a:p>
            <a:r>
              <a:t xml:space="preserve"/>
            </a:r>
          </a:p>
          <a:p>
            <a:r>
              <a:t xml:space="preserve">ACT / Section: ACT 1 / 1C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Lecture 4 minutes</a:t>
            </a:r>
          </a:p>
          <a:p>
            <a:r>
              <a:t xml:space="preserve"/>
            </a:r>
          </a:p>
          <a:p>
            <a:r>
              <a:t xml:space="preserve">Primary Message: Goal, Context, Constraints, Process, Verification은 작업을 구체화하는 교육용 틀이다.</a:t>
            </a:r>
          </a:p>
          <a:p>
            <a:r>
              <a:t xml:space="preserve"/>
            </a:r>
          </a:p>
          <a:p>
            <a:r>
              <a:t xml:space="preserve">Opening Question: “사람이 정할 답과 저장소에서 조사할 사실을 요청에 어떻게 담을까?”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(0:00–0:40) S19의 질문을 이 과정의 Goal / Context / Constraints / Process / Verification 틀로 정리한다고 소개한다. 공식 제품 분류나 새 기능이 아니다.</a:t>
            </a:r>
          </a:p>
          <a:p>
            <a:r>
              <a:t xml:space="preserve">2. (0:40–2:20) Goal은 원하는 변화, Constraints는 지킬 조건·허용 범위다. Context는 작업에 관련된 사실과 찾아볼 위치이며, 저장소의 사실을 조사하도록 요청할 수 있다. 사람은 목표·우선순위·보존 조건·완료 판단 기준을 정하고, 저장소에서 알 수 없는 외부 요구는 필요한 만큼 제공한다.</a:t>
            </a:r>
          </a:p>
          <a:p>
            <a:r>
              <a:t xml:space="preserve">3. (2:20–4:00) Process는 조사·계획 등 요청한 진행 순서, Verification은 완료를 판단하려고 확인·보고받을 근거다. 두 항목 모두 작업 요청에 담을 내용이라는 연결을 고정한다. 다섯 항목의 이름을 반복 암기시키지 않고 다음 장의 실제 문장 위치로 넘긴다.</a:t>
            </a:r>
          </a:p>
          <a:p>
            <a:r>
              <a:t xml:space="preserve"/>
            </a:r>
          </a:p>
          <a:p>
            <a:r>
              <a:t xml:space="preserve">Evidence / Source: BEAT-005, CLM-0029, OQ-001, OQ-007. TEACHING_MODEL / CONCEPTUAL.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이 과정의 교육 모델 · 공식 OpenAI 분류나 모든 작업에 대한 법칙이 아님</a:t>
            </a:r>
          </a:p>
          <a:p>
            <a:r>
              <a:t xml:space="preserve"/>
            </a:r>
          </a:p>
          <a:p>
            <a:r>
              <a:t xml:space="preserve">Claim Boundary: 다섯 항목은 과정에서 쓰는 Task Specification 모델이지 공식 OpenAI taxonomy나 universal law가 아니다.</a:t>
            </a:r>
          </a:p>
          <a:p>
            <a:r>
              <a:t xml:space="preserve"/>
            </a:r>
          </a:p>
          <a:p>
            <a:r>
              <a:t xml:space="preserve">보존된 상세 범위: 저장소에서 확인할 사실은 조사하게 하고, 사람이 정할 목표·제약·완료 기준은 요청에 담습니다.</a:t>
            </a:r>
          </a:p>
          <a:p>
            <a:r>
              <a:t xml:space="preserve"/>
            </a:r>
          </a:p>
          <a:p>
            <a:r>
              <a:t xml:space="preserve">Beginner Explanation: 저장소에서 조사할 수 있는 사실은 확인하도록 맡기고, 사람이 원하는 결과·우선순위·지킬 조건·완료 판단 근거를 정해 요청한다. 모든 Context를 직접 붙여 넣어야 한다는 뜻은 아니다.</a:t>
            </a:r>
          </a:p>
          <a:p>
            <a:r>
              <a:t xml:space="preserve"/>
            </a:r>
          </a:p>
          <a:p>
            <a:r>
              <a:t xml:space="preserve">Advanced Insight: Separate task intent from retained project facts, and identify which judgment remains with the developer.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</a:t>
            </a:r>
          </a:p>
          <a:p>
            <a:r>
              <a:t xml:space="preserve"/>
            </a:r>
          </a:p>
          <a:p>
            <a:r>
              <a:t xml:space="preserve">Audience Interaction: 설명 중간에 다섯 책임이 줄이는 불확실성을 확인한다. 청중에게 작성 실습을 시키지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다섯 항목이 실제로 보낸 요청 문장의 어디에 들어가는지 보겠습니다.”라고 S21의 TRIAL-002 요청 발췌·번역으로 이동한다.</a:t>
            </a:r>
          </a:p>
          <a:p>
            <a:r>
              <a:t xml:space="preserve"/>
            </a:r>
          </a:p>
          <a:p>
            <a:r>
              <a:t xml:space="preserve">Time Management: 네 분 동안 각 항목을 한 문장으로 설명한다. 별도 Best Practice 목록이나 제품 기능으로 확장하지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S20 또는 `production/preview/act1/S20.png`를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S21 — 실제 요청에는 무엇을 담았을까?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S21</a:t>
            </a:r>
          </a:p>
          <a:p>
            <a:r>
              <a:t xml:space="preserve"/>
            </a:r>
          </a:p>
          <a:p>
            <a:r>
              <a:t xml:space="preserve">Working Title: 실제 요청에는 무엇을 담았을까?</a:t>
            </a:r>
          </a:p>
          <a:p>
            <a:r>
              <a:t xml:space="preserve"/>
            </a:r>
          </a:p>
          <a:p>
            <a:r>
              <a:t xml:space="preserve">ACT / Section: ACT 1 / 1C + 1F</a:t>
            </a:r>
          </a:p>
          <a:p>
            <a:r>
              <a:t xml:space="preserve"/>
            </a:r>
          </a:p>
          <a:p>
            <a:r>
              <a:t xml:space="preserve">Allocated Time: 9 minutes</a:t>
            </a:r>
          </a:p>
          <a:p>
            <a:r>
              <a:t xml:space="preserve"/>
            </a:r>
          </a:p>
          <a:p>
            <a:r>
              <a:t xml:space="preserve">Mode Split: Lecture 6 minutes + Case 3 minutes</a:t>
            </a:r>
          </a:p>
          <a:p>
            <a:r>
              <a:t xml:space="preserve"/>
            </a:r>
          </a:p>
          <a:p>
            <a:r>
              <a:t xml:space="preserve">Primary Message: 실제 요청은 Goal/Constraints/Process/Verification의 네 제목으로 작성됐다. 다섯 역할은 원문을 읽는 교육용 틀이며 Context는 관련 구현·호출 경로 등 조사 대상에서 읽는다. 원문에 없는 Context 문단을 만들지 않는다.</a:t>
            </a:r>
          </a:p>
          <a:p>
            <a:r>
              <a:t xml:space="preserve"/>
            </a:r>
          </a:p>
          <a:p>
            <a:r>
              <a:t xml:space="preserve">Opening Question: “실제로 보낸 요청에는 목표·맥락·제약·과정·검증이 어디에 담겨 있을까?”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(0:00–1:00 / Lecture) S20의 다섯 역할로 실제 TRIAL-002 요청을 읽는다고 밝힌다. 왼쪽은 실제 입력의 핵심 발췌·번역, 오른쪽은 교육용 주석이다. S16–S18 교육용 요청을 그대로 실행했다는 뜻이 아니다.</a:t>
            </a:r>
          </a:p>
          <a:p>
            <a:r>
              <a:t xml:space="preserve">2. (1:00–2:15 / Lecture) 원문의 Goal과 Constraints에서 crop 경계 실패 수정, 끝 좌표 제외 명세, 무관한 API·의존성·최소 변경 조건을 짚는다. 네 원문 제목을 다섯 개로 바꾸지 않는다.</a:t>
            </a:r>
          </a:p>
          <a:p>
            <a:r>
              <a:t xml:space="preserve">3. (2:15–3:45 / Lecture) Process의 01 실패 재현, 02 관련 구현·호출 경로 조사, 03 수정 전 계획 보고 후 승인 대기 없이 진행을 읽는다. 같은 문장을 S22에서 행동 기록과 대조하므로 여기서는 결과를 먼저 설명하지 않는다. 필요한 코드만 변경하라는 원문의 후속 절도 최소 수정 조건과 연결한다.</a:t>
            </a:r>
          </a:p>
          <a:p>
            <a:r>
              <a:t xml:space="preserve">4. (3:45–4:45 / Lecture) Context 주석은 02의 조사 대상·위치를 가리킨다. “이 저장소”도 작업 위치를 지정한다. 같은 문장이 맥락과 과정 역할을 함께 할 수 있고, 사람이 관련 내용을 모두 복사할 필요는 없다. 별도 Context 문단은 실제 입력에 없다.</a:t>
            </a:r>
          </a:p>
          <a:p>
            <a:r>
              <a:t xml:space="preserve">5. (4:45–6:00 / Lecture) Verification의 관련·전체 테스트, 가능한 경우 기존 합성 입력 CLI 실행, 최종 diff, 변경 파일·정확한 검증 근거 보고를 짚는다. 실제 승인 대기 없이 진행은 이 Trial의 조건이며 모든 업무의 승인 정책으로 일반화하지 않는다.</a:t>
            </a:r>
          </a:p>
          <a:p>
            <a:r>
              <a:t xml:space="preserve">6. (6:00–7:30 / Case) 요청 영역 밖의 명세 해석 예를 확인한다.4열 입력에 crop1 3이면 열1·2/폭2다. 실제 Prompt의 끝 좌표 제외 명세를 설명하는 예이며, 이 수치 예제가 그대로 입력됐다는 뜻은 아니다. C++ 출력·API/ABI·Release 검증은 필요할 때 Notes의 기존 적용 예로만 짧게 회수한다.</a:t>
            </a:r>
          </a:p>
          <a:p>
            <a:r>
              <a:t xml:space="preserve">7. (7:30–9:00 / Case) 목표·조사 대상·지킬 조건·진행·완료 근거가 어디에 드러나는지 정리한다. 이제 같은 요청의 과정 01–03이 실제 관찰 기록에서 어떻게 확인되는지 S22로 이동한다.</a:t>
            </a:r>
          </a:p>
          <a:p>
            <a:r>
              <a:t xml:space="preserve"/>
            </a:r>
          </a:p>
          <a:p>
            <a:r>
              <a:t xml:space="preserve">Evidence / Source: OBSERVED_PRODUCT / TEACHING_MODEL. plan/DEMO_MATRIX.md의 TRIAL-002 / Prompt used가 실제 입력 근거다.2026-09-28 macOS Codex CLI0.154.0 단일 실행의 보존 기록이며 화면은 원문 스크린샷이 아닌 핵심 발췌·번역이다. 아래 전문은 변경하지 않는다. 다섯 주석과 명세 예는 교육용 해석이며 Context 제목/문단을 원문에 추가하지 않는다. DEC-0111.</a:t>
            </a:r>
          </a:p>
          <a:p>
            <a:r>
              <a:t xml:space="preserve"/>
            </a:r>
          </a:p>
          <a:p>
            <a:r>
              <a:t xml:space="preserve">Actual Prompt (preserved source):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Goal: Investigate and fix the failing crop-boundary test in this repository.</a:t>
            </a:r>
          </a:p>
          <a:p>
            <a:r>
              <a:t xml:space="preserve">Constraints: preserve the public crop contract [x_start, x_end); do not change</a:t>
            </a:r>
          </a:p>
          <a:p>
            <a:r>
              <a:t xml:space="preserve">unrelated APIs; add no dependencies; keep the change minimal.</a:t>
            </a:r>
          </a:p>
          <a:p>
            <a:r>
              <a:t xml:space="preserve">Process: first reproduce the current failure; inspect the related</a:t>
            </a:r>
          </a:p>
          <a:p>
            <a:r>
              <a:t xml:space="preserve">implementation and call path; before editing, send a concise user-visible</a:t>
            </a:r>
          </a:p>
          <a:p>
            <a:r>
              <a:t xml:space="preserve">change plan and then continue without waiting for approval; make only the</a:t>
            </a:r>
          </a:p>
          <a:p>
            <a:r>
              <a:t xml:space="preserve">necessary code change.</a:t>
            </a:r>
          </a:p>
          <a:p>
            <a:r>
              <a:t xml:space="preserve">Verification: run the focused crop test and the full test suite; run a CLI</a:t>
            </a:r>
          </a:p>
          <a:p>
            <a:r>
              <a:t xml:space="preserve">smoke test using the existing synthetic input if practical; inspect the final</a:t>
            </a:r>
          </a:p>
          <a:p>
            <a:r>
              <a:t xml:space="preserve">diff; report changed files and exact verification evidence.</a:t>
            </a:r>
          </a:p>
          <a:p>
            <a:r>
              <a:t xml:space="preserve">Do not reveal or assume a particular code expression in advance. Do not</a:t>
            </a:r>
          </a:p>
          <a:p>
            <a:r>
              <a:t xml:space="preserve">modify the STATE-00 tag, create a STATE-00-FIXED commit or tag, add project</a:t>
            </a:r>
          </a:p>
          <a:p>
            <a:r>
              <a:t xml:space="preserve">guidance or other Harness files, or modify anything outside this isolated</a:t>
            </a:r>
          </a:p>
          <a:p>
            <a:r>
              <a:t xml:space="preserve">worktree. Leave the reviewed change uncommitted for the state-recording</a:t>
            </a:r>
          </a:p>
          <a:p>
            <a:r>
              <a:t xml:space="preserve">decision.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Displayed excerpt selection: 원문의 네 제목을 유지한다. Process의 필요한 코드만 변경하라는 절은 Constraints의 최소 수정과 함께 설명하며 화면에는 세 핵심 지시를 번호로 표시한다. 사전 정답 표현 금지, 격리 worktree, State/tag·Harness·커밋 관련 실험 통제는 화면에서 생략하고 위 전문에 보존한다. 기존 crop 관련 테스트 묶음의3건을 crop만의3건으로 바꾸지 않는다. CLM-0029, BEAT-005, INV-VERIFY-001.</a:t>
            </a:r>
          </a:p>
          <a:p>
            <a:r>
              <a:t xml:space="preserve"/>
            </a:r>
          </a:p>
          <a:p>
            <a:r>
              <a:t xml:space="preserve">Claim Boundary: 실제 입력 발췌·번역과 교육용 분류를 구분한다. 실제 원문에는 Context 제목이 없다. 원문에 없는 조사·승인·완료 조건을 실제 입력처럼 추가하지 않는다. 하단 열1·2/폭2는 명세 해석 예이며 원문에 들어간 수치 예제가 아니다. 짧은 요청과의 비교 실험·Prompt 단독 인과·우월성·비용 절감·결정론적 준수·현재 Desktop 재현을 주장하지 않는다. 실제 변경·검증 결과는 다음 장들에서 기존 기록으로 확인한다.</a:t>
            </a:r>
          </a:p>
          <a:p>
            <a:r>
              <a:t xml:space="preserve"/>
            </a:r>
          </a:p>
          <a:p>
            <a:r>
              <a:t xml:space="preserve">Beginner Explanation: 다섯 역할은 반드시 다섯 문단으로 작성해야 하는 규칙이 아니다. 이 저장소와 관련 구현·호출 경로를 지정하는 문장에서 조사할 맥락을 읽는다. 같은 문장이 무엇을 조사할지와 어떤 순서로 일할지를 함께 담을 수 있다.</a:t>
            </a:r>
          </a:p>
          <a:p>
            <a:r>
              <a:t xml:space="preserve"/>
            </a:r>
          </a:p>
          <a:p>
            <a:r>
              <a:t xml:space="preserve">Advanced Insight: Distinguish actual input provenance from the teaching taxonomy. Preserve four original headings; annotate Context as task location and investigation target without adding a synthetic paragraph. Separate source correspondence from causal attribution.</a:t>
            </a:r>
          </a:p>
          <a:p>
            <a:r>
              <a:t xml:space="preserve"/>
            </a:r>
          </a:p>
          <a:p>
            <a:r>
              <a:t xml:space="preserve">C++ Vision Bridge: SUPPORTING Notes cue only. 출력·API/ABI 보존 범위와 Release 검증 조건을 요청에 담는 기존 C++ 적용 예를 보존한다. 실제 TRIAL-002는 Python이며 이 C++ 예는 원문 입력·Windows 검증·새 실행의 근거가 아니다. 화면 주석과 혼잡해지지 않도록 Notes에서 필요할 때만 짧게 연결한다.</a:t>
            </a:r>
          </a:p>
          <a:p>
            <a:r>
              <a:t xml:space="preserve"/>
            </a:r>
          </a:p>
          <a:p>
            <a:r>
              <a:t xml:space="preserve">Demo Operation: 실제 TRIAL-002 요청의 정적 읽기다. S22에서 같은 Process01–03의 관찰 요약, S23에서 diff, S24에서 검증 근거를 확인한다. S21의 Lecture6/Case3은 기존 CAPTURED Demo8분에 더해 세지 않는다. 새 제품 실행·Trial·원시 터미널 캡처를 보여주지 않는다.</a:t>
            </a:r>
          </a:p>
          <a:p>
            <a:r>
              <a:t xml:space="preserve"/>
            </a:r>
          </a:p>
          <a:p>
            <a:r>
              <a:t xml:space="preserve">Audience Interaction: 원문 밖 주석을 따라 다섯 역할이 어디에 드러나는지 확인하게 한다. Case3분에는 명세 해석 예90초와 정보의 위치·같은 요청 연결90초를 사용한다. 작성·공유·실습·공개 답변을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요청의 과정 지시 01–03이 실제 기록에는 어떻게 남았을까요?”라고 같은 요청과 관찰 기록을 대조하는 S22로 이동한다.</a:t>
            </a:r>
          </a:p>
          <a:p>
            <a:r>
              <a:t xml:space="preserve"/>
            </a:r>
          </a:p>
          <a:p>
            <a:r>
              <a:t xml:space="preserve">Time Management: Lecture6분: 출처1분, 목표·제약1분15초, 과정1분30초, 맥락1분, 검증1분15초. Case3분: 원문 밖 명세 해석90초, 항목 회수·같은 요청 전환90초.9분과 기존 Mode를 유지하고 S22의 관찰 결과를 미리 강의하지 않는다. 실측 리허설은 UNVERIFIED다.</a:t>
            </a:r>
          </a:p>
          <a:p>
            <a:r>
              <a:t xml:space="preserve"/>
            </a:r>
          </a:p>
          <a:p>
            <a:r>
              <a:t xml:space="preserve">Fallback: production/ACT_1.pptx S21 또는 production/preview/act1/S21.png의 검증된 정적 화면을 사용한다. 전문은 plan/DEMO_MATRIX.md의 TRIAL-002 / Prompt used와 본 Notes에 보존한다. 실제 입력과 교육용 주석의 경계를 유지한다. 최종 로컬 대조는 production/evaluation/S21_TRIAL_REQUEST_REVISION.md를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DEC-0111의 실제 요청·주석·S22 연결 기준이다. 최종 PPT·내장 Notes·렌더 대조는 production/evaluation/S21_TRIAL_REQUEST_REVISION.md에 기록한다. Windows·교육장·현재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S22 — 요청한 과정은 기록에도 남았을까?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S22</a:t>
            </a:r>
          </a:p>
          <a:p>
            <a:r>
              <a:t xml:space="preserve"/>
            </a:r>
          </a:p>
          <a:p>
            <a:r>
              <a:t xml:space="preserve">Working Title: 요청한 과정은 기록에도 남았을까?</a:t>
            </a:r>
          </a:p>
          <a:p>
            <a:r>
              <a:t xml:space="preserve"/>
            </a:r>
          </a:p>
          <a:p>
            <a:r>
              <a:t xml:space="preserve">ACT / Section: ACT 1 / 1D</a:t>
            </a:r>
          </a:p>
          <a:p>
            <a:r>
              <a:t xml:space="preserve"/>
            </a:r>
          </a:p>
          <a:p>
            <a:r>
              <a:t xml:space="preserve">Allocated Time: 2 minutes</a:t>
            </a:r>
          </a:p>
          <a:p>
            <a:r>
              <a:t xml:space="preserve"/>
            </a:r>
          </a:p>
          <a:p>
            <a:r>
              <a:t xml:space="preserve">Mode Split: Lecture 2 minutes</a:t>
            </a:r>
          </a:p>
          <a:p>
            <a:r>
              <a:t xml:space="preserve"/>
            </a:r>
          </a:p>
          <a:p>
            <a:r>
              <a:t xml:space="preserve">Primary Message: 실제 요청과 관찰 기록을 대응시켜, 부탁한 작업 과정이 어디에 나타났는지 확인한다.</a:t>
            </a:r>
          </a:p>
          <a:p>
            <a:r>
              <a:t xml:space="preserve"/>
            </a:r>
          </a:p>
          <a:p>
            <a:r>
              <a:t xml:space="preserve">Opening Question: “실제로 요청한 재현·조사·수정 전 계획은 기록에 어떻게 남았을까?”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(0:00–0:15) S21에서 본 같은 TRIAL-002 요청의 Process01–03을 왼쪽에서 회수한다. 입력이 바뀌는 장이 아니다. 오른쪽은 보존된 관찰 요약이며 원시 CLI 로그나 계획 발언 원문 캡처가 아니다.</a:t>
            </a:r>
          </a:p>
          <a:p>
            <a:r>
              <a:t xml:space="preserve">2. (0:15–0:45 / 01) “먼저 현재 실패를 재현해줘”와 실패 crop 테스트를 찾아 재현했다는 Trial 기록을 대조한다. test_crop_excludes_end_coordinate는 TRIAL-001/STATE-00 코드에서 대조한 대상이다. TRIAL-002 원문 실패 로그가 남아 있다는 뜻이 아니므로 명령·출력·수치를 만들지 않는다.</a:t>
            </a:r>
          </a:p>
          <a:p>
            <a:r>
              <a:t xml:space="preserve">3. (0:45–1:10 / 02) “관련 구현과 호출 경로를 조사해줘”와 CLI-to-pipeline-to-crop 확인 기록을 대조한다. cli.main / pipeline.process_image / transform.crop는 제품 호출 관계이며 파일 읽기 순서·내부 사고 경로가 아니다. S21에서는 이 조사 대상을 Context 주석으로도 읽었다.</a:t>
            </a:r>
          </a:p>
          <a:p>
            <a:r>
              <a:t xml:space="preserve">4. (1:10–1:40 / 03) “수정 전 짧은 계획을 알리고, 승인 대기 없이 계속해줘”와 파일 변경 이벤트 전 끝 좌표·기존 테스트·API 보존 계획 보고를 대조한다. 승인 대기를 새 절차로 추가하지 않는다. 계획 발언 원문·원시 이벤트 시각이 미확인이므로 당시 발언처럼 따옴표로 만들지 않는다.</a:t>
            </a:r>
          </a:p>
          <a:p>
            <a:r>
              <a:t xml:space="preserve">5. (1:40–2:00) 같은 요청의04 최소 수정은 S23,05 확인·보고 결과는 S24로 이어짐을 가리킨다. 여기서는 diff·너비·통과 수치를 설명하지 않는다.</a:t>
            </a:r>
          </a:p>
          <a:p>
            <a:r>
              <a:t xml:space="preserve"/>
            </a:r>
          </a:p>
          <a:p>
            <a:r>
              <a:t xml:space="preserve">Evidence / Source: OBSERVED_PRODUCT. plan/DEMO_MATRIX.md의 TRIAL-002 / Prompt used 및 Investigation and visible plan checkpoint가 실제 요청·관찰 요약의 근거다. S21과 같은 요청이며 원문은 S21 Notes에도 보존한다. 테스트명·호출 기호는 TRIAL-001 및 Demo STATE-00 tests/test_transform.py, src/graypipe/cli.py, pipeline.py, transform.py의 실제 대상 식별자다. DEC-0044와 DEC-0111은 교육 표현·연결 수정이며 새 실험 근거가 아니다. 날짜2026-09-28, macOS Codex CLI0.154.0. 화면은 발췌·번역과 기록 요약이며 원시 CLI 캡처가 아니다.</a:t>
            </a:r>
          </a:p>
          <a:p>
            <a:r>
              <a:t xml:space="preserve"/>
            </a:r>
          </a:p>
          <a:p>
            <a:r>
              <a:t xml:space="preserve">Claim Boundary: S21과 같은 실제 요청을 단일 TRIAL-002의 관찰 요약과 대조한다. 원시 CLI 이벤트 파일·시각, 최초 재현 명령·실패 출력·계획 발언 원문은 미확인이다. 대상 코드 식별자를 로그 발췌로 위장하지 않는다. 입력과 행동의 대응을 Prompt 단독 효과·반복성·결정론적 준수·현재 Desktop/계정·다른 모델의 근거로 확대하지 않는다. S16–S18의 교육용 요청을 그대로 실행했다는 뜻이 아니다. 전체 실험 제약은 원문에 보존한다.</a:t>
            </a:r>
          </a:p>
          <a:p>
            <a:r>
              <a:t xml:space="preserve"/>
            </a:r>
          </a:p>
          <a:p>
            <a:r>
              <a:t xml:space="preserve">Beginner Explanation: 왼쪽은 실제로 무엇을 해 달라고 했는지, 오른쪽은 남아 있는 기록으로 무엇을 확인할 수 있는지다. 같은 단어를 되풀이하지 않고 테스트 대상, 제품 호출 경로, 수정 전 보고의 외부 근거를 찾는다.</a:t>
            </a:r>
          </a:p>
          <a:p>
            <a:r>
              <a:t xml:space="preserve"/>
            </a:r>
          </a:p>
          <a:p>
            <a:r>
              <a:t xml:space="preserve">Advanced Insight: Compare instructions with documented observation summaries. A recorded correspondence supports this single run; it neither reveals hidden reasoning nor isolates prompt causality. Preserve the distinction between a documented observation summary and a raw event quotation.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DEMO-05의 정적 도입으로 Lecture2분 유지. S21과 같은 요청의01–03을 왼쪽에서 회수해 오른쪽 관찰과 짝짓는다.04 실제 diff는 S23,05 검증 결과는 S24다. 관찰 요약·실제 대상 코드 식별자와 원시 로그를 구분한다. 새 Trial·현재 제품 실행·가짜 캡처를 보여주지 않는다.</a:t>
            </a:r>
          </a:p>
          <a:p>
            <a:r>
              <a:t xml:space="preserve"/>
            </a:r>
          </a:p>
          <a:p>
            <a:r>
              <a:t xml:space="preserve">Audience Interaction: 요청 문장과 오른쪽 근거를 한 행씩 따라오게 한다. 실습·공개 응답을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“요청한 과정이 기록에 남은 것을 확인했습니다. 이 조사와 계획 뒤 실제로 무엇을 바꿨는지 04 최소 수정 내용을 보겠습니다.”라고 S23로 이동한다. 05 확인·보고 결과는 S24에서 확인한다.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0:00–0:15 출처 구분, 0:15–0:45 재현, 0:45–1:10 호출 관계, 1:10–1:40 편집 전 계획, 1:40–2:00 다음 결과 연결. Lecture2분을 유지한다. 지시 전문 낭독·일반 디버깅 강의·S23 코드 diff·S24 결과 수치 설명을 추가하지 않는다. 실측 리허설은 UNVERIFIED다.</a:t>
            </a:r>
          </a:p>
          <a:p>
            <a:r>
              <a:t xml:space="preserve"/>
            </a:r>
          </a:p>
          <a:p>
            <a:r>
              <a:t xml:space="preserve">Fallback: production/ACT_1.pptx S22 또는 production/preview/act1/S22.png의 정적 대응 표를 사용한다. 원시 CLI 캡처가 없어도 기존 관찰 요약의 한계를 밝히고 S23/S24로 이어간다. 최종 로컬 대조는 production/evaluation/S21_TRIAL_REQUEST_REVISION.md를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DEC-0111에 따라 S21과 같은 실제 입력으로 연결하고 기존 관찰을 유지한다. 최종 PPT·내장 Notes·렌더 대조는 production/evaluation/S21_TRIAL_REQUEST_REVISION.md에 기록한다. Windows·교육장·현재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S23 — 조사에서 한 줄 변경까지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S23</a:t>
            </a:r>
          </a:p>
          <a:p>
            <a:r>
              <a:t xml:space="preserve"/>
            </a:r>
          </a:p>
          <a:p>
            <a:r>
              <a:t xml:space="preserve">Working Title: 조사에서 한 줄 변경까지</a:t>
            </a:r>
          </a:p>
          <a:p>
            <a:r>
              <a:t xml:space="preserve"/>
            </a:r>
          </a:p>
          <a:p>
            <a:r>
              <a:t xml:space="preserve">ACT / Section: ACT 1 / 1D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Demo 4 minutes (CAPTURED)</a:t>
            </a:r>
          </a:p>
          <a:p>
            <a:r>
              <a:t xml:space="preserve"/>
            </a:r>
          </a:p>
          <a:p>
            <a:r>
              <a:t xml:space="preserve">Primary Message: failing test와 호출 경로를 확인한 뒤, half-open 범위 계약을 보존하는 최소 변경을 했다.</a:t>
            </a:r>
          </a:p>
          <a:p>
            <a:r>
              <a:t xml:space="preserve"/>
            </a:r>
          </a:p>
          <a:p>
            <a:r>
              <a:t xml:space="preserve">Opening Question: “요청한 조사·보존 조건·최소 변경은 실제 diff에 어떻게 드러났을까?”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(0:00–1:00) S22 요청의 02 조사·03 계획을 회수한다. 실패 테스트 `test_crop_excludes_end_coordinate`와 `cli.main → pipeline.process_image → transform.crop` 호출 경로를 조사하고 수정 전에 짧은 계획을 알린 기록을 연결한다. 일반적인 수정 절차 강의를 새로 시작하지 않는다.</a:t>
            </a:r>
          </a:p>
          <a:p>
            <a:r>
              <a:t xml:space="preserve">2. (1:00–2:00) 요청에서 보존하라고 한 `[x_start, x_end)` 끝 좌표 제외 명세를 실제 변경의 기준으로 읽는다. 기존 S07–S08의 `crop(image, 1, 3)` 예시를 회수하고 명세를 바꿔 테스트를 맞춘 사례가 아님을 설명한다.</a:t>
            </a:r>
          </a:p>
          <a:p>
            <a:r>
              <a:t xml:space="preserve">3. (2:00–3:15) 04 최소 수정 요청과 실제 Before/After `row[x_start : x_end + 1]` / `row[x_start : x_end]` 한 줄을 대조한다. 무관한 API·의존성을 바꾸지 않은 기존 범위를 유지하며 새 해결 방식을 추가하지 않는다.</a:t>
            </a:r>
          </a:p>
          <a:p>
            <a:r>
              <a:t xml:space="preserve">4. (3:15–4:00) 해당 입력의 너비3이 명세대로2가 되는 변화로 정리하고, 요청에 있던 05 확인·보고의 근거를 다음 장에서 본다고 넘긴다. 정적 diff 재구성이며 새 실행·Screenshot이 아니다.</a:t>
            </a:r>
          </a:p>
          <a:p>
            <a:r>
              <a:t xml:space="preserve"/>
            </a:r>
          </a:p>
          <a:p>
            <a:r>
              <a:t xml:space="preserve">Evidence / Source: BEAT-006, TRIAL-002, INV-MATURITY-011, DEC-0039. OBSERVED_PRODUCT, one recorded CLI run. S23의 번호를 회수하되 기존 한 줄 diff와 끝 좌표 제외 명세를 유지한다.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TRIAL-002 · STATE-00 → STATE-00-FIXED · 실제 diff를 재구성한 도식</a:t>
            </a:r>
          </a:p>
          <a:p>
            <a:r>
              <a:t xml:space="preserve"/>
            </a:r>
          </a:p>
          <a:p>
            <a:r>
              <a:t xml:space="preserve">Claim Boundary: 실제 변경은 `src/graypipe/transform.py`의 crop slice 한 줄이다. 이 기록은 한 번의 Codex CLI 실행에 한정되며 Prompt 우월성, Desktop 동작 또는 일반 성공률을 증명하지 않는다.</a:t>
            </a:r>
          </a:p>
          <a:p>
            <a:r>
              <a:t xml:space="preserve"/>
            </a:r>
          </a:p>
          <a:p>
            <a:r>
              <a:t xml:space="preserve">보존된 상세 범위: src/graypipe/transform.py · 단일 CLI 기록 · 실제 터미널 화면이 아님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실패한 Test와 기대 명세를 먼저 맞춘 뒤 꼭 필요한 한 줄만 바꿨다. S22의 02·03이 04 수정과 어떻게 연결되는지 본다.</a:t>
            </a:r>
          </a:p>
          <a:p>
            <a:r>
              <a:t xml:space="preserve"/>
            </a:r>
          </a:p>
          <a:p>
            <a:r>
              <a:t xml:space="preserve">Advanced Insight: The code change matches the half-open public contract and is limited to the recorded diff; the plan checkpoint preceded editing.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DEMO-05 / CAPTURED historical evidence. `production/ACT_1.pptx` S23에서 S22의 02 조사·03 계획을 회수한 뒤 04 수정의 Before/After slice와 너비 변화를 가리킨다. source test ID: `test_crop_excludes_end_coordinate`. Source: TRIAL-002 record, STATE-00 및 STATE-00-FIXED의 `src/graypipe/transform.py`. 실제 diff의 재구성 도식이며 전체 파일이나 새 실행을 보여 주지 않는다.</a:t>
            </a:r>
          </a:p>
          <a:p>
            <a:r>
              <a:t xml:space="preserve"/>
            </a:r>
          </a:p>
          <a:p>
            <a:r>
              <a:t xml:space="preserve">Audience Interaction: 변경 전에 확인한 근거를 청중이 화면 순서대로 따라오게 한다. 참가자의 코드 검토나 답변을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“요청한 최소 수정까지 확인했습니다. 이제 요청에 적은 05 확인·보고가 어떤 기록으로 남았는지 보겠습니다.”라고 S24로 이동한다.</a:t>
            </a:r>
          </a:p>
          <a:p>
            <a:r>
              <a:t xml:space="preserve"/>
            </a:r>
          </a:p>
          <a:p>
            <a:r>
              <a:t xml:space="preserve">Time Management: 4분 Demo 구간 안에서 관찰과 변경을 요약한다. 전체 로그와 파일을 보여 주지 않고, 다음 장의 검증 시간을 침범하지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S23 또는 `production/preview/act1/S23.png`를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S24 — 변경 결과와 확인 증거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S24</a:t>
            </a:r>
          </a:p>
          <a:p>
            <a:r>
              <a:t xml:space="preserve"/>
            </a:r>
          </a:p>
          <a:p>
            <a:r>
              <a:t xml:space="preserve">Working Title: 변경 결과와 확인 증거</a:t>
            </a:r>
          </a:p>
          <a:p>
            <a:r>
              <a:t xml:space="preserve"/>
            </a:r>
          </a:p>
          <a:p>
            <a:r>
              <a:t xml:space="preserve">ACT / Section: ACT 1 / 1D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Demo 4 minutes (CAPTURED)</a:t>
            </a:r>
          </a:p>
          <a:p>
            <a:r>
              <a:t xml:space="preserve"/>
            </a:r>
          </a:p>
          <a:p>
            <a:r>
              <a:t xml:space="preserve">Primary Message: 이 사례의 결과는 생성된 코드뿐 아니라 명시된 검증과 diff 확인을 거친 변경이다.</a:t>
            </a:r>
          </a:p>
          <a:p>
            <a:r>
              <a:t xml:space="preserve"/>
            </a:r>
          </a:p>
          <a:p>
            <a:r>
              <a:t xml:space="preserve">Opening Question: “요청한 확인·보고 사항은 어떤 검증 기록으로 남았을까?”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(0:00–0:45) “05에서 무엇을 확인·보고해 달라고 요청했는가?”를 회수한다. 단일 TRIAL-002의 실제 기록이며 S21의 실제 요청에 대응하는 결과이며 S16–S18 교육용 Prompt를 그대로 실행한 결과가 아니다.</a:t>
            </a:r>
          </a:p>
          <a:p>
            <a:r>
              <a:t xml:space="preserve">2. (0:45–2:45) 요청과 결과를 세 묶음으로 맞춘다. 동작 확인 요청에는 관련 테스트 묶음3/3·프로젝트 전체 테스트11/11, CLI 샘플 실행 확인에는 기록된 PASS, 변경 내용 확인에는 한 파일·한 줄 수정과 `git diff --check` PASS가 대응한다. 실제 집중 실행은 `test_transform.py` 묶음이며 crop 테스트와 resize 보존 테스트를 포함하므로 “crop 테스트만3개”라고 좁혀 말하지 않는다. 원자료의 명령·통과 수치는 바꾸지 않는다.</a:t>
            </a:r>
          </a:p>
          <a:p>
            <a:r>
              <a:t xml:space="preserve">3. (2:45–3:30) 기록이 뒷받침하는 입력·테스트·변경 범위를 읽고 성능 benchmark는 미실행임을 밝힌다. 요청이 총 토큰·시간을 줄였다거나 성능을 개선했다는 결과로 바꾸지 않는다.</a:t>
            </a:r>
          </a:p>
          <a:p>
            <a:r>
              <a:t xml:space="preserve">4. (3:30–4:00) 확인 결과와 남은 미확인을 받아 사람이 완료를 판단하도록, 어떤 보고를 요청에 담아야 하는지 S25으로 연결한다.</a:t>
            </a:r>
          </a:p>
          <a:p>
            <a:r>
              <a:t xml:space="preserve"/>
            </a:r>
          </a:p>
          <a:p>
            <a:r>
              <a:t xml:space="preserve">Evidence / Source: BEAT-007, INV-VERIFY-001, TRIAL-002, CLM-0029, CLM-0027. OBSERVED_PRODUCT, one Codex CLI run.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TRIAL-002 기록 요약 · 단일 Codex CLI 실행 · STATE-00-FIXED</a:t>
            </a:r>
          </a:p>
          <a:p>
            <a:r>
              <a:t xml:space="preserve"/>
            </a:r>
          </a:p>
          <a:p>
            <a:r>
              <a:t xml:space="preserve">Claim Boundary: Focused test 3/3, full suite 11/11, CLI smoke PASS, diff 1 file / 1 line, and `git diff --check` PASS are the recorded results of TRIAL-002. They do not establish every input, platform, or future product run.</a:t>
            </a:r>
          </a:p>
          <a:p>
            <a:r>
              <a:t xml:space="preserve"/>
            </a:r>
          </a:p>
          <a:p>
            <a:r>
              <a:t xml:space="preserve">보존된 상세 범위: 해당 테스트·입력·수정 범위의 확인입니다. 성능 benchmark는 수행하지 않았습니다.</a:t>
            </a:r>
          </a:p>
          <a:p>
            <a:r>
              <a:t xml:space="preserve"/>
            </a:r>
          </a:p>
          <a:p>
            <a:r>
              <a:t xml:space="preserve">Beginner Explanation: 요청한 관련 테스트 묶음·전체 테스트·CLI 샘플·변경 내용 확인이 어떤 기록으로 돌아왔는지 본다. 실제 관련 묶음3/3은 test_transform.py이며 resize 보존 테스트도 포함하므로 crop 테스트만3개로 좁히지 않는다.</a:t>
            </a:r>
          </a:p>
          <a:p>
            <a:r>
              <a:t xml:space="preserve"/>
            </a:r>
          </a:p>
          <a:p>
            <a:r>
              <a:t xml:space="preserve">Advanced Insight: Each check supports a bounded claim: targeted behavior, existing suite coverage, one sample CLI path, and change scope. No benchmark was run.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DEMO-05 / CAPTURED result summary. 세 시각 묶음 안의 다섯 기록된 확인을 설명한다. 실제 터미널 screenshot이나 새 실행이 아니다. Focused 3/3, full 11/11, CLI PASS, one file/line, diff check PASS만 사용한다. Benchmark는 미실행이다.</a:t>
            </a:r>
          </a:p>
          <a:p>
            <a:r>
              <a:t xml:space="preserve"/>
            </a:r>
          </a:p>
          <a:p>
            <a:r>
              <a:t xml:space="preserve">Audience Interaction: 각 Check가 무엇을 뒷받침하는지 읽게 한다. 청중에게 테스트 실행을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확인 결과와 아직 모르는 점을 받아야 사람이 완료 여부를 판단할 수 있습니다. 무엇을 보고해 달라고 요청해야 할까요?”라고 S25으로 연결한다.</a:t>
            </a:r>
          </a:p>
          <a:p>
            <a:r>
              <a:t xml:space="preserve"/>
            </a:r>
          </a:p>
          <a:p>
            <a:r>
              <a:t xml:space="preserve">Time Management: 세 묶음에 각각 한 가지 확인 범위를 말한다. 다섯 로그를 전문으로 읽지 않는다. 마지막 30초에 생성과 완료의 차이로 전환한다.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S24 또는 `production/preview/act1/S24.png`를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S25 — Generated ≠ Done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S25</a:t>
            </a:r>
          </a:p>
          <a:p>
            <a:r>
              <a:t xml:space="preserve"/>
            </a:r>
          </a:p>
          <a:p>
            <a:r>
              <a:t xml:space="preserve">Working Title: Generated ≠ Done</a:t>
            </a:r>
          </a:p>
          <a:p>
            <a:r>
              <a:t xml:space="preserve"/>
            </a:r>
          </a:p>
          <a:p>
            <a:r>
              <a:t xml:space="preserve">ACT / Section: ACT 1 / 1E</a:t>
            </a:r>
          </a:p>
          <a:p>
            <a:r>
              <a:t xml:space="preserve"/>
            </a:r>
          </a:p>
          <a:p>
            <a:r>
              <a:t xml:space="preserve">Allocated Time: 3 minutes</a:t>
            </a:r>
          </a:p>
          <a:p>
            <a:r>
              <a:t xml:space="preserve"/>
            </a:r>
          </a:p>
          <a:p>
            <a:r>
              <a:t xml:space="preserve">Mode Split: Lecture 3 minutes</a:t>
            </a:r>
          </a:p>
          <a:p>
            <a:r>
              <a:t xml:space="preserve"/>
            </a:r>
          </a:p>
          <a:p>
            <a:r>
              <a:t xml:space="preserve">Primary Message: Task는 결과뿐 아니라 적절한 검증과 review를 포함해야 한다.</a:t>
            </a:r>
          </a:p>
          <a:p>
            <a:r>
              <a:t xml:space="preserve"/>
            </a:r>
          </a:p>
          <a:p>
            <a:r>
              <a:t xml:space="preserve">Opening Question: “무엇을 확인·보고해 달라고 요청해야 완료를 판단할 수 있을까?”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(0:00–0:45) “무엇을 확인·보고해 달라고 요청해야 완료를 판단할 수 있을까?”를 묻는다. 코드 생성 이후의 검증을 별도 테스트 수업으로 시작하지 않고, 요청의 Verification과 결과 보고를 회수한다.</a:t>
            </a:r>
          </a:p>
          <a:p>
            <a:r>
              <a:t xml:space="preserve">2. (0:45–2:15) 변경 이유·범위, 확인 근거·결과, 미확인 사항을 보고받고 사람이 수용 여부를 결정하는 네 항목을 읽는다. 끝 좌표 명세에 맞춘 한 줄 수정, 관련·전체 테스트 실행과 CLI 샘플·변경 내용 확인, 성능 미측정 같은 정보다. S24 수치는 다시 낭독하지 않는다. 이 형식은 교육용 정리이며 실제 PR·당시 답변 원문이나 사람의 승인 완료 기록이 아니다.</a:t>
            </a:r>
          </a:p>
          <a:p>
            <a:r>
              <a:t xml:space="preserve">3. (2:15–2:45) “더 빨라졌다”는 변화가 목표인 경우에는 그 조건의 성능 측정도 완료 근거로 요청해야 한다는 기존 경계를 짚는다. 이 crop Trial에서 benchmark를 수행했다는 뜻이 아니다.</a:t>
            </a:r>
          </a:p>
          <a:p>
            <a:r>
              <a:t xml:space="preserve">4. (2:45–3:00) 완료를 판단하려는 결과에 맞춰 어떤 확인을 요청할지 다음 장에서 고른다고 넘긴다.</a:t>
            </a:r>
          </a:p>
          <a:p>
            <a:r>
              <a:t xml:space="preserve"/>
            </a:r>
          </a:p>
          <a:p>
            <a:r>
              <a:t xml:space="preserve">Evidence / Source: BEAT-007, INV-VERIFY-001, TRIAL-002, CLM-0029, CLM-0027. OBSERVED_PRODUCT and separate TEACHING_MODEL.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결과 인계 예 · TRIAL-002 기록 재구성 · 실제 PR 원문이 아님</a:t>
            </a:r>
          </a:p>
          <a:p>
            <a:r>
              <a:t xml:space="preserve"/>
            </a:r>
          </a:p>
          <a:p>
            <a:r>
              <a:t xml:space="preserve">Claim Boundary: 본문의 생성→완료 판단 관계와 확인 방법은 이 과정의 TEACHING_MODEL이다. 하단 출처에서 회수하는 TRIAL-002의 관찰은 테스트·CLI·diff에 한정된다. Benchmark는 조건부 검증 예이며 TRIAL-002에서 수행하지 않았다. 검토용 결과 인계의 형식은 기존 기록을 설명하는 교육용 재구성이며 실제 PR, 당시 답변 원문 또는 사람의 승인 완료 기록이 아니다.</a:t>
            </a:r>
          </a:p>
          <a:p>
            <a:r>
              <a:t xml:space="preserve"/>
            </a:r>
          </a:p>
          <a:p>
            <a:r>
              <a:t xml:space="preserve">보존된 상세 범위: 검사는 주장과 위험에 맞춰 선택합니다. TRIAL-002에서 benchmark는 수행하지 않았습니다.</a:t>
            </a:r>
          </a:p>
          <a:p>
            <a:r>
              <a:t xml:space="preserve"/>
            </a:r>
          </a:p>
          <a:p>
            <a:r>
              <a:t xml:space="preserve">Beginner Explanation: 완료를 판단할 수 있도록 변경 내용·확인 결과·미확인 사항을 함께 보고해 달라고 요청한다. 결과를 받아 수용할지는 사람이 결정한다.</a:t>
            </a:r>
          </a:p>
          <a:p>
            <a:r>
              <a:t xml:space="preserve"/>
            </a:r>
          </a:p>
          <a:p>
            <a:r>
              <a:t xml:space="preserve">Advanced Insight: Choose checks from the task’s risk and the exact claim being made; do not demand every check for every task.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이 장에서는 새 C++ 예시를 추가하지 않는다. S26의 확인 방법 선택 뒤 S27의 같은 crop 목표별 검증 요청으로 연결한다. vector·GoogleTest 반례는 S27의 선택 참고 Notes에만 둔다. 주요 C++ 패턴 전이는 S76에서 이어 간다. 도구 설치·실행 수업으로 확장하지 않는다.</a:t>
            </a:r>
          </a:p>
          <a:p>
            <a:r>
              <a:t xml:space="preserve"/>
            </a:r>
          </a:p>
          <a:p>
            <a:r>
              <a:t xml:space="preserve">Demo Operation: TRIAL-002 verification callback only; DEMO-05의 8분 구간 밖이다. 새 관찰 카드나 새 실행 결과를 보여 주지 않고 하단 출처로 과거 확인 범위를 회수한다. 검토용 결과 인계는 기존 기록을 가리키는 강의용 정리이며 실제 PR 화면으로 표현하지 않는다. 본문은 교육 모델로 설명한다.</a:t>
            </a:r>
          </a:p>
          <a:p>
            <a:r>
              <a:t xml:space="preserve"/>
            </a:r>
          </a:p>
          <a:p>
            <a:r>
              <a:t xml:space="preserve">Audience Interaction: 별도 Q&amp;A 시간은 배정되지 않았다. 청중에게 생각할 질문을 주고 다음 장에서 범위를 보여 준다.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“완료를 판단하려는 결과에 맞춰 어떤 확인을 요청해야 할까요?”라고 S26의 확인 범위 선택으로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Lecture3분: 완료 판단에 필요한 보고 요청45초, 변경 내용·확인 결과·미확인 사항90초, 성능 주장에 필요한 조건부 근거30초, 구체 완료 조건 연결15초. S24 수치·테스트 용어를 반복 강의하지 않는다. 실제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S25 또는 `production/preview/act1/S25.png`를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S26 — 원하는 결과에 맞춰 확인 방법을 고른다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S26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원하는 결과에 맞춰 확인 방법을 고른다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1E + 1F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2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2 minutes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명세 준수·기존 테스트 범위의 동작·CLI 샘플 경로·변경 범위·실행시간은 서로 다른 확인을 필요로 한다. 확인한 입력과 범위 안에서 판단한다.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“원하는 결과를 무엇으로 확인해 달라고 요청할까?”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(0:00–0:20 / Lecture) S25는 근거를 받아 사람이 완료를 판단한다는 원칙이었다. 이제 그 판단을 위해 어떤 확인을 요청할지 고른다.</a:t>
            </a:r>
          </a:p>
          <a:p>
            <a:r>
              <a:t xml:space="preserve">2. (0:20–1:35 / Lecture) 왼쪽 질문에서 오른쪽 확인으로 읽는다. 명세 준수는 관련 동작 테스트, 기존 테스트가 다루는 동작은 전체 테스트, CLI는 해당 샘플 경로, diff는 변경 범위를 확인한다. 기존 관련3건에는 resize도 있어 crop만의3건이라 하지 않는다.</a:t>
            </a:r>
          </a:p>
          <a:p>
            <a:r>
              <a:t xml:space="preserve">3. (1:35–1:50 / Lecture) 시간 단축을 주장하려면 같은 입력·환경의 전후 측정이 필요하다. 당시 TRIAL-002에서 성능은 측정하지 않았고, 테스트 통과만으로 시간 단축을 말하지 않는다.</a:t>
            </a:r>
          </a:p>
          <a:p>
            <a:r>
              <a:t xml:space="preserve">4. (1:50–2:00 / Lecture) 같은 crop이어도 목표가 오류 수정인지 시간 단축인지에 따라 검증 요청이 어떻게 달라지는지 S27로 연결한다.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OBSERVED_PRODUCT / TEACHING_MODEL. plan/DEMO_MATRIX.md TRIAL-002의 기존 Python 검증 기록. 검사와 판단 범위의 대응은 교육 모델이다. 성능 미측정. DEC-0114.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FROZEN WITH SCOPE / TEACHING MODEL — TRIAL-002에서 실제 수행한 관련·전체 테스트, CLI 샘플, diff 확인은 기존 Python 기록에 한정한다. 검사와 주장 범위의 대응은 교육 모델이며 성능 측정은 미실행이다. 현재 CLI/제품 재현·Prompt 우월성·비용 절감·성능 향상을 새로 주장하지 않는다. 검사가 다룬 입력·범위 안에서 판단한다.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완료를 판단하려는 질문에 맞는 확인을 요청한다.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검사 범위를 통과 범위 이상으로 일반화하지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화면에는 C++ 코드나 vector 예시를 넣지 않는다. 선택적 assertion 반례와 Release/API/ABI·측정 조건 대응은 S27 Notes에만 보존한다.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실제 TRIAL-002 확인 기록을 회수하되 새로운 Demo 시간·실행·비교를 추가하지 않는다. 정적 Lecture/Reflection이며 별도 Demo 배정·Live 실행을 추가하지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질문은 기존 ACT1 Q&amp;A로 회수한다. 별도 실습·답변 시간을 추가하지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“같은 crop 작업이라도 목표가 달라지면 확인 요청도 달라질까요?”라고 S27의 교육용 요청 비교로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Lecture2분. 다섯 확인을 읽되 테스트 문법·crop 수치 예시를 다시 강의하지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S26 또는 production/preview/act1/S26.png의 정적 화면을 사용한다. 근거 경계를 유지하고 새 실행을 시연하지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DEC-0114의 두 장·기존5분·근거 경계를 따른다. 최종 렌더·내장 Notes 검증은 production/evaluation/VERIFICATION_REQUEST_DESIGN_REVISION.md를 따른다. Windows·교육장·제품/계정·실측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S27 — 목표가 달라지면 검증 요청도 달라진다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S27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목표가 달라지면 검증 요청도 달라진다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1E + 1F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3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2 minutes + Reflection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오류 수정은 명세와 관련·전체 테스트, CLI 샘플과 변경 범위를 확인한다. 시간 단축은 기존 동작 확인에 같은 입력·환경의 변경 전후 시간 측정을 더 요청한다. 결과와 미확인 사항도 받는다.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“오류 수정과 시간 단축에서 무엇을 확인·보고해 달라고 요청할까?”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(0:00–0:20 / Lecture) 두 문장은 검증 부분의 교육용 작성 예시이며 실제 Trial 원문이 아님을 분명히 한다. 같은 crop의 두 목표를 읽는다.</a:t>
            </a:r>
          </a:p>
          <a:p>
            <a:r>
              <a:t xml:space="preserve">2. (0:20–1:05 / Lecture) 왼쪽은 경계 오류 수정이다. 저장소의 기존 crop 명세를 참조하고 관련·전체 테스트, CLI 샘플, 최종 diff와 결과·미확인 보고를 요청한다. 명세의 기대 수치나 assertion을 다시 강의하지 않는다.</a:t>
            </a:r>
          </a:p>
          <a:p>
            <a:r>
              <a:t xml:space="preserve">3. (1:05–1:45 / Lecture) 오른쪽은 실행시간 단축을 맡기는 가정이다. 기존 동작을 확인하면서 같은 입력·환경의 변경 전후 시간을 측정하고 조건·결과·미확인을 보고하도록 요청한다. 측정하지 않은 결과를 성과로 말하지 않는다.</a:t>
            </a:r>
          </a:p>
          <a:p>
            <a:r>
              <a:t xml:space="preserve">4. (1:45–2:00 / Lecture) 차이는 원하는 변화에 맞는 근거를 요청한다는 점이다. 모든 작업에 모든 검사를 넣거나 명세의 모든 값을 복사하도록 가르치지 않는다.</a:t>
            </a:r>
          </a:p>
          <a:p>
            <a:r>
              <a:t xml:space="preserve">5. (2:00–3:00 / Reflection) 다음에 맡길 작업 하나와 완료를 판단할 근거 하나를 조용히 떠올리게 한다. 작성·발표·실습을 요구하지 않는다.3분에 S28 문장 도구로 이동한다.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TEACHING_MODEL. DEC-0114의 두 교육용 검증 요청이다. 실제 S21 원문 발췌·S22 행동·S23 수정·S24 검증 기록과 분리하며 새 실행·측정이 없다.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TEACHING MODEL — 두 요청은 검증 부분의 교육용 작성 예시다. 실제 TRIAL-002 요청의 인용·새 실행·측정 결과·Prompt 우월성·성능 개선 성과가 아니다. 당시 crop Trial의 성능은 미측정이다. 현재 CLI/제품 재현·Prompt 우월성·비용 절감·성능 향상을 새로 주장하지 않는다. 검사가 다룬 입력·범위 안에서 판단한다.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원하는 변화에 맞춰 무엇을 확인하고 보고할지 요청 문장으로 쓸 수 있다.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동작 검증과 성능 검증의 근거 범위를 구분한다. 이미 저장소에 있는 명세를 참조하며 모든 기대값을 매번 복사하도록 요구하지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선택 참고 — ACT0에서 본 명세를 다시 설명하는 기본 발표 내용은 아니다. 기존 DEC-0041/DEC-0112의 C++ 교육용 반례를 보존한다.</a:t>
            </a:r>
          </a:p>
          <a:p>
            <a:r>
              <a:t xml:space="preserve">입력 {1,2,3,4}의 반열림 crop [1,3)에서 기대는 {2,3}, 명세를 어긴 예는 {2,3,4}다. 두 vector는 모두 비어 있지 않아 EXPECT_FALSE(actual.empty());만으로는 이 차이를 구별하지 못한다.</a:t>
            </a:r>
          </a:p>
          <a:p>
            <a:r>
              <a:t xml:space="preserve">```cpp</a:t>
            </a:r>
          </a:p>
          <a:p>
            <a:r>
              <a:t xml:space="preserve">std::vector&lt;int&gt; expected{2, 3};</a:t>
            </a:r>
          </a:p>
          <a:p>
            <a:r>
              <a:t xml:space="preserve">EXPECT_EQ(actual, expected);</a:t>
            </a:r>
          </a:p>
          <a:p>
            <a:r>
              <a:t xml:space="preserve">```</a:t>
            </a:r>
          </a:p>
          <a:p>
            <a:r>
              <a:t xml:space="preserve">vector 동등 비교는 길이·순서별 값을 비교한다. EXPECT_EQ(actual.size(), 2u);는 폭 조건을 따로 드러내지만 위 동등 비교와 중복된다. 하나의 입력이 모든 입력의 정확성을 입증하지 않는다. 이 반례·코드·가상 요청은 실제 Python TRIAL-002 assertion, 잘못된 결과의 PASS 기록, 새 컴파일·GoogleTest 실행이 아니다.</a:t>
            </a:r>
          </a:p>
          <a:p>
            <a:r>
              <a:t xml:space="preserve">기술 의미 출처: [GoogleTest Primer](https://google.github.io/googletest/primer.html), [Microsoft vector operators](https://learn.microsoft.com/en-us/cpp/standard-library/vector-operators?view=msvc-170). 기존 확인2026-10-27의 의미만 보존한다. Release/API/ABI 등 프로젝트별 조건은 해당 프로젝트에서 정하고 확인한다.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기존 crop을 유지한 두 목표의 교육용 요청 비교다. S21–S24 실제 요청·행동·수정·검증 기록과 구분한다. 새 Trial·Demo 시간·benchmark 결과를 추가하지 않는다. 정적 Lecture/Reflection이며 별도 Demo 배정·Live 실행을 추가하지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마지막1분은 자신이 맡길 작업과 완료를 판단할 근거 하나를 조용히 떠올린다. 작성·공유·실습을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“요청에 담을 확인 기준을 정했습니다. 이제 이를 명확하게 전달하는 문장 도구를 보겠습니다.”라고 S28의 실무 적용 팁으로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Lecture2분+Reflection1분=3분. S26/S27 합계5분=Lecture4+Reflection1이다.2분에 설명을 마치고 조용히 생각할1분을 보장한다.3분에 S28로 이동한다. 실제 시간 적합성은 리허설 전까지 UNVERIFIED.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S27 또는 production/preview/act1/S27.png의 정적 화면을 사용한다. 근거 경계를 유지하고 새 실행을 시연하지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DEC-0114의 두 장·기존5분·근거 경계를 따른다. 최종 렌더·내장 Notes 검증은 production/evaluation/VERIFICATION_REQUEST_DESIGN_REVISION.md를 따른다. Windows·교육장·제품/계정·실측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S28 — 지시와 참고 자료의 구분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S28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지시와 참고 자료의 구분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여러 자료가 섞일 때, 제목으로 읽을 경계를 표시한다.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“요청과 로그·명세가 한 메시지에 섞일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상단의 “조건부”과 “이럴 때 사용”을 짚는다. 핵심5개는 교육 우선순위이며 모든 요청에 의무로 넣는 뜻은 아니다. 조건부3개는 해당 상황일 때만 선택한다.</a:t>
            </a:r>
          </a:p>
          <a:p>
            <a:r>
              <a:t xml:space="preserve">2. 0:15–0:45: 요청 예시의 핵심 두세 행과 오른쪽 선택 기준만 연결한다. 구획의 존재보다 지시와 참고 자료의 역할을 구분한다.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# 요청</a:t>
            </a:r>
          </a:p>
          <a:p>
            <a:r>
              <a:t xml:space="preserve">crop 경계 오류의 원인만 조사해줘.</a:t>
            </a:r>
          </a:p>
          <a:p>
            <a:r>
              <a:t xml:space="preserve">코드는 수정하지 마.</a:t>
            </a:r>
          </a:p>
          <a:p>
            <a:r>
              <a:t xml:space="preserve"># 참고 명세</a:t>
            </a:r>
          </a:p>
          <a:p>
            <a:r>
              <a:t xml:space="preserve">crop [1,3)의 기대 폭은 2</a:t>
            </a:r>
          </a:p>
          <a:p>
            <a:r>
              <a:t xml:space="preserve"># 참고 로그</a:t>
            </a:r>
          </a:p>
          <a:p>
            <a:r>
              <a:t xml:space="preserve">expected=2, actual=3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“여러 자료가 섞일 때, 제목으로 읽을 경계를 표시한다.”를 회수하고 다음 장으로 이동한다. 자료의 구획 다음에는, 모델이 모르는 팀 고유 표기를 예시로 알려주는 S29로 이동한다.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CLM-0032; SRC-0230, SRC-0231. 공식 문서 본문을2026-10-30 재확인했다. https://developers.openai.com/api/docs/guides/prompt-engineering; https://developers.openai.com/api/docs/guides/reasoning-best-practices.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구획은 해석을 돕는 표시이며, 보안 격리를 보장하지 않는다.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구획의 존재보다 지시와 참고 자료의 역할을 구분한다.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제목·태그는 논리적 구획이다. 모든 짧은 요청에 XML을 붙일 필요가 없고 자료의 진위·보안 격리를 보장하지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자료의 구획 다음에는, 모델이 모르는 팀 고유 표기를 예시로 알려주는 S29로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S28 또는 production/preview/act1/S28.png의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DEC-0116. 최종 PPT/Notes/렌더 검사는 production/evaluation/PROMPT_METHODS_REVISION.md를 따른다. Windows PowerPoint·발표 PC 글꼴·교육장·제품/계정·실측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S29 — 입력과 기대 결과의 작은 예시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S29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입력과 기대 결과의 작은 예시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Case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모델이 모르는 우리 기준을 입력·출력 예시로 전달한다.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“사내 고유 표기·분류가 설명만으로 안 맞을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상단의 “조건부”과 “이럴 때 사용”을 짚는다. 핵심5개는 교육 우선순위이며 모든 요청에 의무로 넣는 뜻은 아니다. 조건부3개는 해당 상황일 때만 선택한다.</a:t>
            </a:r>
          </a:p>
          <a:p>
            <a:r>
              <a:t xml:space="preserve">2. 0:15–0:45: 요청 예시의 핵심 두세 행과 오른쪽 선택 기준만 연결한다. 예시를 먼저 쌓지 않고 간단한 요청이 부족할 때 추가한다.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우리 팀의 보고 표기를 아래 예시처럼 맞춰줘.</a:t>
            </a:r>
          </a:p>
          <a:p>
            <a:r>
              <a:t xml:space="preserve">테스트 로그 있음: [실행 확인] 명령·결과</a:t>
            </a:r>
          </a:p>
          <a:p>
            <a:r>
              <a:t xml:space="preserve">코드만 검토함: [코드 검토] 파일·판단</a:t>
            </a:r>
          </a:p>
          <a:p>
            <a:r>
              <a:t xml:space="preserve">근거를 못 찾음: [미확인] 필요한 자료</a:t>
            </a:r>
          </a:p>
          <a:p>
            <a:r>
              <a:t xml:space="preserve"/>
            </a:r>
          </a:p>
          <a:p>
            <a:r>
              <a:t xml:space="preserve">첨부한 변경 보고서를 같은 형식으로 정리해줘.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“모델이 모르는 우리 기준을 입력·출력 예시로 전달한다.”를 회수하고 다음 장으로 이동한다. 예시가 필요한 상황을 확인했다. 다음 S30에서는 보고 전체의 항목과 읽을 순서를 정한다.</a:t>
            </a:r>
          </a:p>
          <a:p>
            <a:r>
              <a:t xml:space="preserve">S29의 팀 기준은 교육용 가정이며 실제 회사 규정을 제공받거나 검증한 것이 아니다. 첨부 보고서는 수강자가 자기 자료로 바꿔 넣는 자리다. [실행 확인]은 실제 명령·결과 근거가 있을 때만 쓰며 이 화면에 실행 결과를 제시하지 않는다.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CLM-0033; SRC-0230, SRC-0231. 공식 문서 본문을2026-10-30 재확인했다. https://developers.openai.com/api/docs/guides/reasoning-best-practices; https://developers.openai.com/api/docs/guides/prompt-engineering.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가상 팀의 보고 기준 · 실제 사내 규정이나 실행 결과가 아님 S29의 팀 기준은 교육용 가정이며 실제 회사 규정을 제공받거나 검증한 것이 아니다. 첨부 보고서는 수강자가 자기 자료로 바꿔 넣는 자리다. [실행 확인]은 실제 명령·결과 근거가 있을 때만 쓰며 이 화면에 실행 결과를 제시하지 않는다.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예시를 먼저 쌓지 않고 간단한 요청이 부족할 때 추가한다.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공식 추론 가이드는 zero-shot부터 시도하고 필요한 경우 정렬된 예시를 추가하도록 권한다. 일반 배열 인덱싱을 다시 가르치지 않고 업무 고유 표기·분류에 적용한다. 예시는 전체 정책·명세를 대신하지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검사 프로젝트의 변경 보고에 적용할 수 있는 가상 팀 표기 예시다. 실제 회사 정책·장비 판정·실행 결과를 새로 확정하지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예시가 필요한 상황을 확인했다. 다음 S30에서는 보고 전체의 항목과 읽을 순서를 정한다.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Case1분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S29 또는 production/preview/act1/S29.png의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DEC-0116. 최종 PPT/Notes/렌더 검사는 production/evaluation/PROMPT_METHODS_REVISION.md를 따른다. Windows PowerPoint·발표 PC 글꼴·교육장·제품/계정·실측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S30 — 바로 검토할 수 있는 결과 형식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S30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바로 검토할 수 있는 결과 형식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검토에 필요한 항목을 지정하고, 중요한 근거는 남긴다.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“완료 보고에서 필요한 정보를 빨리 찾고 싶을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상단의 “핵심”과 “이럴 때 사용”을 짚는다. 핵심5개는 교육 우선순위이며 모든 요청에 의무로 넣는 뜻은 아니다. 조건부3개는 해당 상황일 때만 선택한다.</a:t>
            </a:r>
          </a:p>
          <a:p>
            <a:r>
              <a:t xml:space="preserve">2. 0:15–0:45: 요청 예시의 핵심 두세 행과 오른쪽 선택 기준만 연결한다. 기계적인 문장 수 제한보다 필요한 보고 항목을 정한다.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수정 결과를 아래 항목으로 보고해줘.</a:t>
            </a:r>
          </a:p>
          <a:p>
            <a:r>
              <a:t xml:space="preserve">1. 변경 파일과 이유</a:t>
            </a:r>
          </a:p>
          <a:p>
            <a:r>
              <a:t xml:space="preserve">2. 실행한 검사·결과</a:t>
            </a:r>
          </a:p>
          <a:p>
            <a:r>
              <a:t xml:space="preserve">3. 미실행 검사·이유</a:t>
            </a:r>
          </a:p>
          <a:p>
            <a:r>
              <a:t xml:space="preserve">4. 남은 위험·결정</a:t>
            </a:r>
          </a:p>
          <a:p>
            <a:r>
              <a:t xml:space="preserve">완료 판단에 필요한 근거는 생략하지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“검토에 필요한 항목을 지정하고, 중요한 근거는 남긴다.”를 회수하고 다음 장으로 이동한다. 보고 항목이 있어도 설명의 근거는 따로 확인한다. S31에서 중요한 판단을 자료와 연결한다.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CLM-0034; SRC-0233, SRC-0234. 공식 문서 본문을2026-10-30 재확인했다. https://learn.chatgpt.com/docs/prompting; https://developers.openai.com/api/docs/guides/structured-outputs.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형식과 내용은 별도 확인 · 채팅의 형식 요청은 API Structured Outputs와 다름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기계적인 문장 수 제한보다 필요한 보고 항목을 정한다.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고정된 두 문장 제한을 제거했다. 중요한 근거·위험을 담을 분량을 허용한다. 자연어의 표/JSON 요청과 API JSON Schema 기반 Structured Outputs는 다르고 형식 준수만으로 내용이 옳지는 않다.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보고 항목이 있어도 설명의 근거는 따로 확인한다. S31에서 중요한 판단을 자료와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S30 또는 production/preview/act1/S30.png의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DEC-0116. 최종 PPT/Notes/렌더 검사는 production/evaluation/PROMPT_METHODS_REVISION.md를 따른다. Windows PowerPoint·발표 PC 글꼴·교육장·제품/계정·실측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S31 — 근거가 있는 설명과 미확인의 구분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S31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근거가 있는 설명과 미확인의 구분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중요한 판단에 근거를 받고, 추정·미확인은 구분한다.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“설명을 믿기 전에 실제 자료를 대조해야 할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상단의 “핵심”과 “이럴 때 사용”을 짚는다. 핵심5개는 교육 우선순위이며 모든 요청에 의무로 넣는 뜻은 아니다. 조건부3개는 해당 상황일 때만 선택한다.</a:t>
            </a:r>
          </a:p>
          <a:p>
            <a:r>
              <a:t xml:space="preserve">2. 0:15–0:45: 요청 예시의 핵심 두세 행과 오른쪽 선택 기준만 연결한다. S30의 보고 형식과 달리 여기서는 판단을 뒷받침하는 자료를 다룬다.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crop의 명세·구현·테스트를 비교해줘.</a:t>
            </a:r>
          </a:p>
          <a:p>
            <a:r>
              <a:t xml:space="preserve">중요한 결론마다 파일·함수 근거를 붙여줘.</a:t>
            </a:r>
          </a:p>
          <a:p>
            <a:r>
              <a:t xml:space="preserve">확인한 내용과 추정·미확인을 구분해줘.</a:t>
            </a:r>
          </a:p>
          <a:p>
            <a:r>
              <a:t xml:space="preserve">자료가 충돌하면 차이를 먼저 알려줘.</a:t>
            </a:r>
          </a:p>
          <a:p>
            <a:r>
              <a:t xml:space="preserve">없는 정책은 만들어 채우지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“중요한 판단에 근거를 받고, 추정·미확인은 구분한다.”를 회수하고 다음 장으로 이동한다. 자료를 찾아도 정책이 없다면 사람이 선택해야 한다. S32에서 질문할 결정의 범위를 본다.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CLM-0035; SRC-0230, SRC-0234. 공식 문서 본문을2026-10-30 재확인했다. https://learn.chatgpt.com/docs/prompting; https://developers.openai.com/api/docs/guides/prompt-engineering.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출처가 있어도 원문과 대조한다 · 인용 자체가 정확성의 보증은 아님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S30의 보고 형식과 달리 여기서는 판단을 뒷받침하는 자료를 다룬다.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모든 사소한 문장에 줄 번호를 강제하지 않고 중요한 결론을 실제 자료와 연결한다. 보고 형식(S30), 설명의 근거(S31), 변경안 위반 검토(S34)의 역할을 구분한다.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자료를 찾아도 정책이 없다면 사람이 선택해야 한다. S32에서 질문할 결정의 범위를 본다.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S31 또는 production/preview/act1/S31.png의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DEC-0116. 최종 PPT/Notes/렌더 검사는 production/evaluation/PROMPT_METHODS_REVISION.md를 따른다. Windows PowerPoint·발표 PC 글꼴·교육장·제품/계정·실측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S32 — 결과를 바꾸는 결정에서 확인 질문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S32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결과를 바꾸는 결정에서 확인 질문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조사할 사실은 찾게 하고, 결과를 바꾸는 결정은 묻는다.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“사람의 선택에 따라 구현이나 완료 기준이 바뀔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상단의 “핵심”과 “이럴 때 사용”을 짚는다. 핵심5개는 교육 우선순위이며 모든 요청에 의무로 넣는 뜻은 아니다. 조건부3개는 해당 상황일 때만 선택한다.</a:t>
            </a:r>
          </a:p>
          <a:p>
            <a:r>
              <a:t xml:space="preserve">2. 0:15–0:45: 요청 예시의 핵심 두세 행과 오른쪽 선택 기준만 연결한다. 조사 가능한 사실을 모두 사람에게 되묻지 않도록 범위를 정한다.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빈 crop 범위의 처리 정책을 조사해줘.</a:t>
            </a:r>
          </a:p>
          <a:p>
            <a:r>
              <a:t xml:space="preserve">문서·테스트·호출부에서 먼저 찾아줘.</a:t>
            </a:r>
          </a:p>
          <a:p>
            <a:r>
              <a:t xml:space="preserve">정책이 없어 동작을 선택해야 한다면</a:t>
            </a:r>
          </a:p>
          <a:p>
            <a:r>
              <a:t xml:space="preserve">선택지와 영향을 정리하고 질문해줘.</a:t>
            </a:r>
          </a:p>
          <a:p>
            <a:r>
              <a:t xml:space="preserve">그 선택에 의존하는 수정은 답변 뒤 진행해줘.</a:t>
            </a:r>
          </a:p>
          <a:p>
            <a:r>
              <a:t xml:space="preserve">결정과 무관한 조사는 계속해줘.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“조사할 사실은 찾게 하고, 결과를 바꾸는 결정은 묻는다.”를 회수하고 다음 장으로 이동한다. 사람의 결정이 필요한 변경은 구현 전에 검토할 계획을 받을 수 있다. S33에서 그 사용 조건을 본다.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CLM-0036; SRC-0234, SRC-0235, SRC-0243. 공식 문서 본문을2026-10-30 재확인했다. https://developers.openai.com/api/docs/guides/latest-model; https://learn.chatgpt.com/docs/prompting.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모든 세부를 질문하지 않는다 · 결정과 무관한 허용된 작업은 계속 진행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조사 가능한 사실을 모두 사람에게 되묻지 않도록 범위를 정한다.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질문 기준은 결과를 바꾸는 의도·명세·조건의 결정이다. 자료에서 조사할 사실을 모두 사용자에게 되묻지 않는다. 승인이 필요한 결정에 의존하는 작업만 대기하고 승인된 독립 조사는 계속한다.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사람의 결정이 필요한 변경은 구현 전에 검토할 계획을 받을 수 있다. S33에서 그 사용 조건을 본다.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S32 또는 production/preview/act1/S32.png의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DEC-0116. 최종 PPT/Notes/렌더 검사는 production/evaluation/PROMPT_METHODS_REVISION.md를 따른다. Windows PowerPoint·발표 PC 글꼴·교육장·제품/계정·실측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S33 — 큰 작업을 검토할 결과물로 나누기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S33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큰 작업을 검토할 결과물로 나누기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중간 판단이 필요한 작업은, 구현 전에 검토할 계획을 받는다.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“조사 결과를 보고 구현 범위를 결정해야 할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상단의 “조건부”과 “이럴 때 사용”을 짚는다. 핵심5개는 교육 우선순위이며 모든 요청에 의무로 넣는 뜻은 아니다. 조건부3개는 해당 상황일 때만 선택한다.</a:t>
            </a:r>
          </a:p>
          <a:p>
            <a:r>
              <a:t xml:space="preserve">2. 0:15–0:45: 요청 예시의 핵심 두세 행과 오른쪽 선택 기준만 연결한다. 큰 작업이라는 이유만으로 잘게 나누거나 승인 단계를 늘리지 않는다.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ROI 설정을 crop에 연결하려 한다.</a:t>
            </a:r>
          </a:p>
          <a:p>
            <a:r>
              <a:t xml:space="preserve">먼저 현재 경로와 변경 후보를 조사해줘.</a:t>
            </a:r>
          </a:p>
          <a:p>
            <a:r>
              <a:t xml:space="preserve">범위·호환성에 선택이 필요한 지점을 알려줘.</a:t>
            </a:r>
          </a:p>
          <a:p>
            <a:r>
              <a:t xml:space="preserve">이번에는 수정 없이 계획만 제안해줘.</a:t>
            </a:r>
          </a:p>
          <a:p>
            <a:r>
              <a:t xml:space="preserve"/>
            </a:r>
          </a:p>
          <a:p>
            <a:r>
              <a:t xml:space="preserve">계획을 검토한 뒤 구현 범위를 정하겠다.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“중간 판단이 필요한 작업은, 구현 전에 검토할 계획을 받는다.”를 회수하고 다음 장으로 이동한다. 계획 뒤의 변경안에서 무엇을 중점 검토할지 S34로 연결한다.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CLM-0037; SRC-0231, SRC-0232, SRC-0243. 공식 문서 본문을2026-10-30 재확인했다. https://learn.chatgpt.com/guides/best-practices; https://developers.openai.com/api/docs/guides/reasoning-best-practices.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작업 계획과 검토 지점을 요청한다 · 내부 사고 과정의 출력을 요구하지 않음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큰 작업이라는 이유만으로 잘게 나누거나 승인 단계를 늘리지 않는다.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작업이 크다는 이유만으로 세분화하거나 단계별 승인을 의무화하지 않는다. 조사 결과에 따라 구현 범위·호환성 선택이 바뀔 때 계획 산출물이 필요하다. 작업 계획 요청은 내부 사고 과정 공개와 다르다.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계획 뒤의 변경안에서 무엇을 중점 검토할지 S34로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S33 또는 production/preview/act1/S33.png의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DEC-0116. 최종 PPT/Notes/렌더 검사는 production/evaluation/PROMPT_METHODS_REVISION.md를 따른다. Windows PowerPoint·발표 PC 글꼴·교육장·제품/계정·실측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S34 — 기준을 지정한 코드 리뷰 요청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S34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기준을 지정한 코드 리뷰 요청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검토 기준과 실패 조건을 지정하고, 실제 검사와 구분한다.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“변경안에서 놓치면 안 될 문제를 검토할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상단의 “핵심”과 “이럴 때 사용”을 짚는다. 핵심5개는 교육 우선순위이며 모든 요청에 의무로 넣는 뜻은 아니다. 조건부3개는 해당 상황일 때만 선택한다.</a:t>
            </a:r>
          </a:p>
          <a:p>
            <a:r>
              <a:t xml:space="preserve">2. 0:15–0:45: 요청 예시의 핵심 두세 행과 오른쪽 선택 기준만 연결한다. S31은 설명 근거, S34는 변경안의 위반 검토다. 문제 개수를 억지로 채우지 않는다.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변경안에서 다음을 검토해줘.</a:t>
            </a:r>
          </a:p>
          <a:p>
            <a:r>
              <a:t xml:space="preserve">끝 좌표 제외 명세·공개 API·오류 정책 보존</a:t>
            </a:r>
          </a:p>
          <a:p>
            <a:r>
              <a:t xml:space="preserve">요청과 무관한 변경 여부</a:t>
            </a:r>
          </a:p>
          <a:p>
            <a:r>
              <a:t xml:space="preserve">발견 사항은 위치·실패 조건·영향으로 보고해줘.</a:t>
            </a:r>
          </a:p>
          <a:p>
            <a:r>
              <a:t xml:space="preserve">정적 검토와 실제 실행한 검사를 구분해줘.</a:t>
            </a:r>
          </a:p>
          <a:p>
            <a:r>
              <a:t xml:space="preserve">이번에는 코드를 바꾸지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“검토 기준과 실패 조건을 지정하고, 실제 검사와 구분한다.”를 회수하고 다음 장으로 이동한다. 첫 제안이나 리뷰에서 요구와 다른 지점을 알았다면, S35에서 근거와 수정 범위를 전달한다.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CLM-0038; SRC-0232, SRC-0235, SRC-0243. 공식 문서 본문을2026-10-30 재확인했다. https://learn.chatgpt.com/guides/best-practices; https://developers.openai.com/api/docs/guides/latest-model.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리뷰에도 누락이 있을 수 있다 · 실행 근거와 사람의 완료 판단을 함께 확인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S31은 설명 근거, S34는 변경안의 위반 검토다. 문제 개수를 억지로 채우지 않는다.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리뷰 관점은 업무별 실패 조건이다. 발견을 억지로 채우거나 전문가 역할만으로 정확성을 보장하지 않는다. 정적 분석과 실제 실행 근거를 구분하고 검사 범위는 변경 영향에 맞춘다. 이 예시는 검토 요청이므로 코드를 수정하지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첫 제안이나 리뷰에서 요구와 다른 지점을 알았다면, S35에서 근거와 수정 범위를 전달한다.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S34 또는 production/preview/act1/S34.png의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DEC-0116. 최종 PPT/Notes/렌더 검사는 production/evaluation/PROMPT_METHODS_REVISION.md를 따른다. Windows PowerPoint·발표 PC 글꼴·교육장·제품/계정·실측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S35 — 구체적인 근거로 수정 방향 피드백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S35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구체적인 근거로 수정 방향 피드백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어긋난 지점·기대 결과·유지할 조건으로 방향을 고친다.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“첫 제안의 어떤 부분이 요구와 다른지 알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상단의 “핵심”과 “이럴 때 사용”을 짚는다. 핵심5개는 교육 우선순위이며 모든 요청에 의무로 넣는 뜻은 아니다. 조건부3개는 해당 상황일 때만 선택한다.</a:t>
            </a:r>
          </a:p>
          <a:p>
            <a:r>
              <a:t xml:space="preserve">2. 0:15–0:45: 요청 예시의 핵심 두세 행과 오른쪽 선택 기준만 연결한다. 고친 요청에도 다음 작업에 다시 적을 공통 조건이 남는지 S36으로 연결한다.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앞선 “기대 폭을 3으로 바꾸자”는 제안을</a:t>
            </a:r>
          </a:p>
          <a:p>
            <a:r>
              <a:t xml:space="preserve">고쳐줘. 명세는 crop [1,3)에서 폭 2야.</a:t>
            </a:r>
          </a:p>
          <a:p>
            <a:r>
              <a:t xml:space="preserve">테스트 기대값은 유지하고</a:t>
            </a:r>
          </a:p>
          <a:p>
            <a:r>
              <a:t xml:space="preserve">구현의 끝 좌표 처리만 다시 검토해줘.</a:t>
            </a:r>
          </a:p>
          <a:p>
            <a:r>
              <a:t xml:space="preserve">기존 API·의존성은 유지해줘.</a:t>
            </a:r>
          </a:p>
          <a:p>
            <a:r>
              <a:t xml:space="preserve">바뀐 제안과 미확인 사항을 알려줘.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“어긋난 지점·기대 결과·유지할 조건으로 방향을 고친다.”를 회수하고 다음 장으로 이동한다. 요청을 구체화해도 다음 작업에 다시 적을 조건이 남습니다. S36에서 같은 crop 요청을 보며 찾아봅니다.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CLM-0039; SRC-0234. 공식 문서 본문을2026-10-30 재확인했다. https://learn.chatgpt.com/docs/prompting.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앞선 제안은 가상 예시 · 반복 요청만으로 품질 향상을 보장하지 않음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고친 요청에도 다음 작업에 다시 적을 공통 조건이 남는지 S36으로 연결한다.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막연한 반복·동의 요구 대신 명세와 실제 근거에 맞춰 범위를 좁힌다. 여기의 앞선 제안은 가상 구성이며 실제 실패 응답·반복 비교·개선률이 아니다. 다음 반복 Context 질문을 앞당겨 답하지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요청을 구체화해도 다음 작업에 다시 적을 조건이 남습니다. S36에서 같은 crop 요청을 보며 찾아봅니다.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S35 또는 production/preview/act1/S35.png의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DEC-0116. 최종 PPT/Notes/렌더 검사는 production/evaluation/PROMPT_METHODS_REVISION.md를 따른다. Windows PowerPoint·발표 PC 글꼴·교육장·제품/계정·실측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S36 — 다음 작업에도 이 내용을 다시 적어야 할까?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S36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다음 작업에도 이 내용을 다시 적어야 할까?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1G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3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Reflection 1 minute + Q&amp;A 2 minutes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잘 작성한 요청에서도 다음 작업에 다시 필요한 정보·기준이 있음을 발견한다. 이번 목표와 공통 기준을 같은 세 문장에서 살피며, 관리 방법의 질문은 S37에서 연다.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“작업이 바뀌어도 다시 말하게 될 문장은 무엇일까요?”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(0:00–0:15 / Reflection) S35에서 원하는 변경과 유지할 조건을 명확히 썼다는 성과를 회수한다. 화면은 같은 crop의 교육용 요청이며 실제 TRIAL-002 발췌가 아니다. 세 문장을 그대로 두고 분류·정답을 먼저 주지 않는다.</a:t>
            </a:r>
          </a:p>
          <a:p>
            <a:r>
              <a:t xml:space="preserve">2. (0:15–1:00 / Reflection) 작업이 바뀌어도 다시 말할 문장이 무엇인지 조용히 생각하게 한다. 작성·공유·개인 업무 공개를 요구하지 않는다.</a:t>
            </a:r>
          </a:p>
          <a:p>
            <a:r>
              <a:t xml:space="preserve">3. (1:00–3:00 / Q&amp;A) 자발적인 질문을 받는다. 질문이 없으면 이번 목표와 다음 작업에도 지킬 조건이 같은 범위·수명인지 한 번 묻고 침묵을 허용한다. 저장 파일이나 자동 적용을 답으로 먼저 설명하지 않는다.</a:t>
            </a:r>
          </a:p>
          <a:p>
            <a:r>
              <a:t xml:space="preserve">4. (3:00) 다음 장에서 같은 세 문장을 나누고, 공통 기준을 어떻게 관리하고 참고하게 할지 질문한다고 S37로 이동한다.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TEACHING_MODEL. BEAT-007 → BEAT-008, CLM-0029, CLM-0027, CLM-0003, CLM-0005, DEC-0042, DEC-0113. S35의 crop·API 보존 요청과 기존 프로젝트 테스트 기준을 짧게 각색한 교육용 요청이다. 실제 TRIAL-002 입력·행동 로그·제품 화면이나 새 실험의 근거가 아니다.</a:t>
            </a:r>
          </a:p>
          <a:p>
            <a:r>
              <a:t xml:space="preserve"/>
            </a:r>
          </a:p>
          <a:p>
            <a:r>
              <a:t xml:space="preserve">On-screen teaching request: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경계 오류를 고쳐줘.</a:t>
            </a:r>
          </a:p>
          <a:p>
            <a:r>
              <a:t xml:space="preserve">기존 공개 API는 유지해.</a:t>
            </a:r>
          </a:p>
          <a:p>
            <a:r>
              <a:t xml:space="preserve">프로젝트에 정해진 테스트 명령으로 확인해.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구체적인 문장에서 반복할 내용을 떠올리는 교육용 Reflection이다. 실제 Trial에서 이 요청을 사용했다거나 정답·현재 제품 기능·효과를 확인했다고 표현하지 않는다. 문장의 적용 범위는 다음 장에서 프로젝트 합의 조건과 함께 검토한다.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좋은 요청을 쓰는 법을 배운 뒤에도 다음 작업에 다시 필요한 기준은 남는다. 먼저 같은 crop 요청에서 그 문장을 찾는다.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Separate the recurrence question from storage design. A repeated sentence does not automatically deserve global instruction scope.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N/A.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요청과 Reflection/Q&amp;A다. 새 Trial·모델 호출·Demo 시간·테스트 실행·결과 화면을 추가하지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Reflection1분(안내15초+개인적 생각45초) 후 자발적 Q&amp;A2분이다. 문장 선택·답안 작성·공유·개인 업무 공개를 요구하지 않는다. 답이 없어도 정시에 진행한다.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“같은 요청에서 이번 목표와 계속 참고할 기준을 나눠 보고, 그 기준을 어디에서 관리할지 생각해 보겠습니다.”라고 S37로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Reflection1분 + Q&amp;A2분 = 3분. 요청을 이해할 단서3개만 제공한다. 별도 Lecture·설명 시간이나 필수 응답을 추가하지 않는다. 실제 운영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S36 또는 production/preview/act1/S36.png의 정적 요청을 사용한다. 질문이 없으면 요청의 세 문장을 읽어 보게 하고3분에 같은 문장을 분리한 S37로 넘긴다.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DEC-0113. 최종 PPT/Notes/렌더 대조는 production/evaluation/ACT1_CONTEXT_HANDOFF_REVISION.md에 기록한다. Windows·교육장·현재 제품/계정·실측 리허설은 UNVERIFIED. DEC-0115의 Prompt→Context 연결과 운영 역할은 production/evaluation/PROMPT_CONTEXT_HANDOFF_REVISION.md에서 확인한다.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S37 — 작업마다 바뀌는 목표, 계속 쓰는 기준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S37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작업마다 바뀌는 목표, 계속 쓰는 기준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1G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6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Reflection 1 minute + Transition 3 minutes + Q&amp;A 2 minutes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이번 작업의 목표·특수 조건은 요청에 담는다. 프로젝트에서 공통으로 적용하기로 합의한 정보·기준은 관리할 위치와 작업 시 제공·참조 방법을 설계한다.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“이 기준을 프로젝트에서 관리하고, 작업할 때 찾아 참고하게 할 수 없을까?”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(0:00–1:00 / Reflection) S36과 같은 요청에서 자신의 프로젝트가 여러 작업에 계속 적용하기로 합의한 기준을 생각하게 한다. 공개 분류·답안 작성은 요구하지 않는다.</a:t>
            </a:r>
          </a:p>
          <a:p>
            <a:r>
              <a:t xml:space="preserve">2. (1:00–2:00 / Transition) crop 수정 목표 한 줄과 API·정해진 테스트 명령 두 줄의 역할을 짚는다. 이번 작업에만 필요한 조건도 요청에 남아야 한다.</a:t>
            </a:r>
          </a:p>
          <a:p>
            <a:r>
              <a:t xml:space="preserve">3. (2:00–3:00 / Transition) 아래 두 줄은 이 프로젝트에서 계속 적용하기로 한 경우의 공통 기준이다. 반복 횟수만으로 전역·영구 지침으로 만들지 않는다. 기준이 바뀌면 여러 요청의 사본에 어떻게 반영할지도 관리할 문제임을 교육용 질문으로 남긴다.</a:t>
            </a:r>
          </a:p>
          <a:p>
            <a:r>
              <a:t xml:space="preserve">4. (3:00–4:00 / Transition) 하단 질문을 읽는다. 이번 전환은 여러 작업에 필요한 정보의 위치와 제공 방식을 설계하는 Context Engineering의 문제다. AGENTS.md·자동 로딩·Skill·수행 환경을 여기서 답으로 미리 보여주지 않는다.</a:t>
            </a:r>
          </a:p>
          <a:p>
            <a:r>
              <a:t xml:space="preserve">5. (4:00–6:00 / Q&amp;A) 자발적인 질문을 받는다. 질문이 없으면 같은 기준을 여러 요청에 각각 복사해 두면 변경 때 무엇을 확인해야 할지 묻는다.6분에 S38 제목을 거쳐 S39의 서로 다른 세 작업으로 범위를 넓힌다.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TEACHING_MODEL / CONCEPTUAL. BEAT-007, BEAT-008, TRANS-003, CLM-0029, CLM-0027, CLM-0003, CLM-0005, DEC-0042, DEC-0113. S36과 완전히 같은3문장을 사용한다. 구분과 적용 범위는 교육용 예시이며 실제 STATE-01/Trial의 지침 원문·자동 적용·수행 결과가 아니다. 실제 기록과 기존 정책의 조건은 DEMO_MATRIX.md에 보존한다.</a:t>
            </a:r>
          </a:p>
          <a:p>
            <a:r>
              <a:t xml:space="preserve"/>
            </a:r>
          </a:p>
          <a:p>
            <a:r>
              <a:t xml:space="preserve">On-screen teaching request: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경계 오류를 고쳐줘.</a:t>
            </a:r>
          </a:p>
          <a:p>
            <a:r>
              <a:t xml:space="preserve">기존 공개 API는 유지해.</a:t>
            </a:r>
          </a:p>
          <a:p>
            <a:r>
              <a:t xml:space="preserve">프로젝트에 정해진 테스트 명령으로 확인해.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공개 API와 테스트 기준을 프로젝트에서 합의해 계속 적용하기로 한 경우의 교육용 구분이다. 모든 반복 조건이 영구·전역 지침이거나 모든 요청에 전체 테스트가 필수라고 일반화하지 않는다. 실제 TRIAL-002 입력·STATE-01 원문·새 실행·측정·자동 지침 적용·효과를 주장하지 않는다. 저장 메커니즘과 AGENTS.md는 아직 답으로 보여주지 않는다.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이번 목표와 조건을 요청에 명확히 쓰면서, 여러 작업에 공통인 기준의 관리 위치와 참고 방법도 생각한다. 원하는 목표를 문서에 모두 옮기거나 공통 기준을 요청에서 무조건 빼는 뜻이 아니다.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The distinction concerns information scope, ownership and update responsibility. A prompt can provide context too. A project record is not evidence of automatic loading or successful use; S40 shows the record and S41 shows bounded observed use. Keep task-specific conditions explicit.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N/A.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S36의 동일한 교육용 요청을 범위별로 설명하는 정적 장이다. 새로운 Prompt 입력·Trial·C++/Python 실행·현재 제품 수집 동작·성과를 보여주지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Reflection1분 뒤 Transition3분과 자발적 Q&amp;A2분이다. 공통 기준의 변경·제공을 생각하게 하되 정답 분류·실습·업무 공개를 요구하지 않는다. 질문이 없으면 하단 질문을 회수하고 정시에 다음 ACT로 이동한다.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기준을 프로젝트에서 관리하고 작업할 때 찾아 참고하게 할 수 없을까요? 다음에는 서로 다른 세 작업에서도 같은 기준을 쓰는지 보겠습니다.”라고 S38 제목→S39로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0–1분 Reflection,1–4분 Transition,4–6분 Q&amp;A를 유지한다. S38 ACT2 제목의1분은 별도다. 두 장 합계9분과 Reflection2/Transition3/Q&amp;A4를 보존한다. 실측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S37 또는 production/preview/act1/S37.png의 정적 분리 도식을 사용한다. 프로젝트 합의·조건 범위를 밝히고 S38 제목→S39의 세 작업 반복 장면으로 이어간다. 저장 방법을 먼저 설명하지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DEC-0113. 최종 PPT/Notes/렌더 대조는 production/evaluation/ACT1_CONTEXT_HANDOFF_REVISION.md에 기록한다. Windows·교육장·현재 제품/계정·실측 리허설은 UNVERIFIED. DEC-0115의 Prompt→Context 연결과 운영 역할은 production/evaluation/PROMPT_CONTEXT_HANDOFF_REVISION.md에서 확인한다.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b1cf0e36646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f174a12b1428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100e51e976404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4b68cbe7a940d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d025dc1ab4c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270f5878df4f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8355F7-6B27-4F25-9C6D-0F44A75526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8EDF54A-1FBD-497B-A2B3-9A75B07E280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62E5653-B08A-4B4E-A805-719C402466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F29A70-4305-49BA-8A5C-C450FAF46A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0F3AA39-B8C0-4520-B07B-222F296273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EDBABD2-558D-43FE-B791-CBF825A049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6559118-AD83-424D-B33D-BBDAF12A81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075D5F2-95FB-498D-A956-7C95584078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BB1C92-99C1-4A52-BEF0-61BBC39948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6B54BC-8316-43D2-8CAE-6A3F211D0B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5d47f4cc0a4ace" /><Relationship Type="http://schemas.openxmlformats.org/officeDocument/2006/relationships/slideLayout" Target="/ppt/slideLayouts/slideLayout1.xml" Id="R5ce2de4e8fa7415f" /><Relationship Type="http://schemas.openxmlformats.org/officeDocument/2006/relationships/slideLayout" Target="/ppt/slideLayouts/slideLayout2.xml" Id="Rea6753f6f1f04d67" /><Relationship Type="http://schemas.openxmlformats.org/officeDocument/2006/relationships/slideLayout" Target="/ppt/slideLayouts/slideLayout3.xml" Id="Re8b91caf35914db3" /><Relationship Type="http://schemas.openxmlformats.org/officeDocument/2006/relationships/slideLayout" Target="/ppt/slideLayouts/slideLayout4.xml" Id="R5dc09f5d544d4e3e" /><Relationship Type="http://schemas.openxmlformats.org/officeDocument/2006/relationships/slideLayout" Target="/ppt/slideLayouts/slideLayout5.xml" Id="R6e3000ebb8514e77" /><Relationship Type="http://schemas.openxmlformats.org/officeDocument/2006/relationships/slideLayout" Target="/ppt/slideLayouts/slideLayout6.xml" Id="R90a5453354804b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e2de4e8fa7415f"/>
    <p:sldLayoutId xmlns:r="http://schemas.openxmlformats.org/officeDocument/2006/relationships" id="2147483650" r:id="Rea6753f6f1f04d67"/>
    <p:sldLayoutId xmlns:r="http://schemas.openxmlformats.org/officeDocument/2006/relationships" id="2147483651" r:id="Re8b91caf35914db3"/>
    <p:sldLayoutId xmlns:r="http://schemas.openxmlformats.org/officeDocument/2006/relationships" id="2147483652" r:id="R5dc09f5d544d4e3e"/>
    <p:sldLayoutId xmlns:r="http://schemas.openxmlformats.org/officeDocument/2006/relationships" id="2147483653" r:id="R6e3000ebb8514e77"/>
    <p:sldLayoutId xmlns:r="http://schemas.openxmlformats.org/officeDocument/2006/relationships" id="2147483654" r:id="R90a5453354804b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d7803c980e42a0" /><Relationship Type="http://schemas.openxmlformats.org/officeDocument/2006/relationships/notesSlide" Target="/ppt/notesSlides/notesSlide1.xml" Id="R36abd3fbf26545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88f5dda8444150" /><Relationship Type="http://schemas.openxmlformats.org/officeDocument/2006/relationships/image" Target="/ppt/media/image.png" Id="R1151dae526e14079" /><Relationship Type="http://schemas.openxmlformats.org/officeDocument/2006/relationships/image" Target="/ppt/media/image2.png" Id="Re8960ff56698420f" /><Relationship Type="http://schemas.openxmlformats.org/officeDocument/2006/relationships/image" Target="/ppt/media/image3.png" Id="Rf95eed63be56453e" /><Relationship Type="http://schemas.openxmlformats.org/officeDocument/2006/relationships/notesSlide" Target="/ppt/notesSlides/notesSlide2.xml" Id="R466e06394efa47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9e211dcf194a88" /><Relationship Type="http://schemas.openxmlformats.org/officeDocument/2006/relationships/image" Target="/ppt/media/image4.png" Id="R5f24b3f7316d4fc0" /><Relationship Type="http://schemas.openxmlformats.org/officeDocument/2006/relationships/notesSlide" Target="/ppt/notesSlides/notesSlide3.xml" Id="Rc0bfba0cd57546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c61266394f4168" /><Relationship Type="http://schemas.openxmlformats.org/officeDocument/2006/relationships/image" Target="/ppt/media/image5.png" Id="Rf93d63b7dbc343a5" /><Relationship Type="http://schemas.openxmlformats.org/officeDocument/2006/relationships/notesSlide" Target="/ppt/notesSlides/notesSlide4.xml" Id="R61d8dcdf764b4f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b106ef32d940fd" /><Relationship Type="http://schemas.openxmlformats.org/officeDocument/2006/relationships/notesSlide" Target="/ppt/notesSlides/notesSlide5.xml" Id="R702d380e6c6e49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cce670e8df4839" /><Relationship Type="http://schemas.openxmlformats.org/officeDocument/2006/relationships/notesSlide" Target="/ppt/notesSlides/notesSlide6.xml" Id="R287444aaaf534b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c6770f3421461e" /><Relationship Type="http://schemas.openxmlformats.org/officeDocument/2006/relationships/notesSlide" Target="/ppt/notesSlides/notesSlide7.xml" Id="R500429f82c5e47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ef8e3ae9754cb6" /><Relationship Type="http://schemas.openxmlformats.org/officeDocument/2006/relationships/notesSlide" Target="/ppt/notesSlides/notesSlide8.xml" Id="R8e6036dd5e974f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cadc14ae374a4f" /><Relationship Type="http://schemas.openxmlformats.org/officeDocument/2006/relationships/notesSlide" Target="/ppt/notesSlides/notesSlide9.xml" Id="R7c38dbacc39a45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b6a6c99a04df8" /><Relationship Type="http://schemas.openxmlformats.org/officeDocument/2006/relationships/notesSlide" Target="/ppt/notesSlides/notesSlide10.xml" Id="Re0d377eef6e74aa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3c4c684d43424d" /><Relationship Type="http://schemas.openxmlformats.org/officeDocument/2006/relationships/notesSlide" Target="/ppt/notesSlides/notesSlide11.xml" Id="Rf027dc91b8ec4f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5505e880f44fac" /><Relationship Type="http://schemas.openxmlformats.org/officeDocument/2006/relationships/notesSlide" Target="/ppt/notesSlides/notesSlide12.xml" Id="R57c6aa2f813b46f1" /></Relationships>
</file>

<file path=ppt/slides/_rels/slide13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cc5505e880f44fac"/><Relationship Type="http://schemas.openxmlformats.org/officeDocument/2006/relationships/notesSlide" Target="/ppt/notesSlides/notesSlide13.xml" Id="R57c6aa2f813b46f1"/></Relationships>
</file>

<file path=ppt/slides/_rels/slide14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21134ea430d41da"/><Relationship Type="http://schemas.openxmlformats.org/officeDocument/2006/relationships/notesSlide" Target="/ppt/notesSlides/notesSlide14.xml" Id="R272b0262969045f9"/></Relationships>
</file>

<file path=ppt/slides/_rels/slide15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61466081ecd5410f"/><Relationship Type="http://schemas.openxmlformats.org/officeDocument/2006/relationships/notesSlide" Target="/ppt/notesSlides/notesSlide15.xml" Id="R17eb6248e84c4fd6"/></Relationships>
</file>

<file path=ppt/slides/_rels/slide16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b71f8b4b52e74924"/><Relationship Type="http://schemas.openxmlformats.org/officeDocument/2006/relationships/notesSlide" Target="/ppt/notesSlides/notesSlide16.xml" Id="R3da40e35a74f4794"/></Relationships>
</file>

<file path=ppt/slides/_rels/slide17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7c079c8d7da74671"/><Relationship Type="http://schemas.openxmlformats.org/officeDocument/2006/relationships/notesSlide" Target="/ppt/notesSlides/notesSlide17.xml" Id="R1cfe567876e843ab"/></Relationships>
</file>

<file path=ppt/slides/_rels/slide18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01535f7b056466d"/><Relationship Type="http://schemas.openxmlformats.org/officeDocument/2006/relationships/notesSlide" Target="/ppt/notesSlides/notesSlide18.xml" Id="R6863f883f4234f03"/></Relationships>
</file>

<file path=ppt/slides/_rels/slide19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5fa52cf39504c68"/><Relationship Type="http://schemas.openxmlformats.org/officeDocument/2006/relationships/notesSlide" Target="/ppt/notesSlides/notesSlide19.xml" Id="Rc78b322686094c59"/></Relationships>
</file>

<file path=ppt/slides/_rels/slide20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8b3e6f63960b44d2"/><Relationship Type="http://schemas.openxmlformats.org/officeDocument/2006/relationships/notesSlide" Target="/ppt/notesSlides/notesSlide20.xml" Id="R5a2048b1583d4b81"/></Relationships>
</file>

<file path=ppt/slides/_rels/slide21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c9747284bb74b7f"/><Relationship Type="http://schemas.openxmlformats.org/officeDocument/2006/relationships/notesSlide" Target="/ppt/notesSlides/notesSlide21.xml" Id="Ra9c81e7cbba246e6"/></Relationships>
</file>

<file path=ppt/slides/_rels/slide22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c58ae7ec3f984649"/><Relationship Type="http://schemas.openxmlformats.org/officeDocument/2006/relationships/notesSlide" Target="/ppt/notesSlides/notesSlide22.xml" Id="Rbb398f5d55c045c1"/></Relationships>
</file>

<file path=ppt/slides/_rels/slide23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44984def97b84757"/><Relationship Type="http://schemas.openxmlformats.org/officeDocument/2006/relationships/notesSlide" Target="/ppt/notesSlides/notesSlide23.xml" Id="R07098526ace44748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1">
            <a:extLst xmlns:a="http://schemas.openxmlformats.org/drawingml/2006/main">
              <a:ext uri="{FF2B5EF4-FFF2-40B4-BE49-F238E27FC236}">
                <a16:creationId xmlns:a16="http://schemas.microsoft.com/office/drawing/2014/main" id="{839281C4-8BF6-4EA0-A084-8B197808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</a:t>
            </a:r>
          </a:p>
        </p:txBody>
      </p:sp>
      <p:sp>
        <p:nvSpPr>
          <p:cNvPr id="2" name="S15">
            <a:extLst xmlns:a="http://schemas.openxmlformats.org/drawingml/2006/main">
              <a:ext uri="{FF2B5EF4-FFF2-40B4-BE49-F238E27FC236}">
                <a16:creationId xmlns:a16="http://schemas.microsoft.com/office/drawing/2014/main" id="{3D5B15E5-5768-4CC2-9476-76B57EAD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45C04-1095-4041-AC56-C55F681E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Prompt를&#10;작업 명세로 만들기">
            <a:extLst xmlns:a="http://schemas.openxmlformats.org/drawingml/2006/main">
              <a:ext uri="{FF2B5EF4-FFF2-40B4-BE49-F238E27FC236}">
                <a16:creationId xmlns:a16="http://schemas.microsoft.com/office/drawing/2014/main" id="{83E68C12-91B0-4C3A-BE40-2E8FB8AA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Prompt를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명세로 만들기</a:t>
            </a:r>
          </a:p>
        </p:txBody>
      </p:sp>
      <p:sp>
        <p:nvSpPr>
          <p:cNvPr id="5" name="Prompt Engineering · 요청 설계">
            <a:extLst xmlns:a="http://schemas.openxmlformats.org/drawingml/2006/main">
              <a:ext uri="{FF2B5EF4-FFF2-40B4-BE49-F238E27FC236}">
                <a16:creationId xmlns:a16="http://schemas.microsoft.com/office/drawing/2014/main" id="{43B1EFBA-D28C-4B3A-94C0-61C893F2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 Engineering · 요청 설계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0EF111E6-C64A-47AC-BBA7-16CF30E5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DCD8D5C-669F-45C2-BEB5-8320B897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593995768"/>
      </p:ext>
    </p:extLst>
  </p:cSld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에 남은 목표·조건·완료 근거">
            <a:extLst xmlns:a="http://schemas.openxmlformats.org/drawingml/2006/main">
              <a:ext uri="{FF2B5EF4-FFF2-40B4-BE49-F238E27FC236}">
                <a16:creationId xmlns:a16="http://schemas.microsoft.com/office/drawing/2014/main" id="{06F0204F-07B9-4D21-B195-F0CD5BBE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요청에 남은 목표·조건·완료 근거</a:t>
            </a:r>
          </a:p>
        </p:txBody>
      </p:sp>
      <p:sp>
        <p:nvSpPr>
          <p:cNvPr id="2" name="S16">
            <a:extLst xmlns:a="http://schemas.openxmlformats.org/drawingml/2006/main">
              <a:ext uri="{FF2B5EF4-FFF2-40B4-BE49-F238E27FC236}">
                <a16:creationId xmlns:a16="http://schemas.microsoft.com/office/drawing/2014/main" id="{526BE0CA-0C17-43BC-A1CC-2980029E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S16</a:t>
            </a:r>
          </a:p>
        </p:txBody>
      </p:sp>
      <p:sp>
        <p:nvSpPr>
          <p:cNvPr id="3" name="이 요청에는 무엇이 빠졌을까?">
            <a:extLst xmlns:a="http://schemas.openxmlformats.org/drawingml/2006/main">
              <a:ext uri="{FF2B5EF4-FFF2-40B4-BE49-F238E27FC236}">
                <a16:creationId xmlns:a16="http://schemas.microsoft.com/office/drawing/2014/main" id="{22E8CE61-D4D9-4C33-8157-D689401E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요청에는 무엇이 빠졌을까?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3F3D4-232D-4ABD-B71D-267B0D0B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1E70709-6C85-4D09-B704-A76D82C3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개념도 · 실측 아님</a:t>
            </a:r>
          </a:p>
        </p:txBody>
      </p:sp>
      <p:sp>
        <p:nvSpPr>
          <p:cNvPr id="7" name="앞서 본 crop 실패를 고치려 합니다.">
            <a:extLst xmlns:a="http://schemas.openxmlformats.org/drawingml/2006/main">
              <a:ext uri="{FF2B5EF4-FFF2-40B4-BE49-F238E27FC236}">
                <a16:creationId xmlns:a16="http://schemas.microsoft.com/office/drawing/2014/main" id="{498FE008-9BD3-43E5-BFCF-FF66D0F8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crop 실패를 고치려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E798FF-D119-47A9-A270-867D7EF4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6385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1260EED1-FCA9-4537-B0BC-64236AAD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3295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E2AF43-D46D-4C82-BF28-96719394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47975"/>
            <a:ext cx="329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test 고쳐줘">
            <a:extLst xmlns:a="http://schemas.openxmlformats.org/drawingml/2006/main">
              <a:ext uri="{FF2B5EF4-FFF2-40B4-BE49-F238E27FC236}">
                <a16:creationId xmlns:a16="http://schemas.microsoft.com/office/drawing/2014/main" id="{897DB4E4-E848-4C67-80C5-2A93D152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</a:t>
            </a:r>
          </a:p>
        </p:txBody>
      </p:sp>
      <p:sp>
        <p:nvSpPr>
          <p:cNvPr id="12" name="+">
            <a:extLst xmlns:a="http://schemas.openxmlformats.org/drawingml/2006/main">
              <a:ext uri="{FF2B5EF4-FFF2-40B4-BE49-F238E27FC236}">
                <a16:creationId xmlns:a16="http://schemas.microsoft.com/office/drawing/2014/main" id="{5E1D6E89-D418-4EAF-9EA5-CB55581F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C0AA85-65B1-4998-814C-F88AD979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69570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↑">
            <a:extLst xmlns:a="http://schemas.openxmlformats.org/drawingml/2006/main">
              <a:ext uri="{FF2B5EF4-FFF2-40B4-BE49-F238E27FC236}">
                <a16:creationId xmlns:a16="http://schemas.microsoft.com/office/drawing/2014/main" id="{EC6D4EDD-4A4B-490A-AA0F-70AD00BA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68617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8C77E-9A6B-4B24-8846-C963D75966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1dae526e14079"/>
          <a:stretch xmlns:a="http://schemas.openxmlformats.org/drawingml/2006/main"/>
        </p:blipFill>
        <p:spPr>
          <a:xfrm xmlns:a="http://schemas.openxmlformats.org/drawingml/2006/main">
            <a:off x="4400550" y="2340769"/>
            <a:ext cx="2800350" cy="2100263"/>
          </a:xfrm>
          <a:prstGeom xmlns:a="http://schemas.openxmlformats.org/drawingml/2006/main" prst="rect">
            <a:avLst/>
          </a:prstGeom>
        </p:spPr>
      </p:pic>
      <p:sp>
        <p:nvSpPr>
          <p:cNvPr id="16" name="요청의 경계를 확인">
            <a:extLst xmlns:a="http://schemas.openxmlformats.org/drawingml/2006/main">
              <a:ext uri="{FF2B5EF4-FFF2-40B4-BE49-F238E27FC236}">
                <a16:creationId xmlns:a16="http://schemas.microsoft.com/office/drawing/2014/main" id="{F21096BD-8B66-423D-B0C5-C4190489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005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요청의 경계를 확인</a:t>
            </a:r>
          </a:p>
        </p:txBody>
      </p:sp>
      <p:sp>
        <p:nvSpPr>
          <p:cNvPr id="17" name="지킬 기준">
            <a:extLst xmlns:a="http://schemas.openxmlformats.org/drawingml/2006/main">
              <a:ext uri="{FF2B5EF4-FFF2-40B4-BE49-F238E27FC236}">
                <a16:creationId xmlns:a16="http://schemas.microsoft.com/office/drawing/2014/main" id="{2C1C2789-2FA6-480A-B28E-72E90658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574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지킬 기준</a:t>
            </a:r>
          </a:p>
        </p:txBody>
      </p:sp>
      <p:sp>
        <p:nvSpPr>
          <p:cNvPr id="18" name="명세·기대값을 유지할까?">
            <a:extLst xmlns:a="http://schemas.openxmlformats.org/drawingml/2006/main">
              <a:ext uri="{FF2B5EF4-FFF2-40B4-BE49-F238E27FC236}">
                <a16:creationId xmlns:a16="http://schemas.microsoft.com/office/drawing/2014/main" id="{5FCA3724-2E53-4282-8E8D-3D1F5B23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명세·기대값을 유지할까?</a:t>
            </a:r>
          </a:p>
        </p:txBody>
      </p:sp>
      <p:sp>
        <p:nvSpPr>
          <p:cNvPr id="19" name="?">
            <a:extLst xmlns:a="http://schemas.openxmlformats.org/drawingml/2006/main">
              <a:ext uri="{FF2B5EF4-FFF2-40B4-BE49-F238E27FC236}">
                <a16:creationId xmlns:a16="http://schemas.microsoft.com/office/drawing/2014/main" id="{9D915E23-096E-4F24-B72C-61DD62D0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55270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24E939-0C6A-4958-B764-40433AF7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0037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1" name="수정 범위">
            <a:extLst xmlns:a="http://schemas.openxmlformats.org/drawingml/2006/main">
              <a:ext uri="{FF2B5EF4-FFF2-40B4-BE49-F238E27FC236}">
                <a16:creationId xmlns:a16="http://schemas.microsoft.com/office/drawing/2014/main" id="{C1DB3A4B-BC36-4E7E-BF5F-92112DA0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385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범위</a:t>
            </a:r>
          </a:p>
        </p:txBody>
      </p:sp>
      <p:sp>
        <p:nvSpPr>
          <p:cNvPr id="22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0B36D5F5-DEED-4B26-AAE3-126F303F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33775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23" name="?">
            <a:extLst xmlns:a="http://schemas.openxmlformats.org/drawingml/2006/main">
              <a:ext uri="{FF2B5EF4-FFF2-40B4-BE49-F238E27FC236}">
                <a16:creationId xmlns:a16="http://schemas.microsoft.com/office/drawing/2014/main" id="{5A5C4292-1CCA-4511-83E0-C8EE2A59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5337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D7D3B5-95DA-4B2A-8DA4-F4B3FB90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814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5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3F2876F7-5341-4EE6-894A-142D37E4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2195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6" name="무엇을 확인·보고받을까?">
            <a:extLst xmlns:a="http://schemas.openxmlformats.org/drawingml/2006/main">
              <a:ext uri="{FF2B5EF4-FFF2-40B4-BE49-F238E27FC236}">
                <a16:creationId xmlns:a16="http://schemas.microsoft.com/office/drawing/2014/main" id="{1E72D222-C2A9-4CD2-B446-2F87EEB2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14850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확인·보고받을까?</a:t>
            </a:r>
          </a:p>
        </p:txBody>
      </p:sp>
      <p:sp>
        <p:nvSpPr>
          <p:cNvPr id="27" name="?">
            <a:extLst xmlns:a="http://schemas.openxmlformats.org/drawingml/2006/main">
              <a:ext uri="{FF2B5EF4-FFF2-40B4-BE49-F238E27FC236}">
                <a16:creationId xmlns:a16="http://schemas.microsoft.com/office/drawing/2014/main" id="{B518CF2F-9815-476B-A0BA-61A8F7BD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45148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7CC914-E802-423D-A6B8-1469A01E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6252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9" name="재탐색·재시도가 길어질 수 있다">
            <a:extLst xmlns:a="http://schemas.openxmlformats.org/drawingml/2006/main">
              <a:ext uri="{FF2B5EF4-FFF2-40B4-BE49-F238E27FC236}">
                <a16:creationId xmlns:a16="http://schemas.microsoft.com/office/drawing/2014/main" id="{7C9175B0-0EDF-4BE6-9B7C-9BDB2D23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재탐색·재시도가 길어질 수 있다</a:t>
            </a:r>
          </a:p>
        </p:txBody>
      </p:sp>
      <p:sp>
        <p:nvSpPr>
          <p:cNvPr id="30" name="토큰 소모">
            <a:extLst xmlns:a="http://schemas.openxmlformats.org/drawingml/2006/main">
              <a:ext uri="{FF2B5EF4-FFF2-40B4-BE49-F238E27FC236}">
                <a16:creationId xmlns:a16="http://schemas.microsoft.com/office/drawing/2014/main" id="{2DEBAA5D-243B-4844-8EDA-1F665613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219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토큰 소모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39625F-5A06-487B-9BB6-AE2E84E80A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60ff56698420f"/>
          <a:stretch xmlns:a="http://schemas.openxmlformats.org/drawingml/2006/main"/>
        </p:blipFill>
        <p:spPr>
          <a:xfrm xmlns:a="http://schemas.openxmlformats.org/drawingml/2006/main">
            <a:off x="1809750" y="5064090"/>
            <a:ext cx="1543050" cy="501719"/>
          </a:xfrm>
          <a:prstGeom xmlns:a="http://schemas.openxmlformats.org/drawingml/2006/main" prst="rect">
            <a:avLst/>
          </a:prstGeom>
        </p:spPr>
      </p:pic>
      <p:sp>
        <p:nvSpPr>
          <p:cNvPr id="32" name="작업 시간">
            <a:extLst xmlns:a="http://schemas.openxmlformats.org/drawingml/2006/main">
              <a:ext uri="{FF2B5EF4-FFF2-40B4-BE49-F238E27FC236}">
                <a16:creationId xmlns:a16="http://schemas.microsoft.com/office/drawing/2014/main" id="{3EDCE266-446D-4717-A8B1-36430FC5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162550"/>
            <a:ext cx="1219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작업 시간</a:t>
            </a:r>
          </a:p>
        </p:txBody>
      </p:sp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0F5380-5E10-4936-9F35-6F8A9FB01A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eed63be56453e"/>
          <a:stretch xmlns:a="http://schemas.openxmlformats.org/drawingml/2006/main"/>
        </p:blipFill>
        <p:spPr>
          <a:xfrm xmlns:a="http://schemas.openxmlformats.org/drawingml/2006/main">
            <a:off x="5127724" y="5038725"/>
            <a:ext cx="1460302" cy="552450"/>
          </a:xfrm>
          <a:prstGeom xmlns:a="http://schemas.openxmlformats.org/drawingml/2006/main" prst="rect">
            <a:avLst/>
          </a:prstGeom>
        </p:spPr>
      </p:pic>
      <p:sp>
        <p:nvSpPr>
          <p:cNvPr id="3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192FC3F-79E9-450A-A183-5683ABBD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045072659"/>
      </p:ext>
    </p:extLst>
  </p:cSld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같은 요청에서 검토할 변경 범위">
            <a:extLst xmlns:a="http://schemas.openxmlformats.org/drawingml/2006/main">
              <a:ext uri="{FF2B5EF4-FFF2-40B4-BE49-F238E27FC236}">
                <a16:creationId xmlns:a16="http://schemas.microsoft.com/office/drawing/2014/main" id="{7FFE4435-DC20-4BDC-BEA2-CB2AD0BF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요청에서 검토할 변경 범위</a:t>
            </a:r>
          </a:p>
        </p:txBody>
      </p:sp>
      <p:sp>
        <p:nvSpPr>
          <p:cNvPr id="2" name="S17">
            <a:extLst xmlns:a="http://schemas.openxmlformats.org/drawingml/2006/main">
              <a:ext uri="{FF2B5EF4-FFF2-40B4-BE49-F238E27FC236}">
                <a16:creationId xmlns:a16="http://schemas.microsoft.com/office/drawing/2014/main" id="{F43F2368-B4FE-4B79-B1E4-80155F71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S17</a:t>
            </a:r>
          </a:p>
        </p:txBody>
      </p:sp>
      <p:sp>
        <p:nvSpPr>
          <p:cNvPr id="3" name="어디까지 바꾸라는 요청일까?">
            <a:extLst xmlns:a="http://schemas.openxmlformats.org/drawingml/2006/main">
              <a:ext uri="{FF2B5EF4-FFF2-40B4-BE49-F238E27FC236}">
                <a16:creationId xmlns:a16="http://schemas.microsoft.com/office/drawing/2014/main" id="{AE5CC8A8-D092-4A13-9713-BA5FA633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바꾸라는 요청일까?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A831E-B37D-4F6B-9BA7-349DD25A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BA18B96-18A8-41CF-B5AC-41EE9F9C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해석의 예시</a:t>
            </a:r>
          </a:p>
        </p:txBody>
      </p:sp>
      <p:sp>
        <p:nvSpPr>
          <p:cNvPr id="7" name="같은 crop 요청에서, 허용할 변경 범위를 비교한다.">
            <a:extLst xmlns:a="http://schemas.openxmlformats.org/drawingml/2006/main">
              <a:ext uri="{FF2B5EF4-FFF2-40B4-BE49-F238E27FC236}">
                <a16:creationId xmlns:a16="http://schemas.microsoft.com/office/drawing/2014/main" id="{C70AE28E-84A0-4D3C-9BBF-AD221CA4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crop 요청에서, 허용할 변경 범위를 비교한다.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44A962-CD67-4952-8C19-63016D45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1910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3BC61572-4FA9-49B0-BF55-5480360D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3848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EF9BB-06A2-4FE7-9825-07F46602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384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test 고쳐줘">
            <a:extLst xmlns:a="http://schemas.openxmlformats.org/drawingml/2006/main">
              <a:ext uri="{FF2B5EF4-FFF2-40B4-BE49-F238E27FC236}">
                <a16:creationId xmlns:a16="http://schemas.microsoft.com/office/drawing/2014/main" id="{C674A8DA-E648-4275-A3A0-18CB57A2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</a:t>
            </a:r>
          </a:p>
        </p:txBody>
      </p:sp>
      <p:sp>
        <p:nvSpPr>
          <p:cNvPr id="12" name="+">
            <a:extLst xmlns:a="http://schemas.openxmlformats.org/drawingml/2006/main">
              <a:ext uri="{FF2B5EF4-FFF2-40B4-BE49-F238E27FC236}">
                <a16:creationId xmlns:a16="http://schemas.microsoft.com/office/drawing/2014/main" id="{5CB4FFE2-930A-4BDB-BBF0-D8F34CFF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1C1159-0A02-4E11-9F98-B3E223E2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2194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↑">
            <a:extLst xmlns:a="http://schemas.openxmlformats.org/drawingml/2006/main">
              <a:ext uri="{FF2B5EF4-FFF2-40B4-BE49-F238E27FC236}">
                <a16:creationId xmlns:a16="http://schemas.microsoft.com/office/drawing/2014/main" id="{EE5226B6-5237-4D6A-BB40-810BB835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20992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CBE7B2-E1FB-4E7D-91C6-01E8BAF8CF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4b3f7316d4fc0"/>
          <a:stretch xmlns:a="http://schemas.openxmlformats.org/drawingml/2006/main"/>
        </p:blipFill>
        <p:spPr>
          <a:xfrm xmlns:a="http://schemas.openxmlformats.org/drawingml/2006/main">
            <a:off x="1587500" y="3609975"/>
            <a:ext cx="1778000" cy="1333500"/>
          </a:xfrm>
          <a:prstGeom xmlns:a="http://schemas.openxmlformats.org/drawingml/2006/main" prst="rect">
            <a:avLst/>
          </a:prstGeom>
        </p:spPr>
      </p:pic>
      <p:sp>
        <p:nvSpPr>
          <p:cNvPr id="16" name="같은 AI Agent · 같은 요청">
            <a:extLst xmlns:a="http://schemas.openxmlformats.org/drawingml/2006/main">
              <a:ext uri="{FF2B5EF4-FFF2-40B4-BE49-F238E27FC236}">
                <a16:creationId xmlns:a16="http://schemas.microsoft.com/office/drawing/2014/main" id="{2DB63F8B-1D99-41B2-ACC1-4CAADB2F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AI Agent · 같은 요청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B12B9-D59A-4AB3-924D-71FE4805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000500"/>
            <a:ext cx="838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어떤 변경을 허용했을까?">
            <a:extLst xmlns:a="http://schemas.openxmlformats.org/drawingml/2006/main">
              <a:ext uri="{FF2B5EF4-FFF2-40B4-BE49-F238E27FC236}">
                <a16:creationId xmlns:a16="http://schemas.microsoft.com/office/drawing/2014/main" id="{96C4DB45-2CD3-45EE-8811-3E909793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895475"/>
            <a:ext cx="617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변경을 허용했을까?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8D3AB-9724-499A-B1EE-0FEB4D5E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Possible interpretation A">
            <a:extLst xmlns:a="http://schemas.openxmlformats.org/drawingml/2006/main">
              <a:ext uri="{FF2B5EF4-FFF2-40B4-BE49-F238E27FC236}">
                <a16:creationId xmlns:a16="http://schemas.microsoft.com/office/drawing/2014/main" id="{81C165B6-8AF4-4709-8DB8-72E957E3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0"/>
                  <a:pt x="1047750" y="0"/>
                </a:cubicBezTo>
                <a:lnTo>
                  <a:pt x="605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C4C970-C2D5-49A5-AED6-C8293FC7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3133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2" name="A">
            <a:extLst xmlns:a="http://schemas.openxmlformats.org/drawingml/2006/main">
              <a:ext uri="{FF2B5EF4-FFF2-40B4-BE49-F238E27FC236}">
                <a16:creationId xmlns:a16="http://schemas.microsoft.com/office/drawing/2014/main" id="{C7C752B4-B505-4178-A4AA-4A5950FB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336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3" name="테스트 기대값 변경">
            <a:extLst xmlns:a="http://schemas.openxmlformats.org/drawingml/2006/main">
              <a:ext uri="{FF2B5EF4-FFF2-40B4-BE49-F238E27FC236}">
                <a16:creationId xmlns:a16="http://schemas.microsoft.com/office/drawing/2014/main" id="{C7F2F664-2545-48A6-AB5A-6A0D9558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4669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기대값 변경</a:t>
            </a:r>
          </a:p>
        </p:txBody>
      </p:sp>
      <p:sp>
        <p:nvSpPr>
          <p:cNvPr id="24" name="명세 변경의 정당성·승인 필요">
            <a:extLst xmlns:a="http://schemas.openxmlformats.org/drawingml/2006/main">
              <a:ext uri="{FF2B5EF4-FFF2-40B4-BE49-F238E27FC236}">
                <a16:creationId xmlns:a16="http://schemas.microsoft.com/office/drawing/2014/main" id="{78DE7C6C-1756-40F6-88DD-3D85D28C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8384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명세 변경의 정당성·승인 필요</a:t>
            </a:r>
          </a:p>
        </p:txBody>
      </p:sp>
      <p:sp>
        <p:nvSpPr>
          <p:cNvPr id="25" name="Possible interpretation B">
            <a:extLst xmlns:a="http://schemas.openxmlformats.org/drawingml/2006/main">
              <a:ext uri="{FF2B5EF4-FFF2-40B4-BE49-F238E27FC236}">
                <a16:creationId xmlns:a16="http://schemas.microsoft.com/office/drawing/2014/main" id="{965E4EA9-0004-4AB2-AC9C-1E0327F4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914400"/>
                  <a:pt x="1047750" y="914400"/>
                </a:cubicBezTo>
                <a:lnTo>
                  <a:pt x="6057900" y="914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74FF49-ED87-4E4D-8829-33EF9B14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048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7" name="B">
            <a:extLst xmlns:a="http://schemas.openxmlformats.org/drawingml/2006/main">
              <a:ext uri="{FF2B5EF4-FFF2-40B4-BE49-F238E27FC236}">
                <a16:creationId xmlns:a16="http://schemas.microsoft.com/office/drawing/2014/main" id="{3602A658-E68D-4244-B2F3-4DCC9AC1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4480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8" name="구현을 명세에 맞춤">
            <a:extLst xmlns:a="http://schemas.openxmlformats.org/drawingml/2006/main">
              <a:ext uri="{FF2B5EF4-FFF2-40B4-BE49-F238E27FC236}">
                <a16:creationId xmlns:a16="http://schemas.microsoft.com/office/drawing/2014/main" id="{0AFC7FC6-85BF-4758-8EAB-2E32C21A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813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구현을 명세에 맞춤</a:t>
            </a:r>
          </a:p>
        </p:txBody>
      </p:sp>
      <p:sp>
        <p:nvSpPr>
          <p:cNvPr id="29" name="기존 명세·기대값을 유지">
            <a:extLst xmlns:a="http://schemas.openxmlformats.org/drawingml/2006/main">
              <a:ext uri="{FF2B5EF4-FFF2-40B4-BE49-F238E27FC236}">
                <a16:creationId xmlns:a16="http://schemas.microsoft.com/office/drawing/2014/main" id="{27233418-DEEF-41D2-ACE2-79446064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528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명세·기대값을 유지</a:t>
            </a:r>
          </a:p>
        </p:txBody>
      </p:sp>
      <p:sp>
        <p:nvSpPr>
          <p:cNvPr id="30" name="Possible interpretation C">
            <a:extLst xmlns:a="http://schemas.openxmlformats.org/drawingml/2006/main">
              <a:ext uri="{FF2B5EF4-FFF2-40B4-BE49-F238E27FC236}">
                <a16:creationId xmlns:a16="http://schemas.microsoft.com/office/drawing/2014/main" id="{DBCD67B9-1930-4F18-85DF-854CD50B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1828800"/>
                  <a:pt x="1047750" y="1828800"/>
                </a:cubicBezTo>
                <a:lnTo>
                  <a:pt x="6057900" y="1828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FF0909-9A2A-4563-931D-214AD327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962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32" name="C">
            <a:extLst xmlns:a="http://schemas.openxmlformats.org/drawingml/2006/main">
              <a:ext uri="{FF2B5EF4-FFF2-40B4-BE49-F238E27FC236}">
                <a16:creationId xmlns:a16="http://schemas.microsoft.com/office/drawing/2014/main" id="{E5C6E5D3-1038-426D-A263-D4304D2F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3624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3" name="변경 범위를 먼저 확인">
            <a:extLst xmlns:a="http://schemas.openxmlformats.org/drawingml/2006/main">
              <a:ext uri="{FF2B5EF4-FFF2-40B4-BE49-F238E27FC236}">
                <a16:creationId xmlns:a16="http://schemas.microsoft.com/office/drawing/2014/main" id="{EA73B432-8F5C-4526-B8F7-32757528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변경 범위를 먼저 확인</a:t>
            </a:r>
          </a:p>
        </p:txBody>
      </p:sp>
      <p:sp>
        <p:nvSpPr>
          <p:cNvPr id="34" name="의도·명세·조건이 충돌하면 질문">
            <a:extLst xmlns:a="http://schemas.openxmlformats.org/drawingml/2006/main">
              <a:ext uri="{FF2B5EF4-FFF2-40B4-BE49-F238E27FC236}">
                <a16:creationId xmlns:a16="http://schemas.microsoft.com/office/drawing/2014/main" id="{CD143874-C78D-411A-A67B-60D98061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6672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의도·명세·조건이 충돌하면 질문</a:t>
            </a:r>
          </a:p>
        </p:txBody>
      </p:sp>
      <p:sp>
        <p:nvSpPr>
          <p:cNvPr id="35" name="요청에서 더 분명히 할 정보">
            <a:extLst xmlns:a="http://schemas.openxmlformats.org/drawingml/2006/main">
              <a:ext uri="{FF2B5EF4-FFF2-40B4-BE49-F238E27FC236}">
                <a16:creationId xmlns:a16="http://schemas.microsoft.com/office/drawing/2014/main" id="{8B2AC5E0-3595-4AE6-BC0F-5EE2A34F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요청에서 더 분명히 할 정보</a:t>
            </a:r>
          </a:p>
        </p:txBody>
      </p:sp>
      <p:sp>
        <p:nvSpPr>
          <p:cNvPr id="36" name="목표의 세부 ?">
            <a:extLst xmlns:a="http://schemas.openxmlformats.org/drawingml/2006/main">
              <a:ext uri="{FF2B5EF4-FFF2-40B4-BE49-F238E27FC236}">
                <a16:creationId xmlns:a16="http://schemas.microsoft.com/office/drawing/2014/main" id="{98BDD084-BCA5-47A7-87B7-501C5511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목표의 세부 ?</a:t>
            </a:r>
          </a:p>
        </p:txBody>
      </p:sp>
      <p:sp>
        <p:nvSpPr>
          <p:cNvPr id="37" name="보존 조건 ?">
            <a:extLst xmlns:a="http://schemas.openxmlformats.org/drawingml/2006/main">
              <a:ext uri="{FF2B5EF4-FFF2-40B4-BE49-F238E27FC236}">
                <a16:creationId xmlns:a16="http://schemas.microsoft.com/office/drawing/2014/main" id="{E4116FF4-9053-47B1-8EED-7D5739C1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 조건 ?</a:t>
            </a:r>
          </a:p>
        </p:txBody>
      </p:sp>
      <p:sp>
        <p:nvSpPr>
          <p:cNvPr id="38" name="수정 범위 ?">
            <a:extLst xmlns:a="http://schemas.openxmlformats.org/drawingml/2006/main">
              <a:ext uri="{FF2B5EF4-FFF2-40B4-BE49-F238E27FC236}">
                <a16:creationId xmlns:a16="http://schemas.microsoft.com/office/drawing/2014/main" id="{6E60A52D-7C56-4AC8-86A8-2F2051A4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범위 ?</a:t>
            </a:r>
          </a:p>
        </p:txBody>
      </p:sp>
      <p:sp>
        <p:nvSpPr>
          <p:cNvPr id="39" name="확인 근거 ?">
            <a:extLst xmlns:a="http://schemas.openxmlformats.org/drawingml/2006/main">
              <a:ext uri="{FF2B5EF4-FFF2-40B4-BE49-F238E27FC236}">
                <a16:creationId xmlns:a16="http://schemas.microsoft.com/office/drawing/2014/main" id="{3DC41C7C-C222-4B0F-B771-53F68AE7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근거 ?</a:t>
            </a:r>
          </a:p>
        </p:txBody>
      </p:sp>
      <p:sp>
        <p:nvSpPr>
          <p:cNvPr id="40" name="완료 조건 ?">
            <a:extLst xmlns:a="http://schemas.openxmlformats.org/drawingml/2006/main">
              <a:ext uri="{FF2B5EF4-FFF2-40B4-BE49-F238E27FC236}">
                <a16:creationId xmlns:a16="http://schemas.microsoft.com/office/drawing/2014/main" id="{1A7D8D3A-B066-4E81-A487-17685B3F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조건 ?</a:t>
            </a:r>
          </a:p>
        </p:txBody>
      </p:sp>
      <p:sp>
        <p:nvSpPr>
          <p:cNvPr id="4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CABEEA-E1AC-4747-96C1-0CAB45A9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727827427"/>
      </p:ext>
    </p:extLst>
  </p:cSld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같은 요청에 보존·수정·확인 조건 추가">
            <a:extLst xmlns:a="http://schemas.openxmlformats.org/drawingml/2006/main">
              <a:ext uri="{FF2B5EF4-FFF2-40B4-BE49-F238E27FC236}">
                <a16:creationId xmlns:a16="http://schemas.microsoft.com/office/drawing/2014/main" id="{9D241A21-FF03-43B9-B1AF-1557C146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요청에 보존·수정·확인 조건 추가</a:t>
            </a:r>
          </a:p>
        </p:txBody>
      </p:sp>
      <p:sp>
        <p:nvSpPr>
          <p:cNvPr id="2" name="S18">
            <a:extLst xmlns:a="http://schemas.openxmlformats.org/drawingml/2006/main">
              <a:ext uri="{FF2B5EF4-FFF2-40B4-BE49-F238E27FC236}">
                <a16:creationId xmlns:a16="http://schemas.microsoft.com/office/drawing/2014/main" id="{E33C8A01-BF65-4EE6-9F62-39339213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S18</a:t>
            </a:r>
          </a:p>
        </p:txBody>
      </p:sp>
      <p:sp>
        <p:nvSpPr>
          <p:cNvPr id="3" name="원하는 변경 범위를 요청에 담는다">
            <a:extLst xmlns:a="http://schemas.openxmlformats.org/drawingml/2006/main">
              <a:ext uri="{FF2B5EF4-FFF2-40B4-BE49-F238E27FC236}">
                <a16:creationId xmlns:a16="http://schemas.microsoft.com/office/drawing/2014/main" id="{64C44081-A580-4454-94C5-89BC9F3E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변경 범위를 요청에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1B347-3D40-4FB0-A4BC-5E4AC709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5A18278-B765-476D-8563-FED4A872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의도한 경로</a:t>
            </a:r>
          </a:p>
        </p:txBody>
      </p:sp>
      <p:sp>
        <p:nvSpPr>
          <p:cNvPr id="7" name="기대값 · crop(1, 3) → 열 1·2, 폭 2">
            <a:extLst xmlns:a="http://schemas.openxmlformats.org/drawingml/2006/main">
              <a:ext uri="{FF2B5EF4-FFF2-40B4-BE49-F238E27FC236}">
                <a16:creationId xmlns:a16="http://schemas.microsoft.com/office/drawing/2014/main" id="{446D0072-8C59-46C0-BDD8-87183CB7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기대값 · crop(1, 3) → 열 1·2, 폭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A7D90-73AE-4BA7-B1A5-2784A41D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38750" cy="3067050"/>
          </a:xfrm>
          <a:prstGeom xmlns:a="http://schemas.openxmlformats.org/drawingml/2006/main" prst="roundRect">
            <a:avLst>
              <a:gd name="adj" fmla="val 3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6B2B7B0C-42EF-48F9-AE0E-CFEE69E5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4895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75870D-4D17-40D6-B733-AB591AA1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test 고쳐줘.">
            <a:extLst xmlns:a="http://schemas.openxmlformats.org/drawingml/2006/main">
              <a:ext uri="{FF2B5EF4-FFF2-40B4-BE49-F238E27FC236}">
                <a16:creationId xmlns:a16="http://schemas.microsoft.com/office/drawing/2014/main" id="{C342A2DB-E7A5-4736-94E6-68BE4B27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0325"/>
            <a:ext cx="4857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고쳐줘.</a:t>
            </a:r>
          </a:p>
        </p:txBody>
      </p:sp>
      <p:sp>
        <p:nvSpPr>
          <p:cNvPr id="12" name="기존 명세와 테스트 기대값은 유지하고,">
            <a:extLst xmlns:a="http://schemas.openxmlformats.org/drawingml/2006/main">
              <a:ext uri="{FF2B5EF4-FFF2-40B4-BE49-F238E27FC236}">
                <a16:creationId xmlns:a16="http://schemas.microsoft.com/office/drawing/2014/main" id="{BDD91A19-8EDC-4192-8733-E9F9F4DF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명세와 테스트 기대값은 유지하고,</a:t>
            </a:r>
          </a:p>
        </p:txBody>
      </p:sp>
      <p:sp>
        <p:nvSpPr>
          <p:cNvPr id="13" name="명세에 어긋난 crop 구현만 최소 수정해.">
            <a:extLst xmlns:a="http://schemas.openxmlformats.org/drawingml/2006/main">
              <a:ext uri="{FF2B5EF4-FFF2-40B4-BE49-F238E27FC236}">
                <a16:creationId xmlns:a16="http://schemas.microsoft.com/office/drawing/2014/main" id="{423A07F2-2B64-4D52-8DC5-CC85C955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명세에 어긋난 crop 구현만 최소 수정해.</a:t>
            </a:r>
          </a:p>
        </p:txBody>
      </p:sp>
      <p:sp>
        <p:nvSpPr>
          <p:cNvPr id="14" name="관련 테스트와 전체 테스트를 확인하고,">
            <a:extLst xmlns:a="http://schemas.openxmlformats.org/drawingml/2006/main">
              <a:ext uri="{FF2B5EF4-FFF2-40B4-BE49-F238E27FC236}">
                <a16:creationId xmlns:a16="http://schemas.microsoft.com/office/drawing/2014/main" id="{8F3C3345-6AB8-42CC-B86F-F7308CC6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테스트와 전체 테스트를 확인하고,</a:t>
            </a:r>
          </a:p>
        </p:txBody>
      </p:sp>
      <p:sp>
        <p:nvSpPr>
          <p:cNvPr id="15" name="변경 내용·검증 결과·미확인 사항을 보고해.">
            <a:extLst xmlns:a="http://schemas.openxmlformats.org/drawingml/2006/main">
              <a:ext uri="{FF2B5EF4-FFF2-40B4-BE49-F238E27FC236}">
                <a16:creationId xmlns:a16="http://schemas.microsoft.com/office/drawing/2014/main" id="{E1965744-3EA6-4F3E-BD37-D3C91335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내용·검증 결과·미확인 사항을 보고해.</a:t>
            </a:r>
          </a:p>
        </p:txBody>
      </p:sp>
      <p:sp>
        <p:nvSpPr>
          <p:cNvPr id="16" name="+">
            <a:extLst xmlns:a="http://schemas.openxmlformats.org/drawingml/2006/main">
              <a:ext uri="{FF2B5EF4-FFF2-40B4-BE49-F238E27FC236}">
                <a16:creationId xmlns:a16="http://schemas.microsoft.com/office/drawing/2014/main" id="{6E48DC58-6E06-44C7-9878-7A8D0EBF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271080-6058-45EC-BD2E-4026967D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815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↑">
            <a:extLst xmlns:a="http://schemas.openxmlformats.org/drawingml/2006/main">
              <a:ext uri="{FF2B5EF4-FFF2-40B4-BE49-F238E27FC236}">
                <a16:creationId xmlns:a16="http://schemas.microsoft.com/office/drawing/2014/main" id="{C82601EF-2E0F-4C93-90C2-8B75332F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7202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sp>
        <p:nvSpPr>
          <p:cNvPr id="19" name="사람이 원하는 경로를 명시">
            <a:extLst xmlns:a="http://schemas.openxmlformats.org/drawingml/2006/main">
              <a:ext uri="{FF2B5EF4-FFF2-40B4-BE49-F238E27FC236}">
                <a16:creationId xmlns:a16="http://schemas.microsoft.com/office/drawing/2014/main" id="{128A45D3-8E63-47F4-810F-847A888E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66875"/>
            <a:ext cx="5372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원하는 경로를 명시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BB2F6D-DE14-48C4-AA26-A6DEFEE004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3d63b7dbc343a5"/>
          <a:stretch xmlns:a="http://schemas.openxmlformats.org/drawingml/2006/main"/>
        </p:blipFill>
        <p:spPr>
          <a:xfrm xmlns:a="http://schemas.openxmlformats.org/drawingml/2006/main">
            <a:off x="6067425" y="2038350"/>
            <a:ext cx="1447800" cy="10858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3943CC-0A24-440B-BA6B-6619C811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857625"/>
            <a:ext cx="32385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FE61B2-5FF9-45DC-A513-3EEED926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10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Possible interpretation A">
            <a:extLst xmlns:a="http://schemas.openxmlformats.org/drawingml/2006/main">
              <a:ext uri="{FF2B5EF4-FFF2-40B4-BE49-F238E27FC236}">
                <a16:creationId xmlns:a16="http://schemas.microsoft.com/office/drawing/2014/main" id="{E5784F8A-99DC-452E-8FDD-7E94C30D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0"/>
                  <a:pt x="1047750" y="0"/>
                </a:cubicBezTo>
                <a:lnTo>
                  <a:pt x="5000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848F"/>
            </a:solidFill>
            <a:prstDash val="dash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2E9FD1-DA50-429B-A6BB-B9AACA6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848F"/>
          </a:solidFill>
          <a:ln xmlns:a="http://schemas.openxmlformats.org/drawingml/2006/main" w="0">
            <a:noFill/>
          </a:ln>
        </p:spPr>
      </p:sp>
      <p:sp>
        <p:nvSpPr>
          <p:cNvPr id="25" name="A">
            <a:extLst xmlns:a="http://schemas.openxmlformats.org/drawingml/2006/main">
              <a:ext uri="{FF2B5EF4-FFF2-40B4-BE49-F238E27FC236}">
                <a16:creationId xmlns:a16="http://schemas.microsoft.com/office/drawing/2014/main" id="{3BA13A51-6F71-4A87-B356-0C9B468E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193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6" name="테스트 기대값 변경">
            <a:extLst xmlns:a="http://schemas.openxmlformats.org/drawingml/2006/main">
              <a:ext uri="{FF2B5EF4-FFF2-40B4-BE49-F238E27FC236}">
                <a16:creationId xmlns:a16="http://schemas.microsoft.com/office/drawing/2014/main" id="{E01055DC-E883-4F8D-BCDD-FCB2D91E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55270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테스트 기대값 변경</a:t>
            </a:r>
          </a:p>
        </p:txBody>
      </p:sp>
      <p:sp>
        <p:nvSpPr>
          <p:cNvPr id="27" name="보존 조건과 맞지 않음">
            <a:extLst xmlns:a="http://schemas.openxmlformats.org/drawingml/2006/main">
              <a:ext uri="{FF2B5EF4-FFF2-40B4-BE49-F238E27FC236}">
                <a16:creationId xmlns:a16="http://schemas.microsoft.com/office/drawing/2014/main" id="{9EEE3863-B337-4C22-9938-095B45B6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92417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보존 조건과 맞지 않음</a:t>
            </a:r>
          </a:p>
        </p:txBody>
      </p:sp>
      <p:sp>
        <p:nvSpPr>
          <p:cNvPr id="28" name="Possible interpretation B">
            <a:extLst xmlns:a="http://schemas.openxmlformats.org/drawingml/2006/main">
              <a:ext uri="{FF2B5EF4-FFF2-40B4-BE49-F238E27FC236}">
                <a16:creationId xmlns:a16="http://schemas.microsoft.com/office/drawing/2014/main" id="{2561AAA7-8C4C-4853-8261-19FDDC72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819150"/>
                  <a:pt x="1047750" y="819150"/>
                </a:cubicBezTo>
                <a:lnTo>
                  <a:pt x="5000625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0B617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65727E-FC73-4799-B103-575BA232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038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B">
            <a:extLst xmlns:a="http://schemas.openxmlformats.org/drawingml/2006/main">
              <a:ext uri="{FF2B5EF4-FFF2-40B4-BE49-F238E27FC236}">
                <a16:creationId xmlns:a16="http://schemas.microsoft.com/office/drawing/2014/main" id="{9B48729F-BEA0-461B-AABC-6A89C1DD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385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1" name="crop 구현 최소 수정">
            <a:extLst xmlns:a="http://schemas.openxmlformats.org/drawingml/2006/main">
              <a:ext uri="{FF2B5EF4-FFF2-40B4-BE49-F238E27FC236}">
                <a16:creationId xmlns:a16="http://schemas.microsoft.com/office/drawing/2014/main" id="{4E0A2A87-1D0A-4BE9-BBB2-77D711DC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37185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구현 최소 수정</a:t>
            </a:r>
          </a:p>
        </p:txBody>
      </p:sp>
      <p:sp>
        <p:nvSpPr>
          <p:cNvPr id="32" name="사람이 명시한 변경 범위">
            <a:extLst xmlns:a="http://schemas.openxmlformats.org/drawingml/2006/main">
              <a:ext uri="{FF2B5EF4-FFF2-40B4-BE49-F238E27FC236}">
                <a16:creationId xmlns:a16="http://schemas.microsoft.com/office/drawing/2014/main" id="{6660C6F9-42D3-41CD-B5DD-26703936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명시한 변경 범위</a:t>
            </a:r>
          </a:p>
        </p:txBody>
      </p:sp>
      <p:sp>
        <p:nvSpPr>
          <p:cNvPr id="33" name="Possible interpretation C">
            <a:extLst xmlns:a="http://schemas.openxmlformats.org/drawingml/2006/main">
              <a:ext uri="{FF2B5EF4-FFF2-40B4-BE49-F238E27FC236}">
                <a16:creationId xmlns:a16="http://schemas.microsoft.com/office/drawing/2014/main" id="{47F67505-8A72-48EC-8E86-5EB4263E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1638300"/>
                  <a:pt x="1047750" y="1638300"/>
                </a:cubicBezTo>
                <a:lnTo>
                  <a:pt x="5000625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848F"/>
            </a:solidFill>
            <a:prstDash val="dash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EE1144-D23F-47B1-B863-004BC3AE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857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848F"/>
          </a:solidFill>
          <a:ln xmlns:a="http://schemas.openxmlformats.org/drawingml/2006/main" w="0">
            <a:noFill/>
          </a:ln>
        </p:spPr>
      </p:sp>
      <p:sp>
        <p:nvSpPr>
          <p:cNvPr id="35" name="C">
            <a:extLst xmlns:a="http://schemas.openxmlformats.org/drawingml/2006/main">
              <a:ext uri="{FF2B5EF4-FFF2-40B4-BE49-F238E27FC236}">
                <a16:creationId xmlns:a16="http://schemas.microsoft.com/office/drawing/2014/main" id="{53B5C1A8-574A-42FC-9684-BA7AF92B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576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추가 질문 후 진행">
            <a:extLst xmlns:a="http://schemas.openxmlformats.org/drawingml/2006/main">
              <a:ext uri="{FF2B5EF4-FFF2-40B4-BE49-F238E27FC236}">
                <a16:creationId xmlns:a16="http://schemas.microsoft.com/office/drawing/2014/main" id="{355ECB45-9065-4BF2-8047-4EA38FF1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19100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추가 질문 후 진행</a:t>
            </a:r>
          </a:p>
        </p:txBody>
      </p:sp>
      <p:sp>
        <p:nvSpPr>
          <p:cNvPr id="37" name="필요한 정보가 남으면 확인">
            <a:extLst xmlns:a="http://schemas.openxmlformats.org/drawingml/2006/main">
              <a:ext uri="{FF2B5EF4-FFF2-40B4-BE49-F238E27FC236}">
                <a16:creationId xmlns:a16="http://schemas.microsoft.com/office/drawing/2014/main" id="{FDF7BBED-4AFA-4786-8D0A-74597321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6247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필요한 정보가 남으면 확인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9A2E22-F23D-47A4-9F87-3F36E25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원하는 변화·조건·완료 근거를 요청에 담는다.">
            <a:extLst xmlns:a="http://schemas.openxmlformats.org/drawingml/2006/main">
              <a:ext uri="{FF2B5EF4-FFF2-40B4-BE49-F238E27FC236}">
                <a16:creationId xmlns:a16="http://schemas.microsoft.com/office/drawing/2014/main" id="{77D4D292-3FA2-4552-AE16-95D24C85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원하는 변화·조건·완료 근거를 요청에 담는다.</a:t>
            </a:r>
          </a:p>
        </p:txBody>
      </p:sp>
      <p:sp>
        <p:nvSpPr>
          <p:cNvPr id="4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6B18696-57AB-49E1-B13B-A93FA672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562764830"/>
      </p:ext>
    </p:extLst>
  </p:cSld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을 보내기 전의 질문">
            <a:extLst xmlns:a="http://schemas.openxmlformats.org/drawingml/2006/main">
              <a:ext uri="{FF2B5EF4-FFF2-40B4-BE49-F238E27FC236}">
                <a16:creationId xmlns:a16="http://schemas.microsoft.com/office/drawing/2014/main" id="{9DA9E6B9-43F5-42A6-A776-B719BCB1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요청을 보내기 전의 질문</a:t>
            </a:r>
          </a:p>
        </p:txBody>
      </p:sp>
      <p:sp>
        <p:nvSpPr>
          <p:cNvPr id="2" name="S19">
            <a:extLst xmlns:a="http://schemas.openxmlformats.org/drawingml/2006/main">
              <a:ext uri="{FF2B5EF4-FFF2-40B4-BE49-F238E27FC236}">
                <a16:creationId xmlns:a16="http://schemas.microsoft.com/office/drawing/2014/main" id="{8DD75F80-C30B-480F-8D5D-D72FA44F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S19</a:t>
            </a:r>
          </a:p>
        </p:txBody>
      </p:sp>
      <p:sp>
        <p:nvSpPr>
          <p:cNvPr id="3" name="개발자가 정해야 하는 경계">
            <a:extLst xmlns:a="http://schemas.openxmlformats.org/drawingml/2006/main">
              <a:ext uri="{FF2B5EF4-FFF2-40B4-BE49-F238E27FC236}">
                <a16:creationId xmlns:a16="http://schemas.microsoft.com/office/drawing/2014/main" id="{B39286F4-C45A-408F-B80D-026CCE96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정해야 하는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CA25F-CF80-4120-A4CE-B5693CC2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7" name="이번 작업에서 사람이 정할 질문은?">
            <a:extLst xmlns:a="http://schemas.openxmlformats.org/drawingml/2006/main">
              <a:ext uri="{FF2B5EF4-FFF2-40B4-BE49-F238E27FC236}">
                <a16:creationId xmlns:a16="http://schemas.microsoft.com/office/drawing/2014/main" id="{0B1DE39C-C1B5-47D2-823E-8F71EC06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작업에서 사람이 정할 질문은?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366D5D5-66C4-4441-A1D7-662A9BE2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DB8B953F-0DB2-4EDF-83AC-219EFE0C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0FAA15-A7DD-4F96-96CD-4972627E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89323BC4-8A39-4CB3-9E73-96E4DD0D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무엇을 유지할까?">
            <a:extLst xmlns:a="http://schemas.openxmlformats.org/drawingml/2006/main">
              <a:ext uri="{FF2B5EF4-FFF2-40B4-BE49-F238E27FC236}">
                <a16:creationId xmlns:a16="http://schemas.microsoft.com/office/drawing/2014/main" id="{5FDFFDB2-FC6F-4E5B-96D7-7A8955A8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유지할까?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E7A18A-C043-41E5-9BB4-B0C21831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20F8B931-5F47-46DD-9FC6-7CC2B189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F17FBD00-8D9C-4CA0-B327-603C306C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1A07C-C538-4CCB-9160-BC6872B9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715ACAF2-F4E4-49B5-BA3F-69D4E514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무슨 근거로 확인할까?">
            <a:extLst xmlns:a="http://schemas.openxmlformats.org/drawingml/2006/main">
              <a:ext uri="{FF2B5EF4-FFF2-40B4-BE49-F238E27FC236}">
                <a16:creationId xmlns:a16="http://schemas.microsoft.com/office/drawing/2014/main" id="{5DC524BE-1655-41CE-A4AB-90DAB89B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무슨 근거로 확인할까?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A1F78C-3C28-42A4-8870-C747D12A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563B7-F824-4B9D-B12F-42E6903F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5">
            <a:extLst xmlns:a="http://schemas.openxmlformats.org/drawingml/2006/main">
              <a:ext uri="{FF2B5EF4-FFF2-40B4-BE49-F238E27FC236}">
                <a16:creationId xmlns:a16="http://schemas.microsoft.com/office/drawing/2014/main" id="{B48288A9-D551-4406-B365-E21F7614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2" name="언제 완료라고 할까?">
            <a:extLst xmlns:a="http://schemas.openxmlformats.org/drawingml/2006/main">
              <a:ext uri="{FF2B5EF4-FFF2-40B4-BE49-F238E27FC236}">
                <a16:creationId xmlns:a16="http://schemas.microsoft.com/office/drawing/2014/main" id="{6C73ACA7-203E-4708-9C43-3C2D106B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000625"/>
            <a:ext cx="9744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언제 완료라고 할까?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BFE6F0E-C46C-46EA-9809-69D8EFAC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</a:t>
            </a:r>
          </a:p>
        </p:txBody>
      </p:sp>
    </p:spTree>
    <p:extLst>
      <p:ext uri="{BB962C8B-B14F-4D97-AF65-F5344CB8AC3E}">
        <p14:creationId xmlns:p14="http://schemas.microsoft.com/office/powerpoint/2010/main" val="857888138"/>
      </p:ext>
    </p:extLst>
  </p:cSld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1 · 작업을 구체화하는 틀">
            <a:extLst xmlns:a="http://schemas.openxmlformats.org/drawingml/2006/main">
              <a:ext uri="{FF2B5EF4-FFF2-40B4-BE49-F238E27FC236}">
                <a16:creationId xmlns:a16="http://schemas.microsoft.com/office/drawing/2014/main" id="{1DA949EC-7368-4EDD-8EA7-2CD10742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작업을 구체화하는 틀</a:t>
            </a:r>
          </a:p>
        </p:txBody>
      </p:sp>
      <p:sp>
        <p:nvSpPr>
          <p:cNvPr id="2" name="S20">
            <a:extLst xmlns:a="http://schemas.openxmlformats.org/drawingml/2006/main">
              <a:ext uri="{FF2B5EF4-FFF2-40B4-BE49-F238E27FC236}">
                <a16:creationId xmlns:a16="http://schemas.microsoft.com/office/drawing/2014/main" id="{FCE4A6D4-645E-42B9-B525-24AB1B8A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S20</a:t>
            </a:r>
          </a:p>
        </p:txBody>
      </p:sp>
      <p:sp>
        <p:nvSpPr>
          <p:cNvPr id="3" name="Task Specification의 다섯 책임">
            <a:extLst xmlns:a="http://schemas.openxmlformats.org/drawingml/2006/main">
              <a:ext uri="{FF2B5EF4-FFF2-40B4-BE49-F238E27FC236}">
                <a16:creationId xmlns:a16="http://schemas.microsoft.com/office/drawing/2014/main" id="{355FE293-1DBB-4396-9744-2AB712B8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Specification의 다섯 책임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5E790-5C0F-488B-BD77-3E14F85E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E446B2F-6B63-4B49-A0C0-163A68C5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저장소 사실은 조사하게 하고, 목표·제약·완료 기준은 사람이 정한다</a:t>
            </a:r>
          </a:p>
        </p:txBody>
      </p:sp>
      <p:sp>
        <p:nvSpPr>
          <p:cNvPr id="7" name="앞의 질문을, 요청 문장의 다섯 항목으로 정리한다">
            <a:extLst xmlns:a="http://schemas.openxmlformats.org/drawingml/2006/main">
              <a:ext uri="{FF2B5EF4-FFF2-40B4-BE49-F238E27FC236}">
                <a16:creationId xmlns:a16="http://schemas.microsoft.com/office/drawing/2014/main" id="{4A825CFC-5140-409B-A44F-F32E4976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질문을, 요청 문장의 다섯 항목으로 정리한다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DF166C-264C-4285-86C1-BD2D0435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CD98A-EC6D-406B-8236-82CBD88D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67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하나의&#10;Task&#10;Specification">
            <a:extLst xmlns:a="http://schemas.openxmlformats.org/drawingml/2006/main">
              <a:ext uri="{FF2B5EF4-FFF2-40B4-BE49-F238E27FC236}">
                <a16:creationId xmlns:a16="http://schemas.microsoft.com/office/drawing/2014/main" id="{8168DB09-B753-4339-AB46-87447CFD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26098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하나의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Specification</a:t>
            </a:r>
          </a:p>
        </p:txBody>
      </p:sp>
      <p:sp>
        <p:nvSpPr>
          <p:cNvPr id="11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5D3C178F-A19F-4774-AF54-47FFB217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764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12" name="원하는 결과·우선순위">
            <a:extLst xmlns:a="http://schemas.openxmlformats.org/drawingml/2006/main">
              <a:ext uri="{FF2B5EF4-FFF2-40B4-BE49-F238E27FC236}">
                <a16:creationId xmlns:a16="http://schemas.microsoft.com/office/drawing/2014/main" id="{37F318C2-C64E-456B-8A79-78738309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764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결과·우선순위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88C96-4F61-455E-A097-99FA012A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193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8357F030-618E-4301-9D28-61858B5F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622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15" name="저장소에서 조사할 사실">
            <a:extLst xmlns:a="http://schemas.openxmlformats.org/drawingml/2006/main">
              <a:ext uri="{FF2B5EF4-FFF2-40B4-BE49-F238E27FC236}">
                <a16:creationId xmlns:a16="http://schemas.microsoft.com/office/drawing/2014/main" id="{7624E435-EBD3-4EF3-BAEB-4DAF9DFF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622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저장소에서 조사할 사실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EB806-E466-4CF0-9470-7BBBBA7C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051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986B359C-D612-4F2A-AFBD-F835A118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480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18" name="지킬 동작·변경 범위">
            <a:extLst xmlns:a="http://schemas.openxmlformats.org/drawingml/2006/main">
              <a:ext uri="{FF2B5EF4-FFF2-40B4-BE49-F238E27FC236}">
                <a16:creationId xmlns:a16="http://schemas.microsoft.com/office/drawing/2014/main" id="{FB700E73-C76C-48D0-B20E-4F1016D7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480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지킬 동작·변경 범위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A5E6B0-DDB0-424E-8EE1-FA828E2C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909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998FDAA7-773F-4A69-A188-689AA4BB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21" name="요청할 작업 순서·경계">
            <a:extLst xmlns:a="http://schemas.openxmlformats.org/drawingml/2006/main">
              <a:ext uri="{FF2B5EF4-FFF2-40B4-BE49-F238E27FC236}">
                <a16:creationId xmlns:a16="http://schemas.microsoft.com/office/drawing/2014/main" id="{DBDCE24E-40EF-4302-8056-8714CF7C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338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요청할 작업 순서·경계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F5AAA8-47DF-46F2-9F45-0C574671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767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FB5C1DD2-07D2-43EF-8096-0B28C9F3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196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24" name="요청할 확인·보고 내용">
            <a:extLst xmlns:a="http://schemas.openxmlformats.org/drawingml/2006/main">
              <a:ext uri="{FF2B5EF4-FFF2-40B4-BE49-F238E27FC236}">
                <a16:creationId xmlns:a16="http://schemas.microsoft.com/office/drawing/2014/main" id="{BCF37187-E0BF-4D25-8E35-CB282138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8196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요청할 확인·보고 내용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CBAF9EE-205A-4133-A213-A958FAD8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521425000"/>
      </p:ext>
    </p:extLst>
  </p:cSld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실제 요청에서 다섯 항목 찾기">
            <a:extLst xmlns:a="http://schemas.openxmlformats.org/drawingml/2006/main">
              <a:ext uri="{FF2B5EF4-FFF2-40B4-BE49-F238E27FC236}">
                <a16:creationId xmlns:a16="http://schemas.microsoft.com/office/drawing/2014/main" id="{CAF24CE7-B0D0-42FC-B8C3-1404FBCA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실제 요청에서 다섯 항목 찾기</a:t>
            </a:r>
          </a:p>
        </p:txBody>
      </p:sp>
      <p:sp>
        <p:nvSpPr>
          <p:cNvPr id="2" name="S21">
            <a:extLst xmlns:a="http://schemas.openxmlformats.org/drawingml/2006/main">
              <a:ext uri="{FF2B5EF4-FFF2-40B4-BE49-F238E27FC236}">
                <a16:creationId xmlns:a16="http://schemas.microsoft.com/office/drawing/2014/main" id="{19F59DC5-EBE6-40ED-B90A-854B343B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S21</a:t>
            </a:r>
          </a:p>
        </p:txBody>
      </p:sp>
      <p:sp>
        <p:nvSpPr>
          <p:cNvPr id="3" name="실제 요청에는 무엇을 담았을까?">
            <a:extLst xmlns:a="http://schemas.openxmlformats.org/drawingml/2006/main">
              <a:ext uri="{FF2B5EF4-FFF2-40B4-BE49-F238E27FC236}">
                <a16:creationId xmlns:a16="http://schemas.microsoft.com/office/drawing/2014/main" id="{D3F0A365-DABF-45AF-8718-9035D533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요청에는 무엇을 담았을까?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DE431-0E13-4A14-883C-90FBF9A2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1CEC8B1E-D26B-422D-9DA7-D79B655F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요청 발췌·번역 · 다섯 항목은 교육용 주석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DB7ED-AB79-4D59-97E3-6DFE7231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80962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TRIAL-002 · 실제 요청 발췌·번역">
            <a:extLst xmlns:a="http://schemas.openxmlformats.org/drawingml/2006/main">
              <a:ext uri="{FF2B5EF4-FFF2-40B4-BE49-F238E27FC236}">
                <a16:creationId xmlns:a16="http://schemas.microsoft.com/office/drawing/2014/main" id="{0513606C-1F1B-42ED-951F-596A6D42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771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TRIAL-002 · 실제 요청 발췌·번역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434DE-07E1-4719-9F9E-0F8AA593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81225"/>
            <a:ext cx="771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Goal:">
            <a:extLst xmlns:a="http://schemas.openxmlformats.org/drawingml/2006/main">
              <a:ext uri="{FF2B5EF4-FFF2-40B4-BE49-F238E27FC236}">
                <a16:creationId xmlns:a16="http://schemas.microsoft.com/office/drawing/2014/main" id="{F303349C-A1EF-4FBA-BF7B-5D2E7261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76475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Goal:</a:t>
            </a:r>
          </a:p>
        </p:txBody>
      </p:sp>
      <p:sp>
        <p:nvSpPr>
          <p:cNvPr id="11" name="이 저장소의 crop 경계 테스트 실패를 조사하고 고쳐줘.">
            <a:extLst xmlns:a="http://schemas.openxmlformats.org/drawingml/2006/main">
              <a:ext uri="{FF2B5EF4-FFF2-40B4-BE49-F238E27FC236}">
                <a16:creationId xmlns:a16="http://schemas.microsoft.com/office/drawing/2014/main" id="{6FE8D38D-8B10-4E26-AFF6-0221428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764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저장소의 crop 경계 테스트 실패를 조사하고 고쳐줘.</a:t>
            </a:r>
          </a:p>
        </p:txBody>
      </p:sp>
      <p:sp>
        <p:nvSpPr>
          <p:cNvPr id="12" name="Constraints:">
            <a:extLst xmlns:a="http://schemas.openxmlformats.org/drawingml/2006/main">
              <a:ext uri="{FF2B5EF4-FFF2-40B4-BE49-F238E27FC236}">
                <a16:creationId xmlns:a16="http://schemas.microsoft.com/office/drawing/2014/main" id="{C89AF1F7-C4DD-47EC-A88A-CD086DEC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Constraints:</a:t>
            </a:r>
          </a:p>
        </p:txBody>
      </p:sp>
      <p:sp>
        <p:nvSpPr>
          <p:cNvPr id="13" name="끝 좌표 제외 명세 [x_start, x_end)를 지켜줘.">
            <a:extLst xmlns:a="http://schemas.openxmlformats.org/drawingml/2006/main">
              <a:ext uri="{FF2B5EF4-FFF2-40B4-BE49-F238E27FC236}">
                <a16:creationId xmlns:a16="http://schemas.microsoft.com/office/drawing/2014/main" id="{A9C622D7-8594-4C29-B6FB-028F06AB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67000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 명세 [x_start, x_end)를 지켜줘.</a:t>
            </a:r>
          </a:p>
        </p:txBody>
      </p:sp>
      <p:sp>
        <p:nvSpPr>
          <p:cNvPr id="14" name="무관한 API 변경·의존성 추가 없이 최소 수정해줘.">
            <a:extLst xmlns:a="http://schemas.openxmlformats.org/drawingml/2006/main">
              <a:ext uri="{FF2B5EF4-FFF2-40B4-BE49-F238E27FC236}">
                <a16:creationId xmlns:a16="http://schemas.microsoft.com/office/drawing/2014/main" id="{F718ED0C-F5FF-4F9A-B521-7891C386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952750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무관한 API 변경·의존성 추가 없이 최소 수정해줘.</a:t>
            </a:r>
          </a:p>
        </p:txBody>
      </p:sp>
      <p:sp>
        <p:nvSpPr>
          <p:cNvPr id="15" name="Process:">
            <a:extLst xmlns:a="http://schemas.openxmlformats.org/drawingml/2006/main">
              <a:ext uri="{FF2B5EF4-FFF2-40B4-BE49-F238E27FC236}">
                <a16:creationId xmlns:a16="http://schemas.microsoft.com/office/drawing/2014/main" id="{A175321D-6561-43CF-B670-3EEEFEAE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Process:</a:t>
            </a:r>
          </a:p>
        </p:txBody>
      </p:sp>
      <p:sp>
        <p:nvSpPr>
          <p:cNvPr id="16" name="01  먼저 현재 실패를 재현해줘.">
            <a:extLst xmlns:a="http://schemas.openxmlformats.org/drawingml/2006/main">
              <a:ext uri="{FF2B5EF4-FFF2-40B4-BE49-F238E27FC236}">
                <a16:creationId xmlns:a16="http://schemas.microsoft.com/office/drawing/2014/main" id="{44D8C053-A35F-4EE0-9906-9E504718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432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01  먼저 현재 실패를 재현해줘.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C46AB1-AB5D-4E49-B957-5F094C79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648075"/>
            <a:ext cx="19812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02  관련 구현과 호출 경로를 조사해줘.">
            <a:extLst xmlns:a="http://schemas.openxmlformats.org/drawingml/2006/main">
              <a:ext uri="{FF2B5EF4-FFF2-40B4-BE49-F238E27FC236}">
                <a16:creationId xmlns:a16="http://schemas.microsoft.com/office/drawing/2014/main" id="{FEC6B8F7-3530-4795-9663-9139DFD0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480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02  관련 구현과 호출 경로를 조사해줘.</a:t>
            </a:r>
          </a:p>
        </p:txBody>
      </p:sp>
      <p:sp>
        <p:nvSpPr>
          <p:cNvPr id="19" name="03  수정 전 짧은 계획을 알리고, 승인 대기 없이 계속해줘.">
            <a:extLst xmlns:a="http://schemas.openxmlformats.org/drawingml/2006/main">
              <a:ext uri="{FF2B5EF4-FFF2-40B4-BE49-F238E27FC236}">
                <a16:creationId xmlns:a16="http://schemas.microsoft.com/office/drawing/2014/main" id="{D1BFFDEC-9EAC-4820-9A13-40729C3B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528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03  수정 전 짧은 계획을 알리고, 승인 대기 없이 계속해줘.</a:t>
            </a:r>
          </a:p>
        </p:txBody>
      </p:sp>
      <p:sp>
        <p:nvSpPr>
          <p:cNvPr id="20" name="Verification:">
            <a:extLst xmlns:a="http://schemas.openxmlformats.org/drawingml/2006/main">
              <a:ext uri="{FF2B5EF4-FFF2-40B4-BE49-F238E27FC236}">
                <a16:creationId xmlns:a16="http://schemas.microsoft.com/office/drawing/2014/main" id="{5569F929-ECE2-49A5-9544-2EC46D44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Verification:</a:t>
            </a:r>
          </a:p>
        </p:txBody>
      </p:sp>
      <p:sp>
        <p:nvSpPr>
          <p:cNvPr id="21" name="관련·전체 테스트를 실행해줘.">
            <a:extLst xmlns:a="http://schemas.openxmlformats.org/drawingml/2006/main">
              <a:ext uri="{FF2B5EF4-FFF2-40B4-BE49-F238E27FC236}">
                <a16:creationId xmlns:a16="http://schemas.microsoft.com/office/drawing/2014/main" id="{38DF296C-246A-49E9-B25E-4F8C55C9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4342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관련·전체 테스트를 실행해줘.</a:t>
            </a:r>
          </a:p>
        </p:txBody>
      </p:sp>
      <p:sp>
        <p:nvSpPr>
          <p:cNvPr id="22" name="가능하면 기존 입력으로 CLI를 실행하고, 최종 변경을 확인해줘.">
            <a:extLst xmlns:a="http://schemas.openxmlformats.org/drawingml/2006/main">
              <a:ext uri="{FF2B5EF4-FFF2-40B4-BE49-F238E27FC236}">
                <a16:creationId xmlns:a16="http://schemas.microsoft.com/office/drawing/2014/main" id="{53FBDD3A-445F-4A77-8EBB-0FAFF2D3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291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가능하면 기존 입력으로 CLI를 실행하고, 최종 변경을 확인해줘.</a:t>
            </a:r>
          </a:p>
        </p:txBody>
      </p:sp>
      <p:sp>
        <p:nvSpPr>
          <p:cNvPr id="23" name="변경 파일과 정확한 검증 근거를 보고해줘.">
            <a:extLst xmlns:a="http://schemas.openxmlformats.org/drawingml/2006/main">
              <a:ext uri="{FF2B5EF4-FFF2-40B4-BE49-F238E27FC236}">
                <a16:creationId xmlns:a16="http://schemas.microsoft.com/office/drawing/2014/main" id="{C313FBBF-037D-4F1F-B59A-ED95F287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1492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파일과 정확한 검증 근거를 보고해줘.</a:t>
            </a:r>
          </a:p>
        </p:txBody>
      </p:sp>
      <p:sp>
        <p:nvSpPr>
          <p:cNvPr id="24" name="요청에서 읽는 다섯 역할">
            <a:extLst xmlns:a="http://schemas.openxmlformats.org/drawingml/2006/main">
              <a:ext uri="{FF2B5EF4-FFF2-40B4-BE49-F238E27FC236}">
                <a16:creationId xmlns:a16="http://schemas.microsoft.com/office/drawing/2014/main" id="{1FF51671-2F5F-41A8-B865-AA6BCD3C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8478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요청에서 읽는 다섯 역할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2A9D8F-D860-475F-944E-DB429B0C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982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6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D0945D77-354F-4F9D-A3BB-8F68D00D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27" name="고칠 실패">
            <a:extLst xmlns:a="http://schemas.openxmlformats.org/drawingml/2006/main">
              <a:ext uri="{FF2B5EF4-FFF2-40B4-BE49-F238E27FC236}">
                <a16:creationId xmlns:a16="http://schemas.microsoft.com/office/drawing/2014/main" id="{7959DC65-398A-4576-AFD7-AB3AB839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717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고칠 실패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42827-29A9-4869-99A2-0B642E5C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241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9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69569D60-D6F9-4D2E-963D-6D7D403E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908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30" name="보존·허용 범위">
            <a:extLst xmlns:a="http://schemas.openxmlformats.org/drawingml/2006/main">
              <a:ext uri="{FF2B5EF4-FFF2-40B4-BE49-F238E27FC236}">
                <a16:creationId xmlns:a16="http://schemas.microsoft.com/office/drawing/2014/main" id="{71EDF814-BF3E-438E-A7DC-0EAA0D91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보존·허용 범위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A4A48C-CF81-4A97-B600-3BBF39D2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51472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32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F7A58FC7-6297-4666-AD3A-3336BAB1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3813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33" name="작업 순서·수정 전 보고">
            <a:extLst xmlns:a="http://schemas.openxmlformats.org/drawingml/2006/main">
              <a:ext uri="{FF2B5EF4-FFF2-40B4-BE49-F238E27FC236}">
                <a16:creationId xmlns:a16="http://schemas.microsoft.com/office/drawing/2014/main" id="{6E68268C-0D49-44CB-B0FB-6EF1ACED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76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순서·수정 전 보고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1AAA22-268D-4024-B833-1B781B72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290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35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9743C7DA-D4D9-492C-ADCC-A49E9989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957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36" name="조사할 대상·위치">
            <a:extLst xmlns:a="http://schemas.openxmlformats.org/drawingml/2006/main">
              <a:ext uri="{FF2B5EF4-FFF2-40B4-BE49-F238E27FC236}">
                <a16:creationId xmlns:a16="http://schemas.microsoft.com/office/drawing/2014/main" id="{79C3B4B2-45E7-4363-9484-A5B9F941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91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조사할 대상·위치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5D91FB-20EE-4E41-B953-3E113E5E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910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38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1CD80F1A-FBB5-4288-ABBD-2684D167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577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39" name="확인·보고할 근거">
            <a:extLst xmlns:a="http://schemas.openxmlformats.org/drawingml/2006/main">
              <a:ext uri="{FF2B5EF4-FFF2-40B4-BE49-F238E27FC236}">
                <a16:creationId xmlns:a16="http://schemas.microsoft.com/office/drawing/2014/main" id="{94B70B2B-15C9-4AED-B780-1736062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953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확인·보고할 근거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2D3279-6F5B-49C4-9A0F-5371DB57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924300"/>
            <a:ext cx="1924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41" name="Context annotation leader">
            <a:extLst xmlns:a="http://schemas.openxmlformats.org/drawingml/2006/main">
              <a:ext uri="{FF2B5EF4-FFF2-40B4-BE49-F238E27FC236}">
                <a16:creationId xmlns:a16="http://schemas.microsoft.com/office/drawing/2014/main" id="{43DB6445-B036-4608-8022-73BB5426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24300"/>
            <a:ext cx="4029075" cy="104775"/>
          </a:xfrm>
          <a:custGeom xmlns:a="http://schemas.openxmlformats.org/drawingml/2006/main">
            <a:pathLst>
              <a:path w="4029075" h="104775">
                <a:moveTo>
                  <a:pt x="0" y="0"/>
                </a:moveTo>
                <a:lnTo>
                  <a:pt x="3895725" y="0"/>
                </a:lnTo>
                <a:lnTo>
                  <a:pt x="3895725" y="104775"/>
                </a:lnTo>
                <a:lnTo>
                  <a:pt x="4029075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805400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204B12-1E53-4DDA-BFF1-6233D2C2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972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명세 해석 예 · 4열 입력의 crop 1 3 → 원본 열 1·2, 폭 2">
            <a:extLst xmlns:a="http://schemas.openxmlformats.org/drawingml/2006/main">
              <a:ext uri="{FF2B5EF4-FFF2-40B4-BE49-F238E27FC236}">
                <a16:creationId xmlns:a16="http://schemas.microsoft.com/office/drawing/2014/main" id="{1374D5EE-3272-4916-AFB1-3577A1E9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05450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 해석 예 · 4열 입력의 crop 1 3 → 원본 열 1·2, 폭 2</a:t>
            </a:r>
          </a:p>
        </p:txBody>
      </p:sp>
      <p:sp>
        <p:nvSpPr>
          <p:cNvPr id="4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B5FCEA6-4C27-4AAC-9202-6D2F7ED5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 · M6</a:t>
            </a:r>
          </a:p>
        </p:txBody>
      </p:sp>
    </p:spTree>
    <p:extLst>
      <p:ext uri="{BB962C8B-B14F-4D97-AF65-F5344CB8AC3E}">
        <p14:creationId xmlns:p14="http://schemas.microsoft.com/office/powerpoint/2010/main" val="2144264491"/>
      </p:ext>
    </p:extLst>
  </p:cSld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실제 요청과 관찰된 행동의 대응">
            <a:extLst xmlns:a="http://schemas.openxmlformats.org/drawingml/2006/main">
              <a:ext uri="{FF2B5EF4-FFF2-40B4-BE49-F238E27FC236}">
                <a16:creationId xmlns:a16="http://schemas.microsoft.com/office/drawing/2014/main" id="{BA3C5B34-C794-445F-BCC5-5765221B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실제 요청과 관찰된 행동의 대응</a:t>
            </a:r>
          </a:p>
        </p:txBody>
      </p:sp>
      <p:sp>
        <p:nvSpPr>
          <p:cNvPr id="2" name="S22">
            <a:extLst xmlns:a="http://schemas.openxmlformats.org/drawingml/2006/main">
              <a:ext uri="{FF2B5EF4-FFF2-40B4-BE49-F238E27FC236}">
                <a16:creationId xmlns:a16="http://schemas.microsoft.com/office/drawing/2014/main" id="{DA376A91-0FC2-4238-911F-C43D61FF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S22</a:t>
            </a:r>
          </a:p>
        </p:txBody>
      </p:sp>
      <p:sp>
        <p:nvSpPr>
          <p:cNvPr id="3" name="요청한 과정은 기록에도 남았을까?">
            <a:extLst xmlns:a="http://schemas.openxmlformats.org/drawingml/2006/main">
              <a:ext uri="{FF2B5EF4-FFF2-40B4-BE49-F238E27FC236}">
                <a16:creationId xmlns:a16="http://schemas.microsoft.com/office/drawing/2014/main" id="{E42F6182-079C-449C-8FBE-1D801F8F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요청한 과정은 기록에도 남았을까?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E4133-F424-4812-912F-EEFA5252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7547DD90-B7EB-45CF-88B8-10FAA0C8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요청의 과정 지시와 관찰 기록 · 단일 CLI 실행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C72E1-6818-41C2-A083-4229DDA6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200650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C3F35-5B8D-435F-9FBD-15701BB0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429250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실제로 보낸 요청 · 발췌·번역">
            <a:extLst xmlns:a="http://schemas.openxmlformats.org/drawingml/2006/main">
              <a:ext uri="{FF2B5EF4-FFF2-40B4-BE49-F238E27FC236}">
                <a16:creationId xmlns:a16="http://schemas.microsoft.com/office/drawing/2014/main" id="{3D1EA112-8CE9-4248-AD11-4B2E61F0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4819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실제로 보낸 요청 · 발췌·번역</a:t>
            </a:r>
          </a:p>
        </p:txBody>
      </p:sp>
      <p:sp>
        <p:nvSpPr>
          <p:cNvPr id="10" name="관찰된 행동 · 기록 요약">
            <a:extLst xmlns:a="http://schemas.openxmlformats.org/drawingml/2006/main">
              <a:ext uri="{FF2B5EF4-FFF2-40B4-BE49-F238E27FC236}">
                <a16:creationId xmlns:a16="http://schemas.microsoft.com/office/drawing/2014/main" id="{3D3A483C-5106-4D94-98DB-A454D3E7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5260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관찰된 행동 · 기록 요약</a:t>
            </a:r>
          </a:p>
        </p:txBody>
      </p:sp>
      <p:sp>
        <p:nvSpPr>
          <p:cNvPr id="11" name="앞 장의 같은 요청 · 과정 지시 01–03">
            <a:extLst xmlns:a="http://schemas.openxmlformats.org/drawingml/2006/main">
              <a:ext uri="{FF2B5EF4-FFF2-40B4-BE49-F238E27FC236}">
                <a16:creationId xmlns:a16="http://schemas.microsoft.com/office/drawing/2014/main" id="{82183EE5-D5C9-4AFC-849B-41D2E644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4819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 장의 같은 요청 · 과정 지시 01–03</a:t>
            </a:r>
          </a:p>
        </p:txBody>
      </p:sp>
      <p:sp>
        <p:nvSpPr>
          <p:cNvPr id="12" name="기록 요약과 대상 코드의 식별자를 대조">
            <a:extLst xmlns:a="http://schemas.openxmlformats.org/drawingml/2006/main">
              <a:ext uri="{FF2B5EF4-FFF2-40B4-BE49-F238E27FC236}">
                <a16:creationId xmlns:a16="http://schemas.microsoft.com/office/drawing/2014/main" id="{B0F837C4-EEBA-4FD6-BB19-298F528E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7645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요약과 대상 코드의 식별자를 대조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F15526CF-E2EE-43A5-8EA8-0ECA5933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4" name="먼저 현재 실패를&#10;재현해줘.">
            <a:extLst xmlns:a="http://schemas.openxmlformats.org/drawingml/2006/main">
              <a:ext uri="{FF2B5EF4-FFF2-40B4-BE49-F238E27FC236}">
                <a16:creationId xmlns:a16="http://schemas.microsoft.com/office/drawing/2014/main" id="{56532B9D-DAC9-4351-BC13-DEA50189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98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현재 실패를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재현해줘.</a:t>
            </a:r>
          </a:p>
        </p:txBody>
      </p:sp>
      <p:sp>
        <p:nvSpPr>
          <p:cNvPr id="15" name="01">
            <a:extLst xmlns:a="http://schemas.openxmlformats.org/drawingml/2006/main">
              <a:ext uri="{FF2B5EF4-FFF2-40B4-BE49-F238E27FC236}">
                <a16:creationId xmlns:a16="http://schemas.microsoft.com/office/drawing/2014/main" id="{3829C3D2-C450-4919-BC69-092F8F78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4A3085-26E7-4C1C-9181-B7968163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481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9CA7B4-0267-46E6-B55E-85D63447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0992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2">
            <a:extLst xmlns:a="http://schemas.openxmlformats.org/drawingml/2006/main">
              <a:ext uri="{FF2B5EF4-FFF2-40B4-BE49-F238E27FC236}">
                <a16:creationId xmlns:a16="http://schemas.microsoft.com/office/drawing/2014/main" id="{E2965936-D103-4AEA-87F7-AB480DCF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9" name="관련 구현과 호출 경로를&#10;조사해줘.">
            <a:extLst xmlns:a="http://schemas.openxmlformats.org/drawingml/2006/main">
              <a:ext uri="{FF2B5EF4-FFF2-40B4-BE49-F238E27FC236}">
                <a16:creationId xmlns:a16="http://schemas.microsoft.com/office/drawing/2014/main" id="{43B8E78E-5E66-4BB7-9DBC-62128900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623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구현과 호출 경로를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조사해줘.</a:t>
            </a:r>
          </a:p>
        </p:txBody>
      </p:sp>
      <p:sp>
        <p:nvSpPr>
          <p:cNvPr id="20" name="02">
            <a:extLst xmlns:a="http://schemas.openxmlformats.org/drawingml/2006/main">
              <a:ext uri="{FF2B5EF4-FFF2-40B4-BE49-F238E27FC236}">
                <a16:creationId xmlns:a16="http://schemas.microsoft.com/office/drawing/2014/main" id="{509349B8-8FC5-449D-9BC2-B9266C54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AF741D-4116-4B25-956E-1ACD1382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62425"/>
            <a:ext cx="481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FBAFA-1107-433A-93C2-BC09DC4F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6242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03">
            <a:extLst xmlns:a="http://schemas.openxmlformats.org/drawingml/2006/main">
              <a:ext uri="{FF2B5EF4-FFF2-40B4-BE49-F238E27FC236}">
                <a16:creationId xmlns:a16="http://schemas.microsoft.com/office/drawing/2014/main" id="{75305CF8-D8E7-443E-898A-641188C0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4" name="수정 전 짧은 계획을 알리고,&#10;승인 대기 없이 계속해줘.">
            <a:extLst xmlns:a="http://schemas.openxmlformats.org/drawingml/2006/main">
              <a:ext uri="{FF2B5EF4-FFF2-40B4-BE49-F238E27FC236}">
                <a16:creationId xmlns:a16="http://schemas.microsoft.com/office/drawing/2014/main" id="{7B78A176-2DD6-493E-86FD-B8778516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148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전 짧은 계획을 알리고,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승인 대기 없이 계속해줘.</a:t>
            </a:r>
          </a:p>
        </p:txBody>
      </p:sp>
      <p:sp>
        <p:nvSpPr>
          <p:cNvPr id="25" name="03">
            <a:extLst xmlns:a="http://schemas.openxmlformats.org/drawingml/2006/main">
              <a:ext uri="{FF2B5EF4-FFF2-40B4-BE49-F238E27FC236}">
                <a16:creationId xmlns:a16="http://schemas.microsoft.com/office/drawing/2014/main" id="{10593B80-4DD5-450C-88C0-AA751FE1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243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6" name="실패한 crop 테스트를 찾아 재현">
            <a:extLst xmlns:a="http://schemas.openxmlformats.org/drawingml/2006/main">
              <a:ext uri="{FF2B5EF4-FFF2-40B4-BE49-F238E27FC236}">
                <a16:creationId xmlns:a16="http://schemas.microsoft.com/office/drawing/2014/main" id="{F170A09F-96FC-4F34-87B8-B67BD434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19350"/>
            <a:ext cx="4629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실패한 crop 테스트를 찾아 재현</a:t>
            </a:r>
          </a:p>
        </p:txBody>
      </p:sp>
      <p:sp>
        <p:nvSpPr>
          <p:cNvPr id="27" name="test_crop_excludes_end_coordinate">
            <a:extLst xmlns:a="http://schemas.openxmlformats.org/drawingml/2006/main">
              <a:ext uri="{FF2B5EF4-FFF2-40B4-BE49-F238E27FC236}">
                <a16:creationId xmlns:a16="http://schemas.microsoft.com/office/drawing/2014/main" id="{447697B0-5BA2-4ABA-9428-0BEEABE6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4629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test_crop_excludes_end_coordinate</a:t>
            </a:r>
          </a:p>
        </p:txBody>
      </p:sp>
      <p:sp>
        <p:nvSpPr>
          <p:cNvPr id="28" name="cli.main · pipeline.process_image">
            <a:extLst xmlns:a="http://schemas.openxmlformats.org/drawingml/2006/main">
              <a:ext uri="{FF2B5EF4-FFF2-40B4-BE49-F238E27FC236}">
                <a16:creationId xmlns:a16="http://schemas.microsoft.com/office/drawing/2014/main" id="{F0BDF6B9-8B69-49B9-9054-3422996E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71850"/>
            <a:ext cx="462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cli.main · pipeline.process_image</a:t>
            </a:r>
          </a:p>
        </p:txBody>
      </p:sp>
      <p:sp>
        <p:nvSpPr>
          <p:cNvPr id="29" name="transform.crop까지 제품 호출 경로 확인">
            <a:extLst xmlns:a="http://schemas.openxmlformats.org/drawingml/2006/main">
              <a:ext uri="{FF2B5EF4-FFF2-40B4-BE49-F238E27FC236}">
                <a16:creationId xmlns:a16="http://schemas.microsoft.com/office/drawing/2014/main" id="{183C10A2-10C0-4A23-8B38-370FDD8E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52850"/>
            <a:ext cx="4629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transform.crop까지 제품 호출 경로 확인</a:t>
            </a:r>
          </a:p>
        </p:txBody>
      </p:sp>
      <p:sp>
        <p:nvSpPr>
          <p:cNvPr id="30" name="파일 수정 이벤트보다 먼저 계획 보고">
            <a:extLst xmlns:a="http://schemas.openxmlformats.org/drawingml/2006/main">
              <a:ext uri="{FF2B5EF4-FFF2-40B4-BE49-F238E27FC236}">
                <a16:creationId xmlns:a16="http://schemas.microsoft.com/office/drawing/2014/main" id="{502601F0-81C6-4DB6-8068-70FC63AE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24350"/>
            <a:ext cx="4629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파일 수정 이벤트보다 먼저 계획 보고</a:t>
            </a:r>
          </a:p>
        </p:txBody>
      </p:sp>
      <p:sp>
        <p:nvSpPr>
          <p:cNvPr id="31" name="끝 좌표 명세·기존 Test·API 보존 계획">
            <a:extLst xmlns:a="http://schemas.openxmlformats.org/drawingml/2006/main">
              <a:ext uri="{FF2B5EF4-FFF2-40B4-BE49-F238E27FC236}">
                <a16:creationId xmlns:a16="http://schemas.microsoft.com/office/drawing/2014/main" id="{72360C9B-E21F-41FC-B56C-21BC60C2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705350"/>
            <a:ext cx="4629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끝 좌표 명세·기존 Test·API 보존 계획</a:t>
            </a:r>
          </a:p>
        </p:txBody>
      </p:sp>
      <p:sp>
        <p:nvSpPr>
          <p:cNvPr id="32" name="04 최소 수정 내용  ·  S23">
            <a:extLst xmlns:a="http://schemas.openxmlformats.org/drawingml/2006/main">
              <a:ext uri="{FF2B5EF4-FFF2-40B4-BE49-F238E27FC236}">
                <a16:creationId xmlns:a16="http://schemas.microsoft.com/office/drawing/2014/main" id="{84F4477D-AD33-4751-8524-D203EAFB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52006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 최소 수정 내용  ·  S23</a:t>
            </a:r>
          </a:p>
        </p:txBody>
      </p:sp>
      <p:sp>
        <p:nvSpPr>
          <p:cNvPr id="33" name="05 확인·보고 결과  ·  S24">
            <a:extLst xmlns:a="http://schemas.openxmlformats.org/drawingml/2006/main">
              <a:ext uri="{FF2B5EF4-FFF2-40B4-BE49-F238E27FC236}">
                <a16:creationId xmlns:a16="http://schemas.microsoft.com/office/drawing/2014/main" id="{9A1B28AB-8857-45AA-B772-05D4AAAE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324475"/>
            <a:ext cx="542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 확인·보고 결과  ·  S24</a:t>
            </a:r>
          </a:p>
        </p:txBody>
      </p:sp>
      <p:sp>
        <p:nvSpPr>
          <p:cNvPr id="3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78F0365-F11C-471B-9440-90B6F7E9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854221206"/>
      </p:ext>
    </p:extLst>
  </p:cSld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1 · 요청한 보존 조건과 최소 변경을 대조">
            <a:extLst xmlns:a="http://schemas.openxmlformats.org/drawingml/2006/main">
              <a:ext uri="{FF2B5EF4-FFF2-40B4-BE49-F238E27FC236}">
                <a16:creationId xmlns:a16="http://schemas.microsoft.com/office/drawing/2014/main" id="{5DA1BE56-938E-497F-A9ED-B610DC21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요청한 보존 조건과 최소 변경을 대조</a:t>
            </a:r>
          </a:p>
        </p:txBody>
      </p:sp>
      <p:sp>
        <p:nvSpPr>
          <p:cNvPr id="2" name="S23">
            <a:extLst xmlns:a="http://schemas.openxmlformats.org/drawingml/2006/main">
              <a:ext uri="{FF2B5EF4-FFF2-40B4-BE49-F238E27FC236}">
                <a16:creationId xmlns:a16="http://schemas.microsoft.com/office/drawing/2014/main" id="{4414127E-C5C6-4055-91E5-168C771B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S23</a:t>
            </a:r>
          </a:p>
        </p:txBody>
      </p:sp>
      <p:sp>
        <p:nvSpPr>
          <p:cNvPr id="3" name="조사에서 한 줄 변경까지">
            <a:extLst xmlns:a="http://schemas.openxmlformats.org/drawingml/2006/main">
              <a:ext uri="{FF2B5EF4-FFF2-40B4-BE49-F238E27FC236}">
                <a16:creationId xmlns:a16="http://schemas.microsoft.com/office/drawing/2014/main" id="{99A7ACA8-9737-4D23-A817-D9A41F8E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조사에서 한 줄 변경까지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155215-9751-4451-9E85-596FFC2E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C2289B37-897F-4423-AC2D-5EAB9290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실제 변경 diff</a:t>
            </a:r>
          </a:p>
        </p:txBody>
      </p:sp>
      <p:sp>
        <p:nvSpPr>
          <p:cNvPr id="7" name="요청한 02 조사 · 03 계획 · 04 최소 수정">
            <a:extLst xmlns:a="http://schemas.openxmlformats.org/drawingml/2006/main">
              <a:ext uri="{FF2B5EF4-FFF2-40B4-BE49-F238E27FC236}">
                <a16:creationId xmlns:a16="http://schemas.microsoft.com/office/drawing/2014/main" id="{53F76BB2-3182-4FCC-8C84-65846F63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요청한 02 조사 · 03 계획 · 04 최소 수정</a:t>
            </a:r>
          </a:p>
        </p:txBody>
      </p:sp>
      <p:sp>
        <p:nvSpPr>
          <p:cNvPr id="8" name="끝 좌표를 제외하는 명세: [x_start, x_end)">
            <a:extLst xmlns:a="http://schemas.openxmlformats.org/drawingml/2006/main">
              <a:ext uri="{FF2B5EF4-FFF2-40B4-BE49-F238E27FC236}">
                <a16:creationId xmlns:a16="http://schemas.microsoft.com/office/drawing/2014/main" id="{54375F05-A7CE-4036-8058-4E7A9B4C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좌표를 제외하는 명세: [x_start, x_end)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19F38-A426-43F1-B2D1-21C47AF3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2569D4-5D69-48F4-8F05-8D6D7FA4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변경 전">
            <a:extLst xmlns:a="http://schemas.openxmlformats.org/drawingml/2006/main">
              <a:ext uri="{FF2B5EF4-FFF2-40B4-BE49-F238E27FC236}">
                <a16:creationId xmlns:a16="http://schemas.microsoft.com/office/drawing/2014/main" id="{215E5EBD-F33B-4525-BD34-56F03BBC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변경 전</a:t>
            </a:r>
          </a:p>
        </p:txBody>
      </p:sp>
      <p:sp>
        <p:nvSpPr>
          <p:cNvPr id="12" name="변경 후">
            <a:extLst xmlns:a="http://schemas.openxmlformats.org/drawingml/2006/main">
              <a:ext uri="{FF2B5EF4-FFF2-40B4-BE49-F238E27FC236}">
                <a16:creationId xmlns:a16="http://schemas.microsoft.com/office/drawing/2014/main" id="{08DC3F14-34FC-4256-BD61-823D6642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후</a:t>
            </a:r>
          </a:p>
        </p:txBody>
      </p:sp>
      <p:sp>
        <p:nvSpPr>
          <p:cNvPr id="13" name="row[x_start : x_end + 1]">
            <a:extLst xmlns:a="http://schemas.openxmlformats.org/drawingml/2006/main">
              <a:ext uri="{FF2B5EF4-FFF2-40B4-BE49-F238E27FC236}">
                <a16:creationId xmlns:a16="http://schemas.microsoft.com/office/drawing/2014/main" id="{AD52ABA7-E9CE-40A1-8A0D-464CB5FE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row[x_start : x_end + 1]</a:t>
            </a:r>
          </a:p>
        </p:txBody>
      </p:sp>
      <p:sp>
        <p:nvSpPr>
          <p:cNvPr id="14" name="row[x_start : x_end]">
            <a:extLst xmlns:a="http://schemas.openxmlformats.org/drawingml/2006/main">
              <a:ext uri="{FF2B5EF4-FFF2-40B4-BE49-F238E27FC236}">
                <a16:creationId xmlns:a16="http://schemas.microsoft.com/office/drawing/2014/main" id="{B7ED88C5-FA84-422C-9A28-DABC82D9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row[x_start : x_end]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BDB4C-A560-410E-8213-5ECBA560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285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crop(image, 1, 3)">
            <a:extLst xmlns:a="http://schemas.openxmlformats.org/drawingml/2006/main">
              <a:ext uri="{FF2B5EF4-FFF2-40B4-BE49-F238E27FC236}">
                <a16:creationId xmlns:a16="http://schemas.microsoft.com/office/drawing/2014/main" id="{477C5286-AA6C-44CC-ABD3-64088DEF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crop(image, 1, 3)</a:t>
            </a:r>
          </a:p>
        </p:txBody>
      </p:sp>
      <p:sp>
        <p:nvSpPr>
          <p:cNvPr id="17" name="너비 3 → 명세대로 너비 2">
            <a:extLst xmlns:a="http://schemas.openxmlformats.org/drawingml/2006/main">
              <a:ext uri="{FF2B5EF4-FFF2-40B4-BE49-F238E27FC236}">
                <a16:creationId xmlns:a16="http://schemas.microsoft.com/office/drawing/2014/main" id="{FDDD2226-443C-4A64-9AF2-82B8278A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95875"/>
            <a:ext cx="6496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너비 3 → 명세대로 너비 2</a:t>
            </a:r>
          </a:p>
        </p:txBody>
      </p:sp>
      <p:sp>
        <p:nvSpPr>
          <p:cNvPr id="18" name="다음은 요청한 05 확인·보고의 근거를 살펴본다.">
            <a:extLst xmlns:a="http://schemas.openxmlformats.org/drawingml/2006/main">
              <a:ext uri="{FF2B5EF4-FFF2-40B4-BE49-F238E27FC236}">
                <a16:creationId xmlns:a16="http://schemas.microsoft.com/office/drawing/2014/main" id="{91FF2546-C8F8-478E-B20E-4D8A7718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다음은 요청한 05 확인·보고의 근거를 살펴본다.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EEE60C0-2C92-40C1-A294-34460213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79713621"/>
      </p:ext>
    </p:extLst>
  </p:cSld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한 확인·보고와 기록의 대응">
            <a:extLst xmlns:a="http://schemas.openxmlformats.org/drawingml/2006/main">
              <a:ext uri="{FF2B5EF4-FFF2-40B4-BE49-F238E27FC236}">
                <a16:creationId xmlns:a16="http://schemas.microsoft.com/office/drawing/2014/main" id="{1C8E74F6-8BE0-498A-864E-EBA2EC6C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요청한 확인·보고와 기록의 대응</a:t>
            </a:r>
          </a:p>
        </p:txBody>
      </p:sp>
      <p:sp>
        <p:nvSpPr>
          <p:cNvPr id="2" name="S24">
            <a:extLst xmlns:a="http://schemas.openxmlformats.org/drawingml/2006/main">
              <a:ext uri="{FF2B5EF4-FFF2-40B4-BE49-F238E27FC236}">
                <a16:creationId xmlns:a16="http://schemas.microsoft.com/office/drawing/2014/main" id="{C6D16E04-B519-46BF-B81F-0F803B2B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S24</a:t>
            </a:r>
          </a:p>
        </p:txBody>
      </p:sp>
      <p:sp>
        <p:nvSpPr>
          <p:cNvPr id="3" name="변경 결과와 확인 증거">
            <a:extLst xmlns:a="http://schemas.openxmlformats.org/drawingml/2006/main">
              <a:ext uri="{FF2B5EF4-FFF2-40B4-BE49-F238E27FC236}">
                <a16:creationId xmlns:a16="http://schemas.microsoft.com/office/drawing/2014/main" id="{B378134D-A8C4-4460-9CF4-16C4E54D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결과와 확인 증거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62901-992A-46F6-8617-BDD11410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2F9D92F-80FD-48EC-813B-BEADD796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해당 수정·입력의 검증 기록 · 성능 미측정</a:t>
            </a:r>
          </a:p>
        </p:txBody>
      </p:sp>
      <p:sp>
        <p:nvSpPr>
          <p:cNvPr id="7" name="요청한 확인·보고에 어떤 근거가 남았을까?">
            <a:extLst xmlns:a="http://schemas.openxmlformats.org/drawingml/2006/main">
              <a:ext uri="{FF2B5EF4-FFF2-40B4-BE49-F238E27FC236}">
                <a16:creationId xmlns:a16="http://schemas.microsoft.com/office/drawing/2014/main" id="{972E0961-4D12-4396-880E-68804BB3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요청한 확인·보고에 어떤 근거가 남았을까?</a:t>
            </a:r>
          </a:p>
        </p:txBody>
      </p:sp>
      <p:sp>
        <p:nvSpPr>
          <p:cNvPr id="8" name="관련 테스트 실행">
            <a:extLst xmlns:a="http://schemas.openxmlformats.org/drawingml/2006/main">
              <a:ext uri="{FF2B5EF4-FFF2-40B4-BE49-F238E27FC236}">
                <a16:creationId xmlns:a16="http://schemas.microsoft.com/office/drawing/2014/main" id="{1B3544CC-6E78-4DBE-A980-4C26D1BB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테스트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2EC2B-ED7B-44C2-A479-DCF20981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3 / 3">
            <a:extLst xmlns:a="http://schemas.openxmlformats.org/drawingml/2006/main">
              <a:ext uri="{FF2B5EF4-FFF2-40B4-BE49-F238E27FC236}">
                <a16:creationId xmlns:a16="http://schemas.microsoft.com/office/drawing/2014/main" id="{E7C80E9F-BFA9-4B25-A316-95ED81A0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1" name="crop 관련 테스트 묶음">
            <a:extLst xmlns:a="http://schemas.openxmlformats.org/drawingml/2006/main">
              <a:ext uri="{FF2B5EF4-FFF2-40B4-BE49-F238E27FC236}">
                <a16:creationId xmlns:a16="http://schemas.microsoft.com/office/drawing/2014/main" id="{04AF645A-3A28-42EE-AE04-B6E36A92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관련 테스트 묶음</a:t>
            </a:r>
          </a:p>
        </p:txBody>
      </p:sp>
      <p:sp>
        <p:nvSpPr>
          <p:cNvPr id="12" name="프로젝트 전체 11 / 11 통과">
            <a:extLst xmlns:a="http://schemas.openxmlformats.org/drawingml/2006/main">
              <a:ext uri="{FF2B5EF4-FFF2-40B4-BE49-F238E27FC236}">
                <a16:creationId xmlns:a16="http://schemas.microsoft.com/office/drawing/2014/main" id="{575B1351-6E93-4860-874D-62C67501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전체 11 / 11 통과</a:t>
            </a:r>
          </a:p>
        </p:txBody>
      </p:sp>
      <p:sp>
        <p:nvSpPr>
          <p:cNvPr id="13" name="CLI 샘플 실행">
            <a:extLst xmlns:a="http://schemas.openxmlformats.org/drawingml/2006/main">
              <a:ext uri="{FF2B5EF4-FFF2-40B4-BE49-F238E27FC236}">
                <a16:creationId xmlns:a16="http://schemas.microsoft.com/office/drawing/2014/main" id="{69FAC89A-B6FC-4A52-B1E2-26FB8551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샘플 실행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8EF1E-BA2A-4862-9ADA-A3D55980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PASS">
            <a:extLst xmlns:a="http://schemas.openxmlformats.org/drawingml/2006/main">
              <a:ext uri="{FF2B5EF4-FFF2-40B4-BE49-F238E27FC236}">
                <a16:creationId xmlns:a16="http://schemas.microsoft.com/office/drawing/2014/main" id="{5356E1CA-FFE4-4AC0-BEAA-5D8C6C6F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6" name="CLI 샘플 실행 확인">
            <a:extLst xmlns:a="http://schemas.openxmlformats.org/drawingml/2006/main">
              <a:ext uri="{FF2B5EF4-FFF2-40B4-BE49-F238E27FC236}">
                <a16:creationId xmlns:a16="http://schemas.microsoft.com/office/drawing/2014/main" id="{F1C8CADB-015D-4BEC-A870-12B8C657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샘플 실행 확인</a:t>
            </a:r>
          </a:p>
        </p:txBody>
      </p:sp>
      <p:sp>
        <p:nvSpPr>
          <p:cNvPr id="17" name="기록된 샘플의 실행 경로">
            <a:extLst xmlns:a="http://schemas.openxmlformats.org/drawingml/2006/main">
              <a:ext uri="{FF2B5EF4-FFF2-40B4-BE49-F238E27FC236}">
                <a16:creationId xmlns:a16="http://schemas.microsoft.com/office/drawing/2014/main" id="{2F120871-5BD4-43BE-AA80-CBE98C01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샘플의 실행 경로</a:t>
            </a:r>
          </a:p>
        </p:txBody>
      </p:sp>
      <p:sp>
        <p:nvSpPr>
          <p:cNvPr id="18" name="변경 내용 확인">
            <a:extLst xmlns:a="http://schemas.openxmlformats.org/drawingml/2006/main">
              <a:ext uri="{FF2B5EF4-FFF2-40B4-BE49-F238E27FC236}">
                <a16:creationId xmlns:a16="http://schemas.microsoft.com/office/drawing/2014/main" id="{231C9E88-6111-4549-A367-7AE8610A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내용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52808-3BCF-4625-9642-341A82D4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1줄">
            <a:extLst xmlns:a="http://schemas.openxmlformats.org/drawingml/2006/main">
              <a:ext uri="{FF2B5EF4-FFF2-40B4-BE49-F238E27FC236}">
                <a16:creationId xmlns:a16="http://schemas.microsoft.com/office/drawing/2014/main" id="{F8A48214-BDFD-49C9-BAA3-0F4AFC3E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1줄</a:t>
            </a:r>
          </a:p>
        </p:txBody>
      </p:sp>
      <p:sp>
        <p:nvSpPr>
          <p:cNvPr id="21" name="한 파일의 crop 구현">
            <a:extLst xmlns:a="http://schemas.openxmlformats.org/drawingml/2006/main">
              <a:ext uri="{FF2B5EF4-FFF2-40B4-BE49-F238E27FC236}">
                <a16:creationId xmlns:a16="http://schemas.microsoft.com/office/drawing/2014/main" id="{66DC022A-4293-4179-9514-7C9D6CA1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파일의 crop 구현</a:t>
            </a:r>
          </a:p>
        </p:txBody>
      </p:sp>
      <p:sp>
        <p:nvSpPr>
          <p:cNvPr id="22" name="git diff --check 통과">
            <a:extLst xmlns:a="http://schemas.openxmlformats.org/drawingml/2006/main">
              <a:ext uri="{FF2B5EF4-FFF2-40B4-BE49-F238E27FC236}">
                <a16:creationId xmlns:a16="http://schemas.microsoft.com/office/drawing/2014/main" id="{E6C29561-8601-4913-B7BF-20DF9711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git diff --check 통과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AEC96FC-75D1-4151-94F9-0BC4D746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460646814"/>
      </p:ext>
    </p:extLst>
  </p:cSld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확인·보고할 근거도 요청에 담기">
            <a:extLst xmlns:a="http://schemas.openxmlformats.org/drawingml/2006/main">
              <a:ext uri="{FF2B5EF4-FFF2-40B4-BE49-F238E27FC236}">
                <a16:creationId xmlns:a16="http://schemas.microsoft.com/office/drawing/2014/main" id="{F3C81B1A-1F05-4FE0-B0AF-A0291D50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확인·보고할 근거도 요청에 담기</a:t>
            </a:r>
          </a:p>
        </p:txBody>
      </p:sp>
      <p:sp>
        <p:nvSpPr>
          <p:cNvPr id="2" name="S25">
            <a:extLst xmlns:a="http://schemas.openxmlformats.org/drawingml/2006/main">
              <a:ext uri="{FF2B5EF4-FFF2-40B4-BE49-F238E27FC236}">
                <a16:creationId xmlns:a16="http://schemas.microsoft.com/office/drawing/2014/main" id="{AA229A43-AD19-456C-BC39-13EB5FAE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S25</a:t>
            </a:r>
          </a:p>
        </p:txBody>
      </p:sp>
      <p:sp>
        <p:nvSpPr>
          <p:cNvPr id="3" name="Generated ≠ Done">
            <a:extLst xmlns:a="http://schemas.openxmlformats.org/drawingml/2006/main">
              <a:ext uri="{FF2B5EF4-FFF2-40B4-BE49-F238E27FC236}">
                <a16:creationId xmlns:a16="http://schemas.microsoft.com/office/drawing/2014/main" id="{BD21A8A3-65C7-4B18-A633-CFA3347D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Generated ≠ Done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8297D-FA21-4F2D-8B5E-E6F0AD9C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BCB5C05-079B-4F3E-BAFC-CBA389A7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주장과 위험에 맞는 근거로 완료를 판단한다</a:t>
            </a:r>
          </a:p>
        </p:txBody>
      </p:sp>
      <p:sp>
        <p:nvSpPr>
          <p:cNvPr id="7" name="확인·보고도 요청한다">
            <a:extLst xmlns:a="http://schemas.openxmlformats.org/drawingml/2006/main">
              <a:ext uri="{FF2B5EF4-FFF2-40B4-BE49-F238E27FC236}">
                <a16:creationId xmlns:a16="http://schemas.microsoft.com/office/drawing/2014/main" id="{C34253DE-58A3-41DD-B9D6-59FCDB06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확인·보고도 요청한다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5255FA-7489-46BC-9EAE-DE41F508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95500"/>
            <a:ext cx="762000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사람이 완료를 판단">
            <a:extLst xmlns:a="http://schemas.openxmlformats.org/drawingml/2006/main">
              <a:ext uri="{FF2B5EF4-FFF2-40B4-BE49-F238E27FC236}">
                <a16:creationId xmlns:a16="http://schemas.microsoft.com/office/drawing/2014/main" id="{48E5E9AB-69D1-4621-A9FE-A1CE7F9D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525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완료를 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82E21-AB06-4184-A663-872AAF78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무엇을 바꿨나?">
            <a:extLst xmlns:a="http://schemas.openxmlformats.org/drawingml/2006/main">
              <a:ext uri="{FF2B5EF4-FFF2-40B4-BE49-F238E27FC236}">
                <a16:creationId xmlns:a16="http://schemas.microsoft.com/office/drawing/2014/main" id="{2A9C5EB8-B1C1-42B7-A7B6-0BDC41AA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바꿨나?</a:t>
            </a:r>
          </a:p>
        </p:txBody>
      </p:sp>
      <p:sp>
        <p:nvSpPr>
          <p:cNvPr id="12" name="끝 좌표 명세에 맞춰 crop 구현 1줄 수정">
            <a:extLst xmlns:a="http://schemas.openxmlformats.org/drawingml/2006/main">
              <a:ext uri="{FF2B5EF4-FFF2-40B4-BE49-F238E27FC236}">
                <a16:creationId xmlns:a16="http://schemas.microsoft.com/office/drawing/2014/main" id="{8AAC25C1-0FCA-4CDA-A229-8EDBEA71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67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명세에 맞춰 crop 구현 1줄 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69245-532F-426F-8000-FB8EF9C7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무엇으로 확인했나?">
            <a:extLst xmlns:a="http://schemas.openxmlformats.org/drawingml/2006/main">
              <a:ext uri="{FF2B5EF4-FFF2-40B4-BE49-F238E27FC236}">
                <a16:creationId xmlns:a16="http://schemas.microsoft.com/office/drawing/2014/main" id="{03289E1D-E75D-4E3C-8A5A-65C44F0B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무엇으로 확인했나?</a:t>
            </a:r>
          </a:p>
        </p:txBody>
      </p:sp>
      <p:sp>
        <p:nvSpPr>
          <p:cNvPr id="15" name="관련 3/3 · 전체 11/11 · CLI 샘플·변경 확인">
            <a:extLst xmlns:a="http://schemas.openxmlformats.org/drawingml/2006/main">
              <a:ext uri="{FF2B5EF4-FFF2-40B4-BE49-F238E27FC236}">
                <a16:creationId xmlns:a16="http://schemas.microsoft.com/office/drawing/2014/main" id="{93703B26-A83D-4F67-8F21-F498267E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38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3/3 · 전체 11/11 · CLI 샘플·변경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EAF94-4C7D-4074-9062-2213D376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무엇이 미확인인가?">
            <a:extLst xmlns:a="http://schemas.openxmlformats.org/drawingml/2006/main">
              <a:ext uri="{FF2B5EF4-FFF2-40B4-BE49-F238E27FC236}">
                <a16:creationId xmlns:a16="http://schemas.microsoft.com/office/drawing/2014/main" id="{F7FE2439-D3D6-472A-AD02-E6F5DBB0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무엇이 미확인인가?</a:t>
            </a:r>
          </a:p>
        </p:txBody>
      </p:sp>
      <p:sp>
        <p:nvSpPr>
          <p:cNvPr id="18" name="성능 미측정 · 현재 Desktop 동작 미검증">
            <a:extLst xmlns:a="http://schemas.openxmlformats.org/drawingml/2006/main">
              <a:ext uri="{FF2B5EF4-FFF2-40B4-BE49-F238E27FC236}">
                <a16:creationId xmlns:a16="http://schemas.microsoft.com/office/drawing/2014/main" id="{14646EC9-0E99-49FA-A1EF-05B9FB17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10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미측정 · 현재 Desktop 동작 미검증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9D1E5C-A0F7-48FF-A5BC-38BCA423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누가 완료를 판단하나?">
            <a:extLst xmlns:a="http://schemas.openxmlformats.org/drawingml/2006/main">
              <a:ext uri="{FF2B5EF4-FFF2-40B4-BE49-F238E27FC236}">
                <a16:creationId xmlns:a16="http://schemas.microsoft.com/office/drawing/2014/main" id="{7F22C5D8-8F1E-4596-BC07-04C1A0AE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누가 완료를 판단하나?</a:t>
            </a:r>
          </a:p>
        </p:txBody>
      </p:sp>
      <p:sp>
        <p:nvSpPr>
          <p:cNvPr id="21" name="근거와 남은 위험을 보고 사람이 결정">
            <a:extLst xmlns:a="http://schemas.openxmlformats.org/drawingml/2006/main">
              <a:ext uri="{FF2B5EF4-FFF2-40B4-BE49-F238E27FC236}">
                <a16:creationId xmlns:a16="http://schemas.microsoft.com/office/drawing/2014/main" id="{9D363D9B-97BC-4A82-B92B-CF3E1BA6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81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근거와 남은 위험을 보고 사람이 결정</a:t>
            </a:r>
          </a:p>
        </p:txBody>
      </p:sp>
      <p:sp>
        <p:nvSpPr>
          <p:cNvPr id="22" name="확인 방법·기대 결과·보고할 근거를 완료 조건으로 요청한다.">
            <a:extLst xmlns:a="http://schemas.openxmlformats.org/drawingml/2006/main">
              <a:ext uri="{FF2B5EF4-FFF2-40B4-BE49-F238E27FC236}">
                <a16:creationId xmlns:a16="http://schemas.microsoft.com/office/drawing/2014/main" id="{4DA4DD74-B39E-408C-986C-49AA4D51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 방법·기대 결과·보고할 근거를 완료 조건으로 요청한다.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73B34FE-7CC8-4935-A1DF-E9BB2C46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M5 · M6</a:t>
            </a:r>
          </a:p>
        </p:txBody>
      </p:sp>
    </p:spTree>
    <p:extLst>
      <p:ext uri="{BB962C8B-B14F-4D97-AF65-F5344CB8AC3E}">
        <p14:creationId xmlns:p14="http://schemas.microsoft.com/office/powerpoint/2010/main" val="1269539284"/>
      </p:ext>
    </p:extLst>
  </p:cSld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완료 조건을 요청에 담기">
            <a:extLst xmlns:a="http://schemas.openxmlformats.org/drawingml/2006/main">
              <a:ext uri="{FF2B5EF4-FFF2-40B4-BE49-F238E27FC236}">
                <a16:creationId xmlns:a16="http://schemas.microsoft.com/office/drawing/2014/main" id="{D499A798-D33A-414A-995A-85A4E31D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완료 조건을 요청에 담기</a:t>
            </a:r>
          </a:p>
        </p:txBody>
      </p:sp>
      <p:sp>
        <p:nvSpPr>
          <p:cNvPr id="2" name="S26">
            <a:extLst xmlns:a="http://schemas.openxmlformats.org/drawingml/2006/main">
              <a:ext uri="{FF2B5EF4-FFF2-40B4-BE49-F238E27FC236}">
                <a16:creationId xmlns:a16="http://schemas.microsoft.com/office/drawing/2014/main" id="{0688F738-6CB5-452C-81E8-61D23E0E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S26</a:t>
            </a:r>
          </a:p>
        </p:txBody>
      </p:sp>
      <p:sp>
        <p:nvSpPr>
          <p:cNvPr id="3" name="원하는 결과에 맞춰 확인 방법을 고른다">
            <a:extLst xmlns:a="http://schemas.openxmlformats.org/drawingml/2006/main">
              <a:ext uri="{FF2B5EF4-FFF2-40B4-BE49-F238E27FC236}">
                <a16:creationId xmlns:a16="http://schemas.microsoft.com/office/drawing/2014/main" id="{03019E4F-5D52-45E0-8177-BF597C58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결과에 맞춰 확인 방법을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A07154-B8E6-4FB8-AB86-6A5C026F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는 Python 검증 기록 · 성능 측정은 수행하지 않음">
            <a:extLst xmlns:a="http://schemas.openxmlformats.org/drawingml/2006/main">
              <a:ext uri="{FF2B5EF4-FFF2-40B4-BE49-F238E27FC236}">
                <a16:creationId xmlns:a16="http://schemas.microsoft.com/office/drawing/2014/main" id="{5DC81845-37D1-4ADB-9161-88A24278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TRIAL-002는 Python 검증 기록 · 성능 측정은 수행하지 않음</a:t>
            </a:r>
          </a:p>
        </p:txBody>
      </p:sp>
      <p:sp>
        <p:nvSpPr>
          <p:cNvPr id="6" name="M 연계 · M5 / M6">
            <a:extLst xmlns:a="http://schemas.openxmlformats.org/drawingml/2006/main">
              <a:ext uri="{FF2B5EF4-FFF2-40B4-BE49-F238E27FC236}">
                <a16:creationId xmlns:a16="http://schemas.microsoft.com/office/drawing/2014/main" id="{4C0CB576-34E3-4459-9901-C1D53387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/ M6</a:t>
            </a:r>
          </a:p>
        </p:txBody>
      </p:sp>
      <p:sp>
        <p:nvSpPr>
          <p:cNvPr id="7" name="판단하고 싶은 것">
            <a:extLst xmlns:a="http://schemas.openxmlformats.org/drawingml/2006/main">
              <a:ext uri="{FF2B5EF4-FFF2-40B4-BE49-F238E27FC236}">
                <a16:creationId xmlns:a16="http://schemas.microsoft.com/office/drawing/2014/main" id="{9CFB66B8-D3AB-496E-82E2-B5202248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669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판단하고 싶은 것</a:t>
            </a:r>
          </a:p>
        </p:txBody>
      </p:sp>
      <p:sp>
        <p:nvSpPr>
          <p:cNvPr id="8" name="요청할 확인">
            <a:extLst xmlns:a="http://schemas.openxmlformats.org/drawingml/2006/main">
              <a:ext uri="{FF2B5EF4-FFF2-40B4-BE49-F238E27FC236}">
                <a16:creationId xmlns:a16="http://schemas.microsoft.com/office/drawing/2014/main" id="{0C07EA6A-8AF7-49C8-8407-CB8F72D4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66900"/>
            <a:ext cx="426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요청할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28DF1-081A-49B2-A3D1-71C12EF8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7172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이 명세대로 동작하는가?">
            <a:extLst xmlns:a="http://schemas.openxmlformats.org/drawingml/2006/main">
              <a:ext uri="{FF2B5EF4-FFF2-40B4-BE49-F238E27FC236}">
                <a16:creationId xmlns:a16="http://schemas.microsoft.com/office/drawing/2014/main" id="{7DB93B99-5A7D-4807-B5A7-12714F98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crop이 명세대로 동작하는가?</a:t>
            </a:r>
          </a:p>
        </p:txBody>
      </p:sp>
      <p:sp>
        <p:nvSpPr>
          <p:cNvPr id="11" name="관련 동작 테스트">
            <a:extLst xmlns:a="http://schemas.openxmlformats.org/drawingml/2006/main">
              <a:ext uri="{FF2B5EF4-FFF2-40B4-BE49-F238E27FC236}">
                <a16:creationId xmlns:a16="http://schemas.microsoft.com/office/drawing/2014/main" id="{3756C1CA-66CB-4A7C-B033-105F5694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47925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동작 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18176-AC19-4FC3-A973-4FA36EDA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기존 테스트가 다루던 동작도 유지되는가?">
            <a:extLst xmlns:a="http://schemas.openxmlformats.org/drawingml/2006/main">
              <a:ext uri="{FF2B5EF4-FFF2-40B4-BE49-F238E27FC236}">
                <a16:creationId xmlns:a16="http://schemas.microsoft.com/office/drawing/2014/main" id="{156F7DF7-018E-4B19-9A11-5695A02D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테스트가 다루던 동작도 유지되는가?</a:t>
            </a:r>
          </a:p>
        </p:txBody>
      </p:sp>
      <p:sp>
        <p:nvSpPr>
          <p:cNvPr id="14" name="프로젝트 전체 테스트">
            <a:extLst xmlns:a="http://schemas.openxmlformats.org/drawingml/2006/main">
              <a:ext uri="{FF2B5EF4-FFF2-40B4-BE49-F238E27FC236}">
                <a16:creationId xmlns:a16="http://schemas.microsoft.com/office/drawing/2014/main" id="{1F2BE043-FDCB-43BB-A0C6-D24C9C8D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8950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전체 테스트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D47E6-DE64-4611-8FC8-35E2375B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3377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LI 샘플 경로가 동작하는가?">
            <a:extLst xmlns:a="http://schemas.openxmlformats.org/drawingml/2006/main">
              <a:ext uri="{FF2B5EF4-FFF2-40B4-BE49-F238E27FC236}">
                <a16:creationId xmlns:a16="http://schemas.microsoft.com/office/drawing/2014/main" id="{0E6D00F5-C144-40C7-A678-D7ED24AC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9975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샘플 경로가 동작하는가?</a:t>
            </a:r>
          </a:p>
        </p:txBody>
      </p:sp>
      <p:sp>
        <p:nvSpPr>
          <p:cNvPr id="17" name="CLI 샘플 실행">
            <a:extLst xmlns:a="http://schemas.openxmlformats.org/drawingml/2006/main">
              <a:ext uri="{FF2B5EF4-FFF2-40B4-BE49-F238E27FC236}">
                <a16:creationId xmlns:a16="http://schemas.microsoft.com/office/drawing/2014/main" id="{75F8A59D-4539-470E-B7EC-737FF3E3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09975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샘플 실행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110382-AE8F-4A8F-A33E-81C09EDD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요청한 범위만 수정했는가?">
            <a:extLst xmlns:a="http://schemas.openxmlformats.org/drawingml/2006/main">
              <a:ext uri="{FF2B5EF4-FFF2-40B4-BE49-F238E27FC236}">
                <a16:creationId xmlns:a16="http://schemas.microsoft.com/office/drawing/2014/main" id="{E6505514-E3D8-448B-9A50-8C9FBCA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요청한 범위만 수정했는가?</a:t>
            </a:r>
          </a:p>
        </p:txBody>
      </p:sp>
      <p:sp>
        <p:nvSpPr>
          <p:cNvPr id="20" name="최종 diff 검토">
            <a:extLst xmlns:a="http://schemas.openxmlformats.org/drawingml/2006/main">
              <a:ext uri="{FF2B5EF4-FFF2-40B4-BE49-F238E27FC236}">
                <a16:creationId xmlns:a16="http://schemas.microsoft.com/office/drawing/2014/main" id="{8E1AFA8C-2D44-473F-86A6-CDBAD77B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91000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최종 diff 검토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3A8935-2967-4D5D-BDD6-1E0AF838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실행시간이 줄었는가?">
            <a:extLst xmlns:a="http://schemas.openxmlformats.org/drawingml/2006/main">
              <a:ext uri="{FF2B5EF4-FFF2-40B4-BE49-F238E27FC236}">
                <a16:creationId xmlns:a16="http://schemas.microsoft.com/office/drawing/2014/main" id="{CC84C71F-C690-4C73-ADC3-B41CC483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72025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실행시간이 줄었는가?</a:t>
            </a:r>
          </a:p>
        </p:txBody>
      </p:sp>
      <p:sp>
        <p:nvSpPr>
          <p:cNvPr id="23" name="같은 조건의 전후 측정">
            <a:extLst xmlns:a="http://schemas.openxmlformats.org/drawingml/2006/main">
              <a:ext uri="{FF2B5EF4-FFF2-40B4-BE49-F238E27FC236}">
                <a16:creationId xmlns:a16="http://schemas.microsoft.com/office/drawing/2014/main" id="{0DF5AEDB-9E8D-4A40-83C8-E693983B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72025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같은 조건의 전후 측정</a:t>
            </a:r>
          </a:p>
        </p:txBody>
      </p:sp>
    </p:spTree>
    <p:extLst>
      <p:ext uri="{BB962C8B-B14F-4D97-AF65-F5344CB8AC3E}">
        <p14:creationId xmlns:p14="http://schemas.microsoft.com/office/powerpoint/2010/main" val="1878722941"/>
      </p:ext>
    </p:extLst>
  </p:cSld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완료 조건을 요청에 담기">
            <a:extLst xmlns:a="http://schemas.openxmlformats.org/drawingml/2006/main">
              <a:ext uri="{FF2B5EF4-FFF2-40B4-BE49-F238E27FC236}">
                <a16:creationId xmlns:a16="http://schemas.microsoft.com/office/drawing/2014/main" id="{AFCEC3D2-1F5F-45B4-8A72-EE3293D9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완료 조건을 요청에 담기</a:t>
            </a:r>
          </a:p>
        </p:txBody>
      </p:sp>
      <p:sp>
        <p:nvSpPr>
          <p:cNvPr id="2" name="S27">
            <a:extLst xmlns:a="http://schemas.openxmlformats.org/drawingml/2006/main">
              <a:ext uri="{FF2B5EF4-FFF2-40B4-BE49-F238E27FC236}">
                <a16:creationId xmlns:a16="http://schemas.microsoft.com/office/drawing/2014/main" id="{F876B097-C7AB-4C5A-A562-4F990B05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S27</a:t>
            </a:r>
          </a:p>
        </p:txBody>
      </p:sp>
      <p:sp>
        <p:nvSpPr>
          <p:cNvPr id="3" name="목표가 달라지면 검증 요청도 달라진다">
            <a:extLst xmlns:a="http://schemas.openxmlformats.org/drawingml/2006/main">
              <a:ext uri="{FF2B5EF4-FFF2-40B4-BE49-F238E27FC236}">
                <a16:creationId xmlns:a16="http://schemas.microsoft.com/office/drawing/2014/main" id="{36522554-B5DF-4933-B0EA-CC6E6172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목표가 달라지면 검증 요청도 달라진다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F74B21-7623-4B60-A5D2-AA60DFD8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요청 비교 · 실제 TRIAL-002 원문이나 새 실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CFF12D8D-5E24-4C43-8620-A83025B0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요청 비교 · 실제 TRIAL-002 원문이나 새 실행 결과가 아님</a:t>
            </a:r>
          </a:p>
        </p:txBody>
      </p:sp>
      <p:sp>
        <p:nvSpPr>
          <p:cNvPr id="6" name="M 연계 · M5 / M6">
            <a:extLst xmlns:a="http://schemas.openxmlformats.org/drawingml/2006/main">
              <a:ext uri="{FF2B5EF4-FFF2-40B4-BE49-F238E27FC236}">
                <a16:creationId xmlns:a16="http://schemas.microsoft.com/office/drawing/2014/main" id="{B86641DB-9DCD-44E0-8D3C-FDC95C3D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/ M6</a:t>
            </a:r>
          </a:p>
        </p:txBody>
      </p:sp>
      <p:sp>
        <p:nvSpPr>
          <p:cNvPr id="7" name="같은 crop · 검증 부분의 작성 예시">
            <a:extLst xmlns:a="http://schemas.openxmlformats.org/drawingml/2006/main">
              <a:ext uri="{FF2B5EF4-FFF2-40B4-BE49-F238E27FC236}">
                <a16:creationId xmlns:a16="http://schemas.microsoft.com/office/drawing/2014/main" id="{18A28F38-4FAF-47A9-A493-D7E9DBCE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crop · 검증 부분의 작성 예시</a:t>
            </a:r>
          </a:p>
        </p:txBody>
      </p:sp>
      <p:sp>
        <p:nvSpPr>
          <p:cNvPr id="8" name="목표 1 · 경계 오류 수정">
            <a:extLst xmlns:a="http://schemas.openxmlformats.org/drawingml/2006/main">
              <a:ext uri="{FF2B5EF4-FFF2-40B4-BE49-F238E27FC236}">
                <a16:creationId xmlns:a16="http://schemas.microsoft.com/office/drawing/2014/main" id="{896248B0-8149-465F-9351-4E66D463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9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1 · 경계 오류 수정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87F51-27AA-4120-8B19-9C95CA4A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5295900" cy="2085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0" name="검증 요청">
            <a:extLst xmlns:a="http://schemas.openxmlformats.org/drawingml/2006/main">
              <a:ext uri="{FF2B5EF4-FFF2-40B4-BE49-F238E27FC236}">
                <a16:creationId xmlns:a16="http://schemas.microsoft.com/office/drawing/2014/main" id="{89DC81CA-8E55-448C-BB51-17D5AD24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3370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검증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C3F2C-ABE8-4568-BED2-BE31DBEC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기존 crop 명세를 기준으로">
            <a:extLst xmlns:a="http://schemas.openxmlformats.org/drawingml/2006/main">
              <a:ext uri="{FF2B5EF4-FFF2-40B4-BE49-F238E27FC236}">
                <a16:creationId xmlns:a16="http://schemas.microsoft.com/office/drawing/2014/main" id="{3CA04E5A-F2BB-43E0-A896-D98D7917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04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crop 명세를 기준으로</a:t>
            </a:r>
          </a:p>
        </p:txBody>
      </p:sp>
      <p:sp>
        <p:nvSpPr>
          <p:cNvPr id="13" name="관련·전체 테스트를 실행해줘.">
            <a:extLst xmlns:a="http://schemas.openxmlformats.org/drawingml/2006/main">
              <a:ext uri="{FF2B5EF4-FFF2-40B4-BE49-F238E27FC236}">
                <a16:creationId xmlns:a16="http://schemas.microsoft.com/office/drawing/2014/main" id="{E23B1B89-C58E-4345-A735-0217E114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관련·전체 테스트를 실행해줘.</a:t>
            </a:r>
          </a:p>
        </p:txBody>
      </p:sp>
      <p:sp>
        <p:nvSpPr>
          <p:cNvPr id="14" name="CLI 샘플과 최종 diff도 확인하고,">
            <a:extLst xmlns:a="http://schemas.openxmlformats.org/drawingml/2006/main">
              <a:ext uri="{FF2B5EF4-FFF2-40B4-BE49-F238E27FC236}">
                <a16:creationId xmlns:a16="http://schemas.microsoft.com/office/drawing/2014/main" id="{C9EEA342-7016-417A-BB99-D2396F4D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671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샘플과 최종 diff도 확인하고,</a:t>
            </a:r>
          </a:p>
        </p:txBody>
      </p:sp>
      <p:sp>
        <p:nvSpPr>
          <p:cNvPr id="15" name="검사·결과·미확인을 보고해줘.">
            <a:extLst xmlns:a="http://schemas.openxmlformats.org/drawingml/2006/main">
              <a:ext uri="{FF2B5EF4-FFF2-40B4-BE49-F238E27FC236}">
                <a16:creationId xmlns:a16="http://schemas.microsoft.com/office/drawing/2014/main" id="{1E491E6E-0717-4779-8ED9-0E726B86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검사·결과·미확인을 보고해줘.</a:t>
            </a:r>
          </a:p>
        </p:txBody>
      </p:sp>
      <p:sp>
        <p:nvSpPr>
          <p:cNvPr id="16" name="목표 2 · 실행시간 단축">
            <a:extLst xmlns:a="http://schemas.openxmlformats.org/drawingml/2006/main">
              <a:ext uri="{FF2B5EF4-FFF2-40B4-BE49-F238E27FC236}">
                <a16:creationId xmlns:a16="http://schemas.microsoft.com/office/drawing/2014/main" id="{1C6EFD3B-6AB0-442B-8FEA-1CF8A9EF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76475"/>
            <a:ext cx="529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2 · 실행시간 단축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9A9B78-1BEA-4BC2-9590-C943A908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5295900" cy="2085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8" name="검증 요청">
            <a:extLst xmlns:a="http://schemas.openxmlformats.org/drawingml/2006/main">
              <a:ext uri="{FF2B5EF4-FFF2-40B4-BE49-F238E27FC236}">
                <a16:creationId xmlns:a16="http://schemas.microsoft.com/office/drawing/2014/main" id="{54F0C16F-0D98-4841-99FB-0800AC59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검증 요청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1EAA0E-22C5-4152-8B30-80498BDD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기존 동작은 테스트로 확인해줘.">
            <a:extLst xmlns:a="http://schemas.openxmlformats.org/drawingml/2006/main">
              <a:ext uri="{FF2B5EF4-FFF2-40B4-BE49-F238E27FC236}">
                <a16:creationId xmlns:a16="http://schemas.microsoft.com/office/drawing/2014/main" id="{7AEECCF7-9A2B-40CC-A540-FBE7764F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동작은 테스트로 확인해줘.</a:t>
            </a:r>
          </a:p>
        </p:txBody>
      </p:sp>
      <p:sp>
        <p:nvSpPr>
          <p:cNvPr id="21" name="같은 입력·환경에서">
            <a:extLst xmlns:a="http://schemas.openxmlformats.org/drawingml/2006/main">
              <a:ext uri="{FF2B5EF4-FFF2-40B4-BE49-F238E27FC236}">
                <a16:creationId xmlns:a16="http://schemas.microsoft.com/office/drawing/2014/main" id="{69BC512E-AAD8-484C-BC97-ADFE48AA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338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입력·환경에서</a:t>
            </a:r>
          </a:p>
        </p:txBody>
      </p:sp>
      <p:sp>
        <p:nvSpPr>
          <p:cNvPr id="22" name="변경 전후 시간을 측정해줘.">
            <a:extLst xmlns:a="http://schemas.openxmlformats.org/drawingml/2006/main">
              <a:ext uri="{FF2B5EF4-FFF2-40B4-BE49-F238E27FC236}">
                <a16:creationId xmlns:a16="http://schemas.microsoft.com/office/drawing/2014/main" id="{B316F524-ADF7-4AB3-AFA2-DF63A023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671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전후 시간을 측정해줘.</a:t>
            </a:r>
          </a:p>
        </p:txBody>
      </p:sp>
      <p:sp>
        <p:nvSpPr>
          <p:cNvPr id="23" name="측정 조건·결과·미확인을 보고해줘.">
            <a:extLst xmlns:a="http://schemas.openxmlformats.org/drawingml/2006/main">
              <a:ext uri="{FF2B5EF4-FFF2-40B4-BE49-F238E27FC236}">
                <a16:creationId xmlns:a16="http://schemas.microsoft.com/office/drawing/2014/main" id="{01848AB8-479E-43E0-B403-5324537E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 조건·결과·미확인을 보고해줘.</a:t>
            </a:r>
          </a:p>
        </p:txBody>
      </p:sp>
      <p:sp>
        <p:nvSpPr>
          <p:cNvPr id="24" name="동작 확인과 성능 확인은 필요한 근거가 다르다">
            <a:extLst xmlns:a="http://schemas.openxmlformats.org/drawingml/2006/main">
              <a:ext uri="{FF2B5EF4-FFF2-40B4-BE49-F238E27FC236}">
                <a16:creationId xmlns:a16="http://schemas.microsoft.com/office/drawing/2014/main" id="{EC4D4EFC-6EDA-4D9C-9526-EF2DD63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동작 확인과 성능 확인은 필요한 근거가 다르다</a:t>
            </a:r>
          </a:p>
        </p:txBody>
      </p:sp>
    </p:spTree>
    <p:extLst>
      <p:ext uri="{BB962C8B-B14F-4D97-AF65-F5344CB8AC3E}">
        <p14:creationId xmlns:p14="http://schemas.microsoft.com/office/powerpoint/2010/main" val="18787229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 문장 도구 1/8 · 조건부">
            <a:extLst xmlns:a="http://schemas.openxmlformats.org/drawingml/2006/main">
              <a:ext uri="{FF2B5EF4-FFF2-40B4-BE49-F238E27FC236}">
                <a16:creationId xmlns:a16="http://schemas.microsoft.com/office/drawing/2014/main" id="{6F9F7EB1-2115-4DF7-94CE-4CD3955A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1/8 · 조건부</a:t>
            </a:r>
          </a:p>
        </p:txBody>
      </p:sp>
      <p:sp>
        <p:nvSpPr>
          <p:cNvPr id="2" name="S28">
            <a:extLst xmlns:a="http://schemas.openxmlformats.org/drawingml/2006/main">
              <a:ext uri="{FF2B5EF4-FFF2-40B4-BE49-F238E27FC236}">
                <a16:creationId xmlns:a16="http://schemas.microsoft.com/office/drawing/2014/main" id="{9460607D-EB5C-435F-B95F-33AAD52A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S28</a:t>
            </a:r>
          </a:p>
        </p:txBody>
      </p:sp>
      <p:sp>
        <p:nvSpPr>
          <p:cNvPr id="3" name="지시와 참고 자료의 구분">
            <a:extLst xmlns:a="http://schemas.openxmlformats.org/drawingml/2006/main">
              <a:ext uri="{FF2B5EF4-FFF2-40B4-BE49-F238E27FC236}">
                <a16:creationId xmlns:a16="http://schemas.microsoft.com/office/drawing/2014/main" id="{E215F381-2933-4E33-8419-AE5FC9FF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지시와 참고 자료의 구분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D21055-1AE4-4422-93E7-3FB12D14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91ACDB8B-99DC-4445-A0A8-2BF6185A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구획은 해석을 돕는 표시이며, 보안 격리를 보장하지 않는다.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C4D82-F13B-4E4F-97E1-485A0AED6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A6144890-DD76-4961-994F-F4FD06B6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요청과 로그·명세가 한 메시지에 섞일 때">
            <a:extLst xmlns:a="http://schemas.openxmlformats.org/drawingml/2006/main">
              <a:ext uri="{FF2B5EF4-FFF2-40B4-BE49-F238E27FC236}">
                <a16:creationId xmlns:a16="http://schemas.microsoft.com/office/drawing/2014/main" id="{FAA6D38F-0A60-4FDE-A5A9-96549653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요청과 로그·명세가 한 메시지에 섞일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9E62D-9EE7-46E8-B6F2-F1848B0C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942BC27E-3F97-4497-892C-C47C51F6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6CA4D-C8E1-4AF9-9982-4665CD2A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# 요청&#10;crop 경계 오류의 원인만 조사해줘.&#10;코드는 수정하지 마.&#10;# 참고 명세&#10;crop [1,3)의 기">
            <a:extLst xmlns:a="http://schemas.openxmlformats.org/drawingml/2006/main">
              <a:ext uri="{FF2B5EF4-FFF2-40B4-BE49-F238E27FC236}">
                <a16:creationId xmlns:a16="http://schemas.microsoft.com/office/drawing/2014/main" id="{A9AE39E7-D95D-477A-90CB-01A6DB47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68008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# 요청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오류의 원인만 조사해줘.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코드는 수정하지 마.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# 참고 명세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[1,3)의 기대 폭은 2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# 참고 로그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expected=2, actual=3</a:t>
            </a:r>
          </a:p>
        </p:txBody>
      </p:sp>
      <p:sp>
        <p:nvSpPr>
          <p:cNvPr id="14" name="구획이 필요한 상황">
            <a:extLst xmlns:a="http://schemas.openxmlformats.org/drawingml/2006/main">
              <a:ext uri="{FF2B5EF4-FFF2-40B4-BE49-F238E27FC236}">
                <a16:creationId xmlns:a16="http://schemas.microsoft.com/office/drawing/2014/main" id="{634167C5-9059-4F83-84EB-52EC188C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574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구획이 필요한 상황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31D6E9-D98B-4A49-9990-657D7CF6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지시와 자료가&#10;섞여 있을 때">
            <a:extLst xmlns:a="http://schemas.openxmlformats.org/drawingml/2006/main">
              <a:ext uri="{FF2B5EF4-FFF2-40B4-BE49-F238E27FC236}">
                <a16:creationId xmlns:a16="http://schemas.microsoft.com/office/drawing/2014/main" id="{F0FAA3E0-2DB4-48C9-85EF-5A9CCCE4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908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지시와 자료가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섞여 있을 때</a:t>
            </a:r>
          </a:p>
        </p:txBody>
      </p:sp>
      <p:sp>
        <p:nvSpPr>
          <p:cNvPr id="17" name="짧고 명확한 요청">
            <a:extLst xmlns:a="http://schemas.openxmlformats.org/drawingml/2006/main">
              <a:ext uri="{FF2B5EF4-FFF2-40B4-BE49-F238E27FC236}">
                <a16:creationId xmlns:a16="http://schemas.microsoft.com/office/drawing/2014/main" id="{3B20C067-C9CB-47E5-8D97-C37DB65D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433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짧고 명확한 요청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2A4A4B-FD3B-46BD-A26F-688D330A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62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태그를 매번&#10;추가할 필요 없음">
            <a:extLst xmlns:a="http://schemas.openxmlformats.org/drawingml/2006/main">
              <a:ext uri="{FF2B5EF4-FFF2-40B4-BE49-F238E27FC236}">
                <a16:creationId xmlns:a16="http://schemas.microsoft.com/office/drawing/2014/main" id="{576ED1B1-B9AA-47E5-94A7-DCF78A8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태그를 매번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추가할 필요 없음</a:t>
            </a:r>
          </a:p>
        </p:txBody>
      </p:sp>
      <p:sp>
        <p:nvSpPr>
          <p:cNvPr id="20" name="여러 자료가 섞일 때, 제목으로 읽을 경계를 표시한다.">
            <a:extLst xmlns:a="http://schemas.openxmlformats.org/drawingml/2006/main">
              <a:ext uri="{FF2B5EF4-FFF2-40B4-BE49-F238E27FC236}">
                <a16:creationId xmlns:a16="http://schemas.microsoft.com/office/drawing/2014/main" id="{D024C483-CBEA-48CF-9A0E-F6833242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여러 자료가 섞일 때, 제목으로 읽을 경계를 표시한다.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4BCA74-3E94-470B-9798-38A9E64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7C7F0AFA-7A8F-4D42-ADC6-8A9D8EB1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DD8F77-098E-4F96-A4E0-95B58021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5830806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 문장 도구 2/8 · 조건부">
            <a:extLst xmlns:a="http://schemas.openxmlformats.org/drawingml/2006/main">
              <a:ext uri="{FF2B5EF4-FFF2-40B4-BE49-F238E27FC236}">
                <a16:creationId xmlns:a16="http://schemas.microsoft.com/office/drawing/2014/main" id="{4704318B-6A7B-4C18-85E3-A6D153E2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2/8 · 조건부</a:t>
            </a:r>
          </a:p>
        </p:txBody>
      </p:sp>
      <p:sp>
        <p:nvSpPr>
          <p:cNvPr id="2" name="S29">
            <a:extLst xmlns:a="http://schemas.openxmlformats.org/drawingml/2006/main">
              <a:ext uri="{FF2B5EF4-FFF2-40B4-BE49-F238E27FC236}">
                <a16:creationId xmlns:a16="http://schemas.microsoft.com/office/drawing/2014/main" id="{E6CC889C-DAEE-4167-A0AF-F9A2B9CF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S29</a:t>
            </a:r>
          </a:p>
        </p:txBody>
      </p:sp>
      <p:sp>
        <p:nvSpPr>
          <p:cNvPr id="3" name="입력과 기대 결과의 작은 예시">
            <a:extLst xmlns:a="http://schemas.openxmlformats.org/drawingml/2006/main">
              <a:ext uri="{FF2B5EF4-FFF2-40B4-BE49-F238E27FC236}">
                <a16:creationId xmlns:a16="http://schemas.microsoft.com/office/drawing/2014/main" id="{672001B7-2D47-44AC-93D6-A74CD7C4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입력과 기대 결과의 작은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9E733-1FD7-4AF1-A1B6-7F6FD77E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7F1E747-7373-4468-9056-C6E11435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팀의 보고 기준 · 실제 사내 규정이나 실행 결과가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63AF2-9789-48D5-B8B8-C317C510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C4976076-9949-4CF8-AE7C-6436CA6F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사내 고유 표기·분류가 설명만으로 안 맞을 때">
            <a:extLst xmlns:a="http://schemas.openxmlformats.org/drawingml/2006/main">
              <a:ext uri="{FF2B5EF4-FFF2-40B4-BE49-F238E27FC236}">
                <a16:creationId xmlns:a16="http://schemas.microsoft.com/office/drawing/2014/main" id="{67B182EE-3F3C-4063-BB50-A7755424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사내 고유 표기·분류가 설명만으로 안 맞을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1B21-AA2A-45EA-8F60-3CE15FF4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가상 팀 기준을 전달하는 요청 예시">
            <a:extLst xmlns:a="http://schemas.openxmlformats.org/drawingml/2006/main">
              <a:ext uri="{FF2B5EF4-FFF2-40B4-BE49-F238E27FC236}">
                <a16:creationId xmlns:a16="http://schemas.microsoft.com/office/drawing/2014/main" id="{41CAB0B9-2642-4C06-AF04-A8D30810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팀 기준을 전달하는 요청 예시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AC5CA1-FA8B-459F-8FBC-F97F46AD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우리 팀의 보고 표기를 아래 예시처럼 맞춰줘.&#10;테스트 로그 있음: [실행 확인] 명령·결과&#10;코드만 검토함: ">
            <a:extLst xmlns:a="http://schemas.openxmlformats.org/drawingml/2006/main">
              <a:ext uri="{FF2B5EF4-FFF2-40B4-BE49-F238E27FC236}">
                <a16:creationId xmlns:a16="http://schemas.microsoft.com/office/drawing/2014/main" id="{7CED5BA8-5F57-45B5-B8D0-346D6B50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68008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팀의 보고 표기를 아래 예시처럼 맞춰줘.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로그 있음: [실행 확인] 명령·결과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코드만 검토함: [코드 검토] 파일·판단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근거를 못 찾음: [미확인] 필요한 자료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첨부한 변경 보고서를 같은 형식으로 정리해줘.</a:t>
            </a:r>
          </a:p>
        </p:txBody>
      </p:sp>
      <p:sp>
        <p:nvSpPr>
          <p:cNvPr id="14" name="먼저 간단히 요청">
            <a:extLst xmlns:a="http://schemas.openxmlformats.org/drawingml/2006/main">
              <a:ext uri="{FF2B5EF4-FFF2-40B4-BE49-F238E27FC236}">
                <a16:creationId xmlns:a16="http://schemas.microsoft.com/office/drawing/2014/main" id="{2B849340-ACA4-46DB-A06F-D9875870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574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먼저 간단히 요청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7C842-828B-4D15-A120-F960378A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기준과 형식이&#10;맞는지 확인">
            <a:extLst xmlns:a="http://schemas.openxmlformats.org/drawingml/2006/main">
              <a:ext uri="{FF2B5EF4-FFF2-40B4-BE49-F238E27FC236}">
                <a16:creationId xmlns:a16="http://schemas.microsoft.com/office/drawing/2014/main" id="{8DF1638E-75B3-49ED-871A-DB10B0F5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908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기준과 형식이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맞는지 확인</a:t>
            </a:r>
          </a:p>
        </p:txBody>
      </p:sp>
      <p:sp>
        <p:nvSpPr>
          <p:cNvPr id="17" name="부족할 때 예시 추가">
            <a:extLst xmlns:a="http://schemas.openxmlformats.org/drawingml/2006/main">
              <a:ext uri="{FF2B5EF4-FFF2-40B4-BE49-F238E27FC236}">
                <a16:creationId xmlns:a16="http://schemas.microsoft.com/office/drawing/2014/main" id="{56B2C7ED-B787-4568-B76B-4738C772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433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부족할 때 예시 추가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9D9EFD-9EBB-4638-A433-136D2168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62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우리 팀이 쓰는&#10;표기·판정의 예">
            <a:extLst xmlns:a="http://schemas.openxmlformats.org/drawingml/2006/main">
              <a:ext uri="{FF2B5EF4-FFF2-40B4-BE49-F238E27FC236}">
                <a16:creationId xmlns:a16="http://schemas.microsoft.com/office/drawing/2014/main" id="{14DADD86-DA7D-444C-94BB-985F6227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팀이 쓰는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표기·판정의 예</a:t>
            </a:r>
          </a:p>
        </p:txBody>
      </p:sp>
      <p:sp>
        <p:nvSpPr>
          <p:cNvPr id="20" name="모델이 모르는 우리 기준을 입력·출력 예시로 전달한다.">
            <a:extLst xmlns:a="http://schemas.openxmlformats.org/drawingml/2006/main">
              <a:ext uri="{FF2B5EF4-FFF2-40B4-BE49-F238E27FC236}">
                <a16:creationId xmlns:a16="http://schemas.microsoft.com/office/drawing/2014/main" id="{CAECAFFE-E35E-4204-87C0-E2355EBD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모델이 모르는 우리 기준을 입력·출력 예시로 전달한다.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A8E1E0-C043-4630-826A-6FE81464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E2943E84-7305-46DD-8BC1-65E84E05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A47E2E8-DEEE-42F1-83A7-D2FD86E4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0420943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 문장 도구 3/8 · 핵심">
            <a:extLst xmlns:a="http://schemas.openxmlformats.org/drawingml/2006/main">
              <a:ext uri="{FF2B5EF4-FFF2-40B4-BE49-F238E27FC236}">
                <a16:creationId xmlns:a16="http://schemas.microsoft.com/office/drawing/2014/main" id="{D049186D-BD5D-4DAF-8AB8-BAE88AF0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3/8 · 핵심</a:t>
            </a:r>
          </a:p>
        </p:txBody>
      </p:sp>
      <p:sp>
        <p:nvSpPr>
          <p:cNvPr id="2" name="S30">
            <a:extLst xmlns:a="http://schemas.openxmlformats.org/drawingml/2006/main">
              <a:ext uri="{FF2B5EF4-FFF2-40B4-BE49-F238E27FC236}">
                <a16:creationId xmlns:a16="http://schemas.microsoft.com/office/drawing/2014/main" id="{D0185920-694B-4480-B9A9-6CBC59D1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S30</a:t>
            </a:r>
          </a:p>
        </p:txBody>
      </p:sp>
      <p:sp>
        <p:nvSpPr>
          <p:cNvPr id="3" name="바로 검토할 수 있는 결과 형식">
            <a:extLst xmlns:a="http://schemas.openxmlformats.org/drawingml/2006/main">
              <a:ext uri="{FF2B5EF4-FFF2-40B4-BE49-F238E27FC236}">
                <a16:creationId xmlns:a16="http://schemas.microsoft.com/office/drawing/2014/main" id="{2FEB996B-F82F-4366-BA7A-7559E704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바로 검토할 수 있는 결과 형식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78C8E-D30C-4DB8-84F8-1C2380EA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4DA3A039-1315-4C75-A407-CA411D1A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형식과 내용은 별도 확인 · 채팅의 형식 요청은 API Structured Outputs와 다름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7B5DA4-ABA1-4E84-A097-FF21637F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64040126-9FBB-40E1-A42F-7DA5EDBF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완료 보고에서 필요한 정보를 빨리 찾고 싶을 때">
            <a:extLst xmlns:a="http://schemas.openxmlformats.org/drawingml/2006/main">
              <a:ext uri="{FF2B5EF4-FFF2-40B4-BE49-F238E27FC236}">
                <a16:creationId xmlns:a16="http://schemas.microsoft.com/office/drawing/2014/main" id="{6C0A6BB6-6EFC-4211-A70D-D5563B61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보고에서 필요한 정보를 빨리 찾고 싶을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30A0F6-8E35-4F43-B1BF-3BB5BE80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37296ECE-7E8A-4DD3-8126-05D1FC94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D69425-7FA6-4E7F-AED7-CD008C03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crop 수정 결과를 아래 항목으로 보고해줘.&#10;1. 변경 파일과 이유&#10;2. 실행한 검사·결과&#10;3. 미실행 검">
            <a:extLst xmlns:a="http://schemas.openxmlformats.org/drawingml/2006/main">
              <a:ext uri="{FF2B5EF4-FFF2-40B4-BE49-F238E27FC236}">
                <a16:creationId xmlns:a16="http://schemas.microsoft.com/office/drawing/2014/main" id="{C7D13D42-8AE6-4B24-BB8A-CA8B0BAA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68008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수정 결과를 아래 항목으로 보고해줘.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1. 변경 파일과 이유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2. 실행한 검사·결과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3. 미실행 검사·이유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4. 남은 위험·결정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판단에 필요한 근거는 생략하지 마.</a:t>
            </a:r>
          </a:p>
        </p:txBody>
      </p:sp>
      <p:sp>
        <p:nvSpPr>
          <p:cNvPr id="14" name="지정할 것">
            <a:extLst xmlns:a="http://schemas.openxmlformats.org/drawingml/2006/main">
              <a:ext uri="{FF2B5EF4-FFF2-40B4-BE49-F238E27FC236}">
                <a16:creationId xmlns:a16="http://schemas.microsoft.com/office/drawing/2014/main" id="{0AEB13DB-169B-437F-A66C-829D810C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574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지정할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D30F69-28BF-4ABA-A927-37EE43C1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보고 항목과&#10;읽을 순서">
            <a:extLst xmlns:a="http://schemas.openxmlformats.org/drawingml/2006/main">
              <a:ext uri="{FF2B5EF4-FFF2-40B4-BE49-F238E27FC236}">
                <a16:creationId xmlns:a16="http://schemas.microsoft.com/office/drawing/2014/main" id="{0A9B4325-64A9-468D-B890-FF802958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908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 항목과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읽을 순서</a:t>
            </a:r>
          </a:p>
        </p:txBody>
      </p:sp>
      <p:sp>
        <p:nvSpPr>
          <p:cNvPr id="17" name="분량의 기준">
            <a:extLst xmlns:a="http://schemas.openxmlformats.org/drawingml/2006/main">
              <a:ext uri="{FF2B5EF4-FFF2-40B4-BE49-F238E27FC236}">
                <a16:creationId xmlns:a16="http://schemas.microsoft.com/office/drawing/2014/main" id="{A19273FA-4B84-4DF8-8618-E4BDAF19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433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분량의 기준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05B7F1-9D41-4AB2-992E-877AC269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62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판단에 필요한&#10;근거를 담을 만큼">
            <a:extLst xmlns:a="http://schemas.openxmlformats.org/drawingml/2006/main">
              <a:ext uri="{FF2B5EF4-FFF2-40B4-BE49-F238E27FC236}">
                <a16:creationId xmlns:a16="http://schemas.microsoft.com/office/drawing/2014/main" id="{8B4CA9F3-8931-4BAC-90B7-7927A0DC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판단에 필요한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근거를 담을 만큼</a:t>
            </a:r>
          </a:p>
        </p:txBody>
      </p:sp>
      <p:sp>
        <p:nvSpPr>
          <p:cNvPr id="20" name="검토에 필요한 항목을 지정하고, 중요한 근거는 남긴다.">
            <a:extLst xmlns:a="http://schemas.openxmlformats.org/drawingml/2006/main">
              <a:ext uri="{FF2B5EF4-FFF2-40B4-BE49-F238E27FC236}">
                <a16:creationId xmlns:a16="http://schemas.microsoft.com/office/drawing/2014/main" id="{E9FBBA28-A69C-4390-B9EF-A28E0816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검토에 필요한 항목을 지정하고, 중요한 근거는 남긴다.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53493E-0F5B-48C1-AF3D-482905E6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261800F7-47C2-447F-BA79-5D1C858A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2FC2B1C-27F5-4951-8731-DE844740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8876793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 문장 도구 4/8 · 핵심">
            <a:extLst xmlns:a="http://schemas.openxmlformats.org/drawingml/2006/main">
              <a:ext uri="{FF2B5EF4-FFF2-40B4-BE49-F238E27FC236}">
                <a16:creationId xmlns:a16="http://schemas.microsoft.com/office/drawing/2014/main" id="{5CBB59F7-51E8-4E89-816C-5202E880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4/8 · 핵심</a:t>
            </a:r>
          </a:p>
        </p:txBody>
      </p:sp>
      <p:sp>
        <p:nvSpPr>
          <p:cNvPr id="2" name="S31">
            <a:extLst xmlns:a="http://schemas.openxmlformats.org/drawingml/2006/main">
              <a:ext uri="{FF2B5EF4-FFF2-40B4-BE49-F238E27FC236}">
                <a16:creationId xmlns:a16="http://schemas.microsoft.com/office/drawing/2014/main" id="{A4C41A5B-B945-4196-814C-3B4E5DA8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S31</a:t>
            </a:r>
          </a:p>
        </p:txBody>
      </p:sp>
      <p:sp>
        <p:nvSpPr>
          <p:cNvPr id="3" name="근거가 있는 설명과 미확인의 구분">
            <a:extLst xmlns:a="http://schemas.openxmlformats.org/drawingml/2006/main">
              <a:ext uri="{FF2B5EF4-FFF2-40B4-BE49-F238E27FC236}">
                <a16:creationId xmlns:a16="http://schemas.microsoft.com/office/drawing/2014/main" id="{42B19324-4486-48D6-9F78-F8A39F8D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근거가 있는 설명과 미확인의 구분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887B87-998E-4A3F-9B01-7B08EFC8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83FC19AF-946E-4158-A49D-44177265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출처가 있어도 원문과 대조한다 · 인용 자체가 정확성의 보증은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D8A7D-3E70-47D1-9A19-2DC70339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7D956B69-FC02-40E8-B379-A0A371A0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설명을 믿기 전에 실제 자료를 대조해야 할 때">
            <a:extLst xmlns:a="http://schemas.openxmlformats.org/drawingml/2006/main">
              <a:ext uri="{FF2B5EF4-FFF2-40B4-BE49-F238E27FC236}">
                <a16:creationId xmlns:a16="http://schemas.microsoft.com/office/drawing/2014/main" id="{3608E57A-EA36-4EFB-84F6-9F4428E4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설명을 믿기 전에 실제 자료를 대조해야 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61197-4586-42A0-BFCA-AAEE52FF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FFC47100-0330-4815-B826-006111DE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6FF75-E433-42F7-AEFF-8E79E968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crop의 명세·구현·테스트를 비교해줘.&#10;중요한 결론마다 파일·함수 근거를 붙여줘.&#10;확인한 내용과 추정·미확">
            <a:extLst xmlns:a="http://schemas.openxmlformats.org/drawingml/2006/main">
              <a:ext uri="{FF2B5EF4-FFF2-40B4-BE49-F238E27FC236}">
                <a16:creationId xmlns:a16="http://schemas.microsoft.com/office/drawing/2014/main" id="{1DC8F469-FB13-463B-93E0-F7186A6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68008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crop의 명세·구현·테스트를 비교해줘.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중요한 결론마다 파일·함수 근거를 붙여줘.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내용과 추정·미확인을 구분해줘.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자료가 충돌하면 차이를 먼저 알려줘.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없는 정책은 만들어 채우지 마.</a:t>
            </a:r>
          </a:p>
        </p:txBody>
      </p:sp>
      <p:sp>
        <p:nvSpPr>
          <p:cNvPr id="14" name="받아야 할 것">
            <a:extLst xmlns:a="http://schemas.openxmlformats.org/drawingml/2006/main">
              <a:ext uri="{FF2B5EF4-FFF2-40B4-BE49-F238E27FC236}">
                <a16:creationId xmlns:a16="http://schemas.microsoft.com/office/drawing/2014/main" id="{9F997F03-C5E4-4843-A94A-90F6DD87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574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받아야 할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D7C1F2-6C71-411B-B813-64E4784F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설명을 뒷받침하는&#10;실제 자료 위치">
            <a:extLst xmlns:a="http://schemas.openxmlformats.org/drawingml/2006/main">
              <a:ext uri="{FF2B5EF4-FFF2-40B4-BE49-F238E27FC236}">
                <a16:creationId xmlns:a16="http://schemas.microsoft.com/office/drawing/2014/main" id="{F3C75075-CFA4-43E0-A553-016ADCC0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908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설명을 뒷받침하는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자료 위치</a:t>
            </a:r>
          </a:p>
        </p:txBody>
      </p:sp>
      <p:sp>
        <p:nvSpPr>
          <p:cNvPr id="17" name="사람이 확인할 것">
            <a:extLst xmlns:a="http://schemas.openxmlformats.org/drawingml/2006/main">
              <a:ext uri="{FF2B5EF4-FFF2-40B4-BE49-F238E27FC236}">
                <a16:creationId xmlns:a16="http://schemas.microsoft.com/office/drawing/2014/main" id="{8BEA64A6-6969-4DED-A4D2-C00759E0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433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확인할 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99859B-5156-4FC8-924B-238FD8CC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62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인용한 원문과&#10;판단이 맞는지">
            <a:extLst xmlns:a="http://schemas.openxmlformats.org/drawingml/2006/main">
              <a:ext uri="{FF2B5EF4-FFF2-40B4-BE49-F238E27FC236}">
                <a16:creationId xmlns:a16="http://schemas.microsoft.com/office/drawing/2014/main" id="{EF31CD2F-8FA6-465C-804F-5BA02016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인용한 원문과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판단이 맞는지</a:t>
            </a:r>
          </a:p>
        </p:txBody>
      </p:sp>
      <p:sp>
        <p:nvSpPr>
          <p:cNvPr id="20" name="중요한 판단에 근거를 받고, 추정·미확인은 구분한다.">
            <a:extLst xmlns:a="http://schemas.openxmlformats.org/drawingml/2006/main">
              <a:ext uri="{FF2B5EF4-FFF2-40B4-BE49-F238E27FC236}">
                <a16:creationId xmlns:a16="http://schemas.microsoft.com/office/drawing/2014/main" id="{D10AF55D-5B83-4EC2-8B21-38541AFF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중요한 판단에 근거를 받고, 추정·미확인은 구분한다.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6F3F29-74F4-45AD-85B2-FABABBFA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9034E19E-89D3-4D70-8D16-48C1D7F5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A79C541-ABB2-43D5-9D59-90417A95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7512342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 문장 도구 5/8 · 핵심">
            <a:extLst xmlns:a="http://schemas.openxmlformats.org/drawingml/2006/main">
              <a:ext uri="{FF2B5EF4-FFF2-40B4-BE49-F238E27FC236}">
                <a16:creationId xmlns:a16="http://schemas.microsoft.com/office/drawing/2014/main" id="{D095882F-A451-4CB8-9B61-C9D44054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5/8 · 핵심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140534AE-637F-4EE0-825A-C6EC1B20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결과를 바꾸는 결정에서 확인 질문">
            <a:extLst xmlns:a="http://schemas.openxmlformats.org/drawingml/2006/main">
              <a:ext uri="{FF2B5EF4-FFF2-40B4-BE49-F238E27FC236}">
                <a16:creationId xmlns:a16="http://schemas.microsoft.com/office/drawing/2014/main" id="{564F6082-E4FC-4FFC-89C2-68824F48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바꾸는 결정에서 확인 질문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1D44E-F029-4166-896F-E4530EF2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7B287970-3858-41A2-8EED-BE127711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세부를 질문하지 않는다 · 결정과 무관한 허용된 작업은 계속 진행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06134-2808-4A23-AF6A-878ABB5A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1E50D6C3-1C3A-4D5A-A6C5-056DCF90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사람의 선택에 따라 구현이나 완료 기준이 바뀔 때">
            <a:extLst xmlns:a="http://schemas.openxmlformats.org/drawingml/2006/main">
              <a:ext uri="{FF2B5EF4-FFF2-40B4-BE49-F238E27FC236}">
                <a16:creationId xmlns:a16="http://schemas.microsoft.com/office/drawing/2014/main" id="{2E428A9B-EED8-4810-9960-45C5C0C3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사람의 선택에 따라 구현이나 완료 기준이 바뀔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54F61F-BCEC-44D7-9E21-3C5E3EC1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B5EF7EC8-5EE4-4149-B29D-CE552E64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2DCC32-B9CC-4C1C-820F-3C2EC4E0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빈 crop 범위의 처리 정책을 조사해줘.&#10;문서·테스트·호출부에서 먼저 찾아줘.&#10;정책이 없어 동작을 선택해야">
            <a:extLst xmlns:a="http://schemas.openxmlformats.org/drawingml/2006/main">
              <a:ext uri="{FF2B5EF4-FFF2-40B4-BE49-F238E27FC236}">
                <a16:creationId xmlns:a16="http://schemas.microsoft.com/office/drawing/2014/main" id="{B3C38564-AB59-4F61-A286-41130E6C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68008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빈 crop 범위의 처리 정책을 조사해줘.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문서·테스트·호출부에서 먼저 찾아줘.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정책이 없어 동작을 선택해야 한다면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선택지와 영향을 정리하고 질문해줘.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 선택에 의존하는 수정은 답변 뒤 진행해줘.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결정과 무관한 조사는 계속해줘.</a:t>
            </a:r>
          </a:p>
        </p:txBody>
      </p:sp>
      <p:sp>
        <p:nvSpPr>
          <p:cNvPr id="14" name="자료에 답이 있으면">
            <a:extLst xmlns:a="http://schemas.openxmlformats.org/drawingml/2006/main">
              <a:ext uri="{FF2B5EF4-FFF2-40B4-BE49-F238E27FC236}">
                <a16:creationId xmlns:a16="http://schemas.microsoft.com/office/drawing/2014/main" id="{758CC73D-18E5-4FF3-84AE-509F233B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574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자료에 답이 있으면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5BE5CA-024C-410C-B502-5FA5DDD3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직접 조사하고&#10;근거를 보고">
            <a:extLst xmlns:a="http://schemas.openxmlformats.org/drawingml/2006/main">
              <a:ext uri="{FF2B5EF4-FFF2-40B4-BE49-F238E27FC236}">
                <a16:creationId xmlns:a16="http://schemas.microsoft.com/office/drawing/2014/main" id="{6F24D831-F98F-4401-9F5B-4F5BEF8C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908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직접 조사하고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근거를 보고</a:t>
            </a:r>
          </a:p>
        </p:txBody>
      </p:sp>
      <p:sp>
        <p:nvSpPr>
          <p:cNvPr id="17" name="결정이 남아 있으면">
            <a:extLst xmlns:a="http://schemas.openxmlformats.org/drawingml/2006/main">
              <a:ext uri="{FF2B5EF4-FFF2-40B4-BE49-F238E27FC236}">
                <a16:creationId xmlns:a16="http://schemas.microsoft.com/office/drawing/2014/main" id="{2C221E6B-0599-45E5-91D2-2591758D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433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결정이 남아 있으면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F6693-1873-4BF8-A117-AD8E883E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62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영향을 설명하고&#10;사람에게 질문">
            <a:extLst xmlns:a="http://schemas.openxmlformats.org/drawingml/2006/main">
              <a:ext uri="{FF2B5EF4-FFF2-40B4-BE49-F238E27FC236}">
                <a16:creationId xmlns:a16="http://schemas.microsoft.com/office/drawing/2014/main" id="{13657E73-0EA9-4311-95A8-2EDA00C2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영향을 설명하고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사람에게 질문</a:t>
            </a:r>
          </a:p>
        </p:txBody>
      </p:sp>
      <p:sp>
        <p:nvSpPr>
          <p:cNvPr id="20" name="조사할 사실은 찾게 하고, 결과를 바꾸는 결정은 묻는다.">
            <a:extLst xmlns:a="http://schemas.openxmlformats.org/drawingml/2006/main">
              <a:ext uri="{FF2B5EF4-FFF2-40B4-BE49-F238E27FC236}">
                <a16:creationId xmlns:a16="http://schemas.microsoft.com/office/drawing/2014/main" id="{DE3D80A1-9EB0-4E8A-AF8F-8A64A8A3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조사할 사실은 찾게 하고, 결과를 바꾸는 결정은 묻는다.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B17E8D-BC85-4F52-89B5-6222983E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8E1ACF3E-9ECD-40DE-8D15-C889BA7D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D35420B-1E5E-469D-ACAD-ED7D3242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61674280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 문장 도구 6/8 · 조건부">
            <a:extLst xmlns:a="http://schemas.openxmlformats.org/drawingml/2006/main">
              <a:ext uri="{FF2B5EF4-FFF2-40B4-BE49-F238E27FC236}">
                <a16:creationId xmlns:a16="http://schemas.microsoft.com/office/drawing/2014/main" id="{5FB33F2F-1175-4823-9376-4187195B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6/8 · 조건부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2E47ADF4-6ABA-40B0-A2FF-0B5881C7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큰 작업을 검토할 결과물로 나누기">
            <a:extLst xmlns:a="http://schemas.openxmlformats.org/drawingml/2006/main">
              <a:ext uri="{FF2B5EF4-FFF2-40B4-BE49-F238E27FC236}">
                <a16:creationId xmlns:a16="http://schemas.microsoft.com/office/drawing/2014/main" id="{2AE42CBA-7F92-49DC-A398-2874C225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큰 작업을 검토할 결과물로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9BE9A0-950D-4852-AA2A-F20D3C31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A4AD175-E51C-4CC9-9F90-A54D4BE0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계획과 검토 지점을 요청한다 · 내부 사고 과정의 출력을 요구하지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01ABC6-0974-44DD-88DE-7EAC0A2C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73DCEBF4-F6E1-4906-9785-8F2CA4EF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조사 결과를 보고 구현 범위를 결정해야 할 때">
            <a:extLst xmlns:a="http://schemas.openxmlformats.org/drawingml/2006/main">
              <a:ext uri="{FF2B5EF4-FFF2-40B4-BE49-F238E27FC236}">
                <a16:creationId xmlns:a16="http://schemas.microsoft.com/office/drawing/2014/main" id="{FBC72CF1-4A14-4B59-B607-7B59D683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결과를 보고 구현 범위를 결정해야 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5ED5F7-DF88-47F0-BB49-C8CD57E8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E4B55318-38BD-47DB-91CB-BF9F7ED1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00CE68-D6CF-496B-BCA6-C2D5A7F3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ROI 설정을 crop에 연결하려 한다.&#10;먼저 현재 경로와 변경 후보를 조사해줘.&#10;범위·호환성에 선택이 필요">
            <a:extLst xmlns:a="http://schemas.openxmlformats.org/drawingml/2006/main">
              <a:ext uri="{FF2B5EF4-FFF2-40B4-BE49-F238E27FC236}">
                <a16:creationId xmlns:a16="http://schemas.microsoft.com/office/drawing/2014/main" id="{572DB298-A168-4592-89EA-49790CAE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68008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ROI 설정을 crop에 연결하려 한다.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현재 경로와 변경 후보를 조사해줘.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범위·호환성에 선택이 필요한 지점을 알려줘.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수정 없이 계획만 제안해줘.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계획을 검토한 뒤 구현 범위를 정하겠다.</a:t>
            </a:r>
          </a:p>
        </p:txBody>
      </p:sp>
      <p:sp>
        <p:nvSpPr>
          <p:cNvPr id="14" name="계획을 먼저 받을 때">
            <a:extLst xmlns:a="http://schemas.openxmlformats.org/drawingml/2006/main">
              <a:ext uri="{FF2B5EF4-FFF2-40B4-BE49-F238E27FC236}">
                <a16:creationId xmlns:a16="http://schemas.microsoft.com/office/drawing/2014/main" id="{ED3001BC-A629-4982-9D30-A7869220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574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계획을 먼저 받을 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7F584-0FF7-4B3C-A0EA-CDBE908F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조사 결과로&#10;구현 범위가 바뀔 때">
            <a:extLst xmlns:a="http://schemas.openxmlformats.org/drawingml/2006/main">
              <a:ext uri="{FF2B5EF4-FFF2-40B4-BE49-F238E27FC236}">
                <a16:creationId xmlns:a16="http://schemas.microsoft.com/office/drawing/2014/main" id="{8B8977E3-CC9B-42ED-9F89-62288B07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908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결과로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범위가 바뀔 때</a:t>
            </a:r>
          </a:p>
        </p:txBody>
      </p:sp>
      <p:sp>
        <p:nvSpPr>
          <p:cNvPr id="17" name="범위가 정해진 수정">
            <a:extLst xmlns:a="http://schemas.openxmlformats.org/drawingml/2006/main">
              <a:ext uri="{FF2B5EF4-FFF2-40B4-BE49-F238E27FC236}">
                <a16:creationId xmlns:a16="http://schemas.microsoft.com/office/drawing/2014/main" id="{9DEBFD07-1FEE-4D4F-AAA4-E8084023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433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범위가 정해진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07648E-4FC4-431C-BB92-8DC9FB6D3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62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매 단계 멈추지 않고&#10;허용 범위에서 진행">
            <a:extLst xmlns:a="http://schemas.openxmlformats.org/drawingml/2006/main">
              <a:ext uri="{FF2B5EF4-FFF2-40B4-BE49-F238E27FC236}">
                <a16:creationId xmlns:a16="http://schemas.microsoft.com/office/drawing/2014/main" id="{D453AA4B-EFE1-4C52-A68E-3B7994A7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매 단계 멈추지 않고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허용 범위에서 진행</a:t>
            </a:r>
          </a:p>
        </p:txBody>
      </p:sp>
      <p:sp>
        <p:nvSpPr>
          <p:cNvPr id="20" name="중간 판단이 필요한 작업은, 구현 전에 검토할 계획을 받는다.">
            <a:extLst xmlns:a="http://schemas.openxmlformats.org/drawingml/2006/main">
              <a:ext uri="{FF2B5EF4-FFF2-40B4-BE49-F238E27FC236}">
                <a16:creationId xmlns:a16="http://schemas.microsoft.com/office/drawing/2014/main" id="{3E52594A-2276-491D-AEE3-EF94FBD2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중간 판단이 필요한 작업은, 구현 전에 검토할 계획을 받는다.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436C6A-79BA-467F-B419-BFD661FA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2D7E1AF3-295C-44B9-8BCC-59884930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0D435BC-DF13-447F-8676-04DB2561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82277477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 문장 도구 7/8 · 핵심">
            <a:extLst xmlns:a="http://schemas.openxmlformats.org/drawingml/2006/main">
              <a:ext uri="{FF2B5EF4-FFF2-40B4-BE49-F238E27FC236}">
                <a16:creationId xmlns:a16="http://schemas.microsoft.com/office/drawing/2014/main" id="{5B05FA9D-C574-468C-9917-37979550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7/8 · 핵심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F989292E-309C-471C-9F86-861C3146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기준을 지정한 코드 리뷰 요청">
            <a:extLst xmlns:a="http://schemas.openxmlformats.org/drawingml/2006/main">
              <a:ext uri="{FF2B5EF4-FFF2-40B4-BE49-F238E27FC236}">
                <a16:creationId xmlns:a16="http://schemas.microsoft.com/office/drawing/2014/main" id="{1180E5F2-672E-4B67-B1BD-9E4528E8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기준을 지정한 코드 리뷰 요청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BB2B1-47FA-40A4-B56F-E4976E42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EE28D143-DFC4-4194-B638-2F46F755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리뷰에도 누락이 있을 수 있다 · 실행 근거와 사람의 완료 판단을 함께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F26413-A4F0-4D48-9FB1-DC87461B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12B05E96-0E72-48DC-ADFB-AC05ECFE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변경안에서 놓치면 안 될 문제를 검토할 때">
            <a:extLst xmlns:a="http://schemas.openxmlformats.org/drawingml/2006/main">
              <a:ext uri="{FF2B5EF4-FFF2-40B4-BE49-F238E27FC236}">
                <a16:creationId xmlns:a16="http://schemas.microsoft.com/office/drawing/2014/main" id="{9304817A-8A97-43EF-B1A1-9C36DB5D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변경안에서 놓치면 안 될 문제를 검토할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0A99CC-77EE-4D5D-BC6F-9648C8A0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637992DE-83C3-4806-AFD3-ED84FA65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38289-4612-46FE-9C27-638E8AAE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crop 변경안에서 다음을 검토해줘.&#10;끝 좌표 제외 명세·공개 API·오류 정책 보존&#10;요청과 무관한 변경 여">
            <a:extLst xmlns:a="http://schemas.openxmlformats.org/drawingml/2006/main">
              <a:ext uri="{FF2B5EF4-FFF2-40B4-BE49-F238E27FC236}">
                <a16:creationId xmlns:a16="http://schemas.microsoft.com/office/drawing/2014/main" id="{8CADDC05-88AB-4D7B-8716-776CD0B6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68008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변경안에서 다음을 검토해줘.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 명세·공개 API·오류 정책 보존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요청과 무관한 변경 여부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발견 사항은 위치·실패 조건·영향으로 보고해줘.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정적 검토와 실제 실행한 검사를 구분해줘.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코드를 바꾸지 마.</a:t>
            </a:r>
          </a:p>
        </p:txBody>
      </p:sp>
      <p:sp>
        <p:nvSpPr>
          <p:cNvPr id="14" name="찾을 문제를 지정">
            <a:extLst xmlns:a="http://schemas.openxmlformats.org/drawingml/2006/main">
              <a:ext uri="{FF2B5EF4-FFF2-40B4-BE49-F238E27FC236}">
                <a16:creationId xmlns:a16="http://schemas.microsoft.com/office/drawing/2014/main" id="{3D37F9F3-BE99-4C37-996C-153E516A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574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찾을 문제를 지정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88CFBD-2BA8-401B-9463-13AB8419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명세 위반과&#10;허용 범위 밖 변경">
            <a:extLst xmlns:a="http://schemas.openxmlformats.org/drawingml/2006/main">
              <a:ext uri="{FF2B5EF4-FFF2-40B4-BE49-F238E27FC236}">
                <a16:creationId xmlns:a16="http://schemas.microsoft.com/office/drawing/2014/main" id="{E2617C06-7954-4B7C-8990-05F2FA6A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908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 위반과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허용 범위 밖 변경</a:t>
            </a:r>
          </a:p>
        </p:txBody>
      </p:sp>
      <p:sp>
        <p:nvSpPr>
          <p:cNvPr id="17" name="검증의 범위">
            <a:extLst xmlns:a="http://schemas.openxmlformats.org/drawingml/2006/main">
              <a:ext uri="{FF2B5EF4-FFF2-40B4-BE49-F238E27FC236}">
                <a16:creationId xmlns:a16="http://schemas.microsoft.com/office/drawing/2014/main" id="{D2E4AFD9-4916-4599-8078-E9DFEE10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433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검증의 범위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7E8194-BE70-47B6-84BD-1FCD69C1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62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변경의 영향에 맞게&#10;필요한 검사 선택">
            <a:extLst xmlns:a="http://schemas.openxmlformats.org/drawingml/2006/main">
              <a:ext uri="{FF2B5EF4-FFF2-40B4-BE49-F238E27FC236}">
                <a16:creationId xmlns:a16="http://schemas.microsoft.com/office/drawing/2014/main" id="{17CC8A78-E528-4E46-BDE0-59274D3C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변경의 영향에 맞게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검사 선택</a:t>
            </a:r>
          </a:p>
        </p:txBody>
      </p:sp>
      <p:sp>
        <p:nvSpPr>
          <p:cNvPr id="20" name="검토 기준과 실패 조건을 지정하고, 실제 검사와 구분한다.">
            <a:extLst xmlns:a="http://schemas.openxmlformats.org/drawingml/2006/main">
              <a:ext uri="{FF2B5EF4-FFF2-40B4-BE49-F238E27FC236}">
                <a16:creationId xmlns:a16="http://schemas.microsoft.com/office/drawing/2014/main" id="{91BE2369-AB47-4241-9D7E-9631FB1A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기준과 실패 조건을 지정하고, 실제 검사와 구분한다.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B723CD-F9D2-4677-B002-1621F85E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976B246A-2DFB-42E6-BFB7-36342880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05EE027-0803-445E-A893-AE693400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0604844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 문장 도구 8/8 · 핵심">
            <a:extLst xmlns:a="http://schemas.openxmlformats.org/drawingml/2006/main">
              <a:ext uri="{FF2B5EF4-FFF2-40B4-BE49-F238E27FC236}">
                <a16:creationId xmlns:a16="http://schemas.microsoft.com/office/drawing/2014/main" id="{2942CC36-209D-4259-B294-E553270A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8/8 · 핵심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F3579F80-40C8-4C67-BB0F-A16894D7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구체적인 근거로 수정 방향 피드백">
            <a:extLst xmlns:a="http://schemas.openxmlformats.org/drawingml/2006/main">
              <a:ext uri="{FF2B5EF4-FFF2-40B4-BE49-F238E27FC236}">
                <a16:creationId xmlns:a16="http://schemas.microsoft.com/office/drawing/2014/main" id="{BB072B70-7754-4F5E-8987-A4599F8C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구체적인 근거로 수정 방향 피드백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D6734-55EA-4A42-B27A-97D24053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6636EF4-DBBB-4040-9800-21D60211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앞선 제안은 가상 예시 · 반복 요청만으로 품질 향상을 보장하지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CB519-FBDC-448D-816F-5E30E319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이럴 때 사용">
            <a:extLst xmlns:a="http://schemas.openxmlformats.org/drawingml/2006/main">
              <a:ext uri="{FF2B5EF4-FFF2-40B4-BE49-F238E27FC236}">
                <a16:creationId xmlns:a16="http://schemas.microsoft.com/office/drawing/2014/main" id="{479D0193-B609-4454-B6A6-335AF99C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1543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이럴 때 사용</a:t>
            </a:r>
          </a:p>
        </p:txBody>
      </p:sp>
      <p:sp>
        <p:nvSpPr>
          <p:cNvPr id="9" name="첫 제안의 어떤 부분이 요구와 다른지 알 때">
            <a:extLst xmlns:a="http://schemas.openxmlformats.org/drawingml/2006/main">
              <a:ext uri="{FF2B5EF4-FFF2-40B4-BE49-F238E27FC236}">
                <a16:creationId xmlns:a16="http://schemas.microsoft.com/office/drawing/2014/main" id="{5C23E93E-BBAA-4DB6-AF23-B566DBCB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19250"/>
            <a:ext cx="897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첫 제안의 어떤 부분이 요구와 다른지 알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7495D9-C2A2-4785-A1D6-389FE9FF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18185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E769F25F-52A0-4152-AED5-BF4F017A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680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5D2ABF-3269-4E7F-AF50-AA132E36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8425"/>
            <a:ext cx="6800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앞선 “기대 폭을 3으로 바꾸자”는 제안을&#10;고쳐줘. 명세는 crop [1,3)에서 폭 2야.&#10;테스트 기대값은">
            <a:extLst xmlns:a="http://schemas.openxmlformats.org/drawingml/2006/main">
              <a:ext uri="{FF2B5EF4-FFF2-40B4-BE49-F238E27FC236}">
                <a16:creationId xmlns:a16="http://schemas.microsoft.com/office/drawing/2014/main" id="{9B5AAC7A-408F-46F4-8D8B-C3FC0496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68008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앞선 “기대 폭을 3으로 바꾸자”는 제안을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고쳐줘. 명세는 crop [1,3)에서 폭 2야.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기대값은 유지하고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구현의 끝 좌표 처리만 다시 검토해줘.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API·의존성은 유지해줘.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제안과 미확인 사항을 알려줘.</a:t>
            </a:r>
          </a:p>
        </p:txBody>
      </p:sp>
      <p:sp>
        <p:nvSpPr>
          <p:cNvPr id="14" name="피드백에 담을 것">
            <a:extLst xmlns:a="http://schemas.openxmlformats.org/drawingml/2006/main">
              <a:ext uri="{FF2B5EF4-FFF2-40B4-BE49-F238E27FC236}">
                <a16:creationId xmlns:a16="http://schemas.microsoft.com/office/drawing/2014/main" id="{F1BA9A9A-3E25-4EA2-8B13-CC05981B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574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피드백에 담을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0EE251-3F59-4CCF-88BC-D49ABB3D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어긋난 지점과&#10;판단의 근거">
            <a:extLst xmlns:a="http://schemas.openxmlformats.org/drawingml/2006/main">
              <a:ext uri="{FF2B5EF4-FFF2-40B4-BE49-F238E27FC236}">
                <a16:creationId xmlns:a16="http://schemas.microsoft.com/office/drawing/2014/main" id="{B706D834-7C18-4E02-8D5C-C7406BA2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908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어긋난 지점과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판단의 근거</a:t>
            </a:r>
          </a:p>
        </p:txBody>
      </p:sp>
      <p:sp>
        <p:nvSpPr>
          <p:cNvPr id="17" name="수정 범위도 지정">
            <a:extLst xmlns:a="http://schemas.openxmlformats.org/drawingml/2006/main">
              <a:ext uri="{FF2B5EF4-FFF2-40B4-BE49-F238E27FC236}">
                <a16:creationId xmlns:a16="http://schemas.microsoft.com/office/drawing/2014/main" id="{2BD15797-E0D3-409F-A461-48DA27FB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43325"/>
            <a:ext cx="335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수정 범위도 지정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1692A6-AB5B-4C71-9866-9FFA9D4B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624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바꿀 부분과&#10;유지할 조건">
            <a:extLst xmlns:a="http://schemas.openxmlformats.org/drawingml/2006/main">
              <a:ext uri="{FF2B5EF4-FFF2-40B4-BE49-F238E27FC236}">
                <a16:creationId xmlns:a16="http://schemas.microsoft.com/office/drawing/2014/main" id="{58CA7D64-2EFC-4225-87B8-BC42F755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335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바꿀 부분과</a:t>
            </a:r>
          </a:p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유지할 조건</a:t>
            </a:r>
          </a:p>
        </p:txBody>
      </p:sp>
      <p:sp>
        <p:nvSpPr>
          <p:cNvPr id="20" name="어긋난 지점·기대 결과·유지할 조건으로 방향을 고친다.">
            <a:extLst xmlns:a="http://schemas.openxmlformats.org/drawingml/2006/main">
              <a:ext uri="{FF2B5EF4-FFF2-40B4-BE49-F238E27FC236}">
                <a16:creationId xmlns:a16="http://schemas.microsoft.com/office/drawing/2014/main" id="{BFE91D1B-66B1-4ECE-B710-1E5019FA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어긋난 지점·기대 결과·유지할 조건으로 방향을 고친다.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48F0F7-72DE-4326-922E-9483F9FD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B94DFEAF-8018-4092-8670-6BB843CD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4474F13-CF8F-453F-8C05-92DD6E51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456257100"/>
      </p:ext>
    </p:extLst>
  </p:cSld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1 · 다음 작업에도 필요한 정보">
            <a:extLst xmlns:a="http://schemas.openxmlformats.org/drawingml/2006/main">
              <a:ext uri="{FF2B5EF4-FFF2-40B4-BE49-F238E27FC236}">
                <a16:creationId xmlns:a16="http://schemas.microsoft.com/office/drawing/2014/main" id="{BF91D67D-B24C-4EF6-A4CE-11B0C3E9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다음 작업에도 필요한 정보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2BC4F1FC-4C5B-4034-8C22-0AA9821C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다음 작업에도 이 내용을 다시 적어야 할까?">
            <a:extLst xmlns:a="http://schemas.openxmlformats.org/drawingml/2006/main">
              <a:ext uri="{FF2B5EF4-FFF2-40B4-BE49-F238E27FC236}">
                <a16:creationId xmlns:a16="http://schemas.microsoft.com/office/drawing/2014/main" id="{FC2F10CE-037A-4B7E-81F0-D709E541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작업에도 이 내용을 다시 적어야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45D68-DF59-4937-9D80-0913DB0E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요청 예시 · 실제 TRIAL-002 입력이나 수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E2E12353-CDA8-4722-B84A-E51AFB78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요청 예시 · 실제 TRIAL-002 입력이나 수행 결과가 아님</a:t>
            </a:r>
          </a:p>
        </p:txBody>
      </p:sp>
      <p:sp>
        <p:nvSpPr>
          <p:cNvPr id="6" name="M 연계 · M2">
            <a:extLst xmlns:a="http://schemas.openxmlformats.org/drawingml/2006/main">
              <a:ext uri="{FF2B5EF4-FFF2-40B4-BE49-F238E27FC236}">
                <a16:creationId xmlns:a16="http://schemas.microsoft.com/office/drawing/2014/main" id="{5F864EAA-F844-455F-90CF-63C4CD67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15A55-4223-4AE5-87AC-4C5B9520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작업 요청 · 교육용 예시">
            <a:extLst xmlns:a="http://schemas.openxmlformats.org/drawingml/2006/main">
              <a:ext uri="{FF2B5EF4-FFF2-40B4-BE49-F238E27FC236}">
                <a16:creationId xmlns:a16="http://schemas.microsoft.com/office/drawing/2014/main" id="{604E93C8-F017-42FE-9CF5-4A624CE4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요청 · 교육용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459E79-F839-496B-A91B-DB7FB4C2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오류를 고쳐줘.">
            <a:extLst xmlns:a="http://schemas.openxmlformats.org/drawingml/2006/main">
              <a:ext uri="{FF2B5EF4-FFF2-40B4-BE49-F238E27FC236}">
                <a16:creationId xmlns:a16="http://schemas.microsoft.com/office/drawing/2014/main" id="{B7BA108A-5999-428A-A6C5-CA9976E3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오류를 고쳐줘.</a:t>
            </a:r>
          </a:p>
        </p:txBody>
      </p:sp>
      <p:sp>
        <p:nvSpPr>
          <p:cNvPr id="11" name="기존 공개 API는 유지해.">
            <a:extLst xmlns:a="http://schemas.openxmlformats.org/drawingml/2006/main">
              <a:ext uri="{FF2B5EF4-FFF2-40B4-BE49-F238E27FC236}">
                <a16:creationId xmlns:a16="http://schemas.microsoft.com/office/drawing/2014/main" id="{02EF7DD0-F1CA-45CF-970F-3A0C243E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공개 API는 유지해.</a:t>
            </a:r>
          </a:p>
        </p:txBody>
      </p:sp>
      <p:sp>
        <p:nvSpPr>
          <p:cNvPr id="12" name="프로젝트에 정해진 테스트 명령으로 확인해.">
            <a:extLst xmlns:a="http://schemas.openxmlformats.org/drawingml/2006/main">
              <a:ext uri="{FF2B5EF4-FFF2-40B4-BE49-F238E27FC236}">
                <a16:creationId xmlns:a16="http://schemas.microsoft.com/office/drawing/2014/main" id="{DBBD974C-B943-41F1-B4E7-85DDBC34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프로젝트에 정해진 테스트 명령으로 확인해.</a:t>
            </a:r>
          </a:p>
        </p:txBody>
      </p:sp>
      <p:sp>
        <p:nvSpPr>
          <p:cNvPr id="13" name="작업이 바뀌어도 다시 말하게 될 문장은?">
            <a:extLst xmlns:a="http://schemas.openxmlformats.org/drawingml/2006/main">
              <a:ext uri="{FF2B5EF4-FFF2-40B4-BE49-F238E27FC236}">
                <a16:creationId xmlns:a16="http://schemas.microsoft.com/office/drawing/2014/main" id="{36407025-2CD1-4E20-9DB1-759F49BF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작업이 바뀌어도 다시 말하게 될 문장은?</a:t>
            </a:r>
          </a:p>
        </p:txBody>
      </p:sp>
    </p:spTree>
    <p:extLst>
      <p:ext uri="{BB962C8B-B14F-4D97-AF65-F5344CB8AC3E}">
        <p14:creationId xmlns:p14="http://schemas.microsoft.com/office/powerpoint/2010/main" val="1863347352"/>
      </p:ext>
    </p:extLst>
  </p:cSld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1 · 다음 작업에도 필요한 정보">
            <a:extLst xmlns:a="http://schemas.openxmlformats.org/drawingml/2006/main">
              <a:ext uri="{FF2B5EF4-FFF2-40B4-BE49-F238E27FC236}">
                <a16:creationId xmlns:a16="http://schemas.microsoft.com/office/drawing/2014/main" id="{2CEE96A3-7967-4E64-A702-B2999872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다음 작업에도 필요한 정보</a:t>
            </a:r>
          </a:p>
        </p:txBody>
      </p:sp>
      <p:sp>
        <p:nvSpPr>
          <p:cNvPr id="2" name="S37">
            <a:extLst xmlns:a="http://schemas.openxmlformats.org/drawingml/2006/main">
              <a:ext uri="{FF2B5EF4-FFF2-40B4-BE49-F238E27FC236}">
                <a16:creationId xmlns:a16="http://schemas.microsoft.com/office/drawing/2014/main" id="{96B057E4-68D6-461C-95ED-385C0355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S37</a:t>
            </a:r>
          </a:p>
        </p:txBody>
      </p:sp>
      <p:sp>
        <p:nvSpPr>
          <p:cNvPr id="3" name="작업마다 바뀌는 목표, 계속 쓰는 기준">
            <a:extLst xmlns:a="http://schemas.openxmlformats.org/drawingml/2006/main">
              <a:ext uri="{FF2B5EF4-FFF2-40B4-BE49-F238E27FC236}">
                <a16:creationId xmlns:a16="http://schemas.microsoft.com/office/drawing/2014/main" id="{F58A74CE-DF15-4FCB-B826-FDCEFC54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작업마다 바뀌는 목표, 계속 쓰는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A1E39-8CE9-4932-8B3C-37A7900F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리 예시 · 계속 적용할지는 프로젝트의 합의와 조건을 확인한다">
            <a:extLst xmlns:a="http://schemas.openxmlformats.org/drawingml/2006/main">
              <a:ext uri="{FF2B5EF4-FFF2-40B4-BE49-F238E27FC236}">
                <a16:creationId xmlns:a16="http://schemas.microsoft.com/office/drawing/2014/main" id="{9E7E36AE-D6ED-46DD-861C-331F5CE3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분리 예시 · 계속 적용할지는 프로젝트의 합의와 조건을 확인한다</a:t>
            </a:r>
          </a:p>
        </p:txBody>
      </p:sp>
      <p:sp>
        <p:nvSpPr>
          <p:cNvPr id="6" name="M 연계 · M2">
            <a:extLst xmlns:a="http://schemas.openxmlformats.org/drawingml/2006/main">
              <a:ext uri="{FF2B5EF4-FFF2-40B4-BE49-F238E27FC236}">
                <a16:creationId xmlns:a16="http://schemas.microsoft.com/office/drawing/2014/main" id="{2B83EC11-A618-4D54-A832-A0585AF6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C532FF-1F4B-44C1-8B03-E193EFFA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72961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앞 장과 같은 요청 · 교육용 예시">
            <a:extLst xmlns:a="http://schemas.openxmlformats.org/drawingml/2006/main">
              <a:ext uri="{FF2B5EF4-FFF2-40B4-BE49-F238E27FC236}">
                <a16:creationId xmlns:a16="http://schemas.microsoft.com/office/drawing/2014/main" id="{EBF154D2-8AF5-4D99-A2D2-6E2BCE06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6838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 장과 같은 요청 · 교육용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0E040-E4DB-40EB-80BD-8B096EDF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683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오류를 고쳐줘.">
            <a:extLst xmlns:a="http://schemas.openxmlformats.org/drawingml/2006/main">
              <a:ext uri="{FF2B5EF4-FFF2-40B4-BE49-F238E27FC236}">
                <a16:creationId xmlns:a16="http://schemas.microsoft.com/office/drawing/2014/main" id="{5A80D446-BFC6-4F7E-934D-82A3B415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오류를 고쳐줘.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35D55F-FA6B-4578-97C6-84D92BF0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67075"/>
            <a:ext cx="687705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기존 공개 API는 유지해.">
            <a:extLst xmlns:a="http://schemas.openxmlformats.org/drawingml/2006/main">
              <a:ext uri="{FF2B5EF4-FFF2-40B4-BE49-F238E27FC236}">
                <a16:creationId xmlns:a16="http://schemas.microsoft.com/office/drawing/2014/main" id="{2CB992A8-087E-45FD-85A3-045CCBDE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공개 API는 유지해.</a:t>
            </a:r>
          </a:p>
        </p:txBody>
      </p:sp>
      <p:sp>
        <p:nvSpPr>
          <p:cNvPr id="13" name="프로젝트에 정해진 테스트 명령으로 확인해.">
            <a:extLst xmlns:a="http://schemas.openxmlformats.org/drawingml/2006/main">
              <a:ext uri="{FF2B5EF4-FFF2-40B4-BE49-F238E27FC236}">
                <a16:creationId xmlns:a16="http://schemas.microsoft.com/office/drawing/2014/main" id="{AB8ACAC8-ED21-465D-B90B-B7115ECC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프로젝트에 정해진 테스트 명령으로 확인해.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AA6226-19D0-4EAB-B98B-D73E45E4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67025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D5A68"/>
            </a:solidFill>
            <a:prstDash val="solid"/>
          </a:ln>
        </p:spPr>
      </p:sp>
      <p:sp>
        <p:nvSpPr>
          <p:cNvPr id="15" name="이번 작업의 목표">
            <a:extLst xmlns:a="http://schemas.openxmlformats.org/drawingml/2006/main">
              <a:ext uri="{FF2B5EF4-FFF2-40B4-BE49-F238E27FC236}">
                <a16:creationId xmlns:a16="http://schemas.microsoft.com/office/drawing/2014/main" id="{6074FC9A-A60D-45E5-BC5C-1A33824C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71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작업의 목표</a:t>
            </a:r>
          </a:p>
        </p:txBody>
      </p:sp>
      <p:sp>
        <p:nvSpPr>
          <p:cNvPr id="16" name="이번 작업에만 적용">
            <a:extLst xmlns:a="http://schemas.openxmlformats.org/drawingml/2006/main">
              <a:ext uri="{FF2B5EF4-FFF2-40B4-BE49-F238E27FC236}">
                <a16:creationId xmlns:a16="http://schemas.microsoft.com/office/drawing/2014/main" id="{9C77E6AA-0620-4AA9-A99D-98D472E9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7180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작업에만 적용</a:t>
            </a:r>
          </a:p>
        </p:txBody>
      </p:sp>
      <p:sp>
        <p:nvSpPr>
          <p:cNvPr id="17" name="Shared criteria bracket">
            <a:extLst xmlns:a="http://schemas.openxmlformats.org/drawingml/2006/main">
              <a:ext uri="{FF2B5EF4-FFF2-40B4-BE49-F238E27FC236}">
                <a16:creationId xmlns:a16="http://schemas.microsoft.com/office/drawing/2014/main" id="{7C9B4178-4AA7-47C9-811F-5432FEDE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95675"/>
            <a:ext cx="552450" cy="571500"/>
          </a:xfrm>
          <a:custGeom xmlns:a="http://schemas.openxmlformats.org/drawingml/2006/main">
            <a:pathLst>
              <a:path w="552450" h="571500">
                <a:moveTo>
                  <a:pt x="0" y="0"/>
                </a:moveTo>
                <a:lnTo>
                  <a:pt x="228600" y="0"/>
                </a:lnTo>
                <a:lnTo>
                  <a:pt x="228600" y="571500"/>
                </a:lnTo>
                <a:lnTo>
                  <a:pt x="0" y="571500"/>
                </a:lnTo>
                <a:moveTo>
                  <a:pt x="228600" y="285750"/>
                </a:moveTo>
                <a:lnTo>
                  <a:pt x="55245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</a:ln>
        </p:spPr>
      </p:sp>
      <p:sp>
        <p:nvSpPr>
          <p:cNvPr id="18" name="계속 쓰는 기준">
            <a:extLst xmlns:a="http://schemas.openxmlformats.org/drawingml/2006/main">
              <a:ext uri="{FF2B5EF4-FFF2-40B4-BE49-F238E27FC236}">
                <a16:creationId xmlns:a16="http://schemas.microsoft.com/office/drawing/2014/main" id="{59585CF4-45AB-4FEB-993C-9E757D87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40042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쓰는 기준</a:t>
            </a:r>
          </a:p>
        </p:txBody>
      </p:sp>
      <p:sp>
        <p:nvSpPr>
          <p:cNvPr id="19" name="프로젝트에서 합의해&#10;여러 작업에 적용">
            <a:extLst xmlns:a="http://schemas.openxmlformats.org/drawingml/2006/main">
              <a:ext uri="{FF2B5EF4-FFF2-40B4-BE49-F238E27FC236}">
                <a16:creationId xmlns:a16="http://schemas.microsoft.com/office/drawing/2014/main" id="{93C4FB32-48FC-43DF-9ED6-8D6524E1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29050"/>
            <a:ext cx="295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프로젝트에서 합의해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작업에 적용</a:t>
            </a:r>
          </a:p>
        </p:txBody>
      </p:sp>
      <p:sp>
        <p:nvSpPr>
          <p:cNvPr id="20" name="이 기준을 프로젝트에서 관리하고, 작업할 때 찾아 참고하게 할 수 없을까?">
            <a:extLst xmlns:a="http://schemas.openxmlformats.org/drawingml/2006/main">
              <a:ext uri="{FF2B5EF4-FFF2-40B4-BE49-F238E27FC236}">
                <a16:creationId xmlns:a16="http://schemas.microsoft.com/office/drawing/2014/main" id="{882C0CDE-D7AF-4487-8FCE-D48381D1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기준을 프로젝트에서 관리하고, 작업할 때 찾아 참고하게 할 수 없을까?</a:t>
            </a:r>
          </a:p>
        </p:txBody>
      </p:sp>
    </p:spTree>
    <p:extLst>
      <p:ext uri="{BB962C8B-B14F-4D97-AF65-F5344CB8AC3E}">
        <p14:creationId xmlns:p14="http://schemas.microsoft.com/office/powerpoint/2010/main" val="4034504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23</ap:Slides>
  <ap:Notes>23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2026-10-25T11:25:53.9090000Z</dcterms:created>
  <dcterms:modified xsi:type="dcterms:W3CDTF">2026-10-25T11:25:53.9090000Z</dcterms:modified>
</coreProperties>
</file>