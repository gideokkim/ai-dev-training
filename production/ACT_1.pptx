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62c2d8bbdd4474" /><Relationship Type="http://schemas.openxmlformats.org/officeDocument/2006/relationships/extended-properties" Target="/docProps/app.xml" Id="R56903f6be4654583" /><Relationship Type="http://schemas.openxmlformats.org/officeDocument/2006/relationships/officeDocument" Target="/ppt/presentation.xml" Id="Rc6d8b5f575124afc"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5ad485d29c60440e"/>
  </p:sldMasterIdLst>
  <p:notesMasterIdLst>
    <p:notesMasterId xmlns:r="http://schemas.openxmlformats.org/officeDocument/2006/relationships" r:id="R1b53e6f5aec94bb7"/>
  </p:notesMasterIdLst>
  <p:sldIdLst>
    <p:sldId xmlns:r="http://schemas.openxmlformats.org/officeDocument/2006/relationships" id="256" r:id="R53b5f1c73613466b"/>
    <p:sldId xmlns:r="http://schemas.openxmlformats.org/officeDocument/2006/relationships" id="257" r:id="Rdb787b2679b34158"/>
    <p:sldId xmlns:r="http://schemas.openxmlformats.org/officeDocument/2006/relationships" id="258" r:id="R15ef2fdfc3fc4c66"/>
    <p:sldId xmlns:r="http://schemas.openxmlformats.org/officeDocument/2006/relationships" id="259" r:id="R4afab53e72394991"/>
    <p:sldId xmlns:r="http://schemas.openxmlformats.org/officeDocument/2006/relationships" id="260" r:id="R6991b2de36cf4574"/>
    <p:sldId xmlns:r="http://schemas.openxmlformats.org/officeDocument/2006/relationships" id="261" r:id="Reefe892a11634e6e"/>
    <p:sldId xmlns:r="http://schemas.openxmlformats.org/officeDocument/2006/relationships" id="262" r:id="Rc660046a4aee4b62"/>
    <p:sldId xmlns:r="http://schemas.openxmlformats.org/officeDocument/2006/relationships" id="263" r:id="R6671d30a9a674493"/>
    <p:sldId xmlns:r="http://schemas.openxmlformats.org/officeDocument/2006/relationships" id="264" r:id="R622f7f149fe64add"/>
    <p:sldId xmlns:r="http://schemas.openxmlformats.org/officeDocument/2006/relationships" id="265" r:id="Recccec0b02b94bcd"/>
    <p:sldId xmlns:r="http://schemas.openxmlformats.org/officeDocument/2006/relationships" id="266" r:id="Ra34cdac4f2ae4f66"/>
    <p:sldId xmlns:r="http://schemas.openxmlformats.org/officeDocument/2006/relationships" id="267" r:id="R24872ffc5e43470c"/>
    <p:sldId id="278" r:id="Rb6e196eb79bd4ac7"/>
    <p:sldId id="279" r:id="Rd6df91a0adb84b5c"/>
    <p:sldId xmlns:r="http://schemas.openxmlformats.org/officeDocument/2006/relationships" id="268" r:id="Ra09b486bd3494af1"/>
    <p:sldId xmlns:r="http://schemas.openxmlformats.org/officeDocument/2006/relationships" id="269" r:id="R63a41de556e8443c"/>
    <p:sldId xmlns:r="http://schemas.openxmlformats.org/officeDocument/2006/relationships" id="270" r:id="R0565985cb09f4a47"/>
    <p:sldId xmlns:r="http://schemas.openxmlformats.org/officeDocument/2006/relationships" id="271" r:id="Recd5491b6ea3414e"/>
    <p:sldId xmlns:r="http://schemas.openxmlformats.org/officeDocument/2006/relationships" id="272" r:id="Rc0dbeecec05d4365"/>
    <p:sldId xmlns:r="http://schemas.openxmlformats.org/officeDocument/2006/relationships" id="273" r:id="Rd20122bcdfe04052"/>
    <p:sldId xmlns:r="http://schemas.openxmlformats.org/officeDocument/2006/relationships" id="274" r:id="R5a17122b530246b7"/>
    <p:sldId xmlns:r="http://schemas.openxmlformats.org/officeDocument/2006/relationships" id="275" r:id="Rded92fe5c21b46cc"/>
    <p:sldId xmlns:r="http://schemas.openxmlformats.org/officeDocument/2006/relationships" id="276" r:id="R94b109f609ff43a4"/>
    <p:sldId xmlns:r="http://schemas.openxmlformats.org/officeDocument/2006/relationships" id="277" r:id="R4139da827e6c45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d124731db2ca4542"/><Relationship Type="http://schemas.openxmlformats.org/officeDocument/2006/relationships/slideMaster" Target="/ppt/slideMasters/slideMaster1.xml" Id="R5ad485d29c60440e"/><Relationship Type="http://schemas.openxmlformats.org/officeDocument/2006/relationships/notesMaster" Target="/ppt/notesMasters/notesMaster1.xml" Id="R1b53e6f5aec94bb7"/><Relationship Type="http://schemas.openxmlformats.org/officeDocument/2006/relationships/presProps" Target="/ppt/presProps.xml" Id="Ra89db6ae51574db1"/><Relationship Type="http://schemas.openxmlformats.org/officeDocument/2006/relationships/tableStyles" Target="/ppt/tableStyles.xml" Id="Rb1b4c5e4218145b1"/><Relationship Type="http://schemas.openxmlformats.org/officeDocument/2006/relationships/slide" Target="/ppt/slides/slide1.xml" Id="R53b5f1c73613466b"/><Relationship Type="http://schemas.openxmlformats.org/officeDocument/2006/relationships/slide" Target="/ppt/slides/slide2.xml" Id="Rdb787b2679b34158"/><Relationship Type="http://schemas.openxmlformats.org/officeDocument/2006/relationships/slide" Target="/ppt/slides/slide3.xml" Id="R15ef2fdfc3fc4c66"/><Relationship Type="http://schemas.openxmlformats.org/officeDocument/2006/relationships/slide" Target="/ppt/slides/slide4.xml" Id="R4afab53e72394991"/><Relationship Type="http://schemas.openxmlformats.org/officeDocument/2006/relationships/slide" Target="/ppt/slides/slide5.xml" Id="R6991b2de36cf4574"/><Relationship Type="http://schemas.openxmlformats.org/officeDocument/2006/relationships/slide" Target="/ppt/slides/slide6.xml" Id="Reefe892a11634e6e"/><Relationship Type="http://schemas.openxmlformats.org/officeDocument/2006/relationships/slide" Target="/ppt/slides/slide7.xml" Id="Rc660046a4aee4b62"/><Relationship Type="http://schemas.openxmlformats.org/officeDocument/2006/relationships/slide" Target="/ppt/slides/slide8.xml" Id="R6671d30a9a674493"/><Relationship Type="http://schemas.openxmlformats.org/officeDocument/2006/relationships/slide" Target="/ppt/slides/slide9.xml" Id="R622f7f149fe64add"/><Relationship Type="http://schemas.openxmlformats.org/officeDocument/2006/relationships/slide" Target="/ppt/slides/slide10.xml" Id="Recccec0b02b94bcd"/><Relationship Type="http://schemas.openxmlformats.org/officeDocument/2006/relationships/slide" Target="/ppt/slides/slide11.xml" Id="Ra34cdac4f2ae4f66"/><Relationship Type="http://schemas.openxmlformats.org/officeDocument/2006/relationships/slide" Target="/ppt/slides/slide12.xml" Id="R24872ffc5e43470c"/><Relationship Type="http://schemas.openxmlformats.org/officeDocument/2006/relationships/slide" Target="/ppt/slides/slide15.xml" Id="Ra09b486bd3494af1"/><Relationship Type="http://schemas.openxmlformats.org/officeDocument/2006/relationships/slide" Target="/ppt/slides/slide16.xml" Id="R63a41de556e8443c"/><Relationship Type="http://schemas.openxmlformats.org/officeDocument/2006/relationships/slide" Target="/ppt/slides/slide17.xml" Id="R0565985cb09f4a47"/><Relationship Type="http://schemas.openxmlformats.org/officeDocument/2006/relationships/slide" Target="/ppt/slides/slide18.xml" Id="Recd5491b6ea3414e"/><Relationship Type="http://schemas.openxmlformats.org/officeDocument/2006/relationships/slide" Target="/ppt/slides/slide19.xml" Id="Rc0dbeecec05d4365"/><Relationship Type="http://schemas.openxmlformats.org/officeDocument/2006/relationships/slide" Target="/ppt/slides/slide20.xml" Id="Rd20122bcdfe04052"/><Relationship Type="http://schemas.openxmlformats.org/officeDocument/2006/relationships/slide" Target="/ppt/slides/slide21.xml" Id="R5a17122b530246b7"/><Relationship Type="http://schemas.openxmlformats.org/officeDocument/2006/relationships/slide" Target="/ppt/slides/slide22.xml" Id="Rded92fe5c21b46cc"/><Relationship Type="http://schemas.openxmlformats.org/officeDocument/2006/relationships/slide" Target="/ppt/slides/slide23.xml" Id="R94b109f609ff43a4"/><Relationship Type="http://schemas.openxmlformats.org/officeDocument/2006/relationships/slide" Target="/ppt/slides/slide24.xml" Id="R4139da827e6c459c"/><Relationship Type="http://schemas.openxmlformats.org/officeDocument/2006/relationships/slide" Target="/ppt/slides/slide13.xml" Id="Rb6e196eb79bd4ac7"/><Relationship Type="http://schemas.openxmlformats.org/officeDocument/2006/relationships/slide" Target="/ppt/slides/slide14.xml" Id="Rd6df91a0adb84b5c"/></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57445844543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caa807d7bf485c" /><Relationship Type="http://schemas.openxmlformats.org/officeDocument/2006/relationships/notesMaster" Target="/ppt/notesMasters/notesMaster1.xml" Id="R36d6577fd59d4e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92b63181124d97" /><Relationship Type="http://schemas.openxmlformats.org/officeDocument/2006/relationships/notesMaster" Target="/ppt/notesMasters/notesMaster1.xml" Id="R672d28a1813d4a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fded7447d0471f" /><Relationship Type="http://schemas.openxmlformats.org/officeDocument/2006/relationships/notesMaster" Target="/ppt/notesMasters/notesMaster1.xml" Id="R9a26090d4a8b42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16808bad4b425a" /><Relationship Type="http://schemas.openxmlformats.org/officeDocument/2006/relationships/notesMaster" Target="/ppt/notesMasters/notesMaster1.xml" Id="R617c8c08fdbf48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460dfbab354cb4" /><Relationship Type="http://schemas.openxmlformats.org/officeDocument/2006/relationships/notesMaster" Target="/ppt/notesMasters/notesMaster1.xml" Id="Rfa46175d4c134c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c2a9886c644945" /><Relationship Type="http://schemas.openxmlformats.org/officeDocument/2006/relationships/notesMaster" Target="/ppt/notesMasters/notesMaster1.xml" Id="R3351aec3c7e842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9266ec22234c40" /><Relationship Type="http://schemas.openxmlformats.org/officeDocument/2006/relationships/notesMaster" Target="/ppt/notesMasters/notesMaster1.xml" Id="Re40d57c9ae274e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a5792dc1ec444d" /><Relationship Type="http://schemas.openxmlformats.org/officeDocument/2006/relationships/notesMaster" Target="/ppt/notesMasters/notesMaster1.xml" Id="R65cd63a25e9d4b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8a06b543746fa" /><Relationship Type="http://schemas.openxmlformats.org/officeDocument/2006/relationships/notesMaster" Target="/ppt/notesMasters/notesMaster1.xml" Id="R7db1ec9373fe46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0eca4d616f4415" /><Relationship Type="http://schemas.openxmlformats.org/officeDocument/2006/relationships/notesMaster" Target="/ppt/notesMasters/notesMaster1.xml" Id="Rf34dd4d9278c4b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069cbed5ca4d27" /><Relationship Type="http://schemas.openxmlformats.org/officeDocument/2006/relationships/notesMaster" Target="/ppt/notesMasters/notesMaster1.xml" Id="R0a42fd8d1fec49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851504de1842a1" /><Relationship Type="http://schemas.openxmlformats.org/officeDocument/2006/relationships/notesMaster" Target="/ppt/notesMasters/notesMaster1.xml" Id="R812a5b04ffe44e67" /></Relationships>
</file>

<file path=ppt/notesSlides/_rels/notesSlide13.xml.rels><?xml version="1.0" encoding="utf-8"?><Relationships xmlns="http://schemas.openxmlformats.org/package/2006/relationships"><Relationship Type="http://schemas.openxmlformats.org/officeDocument/2006/relationships/slide" Target="/ppt/slides/slide13.xml" Id="R88851504de1842a1"/><Relationship Type="http://schemas.openxmlformats.org/officeDocument/2006/relationships/notesMaster" Target="/ppt/notesMasters/notesMaster1.xml" Id="R812a5b04ffe44e67"/></Relationships>
</file>

<file path=ppt/notesSlides/_rels/notesSlide14.xml.rels><?xml version="1.0" encoding="utf-8"?><Relationships xmlns="http://schemas.openxmlformats.org/package/2006/relationships"><Relationship Type="http://schemas.openxmlformats.org/officeDocument/2006/relationships/slide" Target="/ppt/slides/slide14.xml" Id="R88851504de1842a1"/><Relationship Type="http://schemas.openxmlformats.org/officeDocument/2006/relationships/notesMaster" Target="/ppt/notesMasters/notesMaster1.xml" Id="R812a5b04ffe44e67"/></Relationships>
</file>

<file path=ppt/notesSlides/_rels/notesSlide15.xml.rels><?xml version="1.0" encoding="utf-8"?><Relationships xmlns="http://schemas.openxmlformats.org/package/2006/relationships"><Relationship Type="http://schemas.openxmlformats.org/officeDocument/2006/relationships/slide" Target="/ppt/slides/slide15.xml" Id="R8f2bb8f720f84336"/><Relationship Type="http://schemas.openxmlformats.org/officeDocument/2006/relationships/notesMaster" Target="/ppt/notesMasters/notesMaster1.xml" Id="R660933af8b2d436d"/></Relationships>
</file>

<file path=ppt/notesSlides/_rels/notesSlide16.xml.rels><?xml version="1.0" encoding="utf-8"?><Relationships xmlns="http://schemas.openxmlformats.org/package/2006/relationships"><Relationship Type="http://schemas.openxmlformats.org/officeDocument/2006/relationships/slide" Target="/ppt/slides/slide16.xml" Id="R528d70e2058a41d1"/><Relationship Type="http://schemas.openxmlformats.org/officeDocument/2006/relationships/notesMaster" Target="/ppt/notesMasters/notesMaster1.xml" Id="R9a0439634b9e412e"/></Relationships>
</file>

<file path=ppt/notesSlides/_rels/notesSlide17.xml.rels><?xml version="1.0" encoding="utf-8"?><Relationships xmlns="http://schemas.openxmlformats.org/package/2006/relationships"><Relationship Type="http://schemas.openxmlformats.org/officeDocument/2006/relationships/slide" Target="/ppt/slides/slide17.xml" Id="R61f961977d584416"/><Relationship Type="http://schemas.openxmlformats.org/officeDocument/2006/relationships/notesMaster" Target="/ppt/notesMasters/notesMaster1.xml" Id="R12bffd481365440b"/></Relationships>
</file>

<file path=ppt/notesSlides/_rels/notesSlide18.xml.rels><?xml version="1.0" encoding="utf-8"?><Relationships xmlns="http://schemas.openxmlformats.org/package/2006/relationships"><Relationship Type="http://schemas.openxmlformats.org/officeDocument/2006/relationships/slide" Target="/ppt/slides/slide18.xml" Id="R9f438ec642c64ef4"/><Relationship Type="http://schemas.openxmlformats.org/officeDocument/2006/relationships/notesMaster" Target="/ppt/notesMasters/notesMaster1.xml" Id="Rd5518c5e79fc4f13"/></Relationships>
</file>

<file path=ppt/notesSlides/_rels/notesSlide19.xml.rels><?xml version="1.0" encoding="utf-8"?><Relationships xmlns="http://schemas.openxmlformats.org/package/2006/relationships"><Relationship Type="http://schemas.openxmlformats.org/officeDocument/2006/relationships/slide" Target="/ppt/slides/slide19.xml" Id="Rc0add4228c0a47ae"/><Relationship Type="http://schemas.openxmlformats.org/officeDocument/2006/relationships/notesMaster" Target="/ppt/notesMasters/notesMaster1.xml" Id="R927408a8d05340aa"/></Relationships>
</file>

<file path=ppt/notesSlides/_rels/notesSlide20.xml.rels><?xml version="1.0" encoding="utf-8"?><Relationships xmlns="http://schemas.openxmlformats.org/package/2006/relationships"><Relationship Type="http://schemas.openxmlformats.org/officeDocument/2006/relationships/slide" Target="/ppt/slides/slide20.xml" Id="R1c79308fde8d4adb"/><Relationship Type="http://schemas.openxmlformats.org/officeDocument/2006/relationships/notesMaster" Target="/ppt/notesMasters/notesMaster1.xml" Id="R4834c3f9ba5c41cc"/></Relationships>
</file>

<file path=ppt/notesSlides/_rels/notesSlide21.xml.rels><?xml version="1.0" encoding="utf-8"?><Relationships xmlns="http://schemas.openxmlformats.org/package/2006/relationships"><Relationship Type="http://schemas.openxmlformats.org/officeDocument/2006/relationships/slide" Target="/ppt/slides/slide21.xml" Id="Rb0ab5b6f63db468a"/><Relationship Type="http://schemas.openxmlformats.org/officeDocument/2006/relationships/notesMaster" Target="/ppt/notesMasters/notesMaster1.xml" Id="R81034e5a4c064144"/></Relationships>
</file>

<file path=ppt/notesSlides/_rels/notesSlide22.xml.rels><?xml version="1.0" encoding="utf-8"?><Relationships xmlns="http://schemas.openxmlformats.org/package/2006/relationships"><Relationship Type="http://schemas.openxmlformats.org/officeDocument/2006/relationships/slide" Target="/ppt/slides/slide22.xml" Id="Re9a414a1cdb44005"/><Relationship Type="http://schemas.openxmlformats.org/officeDocument/2006/relationships/notesMaster" Target="/ppt/notesMasters/notesMaster1.xml" Id="R1723e4ca1e8e4463"/></Relationships>
</file>

<file path=ppt/notesSlides/_rels/notesSlide23.xml.rels><?xml version="1.0" encoding="utf-8"?><Relationships xmlns="http://schemas.openxmlformats.org/package/2006/relationships"><Relationship Type="http://schemas.openxmlformats.org/officeDocument/2006/relationships/slide" Target="/ppt/slides/slide23.xml" Id="R04517a8e40454d60"/><Relationship Type="http://schemas.openxmlformats.org/officeDocument/2006/relationships/notesMaster" Target="/ppt/notesMasters/notesMaster1.xml" Id="Rf8b439c29ccf41de"/></Relationships>
</file>

<file path=ppt/notesSlides/_rels/notesSlide24.xml.rels><?xml version="1.0" encoding="utf-8"?><Relationships xmlns="http://schemas.openxmlformats.org/package/2006/relationships"><Relationship Type="http://schemas.openxmlformats.org/officeDocument/2006/relationships/slide" Target="/ppt/slides/slide24.xml" Id="R886faef6c2e2445e"/><Relationship Type="http://schemas.openxmlformats.org/officeDocument/2006/relationships/notesMaster" Target="/ppt/notesMasters/notesMaster1.xml" Id="Re643198b01a1441a"/></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전체417분이다.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의도와 명세가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의도와 명세가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or conflicting specifications.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S21에서 실제 TRIAL-002 요청을 읽고 S22 이후에서 같은 요청의 행동·변경·검증 기록을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S21의 실제 요청에 대응하는 결과이며 S16–S18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확인 범위 선택 뒤 S27/S28의 ON-SCREEN SUPPORTING vector·GoogleTest 예시로 완료 조건을 요청하는 방법을 연결한다. 주요 C++ 패턴 전이는 S77에서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확인 범위 선택으로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무엇을 확인해 달라고 요청할까?</a:t>
            </a:r>
          </a:p>
          <a:p>
            <a:r>
              <a:t xml:space="preserve"/>
            </a:r>
          </a:p>
          <a:p>
            <a:r>
              <a:t xml:space="preserve">Slide ID:</a:t>
            </a:r>
          </a:p>
          <a:p>
            <a:r>
              <a:t xml:space="preserve">S26</a:t>
            </a:r>
          </a:p>
          <a:p>
            <a:r>
              <a:t xml:space="preserve"/>
            </a:r>
          </a:p>
          <a:p>
            <a:r>
              <a:t xml:space="preserve">Working Title:</a:t>
            </a:r>
          </a:p>
          <a:p>
            <a:r>
              <a:t xml:space="preserve">무엇을 확인해 달라고 요청할까?</a:t>
            </a:r>
          </a:p>
          <a:p>
            <a:r>
              <a:t xml:space="preserve"/>
            </a:r>
          </a:p>
          <a:p>
            <a:r>
              <a:t xml:space="preserve">ACT / Section:</a:t>
            </a:r>
          </a:p>
          <a:p>
            <a:r>
              <a:t xml:space="preserve">ACT 1 / 1E + 1F</a:t>
            </a:r>
          </a:p>
          <a:p>
            <a:r>
              <a:t xml:space="preserve"/>
            </a:r>
          </a:p>
          <a:p>
            <a:r>
              <a:t xml:space="preserve">Allocated Time:</a:t>
            </a:r>
          </a:p>
          <a:p>
            <a:r>
              <a:t xml:space="preserve">1.5 minutes</a:t>
            </a:r>
          </a:p>
          <a:p>
            <a:r>
              <a:t xml:space="preserve"/>
            </a:r>
          </a:p>
          <a:p>
            <a:r>
              <a:t xml:space="preserve">Mode Split:</a:t>
            </a:r>
          </a:p>
          <a:p>
            <a:r>
              <a:t xml:space="preserve">Lecture 1.5 minutes</a:t>
            </a:r>
          </a:p>
          <a:p>
            <a:r>
              <a:t xml:space="preserve"/>
            </a:r>
          </a:p>
          <a:p>
            <a:r>
              <a:t xml:space="preserve">Primary Message:</a:t>
            </a:r>
          </a:p>
          <a:p>
            <a:r>
              <a:t xml:space="preserve">관련 동작·회귀·통합 경로·변경 범위·성능은 서로 다른 확인을 필요로 한다. 검사 이름만으로 모든 정확성을 증명하지 않는다.</a:t>
            </a:r>
          </a:p>
          <a:p>
            <a:r>
              <a:t xml:space="preserve"/>
            </a:r>
          </a:p>
          <a:p>
            <a:r>
              <a:t xml:space="preserve">Opening Question:</a:t>
            </a:r>
          </a:p>
          <a:p>
            <a:r>
              <a:t xml:space="preserve">“무엇을 확인해 달라고 요청할까?”</a:t>
            </a:r>
          </a:p>
          <a:p>
            <a:r>
              <a:t xml:space="preserve"/>
            </a:r>
          </a:p>
          <a:p>
            <a:r>
              <a:t xml:space="preserve">Speaker Flow:</a:t>
            </a:r>
          </a:p>
          <a:p>
            <a:r>
              <a:t xml:space="preserve">1. (0:00–0:15 / Lecture) S25의 사람 수용 판단을 받아 어떤 확인을 요청해야 하는지 묻는다.</a:t>
            </a:r>
          </a:p>
          <a:p>
            <a:r>
              <a:t xml:space="preserve">2. (0:15–1:15 / Lecture) 관련 동작 테스트는 해당 입력·조건, 전체 테스트는 현재 테스트의 회귀 범위, CLI 샘플은 해당 통합 경로, diff 확인은 변경 범위를 뒷받침함을 행별로 짚는다. 관련3건에는 resize도 있어 crop만의3건이라고 하지 않는다.</a:t>
            </a:r>
          </a:p>
          <a:p>
            <a:r>
              <a:t xml:space="preserve">3. (1:15–1:30 / Lecture) 성능은 지정 입력·환경의 별도 측정이 필요하며 TRIAL-002에서는 측정하지 않았음을 밝힌다. 이제 검사 조건이 원하는 명세 위반을 구별하는지 S27로 이동한다.</a:t>
            </a:r>
          </a:p>
          <a:p>
            <a:r>
              <a:t xml:space="preserve"/>
            </a:r>
          </a:p>
          <a:p>
            <a:r>
              <a:t xml:space="preserve">Evidence / Source:</a:t>
            </a:r>
          </a:p>
          <a:p>
            <a:r>
              <a:t xml:space="preserve">OBSERVED_PRODUCT / TEACHING_MODEL. plan/DEMO_MATRIX.md TRIAL-002의 기존 기록. 관련·전체 테스트, CLI 샘플, diff 확인은 실제 Python 관찰이다. 검사와 주장 범위의 대응은 교육 모델이고 benchmark는 미실행이다.</a:t>
            </a:r>
          </a:p>
          <a:p>
            <a:r>
              <a:t xml:space="preserve"/>
            </a:r>
          </a:p>
          <a:p>
            <a:r>
              <a:t xml:space="preserve">Claim Boundary:</a:t>
            </a:r>
          </a:p>
          <a:p>
            <a:r>
              <a:t xml:space="preserve">FROZEN WITH SCOPE / TEACHING MODEL — TRIAL-002에서 실제 수행한 관련·전체 테스트, CLI 샘플, diff 확인은 기존 Python 기록에 한정한다. 검사와 주장 범위의 대응은 교육 모델이며 성능 측정은 미실행이다.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완료를 판단하려는 질문에 맞는 확인을 요청한다.</a:t>
            </a:r>
          </a:p>
          <a:p>
            <a:r>
              <a:t xml:space="preserve"/>
            </a:r>
          </a:p>
          <a:p>
            <a:r>
              <a:t xml:space="preserve">Advanced Insight:</a:t>
            </a:r>
          </a:p>
          <a:p>
            <a:r>
              <a:t xml:space="preserve">검사 범위를 통과 범위 이상으로 일반화하지 않는다.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화면에는 C++ 예시를 넣지 않는다. 다음 S27/S28에서 기존 DEC-0041의 vector·GoogleTest 교육용 예시를 분리한다. 선택적 Release/API/ABI·측정 조건 대응은 Notes에만 보존한다.</a:t>
            </a:r>
          </a:p>
          <a:p>
            <a:r>
              <a:t xml:space="preserve"/>
            </a:r>
          </a:p>
          <a:p>
            <a:r>
              <a:t xml:space="preserve">Demo Operation:</a:t>
            </a:r>
          </a:p>
          <a:p>
            <a:r>
              <a:t xml:space="preserve">실제 TRIAL-002 확인 기록을 회수하되 새로운 Demo 시간·실행·비교를 추가하지 않는다. 이 구간은 Lecture/Reflection이고 DEMO-05의8분과 중복 계산하지 않는다. 정적 화면을 설명하며 Live 실행을 하지 않는다.</a:t>
            </a:r>
          </a:p>
          <a:p>
            <a:r>
              <a:t xml:space="preserve"/>
            </a:r>
          </a:p>
          <a:p>
            <a:r>
              <a:t xml:space="preserve">Audience Interaction:</a:t>
            </a:r>
          </a:p>
          <a:p>
            <a:r>
              <a:t xml:space="preserve">설명 중 자발적인 질문은 기존 ACT1 Q&amp;A 범위로 회수한다. 이 장에 별도 실습·답변 시간을 추가하지 않는다.</a:t>
            </a:r>
          </a:p>
          <a:p>
            <a:r>
              <a:t xml:space="preserve"/>
            </a:r>
          </a:p>
          <a:p>
            <a:r>
              <a:t xml:space="preserve">Transition:</a:t>
            </a:r>
          </a:p>
          <a:p>
            <a:r>
              <a:t xml:space="preserve">“관련 테스트를 실행해도, 그 조건이 원하는 명세 위반을 구별할까요?”라고 S27의 교육용 반례를 연다.</a:t>
            </a:r>
          </a:p>
          <a:p>
            <a:r>
              <a:t xml:space="preserve"/>
            </a:r>
          </a:p>
          <a:p>
            <a:r>
              <a:t xml:space="preserve">Time Management:</a:t>
            </a:r>
          </a:p>
          <a:p>
            <a:r>
              <a:t xml:space="preserve">Lecture90초. 세부 도구 사용법이나 다음 장을 먼저 설명하지 않는다.</a:t>
            </a:r>
          </a:p>
          <a:p>
            <a:r>
              <a:t xml:space="preserve"/>
            </a:r>
          </a:p>
          <a:p>
            <a:r>
              <a:t xml:space="preserve">Fallback:</a:t>
            </a:r>
          </a:p>
          <a:p>
            <a:r>
              <a:t xml:space="preserve">production/ACT_1.pptx S26 또는 production/preview/act1/S26.png의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비어 있지 않으면 올바른 결과일까?</a:t>
            </a:r>
          </a:p>
          <a:p>
            <a:r>
              <a:t xml:space="preserve"/>
            </a:r>
          </a:p>
          <a:p>
            <a:r>
              <a:t xml:space="preserve">Slide ID:</a:t>
            </a:r>
          </a:p>
          <a:p>
            <a:r>
              <a:t xml:space="preserve">S27</a:t>
            </a:r>
          </a:p>
          <a:p>
            <a:r>
              <a:t xml:space="preserve"/>
            </a:r>
          </a:p>
          <a:p>
            <a:r>
              <a:t xml:space="preserve">Working Title:</a:t>
            </a:r>
          </a:p>
          <a:p>
            <a:r>
              <a:t xml:space="preserve">비어 있지 않으면 올바른 결과일까?</a:t>
            </a:r>
          </a:p>
          <a:p>
            <a:r>
              <a:t xml:space="preserve"/>
            </a:r>
          </a:p>
          <a:p>
            <a:r>
              <a:t xml:space="preserve">ACT / Section:</a:t>
            </a:r>
          </a:p>
          <a:p>
            <a:r>
              <a:t xml:space="preserve">ACT 1 / 1E + 1F</a:t>
            </a:r>
          </a:p>
          <a:p>
            <a:r>
              <a:t xml:space="preserve"/>
            </a:r>
          </a:p>
          <a:p>
            <a:r>
              <a:t xml:space="preserve">Allocated Time:</a:t>
            </a:r>
          </a:p>
          <a:p>
            <a:r>
              <a:t xml:space="preserve">1.5 minutes</a:t>
            </a:r>
          </a:p>
          <a:p>
            <a:r>
              <a:t xml:space="preserve"/>
            </a:r>
          </a:p>
          <a:p>
            <a:r>
              <a:t xml:space="preserve">Mode Split:</a:t>
            </a:r>
          </a:p>
          <a:p>
            <a:r>
              <a:t xml:space="preserve">Lecture 1.5 minutes</a:t>
            </a:r>
          </a:p>
          <a:p>
            <a:r>
              <a:t xml:space="preserve"/>
            </a:r>
          </a:p>
          <a:p>
            <a:r>
              <a:t xml:space="preserve">Primary Message:</a:t>
            </a:r>
          </a:p>
          <a:p>
            <a:r>
              <a:t xml:space="preserve">기대 {2,3}과 명세를 어긴 {2,3,4}는 모두 비어 있지 않다. 결과 존재 여부만으로 해당 crop 명세를 확인할 수 없다.</a:t>
            </a:r>
          </a:p>
          <a:p>
            <a:r>
              <a:t xml:space="preserve"/>
            </a:r>
          </a:p>
          <a:p>
            <a:r>
              <a:t xml:space="preserve">Opening Question:</a:t>
            </a:r>
          </a:p>
          <a:p>
            <a:r>
              <a:t xml:space="preserve">“비어 있지 않으면 올바른 결과일까?”</a:t>
            </a:r>
          </a:p>
          <a:p>
            <a:r>
              <a:t xml:space="preserve"/>
            </a:r>
          </a:p>
          <a:p>
            <a:r>
              <a:t xml:space="preserve">Speaker Flow:</a:t>
            </a:r>
          </a:p>
          <a:p>
            <a:r>
              <a:t xml:space="preserve">1. (0:00–0:20 / Lecture) 여기부터 실제 Python 기록을 재생하는 것이 아닌 C++ 교육용 예시임을 밝힌다.0기반 인덱스의 입력 {1,2,3,4}, crop [1,3)은2와3을 포함한다.</a:t>
            </a:r>
          </a:p>
          <a:p>
            <a:r>
              <a:t xml:space="preserve">2. (0:20–0:55 / Lecture) 기대 {2,3}·2개와 명세를 어긴 {2,3,4}·3개에서 추가 원소4를 비교한다. 잘못된 vector는 설명용 반례이며 실제 Trial에서 통과한 결과가 아니다.</a:t>
            </a:r>
          </a:p>
          <a:p>
            <a:r>
              <a:t xml:space="preserve">3. (0:55–1:20 / Lecture) EXPECT_FALSE(actual.empty());는 두 경우 모두 비어 있지 않다는 점만 확인한다. 새 실행을 하지 않았고 PASS/FAIL 결과 화면이 아니다. 검사 횟수보다 어떤 오류를 구별할 조건인지가 핵심이다.</a:t>
            </a:r>
          </a:p>
          <a:p>
            <a:r>
              <a:t xml:space="preserve">4. (1:20–1:30 / Lecture) 이 입력에서 기대하는 값과 길이를 요청에 적는 다음 장으로 이동한다.</a:t>
            </a:r>
          </a:p>
          <a:p>
            <a:r>
              <a:t xml:space="preserve"/>
            </a:r>
          </a:p>
          <a:p>
            <a:r>
              <a:t xml:space="preserve">Evidence / Source:</a:t>
            </a:r>
          </a:p>
          <a:p>
            <a:r>
              <a:t xml:space="preserve">TEACHING_MODEL. 기존 반열림 crop 명세를 C++ vector와 GoogleTest로 재표현한 교육용 예시다. DEC-0041, DEC-0042, DEC-0112. [GoogleTest Primer](https://google.github.io/googletest/primer.html), [Microsoft vector operators](https://learn.microsoft.com/en-us/cpp/standard-library/vector-operators?view=msvc-170). 공식 의미 확인2026-10-27. 기술 의미를 설명하는 출처이며 예시 실행·당시 Trial 도구의 근거가 아니다.</a:t>
            </a:r>
          </a:p>
          <a:p>
            <a:r>
              <a:t xml:space="preserve"/>
            </a:r>
          </a:p>
          <a:p>
            <a:r>
              <a:t xml:space="preserve">Claim Boundary:</a:t>
            </a:r>
          </a:p>
          <a:p>
            <a:r>
              <a:t xml:space="preserve">TEACHING MODEL — C++ vector·GoogleTest는 기존 crop 명세를 설명하는 실행하지 않은 예시다. 실제 TRIAL-002의 assertion 원문이나 잘못된 결과의 PASS 기록이 아니다.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테스트가 실행됐는지와 원하는 오류를 구별하는지는 다른 질문임을 본다.</a:t>
            </a:r>
          </a:p>
          <a:p>
            <a:r>
              <a:t xml:space="preserve"/>
            </a:r>
          </a:p>
          <a:p>
            <a:r>
              <a:t xml:space="preserve">Advanced Insight:</a:t>
            </a:r>
          </a:p>
          <a:p>
            <a:r>
              <a:t xml:space="preserve">기대하는 위반에 맞춰 assertion 조건을 선택한다. 한 반례가 전체 테스트 품질을 평가하는 것은 아니다.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ON-SCREEN SUPPORTING — native vector 원소 칸과 EXPECT_FALSE 조건만 비교한다. GoogleTest 설치·실행을 가르치지 않는다.</a:t>
            </a:r>
          </a:p>
          <a:p>
            <a:r>
              <a:t xml:space="preserve"/>
            </a:r>
          </a:p>
          <a:p>
            <a:r>
              <a:t xml:space="preserve">Demo Operation:</a:t>
            </a:r>
          </a:p>
          <a:p>
            <a:r>
              <a:t xml:space="preserve">TRIAL-002의 반열림 crop 명세를 C++로 재표현한 교육용 반례이며 새 Trial·실제 실행 결과가 아니다. 이 구간은 Lecture/Reflection이고 DEMO-05의8분과 중복 계산하지 않는다. 정적 화면을 설명하며 Live 실행을 하지 않는다.</a:t>
            </a:r>
          </a:p>
          <a:p>
            <a:r>
              <a:t xml:space="preserve"/>
            </a:r>
          </a:p>
          <a:p>
            <a:r>
              <a:t xml:space="preserve">Audience Interaction:</a:t>
            </a:r>
          </a:p>
          <a:p>
            <a:r>
              <a:t xml:space="preserve">설명 중 자발적인 질문은 기존 ACT1 Q&amp;A 범위로 회수한다. 이 장에 별도 실습·답변 시간을 추가하지 않는다.</a:t>
            </a:r>
          </a:p>
          <a:p>
            <a:r>
              <a:t xml:space="preserve"/>
            </a:r>
          </a:p>
          <a:p>
            <a:r>
              <a:t xml:space="preserve">Transition:</a:t>
            </a:r>
          </a:p>
          <a:p>
            <a:r>
              <a:t xml:space="preserve">“그렇다면 이 입력의 기대 결과를 요청에 어떻게 적을까요?”라고 S28의 완료 조건 요청으로 이동한다.</a:t>
            </a:r>
          </a:p>
          <a:p>
            <a:r>
              <a:t xml:space="preserve"/>
            </a:r>
          </a:p>
          <a:p>
            <a:r>
              <a:t xml:space="preserve">Time Management:</a:t>
            </a:r>
          </a:p>
          <a:p>
            <a:r>
              <a:t xml:space="preserve">Lecture90초. 세부 도구 사용법이나 다음 장을 먼저 설명하지 않는다.</a:t>
            </a:r>
          </a:p>
          <a:p>
            <a:r>
              <a:t xml:space="preserve"/>
            </a:r>
          </a:p>
          <a:p>
            <a:r>
              <a:t xml:space="preserve">Fallback:</a:t>
            </a:r>
          </a:p>
          <a:p>
            <a:r>
              <a:t xml:space="preserve">production/ACT_1.pptx S27 또는 production/preview/act1/S27.png의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기대 결과를 요청에 적는다</a:t>
            </a:r>
          </a:p>
          <a:p>
            <a:r>
              <a:t xml:space="preserve"/>
            </a:r>
          </a:p>
          <a:p>
            <a:r>
              <a:t xml:space="preserve">Slide ID:</a:t>
            </a:r>
          </a:p>
          <a:p>
            <a:r>
              <a:t xml:space="preserve">S28</a:t>
            </a:r>
          </a:p>
          <a:p>
            <a:r>
              <a:t xml:space="preserve"/>
            </a:r>
          </a:p>
          <a:p>
            <a:r>
              <a:t xml:space="preserve">Working Title:</a:t>
            </a:r>
          </a:p>
          <a:p>
            <a:r>
              <a:t xml:space="preserve">기대 결과를 요청에 적는다</a:t>
            </a:r>
          </a:p>
          <a:p>
            <a:r>
              <a:t xml:space="preserve"/>
            </a:r>
          </a:p>
          <a:p>
            <a:r>
              <a:t xml:space="preserve">ACT / Section:</a:t>
            </a:r>
          </a:p>
          <a:p>
            <a:r>
              <a:t xml:space="preserve">ACT 1 / 1E + 1F</a:t>
            </a:r>
          </a:p>
          <a:p>
            <a:r>
              <a:t xml:space="preserve"/>
            </a:r>
          </a:p>
          <a:p>
            <a:r>
              <a:t xml:space="preserve">Allocated Time:</a:t>
            </a:r>
          </a:p>
          <a:p>
            <a:r>
              <a:t xml:space="preserve">2 minutes</a:t>
            </a:r>
          </a:p>
          <a:p>
            <a:r>
              <a:t xml:space="preserve"/>
            </a:r>
          </a:p>
          <a:p>
            <a:r>
              <a:t xml:space="preserve">Mode Split:</a:t>
            </a:r>
          </a:p>
          <a:p>
            <a:r>
              <a:t xml:space="preserve">Lecture 1 minute + Reflection 1 minute</a:t>
            </a:r>
          </a:p>
          <a:p>
            <a:r>
              <a:t xml:space="preserve"/>
            </a:r>
          </a:p>
          <a:p>
            <a:r>
              <a:t xml:space="preserve">Primary Message:</a:t>
            </a:r>
          </a:p>
          <a:p>
            <a:r>
              <a:t xml:space="preserve">입력·기대 값과 길이·확인 방법·보고할 결과와 미확인을 요청에 담는다. 검증 설명을 작업 요청의 완료 조건으로 연결한다.</a:t>
            </a:r>
          </a:p>
          <a:p>
            <a:r>
              <a:t xml:space="preserve"/>
            </a:r>
          </a:p>
          <a:p>
            <a:r>
              <a:t xml:space="preserve">Opening Question:</a:t>
            </a:r>
          </a:p>
          <a:p>
            <a:r>
              <a:t xml:space="preserve">“어떤 기대 결과를 비교하고 보고해 달라고 요청할까?”</a:t>
            </a:r>
          </a:p>
          <a:p>
            <a:r>
              <a:t xml:space="preserve"/>
            </a:r>
          </a:p>
          <a:p>
            <a:r>
              <a:t xml:space="preserve">Speaker Flow:</a:t>
            </a:r>
          </a:p>
          <a:p>
            <a:r>
              <a:t xml:space="preserve">1. (0:00–0:30 / Lecture) 큰 요청 창에서 입력·crop 범위·기대 {2,3}와 길이2를 짚는다. 실제 TRIAL-002 입력 발췌가 아닌 교육용 요청이다.</a:t>
            </a:r>
          </a:p>
          <a:p>
            <a:r>
              <a:t xml:space="preserve">2. (0:30–0:50 / Lecture) 실행한 검사·결과·미확인 보고까지 요청함을 짚는다. 아래 expected 선언과 EXPECT_EQ(actual, expected);는 해당 입력의 길이·순서별 값을 비교하는 보조 코드이며 실제 실행·PASS/FAIL이 아니다.</a:t>
            </a:r>
          </a:p>
          <a:p>
            <a:r>
              <a:t xml:space="preserve">3. (0:50–1:00 / Lecture) 이 한 입력으로 모든 정확성을 입증하지 않는다는 범위를 유지한다.</a:t>
            </a:r>
          </a:p>
          <a:p>
            <a:r>
              <a:t xml:space="preserve">4. (1:00–2:00 / Reflection) 각자 익숙한 작업에서 어떤 입력과 기대 결과를 확인해 달라고 요청할지 조용히 생각하게 한다. 작성·공유·실습을 요구하지 않는다.2분에 S29 요청 문장 도구로 이동한다.</a:t>
            </a:r>
          </a:p>
          <a:p>
            <a:r>
              <a:t xml:space="preserve"/>
            </a:r>
          </a:p>
          <a:p>
            <a:r>
              <a:t xml:space="preserve">Evidence / Source:</a:t>
            </a:r>
          </a:p>
          <a:p>
            <a:r>
              <a:t xml:space="preserve">TEACHING_MODEL. 기존 반열림 crop 명세를 C++ vector와 GoogleTest로 재표현한 교육용 예시다. DEC-0041, DEC-0042, DEC-0112. [GoogleTest Primer](https://google.github.io/googletest/primer.html), [Microsoft vector operators](https://learn.microsoft.com/en-us/cpp/standard-library/vector-operators?view=msvc-170). 공식 의미 확인2026-10-27. 기술 의미를 설명하는 출처이며 예시 실행·당시 Trial 도구의 근거가 아니다.</a:t>
            </a:r>
          </a:p>
          <a:p>
            <a:r>
              <a:t xml:space="preserve"/>
            </a:r>
          </a:p>
          <a:p>
            <a:r>
              <a:t xml:space="preserve">Claim Boundary:</a:t>
            </a:r>
          </a:p>
          <a:p>
            <a:r>
              <a:t xml:space="preserve">TEACHING MODEL — C++ 예시 요청과 assertion은 실제 TRIAL-002 입력·수행 결과가 아니다. 실행하지 않았으며 PASS/FAIL·Prompt 우월성·모든 정확성을 주장하지 않는다.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“테스트해줘”보다 구체적인 완료 판단 요청을 읽는다.</a:t>
            </a:r>
          </a:p>
          <a:p>
            <a:r>
              <a:t xml:space="preserve"/>
            </a:r>
          </a:p>
          <a:p>
            <a:r>
              <a:t xml:space="preserve">Advanced Insight:</a:t>
            </a:r>
          </a:p>
          <a:p>
            <a:r>
              <a:t xml:space="preserve">std::vector&lt;int&gt; 동등 비교는 길이와 순서별 값을 비교한다. size assertion의 교육상 중복 의미는 Notes에 보존하며 코드 양을 늘리는 강의로 확장하지 않는다.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ON-SCREEN SUPPORTING — expected{2,3}와 vector 동등 비교를 사용한다. 기존 명시적 size 확인의 의미는 Notes에 보존한다. 새 컴파일·GoogleTest·Windows 실행을 뜻하지 않는다.</a:t>
            </a:r>
          </a:p>
          <a:p>
            <a:r>
              <a:t xml:space="preserve"/>
            </a:r>
          </a:p>
          <a:p>
            <a:r>
              <a:t xml:space="preserve">Demo Operation:</a:t>
            </a:r>
          </a:p>
          <a:p>
            <a:r>
              <a:t xml:space="preserve">S27의 동일 C++ 교육용 반례를 완료 조건 요청으로 이어간다. S21–S24 실제 입력·관찰과 분리한다. 이 구간은 Lecture/Reflection이고 DEMO-05의8분과 중복 계산하지 않는다. 정적 화면을 설명하며 Live 실행을 하지 않는다.</a:t>
            </a:r>
          </a:p>
          <a:p>
            <a:r>
              <a:t xml:space="preserve"/>
            </a:r>
          </a:p>
          <a:p>
            <a:r>
              <a:t xml:space="preserve">Audience Interaction:</a:t>
            </a:r>
          </a:p>
          <a:p>
            <a:r>
              <a:t xml:space="preserve">마지막1분은 어떤 입력·기대 결과가 해당 명세 위반을 구별할지 조용히 생각한다. 작성·공유·공개 답변을 요구하지 않는다.</a:t>
            </a:r>
          </a:p>
          <a:p>
            <a:r>
              <a:t xml:space="preserve"/>
            </a:r>
          </a:p>
          <a:p>
            <a:r>
              <a:t xml:space="preserve">Transition:</a:t>
            </a:r>
          </a:p>
          <a:p>
            <a:r>
              <a:t xml:space="preserve">“요청에 담을 내용은 정했습니다. 이제 상황에 맞게 전달하는 문장 도구를 보겠습니다.”라고 S29의 실무 적용 팁으로 연결한다.</a:t>
            </a:r>
          </a:p>
          <a:p>
            <a:r>
              <a:t xml:space="preserve"/>
            </a:r>
          </a:p>
          <a:p>
            <a:r>
              <a:t xml:space="preserve">Time Management:</a:t>
            </a:r>
          </a:p>
          <a:p>
            <a:r>
              <a:t xml:space="preserve">Lecture60초+Reflection60초=2분. 세 장 합계5분=Lecture4+Reflection1이다.2분에 S29로 넘기며 실제 운영 적합성은 리허설 전까지 UNVERIFIED다.</a:t>
            </a:r>
          </a:p>
          <a:p>
            <a:r>
              <a:t xml:space="preserve"/>
            </a:r>
          </a:p>
          <a:p>
            <a:r>
              <a:t xml:space="preserve">Fallback:</a:t>
            </a:r>
          </a:p>
          <a:p>
            <a:r>
              <a:t xml:space="preserve">production/ACT_1.pptx S28 또는 production/preview/act1/S28.png의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지시와 참고 자료의 구분</a:t>
            </a:r>
          </a:p>
          <a:p>
            <a:r>
              <a:t xml:space="preserve"/>
            </a:r>
          </a:p>
          <a:p>
            <a:r>
              <a:t xml:space="preserve">Slide ID:</a:t>
            </a:r>
          </a:p>
          <a:p>
            <a:r>
              <a:t xml:space="preserve">S29</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입력과 기대 결과의 작은 예시</a:t>
            </a:r>
          </a:p>
          <a:p>
            <a:r>
              <a:t xml:space="preserve"/>
            </a:r>
          </a:p>
          <a:p>
            <a:r>
              <a:t xml:space="preserve">Slide ID:</a:t>
            </a:r>
          </a:p>
          <a:p>
            <a:r>
              <a:t xml:space="preserve">S30</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바로 검토할 수 있는 결과 형식</a:t>
            </a:r>
          </a:p>
          <a:p>
            <a:r>
              <a:t xml:space="preserve"/>
            </a:r>
          </a:p>
          <a:p>
            <a:r>
              <a:t xml:space="preserve">Slide ID:</a:t>
            </a:r>
          </a:p>
          <a:p>
            <a:r>
              <a:t xml:space="preserve">S31</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근거가 있는 설명과 미확인의 구분</a:t>
            </a:r>
          </a:p>
          <a:p>
            <a:r>
              <a:t xml:space="preserve"/>
            </a:r>
          </a:p>
          <a:p>
            <a:r>
              <a:t xml:space="preserve">Slide ID:</a:t>
            </a:r>
          </a:p>
          <a:p>
            <a:r>
              <a:t xml:space="preserve">S32</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결과를 바꾸는 결정에서 확인 질문</a:t>
            </a:r>
          </a:p>
          <a:p>
            <a:r>
              <a:t xml:space="preserve"/>
            </a:r>
          </a:p>
          <a:p>
            <a:r>
              <a:t xml:space="preserve">Slide ID:</a:t>
            </a:r>
          </a:p>
          <a:p>
            <a:r>
              <a:t xml:space="preserve">S33</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큰 작업을 검토할 결과물로 나누기</a:t>
            </a:r>
          </a:p>
          <a:p>
            <a:r>
              <a:t xml:space="preserve"/>
            </a:r>
          </a:p>
          <a:p>
            <a:r>
              <a:t xml:space="preserve">Slide ID:</a:t>
            </a:r>
          </a:p>
          <a:p>
            <a:r>
              <a:t xml:space="preserve">S34</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기준을 지정한 코드 리뷰 요청</a:t>
            </a:r>
          </a:p>
          <a:p>
            <a:r>
              <a:t xml:space="preserve"/>
            </a:r>
          </a:p>
          <a:p>
            <a:r>
              <a:t xml:space="preserve">Slide ID:</a:t>
            </a:r>
          </a:p>
          <a:p>
            <a:r>
              <a:t xml:space="preserve">S35</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구체적인 근거로 수정 방향 피드백</a:t>
            </a:r>
          </a:p>
          <a:p>
            <a:r>
              <a:t xml:space="preserve"/>
            </a:r>
          </a:p>
          <a:p>
            <a:r>
              <a:t xml:space="preserve">Slide ID:</a:t>
            </a:r>
          </a:p>
          <a:p>
            <a:r>
              <a:t xml:space="preserve">S36</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“요청을 구체화해도 다음 작업에 다시 적게 될 문장이 있습니다. 같은 crop 요청에서 찾아볼까요?”라고 S37로 연결한다.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“요청을 구체화해도 다음 작업에 다시 적게 될 문장이 있습니다. 같은 crop 요청에서 찾아볼까요?”라고 S37로 연결한다.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S36 또는 production/preview/act1/S36.png.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다음 작업에도 이 내용을 다시 적어야 할까?</a:t>
            </a:r>
          </a:p>
          <a:p>
            <a:r>
              <a:t xml:space="preserve"/>
            </a:r>
          </a:p>
          <a:p>
            <a:r>
              <a:t xml:space="preserve">Slide ID:</a:t>
            </a:r>
          </a:p>
          <a:p>
            <a:r>
              <a:t xml:space="preserve">S37</a:t>
            </a:r>
          </a:p>
          <a:p>
            <a:r>
              <a:t xml:space="preserve"/>
            </a:r>
          </a:p>
          <a:p>
            <a:r>
              <a:t xml:space="preserve">Working Title:</a:t>
            </a:r>
          </a:p>
          <a:p>
            <a:r>
              <a:t xml:space="preserve">다음 작업에도 이 내용을 다시 적어야 할까?</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a:t>
            </a:r>
          </a:p>
          <a:p>
            <a:r>
              <a:t xml:space="preserve">잘 작성한 요청에도 이번 목표와 여러 작업에서 다시 참고할 기준이 함께 들어갈 수 있다. 먼저 반복할 내용을 생각하고 다음 장에서 범위를 구분한다.</a:t>
            </a:r>
          </a:p>
          <a:p>
            <a:r>
              <a:t xml:space="preserve"/>
            </a:r>
          </a:p>
          <a:p>
            <a:r>
              <a:t xml:space="preserve">Opening Question:</a:t>
            </a:r>
          </a:p>
          <a:p>
            <a:r>
              <a:t xml:space="preserve">“작업이 바뀌어도 다시 말하게 될 문장은 무엇일까요?”</a:t>
            </a:r>
          </a:p>
          <a:p>
            <a:r>
              <a:t xml:space="preserve"/>
            </a:r>
          </a:p>
          <a:p>
            <a:r>
              <a:t xml:space="preserve">Speaker Flow:</a:t>
            </a:r>
          </a:p>
          <a:p>
            <a:r>
              <a:t xml:space="preserve">1. (0:00–0:15 / Reflection) S36에서 제안의 어긋난 부분을 고치고 유지할 조건을 적었다는 점을 회수한다. 화면의 짧은 요청은 같은 crop 사례를 되돌아보는 교육용 예시이며 실제 TRIAL-002 발췌가 아님을 밝힌다. 세 문장의 범주나 정답을 먼저 설명하지 않는다.</a:t>
            </a:r>
          </a:p>
          <a:p>
            <a:r>
              <a:t xml:space="preserve">2. (0:15–1:00 / Reflection) “작업이 바뀌어도 다시 말하게 될 문장은?”을 보고 조용히 생각할 시간을 둔다. 빈 Bucket이나 분류표 대신 요청 문장을 그대로 관찰하게 한다. 작성·공유·응답을 요구하지 않는다.</a:t>
            </a:r>
          </a:p>
          <a:p>
            <a:r>
              <a:t xml:space="preserve">3. (1:00–3:00 / Q&amp;A) 자발적인 질문을 받는다. 질문이 없으면 “이번 목표와 다음 작업에도 지킬 조건이 같은 수명일까요?”를 한 번 짚고 침묵을 허용한다. 이 시간에 AGENTS.md나 공통 지침의 정답을 먼저 강의하지 않는다.</a:t>
            </a:r>
          </a:p>
          <a:p>
            <a:r>
              <a:t xml:space="preserve">4. (3:00) 같은 세 문장을 유지한 S38로 이동한다.</a:t>
            </a:r>
          </a:p>
          <a:p>
            <a:r>
              <a:t xml:space="preserve"/>
            </a:r>
          </a:p>
          <a:p>
            <a:r>
              <a:t xml:space="preserve">Evidence / Source:</a:t>
            </a:r>
          </a:p>
          <a:p>
            <a:r>
              <a:t xml:space="preserve">TEACHING_MODEL. BEAT-007 → BEAT-008, CLM-0029, CLM-0027, CLM-0003, CLM-0005, DEC-0042, DEC-0113. S36의 crop·API 보존 요청과 기존 프로젝트 테스트 기준을 짧게 각색한 교육용 요청이다. 실제 TRIAL-002 입력·행동 로그·제품 화면이나 새 실험의 근거가 아니다.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구체적인 문장에서 반복할 내용을 떠올리는 교육용 Reflection이다. 실제 Trial에서 이 요청을 사용했다거나 정답·현재 제품 기능·효과를 확인했다고 표현하지 않는다. 문장의 적용 범위는 다음 장에서 프로젝트 합의 조건과 함께 검토한다.</a:t>
            </a:r>
          </a:p>
          <a:p>
            <a:r>
              <a:t xml:space="preserve"/>
            </a:r>
          </a:p>
          <a:p>
            <a:r>
              <a:t xml:space="preserve">Beginner Explanation:</a:t>
            </a:r>
          </a:p>
          <a:p>
            <a:r>
              <a:t xml:space="preserve">요청을 잘 작성해도 이번 목표와 여러 작업에서 다시 참고할 조건이 함께 들어갈 수 있다. 같은 짧은 요청에서 다음에도 다시 말할 문장을 생각한다.</a:t>
            </a:r>
          </a:p>
          <a:p>
            <a:r>
              <a:t xml:space="preserve"/>
            </a:r>
          </a:p>
          <a:p>
            <a:r>
              <a:t xml:space="preserve">Advanced Insight:</a:t>
            </a:r>
          </a:p>
          <a:p>
            <a:r>
              <a:t xml:space="preserve">Separate the recurrence question from storage design. A repeated sentence does not automatically deserve global instruction scope.</a:t>
            </a:r>
          </a:p>
          <a:p>
            <a:r>
              <a:t xml:space="preserve"/>
            </a:r>
          </a:p>
          <a:p>
            <a:r>
              <a:t xml:space="preserve">C++ Vision Bridge: N/A.</a:t>
            </a:r>
          </a:p>
          <a:p>
            <a:r>
              <a:t xml:space="preserve"/>
            </a:r>
          </a:p>
          <a:p>
            <a:r>
              <a:t xml:space="preserve">Demo Operation:</a:t>
            </a:r>
          </a:p>
          <a:p>
            <a:r>
              <a:t xml:space="preserve">N/A — 정적 교육용 요청과 Reflection/Q&amp;A다. 새 Trial·모델 호출·Demo 시간·테스트 실행·결과 화면을 추가하지 않는다.</a:t>
            </a:r>
          </a:p>
          <a:p>
            <a:r>
              <a:t xml:space="preserve"/>
            </a:r>
          </a:p>
          <a:p>
            <a:r>
              <a:t xml:space="preserve">Audience Interaction:</a:t>
            </a:r>
          </a:p>
          <a:p>
            <a:r>
              <a:t xml:space="preserve">Reflection1분(안내15초+개인적 생각45초) 후 자발적 Q&amp;A2분이다. 문장 선택·답안 작성·공유·개인 업무 공개를 요구하지 않는다. 답이 없어도 정시에 진행한다.</a:t>
            </a:r>
          </a:p>
          <a:p>
            <a:r>
              <a:t xml:space="preserve"/>
            </a:r>
          </a:p>
          <a:p>
            <a:r>
              <a:t xml:space="preserve">Transition:</a:t>
            </a:r>
          </a:p>
          <a:p>
            <a:r>
              <a:t xml:space="preserve">“방금 본 같은 요청에서 이번 목표와 계속 쓰기로 한 기준을 나눠 보겠습니다.”라고 S38로 이동한다.</a:t>
            </a:r>
          </a:p>
          <a:p>
            <a:r>
              <a:t xml:space="preserve"/>
            </a:r>
          </a:p>
          <a:p>
            <a:r>
              <a:t xml:space="preserve">Time Management:</a:t>
            </a:r>
          </a:p>
          <a:p>
            <a:r>
              <a:t xml:space="preserve">Reflection1분 + Q&amp;A2분 = 3분. 요청을 이해할 단서3개만 제공한다. 별도 Lecture·설명 시간이나 필수 응답을 추가하지 않는다. 실제 운영 적합성은 리허설 전까지 UNVERIFIED다.</a:t>
            </a:r>
          </a:p>
          <a:p>
            <a:r>
              <a:t xml:space="preserve"/>
            </a:r>
          </a:p>
          <a:p>
            <a:r>
              <a:t xml:space="preserve">Fallback:</a:t>
            </a:r>
          </a:p>
          <a:p>
            <a:r>
              <a:t xml:space="preserve">production/ACT_1.pptx S37 또는 production/preview/act1/S37.png의 정적 요청을 사용한다. 질문이 없으면 요청의 세 문장을 읽어 보게 하고3분에 같은 문장을 분리한 S38로 넘긴다.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작업마다 바뀌는 목표, 계속 쓰는 기준</a:t>
            </a:r>
          </a:p>
          <a:p>
            <a:r>
              <a:t xml:space="preserve"/>
            </a:r>
          </a:p>
          <a:p>
            <a:r>
              <a:t xml:space="preserve">Slide ID:</a:t>
            </a:r>
          </a:p>
          <a:p>
            <a:r>
              <a:t xml:space="preserve">S38</a:t>
            </a:r>
          </a:p>
          <a:p>
            <a:r>
              <a:t xml:space="preserve"/>
            </a:r>
          </a:p>
          <a:p>
            <a:r>
              <a:t xml:space="preserve">Working Title:</a:t>
            </a:r>
          </a:p>
          <a:p>
            <a:r>
              <a:t xml:space="preserve">작업마다 바뀌는 목표, 계속 쓰는 기준</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a:t>
            </a:r>
          </a:p>
          <a:p>
            <a:r>
              <a:t xml:space="preserve">crop 수정 목표는 작업마다 달라지고, 프로젝트에서 합의해 계속 적용할 API·테스트 기준은 여러 작업에서 다시 참고할 수 있다. 적용 범위를 먼저 확인하고 저장 위치는 다음 ACT에서 다룬다.</a:t>
            </a:r>
          </a:p>
          <a:p>
            <a:r>
              <a:t xml:space="preserve"/>
            </a:r>
          </a:p>
          <a:p>
            <a:r>
              <a:t xml:space="preserve">Opening Question:</a:t>
            </a:r>
          </a:p>
          <a:p>
            <a:r>
              <a:t xml:space="preserve">“이 공통 기준을 어디에 두고 다시 참고할까요?”</a:t>
            </a:r>
          </a:p>
          <a:p>
            <a:r>
              <a:t xml:space="preserve"/>
            </a:r>
          </a:p>
          <a:p>
            <a:r>
              <a:t xml:space="preserve">**Speaker Flow:**</a:t>
            </a:r>
          </a:p>
          <a:p>
            <a:r>
              <a:t xml:space="preserve">1. (0:00–1:00 / Reflection) S37과 문장이 하나도 바뀌지 않았음을 확인하게 한다. 각자 업무에서 어떤 조건을 여러 작업에 계속 적용하기로 합의했는지 조용히 생각한다. 앞 장의 문장 찾기를 반복 시험하거나 공개 분류를 요구하지 않는다.</a:t>
            </a:r>
          </a:p>
          <a:p>
            <a:r>
              <a:t xml:space="preserve">2. (1:00–2:00 / Transition) 위 한 줄의 crop 수정은 이번 작업 목표이고 작업이 달라지면 바뀐다는 점을 가리킨다. 새로운 README Task나 성능 사례를 여기서 추가하지 않는다.</a:t>
            </a:r>
          </a:p>
          <a:p>
            <a:r>
              <a:t xml:space="preserve">3. (2:00–3:00 / Transition) 아래 두 줄의 공개 API 유지·정해진 테스트 명령은 이 프로젝트에서 계속 적용하기로 합의한 경우 여러 작업에서 참고할 기준이다. 반복된다고 무조건 전역 지침이 되는 것은 아니다. 어떤 테스트를 언제 돌릴지는 프로젝트의 실제 기준과 작업 조건을 확인한다. 여러 단계의 작업 절차를 여기서 Skill/Workflow로 분류하지 않는다.</a:t>
            </a:r>
          </a:p>
          <a:p>
            <a:r>
              <a:t xml:space="preserve">4. (3:00–4:00 / Transition) 요청에는 목표·조건·완료 근거를 담는다는 ACT1 원칙을 유지한다. 공통 기준을 매번 복사하는 문제와 어디에 두고 참고할지라는 질문만 남긴다. AGENTS.md·자동 수집·효과를 답으로 제시하지 않는다. 세 가지 다른 Task에 같은 설명이 반복되는 장면은 ACT2 S40에서 확대한다.</a:t>
            </a:r>
          </a:p>
          <a:p>
            <a:r>
              <a:t xml:space="preserve">5. (4:00–6:00 / Q&amp;A) 자발적인 질문을 받는다. 질문이 없으면 “다음 요청에도 같은 기준이 필요하면, 어디에 두고 다시 참고할까요?”를 설명용 질문으로 회수하고6분에 S39로 넘긴다. S39 제목의 Transition1분과 시간을 중복 계산하지 않는다.</a:t>
            </a:r>
          </a:p>
          <a:p>
            <a:r>
              <a:t xml:space="preserve"/>
            </a:r>
          </a:p>
          <a:p>
            <a:r>
              <a:t xml:space="preserve">Evidence / Source:</a:t>
            </a:r>
          </a:p>
          <a:p>
            <a:r>
              <a:t xml:space="preserve">TEACHING_MODEL / CONCEPTUAL. BEAT-007, BEAT-008, TRANS-003, CLM-0029, CLM-0027, CLM-0003, CLM-0005, DEC-0042, DEC-0113. S37과 완전히 같은3문장을 사용한다. 구분과 적용 범위는 교육용 예시이며 실제 STATE-01/Trial의 지침 원문·자동 적용·수행 결과가 아니다. 실제 기록과 기존 정책의 조건은 DEMO_MATRIX.md에 보존한다.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공개 API와 테스트 기준을 프로젝트에서 합의해 계속 적용하기로 한 경우의 교육용 구분이다. 모든 반복 조건이 영구·전역 지침이거나 모든 요청에 전체 테스트가 필수라고 일반화하지 않는다. 실제 TRIAL-002 입력·STATE-01 원문·새 실행·측정·자동 지침 적용·효과를 주장하지 않는다. 저장 메커니즘과 AGENTS.md는 아직 답으로 보여주지 않는다.</a:t>
            </a:r>
          </a:p>
          <a:p>
            <a:r>
              <a:t xml:space="preserve"/>
            </a:r>
          </a:p>
          <a:p>
            <a:r>
              <a:t xml:space="preserve">Beginner Explanation:</a:t>
            </a:r>
          </a:p>
          <a:p>
            <a:r>
              <a:t xml:space="preserve">위의 목표는 작업이 바뀌면 달라지고 아래의 합의된 기준은 여러 작업에서 다시 참고할 수 있다. 같은 요청 문장에서 역할을 나누므로 새 예시를 다시 해석할 필요가 없다.</a:t>
            </a:r>
          </a:p>
          <a:p>
            <a:r>
              <a:t xml:space="preserve"/>
            </a:r>
          </a:p>
          <a:p>
            <a:r>
              <a:t xml:space="preserve">Advanced Insight:</a:t>
            </a:r>
          </a:p>
          <a:p>
            <a:r>
              <a:t xml:space="preserve">Scope and lifetime require project agreement. Check whether an API-preservation condition or test entry applies to future tasks; do not promote every repeated sentence into universal policy. 기존 화면의 의존성 예시는 Notes의 선택 참고로 보존한다. 실제 STATE-01은 작업상 정당한 근거가 있을 때 추가할 수 있다는 조건이며 무조건 금지로 바꾸지 않는다. README는 다음 ACT의 작업 예로 남기고 여기서 새 사례를 추가하지 않는다.</a:t>
            </a:r>
          </a:p>
          <a:p>
            <a:r>
              <a:t xml:space="preserve"/>
            </a:r>
          </a:p>
          <a:p>
            <a:r>
              <a:t xml:space="preserve">C++ Vision Bridge: N/A.</a:t>
            </a:r>
          </a:p>
          <a:p>
            <a:r>
              <a:t xml:space="preserve"/>
            </a:r>
          </a:p>
          <a:p>
            <a:r>
              <a:t xml:space="preserve">Demo Operation:</a:t>
            </a:r>
          </a:p>
          <a:p>
            <a:r>
              <a:t xml:space="preserve">N/A — S37의 동일한 교육용 요청을 범위별로 설명하는 정적 장이다. 새로운 Prompt 입력·Trial·C++/Python 실행·현재 제품 수집 동작·성과를 보여주지 않는다.</a:t>
            </a:r>
          </a:p>
          <a:p>
            <a:r>
              <a:t xml:space="preserve"/>
            </a:r>
          </a:p>
          <a:p>
            <a:r>
              <a:t xml:space="preserve">Audience Interaction:</a:t>
            </a:r>
          </a:p>
          <a:p>
            <a:r>
              <a:t xml:space="preserve">Reflection1분은 어떤 기준을 공통으로 합의할지 생각한다. Transition3분 뒤 자발적 Q&amp;A2분이다. 정답 분류·업무 공개·실습을 요구하지 않는다. 질문이 없으면 마지막 위치 질문을 회수하고6분에 다음 ACT로 넘어간다.</a:t>
            </a:r>
          </a:p>
          <a:p>
            <a:r>
              <a:t xml:space="preserve"/>
            </a:r>
          </a:p>
          <a:p>
            <a:r>
              <a:t xml:space="preserve">**Transition:**</a:t>
            </a:r>
          </a:p>
          <a:p>
            <a:r>
              <a:t xml:space="preserve">“공통 기준이 다음 요청에도 필요하다면 어디에 두고 다시 참고할까요? 다음 구간에서는 서로 다른 작업에도 같은 설명이 반복되는 장면부터 보겠습니다.”라고 ACT2 제목 S39를 거쳐 S40으로 이어간다.</a:t>
            </a:r>
          </a:p>
          <a:p>
            <a:r>
              <a:t xml:space="preserve"/>
            </a:r>
          </a:p>
          <a:p>
            <a:r>
              <a:t xml:space="preserve">Time Management:</a:t>
            </a:r>
          </a:p>
          <a:p>
            <a:r>
              <a:t xml:space="preserve">0–1분 Reflection,1–4분 Transition,4–6분 Q&amp;A를 유지한다. S39 ACT2 제목의1분은 별도다. 두 장 합계9분과 Reflection2/Transition3/Q&amp;A4를 보존한다. 실측 시간 적합성은 UNVERIFIED다.</a:t>
            </a:r>
          </a:p>
          <a:p>
            <a:r>
              <a:t xml:space="preserve"/>
            </a:r>
          </a:p>
          <a:p>
            <a:r>
              <a:t xml:space="preserve">Fallback:</a:t>
            </a:r>
          </a:p>
          <a:p>
            <a:r>
              <a:t xml:space="preserve">production/ACT_1.pptx S38 또는 production/preview/act1/S38.png의 정적 분리 도식을 사용한다. 프로젝트 합의·조건 범위를 밝히고 S39 제목→S40의 세 작업 반복 장면으로 이어간다. 저장 방법을 먼저 설명하지 않는다.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5b1cf0e36646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2f174a12b142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100e51e97640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4b68cbe7a940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cd025dc1ab4c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270f5878df4f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8355F7-6B27-4F25-9C6D-0F44A75526A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EDF54A-1FBD-497B-A2B3-9A75B07E28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2E5653-B08A-4B4E-A805-719C402466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F29A70-4305-49BA-8A5C-C450FAF46A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F3AA39-B8C0-4520-B07B-222F29627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DBABD2-558D-43FE-B791-CBF825A049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559118-AD83-424D-B33D-BBDAF12A81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75D5F2-95FB-498D-A956-7C955840784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BB1C92-99C1-4A52-BEF0-61BBC39948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6B54BC-8316-43D2-8CAE-6A3F211D0B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5d47f4cc0a4ace" /><Relationship Type="http://schemas.openxmlformats.org/officeDocument/2006/relationships/slideLayout" Target="/ppt/slideLayouts/slideLayout1.xml" Id="R5ce2de4e8fa7415f" /><Relationship Type="http://schemas.openxmlformats.org/officeDocument/2006/relationships/slideLayout" Target="/ppt/slideLayouts/slideLayout2.xml" Id="Rea6753f6f1f04d67" /><Relationship Type="http://schemas.openxmlformats.org/officeDocument/2006/relationships/slideLayout" Target="/ppt/slideLayouts/slideLayout3.xml" Id="Re8b91caf35914db3" /><Relationship Type="http://schemas.openxmlformats.org/officeDocument/2006/relationships/slideLayout" Target="/ppt/slideLayouts/slideLayout4.xml" Id="R5dc09f5d544d4e3e" /><Relationship Type="http://schemas.openxmlformats.org/officeDocument/2006/relationships/slideLayout" Target="/ppt/slideLayouts/slideLayout5.xml" Id="R6e3000ebb8514e77" /><Relationship Type="http://schemas.openxmlformats.org/officeDocument/2006/relationships/slideLayout" Target="/ppt/slideLayouts/slideLayout6.xml" Id="R90a545335480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e2de4e8fa7415f"/>
    <p:sldLayoutId xmlns:r="http://schemas.openxmlformats.org/officeDocument/2006/relationships" id="2147483650" r:id="Rea6753f6f1f04d67"/>
    <p:sldLayoutId xmlns:r="http://schemas.openxmlformats.org/officeDocument/2006/relationships" id="2147483651" r:id="Re8b91caf35914db3"/>
    <p:sldLayoutId xmlns:r="http://schemas.openxmlformats.org/officeDocument/2006/relationships" id="2147483652" r:id="R5dc09f5d544d4e3e"/>
    <p:sldLayoutId xmlns:r="http://schemas.openxmlformats.org/officeDocument/2006/relationships" id="2147483653" r:id="R6e3000ebb8514e77"/>
    <p:sldLayoutId xmlns:r="http://schemas.openxmlformats.org/officeDocument/2006/relationships" id="2147483654" r:id="R90a545335480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d7803c980e42a0" /><Relationship Type="http://schemas.openxmlformats.org/officeDocument/2006/relationships/notesSlide" Target="/ppt/notesSlides/notesSlide1.xml" Id="R36abd3fbf26545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88f5dda8444150" /><Relationship Type="http://schemas.openxmlformats.org/officeDocument/2006/relationships/image" Target="/ppt/media/image.png" Id="R1151dae526e14079" /><Relationship Type="http://schemas.openxmlformats.org/officeDocument/2006/relationships/image" Target="/ppt/media/image2.png" Id="Re8960ff56698420f" /><Relationship Type="http://schemas.openxmlformats.org/officeDocument/2006/relationships/image" Target="/ppt/media/image3.png" Id="Rf95eed63be56453e" /><Relationship Type="http://schemas.openxmlformats.org/officeDocument/2006/relationships/notesSlide" Target="/ppt/notesSlides/notesSlide2.xml" Id="R466e06394efa47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9e211dcf194a88" /><Relationship Type="http://schemas.openxmlformats.org/officeDocument/2006/relationships/image" Target="/ppt/media/image4.png" Id="R5f24b3f7316d4fc0" /><Relationship Type="http://schemas.openxmlformats.org/officeDocument/2006/relationships/notesSlide" Target="/ppt/notesSlides/notesSlide3.xml" Id="Rc0bfba0cd57546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c61266394f4168" /><Relationship Type="http://schemas.openxmlformats.org/officeDocument/2006/relationships/image" Target="/ppt/media/image5.png" Id="Rf93d63b7dbc343a5" /><Relationship Type="http://schemas.openxmlformats.org/officeDocument/2006/relationships/notesSlide" Target="/ppt/notesSlides/notesSlide4.xml" Id="R61d8dcdf764b4f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b106ef32d940fd" /><Relationship Type="http://schemas.openxmlformats.org/officeDocument/2006/relationships/notesSlide" Target="/ppt/notesSlides/notesSlide5.xml" Id="R702d380e6c6e49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cce670e8df4839" /><Relationship Type="http://schemas.openxmlformats.org/officeDocument/2006/relationships/notesSlide" Target="/ppt/notesSlides/notesSlide6.xml" Id="R287444aaaf534b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c6770f3421461e" /><Relationship Type="http://schemas.openxmlformats.org/officeDocument/2006/relationships/notesSlide" Target="/ppt/notesSlides/notesSlide7.xml" Id="R500429f82c5e47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ef8e3ae9754cb6" /><Relationship Type="http://schemas.openxmlformats.org/officeDocument/2006/relationships/notesSlide" Target="/ppt/notesSlides/notesSlide8.xml" Id="R8e6036dd5e974f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ecadc14ae374a4f" /><Relationship Type="http://schemas.openxmlformats.org/officeDocument/2006/relationships/notesSlide" Target="/ppt/notesSlides/notesSlide9.xml" Id="R7c38dbacc39a45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3b6a6c99a04df8" /><Relationship Type="http://schemas.openxmlformats.org/officeDocument/2006/relationships/notesSlide" Target="/ppt/notesSlides/notesSlide10.xml" Id="Re0d377eef6e74a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c4c684d43424d" /><Relationship Type="http://schemas.openxmlformats.org/officeDocument/2006/relationships/notesSlide" Target="/ppt/notesSlides/notesSlide11.xml" Id="Rf027dc91b8ec4f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5505e880f44fac" /><Relationship Type="http://schemas.openxmlformats.org/officeDocument/2006/relationships/notesSlide" Target="/ppt/notesSlides/notesSlide12.xml" Id="R57c6aa2f813b46f1"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cc5505e880f44fac"/><Relationship Type="http://schemas.openxmlformats.org/officeDocument/2006/relationships/notesSlide" Target="/ppt/notesSlides/notesSlide13.xml" Id="R57c6aa2f813b46f1"/></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cc5505e880f44fac"/><Relationship Type="http://schemas.openxmlformats.org/officeDocument/2006/relationships/notesSlide" Target="/ppt/notesSlides/notesSlide14.xml" Id="R57c6aa2f813b46f1"/></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a21134ea430d41da"/><Relationship Type="http://schemas.openxmlformats.org/officeDocument/2006/relationships/notesSlide" Target="/ppt/notesSlides/notesSlide15.xml" Id="R272b0262969045f9"/></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61466081ecd5410f"/><Relationship Type="http://schemas.openxmlformats.org/officeDocument/2006/relationships/notesSlide" Target="/ppt/notesSlides/notesSlide16.xml" Id="R17eb6248e84c4fd6"/></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b71f8b4b52e74924"/><Relationship Type="http://schemas.openxmlformats.org/officeDocument/2006/relationships/notesSlide" Target="/ppt/notesSlides/notesSlide17.xml" Id="R3da40e35a74f4794"/></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7c079c8d7da74671"/><Relationship Type="http://schemas.openxmlformats.org/officeDocument/2006/relationships/notesSlide" Target="/ppt/notesSlides/notesSlide18.xml" Id="R1cfe567876e843ab"/></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a01535f7b056466d"/><Relationship Type="http://schemas.openxmlformats.org/officeDocument/2006/relationships/notesSlide" Target="/ppt/notesSlides/notesSlide19.xml" Id="R6863f883f4234f03"/></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a5fa52cf39504c68"/><Relationship Type="http://schemas.openxmlformats.org/officeDocument/2006/relationships/notesSlide" Target="/ppt/notesSlides/notesSlide20.xml" Id="Rc78b322686094c59"/></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8b3e6f63960b44d2"/><Relationship Type="http://schemas.openxmlformats.org/officeDocument/2006/relationships/notesSlide" Target="/ppt/notesSlides/notesSlide21.xml" Id="R5a2048b1583d4b81"/></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ac9747284bb74b7f"/><Relationship Type="http://schemas.openxmlformats.org/officeDocument/2006/relationships/notesSlide" Target="/ppt/notesSlides/notesSlide22.xml" Id="Ra9c81e7cbba246e6"/></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c58ae7ec3f984649"/><Relationship Type="http://schemas.openxmlformats.org/officeDocument/2006/relationships/notesSlide" Target="/ppt/notesSlides/notesSlide23.xml" Id="Rbb398f5d55c045c1"/></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44984def97b84757"/><Relationship Type="http://schemas.openxmlformats.org/officeDocument/2006/relationships/notesSlide" Target="/ppt/notesSlides/notesSlide24.xml" Id="R07098526ace44748"/></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839281C4-8BF6-4EA0-A084-8B19780853F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3D5B15E5-5768-4CC2-9476-76B57EADE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8DA45C04-1095-4041-AC56-C55F681EDA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83E68C12-91B0-4C3A-BE40-2E8FB8AAEA1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43B1EFBA-D28C-4B3A-94C0-61C893F2A08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0EF111E6-C64A-47AC-BBA7-16CF30E5BD4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DCD8D5C-669F-45C2-BEB5-8320B8974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939957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1151dae526e140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e8960ff56698420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f95eed63be56453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07265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5f24b3f7316d4fc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가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의도·명세가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7827427"/>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f93d63b7dbc343a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276483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9DA9E6B9-43F5-42A6-A776-B719BCB16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8DD75F80-C30B-480F-8D5D-D72FA44FC9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B39286F4-C45A-408F-B80D-026CCE96C9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C5CA25F-CF80-4120-A4CE-B5693CC2E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0B1DE39C-C1B5-47D2-823E-8F71EC06054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366D5D5-66C4-4441-A1D7-662A9BE2024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B8B953F-0DB2-4EDF-83AC-219EFE0CA7F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70FAA15-A7DD-4F96-96CD-4972627E70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9323BC4-8A39-4CB3-9E73-96E4DD0D814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DFFDB2-FC6F-4E5B-96D7-7A8955A8659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CE7A18A-C043-41E5-9BB4-B0C21831578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0F8B931-5F47-46DD-9FC6-7CC2B189647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17FBD00-8D9C-4CA0-B327-603C306C0C5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031A07C-C538-4CCB-9160-BC6872B9DCF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15ACAF2-F4E4-49B5-BA3F-69D4E514CE5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C524BE-1655-41CE-A4AB-90DAB89BF10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BA1F78C-3C28-42A4-8870-C747D12ACBA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4B563B7-F824-4B9D-B12F-42E6903FEA1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48288A9-D551-4406-B365-E21F761487C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C73ACA7-203E-4708-9C43-3C2D106BA77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BFE6F0E-C46C-46EA-9809-69D8EFACC1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57888138"/>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DA949EC-7368-4EDD-8EA7-2CD107429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FCE4A6D4-645E-42B9-B525-24AB1B8A09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355FE293-1DBB-4396-9744-2AB712B8B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2A5E790-5C0F-488B-BD77-3E14F85E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E446B2F-6B63-4B49-A0C0-163A68C53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A825CFC-5140-409B-A44F-F32E49761749}"/>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0DF166C-264C-4285-86C1-BD2D0435244E}"/>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CBCD98A-EC6D-406B-8236-82CBD88DAD3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68DB09-B753-4339-AB46-87447CFD3D5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D3C178F-A19F-4774-AF54-47FFB217544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7F318C2-C64E-456B-8A79-78738309F50D}"/>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0088C96-4F61-455E-A097-99FA012A6F3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357F030-618E-4301-9D28-61858B5F506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624E435-EBD3-4EF3-BAEB-4DAF9DFF225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7FEB806-E466-4CF0-9470-7BBBBA7C939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986B359C-D612-4F2A-AFBD-F835A118F15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B700E73-C76C-48D0-B20E-4F1016D760B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EA5E6B0-DDB0-424E-8EE1-FA828E2C990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98FDAA7-773F-4A69-A188-689AA4BB519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BDCE24E-40EF-4302-8056-8714CF7CA7C9}"/>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02F5AAA8-47DF-46F2-9F45-0C5746719D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B5C1DD2-07D2-43EF-8096-0B28C9F3FE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CF37187-E0BF-4D25-8E35-CB282138BE6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CBAF9EE-205A-4133-A213-A958FAD8A8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42500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44264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4221206"/>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DA1BE56-938E-497F-A9ED-B610DC2177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4414127E-C5C6-4055-91E5-168C771BC8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99A7ACA8-9737-4D23-A817-D9A41F8E3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A155215-9751-4451-9E85-596FFC2EB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2289B37-897F-4423-AC2D-5EAB9290C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53F76BB2-3182-4FCC-8C84-65846F637A4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4375F05-A7CE-4036-8058-4E7A9B4C99C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7719F38-A426-43F1-B2D1-21C47AF359A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2569D4-5D69-48F4-8F05-8D6D7FA4896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15E5EBD-F33B-4525-BD34-56F03BBC405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8DC3F14-34FC-4256-BD61-823D6642FB7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D52ABA7-E9CE-40A1-8A0D-464CB5FEBB0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7ED88C5-FA84-422C-9A28-DABC82D9D1C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97BDB4C-A560-410E-8213-5ECBA560CC0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77C5286-AA6C-44CC-ABD3-64088DEF4E3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FDDD2226-443C-4A64-9AF2-82B8278A13B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1FF2546-C8F8-478E-B20E-4D8A7718F04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EEE60C0-2C92-40C1-A294-34460213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9713621"/>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C8E74F6-8BE0-498A-864E-EBA2EC6C6B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C6D16E04-B519-46BF-B81F-0F803B2BA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B378134D-A8C4-4460-9CF4-16C4E54D96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DC62901-992A-46F6-8617-BDD114107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9D92F-80FD-48EC-813B-BEADD796F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972E0961-4D12-4396-880E-68804BB3DF3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B3544CC-6E78-4DBE-A980-4C26D1BB51A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3E2EC2B-ED7B-44C2-A479-DCF20981DAF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7C80E9F-BFA9-4B25-A316-95ED81A060E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4AF645A-3A28-42EE-AE04-B6E36A92A72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75B1351-6E93-4860-874D-62C675014E4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9FAC89A-B6FC-4A52-B1E2-26FB85518C7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578EF1E-BA2A-4862-9ADA-A3D559809CA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356E1CA-FFE4-4AC0-BEAA-5D8C6C6F7A1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1C8CADB-015D-4BEC-A870-12B8C657C2A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F120871-5BD4-43BE-AA80-CBE98C01FEC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31C9E88-6111-4549-A367-7AE8610ADCF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8452808-3BCF-4625-9642-341A82D4538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8A48214-BDFD-49C9-BAA3-0F4AFC3E953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6DC022A-4293-4179-9514-7C9D6CA1E39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C29561-8601-4913-B7BF-20DF9711258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AEC96FC-75D1-4151-94F9-0BC4D7465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0646814"/>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3C81B1A-1F05-4FE0-B0AF-A0291D506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AA229A43-AD19-456C-BC39-13EB5FAEC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D21A8A3-65C7-4B18-A633-CFA3347D9A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7708297D-FA21-4F2D-8B5E-E6F0AD9CA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CB5C05-079B-4F3E-BAFC-CBA389A78B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C34253DE-58A3-41DD-B9D6-59FCDB06C54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95255FA-7489-46BC-9EAE-DE41F5081F2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8E5E9AB-69D1-4621-A9FE-A1CE7F9DA4C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FB582E21-AB06-4184-A663-872AAF780D1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A9C5EB8-B1C1-42B7-A7B6-0BDC41AA8C8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AAC25C1-0FCA-4CDA-A229-8EDBEA71241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AE69245-532F-426F-8000-FB8EF9C7E78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3289E1D-E75D-4E3C-8A5A-65C44F0B4DD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3703B26-A83D-4F67-8F21-F498267E07F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70EAF94-4C7D-4074-9062-2213D37613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FE2439-D3D6-472A-AD02-E6F5DBB013D6}"/>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4646EC9-0E99-49FA-A1EF-05B9FB17413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A9D1E5C-A0F7-48FF-A5BC-38BCA423B4A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F22C5D8-8F1E-4596-BC07-04C1A0AE731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D363D9B-97BC-4A82-B92B-CF3E1BA6A37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DA4DD74-B39E-408C-986C-49AA4D517E5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73B34FE-7CC8-4935-A1DF-E9BB2C460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6953928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완료 조건을 요청에 담기">
            <a:extLst xmlns:a="http://schemas.openxmlformats.org/drawingml/2006/main">
              <a:ext uri="{FF2B5EF4-FFF2-40B4-BE49-F238E27FC236}">
                <a16:creationId xmlns:a16="http://schemas.microsoft.com/office/drawing/2014/main" id="{F8D550D5-35FA-43A9-A28A-F1199D8E4D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6">
            <a:extLst xmlns:a="http://schemas.openxmlformats.org/drawingml/2006/main">
              <a:ext uri="{FF2B5EF4-FFF2-40B4-BE49-F238E27FC236}">
                <a16:creationId xmlns:a16="http://schemas.microsoft.com/office/drawing/2014/main" id="{48E676E2-1943-4327-B895-B77D6EE5FF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무엇을 확인해 달라고 요청할까?">
            <a:extLst xmlns:a="http://schemas.openxmlformats.org/drawingml/2006/main">
              <a:ext uri="{FF2B5EF4-FFF2-40B4-BE49-F238E27FC236}">
                <a16:creationId xmlns:a16="http://schemas.microsoft.com/office/drawing/2014/main" id="{B0D5CC6E-C16B-4FD3-8452-0DD901AB05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확인해 달라고 요청할까?</a:t>
            </a:r>
          </a:p>
        </p:txBody>
      </p:sp>
      <p:sp>
        <p:nvSpPr>
          <p:cNvPr id="4" name="">
            <a:extLst xmlns:a="http://schemas.openxmlformats.org/drawingml/2006/main">
              <a:ext uri="{FF2B5EF4-FFF2-40B4-BE49-F238E27FC236}">
                <a16:creationId xmlns:a16="http://schemas.microsoft.com/office/drawing/2014/main" id="{5F75EB83-E0FD-4393-BA5E-6F71E0ECA8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는 Python 검증 기록 · 성능 측정은 수행하지 않음">
            <a:extLst xmlns:a="http://schemas.openxmlformats.org/drawingml/2006/main">
              <a:ext uri="{FF2B5EF4-FFF2-40B4-BE49-F238E27FC236}">
                <a16:creationId xmlns:a16="http://schemas.microsoft.com/office/drawing/2014/main" id="{4B480702-5CE2-49DC-8148-4257DB7020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TRIAL-002는 Python 검증 기록 · 성능 측정은 수행하지 않음</a:t>
            </a:r>
          </a:p>
        </p:txBody>
      </p:sp>
      <p:sp>
        <p:nvSpPr>
          <p:cNvPr id="6" name="M 연계 · M5 / M6">
            <a:extLst xmlns:a="http://schemas.openxmlformats.org/drawingml/2006/main">
              <a:ext uri="{FF2B5EF4-FFF2-40B4-BE49-F238E27FC236}">
                <a16:creationId xmlns:a16="http://schemas.microsoft.com/office/drawing/2014/main" id="{EFF0FC17-F209-4E21-BD3E-B72C505848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요청할 확인">
            <a:extLst xmlns:a="http://schemas.openxmlformats.org/drawingml/2006/main">
              <a:ext uri="{FF2B5EF4-FFF2-40B4-BE49-F238E27FC236}">
                <a16:creationId xmlns:a16="http://schemas.microsoft.com/office/drawing/2014/main" id="{CCFB0299-9798-4678-89E4-AEC1321B1A55}"/>
              </a:ext>
            </a:extLst>
          </p:cNvPr>
          <p:cNvSpPr>
            <a:spLocks xmlns:a="http://schemas.openxmlformats.org/drawingml/2006/main" noGrp="1"/>
          </p:cNvSpPr>
          <p:nvPr/>
        </p:nvSpPr>
        <p:spPr>
          <a:xfrm xmlns:a="http://schemas.openxmlformats.org/drawingml/2006/main">
            <a:off x="762000" y="18669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요청할 확인</a:t>
            </a:r>
          </a:p>
        </p:txBody>
      </p:sp>
      <p:sp>
        <p:nvSpPr>
          <p:cNvPr id="8" name="그 확인으로 알 수 있는 범위">
            <a:extLst xmlns:a="http://schemas.openxmlformats.org/drawingml/2006/main">
              <a:ext uri="{FF2B5EF4-FFF2-40B4-BE49-F238E27FC236}">
                <a16:creationId xmlns:a16="http://schemas.microsoft.com/office/drawing/2014/main" id="{B3529739-9017-4E70-A15B-2392FC44B79D}"/>
              </a:ext>
            </a:extLst>
          </p:cNvPr>
          <p:cNvSpPr>
            <a:spLocks xmlns:a="http://schemas.openxmlformats.org/drawingml/2006/main" noGrp="1"/>
          </p:cNvSpPr>
          <p:nvPr/>
        </p:nvSpPr>
        <p:spPr>
          <a:xfrm xmlns:a="http://schemas.openxmlformats.org/drawingml/2006/main">
            <a:off x="4876800" y="1866900"/>
            <a:ext cx="655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그 확인으로 알 수 있는 범위</a:t>
            </a:r>
          </a:p>
        </p:txBody>
      </p:sp>
      <p:sp>
        <p:nvSpPr>
          <p:cNvPr id="9" name="">
            <a:extLst xmlns:a="http://schemas.openxmlformats.org/drawingml/2006/main">
              <a:ext uri="{FF2B5EF4-FFF2-40B4-BE49-F238E27FC236}">
                <a16:creationId xmlns:a16="http://schemas.microsoft.com/office/drawing/2014/main" id="{20FD95F9-B040-44C3-B9C4-1D214204E737}"/>
              </a:ext>
            </a:extLst>
          </p:cNvPr>
          <p:cNvSpPr>
            <a:spLocks xmlns:a="http://schemas.openxmlformats.org/drawingml/2006/main" noGrp="1"/>
          </p:cNvSpPr>
          <p:nvPr/>
        </p:nvSpPr>
        <p:spPr>
          <a:xfrm xmlns:a="http://schemas.openxmlformats.org/drawingml/2006/main">
            <a:off x="762000" y="23717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동작 테스트">
            <a:extLst xmlns:a="http://schemas.openxmlformats.org/drawingml/2006/main">
              <a:ext uri="{FF2B5EF4-FFF2-40B4-BE49-F238E27FC236}">
                <a16:creationId xmlns:a16="http://schemas.microsoft.com/office/drawing/2014/main" id="{AC7D0B95-9207-4654-B672-AFFA598F5C56}"/>
              </a:ext>
            </a:extLst>
          </p:cNvPr>
          <p:cNvSpPr>
            <a:spLocks xmlns:a="http://schemas.openxmlformats.org/drawingml/2006/main" noGrp="1"/>
          </p:cNvSpPr>
          <p:nvPr/>
        </p:nvSpPr>
        <p:spPr>
          <a:xfrm xmlns:a="http://schemas.openxmlformats.org/drawingml/2006/main">
            <a:off x="762000" y="24479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관련 동작 테스트</a:t>
            </a:r>
          </a:p>
        </p:txBody>
      </p:sp>
      <p:sp>
        <p:nvSpPr>
          <p:cNvPr id="11" name="바뀐 동작의 해당 입력·조건">
            <a:extLst xmlns:a="http://schemas.openxmlformats.org/drawingml/2006/main">
              <a:ext uri="{FF2B5EF4-FFF2-40B4-BE49-F238E27FC236}">
                <a16:creationId xmlns:a16="http://schemas.microsoft.com/office/drawing/2014/main" id="{A2F65C20-A7C1-4C15-91FA-02F6F00F1837}"/>
              </a:ext>
            </a:extLst>
          </p:cNvPr>
          <p:cNvSpPr>
            <a:spLocks xmlns:a="http://schemas.openxmlformats.org/drawingml/2006/main" noGrp="1"/>
          </p:cNvSpPr>
          <p:nvPr/>
        </p:nvSpPr>
        <p:spPr>
          <a:xfrm xmlns:a="http://schemas.openxmlformats.org/drawingml/2006/main">
            <a:off x="4876800" y="244792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바뀐 동작의 해당 입력·조건</a:t>
            </a:r>
          </a:p>
        </p:txBody>
      </p:sp>
      <p:sp>
        <p:nvSpPr>
          <p:cNvPr id="12" name="">
            <a:extLst xmlns:a="http://schemas.openxmlformats.org/drawingml/2006/main">
              <a:ext uri="{FF2B5EF4-FFF2-40B4-BE49-F238E27FC236}">
                <a16:creationId xmlns:a16="http://schemas.microsoft.com/office/drawing/2014/main" id="{0FD976AD-FCD2-4B49-A48A-E21D34DCEB07}"/>
              </a:ext>
            </a:extLst>
          </p:cNvPr>
          <p:cNvSpPr>
            <a:spLocks xmlns:a="http://schemas.openxmlformats.org/drawingml/2006/main" noGrp="1"/>
          </p:cNvSpPr>
          <p:nvPr/>
        </p:nvSpPr>
        <p:spPr>
          <a:xfrm xmlns:a="http://schemas.openxmlformats.org/drawingml/2006/main">
            <a:off x="762000" y="295275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전체 테스트">
            <a:extLst xmlns:a="http://schemas.openxmlformats.org/drawingml/2006/main">
              <a:ext uri="{FF2B5EF4-FFF2-40B4-BE49-F238E27FC236}">
                <a16:creationId xmlns:a16="http://schemas.microsoft.com/office/drawing/2014/main" id="{EEF3396F-EDC5-4166-B9DC-AD8CB9445ED1}"/>
              </a:ext>
            </a:extLst>
          </p:cNvPr>
          <p:cNvSpPr>
            <a:spLocks xmlns:a="http://schemas.openxmlformats.org/drawingml/2006/main" noGrp="1"/>
          </p:cNvSpPr>
          <p:nvPr/>
        </p:nvSpPr>
        <p:spPr>
          <a:xfrm xmlns:a="http://schemas.openxmlformats.org/drawingml/2006/main">
            <a:off x="762000" y="3028950"/>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프로젝트 전체 테스트</a:t>
            </a:r>
          </a:p>
        </p:txBody>
      </p:sp>
      <p:sp>
        <p:nvSpPr>
          <p:cNvPr id="14" name="현재 테스트가 다루는 회귀 범위">
            <a:extLst xmlns:a="http://schemas.openxmlformats.org/drawingml/2006/main">
              <a:ext uri="{FF2B5EF4-FFF2-40B4-BE49-F238E27FC236}">
                <a16:creationId xmlns:a16="http://schemas.microsoft.com/office/drawing/2014/main" id="{F0E34D62-32FD-4CEA-A6DE-3D641A2DBBE7}"/>
              </a:ext>
            </a:extLst>
          </p:cNvPr>
          <p:cNvSpPr>
            <a:spLocks xmlns:a="http://schemas.openxmlformats.org/drawingml/2006/main" noGrp="1"/>
          </p:cNvSpPr>
          <p:nvPr/>
        </p:nvSpPr>
        <p:spPr>
          <a:xfrm xmlns:a="http://schemas.openxmlformats.org/drawingml/2006/main">
            <a:off x="4876800" y="3028950"/>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현재 테스트가 다루는 회귀 범위</a:t>
            </a:r>
          </a:p>
        </p:txBody>
      </p:sp>
      <p:sp>
        <p:nvSpPr>
          <p:cNvPr id="15" name="">
            <a:extLst xmlns:a="http://schemas.openxmlformats.org/drawingml/2006/main">
              <a:ext uri="{FF2B5EF4-FFF2-40B4-BE49-F238E27FC236}">
                <a16:creationId xmlns:a16="http://schemas.microsoft.com/office/drawing/2014/main" id="{31DE6FAE-38ED-4DD9-818C-AB91466F1019}"/>
              </a:ext>
            </a:extLst>
          </p:cNvPr>
          <p:cNvSpPr>
            <a:spLocks xmlns:a="http://schemas.openxmlformats.org/drawingml/2006/main" noGrp="1"/>
          </p:cNvSpPr>
          <p:nvPr/>
        </p:nvSpPr>
        <p:spPr>
          <a:xfrm xmlns:a="http://schemas.openxmlformats.org/drawingml/2006/main">
            <a:off x="762000" y="353377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BA55C306-9A8C-4C3A-A536-A11127F08738}"/>
              </a:ext>
            </a:extLst>
          </p:cNvPr>
          <p:cNvSpPr>
            <a:spLocks xmlns:a="http://schemas.openxmlformats.org/drawingml/2006/main" noGrp="1"/>
          </p:cNvSpPr>
          <p:nvPr/>
        </p:nvSpPr>
        <p:spPr>
          <a:xfrm xmlns:a="http://schemas.openxmlformats.org/drawingml/2006/main">
            <a:off x="762000" y="360997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샘플 실행</a:t>
            </a:r>
          </a:p>
        </p:txBody>
      </p:sp>
      <p:sp>
        <p:nvSpPr>
          <p:cNvPr id="17" name="그 샘플의 통합 실행 경로">
            <a:extLst xmlns:a="http://schemas.openxmlformats.org/drawingml/2006/main">
              <a:ext uri="{FF2B5EF4-FFF2-40B4-BE49-F238E27FC236}">
                <a16:creationId xmlns:a16="http://schemas.microsoft.com/office/drawing/2014/main" id="{D360897C-330F-4F6D-9366-2CFB689CD32D}"/>
              </a:ext>
            </a:extLst>
          </p:cNvPr>
          <p:cNvSpPr>
            <a:spLocks xmlns:a="http://schemas.openxmlformats.org/drawingml/2006/main" noGrp="1"/>
          </p:cNvSpPr>
          <p:nvPr/>
        </p:nvSpPr>
        <p:spPr>
          <a:xfrm xmlns:a="http://schemas.openxmlformats.org/drawingml/2006/main">
            <a:off x="4876800" y="360997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그 샘플의 통합 실행 경로</a:t>
            </a:r>
          </a:p>
        </p:txBody>
      </p:sp>
      <p:sp>
        <p:nvSpPr>
          <p:cNvPr id="18" name="">
            <a:extLst xmlns:a="http://schemas.openxmlformats.org/drawingml/2006/main">
              <a:ext uri="{FF2B5EF4-FFF2-40B4-BE49-F238E27FC236}">
                <a16:creationId xmlns:a16="http://schemas.microsoft.com/office/drawing/2014/main" id="{B78BFFB0-BA0D-49FF-A093-9DAD473EEF4F}"/>
              </a:ext>
            </a:extLst>
          </p:cNvPr>
          <p:cNvSpPr>
            <a:spLocks xmlns:a="http://schemas.openxmlformats.org/drawingml/2006/main" noGrp="1"/>
          </p:cNvSpPr>
          <p:nvPr/>
        </p:nvSpPr>
        <p:spPr>
          <a:xfrm xmlns:a="http://schemas.openxmlformats.org/drawingml/2006/main">
            <a:off x="762000" y="411480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84DE09-1BC8-4D17-AA04-B7BF29F7B75B}"/>
              </a:ext>
            </a:extLst>
          </p:cNvPr>
          <p:cNvSpPr>
            <a:spLocks xmlns:a="http://schemas.openxmlformats.org/drawingml/2006/main" noGrp="1"/>
          </p:cNvSpPr>
          <p:nvPr/>
        </p:nvSpPr>
        <p:spPr>
          <a:xfrm xmlns:a="http://schemas.openxmlformats.org/drawingml/2006/main">
            <a:off x="762000" y="4191000"/>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내용 확인</a:t>
            </a:r>
          </a:p>
        </p:txBody>
      </p:sp>
      <p:sp>
        <p:nvSpPr>
          <p:cNvPr id="20" name="수정 범위와 의도치 않은 변경">
            <a:extLst xmlns:a="http://schemas.openxmlformats.org/drawingml/2006/main">
              <a:ext uri="{FF2B5EF4-FFF2-40B4-BE49-F238E27FC236}">
                <a16:creationId xmlns:a16="http://schemas.microsoft.com/office/drawing/2014/main" id="{5A4B711F-897E-4A43-AE04-72464BC1EB53}"/>
              </a:ext>
            </a:extLst>
          </p:cNvPr>
          <p:cNvSpPr>
            <a:spLocks xmlns:a="http://schemas.openxmlformats.org/drawingml/2006/main" noGrp="1"/>
          </p:cNvSpPr>
          <p:nvPr/>
        </p:nvSpPr>
        <p:spPr>
          <a:xfrm xmlns:a="http://schemas.openxmlformats.org/drawingml/2006/main">
            <a:off x="4876800" y="4191000"/>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수정 범위와 의도치 않은 변경</a:t>
            </a:r>
          </a:p>
        </p:txBody>
      </p:sp>
      <p:sp>
        <p:nvSpPr>
          <p:cNvPr id="21" name="">
            <a:extLst xmlns:a="http://schemas.openxmlformats.org/drawingml/2006/main">
              <a:ext uri="{FF2B5EF4-FFF2-40B4-BE49-F238E27FC236}">
                <a16:creationId xmlns:a16="http://schemas.microsoft.com/office/drawing/2014/main" id="{23150A3B-8789-43AD-8A9D-4B482D4EBBF3}"/>
              </a:ext>
            </a:extLst>
          </p:cNvPr>
          <p:cNvSpPr>
            <a:spLocks xmlns:a="http://schemas.openxmlformats.org/drawingml/2006/main" noGrp="1"/>
          </p:cNvSpPr>
          <p:nvPr/>
        </p:nvSpPr>
        <p:spPr>
          <a:xfrm xmlns:a="http://schemas.openxmlformats.org/drawingml/2006/main">
            <a:off x="762000" y="46958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F4C01624-4F58-421A-A089-B0976B9C95EF}"/>
              </a:ext>
            </a:extLst>
          </p:cNvPr>
          <p:cNvSpPr>
            <a:spLocks xmlns:a="http://schemas.openxmlformats.org/drawingml/2006/main" noGrp="1"/>
          </p:cNvSpPr>
          <p:nvPr/>
        </p:nvSpPr>
        <p:spPr>
          <a:xfrm xmlns:a="http://schemas.openxmlformats.org/drawingml/2006/main">
            <a:off x="762000" y="47720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12337203-58B2-4C48-8EF2-D84732387A83}"/>
              </a:ext>
            </a:extLst>
          </p:cNvPr>
          <p:cNvSpPr>
            <a:spLocks xmlns:a="http://schemas.openxmlformats.org/drawingml/2006/main" noGrp="1"/>
          </p:cNvSpPr>
          <p:nvPr/>
        </p:nvSpPr>
        <p:spPr>
          <a:xfrm xmlns:a="http://schemas.openxmlformats.org/drawingml/2006/main">
            <a:off x="4876800" y="477202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측정한 입력·환경에서의 성능</a:t>
            </a:r>
          </a:p>
        </p:txBody>
      </p:sp>
    </p:spTree>
    <p:extLst>
      <p:ext uri="{BB962C8B-B14F-4D97-AF65-F5344CB8AC3E}">
        <p14:creationId xmlns:p14="http://schemas.microsoft.com/office/powerpoint/2010/main" val="187872294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완료 조건을 요청에 담기">
            <a:extLst xmlns:a="http://schemas.openxmlformats.org/drawingml/2006/main">
              <a:ext uri="{FF2B5EF4-FFF2-40B4-BE49-F238E27FC236}">
                <a16:creationId xmlns:a16="http://schemas.microsoft.com/office/drawing/2014/main" id="{9F84E703-0474-4A5A-A94C-0A4449B5F3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7">
            <a:extLst xmlns:a="http://schemas.openxmlformats.org/drawingml/2006/main">
              <a:ext uri="{FF2B5EF4-FFF2-40B4-BE49-F238E27FC236}">
                <a16:creationId xmlns:a16="http://schemas.microsoft.com/office/drawing/2014/main" id="{F37A8C0C-F68F-40E6-9A15-44309232C9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비어 있지 않으면 올바른 결과일까?">
            <a:extLst xmlns:a="http://schemas.openxmlformats.org/drawingml/2006/main">
              <a:ext uri="{FF2B5EF4-FFF2-40B4-BE49-F238E27FC236}">
                <a16:creationId xmlns:a16="http://schemas.microsoft.com/office/drawing/2014/main" id="{AA585562-0B04-4C36-8FF1-475690C8F6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비어 있지 않으면 올바른 결과일까?</a:t>
            </a:r>
          </a:p>
        </p:txBody>
      </p:sp>
      <p:sp>
        <p:nvSpPr>
          <p:cNvPr id="4" name="">
            <a:extLst xmlns:a="http://schemas.openxmlformats.org/drawingml/2006/main">
              <a:ext uri="{FF2B5EF4-FFF2-40B4-BE49-F238E27FC236}">
                <a16:creationId xmlns:a16="http://schemas.microsoft.com/office/drawing/2014/main" id="{0E3A450F-41F3-4C31-AA92-896C4ED42B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교육용 반례 · 실제 Trial의 assertion이나 실행 결과가 아님">
            <a:extLst xmlns:a="http://schemas.openxmlformats.org/drawingml/2006/main">
              <a:ext uri="{FF2B5EF4-FFF2-40B4-BE49-F238E27FC236}">
                <a16:creationId xmlns:a16="http://schemas.microsoft.com/office/drawing/2014/main" id="{23CA58DD-AAE0-4063-B79C-A424C715EA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 교육용 반례 · 실제 Trial의 assertion이나 실행 결과가 아님</a:t>
            </a:r>
          </a:p>
        </p:txBody>
      </p:sp>
      <p:sp>
        <p:nvSpPr>
          <p:cNvPr id="6" name="M 연계 · M5 / M6">
            <a:extLst xmlns:a="http://schemas.openxmlformats.org/drawingml/2006/main">
              <a:ext uri="{FF2B5EF4-FFF2-40B4-BE49-F238E27FC236}">
                <a16:creationId xmlns:a16="http://schemas.microsoft.com/office/drawing/2014/main" id="{4D757D37-0CC5-4DE8-B8D6-E8CFB6D84E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입력 {1, 2, 3, 4}에서 crop [1, 3)">
            <a:extLst xmlns:a="http://schemas.openxmlformats.org/drawingml/2006/main">
              <a:ext uri="{FF2B5EF4-FFF2-40B4-BE49-F238E27FC236}">
                <a16:creationId xmlns:a16="http://schemas.microsoft.com/office/drawing/2014/main" id="{7FCF7C9D-5C31-486F-B914-78449E72798B}"/>
              </a:ext>
            </a:extLst>
          </p:cNvPr>
          <p:cNvSpPr>
            <a:spLocks xmlns:a="http://schemas.openxmlformats.org/drawingml/2006/main" noGrp="1"/>
          </p:cNvSpPr>
          <p:nvPr/>
        </p:nvSpPr>
        <p:spPr>
          <a:xfrm xmlns:a="http://schemas.openxmlformats.org/drawingml/2006/main">
            <a:off x="609600" y="1790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Consolas"/>
                <a:ea typeface="Consolas"/>
                <a:cs typeface="Consolas"/>
              </a:defRPr>
            </a:defPPr>
            <a:lvl1pPr algn="l">
              <a:defRPr sz="2325" b="0">
                <a:solidFill>
                  <a:srgbClr val="4D5A68"/>
                </a:solidFill>
                <a:latin typeface="Consolas"/>
                <a:ea typeface="Consolas"/>
                <a:cs typeface="Consolas"/>
              </a:defRPr>
            </a:lvl1pPr>
            <a:lvl2pPr algn="l">
              <a:defRPr sz="2325" b="0">
                <a:solidFill>
                  <a:srgbClr val="4D5A68"/>
                </a:solidFill>
                <a:latin typeface="Consolas"/>
                <a:ea typeface="Consolas"/>
                <a:cs typeface="Consolas"/>
              </a:defRPr>
            </a:lvl2pPr>
            <a:lvl3pPr algn="l">
              <a:defRPr sz="2325" b="0">
                <a:solidFill>
                  <a:srgbClr val="4D5A68"/>
                </a:solidFill>
                <a:latin typeface="Consolas"/>
                <a:ea typeface="Consolas"/>
                <a:cs typeface="Consolas"/>
              </a:defRPr>
            </a:lvl3pPr>
            <a:lvl4pPr algn="l">
              <a:defRPr sz="2325" b="0">
                <a:solidFill>
                  <a:srgbClr val="4D5A68"/>
                </a:solidFill>
                <a:latin typeface="Consolas"/>
                <a:ea typeface="Consolas"/>
                <a:cs typeface="Consolas"/>
              </a:defRPr>
            </a:lvl4pPr>
            <a:lvl5pPr algn="l">
              <a:defRPr sz="2325" b="0">
                <a:solidFill>
                  <a:srgbClr val="4D5A68"/>
                </a:solidFill>
                <a:latin typeface="Consolas"/>
                <a:ea typeface="Consolas"/>
                <a:cs typeface="Consolas"/>
              </a:defRPr>
            </a:lvl5pPr>
            <a:lvl6pPr algn="l">
              <a:defRPr sz="2325" b="0">
                <a:solidFill>
                  <a:srgbClr val="4D5A68"/>
                </a:solidFill>
                <a:latin typeface="Consolas"/>
                <a:ea typeface="Consolas"/>
                <a:cs typeface="Consolas"/>
              </a:defRPr>
            </a:lvl6pPr>
            <a:lvl7pPr algn="l">
              <a:defRPr sz="2325" b="0">
                <a:solidFill>
                  <a:srgbClr val="4D5A68"/>
                </a:solidFill>
                <a:latin typeface="Consolas"/>
                <a:ea typeface="Consolas"/>
                <a:cs typeface="Consolas"/>
              </a:defRPr>
            </a:lvl7pPr>
            <a:lvl8pPr algn="l">
              <a:defRPr sz="2325" b="0">
                <a:solidFill>
                  <a:srgbClr val="4D5A68"/>
                </a:solidFill>
                <a:latin typeface="Consolas"/>
                <a:ea typeface="Consolas"/>
                <a:cs typeface="Consolas"/>
              </a:defRPr>
            </a:lvl8pPr>
            <a:lvl9pPr algn="l">
              <a:defRPr sz="2325" b="0">
                <a:solidFill>
                  <a:srgbClr val="4D5A68"/>
                </a:solidFill>
                <a:latin typeface="Consolas"/>
                <a:ea typeface="Consolas"/>
                <a:cs typeface="Consolas"/>
              </a:defRPr>
            </a:lvl9pPr>
          </a:lstStyle>
          <a:p xmlns:a="http://schemas.openxmlformats.org/drawingml/2006/main">
            <a:pPr algn="l">
              <a:defRPr sz="2325" b="0">
                <a:solidFill>
                  <a:srgbClr val="4D5A68"/>
                </a:solidFill>
                <a:latin typeface="Consolas"/>
                <a:ea typeface="Consolas"/>
                <a:cs typeface="Consolas"/>
              </a:defRPr>
            </a:pPr>
            <a:r>
              <a:rPr sz="2325" b="0">
                <a:solidFill>
                  <a:srgbClr val="4D5A68"/>
                </a:solidFill>
                <a:latin typeface="Consolas"/>
                <a:ea typeface="Consolas"/>
                <a:cs typeface="Consolas"/>
              </a:rPr>
              <a:t>입력 {1, 2, 3, 4}에서 crop [1, 3)</a:t>
            </a:r>
          </a:p>
        </p:txBody>
      </p:sp>
      <p:sp>
        <p:nvSpPr>
          <p:cNvPr id="8" name="명세의 기대 결과">
            <a:extLst xmlns:a="http://schemas.openxmlformats.org/drawingml/2006/main">
              <a:ext uri="{FF2B5EF4-FFF2-40B4-BE49-F238E27FC236}">
                <a16:creationId xmlns:a16="http://schemas.microsoft.com/office/drawing/2014/main" id="{5C405560-C36E-4145-9C06-8D80158BBCE5}"/>
              </a:ext>
            </a:extLst>
          </p:cNvPr>
          <p:cNvSpPr>
            <a:spLocks xmlns:a="http://schemas.openxmlformats.org/drawingml/2006/main" noGrp="1"/>
          </p:cNvSpPr>
          <p:nvPr/>
        </p:nvSpPr>
        <p:spPr>
          <a:xfrm xmlns:a="http://schemas.openxmlformats.org/drawingml/2006/main">
            <a:off x="762000" y="2552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명세의 기대 결과</a:t>
            </a:r>
          </a:p>
        </p:txBody>
      </p:sp>
      <p:sp>
        <p:nvSpPr>
          <p:cNvPr id="9" name="">
            <a:extLst xmlns:a="http://schemas.openxmlformats.org/drawingml/2006/main">
              <a:ext uri="{FF2B5EF4-FFF2-40B4-BE49-F238E27FC236}">
                <a16:creationId xmlns:a16="http://schemas.microsoft.com/office/drawing/2014/main" id="{628F590F-451F-4D51-B579-DF26A3B8F879}"/>
              </a:ext>
            </a:extLst>
          </p:cNvPr>
          <p:cNvSpPr>
            <a:spLocks xmlns:a="http://schemas.openxmlformats.org/drawingml/2006/main" noGrp="1"/>
          </p:cNvSpPr>
          <p:nvPr/>
        </p:nvSpPr>
        <p:spPr>
          <a:xfrm xmlns:a="http://schemas.openxmlformats.org/drawingml/2006/main">
            <a:off x="7620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0" name="2">
            <a:extLst xmlns:a="http://schemas.openxmlformats.org/drawingml/2006/main">
              <a:ext uri="{FF2B5EF4-FFF2-40B4-BE49-F238E27FC236}">
                <a16:creationId xmlns:a16="http://schemas.microsoft.com/office/drawing/2014/main" id="{348B7144-76CC-4082-AB95-3D5E341B43B1}"/>
              </a:ext>
            </a:extLst>
          </p:cNvPr>
          <p:cNvSpPr>
            <a:spLocks xmlns:a="http://schemas.openxmlformats.org/drawingml/2006/main" noGrp="1"/>
          </p:cNvSpPr>
          <p:nvPr/>
        </p:nvSpPr>
        <p:spPr>
          <a:xfrm xmlns:a="http://schemas.openxmlformats.org/drawingml/2006/main">
            <a:off x="7620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2</a:t>
            </a:r>
          </a:p>
        </p:txBody>
      </p:sp>
      <p:sp>
        <p:nvSpPr>
          <p:cNvPr id="11" name="">
            <a:extLst xmlns:a="http://schemas.openxmlformats.org/drawingml/2006/main">
              <a:ext uri="{FF2B5EF4-FFF2-40B4-BE49-F238E27FC236}">
                <a16:creationId xmlns:a16="http://schemas.microsoft.com/office/drawing/2014/main" id="{D6961BDB-130B-4C5F-AC49-8A9B3B80E795}"/>
              </a:ext>
            </a:extLst>
          </p:cNvPr>
          <p:cNvSpPr>
            <a:spLocks xmlns:a="http://schemas.openxmlformats.org/drawingml/2006/main" noGrp="1"/>
          </p:cNvSpPr>
          <p:nvPr/>
        </p:nvSpPr>
        <p:spPr>
          <a:xfrm xmlns:a="http://schemas.openxmlformats.org/drawingml/2006/main">
            <a:off x="17145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3">
            <a:extLst xmlns:a="http://schemas.openxmlformats.org/drawingml/2006/main">
              <a:ext uri="{FF2B5EF4-FFF2-40B4-BE49-F238E27FC236}">
                <a16:creationId xmlns:a16="http://schemas.microsoft.com/office/drawing/2014/main" id="{38A6D9EC-3673-4BD7-BD01-446475BAB42F}"/>
              </a:ext>
            </a:extLst>
          </p:cNvPr>
          <p:cNvSpPr>
            <a:spLocks xmlns:a="http://schemas.openxmlformats.org/drawingml/2006/main" noGrp="1"/>
          </p:cNvSpPr>
          <p:nvPr/>
        </p:nvSpPr>
        <p:spPr>
          <a:xfrm xmlns:a="http://schemas.openxmlformats.org/drawingml/2006/main">
            <a:off x="17145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3</a:t>
            </a:r>
          </a:p>
        </p:txBody>
      </p:sp>
      <p:sp>
        <p:nvSpPr>
          <p:cNvPr id="13" name="2개">
            <a:extLst xmlns:a="http://schemas.openxmlformats.org/drawingml/2006/main">
              <a:ext uri="{FF2B5EF4-FFF2-40B4-BE49-F238E27FC236}">
                <a16:creationId xmlns:a16="http://schemas.microsoft.com/office/drawing/2014/main" id="{455F6586-916D-4C41-A133-5CC25A61286B}"/>
              </a:ext>
            </a:extLst>
          </p:cNvPr>
          <p:cNvSpPr>
            <a:spLocks xmlns:a="http://schemas.openxmlformats.org/drawingml/2006/main" noGrp="1"/>
          </p:cNvSpPr>
          <p:nvPr/>
        </p:nvSpPr>
        <p:spPr>
          <a:xfrm xmlns:a="http://schemas.openxmlformats.org/drawingml/2006/main">
            <a:off x="3943350" y="3248025"/>
            <a:ext cx="1714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2개</a:t>
            </a:r>
          </a:p>
        </p:txBody>
      </p:sp>
      <p:sp>
        <p:nvSpPr>
          <p:cNvPr id="14" name="명세를 어긴 결과">
            <a:extLst xmlns:a="http://schemas.openxmlformats.org/drawingml/2006/main">
              <a:ext uri="{FF2B5EF4-FFF2-40B4-BE49-F238E27FC236}">
                <a16:creationId xmlns:a16="http://schemas.microsoft.com/office/drawing/2014/main" id="{889E7E03-B26B-4AA2-A4B5-AA40D38BEE05}"/>
              </a:ext>
            </a:extLst>
          </p:cNvPr>
          <p:cNvSpPr>
            <a:spLocks xmlns:a="http://schemas.openxmlformats.org/drawingml/2006/main" noGrp="1"/>
          </p:cNvSpPr>
          <p:nvPr/>
        </p:nvSpPr>
        <p:spPr>
          <a:xfrm xmlns:a="http://schemas.openxmlformats.org/drawingml/2006/main">
            <a:off x="6553200" y="2552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B42318"/>
                </a:solidFill>
                <a:latin typeface="Malgun Gothic"/>
                <a:ea typeface="Malgun Gothic"/>
                <a:cs typeface="Malgun Gothic"/>
              </a:defRPr>
            </a:defPPr>
            <a:lvl1pPr algn="l">
              <a:defRPr sz="2400" b="1">
                <a:solidFill>
                  <a:srgbClr val="B42318"/>
                </a:solidFill>
                <a:latin typeface="Malgun Gothic"/>
                <a:ea typeface="Malgun Gothic"/>
                <a:cs typeface="Malgun Gothic"/>
              </a:defRPr>
            </a:lvl1pPr>
            <a:lvl2pPr algn="l">
              <a:defRPr sz="2400" b="1">
                <a:solidFill>
                  <a:srgbClr val="B42318"/>
                </a:solidFill>
                <a:latin typeface="Malgun Gothic"/>
                <a:ea typeface="Malgun Gothic"/>
                <a:cs typeface="Malgun Gothic"/>
              </a:defRPr>
            </a:lvl2pPr>
            <a:lvl3pPr algn="l">
              <a:defRPr sz="2400" b="1">
                <a:solidFill>
                  <a:srgbClr val="B42318"/>
                </a:solidFill>
                <a:latin typeface="Malgun Gothic"/>
                <a:ea typeface="Malgun Gothic"/>
                <a:cs typeface="Malgun Gothic"/>
              </a:defRPr>
            </a:lvl3pPr>
            <a:lvl4pPr algn="l">
              <a:defRPr sz="2400" b="1">
                <a:solidFill>
                  <a:srgbClr val="B42318"/>
                </a:solidFill>
                <a:latin typeface="Malgun Gothic"/>
                <a:ea typeface="Malgun Gothic"/>
                <a:cs typeface="Malgun Gothic"/>
              </a:defRPr>
            </a:lvl4pPr>
            <a:lvl5pPr algn="l">
              <a:defRPr sz="2400" b="1">
                <a:solidFill>
                  <a:srgbClr val="B42318"/>
                </a:solidFill>
                <a:latin typeface="Malgun Gothic"/>
                <a:ea typeface="Malgun Gothic"/>
                <a:cs typeface="Malgun Gothic"/>
              </a:defRPr>
            </a:lvl5pPr>
            <a:lvl6pPr algn="l">
              <a:defRPr sz="2400" b="1">
                <a:solidFill>
                  <a:srgbClr val="B42318"/>
                </a:solidFill>
                <a:latin typeface="Malgun Gothic"/>
                <a:ea typeface="Malgun Gothic"/>
                <a:cs typeface="Malgun Gothic"/>
              </a:defRPr>
            </a:lvl6pPr>
            <a:lvl7pPr algn="l">
              <a:defRPr sz="2400" b="1">
                <a:solidFill>
                  <a:srgbClr val="B42318"/>
                </a:solidFill>
                <a:latin typeface="Malgun Gothic"/>
                <a:ea typeface="Malgun Gothic"/>
                <a:cs typeface="Malgun Gothic"/>
              </a:defRPr>
            </a:lvl7pPr>
            <a:lvl8pPr algn="l">
              <a:defRPr sz="2400" b="1">
                <a:solidFill>
                  <a:srgbClr val="B42318"/>
                </a:solidFill>
                <a:latin typeface="Malgun Gothic"/>
                <a:ea typeface="Malgun Gothic"/>
                <a:cs typeface="Malgun Gothic"/>
              </a:defRPr>
            </a:lvl8pPr>
            <a:lvl9pPr algn="l">
              <a:defRPr sz="2400" b="1">
                <a:solidFill>
                  <a:srgbClr val="B42318"/>
                </a:solidFill>
                <a:latin typeface="Malgun Gothic"/>
                <a:ea typeface="Malgun Gothic"/>
                <a:cs typeface="Malgun Gothic"/>
              </a:defRPr>
            </a:lvl9pPr>
          </a:lstStyle>
          <a:p xmlns:a="http://schemas.openxmlformats.org/drawingml/2006/main">
            <a:pPr algn="l">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명세를 어긴 결과</a:t>
            </a:r>
          </a:p>
        </p:txBody>
      </p:sp>
      <p:sp>
        <p:nvSpPr>
          <p:cNvPr id="15" name="">
            <a:extLst xmlns:a="http://schemas.openxmlformats.org/drawingml/2006/main">
              <a:ext uri="{FF2B5EF4-FFF2-40B4-BE49-F238E27FC236}">
                <a16:creationId xmlns:a16="http://schemas.microsoft.com/office/drawing/2014/main" id="{23CFB00E-6BAC-4F4D-811C-0F32AFCD818E}"/>
              </a:ext>
            </a:extLst>
          </p:cNvPr>
          <p:cNvSpPr>
            <a:spLocks xmlns:a="http://schemas.openxmlformats.org/drawingml/2006/main" noGrp="1"/>
          </p:cNvSpPr>
          <p:nvPr/>
        </p:nvSpPr>
        <p:spPr>
          <a:xfrm xmlns:a="http://schemas.openxmlformats.org/drawingml/2006/main">
            <a:off x="65532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2">
            <a:extLst xmlns:a="http://schemas.openxmlformats.org/drawingml/2006/main">
              <a:ext uri="{FF2B5EF4-FFF2-40B4-BE49-F238E27FC236}">
                <a16:creationId xmlns:a16="http://schemas.microsoft.com/office/drawing/2014/main" id="{07B5152E-CA17-4B43-AE5F-478C5A559668}"/>
              </a:ext>
            </a:extLst>
          </p:cNvPr>
          <p:cNvSpPr>
            <a:spLocks xmlns:a="http://schemas.openxmlformats.org/drawingml/2006/main" noGrp="1"/>
          </p:cNvSpPr>
          <p:nvPr/>
        </p:nvSpPr>
        <p:spPr>
          <a:xfrm xmlns:a="http://schemas.openxmlformats.org/drawingml/2006/main">
            <a:off x="65532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2</a:t>
            </a:r>
          </a:p>
        </p:txBody>
      </p:sp>
      <p:sp>
        <p:nvSpPr>
          <p:cNvPr id="17" name="">
            <a:extLst xmlns:a="http://schemas.openxmlformats.org/drawingml/2006/main">
              <a:ext uri="{FF2B5EF4-FFF2-40B4-BE49-F238E27FC236}">
                <a16:creationId xmlns:a16="http://schemas.microsoft.com/office/drawing/2014/main" id="{36CB4A21-5895-418D-AB3F-3DA277173A97}"/>
              </a:ext>
            </a:extLst>
          </p:cNvPr>
          <p:cNvSpPr>
            <a:spLocks xmlns:a="http://schemas.openxmlformats.org/drawingml/2006/main" noGrp="1"/>
          </p:cNvSpPr>
          <p:nvPr/>
        </p:nvSpPr>
        <p:spPr>
          <a:xfrm xmlns:a="http://schemas.openxmlformats.org/drawingml/2006/main">
            <a:off x="75057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8" name="3">
            <a:extLst xmlns:a="http://schemas.openxmlformats.org/drawingml/2006/main">
              <a:ext uri="{FF2B5EF4-FFF2-40B4-BE49-F238E27FC236}">
                <a16:creationId xmlns:a16="http://schemas.microsoft.com/office/drawing/2014/main" id="{C27D24EC-7971-4ED9-BBE5-7D376C89C0E2}"/>
              </a:ext>
            </a:extLst>
          </p:cNvPr>
          <p:cNvSpPr>
            <a:spLocks xmlns:a="http://schemas.openxmlformats.org/drawingml/2006/main" noGrp="1"/>
          </p:cNvSpPr>
          <p:nvPr/>
        </p:nvSpPr>
        <p:spPr>
          <a:xfrm xmlns:a="http://schemas.openxmlformats.org/drawingml/2006/main">
            <a:off x="75057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3</a:t>
            </a:r>
          </a:p>
        </p:txBody>
      </p:sp>
      <p:sp>
        <p:nvSpPr>
          <p:cNvPr id="19" name="">
            <a:extLst xmlns:a="http://schemas.openxmlformats.org/drawingml/2006/main">
              <a:ext uri="{FF2B5EF4-FFF2-40B4-BE49-F238E27FC236}">
                <a16:creationId xmlns:a16="http://schemas.microsoft.com/office/drawing/2014/main" id="{8442777C-AC33-456A-8C7B-26BA86734524}"/>
              </a:ext>
            </a:extLst>
          </p:cNvPr>
          <p:cNvSpPr>
            <a:spLocks xmlns:a="http://schemas.openxmlformats.org/drawingml/2006/main" noGrp="1"/>
          </p:cNvSpPr>
          <p:nvPr/>
        </p:nvSpPr>
        <p:spPr>
          <a:xfrm xmlns:a="http://schemas.openxmlformats.org/drawingml/2006/main">
            <a:off x="8458200" y="3105150"/>
            <a:ext cx="838200" cy="7810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20" name="4">
            <a:extLst xmlns:a="http://schemas.openxmlformats.org/drawingml/2006/main">
              <a:ext uri="{FF2B5EF4-FFF2-40B4-BE49-F238E27FC236}">
                <a16:creationId xmlns:a16="http://schemas.microsoft.com/office/drawing/2014/main" id="{EAA8F91D-A589-4594-B73E-299CB222DD56}"/>
              </a:ext>
            </a:extLst>
          </p:cNvPr>
          <p:cNvSpPr>
            <a:spLocks xmlns:a="http://schemas.openxmlformats.org/drawingml/2006/main" noGrp="1"/>
          </p:cNvSpPr>
          <p:nvPr/>
        </p:nvSpPr>
        <p:spPr>
          <a:xfrm xmlns:a="http://schemas.openxmlformats.org/drawingml/2006/main">
            <a:off x="84582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B42318"/>
                </a:solidFill>
                <a:latin typeface="Consolas"/>
                <a:ea typeface="Consolas"/>
                <a:cs typeface="Consolas"/>
              </a:defRPr>
            </a:defPPr>
            <a:lvl1pPr algn="ctr">
              <a:defRPr sz="3825" b="1">
                <a:solidFill>
                  <a:srgbClr val="B42318"/>
                </a:solidFill>
                <a:latin typeface="Consolas"/>
                <a:ea typeface="Consolas"/>
                <a:cs typeface="Consolas"/>
              </a:defRPr>
            </a:lvl1pPr>
            <a:lvl2pPr algn="ctr">
              <a:defRPr sz="3825" b="1">
                <a:solidFill>
                  <a:srgbClr val="B42318"/>
                </a:solidFill>
                <a:latin typeface="Consolas"/>
                <a:ea typeface="Consolas"/>
                <a:cs typeface="Consolas"/>
              </a:defRPr>
            </a:lvl2pPr>
            <a:lvl3pPr algn="ctr">
              <a:defRPr sz="3825" b="1">
                <a:solidFill>
                  <a:srgbClr val="B42318"/>
                </a:solidFill>
                <a:latin typeface="Consolas"/>
                <a:ea typeface="Consolas"/>
                <a:cs typeface="Consolas"/>
              </a:defRPr>
            </a:lvl3pPr>
            <a:lvl4pPr algn="ctr">
              <a:defRPr sz="3825" b="1">
                <a:solidFill>
                  <a:srgbClr val="B42318"/>
                </a:solidFill>
                <a:latin typeface="Consolas"/>
                <a:ea typeface="Consolas"/>
                <a:cs typeface="Consolas"/>
              </a:defRPr>
            </a:lvl4pPr>
            <a:lvl5pPr algn="ctr">
              <a:defRPr sz="3825" b="1">
                <a:solidFill>
                  <a:srgbClr val="B42318"/>
                </a:solidFill>
                <a:latin typeface="Consolas"/>
                <a:ea typeface="Consolas"/>
                <a:cs typeface="Consolas"/>
              </a:defRPr>
            </a:lvl5pPr>
            <a:lvl6pPr algn="ctr">
              <a:defRPr sz="3825" b="1">
                <a:solidFill>
                  <a:srgbClr val="B42318"/>
                </a:solidFill>
                <a:latin typeface="Consolas"/>
                <a:ea typeface="Consolas"/>
                <a:cs typeface="Consolas"/>
              </a:defRPr>
            </a:lvl6pPr>
            <a:lvl7pPr algn="ctr">
              <a:defRPr sz="3825" b="1">
                <a:solidFill>
                  <a:srgbClr val="B42318"/>
                </a:solidFill>
                <a:latin typeface="Consolas"/>
                <a:ea typeface="Consolas"/>
                <a:cs typeface="Consolas"/>
              </a:defRPr>
            </a:lvl7pPr>
            <a:lvl8pPr algn="ctr">
              <a:defRPr sz="3825" b="1">
                <a:solidFill>
                  <a:srgbClr val="B42318"/>
                </a:solidFill>
                <a:latin typeface="Consolas"/>
                <a:ea typeface="Consolas"/>
                <a:cs typeface="Consolas"/>
              </a:defRPr>
            </a:lvl8pPr>
            <a:lvl9pPr algn="ctr">
              <a:defRPr sz="3825" b="1">
                <a:solidFill>
                  <a:srgbClr val="B42318"/>
                </a:solidFill>
                <a:latin typeface="Consolas"/>
                <a:ea typeface="Consolas"/>
                <a:cs typeface="Consolas"/>
              </a:defRPr>
            </a:lvl9pPr>
          </a:lstStyle>
          <a:p xmlns:a="http://schemas.openxmlformats.org/drawingml/2006/main">
            <a:pPr algn="ctr">
              <a:defRPr sz="3825" b="1">
                <a:solidFill>
                  <a:srgbClr val="B42318"/>
                </a:solidFill>
                <a:latin typeface="Consolas"/>
                <a:ea typeface="Consolas"/>
                <a:cs typeface="Consolas"/>
              </a:defRPr>
            </a:pPr>
            <a:r>
              <a:rPr sz="3825" b="1">
                <a:solidFill>
                  <a:srgbClr val="B42318"/>
                </a:solidFill>
                <a:latin typeface="Consolas"/>
                <a:ea typeface="Consolas"/>
                <a:cs typeface="Consolas"/>
              </a:rPr>
              <a:t>4</a:t>
            </a:r>
          </a:p>
        </p:txBody>
      </p:sp>
      <p:sp>
        <p:nvSpPr>
          <p:cNvPr id="21" name="3개">
            <a:extLst xmlns:a="http://schemas.openxmlformats.org/drawingml/2006/main">
              <a:ext uri="{FF2B5EF4-FFF2-40B4-BE49-F238E27FC236}">
                <a16:creationId xmlns:a16="http://schemas.microsoft.com/office/drawing/2014/main" id="{E2C6A9D0-49C9-4254-A11C-4000CC0997C3}"/>
              </a:ext>
            </a:extLst>
          </p:cNvPr>
          <p:cNvSpPr>
            <a:spLocks xmlns:a="http://schemas.openxmlformats.org/drawingml/2006/main" noGrp="1"/>
          </p:cNvSpPr>
          <p:nvPr/>
        </p:nvSpPr>
        <p:spPr>
          <a:xfrm xmlns:a="http://schemas.openxmlformats.org/drawingml/2006/main">
            <a:off x="9734550" y="3248025"/>
            <a:ext cx="1714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B42318"/>
                </a:solidFill>
                <a:latin typeface="Malgun Gothic"/>
                <a:ea typeface="Malgun Gothic"/>
                <a:cs typeface="Malgun Gothic"/>
              </a:defRPr>
            </a:defPPr>
            <a:lvl1pPr algn="l">
              <a:defRPr sz="2850" b="1">
                <a:solidFill>
                  <a:srgbClr val="B42318"/>
                </a:solidFill>
                <a:latin typeface="Malgun Gothic"/>
                <a:ea typeface="Malgun Gothic"/>
                <a:cs typeface="Malgun Gothic"/>
              </a:defRPr>
            </a:lvl1pPr>
            <a:lvl2pPr algn="l">
              <a:defRPr sz="2850" b="1">
                <a:solidFill>
                  <a:srgbClr val="B42318"/>
                </a:solidFill>
                <a:latin typeface="Malgun Gothic"/>
                <a:ea typeface="Malgun Gothic"/>
                <a:cs typeface="Malgun Gothic"/>
              </a:defRPr>
            </a:lvl2pPr>
            <a:lvl3pPr algn="l">
              <a:defRPr sz="2850" b="1">
                <a:solidFill>
                  <a:srgbClr val="B42318"/>
                </a:solidFill>
                <a:latin typeface="Malgun Gothic"/>
                <a:ea typeface="Malgun Gothic"/>
                <a:cs typeface="Malgun Gothic"/>
              </a:defRPr>
            </a:lvl3pPr>
            <a:lvl4pPr algn="l">
              <a:defRPr sz="2850" b="1">
                <a:solidFill>
                  <a:srgbClr val="B42318"/>
                </a:solidFill>
                <a:latin typeface="Malgun Gothic"/>
                <a:ea typeface="Malgun Gothic"/>
                <a:cs typeface="Malgun Gothic"/>
              </a:defRPr>
            </a:lvl4pPr>
            <a:lvl5pPr algn="l">
              <a:defRPr sz="2850" b="1">
                <a:solidFill>
                  <a:srgbClr val="B42318"/>
                </a:solidFill>
                <a:latin typeface="Malgun Gothic"/>
                <a:ea typeface="Malgun Gothic"/>
                <a:cs typeface="Malgun Gothic"/>
              </a:defRPr>
            </a:lvl5pPr>
            <a:lvl6pPr algn="l">
              <a:defRPr sz="2850" b="1">
                <a:solidFill>
                  <a:srgbClr val="B42318"/>
                </a:solidFill>
                <a:latin typeface="Malgun Gothic"/>
                <a:ea typeface="Malgun Gothic"/>
                <a:cs typeface="Malgun Gothic"/>
              </a:defRPr>
            </a:lvl6pPr>
            <a:lvl7pPr algn="l">
              <a:defRPr sz="2850" b="1">
                <a:solidFill>
                  <a:srgbClr val="B42318"/>
                </a:solidFill>
                <a:latin typeface="Malgun Gothic"/>
                <a:ea typeface="Malgun Gothic"/>
                <a:cs typeface="Malgun Gothic"/>
              </a:defRPr>
            </a:lvl7pPr>
            <a:lvl8pPr algn="l">
              <a:defRPr sz="2850" b="1">
                <a:solidFill>
                  <a:srgbClr val="B42318"/>
                </a:solidFill>
                <a:latin typeface="Malgun Gothic"/>
                <a:ea typeface="Malgun Gothic"/>
                <a:cs typeface="Malgun Gothic"/>
              </a:defRPr>
            </a:lvl8pPr>
            <a:lvl9pPr algn="l">
              <a:defRPr sz="2850" b="1">
                <a:solidFill>
                  <a:srgbClr val="B42318"/>
                </a:solidFill>
                <a:latin typeface="Malgun Gothic"/>
                <a:ea typeface="Malgun Gothic"/>
                <a:cs typeface="Malgun Gothic"/>
              </a:defRPr>
            </a:lvl9pPr>
          </a:lstStyle>
          <a:p xmlns:a="http://schemas.openxmlformats.org/drawingml/2006/main">
            <a:pPr algn="l">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3개</a:t>
            </a:r>
          </a:p>
        </p:txBody>
      </p:sp>
      <p:sp>
        <p:nvSpPr>
          <p:cNvPr id="22" name="두 결과 모두 비어 있지 않다">
            <a:extLst xmlns:a="http://schemas.openxmlformats.org/drawingml/2006/main">
              <a:ext uri="{FF2B5EF4-FFF2-40B4-BE49-F238E27FC236}">
                <a16:creationId xmlns:a16="http://schemas.microsoft.com/office/drawing/2014/main" id="{45D5DC1D-A043-40C2-91B1-A9E8E86D9158}"/>
              </a:ext>
            </a:extLst>
          </p:cNvPr>
          <p:cNvSpPr>
            <a:spLocks xmlns:a="http://schemas.openxmlformats.org/drawingml/2006/main" noGrp="1"/>
          </p:cNvSpPr>
          <p:nvPr/>
        </p:nvSpPr>
        <p:spPr>
          <a:xfrm xmlns:a="http://schemas.openxmlformats.org/drawingml/2006/main">
            <a:off x="609600" y="41433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700" b="1">
                <a:solidFill>
                  <a:srgbClr val="17212B"/>
                </a:solidFill>
                <a:latin typeface="Malgun Gothic"/>
                <a:ea typeface="Malgun Gothic"/>
                <a:cs typeface="Malgun Gothic"/>
              </a:defRPr>
            </a:defPPr>
            <a:lvl1pPr algn="ctr">
              <a:defRPr sz="2700" b="1">
                <a:solidFill>
                  <a:srgbClr val="17212B"/>
                </a:solidFill>
                <a:latin typeface="Malgun Gothic"/>
                <a:ea typeface="Malgun Gothic"/>
                <a:cs typeface="Malgun Gothic"/>
              </a:defRPr>
            </a:lvl1pPr>
            <a:lvl2pPr algn="ctr">
              <a:defRPr sz="2700" b="1">
                <a:solidFill>
                  <a:srgbClr val="17212B"/>
                </a:solidFill>
                <a:latin typeface="Malgun Gothic"/>
                <a:ea typeface="Malgun Gothic"/>
                <a:cs typeface="Malgun Gothic"/>
              </a:defRPr>
            </a:lvl2pPr>
            <a:lvl3pPr algn="ctr">
              <a:defRPr sz="2700" b="1">
                <a:solidFill>
                  <a:srgbClr val="17212B"/>
                </a:solidFill>
                <a:latin typeface="Malgun Gothic"/>
                <a:ea typeface="Malgun Gothic"/>
                <a:cs typeface="Malgun Gothic"/>
              </a:defRPr>
            </a:lvl3pPr>
            <a:lvl4pPr algn="ctr">
              <a:defRPr sz="2700" b="1">
                <a:solidFill>
                  <a:srgbClr val="17212B"/>
                </a:solidFill>
                <a:latin typeface="Malgun Gothic"/>
                <a:ea typeface="Malgun Gothic"/>
                <a:cs typeface="Malgun Gothic"/>
              </a:defRPr>
            </a:lvl4pPr>
            <a:lvl5pPr algn="ctr">
              <a:defRPr sz="2700" b="1">
                <a:solidFill>
                  <a:srgbClr val="17212B"/>
                </a:solidFill>
                <a:latin typeface="Malgun Gothic"/>
                <a:ea typeface="Malgun Gothic"/>
                <a:cs typeface="Malgun Gothic"/>
              </a:defRPr>
            </a:lvl5pPr>
            <a:lvl6pPr algn="ctr">
              <a:defRPr sz="2700" b="1">
                <a:solidFill>
                  <a:srgbClr val="17212B"/>
                </a:solidFill>
                <a:latin typeface="Malgun Gothic"/>
                <a:ea typeface="Malgun Gothic"/>
                <a:cs typeface="Malgun Gothic"/>
              </a:defRPr>
            </a:lvl6pPr>
            <a:lvl7pPr algn="ctr">
              <a:defRPr sz="2700" b="1">
                <a:solidFill>
                  <a:srgbClr val="17212B"/>
                </a:solidFill>
                <a:latin typeface="Malgun Gothic"/>
                <a:ea typeface="Malgun Gothic"/>
                <a:cs typeface="Malgun Gothic"/>
              </a:defRPr>
            </a:lvl7pPr>
            <a:lvl8pPr algn="ctr">
              <a:defRPr sz="2700" b="1">
                <a:solidFill>
                  <a:srgbClr val="17212B"/>
                </a:solidFill>
                <a:latin typeface="Malgun Gothic"/>
                <a:ea typeface="Malgun Gothic"/>
                <a:cs typeface="Malgun Gothic"/>
              </a:defRPr>
            </a:lvl8pPr>
            <a:lvl9pPr algn="ctr">
              <a:defRPr sz="2700" b="1">
                <a:solidFill>
                  <a:srgbClr val="17212B"/>
                </a:solidFill>
                <a:latin typeface="Malgun Gothic"/>
                <a:ea typeface="Malgun Gothic"/>
                <a:cs typeface="Malgun Gothic"/>
              </a:defRPr>
            </a:lvl9pPr>
          </a:lstStyle>
          <a:p xmlns:a="http://schemas.openxmlformats.org/drawingml/2006/main">
            <a:pPr algn="ctr">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두 결과 모두 비어 있지 않다</a:t>
            </a:r>
          </a:p>
        </p:txBody>
      </p:sp>
      <p:sp>
        <p:nvSpPr>
          <p:cNvPr id="23" name="">
            <a:extLst xmlns:a="http://schemas.openxmlformats.org/drawingml/2006/main">
              <a:ext uri="{FF2B5EF4-FFF2-40B4-BE49-F238E27FC236}">
                <a16:creationId xmlns:a16="http://schemas.microsoft.com/office/drawing/2014/main" id="{3D001789-64C6-4B4A-B557-0834224017F3}"/>
              </a:ext>
            </a:extLst>
          </p:cNvPr>
          <p:cNvSpPr>
            <a:spLocks xmlns:a="http://schemas.openxmlformats.org/drawingml/2006/main" noGrp="1"/>
          </p:cNvSpPr>
          <p:nvPr/>
        </p:nvSpPr>
        <p:spPr>
          <a:xfrm xmlns:a="http://schemas.openxmlformats.org/drawingml/2006/main">
            <a:off x="609600" y="4791075"/>
            <a:ext cx="10972800" cy="733425"/>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24" name="EXPECT_FALSE(actual.empty());">
            <a:extLst xmlns:a="http://schemas.openxmlformats.org/drawingml/2006/main">
              <a:ext uri="{FF2B5EF4-FFF2-40B4-BE49-F238E27FC236}">
                <a16:creationId xmlns:a16="http://schemas.microsoft.com/office/drawing/2014/main" id="{4354063E-1DD2-4E95-9F08-78229BB066BD}"/>
              </a:ext>
            </a:extLst>
          </p:cNvPr>
          <p:cNvSpPr>
            <a:spLocks xmlns:a="http://schemas.openxmlformats.org/drawingml/2006/main" noGrp="1"/>
          </p:cNvSpPr>
          <p:nvPr/>
        </p:nvSpPr>
        <p:spPr>
          <a:xfrm xmlns:a="http://schemas.openxmlformats.org/drawingml/2006/main">
            <a:off x="876300" y="4924425"/>
            <a:ext cx="10439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FFFFFF"/>
                </a:solidFill>
                <a:latin typeface="Consolas"/>
                <a:ea typeface="Consolas"/>
                <a:cs typeface="Consolas"/>
              </a:defRPr>
            </a:defPPr>
            <a:lvl1pPr algn="ctr">
              <a:defRPr sz="2175" b="0">
                <a:solidFill>
                  <a:srgbClr val="FFFFFF"/>
                </a:solidFill>
                <a:latin typeface="Consolas"/>
                <a:ea typeface="Consolas"/>
                <a:cs typeface="Consolas"/>
              </a:defRPr>
            </a:lvl1pPr>
            <a:lvl2pPr algn="ctr">
              <a:defRPr sz="2175" b="0">
                <a:solidFill>
                  <a:srgbClr val="FFFFFF"/>
                </a:solidFill>
                <a:latin typeface="Consolas"/>
                <a:ea typeface="Consolas"/>
                <a:cs typeface="Consolas"/>
              </a:defRPr>
            </a:lvl2pPr>
            <a:lvl3pPr algn="ctr">
              <a:defRPr sz="2175" b="0">
                <a:solidFill>
                  <a:srgbClr val="FFFFFF"/>
                </a:solidFill>
                <a:latin typeface="Consolas"/>
                <a:ea typeface="Consolas"/>
                <a:cs typeface="Consolas"/>
              </a:defRPr>
            </a:lvl3pPr>
            <a:lvl4pPr algn="ctr">
              <a:defRPr sz="2175" b="0">
                <a:solidFill>
                  <a:srgbClr val="FFFFFF"/>
                </a:solidFill>
                <a:latin typeface="Consolas"/>
                <a:ea typeface="Consolas"/>
                <a:cs typeface="Consolas"/>
              </a:defRPr>
            </a:lvl4pPr>
            <a:lvl5pPr algn="ctr">
              <a:defRPr sz="2175" b="0">
                <a:solidFill>
                  <a:srgbClr val="FFFFFF"/>
                </a:solidFill>
                <a:latin typeface="Consolas"/>
                <a:ea typeface="Consolas"/>
                <a:cs typeface="Consolas"/>
              </a:defRPr>
            </a:lvl5pPr>
            <a:lvl6pPr algn="ctr">
              <a:defRPr sz="2175" b="0">
                <a:solidFill>
                  <a:srgbClr val="FFFFFF"/>
                </a:solidFill>
                <a:latin typeface="Consolas"/>
                <a:ea typeface="Consolas"/>
                <a:cs typeface="Consolas"/>
              </a:defRPr>
            </a:lvl6pPr>
            <a:lvl7pPr algn="ctr">
              <a:defRPr sz="2175" b="0">
                <a:solidFill>
                  <a:srgbClr val="FFFFFF"/>
                </a:solidFill>
                <a:latin typeface="Consolas"/>
                <a:ea typeface="Consolas"/>
                <a:cs typeface="Consolas"/>
              </a:defRPr>
            </a:lvl7pPr>
            <a:lvl8pPr algn="ctr">
              <a:defRPr sz="2175" b="0">
                <a:solidFill>
                  <a:srgbClr val="FFFFFF"/>
                </a:solidFill>
                <a:latin typeface="Consolas"/>
                <a:ea typeface="Consolas"/>
                <a:cs typeface="Consolas"/>
              </a:defRPr>
            </a:lvl8pPr>
            <a:lvl9pPr algn="ctr">
              <a:defRPr sz="2175" b="0">
                <a:solidFill>
                  <a:srgbClr val="FFFFFF"/>
                </a:solidFill>
                <a:latin typeface="Consolas"/>
                <a:ea typeface="Consolas"/>
                <a:cs typeface="Consolas"/>
              </a:defRPr>
            </a:lvl9pPr>
          </a:lstStyle>
          <a:p xmlns:a="http://schemas.openxmlformats.org/drawingml/2006/main">
            <a:pPr algn="ctr">
              <a:defRPr sz="2175" b="0">
                <a:solidFill>
                  <a:srgbClr val="FFFFFF"/>
                </a:solidFill>
                <a:latin typeface="Consolas"/>
                <a:ea typeface="Consolas"/>
                <a:cs typeface="Consolas"/>
              </a:defRPr>
            </a:pPr>
            <a:r>
              <a:rPr sz="2175" b="0">
                <a:solidFill>
                  <a:srgbClr val="FFFFFF"/>
                </a:solidFill>
                <a:latin typeface="Consolas"/>
                <a:ea typeface="Consolas"/>
                <a:cs typeface="Consolas"/>
              </a:rPr>
              <a:t>EXPECT_FALSE(actual.empty());</a:t>
            </a:r>
          </a:p>
        </p:txBody>
      </p:sp>
    </p:spTree>
    <p:extLst>
      <p:ext uri="{BB962C8B-B14F-4D97-AF65-F5344CB8AC3E}">
        <p14:creationId xmlns:p14="http://schemas.microsoft.com/office/powerpoint/2010/main" val="1878722941"/>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완료 조건을 요청에 담기">
            <a:extLst xmlns:a="http://schemas.openxmlformats.org/drawingml/2006/main">
              <a:ext uri="{FF2B5EF4-FFF2-40B4-BE49-F238E27FC236}">
                <a16:creationId xmlns:a16="http://schemas.microsoft.com/office/drawing/2014/main" id="{2886E7FE-45B6-4B31-8A71-405CB7970B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8">
            <a:extLst xmlns:a="http://schemas.openxmlformats.org/drawingml/2006/main">
              <a:ext uri="{FF2B5EF4-FFF2-40B4-BE49-F238E27FC236}">
                <a16:creationId xmlns:a16="http://schemas.microsoft.com/office/drawing/2014/main" id="{53554EE8-8A2B-4E13-98AB-8789909846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대 결과를 요청에 적는다">
            <a:extLst xmlns:a="http://schemas.openxmlformats.org/drawingml/2006/main">
              <a:ext uri="{FF2B5EF4-FFF2-40B4-BE49-F238E27FC236}">
                <a16:creationId xmlns:a16="http://schemas.microsoft.com/office/drawing/2014/main" id="{161E99E1-983F-4F74-80E3-858793E24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기대 결과를 요청에 적는다</a:t>
            </a:r>
          </a:p>
        </p:txBody>
      </p:sp>
      <p:sp>
        <p:nvSpPr>
          <p:cNvPr id="4" name="">
            <a:extLst xmlns:a="http://schemas.openxmlformats.org/drawingml/2006/main">
              <a:ext uri="{FF2B5EF4-FFF2-40B4-BE49-F238E27FC236}">
                <a16:creationId xmlns:a16="http://schemas.microsoft.com/office/drawing/2014/main" id="{B97A8730-86CE-4EFD-B806-399F0FD639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교육용 요청·검증 코드 · 실제 TRIAL-002 요청이나 새 실행 결과가 아님">
            <a:extLst xmlns:a="http://schemas.openxmlformats.org/drawingml/2006/main">
              <a:ext uri="{FF2B5EF4-FFF2-40B4-BE49-F238E27FC236}">
                <a16:creationId xmlns:a16="http://schemas.microsoft.com/office/drawing/2014/main" id="{D5DFE5D4-1576-4DEB-9E7F-7A821444DD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 교육용 요청·검증 코드 · 실제 TRIAL-002 요청이나 새 실행 결과가 아님</a:t>
            </a:r>
          </a:p>
        </p:txBody>
      </p:sp>
      <p:sp>
        <p:nvSpPr>
          <p:cNvPr id="6" name="M 연계 · M5 / M6">
            <a:extLst xmlns:a="http://schemas.openxmlformats.org/drawingml/2006/main">
              <a:ext uri="{FF2B5EF4-FFF2-40B4-BE49-F238E27FC236}">
                <a16:creationId xmlns:a16="http://schemas.microsoft.com/office/drawing/2014/main" id="{981C5544-D049-4015-9DDE-0E5D2A1362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
            <a:extLst xmlns:a="http://schemas.openxmlformats.org/drawingml/2006/main">
              <a:ext uri="{FF2B5EF4-FFF2-40B4-BE49-F238E27FC236}">
                <a16:creationId xmlns:a16="http://schemas.microsoft.com/office/drawing/2014/main" id="{72AC68CA-B964-41BE-AF19-4AFAFB4C6C61}"/>
              </a:ext>
            </a:extLst>
          </p:cNvPr>
          <p:cNvSpPr>
            <a:spLocks xmlns:a="http://schemas.openxmlformats.org/drawingml/2006/main" noGrp="1"/>
          </p:cNvSpPr>
          <p:nvPr/>
        </p:nvSpPr>
        <p:spPr>
          <a:xfrm xmlns:a="http://schemas.openxmlformats.org/drawingml/2006/main">
            <a:off x="609600" y="1876425"/>
            <a:ext cx="10972800" cy="23526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a:extLst xmlns:a="http://schemas.openxmlformats.org/drawingml/2006/main">
              <a:ext uri="{FF2B5EF4-FFF2-40B4-BE49-F238E27FC236}">
                <a16:creationId xmlns:a16="http://schemas.microsoft.com/office/drawing/2014/main" id="{C8873CDB-AF00-4C86-BAC9-8F0DFA11A6F3}"/>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a:t>
            </a:r>
          </a:p>
        </p:txBody>
      </p:sp>
      <p:sp>
        <p:nvSpPr>
          <p:cNvPr id="9" name="">
            <a:extLst xmlns:a="http://schemas.openxmlformats.org/drawingml/2006/main">
              <a:ext uri="{FF2B5EF4-FFF2-40B4-BE49-F238E27FC236}">
                <a16:creationId xmlns:a16="http://schemas.microsoft.com/office/drawing/2014/main" id="{0D17252D-537F-4598-A823-41447A1E9A80}"/>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입력 {1, 2, 3, 4}에서 crop [1, 3)을 적용했을 때">
            <a:extLst xmlns:a="http://schemas.openxmlformats.org/drawingml/2006/main">
              <a:ext uri="{FF2B5EF4-FFF2-40B4-BE49-F238E27FC236}">
                <a16:creationId xmlns:a16="http://schemas.microsoft.com/office/drawing/2014/main" id="{E447F78B-117D-4F4B-9F14-BECB1FB5580F}"/>
              </a:ext>
            </a:extLst>
          </p:cNvPr>
          <p:cNvSpPr>
            <a:spLocks xmlns:a="http://schemas.openxmlformats.org/drawingml/2006/main" noGrp="1"/>
          </p:cNvSpPr>
          <p:nvPr/>
        </p:nvSpPr>
        <p:spPr>
          <a:xfrm xmlns:a="http://schemas.openxmlformats.org/drawingml/2006/main">
            <a:off x="838200" y="26193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입력 {1, 2, 3, 4}에서 crop [1, 3)을 적용했을 때</a:t>
            </a:r>
          </a:p>
        </p:txBody>
      </p:sp>
      <p:sp>
        <p:nvSpPr>
          <p:cNvPr id="11" name="결과가 {2, 3}이고 길이가 2인지 테스트로 확인해줘.">
            <a:extLst xmlns:a="http://schemas.openxmlformats.org/drawingml/2006/main">
              <a:ext uri="{FF2B5EF4-FFF2-40B4-BE49-F238E27FC236}">
                <a16:creationId xmlns:a16="http://schemas.microsoft.com/office/drawing/2014/main" id="{BCC8BB53-5946-43BF-B20A-C7C7970B9639}"/>
              </a:ext>
            </a:extLst>
          </p:cNvPr>
          <p:cNvSpPr>
            <a:spLocks xmlns:a="http://schemas.openxmlformats.org/drawingml/2006/main" noGrp="1"/>
          </p:cNvSpPr>
          <p:nvPr/>
        </p:nvSpPr>
        <p:spPr>
          <a:xfrm xmlns:a="http://schemas.openxmlformats.org/drawingml/2006/main">
            <a:off x="838200" y="30765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결과가 {2, 3}이고 길이가 2인지 테스트로 확인해줘.</a:t>
            </a:r>
          </a:p>
        </p:txBody>
      </p:sp>
      <p:sp>
        <p:nvSpPr>
          <p:cNvPr id="12" name="실행한 검사와 결과, 미확인 사항도 보고해줘.">
            <a:extLst xmlns:a="http://schemas.openxmlformats.org/drawingml/2006/main">
              <a:ext uri="{FF2B5EF4-FFF2-40B4-BE49-F238E27FC236}">
                <a16:creationId xmlns:a16="http://schemas.microsoft.com/office/drawing/2014/main" id="{73EE40E1-B2AF-49E2-8F87-AA24DC6DF4FE}"/>
              </a:ext>
            </a:extLst>
          </p:cNvPr>
          <p:cNvSpPr>
            <a:spLocks xmlns:a="http://schemas.openxmlformats.org/drawingml/2006/main" noGrp="1"/>
          </p:cNvSpPr>
          <p:nvPr/>
        </p:nvSpPr>
        <p:spPr>
          <a:xfrm xmlns:a="http://schemas.openxmlformats.org/drawingml/2006/main">
            <a:off x="838200" y="35337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실행한 검사와 결과, 미확인 사항도 보고해줘.</a:t>
            </a:r>
          </a:p>
        </p:txBody>
      </p:sp>
      <p:sp>
        <p:nvSpPr>
          <p:cNvPr id="13" name="해당 입력의 개수·값·순서를 비교">
            <a:extLst xmlns:a="http://schemas.openxmlformats.org/drawingml/2006/main">
              <a:ext uri="{FF2B5EF4-FFF2-40B4-BE49-F238E27FC236}">
                <a16:creationId xmlns:a16="http://schemas.microsoft.com/office/drawing/2014/main" id="{21544BA7-4C73-42B0-9151-851DC45D2B69}"/>
              </a:ext>
            </a:extLst>
          </p:cNvPr>
          <p:cNvSpPr>
            <a:spLocks xmlns:a="http://schemas.openxmlformats.org/drawingml/2006/main" noGrp="1"/>
          </p:cNvSpPr>
          <p:nvPr/>
        </p:nvSpPr>
        <p:spPr>
          <a:xfrm xmlns:a="http://schemas.openxmlformats.org/drawingml/2006/main">
            <a:off x="609600" y="44577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해당 입력의 개수·값·순서를 비교</a:t>
            </a:r>
          </a:p>
        </p:txBody>
      </p:sp>
      <p:sp>
        <p:nvSpPr>
          <p:cNvPr id="14" name="std::vector&lt;int&gt; expected{2, 3};">
            <a:extLst xmlns:a="http://schemas.openxmlformats.org/drawingml/2006/main">
              <a:ext uri="{FF2B5EF4-FFF2-40B4-BE49-F238E27FC236}">
                <a16:creationId xmlns:a16="http://schemas.microsoft.com/office/drawing/2014/main" id="{9ED0FD78-7168-4C7A-B0F1-ECE08362AB7D}"/>
              </a:ext>
            </a:extLst>
          </p:cNvPr>
          <p:cNvSpPr>
            <a:spLocks xmlns:a="http://schemas.openxmlformats.org/drawingml/2006/main" noGrp="1"/>
          </p:cNvSpPr>
          <p:nvPr/>
        </p:nvSpPr>
        <p:spPr>
          <a:xfrm xmlns:a="http://schemas.openxmlformats.org/drawingml/2006/main">
            <a:off x="609600" y="48768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0B6172"/>
                </a:solidFill>
                <a:latin typeface="Consolas"/>
                <a:ea typeface="Consolas"/>
                <a:cs typeface="Consolas"/>
              </a:defRPr>
            </a:defPPr>
            <a:lvl1pPr algn="l">
              <a:defRPr sz="2025" b="0">
                <a:solidFill>
                  <a:srgbClr val="0B6172"/>
                </a:solidFill>
                <a:latin typeface="Consolas"/>
                <a:ea typeface="Consolas"/>
                <a:cs typeface="Consolas"/>
              </a:defRPr>
            </a:lvl1pPr>
            <a:lvl2pPr algn="l">
              <a:defRPr sz="2025" b="0">
                <a:solidFill>
                  <a:srgbClr val="0B6172"/>
                </a:solidFill>
                <a:latin typeface="Consolas"/>
                <a:ea typeface="Consolas"/>
                <a:cs typeface="Consolas"/>
              </a:defRPr>
            </a:lvl2pPr>
            <a:lvl3pPr algn="l">
              <a:defRPr sz="2025" b="0">
                <a:solidFill>
                  <a:srgbClr val="0B6172"/>
                </a:solidFill>
                <a:latin typeface="Consolas"/>
                <a:ea typeface="Consolas"/>
                <a:cs typeface="Consolas"/>
              </a:defRPr>
            </a:lvl3pPr>
            <a:lvl4pPr algn="l">
              <a:defRPr sz="2025" b="0">
                <a:solidFill>
                  <a:srgbClr val="0B6172"/>
                </a:solidFill>
                <a:latin typeface="Consolas"/>
                <a:ea typeface="Consolas"/>
                <a:cs typeface="Consolas"/>
              </a:defRPr>
            </a:lvl4pPr>
            <a:lvl5pPr algn="l">
              <a:defRPr sz="2025" b="0">
                <a:solidFill>
                  <a:srgbClr val="0B6172"/>
                </a:solidFill>
                <a:latin typeface="Consolas"/>
                <a:ea typeface="Consolas"/>
                <a:cs typeface="Consolas"/>
              </a:defRPr>
            </a:lvl5pPr>
            <a:lvl6pPr algn="l">
              <a:defRPr sz="2025" b="0">
                <a:solidFill>
                  <a:srgbClr val="0B6172"/>
                </a:solidFill>
                <a:latin typeface="Consolas"/>
                <a:ea typeface="Consolas"/>
                <a:cs typeface="Consolas"/>
              </a:defRPr>
            </a:lvl6pPr>
            <a:lvl7pPr algn="l">
              <a:defRPr sz="2025" b="0">
                <a:solidFill>
                  <a:srgbClr val="0B6172"/>
                </a:solidFill>
                <a:latin typeface="Consolas"/>
                <a:ea typeface="Consolas"/>
                <a:cs typeface="Consolas"/>
              </a:defRPr>
            </a:lvl7pPr>
            <a:lvl8pPr algn="l">
              <a:defRPr sz="2025" b="0">
                <a:solidFill>
                  <a:srgbClr val="0B6172"/>
                </a:solidFill>
                <a:latin typeface="Consolas"/>
                <a:ea typeface="Consolas"/>
                <a:cs typeface="Consolas"/>
              </a:defRPr>
            </a:lvl8pPr>
            <a:lvl9pPr algn="l">
              <a:defRPr sz="2025" b="0">
                <a:solidFill>
                  <a:srgbClr val="0B6172"/>
                </a:solidFill>
                <a:latin typeface="Consolas"/>
                <a:ea typeface="Consolas"/>
                <a:cs typeface="Consolas"/>
              </a:defRPr>
            </a:lvl9pPr>
          </a:lstStyle>
          <a:p xmlns:a="http://schemas.openxmlformats.org/drawingml/2006/main">
            <a:pPr algn="l">
              <a:defRPr sz="2025" b="0">
                <a:solidFill>
                  <a:srgbClr val="0B6172"/>
                </a:solidFill>
                <a:latin typeface="Consolas"/>
                <a:ea typeface="Consolas"/>
                <a:cs typeface="Consolas"/>
              </a:defRPr>
            </a:pPr>
            <a:r>
              <a:rPr sz="2025" b="0">
                <a:solidFill>
                  <a:srgbClr val="0B6172"/>
                </a:solidFill>
                <a:latin typeface="Consolas"/>
                <a:ea typeface="Consolas"/>
                <a:cs typeface="Consolas"/>
              </a:rPr>
              <a:t>std::vector&lt;int&gt; expected{2, 3};</a:t>
            </a:r>
          </a:p>
        </p:txBody>
      </p:sp>
      <p:sp>
        <p:nvSpPr>
          <p:cNvPr id="15" name="EXPECT_EQ(actual, expected);">
            <a:extLst xmlns:a="http://schemas.openxmlformats.org/drawingml/2006/main">
              <a:ext uri="{FF2B5EF4-FFF2-40B4-BE49-F238E27FC236}">
                <a16:creationId xmlns:a16="http://schemas.microsoft.com/office/drawing/2014/main" id="{6704833F-88A8-484E-BB97-9A2CB8E7E93F}"/>
              </a:ext>
            </a:extLst>
          </p:cNvPr>
          <p:cNvSpPr>
            <a:spLocks xmlns:a="http://schemas.openxmlformats.org/drawingml/2006/main" noGrp="1"/>
          </p:cNvSpPr>
          <p:nvPr/>
        </p:nvSpPr>
        <p:spPr>
          <a:xfrm xmlns:a="http://schemas.openxmlformats.org/drawingml/2006/main">
            <a:off x="609600" y="52673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EXPECT_EQ(actual, expected);</a:t>
            </a:r>
          </a:p>
        </p:txBody>
      </p:sp>
    </p:spTree>
    <p:extLst>
      <p:ext uri="{BB962C8B-B14F-4D97-AF65-F5344CB8AC3E}">
        <p14:creationId xmlns:p14="http://schemas.microsoft.com/office/powerpoint/2010/main" val="1878722941"/>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43334A0-E4A7-477E-8423-B81C9952E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9">
            <a:extLst xmlns:a="http://schemas.openxmlformats.org/drawingml/2006/main">
              <a:ext uri="{FF2B5EF4-FFF2-40B4-BE49-F238E27FC236}">
                <a16:creationId xmlns:a16="http://schemas.microsoft.com/office/drawing/2014/main" id="{FD7E67BD-8E20-4FD2-AA2F-5CB05C9C2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지시와 참고 자료의 구분">
            <a:extLst xmlns:a="http://schemas.openxmlformats.org/drawingml/2006/main">
              <a:ext uri="{FF2B5EF4-FFF2-40B4-BE49-F238E27FC236}">
                <a16:creationId xmlns:a16="http://schemas.microsoft.com/office/drawing/2014/main" id="{94A8A276-023A-4F64-BFC0-702DFDD2C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4F824471-ABF9-4613-B4F3-5BE0AD59E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560C89B-35E5-44CA-A3D4-6DDAD1FF7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5A4E0A15-AB84-4FF4-BF71-45F43FFF44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DF29514-2FCD-4F19-A6BE-6AB7433435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9D02202-C336-4963-A0A2-61CC7658FB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14E53FE-BA14-41EA-8B30-84CD7E8D1E8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9FF651-4F01-4C8C-8A0B-20AD91FF3C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7BD8CA1-8092-45EF-A23F-31F63D9B2C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507184DE-73E8-430A-B4A3-30E8D67558C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E3BAD29-0AE8-4295-A26E-2427271B7CA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D357B2C-6BCF-4C68-B207-5B6AECD1F82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6E3E0411-C1C2-47BA-A55B-E86C90D0F3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993AD7D-A7E5-46DF-86EE-5BBD14CD20C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3775DD7-12DB-495A-845A-2D434E95311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5F02541-8FCF-463E-B309-740848D8BC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42D83C6-F33E-4E65-A355-71E7B9E1474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FDCAAC3-946A-48E9-B3DF-30B0C3EF21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3EFB493-26DE-469B-B2C5-A6484320145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DDDE2F0-6285-4A01-8D63-AE6C58592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406347"/>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9743287-BD63-414A-9146-7336F37FCB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30">
            <a:extLst xmlns:a="http://schemas.openxmlformats.org/drawingml/2006/main">
              <a:ext uri="{FF2B5EF4-FFF2-40B4-BE49-F238E27FC236}">
                <a16:creationId xmlns:a16="http://schemas.microsoft.com/office/drawing/2014/main" id="{DF79DE9B-76B8-4489-B247-6413F1909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입력과 기대 결과의 작은 예시">
            <a:extLst xmlns:a="http://schemas.openxmlformats.org/drawingml/2006/main">
              <a:ext uri="{FF2B5EF4-FFF2-40B4-BE49-F238E27FC236}">
                <a16:creationId xmlns:a16="http://schemas.microsoft.com/office/drawing/2014/main" id="{19D556F3-A00B-4365-900A-D6F836AE2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973EDFB-A85C-4948-8E6B-EAE4759B6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3FC7B6C-2E6F-4FB2-AD61-64E66B07CD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676434CB-8F9C-4454-8AEB-26CF3CF85A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ECD500-265D-4456-8BB6-988F719E13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1722B7C-8917-4FCF-AB6B-9DDE411D19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7EE7005-8DD7-47A2-BD9F-0DE164BA75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2D893D-51DA-4CA3-BDAC-9F746C941F9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8ED8D3-14AB-4479-B055-573B4D7C80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48923FD-5215-43C5-B993-E08752A936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BEFCF43-E76D-4091-91CF-367C7210FA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5D4AEC7-0C11-4AC9-8515-C1D3A056AC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B1D9E72-D4C1-4040-95BC-F8E178B37C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E459027-AAAC-47FC-8859-B2098D007A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F49BA044-8416-4BAA-A710-671C850F10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A18BC37-36E3-45F0-9B17-4F83360D079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22388A4-3E6D-4BBB-B762-7388D4C9531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15C3727-CFD8-4C41-BD2B-6840421DD4B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79865AE-7F5D-43A6-ACC0-BCEC4582B6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7C46EC0-6E95-4C5B-BECA-C87772D05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830526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B3AD14C2-4E01-4CB9-BC7D-8436F1E6DA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31">
            <a:extLst xmlns:a="http://schemas.openxmlformats.org/drawingml/2006/main">
              <a:ext uri="{FF2B5EF4-FFF2-40B4-BE49-F238E27FC236}">
                <a16:creationId xmlns:a16="http://schemas.microsoft.com/office/drawing/2014/main" id="{827EF201-C8C4-4F06-BDEE-08A70BE92B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바로 검토할 수 있는 결과 형식">
            <a:extLst xmlns:a="http://schemas.openxmlformats.org/drawingml/2006/main">
              <a:ext uri="{FF2B5EF4-FFF2-40B4-BE49-F238E27FC236}">
                <a16:creationId xmlns:a16="http://schemas.microsoft.com/office/drawing/2014/main" id="{273ADA84-6C5B-4E33-A97F-DA5FEC68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A12FDE7-BD9A-4C78-AC3F-7B71B51EFB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90A87E0-E8BD-4FF1-A31D-C390612BB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154366C-B38A-478E-86F8-D2F513474F8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6E2ED5C-3700-49AC-A40D-48CF530B407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261ECAE-0057-41DC-97E5-C533992B6C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98DC771-7D78-4644-8CAF-B92EB1A0AF8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4D412B-3902-4877-99C9-06B802CA26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7BE8DE0-A6B1-44D4-AD5A-FEC087E550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8BC947B-2B3A-4AD1-BB5B-3E2C7E786C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BEE5DECC-5D1B-48F5-95E5-BAD28F1685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8F3F555-F767-4E95-A5AA-2F9099525B4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2D5127D-8A3E-4D86-8A61-E530111B654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C5A3F46-4C33-47E2-902D-BFBB16A71ED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5E10E75-AC5E-4EE6-B876-92EC10B0D2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0227CF1-E01F-467C-9BF7-4248970A2E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40CA642-BD8E-4556-BCFC-4C9BE6096F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93F7C29-DCCC-4566-80FC-D84ABD2510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530104B-A6A2-44C6-9002-534FE3188F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C9D1A3-88CD-483E-8779-58675D1CD7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757013"/>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2146BFBC-F6D3-4C40-BCFB-17FDC6955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2">
            <a:extLst xmlns:a="http://schemas.openxmlformats.org/drawingml/2006/main">
              <a:ext uri="{FF2B5EF4-FFF2-40B4-BE49-F238E27FC236}">
                <a16:creationId xmlns:a16="http://schemas.microsoft.com/office/drawing/2014/main" id="{8C3A68AC-62AF-4C50-B222-D474EB5A58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근거가 있는 설명과 미확인의 구분">
            <a:extLst xmlns:a="http://schemas.openxmlformats.org/drawingml/2006/main">
              <a:ext uri="{FF2B5EF4-FFF2-40B4-BE49-F238E27FC236}">
                <a16:creationId xmlns:a16="http://schemas.microsoft.com/office/drawing/2014/main" id="{8D5031E9-83E5-4A0A-A8D8-18FF825B7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15E54D-E54A-4300-9B61-FC1CD5882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63C0983-BC37-4B04-BBD9-A7A00D565E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6C981EF7-900B-4861-BB21-E0AD6B3204F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369CDF1-6C17-463D-8C29-6469E79C4A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04E2A48-A1DE-428E-9655-DA3F0DA670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664B292-D25E-435F-85E1-872AA3B6E0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DF44689-2BD9-4DFF-9984-8E2ED249ED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DBB56C-369D-4148-92AD-2B461BB7E9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4C6480D-2691-48CE-857E-1E23D054A7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FD0D2AF-A8D1-48B0-84BB-9D1D2213BD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69C9E66-22C9-4A9C-AC79-96C70215215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B339FC5-B350-4B81-A56E-C6F76CB8614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5233441-BD85-4E20-A75A-4C3F630C6E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2E78172-D83C-4D96-9ADD-2AD22FB548F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2476DD3-28B7-447D-912D-1BB1255F895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0CA3CDA4-5F31-4A1E-B2E2-7D46F23169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FE6287AC-3EC1-4F18-B8BF-26DF77A5AF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9908A6F-4175-48FC-B616-7298B8C6D34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FB78490-E028-43F7-9A76-3777E824B2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1163427"/>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5088D742-3222-4894-8CEF-2B897D607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3">
            <a:extLst xmlns:a="http://schemas.openxmlformats.org/drawingml/2006/main">
              <a:ext uri="{FF2B5EF4-FFF2-40B4-BE49-F238E27FC236}">
                <a16:creationId xmlns:a16="http://schemas.microsoft.com/office/drawing/2014/main" id="{45000865-F940-4CEF-8F1E-D2EE82A6E8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결과를 바꾸는 결정에서 확인 질문">
            <a:extLst xmlns:a="http://schemas.openxmlformats.org/drawingml/2006/main">
              <a:ext uri="{FF2B5EF4-FFF2-40B4-BE49-F238E27FC236}">
                <a16:creationId xmlns:a16="http://schemas.microsoft.com/office/drawing/2014/main" id="{2686E39E-49F7-49FD-9D2D-79FD8E1E44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C72C03D-EFF8-4421-AE62-DDA7206CD5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AC94427-B292-4352-BB79-A83091973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EA7B2CE7-5882-4A19-9FB2-99CD0DBDB6A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2AD802-E372-4ABE-9F5C-393F7BE062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121A739-4639-4FEE-A57D-15478CCA9A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1A2F3AFA-7B97-4312-8415-77278F68684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4D74739-4DE2-43AD-8351-5D749E3380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509775-54BC-4FFD-8930-8D99F81520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55151D0F-712B-4F7C-BC92-EF4A91CD2B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39D3122-6690-46C9-956E-D7B1A8CA1E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CCCF8B1C-8FEC-4D74-A5A4-B63AE6BD83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DCB8F46-5813-4BCA-8C8C-17827485AF8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CE8AFCF-F334-4D8A-A259-410BE0F7D6C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666C9D0-502C-453E-8C52-53965AEBCC1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590E581-22AA-4F17-B218-27377A6A57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3AFF7F0-D21B-4D4A-A05A-F21CE6F8D41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0226AD5-8B93-4513-8FAD-9390DFD6DEC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F526845-485B-42A5-A9D0-24F80B40F4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E57032D-4521-4EC1-A22C-D2EEC8595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4383295"/>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2E36D320-1759-4642-A4FF-D8A145CEAF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4">
            <a:extLst xmlns:a="http://schemas.openxmlformats.org/drawingml/2006/main">
              <a:ext uri="{FF2B5EF4-FFF2-40B4-BE49-F238E27FC236}">
                <a16:creationId xmlns:a16="http://schemas.microsoft.com/office/drawing/2014/main" id="{580F6ECF-EC1F-476E-A9BA-14ADE0272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큰 작업을 검토할 결과물로 나누기">
            <a:extLst xmlns:a="http://schemas.openxmlformats.org/drawingml/2006/main">
              <a:ext uri="{FF2B5EF4-FFF2-40B4-BE49-F238E27FC236}">
                <a16:creationId xmlns:a16="http://schemas.microsoft.com/office/drawing/2014/main" id="{64098292-6D87-4C4E-B4CB-2F564529B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04CF148-CA25-46B2-A0DB-3F09E243F4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E58D5FC0-6D79-48F9-801B-5D62FFFF904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0D9C815-9038-460C-996E-E6BCE83FD39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E2BB880-6F2A-41CA-9EE2-E5E0E225E4C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C02C580-18F8-4296-B246-4EDFBE500A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552AEA-5AAE-42BB-BF4F-75E33B2B361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D49AEA-6557-42D2-A08B-AA87E27F89A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76DD0EF-3D62-4999-A492-ACC3B83955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E80BC9A-1B79-4526-A3E9-AF5CF889961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C820D72-A4A4-40F8-A0CB-99DFDD2F377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A4F3ED7-1518-4C93-AFEE-877A863C0E8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18C7829-9B95-4944-824F-24E557F8DB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37A57DE-5608-4E4D-96C6-84BD91FF5B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E28D57D8-F9F4-49CB-BC8D-D8328C7A9A1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F8F6AAB-D144-4DB0-A89C-A332DB8AC5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D2F246D7-1C20-4D90-97E1-ABC3A4EF0A4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2ABAAD6-09FA-4BC7-A37B-B2910614A6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6F257C9-D7E1-4AD4-B7AE-84215F089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2227053"/>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2ED031F7-206E-4F03-A250-73DA4367CC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5">
            <a:extLst xmlns:a="http://schemas.openxmlformats.org/drawingml/2006/main">
              <a:ext uri="{FF2B5EF4-FFF2-40B4-BE49-F238E27FC236}">
                <a16:creationId xmlns:a16="http://schemas.microsoft.com/office/drawing/2014/main" id="{F5981C71-EE18-4765-B0E6-C66D147E0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기준을 지정한 코드 리뷰 요청">
            <a:extLst xmlns:a="http://schemas.openxmlformats.org/drawingml/2006/main">
              <a:ext uri="{FF2B5EF4-FFF2-40B4-BE49-F238E27FC236}">
                <a16:creationId xmlns:a16="http://schemas.microsoft.com/office/drawing/2014/main" id="{EC24E039-188C-4FD1-B743-5223B5098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A643C14C-7FFD-49D3-8EC9-6B8F894A5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7BD720B-5DF9-4A4D-BAE6-69ED68003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216F524-9F29-4C91-9CC7-5163F8E259D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75724EF-98C1-4F92-B40D-04C32C371A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8C6F529-BD3C-4F10-86C8-F14D1E68BB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04C43BF-BDB2-40B8-B115-96359A4E4D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774BFB6-B73B-40F3-BA4D-64F3E9B4043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B8B346-156B-402F-9169-AAE13251C20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7D4A1E9-18AE-4793-B683-94A073D60B0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7C393D3-8FA0-4A04-AFCA-FC1C8A292F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800007C-8584-438F-9340-1194CA10728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600B309-E2B9-4DBA-822C-A582B94C74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3B2DEFE-4C04-42E7-8CA6-C966FB3AA9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775B023-31F8-4D33-8216-5E3C4075C70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8B16B19-BD14-42E9-A1EC-7BA71D947E3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5098F27-8DB1-4810-953B-CF948C900C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E96064F-A983-4085-898A-7127251813A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CDF8B2-F77B-41ED-B9DD-F6E5FF2B40E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95AEDE2-1C16-4811-A7C5-C129770DBE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043707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82190421-8DAB-4476-BD99-46ECAAB1C8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6">
            <a:extLst xmlns:a="http://schemas.openxmlformats.org/drawingml/2006/main">
              <a:ext uri="{FF2B5EF4-FFF2-40B4-BE49-F238E27FC236}">
                <a16:creationId xmlns:a16="http://schemas.microsoft.com/office/drawing/2014/main" id="{B25B66C1-BE33-48BE-9A12-B99043D6A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구체적인 근거로 수정 방향 피드백">
            <a:extLst xmlns:a="http://schemas.openxmlformats.org/drawingml/2006/main">
              <a:ext uri="{FF2B5EF4-FFF2-40B4-BE49-F238E27FC236}">
                <a16:creationId xmlns:a16="http://schemas.microsoft.com/office/drawing/2014/main" id="{506CF9D2-434C-4BC6-A43E-95AE8F843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885CD56-DA62-406D-80E4-3CAC389C1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67D4CD2-9254-412F-99CC-3323EBCC56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7A3E6D2C-386A-4ED5-93C5-44FCC263C13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56A080A-F113-4B79-8B94-6C5EE4B4403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35363AF-5394-4941-A29A-8F6CA222CF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E6036DD-75E2-4D5A-8F46-03AB5DAAE06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49ABE55-7F79-4C2F-BB10-662BA43B64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1DA84C5-13A0-4A13-91F2-C0C52351BF3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915007C-5664-4711-A111-87C7848AB32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9FE7F50-C86D-4531-AA6C-7BB065162A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62F26E08-4F62-4A87-9426-2C4EAB3436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BA292FF-4439-4C20-BB96-EBB44A47D8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A0D5D22-2DC8-4CB5-828A-D81E0EAAEE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90D8131-A700-4021-BC25-C452E071D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9F7412C-BACD-4B0E-BB99-89262375E1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D4FDF633-746D-4D2D-A046-FEC0CD2D4B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8DC95FCA-4B2B-44D2-8790-C43D6CD351D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668C28D-18E1-480D-8C7B-8239D93593F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FC29F89-889F-4C4A-91DE-31E73A8D0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7853816"/>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다음 작업에도 필요한 정보">
            <a:extLst xmlns:a="http://schemas.openxmlformats.org/drawingml/2006/main">
              <a:ext uri="{FF2B5EF4-FFF2-40B4-BE49-F238E27FC236}">
                <a16:creationId xmlns:a16="http://schemas.microsoft.com/office/drawing/2014/main" id="{BF91D67D-B24C-4EF6-A4CE-11B0C3E9B4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7">
            <a:extLst xmlns:a="http://schemas.openxmlformats.org/drawingml/2006/main">
              <a:ext uri="{FF2B5EF4-FFF2-40B4-BE49-F238E27FC236}">
                <a16:creationId xmlns:a16="http://schemas.microsoft.com/office/drawing/2014/main" id="{2BC4F1FC-4C5B-4034-8C22-0AA9821CC4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다음 작업에도 이 내용을 다시 적어야 할까?">
            <a:extLst xmlns:a="http://schemas.openxmlformats.org/drawingml/2006/main">
              <a:ext uri="{FF2B5EF4-FFF2-40B4-BE49-F238E27FC236}">
                <a16:creationId xmlns:a16="http://schemas.microsoft.com/office/drawing/2014/main" id="{FC2F10CE-037A-4B7E-81F0-D709E541E1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작업에도 이 내용을 다시 적어야 할까?</a:t>
            </a:r>
          </a:p>
        </p:txBody>
      </p:sp>
      <p:sp>
        <p:nvSpPr>
          <p:cNvPr id="4" name="">
            <a:extLst xmlns:a="http://schemas.openxmlformats.org/drawingml/2006/main">
              <a:ext uri="{FF2B5EF4-FFF2-40B4-BE49-F238E27FC236}">
                <a16:creationId xmlns:a16="http://schemas.microsoft.com/office/drawing/2014/main" id="{17645D68-DF59-4937-9D80-0913DB0EE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예시 · 실제 TRIAL-002 입력이나 수행 결과가 아님">
            <a:extLst xmlns:a="http://schemas.openxmlformats.org/drawingml/2006/main">
              <a:ext uri="{FF2B5EF4-FFF2-40B4-BE49-F238E27FC236}">
                <a16:creationId xmlns:a16="http://schemas.microsoft.com/office/drawing/2014/main" id="{E2E12353-CDA8-4722-B84A-E51AFB7827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요청 예시 · 실제 TRIAL-002 입력이나 수행 결과가 아님</a:t>
            </a:r>
          </a:p>
        </p:txBody>
      </p:sp>
      <p:sp>
        <p:nvSpPr>
          <p:cNvPr id="6" name="M 연계 · M2">
            <a:extLst xmlns:a="http://schemas.openxmlformats.org/drawingml/2006/main">
              <a:ext uri="{FF2B5EF4-FFF2-40B4-BE49-F238E27FC236}">
                <a16:creationId xmlns:a16="http://schemas.microsoft.com/office/drawing/2014/main" id="{5F864EAA-F844-455F-90CF-63C4CD6750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3C015A55-4223-4AE5-87AC-4C5B9520D3C6}"/>
              </a:ext>
            </a:extLst>
          </p:cNvPr>
          <p:cNvSpPr>
            <a:spLocks xmlns:a="http://schemas.openxmlformats.org/drawingml/2006/main" noGrp="1"/>
          </p:cNvSpPr>
          <p:nvPr/>
        </p:nvSpPr>
        <p:spPr>
          <a:xfrm xmlns:a="http://schemas.openxmlformats.org/drawingml/2006/main">
            <a:off x="609600" y="1885950"/>
            <a:ext cx="1097280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 교육용 예시">
            <a:extLst xmlns:a="http://schemas.openxmlformats.org/drawingml/2006/main">
              <a:ext uri="{FF2B5EF4-FFF2-40B4-BE49-F238E27FC236}">
                <a16:creationId xmlns:a16="http://schemas.microsoft.com/office/drawing/2014/main" id="{604E93C8-F017-42FE-9CF5-4A624CE45136}"/>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 · 교육용 예시</a:t>
            </a:r>
          </a:p>
        </p:txBody>
      </p:sp>
      <p:sp>
        <p:nvSpPr>
          <p:cNvPr id="9" name="">
            <a:extLst xmlns:a="http://schemas.openxmlformats.org/drawingml/2006/main">
              <a:ext uri="{FF2B5EF4-FFF2-40B4-BE49-F238E27FC236}">
                <a16:creationId xmlns:a16="http://schemas.microsoft.com/office/drawing/2014/main" id="{DC459E79-F839-496B-A91B-DB7FB4C20C5C}"/>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B7BA108A-5999-428A-A6C5-CA9976E3E324}"/>
              </a:ext>
            </a:extLst>
          </p:cNvPr>
          <p:cNvSpPr>
            <a:spLocks xmlns:a="http://schemas.openxmlformats.org/drawingml/2006/main" noGrp="1"/>
          </p:cNvSpPr>
          <p:nvPr/>
        </p:nvSpPr>
        <p:spPr>
          <a:xfrm xmlns:a="http://schemas.openxmlformats.org/drawingml/2006/main">
            <a:off x="838200" y="26098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crop 경계 오류를 고쳐줘.</a:t>
            </a:r>
          </a:p>
        </p:txBody>
      </p:sp>
      <p:sp>
        <p:nvSpPr>
          <p:cNvPr id="11" name="기존 공개 API는 유지해.">
            <a:extLst xmlns:a="http://schemas.openxmlformats.org/drawingml/2006/main">
              <a:ext uri="{FF2B5EF4-FFF2-40B4-BE49-F238E27FC236}">
                <a16:creationId xmlns:a16="http://schemas.microsoft.com/office/drawing/2014/main" id="{02EF7DD0-F1CA-45CF-970F-3A0C243E4342}"/>
              </a:ext>
            </a:extLst>
          </p:cNvPr>
          <p:cNvSpPr>
            <a:spLocks xmlns:a="http://schemas.openxmlformats.org/drawingml/2006/main" noGrp="1"/>
          </p:cNvSpPr>
          <p:nvPr/>
        </p:nvSpPr>
        <p:spPr>
          <a:xfrm xmlns:a="http://schemas.openxmlformats.org/drawingml/2006/main">
            <a:off x="838200" y="31051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기존 공개 API는 유지해.</a:t>
            </a:r>
          </a:p>
        </p:txBody>
      </p:sp>
      <p:sp>
        <p:nvSpPr>
          <p:cNvPr id="12" name="프로젝트에 정해진 테스트 명령으로 확인해.">
            <a:extLst xmlns:a="http://schemas.openxmlformats.org/drawingml/2006/main">
              <a:ext uri="{FF2B5EF4-FFF2-40B4-BE49-F238E27FC236}">
                <a16:creationId xmlns:a16="http://schemas.microsoft.com/office/drawing/2014/main" id="{DBBD974C-B943-41F1-B4E7-85DDBC34D09E}"/>
              </a:ext>
            </a:extLst>
          </p:cNvPr>
          <p:cNvSpPr>
            <a:spLocks xmlns:a="http://schemas.openxmlformats.org/drawingml/2006/main" noGrp="1"/>
          </p:cNvSpPr>
          <p:nvPr/>
        </p:nvSpPr>
        <p:spPr>
          <a:xfrm xmlns:a="http://schemas.openxmlformats.org/drawingml/2006/main">
            <a:off x="838200" y="36004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프로젝트에 정해진 테스트 명령으로 확인해.</a:t>
            </a:r>
          </a:p>
        </p:txBody>
      </p:sp>
      <p:sp>
        <p:nvSpPr>
          <p:cNvPr id="13" name="작업이 바뀌어도 다시 말하게 될 문장은?">
            <a:extLst xmlns:a="http://schemas.openxmlformats.org/drawingml/2006/main">
              <a:ext uri="{FF2B5EF4-FFF2-40B4-BE49-F238E27FC236}">
                <a16:creationId xmlns:a16="http://schemas.microsoft.com/office/drawing/2014/main" id="{36407025-2CD1-4E20-9DB1-759F49BF5E69}"/>
              </a:ext>
            </a:extLst>
          </p:cNvPr>
          <p:cNvSpPr>
            <a:spLocks xmlns:a="http://schemas.openxmlformats.org/drawingml/2006/main" noGrp="1"/>
          </p:cNvSpPr>
          <p:nvPr/>
        </p:nvSpPr>
        <p:spPr>
          <a:xfrm xmlns:a="http://schemas.openxmlformats.org/drawingml/2006/main">
            <a:off x="609600" y="48291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작업이 바뀌어도 다시 말하게 될 문장은?</a:t>
            </a:r>
          </a:p>
        </p:txBody>
      </p:sp>
    </p:spTree>
    <p:extLst>
      <p:ext uri="{BB962C8B-B14F-4D97-AF65-F5344CB8AC3E}">
        <p14:creationId xmlns:p14="http://schemas.microsoft.com/office/powerpoint/2010/main" val="1863347352"/>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다음 작업에도 필요한 정보">
            <a:extLst xmlns:a="http://schemas.openxmlformats.org/drawingml/2006/main">
              <a:ext uri="{FF2B5EF4-FFF2-40B4-BE49-F238E27FC236}">
                <a16:creationId xmlns:a16="http://schemas.microsoft.com/office/drawing/2014/main" id="{2CEE96A3-7967-4E64-A702-B299987215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8">
            <a:extLst xmlns:a="http://schemas.openxmlformats.org/drawingml/2006/main">
              <a:ext uri="{FF2B5EF4-FFF2-40B4-BE49-F238E27FC236}">
                <a16:creationId xmlns:a16="http://schemas.microsoft.com/office/drawing/2014/main" id="{96B057E4-68D6-461C-95ED-385C0355CC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작업마다 바뀌는 목표, 계속 쓰는 기준">
            <a:extLst xmlns:a="http://schemas.openxmlformats.org/drawingml/2006/main">
              <a:ext uri="{FF2B5EF4-FFF2-40B4-BE49-F238E27FC236}">
                <a16:creationId xmlns:a16="http://schemas.microsoft.com/office/drawing/2014/main" id="{F58A74CE-DF15-4FCB-B826-FDCEFC5443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작업마다 바뀌는 목표, 계속 쓰는 기준</a:t>
            </a:r>
          </a:p>
        </p:txBody>
      </p:sp>
      <p:sp>
        <p:nvSpPr>
          <p:cNvPr id="4" name="">
            <a:extLst xmlns:a="http://schemas.openxmlformats.org/drawingml/2006/main">
              <a:ext uri="{FF2B5EF4-FFF2-40B4-BE49-F238E27FC236}">
                <a16:creationId xmlns:a16="http://schemas.microsoft.com/office/drawing/2014/main" id="{E12A1E39-8CE9-4932-8B3C-37A7900FC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리 예시 · 계속 적용할지는 프로젝트의 합의와 조건을 확인한다">
            <a:extLst xmlns:a="http://schemas.openxmlformats.org/drawingml/2006/main">
              <a:ext uri="{FF2B5EF4-FFF2-40B4-BE49-F238E27FC236}">
                <a16:creationId xmlns:a16="http://schemas.microsoft.com/office/drawing/2014/main" id="{9E7E36AE-D6ED-46DD-861C-331F5CE341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분리 예시 · 계속 적용할지는 프로젝트의 합의와 조건을 확인한다</a:t>
            </a:r>
          </a:p>
        </p:txBody>
      </p:sp>
      <p:sp>
        <p:nvSpPr>
          <p:cNvPr id="6" name="M 연계 · M2">
            <a:extLst xmlns:a="http://schemas.openxmlformats.org/drawingml/2006/main">
              <a:ext uri="{FF2B5EF4-FFF2-40B4-BE49-F238E27FC236}">
                <a16:creationId xmlns:a16="http://schemas.microsoft.com/office/drawing/2014/main" id="{2B83EC11-A618-4D54-A832-A0585AF6ED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2CC532FF-1F4B-44C1-8B03-E193EFFA7A37}"/>
              </a:ext>
            </a:extLst>
          </p:cNvPr>
          <p:cNvSpPr>
            <a:spLocks xmlns:a="http://schemas.openxmlformats.org/drawingml/2006/main" noGrp="1"/>
          </p:cNvSpPr>
          <p:nvPr/>
        </p:nvSpPr>
        <p:spPr>
          <a:xfrm xmlns:a="http://schemas.openxmlformats.org/drawingml/2006/main">
            <a:off x="609600" y="1885950"/>
            <a:ext cx="7296150" cy="30289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앞 장과 같은 요청 · 교육용 예시">
            <a:extLst xmlns:a="http://schemas.openxmlformats.org/drawingml/2006/main">
              <a:ext uri="{FF2B5EF4-FFF2-40B4-BE49-F238E27FC236}">
                <a16:creationId xmlns:a16="http://schemas.microsoft.com/office/drawing/2014/main" id="{EBF154D2-8AF5-4D99-A2D2-6E2BCE069283}"/>
              </a:ext>
            </a:extLst>
          </p:cNvPr>
          <p:cNvSpPr>
            <a:spLocks xmlns:a="http://schemas.openxmlformats.org/drawingml/2006/main" noGrp="1"/>
          </p:cNvSpPr>
          <p:nvPr/>
        </p:nvSpPr>
        <p:spPr>
          <a:xfrm xmlns:a="http://schemas.openxmlformats.org/drawingml/2006/main">
            <a:off x="838200" y="2000250"/>
            <a:ext cx="6838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 장과 같은 요청 · 교육용 예시</a:t>
            </a:r>
          </a:p>
        </p:txBody>
      </p:sp>
      <p:sp>
        <p:nvSpPr>
          <p:cNvPr id="9" name="">
            <a:extLst xmlns:a="http://schemas.openxmlformats.org/drawingml/2006/main">
              <a:ext uri="{FF2B5EF4-FFF2-40B4-BE49-F238E27FC236}">
                <a16:creationId xmlns:a16="http://schemas.microsoft.com/office/drawing/2014/main" id="{EED0E040-E4DB-40EB-80BD-8B096EDF3BED}"/>
              </a:ext>
            </a:extLst>
          </p:cNvPr>
          <p:cNvSpPr>
            <a:spLocks xmlns:a="http://schemas.openxmlformats.org/drawingml/2006/main" noGrp="1"/>
          </p:cNvSpPr>
          <p:nvPr/>
        </p:nvSpPr>
        <p:spPr>
          <a:xfrm xmlns:a="http://schemas.openxmlformats.org/drawingml/2006/main">
            <a:off x="838200" y="2409825"/>
            <a:ext cx="68389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5A80D446-BFC6-4F7E-934D-82A3B4159DC1}"/>
              </a:ext>
            </a:extLst>
          </p:cNvPr>
          <p:cNvSpPr>
            <a:spLocks xmlns:a="http://schemas.openxmlformats.org/drawingml/2006/main" noGrp="1"/>
          </p:cNvSpPr>
          <p:nvPr/>
        </p:nvSpPr>
        <p:spPr>
          <a:xfrm xmlns:a="http://schemas.openxmlformats.org/drawingml/2006/main">
            <a:off x="838200" y="26479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오류를 고쳐줘.</a:t>
            </a:r>
          </a:p>
        </p:txBody>
      </p:sp>
      <p:sp>
        <p:nvSpPr>
          <p:cNvPr id="11" name="">
            <a:extLst xmlns:a="http://schemas.openxmlformats.org/drawingml/2006/main">
              <a:ext uri="{FF2B5EF4-FFF2-40B4-BE49-F238E27FC236}">
                <a16:creationId xmlns:a16="http://schemas.microsoft.com/office/drawing/2014/main" id="{1435D55F-FA6B-4578-97C6-84D92BF09AEB}"/>
              </a:ext>
            </a:extLst>
          </p:cNvPr>
          <p:cNvSpPr>
            <a:spLocks xmlns:a="http://schemas.openxmlformats.org/drawingml/2006/main" noGrp="1"/>
          </p:cNvSpPr>
          <p:nvPr/>
        </p:nvSpPr>
        <p:spPr>
          <a:xfrm xmlns:a="http://schemas.openxmlformats.org/drawingml/2006/main">
            <a:off x="781050" y="3267075"/>
            <a:ext cx="687705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기존 공개 API는 유지해.">
            <a:extLst xmlns:a="http://schemas.openxmlformats.org/drawingml/2006/main">
              <a:ext uri="{FF2B5EF4-FFF2-40B4-BE49-F238E27FC236}">
                <a16:creationId xmlns:a16="http://schemas.microsoft.com/office/drawing/2014/main" id="{2CB992A8-087E-45FD-85A3-045CCBDE0A1C}"/>
              </a:ext>
            </a:extLst>
          </p:cNvPr>
          <p:cNvSpPr>
            <a:spLocks xmlns:a="http://schemas.openxmlformats.org/drawingml/2006/main" noGrp="1"/>
          </p:cNvSpPr>
          <p:nvPr/>
        </p:nvSpPr>
        <p:spPr>
          <a:xfrm xmlns:a="http://schemas.openxmlformats.org/drawingml/2006/main">
            <a:off x="838200" y="331470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기존 공개 API는 유지해.</a:t>
            </a:r>
          </a:p>
        </p:txBody>
      </p:sp>
      <p:sp>
        <p:nvSpPr>
          <p:cNvPr id="13" name="프로젝트에 정해진 테스트 명령으로 확인해.">
            <a:extLst xmlns:a="http://schemas.openxmlformats.org/drawingml/2006/main">
              <a:ext uri="{FF2B5EF4-FFF2-40B4-BE49-F238E27FC236}">
                <a16:creationId xmlns:a16="http://schemas.microsoft.com/office/drawing/2014/main" id="{AB8ACAC8-ED21-465D-B90B-B7115ECC4C8E}"/>
              </a:ext>
            </a:extLst>
          </p:cNvPr>
          <p:cNvSpPr>
            <a:spLocks xmlns:a="http://schemas.openxmlformats.org/drawingml/2006/main" noGrp="1"/>
          </p:cNvSpPr>
          <p:nvPr/>
        </p:nvSpPr>
        <p:spPr>
          <a:xfrm xmlns:a="http://schemas.openxmlformats.org/drawingml/2006/main">
            <a:off x="838200" y="38290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프로젝트에 정해진 테스트 명령으로 확인해.</a:t>
            </a:r>
          </a:p>
        </p:txBody>
      </p:sp>
      <p:sp>
        <p:nvSpPr>
          <p:cNvPr id="14" name="">
            <a:extLst xmlns:a="http://schemas.openxmlformats.org/drawingml/2006/main">
              <a:ext uri="{FF2B5EF4-FFF2-40B4-BE49-F238E27FC236}">
                <a16:creationId xmlns:a16="http://schemas.microsoft.com/office/drawing/2014/main" id="{5EAA6226-19D0-4EAB-B98B-D73E45E48A2E}"/>
              </a:ext>
            </a:extLst>
          </p:cNvPr>
          <p:cNvSpPr>
            <a:spLocks xmlns:a="http://schemas.openxmlformats.org/drawingml/2006/main" noGrp="1"/>
          </p:cNvSpPr>
          <p:nvPr/>
        </p:nvSpPr>
        <p:spPr>
          <a:xfrm xmlns:a="http://schemas.openxmlformats.org/drawingml/2006/main">
            <a:off x="7905750" y="2867025"/>
            <a:ext cx="552450" cy="0"/>
          </a:xfrm>
          <a:prstGeom xmlns:a="http://schemas.openxmlformats.org/drawingml/2006/main" prst="line">
            <a:avLst/>
          </a:prstGeom>
          <a:noFill xmlns:a="http://schemas.openxmlformats.org/drawingml/2006/main"/>
          <a:ln xmlns:a="http://schemas.openxmlformats.org/drawingml/2006/main" w="14288">
            <a:solidFill>
              <a:srgbClr val="4D5A68"/>
            </a:solidFill>
            <a:prstDash val="solid"/>
          </a:ln>
        </p:spPr>
      </p:sp>
      <p:sp>
        <p:nvSpPr>
          <p:cNvPr id="15" name="이번 작업의 목표">
            <a:extLst xmlns:a="http://schemas.openxmlformats.org/drawingml/2006/main">
              <a:ext uri="{FF2B5EF4-FFF2-40B4-BE49-F238E27FC236}">
                <a16:creationId xmlns:a16="http://schemas.microsoft.com/office/drawing/2014/main" id="{6074FC9A-A60D-45E5-BC5C-1A33824CF900}"/>
              </a:ext>
            </a:extLst>
          </p:cNvPr>
          <p:cNvSpPr>
            <a:spLocks xmlns:a="http://schemas.openxmlformats.org/drawingml/2006/main" noGrp="1"/>
          </p:cNvSpPr>
          <p:nvPr/>
        </p:nvSpPr>
        <p:spPr>
          <a:xfrm xmlns:a="http://schemas.openxmlformats.org/drawingml/2006/main">
            <a:off x="8629650" y="257175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이번 작업의 목표</a:t>
            </a:r>
          </a:p>
        </p:txBody>
      </p:sp>
      <p:sp>
        <p:nvSpPr>
          <p:cNvPr id="16" name="이번 작업에만 적용">
            <a:extLst xmlns:a="http://schemas.openxmlformats.org/drawingml/2006/main">
              <a:ext uri="{FF2B5EF4-FFF2-40B4-BE49-F238E27FC236}">
                <a16:creationId xmlns:a16="http://schemas.microsoft.com/office/drawing/2014/main" id="{9C77E6AA-0620-4AA9-A99D-98D472E9A8CC}"/>
              </a:ext>
            </a:extLst>
          </p:cNvPr>
          <p:cNvSpPr>
            <a:spLocks xmlns:a="http://schemas.openxmlformats.org/drawingml/2006/main" noGrp="1"/>
          </p:cNvSpPr>
          <p:nvPr/>
        </p:nvSpPr>
        <p:spPr>
          <a:xfrm xmlns:a="http://schemas.openxmlformats.org/drawingml/2006/main">
            <a:off x="8629650" y="29718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작업에만 적용</a:t>
            </a:r>
          </a:p>
        </p:txBody>
      </p:sp>
      <p:sp>
        <p:nvSpPr>
          <p:cNvPr id="17" name="Shared criteria bracket">
            <a:extLst xmlns:a="http://schemas.openxmlformats.org/drawingml/2006/main">
              <a:ext uri="{FF2B5EF4-FFF2-40B4-BE49-F238E27FC236}">
                <a16:creationId xmlns:a16="http://schemas.microsoft.com/office/drawing/2014/main" id="{7C9B4178-4AA7-47C9-811F-5432FEDECF9A}"/>
              </a:ext>
            </a:extLst>
          </p:cNvPr>
          <p:cNvSpPr>
            <a:spLocks xmlns:a="http://schemas.openxmlformats.org/drawingml/2006/main" noGrp="1"/>
          </p:cNvSpPr>
          <p:nvPr/>
        </p:nvSpPr>
        <p:spPr>
          <a:xfrm xmlns:a="http://schemas.openxmlformats.org/drawingml/2006/main">
            <a:off x="7905750" y="3495675"/>
            <a:ext cx="552450" cy="571500"/>
          </a:xfrm>
          <a:custGeom xmlns:a="http://schemas.openxmlformats.org/drawingml/2006/main">
            <a:pathLst>
              <a:path w="552450" h="571500">
                <a:moveTo>
                  <a:pt x="0" y="0"/>
                </a:moveTo>
                <a:lnTo>
                  <a:pt x="228600" y="0"/>
                </a:lnTo>
                <a:lnTo>
                  <a:pt x="228600" y="571500"/>
                </a:lnTo>
                <a:lnTo>
                  <a:pt x="0" y="571500"/>
                </a:lnTo>
                <a:moveTo>
                  <a:pt x="228600" y="285750"/>
                </a:moveTo>
                <a:lnTo>
                  <a:pt x="552450" y="285750"/>
                </a:lnTo>
              </a:path>
            </a:pathLst>
          </a:custGeom>
          <a:noFill xmlns:a="http://schemas.openxmlformats.org/drawingml/2006/main"/>
          <a:ln xmlns:a="http://schemas.openxmlformats.org/drawingml/2006/main" w="14288">
            <a:solidFill>
              <a:srgbClr val="0B6172"/>
            </a:solidFill>
          </a:ln>
        </p:spPr>
      </p:sp>
      <p:sp>
        <p:nvSpPr>
          <p:cNvPr id="18" name="계속 쓰는 기준">
            <a:extLst xmlns:a="http://schemas.openxmlformats.org/drawingml/2006/main">
              <a:ext uri="{FF2B5EF4-FFF2-40B4-BE49-F238E27FC236}">
                <a16:creationId xmlns:a16="http://schemas.microsoft.com/office/drawing/2014/main" id="{59585CF4-45AB-4FEB-993C-9E757D8718EA}"/>
              </a:ext>
            </a:extLst>
          </p:cNvPr>
          <p:cNvSpPr>
            <a:spLocks xmlns:a="http://schemas.openxmlformats.org/drawingml/2006/main" noGrp="1"/>
          </p:cNvSpPr>
          <p:nvPr/>
        </p:nvSpPr>
        <p:spPr>
          <a:xfrm xmlns:a="http://schemas.openxmlformats.org/drawingml/2006/main">
            <a:off x="8629650" y="34004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계속 쓰는 기준</a:t>
            </a:r>
          </a:p>
        </p:txBody>
      </p:sp>
      <p:sp>
        <p:nvSpPr>
          <p:cNvPr id="19" name="프로젝트에서 합의해&#10;여러 작업에 적용">
            <a:extLst xmlns:a="http://schemas.openxmlformats.org/drawingml/2006/main">
              <a:ext uri="{FF2B5EF4-FFF2-40B4-BE49-F238E27FC236}">
                <a16:creationId xmlns:a16="http://schemas.microsoft.com/office/drawing/2014/main" id="{93C4FB32-48FC-43DF-9ED6-8D6524E1A639}"/>
              </a:ext>
            </a:extLst>
          </p:cNvPr>
          <p:cNvSpPr>
            <a:spLocks xmlns:a="http://schemas.openxmlformats.org/drawingml/2006/main" noGrp="1"/>
          </p:cNvSpPr>
          <p:nvPr/>
        </p:nvSpPr>
        <p:spPr>
          <a:xfrm xmlns:a="http://schemas.openxmlformats.org/drawingml/2006/main">
            <a:off x="8629650" y="3829050"/>
            <a:ext cx="295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프로젝트에서 합의해</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작업에 적용</a:t>
            </a:r>
          </a:p>
        </p:txBody>
      </p:sp>
      <p:sp>
        <p:nvSpPr>
          <p:cNvPr id="20" name="이 공통 기준을 어디에 두고 다시 참고할까요?">
            <a:extLst xmlns:a="http://schemas.openxmlformats.org/drawingml/2006/main">
              <a:ext uri="{FF2B5EF4-FFF2-40B4-BE49-F238E27FC236}">
                <a16:creationId xmlns:a16="http://schemas.microsoft.com/office/drawing/2014/main" id="{882C0CDE-D7AF-4487-8FCE-D48381D151D3}"/>
              </a:ext>
            </a:extLst>
          </p:cNvPr>
          <p:cNvSpPr>
            <a:spLocks xmlns:a="http://schemas.openxmlformats.org/drawingml/2006/main" noGrp="1"/>
          </p:cNvSpPr>
          <p:nvPr/>
        </p:nvSpPr>
        <p:spPr>
          <a:xfrm xmlns:a="http://schemas.openxmlformats.org/drawingml/2006/main">
            <a:off x="609600" y="51435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공통 기준을 어디에 두고 다시 참고할까요?</a:t>
            </a:r>
          </a:p>
        </p:txBody>
      </p:sp>
    </p:spTree>
    <p:extLst>
      <p:ext uri="{BB962C8B-B14F-4D97-AF65-F5344CB8AC3E}">
        <p14:creationId xmlns:p14="http://schemas.microsoft.com/office/powerpoint/2010/main" val="403450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24</ap:Slides>
  <ap:Notes>24</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2026-10-25T11:25:53.9090000Z</dcterms:created>
  <dcterms:modified xsi:type="dcterms:W3CDTF">2026-10-25T11:25:53.9090000Z</dcterms:modified>
</coreProperties>
</file>